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39160d4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39160d4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39160d4c4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39160d4c4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b4993eaf1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b4993eaf1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b4993eaf1a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b4993eaf1a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b450bc1a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b450bc1a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b4993eaf1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b4993eaf1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b450bc1a7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b450bc1a7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b450bc1a76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b450bc1a76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b4993eaf1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b4993eaf1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b450bc1a7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b450bc1a7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b4993eaf1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b4993eaf1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b4993eaf1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b4993eaf1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b4993eaf1a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b4993eaf1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b4993eaf1a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b4993eaf1a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b4993eaf1a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b4993eaf1a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b4993eaf1a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b4993eaf1a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b39160d4c4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b39160d4c4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b4993eaf1a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b4993eaf1a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b4993eaf1a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b4993eaf1a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b4993eaf1a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b4993eaf1a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2b4993eaf1a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2b4993eaf1a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b4993eaf1a_0_2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b4993eaf1a_0_2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b4993eaf1a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b4993eaf1a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b4993eaf1a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b4993eaf1a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2b4993eaf1a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2b4993eaf1a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2b39160d4c4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2b39160d4c4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2b4993eaf1a_0_1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2b4993eaf1a_0_1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2b4993eaf1a_0_1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2b4993eaf1a_0_1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b4993eaf1a_0_1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2b4993eaf1a_0_1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2b4993eaf1a_0_1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2b4993eaf1a_0_1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2b4993eaf1a_0_1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2b4993eaf1a_0_1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2b4993eaf1a_0_1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2b4993eaf1a_0_1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2b4993eaf1a_0_2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2b4993eaf1a_0_2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2b4993eaf1a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2b4993eaf1a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2b4993eaf1a_0_1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2b4993eaf1a_0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2b4993eaf1a_0_1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2b4993eaf1a_0_1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2b4993eaf1a_0_1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2b4993eaf1a_0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2b4993eaf1a_0_1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2b4993eaf1a_0_1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82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82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82.png"/><Relationship Id="rId4" Type="http://schemas.openxmlformats.org/officeDocument/2006/relationships/image" Target="../media/image30.png"/><Relationship Id="rId11" Type="http://schemas.openxmlformats.org/officeDocument/2006/relationships/image" Target="../media/image19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61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9160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933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1165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40640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8567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8567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946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946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Relationship Id="rId4" Type="http://schemas.openxmlformats.org/officeDocument/2006/relationships/image" Target="../media/image56.png"/><Relationship Id="rId9" Type="http://schemas.openxmlformats.org/officeDocument/2006/relationships/image" Target="../media/image71.png"/><Relationship Id="rId5" Type="http://schemas.openxmlformats.org/officeDocument/2006/relationships/image" Target="../media/image57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11" Type="http://schemas.openxmlformats.org/officeDocument/2006/relationships/image" Target="../media/image70.png"/><Relationship Id="rId10" Type="http://schemas.openxmlformats.org/officeDocument/2006/relationships/image" Target="../media/image69.png"/><Relationship Id="rId12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3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71.png"/><Relationship Id="rId8" Type="http://schemas.openxmlformats.org/officeDocument/2006/relationships/image" Target="../media/image69.png"/><Relationship Id="rId11" Type="http://schemas.openxmlformats.org/officeDocument/2006/relationships/image" Target="../media/image58.png"/><Relationship Id="rId10" Type="http://schemas.openxmlformats.org/officeDocument/2006/relationships/image" Target="../media/image72.png"/><Relationship Id="rId12" Type="http://schemas.openxmlformats.org/officeDocument/2006/relationships/image" Target="../media/image5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3.png"/><Relationship Id="rId4" Type="http://schemas.openxmlformats.org/officeDocument/2006/relationships/image" Target="../media/image59.png"/><Relationship Id="rId5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54.png"/><Relationship Id="rId6" Type="http://schemas.openxmlformats.org/officeDocument/2006/relationships/image" Target="../media/image7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3.png"/><Relationship Id="rId4" Type="http://schemas.openxmlformats.org/officeDocument/2006/relationships/image" Target="../media/image8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3.png"/><Relationship Id="rId4" Type="http://schemas.openxmlformats.org/officeDocument/2006/relationships/image" Target="../media/image8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3.png"/><Relationship Id="rId4" Type="http://schemas.openxmlformats.org/officeDocument/2006/relationships/image" Target="../media/image8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3.png"/><Relationship Id="rId4" Type="http://schemas.openxmlformats.org/officeDocument/2006/relationships/image" Target="../media/image8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Equally likely outcomes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state when outcomes will be equally likely.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2" type="subTitle"/>
          </p:nvPr>
        </p:nvSpPr>
        <p:spPr>
          <a:xfrm>
            <a:off x="324000" y="2478256"/>
            <a:ext cx="84960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b="1" lang="en-GB" sz="2000"/>
              <a:t>sample space</a:t>
            </a:r>
            <a:r>
              <a:rPr lang="en-GB" sz="2000"/>
              <a:t> is all the possible outcomes of a trial. A sample space diagram is a systematic way of producing a sample space.</a:t>
            </a:r>
            <a:endParaRPr b="0" sz="2000"/>
          </a:p>
        </p:txBody>
      </p:sp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0488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b="1" lang="en-GB" sz="2000"/>
              <a:t>trial</a:t>
            </a:r>
            <a:r>
              <a:rPr lang="en-GB" sz="2000"/>
              <a:t> is a single </a:t>
            </a:r>
            <a:r>
              <a:rPr lang="en-GB" sz="2000"/>
              <a:t>predefined</a:t>
            </a:r>
            <a:r>
              <a:rPr lang="en-GB" sz="2000"/>
              <a:t> test.</a:t>
            </a:r>
            <a:endParaRPr sz="2000"/>
          </a:p>
        </p:txBody>
      </p:sp>
      <p:sp>
        <p:nvSpPr>
          <p:cNvPr id="771" name="Google Shape;771;p66"/>
          <p:cNvSpPr txBox="1"/>
          <p:nvPr>
            <p:ph idx="2" type="subTitle"/>
          </p:nvPr>
        </p:nvSpPr>
        <p:spPr>
          <a:xfrm>
            <a:off x="324000" y="1763544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</a:t>
            </a:r>
            <a:r>
              <a:rPr b="1" lang="en-GB" sz="2000"/>
              <a:t>outcome</a:t>
            </a:r>
            <a:r>
              <a:rPr lang="en-GB" sz="2000"/>
              <a:t> is a result of a trial.</a:t>
            </a:r>
            <a:endParaRPr sz="2000"/>
          </a:p>
        </p:txBody>
      </p:sp>
      <p:sp>
        <p:nvSpPr>
          <p:cNvPr id="772" name="Google Shape;772;p66"/>
          <p:cNvSpPr txBox="1"/>
          <p:nvPr>
            <p:ph idx="2" type="subTitle"/>
          </p:nvPr>
        </p:nvSpPr>
        <p:spPr>
          <a:xfrm>
            <a:off x="324000" y="3545052"/>
            <a:ext cx="8496000" cy="4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Likelihood</a:t>
            </a:r>
            <a:r>
              <a:rPr lang="en-GB" sz="2000"/>
              <a:t> describes the chance that a particular event will occur.</a:t>
            </a:r>
            <a:endParaRPr b="0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778" name="Google Shape;778;p6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</a:t>
            </a:r>
            <a:r>
              <a:rPr lang="en-GB"/>
              <a:t> when two outcomes are equally likely</a:t>
            </a:r>
            <a:endParaRPr/>
          </a:p>
        </p:txBody>
      </p:sp>
      <p:sp>
        <p:nvSpPr>
          <p:cNvPr id="779" name="Google Shape;779;p6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sp>
        <p:nvSpPr>
          <p:cNvPr id="780" name="Google Shape;780;p6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Equally likely </a:t>
            </a:r>
            <a:r>
              <a:rPr lang="en-GB"/>
              <a:t>outcomes</a:t>
            </a:r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lesson will look at scenarios where there are different </a:t>
            </a:r>
            <a:r>
              <a:rPr lang="en-GB" sz="2000"/>
              <a:t>possible</a:t>
            </a:r>
            <a:r>
              <a:rPr lang="en-GB" sz="2000"/>
              <a:t> things that can happen.</a:t>
            </a:r>
            <a:endParaRPr sz="2000"/>
          </a:p>
        </p:txBody>
      </p:sp>
      <p:sp>
        <p:nvSpPr>
          <p:cNvPr id="787" name="Google Shape;78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788" name="Google Shape;788;p68"/>
          <p:cNvSpPr txBox="1"/>
          <p:nvPr>
            <p:ph idx="4294967295" type="subTitle"/>
          </p:nvPr>
        </p:nvSpPr>
        <p:spPr>
          <a:xfrm>
            <a:off x="553800" y="2115650"/>
            <a:ext cx="8361600" cy="9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</a:t>
            </a:r>
            <a:r>
              <a:rPr b="1" lang="en-GB" sz="2000"/>
              <a:t>trial</a:t>
            </a:r>
            <a:r>
              <a:rPr lang="en-GB" sz="2000"/>
              <a:t> is a single predefined test (e.g. spinning a spinner once, flipping a coin three times, a race between several runners). </a:t>
            </a:r>
            <a:endParaRPr sz="2000"/>
          </a:p>
        </p:txBody>
      </p:sp>
      <p:sp>
        <p:nvSpPr>
          <p:cNvPr id="789" name="Google Shape;789;p68"/>
          <p:cNvSpPr txBox="1"/>
          <p:nvPr>
            <p:ph idx="4294967295" type="subTitle"/>
          </p:nvPr>
        </p:nvSpPr>
        <p:spPr>
          <a:xfrm>
            <a:off x="553800" y="3783550"/>
            <a:ext cx="8241900" cy="3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</a:t>
            </a:r>
            <a:r>
              <a:rPr b="1" lang="en-GB" sz="2000"/>
              <a:t>sample space</a:t>
            </a:r>
            <a:r>
              <a:rPr lang="en-GB" sz="2000"/>
              <a:t> is the set of </a:t>
            </a:r>
            <a:r>
              <a:rPr lang="en-GB" sz="2000">
                <a:solidFill>
                  <a:schemeClr val="accent4"/>
                </a:solidFill>
              </a:rPr>
              <a:t>all</a:t>
            </a:r>
            <a:r>
              <a:rPr lang="en-GB" sz="2000"/>
              <a:t> possible </a:t>
            </a:r>
            <a:r>
              <a:rPr b="1" lang="en-GB" sz="2000"/>
              <a:t>outcomes</a:t>
            </a:r>
            <a:r>
              <a:rPr lang="en-GB" sz="2000"/>
              <a:t> for a </a:t>
            </a:r>
            <a:r>
              <a:rPr b="1" lang="en-GB" sz="2000"/>
              <a:t>trial</a:t>
            </a:r>
            <a:r>
              <a:rPr lang="en-GB" sz="2000"/>
              <a:t>.  </a:t>
            </a:r>
            <a:endParaRPr b="0" sz="2000"/>
          </a:p>
        </p:txBody>
      </p:sp>
      <p:sp>
        <p:nvSpPr>
          <p:cNvPr id="790" name="Google Shape;790;p68"/>
          <p:cNvSpPr txBox="1"/>
          <p:nvPr>
            <p:ph idx="4294967295" type="subTitle"/>
          </p:nvPr>
        </p:nvSpPr>
        <p:spPr>
          <a:xfrm>
            <a:off x="324000" y="1582250"/>
            <a:ext cx="8496000" cy="3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These scenarios can be discussed using the </a:t>
            </a:r>
            <a:r>
              <a:rPr lang="en-GB" sz="2000"/>
              <a:t>following terminology:</a:t>
            </a:r>
            <a:endParaRPr sz="2000"/>
          </a:p>
        </p:txBody>
      </p:sp>
      <p:sp>
        <p:nvSpPr>
          <p:cNvPr id="791" name="Google Shape;791;p68"/>
          <p:cNvSpPr txBox="1"/>
          <p:nvPr/>
        </p:nvSpPr>
        <p:spPr>
          <a:xfrm>
            <a:off x="457200" y="3048000"/>
            <a:ext cx="635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result of a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9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set of all possible </a:t>
            </a:r>
            <a:r>
              <a:rPr b="1" lang="en-GB" sz="2000"/>
              <a:t>outcomes</a:t>
            </a:r>
            <a:r>
              <a:rPr lang="en-GB" sz="2000"/>
              <a:t> of a </a:t>
            </a:r>
            <a:r>
              <a:rPr b="1" lang="en-GB" sz="2000"/>
              <a:t>trial</a:t>
            </a:r>
            <a:r>
              <a:rPr lang="en-GB" sz="2000"/>
              <a:t> can be written using the following notation:</a:t>
            </a:r>
            <a:endParaRPr sz="2000"/>
          </a:p>
        </p:txBody>
      </p:sp>
      <p:sp>
        <p:nvSpPr>
          <p:cNvPr id="797" name="Google Shape;79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798" name="Google Shape;798;p69"/>
          <p:cNvSpPr txBox="1"/>
          <p:nvPr>
            <p:ph idx="4294967295" type="subTitle"/>
          </p:nvPr>
        </p:nvSpPr>
        <p:spPr>
          <a:xfrm>
            <a:off x="324000" y="3639650"/>
            <a:ext cx="8496000" cy="12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Greek letter </a:t>
            </a:r>
            <a:r>
              <a:rPr i="1" lang="en-GB" sz="2000">
                <a:solidFill>
                  <a:schemeClr val="accent4"/>
                </a:solidFill>
              </a:rPr>
              <a:t>ξ</a:t>
            </a:r>
            <a:r>
              <a:rPr i="1" lang="en-GB" sz="2000"/>
              <a:t> </a:t>
            </a:r>
            <a:r>
              <a:rPr lang="en-GB" sz="2000"/>
              <a:t>(xi) is used </a:t>
            </a:r>
            <a:r>
              <a:rPr lang="en-GB" sz="2000"/>
              <a:t>generally </a:t>
            </a:r>
            <a:r>
              <a:rPr lang="en-GB" sz="2000"/>
              <a:t>as a symbol to represent the ‘universal set’. In the context of this topic, it is used to represent the </a:t>
            </a:r>
            <a:r>
              <a:rPr lang="en-GB" sz="2000">
                <a:solidFill>
                  <a:schemeClr val="accent4"/>
                </a:solidFill>
              </a:rPr>
              <a:t>set of all possible </a:t>
            </a:r>
            <a:r>
              <a:rPr b="1" lang="en-GB" sz="2000">
                <a:solidFill>
                  <a:schemeClr val="accent4"/>
                </a:solidFill>
              </a:rPr>
              <a:t>outcomes</a:t>
            </a:r>
            <a:r>
              <a:rPr lang="en-GB" sz="2000"/>
              <a:t> for a </a:t>
            </a:r>
            <a:r>
              <a:rPr b="1" lang="en-GB" sz="2000"/>
              <a:t>trial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799" name="Google Shape;799;p69"/>
          <p:cNvSpPr txBox="1"/>
          <p:nvPr/>
        </p:nvSpPr>
        <p:spPr>
          <a:xfrm>
            <a:off x="1676550" y="2314500"/>
            <a:ext cx="591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</a:t>
            </a: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outcome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3, ...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/>
          <p:nvPr/>
        </p:nvSpPr>
        <p:spPr>
          <a:xfrm>
            <a:off x="2273650" y="2424547"/>
            <a:ext cx="4880700" cy="303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1" name="Google Shape;801;p69"/>
          <p:cNvCxnSpPr/>
          <p:nvPr/>
        </p:nvCxnSpPr>
        <p:spPr>
          <a:xfrm flipH="1">
            <a:off x="6162675" y="1906075"/>
            <a:ext cx="373200" cy="44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69"/>
          <p:cNvSpPr txBox="1"/>
          <p:nvPr/>
        </p:nvSpPr>
        <p:spPr>
          <a:xfrm>
            <a:off x="6418791" y="1518600"/>
            <a:ext cx="18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3" name="Google Shape;803;p69"/>
          <p:cNvCxnSpPr/>
          <p:nvPr/>
        </p:nvCxnSpPr>
        <p:spPr>
          <a:xfrm flipH="1">
            <a:off x="1271630" y="2699361"/>
            <a:ext cx="443400" cy="3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69"/>
          <p:cNvSpPr txBox="1"/>
          <p:nvPr/>
        </p:nvSpPr>
        <p:spPr>
          <a:xfrm>
            <a:off x="912100" y="2878375"/>
            <a:ext cx="4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xi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324000" y="6831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is going to spin the spinner once. What </a:t>
            </a:r>
            <a:r>
              <a:rPr lang="en-GB" sz="2000"/>
              <a:t>are the </a:t>
            </a:r>
            <a:r>
              <a:rPr lang="en-GB" sz="2000"/>
              <a:t>possible </a:t>
            </a:r>
            <a:r>
              <a:rPr b="1" lang="en-GB" sz="2000"/>
              <a:t>outcomes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810" name="Google Shape;81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811" name="Google Shape;811;p70"/>
          <p:cNvSpPr/>
          <p:nvPr/>
        </p:nvSpPr>
        <p:spPr>
          <a:xfrm>
            <a:off x="3708800" y="19920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70"/>
          <p:cNvSpPr/>
          <p:nvPr/>
        </p:nvSpPr>
        <p:spPr>
          <a:xfrm flipH="1">
            <a:off x="3723489" y="20068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0"/>
          <p:cNvSpPr/>
          <p:nvPr/>
        </p:nvSpPr>
        <p:spPr>
          <a:xfrm>
            <a:off x="3723561" y="20068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0"/>
          <p:cNvSpPr txBox="1"/>
          <p:nvPr/>
        </p:nvSpPr>
        <p:spPr>
          <a:xfrm>
            <a:off x="3858975" y="2629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0"/>
          <p:cNvSpPr txBox="1"/>
          <p:nvPr/>
        </p:nvSpPr>
        <p:spPr>
          <a:xfrm>
            <a:off x="46659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4508109" y="2084623"/>
            <a:ext cx="93900" cy="816939"/>
            <a:chOff x="996050" y="213293"/>
            <a:chExt cx="93900" cy="909732"/>
          </a:xfrm>
        </p:grpSpPr>
        <p:cxnSp>
          <p:nvCxnSpPr>
            <p:cNvPr id="817" name="Google Shape;817;p7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18" name="Google Shape;818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9" name="Google Shape;81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0202" y="2319302"/>
            <a:ext cx="630000" cy="7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0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637449" y="1268075"/>
            <a:ext cx="3020626" cy="11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915850" y="1478400"/>
            <a:ext cx="26769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spinner could land on either </a:t>
            </a:r>
            <a:r>
              <a:rPr lang="en-GB" sz="1800">
                <a:solidFill>
                  <a:schemeClr val="accent4"/>
                </a:solidFill>
              </a:rPr>
              <a:t>win</a:t>
            </a:r>
            <a:r>
              <a:rPr lang="en-GB" sz="1800"/>
              <a:t> or </a:t>
            </a:r>
            <a:r>
              <a:rPr lang="en-GB" sz="1800">
                <a:solidFill>
                  <a:schemeClr val="accent4"/>
                </a:solidFill>
              </a:rPr>
              <a:t>lose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22" name="Google Shape;822;p70"/>
          <p:cNvSpPr txBox="1"/>
          <p:nvPr/>
        </p:nvSpPr>
        <p:spPr>
          <a:xfrm>
            <a:off x="5602675" y="2934575"/>
            <a:ext cx="1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{win, lose}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 txBox="1"/>
          <p:nvPr/>
        </p:nvSpPr>
        <p:spPr>
          <a:xfrm>
            <a:off x="6939050" y="2340575"/>
            <a:ext cx="13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endParaRPr b="1"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4" name="Google Shape;824;p70"/>
          <p:cNvCxnSpPr/>
          <p:nvPr/>
        </p:nvCxnSpPr>
        <p:spPr>
          <a:xfrm flipH="1">
            <a:off x="6386125" y="2710475"/>
            <a:ext cx="825000" cy="32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70"/>
          <p:cNvCxnSpPr/>
          <p:nvPr/>
        </p:nvCxnSpPr>
        <p:spPr>
          <a:xfrm flipH="1">
            <a:off x="6949725" y="2710577"/>
            <a:ext cx="261300" cy="35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70"/>
          <p:cNvSpPr/>
          <p:nvPr/>
        </p:nvSpPr>
        <p:spPr>
          <a:xfrm>
            <a:off x="6091682" y="3049159"/>
            <a:ext cx="1032000" cy="259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7" name="Google Shape;827;p70"/>
          <p:cNvCxnSpPr/>
          <p:nvPr/>
        </p:nvCxnSpPr>
        <p:spPr>
          <a:xfrm>
            <a:off x="6569675" y="3324527"/>
            <a:ext cx="229200" cy="438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8" name="Google Shape;828;p70"/>
          <p:cNvSpPr txBox="1"/>
          <p:nvPr/>
        </p:nvSpPr>
        <p:spPr>
          <a:xfrm>
            <a:off x="6607991" y="3629050"/>
            <a:ext cx="18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ample space</a:t>
            </a:r>
            <a:endParaRPr b="1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 txBox="1"/>
          <p:nvPr/>
        </p:nvSpPr>
        <p:spPr>
          <a:xfrm>
            <a:off x="5569250" y="18012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rial: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7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326924" y="3088999"/>
            <a:ext cx="3276426" cy="154952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836" name="Google Shape;836;p71"/>
          <p:cNvSpPr/>
          <p:nvPr/>
        </p:nvSpPr>
        <p:spPr>
          <a:xfrm>
            <a:off x="3708800" y="19920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1"/>
          <p:cNvSpPr/>
          <p:nvPr/>
        </p:nvSpPr>
        <p:spPr>
          <a:xfrm flipH="1">
            <a:off x="3723489" y="20068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71"/>
          <p:cNvSpPr/>
          <p:nvPr/>
        </p:nvSpPr>
        <p:spPr>
          <a:xfrm>
            <a:off x="3723561" y="20068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1"/>
          <p:cNvSpPr txBox="1"/>
          <p:nvPr/>
        </p:nvSpPr>
        <p:spPr>
          <a:xfrm>
            <a:off x="3858975" y="2629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1"/>
          <p:cNvSpPr txBox="1"/>
          <p:nvPr/>
        </p:nvSpPr>
        <p:spPr>
          <a:xfrm>
            <a:off x="4665926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71"/>
          <p:cNvGrpSpPr/>
          <p:nvPr/>
        </p:nvGrpSpPr>
        <p:grpSpPr>
          <a:xfrm>
            <a:off x="4508109" y="2084623"/>
            <a:ext cx="93900" cy="816939"/>
            <a:chOff x="996050" y="213293"/>
            <a:chExt cx="93900" cy="909732"/>
          </a:xfrm>
        </p:grpSpPr>
        <p:cxnSp>
          <p:nvCxnSpPr>
            <p:cNvPr id="842" name="Google Shape;842;p7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3" name="Google Shape;843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44" name="Google Shape;84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00202" y="2319302"/>
            <a:ext cx="630000" cy="7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637449" y="1268075"/>
            <a:ext cx="3020626" cy="11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1"/>
          <p:cNvSpPr txBox="1"/>
          <p:nvPr>
            <p:ph idx="1" type="body"/>
          </p:nvPr>
        </p:nvSpPr>
        <p:spPr>
          <a:xfrm>
            <a:off x="915850" y="1478400"/>
            <a:ext cx="26769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spinner could land on either </a:t>
            </a:r>
            <a:r>
              <a:rPr lang="en-GB" sz="1800">
                <a:solidFill>
                  <a:schemeClr val="accent5"/>
                </a:solidFill>
              </a:rPr>
              <a:t>win </a:t>
            </a:r>
            <a:r>
              <a:rPr lang="en-GB" sz="1800"/>
              <a:t>or </a:t>
            </a:r>
            <a:r>
              <a:rPr lang="en-GB" sz="1800">
                <a:solidFill>
                  <a:schemeClr val="accent4"/>
                </a:solidFill>
              </a:rPr>
              <a:t>lose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847" name="Google Shape;84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59883" y="2649150"/>
            <a:ext cx="514105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590449" y="1572875"/>
            <a:ext cx="3020626" cy="11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1"/>
          <p:cNvSpPr txBox="1"/>
          <p:nvPr>
            <p:ph idx="1" type="body"/>
          </p:nvPr>
        </p:nvSpPr>
        <p:spPr>
          <a:xfrm>
            <a:off x="5868850" y="1783200"/>
            <a:ext cx="26769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it possible to draw with this spinner?</a:t>
            </a:r>
            <a:endParaRPr sz="1800"/>
          </a:p>
        </p:txBody>
      </p:sp>
      <p:sp>
        <p:nvSpPr>
          <p:cNvPr id="850" name="Google Shape;850;p71"/>
          <p:cNvSpPr txBox="1"/>
          <p:nvPr>
            <p:ph idx="1" type="body"/>
          </p:nvPr>
        </p:nvSpPr>
        <p:spPr>
          <a:xfrm>
            <a:off x="577946" y="3444020"/>
            <a:ext cx="2960100" cy="11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No, it’s not one of the possible </a:t>
            </a:r>
            <a:r>
              <a:rPr b="1" lang="en-GB" sz="1600"/>
              <a:t>outcomes</a:t>
            </a:r>
            <a:r>
              <a:rPr lang="en-GB" sz="1600"/>
              <a:t>. </a:t>
            </a:r>
            <a:br>
              <a:rPr lang="en-GB" sz="1600"/>
            </a:br>
            <a:r>
              <a:rPr lang="en-GB" sz="1600"/>
              <a:t>That’s why ‘draw’ is not included in the </a:t>
            </a:r>
            <a:r>
              <a:rPr b="1" lang="en-GB" sz="1600"/>
              <a:t>sample space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851" name="Google Shape;851;p71"/>
          <p:cNvSpPr txBox="1"/>
          <p:nvPr>
            <p:ph idx="1" type="body"/>
          </p:nvPr>
        </p:nvSpPr>
        <p:spPr>
          <a:xfrm>
            <a:off x="8159838" y="3368250"/>
            <a:ext cx="514200" cy="2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sp>
        <p:nvSpPr>
          <p:cNvPr id="852" name="Google Shape;852;p71"/>
          <p:cNvSpPr txBox="1"/>
          <p:nvPr/>
        </p:nvSpPr>
        <p:spPr>
          <a:xfrm>
            <a:off x="5602675" y="2934575"/>
            <a:ext cx="1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{win, lose}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 txBox="1"/>
          <p:nvPr>
            <p:ph idx="1" type="body"/>
          </p:nvPr>
        </p:nvSpPr>
        <p:spPr>
          <a:xfrm>
            <a:off x="324000" y="6831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is going to spin the spinner once. What are the possible </a:t>
            </a:r>
            <a:r>
              <a:rPr b="1" lang="en-GB" sz="2000"/>
              <a:t>outcomes</a:t>
            </a:r>
            <a:r>
              <a:rPr lang="en-GB" sz="2000"/>
              <a:t>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9320" y="2291525"/>
            <a:ext cx="844161" cy="81692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pic>
        <p:nvPicPr>
          <p:cNvPr id="860" name="Google Shape;860;p72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789849" y="1268075"/>
            <a:ext cx="3020626" cy="11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2"/>
          <p:cNvSpPr txBox="1"/>
          <p:nvPr>
            <p:ph idx="1" type="body"/>
          </p:nvPr>
        </p:nvSpPr>
        <p:spPr>
          <a:xfrm>
            <a:off x="1068250" y="1478400"/>
            <a:ext cx="26769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spinner could land on either </a:t>
            </a:r>
            <a:r>
              <a:rPr lang="en-GB" sz="1800">
                <a:solidFill>
                  <a:schemeClr val="accent4"/>
                </a:solidFill>
              </a:rPr>
              <a:t>1</a:t>
            </a:r>
            <a:r>
              <a:rPr lang="en-GB" sz="1800"/>
              <a:t>, </a:t>
            </a:r>
            <a:r>
              <a:rPr lang="en-GB" sz="1800">
                <a:solidFill>
                  <a:schemeClr val="accent4"/>
                </a:solidFill>
              </a:rPr>
              <a:t>2</a:t>
            </a:r>
            <a:r>
              <a:rPr lang="en-GB" sz="1800"/>
              <a:t>, </a:t>
            </a:r>
            <a:r>
              <a:rPr lang="en-GB" sz="1800">
                <a:solidFill>
                  <a:schemeClr val="accent4"/>
                </a:solidFill>
              </a:rPr>
              <a:t>3</a:t>
            </a:r>
            <a:r>
              <a:rPr lang="en-GB" sz="1800"/>
              <a:t> or </a:t>
            </a:r>
            <a:r>
              <a:rPr lang="en-GB" sz="1800">
                <a:solidFill>
                  <a:schemeClr val="accent4"/>
                </a:solidFill>
              </a:rPr>
              <a:t>4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62" name="Google Shape;862;p72"/>
          <p:cNvSpPr txBox="1"/>
          <p:nvPr/>
        </p:nvSpPr>
        <p:spPr>
          <a:xfrm>
            <a:off x="3717000" y="4297800"/>
            <a:ext cx="1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2"/>
          <p:cNvSpPr/>
          <p:nvPr/>
        </p:nvSpPr>
        <p:spPr>
          <a:xfrm>
            <a:off x="3708800" y="19920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72"/>
          <p:cNvSpPr/>
          <p:nvPr/>
        </p:nvSpPr>
        <p:spPr>
          <a:xfrm flipH="1">
            <a:off x="3723489" y="20068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72"/>
          <p:cNvSpPr/>
          <p:nvPr/>
        </p:nvSpPr>
        <p:spPr>
          <a:xfrm>
            <a:off x="3723561" y="2006811"/>
            <a:ext cx="1666500" cy="1666500"/>
          </a:xfrm>
          <a:prstGeom prst="pie">
            <a:avLst>
              <a:gd fmla="val 5387953" name="adj1"/>
              <a:gd fmla="val 10858220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72"/>
          <p:cNvSpPr txBox="1"/>
          <p:nvPr/>
        </p:nvSpPr>
        <p:spPr>
          <a:xfrm>
            <a:off x="4087575" y="29341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2"/>
          <p:cNvSpPr/>
          <p:nvPr/>
        </p:nvSpPr>
        <p:spPr>
          <a:xfrm>
            <a:off x="3723561" y="2006811"/>
            <a:ext cx="1666500" cy="16665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72"/>
          <p:cNvSpPr txBox="1"/>
          <p:nvPr/>
        </p:nvSpPr>
        <p:spPr>
          <a:xfrm>
            <a:off x="4087575" y="2248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2"/>
          <p:cNvSpPr/>
          <p:nvPr/>
        </p:nvSpPr>
        <p:spPr>
          <a:xfrm flipH="1">
            <a:off x="3723489" y="2006811"/>
            <a:ext cx="1666500" cy="16665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72"/>
          <p:cNvSpPr txBox="1"/>
          <p:nvPr/>
        </p:nvSpPr>
        <p:spPr>
          <a:xfrm>
            <a:off x="46659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2"/>
          <p:cNvSpPr txBox="1"/>
          <p:nvPr/>
        </p:nvSpPr>
        <p:spPr>
          <a:xfrm>
            <a:off x="4665926" y="2934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2" name="Google Shape;872;p72"/>
          <p:cNvGrpSpPr/>
          <p:nvPr/>
        </p:nvGrpSpPr>
        <p:grpSpPr>
          <a:xfrm>
            <a:off x="4508109" y="2057563"/>
            <a:ext cx="93900" cy="816939"/>
            <a:chOff x="996050" y="213293"/>
            <a:chExt cx="93900" cy="909732"/>
          </a:xfrm>
        </p:grpSpPr>
        <p:cxnSp>
          <p:nvCxnSpPr>
            <p:cNvPr id="873" name="Google Shape;873;p7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4" name="Google Shape;874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5" name="Google Shape;875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59883" y="2649150"/>
            <a:ext cx="514105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2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5977350" y="1402200"/>
            <a:ext cx="2633723" cy="1318076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2"/>
          <p:cNvSpPr txBox="1"/>
          <p:nvPr>
            <p:ph idx="1" type="body"/>
          </p:nvPr>
        </p:nvSpPr>
        <p:spPr>
          <a:xfrm>
            <a:off x="6240550" y="1598200"/>
            <a:ext cx="2113500" cy="8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it possible to get a </a:t>
            </a:r>
            <a:r>
              <a:rPr lang="en-GB" sz="1800">
                <a:solidFill>
                  <a:schemeClr val="accent4"/>
                </a:solidFill>
              </a:rPr>
              <a:t>cube number</a:t>
            </a:r>
            <a:r>
              <a:rPr lang="en-GB" sz="1800"/>
              <a:t> on this spinner?</a:t>
            </a:r>
            <a:endParaRPr sz="1800"/>
          </a:p>
        </p:txBody>
      </p:sp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8159838" y="3368250"/>
            <a:ext cx="514200" cy="2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pic>
        <p:nvPicPr>
          <p:cNvPr id="879" name="Google Shape;879;p7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rot="10800000">
            <a:off x="555527" y="3125326"/>
            <a:ext cx="2633723" cy="1492849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2"/>
          <p:cNvSpPr txBox="1"/>
          <p:nvPr>
            <p:ph idx="1" type="body"/>
          </p:nvPr>
        </p:nvSpPr>
        <p:spPr>
          <a:xfrm>
            <a:off x="806550" y="3444025"/>
            <a:ext cx="2310000" cy="11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r>
              <a:rPr lang="en-GB" sz="1600"/>
              <a:t> is a cube number and is in the </a:t>
            </a:r>
            <a:r>
              <a:rPr b="1" lang="en-GB" sz="1600"/>
              <a:t>sample space</a:t>
            </a:r>
            <a:r>
              <a:rPr lang="en-GB" sz="1600"/>
              <a:t>. So yes, a cube number is a possible </a:t>
            </a:r>
            <a:r>
              <a:rPr b="1" lang="en-GB" sz="1600"/>
              <a:t>outcome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881" name="Google Shape;881;p72"/>
          <p:cNvSpPr txBox="1"/>
          <p:nvPr/>
        </p:nvSpPr>
        <p:spPr>
          <a:xfrm>
            <a:off x="3740450" y="38586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2"/>
          <p:cNvSpPr txBox="1"/>
          <p:nvPr>
            <p:ph idx="1" type="body"/>
          </p:nvPr>
        </p:nvSpPr>
        <p:spPr>
          <a:xfrm>
            <a:off x="324000" y="6831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</a:t>
            </a:r>
            <a:r>
              <a:rPr lang="en-GB" sz="2000"/>
              <a:t> is going to spin the spinner once. What are the possible </a:t>
            </a:r>
            <a:r>
              <a:rPr b="1" lang="en-GB" sz="2000"/>
              <a:t>outcomes</a:t>
            </a:r>
            <a:r>
              <a:rPr lang="en-GB" sz="2000"/>
              <a:t>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9320" y="2291525"/>
            <a:ext cx="844161" cy="816926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pic>
        <p:nvPicPr>
          <p:cNvPr id="889" name="Google Shape;889;p73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789849" y="1268075"/>
            <a:ext cx="3020626" cy="11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3"/>
          <p:cNvSpPr txBox="1"/>
          <p:nvPr>
            <p:ph idx="1" type="body"/>
          </p:nvPr>
        </p:nvSpPr>
        <p:spPr>
          <a:xfrm>
            <a:off x="1068250" y="1478400"/>
            <a:ext cx="26769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spinner could land on either </a:t>
            </a:r>
            <a:r>
              <a:rPr lang="en-GB" sz="1800">
                <a:solidFill>
                  <a:schemeClr val="accent4"/>
                </a:solidFill>
              </a:rPr>
              <a:t>1</a:t>
            </a:r>
            <a:r>
              <a:rPr lang="en-GB" sz="1800"/>
              <a:t>, </a:t>
            </a:r>
            <a:r>
              <a:rPr lang="en-GB" sz="1800">
                <a:solidFill>
                  <a:schemeClr val="accent4"/>
                </a:solidFill>
              </a:rPr>
              <a:t>2</a:t>
            </a:r>
            <a:r>
              <a:rPr lang="en-GB" sz="1800"/>
              <a:t>, </a:t>
            </a:r>
            <a:r>
              <a:rPr lang="en-GB" sz="1800">
                <a:solidFill>
                  <a:schemeClr val="accent4"/>
                </a:solidFill>
              </a:rPr>
              <a:t>3</a:t>
            </a:r>
            <a:r>
              <a:rPr lang="en-GB" sz="1800"/>
              <a:t> or </a:t>
            </a:r>
            <a:r>
              <a:rPr lang="en-GB" sz="1800">
                <a:solidFill>
                  <a:schemeClr val="accent4"/>
                </a:solidFill>
              </a:rPr>
              <a:t>4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91" name="Google Shape;891;p73"/>
          <p:cNvSpPr txBox="1"/>
          <p:nvPr/>
        </p:nvSpPr>
        <p:spPr>
          <a:xfrm>
            <a:off x="3717000" y="4297800"/>
            <a:ext cx="1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3"/>
          <p:cNvSpPr/>
          <p:nvPr/>
        </p:nvSpPr>
        <p:spPr>
          <a:xfrm>
            <a:off x="3708800" y="19920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3"/>
          <p:cNvSpPr/>
          <p:nvPr/>
        </p:nvSpPr>
        <p:spPr>
          <a:xfrm flipH="1">
            <a:off x="3723489" y="20068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3"/>
          <p:cNvSpPr/>
          <p:nvPr/>
        </p:nvSpPr>
        <p:spPr>
          <a:xfrm>
            <a:off x="3723561" y="2006811"/>
            <a:ext cx="1666500" cy="1666500"/>
          </a:xfrm>
          <a:prstGeom prst="pie">
            <a:avLst>
              <a:gd fmla="val 5387953" name="adj1"/>
              <a:gd fmla="val 10858220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3"/>
          <p:cNvSpPr txBox="1"/>
          <p:nvPr/>
        </p:nvSpPr>
        <p:spPr>
          <a:xfrm>
            <a:off x="4087575" y="29341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3"/>
          <p:cNvSpPr/>
          <p:nvPr/>
        </p:nvSpPr>
        <p:spPr>
          <a:xfrm>
            <a:off x="3723561" y="2006811"/>
            <a:ext cx="1666500" cy="16665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3"/>
          <p:cNvSpPr txBox="1"/>
          <p:nvPr/>
        </p:nvSpPr>
        <p:spPr>
          <a:xfrm>
            <a:off x="4087575" y="2248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3"/>
          <p:cNvSpPr/>
          <p:nvPr/>
        </p:nvSpPr>
        <p:spPr>
          <a:xfrm flipH="1">
            <a:off x="3723489" y="2006811"/>
            <a:ext cx="1666500" cy="16665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73"/>
          <p:cNvSpPr txBox="1"/>
          <p:nvPr/>
        </p:nvSpPr>
        <p:spPr>
          <a:xfrm>
            <a:off x="46659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3"/>
          <p:cNvSpPr txBox="1"/>
          <p:nvPr/>
        </p:nvSpPr>
        <p:spPr>
          <a:xfrm>
            <a:off x="4665926" y="2934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1" name="Google Shape;901;p73"/>
          <p:cNvGrpSpPr/>
          <p:nvPr/>
        </p:nvGrpSpPr>
        <p:grpSpPr>
          <a:xfrm>
            <a:off x="4508109" y="2057563"/>
            <a:ext cx="93900" cy="816939"/>
            <a:chOff x="996050" y="213293"/>
            <a:chExt cx="93900" cy="909732"/>
          </a:xfrm>
        </p:grpSpPr>
        <p:cxnSp>
          <p:nvCxnSpPr>
            <p:cNvPr id="902" name="Google Shape;902;p7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3" name="Google Shape;903;p7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04" name="Google Shape;904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59883" y="2649150"/>
            <a:ext cx="514105" cy="6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3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5590450" y="1402200"/>
            <a:ext cx="3020626" cy="1318076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3"/>
          <p:cNvSpPr txBox="1"/>
          <p:nvPr>
            <p:ph idx="1" type="body"/>
          </p:nvPr>
        </p:nvSpPr>
        <p:spPr>
          <a:xfrm>
            <a:off x="5783350" y="1598189"/>
            <a:ext cx="2571300" cy="8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it possible to get a </a:t>
            </a:r>
            <a:r>
              <a:rPr lang="en-GB" sz="1800">
                <a:solidFill>
                  <a:schemeClr val="accent4"/>
                </a:solidFill>
              </a:rPr>
              <a:t>negative number</a:t>
            </a:r>
            <a:r>
              <a:rPr lang="en-GB" sz="1800"/>
              <a:t> on this spinner?</a:t>
            </a:r>
            <a:endParaRPr sz="1800"/>
          </a:p>
        </p:txBody>
      </p:sp>
      <p:sp>
        <p:nvSpPr>
          <p:cNvPr id="907" name="Google Shape;907;p73"/>
          <p:cNvSpPr txBox="1"/>
          <p:nvPr>
            <p:ph idx="1" type="body"/>
          </p:nvPr>
        </p:nvSpPr>
        <p:spPr>
          <a:xfrm>
            <a:off x="8159838" y="3368250"/>
            <a:ext cx="514200" cy="2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pic>
        <p:nvPicPr>
          <p:cNvPr id="908" name="Google Shape;908;p7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rot="10800000">
            <a:off x="555527" y="3049124"/>
            <a:ext cx="2757248" cy="1715101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3"/>
          <p:cNvSpPr txBox="1"/>
          <p:nvPr>
            <p:ph idx="1" type="body"/>
          </p:nvPr>
        </p:nvSpPr>
        <p:spPr>
          <a:xfrm>
            <a:off x="784749" y="3346035"/>
            <a:ext cx="2448000" cy="13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No, there are no negative numbers in the </a:t>
            </a:r>
            <a:r>
              <a:rPr b="1" lang="en-GB" sz="1600"/>
              <a:t>sample space</a:t>
            </a:r>
            <a:r>
              <a:rPr lang="en-GB" sz="1600"/>
              <a:t>. That’s because they are not possible </a:t>
            </a:r>
            <a:r>
              <a:rPr b="1" lang="en-GB" sz="1600"/>
              <a:t>outcomes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910" name="Google Shape;910;p73"/>
          <p:cNvSpPr txBox="1"/>
          <p:nvPr/>
        </p:nvSpPr>
        <p:spPr>
          <a:xfrm>
            <a:off x="3740450" y="38586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3"/>
          <p:cNvSpPr txBox="1"/>
          <p:nvPr>
            <p:ph idx="1" type="body"/>
          </p:nvPr>
        </p:nvSpPr>
        <p:spPr>
          <a:xfrm>
            <a:off x="324000" y="6831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</a:t>
            </a:r>
            <a:r>
              <a:rPr lang="en-GB" sz="2000"/>
              <a:t> is going to spin the spinner once. What are the possible </a:t>
            </a:r>
            <a:r>
              <a:rPr b="1" lang="en-GB" sz="2000"/>
              <a:t>outcomes</a:t>
            </a:r>
            <a:r>
              <a:rPr lang="en-GB" sz="2000"/>
              <a:t>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Google Shape;91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0210" y="3098132"/>
            <a:ext cx="592241" cy="682993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4"/>
          <p:cNvSpPr txBox="1"/>
          <p:nvPr>
            <p:ph idx="1" type="body"/>
          </p:nvPr>
        </p:nvSpPr>
        <p:spPr>
          <a:xfrm>
            <a:off x="324000" y="759300"/>
            <a:ext cx="8496000" cy="7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Alex and Sofia are considering the </a:t>
            </a:r>
            <a:r>
              <a:rPr b="1" lang="en-GB" sz="2000"/>
              <a:t>sample space</a:t>
            </a:r>
            <a:r>
              <a:rPr lang="en-GB" sz="2000"/>
              <a:t> for a </a:t>
            </a:r>
            <a:r>
              <a:rPr b="1" lang="en-GB" sz="2000"/>
              <a:t>trial</a:t>
            </a:r>
            <a:r>
              <a:rPr lang="en-GB" sz="2000"/>
              <a:t> consisting of one spin of this spinner. </a:t>
            </a:r>
            <a:endParaRPr sz="2000"/>
          </a:p>
        </p:txBody>
      </p:sp>
      <p:sp>
        <p:nvSpPr>
          <p:cNvPr id="918" name="Google Shape;91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919" name="Google Shape;919;p74"/>
          <p:cNvSpPr/>
          <p:nvPr/>
        </p:nvSpPr>
        <p:spPr>
          <a:xfrm>
            <a:off x="3723330" y="222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4"/>
          <p:cNvSpPr/>
          <p:nvPr/>
        </p:nvSpPr>
        <p:spPr>
          <a:xfrm flipH="1">
            <a:off x="3738019" y="22354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4"/>
          <p:cNvSpPr/>
          <p:nvPr/>
        </p:nvSpPr>
        <p:spPr>
          <a:xfrm>
            <a:off x="3738090" y="2235411"/>
            <a:ext cx="1666500" cy="1666500"/>
          </a:xfrm>
          <a:prstGeom prst="pie">
            <a:avLst>
              <a:gd fmla="val 5387953" name="adj1"/>
              <a:gd fmla="val 1085822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74"/>
          <p:cNvSpPr txBox="1"/>
          <p:nvPr/>
        </p:nvSpPr>
        <p:spPr>
          <a:xfrm>
            <a:off x="4662530" y="316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4"/>
          <p:cNvSpPr/>
          <p:nvPr/>
        </p:nvSpPr>
        <p:spPr>
          <a:xfrm>
            <a:off x="3738090" y="2235411"/>
            <a:ext cx="1666500" cy="16665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4"/>
          <p:cNvSpPr txBox="1"/>
          <p:nvPr/>
        </p:nvSpPr>
        <p:spPr>
          <a:xfrm>
            <a:off x="3949705" y="2476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4"/>
          <p:cNvSpPr/>
          <p:nvPr/>
        </p:nvSpPr>
        <p:spPr>
          <a:xfrm flipH="1">
            <a:off x="3738019" y="2235411"/>
            <a:ext cx="1666500" cy="16665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4"/>
          <p:cNvSpPr txBox="1"/>
          <p:nvPr/>
        </p:nvSpPr>
        <p:spPr>
          <a:xfrm>
            <a:off x="4680456" y="2476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4"/>
          <p:cNvSpPr txBox="1"/>
          <p:nvPr/>
        </p:nvSpPr>
        <p:spPr>
          <a:xfrm>
            <a:off x="3918456" y="316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8" name="Google Shape;928;p74"/>
          <p:cNvGrpSpPr/>
          <p:nvPr/>
        </p:nvGrpSpPr>
        <p:grpSpPr>
          <a:xfrm>
            <a:off x="4522639" y="2286163"/>
            <a:ext cx="93900" cy="816939"/>
            <a:chOff x="996050" y="213293"/>
            <a:chExt cx="93900" cy="909732"/>
          </a:xfrm>
        </p:grpSpPr>
        <p:cxnSp>
          <p:nvCxnSpPr>
            <p:cNvPr id="929" name="Google Shape;929;p7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30" name="Google Shape;930;p7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31" name="Google Shape;931;p7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713649" y="1801475"/>
            <a:ext cx="2254126" cy="1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4"/>
          <p:cNvSpPr txBox="1"/>
          <p:nvPr>
            <p:ph idx="1" type="body"/>
          </p:nvPr>
        </p:nvSpPr>
        <p:spPr>
          <a:xfrm>
            <a:off x="992050" y="2011800"/>
            <a:ext cx="18189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think there are </a:t>
            </a:r>
            <a:r>
              <a:rPr lang="en-GB" sz="1800">
                <a:solidFill>
                  <a:schemeClr val="accent4"/>
                </a:solidFill>
              </a:rPr>
              <a:t>four</a:t>
            </a:r>
            <a:r>
              <a:rPr lang="en-GB" sz="1800"/>
              <a:t> possible </a:t>
            </a:r>
            <a:r>
              <a:rPr b="1" lang="en-GB" sz="1800"/>
              <a:t>outcomes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933" name="Google Shape;933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8336" y="3136626"/>
            <a:ext cx="615680" cy="68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7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6098575" y="1801475"/>
            <a:ext cx="2316349" cy="1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4"/>
          <p:cNvSpPr txBox="1"/>
          <p:nvPr>
            <p:ph idx="1" type="body"/>
          </p:nvPr>
        </p:nvSpPr>
        <p:spPr>
          <a:xfrm>
            <a:off x="6349175" y="2011800"/>
            <a:ext cx="18189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think there are </a:t>
            </a:r>
            <a:r>
              <a:rPr lang="en-GB" sz="1800">
                <a:solidFill>
                  <a:schemeClr val="accent4"/>
                </a:solidFill>
              </a:rPr>
              <a:t>two </a:t>
            </a:r>
            <a:r>
              <a:rPr lang="en-GB" sz="1800"/>
              <a:t>possible </a:t>
            </a:r>
            <a:r>
              <a:rPr b="1" lang="en-GB" sz="1800"/>
              <a:t>outcomes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936" name="Google Shape;936;p74"/>
          <p:cNvSpPr txBox="1"/>
          <p:nvPr>
            <p:ph idx="1" type="body"/>
          </p:nvPr>
        </p:nvSpPr>
        <p:spPr>
          <a:xfrm>
            <a:off x="3187320" y="4301513"/>
            <a:ext cx="2777700" cy="33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Who do you agree with?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0210" y="3098132"/>
            <a:ext cx="592241" cy="682993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5"/>
          <p:cNvSpPr txBox="1"/>
          <p:nvPr>
            <p:ph idx="1" type="body"/>
          </p:nvPr>
        </p:nvSpPr>
        <p:spPr>
          <a:xfrm>
            <a:off x="324000" y="759300"/>
            <a:ext cx="8496000" cy="11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only possible </a:t>
            </a:r>
            <a:r>
              <a:rPr b="1" lang="en-GB" sz="2000"/>
              <a:t>outcomes</a:t>
            </a:r>
            <a:r>
              <a:rPr lang="en-GB" sz="2000"/>
              <a:t> on this spinner are ‘</a:t>
            </a:r>
            <a:r>
              <a:rPr lang="en-GB" sz="2000">
                <a:solidFill>
                  <a:schemeClr val="accent4"/>
                </a:solidFill>
              </a:rPr>
              <a:t>win</a:t>
            </a:r>
            <a:r>
              <a:rPr lang="en-GB" sz="2000"/>
              <a:t>’ and ‘</a:t>
            </a:r>
            <a:r>
              <a:rPr lang="en-GB" sz="2000">
                <a:solidFill>
                  <a:schemeClr val="accent4"/>
                </a:solidFill>
              </a:rPr>
              <a:t>lose</a:t>
            </a:r>
            <a:r>
              <a:rPr lang="en-GB" sz="2000"/>
              <a:t>’. </a:t>
            </a:r>
            <a:br>
              <a:rPr lang="en-GB" sz="2000"/>
            </a:br>
            <a:r>
              <a:rPr lang="en-GB" sz="2000"/>
              <a:t>There are multiple sectors on the spinner with each </a:t>
            </a:r>
            <a:r>
              <a:rPr b="1" lang="en-GB" sz="2000"/>
              <a:t>outcome</a:t>
            </a:r>
            <a:r>
              <a:rPr lang="en-GB" sz="2000"/>
              <a:t>, but the </a:t>
            </a:r>
            <a:r>
              <a:rPr b="1" lang="en-GB" sz="2000"/>
              <a:t>sample space</a:t>
            </a:r>
            <a:r>
              <a:rPr lang="en-GB" sz="2000"/>
              <a:t> only contains </a:t>
            </a:r>
            <a:r>
              <a:rPr lang="en-GB" sz="2000">
                <a:solidFill>
                  <a:schemeClr val="accent4"/>
                </a:solidFill>
              </a:rPr>
              <a:t>two</a:t>
            </a:r>
            <a:r>
              <a:rPr lang="en-GB" sz="2000"/>
              <a:t> distinct </a:t>
            </a:r>
            <a:r>
              <a:rPr b="1" lang="en-GB" sz="2000"/>
              <a:t>outcomes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43" name="Google Shape;94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944" name="Google Shape;944;p75"/>
          <p:cNvSpPr/>
          <p:nvPr/>
        </p:nvSpPr>
        <p:spPr>
          <a:xfrm>
            <a:off x="3723330" y="22206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5"/>
          <p:cNvSpPr/>
          <p:nvPr/>
        </p:nvSpPr>
        <p:spPr>
          <a:xfrm flipH="1">
            <a:off x="3738019" y="22354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5"/>
          <p:cNvSpPr/>
          <p:nvPr/>
        </p:nvSpPr>
        <p:spPr>
          <a:xfrm>
            <a:off x="3738090" y="2235411"/>
            <a:ext cx="1666500" cy="1666500"/>
          </a:xfrm>
          <a:prstGeom prst="pie">
            <a:avLst>
              <a:gd fmla="val 5387953" name="adj1"/>
              <a:gd fmla="val 1085822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75"/>
          <p:cNvSpPr txBox="1"/>
          <p:nvPr/>
        </p:nvSpPr>
        <p:spPr>
          <a:xfrm>
            <a:off x="4662530" y="316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5"/>
          <p:cNvSpPr/>
          <p:nvPr/>
        </p:nvSpPr>
        <p:spPr>
          <a:xfrm>
            <a:off x="3738090" y="2235411"/>
            <a:ext cx="1666500" cy="16665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75"/>
          <p:cNvSpPr txBox="1"/>
          <p:nvPr/>
        </p:nvSpPr>
        <p:spPr>
          <a:xfrm>
            <a:off x="3949705" y="2476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5"/>
          <p:cNvSpPr/>
          <p:nvPr/>
        </p:nvSpPr>
        <p:spPr>
          <a:xfrm flipH="1">
            <a:off x="3738019" y="2235411"/>
            <a:ext cx="1666500" cy="16665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5"/>
          <p:cNvSpPr txBox="1"/>
          <p:nvPr/>
        </p:nvSpPr>
        <p:spPr>
          <a:xfrm>
            <a:off x="4680456" y="2476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5"/>
          <p:cNvSpPr txBox="1"/>
          <p:nvPr/>
        </p:nvSpPr>
        <p:spPr>
          <a:xfrm>
            <a:off x="3918456" y="316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3" name="Google Shape;953;p75"/>
          <p:cNvGrpSpPr/>
          <p:nvPr/>
        </p:nvGrpSpPr>
        <p:grpSpPr>
          <a:xfrm>
            <a:off x="4522639" y="2286163"/>
            <a:ext cx="93900" cy="816939"/>
            <a:chOff x="996050" y="213293"/>
            <a:chExt cx="93900" cy="909732"/>
          </a:xfrm>
        </p:grpSpPr>
        <p:cxnSp>
          <p:nvCxnSpPr>
            <p:cNvPr id="954" name="Google Shape;954;p7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55" name="Google Shape;955;p7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56" name="Google Shape;95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8336" y="3136626"/>
            <a:ext cx="615680" cy="68299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75"/>
          <p:cNvSpPr txBox="1"/>
          <p:nvPr/>
        </p:nvSpPr>
        <p:spPr>
          <a:xfrm>
            <a:off x="3708630" y="4282500"/>
            <a:ext cx="1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{win, lose}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6"/>
          <p:cNvSpPr txBox="1"/>
          <p:nvPr>
            <p:ph idx="1" type="body"/>
          </p:nvPr>
        </p:nvSpPr>
        <p:spPr>
          <a:xfrm>
            <a:off x="324000" y="759300"/>
            <a:ext cx="8496000" cy="8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contents of a </a:t>
            </a:r>
            <a:r>
              <a:rPr b="1" lang="en-GB" sz="2000"/>
              <a:t>sample space</a:t>
            </a:r>
            <a:r>
              <a:rPr lang="en-GB" sz="2000"/>
              <a:t> can depend on what is defined as a </a:t>
            </a:r>
            <a:r>
              <a:rPr b="1" lang="en-GB" sz="2000"/>
              <a:t>trial</a:t>
            </a:r>
            <a:r>
              <a:rPr lang="en-GB" sz="2000"/>
              <a:t> in a particular context, as this affects the possible </a:t>
            </a:r>
            <a:r>
              <a:rPr b="1" lang="en-GB" sz="2000"/>
              <a:t>outcomes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63" name="Google Shape;96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964" name="Google Shape;964;p76"/>
          <p:cNvSpPr txBox="1"/>
          <p:nvPr>
            <p:ph idx="1" type="body"/>
          </p:nvPr>
        </p:nvSpPr>
        <p:spPr>
          <a:xfrm>
            <a:off x="5084100" y="2119575"/>
            <a:ext cx="3228900" cy="19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Here a </a:t>
            </a:r>
            <a:r>
              <a:rPr b="1" lang="en-GB" sz="2000"/>
              <a:t>trial</a:t>
            </a:r>
            <a:r>
              <a:rPr lang="en-GB" sz="2000"/>
              <a:t> is defined as a </a:t>
            </a:r>
            <a:r>
              <a:rPr lang="en-GB" sz="2000">
                <a:solidFill>
                  <a:schemeClr val="accent4"/>
                </a:solidFill>
              </a:rPr>
              <a:t>roll of the dice</a:t>
            </a:r>
            <a:r>
              <a:rPr lang="en-GB" sz="2000"/>
              <a:t>. The possible </a:t>
            </a:r>
            <a:r>
              <a:rPr b="1" lang="en-GB" sz="2000"/>
              <a:t>outcomes</a:t>
            </a:r>
            <a:r>
              <a:rPr lang="en-GB" sz="2000"/>
              <a:t> are the </a:t>
            </a:r>
            <a:r>
              <a:rPr lang="en-GB" sz="2000">
                <a:solidFill>
                  <a:schemeClr val="accent4"/>
                </a:solidFill>
              </a:rPr>
              <a:t>numbers on the dice</a:t>
            </a:r>
            <a:r>
              <a:rPr lang="en-GB" sz="2000"/>
              <a:t> so the </a:t>
            </a:r>
            <a:r>
              <a:rPr b="1" lang="en-GB" sz="2000"/>
              <a:t>sample space</a:t>
            </a:r>
            <a:r>
              <a:rPr lang="en-GB" sz="2000"/>
              <a:t> is: </a:t>
            </a:r>
            <a:endParaRPr sz="2000"/>
          </a:p>
        </p:txBody>
      </p:sp>
      <p:pic>
        <p:nvPicPr>
          <p:cNvPr id="965" name="Google Shape;96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410" y="2164625"/>
            <a:ext cx="3228753" cy="25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6"/>
          <p:cNvSpPr txBox="1"/>
          <p:nvPr>
            <p:ph idx="1" type="body"/>
          </p:nvPr>
        </p:nvSpPr>
        <p:spPr>
          <a:xfrm>
            <a:off x="324000" y="152130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Aisha, Lucas and Sam are going to play a board game.</a:t>
            </a:r>
            <a:endParaRPr sz="2000"/>
          </a:p>
        </p:txBody>
      </p:sp>
      <p:pic>
        <p:nvPicPr>
          <p:cNvPr id="967" name="Google Shape;96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978" y="2164626"/>
            <a:ext cx="446789" cy="84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276" y="3108280"/>
            <a:ext cx="572199" cy="642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377" y="3965582"/>
            <a:ext cx="505990" cy="728644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76"/>
          <p:cNvSpPr txBox="1"/>
          <p:nvPr/>
        </p:nvSpPr>
        <p:spPr>
          <a:xfrm>
            <a:off x="5000677" y="3856314"/>
            <a:ext cx="241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4, 5, 6}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7"/>
          <p:cNvSpPr txBox="1"/>
          <p:nvPr>
            <p:ph idx="1" type="body"/>
          </p:nvPr>
        </p:nvSpPr>
        <p:spPr>
          <a:xfrm>
            <a:off x="324000" y="759300"/>
            <a:ext cx="8444700" cy="8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contents of a </a:t>
            </a:r>
            <a:r>
              <a:rPr b="1" lang="en-GB" sz="2000"/>
              <a:t>sample space</a:t>
            </a:r>
            <a:r>
              <a:rPr lang="en-GB" sz="2000"/>
              <a:t> can depend on what is defined as a </a:t>
            </a:r>
            <a:r>
              <a:rPr b="1" lang="en-GB" sz="2000"/>
              <a:t>trial</a:t>
            </a:r>
            <a:r>
              <a:rPr lang="en-GB" sz="2000"/>
              <a:t> in a particular context, as this affects the possible </a:t>
            </a:r>
            <a:r>
              <a:rPr b="1" lang="en-GB" sz="2000"/>
              <a:t>outcomes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76" name="Google Shape;97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977" name="Google Shape;977;p77"/>
          <p:cNvSpPr txBox="1"/>
          <p:nvPr>
            <p:ph idx="1" type="body"/>
          </p:nvPr>
        </p:nvSpPr>
        <p:spPr>
          <a:xfrm>
            <a:off x="5084100" y="2119575"/>
            <a:ext cx="3735900" cy="19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a</a:t>
            </a:r>
            <a:r>
              <a:rPr lang="en-GB" sz="2000"/>
              <a:t> </a:t>
            </a:r>
            <a:r>
              <a:rPr b="1" lang="en-GB" sz="2000"/>
              <a:t>trial</a:t>
            </a:r>
            <a:r>
              <a:rPr lang="en-GB" sz="2000"/>
              <a:t> is defined as a </a:t>
            </a:r>
            <a:r>
              <a:rPr lang="en-GB" sz="2000">
                <a:solidFill>
                  <a:schemeClr val="accent4"/>
                </a:solidFill>
              </a:rPr>
              <a:t>game</a:t>
            </a:r>
            <a:r>
              <a:rPr lang="en-GB" sz="2000"/>
              <a:t> then the </a:t>
            </a:r>
            <a:r>
              <a:rPr b="1" lang="en-GB" sz="2000"/>
              <a:t>outcomes</a:t>
            </a:r>
            <a:r>
              <a:rPr lang="en-GB" sz="2000"/>
              <a:t> are the possible </a:t>
            </a:r>
            <a:r>
              <a:rPr lang="en-GB" sz="2000">
                <a:solidFill>
                  <a:schemeClr val="accent4"/>
                </a:solidFill>
              </a:rPr>
              <a:t>winners</a:t>
            </a:r>
            <a:r>
              <a:rPr lang="en-GB" sz="2000"/>
              <a:t>. T</a:t>
            </a:r>
            <a:r>
              <a:rPr lang="en-GB" sz="2000"/>
              <a:t>he </a:t>
            </a:r>
            <a:r>
              <a:rPr b="1" lang="en-GB" sz="2000"/>
              <a:t>sample space</a:t>
            </a:r>
            <a:r>
              <a:rPr lang="en-GB" sz="2000"/>
              <a:t> is: </a:t>
            </a:r>
            <a:endParaRPr sz="2000"/>
          </a:p>
        </p:txBody>
      </p:sp>
      <p:pic>
        <p:nvPicPr>
          <p:cNvPr id="978" name="Google Shape;97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410" y="2164625"/>
            <a:ext cx="3228753" cy="25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978" y="2164626"/>
            <a:ext cx="446789" cy="84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276" y="3108280"/>
            <a:ext cx="572199" cy="642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377" y="3965582"/>
            <a:ext cx="505990" cy="728644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77"/>
          <p:cNvSpPr txBox="1"/>
          <p:nvPr/>
        </p:nvSpPr>
        <p:spPr>
          <a:xfrm>
            <a:off x="5084100" y="3635675"/>
            <a:ext cx="301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{Aisha, Lucas, Sam}</a:t>
            </a:r>
            <a:endParaRPr/>
          </a:p>
        </p:txBody>
      </p:sp>
      <p:sp>
        <p:nvSpPr>
          <p:cNvPr id="983" name="Google Shape;983;p77"/>
          <p:cNvSpPr txBox="1"/>
          <p:nvPr>
            <p:ph idx="1" type="body"/>
          </p:nvPr>
        </p:nvSpPr>
        <p:spPr>
          <a:xfrm>
            <a:off x="324000" y="152130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Aisha, Lucas and Sam are going to play a board game.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8"/>
          <p:cNvSpPr txBox="1"/>
          <p:nvPr>
            <p:ph idx="1" type="body"/>
          </p:nvPr>
        </p:nvSpPr>
        <p:spPr>
          <a:xfrm>
            <a:off x="324000" y="759300"/>
            <a:ext cx="8237700" cy="10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</a:t>
            </a:r>
            <a:r>
              <a:rPr b="1" lang="en-GB" sz="2000"/>
              <a:t>trial </a:t>
            </a:r>
            <a:r>
              <a:rPr lang="en-GB" sz="2000"/>
              <a:t>consists of one spin of the spinner below.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Write down the </a:t>
            </a:r>
            <a:r>
              <a:rPr b="1" lang="en-GB" sz="2000"/>
              <a:t>sample space</a:t>
            </a:r>
            <a:r>
              <a:rPr lang="en-GB" sz="2000"/>
              <a:t> for </a:t>
            </a:r>
            <a:r>
              <a:rPr lang="en-GB" sz="2000"/>
              <a:t>this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89" name="Google Shape;98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990" name="Google Shape;990;p78"/>
          <p:cNvSpPr txBox="1"/>
          <p:nvPr/>
        </p:nvSpPr>
        <p:spPr>
          <a:xfrm>
            <a:off x="4128375" y="2710975"/>
            <a:ext cx="484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back, forward, left, right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8"/>
          <p:cNvSpPr/>
          <p:nvPr/>
        </p:nvSpPr>
        <p:spPr>
          <a:xfrm>
            <a:off x="1019500" y="1969750"/>
            <a:ext cx="2350200" cy="235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78"/>
          <p:cNvSpPr/>
          <p:nvPr/>
        </p:nvSpPr>
        <p:spPr>
          <a:xfrm flipH="1">
            <a:off x="1039815" y="1990205"/>
            <a:ext cx="2309400" cy="23094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78"/>
          <p:cNvSpPr/>
          <p:nvPr/>
        </p:nvSpPr>
        <p:spPr>
          <a:xfrm>
            <a:off x="1039955" y="1990205"/>
            <a:ext cx="2309400" cy="2309400"/>
          </a:xfrm>
          <a:prstGeom prst="pie">
            <a:avLst>
              <a:gd fmla="val 5387953" name="adj1"/>
              <a:gd fmla="val 10858220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78"/>
          <p:cNvSpPr/>
          <p:nvPr/>
        </p:nvSpPr>
        <p:spPr>
          <a:xfrm>
            <a:off x="1039955" y="1990205"/>
            <a:ext cx="2309400" cy="23094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78"/>
          <p:cNvSpPr txBox="1"/>
          <p:nvPr/>
        </p:nvSpPr>
        <p:spPr>
          <a:xfrm>
            <a:off x="2253002" y="333179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right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8"/>
          <p:cNvSpPr/>
          <p:nvPr/>
        </p:nvSpPr>
        <p:spPr>
          <a:xfrm flipH="1">
            <a:off x="1039815" y="1990205"/>
            <a:ext cx="2309400" cy="23094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8"/>
          <p:cNvSpPr txBox="1"/>
          <p:nvPr/>
        </p:nvSpPr>
        <p:spPr>
          <a:xfrm>
            <a:off x="2207883" y="2477300"/>
            <a:ext cx="102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forward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8"/>
          <p:cNvSpPr txBox="1"/>
          <p:nvPr/>
        </p:nvSpPr>
        <p:spPr>
          <a:xfrm>
            <a:off x="1202848" y="3351450"/>
            <a:ext cx="67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back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9" name="Google Shape;999;p78"/>
          <p:cNvGrpSpPr/>
          <p:nvPr/>
        </p:nvGrpSpPr>
        <p:grpSpPr>
          <a:xfrm>
            <a:off x="2127192" y="2060534"/>
            <a:ext cx="130127" cy="1132070"/>
            <a:chOff x="996050" y="213293"/>
            <a:chExt cx="93900" cy="909732"/>
          </a:xfrm>
        </p:grpSpPr>
        <p:cxnSp>
          <p:nvCxnSpPr>
            <p:cNvPr id="1000" name="Google Shape;1000;p7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1" name="Google Shape;1001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2" name="Google Shape;1002;p78"/>
          <p:cNvSpPr txBox="1"/>
          <p:nvPr/>
        </p:nvSpPr>
        <p:spPr>
          <a:xfrm>
            <a:off x="1288789" y="2493394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left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1008" name="Google Shape;1008;p79"/>
          <p:cNvSpPr txBox="1"/>
          <p:nvPr>
            <p:ph idx="1" type="body"/>
          </p:nvPr>
        </p:nvSpPr>
        <p:spPr>
          <a:xfrm>
            <a:off x="324000" y="759300"/>
            <a:ext cx="8237700" cy="5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In each question a </a:t>
            </a:r>
            <a:r>
              <a:rPr b="1" lang="en-GB" sz="1600"/>
              <a:t>trial</a:t>
            </a:r>
            <a:r>
              <a:rPr lang="en-GB" sz="1600"/>
              <a:t> consists of a single spin of the spinner. Write down the</a:t>
            </a:r>
            <a:r>
              <a:rPr lang="en-GB" sz="1600"/>
              <a:t> </a:t>
            </a:r>
            <a:br>
              <a:rPr lang="en-GB" sz="1600"/>
            </a:br>
            <a:r>
              <a:rPr lang="en-GB" sz="1600"/>
              <a:t>   </a:t>
            </a:r>
            <a:r>
              <a:rPr lang="en-GB" sz="1600"/>
              <a:t> </a:t>
            </a:r>
            <a:r>
              <a:rPr b="1" lang="en-GB" sz="1600"/>
              <a:t>sample space</a:t>
            </a:r>
            <a:r>
              <a:rPr lang="en-GB" sz="1600"/>
              <a:t> for each </a:t>
            </a:r>
            <a:r>
              <a:rPr b="1" lang="en-GB" sz="1600"/>
              <a:t>trial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009" name="Google Shape;1009;p79"/>
          <p:cNvSpPr txBox="1"/>
          <p:nvPr>
            <p:ph idx="1" type="body"/>
          </p:nvPr>
        </p:nvSpPr>
        <p:spPr>
          <a:xfrm>
            <a:off x="324000" y="1350592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r>
              <a:rPr lang="en-GB" sz="1600"/>
              <a:t>) </a:t>
            </a:r>
            <a:endParaRPr sz="1600"/>
          </a:p>
        </p:txBody>
      </p:sp>
      <p:pic>
        <p:nvPicPr>
          <p:cNvPr id="1010" name="Google Shape;101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526" y="1387019"/>
            <a:ext cx="1248600" cy="12486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1" name="Google Shape;1011;p79"/>
          <p:cNvSpPr/>
          <p:nvPr/>
        </p:nvSpPr>
        <p:spPr>
          <a:xfrm>
            <a:off x="628247" y="1377999"/>
            <a:ext cx="1270200" cy="127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2" name="Google Shape;101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515" y="1387019"/>
            <a:ext cx="1248600" cy="1248600"/>
          </a:xfrm>
          <a:prstGeom prst="pie">
            <a:avLst>
              <a:gd fmla="val 5390136" name="adj1"/>
              <a:gd fmla="val 10736502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3" name="Google Shape;1013;p79"/>
          <p:cNvSpPr/>
          <p:nvPr/>
        </p:nvSpPr>
        <p:spPr>
          <a:xfrm flipH="1">
            <a:off x="639070" y="1389056"/>
            <a:ext cx="1248600" cy="12486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79"/>
          <p:cNvSpPr/>
          <p:nvPr/>
        </p:nvSpPr>
        <p:spPr>
          <a:xfrm>
            <a:off x="639305" y="1389056"/>
            <a:ext cx="1248600" cy="12486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79"/>
          <p:cNvSpPr txBox="1"/>
          <p:nvPr/>
        </p:nvSpPr>
        <p:spPr>
          <a:xfrm>
            <a:off x="885028" y="1569985"/>
            <a:ext cx="42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9"/>
          <p:cNvSpPr/>
          <p:nvPr/>
        </p:nvSpPr>
        <p:spPr>
          <a:xfrm flipH="1">
            <a:off x="639070" y="1389056"/>
            <a:ext cx="1248600" cy="12486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79"/>
          <p:cNvSpPr txBox="1"/>
          <p:nvPr/>
        </p:nvSpPr>
        <p:spPr>
          <a:xfrm>
            <a:off x="1345256" y="1569985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9"/>
          <p:cNvSpPr txBox="1"/>
          <p:nvPr/>
        </p:nvSpPr>
        <p:spPr>
          <a:xfrm>
            <a:off x="1345256" y="2083732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9" name="Google Shape;1019;p79"/>
          <p:cNvGrpSpPr/>
          <p:nvPr/>
        </p:nvGrpSpPr>
        <p:grpSpPr>
          <a:xfrm>
            <a:off x="1227004" y="1427095"/>
            <a:ext cx="70340" cy="612068"/>
            <a:chOff x="996050" y="213293"/>
            <a:chExt cx="93900" cy="909732"/>
          </a:xfrm>
        </p:grpSpPr>
        <p:cxnSp>
          <p:nvCxnSpPr>
            <p:cNvPr id="1020" name="Google Shape;1020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21" name="Google Shape;1021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2" name="Google Shape;1022;p79"/>
          <p:cNvSpPr/>
          <p:nvPr/>
        </p:nvSpPr>
        <p:spPr>
          <a:xfrm>
            <a:off x="2775258" y="1377999"/>
            <a:ext cx="1270200" cy="127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79"/>
          <p:cNvSpPr/>
          <p:nvPr/>
        </p:nvSpPr>
        <p:spPr>
          <a:xfrm rot="7199036">
            <a:off x="2786158" y="1389233"/>
            <a:ext cx="1248607" cy="1248607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79"/>
          <p:cNvSpPr/>
          <p:nvPr/>
        </p:nvSpPr>
        <p:spPr>
          <a:xfrm rot="-7212056">
            <a:off x="2786404" y="1389346"/>
            <a:ext cx="1248226" cy="124822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79"/>
          <p:cNvSpPr txBox="1"/>
          <p:nvPr/>
        </p:nvSpPr>
        <p:spPr>
          <a:xfrm>
            <a:off x="3549350" y="1684151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9"/>
          <p:cNvSpPr txBox="1"/>
          <p:nvPr/>
        </p:nvSpPr>
        <p:spPr>
          <a:xfrm>
            <a:off x="3234425" y="2140815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7" name="Google Shape;1027;p79"/>
          <p:cNvGrpSpPr/>
          <p:nvPr/>
        </p:nvGrpSpPr>
        <p:grpSpPr>
          <a:xfrm>
            <a:off x="3374015" y="1441510"/>
            <a:ext cx="70340" cy="612068"/>
            <a:chOff x="996050" y="213293"/>
            <a:chExt cx="93900" cy="909732"/>
          </a:xfrm>
        </p:grpSpPr>
        <p:cxnSp>
          <p:nvCxnSpPr>
            <p:cNvPr id="1028" name="Google Shape;1028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29" name="Google Shape;1029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0" name="Google Shape;1030;p79"/>
          <p:cNvSpPr/>
          <p:nvPr/>
        </p:nvSpPr>
        <p:spPr>
          <a:xfrm>
            <a:off x="911160" y="2167491"/>
            <a:ext cx="188100" cy="17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79"/>
          <p:cNvSpPr txBox="1"/>
          <p:nvPr/>
        </p:nvSpPr>
        <p:spPr>
          <a:xfrm>
            <a:off x="851840" y="2042420"/>
            <a:ext cx="42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9"/>
          <p:cNvSpPr/>
          <p:nvPr/>
        </p:nvSpPr>
        <p:spPr>
          <a:xfrm>
            <a:off x="3001088" y="1756848"/>
            <a:ext cx="188100" cy="17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79"/>
          <p:cNvSpPr txBox="1"/>
          <p:nvPr/>
        </p:nvSpPr>
        <p:spPr>
          <a:xfrm>
            <a:off x="2922683" y="1637939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9"/>
          <p:cNvSpPr txBox="1"/>
          <p:nvPr>
            <p:ph idx="1" type="body"/>
          </p:nvPr>
        </p:nvSpPr>
        <p:spPr>
          <a:xfrm>
            <a:off x="2531188" y="1350592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035" name="Google Shape;1035;p79"/>
          <p:cNvSpPr txBox="1"/>
          <p:nvPr>
            <p:ph idx="1" type="body"/>
          </p:nvPr>
        </p:nvSpPr>
        <p:spPr>
          <a:xfrm>
            <a:off x="4560017" y="1350592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036" name="Google Shape;1036;p79"/>
          <p:cNvSpPr/>
          <p:nvPr/>
        </p:nvSpPr>
        <p:spPr>
          <a:xfrm>
            <a:off x="4771430" y="1350592"/>
            <a:ext cx="1248600" cy="12486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79"/>
          <p:cNvSpPr/>
          <p:nvPr/>
        </p:nvSpPr>
        <p:spPr>
          <a:xfrm flipH="1">
            <a:off x="4782116" y="1361459"/>
            <a:ext cx="1227000" cy="1227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79"/>
          <p:cNvSpPr/>
          <p:nvPr/>
        </p:nvSpPr>
        <p:spPr>
          <a:xfrm>
            <a:off x="4782296" y="1361459"/>
            <a:ext cx="1227000" cy="1227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79"/>
          <p:cNvSpPr txBox="1"/>
          <p:nvPr/>
        </p:nvSpPr>
        <p:spPr>
          <a:xfrm>
            <a:off x="4782175" y="1748575"/>
            <a:ext cx="5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9"/>
          <p:cNvSpPr txBox="1"/>
          <p:nvPr/>
        </p:nvSpPr>
        <p:spPr>
          <a:xfrm>
            <a:off x="5431831" y="1748575"/>
            <a:ext cx="62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1" name="Google Shape;1041;p79"/>
          <p:cNvGrpSpPr/>
          <p:nvPr/>
        </p:nvGrpSpPr>
        <p:grpSpPr>
          <a:xfrm>
            <a:off x="5359882" y="1418743"/>
            <a:ext cx="69129" cy="601424"/>
            <a:chOff x="996050" y="213293"/>
            <a:chExt cx="93900" cy="909732"/>
          </a:xfrm>
        </p:grpSpPr>
        <p:cxnSp>
          <p:nvCxnSpPr>
            <p:cNvPr id="1042" name="Google Shape;1042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43" name="Google Shape;1043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79"/>
          <p:cNvSpPr/>
          <p:nvPr/>
        </p:nvSpPr>
        <p:spPr>
          <a:xfrm rot="-3572186">
            <a:off x="6770911" y="1333794"/>
            <a:ext cx="1320144" cy="1320144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79"/>
          <p:cNvSpPr/>
          <p:nvPr/>
        </p:nvSpPr>
        <p:spPr>
          <a:xfrm>
            <a:off x="6759292" y="1321723"/>
            <a:ext cx="1343700" cy="1343700"/>
          </a:xfrm>
          <a:prstGeom prst="ellipse">
            <a:avLst/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79"/>
          <p:cNvSpPr txBox="1"/>
          <p:nvPr/>
        </p:nvSpPr>
        <p:spPr>
          <a:xfrm>
            <a:off x="6933086" y="1433190"/>
            <a:ext cx="54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9"/>
          <p:cNvSpPr/>
          <p:nvPr/>
        </p:nvSpPr>
        <p:spPr>
          <a:xfrm flipH="1">
            <a:off x="6770958" y="1333420"/>
            <a:ext cx="1320600" cy="1320600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79"/>
          <p:cNvSpPr txBox="1"/>
          <p:nvPr/>
        </p:nvSpPr>
        <p:spPr>
          <a:xfrm>
            <a:off x="7517771" y="2068284"/>
            <a:ext cx="49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9"/>
          <p:cNvSpPr/>
          <p:nvPr/>
        </p:nvSpPr>
        <p:spPr>
          <a:xfrm flipH="1" rot="3615985">
            <a:off x="6771139" y="1333557"/>
            <a:ext cx="1320449" cy="1320449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79"/>
          <p:cNvSpPr/>
          <p:nvPr/>
        </p:nvSpPr>
        <p:spPr>
          <a:xfrm flipH="1" rot="7179462">
            <a:off x="6771051" y="1333577"/>
            <a:ext cx="1320488" cy="1320488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79"/>
          <p:cNvSpPr txBox="1"/>
          <p:nvPr/>
        </p:nvSpPr>
        <p:spPr>
          <a:xfrm>
            <a:off x="7430058" y="1423473"/>
            <a:ext cx="6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9"/>
          <p:cNvSpPr txBox="1"/>
          <p:nvPr/>
        </p:nvSpPr>
        <p:spPr>
          <a:xfrm>
            <a:off x="7420979" y="2176086"/>
            <a:ext cx="6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9"/>
          <p:cNvSpPr/>
          <p:nvPr/>
        </p:nvSpPr>
        <p:spPr>
          <a:xfrm rot="-7166868">
            <a:off x="6771220" y="1333607"/>
            <a:ext cx="1320504" cy="1320504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79"/>
          <p:cNvSpPr/>
          <p:nvPr/>
        </p:nvSpPr>
        <p:spPr>
          <a:xfrm rot="10800000">
            <a:off x="6771155" y="1333748"/>
            <a:ext cx="1320300" cy="1320300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79"/>
          <p:cNvSpPr txBox="1"/>
          <p:nvPr/>
        </p:nvSpPr>
        <p:spPr>
          <a:xfrm>
            <a:off x="7590389" y="1795501"/>
            <a:ext cx="54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9"/>
          <p:cNvSpPr txBox="1"/>
          <p:nvPr/>
        </p:nvSpPr>
        <p:spPr>
          <a:xfrm>
            <a:off x="6933086" y="2192281"/>
            <a:ext cx="54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9"/>
          <p:cNvSpPr txBox="1"/>
          <p:nvPr/>
        </p:nvSpPr>
        <p:spPr>
          <a:xfrm>
            <a:off x="6744136" y="1813775"/>
            <a:ext cx="6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8" name="Google Shape;1058;p79"/>
          <p:cNvGrpSpPr/>
          <p:nvPr/>
        </p:nvGrpSpPr>
        <p:grpSpPr>
          <a:xfrm>
            <a:off x="7392654" y="1373634"/>
            <a:ext cx="74406" cy="647365"/>
            <a:chOff x="996050" y="213293"/>
            <a:chExt cx="93900" cy="909732"/>
          </a:xfrm>
        </p:grpSpPr>
        <p:cxnSp>
          <p:nvCxnSpPr>
            <p:cNvPr id="1059" name="Google Shape;1059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60" name="Google Shape;1060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1" name="Google Shape;1061;p79"/>
          <p:cNvSpPr txBox="1"/>
          <p:nvPr>
            <p:ph idx="1" type="body"/>
          </p:nvPr>
        </p:nvSpPr>
        <p:spPr>
          <a:xfrm>
            <a:off x="6482407" y="1350592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062" name="Google Shape;1062;p79"/>
          <p:cNvSpPr txBox="1"/>
          <p:nvPr>
            <p:ph idx="1" type="body"/>
          </p:nvPr>
        </p:nvSpPr>
        <p:spPr>
          <a:xfrm>
            <a:off x="324000" y="2911402"/>
            <a:ext cx="8237700" cy="5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In each question a </a:t>
            </a:r>
            <a:r>
              <a:rPr b="1" lang="en-GB" sz="1600"/>
              <a:t>trial</a:t>
            </a:r>
            <a:r>
              <a:rPr lang="en-GB" sz="1600"/>
              <a:t> consists of a single spin of the spinner. Use the </a:t>
            </a:r>
            <a:r>
              <a:rPr b="1" lang="en-GB" sz="1600"/>
              <a:t>sample </a:t>
            </a:r>
            <a:br>
              <a:rPr b="1" lang="en-GB" sz="1600"/>
            </a:br>
            <a:r>
              <a:rPr b="1" lang="en-GB" sz="1600"/>
              <a:t>    spaces</a:t>
            </a:r>
            <a:r>
              <a:rPr lang="en-GB" sz="1600"/>
              <a:t> to complete the spinner. There may be more than one possible answer.</a:t>
            </a:r>
            <a:endParaRPr sz="1600"/>
          </a:p>
        </p:txBody>
      </p:sp>
      <p:sp>
        <p:nvSpPr>
          <p:cNvPr id="1063" name="Google Shape;1063;p79"/>
          <p:cNvSpPr/>
          <p:nvPr/>
        </p:nvSpPr>
        <p:spPr>
          <a:xfrm>
            <a:off x="4852654" y="3610572"/>
            <a:ext cx="1159200" cy="1159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79"/>
          <p:cNvSpPr/>
          <p:nvPr/>
        </p:nvSpPr>
        <p:spPr>
          <a:xfrm flipH="1" rot="3616093">
            <a:off x="4863718" y="3620633"/>
            <a:ext cx="1139048" cy="1139048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79"/>
          <p:cNvSpPr/>
          <p:nvPr/>
        </p:nvSpPr>
        <p:spPr>
          <a:xfrm>
            <a:off x="674164" y="3587763"/>
            <a:ext cx="1227000" cy="1227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79"/>
          <p:cNvSpPr/>
          <p:nvPr/>
        </p:nvSpPr>
        <p:spPr>
          <a:xfrm flipH="1">
            <a:off x="684770" y="3598442"/>
            <a:ext cx="1205700" cy="1205700"/>
          </a:xfrm>
          <a:prstGeom prst="pie">
            <a:avLst>
              <a:gd fmla="val 5387953" name="adj1"/>
              <a:gd fmla="val 1082421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79"/>
          <p:cNvSpPr/>
          <p:nvPr/>
        </p:nvSpPr>
        <p:spPr>
          <a:xfrm>
            <a:off x="684843" y="3598442"/>
            <a:ext cx="1205700" cy="1205700"/>
          </a:xfrm>
          <a:prstGeom prst="pie">
            <a:avLst>
              <a:gd fmla="val 5387953" name="adj1"/>
              <a:gd fmla="val 1085822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79"/>
          <p:cNvSpPr/>
          <p:nvPr/>
        </p:nvSpPr>
        <p:spPr>
          <a:xfrm>
            <a:off x="684843" y="3598442"/>
            <a:ext cx="1205700" cy="1205700"/>
          </a:xfrm>
          <a:prstGeom prst="pie">
            <a:avLst>
              <a:gd fmla="val 10799941" name="adj1"/>
              <a:gd fmla="val 16225322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79"/>
          <p:cNvSpPr/>
          <p:nvPr/>
        </p:nvSpPr>
        <p:spPr>
          <a:xfrm flipH="1">
            <a:off x="684770" y="3598442"/>
            <a:ext cx="1205700" cy="1205700"/>
          </a:xfrm>
          <a:prstGeom prst="pie">
            <a:avLst>
              <a:gd fmla="val 1082585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79"/>
          <p:cNvSpPr/>
          <p:nvPr/>
        </p:nvSpPr>
        <p:spPr>
          <a:xfrm flipH="1">
            <a:off x="4863665" y="3620660"/>
            <a:ext cx="1139100" cy="1139100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79"/>
          <p:cNvSpPr/>
          <p:nvPr/>
        </p:nvSpPr>
        <p:spPr>
          <a:xfrm flipH="1" rot="7179415">
            <a:off x="4863603" y="3620409"/>
            <a:ext cx="1139236" cy="1139236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79"/>
          <p:cNvSpPr/>
          <p:nvPr/>
        </p:nvSpPr>
        <p:spPr>
          <a:xfrm rot="-7167731">
            <a:off x="4863837" y="3620952"/>
            <a:ext cx="1138764" cy="1138764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79"/>
          <p:cNvSpPr/>
          <p:nvPr/>
        </p:nvSpPr>
        <p:spPr>
          <a:xfrm rot="10800000">
            <a:off x="4863876" y="3620888"/>
            <a:ext cx="1138800" cy="11388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4" name="Google Shape;1074;p79"/>
          <p:cNvGrpSpPr/>
          <p:nvPr/>
        </p:nvGrpSpPr>
        <p:grpSpPr>
          <a:xfrm>
            <a:off x="1252469" y="3635164"/>
            <a:ext cx="67937" cy="591053"/>
            <a:chOff x="996050" y="213293"/>
            <a:chExt cx="93900" cy="909732"/>
          </a:xfrm>
        </p:grpSpPr>
        <p:cxnSp>
          <p:nvCxnSpPr>
            <p:cNvPr id="1075" name="Google Shape;1075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76" name="Google Shape;1076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7" name="Google Shape;1077;p79"/>
          <p:cNvGrpSpPr/>
          <p:nvPr/>
        </p:nvGrpSpPr>
        <p:grpSpPr>
          <a:xfrm>
            <a:off x="5400024" y="3655355"/>
            <a:ext cx="64181" cy="558393"/>
            <a:chOff x="996050" y="213293"/>
            <a:chExt cx="93900" cy="909732"/>
          </a:xfrm>
        </p:grpSpPr>
        <p:cxnSp>
          <p:nvCxnSpPr>
            <p:cNvPr id="1078" name="Google Shape;1078;p7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79" name="Google Shape;1079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0" name="Google Shape;1080;p79"/>
          <p:cNvSpPr txBox="1"/>
          <p:nvPr>
            <p:ph idx="1" type="body"/>
          </p:nvPr>
        </p:nvSpPr>
        <p:spPr>
          <a:xfrm>
            <a:off x="324000" y="3541178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endParaRPr sz="1600"/>
          </a:p>
        </p:txBody>
      </p:sp>
      <p:sp>
        <p:nvSpPr>
          <p:cNvPr id="1081" name="Google Shape;1081;p79"/>
          <p:cNvSpPr txBox="1"/>
          <p:nvPr>
            <p:ph idx="1" type="body"/>
          </p:nvPr>
        </p:nvSpPr>
        <p:spPr>
          <a:xfrm>
            <a:off x="4591200" y="3541178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</a:t>
            </a:r>
            <a:endParaRPr sz="1600"/>
          </a:p>
        </p:txBody>
      </p:sp>
      <p:sp>
        <p:nvSpPr>
          <p:cNvPr id="1082" name="Google Shape;1082;p79"/>
          <p:cNvSpPr txBox="1"/>
          <p:nvPr/>
        </p:nvSpPr>
        <p:spPr>
          <a:xfrm>
            <a:off x="2028875" y="3948677"/>
            <a:ext cx="17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1600"/>
          </a:p>
        </p:txBody>
      </p:sp>
      <p:sp>
        <p:nvSpPr>
          <p:cNvPr id="1083" name="Google Shape;1083;p79"/>
          <p:cNvSpPr txBox="1"/>
          <p:nvPr/>
        </p:nvSpPr>
        <p:spPr>
          <a:xfrm>
            <a:off x="6143675" y="3948677"/>
            <a:ext cx="17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1089" name="Google Shape;1089;p80"/>
          <p:cNvSpPr txBox="1"/>
          <p:nvPr>
            <p:ph idx="1" type="body"/>
          </p:nvPr>
        </p:nvSpPr>
        <p:spPr>
          <a:xfrm>
            <a:off x="324000" y="1350592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endParaRPr sz="1600"/>
          </a:p>
        </p:txBody>
      </p:sp>
      <p:sp>
        <p:nvSpPr>
          <p:cNvPr id="1090" name="Google Shape;1090;p80"/>
          <p:cNvSpPr/>
          <p:nvPr/>
        </p:nvSpPr>
        <p:spPr>
          <a:xfrm>
            <a:off x="628247" y="1377999"/>
            <a:ext cx="1270200" cy="127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1" name="Google Shape;109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515" y="1387019"/>
            <a:ext cx="1248600" cy="1248600"/>
          </a:xfrm>
          <a:prstGeom prst="pie">
            <a:avLst>
              <a:gd fmla="val 5390136" name="adj1"/>
              <a:gd fmla="val 10736502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2" name="Google Shape;1092;p80"/>
          <p:cNvSpPr txBox="1"/>
          <p:nvPr>
            <p:ph idx="1" type="body"/>
          </p:nvPr>
        </p:nvSpPr>
        <p:spPr>
          <a:xfrm>
            <a:off x="324000" y="759300"/>
            <a:ext cx="8237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In each question a </a:t>
            </a:r>
            <a:r>
              <a:rPr b="1" lang="en-GB" sz="1600"/>
              <a:t>trial</a:t>
            </a:r>
            <a:r>
              <a:rPr lang="en-GB" sz="1600"/>
              <a:t> consists of a single spin of the spinner. Write down the </a:t>
            </a:r>
            <a:br>
              <a:rPr lang="en-GB" sz="1600"/>
            </a:br>
            <a:r>
              <a:rPr lang="en-GB" sz="1600"/>
              <a:t>    </a:t>
            </a:r>
            <a:r>
              <a:rPr b="1" lang="en-GB" sz="1600"/>
              <a:t>sample space</a:t>
            </a:r>
            <a:r>
              <a:rPr lang="en-GB" sz="1600"/>
              <a:t> for each </a:t>
            </a:r>
            <a:r>
              <a:rPr b="1" lang="en-GB" sz="1600"/>
              <a:t>trial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093" name="Google Shape;1093;p80"/>
          <p:cNvSpPr/>
          <p:nvPr/>
        </p:nvSpPr>
        <p:spPr>
          <a:xfrm flipH="1">
            <a:off x="639070" y="1389056"/>
            <a:ext cx="1248600" cy="12486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80"/>
          <p:cNvSpPr/>
          <p:nvPr/>
        </p:nvSpPr>
        <p:spPr>
          <a:xfrm>
            <a:off x="639305" y="1389056"/>
            <a:ext cx="1248600" cy="1248600"/>
          </a:xfrm>
          <a:prstGeom prst="pie">
            <a:avLst>
              <a:gd fmla="val 10799941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80"/>
          <p:cNvSpPr txBox="1"/>
          <p:nvPr/>
        </p:nvSpPr>
        <p:spPr>
          <a:xfrm>
            <a:off x="885028" y="1569985"/>
            <a:ext cx="42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0"/>
          <p:cNvSpPr/>
          <p:nvPr/>
        </p:nvSpPr>
        <p:spPr>
          <a:xfrm flipH="1">
            <a:off x="639070" y="1389056"/>
            <a:ext cx="1248600" cy="12486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80"/>
          <p:cNvSpPr txBox="1"/>
          <p:nvPr/>
        </p:nvSpPr>
        <p:spPr>
          <a:xfrm>
            <a:off x="1345256" y="1569985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0"/>
          <p:cNvSpPr txBox="1"/>
          <p:nvPr/>
        </p:nvSpPr>
        <p:spPr>
          <a:xfrm>
            <a:off x="1345256" y="2083732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9" name="Google Shape;1099;p80"/>
          <p:cNvGrpSpPr/>
          <p:nvPr/>
        </p:nvGrpSpPr>
        <p:grpSpPr>
          <a:xfrm>
            <a:off x="1227004" y="1427095"/>
            <a:ext cx="70340" cy="612068"/>
            <a:chOff x="996050" y="213293"/>
            <a:chExt cx="93900" cy="909732"/>
          </a:xfrm>
        </p:grpSpPr>
        <p:cxnSp>
          <p:nvCxnSpPr>
            <p:cNvPr id="1100" name="Google Shape;1100;p8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1" name="Google Shape;1101;p8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2" name="Google Shape;1102;p80"/>
          <p:cNvSpPr/>
          <p:nvPr/>
        </p:nvSpPr>
        <p:spPr>
          <a:xfrm>
            <a:off x="911160" y="2167491"/>
            <a:ext cx="188100" cy="17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80"/>
          <p:cNvSpPr txBox="1"/>
          <p:nvPr/>
        </p:nvSpPr>
        <p:spPr>
          <a:xfrm>
            <a:off x="851840" y="2042420"/>
            <a:ext cx="42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0"/>
          <p:cNvSpPr txBox="1"/>
          <p:nvPr>
            <p:ph idx="1" type="body"/>
          </p:nvPr>
        </p:nvSpPr>
        <p:spPr>
          <a:xfrm>
            <a:off x="2531188" y="1350592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endParaRPr sz="1600"/>
          </a:p>
        </p:txBody>
      </p:sp>
      <p:sp>
        <p:nvSpPr>
          <p:cNvPr id="1105" name="Google Shape;1105;p80"/>
          <p:cNvSpPr txBox="1"/>
          <p:nvPr>
            <p:ph idx="1" type="body"/>
          </p:nvPr>
        </p:nvSpPr>
        <p:spPr>
          <a:xfrm>
            <a:off x="4560017" y="1350592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</a:t>
            </a:r>
            <a:endParaRPr sz="1600"/>
          </a:p>
        </p:txBody>
      </p:sp>
      <p:sp>
        <p:nvSpPr>
          <p:cNvPr id="1106" name="Google Shape;1106;p80"/>
          <p:cNvSpPr/>
          <p:nvPr/>
        </p:nvSpPr>
        <p:spPr>
          <a:xfrm>
            <a:off x="4771430" y="1350592"/>
            <a:ext cx="1248600" cy="12486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80"/>
          <p:cNvSpPr/>
          <p:nvPr/>
        </p:nvSpPr>
        <p:spPr>
          <a:xfrm flipH="1">
            <a:off x="4782116" y="1361459"/>
            <a:ext cx="1227000" cy="1227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80"/>
          <p:cNvSpPr/>
          <p:nvPr/>
        </p:nvSpPr>
        <p:spPr>
          <a:xfrm>
            <a:off x="4782296" y="1361459"/>
            <a:ext cx="1227000" cy="12270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80"/>
          <p:cNvSpPr txBox="1"/>
          <p:nvPr/>
        </p:nvSpPr>
        <p:spPr>
          <a:xfrm>
            <a:off x="4782175" y="1748575"/>
            <a:ext cx="5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0"/>
          <p:cNvSpPr txBox="1"/>
          <p:nvPr/>
        </p:nvSpPr>
        <p:spPr>
          <a:xfrm>
            <a:off x="5431831" y="1748575"/>
            <a:ext cx="62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1" name="Google Shape;1111;p80"/>
          <p:cNvGrpSpPr/>
          <p:nvPr/>
        </p:nvGrpSpPr>
        <p:grpSpPr>
          <a:xfrm>
            <a:off x="5359882" y="1418743"/>
            <a:ext cx="69129" cy="601424"/>
            <a:chOff x="996050" y="213293"/>
            <a:chExt cx="93900" cy="909732"/>
          </a:xfrm>
        </p:grpSpPr>
        <p:cxnSp>
          <p:nvCxnSpPr>
            <p:cNvPr id="1112" name="Google Shape;1112;p8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3" name="Google Shape;1113;p8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4" name="Google Shape;1114;p80"/>
          <p:cNvSpPr/>
          <p:nvPr/>
        </p:nvSpPr>
        <p:spPr>
          <a:xfrm rot="-3572186">
            <a:off x="6770911" y="1333794"/>
            <a:ext cx="1320144" cy="1320144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80"/>
          <p:cNvSpPr/>
          <p:nvPr/>
        </p:nvSpPr>
        <p:spPr>
          <a:xfrm>
            <a:off x="6759292" y="1321723"/>
            <a:ext cx="1343700" cy="1343700"/>
          </a:xfrm>
          <a:prstGeom prst="ellipse">
            <a:avLst/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80"/>
          <p:cNvSpPr txBox="1"/>
          <p:nvPr/>
        </p:nvSpPr>
        <p:spPr>
          <a:xfrm>
            <a:off x="6933086" y="1433190"/>
            <a:ext cx="54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0"/>
          <p:cNvSpPr/>
          <p:nvPr/>
        </p:nvSpPr>
        <p:spPr>
          <a:xfrm flipH="1">
            <a:off x="6770958" y="1333420"/>
            <a:ext cx="1320600" cy="1320600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80"/>
          <p:cNvSpPr txBox="1"/>
          <p:nvPr/>
        </p:nvSpPr>
        <p:spPr>
          <a:xfrm>
            <a:off x="7517771" y="2068284"/>
            <a:ext cx="49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0"/>
          <p:cNvSpPr/>
          <p:nvPr/>
        </p:nvSpPr>
        <p:spPr>
          <a:xfrm flipH="1" rot="3615985">
            <a:off x="6771139" y="1333557"/>
            <a:ext cx="1320449" cy="1320449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80"/>
          <p:cNvSpPr/>
          <p:nvPr/>
        </p:nvSpPr>
        <p:spPr>
          <a:xfrm flipH="1" rot="7179462">
            <a:off x="6771051" y="1333577"/>
            <a:ext cx="1320488" cy="1320488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80"/>
          <p:cNvSpPr txBox="1"/>
          <p:nvPr/>
        </p:nvSpPr>
        <p:spPr>
          <a:xfrm>
            <a:off x="7430058" y="1423473"/>
            <a:ext cx="6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0"/>
          <p:cNvSpPr txBox="1"/>
          <p:nvPr/>
        </p:nvSpPr>
        <p:spPr>
          <a:xfrm>
            <a:off x="7420979" y="2176086"/>
            <a:ext cx="6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0"/>
          <p:cNvSpPr/>
          <p:nvPr/>
        </p:nvSpPr>
        <p:spPr>
          <a:xfrm rot="-7166868">
            <a:off x="6771220" y="1333607"/>
            <a:ext cx="1320504" cy="1320504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80"/>
          <p:cNvSpPr/>
          <p:nvPr/>
        </p:nvSpPr>
        <p:spPr>
          <a:xfrm rot="10800000">
            <a:off x="6771155" y="1333748"/>
            <a:ext cx="1320300" cy="1320300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80"/>
          <p:cNvSpPr txBox="1"/>
          <p:nvPr/>
        </p:nvSpPr>
        <p:spPr>
          <a:xfrm>
            <a:off x="7590389" y="1795501"/>
            <a:ext cx="54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0"/>
          <p:cNvSpPr txBox="1"/>
          <p:nvPr/>
        </p:nvSpPr>
        <p:spPr>
          <a:xfrm>
            <a:off x="6933086" y="2192281"/>
            <a:ext cx="54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0"/>
          <p:cNvSpPr txBox="1"/>
          <p:nvPr/>
        </p:nvSpPr>
        <p:spPr>
          <a:xfrm>
            <a:off x="6744136" y="1813775"/>
            <a:ext cx="6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8" name="Google Shape;1128;p80"/>
          <p:cNvGrpSpPr/>
          <p:nvPr/>
        </p:nvGrpSpPr>
        <p:grpSpPr>
          <a:xfrm>
            <a:off x="7392654" y="1373634"/>
            <a:ext cx="74406" cy="647365"/>
            <a:chOff x="996050" y="213293"/>
            <a:chExt cx="93900" cy="909732"/>
          </a:xfrm>
        </p:grpSpPr>
        <p:cxnSp>
          <p:nvCxnSpPr>
            <p:cNvPr id="1129" name="Google Shape;1129;p8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0" name="Google Shape;1130;p8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1" name="Google Shape;1131;p80"/>
          <p:cNvSpPr txBox="1"/>
          <p:nvPr>
            <p:ph idx="1" type="body"/>
          </p:nvPr>
        </p:nvSpPr>
        <p:spPr>
          <a:xfrm>
            <a:off x="6482407" y="1350592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</a:t>
            </a:r>
            <a:endParaRPr sz="1600"/>
          </a:p>
        </p:txBody>
      </p:sp>
      <p:sp>
        <p:nvSpPr>
          <p:cNvPr id="1132" name="Google Shape;1132;p80"/>
          <p:cNvSpPr txBox="1"/>
          <p:nvPr/>
        </p:nvSpPr>
        <p:spPr>
          <a:xfrm>
            <a:off x="334000" y="2808900"/>
            <a:ext cx="18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ξ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{1, 2, 3, 4}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80"/>
          <p:cNvSpPr txBox="1"/>
          <p:nvPr/>
        </p:nvSpPr>
        <p:spPr>
          <a:xfrm>
            <a:off x="2543800" y="2808900"/>
            <a:ext cx="18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ξ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{A, B, C}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4" name="Google Shape;1134;p80"/>
          <p:cNvSpPr txBox="1"/>
          <p:nvPr/>
        </p:nvSpPr>
        <p:spPr>
          <a:xfrm>
            <a:off x="4525000" y="2808900"/>
            <a:ext cx="18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ξ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{win, lose}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80"/>
          <p:cNvSpPr txBox="1"/>
          <p:nvPr/>
        </p:nvSpPr>
        <p:spPr>
          <a:xfrm>
            <a:off x="6582400" y="2808900"/>
            <a:ext cx="18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ξ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{win, lose}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36" name="Google Shape;113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526" y="1387019"/>
            <a:ext cx="1248600" cy="12486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7" name="Google Shape;1137;p80"/>
          <p:cNvSpPr/>
          <p:nvPr/>
        </p:nvSpPr>
        <p:spPr>
          <a:xfrm>
            <a:off x="2775258" y="1377999"/>
            <a:ext cx="1270200" cy="127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80"/>
          <p:cNvSpPr/>
          <p:nvPr/>
        </p:nvSpPr>
        <p:spPr>
          <a:xfrm rot="7199036">
            <a:off x="2786158" y="1389233"/>
            <a:ext cx="1248607" cy="1248607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80"/>
          <p:cNvSpPr/>
          <p:nvPr/>
        </p:nvSpPr>
        <p:spPr>
          <a:xfrm rot="-7212056">
            <a:off x="2786404" y="1389346"/>
            <a:ext cx="1248226" cy="124822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80"/>
          <p:cNvSpPr txBox="1"/>
          <p:nvPr/>
        </p:nvSpPr>
        <p:spPr>
          <a:xfrm>
            <a:off x="3549350" y="1684151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0"/>
          <p:cNvSpPr txBox="1"/>
          <p:nvPr/>
        </p:nvSpPr>
        <p:spPr>
          <a:xfrm>
            <a:off x="3234425" y="2140815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2" name="Google Shape;1142;p80"/>
          <p:cNvGrpSpPr/>
          <p:nvPr/>
        </p:nvGrpSpPr>
        <p:grpSpPr>
          <a:xfrm>
            <a:off x="3374015" y="1441510"/>
            <a:ext cx="70340" cy="612068"/>
            <a:chOff x="996050" y="213293"/>
            <a:chExt cx="93900" cy="909732"/>
          </a:xfrm>
        </p:grpSpPr>
        <p:cxnSp>
          <p:nvCxnSpPr>
            <p:cNvPr id="1143" name="Google Shape;1143;p8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4" name="Google Shape;1144;p8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5" name="Google Shape;1145;p80"/>
          <p:cNvSpPr/>
          <p:nvPr/>
        </p:nvSpPr>
        <p:spPr>
          <a:xfrm>
            <a:off x="3001088" y="1756848"/>
            <a:ext cx="188100" cy="176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80"/>
          <p:cNvSpPr txBox="1"/>
          <p:nvPr/>
        </p:nvSpPr>
        <p:spPr>
          <a:xfrm>
            <a:off x="2922683" y="1637939"/>
            <a:ext cx="47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1152" name="Google Shape;1152;p81"/>
          <p:cNvSpPr txBox="1"/>
          <p:nvPr>
            <p:ph idx="1" type="body"/>
          </p:nvPr>
        </p:nvSpPr>
        <p:spPr>
          <a:xfrm>
            <a:off x="324000" y="759300"/>
            <a:ext cx="82377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2) In each question a </a:t>
            </a:r>
            <a:r>
              <a:rPr b="1" lang="en-GB" sz="1600"/>
              <a:t>trial</a:t>
            </a:r>
            <a:r>
              <a:rPr lang="en-GB" sz="1600"/>
              <a:t> consists of a single spin of the spinner. Use the sample </a:t>
            </a:r>
            <a:br>
              <a:rPr lang="en-GB" sz="1600"/>
            </a:br>
            <a:r>
              <a:rPr lang="en-GB" sz="1600"/>
              <a:t>    spaces to complete the spinner. There may be more than one possible answer.</a:t>
            </a:r>
            <a:endParaRPr sz="1600"/>
          </a:p>
        </p:txBody>
      </p:sp>
      <p:sp>
        <p:nvSpPr>
          <p:cNvPr id="1153" name="Google Shape;1153;p81"/>
          <p:cNvSpPr/>
          <p:nvPr/>
        </p:nvSpPr>
        <p:spPr>
          <a:xfrm>
            <a:off x="4852654" y="1610870"/>
            <a:ext cx="1159200" cy="1159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81"/>
          <p:cNvSpPr/>
          <p:nvPr/>
        </p:nvSpPr>
        <p:spPr>
          <a:xfrm flipH="1" rot="3616093">
            <a:off x="4863718" y="1620931"/>
            <a:ext cx="1139048" cy="1139048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81"/>
          <p:cNvSpPr/>
          <p:nvPr/>
        </p:nvSpPr>
        <p:spPr>
          <a:xfrm>
            <a:off x="674164" y="1588061"/>
            <a:ext cx="1227000" cy="1227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81"/>
          <p:cNvSpPr/>
          <p:nvPr/>
        </p:nvSpPr>
        <p:spPr>
          <a:xfrm flipH="1">
            <a:off x="684770" y="1598740"/>
            <a:ext cx="1205700" cy="1205700"/>
          </a:xfrm>
          <a:prstGeom prst="pie">
            <a:avLst>
              <a:gd fmla="val 5387953" name="adj1"/>
              <a:gd fmla="val 1082421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81"/>
          <p:cNvSpPr/>
          <p:nvPr/>
        </p:nvSpPr>
        <p:spPr>
          <a:xfrm>
            <a:off x="684843" y="1598740"/>
            <a:ext cx="1205700" cy="1205700"/>
          </a:xfrm>
          <a:prstGeom prst="pie">
            <a:avLst>
              <a:gd fmla="val 5387953" name="adj1"/>
              <a:gd fmla="val 1085822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81"/>
          <p:cNvSpPr/>
          <p:nvPr/>
        </p:nvSpPr>
        <p:spPr>
          <a:xfrm>
            <a:off x="684843" y="1598740"/>
            <a:ext cx="1205700" cy="1205700"/>
          </a:xfrm>
          <a:prstGeom prst="pie">
            <a:avLst>
              <a:gd fmla="val 10799941" name="adj1"/>
              <a:gd fmla="val 16225322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81"/>
          <p:cNvSpPr/>
          <p:nvPr/>
        </p:nvSpPr>
        <p:spPr>
          <a:xfrm flipH="1">
            <a:off x="684770" y="1598740"/>
            <a:ext cx="1205700" cy="1205700"/>
          </a:xfrm>
          <a:prstGeom prst="pie">
            <a:avLst>
              <a:gd fmla="val 1082585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81"/>
          <p:cNvSpPr/>
          <p:nvPr/>
        </p:nvSpPr>
        <p:spPr>
          <a:xfrm flipH="1">
            <a:off x="4863665" y="1620959"/>
            <a:ext cx="1139100" cy="1139100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81"/>
          <p:cNvSpPr/>
          <p:nvPr/>
        </p:nvSpPr>
        <p:spPr>
          <a:xfrm flipH="1" rot="7179415">
            <a:off x="4863603" y="1620707"/>
            <a:ext cx="1139236" cy="1139236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81"/>
          <p:cNvSpPr/>
          <p:nvPr/>
        </p:nvSpPr>
        <p:spPr>
          <a:xfrm rot="-7167731">
            <a:off x="4863837" y="1621250"/>
            <a:ext cx="1138764" cy="1138764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81"/>
          <p:cNvSpPr/>
          <p:nvPr/>
        </p:nvSpPr>
        <p:spPr>
          <a:xfrm rot="10800000">
            <a:off x="4863876" y="1621186"/>
            <a:ext cx="1138800" cy="11388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4" name="Google Shape;1164;p81"/>
          <p:cNvGrpSpPr/>
          <p:nvPr/>
        </p:nvGrpSpPr>
        <p:grpSpPr>
          <a:xfrm>
            <a:off x="1252469" y="1635462"/>
            <a:ext cx="67937" cy="591053"/>
            <a:chOff x="996050" y="213293"/>
            <a:chExt cx="93900" cy="909732"/>
          </a:xfrm>
        </p:grpSpPr>
        <p:cxnSp>
          <p:nvCxnSpPr>
            <p:cNvPr id="1165" name="Google Shape;1165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66" name="Google Shape;1166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7" name="Google Shape;1167;p81"/>
          <p:cNvGrpSpPr/>
          <p:nvPr/>
        </p:nvGrpSpPr>
        <p:grpSpPr>
          <a:xfrm>
            <a:off x="5400024" y="1655654"/>
            <a:ext cx="64181" cy="558393"/>
            <a:chOff x="996050" y="213293"/>
            <a:chExt cx="93900" cy="909732"/>
          </a:xfrm>
        </p:grpSpPr>
        <p:cxnSp>
          <p:nvCxnSpPr>
            <p:cNvPr id="1168" name="Google Shape;1168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69" name="Google Shape;1169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0" name="Google Shape;1170;p81"/>
          <p:cNvSpPr txBox="1"/>
          <p:nvPr>
            <p:ph idx="1" type="body"/>
          </p:nvPr>
        </p:nvSpPr>
        <p:spPr>
          <a:xfrm>
            <a:off x="324000" y="1541477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endParaRPr sz="1600"/>
          </a:p>
        </p:txBody>
      </p:sp>
      <p:sp>
        <p:nvSpPr>
          <p:cNvPr id="1171" name="Google Shape;1171;p81"/>
          <p:cNvSpPr txBox="1"/>
          <p:nvPr>
            <p:ph idx="1" type="body"/>
          </p:nvPr>
        </p:nvSpPr>
        <p:spPr>
          <a:xfrm>
            <a:off x="4591200" y="1541477"/>
            <a:ext cx="2367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endParaRPr sz="1600"/>
          </a:p>
        </p:txBody>
      </p:sp>
      <p:sp>
        <p:nvSpPr>
          <p:cNvPr id="1172" name="Google Shape;1172;p81"/>
          <p:cNvSpPr txBox="1"/>
          <p:nvPr/>
        </p:nvSpPr>
        <p:spPr>
          <a:xfrm>
            <a:off x="2028875" y="1948975"/>
            <a:ext cx="17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1600"/>
          </a:p>
        </p:txBody>
      </p:sp>
      <p:sp>
        <p:nvSpPr>
          <p:cNvPr id="1173" name="Google Shape;1173;p81"/>
          <p:cNvSpPr txBox="1"/>
          <p:nvPr/>
        </p:nvSpPr>
        <p:spPr>
          <a:xfrm>
            <a:off x="6143675" y="1948975"/>
            <a:ext cx="17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1600"/>
          </a:p>
        </p:txBody>
      </p:sp>
      <p:sp>
        <p:nvSpPr>
          <p:cNvPr id="1174" name="Google Shape;1174;p81"/>
          <p:cNvSpPr txBox="1"/>
          <p:nvPr/>
        </p:nvSpPr>
        <p:spPr>
          <a:xfrm>
            <a:off x="1353467" y="1729458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81"/>
          <p:cNvSpPr txBox="1"/>
          <p:nvPr/>
        </p:nvSpPr>
        <p:spPr>
          <a:xfrm>
            <a:off x="1353467" y="2243615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6" name="Google Shape;1176;p81"/>
          <p:cNvSpPr txBox="1"/>
          <p:nvPr/>
        </p:nvSpPr>
        <p:spPr>
          <a:xfrm>
            <a:off x="877025" y="2243615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81"/>
          <p:cNvSpPr txBox="1"/>
          <p:nvPr/>
        </p:nvSpPr>
        <p:spPr>
          <a:xfrm>
            <a:off x="886646" y="1739079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81"/>
          <p:cNvSpPr txBox="1"/>
          <p:nvPr/>
        </p:nvSpPr>
        <p:spPr>
          <a:xfrm>
            <a:off x="591528" y="2853225"/>
            <a:ext cx="2214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Note: the letters may go in any order.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81"/>
          <p:cNvSpPr txBox="1"/>
          <p:nvPr/>
        </p:nvSpPr>
        <p:spPr>
          <a:xfrm>
            <a:off x="5464192" y="1654458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0" name="Google Shape;1180;p81"/>
          <p:cNvSpPr txBox="1"/>
          <p:nvPr/>
        </p:nvSpPr>
        <p:spPr>
          <a:xfrm>
            <a:off x="5616592" y="1959258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81"/>
          <p:cNvSpPr txBox="1"/>
          <p:nvPr/>
        </p:nvSpPr>
        <p:spPr>
          <a:xfrm>
            <a:off x="5464192" y="2264058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81"/>
          <p:cNvSpPr txBox="1"/>
          <p:nvPr/>
        </p:nvSpPr>
        <p:spPr>
          <a:xfrm>
            <a:off x="5083192" y="2264058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1"/>
          <p:cNvSpPr txBox="1"/>
          <p:nvPr/>
        </p:nvSpPr>
        <p:spPr>
          <a:xfrm>
            <a:off x="4930792" y="1959258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81"/>
          <p:cNvSpPr txBox="1"/>
          <p:nvPr/>
        </p:nvSpPr>
        <p:spPr>
          <a:xfrm>
            <a:off x="5083192" y="1654458"/>
            <a:ext cx="3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81"/>
          <p:cNvSpPr txBox="1"/>
          <p:nvPr/>
        </p:nvSpPr>
        <p:spPr>
          <a:xfrm>
            <a:off x="4782523" y="2853225"/>
            <a:ext cx="4037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Note: any of the letters may be repeated any number of times, so long as all four letters are present.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00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1192" name="Google Shape;1192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193" name="Google Shape;1193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sp>
        <p:nvSpPr>
          <p:cNvPr id="1194" name="Google Shape;1194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Equally likely outcomes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200" name="Google Shape;1200;p83"/>
          <p:cNvSpPr txBox="1"/>
          <p:nvPr>
            <p:ph idx="1" type="body"/>
          </p:nvPr>
        </p:nvSpPr>
        <p:spPr>
          <a:xfrm>
            <a:off x="324000" y="759300"/>
            <a:ext cx="8496000" cy="7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is going to spin one of the spinners once. If the spinner lands on ‘win’ then he gets a prize.</a:t>
            </a:r>
            <a:endParaRPr sz="2000"/>
          </a:p>
        </p:txBody>
      </p:sp>
      <p:pic>
        <p:nvPicPr>
          <p:cNvPr id="1201" name="Google Shape;120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0202" y="3081302"/>
            <a:ext cx="630000" cy="776021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83"/>
          <p:cNvSpPr txBox="1"/>
          <p:nvPr>
            <p:ph idx="1" type="body"/>
          </p:nvPr>
        </p:nvSpPr>
        <p:spPr>
          <a:xfrm>
            <a:off x="915850" y="4069200"/>
            <a:ext cx="26769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One of these spinners doesn’t seem fair.</a:t>
            </a:r>
            <a:endParaRPr sz="1800"/>
          </a:p>
        </p:txBody>
      </p:sp>
      <p:pic>
        <p:nvPicPr>
          <p:cNvPr id="1203" name="Google Shape;1203;p83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rot="10800000">
            <a:off x="637449" y="3753811"/>
            <a:ext cx="3020626" cy="11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83"/>
          <p:cNvSpPr/>
          <p:nvPr/>
        </p:nvSpPr>
        <p:spPr>
          <a:xfrm>
            <a:off x="2032400" y="17634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3"/>
          <p:cNvSpPr/>
          <p:nvPr/>
        </p:nvSpPr>
        <p:spPr>
          <a:xfrm flipH="1">
            <a:off x="2047089" y="1778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83"/>
          <p:cNvSpPr/>
          <p:nvPr/>
        </p:nvSpPr>
        <p:spPr>
          <a:xfrm>
            <a:off x="2047161" y="1778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83"/>
          <p:cNvSpPr txBox="1"/>
          <p:nvPr/>
        </p:nvSpPr>
        <p:spPr>
          <a:xfrm>
            <a:off x="2182575" y="2400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3"/>
          <p:cNvSpPr txBox="1"/>
          <p:nvPr/>
        </p:nvSpPr>
        <p:spPr>
          <a:xfrm>
            <a:off x="2989526" y="2400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9" name="Google Shape;1209;p83"/>
          <p:cNvGrpSpPr/>
          <p:nvPr/>
        </p:nvGrpSpPr>
        <p:grpSpPr>
          <a:xfrm>
            <a:off x="2831709" y="1856023"/>
            <a:ext cx="93900" cy="816939"/>
            <a:chOff x="996050" y="213293"/>
            <a:chExt cx="93900" cy="909732"/>
          </a:xfrm>
        </p:grpSpPr>
        <p:cxnSp>
          <p:nvCxnSpPr>
            <p:cNvPr id="1210" name="Google Shape;1210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11" name="Google Shape;1211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2" name="Google Shape;1212;p83"/>
          <p:cNvSpPr txBox="1"/>
          <p:nvPr>
            <p:ph idx="1" type="body"/>
          </p:nvPr>
        </p:nvSpPr>
        <p:spPr>
          <a:xfrm>
            <a:off x="3932125" y="4180650"/>
            <a:ext cx="43332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spinner seems unfair? Why?</a:t>
            </a:r>
            <a:endParaRPr sz="2000"/>
          </a:p>
        </p:txBody>
      </p:sp>
      <p:sp>
        <p:nvSpPr>
          <p:cNvPr id="1213" name="Google Shape;1213;p83"/>
          <p:cNvSpPr/>
          <p:nvPr/>
        </p:nvSpPr>
        <p:spPr>
          <a:xfrm>
            <a:off x="5385200" y="17634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83"/>
          <p:cNvSpPr/>
          <p:nvPr/>
        </p:nvSpPr>
        <p:spPr>
          <a:xfrm flipH="1">
            <a:off x="5399889" y="1778211"/>
            <a:ext cx="1666500" cy="16665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83"/>
          <p:cNvSpPr/>
          <p:nvPr/>
        </p:nvSpPr>
        <p:spPr>
          <a:xfrm>
            <a:off x="5399961" y="1778211"/>
            <a:ext cx="1666500" cy="1666500"/>
          </a:xfrm>
          <a:prstGeom prst="pie">
            <a:avLst>
              <a:gd fmla="val 5387953" name="adj1"/>
              <a:gd fmla="val 15344951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3"/>
          <p:cNvSpPr txBox="1"/>
          <p:nvPr/>
        </p:nvSpPr>
        <p:spPr>
          <a:xfrm>
            <a:off x="5535375" y="2400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3"/>
          <p:cNvSpPr txBox="1"/>
          <p:nvPr/>
        </p:nvSpPr>
        <p:spPr>
          <a:xfrm>
            <a:off x="6342326" y="2400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8" name="Google Shape;1218;p83"/>
          <p:cNvGrpSpPr/>
          <p:nvPr/>
        </p:nvGrpSpPr>
        <p:grpSpPr>
          <a:xfrm>
            <a:off x="6184509" y="1819342"/>
            <a:ext cx="93900" cy="816939"/>
            <a:chOff x="996050" y="213293"/>
            <a:chExt cx="93900" cy="909732"/>
          </a:xfrm>
        </p:grpSpPr>
        <p:cxnSp>
          <p:nvCxnSpPr>
            <p:cNvPr id="1219" name="Google Shape;1219;p8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0" name="Google Shape;1220;p8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226" name="Google Shape;1226;p84"/>
          <p:cNvSpPr txBox="1"/>
          <p:nvPr>
            <p:ph idx="1" type="body"/>
          </p:nvPr>
        </p:nvSpPr>
        <p:spPr>
          <a:xfrm>
            <a:off x="324000" y="759300"/>
            <a:ext cx="8496000" cy="3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</a:rPr>
              <a:t>Likelihood</a:t>
            </a:r>
            <a:r>
              <a:rPr lang="en-GB" sz="2000">
                <a:solidFill>
                  <a:srgbClr val="000000"/>
                </a:solidFill>
              </a:rPr>
              <a:t> describes the chance that a particular </a:t>
            </a:r>
            <a:r>
              <a:rPr lang="en-GB" sz="2000">
                <a:solidFill>
                  <a:srgbClr val="000000"/>
                </a:solidFill>
              </a:rPr>
              <a:t>event</a:t>
            </a:r>
            <a:r>
              <a:rPr lang="en-GB" sz="2000">
                <a:solidFill>
                  <a:srgbClr val="000000"/>
                </a:solidFill>
              </a:rPr>
              <a:t> will occur.</a:t>
            </a:r>
            <a:endParaRPr sz="2000"/>
          </a:p>
        </p:txBody>
      </p:sp>
      <p:sp>
        <p:nvSpPr>
          <p:cNvPr id="1227" name="Google Shape;1227;p84"/>
          <p:cNvSpPr/>
          <p:nvPr/>
        </p:nvSpPr>
        <p:spPr>
          <a:xfrm>
            <a:off x="1746842" y="25254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4"/>
          <p:cNvSpPr/>
          <p:nvPr/>
        </p:nvSpPr>
        <p:spPr>
          <a:xfrm flipH="1">
            <a:off x="1761532" y="2540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84"/>
          <p:cNvSpPr/>
          <p:nvPr/>
        </p:nvSpPr>
        <p:spPr>
          <a:xfrm>
            <a:off x="1761603" y="2540211"/>
            <a:ext cx="1666500" cy="16665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84"/>
          <p:cNvSpPr txBox="1"/>
          <p:nvPr/>
        </p:nvSpPr>
        <p:spPr>
          <a:xfrm>
            <a:off x="1897017" y="316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4"/>
          <p:cNvSpPr txBox="1"/>
          <p:nvPr/>
        </p:nvSpPr>
        <p:spPr>
          <a:xfrm>
            <a:off x="2703969" y="316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2" name="Google Shape;1232;p84"/>
          <p:cNvGrpSpPr/>
          <p:nvPr/>
        </p:nvGrpSpPr>
        <p:grpSpPr>
          <a:xfrm>
            <a:off x="2546152" y="2618023"/>
            <a:ext cx="93900" cy="816939"/>
            <a:chOff x="996050" y="213293"/>
            <a:chExt cx="93900" cy="909732"/>
          </a:xfrm>
        </p:grpSpPr>
        <p:cxnSp>
          <p:nvCxnSpPr>
            <p:cNvPr id="1233" name="Google Shape;1233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34" name="Google Shape;1234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5" name="Google Shape;1235;p84"/>
          <p:cNvSpPr/>
          <p:nvPr/>
        </p:nvSpPr>
        <p:spPr>
          <a:xfrm>
            <a:off x="5556842" y="2525450"/>
            <a:ext cx="1695900" cy="16959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84"/>
          <p:cNvSpPr/>
          <p:nvPr/>
        </p:nvSpPr>
        <p:spPr>
          <a:xfrm flipH="1">
            <a:off x="5571532" y="2540211"/>
            <a:ext cx="1666500" cy="16665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4"/>
          <p:cNvSpPr/>
          <p:nvPr/>
        </p:nvSpPr>
        <p:spPr>
          <a:xfrm>
            <a:off x="5571603" y="2540211"/>
            <a:ext cx="1666500" cy="1666500"/>
          </a:xfrm>
          <a:prstGeom prst="pie">
            <a:avLst>
              <a:gd fmla="val 5387953" name="adj1"/>
              <a:gd fmla="val 15344951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4"/>
          <p:cNvSpPr txBox="1"/>
          <p:nvPr/>
        </p:nvSpPr>
        <p:spPr>
          <a:xfrm>
            <a:off x="5707017" y="316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4"/>
          <p:cNvSpPr txBox="1"/>
          <p:nvPr/>
        </p:nvSpPr>
        <p:spPr>
          <a:xfrm>
            <a:off x="6513969" y="316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0" name="Google Shape;1240;p84"/>
          <p:cNvGrpSpPr/>
          <p:nvPr/>
        </p:nvGrpSpPr>
        <p:grpSpPr>
          <a:xfrm>
            <a:off x="6356152" y="2581342"/>
            <a:ext cx="93900" cy="816939"/>
            <a:chOff x="996050" y="213293"/>
            <a:chExt cx="93900" cy="909732"/>
          </a:xfrm>
        </p:grpSpPr>
        <p:cxnSp>
          <p:nvCxnSpPr>
            <p:cNvPr id="1241" name="Google Shape;1241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2" name="Google Shape;1242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84"/>
          <p:cNvSpPr txBox="1"/>
          <p:nvPr>
            <p:ph idx="1" type="body"/>
          </p:nvPr>
        </p:nvSpPr>
        <p:spPr>
          <a:xfrm>
            <a:off x="324000" y="1292700"/>
            <a:ext cx="8496000" cy="10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For the spinner on the left, the sectors for ‘win’ and ‘lose’ are the same size. The </a:t>
            </a:r>
            <a:r>
              <a:rPr b="1" lang="en-GB" sz="2000">
                <a:solidFill>
                  <a:srgbClr val="000000"/>
                </a:solidFill>
              </a:rPr>
              <a:t>likelihood</a:t>
            </a:r>
            <a:r>
              <a:rPr lang="en-GB" sz="2000">
                <a:solidFill>
                  <a:srgbClr val="000000"/>
                </a:solidFill>
              </a:rPr>
              <a:t> that the arrow lands on the ‘win’ sector is the same as the ‘lose’ sector. So these </a:t>
            </a:r>
            <a:r>
              <a:rPr b="1" lang="en-GB" sz="2000">
                <a:solidFill>
                  <a:srgbClr val="000000"/>
                </a:solidFill>
              </a:rPr>
              <a:t>outcomes</a:t>
            </a:r>
            <a:r>
              <a:rPr lang="en-GB" sz="2000">
                <a:solidFill>
                  <a:srgbClr val="000000"/>
                </a:solidFill>
              </a:rPr>
              <a:t> are equally likely to happen.</a:t>
            </a:r>
            <a:endParaRPr sz="2000"/>
          </a:p>
        </p:txBody>
      </p:sp>
      <p:sp>
        <p:nvSpPr>
          <p:cNvPr id="1244" name="Google Shape;1244;p84"/>
          <p:cNvSpPr txBox="1"/>
          <p:nvPr>
            <p:ph idx="1" type="body"/>
          </p:nvPr>
        </p:nvSpPr>
        <p:spPr>
          <a:xfrm>
            <a:off x="1387000" y="4421125"/>
            <a:ext cx="28245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equally likely </a:t>
            </a:r>
            <a:r>
              <a:rPr b="1" lang="en-GB" sz="1900">
                <a:solidFill>
                  <a:srgbClr val="000000"/>
                </a:solidFill>
              </a:rPr>
              <a:t>outcomes</a:t>
            </a:r>
            <a:endParaRPr b="1" sz="1900"/>
          </a:p>
        </p:txBody>
      </p:sp>
      <p:sp>
        <p:nvSpPr>
          <p:cNvPr id="1245" name="Google Shape;1245;p84"/>
          <p:cNvSpPr txBox="1"/>
          <p:nvPr>
            <p:ph idx="1" type="body"/>
          </p:nvPr>
        </p:nvSpPr>
        <p:spPr>
          <a:xfrm>
            <a:off x="5022275" y="4421125"/>
            <a:ext cx="34395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n</a:t>
            </a:r>
            <a:r>
              <a:rPr lang="en-GB" sz="1900">
                <a:solidFill>
                  <a:srgbClr val="000000"/>
                </a:solidFill>
              </a:rPr>
              <a:t>on-</a:t>
            </a:r>
            <a:r>
              <a:rPr lang="en-GB" sz="1900">
                <a:solidFill>
                  <a:srgbClr val="000000"/>
                </a:solidFill>
              </a:rPr>
              <a:t>equally likely </a:t>
            </a:r>
            <a:r>
              <a:rPr b="1" lang="en-GB" sz="1900">
                <a:solidFill>
                  <a:srgbClr val="000000"/>
                </a:solidFill>
              </a:rPr>
              <a:t>outcomes</a:t>
            </a:r>
            <a:endParaRPr b="1"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0" name="Google Shape;1250;p85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3601125" y="1772150"/>
            <a:ext cx="3419249" cy="17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252" name="Google Shape;1252;p85"/>
          <p:cNvSpPr txBox="1"/>
          <p:nvPr>
            <p:ph idx="1" type="body"/>
          </p:nvPr>
        </p:nvSpPr>
        <p:spPr>
          <a:xfrm>
            <a:off x="324000" y="759300"/>
            <a:ext cx="8496000" cy="3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Alex and Sofia are trying to decide who should get the last cookie in the jar.</a:t>
            </a:r>
            <a:endParaRPr sz="2000"/>
          </a:p>
        </p:txBody>
      </p:sp>
      <p:sp>
        <p:nvSpPr>
          <p:cNvPr id="1253" name="Google Shape;1253;p85"/>
          <p:cNvSpPr txBox="1"/>
          <p:nvPr>
            <p:ph idx="1" type="body"/>
          </p:nvPr>
        </p:nvSpPr>
        <p:spPr>
          <a:xfrm>
            <a:off x="324000" y="14451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They decide to roll a regular six-sided dice to determine who gets it.</a:t>
            </a:r>
            <a:endParaRPr sz="2000"/>
          </a:p>
        </p:txBody>
      </p:sp>
      <p:sp>
        <p:nvSpPr>
          <p:cNvPr id="1254" name="Google Shape;1254;p85"/>
          <p:cNvSpPr txBox="1"/>
          <p:nvPr>
            <p:ph idx="1" type="body"/>
          </p:nvPr>
        </p:nvSpPr>
        <p:spPr>
          <a:xfrm>
            <a:off x="3900825" y="1939200"/>
            <a:ext cx="3098100" cy="12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If we roll a </a:t>
            </a:r>
            <a:r>
              <a:rPr lang="en-GB" sz="1800">
                <a:solidFill>
                  <a:schemeClr val="accent5"/>
                </a:solidFill>
              </a:rPr>
              <a:t>multiple of 3 </a:t>
            </a:r>
            <a:r>
              <a:rPr lang="en-GB" sz="1800">
                <a:solidFill>
                  <a:srgbClr val="000000"/>
                </a:solidFill>
              </a:rPr>
              <a:t>then you can have the cookie. If it’s </a:t>
            </a:r>
            <a:r>
              <a:rPr lang="en-GB" sz="1800">
                <a:solidFill>
                  <a:schemeClr val="accent5"/>
                </a:solidFill>
              </a:rPr>
              <a:t>not a multiple of 3</a:t>
            </a:r>
            <a:r>
              <a:rPr lang="en-GB" sz="1800">
                <a:solidFill>
                  <a:srgbClr val="000000"/>
                </a:solidFill>
              </a:rPr>
              <a:t> then I’ll have it.</a:t>
            </a:r>
            <a:endParaRPr sz="1800"/>
          </a:p>
        </p:txBody>
      </p:sp>
      <p:sp>
        <p:nvSpPr>
          <p:cNvPr id="1255" name="Google Shape;1255;p85"/>
          <p:cNvSpPr txBox="1"/>
          <p:nvPr>
            <p:ph idx="1" type="body"/>
          </p:nvPr>
        </p:nvSpPr>
        <p:spPr>
          <a:xfrm>
            <a:off x="335975" y="4502400"/>
            <a:ext cx="68244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Is this fair? Are the </a:t>
            </a:r>
            <a:r>
              <a:rPr b="1" lang="en-GB" sz="1800">
                <a:solidFill>
                  <a:srgbClr val="000000"/>
                </a:solidFill>
              </a:rPr>
              <a:t>outcomes</a:t>
            </a:r>
            <a:r>
              <a:rPr lang="en-GB" sz="1800">
                <a:solidFill>
                  <a:srgbClr val="000000"/>
                </a:solidFill>
              </a:rPr>
              <a:t> equally likely to happen?</a:t>
            </a:r>
            <a:endParaRPr sz="1800"/>
          </a:p>
        </p:txBody>
      </p:sp>
      <p:pic>
        <p:nvPicPr>
          <p:cNvPr id="1256" name="Google Shape;1256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68151" y="3029125"/>
            <a:ext cx="688099" cy="793539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85"/>
          <p:cNvSpPr txBox="1"/>
          <p:nvPr/>
        </p:nvSpPr>
        <p:spPr>
          <a:xfrm>
            <a:off x="726075" y="1913700"/>
            <a:ext cx="20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{Alex, Sofia}</a:t>
            </a:r>
            <a:endParaRPr sz="1800"/>
          </a:p>
        </p:txBody>
      </p:sp>
      <p:pic>
        <p:nvPicPr>
          <p:cNvPr id="1258" name="Google Shape;1258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5523" y="3030451"/>
            <a:ext cx="688101" cy="7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85"/>
          <p:cNvPicPr preferRelativeResize="0"/>
          <p:nvPr/>
        </p:nvPicPr>
        <p:blipFill rotWithShape="1">
          <a:blip r:embed="rId6">
            <a:alphaModFix/>
          </a:blip>
          <a:srcRect b="7970" l="60186" r="34236" t="68840"/>
          <a:stretch/>
        </p:blipFill>
        <p:spPr>
          <a:xfrm>
            <a:off x="5774388" y="3173995"/>
            <a:ext cx="727851" cy="7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85"/>
          <p:cNvSpPr txBox="1"/>
          <p:nvPr>
            <p:ph idx="1" type="body"/>
          </p:nvPr>
        </p:nvSpPr>
        <p:spPr>
          <a:xfrm>
            <a:off x="6541658" y="4499126"/>
            <a:ext cx="4662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61" name="Google Shape;1261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9038" y="3901679"/>
            <a:ext cx="444704" cy="43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85"/>
          <p:cNvPicPr preferRelativeResize="0"/>
          <p:nvPr/>
        </p:nvPicPr>
        <p:blipFill rotWithShape="1">
          <a:blip r:embed="rId8">
            <a:alphaModFix/>
          </a:blip>
          <a:srcRect b="2162" l="0" r="0" t="0"/>
          <a:stretch/>
        </p:blipFill>
        <p:spPr>
          <a:xfrm>
            <a:off x="3842789" y="3901674"/>
            <a:ext cx="444703" cy="431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31150" y="3908481"/>
            <a:ext cx="423405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16549" y="3909392"/>
            <a:ext cx="419427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8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65031" y="3909392"/>
            <a:ext cx="414732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8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21900" y="3908470"/>
            <a:ext cx="411605" cy="4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86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3677325" y="1695950"/>
            <a:ext cx="3309676" cy="17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273" name="Google Shape;1273;p86"/>
          <p:cNvSpPr txBox="1"/>
          <p:nvPr>
            <p:ph idx="1" type="body"/>
          </p:nvPr>
        </p:nvSpPr>
        <p:spPr>
          <a:xfrm>
            <a:off x="324000" y="759300"/>
            <a:ext cx="8496000" cy="3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Lucas</a:t>
            </a:r>
            <a:r>
              <a:rPr lang="en-GB" sz="2000">
                <a:solidFill>
                  <a:srgbClr val="000000"/>
                </a:solidFill>
              </a:rPr>
              <a:t> and Jun are trying to decide who should get the last cookie in the jar.</a:t>
            </a:r>
            <a:endParaRPr sz="2000"/>
          </a:p>
        </p:txBody>
      </p:sp>
      <p:sp>
        <p:nvSpPr>
          <p:cNvPr id="1274" name="Google Shape;1274;p86"/>
          <p:cNvSpPr txBox="1"/>
          <p:nvPr>
            <p:ph idx="1" type="body"/>
          </p:nvPr>
        </p:nvSpPr>
        <p:spPr>
          <a:xfrm>
            <a:off x="324000" y="14451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They decide to roll a regular six-sided dice to determine who gets it.</a:t>
            </a:r>
            <a:endParaRPr sz="2000"/>
          </a:p>
        </p:txBody>
      </p:sp>
      <p:sp>
        <p:nvSpPr>
          <p:cNvPr id="1275" name="Google Shape;1275;p86"/>
          <p:cNvSpPr txBox="1"/>
          <p:nvPr>
            <p:ph idx="1" type="body"/>
          </p:nvPr>
        </p:nvSpPr>
        <p:spPr>
          <a:xfrm>
            <a:off x="3977025" y="1863000"/>
            <a:ext cx="2872500" cy="12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If we roll an </a:t>
            </a:r>
            <a:r>
              <a:rPr lang="en-GB" sz="1800">
                <a:solidFill>
                  <a:schemeClr val="accent5"/>
                </a:solidFill>
              </a:rPr>
              <a:t>even</a:t>
            </a:r>
            <a:r>
              <a:rPr lang="en-GB" sz="1800">
                <a:solidFill>
                  <a:srgbClr val="000000"/>
                </a:solidFill>
              </a:rPr>
              <a:t> number then you can have the cookie. If it’s an </a:t>
            </a:r>
            <a:r>
              <a:rPr lang="en-GB" sz="1800">
                <a:solidFill>
                  <a:schemeClr val="accent5"/>
                </a:solidFill>
              </a:rPr>
              <a:t>odd </a:t>
            </a:r>
            <a:r>
              <a:rPr lang="en-GB" sz="1800">
                <a:solidFill>
                  <a:srgbClr val="000000"/>
                </a:solidFill>
              </a:rPr>
              <a:t>number then I’ll have it.</a:t>
            </a:r>
            <a:endParaRPr sz="1800"/>
          </a:p>
        </p:txBody>
      </p:sp>
      <p:sp>
        <p:nvSpPr>
          <p:cNvPr id="1276" name="Google Shape;1276;p86"/>
          <p:cNvSpPr txBox="1"/>
          <p:nvPr>
            <p:ph idx="1" type="body"/>
          </p:nvPr>
        </p:nvSpPr>
        <p:spPr>
          <a:xfrm>
            <a:off x="335975" y="4502400"/>
            <a:ext cx="64374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Is this fair? Are the </a:t>
            </a:r>
            <a:r>
              <a:rPr b="1" lang="en-GB" sz="1800">
                <a:solidFill>
                  <a:srgbClr val="000000"/>
                </a:solidFill>
              </a:rPr>
              <a:t>outcomes</a:t>
            </a:r>
            <a:r>
              <a:rPr lang="en-GB" sz="1800">
                <a:solidFill>
                  <a:srgbClr val="000000"/>
                </a:solidFill>
              </a:rPr>
              <a:t> equally likely to happen?</a:t>
            </a:r>
            <a:endParaRPr sz="1800"/>
          </a:p>
        </p:txBody>
      </p:sp>
      <p:sp>
        <p:nvSpPr>
          <p:cNvPr id="1277" name="Google Shape;1277;p86"/>
          <p:cNvSpPr txBox="1"/>
          <p:nvPr/>
        </p:nvSpPr>
        <p:spPr>
          <a:xfrm>
            <a:off x="649875" y="1913700"/>
            <a:ext cx="20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{Lucas, Jun}</a:t>
            </a:r>
            <a:endParaRPr sz="1800"/>
          </a:p>
        </p:txBody>
      </p:sp>
      <p:pic>
        <p:nvPicPr>
          <p:cNvPr id="1278" name="Google Shape;1278;p86"/>
          <p:cNvPicPr preferRelativeResize="0"/>
          <p:nvPr/>
        </p:nvPicPr>
        <p:blipFill rotWithShape="1">
          <a:blip r:embed="rId4">
            <a:alphaModFix/>
          </a:blip>
          <a:srcRect b="7970" l="60186" r="34236" t="68840"/>
          <a:stretch/>
        </p:blipFill>
        <p:spPr>
          <a:xfrm>
            <a:off x="5774388" y="3173995"/>
            <a:ext cx="727851" cy="7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86"/>
          <p:cNvSpPr txBox="1"/>
          <p:nvPr>
            <p:ph idx="1" type="body"/>
          </p:nvPr>
        </p:nvSpPr>
        <p:spPr>
          <a:xfrm>
            <a:off x="6541658" y="4499126"/>
            <a:ext cx="466200" cy="33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80" name="Google Shape;1280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9038" y="3901679"/>
            <a:ext cx="444704" cy="43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86"/>
          <p:cNvPicPr preferRelativeResize="0"/>
          <p:nvPr/>
        </p:nvPicPr>
        <p:blipFill rotWithShape="1">
          <a:blip r:embed="rId6">
            <a:alphaModFix/>
          </a:blip>
          <a:srcRect b="2162" l="0" r="0" t="0"/>
          <a:stretch/>
        </p:blipFill>
        <p:spPr>
          <a:xfrm>
            <a:off x="7347989" y="3901674"/>
            <a:ext cx="444703" cy="431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8750" y="3908481"/>
            <a:ext cx="423405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21749" y="3909392"/>
            <a:ext cx="419427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8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84031" y="3909392"/>
            <a:ext cx="414732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8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21900" y="3908470"/>
            <a:ext cx="411605" cy="4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8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35250" y="3061975"/>
            <a:ext cx="626393" cy="70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8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7402424" y="3034798"/>
            <a:ext cx="596650" cy="7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2" name="Google Shape;129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21824" y="2631610"/>
            <a:ext cx="4793426" cy="1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87"/>
          <p:cNvSpPr txBox="1"/>
          <p:nvPr>
            <p:ph idx="1" type="body"/>
          </p:nvPr>
        </p:nvSpPr>
        <p:spPr>
          <a:xfrm>
            <a:off x="3718400" y="2740500"/>
            <a:ext cx="44784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It’s been a while since tails last came up, so I reckon the next flip will be tails.</a:t>
            </a:r>
            <a:endParaRPr sz="1800"/>
          </a:p>
        </p:txBody>
      </p:sp>
      <p:pic>
        <p:nvPicPr>
          <p:cNvPr id="1294" name="Google Shape;129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69651" y="3700749"/>
            <a:ext cx="545600" cy="10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296" name="Google Shape;1296;p87"/>
          <p:cNvSpPr txBox="1"/>
          <p:nvPr>
            <p:ph idx="1" type="body"/>
          </p:nvPr>
        </p:nvSpPr>
        <p:spPr>
          <a:xfrm>
            <a:off x="324000" y="759300"/>
            <a:ext cx="8496000" cy="3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Aisha is flipping a fair coin and noting whether she gets ‘heads’ or ‘tails’.</a:t>
            </a:r>
            <a:endParaRPr sz="1800"/>
          </a:p>
        </p:txBody>
      </p:sp>
      <p:sp>
        <p:nvSpPr>
          <p:cNvPr id="1297" name="Google Shape;1297;p87"/>
          <p:cNvSpPr txBox="1"/>
          <p:nvPr>
            <p:ph idx="1" type="body"/>
          </p:nvPr>
        </p:nvSpPr>
        <p:spPr>
          <a:xfrm>
            <a:off x="324000" y="11403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She has already flipped the coin nine times. Here is what she got:</a:t>
            </a:r>
            <a:endParaRPr sz="1800"/>
          </a:p>
        </p:txBody>
      </p:sp>
      <p:sp>
        <p:nvSpPr>
          <p:cNvPr id="1298" name="Google Shape;1298;p87"/>
          <p:cNvSpPr txBox="1"/>
          <p:nvPr>
            <p:ph idx="1" type="body"/>
          </p:nvPr>
        </p:nvSpPr>
        <p:spPr>
          <a:xfrm>
            <a:off x="314400" y="3647100"/>
            <a:ext cx="4523400" cy="3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</a:rPr>
              <a:t>What is wrong with Aisha’s reasoning?</a:t>
            </a:r>
            <a:endParaRPr sz="1900"/>
          </a:p>
        </p:txBody>
      </p:sp>
      <p:sp>
        <p:nvSpPr>
          <p:cNvPr id="1299" name="Google Shape;1299;p87"/>
          <p:cNvSpPr txBox="1"/>
          <p:nvPr>
            <p:ph idx="1" type="body"/>
          </p:nvPr>
        </p:nvSpPr>
        <p:spPr>
          <a:xfrm>
            <a:off x="933600" y="1521300"/>
            <a:ext cx="6486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37B7D"/>
                </a:solidFill>
              </a:rPr>
              <a:t>tails, tails, heads, tails, tails, heads, heads, heads, heads</a:t>
            </a:r>
            <a:endParaRPr sz="1800">
              <a:solidFill>
                <a:srgbClr val="037B7D"/>
              </a:solidFill>
            </a:endParaRPr>
          </a:p>
        </p:txBody>
      </p:sp>
      <p:sp>
        <p:nvSpPr>
          <p:cNvPr id="1300" name="Google Shape;1300;p87"/>
          <p:cNvSpPr txBox="1"/>
          <p:nvPr>
            <p:ph idx="1" type="body"/>
          </p:nvPr>
        </p:nvSpPr>
        <p:spPr>
          <a:xfrm>
            <a:off x="324000" y="1988633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She is about to flip the coin again and considers what she expects to happen.</a:t>
            </a:r>
            <a:endParaRPr sz="1800"/>
          </a:p>
        </p:txBody>
      </p:sp>
      <p:sp>
        <p:nvSpPr>
          <p:cNvPr id="1301" name="Google Shape;1301;p87"/>
          <p:cNvSpPr txBox="1"/>
          <p:nvPr>
            <p:ph idx="1" type="body"/>
          </p:nvPr>
        </p:nvSpPr>
        <p:spPr>
          <a:xfrm>
            <a:off x="314400" y="4104300"/>
            <a:ext cx="58578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two possible </a:t>
            </a:r>
            <a:r>
              <a:rPr b="1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outcomes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are always equally likely to happen and are not affected by previous results.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02" name="Google Shape;1302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4450" y="2419725"/>
            <a:ext cx="1105150" cy="1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8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For which spinner are the </a:t>
            </a:r>
            <a:r>
              <a:rPr b="1" lang="en-GB" sz="2000"/>
              <a:t>outcomes</a:t>
            </a:r>
            <a:r>
              <a:rPr lang="en-GB" sz="2000"/>
              <a:t> ‘win’ and ‘lose’ equally likely to happen?</a:t>
            </a:r>
            <a:endParaRPr sz="2000"/>
          </a:p>
        </p:txBody>
      </p:sp>
      <p:sp>
        <p:nvSpPr>
          <p:cNvPr id="1308" name="Google Shape;1308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309" name="Google Shape;1309;p88"/>
          <p:cNvSpPr/>
          <p:nvPr/>
        </p:nvSpPr>
        <p:spPr>
          <a:xfrm>
            <a:off x="3723875" y="2232598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88"/>
          <p:cNvSpPr/>
          <p:nvPr/>
        </p:nvSpPr>
        <p:spPr>
          <a:xfrm rot="8649824">
            <a:off x="3738770" y="2247509"/>
            <a:ext cx="1666351" cy="1666351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88"/>
          <p:cNvSpPr/>
          <p:nvPr/>
        </p:nvSpPr>
        <p:spPr>
          <a:xfrm rot="-8629029">
            <a:off x="3738871" y="2247611"/>
            <a:ext cx="1666260" cy="166626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88"/>
          <p:cNvSpPr/>
          <p:nvPr/>
        </p:nvSpPr>
        <p:spPr>
          <a:xfrm rot="-4309758">
            <a:off x="3738916" y="2247775"/>
            <a:ext cx="1666190" cy="166619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8"/>
          <p:cNvSpPr/>
          <p:nvPr/>
        </p:nvSpPr>
        <p:spPr>
          <a:xfrm>
            <a:off x="3738916" y="2247775"/>
            <a:ext cx="1666200" cy="166620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88"/>
          <p:cNvSpPr txBox="1"/>
          <p:nvPr/>
        </p:nvSpPr>
        <p:spPr>
          <a:xfrm>
            <a:off x="4272750" y="3403273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8"/>
          <p:cNvSpPr/>
          <p:nvPr/>
        </p:nvSpPr>
        <p:spPr>
          <a:xfrm rot="4312496">
            <a:off x="3738749" y="2247355"/>
            <a:ext cx="1666387" cy="1666387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88"/>
          <p:cNvSpPr txBox="1"/>
          <p:nvPr/>
        </p:nvSpPr>
        <p:spPr>
          <a:xfrm>
            <a:off x="3950250" y="2488873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88"/>
          <p:cNvSpPr txBox="1"/>
          <p:nvPr/>
        </p:nvSpPr>
        <p:spPr>
          <a:xfrm>
            <a:off x="4604801" y="2488881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88"/>
          <p:cNvSpPr txBox="1"/>
          <p:nvPr/>
        </p:nvSpPr>
        <p:spPr>
          <a:xfrm>
            <a:off x="4757201" y="3022281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88"/>
          <p:cNvSpPr txBox="1"/>
          <p:nvPr/>
        </p:nvSpPr>
        <p:spPr>
          <a:xfrm>
            <a:off x="3797850" y="302228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0" name="Google Shape;1320;p88"/>
          <p:cNvGrpSpPr/>
          <p:nvPr/>
        </p:nvGrpSpPr>
        <p:grpSpPr>
          <a:xfrm>
            <a:off x="4523184" y="2288491"/>
            <a:ext cx="93900" cy="816939"/>
            <a:chOff x="996050" y="213293"/>
            <a:chExt cx="93900" cy="909732"/>
          </a:xfrm>
        </p:grpSpPr>
        <p:cxnSp>
          <p:nvCxnSpPr>
            <p:cNvPr id="1321" name="Google Shape;1321;p8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22" name="Google Shape;1322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3" name="Google Shape;1323;p88"/>
          <p:cNvSpPr/>
          <p:nvPr/>
        </p:nvSpPr>
        <p:spPr>
          <a:xfrm>
            <a:off x="774715" y="22206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88"/>
          <p:cNvSpPr/>
          <p:nvPr/>
        </p:nvSpPr>
        <p:spPr>
          <a:xfrm rot="7199661">
            <a:off x="789524" y="2235528"/>
            <a:ext cx="1666484" cy="1666484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88"/>
          <p:cNvSpPr/>
          <p:nvPr/>
        </p:nvSpPr>
        <p:spPr>
          <a:xfrm rot="-7211867">
            <a:off x="789592" y="2235588"/>
            <a:ext cx="1666446" cy="1666446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8"/>
          <p:cNvSpPr/>
          <p:nvPr/>
        </p:nvSpPr>
        <p:spPr>
          <a:xfrm>
            <a:off x="789592" y="2235588"/>
            <a:ext cx="1666500" cy="16665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88"/>
          <p:cNvSpPr txBox="1"/>
          <p:nvPr/>
        </p:nvSpPr>
        <p:spPr>
          <a:xfrm>
            <a:off x="1731842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8"/>
          <p:cNvSpPr txBox="1"/>
          <p:nvPr/>
        </p:nvSpPr>
        <p:spPr>
          <a:xfrm>
            <a:off x="1350842" y="3238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8"/>
          <p:cNvSpPr txBox="1"/>
          <p:nvPr/>
        </p:nvSpPr>
        <p:spPr>
          <a:xfrm>
            <a:off x="893642" y="262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0" name="Google Shape;1330;p88"/>
          <p:cNvGrpSpPr/>
          <p:nvPr/>
        </p:nvGrpSpPr>
        <p:grpSpPr>
          <a:xfrm>
            <a:off x="1574024" y="2305406"/>
            <a:ext cx="93900" cy="816939"/>
            <a:chOff x="996050" y="213293"/>
            <a:chExt cx="93900" cy="909732"/>
          </a:xfrm>
        </p:grpSpPr>
        <p:cxnSp>
          <p:nvCxnSpPr>
            <p:cNvPr id="1331" name="Google Shape;1331;p8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32" name="Google Shape;1332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3" name="Google Shape;1333;p88"/>
          <p:cNvSpPr/>
          <p:nvPr/>
        </p:nvSpPr>
        <p:spPr>
          <a:xfrm rot="-3572318">
            <a:off x="6695347" y="2235480"/>
            <a:ext cx="1666413" cy="1666413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88"/>
          <p:cNvSpPr/>
          <p:nvPr/>
        </p:nvSpPr>
        <p:spPr>
          <a:xfrm>
            <a:off x="6680600" y="22206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88"/>
          <p:cNvSpPr txBox="1"/>
          <p:nvPr/>
        </p:nvSpPr>
        <p:spPr>
          <a:xfrm>
            <a:off x="6906975" y="3162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8"/>
          <p:cNvSpPr txBox="1"/>
          <p:nvPr/>
        </p:nvSpPr>
        <p:spPr>
          <a:xfrm>
            <a:off x="6995439" y="236132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8"/>
          <p:cNvSpPr/>
          <p:nvPr/>
        </p:nvSpPr>
        <p:spPr>
          <a:xfrm flipH="1">
            <a:off x="6695289" y="2235411"/>
            <a:ext cx="1666500" cy="1666500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88"/>
          <p:cNvSpPr txBox="1"/>
          <p:nvPr/>
        </p:nvSpPr>
        <p:spPr>
          <a:xfrm>
            <a:off x="7637726" y="3162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8"/>
          <p:cNvSpPr/>
          <p:nvPr/>
        </p:nvSpPr>
        <p:spPr>
          <a:xfrm flipH="1" rot="3616151">
            <a:off x="6695206" y="2235314"/>
            <a:ext cx="1666580" cy="1666580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88"/>
          <p:cNvSpPr/>
          <p:nvPr/>
        </p:nvSpPr>
        <p:spPr>
          <a:xfrm flipH="1" rot="7179397">
            <a:off x="6695138" y="2235126"/>
            <a:ext cx="1666731" cy="1666731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88"/>
          <p:cNvSpPr txBox="1"/>
          <p:nvPr/>
        </p:nvSpPr>
        <p:spPr>
          <a:xfrm>
            <a:off x="7561526" y="234906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8"/>
          <p:cNvSpPr txBox="1"/>
          <p:nvPr/>
        </p:nvSpPr>
        <p:spPr>
          <a:xfrm>
            <a:off x="7505766" y="329878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8"/>
          <p:cNvSpPr/>
          <p:nvPr/>
        </p:nvSpPr>
        <p:spPr>
          <a:xfrm rot="-7167804">
            <a:off x="6695356" y="2235603"/>
            <a:ext cx="1666303" cy="1666303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88"/>
          <p:cNvSpPr/>
          <p:nvPr/>
        </p:nvSpPr>
        <p:spPr>
          <a:xfrm rot="10800000">
            <a:off x="6695459" y="2235706"/>
            <a:ext cx="1666200" cy="1666200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88"/>
          <p:cNvSpPr txBox="1"/>
          <p:nvPr/>
        </p:nvSpPr>
        <p:spPr>
          <a:xfrm>
            <a:off x="7757439" y="281852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88"/>
          <p:cNvSpPr txBox="1"/>
          <p:nvPr/>
        </p:nvSpPr>
        <p:spPr>
          <a:xfrm>
            <a:off x="6995439" y="331921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88"/>
          <p:cNvSpPr txBox="1"/>
          <p:nvPr/>
        </p:nvSpPr>
        <p:spPr>
          <a:xfrm>
            <a:off x="6723326" y="284158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8" name="Google Shape;1348;p88"/>
          <p:cNvGrpSpPr/>
          <p:nvPr/>
        </p:nvGrpSpPr>
        <p:grpSpPr>
          <a:xfrm>
            <a:off x="7479909" y="2286163"/>
            <a:ext cx="93900" cy="816939"/>
            <a:chOff x="996050" y="213293"/>
            <a:chExt cx="93900" cy="909732"/>
          </a:xfrm>
        </p:grpSpPr>
        <p:cxnSp>
          <p:nvCxnSpPr>
            <p:cNvPr id="1349" name="Google Shape;1349;p8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0" name="Google Shape;1350;p8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51" name="Google Shape;135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1783" y="41391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357" name="Google Shape;1357;p89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Tick the spinners where the </a:t>
            </a:r>
            <a:r>
              <a:rPr b="1" lang="en-GB" sz="1600"/>
              <a:t>outcomes</a:t>
            </a:r>
            <a:r>
              <a:rPr lang="en-GB" sz="1600"/>
              <a:t> ‘win’ and ‘lose’ are equally likely.</a:t>
            </a:r>
            <a:endParaRPr sz="1600"/>
          </a:p>
        </p:txBody>
      </p:sp>
      <p:sp>
        <p:nvSpPr>
          <p:cNvPr id="1358" name="Google Shape;1358;p89"/>
          <p:cNvSpPr/>
          <p:nvPr/>
        </p:nvSpPr>
        <p:spPr>
          <a:xfrm>
            <a:off x="2718200" y="11538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89"/>
          <p:cNvSpPr/>
          <p:nvPr/>
        </p:nvSpPr>
        <p:spPr>
          <a:xfrm rot="8649824">
            <a:off x="2733095" y="1168761"/>
            <a:ext cx="1666351" cy="1666351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89"/>
          <p:cNvSpPr/>
          <p:nvPr/>
        </p:nvSpPr>
        <p:spPr>
          <a:xfrm rot="-8629029">
            <a:off x="2733196" y="1168863"/>
            <a:ext cx="1666260" cy="166626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89"/>
          <p:cNvSpPr/>
          <p:nvPr/>
        </p:nvSpPr>
        <p:spPr>
          <a:xfrm rot="-4309758">
            <a:off x="2733241" y="1169027"/>
            <a:ext cx="1666190" cy="166619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89"/>
          <p:cNvSpPr/>
          <p:nvPr/>
        </p:nvSpPr>
        <p:spPr>
          <a:xfrm>
            <a:off x="2733241" y="1169027"/>
            <a:ext cx="1666200" cy="166620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89"/>
          <p:cNvSpPr txBox="1"/>
          <p:nvPr/>
        </p:nvSpPr>
        <p:spPr>
          <a:xfrm>
            <a:off x="3267075" y="23245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9"/>
          <p:cNvSpPr/>
          <p:nvPr/>
        </p:nvSpPr>
        <p:spPr>
          <a:xfrm rot="4312496">
            <a:off x="2733074" y="1168606"/>
            <a:ext cx="1666387" cy="1666387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89"/>
          <p:cNvSpPr txBox="1"/>
          <p:nvPr/>
        </p:nvSpPr>
        <p:spPr>
          <a:xfrm>
            <a:off x="2944575" y="14101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9"/>
          <p:cNvSpPr txBox="1"/>
          <p:nvPr/>
        </p:nvSpPr>
        <p:spPr>
          <a:xfrm>
            <a:off x="3599126" y="1410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9"/>
          <p:cNvSpPr txBox="1"/>
          <p:nvPr/>
        </p:nvSpPr>
        <p:spPr>
          <a:xfrm>
            <a:off x="3751526" y="1943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9"/>
          <p:cNvSpPr txBox="1"/>
          <p:nvPr/>
        </p:nvSpPr>
        <p:spPr>
          <a:xfrm>
            <a:off x="2792175" y="19435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9"/>
          <p:cNvSpPr/>
          <p:nvPr/>
        </p:nvSpPr>
        <p:spPr>
          <a:xfrm>
            <a:off x="367384" y="2878394"/>
            <a:ext cx="1808400" cy="1808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89"/>
          <p:cNvSpPr txBox="1"/>
          <p:nvPr/>
        </p:nvSpPr>
        <p:spPr>
          <a:xfrm>
            <a:off x="608794" y="3883049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89"/>
          <p:cNvSpPr/>
          <p:nvPr/>
        </p:nvSpPr>
        <p:spPr>
          <a:xfrm rot="3055579">
            <a:off x="383036" y="2894128"/>
            <a:ext cx="1777194" cy="1777194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89"/>
          <p:cNvSpPr txBox="1"/>
          <p:nvPr/>
        </p:nvSpPr>
        <p:spPr>
          <a:xfrm>
            <a:off x="608794" y="3151698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89"/>
          <p:cNvSpPr txBox="1"/>
          <p:nvPr/>
        </p:nvSpPr>
        <p:spPr>
          <a:xfrm>
            <a:off x="1256340" y="3114964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89"/>
          <p:cNvSpPr txBox="1"/>
          <p:nvPr/>
        </p:nvSpPr>
        <p:spPr>
          <a:xfrm>
            <a:off x="1388082" y="3883049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9"/>
          <p:cNvSpPr/>
          <p:nvPr/>
        </p:nvSpPr>
        <p:spPr>
          <a:xfrm rot="6174892">
            <a:off x="383355" y="2894323"/>
            <a:ext cx="1777156" cy="1777156"/>
          </a:xfrm>
          <a:prstGeom prst="pie">
            <a:avLst>
              <a:gd fmla="val 13145506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89"/>
          <p:cNvSpPr/>
          <p:nvPr/>
        </p:nvSpPr>
        <p:spPr>
          <a:xfrm rot="9204799">
            <a:off x="383439" y="2894353"/>
            <a:ext cx="1777003" cy="1777003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89"/>
          <p:cNvSpPr/>
          <p:nvPr/>
        </p:nvSpPr>
        <p:spPr>
          <a:xfrm rot="-9367318">
            <a:off x="383312" y="2894122"/>
            <a:ext cx="1777213" cy="1777213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89"/>
          <p:cNvSpPr/>
          <p:nvPr/>
        </p:nvSpPr>
        <p:spPr>
          <a:xfrm rot="-6354970">
            <a:off x="383428" y="2894801"/>
            <a:ext cx="1776608" cy="1776608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89"/>
          <p:cNvSpPr/>
          <p:nvPr/>
        </p:nvSpPr>
        <p:spPr>
          <a:xfrm rot="-3302761">
            <a:off x="383394" y="2894749"/>
            <a:ext cx="1776693" cy="1776693"/>
          </a:xfrm>
          <a:prstGeom prst="pie">
            <a:avLst>
              <a:gd fmla="val 13196772" name="adj1"/>
              <a:gd fmla="val 16289109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89"/>
          <p:cNvSpPr/>
          <p:nvPr/>
        </p:nvSpPr>
        <p:spPr>
          <a:xfrm rot="-191659">
            <a:off x="383459" y="2894640"/>
            <a:ext cx="1776660" cy="1776660"/>
          </a:xfrm>
          <a:prstGeom prst="pie">
            <a:avLst>
              <a:gd fmla="val 13196772" name="adj1"/>
              <a:gd fmla="val 1642607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89"/>
          <p:cNvSpPr txBox="1"/>
          <p:nvPr/>
        </p:nvSpPr>
        <p:spPr>
          <a:xfrm>
            <a:off x="1388082" y="3856575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9"/>
          <p:cNvSpPr txBox="1"/>
          <p:nvPr/>
        </p:nvSpPr>
        <p:spPr>
          <a:xfrm>
            <a:off x="494209" y="3922446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9"/>
          <p:cNvSpPr txBox="1"/>
          <p:nvPr/>
        </p:nvSpPr>
        <p:spPr>
          <a:xfrm>
            <a:off x="695207" y="3076488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9"/>
          <p:cNvSpPr txBox="1"/>
          <p:nvPr/>
        </p:nvSpPr>
        <p:spPr>
          <a:xfrm>
            <a:off x="449020" y="3454561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9"/>
          <p:cNvSpPr txBox="1"/>
          <p:nvPr/>
        </p:nvSpPr>
        <p:spPr>
          <a:xfrm>
            <a:off x="1586676" y="3454561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9"/>
          <p:cNvSpPr txBox="1"/>
          <p:nvPr/>
        </p:nvSpPr>
        <p:spPr>
          <a:xfrm>
            <a:off x="7595351" y="2379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7" name="Google Shape;1387;p89"/>
          <p:cNvGrpSpPr/>
          <p:nvPr/>
        </p:nvGrpSpPr>
        <p:grpSpPr>
          <a:xfrm>
            <a:off x="1219763" y="2937989"/>
            <a:ext cx="100135" cy="871159"/>
            <a:chOff x="996050" y="213293"/>
            <a:chExt cx="93900" cy="909732"/>
          </a:xfrm>
        </p:grpSpPr>
        <p:cxnSp>
          <p:nvCxnSpPr>
            <p:cNvPr id="1388" name="Google Shape;1388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89" name="Google Shape;1389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0" name="Google Shape;1390;p89"/>
          <p:cNvGrpSpPr/>
          <p:nvPr/>
        </p:nvGrpSpPr>
        <p:grpSpPr>
          <a:xfrm>
            <a:off x="3517509" y="1209742"/>
            <a:ext cx="93900" cy="816939"/>
            <a:chOff x="996050" y="213293"/>
            <a:chExt cx="93900" cy="909732"/>
          </a:xfrm>
        </p:grpSpPr>
        <p:cxnSp>
          <p:nvCxnSpPr>
            <p:cNvPr id="1391" name="Google Shape;1391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2" name="Google Shape;1392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3" name="Google Shape;1393;p89"/>
          <p:cNvSpPr/>
          <p:nvPr/>
        </p:nvSpPr>
        <p:spPr>
          <a:xfrm>
            <a:off x="7246451" y="1075849"/>
            <a:ext cx="1531500" cy="1531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89"/>
          <p:cNvSpPr/>
          <p:nvPr/>
        </p:nvSpPr>
        <p:spPr>
          <a:xfrm rot="8649494">
            <a:off x="7259830" y="1089387"/>
            <a:ext cx="1504742" cy="1504742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89"/>
          <p:cNvSpPr/>
          <p:nvPr/>
        </p:nvSpPr>
        <p:spPr>
          <a:xfrm rot="-8628934">
            <a:off x="7260026" y="1089409"/>
            <a:ext cx="1504608" cy="1504608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89"/>
          <p:cNvSpPr/>
          <p:nvPr/>
        </p:nvSpPr>
        <p:spPr>
          <a:xfrm rot="-4309727">
            <a:off x="7260036" y="1089578"/>
            <a:ext cx="1504533" cy="1504533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89"/>
          <p:cNvSpPr/>
          <p:nvPr/>
        </p:nvSpPr>
        <p:spPr>
          <a:xfrm>
            <a:off x="7260034" y="1089554"/>
            <a:ext cx="1504500" cy="150450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89"/>
          <p:cNvSpPr/>
          <p:nvPr/>
        </p:nvSpPr>
        <p:spPr>
          <a:xfrm>
            <a:off x="656175" y="1149225"/>
            <a:ext cx="1400400" cy="14004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89"/>
          <p:cNvSpPr/>
          <p:nvPr/>
        </p:nvSpPr>
        <p:spPr>
          <a:xfrm flipH="1">
            <a:off x="668278" y="1161413"/>
            <a:ext cx="1376100" cy="13761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89"/>
          <p:cNvSpPr/>
          <p:nvPr/>
        </p:nvSpPr>
        <p:spPr>
          <a:xfrm>
            <a:off x="668363" y="1161413"/>
            <a:ext cx="1376100" cy="1376100"/>
          </a:xfrm>
          <a:prstGeom prst="pie">
            <a:avLst>
              <a:gd fmla="val 5387953" name="adj1"/>
              <a:gd fmla="val 17620739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89"/>
          <p:cNvSpPr txBox="1"/>
          <p:nvPr/>
        </p:nvSpPr>
        <p:spPr>
          <a:xfrm>
            <a:off x="780174" y="167545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89"/>
          <p:cNvSpPr txBox="1"/>
          <p:nvPr/>
        </p:nvSpPr>
        <p:spPr>
          <a:xfrm>
            <a:off x="1446500" y="167545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89"/>
          <p:cNvSpPr txBox="1"/>
          <p:nvPr/>
        </p:nvSpPr>
        <p:spPr>
          <a:xfrm>
            <a:off x="7742080" y="2132956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89"/>
          <p:cNvSpPr/>
          <p:nvPr/>
        </p:nvSpPr>
        <p:spPr>
          <a:xfrm rot="4312759">
            <a:off x="7259809" y="1089137"/>
            <a:ext cx="1504729" cy="1504729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9"/>
          <p:cNvSpPr txBox="1"/>
          <p:nvPr/>
        </p:nvSpPr>
        <p:spPr>
          <a:xfrm>
            <a:off x="7450866" y="1307263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89"/>
          <p:cNvSpPr txBox="1"/>
          <p:nvPr/>
        </p:nvSpPr>
        <p:spPr>
          <a:xfrm>
            <a:off x="8041918" y="1307269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89"/>
          <p:cNvSpPr txBox="1"/>
          <p:nvPr/>
        </p:nvSpPr>
        <p:spPr>
          <a:xfrm>
            <a:off x="8187575" y="1712731"/>
            <a:ext cx="63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9"/>
          <p:cNvSpPr txBox="1"/>
          <p:nvPr/>
        </p:nvSpPr>
        <p:spPr>
          <a:xfrm>
            <a:off x="7217499" y="1712725"/>
            <a:ext cx="63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9" name="Google Shape;1409;p89"/>
          <p:cNvGrpSpPr/>
          <p:nvPr/>
        </p:nvGrpSpPr>
        <p:grpSpPr>
          <a:xfrm>
            <a:off x="7968230" y="1126323"/>
            <a:ext cx="84792" cy="737702"/>
            <a:chOff x="996050" y="213293"/>
            <a:chExt cx="93900" cy="909732"/>
          </a:xfrm>
        </p:grpSpPr>
        <p:cxnSp>
          <p:nvCxnSpPr>
            <p:cNvPr id="1410" name="Google Shape;1410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11" name="Google Shape;1411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2" name="Google Shape;1412;p89"/>
          <p:cNvGrpSpPr/>
          <p:nvPr/>
        </p:nvGrpSpPr>
        <p:grpSpPr>
          <a:xfrm>
            <a:off x="1316159" y="1195376"/>
            <a:ext cx="77533" cy="674566"/>
            <a:chOff x="996050" y="213293"/>
            <a:chExt cx="93900" cy="909732"/>
          </a:xfrm>
        </p:grpSpPr>
        <p:cxnSp>
          <p:nvCxnSpPr>
            <p:cNvPr id="1413" name="Google Shape;1413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14" name="Google Shape;1414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5" name="Google Shape;1415;p89"/>
          <p:cNvSpPr/>
          <p:nvPr/>
        </p:nvSpPr>
        <p:spPr>
          <a:xfrm rot="-3572318">
            <a:off x="4942747" y="1168680"/>
            <a:ext cx="1666413" cy="1666413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89"/>
          <p:cNvSpPr/>
          <p:nvPr/>
        </p:nvSpPr>
        <p:spPr>
          <a:xfrm>
            <a:off x="4928000" y="1153850"/>
            <a:ext cx="1695900" cy="1695900"/>
          </a:xfrm>
          <a:prstGeom prst="ellipse">
            <a:avLst/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89"/>
          <p:cNvSpPr txBox="1"/>
          <p:nvPr/>
        </p:nvSpPr>
        <p:spPr>
          <a:xfrm>
            <a:off x="5154375" y="2095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9"/>
          <p:cNvSpPr txBox="1"/>
          <p:nvPr/>
        </p:nvSpPr>
        <p:spPr>
          <a:xfrm>
            <a:off x="5242839" y="129452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9"/>
          <p:cNvSpPr/>
          <p:nvPr/>
        </p:nvSpPr>
        <p:spPr>
          <a:xfrm flipH="1">
            <a:off x="4942689" y="1168611"/>
            <a:ext cx="1666500" cy="1666500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89"/>
          <p:cNvSpPr txBox="1"/>
          <p:nvPr/>
        </p:nvSpPr>
        <p:spPr>
          <a:xfrm>
            <a:off x="5885126" y="2095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9"/>
          <p:cNvSpPr/>
          <p:nvPr/>
        </p:nvSpPr>
        <p:spPr>
          <a:xfrm flipH="1" rot="3616151">
            <a:off x="4942606" y="1168514"/>
            <a:ext cx="1666580" cy="1666580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89"/>
          <p:cNvSpPr/>
          <p:nvPr/>
        </p:nvSpPr>
        <p:spPr>
          <a:xfrm flipH="1" rot="7179397">
            <a:off x="4942538" y="1168326"/>
            <a:ext cx="1666731" cy="1666731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89"/>
          <p:cNvSpPr txBox="1"/>
          <p:nvPr/>
        </p:nvSpPr>
        <p:spPr>
          <a:xfrm>
            <a:off x="5808926" y="128226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9"/>
          <p:cNvSpPr txBox="1"/>
          <p:nvPr/>
        </p:nvSpPr>
        <p:spPr>
          <a:xfrm>
            <a:off x="5753166" y="223198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9"/>
          <p:cNvSpPr/>
          <p:nvPr/>
        </p:nvSpPr>
        <p:spPr>
          <a:xfrm rot="-7167804">
            <a:off x="4942756" y="1168803"/>
            <a:ext cx="1666303" cy="1666303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89"/>
          <p:cNvSpPr/>
          <p:nvPr/>
        </p:nvSpPr>
        <p:spPr>
          <a:xfrm rot="10800000">
            <a:off x="4942859" y="1168906"/>
            <a:ext cx="1666200" cy="1666200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89"/>
          <p:cNvSpPr txBox="1"/>
          <p:nvPr/>
        </p:nvSpPr>
        <p:spPr>
          <a:xfrm>
            <a:off x="6004839" y="175172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9"/>
          <p:cNvSpPr txBox="1"/>
          <p:nvPr/>
        </p:nvSpPr>
        <p:spPr>
          <a:xfrm>
            <a:off x="5242839" y="225241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9"/>
          <p:cNvSpPr txBox="1"/>
          <p:nvPr/>
        </p:nvSpPr>
        <p:spPr>
          <a:xfrm>
            <a:off x="4970726" y="177478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0" name="Google Shape;1430;p89"/>
          <p:cNvGrpSpPr/>
          <p:nvPr/>
        </p:nvGrpSpPr>
        <p:grpSpPr>
          <a:xfrm>
            <a:off x="5727309" y="1219363"/>
            <a:ext cx="93900" cy="816939"/>
            <a:chOff x="996050" y="213293"/>
            <a:chExt cx="93900" cy="909732"/>
          </a:xfrm>
        </p:grpSpPr>
        <p:cxnSp>
          <p:nvCxnSpPr>
            <p:cNvPr id="1431" name="Google Shape;1431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2" name="Google Shape;1432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3" name="Google Shape;1433;p89"/>
          <p:cNvSpPr/>
          <p:nvPr/>
        </p:nvSpPr>
        <p:spPr>
          <a:xfrm>
            <a:off x="2530300" y="3175750"/>
            <a:ext cx="1309800" cy="13098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89"/>
          <p:cNvSpPr/>
          <p:nvPr/>
        </p:nvSpPr>
        <p:spPr>
          <a:xfrm flipH="1">
            <a:off x="2541639" y="3187149"/>
            <a:ext cx="1287000" cy="12870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89"/>
          <p:cNvSpPr/>
          <p:nvPr/>
        </p:nvSpPr>
        <p:spPr>
          <a:xfrm>
            <a:off x="2541699" y="3187149"/>
            <a:ext cx="1287000" cy="1287000"/>
          </a:xfrm>
          <a:prstGeom prst="pie">
            <a:avLst>
              <a:gd fmla="val 5387953" name="adj1"/>
              <a:gd fmla="val 16192626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89"/>
          <p:cNvSpPr txBox="1"/>
          <p:nvPr/>
        </p:nvSpPr>
        <p:spPr>
          <a:xfrm>
            <a:off x="2574925" y="366790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9"/>
          <p:cNvSpPr/>
          <p:nvPr/>
        </p:nvSpPr>
        <p:spPr>
          <a:xfrm flipH="1">
            <a:off x="2541639" y="3187149"/>
            <a:ext cx="1287000" cy="12870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89"/>
          <p:cNvSpPr txBox="1"/>
          <p:nvPr/>
        </p:nvSpPr>
        <p:spPr>
          <a:xfrm>
            <a:off x="3193278" y="337367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89"/>
          <p:cNvSpPr txBox="1"/>
          <p:nvPr/>
        </p:nvSpPr>
        <p:spPr>
          <a:xfrm>
            <a:off x="3193275" y="390330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0" name="Google Shape;1440;p89"/>
          <p:cNvGrpSpPr/>
          <p:nvPr/>
        </p:nvGrpSpPr>
        <p:grpSpPr>
          <a:xfrm>
            <a:off x="3147612" y="3226344"/>
            <a:ext cx="72519" cy="630899"/>
            <a:chOff x="996050" y="213293"/>
            <a:chExt cx="93900" cy="909732"/>
          </a:xfrm>
        </p:grpSpPr>
        <p:cxnSp>
          <p:nvCxnSpPr>
            <p:cNvPr id="1441" name="Google Shape;1441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2" name="Google Shape;1442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3" name="Google Shape;1443;p89"/>
          <p:cNvSpPr/>
          <p:nvPr/>
        </p:nvSpPr>
        <p:spPr>
          <a:xfrm>
            <a:off x="6428058" y="2882511"/>
            <a:ext cx="1896000" cy="1896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89"/>
          <p:cNvSpPr txBox="1"/>
          <p:nvPr/>
        </p:nvSpPr>
        <p:spPr>
          <a:xfrm>
            <a:off x="6681163" y="3935833"/>
            <a:ext cx="63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89"/>
          <p:cNvSpPr/>
          <p:nvPr/>
        </p:nvSpPr>
        <p:spPr>
          <a:xfrm rot="3054825">
            <a:off x="6444740" y="2899042"/>
            <a:ext cx="1863314" cy="1863314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89"/>
          <p:cNvSpPr txBox="1"/>
          <p:nvPr/>
        </p:nvSpPr>
        <p:spPr>
          <a:xfrm>
            <a:off x="6681163" y="3169054"/>
            <a:ext cx="63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89"/>
          <p:cNvSpPr txBox="1"/>
          <p:nvPr/>
        </p:nvSpPr>
        <p:spPr>
          <a:xfrm>
            <a:off x="7498201" y="3935833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89"/>
          <p:cNvSpPr/>
          <p:nvPr/>
        </p:nvSpPr>
        <p:spPr>
          <a:xfrm rot="6175445">
            <a:off x="6444853" y="2899050"/>
            <a:ext cx="1863097" cy="1863097"/>
          </a:xfrm>
          <a:prstGeom prst="pie">
            <a:avLst>
              <a:gd fmla="val 13145506" name="adj1"/>
              <a:gd fmla="val 16225322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89"/>
          <p:cNvSpPr/>
          <p:nvPr/>
        </p:nvSpPr>
        <p:spPr>
          <a:xfrm rot="9204364">
            <a:off x="6444935" y="2899461"/>
            <a:ext cx="1863003" cy="1863003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89"/>
          <p:cNvSpPr/>
          <p:nvPr/>
        </p:nvSpPr>
        <p:spPr>
          <a:xfrm rot="-9367815">
            <a:off x="6444772" y="2899363"/>
            <a:ext cx="1863051" cy="1863051"/>
          </a:xfrm>
          <a:prstGeom prst="pie">
            <a:avLst>
              <a:gd fmla="val 13196772" name="adj1"/>
              <a:gd fmla="val 16225322" name="adj2"/>
            </a:avLst>
          </a:prstGeom>
          <a:solidFill>
            <a:schemeClr val="dk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89"/>
          <p:cNvSpPr/>
          <p:nvPr/>
        </p:nvSpPr>
        <p:spPr>
          <a:xfrm rot="-6354975">
            <a:off x="6444823" y="2899319"/>
            <a:ext cx="1863022" cy="1863022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89"/>
          <p:cNvSpPr/>
          <p:nvPr/>
        </p:nvSpPr>
        <p:spPr>
          <a:xfrm rot="-3302429">
            <a:off x="6444881" y="2899736"/>
            <a:ext cx="1862835" cy="1862835"/>
          </a:xfrm>
          <a:prstGeom prst="pie">
            <a:avLst>
              <a:gd fmla="val 13196772" name="adj1"/>
              <a:gd fmla="val 16289109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89"/>
          <p:cNvSpPr/>
          <p:nvPr/>
        </p:nvSpPr>
        <p:spPr>
          <a:xfrm rot="-191097">
            <a:off x="6444773" y="2899699"/>
            <a:ext cx="1862877" cy="1862877"/>
          </a:xfrm>
          <a:prstGeom prst="pie">
            <a:avLst>
              <a:gd fmla="val 13196772" name="adj1"/>
              <a:gd fmla="val 1642607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89"/>
          <p:cNvSpPr txBox="1"/>
          <p:nvPr/>
        </p:nvSpPr>
        <p:spPr>
          <a:xfrm>
            <a:off x="7712548" y="3482959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9"/>
          <p:cNvSpPr txBox="1"/>
          <p:nvPr/>
        </p:nvSpPr>
        <p:spPr>
          <a:xfrm>
            <a:off x="6561027" y="3977138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9"/>
          <p:cNvSpPr txBox="1"/>
          <p:nvPr/>
        </p:nvSpPr>
        <p:spPr>
          <a:xfrm>
            <a:off x="6771762" y="3090201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89"/>
          <p:cNvSpPr txBox="1"/>
          <p:nvPr/>
        </p:nvSpPr>
        <p:spPr>
          <a:xfrm>
            <a:off x="6513649" y="3486589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9"/>
          <p:cNvSpPr txBox="1"/>
          <p:nvPr/>
        </p:nvSpPr>
        <p:spPr>
          <a:xfrm>
            <a:off x="7401615" y="3105589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9"/>
          <p:cNvSpPr txBox="1"/>
          <p:nvPr/>
        </p:nvSpPr>
        <p:spPr>
          <a:xfrm>
            <a:off x="7643432" y="3948567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0" name="Google Shape;1460;p89"/>
          <p:cNvGrpSpPr/>
          <p:nvPr/>
        </p:nvGrpSpPr>
        <p:grpSpPr>
          <a:xfrm>
            <a:off x="7321770" y="2944995"/>
            <a:ext cx="104990" cy="913371"/>
            <a:chOff x="996050" y="213293"/>
            <a:chExt cx="93900" cy="909732"/>
          </a:xfrm>
        </p:grpSpPr>
        <p:cxnSp>
          <p:nvCxnSpPr>
            <p:cNvPr id="1461" name="Google Shape;1461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62" name="Google Shape;1462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3" name="Google Shape;1463;p89"/>
          <p:cNvSpPr txBox="1"/>
          <p:nvPr/>
        </p:nvSpPr>
        <p:spPr>
          <a:xfrm>
            <a:off x="7058081" y="4126591"/>
            <a:ext cx="8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spin again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9"/>
          <p:cNvSpPr txBox="1"/>
          <p:nvPr/>
        </p:nvSpPr>
        <p:spPr>
          <a:xfrm>
            <a:off x="988557" y="4138904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89"/>
          <p:cNvSpPr/>
          <p:nvPr/>
        </p:nvSpPr>
        <p:spPr>
          <a:xfrm>
            <a:off x="4318400" y="29826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89"/>
          <p:cNvSpPr/>
          <p:nvPr/>
        </p:nvSpPr>
        <p:spPr>
          <a:xfrm flipH="1">
            <a:off x="4333089" y="2997411"/>
            <a:ext cx="1666500" cy="1666500"/>
          </a:xfrm>
          <a:prstGeom prst="pie">
            <a:avLst>
              <a:gd fmla="val 8122935" name="adj1"/>
              <a:gd fmla="val 10824216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89"/>
          <p:cNvSpPr txBox="1"/>
          <p:nvPr/>
        </p:nvSpPr>
        <p:spPr>
          <a:xfrm>
            <a:off x="5411839" y="3800426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9"/>
          <p:cNvSpPr/>
          <p:nvPr/>
        </p:nvSpPr>
        <p:spPr>
          <a:xfrm>
            <a:off x="4333161" y="2997411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89"/>
          <p:cNvSpPr/>
          <p:nvPr/>
        </p:nvSpPr>
        <p:spPr>
          <a:xfrm flipH="1">
            <a:off x="4333089" y="2997411"/>
            <a:ext cx="1666500" cy="1666500"/>
          </a:xfrm>
          <a:prstGeom prst="pie">
            <a:avLst>
              <a:gd fmla="val 10838302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89"/>
          <p:cNvSpPr txBox="1"/>
          <p:nvPr/>
        </p:nvSpPr>
        <p:spPr>
          <a:xfrm>
            <a:off x="5261729" y="328364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89"/>
          <p:cNvSpPr/>
          <p:nvPr/>
        </p:nvSpPr>
        <p:spPr>
          <a:xfrm>
            <a:off x="4333161" y="2997411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89"/>
          <p:cNvSpPr txBox="1"/>
          <p:nvPr/>
        </p:nvSpPr>
        <p:spPr>
          <a:xfrm>
            <a:off x="4676112" y="312397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89"/>
          <p:cNvSpPr/>
          <p:nvPr/>
        </p:nvSpPr>
        <p:spPr>
          <a:xfrm>
            <a:off x="4333161" y="2997411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89"/>
          <p:cNvSpPr txBox="1"/>
          <p:nvPr/>
        </p:nvSpPr>
        <p:spPr>
          <a:xfrm>
            <a:off x="4356051" y="37941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89"/>
          <p:cNvSpPr/>
          <p:nvPr/>
        </p:nvSpPr>
        <p:spPr>
          <a:xfrm flipH="1">
            <a:off x="4333089" y="2997411"/>
            <a:ext cx="1666500" cy="1666500"/>
          </a:xfrm>
          <a:prstGeom prst="pie">
            <a:avLst>
              <a:gd fmla="val 2722096" name="adj1"/>
              <a:gd fmla="val 808442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89"/>
          <p:cNvSpPr txBox="1"/>
          <p:nvPr/>
        </p:nvSpPr>
        <p:spPr>
          <a:xfrm>
            <a:off x="4901801" y="4077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7" name="Google Shape;1477;p89"/>
          <p:cNvGrpSpPr/>
          <p:nvPr/>
        </p:nvGrpSpPr>
        <p:grpSpPr>
          <a:xfrm>
            <a:off x="5117700" y="2997402"/>
            <a:ext cx="93900" cy="860333"/>
            <a:chOff x="996050" y="213293"/>
            <a:chExt cx="93900" cy="909732"/>
          </a:xfrm>
        </p:grpSpPr>
        <p:cxnSp>
          <p:nvCxnSpPr>
            <p:cNvPr id="1478" name="Google Shape;1478;p8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79" name="Google Shape;1479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0" name="Google Shape;1480;p89"/>
          <p:cNvSpPr txBox="1"/>
          <p:nvPr/>
        </p:nvSpPr>
        <p:spPr>
          <a:xfrm>
            <a:off x="4368401" y="3419426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486" name="Google Shape;1486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Tick the spinners where the </a:t>
            </a:r>
            <a:r>
              <a:rPr b="1" lang="en-GB" sz="1600"/>
              <a:t>outcomes</a:t>
            </a:r>
            <a:r>
              <a:rPr lang="en-GB" sz="1600"/>
              <a:t> ‘win’ and ‘lose’ are equally likely.</a:t>
            </a:r>
            <a:endParaRPr sz="1600"/>
          </a:p>
        </p:txBody>
      </p:sp>
      <p:sp>
        <p:nvSpPr>
          <p:cNvPr id="1487" name="Google Shape;1487;p90"/>
          <p:cNvSpPr/>
          <p:nvPr/>
        </p:nvSpPr>
        <p:spPr>
          <a:xfrm>
            <a:off x="2718200" y="11538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90"/>
          <p:cNvSpPr/>
          <p:nvPr/>
        </p:nvSpPr>
        <p:spPr>
          <a:xfrm rot="8649824">
            <a:off x="2733095" y="1168761"/>
            <a:ext cx="1666351" cy="1666351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90"/>
          <p:cNvSpPr/>
          <p:nvPr/>
        </p:nvSpPr>
        <p:spPr>
          <a:xfrm rot="-8629029">
            <a:off x="2733196" y="1168863"/>
            <a:ext cx="1666260" cy="166626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90"/>
          <p:cNvSpPr/>
          <p:nvPr/>
        </p:nvSpPr>
        <p:spPr>
          <a:xfrm rot="-4309758">
            <a:off x="2733241" y="1169027"/>
            <a:ext cx="1666190" cy="166619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90"/>
          <p:cNvSpPr/>
          <p:nvPr/>
        </p:nvSpPr>
        <p:spPr>
          <a:xfrm>
            <a:off x="2733241" y="1169027"/>
            <a:ext cx="1666200" cy="166620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90"/>
          <p:cNvSpPr txBox="1"/>
          <p:nvPr/>
        </p:nvSpPr>
        <p:spPr>
          <a:xfrm>
            <a:off x="3267075" y="23245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90"/>
          <p:cNvSpPr/>
          <p:nvPr/>
        </p:nvSpPr>
        <p:spPr>
          <a:xfrm rot="4312496">
            <a:off x="2733074" y="1168606"/>
            <a:ext cx="1666387" cy="1666387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90"/>
          <p:cNvSpPr txBox="1"/>
          <p:nvPr/>
        </p:nvSpPr>
        <p:spPr>
          <a:xfrm>
            <a:off x="2944575" y="14101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0"/>
          <p:cNvSpPr txBox="1"/>
          <p:nvPr/>
        </p:nvSpPr>
        <p:spPr>
          <a:xfrm>
            <a:off x="3599126" y="1410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90"/>
          <p:cNvSpPr txBox="1"/>
          <p:nvPr/>
        </p:nvSpPr>
        <p:spPr>
          <a:xfrm>
            <a:off x="3751526" y="1943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0"/>
          <p:cNvSpPr txBox="1"/>
          <p:nvPr/>
        </p:nvSpPr>
        <p:spPr>
          <a:xfrm>
            <a:off x="2792175" y="19435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0"/>
          <p:cNvSpPr/>
          <p:nvPr/>
        </p:nvSpPr>
        <p:spPr>
          <a:xfrm>
            <a:off x="367384" y="2878394"/>
            <a:ext cx="1808400" cy="1808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90"/>
          <p:cNvSpPr txBox="1"/>
          <p:nvPr/>
        </p:nvSpPr>
        <p:spPr>
          <a:xfrm>
            <a:off x="608794" y="3883049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90"/>
          <p:cNvSpPr/>
          <p:nvPr/>
        </p:nvSpPr>
        <p:spPr>
          <a:xfrm rot="3055579">
            <a:off x="383036" y="2894128"/>
            <a:ext cx="1777194" cy="1777194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90"/>
          <p:cNvSpPr txBox="1"/>
          <p:nvPr/>
        </p:nvSpPr>
        <p:spPr>
          <a:xfrm>
            <a:off x="608794" y="3151698"/>
            <a:ext cx="60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90"/>
          <p:cNvSpPr txBox="1"/>
          <p:nvPr/>
        </p:nvSpPr>
        <p:spPr>
          <a:xfrm>
            <a:off x="1256340" y="3114964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90"/>
          <p:cNvSpPr txBox="1"/>
          <p:nvPr/>
        </p:nvSpPr>
        <p:spPr>
          <a:xfrm>
            <a:off x="1388082" y="3883049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90"/>
          <p:cNvSpPr/>
          <p:nvPr/>
        </p:nvSpPr>
        <p:spPr>
          <a:xfrm rot="6174892">
            <a:off x="383355" y="2894323"/>
            <a:ext cx="1777156" cy="1777156"/>
          </a:xfrm>
          <a:prstGeom prst="pie">
            <a:avLst>
              <a:gd fmla="val 13145506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90"/>
          <p:cNvSpPr/>
          <p:nvPr/>
        </p:nvSpPr>
        <p:spPr>
          <a:xfrm rot="9204799">
            <a:off x="383439" y="2894353"/>
            <a:ext cx="1777003" cy="1777003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90"/>
          <p:cNvSpPr/>
          <p:nvPr/>
        </p:nvSpPr>
        <p:spPr>
          <a:xfrm rot="-9367318">
            <a:off x="383312" y="2894122"/>
            <a:ext cx="1777213" cy="1777213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90"/>
          <p:cNvSpPr/>
          <p:nvPr/>
        </p:nvSpPr>
        <p:spPr>
          <a:xfrm rot="-6354970">
            <a:off x="383428" y="2894801"/>
            <a:ext cx="1776608" cy="1776608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90"/>
          <p:cNvSpPr/>
          <p:nvPr/>
        </p:nvSpPr>
        <p:spPr>
          <a:xfrm rot="-3302761">
            <a:off x="383394" y="2894749"/>
            <a:ext cx="1776693" cy="1776693"/>
          </a:xfrm>
          <a:prstGeom prst="pie">
            <a:avLst>
              <a:gd fmla="val 13196772" name="adj1"/>
              <a:gd fmla="val 16289109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90"/>
          <p:cNvSpPr/>
          <p:nvPr/>
        </p:nvSpPr>
        <p:spPr>
          <a:xfrm rot="-191659">
            <a:off x="383459" y="2894640"/>
            <a:ext cx="1776660" cy="1776660"/>
          </a:xfrm>
          <a:prstGeom prst="pie">
            <a:avLst>
              <a:gd fmla="val 13196772" name="adj1"/>
              <a:gd fmla="val 1642607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90"/>
          <p:cNvSpPr txBox="1"/>
          <p:nvPr/>
        </p:nvSpPr>
        <p:spPr>
          <a:xfrm>
            <a:off x="1388082" y="3856575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90"/>
          <p:cNvSpPr txBox="1"/>
          <p:nvPr/>
        </p:nvSpPr>
        <p:spPr>
          <a:xfrm>
            <a:off x="494209" y="3922446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90"/>
          <p:cNvSpPr txBox="1"/>
          <p:nvPr/>
        </p:nvSpPr>
        <p:spPr>
          <a:xfrm>
            <a:off x="695207" y="3076488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90"/>
          <p:cNvSpPr txBox="1"/>
          <p:nvPr/>
        </p:nvSpPr>
        <p:spPr>
          <a:xfrm>
            <a:off x="449020" y="3454561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90"/>
          <p:cNvSpPr txBox="1"/>
          <p:nvPr/>
        </p:nvSpPr>
        <p:spPr>
          <a:xfrm>
            <a:off x="1586676" y="3454561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90"/>
          <p:cNvSpPr txBox="1"/>
          <p:nvPr/>
        </p:nvSpPr>
        <p:spPr>
          <a:xfrm>
            <a:off x="7595351" y="2379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6" name="Google Shape;1516;p90"/>
          <p:cNvGrpSpPr/>
          <p:nvPr/>
        </p:nvGrpSpPr>
        <p:grpSpPr>
          <a:xfrm>
            <a:off x="1219763" y="2937989"/>
            <a:ext cx="100135" cy="871159"/>
            <a:chOff x="996050" y="213293"/>
            <a:chExt cx="93900" cy="909732"/>
          </a:xfrm>
        </p:grpSpPr>
        <p:cxnSp>
          <p:nvCxnSpPr>
            <p:cNvPr id="1517" name="Google Shape;1517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18" name="Google Shape;1518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9" name="Google Shape;1519;p90"/>
          <p:cNvGrpSpPr/>
          <p:nvPr/>
        </p:nvGrpSpPr>
        <p:grpSpPr>
          <a:xfrm>
            <a:off x="3517509" y="1209742"/>
            <a:ext cx="93900" cy="816939"/>
            <a:chOff x="996050" y="213293"/>
            <a:chExt cx="93900" cy="909732"/>
          </a:xfrm>
        </p:grpSpPr>
        <p:cxnSp>
          <p:nvCxnSpPr>
            <p:cNvPr id="1520" name="Google Shape;1520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21" name="Google Shape;1521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2" name="Google Shape;1522;p90"/>
          <p:cNvSpPr/>
          <p:nvPr/>
        </p:nvSpPr>
        <p:spPr>
          <a:xfrm>
            <a:off x="7246451" y="1075849"/>
            <a:ext cx="1531500" cy="1531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90"/>
          <p:cNvSpPr/>
          <p:nvPr/>
        </p:nvSpPr>
        <p:spPr>
          <a:xfrm rot="8649494">
            <a:off x="7259830" y="1089387"/>
            <a:ext cx="1504742" cy="1504742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90"/>
          <p:cNvSpPr/>
          <p:nvPr/>
        </p:nvSpPr>
        <p:spPr>
          <a:xfrm rot="-8628934">
            <a:off x="7260026" y="1089409"/>
            <a:ext cx="1504608" cy="1504608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90"/>
          <p:cNvSpPr/>
          <p:nvPr/>
        </p:nvSpPr>
        <p:spPr>
          <a:xfrm rot="-4309727">
            <a:off x="7260036" y="1089578"/>
            <a:ext cx="1504533" cy="1504533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90"/>
          <p:cNvSpPr/>
          <p:nvPr/>
        </p:nvSpPr>
        <p:spPr>
          <a:xfrm>
            <a:off x="7260034" y="1089554"/>
            <a:ext cx="1504500" cy="150450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90"/>
          <p:cNvSpPr/>
          <p:nvPr/>
        </p:nvSpPr>
        <p:spPr>
          <a:xfrm>
            <a:off x="656175" y="1149225"/>
            <a:ext cx="1400400" cy="14004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90"/>
          <p:cNvSpPr/>
          <p:nvPr/>
        </p:nvSpPr>
        <p:spPr>
          <a:xfrm flipH="1">
            <a:off x="668278" y="1161413"/>
            <a:ext cx="1376100" cy="1376100"/>
          </a:xfrm>
          <a:prstGeom prst="pie">
            <a:avLst>
              <a:gd fmla="val 5387953" name="adj1"/>
              <a:gd fmla="val 17083187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90"/>
          <p:cNvSpPr/>
          <p:nvPr/>
        </p:nvSpPr>
        <p:spPr>
          <a:xfrm>
            <a:off x="668363" y="1161413"/>
            <a:ext cx="1376100" cy="1376100"/>
          </a:xfrm>
          <a:prstGeom prst="pie">
            <a:avLst>
              <a:gd fmla="val 5387953" name="adj1"/>
              <a:gd fmla="val 17620739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90"/>
          <p:cNvSpPr txBox="1"/>
          <p:nvPr/>
        </p:nvSpPr>
        <p:spPr>
          <a:xfrm>
            <a:off x="780174" y="167545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90"/>
          <p:cNvSpPr txBox="1"/>
          <p:nvPr/>
        </p:nvSpPr>
        <p:spPr>
          <a:xfrm>
            <a:off x="1446500" y="167545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0"/>
          <p:cNvSpPr txBox="1"/>
          <p:nvPr/>
        </p:nvSpPr>
        <p:spPr>
          <a:xfrm>
            <a:off x="7742080" y="2132956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0"/>
          <p:cNvSpPr/>
          <p:nvPr/>
        </p:nvSpPr>
        <p:spPr>
          <a:xfrm rot="4312759">
            <a:off x="7259809" y="1089137"/>
            <a:ext cx="1504729" cy="1504729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90"/>
          <p:cNvSpPr txBox="1"/>
          <p:nvPr/>
        </p:nvSpPr>
        <p:spPr>
          <a:xfrm>
            <a:off x="7450866" y="1307263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90"/>
          <p:cNvSpPr txBox="1"/>
          <p:nvPr/>
        </p:nvSpPr>
        <p:spPr>
          <a:xfrm>
            <a:off x="8041918" y="1307269"/>
            <a:ext cx="5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90"/>
          <p:cNvSpPr txBox="1"/>
          <p:nvPr/>
        </p:nvSpPr>
        <p:spPr>
          <a:xfrm>
            <a:off x="8187575" y="1712731"/>
            <a:ext cx="63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0"/>
          <p:cNvSpPr txBox="1"/>
          <p:nvPr/>
        </p:nvSpPr>
        <p:spPr>
          <a:xfrm>
            <a:off x="7217499" y="1712725"/>
            <a:ext cx="63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8" name="Google Shape;1538;p90"/>
          <p:cNvGrpSpPr/>
          <p:nvPr/>
        </p:nvGrpSpPr>
        <p:grpSpPr>
          <a:xfrm>
            <a:off x="7968230" y="1126323"/>
            <a:ext cx="84792" cy="737702"/>
            <a:chOff x="996050" y="213293"/>
            <a:chExt cx="93900" cy="909732"/>
          </a:xfrm>
        </p:grpSpPr>
        <p:cxnSp>
          <p:nvCxnSpPr>
            <p:cNvPr id="1539" name="Google Shape;1539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40" name="Google Shape;1540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1" name="Google Shape;1541;p90"/>
          <p:cNvGrpSpPr/>
          <p:nvPr/>
        </p:nvGrpSpPr>
        <p:grpSpPr>
          <a:xfrm>
            <a:off x="1316159" y="1195376"/>
            <a:ext cx="77533" cy="674566"/>
            <a:chOff x="996050" y="213293"/>
            <a:chExt cx="93900" cy="909732"/>
          </a:xfrm>
        </p:grpSpPr>
        <p:cxnSp>
          <p:nvCxnSpPr>
            <p:cNvPr id="1542" name="Google Shape;1542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43" name="Google Shape;1543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4" name="Google Shape;1544;p90"/>
          <p:cNvSpPr/>
          <p:nvPr/>
        </p:nvSpPr>
        <p:spPr>
          <a:xfrm rot="-3572318">
            <a:off x="4942747" y="1168680"/>
            <a:ext cx="1666413" cy="1666413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90"/>
          <p:cNvSpPr/>
          <p:nvPr/>
        </p:nvSpPr>
        <p:spPr>
          <a:xfrm>
            <a:off x="4928000" y="1153850"/>
            <a:ext cx="1695900" cy="1695900"/>
          </a:xfrm>
          <a:prstGeom prst="ellipse">
            <a:avLst/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90"/>
          <p:cNvSpPr txBox="1"/>
          <p:nvPr/>
        </p:nvSpPr>
        <p:spPr>
          <a:xfrm>
            <a:off x="5154375" y="2095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90"/>
          <p:cNvSpPr txBox="1"/>
          <p:nvPr/>
        </p:nvSpPr>
        <p:spPr>
          <a:xfrm>
            <a:off x="5242839" y="129452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90"/>
          <p:cNvSpPr/>
          <p:nvPr/>
        </p:nvSpPr>
        <p:spPr>
          <a:xfrm flipH="1">
            <a:off x="4942689" y="1168611"/>
            <a:ext cx="1666500" cy="1666500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90"/>
          <p:cNvSpPr txBox="1"/>
          <p:nvPr/>
        </p:nvSpPr>
        <p:spPr>
          <a:xfrm>
            <a:off x="5885126" y="2095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90"/>
          <p:cNvSpPr/>
          <p:nvPr/>
        </p:nvSpPr>
        <p:spPr>
          <a:xfrm flipH="1" rot="3616151">
            <a:off x="4942606" y="1168514"/>
            <a:ext cx="1666580" cy="1666580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90"/>
          <p:cNvSpPr/>
          <p:nvPr/>
        </p:nvSpPr>
        <p:spPr>
          <a:xfrm flipH="1" rot="7179397">
            <a:off x="4942538" y="1168326"/>
            <a:ext cx="1666731" cy="1666731"/>
          </a:xfrm>
          <a:prstGeom prst="pie">
            <a:avLst>
              <a:gd fmla="val 12563709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90"/>
          <p:cNvSpPr txBox="1"/>
          <p:nvPr/>
        </p:nvSpPr>
        <p:spPr>
          <a:xfrm>
            <a:off x="5808926" y="128226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0"/>
          <p:cNvSpPr txBox="1"/>
          <p:nvPr/>
        </p:nvSpPr>
        <p:spPr>
          <a:xfrm>
            <a:off x="5753166" y="223198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0"/>
          <p:cNvSpPr/>
          <p:nvPr/>
        </p:nvSpPr>
        <p:spPr>
          <a:xfrm rot="-7167804">
            <a:off x="4942756" y="1168803"/>
            <a:ext cx="1666303" cy="1666303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90"/>
          <p:cNvSpPr/>
          <p:nvPr/>
        </p:nvSpPr>
        <p:spPr>
          <a:xfrm rot="10800000">
            <a:off x="4942859" y="1168906"/>
            <a:ext cx="1666200" cy="1666200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90"/>
          <p:cNvSpPr txBox="1"/>
          <p:nvPr/>
        </p:nvSpPr>
        <p:spPr>
          <a:xfrm>
            <a:off x="6004839" y="175172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90"/>
          <p:cNvSpPr txBox="1"/>
          <p:nvPr/>
        </p:nvSpPr>
        <p:spPr>
          <a:xfrm>
            <a:off x="5242839" y="225241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90"/>
          <p:cNvSpPr txBox="1"/>
          <p:nvPr/>
        </p:nvSpPr>
        <p:spPr>
          <a:xfrm>
            <a:off x="4970726" y="177478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9" name="Google Shape;1559;p90"/>
          <p:cNvGrpSpPr/>
          <p:nvPr/>
        </p:nvGrpSpPr>
        <p:grpSpPr>
          <a:xfrm>
            <a:off x="5727309" y="1219363"/>
            <a:ext cx="93900" cy="816939"/>
            <a:chOff x="996050" y="213293"/>
            <a:chExt cx="93900" cy="909732"/>
          </a:xfrm>
        </p:grpSpPr>
        <p:cxnSp>
          <p:nvCxnSpPr>
            <p:cNvPr id="1560" name="Google Shape;1560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61" name="Google Shape;1561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2" name="Google Shape;1562;p90"/>
          <p:cNvSpPr/>
          <p:nvPr/>
        </p:nvSpPr>
        <p:spPr>
          <a:xfrm>
            <a:off x="2530300" y="3175750"/>
            <a:ext cx="1309800" cy="13098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90"/>
          <p:cNvSpPr/>
          <p:nvPr/>
        </p:nvSpPr>
        <p:spPr>
          <a:xfrm flipH="1">
            <a:off x="2541639" y="3187149"/>
            <a:ext cx="1287000" cy="12870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90"/>
          <p:cNvSpPr/>
          <p:nvPr/>
        </p:nvSpPr>
        <p:spPr>
          <a:xfrm>
            <a:off x="2541699" y="3187149"/>
            <a:ext cx="1287000" cy="1287000"/>
          </a:xfrm>
          <a:prstGeom prst="pie">
            <a:avLst>
              <a:gd fmla="val 5387953" name="adj1"/>
              <a:gd fmla="val 16192626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90"/>
          <p:cNvSpPr txBox="1"/>
          <p:nvPr/>
        </p:nvSpPr>
        <p:spPr>
          <a:xfrm>
            <a:off x="2574925" y="366790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0"/>
          <p:cNvSpPr/>
          <p:nvPr/>
        </p:nvSpPr>
        <p:spPr>
          <a:xfrm flipH="1">
            <a:off x="2541639" y="3187149"/>
            <a:ext cx="1287000" cy="1287000"/>
          </a:xfrm>
          <a:prstGeom prst="pie">
            <a:avLst>
              <a:gd fmla="val 10825856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90"/>
          <p:cNvSpPr txBox="1"/>
          <p:nvPr/>
        </p:nvSpPr>
        <p:spPr>
          <a:xfrm>
            <a:off x="3193278" y="337367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0"/>
          <p:cNvSpPr txBox="1"/>
          <p:nvPr/>
        </p:nvSpPr>
        <p:spPr>
          <a:xfrm>
            <a:off x="3193275" y="390330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9" name="Google Shape;1569;p90"/>
          <p:cNvGrpSpPr/>
          <p:nvPr/>
        </p:nvGrpSpPr>
        <p:grpSpPr>
          <a:xfrm>
            <a:off x="3147612" y="3226344"/>
            <a:ext cx="72519" cy="630899"/>
            <a:chOff x="996050" y="213293"/>
            <a:chExt cx="93900" cy="909732"/>
          </a:xfrm>
        </p:grpSpPr>
        <p:cxnSp>
          <p:nvCxnSpPr>
            <p:cNvPr id="1570" name="Google Shape;1570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71" name="Google Shape;1571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2" name="Google Shape;1572;p90"/>
          <p:cNvSpPr/>
          <p:nvPr/>
        </p:nvSpPr>
        <p:spPr>
          <a:xfrm>
            <a:off x="6428058" y="2882511"/>
            <a:ext cx="1896000" cy="1896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90"/>
          <p:cNvSpPr txBox="1"/>
          <p:nvPr/>
        </p:nvSpPr>
        <p:spPr>
          <a:xfrm>
            <a:off x="6681163" y="3935833"/>
            <a:ext cx="63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90"/>
          <p:cNvSpPr/>
          <p:nvPr/>
        </p:nvSpPr>
        <p:spPr>
          <a:xfrm rot="3054825">
            <a:off x="6444740" y="2899042"/>
            <a:ext cx="1863314" cy="1863314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90"/>
          <p:cNvSpPr txBox="1"/>
          <p:nvPr/>
        </p:nvSpPr>
        <p:spPr>
          <a:xfrm>
            <a:off x="6681163" y="3169054"/>
            <a:ext cx="63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0"/>
          <p:cNvSpPr txBox="1"/>
          <p:nvPr/>
        </p:nvSpPr>
        <p:spPr>
          <a:xfrm>
            <a:off x="7498201" y="3935833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90"/>
          <p:cNvSpPr/>
          <p:nvPr/>
        </p:nvSpPr>
        <p:spPr>
          <a:xfrm rot="6175445">
            <a:off x="6444853" y="2899050"/>
            <a:ext cx="1863097" cy="1863097"/>
          </a:xfrm>
          <a:prstGeom prst="pie">
            <a:avLst>
              <a:gd fmla="val 13145506" name="adj1"/>
              <a:gd fmla="val 16225322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90"/>
          <p:cNvSpPr/>
          <p:nvPr/>
        </p:nvSpPr>
        <p:spPr>
          <a:xfrm rot="9204364">
            <a:off x="6444935" y="2899461"/>
            <a:ext cx="1863003" cy="1863003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90"/>
          <p:cNvSpPr/>
          <p:nvPr/>
        </p:nvSpPr>
        <p:spPr>
          <a:xfrm rot="-9367815">
            <a:off x="6444772" y="2899363"/>
            <a:ext cx="1863051" cy="1863051"/>
          </a:xfrm>
          <a:prstGeom prst="pie">
            <a:avLst>
              <a:gd fmla="val 13196772" name="adj1"/>
              <a:gd fmla="val 16225322" name="adj2"/>
            </a:avLst>
          </a:prstGeom>
          <a:solidFill>
            <a:schemeClr val="dk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90"/>
          <p:cNvSpPr/>
          <p:nvPr/>
        </p:nvSpPr>
        <p:spPr>
          <a:xfrm rot="-6354975">
            <a:off x="6444823" y="2899319"/>
            <a:ext cx="1863022" cy="1863022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90"/>
          <p:cNvSpPr/>
          <p:nvPr/>
        </p:nvSpPr>
        <p:spPr>
          <a:xfrm rot="-3302429">
            <a:off x="6444881" y="2899736"/>
            <a:ext cx="1862835" cy="1862835"/>
          </a:xfrm>
          <a:prstGeom prst="pie">
            <a:avLst>
              <a:gd fmla="val 13196772" name="adj1"/>
              <a:gd fmla="val 16289109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90"/>
          <p:cNvSpPr/>
          <p:nvPr/>
        </p:nvSpPr>
        <p:spPr>
          <a:xfrm rot="-191097">
            <a:off x="6444773" y="2899699"/>
            <a:ext cx="1862877" cy="1862877"/>
          </a:xfrm>
          <a:prstGeom prst="pie">
            <a:avLst>
              <a:gd fmla="val 13196772" name="adj1"/>
              <a:gd fmla="val 1642607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90"/>
          <p:cNvSpPr txBox="1"/>
          <p:nvPr/>
        </p:nvSpPr>
        <p:spPr>
          <a:xfrm>
            <a:off x="7712548" y="3482959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90"/>
          <p:cNvSpPr txBox="1"/>
          <p:nvPr/>
        </p:nvSpPr>
        <p:spPr>
          <a:xfrm>
            <a:off x="6561027" y="3977138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90"/>
          <p:cNvSpPr txBox="1"/>
          <p:nvPr/>
        </p:nvSpPr>
        <p:spPr>
          <a:xfrm>
            <a:off x="6771762" y="3090201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90"/>
          <p:cNvSpPr txBox="1"/>
          <p:nvPr/>
        </p:nvSpPr>
        <p:spPr>
          <a:xfrm>
            <a:off x="6513649" y="3486589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0"/>
          <p:cNvSpPr txBox="1"/>
          <p:nvPr/>
        </p:nvSpPr>
        <p:spPr>
          <a:xfrm>
            <a:off x="7401615" y="3105589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0"/>
          <p:cNvSpPr txBox="1"/>
          <p:nvPr/>
        </p:nvSpPr>
        <p:spPr>
          <a:xfrm>
            <a:off x="7643432" y="3948567"/>
            <a:ext cx="70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9" name="Google Shape;1589;p90"/>
          <p:cNvGrpSpPr/>
          <p:nvPr/>
        </p:nvGrpSpPr>
        <p:grpSpPr>
          <a:xfrm>
            <a:off x="7321770" y="2944995"/>
            <a:ext cx="104990" cy="913371"/>
            <a:chOff x="996050" y="213293"/>
            <a:chExt cx="93900" cy="909732"/>
          </a:xfrm>
        </p:grpSpPr>
        <p:cxnSp>
          <p:nvCxnSpPr>
            <p:cNvPr id="1590" name="Google Shape;1590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1" name="Google Shape;1591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2" name="Google Shape;1592;p90"/>
          <p:cNvSpPr txBox="1"/>
          <p:nvPr/>
        </p:nvSpPr>
        <p:spPr>
          <a:xfrm>
            <a:off x="7058081" y="4126591"/>
            <a:ext cx="8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spin again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3" name="Google Shape;159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8158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883" y="4144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90"/>
          <p:cNvSpPr txBox="1"/>
          <p:nvPr/>
        </p:nvSpPr>
        <p:spPr>
          <a:xfrm>
            <a:off x="988557" y="4138904"/>
            <a:ext cx="6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6" name="Google Shape;159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5921" y="43669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90"/>
          <p:cNvSpPr/>
          <p:nvPr/>
        </p:nvSpPr>
        <p:spPr>
          <a:xfrm>
            <a:off x="4318400" y="29826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90"/>
          <p:cNvSpPr/>
          <p:nvPr/>
        </p:nvSpPr>
        <p:spPr>
          <a:xfrm flipH="1">
            <a:off x="4333089" y="2997411"/>
            <a:ext cx="1666500" cy="1666500"/>
          </a:xfrm>
          <a:prstGeom prst="pie">
            <a:avLst>
              <a:gd fmla="val 8122935" name="adj1"/>
              <a:gd fmla="val 10824216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90"/>
          <p:cNvSpPr txBox="1"/>
          <p:nvPr/>
        </p:nvSpPr>
        <p:spPr>
          <a:xfrm>
            <a:off x="5411839" y="3800426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90"/>
          <p:cNvSpPr/>
          <p:nvPr/>
        </p:nvSpPr>
        <p:spPr>
          <a:xfrm>
            <a:off x="4333161" y="2997411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90"/>
          <p:cNvSpPr/>
          <p:nvPr/>
        </p:nvSpPr>
        <p:spPr>
          <a:xfrm flipH="1">
            <a:off x="4333089" y="2997411"/>
            <a:ext cx="1666500" cy="1666500"/>
          </a:xfrm>
          <a:prstGeom prst="pie">
            <a:avLst>
              <a:gd fmla="val 10838302" name="adj1"/>
              <a:gd fmla="val 16200000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90"/>
          <p:cNvSpPr txBox="1"/>
          <p:nvPr/>
        </p:nvSpPr>
        <p:spPr>
          <a:xfrm>
            <a:off x="5261729" y="328364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90"/>
          <p:cNvSpPr/>
          <p:nvPr/>
        </p:nvSpPr>
        <p:spPr>
          <a:xfrm>
            <a:off x="4333161" y="2997411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90"/>
          <p:cNvSpPr txBox="1"/>
          <p:nvPr/>
        </p:nvSpPr>
        <p:spPr>
          <a:xfrm>
            <a:off x="4676112" y="312397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0"/>
          <p:cNvSpPr/>
          <p:nvPr/>
        </p:nvSpPr>
        <p:spPr>
          <a:xfrm>
            <a:off x="4333161" y="2997411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90"/>
          <p:cNvSpPr txBox="1"/>
          <p:nvPr/>
        </p:nvSpPr>
        <p:spPr>
          <a:xfrm>
            <a:off x="4356051" y="37941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90"/>
          <p:cNvSpPr/>
          <p:nvPr/>
        </p:nvSpPr>
        <p:spPr>
          <a:xfrm flipH="1">
            <a:off x="4333089" y="2997411"/>
            <a:ext cx="1666500" cy="1666500"/>
          </a:xfrm>
          <a:prstGeom prst="pie">
            <a:avLst>
              <a:gd fmla="val 2722096" name="adj1"/>
              <a:gd fmla="val 8084426" name="adj2"/>
            </a:avLst>
          </a:prstGeom>
          <a:solidFill>
            <a:srgbClr val="59595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90"/>
          <p:cNvSpPr txBox="1"/>
          <p:nvPr/>
        </p:nvSpPr>
        <p:spPr>
          <a:xfrm>
            <a:off x="4901801" y="40771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9" name="Google Shape;1609;p90"/>
          <p:cNvGrpSpPr/>
          <p:nvPr/>
        </p:nvGrpSpPr>
        <p:grpSpPr>
          <a:xfrm>
            <a:off x="5117700" y="2997402"/>
            <a:ext cx="93900" cy="860333"/>
            <a:chOff x="996050" y="213293"/>
            <a:chExt cx="93900" cy="909732"/>
          </a:xfrm>
        </p:grpSpPr>
        <p:cxnSp>
          <p:nvCxnSpPr>
            <p:cNvPr id="1610" name="Google Shape;1610;p9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11" name="Google Shape;1611;p9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2" name="Google Shape;1612;p90"/>
          <p:cNvSpPr txBox="1"/>
          <p:nvPr/>
        </p:nvSpPr>
        <p:spPr>
          <a:xfrm>
            <a:off x="4368401" y="3419426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" name="Google Shape;161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81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9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possible outcomes</a:t>
            </a:r>
            <a:endParaRPr/>
          </a:p>
        </p:txBody>
      </p:sp>
      <p:sp>
        <p:nvSpPr>
          <p:cNvPr id="1619" name="Google Shape;1619;p9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when two outcomes are equally likely</a:t>
            </a:r>
            <a:endParaRPr/>
          </a:p>
        </p:txBody>
      </p:sp>
      <p:sp>
        <p:nvSpPr>
          <p:cNvPr id="1620" name="Google Shape;1620;p9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sp>
        <p:nvSpPr>
          <p:cNvPr id="1621" name="Google Shape;1621;p9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Equally likely outcomes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6" name="Google Shape;162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3299699" y="2397684"/>
            <a:ext cx="4742226" cy="1864623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92"/>
          <p:cNvSpPr txBox="1"/>
          <p:nvPr>
            <p:ph idx="1" type="body"/>
          </p:nvPr>
        </p:nvSpPr>
        <p:spPr>
          <a:xfrm>
            <a:off x="324000" y="759300"/>
            <a:ext cx="8237700" cy="12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charity raffle gives each person a number from 1 to 100. </a:t>
            </a:r>
            <a:br>
              <a:rPr lang="en-GB" sz="2000"/>
            </a:br>
            <a:r>
              <a:rPr lang="en-GB" sz="2000"/>
              <a:t>A number is then randomly picked from a box and the person with that number </a:t>
            </a:r>
            <a:r>
              <a:rPr lang="en-GB" sz="2000"/>
              <a:t>wins a prize.</a:t>
            </a:r>
            <a:endParaRPr sz="2000"/>
          </a:p>
        </p:txBody>
      </p:sp>
      <p:sp>
        <p:nvSpPr>
          <p:cNvPr id="1628" name="Google Shape;162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pic>
        <p:nvPicPr>
          <p:cNvPr id="1629" name="Google Shape;162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02476" y="1645099"/>
            <a:ext cx="599000" cy="7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92"/>
          <p:cNvSpPr txBox="1"/>
          <p:nvPr/>
        </p:nvSpPr>
        <p:spPr>
          <a:xfrm>
            <a:off x="74723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1" name="Google Shape;1631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6799" y="2586950"/>
            <a:ext cx="542826" cy="67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92"/>
          <p:cNvSpPr txBox="1"/>
          <p:nvPr/>
        </p:nvSpPr>
        <p:spPr>
          <a:xfrm>
            <a:off x="962883" y="324143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3" name="Google Shape;1633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67175" y="1975800"/>
            <a:ext cx="2695501" cy="67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4" name="Google Shape;1634;p92"/>
          <p:cNvSpPr txBox="1"/>
          <p:nvPr>
            <p:ph idx="1" type="body"/>
          </p:nvPr>
        </p:nvSpPr>
        <p:spPr>
          <a:xfrm>
            <a:off x="1680175" y="2109000"/>
            <a:ext cx="2482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I’ve got number 53.</a:t>
            </a:r>
            <a:endParaRPr sz="1800"/>
          </a:p>
        </p:txBody>
      </p:sp>
      <p:sp>
        <p:nvSpPr>
          <p:cNvPr id="1635" name="Google Shape;1635;p92"/>
          <p:cNvSpPr txBox="1"/>
          <p:nvPr>
            <p:ph idx="1" type="body"/>
          </p:nvPr>
        </p:nvSpPr>
        <p:spPr>
          <a:xfrm>
            <a:off x="3522000" y="2745501"/>
            <a:ext cx="4415100" cy="15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Oh no! I’ve got number 1</a:t>
            </a:r>
            <a:r>
              <a:rPr lang="en-GB" sz="1800"/>
              <a:t>. </a:t>
            </a:r>
            <a:br>
              <a:rPr lang="en-GB" sz="1800"/>
            </a:br>
            <a:r>
              <a:rPr lang="en-GB" sz="1800"/>
              <a:t>That’s never going to get picked!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Jun is more likely to win than me because he has a number in the middle.</a:t>
            </a:r>
            <a:endParaRPr sz="1800"/>
          </a:p>
        </p:txBody>
      </p:sp>
      <p:sp>
        <p:nvSpPr>
          <p:cNvPr id="1636" name="Google Shape;1636;p92"/>
          <p:cNvSpPr txBox="1"/>
          <p:nvPr>
            <p:ph idx="1" type="body"/>
          </p:nvPr>
        </p:nvSpPr>
        <p:spPr>
          <a:xfrm>
            <a:off x="334531" y="4078476"/>
            <a:ext cx="2776200" cy="3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is Laura wrong?</a:t>
            </a:r>
            <a:endParaRPr sz="2000"/>
          </a:p>
        </p:txBody>
      </p:sp>
      <p:sp>
        <p:nvSpPr>
          <p:cNvPr id="1637" name="Google Shape;1637;p92"/>
          <p:cNvSpPr txBox="1"/>
          <p:nvPr>
            <p:ph idx="1" type="body"/>
          </p:nvPr>
        </p:nvSpPr>
        <p:spPr>
          <a:xfrm>
            <a:off x="339650" y="4459475"/>
            <a:ext cx="8086200" cy="3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number is equally likely to be picked regardless of its size.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2" name="Google Shape;164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1114620" y="3297650"/>
            <a:ext cx="6910950" cy="14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pic>
        <p:nvPicPr>
          <p:cNvPr id="1644" name="Google Shape;164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165303" y="2393022"/>
            <a:ext cx="726025" cy="93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93"/>
          <p:cNvSpPr txBox="1"/>
          <p:nvPr>
            <p:ph idx="1" type="body"/>
          </p:nvPr>
        </p:nvSpPr>
        <p:spPr>
          <a:xfrm>
            <a:off x="1459375" y="3693475"/>
            <a:ext cx="6241800" cy="11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All the sectors are the same size and there is one sector for each letter.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So </a:t>
            </a:r>
            <a:r>
              <a:rPr lang="en-GB" sz="1800">
                <a:solidFill>
                  <a:schemeClr val="accent2"/>
                </a:solidFill>
              </a:rPr>
              <a:t>yes</a:t>
            </a:r>
            <a:r>
              <a:rPr lang="en-GB" sz="1800"/>
              <a:t>, the </a:t>
            </a:r>
            <a:r>
              <a:rPr b="1" lang="en-GB" sz="1800"/>
              <a:t>outcomes</a:t>
            </a:r>
            <a:r>
              <a:rPr lang="en-GB" sz="1800"/>
              <a:t> are equally likely to happen.</a:t>
            </a:r>
            <a:endParaRPr sz="1800"/>
          </a:p>
        </p:txBody>
      </p:sp>
      <p:sp>
        <p:nvSpPr>
          <p:cNvPr id="1646" name="Google Shape;1646;p93"/>
          <p:cNvSpPr txBox="1"/>
          <p:nvPr>
            <p:ph idx="1" type="body"/>
          </p:nvPr>
        </p:nvSpPr>
        <p:spPr>
          <a:xfrm>
            <a:off x="324000" y="759300"/>
            <a:ext cx="84960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Andeep is going to spin the spinner once. </a:t>
            </a:r>
            <a:br>
              <a:rPr lang="en-GB" sz="1900"/>
            </a:br>
            <a:r>
              <a:rPr lang="en-GB" sz="1900"/>
              <a:t>Are all the </a:t>
            </a:r>
            <a:r>
              <a:rPr b="1" lang="en-GB" sz="1900"/>
              <a:t>outcomes</a:t>
            </a:r>
            <a:r>
              <a:rPr lang="en-GB" sz="1900"/>
              <a:t> equally likely to happen?</a:t>
            </a:r>
            <a:endParaRPr sz="1900"/>
          </a:p>
        </p:txBody>
      </p:sp>
      <p:sp>
        <p:nvSpPr>
          <p:cNvPr id="1647" name="Google Shape;1647;p93"/>
          <p:cNvSpPr/>
          <p:nvPr/>
        </p:nvSpPr>
        <p:spPr>
          <a:xfrm>
            <a:off x="3708800" y="1687250"/>
            <a:ext cx="1695900" cy="1695900"/>
          </a:xfrm>
          <a:prstGeom prst="ellipse">
            <a:avLst/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93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93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93"/>
          <p:cNvSpPr txBox="1"/>
          <p:nvPr/>
        </p:nvSpPr>
        <p:spPr>
          <a:xfrm>
            <a:off x="4105275" y="2857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93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93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93"/>
          <p:cNvSpPr txBox="1"/>
          <p:nvPr/>
        </p:nvSpPr>
        <p:spPr>
          <a:xfrm>
            <a:off x="4651874" y="1817650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93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93"/>
          <p:cNvSpPr txBox="1"/>
          <p:nvPr/>
        </p:nvSpPr>
        <p:spPr>
          <a:xfrm>
            <a:off x="4160201" y="1810375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93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93"/>
          <p:cNvSpPr txBox="1"/>
          <p:nvPr/>
        </p:nvSpPr>
        <p:spPr>
          <a:xfrm>
            <a:off x="3822651" y="24987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93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93"/>
          <p:cNvSpPr txBox="1"/>
          <p:nvPr/>
        </p:nvSpPr>
        <p:spPr>
          <a:xfrm>
            <a:off x="3879586" y="21273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93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93"/>
          <p:cNvSpPr txBox="1"/>
          <p:nvPr/>
        </p:nvSpPr>
        <p:spPr>
          <a:xfrm>
            <a:off x="4597001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93"/>
          <p:cNvSpPr txBox="1"/>
          <p:nvPr/>
        </p:nvSpPr>
        <p:spPr>
          <a:xfrm>
            <a:off x="4881754" y="25272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93"/>
          <p:cNvSpPr txBox="1"/>
          <p:nvPr/>
        </p:nvSpPr>
        <p:spPr>
          <a:xfrm>
            <a:off x="4889525" y="21495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4" name="Google Shape;1664;p93"/>
          <p:cNvGrpSpPr/>
          <p:nvPr/>
        </p:nvGrpSpPr>
        <p:grpSpPr>
          <a:xfrm>
            <a:off x="4508109" y="1752763"/>
            <a:ext cx="93900" cy="816939"/>
            <a:chOff x="996050" y="213293"/>
            <a:chExt cx="93900" cy="909732"/>
          </a:xfrm>
        </p:grpSpPr>
        <p:cxnSp>
          <p:nvCxnSpPr>
            <p:cNvPr id="1665" name="Google Shape;1665;p93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6" name="Google Shape;1666;p93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7" name="Google Shape;1667;p93"/>
          <p:cNvSpPr txBox="1"/>
          <p:nvPr/>
        </p:nvSpPr>
        <p:spPr>
          <a:xfrm>
            <a:off x="5545800" y="2240400"/>
            <a:ext cx="31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{A, B, C, D, E, F, G, H}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3"/>
          <p:cNvSpPr txBox="1"/>
          <p:nvPr/>
        </p:nvSpPr>
        <p:spPr>
          <a:xfrm>
            <a:off x="5493050" y="18012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3" name="Google Shape;167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1114620" y="3297650"/>
            <a:ext cx="6910950" cy="14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sp>
        <p:nvSpPr>
          <p:cNvPr id="1675" name="Google Shape;1675;p94"/>
          <p:cNvSpPr/>
          <p:nvPr/>
        </p:nvSpPr>
        <p:spPr>
          <a:xfrm>
            <a:off x="3708800" y="1687250"/>
            <a:ext cx="1695900" cy="1695900"/>
          </a:xfrm>
          <a:prstGeom prst="ellipse">
            <a:avLst/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94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94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94"/>
          <p:cNvSpPr txBox="1"/>
          <p:nvPr/>
        </p:nvSpPr>
        <p:spPr>
          <a:xfrm>
            <a:off x="4105275" y="2857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94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94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94"/>
          <p:cNvSpPr txBox="1"/>
          <p:nvPr/>
        </p:nvSpPr>
        <p:spPr>
          <a:xfrm>
            <a:off x="4651874" y="1817650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94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94"/>
          <p:cNvSpPr txBox="1"/>
          <p:nvPr/>
        </p:nvSpPr>
        <p:spPr>
          <a:xfrm>
            <a:off x="4160201" y="1810375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94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94"/>
          <p:cNvSpPr txBox="1"/>
          <p:nvPr/>
        </p:nvSpPr>
        <p:spPr>
          <a:xfrm>
            <a:off x="3822651" y="24987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94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94"/>
          <p:cNvSpPr txBox="1"/>
          <p:nvPr/>
        </p:nvSpPr>
        <p:spPr>
          <a:xfrm>
            <a:off x="3879586" y="21273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94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94"/>
          <p:cNvSpPr txBox="1"/>
          <p:nvPr/>
        </p:nvSpPr>
        <p:spPr>
          <a:xfrm>
            <a:off x="4597001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94"/>
          <p:cNvSpPr txBox="1"/>
          <p:nvPr/>
        </p:nvSpPr>
        <p:spPr>
          <a:xfrm>
            <a:off x="4881754" y="25272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94"/>
          <p:cNvSpPr txBox="1"/>
          <p:nvPr/>
        </p:nvSpPr>
        <p:spPr>
          <a:xfrm>
            <a:off x="4889525" y="21495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2" name="Google Shape;1692;p94"/>
          <p:cNvGrpSpPr/>
          <p:nvPr/>
        </p:nvGrpSpPr>
        <p:grpSpPr>
          <a:xfrm>
            <a:off x="4508109" y="1752763"/>
            <a:ext cx="93900" cy="816939"/>
            <a:chOff x="996050" y="213293"/>
            <a:chExt cx="93900" cy="909732"/>
          </a:xfrm>
        </p:grpSpPr>
        <p:cxnSp>
          <p:nvCxnSpPr>
            <p:cNvPr id="1693" name="Google Shape;1693;p9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4" name="Google Shape;1694;p9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95" name="Google Shape;169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165303" y="2393022"/>
            <a:ext cx="726025" cy="93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94"/>
          <p:cNvSpPr txBox="1"/>
          <p:nvPr>
            <p:ph idx="1" type="body"/>
          </p:nvPr>
        </p:nvSpPr>
        <p:spPr>
          <a:xfrm>
            <a:off x="1459375" y="3693475"/>
            <a:ext cx="6353100" cy="11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All the sectors are the same size and there are two sectors for each letter.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So </a:t>
            </a:r>
            <a:r>
              <a:rPr lang="en-GB" sz="1800">
                <a:solidFill>
                  <a:schemeClr val="accent2"/>
                </a:solidFill>
              </a:rPr>
              <a:t>yes</a:t>
            </a:r>
            <a:r>
              <a:rPr lang="en-GB" sz="1800"/>
              <a:t>, the </a:t>
            </a:r>
            <a:r>
              <a:rPr b="1" lang="en-GB" sz="1800"/>
              <a:t>outcomes</a:t>
            </a:r>
            <a:r>
              <a:rPr lang="en-GB" sz="1800"/>
              <a:t> are equally likely to happen.</a:t>
            </a:r>
            <a:endParaRPr sz="1800"/>
          </a:p>
        </p:txBody>
      </p:sp>
      <p:sp>
        <p:nvSpPr>
          <p:cNvPr id="1697" name="Google Shape;1697;p94"/>
          <p:cNvSpPr txBox="1"/>
          <p:nvPr/>
        </p:nvSpPr>
        <p:spPr>
          <a:xfrm>
            <a:off x="5622000" y="2240400"/>
            <a:ext cx="31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4"/>
          <p:cNvSpPr txBox="1"/>
          <p:nvPr/>
        </p:nvSpPr>
        <p:spPr>
          <a:xfrm>
            <a:off x="5569250" y="18012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94"/>
          <p:cNvSpPr txBox="1"/>
          <p:nvPr>
            <p:ph idx="1" type="body"/>
          </p:nvPr>
        </p:nvSpPr>
        <p:spPr>
          <a:xfrm>
            <a:off x="324000" y="759300"/>
            <a:ext cx="84960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Andeep is going to spin the spinner once. </a:t>
            </a:r>
            <a:br>
              <a:rPr lang="en-GB" sz="1900"/>
            </a:br>
            <a:r>
              <a:rPr lang="en-GB" sz="1900"/>
              <a:t>Are all the </a:t>
            </a:r>
            <a:r>
              <a:rPr b="1" lang="en-GB" sz="1900"/>
              <a:t>outcomes</a:t>
            </a:r>
            <a:r>
              <a:rPr lang="en-GB" sz="1900"/>
              <a:t> equally likely to happen?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4" name="Google Shape;170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1114620" y="3297650"/>
            <a:ext cx="6910950" cy="14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sp>
        <p:nvSpPr>
          <p:cNvPr id="1706" name="Google Shape;1706;p95"/>
          <p:cNvSpPr/>
          <p:nvPr/>
        </p:nvSpPr>
        <p:spPr>
          <a:xfrm>
            <a:off x="3708800" y="1687250"/>
            <a:ext cx="1695900" cy="1695900"/>
          </a:xfrm>
          <a:prstGeom prst="ellipse">
            <a:avLst/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95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95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95"/>
          <p:cNvSpPr txBox="1"/>
          <p:nvPr/>
        </p:nvSpPr>
        <p:spPr>
          <a:xfrm>
            <a:off x="4105275" y="2857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95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95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95"/>
          <p:cNvSpPr txBox="1"/>
          <p:nvPr/>
        </p:nvSpPr>
        <p:spPr>
          <a:xfrm>
            <a:off x="4651874" y="1817650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5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95"/>
          <p:cNvSpPr txBox="1"/>
          <p:nvPr/>
        </p:nvSpPr>
        <p:spPr>
          <a:xfrm>
            <a:off x="4160201" y="1810375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95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95"/>
          <p:cNvSpPr txBox="1"/>
          <p:nvPr/>
        </p:nvSpPr>
        <p:spPr>
          <a:xfrm>
            <a:off x="3822651" y="249872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95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95"/>
          <p:cNvSpPr txBox="1"/>
          <p:nvPr/>
        </p:nvSpPr>
        <p:spPr>
          <a:xfrm>
            <a:off x="3879586" y="21273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95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95"/>
          <p:cNvSpPr txBox="1"/>
          <p:nvPr/>
        </p:nvSpPr>
        <p:spPr>
          <a:xfrm>
            <a:off x="4597001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95"/>
          <p:cNvSpPr txBox="1"/>
          <p:nvPr/>
        </p:nvSpPr>
        <p:spPr>
          <a:xfrm>
            <a:off x="4881754" y="25272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5"/>
          <p:cNvSpPr txBox="1"/>
          <p:nvPr/>
        </p:nvSpPr>
        <p:spPr>
          <a:xfrm>
            <a:off x="4889525" y="214958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3" name="Google Shape;1723;p95"/>
          <p:cNvGrpSpPr/>
          <p:nvPr/>
        </p:nvGrpSpPr>
        <p:grpSpPr>
          <a:xfrm>
            <a:off x="4508109" y="1752763"/>
            <a:ext cx="93900" cy="816939"/>
            <a:chOff x="996050" y="213293"/>
            <a:chExt cx="93900" cy="909732"/>
          </a:xfrm>
        </p:grpSpPr>
        <p:cxnSp>
          <p:nvCxnSpPr>
            <p:cNvPr id="1724" name="Google Shape;1724;p9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5" name="Google Shape;1725;p9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26" name="Google Shape;172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165303" y="2393022"/>
            <a:ext cx="726025" cy="93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95"/>
          <p:cNvSpPr txBox="1"/>
          <p:nvPr>
            <p:ph idx="1" type="body"/>
          </p:nvPr>
        </p:nvSpPr>
        <p:spPr>
          <a:xfrm>
            <a:off x="1459375" y="3693475"/>
            <a:ext cx="6629100" cy="11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All the sectors are the same size. There are fewer sectors with the letter C than with A or B.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</a:t>
            </a:r>
            <a:r>
              <a:rPr lang="en-GB" sz="1800">
                <a:solidFill>
                  <a:schemeClr val="accent2"/>
                </a:solidFill>
              </a:rPr>
              <a:t>no</a:t>
            </a:r>
            <a:r>
              <a:rPr lang="en-GB" sz="1800"/>
              <a:t>, the </a:t>
            </a:r>
            <a:r>
              <a:rPr b="1" lang="en-GB" sz="1800"/>
              <a:t>outcomes</a:t>
            </a:r>
            <a:r>
              <a:rPr lang="en-GB" sz="1800"/>
              <a:t> are not equally likely to happen.</a:t>
            </a:r>
            <a:endParaRPr sz="1800"/>
          </a:p>
        </p:txBody>
      </p:sp>
      <p:sp>
        <p:nvSpPr>
          <p:cNvPr id="1728" name="Google Shape;1728;p95"/>
          <p:cNvSpPr txBox="1"/>
          <p:nvPr/>
        </p:nvSpPr>
        <p:spPr>
          <a:xfrm>
            <a:off x="5622000" y="2240400"/>
            <a:ext cx="31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{A, B, C}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5"/>
          <p:cNvSpPr txBox="1"/>
          <p:nvPr/>
        </p:nvSpPr>
        <p:spPr>
          <a:xfrm>
            <a:off x="5569250" y="18012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5"/>
          <p:cNvSpPr txBox="1"/>
          <p:nvPr>
            <p:ph idx="1" type="body"/>
          </p:nvPr>
        </p:nvSpPr>
        <p:spPr>
          <a:xfrm>
            <a:off x="324000" y="759300"/>
            <a:ext cx="84960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Andeep is going to spin the spinner once. </a:t>
            </a:r>
            <a:br>
              <a:rPr lang="en-GB" sz="1900"/>
            </a:br>
            <a:r>
              <a:rPr lang="en-GB" sz="1900"/>
              <a:t>Are all the </a:t>
            </a:r>
            <a:r>
              <a:rPr b="1" lang="en-GB" sz="1900"/>
              <a:t>outcomes</a:t>
            </a:r>
            <a:r>
              <a:rPr lang="en-GB" sz="1900"/>
              <a:t> equally likely to happen?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96"/>
          <p:cNvSpPr/>
          <p:nvPr/>
        </p:nvSpPr>
        <p:spPr>
          <a:xfrm>
            <a:off x="3708800" y="1687250"/>
            <a:ext cx="1695900" cy="1695900"/>
          </a:xfrm>
          <a:prstGeom prst="ellipse">
            <a:avLst/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96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16216728" name="adj1"/>
              <a:gd fmla="val 21582940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96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10765400" name="adj1"/>
              <a:gd fmla="val 16150385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8" name="Google Shape;173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1114620" y="3297650"/>
            <a:ext cx="6910950" cy="14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sp>
        <p:nvSpPr>
          <p:cNvPr id="1740" name="Google Shape;1740;p96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96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5387953" name="adj1"/>
              <a:gd fmla="val 10780125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96"/>
          <p:cNvSpPr/>
          <p:nvPr/>
        </p:nvSpPr>
        <p:spPr>
          <a:xfrm>
            <a:off x="3723561" y="1702011"/>
            <a:ext cx="1666500" cy="1666500"/>
          </a:xfrm>
          <a:prstGeom prst="pie">
            <a:avLst>
              <a:gd fmla="val 10799941" name="adj1"/>
              <a:gd fmla="val 16210797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96"/>
          <p:cNvSpPr txBox="1"/>
          <p:nvPr/>
        </p:nvSpPr>
        <p:spPr>
          <a:xfrm>
            <a:off x="4728074" y="1970050"/>
            <a:ext cx="4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6"/>
          <p:cNvSpPr txBox="1"/>
          <p:nvPr/>
        </p:nvSpPr>
        <p:spPr>
          <a:xfrm>
            <a:off x="3980851" y="264965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6"/>
          <p:cNvSpPr txBox="1"/>
          <p:nvPr/>
        </p:nvSpPr>
        <p:spPr>
          <a:xfrm>
            <a:off x="4031986" y="19749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96"/>
          <p:cNvSpPr/>
          <p:nvPr/>
        </p:nvSpPr>
        <p:spPr>
          <a:xfrm flipH="1">
            <a:off x="3723489" y="1702011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96"/>
          <p:cNvSpPr txBox="1"/>
          <p:nvPr/>
        </p:nvSpPr>
        <p:spPr>
          <a:xfrm>
            <a:off x="4597001" y="2857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96"/>
          <p:cNvSpPr txBox="1"/>
          <p:nvPr/>
        </p:nvSpPr>
        <p:spPr>
          <a:xfrm>
            <a:off x="4881754" y="252722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9" name="Google Shape;1749;p96"/>
          <p:cNvGrpSpPr/>
          <p:nvPr/>
        </p:nvGrpSpPr>
        <p:grpSpPr>
          <a:xfrm>
            <a:off x="4508109" y="1752763"/>
            <a:ext cx="93900" cy="816939"/>
            <a:chOff x="996050" y="213293"/>
            <a:chExt cx="93900" cy="909732"/>
          </a:xfrm>
        </p:grpSpPr>
        <p:cxnSp>
          <p:nvCxnSpPr>
            <p:cNvPr id="1750" name="Google Shape;1750;p96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51" name="Google Shape;1751;p9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52" name="Google Shape;175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165303" y="2393022"/>
            <a:ext cx="726025" cy="936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96"/>
          <p:cNvSpPr txBox="1"/>
          <p:nvPr>
            <p:ph idx="1" type="body"/>
          </p:nvPr>
        </p:nvSpPr>
        <p:spPr>
          <a:xfrm>
            <a:off x="1277475" y="3693475"/>
            <a:ext cx="6810900" cy="11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more sectors with B than the other letters, but the sectors for B are smaller. Each large sector is the same size as two small sectors. So </a:t>
            </a:r>
            <a:r>
              <a:rPr lang="en-GB" sz="1800">
                <a:solidFill>
                  <a:schemeClr val="accent2"/>
                </a:solidFill>
              </a:rPr>
              <a:t>yes</a:t>
            </a:r>
            <a:r>
              <a:rPr lang="en-GB" sz="1800"/>
              <a:t>, the </a:t>
            </a:r>
            <a:r>
              <a:rPr b="1" lang="en-GB" sz="1800"/>
              <a:t>outcomes</a:t>
            </a:r>
            <a:r>
              <a:rPr lang="en-GB" sz="1800"/>
              <a:t> are </a:t>
            </a:r>
            <a:r>
              <a:rPr lang="en-GB" sz="1800"/>
              <a:t>equally</a:t>
            </a:r>
            <a:r>
              <a:rPr lang="en-GB" sz="1800"/>
              <a:t> likely.</a:t>
            </a:r>
            <a:endParaRPr sz="1800"/>
          </a:p>
        </p:txBody>
      </p:sp>
      <p:sp>
        <p:nvSpPr>
          <p:cNvPr id="1754" name="Google Shape;1754;p96"/>
          <p:cNvSpPr txBox="1"/>
          <p:nvPr/>
        </p:nvSpPr>
        <p:spPr>
          <a:xfrm>
            <a:off x="5622000" y="2240400"/>
            <a:ext cx="31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{A, B, C, D}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6"/>
          <p:cNvSpPr txBox="1"/>
          <p:nvPr/>
        </p:nvSpPr>
        <p:spPr>
          <a:xfrm>
            <a:off x="5569250" y="1801200"/>
            <a:ext cx="34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spin of the spinner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96"/>
          <p:cNvSpPr txBox="1"/>
          <p:nvPr>
            <p:ph idx="1" type="body"/>
          </p:nvPr>
        </p:nvSpPr>
        <p:spPr>
          <a:xfrm>
            <a:off x="324000" y="759300"/>
            <a:ext cx="84960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Andeep is going to spin the spinner once. </a:t>
            </a:r>
            <a:br>
              <a:rPr lang="en-GB" sz="1900"/>
            </a:br>
            <a:r>
              <a:rPr lang="en-GB" sz="1900"/>
              <a:t>Are all the </a:t>
            </a:r>
            <a:r>
              <a:rPr b="1" lang="en-GB" sz="1900"/>
              <a:t>outcomes</a:t>
            </a:r>
            <a:r>
              <a:rPr lang="en-GB" sz="1900"/>
              <a:t> equally likely to happen?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97"/>
          <p:cNvSpPr txBox="1"/>
          <p:nvPr>
            <p:ph idx="1" type="subTitle"/>
          </p:nvPr>
        </p:nvSpPr>
        <p:spPr>
          <a:xfrm>
            <a:off x="324000" y="1080000"/>
            <a:ext cx="56298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different </a:t>
            </a:r>
            <a:r>
              <a:rPr b="1" lang="en-GB" sz="2000"/>
              <a:t>outcomes</a:t>
            </a:r>
            <a:r>
              <a:rPr lang="en-GB" sz="2000"/>
              <a:t> for this spinner are equally likely to happen.</a:t>
            </a:r>
            <a:endParaRPr sz="2000"/>
          </a:p>
        </p:txBody>
      </p:sp>
      <p:sp>
        <p:nvSpPr>
          <p:cNvPr id="1762" name="Google Shape;176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sp>
        <p:nvSpPr>
          <p:cNvPr id="1763" name="Google Shape;1763;p97"/>
          <p:cNvSpPr txBox="1"/>
          <p:nvPr>
            <p:ph idx="2" type="subTitle"/>
          </p:nvPr>
        </p:nvSpPr>
        <p:spPr>
          <a:xfrm>
            <a:off x="980575" y="3101412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sectors are all the same size and there is the same number of sectors for each letter.</a:t>
            </a:r>
            <a:endParaRPr sz="2000"/>
          </a:p>
        </p:txBody>
      </p:sp>
      <p:sp>
        <p:nvSpPr>
          <p:cNvPr id="1764" name="Google Shape;1764;p97"/>
          <p:cNvSpPr txBox="1"/>
          <p:nvPr>
            <p:ph idx="3" type="subTitle"/>
          </p:nvPr>
        </p:nvSpPr>
        <p:spPr>
          <a:xfrm>
            <a:off x="980575" y="41165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 letters are more difficult to get on the spinner than others.</a:t>
            </a:r>
            <a:endParaRPr sz="2000"/>
          </a:p>
        </p:txBody>
      </p:sp>
      <p:sp>
        <p:nvSpPr>
          <p:cNvPr id="1765" name="Google Shape;1765;p97"/>
          <p:cNvSpPr/>
          <p:nvPr/>
        </p:nvSpPr>
        <p:spPr>
          <a:xfrm>
            <a:off x="6756800" y="9252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97"/>
          <p:cNvSpPr/>
          <p:nvPr/>
        </p:nvSpPr>
        <p:spPr>
          <a:xfrm rot="8649824">
            <a:off x="6771695" y="940161"/>
            <a:ext cx="1666351" cy="1666351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97"/>
          <p:cNvSpPr/>
          <p:nvPr/>
        </p:nvSpPr>
        <p:spPr>
          <a:xfrm rot="-8629029">
            <a:off x="6771796" y="940263"/>
            <a:ext cx="1666260" cy="166626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97"/>
          <p:cNvSpPr/>
          <p:nvPr/>
        </p:nvSpPr>
        <p:spPr>
          <a:xfrm rot="-4309758">
            <a:off x="6771841" y="940427"/>
            <a:ext cx="1666190" cy="166619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97"/>
          <p:cNvSpPr/>
          <p:nvPr/>
        </p:nvSpPr>
        <p:spPr>
          <a:xfrm>
            <a:off x="6771841" y="940427"/>
            <a:ext cx="1666200" cy="1666200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BEF2B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97"/>
          <p:cNvSpPr txBox="1"/>
          <p:nvPr/>
        </p:nvSpPr>
        <p:spPr>
          <a:xfrm>
            <a:off x="7458075" y="2095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97"/>
          <p:cNvSpPr/>
          <p:nvPr/>
        </p:nvSpPr>
        <p:spPr>
          <a:xfrm rot="4312496">
            <a:off x="6771674" y="940006"/>
            <a:ext cx="1666387" cy="1666387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97"/>
          <p:cNvSpPr txBox="1"/>
          <p:nvPr/>
        </p:nvSpPr>
        <p:spPr>
          <a:xfrm>
            <a:off x="7135575" y="11053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97"/>
          <p:cNvSpPr txBox="1"/>
          <p:nvPr/>
        </p:nvSpPr>
        <p:spPr>
          <a:xfrm>
            <a:off x="7790126" y="1105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97"/>
          <p:cNvSpPr txBox="1"/>
          <p:nvPr/>
        </p:nvSpPr>
        <p:spPr>
          <a:xfrm>
            <a:off x="7866326" y="1714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97"/>
          <p:cNvSpPr txBox="1"/>
          <p:nvPr/>
        </p:nvSpPr>
        <p:spPr>
          <a:xfrm>
            <a:off x="6906975" y="1714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6" name="Google Shape;1776;p97"/>
          <p:cNvGrpSpPr/>
          <p:nvPr/>
        </p:nvGrpSpPr>
        <p:grpSpPr>
          <a:xfrm>
            <a:off x="7556109" y="981142"/>
            <a:ext cx="93900" cy="816939"/>
            <a:chOff x="996050" y="213293"/>
            <a:chExt cx="93900" cy="909732"/>
          </a:xfrm>
        </p:grpSpPr>
        <p:cxnSp>
          <p:nvCxnSpPr>
            <p:cNvPr id="1777" name="Google Shape;1777;p97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78" name="Google Shape;1778;p97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79" name="Google Shape;177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908" y="18581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508" y="341312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98"/>
          <p:cNvSpPr txBox="1"/>
          <p:nvPr>
            <p:ph idx="1" type="subTitle"/>
          </p:nvPr>
        </p:nvSpPr>
        <p:spPr>
          <a:xfrm>
            <a:off x="324000" y="1080000"/>
            <a:ext cx="56298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different </a:t>
            </a:r>
            <a:r>
              <a:rPr b="1" lang="en-GB" sz="2000"/>
              <a:t>outcomes</a:t>
            </a:r>
            <a:r>
              <a:rPr lang="en-GB" sz="2000"/>
              <a:t> for this spinner are equally likely to happen.</a:t>
            </a:r>
            <a:endParaRPr sz="2000"/>
          </a:p>
        </p:txBody>
      </p:sp>
      <p:sp>
        <p:nvSpPr>
          <p:cNvPr id="1786" name="Google Shape;178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more than two equally likely outcomes</a:t>
            </a:r>
            <a:endParaRPr/>
          </a:p>
        </p:txBody>
      </p:sp>
      <p:sp>
        <p:nvSpPr>
          <p:cNvPr id="1787" name="Google Shape;1787;p98"/>
          <p:cNvSpPr txBox="1"/>
          <p:nvPr>
            <p:ph idx="2" type="subTitle"/>
          </p:nvPr>
        </p:nvSpPr>
        <p:spPr>
          <a:xfrm>
            <a:off x="980575" y="3101412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Even though one sector is bigger than the others, there is the same amount of space on the spinner for each letter.</a:t>
            </a:r>
            <a:endParaRPr sz="2000"/>
          </a:p>
        </p:txBody>
      </p:sp>
      <p:sp>
        <p:nvSpPr>
          <p:cNvPr id="1788" name="Google Shape;1788;p98"/>
          <p:cNvSpPr txBox="1"/>
          <p:nvPr>
            <p:ph idx="3" type="subTitle"/>
          </p:nvPr>
        </p:nvSpPr>
        <p:spPr>
          <a:xfrm>
            <a:off x="980575" y="41165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 letters are more difficult to get on the spinner than others.</a:t>
            </a:r>
            <a:endParaRPr sz="2000"/>
          </a:p>
        </p:txBody>
      </p:sp>
      <p:pic>
        <p:nvPicPr>
          <p:cNvPr id="1789" name="Google Shape;178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908" y="18581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6708" y="3333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98"/>
          <p:cNvSpPr/>
          <p:nvPr/>
        </p:nvSpPr>
        <p:spPr>
          <a:xfrm rot="-3572318">
            <a:off x="6771547" y="940080"/>
            <a:ext cx="1666413" cy="1666413"/>
          </a:xfrm>
          <a:prstGeom prst="pie">
            <a:avLst>
              <a:gd fmla="val 16218657" name="adj1"/>
              <a:gd fmla="val 19793024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98"/>
          <p:cNvSpPr/>
          <p:nvPr/>
        </p:nvSpPr>
        <p:spPr>
          <a:xfrm>
            <a:off x="6756800" y="9252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98"/>
          <p:cNvSpPr txBox="1"/>
          <p:nvPr/>
        </p:nvSpPr>
        <p:spPr>
          <a:xfrm>
            <a:off x="6983175" y="1867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98"/>
          <p:cNvSpPr txBox="1"/>
          <p:nvPr/>
        </p:nvSpPr>
        <p:spPr>
          <a:xfrm>
            <a:off x="7224045" y="1065925"/>
            <a:ext cx="34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98"/>
          <p:cNvSpPr/>
          <p:nvPr/>
        </p:nvSpPr>
        <p:spPr>
          <a:xfrm flipH="1">
            <a:off x="6771489" y="940011"/>
            <a:ext cx="1666500" cy="1666500"/>
          </a:xfrm>
          <a:prstGeom prst="pie">
            <a:avLst>
              <a:gd fmla="val 9064986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98"/>
          <p:cNvSpPr/>
          <p:nvPr/>
        </p:nvSpPr>
        <p:spPr>
          <a:xfrm flipH="1" rot="7179397">
            <a:off x="6771338" y="939726"/>
            <a:ext cx="1666731" cy="1666731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98"/>
          <p:cNvSpPr txBox="1"/>
          <p:nvPr/>
        </p:nvSpPr>
        <p:spPr>
          <a:xfrm>
            <a:off x="7866326" y="1358460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98"/>
          <p:cNvSpPr/>
          <p:nvPr/>
        </p:nvSpPr>
        <p:spPr>
          <a:xfrm rot="-7167804">
            <a:off x="6771556" y="940203"/>
            <a:ext cx="1666303" cy="1666303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98"/>
          <p:cNvSpPr/>
          <p:nvPr/>
        </p:nvSpPr>
        <p:spPr>
          <a:xfrm rot="10800000">
            <a:off x="6771659" y="940306"/>
            <a:ext cx="1666200" cy="16662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98"/>
          <p:cNvSpPr txBox="1"/>
          <p:nvPr/>
        </p:nvSpPr>
        <p:spPr>
          <a:xfrm>
            <a:off x="6995439" y="1523121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98"/>
          <p:cNvSpPr txBox="1"/>
          <p:nvPr/>
        </p:nvSpPr>
        <p:spPr>
          <a:xfrm>
            <a:off x="7224039" y="2023817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2" name="Google Shape;1802;p98"/>
          <p:cNvGrpSpPr/>
          <p:nvPr/>
        </p:nvGrpSpPr>
        <p:grpSpPr>
          <a:xfrm>
            <a:off x="7556109" y="990763"/>
            <a:ext cx="93900" cy="816939"/>
            <a:chOff x="996050" y="213293"/>
            <a:chExt cx="93900" cy="909732"/>
          </a:xfrm>
        </p:grpSpPr>
        <p:cxnSp>
          <p:nvCxnSpPr>
            <p:cNvPr id="1803" name="Google Shape;1803;p9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04" name="Google Shape;1804;p9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5" name="Google Shape;1805;p98"/>
          <p:cNvSpPr txBox="1"/>
          <p:nvPr/>
        </p:nvSpPr>
        <p:spPr>
          <a:xfrm>
            <a:off x="7713926" y="1982827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99"/>
          <p:cNvSpPr/>
          <p:nvPr/>
        </p:nvSpPr>
        <p:spPr>
          <a:xfrm>
            <a:off x="5853836" y="3420713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1" name="Google Shape;1811;p99"/>
          <p:cNvCxnSpPr>
            <a:stCxn id="1810" idx="0"/>
          </p:cNvCxnSpPr>
          <p:nvPr/>
        </p:nvCxnSpPr>
        <p:spPr>
          <a:xfrm flipH="1">
            <a:off x="6519686" y="3420713"/>
            <a:ext cx="1500" cy="132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2" name="Google Shape;1812;p99"/>
          <p:cNvSpPr/>
          <p:nvPr/>
        </p:nvSpPr>
        <p:spPr>
          <a:xfrm>
            <a:off x="3110636" y="1439513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99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Complete the spinners to make the </a:t>
            </a:r>
            <a:r>
              <a:rPr b="1" lang="en-GB" sz="1600"/>
              <a:t>outcomes</a:t>
            </a:r>
            <a:r>
              <a:rPr lang="en-GB" sz="1600"/>
              <a:t> equally likely to happen.</a:t>
            </a:r>
            <a:endParaRPr sz="1600"/>
          </a:p>
        </p:txBody>
      </p:sp>
      <p:sp>
        <p:nvSpPr>
          <p:cNvPr id="1814" name="Google Shape;1814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more than two equally likely outcomes</a:t>
            </a:r>
            <a:r>
              <a:rPr b="1" lang="en-GB"/>
              <a:t> </a:t>
            </a:r>
            <a:endParaRPr/>
          </a:p>
        </p:txBody>
      </p:sp>
      <p:sp>
        <p:nvSpPr>
          <p:cNvPr id="1815" name="Google Shape;1815;p99"/>
          <p:cNvSpPr/>
          <p:nvPr/>
        </p:nvSpPr>
        <p:spPr>
          <a:xfrm rot="-3573064">
            <a:off x="3122149" y="1451133"/>
            <a:ext cx="1311245" cy="1311245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99"/>
          <p:cNvSpPr/>
          <p:nvPr/>
        </p:nvSpPr>
        <p:spPr>
          <a:xfrm>
            <a:off x="430318" y="1512155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99"/>
          <p:cNvSpPr/>
          <p:nvPr/>
        </p:nvSpPr>
        <p:spPr>
          <a:xfrm flipH="1">
            <a:off x="441521" y="1523772"/>
            <a:ext cx="1311900" cy="1311900"/>
          </a:xfrm>
          <a:prstGeom prst="pie">
            <a:avLst>
              <a:gd fmla="val 5387953" name="adj1"/>
              <a:gd fmla="val 1082421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99"/>
          <p:cNvSpPr/>
          <p:nvPr/>
        </p:nvSpPr>
        <p:spPr>
          <a:xfrm>
            <a:off x="441935" y="1523772"/>
            <a:ext cx="1311900" cy="1311900"/>
          </a:xfrm>
          <a:prstGeom prst="pie">
            <a:avLst>
              <a:gd fmla="val 5387953" name="adj1"/>
              <a:gd fmla="val 1085822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99"/>
          <p:cNvSpPr/>
          <p:nvPr/>
        </p:nvSpPr>
        <p:spPr>
          <a:xfrm>
            <a:off x="441935" y="1523772"/>
            <a:ext cx="1311900" cy="1311900"/>
          </a:xfrm>
          <a:prstGeom prst="pie">
            <a:avLst>
              <a:gd fmla="val 10799941" name="adj1"/>
              <a:gd fmla="val 16225322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99"/>
          <p:cNvSpPr/>
          <p:nvPr/>
        </p:nvSpPr>
        <p:spPr>
          <a:xfrm flipH="1">
            <a:off x="441521" y="1523772"/>
            <a:ext cx="1311900" cy="1311900"/>
          </a:xfrm>
          <a:prstGeom prst="pie">
            <a:avLst>
              <a:gd fmla="val 1082585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99"/>
          <p:cNvSpPr/>
          <p:nvPr/>
        </p:nvSpPr>
        <p:spPr>
          <a:xfrm>
            <a:off x="5863596" y="1439513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99"/>
          <p:cNvSpPr/>
          <p:nvPr/>
        </p:nvSpPr>
        <p:spPr>
          <a:xfrm flipH="1">
            <a:off x="5874799" y="1451130"/>
            <a:ext cx="1311900" cy="1311900"/>
          </a:xfrm>
          <a:prstGeom prst="pie">
            <a:avLst>
              <a:gd fmla="val 5387953" name="adj1"/>
              <a:gd fmla="val 1082421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99"/>
          <p:cNvSpPr/>
          <p:nvPr/>
        </p:nvSpPr>
        <p:spPr>
          <a:xfrm>
            <a:off x="5875213" y="1451130"/>
            <a:ext cx="1311900" cy="1311900"/>
          </a:xfrm>
          <a:prstGeom prst="pie">
            <a:avLst>
              <a:gd fmla="val 5387953" name="adj1"/>
              <a:gd fmla="val 8080958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99"/>
          <p:cNvSpPr/>
          <p:nvPr/>
        </p:nvSpPr>
        <p:spPr>
          <a:xfrm>
            <a:off x="5875213" y="1451130"/>
            <a:ext cx="1311900" cy="1311900"/>
          </a:xfrm>
          <a:prstGeom prst="pie">
            <a:avLst>
              <a:gd fmla="val 10799941" name="adj1"/>
              <a:gd fmla="val 1348387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99"/>
          <p:cNvSpPr/>
          <p:nvPr/>
        </p:nvSpPr>
        <p:spPr>
          <a:xfrm flipH="1">
            <a:off x="5874799" y="1451130"/>
            <a:ext cx="1311900" cy="1311900"/>
          </a:xfrm>
          <a:prstGeom prst="pie">
            <a:avLst>
              <a:gd fmla="val 13450827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99"/>
          <p:cNvSpPr/>
          <p:nvPr/>
        </p:nvSpPr>
        <p:spPr>
          <a:xfrm>
            <a:off x="5875213" y="1451130"/>
            <a:ext cx="1311900" cy="1311900"/>
          </a:xfrm>
          <a:prstGeom prst="pie">
            <a:avLst>
              <a:gd fmla="val 13499013" name="adj1"/>
              <a:gd fmla="val 16232488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99"/>
          <p:cNvSpPr/>
          <p:nvPr/>
        </p:nvSpPr>
        <p:spPr>
          <a:xfrm>
            <a:off x="5875213" y="1451130"/>
            <a:ext cx="1311900" cy="1311900"/>
          </a:xfrm>
          <a:prstGeom prst="pie">
            <a:avLst>
              <a:gd fmla="val 8080793" name="adj1"/>
              <a:gd fmla="val 1085822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99"/>
          <p:cNvSpPr/>
          <p:nvPr/>
        </p:nvSpPr>
        <p:spPr>
          <a:xfrm flipH="1">
            <a:off x="5874799" y="1451130"/>
            <a:ext cx="1311900" cy="1311900"/>
          </a:xfrm>
          <a:prstGeom prst="pie">
            <a:avLst>
              <a:gd fmla="val 10765400" name="adj1"/>
              <a:gd fmla="val 13465582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99"/>
          <p:cNvSpPr/>
          <p:nvPr/>
        </p:nvSpPr>
        <p:spPr>
          <a:xfrm flipH="1">
            <a:off x="5874799" y="1451130"/>
            <a:ext cx="1311900" cy="1311900"/>
          </a:xfrm>
          <a:prstGeom prst="pie">
            <a:avLst>
              <a:gd fmla="val 5387953" name="adj1"/>
              <a:gd fmla="val 808442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99"/>
          <p:cNvSpPr/>
          <p:nvPr/>
        </p:nvSpPr>
        <p:spPr>
          <a:xfrm flipH="1">
            <a:off x="3121839" y="1451130"/>
            <a:ext cx="1311900" cy="1311900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99"/>
          <p:cNvSpPr/>
          <p:nvPr/>
        </p:nvSpPr>
        <p:spPr>
          <a:xfrm flipH="1" rot="3616477">
            <a:off x="3122037" y="1450890"/>
            <a:ext cx="1311705" cy="1311705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99"/>
          <p:cNvSpPr/>
          <p:nvPr/>
        </p:nvSpPr>
        <p:spPr>
          <a:xfrm flipH="1" rot="7178939">
            <a:off x="3121945" y="1450896"/>
            <a:ext cx="1311744" cy="1311744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99"/>
          <p:cNvSpPr/>
          <p:nvPr/>
        </p:nvSpPr>
        <p:spPr>
          <a:xfrm rot="-7167333">
            <a:off x="3122291" y="1450989"/>
            <a:ext cx="1311647" cy="1311647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99"/>
          <p:cNvSpPr/>
          <p:nvPr/>
        </p:nvSpPr>
        <p:spPr>
          <a:xfrm rot="10800000">
            <a:off x="3122036" y="1451052"/>
            <a:ext cx="1311600" cy="13116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5" name="Google Shape;1835;p99"/>
          <p:cNvGrpSpPr/>
          <p:nvPr/>
        </p:nvGrpSpPr>
        <p:grpSpPr>
          <a:xfrm>
            <a:off x="1059473" y="1563709"/>
            <a:ext cx="73909" cy="642907"/>
            <a:chOff x="996050" y="213293"/>
            <a:chExt cx="93900" cy="909732"/>
          </a:xfrm>
        </p:grpSpPr>
        <p:cxnSp>
          <p:nvCxnSpPr>
            <p:cNvPr id="1836" name="Google Shape;1836;p9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7" name="Google Shape;1837;p9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8" name="Google Shape;1838;p99"/>
          <p:cNvGrpSpPr/>
          <p:nvPr/>
        </p:nvGrpSpPr>
        <p:grpSpPr>
          <a:xfrm>
            <a:off x="3739791" y="1491068"/>
            <a:ext cx="73909" cy="642907"/>
            <a:chOff x="996050" y="213293"/>
            <a:chExt cx="93900" cy="909732"/>
          </a:xfrm>
        </p:grpSpPr>
        <p:cxnSp>
          <p:nvCxnSpPr>
            <p:cNvPr id="1839" name="Google Shape;1839;p9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40" name="Google Shape;1840;p9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1" name="Google Shape;1841;p99"/>
          <p:cNvGrpSpPr/>
          <p:nvPr/>
        </p:nvGrpSpPr>
        <p:grpSpPr>
          <a:xfrm>
            <a:off x="6492751" y="1491068"/>
            <a:ext cx="73909" cy="642907"/>
            <a:chOff x="996050" y="213293"/>
            <a:chExt cx="93900" cy="909732"/>
          </a:xfrm>
        </p:grpSpPr>
        <p:cxnSp>
          <p:nvCxnSpPr>
            <p:cNvPr id="1842" name="Google Shape;1842;p9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43" name="Google Shape;1843;p9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4" name="Google Shape;1844;p99"/>
          <p:cNvSpPr/>
          <p:nvPr/>
        </p:nvSpPr>
        <p:spPr>
          <a:xfrm>
            <a:off x="3110636" y="3407962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99"/>
          <p:cNvSpPr/>
          <p:nvPr/>
        </p:nvSpPr>
        <p:spPr>
          <a:xfrm rot="-3573064">
            <a:off x="3122149" y="3419582"/>
            <a:ext cx="1311245" cy="1311245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99"/>
          <p:cNvSpPr/>
          <p:nvPr/>
        </p:nvSpPr>
        <p:spPr>
          <a:xfrm>
            <a:off x="502960" y="3407962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99"/>
          <p:cNvSpPr/>
          <p:nvPr/>
        </p:nvSpPr>
        <p:spPr>
          <a:xfrm flipH="1">
            <a:off x="514163" y="3419579"/>
            <a:ext cx="1311900" cy="1311900"/>
          </a:xfrm>
          <a:prstGeom prst="pie">
            <a:avLst>
              <a:gd fmla="val 5387953" name="adj1"/>
              <a:gd fmla="val 1082421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99"/>
          <p:cNvSpPr/>
          <p:nvPr/>
        </p:nvSpPr>
        <p:spPr>
          <a:xfrm>
            <a:off x="514577" y="3419579"/>
            <a:ext cx="1311900" cy="1311900"/>
          </a:xfrm>
          <a:prstGeom prst="pie">
            <a:avLst>
              <a:gd fmla="val 5387953" name="adj1"/>
              <a:gd fmla="val 1624683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99"/>
          <p:cNvSpPr/>
          <p:nvPr/>
        </p:nvSpPr>
        <p:spPr>
          <a:xfrm flipH="1">
            <a:off x="514163" y="3419579"/>
            <a:ext cx="1311900" cy="1311900"/>
          </a:xfrm>
          <a:prstGeom prst="pie">
            <a:avLst>
              <a:gd fmla="val 1082585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99"/>
          <p:cNvSpPr/>
          <p:nvPr/>
        </p:nvSpPr>
        <p:spPr>
          <a:xfrm flipH="1">
            <a:off x="3121839" y="3419579"/>
            <a:ext cx="1311900" cy="1311900"/>
          </a:xfrm>
          <a:prstGeom prst="pie">
            <a:avLst>
              <a:gd fmla="val 903823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99"/>
          <p:cNvSpPr/>
          <p:nvPr/>
        </p:nvSpPr>
        <p:spPr>
          <a:xfrm flipH="1" rot="7178939">
            <a:off x="3121945" y="3419345"/>
            <a:ext cx="1311744" cy="1311744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99"/>
          <p:cNvSpPr/>
          <p:nvPr/>
        </p:nvSpPr>
        <p:spPr>
          <a:xfrm rot="-7167333">
            <a:off x="3122291" y="3419438"/>
            <a:ext cx="1311647" cy="1311647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99"/>
          <p:cNvSpPr/>
          <p:nvPr/>
        </p:nvSpPr>
        <p:spPr>
          <a:xfrm rot="10800000">
            <a:off x="3122036" y="3419501"/>
            <a:ext cx="1311600" cy="13116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4" name="Google Shape;1854;p99"/>
          <p:cNvGrpSpPr/>
          <p:nvPr/>
        </p:nvGrpSpPr>
        <p:grpSpPr>
          <a:xfrm>
            <a:off x="1132115" y="3459516"/>
            <a:ext cx="73909" cy="642907"/>
            <a:chOff x="996050" y="213293"/>
            <a:chExt cx="93900" cy="909732"/>
          </a:xfrm>
        </p:grpSpPr>
        <p:cxnSp>
          <p:nvCxnSpPr>
            <p:cNvPr id="1855" name="Google Shape;1855;p9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56" name="Google Shape;1856;p9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7" name="Google Shape;1857;p99"/>
          <p:cNvGrpSpPr/>
          <p:nvPr/>
        </p:nvGrpSpPr>
        <p:grpSpPr>
          <a:xfrm>
            <a:off x="3739785" y="3520356"/>
            <a:ext cx="73909" cy="582137"/>
            <a:chOff x="996050" y="213293"/>
            <a:chExt cx="93900" cy="909732"/>
          </a:xfrm>
        </p:grpSpPr>
        <p:cxnSp>
          <p:nvCxnSpPr>
            <p:cNvPr id="1858" name="Google Shape;1858;p9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59" name="Google Shape;1859;p9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0" name="Google Shape;1860;p99"/>
          <p:cNvSpPr txBox="1"/>
          <p:nvPr>
            <p:ph idx="1" type="body"/>
          </p:nvPr>
        </p:nvSpPr>
        <p:spPr>
          <a:xfrm>
            <a:off x="324000" y="1140300"/>
            <a:ext cx="12474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{A, B} </a:t>
            </a:r>
            <a:endParaRPr sz="1600"/>
          </a:p>
        </p:txBody>
      </p:sp>
      <p:sp>
        <p:nvSpPr>
          <p:cNvPr id="1861" name="Google Shape;1861;p99"/>
          <p:cNvSpPr txBox="1"/>
          <p:nvPr>
            <p:ph idx="1" type="body"/>
          </p:nvPr>
        </p:nvSpPr>
        <p:spPr>
          <a:xfrm>
            <a:off x="2793829" y="1140300"/>
            <a:ext cx="16455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{win, lose} </a:t>
            </a:r>
            <a:endParaRPr sz="1600"/>
          </a:p>
        </p:txBody>
      </p:sp>
      <p:sp>
        <p:nvSpPr>
          <p:cNvPr id="1862" name="Google Shape;1862;p99"/>
          <p:cNvSpPr txBox="1"/>
          <p:nvPr>
            <p:ph idx="1" type="body"/>
          </p:nvPr>
        </p:nvSpPr>
        <p:spPr>
          <a:xfrm>
            <a:off x="5492249" y="1140300"/>
            <a:ext cx="35565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{even number, odd number}</a:t>
            </a:r>
            <a:endParaRPr sz="1600"/>
          </a:p>
        </p:txBody>
      </p:sp>
      <p:sp>
        <p:nvSpPr>
          <p:cNvPr id="1863" name="Google Shape;1863;p99"/>
          <p:cNvSpPr txBox="1"/>
          <p:nvPr>
            <p:ph idx="1" type="body"/>
          </p:nvPr>
        </p:nvSpPr>
        <p:spPr>
          <a:xfrm>
            <a:off x="324000" y="3108750"/>
            <a:ext cx="19680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{green, blue} </a:t>
            </a:r>
            <a:endParaRPr sz="1600"/>
          </a:p>
        </p:txBody>
      </p:sp>
      <p:sp>
        <p:nvSpPr>
          <p:cNvPr id="1864" name="Google Shape;1864;p99"/>
          <p:cNvSpPr txBox="1"/>
          <p:nvPr>
            <p:ph idx="1" type="body"/>
          </p:nvPr>
        </p:nvSpPr>
        <p:spPr>
          <a:xfrm>
            <a:off x="2793825" y="3108750"/>
            <a:ext cx="2556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{vowel, consonant} </a:t>
            </a:r>
            <a:endParaRPr sz="1600"/>
          </a:p>
        </p:txBody>
      </p:sp>
      <p:sp>
        <p:nvSpPr>
          <p:cNvPr id="1865" name="Google Shape;1865;p99"/>
          <p:cNvSpPr txBox="1"/>
          <p:nvPr>
            <p:ph idx="1" type="body"/>
          </p:nvPr>
        </p:nvSpPr>
        <p:spPr>
          <a:xfrm>
            <a:off x="5532782" y="3108750"/>
            <a:ext cx="15765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{A, B, C}</a:t>
            </a:r>
            <a:endParaRPr sz="1600"/>
          </a:p>
        </p:txBody>
      </p:sp>
      <p:sp>
        <p:nvSpPr>
          <p:cNvPr id="1866" name="Google Shape;1866;p99"/>
          <p:cNvSpPr/>
          <p:nvPr/>
        </p:nvSpPr>
        <p:spPr>
          <a:xfrm flipH="1" rot="7178939">
            <a:off x="5865145" y="3432096"/>
            <a:ext cx="1311744" cy="1311744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99"/>
          <p:cNvSpPr/>
          <p:nvPr/>
        </p:nvSpPr>
        <p:spPr>
          <a:xfrm rot="10800000">
            <a:off x="5858942" y="3432252"/>
            <a:ext cx="1311600" cy="13116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8" name="Google Shape;1868;p99"/>
          <p:cNvCxnSpPr/>
          <p:nvPr/>
        </p:nvCxnSpPr>
        <p:spPr>
          <a:xfrm>
            <a:off x="6537425" y="4119350"/>
            <a:ext cx="296700" cy="54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9" name="Google Shape;1869;p99"/>
          <p:cNvCxnSpPr/>
          <p:nvPr/>
        </p:nvCxnSpPr>
        <p:spPr>
          <a:xfrm flipH="1">
            <a:off x="6204984" y="4119350"/>
            <a:ext cx="296700" cy="54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0" name="Google Shape;1870;p99"/>
          <p:cNvCxnSpPr/>
          <p:nvPr/>
        </p:nvCxnSpPr>
        <p:spPr>
          <a:xfrm rot="10800000">
            <a:off x="5864894" y="4089105"/>
            <a:ext cx="63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71" name="Google Shape;1871;p99"/>
          <p:cNvGrpSpPr/>
          <p:nvPr/>
        </p:nvGrpSpPr>
        <p:grpSpPr>
          <a:xfrm>
            <a:off x="6480165" y="3479886"/>
            <a:ext cx="73909" cy="642907"/>
            <a:chOff x="996050" y="213293"/>
            <a:chExt cx="93900" cy="909732"/>
          </a:xfrm>
        </p:grpSpPr>
        <p:cxnSp>
          <p:nvCxnSpPr>
            <p:cNvPr id="1872" name="Google Shape;1872;p9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73" name="Google Shape;1873;p9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100"/>
          <p:cNvSpPr txBox="1"/>
          <p:nvPr>
            <p:ph idx="1" type="body"/>
          </p:nvPr>
        </p:nvSpPr>
        <p:spPr>
          <a:xfrm>
            <a:off x="324000" y="759300"/>
            <a:ext cx="8496000" cy="13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Aisha, Jun and Izzy are playing a game that involves rolling a regular 6-sided dice.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Aisha’s piece moves if the dice roll is 1 or 2.</a:t>
            </a:r>
            <a:br>
              <a:rPr lang="en-GB" sz="1600"/>
            </a:br>
            <a:r>
              <a:rPr lang="en-GB" sz="1600"/>
              <a:t>    Jun’s piece moves if the dice roll is 3 or 4.</a:t>
            </a:r>
            <a:br>
              <a:rPr lang="en-GB" sz="1600"/>
            </a:br>
            <a:r>
              <a:rPr lang="en-GB" sz="1600"/>
              <a:t>    Izzy’s piece moves if the dice roll is 5 or 6.</a:t>
            </a:r>
            <a:endParaRPr sz="1600"/>
          </a:p>
        </p:txBody>
      </p:sp>
      <p:sp>
        <p:nvSpPr>
          <p:cNvPr id="1879" name="Google Shape;1879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more than two equally likely outcomes</a:t>
            </a:r>
            <a:r>
              <a:rPr b="1" lang="en-GB"/>
              <a:t> </a:t>
            </a:r>
            <a:endParaRPr/>
          </a:p>
        </p:txBody>
      </p:sp>
      <p:sp>
        <p:nvSpPr>
          <p:cNvPr id="1880" name="Google Shape;1880;p100"/>
          <p:cNvSpPr txBox="1"/>
          <p:nvPr>
            <p:ph idx="1" type="body"/>
          </p:nvPr>
        </p:nvSpPr>
        <p:spPr>
          <a:xfrm>
            <a:off x="324000" y="2207100"/>
            <a:ext cx="8496000" cy="6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Izzy thinks that 6 is the most difficult number on the dice to roll. </a:t>
            </a:r>
            <a:br>
              <a:rPr lang="en-GB" sz="1600"/>
            </a:br>
            <a:r>
              <a:rPr lang="en-GB" sz="1600"/>
              <a:t>    Explain why this is incorrect.</a:t>
            </a:r>
            <a:endParaRPr sz="1600"/>
          </a:p>
        </p:txBody>
      </p:sp>
      <p:sp>
        <p:nvSpPr>
          <p:cNvPr id="1881" name="Google Shape;1881;p100"/>
          <p:cNvSpPr txBox="1"/>
          <p:nvPr>
            <p:ph idx="1" type="body"/>
          </p:nvPr>
        </p:nvSpPr>
        <p:spPr>
          <a:xfrm>
            <a:off x="324000" y="3273900"/>
            <a:ext cx="8496000" cy="8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b) The </a:t>
            </a:r>
            <a:r>
              <a:rPr b="1" lang="en-GB" sz="1600"/>
              <a:t>sample space</a:t>
            </a:r>
            <a:r>
              <a:rPr lang="en-GB" sz="1600"/>
              <a:t> shows the possible </a:t>
            </a:r>
            <a:r>
              <a:rPr b="1" lang="en-GB" sz="1600"/>
              <a:t>outcomes</a:t>
            </a:r>
            <a:r>
              <a:rPr lang="en-GB" sz="1600"/>
              <a:t> to each </a:t>
            </a:r>
            <a:r>
              <a:rPr b="1" lang="en-GB" sz="1600"/>
              <a:t>trial</a:t>
            </a:r>
            <a:r>
              <a:rPr lang="en-GB" sz="1600"/>
              <a:t>.</a:t>
            </a:r>
            <a:br>
              <a:rPr lang="en-GB" sz="1600"/>
            </a:br>
            <a:r>
              <a:rPr lang="en-GB" sz="1600"/>
              <a:t>   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{Aisha moves, Jun moves, Izzy moves}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Explain why these outcomes are equally likely to happen.</a:t>
            </a:r>
            <a:endParaRPr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101"/>
          <p:cNvSpPr/>
          <p:nvPr/>
        </p:nvSpPr>
        <p:spPr>
          <a:xfrm>
            <a:off x="3110636" y="1456545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more than two equally likely outcomes</a:t>
            </a:r>
            <a:r>
              <a:rPr b="1" lang="en-GB"/>
              <a:t> </a:t>
            </a:r>
            <a:endParaRPr/>
          </a:p>
        </p:txBody>
      </p:sp>
      <p:sp>
        <p:nvSpPr>
          <p:cNvPr id="1888" name="Google Shape;1888;p101"/>
          <p:cNvSpPr/>
          <p:nvPr/>
        </p:nvSpPr>
        <p:spPr>
          <a:xfrm rot="-3573064">
            <a:off x="3122149" y="1468165"/>
            <a:ext cx="1311245" cy="1311245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101"/>
          <p:cNvSpPr/>
          <p:nvPr/>
        </p:nvSpPr>
        <p:spPr>
          <a:xfrm>
            <a:off x="430318" y="1512155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101"/>
          <p:cNvSpPr/>
          <p:nvPr/>
        </p:nvSpPr>
        <p:spPr>
          <a:xfrm flipH="1">
            <a:off x="441521" y="1523772"/>
            <a:ext cx="1311900" cy="1311900"/>
          </a:xfrm>
          <a:prstGeom prst="pie">
            <a:avLst>
              <a:gd fmla="val 5387953" name="adj1"/>
              <a:gd fmla="val 1082421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101"/>
          <p:cNvSpPr/>
          <p:nvPr/>
        </p:nvSpPr>
        <p:spPr>
          <a:xfrm>
            <a:off x="441935" y="1523772"/>
            <a:ext cx="1311900" cy="1311900"/>
          </a:xfrm>
          <a:prstGeom prst="pie">
            <a:avLst>
              <a:gd fmla="val 5387953" name="adj1"/>
              <a:gd fmla="val 1085822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101"/>
          <p:cNvSpPr/>
          <p:nvPr/>
        </p:nvSpPr>
        <p:spPr>
          <a:xfrm>
            <a:off x="441935" y="1523772"/>
            <a:ext cx="1311900" cy="1311900"/>
          </a:xfrm>
          <a:prstGeom prst="pie">
            <a:avLst>
              <a:gd fmla="val 10799941" name="adj1"/>
              <a:gd fmla="val 16225322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101"/>
          <p:cNvSpPr txBox="1"/>
          <p:nvPr>
            <p:ph idx="1" type="body"/>
          </p:nvPr>
        </p:nvSpPr>
        <p:spPr>
          <a:xfrm>
            <a:off x="324000" y="759300"/>
            <a:ext cx="82377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Complete the spinners to make the </a:t>
            </a:r>
            <a:r>
              <a:rPr b="1" lang="en-GB" sz="1600"/>
              <a:t>outcomes</a:t>
            </a:r>
            <a:r>
              <a:rPr lang="en-GB" sz="1600"/>
              <a:t> equally likely to happen.</a:t>
            </a:r>
            <a:endParaRPr sz="1600"/>
          </a:p>
        </p:txBody>
      </p:sp>
      <p:sp>
        <p:nvSpPr>
          <p:cNvPr id="1894" name="Google Shape;1894;p101"/>
          <p:cNvSpPr/>
          <p:nvPr/>
        </p:nvSpPr>
        <p:spPr>
          <a:xfrm flipH="1">
            <a:off x="441521" y="1523772"/>
            <a:ext cx="1311900" cy="1311900"/>
          </a:xfrm>
          <a:prstGeom prst="pie">
            <a:avLst>
              <a:gd fmla="val 1082585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101"/>
          <p:cNvSpPr/>
          <p:nvPr/>
        </p:nvSpPr>
        <p:spPr>
          <a:xfrm>
            <a:off x="5863596" y="1439513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01"/>
          <p:cNvSpPr/>
          <p:nvPr/>
        </p:nvSpPr>
        <p:spPr>
          <a:xfrm flipH="1">
            <a:off x="5874799" y="1451130"/>
            <a:ext cx="1311900" cy="1311900"/>
          </a:xfrm>
          <a:prstGeom prst="pie">
            <a:avLst>
              <a:gd fmla="val 5387953" name="adj1"/>
              <a:gd fmla="val 1082421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101"/>
          <p:cNvSpPr/>
          <p:nvPr/>
        </p:nvSpPr>
        <p:spPr>
          <a:xfrm>
            <a:off x="5875213" y="1451130"/>
            <a:ext cx="1311900" cy="1311900"/>
          </a:xfrm>
          <a:prstGeom prst="pie">
            <a:avLst>
              <a:gd fmla="val 5387953" name="adj1"/>
              <a:gd fmla="val 8080958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101"/>
          <p:cNvSpPr/>
          <p:nvPr/>
        </p:nvSpPr>
        <p:spPr>
          <a:xfrm>
            <a:off x="5875213" y="1451130"/>
            <a:ext cx="1311900" cy="1311900"/>
          </a:xfrm>
          <a:prstGeom prst="pie">
            <a:avLst>
              <a:gd fmla="val 10799941" name="adj1"/>
              <a:gd fmla="val 1348387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01"/>
          <p:cNvSpPr/>
          <p:nvPr/>
        </p:nvSpPr>
        <p:spPr>
          <a:xfrm flipH="1">
            <a:off x="5874799" y="1451130"/>
            <a:ext cx="1311900" cy="1311900"/>
          </a:xfrm>
          <a:prstGeom prst="pie">
            <a:avLst>
              <a:gd fmla="val 13450827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01"/>
          <p:cNvSpPr/>
          <p:nvPr/>
        </p:nvSpPr>
        <p:spPr>
          <a:xfrm>
            <a:off x="5875213" y="1451130"/>
            <a:ext cx="1311900" cy="1311900"/>
          </a:xfrm>
          <a:prstGeom prst="pie">
            <a:avLst>
              <a:gd fmla="val 13499013" name="adj1"/>
              <a:gd fmla="val 16232488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101"/>
          <p:cNvSpPr/>
          <p:nvPr/>
        </p:nvSpPr>
        <p:spPr>
          <a:xfrm>
            <a:off x="5875213" y="1451130"/>
            <a:ext cx="1311900" cy="1311900"/>
          </a:xfrm>
          <a:prstGeom prst="pie">
            <a:avLst>
              <a:gd fmla="val 8080793" name="adj1"/>
              <a:gd fmla="val 1085822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01"/>
          <p:cNvSpPr/>
          <p:nvPr/>
        </p:nvSpPr>
        <p:spPr>
          <a:xfrm flipH="1">
            <a:off x="5874799" y="1451130"/>
            <a:ext cx="1311900" cy="1311900"/>
          </a:xfrm>
          <a:prstGeom prst="pie">
            <a:avLst>
              <a:gd fmla="val 10765400" name="adj1"/>
              <a:gd fmla="val 13465582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01"/>
          <p:cNvSpPr/>
          <p:nvPr/>
        </p:nvSpPr>
        <p:spPr>
          <a:xfrm flipH="1">
            <a:off x="5874799" y="1451130"/>
            <a:ext cx="1311900" cy="1311900"/>
          </a:xfrm>
          <a:prstGeom prst="pie">
            <a:avLst>
              <a:gd fmla="val 5387953" name="adj1"/>
              <a:gd fmla="val 808442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101"/>
          <p:cNvSpPr/>
          <p:nvPr/>
        </p:nvSpPr>
        <p:spPr>
          <a:xfrm flipH="1">
            <a:off x="3121839" y="1468161"/>
            <a:ext cx="1311900" cy="1311900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101"/>
          <p:cNvSpPr/>
          <p:nvPr/>
        </p:nvSpPr>
        <p:spPr>
          <a:xfrm flipH="1" rot="3616477">
            <a:off x="3122037" y="1467921"/>
            <a:ext cx="1311705" cy="1311705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101"/>
          <p:cNvSpPr/>
          <p:nvPr/>
        </p:nvSpPr>
        <p:spPr>
          <a:xfrm flipH="1" rot="7178939">
            <a:off x="3121945" y="1467927"/>
            <a:ext cx="1311744" cy="1311744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101"/>
          <p:cNvSpPr/>
          <p:nvPr/>
        </p:nvSpPr>
        <p:spPr>
          <a:xfrm rot="-7167333">
            <a:off x="3122291" y="1468020"/>
            <a:ext cx="1311647" cy="1311647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101"/>
          <p:cNvSpPr/>
          <p:nvPr/>
        </p:nvSpPr>
        <p:spPr>
          <a:xfrm rot="10800000">
            <a:off x="3122036" y="1468083"/>
            <a:ext cx="1311600" cy="13116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9" name="Google Shape;1909;p101"/>
          <p:cNvGrpSpPr/>
          <p:nvPr/>
        </p:nvGrpSpPr>
        <p:grpSpPr>
          <a:xfrm>
            <a:off x="1059473" y="1563709"/>
            <a:ext cx="73909" cy="642907"/>
            <a:chOff x="996050" y="213293"/>
            <a:chExt cx="93900" cy="909732"/>
          </a:xfrm>
        </p:grpSpPr>
        <p:cxnSp>
          <p:nvCxnSpPr>
            <p:cNvPr id="1910" name="Google Shape;1910;p10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1" name="Google Shape;1911;p10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2" name="Google Shape;1912;p101"/>
          <p:cNvGrpSpPr/>
          <p:nvPr/>
        </p:nvGrpSpPr>
        <p:grpSpPr>
          <a:xfrm>
            <a:off x="3739791" y="1508099"/>
            <a:ext cx="73909" cy="642907"/>
            <a:chOff x="996050" y="213293"/>
            <a:chExt cx="93900" cy="909732"/>
          </a:xfrm>
        </p:grpSpPr>
        <p:cxnSp>
          <p:nvCxnSpPr>
            <p:cNvPr id="1913" name="Google Shape;1913;p10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4" name="Google Shape;1914;p10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101"/>
          <p:cNvGrpSpPr/>
          <p:nvPr/>
        </p:nvGrpSpPr>
        <p:grpSpPr>
          <a:xfrm>
            <a:off x="6492751" y="1491068"/>
            <a:ext cx="73909" cy="642907"/>
            <a:chOff x="996050" y="213293"/>
            <a:chExt cx="93900" cy="909732"/>
          </a:xfrm>
        </p:grpSpPr>
        <p:cxnSp>
          <p:nvCxnSpPr>
            <p:cNvPr id="1916" name="Google Shape;1916;p10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7" name="Google Shape;1917;p10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8" name="Google Shape;1918;p101"/>
          <p:cNvSpPr txBox="1"/>
          <p:nvPr>
            <p:ph idx="1" type="body"/>
          </p:nvPr>
        </p:nvSpPr>
        <p:spPr>
          <a:xfrm>
            <a:off x="324000" y="1140300"/>
            <a:ext cx="12474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{A, B} </a:t>
            </a:r>
            <a:endParaRPr sz="1600"/>
          </a:p>
        </p:txBody>
      </p:sp>
      <p:sp>
        <p:nvSpPr>
          <p:cNvPr id="1919" name="Google Shape;1919;p101"/>
          <p:cNvSpPr txBox="1"/>
          <p:nvPr>
            <p:ph idx="1" type="body"/>
          </p:nvPr>
        </p:nvSpPr>
        <p:spPr>
          <a:xfrm>
            <a:off x="2793829" y="1140300"/>
            <a:ext cx="16455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{win, lose} </a:t>
            </a:r>
            <a:endParaRPr sz="1600"/>
          </a:p>
        </p:txBody>
      </p:sp>
      <p:sp>
        <p:nvSpPr>
          <p:cNvPr id="1920" name="Google Shape;1920;p101"/>
          <p:cNvSpPr txBox="1"/>
          <p:nvPr>
            <p:ph idx="1" type="body"/>
          </p:nvPr>
        </p:nvSpPr>
        <p:spPr>
          <a:xfrm>
            <a:off x="5492249" y="1140300"/>
            <a:ext cx="35565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{even number, odd number}</a:t>
            </a:r>
            <a:endParaRPr sz="1600"/>
          </a:p>
        </p:txBody>
      </p:sp>
      <p:sp>
        <p:nvSpPr>
          <p:cNvPr id="1921" name="Google Shape;1921;p101"/>
          <p:cNvSpPr txBox="1"/>
          <p:nvPr>
            <p:ph idx="1" type="body"/>
          </p:nvPr>
        </p:nvSpPr>
        <p:spPr>
          <a:xfrm>
            <a:off x="366325" y="3055700"/>
            <a:ext cx="15966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two sectors for each A and B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2" name="Google Shape;1922;p101"/>
          <p:cNvSpPr txBox="1"/>
          <p:nvPr>
            <p:ph idx="1" type="body"/>
          </p:nvPr>
        </p:nvSpPr>
        <p:spPr>
          <a:xfrm>
            <a:off x="729400" y="1739513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3" name="Google Shape;1923;p101"/>
          <p:cNvSpPr txBox="1"/>
          <p:nvPr>
            <p:ph idx="1" type="body"/>
          </p:nvPr>
        </p:nvSpPr>
        <p:spPr>
          <a:xfrm>
            <a:off x="1262800" y="1739513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4" name="Google Shape;1924;p101"/>
          <p:cNvSpPr txBox="1"/>
          <p:nvPr>
            <p:ph idx="1" type="body"/>
          </p:nvPr>
        </p:nvSpPr>
        <p:spPr>
          <a:xfrm>
            <a:off x="1262800" y="2349113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5" name="Google Shape;1925;p101"/>
          <p:cNvSpPr txBox="1"/>
          <p:nvPr>
            <p:ph idx="1" type="body"/>
          </p:nvPr>
        </p:nvSpPr>
        <p:spPr>
          <a:xfrm>
            <a:off x="729400" y="2349113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6" name="Google Shape;1926;p101"/>
          <p:cNvSpPr txBox="1"/>
          <p:nvPr>
            <p:ph idx="1" type="body"/>
          </p:nvPr>
        </p:nvSpPr>
        <p:spPr>
          <a:xfrm>
            <a:off x="3033325" y="3055700"/>
            <a:ext cx="19914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three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sectors for each win and lose 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7" name="Google Shape;1927;p101"/>
          <p:cNvSpPr txBox="1"/>
          <p:nvPr>
            <p:ph idx="1" type="body"/>
          </p:nvPr>
        </p:nvSpPr>
        <p:spPr>
          <a:xfrm>
            <a:off x="3839660" y="1610456"/>
            <a:ext cx="4038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win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8" name="Google Shape;1928;p101"/>
          <p:cNvSpPr txBox="1"/>
          <p:nvPr>
            <p:ph idx="1" type="body"/>
          </p:nvPr>
        </p:nvSpPr>
        <p:spPr>
          <a:xfrm>
            <a:off x="3839660" y="2296256"/>
            <a:ext cx="4038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win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9" name="Google Shape;1929;p101"/>
          <p:cNvSpPr txBox="1"/>
          <p:nvPr>
            <p:ph idx="1" type="body"/>
          </p:nvPr>
        </p:nvSpPr>
        <p:spPr>
          <a:xfrm>
            <a:off x="3201196" y="1962593"/>
            <a:ext cx="4038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win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0" name="Google Shape;1930;p101"/>
          <p:cNvSpPr txBox="1"/>
          <p:nvPr>
            <p:ph idx="1" type="body"/>
          </p:nvPr>
        </p:nvSpPr>
        <p:spPr>
          <a:xfrm>
            <a:off x="3353596" y="1581593"/>
            <a:ext cx="4038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lose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1" name="Google Shape;1931;p101"/>
          <p:cNvSpPr txBox="1"/>
          <p:nvPr>
            <p:ph idx="1" type="body"/>
          </p:nvPr>
        </p:nvSpPr>
        <p:spPr>
          <a:xfrm>
            <a:off x="3963196" y="1962593"/>
            <a:ext cx="4038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lose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2" name="Google Shape;1932;p101"/>
          <p:cNvSpPr txBox="1"/>
          <p:nvPr>
            <p:ph idx="1" type="body"/>
          </p:nvPr>
        </p:nvSpPr>
        <p:spPr>
          <a:xfrm>
            <a:off x="3334354" y="2343593"/>
            <a:ext cx="4038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lose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3" name="Google Shape;1933;p101"/>
          <p:cNvSpPr txBox="1"/>
          <p:nvPr>
            <p:ph idx="1" type="body"/>
          </p:nvPr>
        </p:nvSpPr>
        <p:spPr>
          <a:xfrm>
            <a:off x="5776525" y="3055700"/>
            <a:ext cx="2719200" cy="6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ny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f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our even numbers and any four odd numbers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4" name="Google Shape;1934;p101"/>
          <p:cNvSpPr txBox="1"/>
          <p:nvPr>
            <p:ph idx="1" type="body"/>
          </p:nvPr>
        </p:nvSpPr>
        <p:spPr>
          <a:xfrm>
            <a:off x="5776525" y="3893900"/>
            <a:ext cx="27852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umbers may be repeated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5" name="Google Shape;1935;p101"/>
          <p:cNvSpPr txBox="1"/>
          <p:nvPr>
            <p:ph idx="1" type="body"/>
          </p:nvPr>
        </p:nvSpPr>
        <p:spPr>
          <a:xfrm>
            <a:off x="6622150" y="1593425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6" name="Google Shape;1936;p101"/>
          <p:cNvSpPr txBox="1"/>
          <p:nvPr>
            <p:ph idx="1" type="body"/>
          </p:nvPr>
        </p:nvSpPr>
        <p:spPr>
          <a:xfrm>
            <a:off x="6926950" y="2126825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7" name="Google Shape;1937;p101"/>
          <p:cNvSpPr txBox="1"/>
          <p:nvPr>
            <p:ph idx="1" type="body"/>
          </p:nvPr>
        </p:nvSpPr>
        <p:spPr>
          <a:xfrm>
            <a:off x="6317350" y="2355425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8" name="Google Shape;1938;p101"/>
          <p:cNvSpPr txBox="1"/>
          <p:nvPr>
            <p:ph idx="1" type="body"/>
          </p:nvPr>
        </p:nvSpPr>
        <p:spPr>
          <a:xfrm>
            <a:off x="6088760" y="1783540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9" name="Google Shape;1939;p101"/>
          <p:cNvSpPr txBox="1"/>
          <p:nvPr>
            <p:ph idx="1" type="body"/>
          </p:nvPr>
        </p:nvSpPr>
        <p:spPr>
          <a:xfrm>
            <a:off x="6850750" y="1822025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0" name="Google Shape;1940;p101"/>
          <p:cNvSpPr txBox="1"/>
          <p:nvPr>
            <p:ph idx="1" type="body"/>
          </p:nvPr>
        </p:nvSpPr>
        <p:spPr>
          <a:xfrm>
            <a:off x="6622150" y="2355425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1" name="Google Shape;1941;p101"/>
          <p:cNvSpPr txBox="1"/>
          <p:nvPr>
            <p:ph idx="1" type="body"/>
          </p:nvPr>
        </p:nvSpPr>
        <p:spPr>
          <a:xfrm>
            <a:off x="6088750" y="2126825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2" name="Google Shape;1942;p101"/>
          <p:cNvSpPr txBox="1"/>
          <p:nvPr>
            <p:ph idx="1" type="body"/>
          </p:nvPr>
        </p:nvSpPr>
        <p:spPr>
          <a:xfrm>
            <a:off x="6269244" y="1554940"/>
            <a:ext cx="2040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102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Complete the spinners to make the outcomes equally likely to happen.</a:t>
            </a:r>
            <a:endParaRPr sz="1600"/>
          </a:p>
        </p:txBody>
      </p:sp>
      <p:sp>
        <p:nvSpPr>
          <p:cNvPr id="1948" name="Google Shape;1948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more than two equally likely outcomes</a:t>
            </a:r>
            <a:r>
              <a:rPr b="1" lang="en-GB"/>
              <a:t> </a:t>
            </a:r>
            <a:endParaRPr/>
          </a:p>
        </p:txBody>
      </p:sp>
      <p:sp>
        <p:nvSpPr>
          <p:cNvPr id="1949" name="Google Shape;1949;p102"/>
          <p:cNvSpPr/>
          <p:nvPr/>
        </p:nvSpPr>
        <p:spPr>
          <a:xfrm>
            <a:off x="3263036" y="1502962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02"/>
          <p:cNvSpPr/>
          <p:nvPr/>
        </p:nvSpPr>
        <p:spPr>
          <a:xfrm rot="-3573064">
            <a:off x="3274549" y="1514582"/>
            <a:ext cx="1311245" cy="1311245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102"/>
          <p:cNvSpPr/>
          <p:nvPr/>
        </p:nvSpPr>
        <p:spPr>
          <a:xfrm>
            <a:off x="502960" y="1502962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02"/>
          <p:cNvSpPr/>
          <p:nvPr/>
        </p:nvSpPr>
        <p:spPr>
          <a:xfrm flipH="1">
            <a:off x="514163" y="1514579"/>
            <a:ext cx="1311900" cy="1311900"/>
          </a:xfrm>
          <a:prstGeom prst="pie">
            <a:avLst>
              <a:gd fmla="val 5387953" name="adj1"/>
              <a:gd fmla="val 10824216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102"/>
          <p:cNvSpPr/>
          <p:nvPr/>
        </p:nvSpPr>
        <p:spPr>
          <a:xfrm>
            <a:off x="514577" y="1514579"/>
            <a:ext cx="1311900" cy="1311900"/>
          </a:xfrm>
          <a:prstGeom prst="pie">
            <a:avLst>
              <a:gd fmla="val 5387953" name="adj1"/>
              <a:gd fmla="val 1624683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102"/>
          <p:cNvSpPr/>
          <p:nvPr/>
        </p:nvSpPr>
        <p:spPr>
          <a:xfrm flipH="1">
            <a:off x="514163" y="1514579"/>
            <a:ext cx="1311900" cy="1311900"/>
          </a:xfrm>
          <a:prstGeom prst="pie">
            <a:avLst>
              <a:gd fmla="val 1082585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02"/>
          <p:cNvSpPr/>
          <p:nvPr/>
        </p:nvSpPr>
        <p:spPr>
          <a:xfrm flipH="1">
            <a:off x="3274239" y="1514579"/>
            <a:ext cx="1311900" cy="1311900"/>
          </a:xfrm>
          <a:prstGeom prst="pie">
            <a:avLst>
              <a:gd fmla="val 903823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02"/>
          <p:cNvSpPr/>
          <p:nvPr/>
        </p:nvSpPr>
        <p:spPr>
          <a:xfrm flipH="1" rot="7178939">
            <a:off x="3274345" y="1514345"/>
            <a:ext cx="1311744" cy="1311744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02"/>
          <p:cNvSpPr/>
          <p:nvPr/>
        </p:nvSpPr>
        <p:spPr>
          <a:xfrm rot="-7167333">
            <a:off x="3274691" y="1514438"/>
            <a:ext cx="1311647" cy="1311647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02"/>
          <p:cNvSpPr/>
          <p:nvPr/>
        </p:nvSpPr>
        <p:spPr>
          <a:xfrm rot="10800000">
            <a:off x="3274436" y="1514501"/>
            <a:ext cx="1311600" cy="13116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9" name="Google Shape;1959;p102"/>
          <p:cNvGrpSpPr/>
          <p:nvPr/>
        </p:nvGrpSpPr>
        <p:grpSpPr>
          <a:xfrm>
            <a:off x="1132115" y="1554516"/>
            <a:ext cx="73909" cy="642907"/>
            <a:chOff x="996050" y="213293"/>
            <a:chExt cx="93900" cy="909732"/>
          </a:xfrm>
        </p:grpSpPr>
        <p:cxnSp>
          <p:nvCxnSpPr>
            <p:cNvPr id="1960" name="Google Shape;1960;p10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1" name="Google Shape;1961;p10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2" name="Google Shape;1962;p102"/>
          <p:cNvGrpSpPr/>
          <p:nvPr/>
        </p:nvGrpSpPr>
        <p:grpSpPr>
          <a:xfrm>
            <a:off x="3892185" y="1615356"/>
            <a:ext cx="73909" cy="582137"/>
            <a:chOff x="996050" y="213293"/>
            <a:chExt cx="93900" cy="909732"/>
          </a:xfrm>
        </p:grpSpPr>
        <p:cxnSp>
          <p:nvCxnSpPr>
            <p:cNvPr id="1963" name="Google Shape;1963;p10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4" name="Google Shape;1964;p10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5" name="Google Shape;1965;p102"/>
          <p:cNvSpPr txBox="1"/>
          <p:nvPr>
            <p:ph idx="1" type="body"/>
          </p:nvPr>
        </p:nvSpPr>
        <p:spPr>
          <a:xfrm>
            <a:off x="324000" y="1127550"/>
            <a:ext cx="19680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{green, blue} </a:t>
            </a:r>
            <a:endParaRPr sz="1600"/>
          </a:p>
        </p:txBody>
      </p:sp>
      <p:sp>
        <p:nvSpPr>
          <p:cNvPr id="1966" name="Google Shape;1966;p102"/>
          <p:cNvSpPr txBox="1"/>
          <p:nvPr>
            <p:ph idx="1" type="body"/>
          </p:nvPr>
        </p:nvSpPr>
        <p:spPr>
          <a:xfrm>
            <a:off x="2946225" y="1127550"/>
            <a:ext cx="2556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{vowel, consonant} </a:t>
            </a:r>
            <a:endParaRPr sz="1600"/>
          </a:p>
        </p:txBody>
      </p:sp>
      <p:sp>
        <p:nvSpPr>
          <p:cNvPr id="1967" name="Google Shape;1967;p102"/>
          <p:cNvSpPr txBox="1"/>
          <p:nvPr>
            <p:ph idx="1" type="body"/>
          </p:nvPr>
        </p:nvSpPr>
        <p:spPr>
          <a:xfrm>
            <a:off x="518725" y="3093415"/>
            <a:ext cx="1394700" cy="7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olours may be switched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8" name="Google Shape;1968;p102"/>
          <p:cNvSpPr txBox="1"/>
          <p:nvPr>
            <p:ph idx="1" type="body"/>
          </p:nvPr>
        </p:nvSpPr>
        <p:spPr>
          <a:xfrm>
            <a:off x="577000" y="1968125"/>
            <a:ext cx="5694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green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9" name="Google Shape;1969;p102"/>
          <p:cNvSpPr txBox="1"/>
          <p:nvPr>
            <p:ph idx="1" type="body"/>
          </p:nvPr>
        </p:nvSpPr>
        <p:spPr>
          <a:xfrm>
            <a:off x="1262800" y="1815725"/>
            <a:ext cx="4983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blue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0" name="Google Shape;1970;p102"/>
          <p:cNvSpPr txBox="1"/>
          <p:nvPr>
            <p:ph idx="1" type="body"/>
          </p:nvPr>
        </p:nvSpPr>
        <p:spPr>
          <a:xfrm>
            <a:off x="1243558" y="2272925"/>
            <a:ext cx="4983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blue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1" name="Google Shape;1971;p102"/>
          <p:cNvSpPr txBox="1"/>
          <p:nvPr>
            <p:ph idx="1" type="body"/>
          </p:nvPr>
        </p:nvSpPr>
        <p:spPr>
          <a:xfrm>
            <a:off x="3185725" y="3103025"/>
            <a:ext cx="25020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letter may be repeated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2" name="Google Shape;1972;p102"/>
          <p:cNvSpPr txBox="1"/>
          <p:nvPr>
            <p:ph idx="1" type="body"/>
          </p:nvPr>
        </p:nvSpPr>
        <p:spPr>
          <a:xfrm>
            <a:off x="4173714" y="1815725"/>
            <a:ext cx="2112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3" name="Google Shape;1973;p102"/>
          <p:cNvSpPr txBox="1"/>
          <p:nvPr>
            <p:ph idx="1" type="body"/>
          </p:nvPr>
        </p:nvSpPr>
        <p:spPr>
          <a:xfrm>
            <a:off x="4090589" y="2356650"/>
            <a:ext cx="2112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4" name="Google Shape;1974;p102"/>
          <p:cNvSpPr txBox="1"/>
          <p:nvPr>
            <p:ph idx="1" type="body"/>
          </p:nvPr>
        </p:nvSpPr>
        <p:spPr>
          <a:xfrm>
            <a:off x="3674164" y="2354200"/>
            <a:ext cx="2112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5" name="Google Shape;1975;p102"/>
          <p:cNvSpPr txBox="1"/>
          <p:nvPr>
            <p:ph idx="1" type="body"/>
          </p:nvPr>
        </p:nvSpPr>
        <p:spPr>
          <a:xfrm>
            <a:off x="3416389" y="2024550"/>
            <a:ext cx="2112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6" name="Google Shape;1976;p102"/>
          <p:cNvSpPr txBox="1"/>
          <p:nvPr>
            <p:ph idx="1" type="body"/>
          </p:nvPr>
        </p:nvSpPr>
        <p:spPr>
          <a:xfrm>
            <a:off x="3644989" y="1643550"/>
            <a:ext cx="2112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7" name="Google Shape;1977;p102"/>
          <p:cNvSpPr txBox="1"/>
          <p:nvPr>
            <p:ph idx="1" type="body"/>
          </p:nvPr>
        </p:nvSpPr>
        <p:spPr>
          <a:xfrm>
            <a:off x="3185725" y="3589093"/>
            <a:ext cx="2502000" cy="8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large sector is the same size as two small sectors.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8" name="Google Shape;1978;p102"/>
          <p:cNvSpPr/>
          <p:nvPr/>
        </p:nvSpPr>
        <p:spPr>
          <a:xfrm>
            <a:off x="6615836" y="1515713"/>
            <a:ext cx="1334700" cy="1334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9" name="Google Shape;1979;p102"/>
          <p:cNvCxnSpPr>
            <a:stCxn id="1978" idx="0"/>
          </p:cNvCxnSpPr>
          <p:nvPr/>
        </p:nvCxnSpPr>
        <p:spPr>
          <a:xfrm flipH="1">
            <a:off x="7281686" y="1515713"/>
            <a:ext cx="1500" cy="132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0" name="Google Shape;1980;p102"/>
          <p:cNvSpPr txBox="1"/>
          <p:nvPr>
            <p:ph idx="1" type="body"/>
          </p:nvPr>
        </p:nvSpPr>
        <p:spPr>
          <a:xfrm>
            <a:off x="6294782" y="1127550"/>
            <a:ext cx="15765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f)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{A, B, C}</a:t>
            </a:r>
            <a:endParaRPr sz="1600"/>
          </a:p>
        </p:txBody>
      </p:sp>
      <p:sp>
        <p:nvSpPr>
          <p:cNvPr id="1981" name="Google Shape;1981;p102"/>
          <p:cNvSpPr/>
          <p:nvPr/>
        </p:nvSpPr>
        <p:spPr>
          <a:xfrm flipH="1" rot="7178939">
            <a:off x="6627145" y="1527096"/>
            <a:ext cx="1311744" cy="1311744"/>
          </a:xfrm>
          <a:prstGeom prst="pie">
            <a:avLst>
              <a:gd fmla="val 12563709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102"/>
          <p:cNvSpPr/>
          <p:nvPr/>
        </p:nvSpPr>
        <p:spPr>
          <a:xfrm rot="10800000">
            <a:off x="6620942" y="1527252"/>
            <a:ext cx="1311600" cy="1311600"/>
          </a:xfrm>
          <a:prstGeom prst="pie">
            <a:avLst>
              <a:gd fmla="val 16218657" name="adj1"/>
              <a:gd fmla="val 1979302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3" name="Google Shape;1983;p102"/>
          <p:cNvCxnSpPr/>
          <p:nvPr/>
        </p:nvCxnSpPr>
        <p:spPr>
          <a:xfrm>
            <a:off x="7299425" y="2214350"/>
            <a:ext cx="296700" cy="54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102"/>
          <p:cNvCxnSpPr/>
          <p:nvPr/>
        </p:nvCxnSpPr>
        <p:spPr>
          <a:xfrm flipH="1">
            <a:off x="6966984" y="2214350"/>
            <a:ext cx="296700" cy="54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102"/>
          <p:cNvCxnSpPr/>
          <p:nvPr/>
        </p:nvCxnSpPr>
        <p:spPr>
          <a:xfrm rot="10800000">
            <a:off x="6626894" y="2184105"/>
            <a:ext cx="63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86" name="Google Shape;1986;p102"/>
          <p:cNvGrpSpPr/>
          <p:nvPr/>
        </p:nvGrpSpPr>
        <p:grpSpPr>
          <a:xfrm>
            <a:off x="7242165" y="1574886"/>
            <a:ext cx="73909" cy="642907"/>
            <a:chOff x="996050" y="213293"/>
            <a:chExt cx="93900" cy="909732"/>
          </a:xfrm>
        </p:grpSpPr>
        <p:cxnSp>
          <p:nvCxnSpPr>
            <p:cNvPr id="1987" name="Google Shape;1987;p10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8" name="Google Shape;1988;p10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9" name="Google Shape;1989;p102"/>
          <p:cNvSpPr txBox="1"/>
          <p:nvPr>
            <p:ph idx="1" type="body"/>
          </p:nvPr>
        </p:nvSpPr>
        <p:spPr>
          <a:xfrm>
            <a:off x="7533025" y="1849300"/>
            <a:ext cx="1602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0" name="Google Shape;1990;p102"/>
          <p:cNvSpPr txBox="1"/>
          <p:nvPr>
            <p:ph idx="1" type="body"/>
          </p:nvPr>
        </p:nvSpPr>
        <p:spPr>
          <a:xfrm>
            <a:off x="6923425" y="1773100"/>
            <a:ext cx="1602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1" name="Google Shape;1991;p102"/>
          <p:cNvSpPr txBox="1"/>
          <p:nvPr>
            <p:ph idx="1" type="body"/>
          </p:nvPr>
        </p:nvSpPr>
        <p:spPr>
          <a:xfrm>
            <a:off x="6710504" y="2202862"/>
            <a:ext cx="1602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2" name="Google Shape;1992;p102"/>
          <p:cNvSpPr txBox="1"/>
          <p:nvPr>
            <p:ph idx="1" type="body"/>
          </p:nvPr>
        </p:nvSpPr>
        <p:spPr>
          <a:xfrm>
            <a:off x="6862904" y="2398379"/>
            <a:ext cx="1602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3" name="Google Shape;1993;p102"/>
          <p:cNvSpPr txBox="1"/>
          <p:nvPr>
            <p:ph idx="1" type="body"/>
          </p:nvPr>
        </p:nvSpPr>
        <p:spPr>
          <a:xfrm>
            <a:off x="7075825" y="2535100"/>
            <a:ext cx="1602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4" name="Google Shape;1994;p102"/>
          <p:cNvSpPr txBox="1"/>
          <p:nvPr>
            <p:ph idx="1" type="body"/>
          </p:nvPr>
        </p:nvSpPr>
        <p:spPr>
          <a:xfrm>
            <a:off x="7308345" y="2539020"/>
            <a:ext cx="1602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5" name="Google Shape;1995;p102"/>
          <p:cNvSpPr txBox="1"/>
          <p:nvPr>
            <p:ph idx="1" type="body"/>
          </p:nvPr>
        </p:nvSpPr>
        <p:spPr>
          <a:xfrm>
            <a:off x="7568303" y="2415783"/>
            <a:ext cx="1602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6" name="Google Shape;1996;p102"/>
          <p:cNvSpPr txBox="1"/>
          <p:nvPr>
            <p:ph idx="1" type="body"/>
          </p:nvPr>
        </p:nvSpPr>
        <p:spPr>
          <a:xfrm>
            <a:off x="6005125" y="3070678"/>
            <a:ext cx="2814900" cy="16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largest sector is the same size as four lots of the smallest sector.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next largest is the same size as three lots.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10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Aisha, Jun and Izzy are playing a game that involves rolling a regular 6-sided dice.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Aisha’s piece moves if the dice roll is 1 or 2.</a:t>
            </a:r>
            <a:br>
              <a:rPr lang="en-GB" sz="1600"/>
            </a:br>
            <a:r>
              <a:rPr lang="en-GB" sz="1600"/>
              <a:t>    Jun’s piece moves if the dice roll is 3 or 4.</a:t>
            </a:r>
            <a:br>
              <a:rPr lang="en-GB" sz="1600"/>
            </a:br>
            <a:r>
              <a:rPr lang="en-GB" sz="1600"/>
              <a:t>    Izzy’s piece moves if the dice roll is 5 or 6.</a:t>
            </a:r>
            <a:endParaRPr sz="1600"/>
          </a:p>
        </p:txBody>
      </p:sp>
      <p:sp>
        <p:nvSpPr>
          <p:cNvPr id="2002" name="Google Shape;2002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Recognising more than two equally likely outcomes</a:t>
            </a:r>
            <a:r>
              <a:rPr b="1" lang="en-GB"/>
              <a:t> </a:t>
            </a:r>
            <a:endParaRPr/>
          </a:p>
        </p:txBody>
      </p:sp>
      <p:sp>
        <p:nvSpPr>
          <p:cNvPr id="2003" name="Google Shape;2003;p103"/>
          <p:cNvSpPr txBox="1"/>
          <p:nvPr>
            <p:ph idx="1" type="body"/>
          </p:nvPr>
        </p:nvSpPr>
        <p:spPr>
          <a:xfrm>
            <a:off x="324000" y="2207100"/>
            <a:ext cx="8496000" cy="6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Izzy thinks that 6 is the most difficult number on the dice to roll. </a:t>
            </a:r>
            <a:br>
              <a:rPr lang="en-GB" sz="1600"/>
            </a:br>
            <a:r>
              <a:rPr lang="en-GB" sz="1600"/>
              <a:t>    Explain why this is incorrect.</a:t>
            </a:r>
            <a:endParaRPr sz="1600"/>
          </a:p>
        </p:txBody>
      </p:sp>
      <p:sp>
        <p:nvSpPr>
          <p:cNvPr id="2004" name="Google Shape;2004;p103"/>
          <p:cNvSpPr txBox="1"/>
          <p:nvPr>
            <p:ph idx="1" type="body"/>
          </p:nvPr>
        </p:nvSpPr>
        <p:spPr>
          <a:xfrm>
            <a:off x="324000" y="3273900"/>
            <a:ext cx="8496000" cy="8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b) The </a:t>
            </a:r>
            <a:r>
              <a:rPr b="1" lang="en-GB" sz="1600"/>
              <a:t>sample space</a:t>
            </a:r>
            <a:r>
              <a:rPr lang="en-GB" sz="1600"/>
              <a:t> to show the possible </a:t>
            </a:r>
            <a:r>
              <a:rPr b="1" lang="en-GB" sz="1600"/>
              <a:t>outcomes</a:t>
            </a:r>
            <a:r>
              <a:rPr lang="en-GB" sz="1600"/>
              <a:t> to each </a:t>
            </a:r>
            <a:r>
              <a:rPr b="1" lang="en-GB" sz="1600"/>
              <a:t>trial</a:t>
            </a:r>
            <a:r>
              <a:rPr lang="en-GB" sz="1600"/>
              <a:t>.</a:t>
            </a:r>
            <a:br>
              <a:rPr lang="en-GB" sz="1600"/>
            </a:br>
            <a:r>
              <a:rPr lang="en-GB" sz="1600"/>
              <a:t>    </a:t>
            </a:r>
            <a:r>
              <a:rPr i="1" lang="en-GB" sz="1600"/>
              <a:t>ξ</a:t>
            </a:r>
            <a:r>
              <a:rPr i="1" lang="en-GB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= {Aisha moves, Jun moves, Izzy moves}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Explain why these outcomes are equally likely to happen.</a:t>
            </a:r>
            <a:endParaRPr sz="1200"/>
          </a:p>
        </p:txBody>
      </p:sp>
      <p:sp>
        <p:nvSpPr>
          <p:cNvPr id="2005" name="Google Shape;2005;p103"/>
          <p:cNvSpPr txBox="1"/>
          <p:nvPr>
            <p:ph idx="1" type="body"/>
          </p:nvPr>
        </p:nvSpPr>
        <p:spPr>
          <a:xfrm>
            <a:off x="544265" y="2801465"/>
            <a:ext cx="8496000" cy="35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Each number on the dice is equally likely to be rolled.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6" name="Google Shape;2006;p103"/>
          <p:cNvSpPr txBox="1"/>
          <p:nvPr>
            <p:ph idx="1" type="body"/>
          </p:nvPr>
        </p:nvSpPr>
        <p:spPr>
          <a:xfrm>
            <a:off x="544275" y="4230050"/>
            <a:ext cx="7969200" cy="8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Each player has the same number of </a:t>
            </a:r>
            <a:r>
              <a:rPr b="1" lang="en-GB" sz="1900">
                <a:latin typeface="Kalam"/>
                <a:ea typeface="Kalam"/>
                <a:cs typeface="Kalam"/>
                <a:sym typeface="Kalam"/>
              </a:rPr>
              <a:t>outcomes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which move their piece and each </a:t>
            </a:r>
            <a:r>
              <a:rPr b="1" lang="en-GB" sz="1900">
                <a:latin typeface="Kalam"/>
                <a:ea typeface="Kalam"/>
                <a:cs typeface="Kalam"/>
                <a:sym typeface="Kalam"/>
              </a:rPr>
              <a:t>outcome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(number on the dice) is equally likely to be rolled.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0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</a:t>
            </a:r>
            <a:r>
              <a:rPr b="1" lang="en-GB" sz="2000"/>
              <a:t>trial</a:t>
            </a:r>
            <a:r>
              <a:rPr lang="en-GB" sz="2000"/>
              <a:t> is a single predefined test.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An </a:t>
            </a:r>
            <a:r>
              <a:rPr b="1" lang="en-GB" sz="2000"/>
              <a:t>outcome</a:t>
            </a:r>
            <a:r>
              <a:rPr lang="en-GB" sz="2000"/>
              <a:t> is a result of a trial.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set of possible </a:t>
            </a:r>
            <a:r>
              <a:rPr b="1" lang="en-GB" sz="2000"/>
              <a:t>outcomes</a:t>
            </a:r>
            <a:r>
              <a:rPr lang="en-GB" sz="2000"/>
              <a:t> for a trial can be stated by writing a </a:t>
            </a:r>
            <a:r>
              <a:rPr b="1" lang="en-GB" sz="2000"/>
              <a:t>sample space</a:t>
            </a:r>
            <a:r>
              <a:rPr lang="en-GB" sz="2000"/>
              <a:t>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/>
              <a:t>Outcomes</a:t>
            </a:r>
            <a:r>
              <a:rPr lang="en-GB" sz="2000"/>
              <a:t> can be evaluated to decide how likely they are to happen.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By considering the likelihood of </a:t>
            </a:r>
            <a:r>
              <a:rPr b="1" lang="en-GB" sz="2000"/>
              <a:t>outcomes</a:t>
            </a:r>
            <a:r>
              <a:rPr lang="en-GB" sz="2000"/>
              <a:t>, we can identify when </a:t>
            </a:r>
            <a:r>
              <a:rPr b="1" lang="en-GB" sz="2000"/>
              <a:t>outcomes</a:t>
            </a:r>
            <a:r>
              <a:rPr lang="en-GB" sz="2000"/>
              <a:t> are equally likely to happen.</a:t>
            </a:r>
            <a:endParaRPr sz="2000"/>
          </a:p>
        </p:txBody>
      </p:sp>
      <p:sp>
        <p:nvSpPr>
          <p:cNvPr id="2012" name="Google Shape;2012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Equally likely outcomes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18" name="Google Shape;2018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