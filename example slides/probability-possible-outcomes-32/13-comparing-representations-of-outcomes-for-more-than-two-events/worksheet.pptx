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FA8625-8023-426C-9776-6E08F1130A37}">
  <a:tblStyle styleId="{35FA8625-8023-426C-9776-6E08F1130A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89B39E3-21D4-4EA0-ACDB-9C0EBEE54E7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b8435a5f5c_0_17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b8435a5f5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2380182" y="2394001"/>
            <a:ext cx="74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964919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Using the correctly completed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fill in the incomplete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1" y="1563650"/>
            <a:ext cx="6254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Using different diagrams for multiple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 flipH="1">
            <a:off x="4189022" y="2354647"/>
            <a:ext cx="2868900" cy="190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 flipH="1">
            <a:off x="5033238" y="3000803"/>
            <a:ext cx="1180500" cy="1180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 flipH="1">
            <a:off x="4655414" y="2436437"/>
            <a:ext cx="1935952" cy="1180504"/>
            <a:chOff x="3541748" y="4038900"/>
            <a:chExt cx="979534" cy="597300"/>
          </a:xfrm>
        </p:grpSpPr>
        <p:sp>
          <p:nvSpPr>
            <p:cNvPr id="167" name="Google Shape;167;p20"/>
            <p:cNvSpPr/>
            <p:nvPr/>
          </p:nvSpPr>
          <p:spPr>
            <a:xfrm>
              <a:off x="3541748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3923982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" name="Google Shape;169;p20"/>
          <p:cNvSpPr txBox="1"/>
          <p:nvPr/>
        </p:nvSpPr>
        <p:spPr>
          <a:xfrm>
            <a:off x="4392845" y="2423492"/>
            <a:ext cx="4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6414019" y="2423492"/>
            <a:ext cx="654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020528" y="3965174"/>
            <a:ext cx="819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 flipH="1" rot="10800000">
            <a:off x="2058759" y="2512232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/>
          <p:nvPr/>
        </p:nvCxnSpPr>
        <p:spPr>
          <a:xfrm>
            <a:off x="2058759" y="2649642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0"/>
          <p:cNvCxnSpPr/>
          <p:nvPr/>
        </p:nvCxnSpPr>
        <p:spPr>
          <a:xfrm flipH="1" rot="10800000">
            <a:off x="2058759" y="2964569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0"/>
          <p:cNvCxnSpPr/>
          <p:nvPr/>
        </p:nvCxnSpPr>
        <p:spPr>
          <a:xfrm>
            <a:off x="2058759" y="3101980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0"/>
          <p:cNvCxnSpPr/>
          <p:nvPr/>
        </p:nvCxnSpPr>
        <p:spPr>
          <a:xfrm flipH="1" rot="10800000">
            <a:off x="2058759" y="3416907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2058759" y="3554317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0"/>
          <p:cNvCxnSpPr/>
          <p:nvPr/>
        </p:nvCxnSpPr>
        <p:spPr>
          <a:xfrm flipH="1" rot="10800000">
            <a:off x="2058759" y="3869244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2058759" y="4006654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0"/>
          <p:cNvCxnSpPr/>
          <p:nvPr/>
        </p:nvCxnSpPr>
        <p:spPr>
          <a:xfrm flipH="1" rot="10800000">
            <a:off x="1311707" y="3529690"/>
            <a:ext cx="243600" cy="20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1311707" y="3794481"/>
            <a:ext cx="243600" cy="20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0"/>
          <p:cNvCxnSpPr/>
          <p:nvPr/>
        </p:nvCxnSpPr>
        <p:spPr>
          <a:xfrm flipH="1" rot="10800000">
            <a:off x="1311707" y="2625020"/>
            <a:ext cx="243600" cy="20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0"/>
          <p:cNvCxnSpPr/>
          <p:nvPr/>
        </p:nvCxnSpPr>
        <p:spPr>
          <a:xfrm>
            <a:off x="1311707" y="2889811"/>
            <a:ext cx="243600" cy="20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0"/>
          <p:cNvCxnSpPr/>
          <p:nvPr/>
        </p:nvCxnSpPr>
        <p:spPr>
          <a:xfrm flipH="1" rot="10800000">
            <a:off x="556667" y="2859820"/>
            <a:ext cx="284100" cy="39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556667" y="3368803"/>
            <a:ext cx="284100" cy="39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0"/>
          <p:cNvSpPr txBox="1"/>
          <p:nvPr/>
        </p:nvSpPr>
        <p:spPr>
          <a:xfrm>
            <a:off x="847049" y="2742607"/>
            <a:ext cx="4239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847049" y="3647284"/>
            <a:ext cx="4239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554358" y="2968768"/>
            <a:ext cx="51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554358" y="3421223"/>
            <a:ext cx="51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554358" y="3873349"/>
            <a:ext cx="51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380203" y="2637099"/>
            <a:ext cx="100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380203" y="3090316"/>
            <a:ext cx="100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380174" y="3299557"/>
            <a:ext cx="74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380203" y="3542643"/>
            <a:ext cx="100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380174" y="3751917"/>
            <a:ext cx="74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380203" y="3995012"/>
            <a:ext cx="100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380174" y="2847237"/>
            <a:ext cx="74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151777" y="2419086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340730" y="2662185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151777" y="2872303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755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3340730" y="3115402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151777" y="3325520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340730" y="3568619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8, 64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3151777" y="3778737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340730" y="4021836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554358" y="2516642"/>
            <a:ext cx="51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172640" y="2665869"/>
            <a:ext cx="284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 flipH="1">
            <a:off x="505633" y="5698349"/>
            <a:ext cx="3031800" cy="2016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499519" y="7352208"/>
            <a:ext cx="8658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digits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(2d)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 flipH="1">
            <a:off x="1397589" y="6381209"/>
            <a:ext cx="1247700" cy="1247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1" name="Google Shape;211;p20"/>
          <p:cNvGrpSpPr/>
          <p:nvPr/>
        </p:nvGrpSpPr>
        <p:grpSpPr>
          <a:xfrm flipH="1">
            <a:off x="998361" y="5784512"/>
            <a:ext cx="2045954" cy="1247521"/>
            <a:chOff x="3541748" y="4038900"/>
            <a:chExt cx="979534" cy="597300"/>
          </a:xfrm>
        </p:grpSpPr>
        <p:sp>
          <p:nvSpPr>
            <p:cNvPr id="212" name="Google Shape;212;p20"/>
            <p:cNvSpPr/>
            <p:nvPr/>
          </p:nvSpPr>
          <p:spPr>
            <a:xfrm>
              <a:off x="3541748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3923982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5284076" y="5701591"/>
            <a:ext cx="283384" cy="293705"/>
            <a:chOff x="6502726" y="1522723"/>
            <a:chExt cx="364200" cy="377464"/>
          </a:xfrm>
        </p:grpSpPr>
        <p:cxnSp>
          <p:nvCxnSpPr>
            <p:cNvPr id="215" name="Google Shape;215;p20"/>
            <p:cNvCxnSpPr/>
            <p:nvPr/>
          </p:nvCxnSpPr>
          <p:spPr>
            <a:xfrm flipH="1" rot="10800000">
              <a:off x="6502726" y="1522723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0"/>
            <p:cNvCxnSpPr/>
            <p:nvPr/>
          </p:nvCxnSpPr>
          <p:spPr>
            <a:xfrm>
              <a:off x="6502726" y="1734587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7" name="Google Shape;217;p20"/>
          <p:cNvGrpSpPr/>
          <p:nvPr/>
        </p:nvGrpSpPr>
        <p:grpSpPr>
          <a:xfrm>
            <a:off x="5284076" y="6244182"/>
            <a:ext cx="283384" cy="293705"/>
            <a:chOff x="6502726" y="2220052"/>
            <a:chExt cx="364200" cy="377464"/>
          </a:xfrm>
        </p:grpSpPr>
        <p:cxnSp>
          <p:nvCxnSpPr>
            <p:cNvPr id="218" name="Google Shape;218;p20"/>
            <p:cNvCxnSpPr/>
            <p:nvPr/>
          </p:nvCxnSpPr>
          <p:spPr>
            <a:xfrm flipH="1" rot="10800000">
              <a:off x="6502726" y="2220052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20"/>
            <p:cNvCxnSpPr/>
            <p:nvPr/>
          </p:nvCxnSpPr>
          <p:spPr>
            <a:xfrm>
              <a:off x="6502726" y="2431916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0" name="Google Shape;220;p20"/>
          <p:cNvGrpSpPr/>
          <p:nvPr/>
        </p:nvGrpSpPr>
        <p:grpSpPr>
          <a:xfrm>
            <a:off x="5284076" y="6786774"/>
            <a:ext cx="283384" cy="836296"/>
            <a:chOff x="6502726" y="2917381"/>
            <a:chExt cx="364200" cy="1074793"/>
          </a:xfrm>
        </p:grpSpPr>
        <p:grpSp>
          <p:nvGrpSpPr>
            <p:cNvPr id="221" name="Google Shape;221;p20"/>
            <p:cNvGrpSpPr/>
            <p:nvPr/>
          </p:nvGrpSpPr>
          <p:grpSpPr>
            <a:xfrm>
              <a:off x="6502726" y="2917381"/>
              <a:ext cx="364200" cy="377464"/>
              <a:chOff x="6502726" y="2917381"/>
              <a:chExt cx="364200" cy="377464"/>
            </a:xfrm>
          </p:grpSpPr>
          <p:cxnSp>
            <p:nvCxnSpPr>
              <p:cNvPr id="222" name="Google Shape;222;p20"/>
              <p:cNvCxnSpPr/>
              <p:nvPr/>
            </p:nvCxnSpPr>
            <p:spPr>
              <a:xfrm flipH="1" rot="10800000">
                <a:off x="6502726" y="2917381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20"/>
              <p:cNvCxnSpPr/>
              <p:nvPr/>
            </p:nvCxnSpPr>
            <p:spPr>
              <a:xfrm>
                <a:off x="6502726" y="3129245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24" name="Google Shape;224;p20"/>
            <p:cNvGrpSpPr/>
            <p:nvPr/>
          </p:nvGrpSpPr>
          <p:grpSpPr>
            <a:xfrm>
              <a:off x="6502726" y="3614710"/>
              <a:ext cx="364200" cy="377464"/>
              <a:chOff x="6502726" y="3614710"/>
              <a:chExt cx="364200" cy="377464"/>
            </a:xfrm>
          </p:grpSpPr>
          <p:cxnSp>
            <p:nvCxnSpPr>
              <p:cNvPr id="225" name="Google Shape;225;p20"/>
              <p:cNvCxnSpPr/>
              <p:nvPr/>
            </p:nvCxnSpPr>
            <p:spPr>
              <a:xfrm flipH="1" rot="10800000">
                <a:off x="6502726" y="3614710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20"/>
              <p:cNvCxnSpPr/>
              <p:nvPr/>
            </p:nvCxnSpPr>
            <p:spPr>
              <a:xfrm>
                <a:off x="6502726" y="3826574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27" name="Google Shape;227;p20"/>
          <p:cNvGrpSpPr/>
          <p:nvPr/>
        </p:nvGrpSpPr>
        <p:grpSpPr>
          <a:xfrm>
            <a:off x="4538518" y="6922017"/>
            <a:ext cx="243234" cy="566061"/>
            <a:chOff x="5544548" y="3091193"/>
            <a:chExt cx="312600" cy="727492"/>
          </a:xfrm>
        </p:grpSpPr>
        <p:cxnSp>
          <p:nvCxnSpPr>
            <p:cNvPr id="228" name="Google Shape;228;p20"/>
            <p:cNvCxnSpPr/>
            <p:nvPr/>
          </p:nvCxnSpPr>
          <p:spPr>
            <a:xfrm flipH="1" rot="10800000">
              <a:off x="5544548" y="3091193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20"/>
            <p:cNvCxnSpPr/>
            <p:nvPr/>
          </p:nvCxnSpPr>
          <p:spPr>
            <a:xfrm>
              <a:off x="5544548" y="3499485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0" name="Google Shape;230;p20"/>
          <p:cNvGrpSpPr/>
          <p:nvPr/>
        </p:nvGrpSpPr>
        <p:grpSpPr>
          <a:xfrm>
            <a:off x="4538518" y="5836840"/>
            <a:ext cx="243234" cy="566061"/>
            <a:chOff x="5544548" y="1696543"/>
            <a:chExt cx="312600" cy="727492"/>
          </a:xfrm>
        </p:grpSpPr>
        <p:cxnSp>
          <p:nvCxnSpPr>
            <p:cNvPr id="231" name="Google Shape;231;p20"/>
            <p:cNvCxnSpPr/>
            <p:nvPr/>
          </p:nvCxnSpPr>
          <p:spPr>
            <a:xfrm flipH="1" rot="10800000">
              <a:off x="5544548" y="1696543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" name="Google Shape;232;p20"/>
            <p:cNvCxnSpPr/>
            <p:nvPr/>
          </p:nvCxnSpPr>
          <p:spPr>
            <a:xfrm>
              <a:off x="5544548" y="2104834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33" name="Google Shape;233;p20"/>
          <p:cNvCxnSpPr/>
          <p:nvPr/>
        </p:nvCxnSpPr>
        <p:spPr>
          <a:xfrm flipH="1" rot="10800000">
            <a:off x="3844149" y="6118644"/>
            <a:ext cx="283500" cy="47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0"/>
          <p:cNvCxnSpPr/>
          <p:nvPr/>
        </p:nvCxnSpPr>
        <p:spPr>
          <a:xfrm>
            <a:off x="3844149" y="6729006"/>
            <a:ext cx="283500" cy="47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0"/>
          <p:cNvSpPr txBox="1"/>
          <p:nvPr/>
        </p:nvSpPr>
        <p:spPr>
          <a:xfrm>
            <a:off x="5604691" y="6394975"/>
            <a:ext cx="807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604653" y="6645943"/>
            <a:ext cx="509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5604691" y="6937532"/>
            <a:ext cx="807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5604653" y="7188539"/>
            <a:ext cx="509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5604691" y="7480139"/>
            <a:ext cx="807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5604653" y="6103396"/>
            <a:ext cx="509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959228" y="5589840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266374" y="5881431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5959228" y="6133464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6266374" y="6425056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959228" y="6677089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266374" y="6968680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5959228" y="7220713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6266374" y="7512305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7,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1879790" y="7145142"/>
            <a:ext cx="283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1510614" y="6680946"/>
            <a:ext cx="283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1796039" y="6136908"/>
            <a:ext cx="447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5604691" y="5851351"/>
            <a:ext cx="807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76400" y="5085973"/>
            <a:ext cx="66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The Venn diagram and outcome tree both represent the same set of events for a spinner.  Fill in all missing outcomes for both representations.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47315" y="5698351"/>
            <a:ext cx="78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  of 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(f360)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721615" y="5698344"/>
            <a:ext cx="78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multiple of 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(m8)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664086" y="7400559"/>
            <a:ext cx="5397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231946" y="6300646"/>
            <a:ext cx="447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134301" y="6011964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4134301" y="7097087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2d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4854349" y="5740535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4854349" y="6283111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854349" y="6825677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4854349" y="7368253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604658" y="5559750"/>
            <a:ext cx="509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  <p:cxnSp>
        <p:nvCxnSpPr>
          <p:cNvPr id="270" name="Google Shape;270;p21"/>
          <p:cNvCxnSpPr/>
          <p:nvPr/>
        </p:nvCxnSpPr>
        <p:spPr>
          <a:xfrm>
            <a:off x="474757" y="42044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71" name="Google Shape;271;p21"/>
          <p:cNvGraphicFramePr/>
          <p:nvPr/>
        </p:nvGraphicFramePr>
        <p:xfrm>
          <a:off x="484103" y="89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{35FA8625-8023-426C-9776-6E08F1130A37}</a:tableStyleId>
              </a:tblPr>
              <a:tblGrid>
                <a:gridCol w="403275"/>
                <a:gridCol w="762300"/>
                <a:gridCol w="762300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</a:tr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21"/>
          <p:cNvSpPr txBox="1"/>
          <p:nvPr/>
        </p:nvSpPr>
        <p:spPr>
          <a:xfrm>
            <a:off x="2602775" y="853150"/>
            <a:ext cx="448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Whilst one outcome table cannot show three events from a trial, two outcome tables can.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all missing outcomes on both the pair of outcome tables and the Venn diagram.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3" name="Google Shape;273;p21"/>
          <p:cNvGraphicFramePr/>
          <p:nvPr/>
        </p:nvGraphicFramePr>
        <p:xfrm>
          <a:off x="484103" y="254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{35FA8625-8023-426C-9776-6E08F1130A37}</a:tableStyleId>
              </a:tblPr>
              <a:tblGrid>
                <a:gridCol w="403275"/>
                <a:gridCol w="762300"/>
                <a:gridCol w="762300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tails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</a:tr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Lucas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21"/>
          <p:cNvSpPr/>
          <p:nvPr/>
        </p:nvSpPr>
        <p:spPr>
          <a:xfrm flipH="1">
            <a:off x="3058175" y="1879495"/>
            <a:ext cx="3928200" cy="1820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 flipH="1">
            <a:off x="4020442" y="2454876"/>
            <a:ext cx="2003700" cy="118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 flipH="1">
            <a:off x="4483601" y="2009290"/>
            <a:ext cx="2003400" cy="118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 flipH="1">
            <a:off x="3557867" y="2009290"/>
            <a:ext cx="2003400" cy="118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3200895" y="1994317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6341423" y="1994317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5741282" y="3312146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5392344" y="2853482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732268" y="2188071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805099" y="2362691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652330" y="3312150"/>
            <a:ext cx="740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714113" y="6093403"/>
            <a:ext cx="238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Create two lists of outcomes to find all possible two course meals.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714113" y="4837741"/>
            <a:ext cx="23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 two-course meal is made from either: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90625" y="4837741"/>
            <a:ext cx="238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 three-course meal is made from one starter, one main, and one dessert.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By creating an outcome tree, list all possible three-course meals.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67999" y="4230650"/>
            <a:ext cx="62550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Multi-stage trials with lists and outcome trees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806899" y="5408891"/>
            <a:ext cx="229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starter and one main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main and one dessert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0" name="Google Shape;290;p21"/>
          <p:cNvCxnSpPr/>
          <p:nvPr/>
        </p:nvCxnSpPr>
        <p:spPr>
          <a:xfrm>
            <a:off x="3790351" y="4772702"/>
            <a:ext cx="8400" cy="515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21"/>
          <p:cNvSpPr txBox="1"/>
          <p:nvPr/>
        </p:nvSpPr>
        <p:spPr>
          <a:xfrm>
            <a:off x="3045418" y="4902079"/>
            <a:ext cx="1489800" cy="27336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Tomato Soup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Garlic Bread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Pasta Carbonara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Fish Pie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Spinach Gnocchi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Desserts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Vanilla Ice Cream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Chocolate Cake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Banana Split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468000" y="858000"/>
            <a:ext cx="1590300" cy="27336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Tomato Soup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Garlic Bread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Pasta Carbonara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Fish Pie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Spinach Gnocchi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Desserts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Vanilla Ice Cream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Chocolate Cake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Banana Split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2388000" y="851650"/>
            <a:ext cx="47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How many more three-course meals are there than two-course meals?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490625" y="3975850"/>
            <a:ext cx="46575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Izzy has started to write down a list of outcomes for a three-stage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 outcome from every stage of the trial is represented at least once in Izzy’s incomplete list.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Draw and complete an outcome tree to create a sample space of all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4" name="Google Shape;304;p22"/>
          <p:cNvGraphicFramePr/>
          <p:nvPr/>
        </p:nvGraphicFramePr>
        <p:xfrm>
          <a:off x="5368800" y="375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{089B39E3-21D4-4EA0-ACDB-9C0EBEE54E7F}</a:tableStyleId>
              </a:tblPr>
              <a:tblGrid>
                <a:gridCol w="1298075"/>
              </a:tblGrid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A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R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F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R 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A 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K 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