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0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79B40AD-98D3-44E5-8BA0-BAAD77B1F533}">
  <a:tblStyle styleId="{879B40AD-98D3-44E5-8BA0-BAAD77B1F53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471181EF-68B9-4DC5-A393-97BDB0EA0B63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g2b641362380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4" name="Google Shape;744;g2b641362380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8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g2b641362380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0" name="Google Shape;750;g2b641362380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g2b641362380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5" name="Google Shape;755;g2b641362380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g2b7e3fdc120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0" name="Google Shape;760;g2b7e3fdc120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g2b641362380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8" name="Google Shape;768;g2b641362380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g2b641362380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6" name="Google Shape;776;g2b641362380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g2b641362380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4" name="Google Shape;814;g2b641362380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6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Google Shape;857;g2b641362380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8" name="Google Shape;858;g2b641362380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5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g2b641362380_0_2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7" name="Google Shape;937;g2b641362380_0_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0" name="Shape 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1" name="Google Shape;991;g2b641362380_0_2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2" name="Google Shape;992;g2b641362380_0_2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2" name="Shape 1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3" name="Google Shape;1063;g2b641362380_0_3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4" name="Google Shape;1064;g2b641362380_0_3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9" name="Shape 1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Google Shape;1130;g2b641362380_0_4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1" name="Google Shape;1131;g2b641362380_0_4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9" name="Shape 1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0" name="Google Shape;1200;g2b641362380_0_6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1" name="Google Shape;1201;g2b641362380_0_6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0" name="Shape 1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1" name="Google Shape;1251;g2b641362380_0_7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2" name="Google Shape;1252;g2b641362380_0_7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2" name="Shape 1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3" name="Google Shape;1313;g2b641362380_0_8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4" name="Google Shape;1314;g2b641362380_0_8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1" name="Shape 1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2" name="Google Shape;1332;g2b641362380_0_8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3" name="Google Shape;1333;g2b641362380_0_8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1" name="Shape 1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" name="Google Shape;1392;g2b641362380_0_9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3" name="Google Shape;1393;g2b641362380_0_9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7" name="Shape 1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8" name="Google Shape;1458;g2b641362380_0_10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9" name="Google Shape;1459;g2b641362380_0_10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0" name="Shape 1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1" name="Google Shape;1481;g2b641362380_0_10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2" name="Google Shape;1482;g2b641362380_0_10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8" name="Shape 1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9" name="Google Shape;1489;g2b641362380_0_10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0" name="Google Shape;1490;g2b641362380_0_10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1" name="Shape 1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2" name="Google Shape;1532;g2b641362380_0_1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3" name="Google Shape;1533;g2b641362380_0_1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2" name="Shape 1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3" name="Google Shape;1603;g2b641362380_0_11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4" name="Google Shape;1604;g2b641362380_0_1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9" name="Shape 1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0" name="Google Shape;1620;g2b641362380_0_12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1" name="Google Shape;1621;g2b641362380_0_12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5" name="Shape 1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6" name="Google Shape;1666;g2b641362380_0_12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7" name="Google Shape;1667;g2b641362380_0_12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1" name="Shape 1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2" name="Google Shape;1672;g2b641362380_0_12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3" name="Google Shape;1673;g2b641362380_0_12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8" name="Shape 1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9" name="Google Shape;1759;g2b641362380_0_13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0" name="Google Shape;1760;g2b641362380_0_13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4" name="Shape 1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5" name="Google Shape;1775;g2b641362380_0_14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6" name="Google Shape;1776;g2b641362380_0_14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5" name="Shape 1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6" name="Google Shape;1786;g2b641362380_0_14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7" name="Google Shape;1787;g2b641362380_0_14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4" name="Shape 1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5" name="Google Shape;1865;g2b641362380_0_15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6" name="Google Shape;1866;g2b641362380_0_15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4" name="Shape 1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" name="Google Shape;1945;g2b641362380_0_16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6" name="Google Shape;1946;g2b641362380_0_16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5" name="Shape 1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" name="Google Shape;1966;g2b641362380_0_16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7" name="Google Shape;1967;g2b641362380_0_16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4" name="Shape 1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5" name="Google Shape;1995;g2b641362380_0_16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6" name="Google Shape;1996;g2b641362380_0_16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8" name="Shape 2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9" name="Google Shape;2009;g2b641362380_0_16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0" name="Google Shape;2010;g2b641362380_0_16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5" name="Shape 20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6" name="Google Shape;2016;g2b641362380_0_16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7" name="Google Shape;2017;g2b641362380_0_16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7" name="Shape 20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8" name="Google Shape;2098;g2b641362380_0_17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9" name="Google Shape;2099;g2b641362380_0_17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3" name="Shape 2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4" name="Google Shape;2114;g2b641362380_0_17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5" name="Google Shape;2115;g2b641362380_0_17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1" name="Shape 2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2" name="Google Shape;2122;g2b641362380_0_17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3" name="Google Shape;2123;g2b641362380_0_17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8" name="Shape 2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9" name="Google Shape;2129;g2b641362380_0_17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0" name="Google Shape;2130;g2b641362380_0_17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2" name="Shape 2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3" name="Google Shape;2203;g2b641362380_0_18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4" name="Google Shape;2204;g2b641362380_0_18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8" name="Shape 2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9" name="Google Shape;2209;g2b641362380_0_18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0" name="Google Shape;2210;g2b641362380_0_18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4.png"/><Relationship Id="rId4" Type="http://schemas.openxmlformats.org/officeDocument/2006/relationships/image" Target="../media/image7.png"/><Relationship Id="rId5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11.png"/><Relationship Id="rId5" Type="http://schemas.openxmlformats.org/officeDocument/2006/relationships/image" Target="../media/image16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2.png"/><Relationship Id="rId4" Type="http://schemas.openxmlformats.org/officeDocument/2006/relationships/image" Target="../media/image4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4.png"/><Relationship Id="rId4" Type="http://schemas.openxmlformats.org/officeDocument/2006/relationships/image" Target="../media/image20.png"/><Relationship Id="rId5" Type="http://schemas.openxmlformats.org/officeDocument/2006/relationships/image" Target="../media/image10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9.png"/><Relationship Id="rId4" Type="http://schemas.openxmlformats.org/officeDocument/2006/relationships/image" Target="../media/image4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23.png"/><Relationship Id="rId4" Type="http://schemas.openxmlformats.org/officeDocument/2006/relationships/image" Target="../media/image22.png"/><Relationship Id="rId5" Type="http://schemas.openxmlformats.org/officeDocument/2006/relationships/image" Target="../media/image14.png"/><Relationship Id="rId6" Type="http://schemas.openxmlformats.org/officeDocument/2006/relationships/image" Target="../media/image17.png"/><Relationship Id="rId7" Type="http://schemas.openxmlformats.org/officeDocument/2006/relationships/image" Target="../media/image13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Relationship Id="rId3" Type="http://schemas.openxmlformats.org/officeDocument/2006/relationships/image" Target="../media/image24.png"/><Relationship Id="rId4" Type="http://schemas.openxmlformats.org/officeDocument/2006/relationships/image" Target="../media/image60.png"/><Relationship Id="rId5" Type="http://schemas.openxmlformats.org/officeDocument/2006/relationships/image" Target="../media/image28.png"/><Relationship Id="rId6" Type="http://schemas.openxmlformats.org/officeDocument/2006/relationships/image" Target="../media/image27.png"/><Relationship Id="rId7" Type="http://schemas.openxmlformats.org/officeDocument/2006/relationships/image" Target="../media/image15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2.png"/><Relationship Id="rId3" Type="http://schemas.openxmlformats.org/officeDocument/2006/relationships/image" Target="../media/image60.png"/><Relationship Id="rId4" Type="http://schemas.openxmlformats.org/officeDocument/2006/relationships/image" Target="../media/image25.png"/><Relationship Id="rId9" Type="http://schemas.openxmlformats.org/officeDocument/2006/relationships/image" Target="../media/image15.png"/><Relationship Id="rId5" Type="http://schemas.openxmlformats.org/officeDocument/2006/relationships/image" Target="../media/image24.png"/><Relationship Id="rId6" Type="http://schemas.openxmlformats.org/officeDocument/2006/relationships/image" Target="../media/image29.png"/><Relationship Id="rId7" Type="http://schemas.openxmlformats.org/officeDocument/2006/relationships/image" Target="../media/image28.png"/><Relationship Id="rId8" Type="http://schemas.openxmlformats.org/officeDocument/2006/relationships/image" Target="../media/image27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2.png"/><Relationship Id="rId3" Type="http://schemas.openxmlformats.org/officeDocument/2006/relationships/image" Target="../media/image60.png"/><Relationship Id="rId4" Type="http://schemas.openxmlformats.org/officeDocument/2006/relationships/image" Target="../media/image30.png"/><Relationship Id="rId11" Type="http://schemas.openxmlformats.org/officeDocument/2006/relationships/image" Target="../media/image15.png"/><Relationship Id="rId10" Type="http://schemas.openxmlformats.org/officeDocument/2006/relationships/image" Target="../media/image37.png"/><Relationship Id="rId9" Type="http://schemas.openxmlformats.org/officeDocument/2006/relationships/image" Target="../media/image27.png"/><Relationship Id="rId5" Type="http://schemas.openxmlformats.org/officeDocument/2006/relationships/image" Target="../media/image25.png"/><Relationship Id="rId6" Type="http://schemas.openxmlformats.org/officeDocument/2006/relationships/image" Target="../media/image24.png"/><Relationship Id="rId7" Type="http://schemas.openxmlformats.org/officeDocument/2006/relationships/image" Target="../media/image29.png"/><Relationship Id="rId8" Type="http://schemas.openxmlformats.org/officeDocument/2006/relationships/image" Target="../media/image28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6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6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6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Relationship Id="rId4" Type="http://schemas.openxmlformats.org/officeDocument/2006/relationships/image" Target="../media/image42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6.png"/><Relationship Id="rId4" Type="http://schemas.openxmlformats.org/officeDocument/2006/relationships/image" Target="../media/image42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6.png"/><Relationship Id="rId4" Type="http://schemas.openxmlformats.org/officeDocument/2006/relationships/image" Target="../media/image42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6.png"/><Relationship Id="rId4" Type="http://schemas.openxmlformats.org/officeDocument/2006/relationships/image" Target="../media/image42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3.png"/><Relationship Id="rId3" Type="http://schemas.openxmlformats.org/officeDocument/2006/relationships/image" Target="../media/image35.png"/><Relationship Id="rId4" Type="http://schemas.openxmlformats.org/officeDocument/2006/relationships/image" Target="../media/image42.png"/><Relationship Id="rId5" Type="http://schemas.openxmlformats.org/officeDocument/2006/relationships/image" Target="../media/image44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6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6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6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6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9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9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9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9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329775" y="9534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329775" y="629475"/>
            <a:ext cx="4241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901925" y="629475"/>
            <a:ext cx="4012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329775" y="32059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9" name="Google Shape;99;p12"/>
          <p:cNvGrpSpPr/>
          <p:nvPr/>
        </p:nvGrpSpPr>
        <p:grpSpPr>
          <a:xfrm>
            <a:off x="2650916" y="1644417"/>
            <a:ext cx="1745270" cy="1430724"/>
            <a:chOff x="2642961" y="1644312"/>
            <a:chExt cx="1454634" cy="1195657"/>
          </a:xfrm>
        </p:grpSpPr>
        <p:pic>
          <p:nvPicPr>
            <p:cNvPr id="100" name="Google Shape;100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1" name="Google Shape;101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4" name="Google Shape;104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328513" y="35697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98750" y="17780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106" name="Google Shape;106;p1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Teacher Guidance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3" type="subTitle"/>
          </p:nvPr>
        </p:nvSpPr>
        <p:spPr>
          <a:xfrm>
            <a:off x="324000" y="2105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4" name="Google Shape;114;p13"/>
          <p:cNvSpPr txBox="1"/>
          <p:nvPr>
            <p:ph idx="4" type="subTitle"/>
          </p:nvPr>
        </p:nvSpPr>
        <p:spPr>
          <a:xfrm>
            <a:off x="2699325" y="2105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5" name="Google Shape;115;p13"/>
          <p:cNvSpPr txBox="1"/>
          <p:nvPr>
            <p:ph idx="5" type="subTitle"/>
          </p:nvPr>
        </p:nvSpPr>
        <p:spPr>
          <a:xfrm>
            <a:off x="324000" y="3400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6" name="Google Shape;116;p13"/>
          <p:cNvSpPr txBox="1"/>
          <p:nvPr>
            <p:ph idx="6" type="subTitle"/>
          </p:nvPr>
        </p:nvSpPr>
        <p:spPr>
          <a:xfrm>
            <a:off x="2699325" y="3400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4)">
  <p:cSld name="CUSTOM_3_1_1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9" name="Google Shape;119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4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2" name="Google Shape;122;p14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3" name="Google Shape;123;p14"/>
          <p:cNvSpPr txBox="1"/>
          <p:nvPr>
            <p:ph idx="3" type="subTitle"/>
          </p:nvPr>
        </p:nvSpPr>
        <p:spPr>
          <a:xfrm>
            <a:off x="324000" y="1800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4" name="Google Shape;124;p14"/>
          <p:cNvSpPr txBox="1"/>
          <p:nvPr>
            <p:ph idx="4" type="subTitle"/>
          </p:nvPr>
        </p:nvSpPr>
        <p:spPr>
          <a:xfrm>
            <a:off x="2699325" y="1800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4"/>
          <p:cNvSpPr txBox="1"/>
          <p:nvPr>
            <p:ph idx="5" type="subTitle"/>
          </p:nvPr>
        </p:nvSpPr>
        <p:spPr>
          <a:xfrm>
            <a:off x="324000" y="2791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4"/>
          <p:cNvSpPr txBox="1"/>
          <p:nvPr>
            <p:ph idx="6" type="subTitle"/>
          </p:nvPr>
        </p:nvSpPr>
        <p:spPr>
          <a:xfrm>
            <a:off x="2699325" y="2791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4"/>
          <p:cNvSpPr txBox="1"/>
          <p:nvPr>
            <p:ph idx="7" type="subTitle"/>
          </p:nvPr>
        </p:nvSpPr>
        <p:spPr>
          <a:xfrm>
            <a:off x="324000" y="3781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4"/>
          <p:cNvSpPr txBox="1"/>
          <p:nvPr>
            <p:ph idx="8" type="subTitle"/>
          </p:nvPr>
        </p:nvSpPr>
        <p:spPr>
          <a:xfrm>
            <a:off x="2699325" y="3781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5)">
  <p:cSld name="CUSTOM_3_1_1_1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1" name="Google Shape;131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5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4" name="Google Shape;134;p15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5"/>
          <p:cNvSpPr txBox="1"/>
          <p:nvPr>
            <p:ph idx="3" type="subTitle"/>
          </p:nvPr>
        </p:nvSpPr>
        <p:spPr>
          <a:xfrm>
            <a:off x="324000" y="2486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5"/>
          <p:cNvSpPr txBox="1"/>
          <p:nvPr>
            <p:ph idx="4" type="subTitle"/>
          </p:nvPr>
        </p:nvSpPr>
        <p:spPr>
          <a:xfrm>
            <a:off x="2699325" y="2486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7" name="Google Shape;137;p15"/>
          <p:cNvSpPr txBox="1"/>
          <p:nvPr>
            <p:ph idx="5" type="subTitle"/>
          </p:nvPr>
        </p:nvSpPr>
        <p:spPr>
          <a:xfrm>
            <a:off x="324000" y="4162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8" name="Google Shape;138;p15"/>
          <p:cNvSpPr txBox="1"/>
          <p:nvPr>
            <p:ph idx="6" type="subTitle"/>
          </p:nvPr>
        </p:nvSpPr>
        <p:spPr>
          <a:xfrm>
            <a:off x="2699325" y="4162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9" name="Google Shape;139;p15"/>
          <p:cNvSpPr txBox="1"/>
          <p:nvPr>
            <p:ph idx="7" type="subTitle"/>
          </p:nvPr>
        </p:nvSpPr>
        <p:spPr>
          <a:xfrm>
            <a:off x="324000" y="1648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0" name="Google Shape;140;p15"/>
          <p:cNvSpPr txBox="1"/>
          <p:nvPr>
            <p:ph idx="8" type="subTitle"/>
          </p:nvPr>
        </p:nvSpPr>
        <p:spPr>
          <a:xfrm>
            <a:off x="2699325" y="1648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5"/>
          <p:cNvSpPr txBox="1"/>
          <p:nvPr>
            <p:ph idx="9" type="subTitle"/>
          </p:nvPr>
        </p:nvSpPr>
        <p:spPr>
          <a:xfrm>
            <a:off x="324000" y="3324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5"/>
          <p:cNvSpPr txBox="1"/>
          <p:nvPr>
            <p:ph idx="13" type="subTitle"/>
          </p:nvPr>
        </p:nvSpPr>
        <p:spPr>
          <a:xfrm>
            <a:off x="2699325" y="3324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p2, 2)">
  <p:cSld name="CUSTOM_3_1_1_1_1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5" name="Google Shape;145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6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8" name="Google Shape;148;p16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9" name="Google Shape;149;p16"/>
          <p:cNvSpPr txBox="1"/>
          <p:nvPr>
            <p:ph idx="3" type="subTitle"/>
          </p:nvPr>
        </p:nvSpPr>
        <p:spPr>
          <a:xfrm>
            <a:off x="324000" y="2562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6"/>
          <p:cNvSpPr txBox="1"/>
          <p:nvPr>
            <p:ph idx="4" type="subTitle"/>
          </p:nvPr>
        </p:nvSpPr>
        <p:spPr>
          <a:xfrm>
            <a:off x="2699325" y="2562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7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3" name="Google Shape;153;p17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7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7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6" name="Google Shape;156;p17"/>
          <p:cNvCxnSpPr>
            <a:endCxn id="157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8" name="Google Shape;158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7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0" name="Google Shape;160;p17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7" name="Google Shape;157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7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7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7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18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8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8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1" name="Google Shape;171;p18"/>
          <p:cNvCxnSpPr>
            <a:endCxn id="172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2" name="Google Shape;172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8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5" name="Google Shape;175;p18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6" name="Google Shape;176;p18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77" name="Google Shape;177;p1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8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9" name="Google Shape;179;p18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8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18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19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9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9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9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1" name="Google Shape;191;p19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2" name="Google Shape;192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9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6" name="Google Shape;196;p19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7" name="Google Shape;197;p19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8" name="Google Shape;198;p19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99" name="Google Shape;199;p1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1" name="Google Shape;201;p19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19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0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2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08" name="Google Shape;208;p2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09" name="Google Shape;20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0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p2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2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5" name="Google Shape;215;p21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7" name="Google Shape;21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2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2" name="Google Shape;222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" name="Google Shape;223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4" name="Google Shape;22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9" name="Google Shape;229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" name="Google Shape;230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1" name="Google Shape;23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4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4" name="Google Shape;234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24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7" name="Google Shape;237;p24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8" name="Google Shape;238;p24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39" name="Google Shape;239;p24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0" name="Google Shape;240;p2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1" name="Google Shape;241;p24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2" name="Google Shape;242;p24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3" name="Google Shape;243;p2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4" name="Google Shape;244;p24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5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7" name="Google Shape;247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25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0" name="Google Shape;250;p25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1" name="Google Shape;251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2" name="Google Shape;252;p25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3" name="Google Shape;253;p2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4" name="Google Shape;254;p25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5" name="Google Shape;255;p25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56" name="Google Shape;256;p2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7" name="Google Shape;257;p25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6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0" name="Google Shape;260;p2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3" name="Google Shape;263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4" name="Google Shape;264;p2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5" name="Google Shape;265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66" name="Google Shape;266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7" name="Google Shape;267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68" name="Google Shape;268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9" name="Google Shape;269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0" name="Google Shape;270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3" name="Google Shape;273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6" name="Google Shape;276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7" name="Google Shape;277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78" name="Google Shape;278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79" name="Google Shape;279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0" name="Google Shape;280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1" name="Google Shape;281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2" name="Google Shape;282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3" name="Google Shape;283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5" name="Google Shape;285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28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0" name="Google Shape;290;p28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1" name="Google Shape;291;p28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" name="Google Shape;292;p28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3" name="Google Shape;293;p28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4" name="Google Shape;294;p28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5" name="Google Shape;295;p28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6" name="Google Shape;296;p28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7" name="Google Shape;297;p28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98" name="Google Shape;298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0" name="Google Shape;300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1" name="Google Shape;301;p28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2" name="Google Shape;302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3" name="Google Shape;303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4" name="Google Shape;304;p28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5" name="Google Shape;305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6" name="Google Shape;306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" name="Google Shape;308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2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29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1" name="Google Shape;311;p29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2" name="Google Shape;312;p29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3" name="Google Shape;313;p29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4" name="Google Shape;314;p29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5" name="Google Shape;315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2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8" name="Google Shape;318;p29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9" name="Google Shape;319;p29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0" name="Google Shape;320;p29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1" name="Google Shape;321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2" name="Google Shape;322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3" name="Google Shape;323;p29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4" name="Google Shape;324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5" name="Google Shape;325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26" name="Google Shape;326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29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9" name="Google Shape;329;p29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1" name="Google Shape;331;p3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4" name="Google Shape;334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5" name="Google Shape;335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6" name="Google Shape;336;p30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37" name="Google Shape;337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38" name="Google Shape;338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1" name="Google Shape;341;p30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2" name="Google Shape;342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3" name="Google Shape;343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4" name="Google Shape;344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5" name="Google Shape;345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46" name="Google Shape;346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47" name="Google Shape;347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8" name="Google Shape;348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49" name="Google Shape;349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" name="Google Shape;350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2" name="Google Shape;352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4" name="Google Shape;354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7" name="Google Shape;357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8" name="Google Shape;358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9" name="Google Shape;359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0" name="Google Shape;360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1" name="Google Shape;361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4" name="Google Shape;364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5" name="Google Shape;365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66" name="Google Shape;366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67" name="Google Shape;367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8" name="Google Shape;368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69" name="Google Shape;369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0" name="Google Shape;370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1" name="Google Shape;371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2" name="Google Shape;372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" name="Google Shape;373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5" name="Google Shape;375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7" name="Google Shape;377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3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0" name="Google Shape;380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2" name="Google Shape;382;p3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3" name="Google Shape;383;p32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4" name="Google Shape;384;p32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5" name="Google Shape;385;p32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86" name="Google Shape;386;p32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87" name="Google Shape;387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8" name="Google Shape;388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89" name="Google Shape;389;p32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0" name="Google Shape;390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1" name="Google Shape;391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2" name="Google Shape;392;p32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3" name="Google Shape;393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4" name="Google Shape;394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6" name="Google Shape;396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3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3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99" name="Google Shape;399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1" name="Google Shape;401;p3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2" name="Google Shape;402;p33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3" name="Google Shape;403;p33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4" name="Google Shape;404;p33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5" name="Google Shape;405;p33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06" name="Google Shape;406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7" name="Google Shape;407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08" name="Google Shape;408;p33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09" name="Google Shape;409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0" name="Google Shape;410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1" name="Google Shape;411;p33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2" name="Google Shape;412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3" name="Google Shape;413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5" name="Google Shape;415;p3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18" name="Google Shape;418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0" name="Google Shape;420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1" name="Google Shape;421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2" name="Google Shape;422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3" name="Google Shape;423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4" name="Google Shape;424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5" name="Google Shape;425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6" name="Google Shape;426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27" name="Google Shape;427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28" name="Google Shape;428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9" name="Google Shape;429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0" name="Google Shape;430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1" name="Google Shape;431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2" name="Google Shape;432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4" name="Google Shape;434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p3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37" name="Google Shape;437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9" name="Google Shape;439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0" name="Google Shape;440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1" name="Google Shape;441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2" name="Google Shape;442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3" name="Google Shape;443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4" name="Google Shape;444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5" name="Google Shape;445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46" name="Google Shape;446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47" name="Google Shape;447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8" name="Google Shape;448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49" name="Google Shape;449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0" name="Google Shape;450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1" name="Google Shape;451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3" name="Google Shape;453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36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56" name="Google Shape;456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8" name="Google Shape;458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59" name="Google Shape;459;p36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0" name="Google Shape;460;p36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1" name="Google Shape;461;p36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2" name="Google Shape;462;p36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3" name="Google Shape;463;p36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4" name="Google Shape;464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5" name="Google Shape;465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66" name="Google Shape;466;p36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67" name="Google Shape;467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8" name="Google Shape;468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69" name="Google Shape;469;p36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0" name="Google Shape;470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1" name="Google Shape;471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2" name="Google Shape;472;p36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3" name="Google Shape;473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4" name="Google Shape;474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6" name="Google Shape;476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77" name="Google Shape;477;p3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37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79" name="Google Shape;479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0" name="Google Shape;480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1" name="Google Shape;481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2" name="Google Shape;482;p37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3" name="Google Shape;483;p37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4" name="Google Shape;484;p37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5" name="Google Shape;485;p37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86" name="Google Shape;486;p37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87" name="Google Shape;487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8" name="Google Shape;488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89" name="Google Shape;489;p37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0" name="Google Shape;490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1" name="Google Shape;491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2" name="Google Shape;492;p37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3" name="Google Shape;493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4" name="Google Shape;494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5" name="Google Shape;495;p37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96" name="Google Shape;496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7" name="Google Shape;497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9" name="Google Shape;499;p3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2" name="Google Shape;502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3" name="Google Shape;503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4" name="Google Shape;504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5" name="Google Shape;505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6" name="Google Shape;506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7" name="Google Shape;507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8" name="Google Shape;508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09" name="Google Shape;509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0" name="Google Shape;510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1" name="Google Shape;511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2" name="Google Shape;512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3" name="Google Shape;513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4" name="Google Shape;514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5" name="Google Shape;515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16" name="Google Shape;516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7" name="Google Shape;517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8" name="Google Shape;518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19" name="Google Shape;519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0" name="Google Shape;520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" name="Google Shape;522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3" name="Google Shape;523;p3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5" name="Google Shape;525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26" name="Google Shape;526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7" name="Google Shape;527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8" name="Google Shape;528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29" name="Google Shape;529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0" name="Google Shape;530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1" name="Google Shape;531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2" name="Google Shape;532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3" name="Google Shape;533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4" name="Google Shape;534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5" name="Google Shape;535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36" name="Google Shape;536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7" name="Google Shape;537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8" name="Google Shape;538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39" name="Google Shape;539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0" name="Google Shape;540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1" name="Google Shape;541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2" name="Google Shape;542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3" name="Google Shape;543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5" name="Google Shape;545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46" name="Google Shape;546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40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48" name="Google Shape;548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49" name="Google Shape;549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0" name="Google Shape;550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1" name="Google Shape;551;p40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2" name="Google Shape;552;p40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3" name="Google Shape;553;p40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4" name="Google Shape;554;p40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5" name="Google Shape;555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6" name="Google Shape;556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57" name="Google Shape;557;p40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58" name="Google Shape;558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9" name="Google Shape;559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0" name="Google Shape;560;p40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1" name="Google Shape;561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2" name="Google Shape;562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4" name="Google Shape;564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5" name="Google Shape;565;p4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41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67" name="Google Shape;567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68" name="Google Shape;568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69" name="Google Shape;569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0" name="Google Shape;570;p41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1" name="Google Shape;571;p41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2" name="Google Shape;572;p41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3" name="Google Shape;573;p41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4" name="Google Shape;574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5" name="Google Shape;575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6" name="Google Shape;576;p41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77" name="Google Shape;577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8" name="Google Shape;578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9" name="Google Shape;579;p41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0" name="Google Shape;580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1" name="Google Shape;581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3" name="Google Shape;583;p4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4" name="Google Shape;584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86" name="Google Shape;586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87" name="Google Shape;587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8" name="Google Shape;588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89" name="Google Shape;589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0" name="Google Shape;590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1" name="Google Shape;591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2" name="Google Shape;592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3" name="Google Shape;593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4" name="Google Shape;594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5" name="Google Shape;595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96" name="Google Shape;596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7" name="Google Shape;597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8" name="Google Shape;598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99" name="Google Shape;599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0" name="Google Shape;600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2" name="Google Shape;602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3" name="Google Shape;603;p4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5" name="Google Shape;605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06" name="Google Shape;606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7" name="Google Shape;607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8" name="Google Shape;608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09" name="Google Shape;609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0" name="Google Shape;610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1" name="Google Shape;611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2" name="Google Shape;612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3" name="Google Shape;613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4" name="Google Shape;614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5" name="Google Shape;615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6" name="Google Shape;616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7" name="Google Shape;617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18" name="Google Shape;618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9" name="Google Shape;619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1" name="Google Shape;621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2" name="Google Shape;622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4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4" name="Google Shape;624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5" name="Google Shape;625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6" name="Google Shape;626;p4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8" name="Google Shape;628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4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4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1" name="Google Shape;631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2" name="Google Shape;632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3" name="Google Shape;633;p4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5" name="Google Shape;635;p4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8" name="Google Shape;638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9" name="Google Shape;639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0" name="Google Shape;640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2" name="Google Shape;642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4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" name="Google Shape;644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5" name="Google Shape;645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6" name="Google Shape;64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7" name="Google Shape;647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9" name="Google Shape;649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1" name="Google Shape;651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52" name="Google Shape;652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3" name="Google Shape;653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4" name="Google Shape;654;p4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5" name="Google Shape;655;p48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7" name="Google Shape;657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8" name="Google Shape;658;p4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9" name="Google Shape;659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0" name="Google Shape;660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61" name="Google Shape;661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4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63" name="Google Shape;663;p49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5" name="Google Shape;665;p5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6" name="Google Shape;666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8" name="Google Shape;668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69" name="Google Shape;669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5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1" name="Google Shape;671;p50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3" name="Google Shape;673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4" name="Google Shape;674;p5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5" name="Google Shape;675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6" name="Google Shape;676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77" name="Google Shape;677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5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9" name="Google Shape;679;p51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1" name="Google Shape;681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2" name="Google Shape;682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3" name="Google Shape;683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84" name="Google Shape;684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85" name="Google Shape;685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6" name="Google Shape;686;p5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7" name="Google Shape;687;p52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9" name="Google Shape;689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0" name="Google Shape;690;p5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2" name="Google Shape;692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3" name="Google Shape;693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5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5" name="Google Shape;695;p53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7" name="Google Shape;697;p5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8" name="Google Shape;698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9" name="Google Shape;699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0" name="Google Shape;700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1" name="Google Shape;701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5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3" name="Google Shape;703;p54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5" name="Google Shape;705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6" name="Google Shape;706;p5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7" name="Google Shape;707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8" name="Google Shape;708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9" name="Google Shape;709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55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1" name="Google Shape;711;p5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_1"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56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4" name="Google Shape;714;p5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5" name="Google Shape;715;p56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6" name="Google Shape;716;p56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7" name="Google Shape;717;p56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57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0" name="Google Shape;720;p5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1" name="Google Shape;721;p57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2" name="Google Shape;722;p57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3" name="Google Shape;723;p57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5" name="Google Shape;725;p5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26" name="Google Shape;726;p58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p59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9" name="Google Shape;729;p59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59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1" name="Google Shape;731;p59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2" name="Google Shape;732;p59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59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4" name="Google Shape;734;p59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59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59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8" name="Google Shape;738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39" name="Google Shape;739;p60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6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theme" Target="../theme/theme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2.png"/><Relationship Id="rId4" Type="http://schemas.openxmlformats.org/officeDocument/2006/relationships/image" Target="../media/image51.png"/><Relationship Id="rId5" Type="http://schemas.openxmlformats.org/officeDocument/2006/relationships/image" Target="../media/image5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5.png"/><Relationship Id="rId4" Type="http://schemas.openxmlformats.org/officeDocument/2006/relationships/image" Target="../media/image5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9.png"/><Relationship Id="rId4" Type="http://schemas.openxmlformats.org/officeDocument/2006/relationships/image" Target="../media/image54.png"/><Relationship Id="rId5" Type="http://schemas.openxmlformats.org/officeDocument/2006/relationships/image" Target="../media/image51.png"/><Relationship Id="rId6" Type="http://schemas.openxmlformats.org/officeDocument/2006/relationships/image" Target="../media/image5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1.png"/><Relationship Id="rId4" Type="http://schemas.openxmlformats.org/officeDocument/2006/relationships/image" Target="../media/image54.png"/><Relationship Id="rId5" Type="http://schemas.openxmlformats.org/officeDocument/2006/relationships/image" Target="../media/image52.png"/><Relationship Id="rId6" Type="http://schemas.openxmlformats.org/officeDocument/2006/relationships/image" Target="../media/image59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59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51.png"/><Relationship Id="rId4" Type="http://schemas.openxmlformats.org/officeDocument/2006/relationships/image" Target="../media/image5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6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notesSlide" Target="../notesSlides/notesSlide40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5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p62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Comparing representations of outcomes for more than two events</a:t>
            </a:r>
            <a:endParaRPr/>
          </a:p>
        </p:txBody>
      </p:sp>
      <p:sp>
        <p:nvSpPr>
          <p:cNvPr id="747" name="Google Shape;747;p62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Probability: possible outcomes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63"/>
          <p:cNvSpPr txBox="1"/>
          <p:nvPr/>
        </p:nvSpPr>
        <p:spPr>
          <a:xfrm>
            <a:off x="4917900" y="956025"/>
            <a:ext cx="3661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our teaching resources are designed for the classroom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p64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identify the same outcome across all the different representations.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65"/>
          <p:cNvSpPr txBox="1"/>
          <p:nvPr>
            <p:ph idx="4" type="subTitle"/>
          </p:nvPr>
        </p:nvSpPr>
        <p:spPr>
          <a:xfrm>
            <a:off x="324000" y="1689800"/>
            <a:ext cx="8496000" cy="595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chemeClr val="dk1"/>
                </a:solidFill>
                <a:highlight>
                  <a:schemeClr val="lt1"/>
                </a:highlight>
              </a:rPr>
              <a:t>Tree diagrams are a representation used to model statistical/probability questions. Branches represent different possible events or outcomes.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63" name="Google Shape;763;p65"/>
          <p:cNvSpPr txBox="1"/>
          <p:nvPr>
            <p:ph idx="2" type="subTitle"/>
          </p:nvPr>
        </p:nvSpPr>
        <p:spPr>
          <a:xfrm>
            <a:off x="324000" y="810000"/>
            <a:ext cx="84960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chemeClr val="dk1"/>
                </a:solidFill>
              </a:rPr>
              <a:t>An outcome table is a table that shows all the possible outcomes.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64" name="Google Shape;764;p65"/>
          <p:cNvSpPr txBox="1"/>
          <p:nvPr>
            <p:ph idx="6" type="subTitle"/>
          </p:nvPr>
        </p:nvSpPr>
        <p:spPr>
          <a:xfrm>
            <a:off x="324000" y="4086600"/>
            <a:ext cx="8496000" cy="595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chemeClr val="dk1"/>
                </a:solidFill>
              </a:rPr>
              <a:t>Venn diagrams are a representation used to model statistical/probability questions. Commonly circles are used to represent events.  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65" name="Google Shape;765;p65"/>
          <p:cNvSpPr txBox="1"/>
          <p:nvPr>
            <p:ph idx="4" type="subTitle"/>
          </p:nvPr>
        </p:nvSpPr>
        <p:spPr>
          <a:xfrm>
            <a:off x="324000" y="2888200"/>
            <a:ext cx="8496000" cy="595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chemeClr val="dk1"/>
                </a:solidFill>
              </a:rPr>
              <a:t>Each branch of an outcome tree shows a possible outcome from an event or from a stage of a trial. The full outcome tree shows all possible outcomes.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66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different diagrams for multiple events</a:t>
            </a:r>
            <a:endParaRPr/>
          </a:p>
        </p:txBody>
      </p:sp>
      <p:sp>
        <p:nvSpPr>
          <p:cNvPr id="771" name="Google Shape;771;p66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Comparing representations of outcomes for more than two events</a:t>
            </a:r>
            <a:endParaRPr/>
          </a:p>
        </p:txBody>
      </p:sp>
      <p:sp>
        <p:nvSpPr>
          <p:cNvPr id="772" name="Google Shape;772;p66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Multi-stage trials with lists and outcome trees</a:t>
            </a:r>
            <a:endParaRPr/>
          </a:p>
        </p:txBody>
      </p:sp>
      <p:pic>
        <p:nvPicPr>
          <p:cNvPr id="773" name="Google Shape;773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8127" y="2052098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78" name="Google Shape;778;p67"/>
          <p:cNvGraphicFramePr/>
          <p:nvPr/>
        </p:nvGraphicFramePr>
        <p:xfrm>
          <a:off x="2915903" y="2928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{879B40AD-98D3-44E5-8BA0-BAAD77B1F533}</a:tableStyleId>
              </a:tblPr>
              <a:tblGrid>
                <a:gridCol w="470450"/>
                <a:gridCol w="889275"/>
                <a:gridCol w="889275"/>
              </a:tblGrid>
              <a:tr h="359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M3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not M3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solidFill>
                      <a:schemeClr val="accent4"/>
                    </a:solidFill>
                  </a:tcPr>
                </a:tc>
              </a:tr>
              <a:tr h="580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M5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15, 30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5, 10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2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not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M5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3, 6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7, 8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779" name="Google Shape;779;p6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different diagrams for multiple events</a:t>
            </a:r>
            <a:endParaRPr/>
          </a:p>
        </p:txBody>
      </p:sp>
      <p:grpSp>
        <p:nvGrpSpPr>
          <p:cNvPr id="780" name="Google Shape;780;p67"/>
          <p:cNvGrpSpPr/>
          <p:nvPr/>
        </p:nvGrpSpPr>
        <p:grpSpPr>
          <a:xfrm>
            <a:off x="5501579" y="810199"/>
            <a:ext cx="3318430" cy="2174323"/>
            <a:chOff x="5501579" y="810199"/>
            <a:chExt cx="3318430" cy="2174323"/>
          </a:xfrm>
        </p:grpSpPr>
        <p:pic>
          <p:nvPicPr>
            <p:cNvPr id="781" name="Google Shape;781;p6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155584" y="1970229"/>
              <a:ext cx="664425" cy="73708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82" name="Google Shape;782;p67"/>
            <p:cNvSpPr txBox="1"/>
            <p:nvPr/>
          </p:nvSpPr>
          <p:spPr>
            <a:xfrm>
              <a:off x="8114735" y="2707322"/>
              <a:ext cx="6762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Sofia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783" name="Google Shape;783;p67"/>
            <p:cNvGrpSpPr/>
            <p:nvPr/>
          </p:nvGrpSpPr>
          <p:grpSpPr>
            <a:xfrm flipH="1">
              <a:off x="5501579" y="810199"/>
              <a:ext cx="3187472" cy="1362206"/>
              <a:chOff x="797575" y="5295652"/>
              <a:chExt cx="3320975" cy="1476325"/>
            </a:xfrm>
          </p:grpSpPr>
          <p:pic>
            <p:nvPicPr>
              <p:cNvPr id="784" name="Google Shape;784;p67"/>
              <p:cNvPicPr preferRelativeResize="0"/>
              <p:nvPr/>
            </p:nvPicPr>
            <p:blipFill rotWithShape="1">
              <a:blip r:embed="rId4">
                <a:alphaModFix/>
              </a:blip>
              <a:srcRect b="43690" l="0" r="57905" t="0"/>
              <a:stretch/>
            </p:blipFill>
            <p:spPr>
              <a:xfrm flipH="1">
                <a:off x="797575" y="5295652"/>
                <a:ext cx="3320975" cy="147632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785" name="Google Shape;785;p67"/>
              <p:cNvSpPr txBox="1"/>
              <p:nvPr/>
            </p:nvSpPr>
            <p:spPr>
              <a:xfrm flipH="1">
                <a:off x="1048703" y="5313075"/>
                <a:ext cx="3000000" cy="55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Using </a:t>
                </a: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an outcome table</a:t>
                </a: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 is so good at categorising the outcomes of this spinner into two events!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grpSp>
        <p:nvGrpSpPr>
          <p:cNvPr id="786" name="Google Shape;786;p67"/>
          <p:cNvGrpSpPr/>
          <p:nvPr/>
        </p:nvGrpSpPr>
        <p:grpSpPr>
          <a:xfrm>
            <a:off x="262800" y="463995"/>
            <a:ext cx="1644841" cy="1704397"/>
            <a:chOff x="145325" y="463995"/>
            <a:chExt cx="1644841" cy="1704397"/>
          </a:xfrm>
        </p:grpSpPr>
        <p:grpSp>
          <p:nvGrpSpPr>
            <p:cNvPr id="787" name="Google Shape;787;p67"/>
            <p:cNvGrpSpPr/>
            <p:nvPr/>
          </p:nvGrpSpPr>
          <p:grpSpPr>
            <a:xfrm>
              <a:off x="145325" y="463995"/>
              <a:ext cx="1644841" cy="1704397"/>
              <a:chOff x="145325" y="463995"/>
              <a:chExt cx="1644841" cy="1704397"/>
            </a:xfrm>
          </p:grpSpPr>
          <p:sp>
            <p:nvSpPr>
              <p:cNvPr id="788" name="Google Shape;788;p67"/>
              <p:cNvSpPr txBox="1"/>
              <p:nvPr/>
            </p:nvSpPr>
            <p:spPr>
              <a:xfrm>
                <a:off x="469113" y="1891192"/>
                <a:ext cx="9972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spinner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789" name="Google Shape;789;p67"/>
              <p:cNvSpPr/>
              <p:nvPr/>
            </p:nvSpPr>
            <p:spPr>
              <a:xfrm flipH="1">
                <a:off x="386114" y="704767"/>
                <a:ext cx="1163100" cy="1163100"/>
              </a:xfrm>
              <a:prstGeom prst="pie">
                <a:avLst>
                  <a:gd fmla="val 13499686" name="adj1"/>
                  <a:gd fmla="val 16200000" name="adj2"/>
                </a:avLst>
              </a:prstGeom>
              <a:solidFill>
                <a:schemeClr val="accent4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0" name="Google Shape;790;p67"/>
              <p:cNvSpPr/>
              <p:nvPr/>
            </p:nvSpPr>
            <p:spPr>
              <a:xfrm flipH="1" rot="2700000">
                <a:off x="386346" y="704863"/>
                <a:ext cx="1162908" cy="1162908"/>
              </a:xfrm>
              <a:prstGeom prst="pie">
                <a:avLst>
                  <a:gd fmla="val 13499686" name="adj1"/>
                  <a:gd fmla="val 16200000" name="adj2"/>
                </a:avLst>
              </a:prstGeom>
              <a:solidFill>
                <a:srgbClr val="F3EEFB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1" name="Google Shape;791;p67"/>
              <p:cNvSpPr/>
              <p:nvPr/>
            </p:nvSpPr>
            <p:spPr>
              <a:xfrm flipH="1" rot="5400000">
                <a:off x="386466" y="704971"/>
                <a:ext cx="1162800" cy="1162800"/>
              </a:xfrm>
              <a:prstGeom prst="pie">
                <a:avLst>
                  <a:gd fmla="val 13499686" name="adj1"/>
                  <a:gd fmla="val 16200000" name="adj2"/>
                </a:avLst>
              </a:prstGeom>
              <a:solidFill>
                <a:schemeClr val="accent4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2" name="Google Shape;792;p67"/>
              <p:cNvSpPr/>
              <p:nvPr/>
            </p:nvSpPr>
            <p:spPr>
              <a:xfrm flipH="1" rot="8100000">
                <a:off x="386412" y="704841"/>
                <a:ext cx="1162908" cy="1162908"/>
              </a:xfrm>
              <a:prstGeom prst="pie">
                <a:avLst>
                  <a:gd fmla="val 13499686" name="adj1"/>
                  <a:gd fmla="val 16200000" name="adj2"/>
                </a:avLst>
              </a:prstGeom>
              <a:solidFill>
                <a:srgbClr val="F3EEFB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3" name="Google Shape;793;p67"/>
              <p:cNvSpPr/>
              <p:nvPr/>
            </p:nvSpPr>
            <p:spPr>
              <a:xfrm flipH="1" rot="10800000">
                <a:off x="386277" y="704745"/>
                <a:ext cx="1163100" cy="1163100"/>
              </a:xfrm>
              <a:prstGeom prst="pie">
                <a:avLst>
                  <a:gd fmla="val 13499686" name="adj1"/>
                  <a:gd fmla="val 16200000" name="adj2"/>
                </a:avLst>
              </a:prstGeom>
              <a:solidFill>
                <a:schemeClr val="accent4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4" name="Google Shape;794;p67"/>
              <p:cNvSpPr/>
              <p:nvPr/>
            </p:nvSpPr>
            <p:spPr>
              <a:xfrm flipH="1" rot="-8100000">
                <a:off x="386237" y="704841"/>
                <a:ext cx="1162908" cy="1162908"/>
              </a:xfrm>
              <a:prstGeom prst="pie">
                <a:avLst>
                  <a:gd fmla="val 13499686" name="adj1"/>
                  <a:gd fmla="val 16200000" name="adj2"/>
                </a:avLst>
              </a:prstGeom>
              <a:solidFill>
                <a:srgbClr val="F3EEFB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5" name="Google Shape;795;p67"/>
              <p:cNvSpPr/>
              <p:nvPr/>
            </p:nvSpPr>
            <p:spPr>
              <a:xfrm flipH="1" rot="-5400000">
                <a:off x="386225" y="704841"/>
                <a:ext cx="1162800" cy="1162800"/>
              </a:xfrm>
              <a:prstGeom prst="pie">
                <a:avLst>
                  <a:gd fmla="val 13499686" name="adj1"/>
                  <a:gd fmla="val 16200000" name="adj2"/>
                </a:avLst>
              </a:prstGeom>
              <a:solidFill>
                <a:schemeClr val="accent4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6" name="Google Shape;796;p67"/>
              <p:cNvSpPr/>
              <p:nvPr/>
            </p:nvSpPr>
            <p:spPr>
              <a:xfrm flipH="1" rot="-2700000">
                <a:off x="386171" y="704863"/>
                <a:ext cx="1162908" cy="1162908"/>
              </a:xfrm>
              <a:prstGeom prst="pie">
                <a:avLst>
                  <a:gd fmla="val 13499686" name="adj1"/>
                  <a:gd fmla="val 16200000" name="adj2"/>
                </a:avLst>
              </a:prstGeom>
              <a:solidFill>
                <a:srgbClr val="F3EEFB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797" name="Google Shape;797;p67"/>
              <p:cNvGrpSpPr/>
              <p:nvPr/>
            </p:nvGrpSpPr>
            <p:grpSpPr>
              <a:xfrm rot="5400000">
                <a:off x="1194681" y="998018"/>
                <a:ext cx="65100" cy="576723"/>
                <a:chOff x="936300" y="737518"/>
                <a:chExt cx="65100" cy="576723"/>
              </a:xfrm>
            </p:grpSpPr>
            <p:cxnSp>
              <p:nvCxnSpPr>
                <p:cNvPr id="798" name="Google Shape;798;p67"/>
                <p:cNvCxnSpPr/>
                <p:nvPr/>
              </p:nvCxnSpPr>
              <p:spPr>
                <a:xfrm rot="10800000">
                  <a:off x="968896" y="737518"/>
                  <a:ext cx="0" cy="5340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triangle"/>
                </a:ln>
              </p:spPr>
            </p:cxnSp>
            <p:sp>
              <p:nvSpPr>
                <p:cNvPr id="799" name="Google Shape;799;p67"/>
                <p:cNvSpPr/>
                <p:nvPr/>
              </p:nvSpPr>
              <p:spPr>
                <a:xfrm>
                  <a:off x="936300" y="1255442"/>
                  <a:ext cx="65100" cy="58800"/>
                </a:xfrm>
                <a:prstGeom prst="ellipse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800" name="Google Shape;800;p67"/>
              <p:cNvSpPr txBox="1"/>
              <p:nvPr/>
            </p:nvSpPr>
            <p:spPr>
              <a:xfrm flipH="1">
                <a:off x="1167734" y="931194"/>
                <a:ext cx="280800" cy="32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latin typeface="Lexend"/>
                    <a:ea typeface="Lexend"/>
                    <a:cs typeface="Lexend"/>
                    <a:sym typeface="Lexend"/>
                  </a:rPr>
                  <a:t>5</a:t>
                </a:r>
                <a:endParaRPr sz="16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801" name="Google Shape;801;p67"/>
              <p:cNvSpPr txBox="1"/>
              <p:nvPr/>
            </p:nvSpPr>
            <p:spPr>
              <a:xfrm flipH="1">
                <a:off x="1167734" y="1295762"/>
                <a:ext cx="280800" cy="32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chemeClr val="lt1"/>
                    </a:solidFill>
                    <a:latin typeface="Lexend"/>
                    <a:ea typeface="Lexend"/>
                    <a:cs typeface="Lexend"/>
                    <a:sym typeface="Lexend"/>
                  </a:rPr>
                  <a:t>6</a:t>
                </a:r>
                <a:endParaRPr sz="16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802" name="Google Shape;802;p67"/>
              <p:cNvSpPr txBox="1"/>
              <p:nvPr/>
            </p:nvSpPr>
            <p:spPr>
              <a:xfrm flipH="1">
                <a:off x="964521" y="1482784"/>
                <a:ext cx="280800" cy="32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latin typeface="Lexend"/>
                    <a:ea typeface="Lexend"/>
                    <a:cs typeface="Lexend"/>
                    <a:sym typeface="Lexend"/>
                  </a:rPr>
                  <a:t>7</a:t>
                </a:r>
                <a:endParaRPr sz="16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803" name="Google Shape;803;p67"/>
              <p:cNvSpPr txBox="1"/>
              <p:nvPr/>
            </p:nvSpPr>
            <p:spPr>
              <a:xfrm>
                <a:off x="479974" y="990697"/>
                <a:ext cx="280800" cy="32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chemeClr val="lt1"/>
                    </a:solidFill>
                    <a:latin typeface="Lexend"/>
                    <a:ea typeface="Lexend"/>
                    <a:cs typeface="Lexend"/>
                    <a:sym typeface="Lexend"/>
                  </a:rPr>
                  <a:t>15</a:t>
                </a:r>
                <a:endParaRPr sz="16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804" name="Google Shape;804;p67"/>
              <p:cNvSpPr txBox="1"/>
              <p:nvPr/>
            </p:nvSpPr>
            <p:spPr>
              <a:xfrm>
                <a:off x="479974" y="1260999"/>
                <a:ext cx="280800" cy="32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latin typeface="Lexend"/>
                    <a:ea typeface="Lexend"/>
                    <a:cs typeface="Lexend"/>
                    <a:sym typeface="Lexend"/>
                  </a:rPr>
                  <a:t>10</a:t>
                </a:r>
                <a:endParaRPr sz="16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805" name="Google Shape;805;p67"/>
              <p:cNvSpPr txBox="1"/>
              <p:nvPr/>
            </p:nvSpPr>
            <p:spPr>
              <a:xfrm>
                <a:off x="683186" y="1482784"/>
                <a:ext cx="280800" cy="32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chemeClr val="lt1"/>
                    </a:solidFill>
                    <a:latin typeface="Lexend"/>
                    <a:ea typeface="Lexend"/>
                    <a:cs typeface="Lexend"/>
                    <a:sym typeface="Lexend"/>
                  </a:rPr>
                  <a:t>8</a:t>
                </a:r>
                <a:endParaRPr sz="16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806" name="Google Shape;806;p67"/>
            <p:cNvSpPr txBox="1"/>
            <p:nvPr/>
          </p:nvSpPr>
          <p:spPr>
            <a:xfrm flipH="1">
              <a:off x="964517" y="762027"/>
              <a:ext cx="2808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 sz="16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07" name="Google Shape;807;p67"/>
            <p:cNvSpPr txBox="1"/>
            <p:nvPr/>
          </p:nvSpPr>
          <p:spPr>
            <a:xfrm>
              <a:off x="681667" y="762027"/>
              <a:ext cx="2808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30</a:t>
              </a:r>
              <a:endParaRPr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808" name="Google Shape;808;p67"/>
          <p:cNvSpPr txBox="1"/>
          <p:nvPr/>
        </p:nvSpPr>
        <p:spPr>
          <a:xfrm>
            <a:off x="408875" y="2298704"/>
            <a:ext cx="21147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Sofia will spin this spinner and consider different outcomes that the spinner could land on.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09" name="Google Shape;809;p67"/>
          <p:cNvGrpSpPr/>
          <p:nvPr/>
        </p:nvGrpSpPr>
        <p:grpSpPr>
          <a:xfrm rot="10800000">
            <a:off x="5328376" y="2946400"/>
            <a:ext cx="3491673" cy="1362206"/>
            <a:chOff x="797575" y="5295652"/>
            <a:chExt cx="3320975" cy="1476325"/>
          </a:xfrm>
        </p:grpSpPr>
        <p:pic>
          <p:nvPicPr>
            <p:cNvPr id="810" name="Google Shape;810;p67"/>
            <p:cNvPicPr preferRelativeResize="0"/>
            <p:nvPr/>
          </p:nvPicPr>
          <p:blipFill rotWithShape="1">
            <a:blip r:embed="rId4">
              <a:alphaModFix/>
            </a:blip>
            <a:srcRect b="43690" l="0" r="57905" t="0"/>
            <a:stretch/>
          </p:blipFill>
          <p:spPr>
            <a:xfrm flipH="1">
              <a:off x="797575" y="5295652"/>
              <a:ext cx="3320975" cy="14763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11" name="Google Shape;811;p67"/>
            <p:cNvSpPr txBox="1"/>
            <p:nvPr/>
          </p:nvSpPr>
          <p:spPr>
            <a:xfrm flipH="1" rot="10800000">
              <a:off x="1048703" y="5962923"/>
              <a:ext cx="3000000" cy="55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For example, this table of events show which outcomes are multiples of 3 (M3) and multiples of 5 (M5).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5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p6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different diagrams for multiple events</a:t>
            </a:r>
            <a:endParaRPr/>
          </a:p>
        </p:txBody>
      </p:sp>
      <p:pic>
        <p:nvPicPr>
          <p:cNvPr id="817" name="Google Shape;817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55584" y="1970229"/>
            <a:ext cx="664425" cy="737087"/>
          </a:xfrm>
          <a:prstGeom prst="rect">
            <a:avLst/>
          </a:prstGeom>
          <a:noFill/>
          <a:ln>
            <a:noFill/>
          </a:ln>
        </p:spPr>
      </p:pic>
      <p:sp>
        <p:nvSpPr>
          <p:cNvPr id="818" name="Google Shape;818;p68"/>
          <p:cNvSpPr txBox="1"/>
          <p:nvPr/>
        </p:nvSpPr>
        <p:spPr>
          <a:xfrm>
            <a:off x="8114735" y="2707322"/>
            <a:ext cx="676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Sofia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19" name="Google Shape;819;p68"/>
          <p:cNvGrpSpPr/>
          <p:nvPr/>
        </p:nvGrpSpPr>
        <p:grpSpPr>
          <a:xfrm>
            <a:off x="4663282" y="810201"/>
            <a:ext cx="4025426" cy="1362224"/>
            <a:chOff x="4724675" y="810200"/>
            <a:chExt cx="3964375" cy="1362224"/>
          </a:xfrm>
        </p:grpSpPr>
        <p:pic>
          <p:nvPicPr>
            <p:cNvPr id="820" name="Google Shape;820;p68"/>
            <p:cNvPicPr preferRelativeResize="0"/>
            <p:nvPr/>
          </p:nvPicPr>
          <p:blipFill rotWithShape="1">
            <a:blip r:embed="rId4">
              <a:alphaModFix/>
            </a:blip>
            <a:srcRect b="43690" l="0" r="57905" t="0"/>
            <a:stretch/>
          </p:blipFill>
          <p:spPr>
            <a:xfrm>
              <a:off x="4724675" y="810200"/>
              <a:ext cx="3964375" cy="13622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21" name="Google Shape;821;p68"/>
            <p:cNvSpPr txBox="1"/>
            <p:nvPr/>
          </p:nvSpPr>
          <p:spPr>
            <a:xfrm>
              <a:off x="4808054" y="826276"/>
              <a:ext cx="35814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I’m not sure, because…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22" name="Google Shape;822;p68"/>
          <p:cNvGrpSpPr/>
          <p:nvPr/>
        </p:nvGrpSpPr>
        <p:grpSpPr>
          <a:xfrm>
            <a:off x="262800" y="463995"/>
            <a:ext cx="1644841" cy="1704397"/>
            <a:chOff x="145325" y="463995"/>
            <a:chExt cx="1644841" cy="1704397"/>
          </a:xfrm>
        </p:grpSpPr>
        <p:grpSp>
          <p:nvGrpSpPr>
            <p:cNvPr id="823" name="Google Shape;823;p68"/>
            <p:cNvGrpSpPr/>
            <p:nvPr/>
          </p:nvGrpSpPr>
          <p:grpSpPr>
            <a:xfrm>
              <a:off x="145325" y="463995"/>
              <a:ext cx="1644841" cy="1704397"/>
              <a:chOff x="145325" y="463995"/>
              <a:chExt cx="1644841" cy="1704397"/>
            </a:xfrm>
          </p:grpSpPr>
          <p:sp>
            <p:nvSpPr>
              <p:cNvPr id="824" name="Google Shape;824;p68"/>
              <p:cNvSpPr txBox="1"/>
              <p:nvPr/>
            </p:nvSpPr>
            <p:spPr>
              <a:xfrm>
                <a:off x="469113" y="1891192"/>
                <a:ext cx="9972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spinner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825" name="Google Shape;825;p68"/>
              <p:cNvSpPr/>
              <p:nvPr/>
            </p:nvSpPr>
            <p:spPr>
              <a:xfrm flipH="1">
                <a:off x="386114" y="704767"/>
                <a:ext cx="1163100" cy="1163100"/>
              </a:xfrm>
              <a:prstGeom prst="pie">
                <a:avLst>
                  <a:gd fmla="val 13499686" name="adj1"/>
                  <a:gd fmla="val 16200000" name="adj2"/>
                </a:avLst>
              </a:prstGeom>
              <a:solidFill>
                <a:schemeClr val="accent4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6" name="Google Shape;826;p68"/>
              <p:cNvSpPr/>
              <p:nvPr/>
            </p:nvSpPr>
            <p:spPr>
              <a:xfrm flipH="1" rot="2700000">
                <a:off x="386346" y="704863"/>
                <a:ext cx="1162908" cy="1162908"/>
              </a:xfrm>
              <a:prstGeom prst="pie">
                <a:avLst>
                  <a:gd fmla="val 13499686" name="adj1"/>
                  <a:gd fmla="val 16200000" name="adj2"/>
                </a:avLst>
              </a:prstGeom>
              <a:solidFill>
                <a:srgbClr val="F3EEFB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7" name="Google Shape;827;p68"/>
              <p:cNvSpPr/>
              <p:nvPr/>
            </p:nvSpPr>
            <p:spPr>
              <a:xfrm flipH="1" rot="5400000">
                <a:off x="386466" y="704971"/>
                <a:ext cx="1162800" cy="1162800"/>
              </a:xfrm>
              <a:prstGeom prst="pie">
                <a:avLst>
                  <a:gd fmla="val 13499686" name="adj1"/>
                  <a:gd fmla="val 16200000" name="adj2"/>
                </a:avLst>
              </a:prstGeom>
              <a:solidFill>
                <a:schemeClr val="accent4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8" name="Google Shape;828;p68"/>
              <p:cNvSpPr/>
              <p:nvPr/>
            </p:nvSpPr>
            <p:spPr>
              <a:xfrm flipH="1" rot="8100000">
                <a:off x="386412" y="704841"/>
                <a:ext cx="1162908" cy="1162908"/>
              </a:xfrm>
              <a:prstGeom prst="pie">
                <a:avLst>
                  <a:gd fmla="val 13499686" name="adj1"/>
                  <a:gd fmla="val 16200000" name="adj2"/>
                </a:avLst>
              </a:prstGeom>
              <a:solidFill>
                <a:srgbClr val="F3EEFB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9" name="Google Shape;829;p68"/>
              <p:cNvSpPr/>
              <p:nvPr/>
            </p:nvSpPr>
            <p:spPr>
              <a:xfrm flipH="1" rot="10800000">
                <a:off x="386277" y="704745"/>
                <a:ext cx="1163100" cy="1163100"/>
              </a:xfrm>
              <a:prstGeom prst="pie">
                <a:avLst>
                  <a:gd fmla="val 13499686" name="adj1"/>
                  <a:gd fmla="val 16200000" name="adj2"/>
                </a:avLst>
              </a:prstGeom>
              <a:solidFill>
                <a:schemeClr val="accent4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0" name="Google Shape;830;p68"/>
              <p:cNvSpPr/>
              <p:nvPr/>
            </p:nvSpPr>
            <p:spPr>
              <a:xfrm flipH="1" rot="-8100000">
                <a:off x="386237" y="704841"/>
                <a:ext cx="1162908" cy="1162908"/>
              </a:xfrm>
              <a:prstGeom prst="pie">
                <a:avLst>
                  <a:gd fmla="val 13499686" name="adj1"/>
                  <a:gd fmla="val 16200000" name="adj2"/>
                </a:avLst>
              </a:prstGeom>
              <a:solidFill>
                <a:srgbClr val="F3EEFB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1" name="Google Shape;831;p68"/>
              <p:cNvSpPr/>
              <p:nvPr/>
            </p:nvSpPr>
            <p:spPr>
              <a:xfrm flipH="1" rot="-5400000">
                <a:off x="386225" y="704841"/>
                <a:ext cx="1162800" cy="1162800"/>
              </a:xfrm>
              <a:prstGeom prst="pie">
                <a:avLst>
                  <a:gd fmla="val 13499686" name="adj1"/>
                  <a:gd fmla="val 16200000" name="adj2"/>
                </a:avLst>
              </a:prstGeom>
              <a:solidFill>
                <a:schemeClr val="accent4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2" name="Google Shape;832;p68"/>
              <p:cNvSpPr/>
              <p:nvPr/>
            </p:nvSpPr>
            <p:spPr>
              <a:xfrm flipH="1" rot="-2700000">
                <a:off x="386171" y="704863"/>
                <a:ext cx="1162908" cy="1162908"/>
              </a:xfrm>
              <a:prstGeom prst="pie">
                <a:avLst>
                  <a:gd fmla="val 13499686" name="adj1"/>
                  <a:gd fmla="val 16200000" name="adj2"/>
                </a:avLst>
              </a:prstGeom>
              <a:solidFill>
                <a:srgbClr val="F3EEFB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833" name="Google Shape;833;p68"/>
              <p:cNvGrpSpPr/>
              <p:nvPr/>
            </p:nvGrpSpPr>
            <p:grpSpPr>
              <a:xfrm rot="5400000">
                <a:off x="1194681" y="998018"/>
                <a:ext cx="65100" cy="576723"/>
                <a:chOff x="936300" y="737518"/>
                <a:chExt cx="65100" cy="576723"/>
              </a:xfrm>
            </p:grpSpPr>
            <p:cxnSp>
              <p:nvCxnSpPr>
                <p:cNvPr id="834" name="Google Shape;834;p68"/>
                <p:cNvCxnSpPr/>
                <p:nvPr/>
              </p:nvCxnSpPr>
              <p:spPr>
                <a:xfrm rot="10800000">
                  <a:off x="968896" y="737518"/>
                  <a:ext cx="0" cy="5340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triangle"/>
                </a:ln>
              </p:spPr>
            </p:cxnSp>
            <p:sp>
              <p:nvSpPr>
                <p:cNvPr id="835" name="Google Shape;835;p68"/>
                <p:cNvSpPr/>
                <p:nvPr/>
              </p:nvSpPr>
              <p:spPr>
                <a:xfrm>
                  <a:off x="936300" y="1255442"/>
                  <a:ext cx="65100" cy="58800"/>
                </a:xfrm>
                <a:prstGeom prst="ellipse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836" name="Google Shape;836;p68"/>
              <p:cNvSpPr txBox="1"/>
              <p:nvPr/>
            </p:nvSpPr>
            <p:spPr>
              <a:xfrm flipH="1">
                <a:off x="1167734" y="931194"/>
                <a:ext cx="280800" cy="32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latin typeface="Lexend"/>
                    <a:ea typeface="Lexend"/>
                    <a:cs typeface="Lexend"/>
                    <a:sym typeface="Lexend"/>
                  </a:rPr>
                  <a:t>5</a:t>
                </a:r>
                <a:endParaRPr sz="16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837" name="Google Shape;837;p68"/>
              <p:cNvSpPr txBox="1"/>
              <p:nvPr/>
            </p:nvSpPr>
            <p:spPr>
              <a:xfrm flipH="1">
                <a:off x="1167734" y="1295762"/>
                <a:ext cx="280800" cy="32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chemeClr val="lt1"/>
                    </a:solidFill>
                    <a:latin typeface="Lexend"/>
                    <a:ea typeface="Lexend"/>
                    <a:cs typeface="Lexend"/>
                    <a:sym typeface="Lexend"/>
                  </a:rPr>
                  <a:t>6</a:t>
                </a:r>
                <a:endParaRPr sz="16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838" name="Google Shape;838;p68"/>
              <p:cNvSpPr txBox="1"/>
              <p:nvPr/>
            </p:nvSpPr>
            <p:spPr>
              <a:xfrm flipH="1">
                <a:off x="964521" y="1482784"/>
                <a:ext cx="280800" cy="32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latin typeface="Lexend"/>
                    <a:ea typeface="Lexend"/>
                    <a:cs typeface="Lexend"/>
                    <a:sym typeface="Lexend"/>
                  </a:rPr>
                  <a:t>7</a:t>
                </a:r>
                <a:endParaRPr sz="16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839" name="Google Shape;839;p68"/>
              <p:cNvSpPr txBox="1"/>
              <p:nvPr/>
            </p:nvSpPr>
            <p:spPr>
              <a:xfrm>
                <a:off x="479974" y="990697"/>
                <a:ext cx="280800" cy="32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chemeClr val="lt1"/>
                    </a:solidFill>
                    <a:latin typeface="Lexend"/>
                    <a:ea typeface="Lexend"/>
                    <a:cs typeface="Lexend"/>
                    <a:sym typeface="Lexend"/>
                  </a:rPr>
                  <a:t>15</a:t>
                </a:r>
                <a:endParaRPr sz="16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840" name="Google Shape;840;p68"/>
              <p:cNvSpPr txBox="1"/>
              <p:nvPr/>
            </p:nvSpPr>
            <p:spPr>
              <a:xfrm>
                <a:off x="479974" y="1260999"/>
                <a:ext cx="280800" cy="32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latin typeface="Lexend"/>
                    <a:ea typeface="Lexend"/>
                    <a:cs typeface="Lexend"/>
                    <a:sym typeface="Lexend"/>
                  </a:rPr>
                  <a:t>10</a:t>
                </a:r>
                <a:endParaRPr sz="16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841" name="Google Shape;841;p68"/>
              <p:cNvSpPr txBox="1"/>
              <p:nvPr/>
            </p:nvSpPr>
            <p:spPr>
              <a:xfrm>
                <a:off x="683186" y="1482784"/>
                <a:ext cx="280800" cy="32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chemeClr val="lt1"/>
                    </a:solidFill>
                    <a:latin typeface="Lexend"/>
                    <a:ea typeface="Lexend"/>
                    <a:cs typeface="Lexend"/>
                    <a:sym typeface="Lexend"/>
                  </a:rPr>
                  <a:t>8</a:t>
                </a:r>
                <a:endParaRPr sz="16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842" name="Google Shape;842;p68"/>
            <p:cNvSpPr txBox="1"/>
            <p:nvPr/>
          </p:nvSpPr>
          <p:spPr>
            <a:xfrm flipH="1">
              <a:off x="964517" y="762027"/>
              <a:ext cx="2808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 sz="16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43" name="Google Shape;843;p68"/>
            <p:cNvSpPr txBox="1"/>
            <p:nvPr/>
          </p:nvSpPr>
          <p:spPr>
            <a:xfrm>
              <a:off x="681667" y="762027"/>
              <a:ext cx="2808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30</a:t>
              </a:r>
              <a:endParaRPr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44" name="Google Shape;844;p68"/>
          <p:cNvGrpSpPr/>
          <p:nvPr/>
        </p:nvGrpSpPr>
        <p:grpSpPr>
          <a:xfrm flipH="1">
            <a:off x="545125" y="3780982"/>
            <a:ext cx="676200" cy="1040525"/>
            <a:chOff x="8137196" y="1935832"/>
            <a:chExt cx="676200" cy="1040525"/>
          </a:xfrm>
        </p:grpSpPr>
        <p:pic>
          <p:nvPicPr>
            <p:cNvPr id="845" name="Google Shape;845;p6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flipH="1">
              <a:off x="8209791" y="1935832"/>
              <a:ext cx="598139" cy="7479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46" name="Google Shape;846;p68"/>
            <p:cNvSpPr txBox="1"/>
            <p:nvPr/>
          </p:nvSpPr>
          <p:spPr>
            <a:xfrm>
              <a:off x="8137196" y="2699157"/>
              <a:ext cx="6762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Jun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47" name="Google Shape;847;p68"/>
          <p:cNvGrpSpPr/>
          <p:nvPr/>
        </p:nvGrpSpPr>
        <p:grpSpPr>
          <a:xfrm flipH="1">
            <a:off x="781862" y="2368701"/>
            <a:ext cx="3731780" cy="1767651"/>
            <a:chOff x="4950696" y="3114350"/>
            <a:chExt cx="3320975" cy="1767651"/>
          </a:xfrm>
        </p:grpSpPr>
        <p:pic>
          <p:nvPicPr>
            <p:cNvPr id="848" name="Google Shape;848;p68"/>
            <p:cNvPicPr preferRelativeResize="0"/>
            <p:nvPr/>
          </p:nvPicPr>
          <p:blipFill rotWithShape="1">
            <a:blip r:embed="rId4">
              <a:alphaModFix/>
            </a:blip>
            <a:srcRect b="43690" l="0" r="57905" t="0"/>
            <a:stretch/>
          </p:blipFill>
          <p:spPr>
            <a:xfrm>
              <a:off x="4950696" y="3114350"/>
              <a:ext cx="3320975" cy="17676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49" name="Google Shape;849;p68"/>
            <p:cNvSpPr txBox="1"/>
            <p:nvPr/>
          </p:nvSpPr>
          <p:spPr>
            <a:xfrm>
              <a:off x="4998983" y="3161370"/>
              <a:ext cx="3037500" cy="142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But what if you also wanted to categorise the outcomes by whether they’re odd or even?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What would the 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outcome table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look like?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aphicFrame>
        <p:nvGraphicFramePr>
          <p:cNvPr id="850" name="Google Shape;850;p68"/>
          <p:cNvGraphicFramePr/>
          <p:nvPr/>
        </p:nvGraphicFramePr>
        <p:xfrm>
          <a:off x="5430503" y="2928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{879B40AD-98D3-44E5-8BA0-BAAD77B1F533}</a:tableStyleId>
              </a:tblPr>
              <a:tblGrid>
                <a:gridCol w="470450"/>
                <a:gridCol w="889275"/>
                <a:gridCol w="889275"/>
              </a:tblGrid>
              <a:tr h="359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M3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not M3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solidFill>
                      <a:schemeClr val="accent4"/>
                    </a:solidFill>
                  </a:tcPr>
                </a:tc>
              </a:tr>
              <a:tr h="580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M5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15, 30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5, 10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2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not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M5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3, 6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7, 8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51" name="Google Shape;851;p68"/>
          <p:cNvSpPr txBox="1"/>
          <p:nvPr/>
        </p:nvSpPr>
        <p:spPr>
          <a:xfrm>
            <a:off x="4748129" y="1085923"/>
            <a:ext cx="3636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rows show one event,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2" name="Google Shape;852;p68"/>
          <p:cNvSpPr txBox="1"/>
          <p:nvPr/>
        </p:nvSpPr>
        <p:spPr>
          <a:xfrm>
            <a:off x="4748129" y="1364753"/>
            <a:ext cx="3636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and the columns show a second.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3" name="Google Shape;853;p68"/>
          <p:cNvSpPr/>
          <p:nvPr/>
        </p:nvSpPr>
        <p:spPr>
          <a:xfrm rot="5400000">
            <a:off x="5082975" y="3635325"/>
            <a:ext cx="1172100" cy="477300"/>
          </a:xfrm>
          <a:prstGeom prst="roundRect">
            <a:avLst>
              <a:gd fmla="val 5961" name="adj"/>
            </a:avLst>
          </a:prstGeom>
          <a:noFill/>
          <a:ln cap="flat" cmpd="sng" w="38100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4" name="Google Shape;854;p68"/>
          <p:cNvSpPr/>
          <p:nvPr/>
        </p:nvSpPr>
        <p:spPr>
          <a:xfrm>
            <a:off x="5907675" y="2928250"/>
            <a:ext cx="1771800" cy="359700"/>
          </a:xfrm>
          <a:prstGeom prst="roundRect">
            <a:avLst>
              <a:gd fmla="val 5961" name="adj"/>
            </a:avLst>
          </a:prstGeom>
          <a:noFill/>
          <a:ln cap="flat" cmpd="sng" w="38100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5" name="Google Shape;855;p68"/>
          <p:cNvSpPr txBox="1"/>
          <p:nvPr/>
        </p:nvSpPr>
        <p:spPr>
          <a:xfrm>
            <a:off x="4725825" y="1643583"/>
            <a:ext cx="3681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How can you show a third event?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9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p6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different diagrams for multiple events</a:t>
            </a:r>
            <a:endParaRPr/>
          </a:p>
        </p:txBody>
      </p:sp>
      <p:grpSp>
        <p:nvGrpSpPr>
          <p:cNvPr id="861" name="Google Shape;861;p69"/>
          <p:cNvGrpSpPr/>
          <p:nvPr/>
        </p:nvGrpSpPr>
        <p:grpSpPr>
          <a:xfrm>
            <a:off x="262800" y="463995"/>
            <a:ext cx="1644841" cy="1704397"/>
            <a:chOff x="145325" y="463995"/>
            <a:chExt cx="1644841" cy="1704397"/>
          </a:xfrm>
        </p:grpSpPr>
        <p:grpSp>
          <p:nvGrpSpPr>
            <p:cNvPr id="862" name="Google Shape;862;p69"/>
            <p:cNvGrpSpPr/>
            <p:nvPr/>
          </p:nvGrpSpPr>
          <p:grpSpPr>
            <a:xfrm>
              <a:off x="145325" y="463995"/>
              <a:ext cx="1644841" cy="1704397"/>
              <a:chOff x="145325" y="463995"/>
              <a:chExt cx="1644841" cy="1704397"/>
            </a:xfrm>
          </p:grpSpPr>
          <p:sp>
            <p:nvSpPr>
              <p:cNvPr id="863" name="Google Shape;863;p69"/>
              <p:cNvSpPr txBox="1"/>
              <p:nvPr/>
            </p:nvSpPr>
            <p:spPr>
              <a:xfrm>
                <a:off x="469113" y="1891192"/>
                <a:ext cx="9972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spinner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864" name="Google Shape;864;p69"/>
              <p:cNvSpPr/>
              <p:nvPr/>
            </p:nvSpPr>
            <p:spPr>
              <a:xfrm flipH="1">
                <a:off x="386114" y="704767"/>
                <a:ext cx="1163100" cy="1163100"/>
              </a:xfrm>
              <a:prstGeom prst="pie">
                <a:avLst>
                  <a:gd fmla="val 13499686" name="adj1"/>
                  <a:gd fmla="val 16200000" name="adj2"/>
                </a:avLst>
              </a:prstGeom>
              <a:solidFill>
                <a:schemeClr val="accent4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5" name="Google Shape;865;p69"/>
              <p:cNvSpPr/>
              <p:nvPr/>
            </p:nvSpPr>
            <p:spPr>
              <a:xfrm flipH="1" rot="2700000">
                <a:off x="386346" y="704863"/>
                <a:ext cx="1162908" cy="1162908"/>
              </a:xfrm>
              <a:prstGeom prst="pie">
                <a:avLst>
                  <a:gd fmla="val 13499686" name="adj1"/>
                  <a:gd fmla="val 16200000" name="adj2"/>
                </a:avLst>
              </a:prstGeom>
              <a:solidFill>
                <a:srgbClr val="F3EEFB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6" name="Google Shape;866;p69"/>
              <p:cNvSpPr/>
              <p:nvPr/>
            </p:nvSpPr>
            <p:spPr>
              <a:xfrm flipH="1" rot="5400000">
                <a:off x="386466" y="704971"/>
                <a:ext cx="1162800" cy="1162800"/>
              </a:xfrm>
              <a:prstGeom prst="pie">
                <a:avLst>
                  <a:gd fmla="val 13499686" name="adj1"/>
                  <a:gd fmla="val 16200000" name="adj2"/>
                </a:avLst>
              </a:prstGeom>
              <a:solidFill>
                <a:schemeClr val="accent4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7" name="Google Shape;867;p69"/>
              <p:cNvSpPr/>
              <p:nvPr/>
            </p:nvSpPr>
            <p:spPr>
              <a:xfrm flipH="1" rot="8100000">
                <a:off x="386412" y="704841"/>
                <a:ext cx="1162908" cy="1162908"/>
              </a:xfrm>
              <a:prstGeom prst="pie">
                <a:avLst>
                  <a:gd fmla="val 13499686" name="adj1"/>
                  <a:gd fmla="val 16200000" name="adj2"/>
                </a:avLst>
              </a:prstGeom>
              <a:solidFill>
                <a:srgbClr val="F3EEFB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8" name="Google Shape;868;p69"/>
              <p:cNvSpPr/>
              <p:nvPr/>
            </p:nvSpPr>
            <p:spPr>
              <a:xfrm flipH="1" rot="10800000">
                <a:off x="386277" y="704745"/>
                <a:ext cx="1163100" cy="1163100"/>
              </a:xfrm>
              <a:prstGeom prst="pie">
                <a:avLst>
                  <a:gd fmla="val 13499686" name="adj1"/>
                  <a:gd fmla="val 16200000" name="adj2"/>
                </a:avLst>
              </a:prstGeom>
              <a:solidFill>
                <a:schemeClr val="accent4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9" name="Google Shape;869;p69"/>
              <p:cNvSpPr/>
              <p:nvPr/>
            </p:nvSpPr>
            <p:spPr>
              <a:xfrm flipH="1" rot="-8100000">
                <a:off x="386237" y="704841"/>
                <a:ext cx="1162908" cy="1162908"/>
              </a:xfrm>
              <a:prstGeom prst="pie">
                <a:avLst>
                  <a:gd fmla="val 13499686" name="adj1"/>
                  <a:gd fmla="val 16200000" name="adj2"/>
                </a:avLst>
              </a:prstGeom>
              <a:solidFill>
                <a:srgbClr val="F3EEFB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0" name="Google Shape;870;p69"/>
              <p:cNvSpPr/>
              <p:nvPr/>
            </p:nvSpPr>
            <p:spPr>
              <a:xfrm flipH="1" rot="-5400000">
                <a:off x="386225" y="704841"/>
                <a:ext cx="1162800" cy="1162800"/>
              </a:xfrm>
              <a:prstGeom prst="pie">
                <a:avLst>
                  <a:gd fmla="val 13499686" name="adj1"/>
                  <a:gd fmla="val 16200000" name="adj2"/>
                </a:avLst>
              </a:prstGeom>
              <a:solidFill>
                <a:schemeClr val="accent4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1" name="Google Shape;871;p69"/>
              <p:cNvSpPr/>
              <p:nvPr/>
            </p:nvSpPr>
            <p:spPr>
              <a:xfrm flipH="1" rot="-2700000">
                <a:off x="386171" y="704863"/>
                <a:ext cx="1162908" cy="1162908"/>
              </a:xfrm>
              <a:prstGeom prst="pie">
                <a:avLst>
                  <a:gd fmla="val 13499686" name="adj1"/>
                  <a:gd fmla="val 16200000" name="adj2"/>
                </a:avLst>
              </a:prstGeom>
              <a:solidFill>
                <a:srgbClr val="F3EEFB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872" name="Google Shape;872;p69"/>
              <p:cNvGrpSpPr/>
              <p:nvPr/>
            </p:nvGrpSpPr>
            <p:grpSpPr>
              <a:xfrm rot="5400000">
                <a:off x="1194681" y="998018"/>
                <a:ext cx="65100" cy="576723"/>
                <a:chOff x="936300" y="737518"/>
                <a:chExt cx="65100" cy="576723"/>
              </a:xfrm>
            </p:grpSpPr>
            <p:cxnSp>
              <p:nvCxnSpPr>
                <p:cNvPr id="873" name="Google Shape;873;p69"/>
                <p:cNvCxnSpPr/>
                <p:nvPr/>
              </p:nvCxnSpPr>
              <p:spPr>
                <a:xfrm rot="10800000">
                  <a:off x="968896" y="737518"/>
                  <a:ext cx="0" cy="5340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triangle"/>
                </a:ln>
              </p:spPr>
            </p:cxnSp>
            <p:sp>
              <p:nvSpPr>
                <p:cNvPr id="874" name="Google Shape;874;p69"/>
                <p:cNvSpPr/>
                <p:nvPr/>
              </p:nvSpPr>
              <p:spPr>
                <a:xfrm>
                  <a:off x="936300" y="1255442"/>
                  <a:ext cx="65100" cy="58800"/>
                </a:xfrm>
                <a:prstGeom prst="ellipse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875" name="Google Shape;875;p69"/>
              <p:cNvSpPr txBox="1"/>
              <p:nvPr/>
            </p:nvSpPr>
            <p:spPr>
              <a:xfrm flipH="1">
                <a:off x="1167734" y="931194"/>
                <a:ext cx="280800" cy="32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latin typeface="Lexend"/>
                    <a:ea typeface="Lexend"/>
                    <a:cs typeface="Lexend"/>
                    <a:sym typeface="Lexend"/>
                  </a:rPr>
                  <a:t>5</a:t>
                </a:r>
                <a:endParaRPr sz="16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876" name="Google Shape;876;p69"/>
              <p:cNvSpPr txBox="1"/>
              <p:nvPr/>
            </p:nvSpPr>
            <p:spPr>
              <a:xfrm flipH="1">
                <a:off x="1167734" y="1295762"/>
                <a:ext cx="280800" cy="32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chemeClr val="lt1"/>
                    </a:solidFill>
                    <a:latin typeface="Lexend"/>
                    <a:ea typeface="Lexend"/>
                    <a:cs typeface="Lexend"/>
                    <a:sym typeface="Lexend"/>
                  </a:rPr>
                  <a:t>6</a:t>
                </a:r>
                <a:endParaRPr sz="16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877" name="Google Shape;877;p69"/>
              <p:cNvSpPr txBox="1"/>
              <p:nvPr/>
            </p:nvSpPr>
            <p:spPr>
              <a:xfrm flipH="1">
                <a:off x="964521" y="1482784"/>
                <a:ext cx="280800" cy="32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latin typeface="Lexend"/>
                    <a:ea typeface="Lexend"/>
                    <a:cs typeface="Lexend"/>
                    <a:sym typeface="Lexend"/>
                  </a:rPr>
                  <a:t>7</a:t>
                </a:r>
                <a:endParaRPr sz="16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878" name="Google Shape;878;p69"/>
              <p:cNvSpPr txBox="1"/>
              <p:nvPr/>
            </p:nvSpPr>
            <p:spPr>
              <a:xfrm>
                <a:off x="479974" y="990697"/>
                <a:ext cx="280800" cy="32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chemeClr val="lt1"/>
                    </a:solidFill>
                    <a:latin typeface="Lexend"/>
                    <a:ea typeface="Lexend"/>
                    <a:cs typeface="Lexend"/>
                    <a:sym typeface="Lexend"/>
                  </a:rPr>
                  <a:t>15</a:t>
                </a:r>
                <a:endParaRPr sz="16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879" name="Google Shape;879;p69"/>
              <p:cNvSpPr txBox="1"/>
              <p:nvPr/>
            </p:nvSpPr>
            <p:spPr>
              <a:xfrm>
                <a:off x="479974" y="1260999"/>
                <a:ext cx="280800" cy="32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latin typeface="Lexend"/>
                    <a:ea typeface="Lexend"/>
                    <a:cs typeface="Lexend"/>
                    <a:sym typeface="Lexend"/>
                  </a:rPr>
                  <a:t>10</a:t>
                </a:r>
                <a:endParaRPr sz="16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880" name="Google Shape;880;p69"/>
              <p:cNvSpPr txBox="1"/>
              <p:nvPr/>
            </p:nvSpPr>
            <p:spPr>
              <a:xfrm>
                <a:off x="683186" y="1482784"/>
                <a:ext cx="280800" cy="32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chemeClr val="lt1"/>
                    </a:solidFill>
                    <a:latin typeface="Lexend"/>
                    <a:ea typeface="Lexend"/>
                    <a:cs typeface="Lexend"/>
                    <a:sym typeface="Lexend"/>
                  </a:rPr>
                  <a:t>8</a:t>
                </a:r>
                <a:endParaRPr sz="16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881" name="Google Shape;881;p69"/>
            <p:cNvSpPr txBox="1"/>
            <p:nvPr/>
          </p:nvSpPr>
          <p:spPr>
            <a:xfrm flipH="1">
              <a:off x="964517" y="762027"/>
              <a:ext cx="2808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 sz="16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82" name="Google Shape;882;p69"/>
            <p:cNvSpPr txBox="1"/>
            <p:nvPr/>
          </p:nvSpPr>
          <p:spPr>
            <a:xfrm>
              <a:off x="681667" y="762027"/>
              <a:ext cx="2808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30</a:t>
              </a:r>
              <a:endParaRPr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883" name="Google Shape;883;p69"/>
          <p:cNvSpPr txBox="1"/>
          <p:nvPr/>
        </p:nvSpPr>
        <p:spPr>
          <a:xfrm>
            <a:off x="2428450" y="1043017"/>
            <a:ext cx="4056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O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utcome table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 can only categorise outcomes into two different events.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884" name="Google Shape;884;p69"/>
          <p:cNvGraphicFramePr/>
          <p:nvPr/>
        </p:nvGraphicFramePr>
        <p:xfrm>
          <a:off x="6571003" y="6767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{879B40AD-98D3-44E5-8BA0-BAAD77B1F533}</a:tableStyleId>
              </a:tblPr>
              <a:tblGrid>
                <a:gridCol w="470450"/>
                <a:gridCol w="889275"/>
                <a:gridCol w="889275"/>
              </a:tblGrid>
              <a:tr h="213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M3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not M3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solidFill>
                      <a:schemeClr val="accent4"/>
                    </a:solidFill>
                  </a:tcPr>
                </a:tc>
              </a:tr>
              <a:tr h="34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M5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15, 30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5, 10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3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not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M5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3, 6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7, 8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885" name="Google Shape;885;p69"/>
          <p:cNvGrpSpPr/>
          <p:nvPr/>
        </p:nvGrpSpPr>
        <p:grpSpPr>
          <a:xfrm>
            <a:off x="334225" y="2205525"/>
            <a:ext cx="4534200" cy="2453125"/>
            <a:chOff x="334225" y="2205525"/>
            <a:chExt cx="4534200" cy="2453125"/>
          </a:xfrm>
        </p:grpSpPr>
        <p:sp>
          <p:nvSpPr>
            <p:cNvPr id="886" name="Google Shape;886;p69"/>
            <p:cNvSpPr txBox="1"/>
            <p:nvPr/>
          </p:nvSpPr>
          <p:spPr>
            <a:xfrm>
              <a:off x="334225" y="4104550"/>
              <a:ext cx="45342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Whilst an outcome tree with </a:t>
              </a:r>
              <a:r>
                <a:rPr lang="en-GB" sz="1800">
                  <a:solidFill>
                    <a:schemeClr val="accent4"/>
                  </a:solidFill>
                  <a:latin typeface="Lexend"/>
                  <a:ea typeface="Lexend"/>
                  <a:cs typeface="Lexend"/>
                  <a:sym typeface="Lexend"/>
                </a:rPr>
                <a:t>three layers of branches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can show three events.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887" name="Google Shape;887;p69"/>
            <p:cNvGrpSpPr/>
            <p:nvPr/>
          </p:nvGrpSpPr>
          <p:grpSpPr>
            <a:xfrm>
              <a:off x="533186" y="2205525"/>
              <a:ext cx="3280969" cy="1674175"/>
              <a:chOff x="3972681" y="3132300"/>
              <a:chExt cx="3280969" cy="1674175"/>
            </a:xfrm>
          </p:grpSpPr>
          <p:grpSp>
            <p:nvGrpSpPr>
              <p:cNvPr id="888" name="Google Shape;888;p69"/>
              <p:cNvGrpSpPr/>
              <p:nvPr/>
            </p:nvGrpSpPr>
            <p:grpSpPr>
              <a:xfrm>
                <a:off x="6051607" y="3239992"/>
                <a:ext cx="586140" cy="223142"/>
                <a:chOff x="6390571" y="2305716"/>
                <a:chExt cx="1175100" cy="353521"/>
              </a:xfrm>
            </p:grpSpPr>
            <p:cxnSp>
              <p:nvCxnSpPr>
                <p:cNvPr id="889" name="Google Shape;889;p69"/>
                <p:cNvCxnSpPr/>
                <p:nvPr/>
              </p:nvCxnSpPr>
              <p:spPr>
                <a:xfrm flipH="1" rot="10800000">
                  <a:off x="6390571" y="2305716"/>
                  <a:ext cx="1175100" cy="1551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90" name="Google Shape;890;p69"/>
                <p:cNvCxnSpPr/>
                <p:nvPr/>
              </p:nvCxnSpPr>
              <p:spPr>
                <a:xfrm>
                  <a:off x="6390571" y="2504137"/>
                  <a:ext cx="1175100" cy="1551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891" name="Google Shape;891;p69"/>
              <p:cNvGrpSpPr/>
              <p:nvPr/>
            </p:nvGrpSpPr>
            <p:grpSpPr>
              <a:xfrm>
                <a:off x="6051607" y="3652145"/>
                <a:ext cx="586140" cy="223142"/>
                <a:chOff x="6390571" y="2305716"/>
                <a:chExt cx="1175100" cy="353521"/>
              </a:xfrm>
            </p:grpSpPr>
            <p:cxnSp>
              <p:nvCxnSpPr>
                <p:cNvPr id="892" name="Google Shape;892;p69"/>
                <p:cNvCxnSpPr/>
                <p:nvPr/>
              </p:nvCxnSpPr>
              <p:spPr>
                <a:xfrm flipH="1" rot="10800000">
                  <a:off x="6390571" y="2305716"/>
                  <a:ext cx="1175100" cy="1551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93" name="Google Shape;893;p69"/>
                <p:cNvCxnSpPr/>
                <p:nvPr/>
              </p:nvCxnSpPr>
              <p:spPr>
                <a:xfrm>
                  <a:off x="6390571" y="2504137"/>
                  <a:ext cx="1175100" cy="1551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894" name="Google Shape;894;p69"/>
              <p:cNvGrpSpPr/>
              <p:nvPr/>
            </p:nvGrpSpPr>
            <p:grpSpPr>
              <a:xfrm>
                <a:off x="6051607" y="4064298"/>
                <a:ext cx="586140" cy="223142"/>
                <a:chOff x="6390571" y="2305716"/>
                <a:chExt cx="1175100" cy="353521"/>
              </a:xfrm>
            </p:grpSpPr>
            <p:cxnSp>
              <p:nvCxnSpPr>
                <p:cNvPr id="895" name="Google Shape;895;p69"/>
                <p:cNvCxnSpPr/>
                <p:nvPr/>
              </p:nvCxnSpPr>
              <p:spPr>
                <a:xfrm flipH="1" rot="10800000">
                  <a:off x="6390571" y="2305716"/>
                  <a:ext cx="1175100" cy="1551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96" name="Google Shape;896;p69"/>
                <p:cNvCxnSpPr/>
                <p:nvPr/>
              </p:nvCxnSpPr>
              <p:spPr>
                <a:xfrm>
                  <a:off x="6390571" y="2504137"/>
                  <a:ext cx="1175100" cy="1551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897" name="Google Shape;897;p69"/>
              <p:cNvGrpSpPr/>
              <p:nvPr/>
            </p:nvGrpSpPr>
            <p:grpSpPr>
              <a:xfrm>
                <a:off x="6051607" y="4476451"/>
                <a:ext cx="586140" cy="223142"/>
                <a:chOff x="6390571" y="2305716"/>
                <a:chExt cx="1175100" cy="353521"/>
              </a:xfrm>
            </p:grpSpPr>
            <p:cxnSp>
              <p:nvCxnSpPr>
                <p:cNvPr id="898" name="Google Shape;898;p69"/>
                <p:cNvCxnSpPr/>
                <p:nvPr/>
              </p:nvCxnSpPr>
              <p:spPr>
                <a:xfrm flipH="1" rot="10800000">
                  <a:off x="6390571" y="2305716"/>
                  <a:ext cx="1175100" cy="1551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99" name="Google Shape;899;p69"/>
                <p:cNvCxnSpPr/>
                <p:nvPr/>
              </p:nvCxnSpPr>
              <p:spPr>
                <a:xfrm>
                  <a:off x="6390571" y="2504137"/>
                  <a:ext cx="1175100" cy="1551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900" name="Google Shape;900;p69"/>
              <p:cNvGrpSpPr/>
              <p:nvPr/>
            </p:nvGrpSpPr>
            <p:grpSpPr>
              <a:xfrm>
                <a:off x="5041820" y="3342791"/>
                <a:ext cx="586140" cy="1254017"/>
                <a:chOff x="5041820" y="3342791"/>
                <a:chExt cx="586140" cy="1254017"/>
              </a:xfrm>
            </p:grpSpPr>
            <p:grpSp>
              <p:nvGrpSpPr>
                <p:cNvPr id="901" name="Google Shape;901;p69"/>
                <p:cNvGrpSpPr/>
                <p:nvPr/>
              </p:nvGrpSpPr>
              <p:grpSpPr>
                <a:xfrm>
                  <a:off x="5041820" y="4167103"/>
                  <a:ext cx="586140" cy="429704"/>
                  <a:chOff x="6390571" y="2305716"/>
                  <a:chExt cx="1175100" cy="353521"/>
                </a:xfrm>
              </p:grpSpPr>
              <p:cxnSp>
                <p:nvCxnSpPr>
                  <p:cNvPr id="902" name="Google Shape;902;p69"/>
                  <p:cNvCxnSpPr/>
                  <p:nvPr/>
                </p:nvCxnSpPr>
                <p:spPr>
                  <a:xfrm flipH="1" rot="10800000">
                    <a:off x="6390571" y="2305716"/>
                    <a:ext cx="1175100" cy="15510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903" name="Google Shape;903;p69"/>
                  <p:cNvCxnSpPr/>
                  <p:nvPr/>
                </p:nvCxnSpPr>
                <p:spPr>
                  <a:xfrm>
                    <a:off x="6390571" y="2504137"/>
                    <a:ext cx="1175100" cy="15510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</p:grpSp>
            <p:grpSp>
              <p:nvGrpSpPr>
                <p:cNvPr id="904" name="Google Shape;904;p69"/>
                <p:cNvGrpSpPr/>
                <p:nvPr/>
              </p:nvGrpSpPr>
              <p:grpSpPr>
                <a:xfrm>
                  <a:off x="5041820" y="3342791"/>
                  <a:ext cx="586140" cy="429704"/>
                  <a:chOff x="6390571" y="2305716"/>
                  <a:chExt cx="1175100" cy="353521"/>
                </a:xfrm>
              </p:grpSpPr>
              <p:cxnSp>
                <p:nvCxnSpPr>
                  <p:cNvPr id="905" name="Google Shape;905;p69"/>
                  <p:cNvCxnSpPr/>
                  <p:nvPr/>
                </p:nvCxnSpPr>
                <p:spPr>
                  <a:xfrm flipH="1" rot="10800000">
                    <a:off x="6390571" y="2305716"/>
                    <a:ext cx="1175100" cy="15510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906" name="Google Shape;906;p69"/>
                  <p:cNvCxnSpPr/>
                  <p:nvPr/>
                </p:nvCxnSpPr>
                <p:spPr>
                  <a:xfrm>
                    <a:off x="6390571" y="2504137"/>
                    <a:ext cx="1175100" cy="15510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</p:grpSp>
          </p:grpSp>
          <p:grpSp>
            <p:nvGrpSpPr>
              <p:cNvPr id="907" name="Google Shape;907;p69"/>
              <p:cNvGrpSpPr/>
              <p:nvPr/>
            </p:nvGrpSpPr>
            <p:grpSpPr>
              <a:xfrm>
                <a:off x="3972681" y="3556499"/>
                <a:ext cx="586140" cy="826708"/>
                <a:chOff x="6390571" y="2305716"/>
                <a:chExt cx="1175100" cy="353521"/>
              </a:xfrm>
            </p:grpSpPr>
            <p:cxnSp>
              <p:nvCxnSpPr>
                <p:cNvPr id="908" name="Google Shape;908;p69"/>
                <p:cNvCxnSpPr/>
                <p:nvPr/>
              </p:nvCxnSpPr>
              <p:spPr>
                <a:xfrm flipH="1" rot="10800000">
                  <a:off x="6390571" y="2305716"/>
                  <a:ext cx="1175100" cy="1551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909" name="Google Shape;909;p69"/>
                <p:cNvCxnSpPr/>
                <p:nvPr/>
              </p:nvCxnSpPr>
              <p:spPr>
                <a:xfrm>
                  <a:off x="6390571" y="2504137"/>
                  <a:ext cx="1175100" cy="1551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910" name="Google Shape;910;p69"/>
              <p:cNvSpPr txBox="1"/>
              <p:nvPr/>
            </p:nvSpPr>
            <p:spPr>
              <a:xfrm>
                <a:off x="4593767" y="3449938"/>
                <a:ext cx="440700" cy="215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>
                    <a:latin typeface="Lexend"/>
                    <a:ea typeface="Lexend"/>
                    <a:cs typeface="Lexend"/>
                    <a:sym typeface="Lexend"/>
                  </a:rPr>
                  <a:t>odd</a:t>
                </a:r>
                <a:endParaRPr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911" name="Google Shape;911;p69"/>
              <p:cNvSpPr txBox="1"/>
              <p:nvPr/>
            </p:nvSpPr>
            <p:spPr>
              <a:xfrm>
                <a:off x="4593767" y="4274238"/>
                <a:ext cx="440700" cy="215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>
                    <a:latin typeface="Lexend"/>
                    <a:ea typeface="Lexend"/>
                    <a:cs typeface="Lexend"/>
                    <a:sym typeface="Lexend"/>
                  </a:rPr>
                  <a:t>even</a:t>
                </a:r>
                <a:endParaRPr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912" name="Google Shape;912;p69"/>
              <p:cNvSpPr txBox="1"/>
              <p:nvPr/>
            </p:nvSpPr>
            <p:spPr>
              <a:xfrm>
                <a:off x="5635292" y="3244049"/>
                <a:ext cx="440700" cy="215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>
                    <a:latin typeface="Lexend"/>
                    <a:ea typeface="Lexend"/>
                    <a:cs typeface="Lexend"/>
                    <a:sym typeface="Lexend"/>
                  </a:rPr>
                  <a:t>M3</a:t>
                </a:r>
                <a:endParaRPr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913" name="Google Shape;913;p69"/>
              <p:cNvSpPr txBox="1"/>
              <p:nvPr/>
            </p:nvSpPr>
            <p:spPr>
              <a:xfrm>
                <a:off x="5635292" y="3656012"/>
                <a:ext cx="440700" cy="215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>
                    <a:latin typeface="Lexend"/>
                    <a:ea typeface="Lexend"/>
                    <a:cs typeface="Lexend"/>
                    <a:sym typeface="Lexend"/>
                  </a:rPr>
                  <a:t>not</a:t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>
                    <a:latin typeface="Lexend"/>
                    <a:ea typeface="Lexend"/>
                    <a:cs typeface="Lexend"/>
                    <a:sym typeface="Lexend"/>
                  </a:rPr>
                  <a:t>M3</a:t>
                </a:r>
                <a:endParaRPr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914" name="Google Shape;914;p69"/>
              <p:cNvSpPr txBox="1"/>
              <p:nvPr/>
            </p:nvSpPr>
            <p:spPr>
              <a:xfrm>
                <a:off x="5635292" y="4068274"/>
                <a:ext cx="440700" cy="215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>
                    <a:latin typeface="Lexend"/>
                    <a:ea typeface="Lexend"/>
                    <a:cs typeface="Lexend"/>
                    <a:sym typeface="Lexend"/>
                  </a:rPr>
                  <a:t>M3</a:t>
                </a:r>
                <a:endParaRPr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915" name="Google Shape;915;p69"/>
              <p:cNvSpPr txBox="1"/>
              <p:nvPr/>
            </p:nvSpPr>
            <p:spPr>
              <a:xfrm>
                <a:off x="5635292" y="4480237"/>
                <a:ext cx="440700" cy="215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>
                    <a:latin typeface="Lexend"/>
                    <a:ea typeface="Lexend"/>
                    <a:cs typeface="Lexend"/>
                    <a:sym typeface="Lexend"/>
                  </a:rPr>
                  <a:t>not</a:t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>
                    <a:latin typeface="Lexend"/>
                    <a:ea typeface="Lexend"/>
                    <a:cs typeface="Lexend"/>
                    <a:sym typeface="Lexend"/>
                  </a:rPr>
                  <a:t>M3</a:t>
                </a:r>
                <a:endParaRPr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916" name="Google Shape;916;p69"/>
              <p:cNvSpPr txBox="1"/>
              <p:nvPr/>
            </p:nvSpPr>
            <p:spPr>
              <a:xfrm>
                <a:off x="6637752" y="3132300"/>
                <a:ext cx="543600" cy="215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>
                    <a:latin typeface="Lexend"/>
                    <a:ea typeface="Lexend"/>
                    <a:cs typeface="Lexend"/>
                    <a:sym typeface="Lexend"/>
                  </a:rPr>
                  <a:t>M5</a:t>
                </a:r>
                <a:endParaRPr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917" name="Google Shape;917;p69"/>
              <p:cNvSpPr txBox="1"/>
              <p:nvPr/>
            </p:nvSpPr>
            <p:spPr>
              <a:xfrm>
                <a:off x="6637750" y="3353800"/>
                <a:ext cx="615900" cy="215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>
                    <a:latin typeface="Lexend"/>
                    <a:ea typeface="Lexend"/>
                    <a:cs typeface="Lexend"/>
                    <a:sym typeface="Lexend"/>
                  </a:rPr>
                  <a:t>not M5</a:t>
                </a:r>
                <a:endParaRPr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918" name="Google Shape;918;p69"/>
              <p:cNvSpPr txBox="1"/>
              <p:nvPr/>
            </p:nvSpPr>
            <p:spPr>
              <a:xfrm>
                <a:off x="6637752" y="3545263"/>
                <a:ext cx="543600" cy="215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>
                    <a:latin typeface="Lexend"/>
                    <a:ea typeface="Lexend"/>
                    <a:cs typeface="Lexend"/>
                    <a:sym typeface="Lexend"/>
                  </a:rPr>
                  <a:t>M5</a:t>
                </a:r>
                <a:endParaRPr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919" name="Google Shape;919;p69"/>
              <p:cNvSpPr txBox="1"/>
              <p:nvPr/>
            </p:nvSpPr>
            <p:spPr>
              <a:xfrm>
                <a:off x="6637750" y="3766763"/>
                <a:ext cx="615900" cy="215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>
                    <a:latin typeface="Lexend"/>
                    <a:ea typeface="Lexend"/>
                    <a:cs typeface="Lexend"/>
                    <a:sym typeface="Lexend"/>
                  </a:rPr>
                  <a:t>not M5</a:t>
                </a:r>
                <a:endParaRPr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920" name="Google Shape;920;p69"/>
              <p:cNvSpPr txBox="1"/>
              <p:nvPr/>
            </p:nvSpPr>
            <p:spPr>
              <a:xfrm>
                <a:off x="6637752" y="3957400"/>
                <a:ext cx="543600" cy="215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>
                    <a:latin typeface="Lexend"/>
                    <a:ea typeface="Lexend"/>
                    <a:cs typeface="Lexend"/>
                    <a:sym typeface="Lexend"/>
                  </a:rPr>
                  <a:t>M5</a:t>
                </a:r>
                <a:endParaRPr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921" name="Google Shape;921;p69"/>
              <p:cNvSpPr txBox="1"/>
              <p:nvPr/>
            </p:nvSpPr>
            <p:spPr>
              <a:xfrm>
                <a:off x="6637750" y="4178900"/>
                <a:ext cx="615900" cy="215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>
                    <a:latin typeface="Lexend"/>
                    <a:ea typeface="Lexend"/>
                    <a:cs typeface="Lexend"/>
                    <a:sym typeface="Lexend"/>
                  </a:rPr>
                  <a:t>not M5</a:t>
                </a:r>
                <a:endParaRPr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922" name="Google Shape;922;p69"/>
              <p:cNvSpPr txBox="1"/>
              <p:nvPr/>
            </p:nvSpPr>
            <p:spPr>
              <a:xfrm>
                <a:off x="6637752" y="4369575"/>
                <a:ext cx="543600" cy="215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>
                    <a:latin typeface="Lexend"/>
                    <a:ea typeface="Lexend"/>
                    <a:cs typeface="Lexend"/>
                    <a:sym typeface="Lexend"/>
                  </a:rPr>
                  <a:t>M5</a:t>
                </a:r>
                <a:endParaRPr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923" name="Google Shape;923;p69"/>
              <p:cNvSpPr txBox="1"/>
              <p:nvPr/>
            </p:nvSpPr>
            <p:spPr>
              <a:xfrm>
                <a:off x="6637750" y="4591075"/>
                <a:ext cx="615900" cy="215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>
                    <a:latin typeface="Lexend"/>
                    <a:ea typeface="Lexend"/>
                    <a:cs typeface="Lexend"/>
                    <a:sym typeface="Lexend"/>
                  </a:rPr>
                  <a:t>not M5</a:t>
                </a:r>
                <a:endParaRPr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grpSp>
        <p:nvGrpSpPr>
          <p:cNvPr id="924" name="Google Shape;924;p69"/>
          <p:cNvGrpSpPr/>
          <p:nvPr/>
        </p:nvGrpSpPr>
        <p:grpSpPr>
          <a:xfrm>
            <a:off x="5562888" y="2373275"/>
            <a:ext cx="3257100" cy="2316700"/>
            <a:chOff x="4894813" y="2220875"/>
            <a:chExt cx="3257100" cy="2316700"/>
          </a:xfrm>
        </p:grpSpPr>
        <p:grpSp>
          <p:nvGrpSpPr>
            <p:cNvPr id="925" name="Google Shape;925;p69"/>
            <p:cNvGrpSpPr/>
            <p:nvPr/>
          </p:nvGrpSpPr>
          <p:grpSpPr>
            <a:xfrm>
              <a:off x="5301601" y="2220875"/>
              <a:ext cx="2443546" cy="1429094"/>
              <a:chOff x="200536" y="5889609"/>
              <a:chExt cx="2862300" cy="1674000"/>
            </a:xfrm>
          </p:grpSpPr>
          <p:sp>
            <p:nvSpPr>
              <p:cNvPr id="926" name="Google Shape;926;p69"/>
              <p:cNvSpPr/>
              <p:nvPr/>
            </p:nvSpPr>
            <p:spPr>
              <a:xfrm>
                <a:off x="200536" y="5889609"/>
                <a:ext cx="2862300" cy="1674000"/>
              </a:xfrm>
              <a:prstGeom prst="rect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grpSp>
            <p:nvGrpSpPr>
              <p:cNvPr id="927" name="Google Shape;927;p69"/>
              <p:cNvGrpSpPr/>
              <p:nvPr/>
            </p:nvGrpSpPr>
            <p:grpSpPr>
              <a:xfrm>
                <a:off x="916873" y="6034845"/>
                <a:ext cx="1429578" cy="1383599"/>
                <a:chOff x="1131525" y="3563450"/>
                <a:chExt cx="2263065" cy="2190279"/>
              </a:xfrm>
            </p:grpSpPr>
            <p:sp>
              <p:nvSpPr>
                <p:cNvPr id="928" name="Google Shape;928;p69"/>
                <p:cNvSpPr/>
                <p:nvPr/>
              </p:nvSpPr>
              <p:spPr>
                <a:xfrm>
                  <a:off x="1131525" y="3563450"/>
                  <a:ext cx="1514100" cy="1514100"/>
                </a:xfrm>
                <a:prstGeom prst="ellipse">
                  <a:avLst/>
                </a:prstGeom>
                <a:noFill/>
                <a:ln cap="flat" cmpd="sng" w="2857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929" name="Google Shape;929;p69"/>
                <p:cNvSpPr/>
                <p:nvPr/>
              </p:nvSpPr>
              <p:spPr>
                <a:xfrm>
                  <a:off x="1880490" y="3563450"/>
                  <a:ext cx="1514100" cy="1514100"/>
                </a:xfrm>
                <a:prstGeom prst="ellipse">
                  <a:avLst/>
                </a:prstGeom>
                <a:noFill/>
                <a:ln cap="flat" cmpd="sng" w="2857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930" name="Google Shape;930;p69"/>
                <p:cNvSpPr/>
                <p:nvPr/>
              </p:nvSpPr>
              <p:spPr>
                <a:xfrm>
                  <a:off x="1506008" y="4239629"/>
                  <a:ext cx="1514100" cy="1514100"/>
                </a:xfrm>
                <a:prstGeom prst="ellipse">
                  <a:avLst/>
                </a:prstGeom>
                <a:noFill/>
                <a:ln cap="flat" cmpd="sng" w="2857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</p:grpSp>
        </p:grpSp>
        <p:sp>
          <p:nvSpPr>
            <p:cNvPr id="931" name="Google Shape;931;p69"/>
            <p:cNvSpPr txBox="1"/>
            <p:nvPr/>
          </p:nvSpPr>
          <p:spPr>
            <a:xfrm>
              <a:off x="5520697" y="2357913"/>
              <a:ext cx="440700" cy="21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M3</a:t>
              </a:r>
              <a:endParaRPr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32" name="Google Shape;932;p69"/>
            <p:cNvSpPr txBox="1"/>
            <p:nvPr/>
          </p:nvSpPr>
          <p:spPr>
            <a:xfrm>
              <a:off x="7102247" y="2357913"/>
              <a:ext cx="440700" cy="21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M5</a:t>
              </a:r>
              <a:endParaRPr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33" name="Google Shape;933;p69"/>
            <p:cNvSpPr txBox="1"/>
            <p:nvPr/>
          </p:nvSpPr>
          <p:spPr>
            <a:xfrm>
              <a:off x="4894813" y="3706275"/>
              <a:ext cx="3257100" cy="83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And a Venn diagram with </a:t>
              </a:r>
              <a:r>
                <a:rPr lang="en-GB" sz="1800">
                  <a:solidFill>
                    <a:schemeClr val="accent4"/>
                  </a:solidFill>
                  <a:latin typeface="Lexend"/>
                  <a:ea typeface="Lexend"/>
                  <a:cs typeface="Lexend"/>
                  <a:sym typeface="Lexend"/>
                </a:rPr>
                <a:t>three circles 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can also show three events.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34" name="Google Shape;934;p69"/>
            <p:cNvSpPr txBox="1"/>
            <p:nvPr/>
          </p:nvSpPr>
          <p:spPr>
            <a:xfrm>
              <a:off x="6799697" y="3392388"/>
              <a:ext cx="440700" cy="21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odd</a:t>
              </a:r>
              <a:endParaRPr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8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p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different diagrams for multiple events</a:t>
            </a:r>
            <a:endParaRPr/>
          </a:p>
        </p:txBody>
      </p:sp>
      <p:cxnSp>
        <p:nvCxnSpPr>
          <p:cNvPr id="940" name="Google Shape;940;p70"/>
          <p:cNvCxnSpPr/>
          <p:nvPr/>
        </p:nvCxnSpPr>
        <p:spPr>
          <a:xfrm flipH="1" rot="10800000">
            <a:off x="6877469" y="841593"/>
            <a:ext cx="586200" cy="1458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41" name="Google Shape;941;p70"/>
          <p:cNvCxnSpPr/>
          <p:nvPr/>
        </p:nvCxnSpPr>
        <p:spPr>
          <a:xfrm>
            <a:off x="6877469" y="1028081"/>
            <a:ext cx="586200" cy="1458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42" name="Google Shape;942;p70"/>
          <p:cNvCxnSpPr/>
          <p:nvPr/>
        </p:nvCxnSpPr>
        <p:spPr>
          <a:xfrm flipH="1" rot="10800000">
            <a:off x="6877469" y="1454877"/>
            <a:ext cx="586200" cy="1458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43" name="Google Shape;943;p70"/>
          <p:cNvCxnSpPr/>
          <p:nvPr/>
        </p:nvCxnSpPr>
        <p:spPr>
          <a:xfrm>
            <a:off x="6877469" y="1641365"/>
            <a:ext cx="586200" cy="1458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44" name="Google Shape;944;p70"/>
          <p:cNvCxnSpPr/>
          <p:nvPr/>
        </p:nvCxnSpPr>
        <p:spPr>
          <a:xfrm flipH="1" rot="10800000">
            <a:off x="6877469" y="2068160"/>
            <a:ext cx="586200" cy="1458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45" name="Google Shape;945;p70"/>
          <p:cNvCxnSpPr/>
          <p:nvPr/>
        </p:nvCxnSpPr>
        <p:spPr>
          <a:xfrm>
            <a:off x="6877469" y="2254648"/>
            <a:ext cx="586200" cy="1458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46" name="Google Shape;946;p70"/>
          <p:cNvCxnSpPr/>
          <p:nvPr/>
        </p:nvCxnSpPr>
        <p:spPr>
          <a:xfrm flipH="1" rot="10800000">
            <a:off x="6877469" y="2681444"/>
            <a:ext cx="586200" cy="1458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47" name="Google Shape;947;p70"/>
          <p:cNvCxnSpPr/>
          <p:nvPr/>
        </p:nvCxnSpPr>
        <p:spPr>
          <a:xfrm>
            <a:off x="6877469" y="2867932"/>
            <a:ext cx="586200" cy="1458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48" name="Google Shape;948;p70"/>
          <p:cNvCxnSpPr/>
          <p:nvPr/>
        </p:nvCxnSpPr>
        <p:spPr>
          <a:xfrm flipH="1" rot="10800000">
            <a:off x="5867682" y="2221284"/>
            <a:ext cx="586200" cy="2805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49" name="Google Shape;949;p70"/>
          <p:cNvCxnSpPr/>
          <p:nvPr/>
        </p:nvCxnSpPr>
        <p:spPr>
          <a:xfrm>
            <a:off x="5867682" y="2580137"/>
            <a:ext cx="586200" cy="2805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50" name="Google Shape;950;p70"/>
          <p:cNvCxnSpPr/>
          <p:nvPr/>
        </p:nvCxnSpPr>
        <p:spPr>
          <a:xfrm flipH="1" rot="10800000">
            <a:off x="5867682" y="994707"/>
            <a:ext cx="586200" cy="2805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51" name="Google Shape;951;p70"/>
          <p:cNvCxnSpPr/>
          <p:nvPr/>
        </p:nvCxnSpPr>
        <p:spPr>
          <a:xfrm>
            <a:off x="5867682" y="1353560"/>
            <a:ext cx="586200" cy="2805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52" name="Google Shape;952;p70"/>
          <p:cNvCxnSpPr/>
          <p:nvPr/>
        </p:nvCxnSpPr>
        <p:spPr>
          <a:xfrm flipH="1" rot="10800000">
            <a:off x="4798543" y="1312681"/>
            <a:ext cx="586200" cy="5397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53" name="Google Shape;953;p70"/>
          <p:cNvCxnSpPr/>
          <p:nvPr/>
        </p:nvCxnSpPr>
        <p:spPr>
          <a:xfrm>
            <a:off x="4798543" y="2003123"/>
            <a:ext cx="586200" cy="5397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54" name="Google Shape;954;p70"/>
          <p:cNvSpPr txBox="1"/>
          <p:nvPr/>
        </p:nvSpPr>
        <p:spPr>
          <a:xfrm>
            <a:off x="5419629" y="1154118"/>
            <a:ext cx="440700" cy="32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odd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5" name="Google Shape;955;p70"/>
          <p:cNvSpPr txBox="1"/>
          <p:nvPr/>
        </p:nvSpPr>
        <p:spPr>
          <a:xfrm>
            <a:off x="5419629" y="2380676"/>
            <a:ext cx="440700" cy="32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even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6" name="Google Shape;956;p70"/>
          <p:cNvSpPr txBox="1"/>
          <p:nvPr/>
        </p:nvSpPr>
        <p:spPr>
          <a:xfrm>
            <a:off x="6461154" y="847756"/>
            <a:ext cx="440700" cy="32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M3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7" name="Google Shape;957;p70"/>
          <p:cNvSpPr txBox="1"/>
          <p:nvPr/>
        </p:nvSpPr>
        <p:spPr>
          <a:xfrm>
            <a:off x="6461154" y="1460756"/>
            <a:ext cx="440700" cy="32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not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M3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8" name="Google Shape;958;p70"/>
          <p:cNvSpPr txBox="1"/>
          <p:nvPr/>
        </p:nvSpPr>
        <p:spPr>
          <a:xfrm>
            <a:off x="6461154" y="2074203"/>
            <a:ext cx="440700" cy="32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M3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9" name="Google Shape;959;p70"/>
          <p:cNvSpPr txBox="1"/>
          <p:nvPr/>
        </p:nvSpPr>
        <p:spPr>
          <a:xfrm>
            <a:off x="6461154" y="2687203"/>
            <a:ext cx="440700" cy="32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not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M3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0" name="Google Shape;960;p70"/>
          <p:cNvSpPr txBox="1"/>
          <p:nvPr/>
        </p:nvSpPr>
        <p:spPr>
          <a:xfrm>
            <a:off x="7463614" y="681473"/>
            <a:ext cx="543600" cy="32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M5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1" name="Google Shape;961;p70"/>
          <p:cNvSpPr txBox="1"/>
          <p:nvPr/>
        </p:nvSpPr>
        <p:spPr>
          <a:xfrm>
            <a:off x="7463611" y="1011065"/>
            <a:ext cx="615900" cy="32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not M5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2" name="Google Shape;962;p70"/>
          <p:cNvSpPr txBox="1"/>
          <p:nvPr/>
        </p:nvSpPr>
        <p:spPr>
          <a:xfrm>
            <a:off x="7463614" y="1295962"/>
            <a:ext cx="543600" cy="32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M5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3" name="Google Shape;963;p70"/>
          <p:cNvSpPr txBox="1"/>
          <p:nvPr/>
        </p:nvSpPr>
        <p:spPr>
          <a:xfrm>
            <a:off x="7463611" y="1625554"/>
            <a:ext cx="615900" cy="32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not M5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4" name="Google Shape;964;p70"/>
          <p:cNvSpPr txBox="1"/>
          <p:nvPr/>
        </p:nvSpPr>
        <p:spPr>
          <a:xfrm>
            <a:off x="7463614" y="1909222"/>
            <a:ext cx="543600" cy="32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M5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5" name="Google Shape;965;p70"/>
          <p:cNvSpPr txBox="1"/>
          <p:nvPr/>
        </p:nvSpPr>
        <p:spPr>
          <a:xfrm>
            <a:off x="7463611" y="2238814"/>
            <a:ext cx="615900" cy="32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not M5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6" name="Google Shape;966;p70"/>
          <p:cNvSpPr txBox="1"/>
          <p:nvPr/>
        </p:nvSpPr>
        <p:spPr>
          <a:xfrm>
            <a:off x="7463614" y="2522539"/>
            <a:ext cx="543600" cy="32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M5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7" name="Google Shape;967;p70"/>
          <p:cNvSpPr txBox="1"/>
          <p:nvPr/>
        </p:nvSpPr>
        <p:spPr>
          <a:xfrm>
            <a:off x="7463611" y="2852131"/>
            <a:ext cx="615900" cy="32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not M5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68" name="Google Shape;968;p70"/>
          <p:cNvGrpSpPr/>
          <p:nvPr/>
        </p:nvGrpSpPr>
        <p:grpSpPr>
          <a:xfrm>
            <a:off x="486725" y="768300"/>
            <a:ext cx="3206649" cy="1937062"/>
            <a:chOff x="5444597" y="2304509"/>
            <a:chExt cx="2157471" cy="1303278"/>
          </a:xfrm>
        </p:grpSpPr>
        <p:grpSp>
          <p:nvGrpSpPr>
            <p:cNvPr id="969" name="Google Shape;969;p70"/>
            <p:cNvGrpSpPr/>
            <p:nvPr/>
          </p:nvGrpSpPr>
          <p:grpSpPr>
            <a:xfrm>
              <a:off x="5444597" y="2304509"/>
              <a:ext cx="2157471" cy="1261854"/>
              <a:chOff x="368037" y="5987576"/>
              <a:chExt cx="2527200" cy="1478100"/>
            </a:xfrm>
          </p:grpSpPr>
          <p:sp>
            <p:nvSpPr>
              <p:cNvPr id="970" name="Google Shape;970;p70"/>
              <p:cNvSpPr/>
              <p:nvPr/>
            </p:nvSpPr>
            <p:spPr>
              <a:xfrm>
                <a:off x="368037" y="5987576"/>
                <a:ext cx="2527200" cy="1478100"/>
              </a:xfrm>
              <a:prstGeom prst="rect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grpSp>
            <p:nvGrpSpPr>
              <p:cNvPr id="971" name="Google Shape;971;p70"/>
              <p:cNvGrpSpPr/>
              <p:nvPr/>
            </p:nvGrpSpPr>
            <p:grpSpPr>
              <a:xfrm>
                <a:off x="916873" y="6034845"/>
                <a:ext cx="1429578" cy="1383599"/>
                <a:chOff x="1131525" y="3563450"/>
                <a:chExt cx="2263065" cy="2190279"/>
              </a:xfrm>
            </p:grpSpPr>
            <p:sp>
              <p:nvSpPr>
                <p:cNvPr id="972" name="Google Shape;972;p70"/>
                <p:cNvSpPr/>
                <p:nvPr/>
              </p:nvSpPr>
              <p:spPr>
                <a:xfrm>
                  <a:off x="1131525" y="3563450"/>
                  <a:ext cx="1514100" cy="1514100"/>
                </a:xfrm>
                <a:prstGeom prst="ellipse">
                  <a:avLst/>
                </a:prstGeom>
                <a:noFill/>
                <a:ln cap="flat" cmpd="sng" w="2857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973" name="Google Shape;973;p70"/>
                <p:cNvSpPr/>
                <p:nvPr/>
              </p:nvSpPr>
              <p:spPr>
                <a:xfrm>
                  <a:off x="1880490" y="3563450"/>
                  <a:ext cx="1514100" cy="1514100"/>
                </a:xfrm>
                <a:prstGeom prst="ellipse">
                  <a:avLst/>
                </a:prstGeom>
                <a:noFill/>
                <a:ln cap="flat" cmpd="sng" w="2857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974" name="Google Shape;974;p70"/>
                <p:cNvSpPr/>
                <p:nvPr/>
              </p:nvSpPr>
              <p:spPr>
                <a:xfrm>
                  <a:off x="1506008" y="4239629"/>
                  <a:ext cx="1514100" cy="1514100"/>
                </a:xfrm>
                <a:prstGeom prst="ellipse">
                  <a:avLst/>
                </a:prstGeom>
                <a:noFill/>
                <a:ln cap="flat" cmpd="sng" w="2857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</p:grpSp>
        </p:grpSp>
        <p:sp>
          <p:nvSpPr>
            <p:cNvPr id="975" name="Google Shape;975;p70"/>
            <p:cNvSpPr txBox="1"/>
            <p:nvPr/>
          </p:nvSpPr>
          <p:spPr>
            <a:xfrm>
              <a:off x="5520697" y="2357913"/>
              <a:ext cx="440700" cy="21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M3</a:t>
              </a:r>
              <a:endParaRPr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76" name="Google Shape;976;p70"/>
            <p:cNvSpPr txBox="1"/>
            <p:nvPr/>
          </p:nvSpPr>
          <p:spPr>
            <a:xfrm>
              <a:off x="7102247" y="2357913"/>
              <a:ext cx="440700" cy="21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M5</a:t>
              </a:r>
              <a:endParaRPr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77" name="Google Shape;977;p70"/>
            <p:cNvSpPr txBox="1"/>
            <p:nvPr/>
          </p:nvSpPr>
          <p:spPr>
            <a:xfrm>
              <a:off x="6799697" y="3392388"/>
              <a:ext cx="440700" cy="21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odd</a:t>
              </a:r>
              <a:endParaRPr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978" name="Google Shape;978;p70"/>
          <p:cNvSpPr/>
          <p:nvPr/>
        </p:nvSpPr>
        <p:spPr>
          <a:xfrm>
            <a:off x="7788727" y="722275"/>
            <a:ext cx="543600" cy="238800"/>
          </a:xfrm>
          <a:prstGeom prst="roundRect">
            <a:avLst>
              <a:gd fmla="val 5961" name="adj"/>
            </a:avLst>
          </a:prstGeom>
          <a:noFill/>
          <a:ln cap="flat" cmpd="sng" w="38100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15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9" name="Google Shape;979;p70"/>
          <p:cNvSpPr/>
          <p:nvPr/>
        </p:nvSpPr>
        <p:spPr>
          <a:xfrm>
            <a:off x="7788727" y="1336150"/>
            <a:ext cx="543600" cy="238800"/>
          </a:xfrm>
          <a:prstGeom prst="roundRect">
            <a:avLst>
              <a:gd fmla="val 5961" name="adj"/>
            </a:avLst>
          </a:prstGeom>
          <a:noFill/>
          <a:ln cap="flat" cmpd="sng" w="38100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0" name="Google Shape;980;p70"/>
          <p:cNvSpPr/>
          <p:nvPr/>
        </p:nvSpPr>
        <p:spPr>
          <a:xfrm>
            <a:off x="7788727" y="1950050"/>
            <a:ext cx="543600" cy="238800"/>
          </a:xfrm>
          <a:prstGeom prst="roundRect">
            <a:avLst>
              <a:gd fmla="val 5961" name="adj"/>
            </a:avLst>
          </a:prstGeom>
          <a:noFill/>
          <a:ln cap="flat" cmpd="sng" w="38100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30</a:t>
            </a:r>
            <a:endParaRPr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1" name="Google Shape;981;p70"/>
          <p:cNvSpPr/>
          <p:nvPr/>
        </p:nvSpPr>
        <p:spPr>
          <a:xfrm>
            <a:off x="7788727" y="2563900"/>
            <a:ext cx="543600" cy="238800"/>
          </a:xfrm>
          <a:prstGeom prst="roundRect">
            <a:avLst>
              <a:gd fmla="val 5961" name="adj"/>
            </a:avLst>
          </a:prstGeom>
          <a:noFill/>
          <a:ln cap="flat" cmpd="sng" w="38100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2" name="Google Shape;982;p70"/>
          <p:cNvSpPr/>
          <p:nvPr/>
        </p:nvSpPr>
        <p:spPr>
          <a:xfrm>
            <a:off x="8101102" y="1041437"/>
            <a:ext cx="543600" cy="238800"/>
          </a:xfrm>
          <a:prstGeom prst="roundRect">
            <a:avLst>
              <a:gd fmla="val 5961" name="adj"/>
            </a:avLst>
          </a:prstGeom>
          <a:noFill/>
          <a:ln cap="flat" cmpd="sng" w="38100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3" name="Google Shape;983;p70"/>
          <p:cNvSpPr/>
          <p:nvPr/>
        </p:nvSpPr>
        <p:spPr>
          <a:xfrm>
            <a:off x="8101102" y="1655312"/>
            <a:ext cx="543600" cy="238800"/>
          </a:xfrm>
          <a:prstGeom prst="roundRect">
            <a:avLst>
              <a:gd fmla="val 5961" name="adj"/>
            </a:avLst>
          </a:prstGeom>
          <a:noFill/>
          <a:ln cap="flat" cmpd="sng" w="38100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7</a:t>
            </a:r>
            <a:endParaRPr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4" name="Google Shape;984;p70"/>
          <p:cNvSpPr txBox="1"/>
          <p:nvPr/>
        </p:nvSpPr>
        <p:spPr>
          <a:xfrm>
            <a:off x="334225" y="3691975"/>
            <a:ext cx="8485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To transfer an outcome to a different diagram, we must look at where it is represented on the current diagram.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5" name="Google Shape;985;p70"/>
          <p:cNvSpPr/>
          <p:nvPr/>
        </p:nvSpPr>
        <p:spPr>
          <a:xfrm>
            <a:off x="8101102" y="2269212"/>
            <a:ext cx="543600" cy="238800"/>
          </a:xfrm>
          <a:prstGeom prst="roundRect">
            <a:avLst>
              <a:gd fmla="val 5961" name="adj"/>
            </a:avLst>
          </a:prstGeom>
          <a:noFill/>
          <a:ln cap="flat" cmpd="sng" w="38100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6</a:t>
            </a:r>
            <a:endParaRPr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6" name="Google Shape;986;p70"/>
          <p:cNvSpPr/>
          <p:nvPr/>
        </p:nvSpPr>
        <p:spPr>
          <a:xfrm>
            <a:off x="8101102" y="2883062"/>
            <a:ext cx="543600" cy="238800"/>
          </a:xfrm>
          <a:prstGeom prst="roundRect">
            <a:avLst>
              <a:gd fmla="val 5961" name="adj"/>
            </a:avLst>
          </a:prstGeom>
          <a:noFill/>
          <a:ln cap="flat" cmpd="sng" w="38100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8</a:t>
            </a:r>
            <a:endParaRPr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7" name="Google Shape;987;p70"/>
          <p:cNvSpPr txBox="1"/>
          <p:nvPr/>
        </p:nvSpPr>
        <p:spPr>
          <a:xfrm>
            <a:off x="2303099" y="1683025"/>
            <a:ext cx="3237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8" name="Google Shape;988;p70"/>
          <p:cNvSpPr txBox="1"/>
          <p:nvPr/>
        </p:nvSpPr>
        <p:spPr>
          <a:xfrm>
            <a:off x="1928199" y="2167500"/>
            <a:ext cx="3237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9" name="Google Shape;989;p70"/>
          <p:cNvSpPr txBox="1"/>
          <p:nvPr/>
        </p:nvSpPr>
        <p:spPr>
          <a:xfrm>
            <a:off x="1928174" y="1011225"/>
            <a:ext cx="3237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3" name="Shape 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4" name="Google Shape;994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different diagrams for multiple events</a:t>
            </a:r>
            <a:endParaRPr/>
          </a:p>
        </p:txBody>
      </p:sp>
      <p:cxnSp>
        <p:nvCxnSpPr>
          <p:cNvPr id="995" name="Google Shape;995;p71"/>
          <p:cNvCxnSpPr/>
          <p:nvPr/>
        </p:nvCxnSpPr>
        <p:spPr>
          <a:xfrm flipH="1" rot="10800000">
            <a:off x="6877469" y="841593"/>
            <a:ext cx="586200" cy="1458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6" name="Google Shape;996;p71"/>
          <p:cNvCxnSpPr/>
          <p:nvPr/>
        </p:nvCxnSpPr>
        <p:spPr>
          <a:xfrm>
            <a:off x="6877469" y="1028081"/>
            <a:ext cx="586200" cy="1458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7" name="Google Shape;997;p71"/>
          <p:cNvCxnSpPr/>
          <p:nvPr/>
        </p:nvCxnSpPr>
        <p:spPr>
          <a:xfrm flipH="1" rot="10800000">
            <a:off x="6877469" y="1454877"/>
            <a:ext cx="586200" cy="1458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8" name="Google Shape;998;p71"/>
          <p:cNvCxnSpPr/>
          <p:nvPr/>
        </p:nvCxnSpPr>
        <p:spPr>
          <a:xfrm>
            <a:off x="6877469" y="1641365"/>
            <a:ext cx="586200" cy="1458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9" name="Google Shape;999;p71"/>
          <p:cNvCxnSpPr/>
          <p:nvPr/>
        </p:nvCxnSpPr>
        <p:spPr>
          <a:xfrm flipH="1" rot="10800000">
            <a:off x="6877469" y="2068160"/>
            <a:ext cx="586200" cy="1458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00" name="Google Shape;1000;p71"/>
          <p:cNvCxnSpPr/>
          <p:nvPr/>
        </p:nvCxnSpPr>
        <p:spPr>
          <a:xfrm>
            <a:off x="6877469" y="2254648"/>
            <a:ext cx="586200" cy="1458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01" name="Google Shape;1001;p71"/>
          <p:cNvCxnSpPr/>
          <p:nvPr/>
        </p:nvCxnSpPr>
        <p:spPr>
          <a:xfrm flipH="1" rot="10800000">
            <a:off x="6877469" y="2681444"/>
            <a:ext cx="586200" cy="1458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02" name="Google Shape;1002;p71"/>
          <p:cNvCxnSpPr/>
          <p:nvPr/>
        </p:nvCxnSpPr>
        <p:spPr>
          <a:xfrm>
            <a:off x="6877469" y="2867932"/>
            <a:ext cx="586200" cy="1458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03" name="Google Shape;1003;p71"/>
          <p:cNvCxnSpPr/>
          <p:nvPr/>
        </p:nvCxnSpPr>
        <p:spPr>
          <a:xfrm flipH="1" rot="10800000">
            <a:off x="5867682" y="2221284"/>
            <a:ext cx="586200" cy="2805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04" name="Google Shape;1004;p71"/>
          <p:cNvCxnSpPr/>
          <p:nvPr/>
        </p:nvCxnSpPr>
        <p:spPr>
          <a:xfrm>
            <a:off x="5867682" y="2580137"/>
            <a:ext cx="586200" cy="2805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05" name="Google Shape;1005;p71"/>
          <p:cNvCxnSpPr/>
          <p:nvPr/>
        </p:nvCxnSpPr>
        <p:spPr>
          <a:xfrm flipH="1" rot="10800000">
            <a:off x="5867682" y="994707"/>
            <a:ext cx="586200" cy="2805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06" name="Google Shape;1006;p71"/>
          <p:cNvCxnSpPr/>
          <p:nvPr/>
        </p:nvCxnSpPr>
        <p:spPr>
          <a:xfrm>
            <a:off x="5867682" y="1353560"/>
            <a:ext cx="586200" cy="2805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07" name="Google Shape;1007;p71"/>
          <p:cNvCxnSpPr/>
          <p:nvPr/>
        </p:nvCxnSpPr>
        <p:spPr>
          <a:xfrm flipH="1" rot="10800000">
            <a:off x="4798543" y="1312681"/>
            <a:ext cx="586200" cy="5397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08" name="Google Shape;1008;p71"/>
          <p:cNvCxnSpPr/>
          <p:nvPr/>
        </p:nvCxnSpPr>
        <p:spPr>
          <a:xfrm>
            <a:off x="4798543" y="2003123"/>
            <a:ext cx="586200" cy="5397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09" name="Google Shape;1009;p71"/>
          <p:cNvSpPr txBox="1"/>
          <p:nvPr/>
        </p:nvSpPr>
        <p:spPr>
          <a:xfrm>
            <a:off x="5419629" y="1154118"/>
            <a:ext cx="440700" cy="32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odd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0" name="Google Shape;1010;p71"/>
          <p:cNvSpPr txBox="1"/>
          <p:nvPr/>
        </p:nvSpPr>
        <p:spPr>
          <a:xfrm>
            <a:off x="5419629" y="2380676"/>
            <a:ext cx="440700" cy="32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even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1" name="Google Shape;1011;p71"/>
          <p:cNvSpPr txBox="1"/>
          <p:nvPr/>
        </p:nvSpPr>
        <p:spPr>
          <a:xfrm>
            <a:off x="6461154" y="847756"/>
            <a:ext cx="440700" cy="32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M3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2" name="Google Shape;1012;p71"/>
          <p:cNvSpPr txBox="1"/>
          <p:nvPr/>
        </p:nvSpPr>
        <p:spPr>
          <a:xfrm>
            <a:off x="6461154" y="1460756"/>
            <a:ext cx="440700" cy="32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not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M3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3" name="Google Shape;1013;p71"/>
          <p:cNvSpPr txBox="1"/>
          <p:nvPr/>
        </p:nvSpPr>
        <p:spPr>
          <a:xfrm>
            <a:off x="6461154" y="2074203"/>
            <a:ext cx="440700" cy="32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M3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4" name="Google Shape;1014;p71"/>
          <p:cNvSpPr txBox="1"/>
          <p:nvPr/>
        </p:nvSpPr>
        <p:spPr>
          <a:xfrm>
            <a:off x="6461154" y="2687203"/>
            <a:ext cx="440700" cy="32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not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M3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5" name="Google Shape;1015;p71"/>
          <p:cNvSpPr txBox="1"/>
          <p:nvPr/>
        </p:nvSpPr>
        <p:spPr>
          <a:xfrm>
            <a:off x="7463614" y="681473"/>
            <a:ext cx="543600" cy="32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M5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6" name="Google Shape;1016;p71"/>
          <p:cNvSpPr txBox="1"/>
          <p:nvPr/>
        </p:nvSpPr>
        <p:spPr>
          <a:xfrm>
            <a:off x="7463611" y="1011065"/>
            <a:ext cx="615900" cy="32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not M5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7" name="Google Shape;1017;p71"/>
          <p:cNvSpPr txBox="1"/>
          <p:nvPr/>
        </p:nvSpPr>
        <p:spPr>
          <a:xfrm>
            <a:off x="7463614" y="1295962"/>
            <a:ext cx="543600" cy="32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M5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8" name="Google Shape;1018;p71"/>
          <p:cNvSpPr txBox="1"/>
          <p:nvPr/>
        </p:nvSpPr>
        <p:spPr>
          <a:xfrm>
            <a:off x="7463611" y="1625554"/>
            <a:ext cx="615900" cy="32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not M5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9" name="Google Shape;1019;p71"/>
          <p:cNvSpPr txBox="1"/>
          <p:nvPr/>
        </p:nvSpPr>
        <p:spPr>
          <a:xfrm>
            <a:off x="7463614" y="1909222"/>
            <a:ext cx="543600" cy="32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M5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0" name="Google Shape;1020;p71"/>
          <p:cNvSpPr txBox="1"/>
          <p:nvPr/>
        </p:nvSpPr>
        <p:spPr>
          <a:xfrm>
            <a:off x="7463611" y="2238814"/>
            <a:ext cx="615900" cy="32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not M5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1" name="Google Shape;1021;p71"/>
          <p:cNvSpPr txBox="1"/>
          <p:nvPr/>
        </p:nvSpPr>
        <p:spPr>
          <a:xfrm>
            <a:off x="7463614" y="2522539"/>
            <a:ext cx="543600" cy="32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M5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2" name="Google Shape;1022;p71"/>
          <p:cNvSpPr txBox="1"/>
          <p:nvPr/>
        </p:nvSpPr>
        <p:spPr>
          <a:xfrm>
            <a:off x="7463611" y="2852131"/>
            <a:ext cx="615900" cy="32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not M5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3" name="Google Shape;1023;p71"/>
          <p:cNvSpPr/>
          <p:nvPr/>
        </p:nvSpPr>
        <p:spPr>
          <a:xfrm>
            <a:off x="486725" y="768300"/>
            <a:ext cx="3206700" cy="18756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4" name="Google Shape;1024;p71"/>
          <p:cNvSpPr/>
          <p:nvPr/>
        </p:nvSpPr>
        <p:spPr>
          <a:xfrm>
            <a:off x="1183118" y="828277"/>
            <a:ext cx="1213500" cy="1213500"/>
          </a:xfrm>
          <a:prstGeom prst="ellips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5" name="Google Shape;1025;p71"/>
          <p:cNvSpPr/>
          <p:nvPr/>
        </p:nvSpPr>
        <p:spPr>
          <a:xfrm>
            <a:off x="1783440" y="828277"/>
            <a:ext cx="1213500" cy="1213500"/>
          </a:xfrm>
          <a:prstGeom prst="ellips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6" name="Google Shape;1026;p71"/>
          <p:cNvSpPr/>
          <p:nvPr/>
        </p:nvSpPr>
        <p:spPr>
          <a:xfrm>
            <a:off x="1483279" y="1370258"/>
            <a:ext cx="1213500" cy="1213500"/>
          </a:xfrm>
          <a:prstGeom prst="ellips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7" name="Google Shape;1027;p71"/>
          <p:cNvSpPr txBox="1"/>
          <p:nvPr/>
        </p:nvSpPr>
        <p:spPr>
          <a:xfrm>
            <a:off x="599833" y="847673"/>
            <a:ext cx="654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M3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8" name="Google Shape;1028;p71"/>
          <p:cNvSpPr txBox="1"/>
          <p:nvPr/>
        </p:nvSpPr>
        <p:spPr>
          <a:xfrm>
            <a:off x="2950491" y="847673"/>
            <a:ext cx="654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M5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9" name="Google Shape;1029;p71"/>
          <p:cNvSpPr txBox="1"/>
          <p:nvPr/>
        </p:nvSpPr>
        <p:spPr>
          <a:xfrm>
            <a:off x="2500811" y="2385213"/>
            <a:ext cx="654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odd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0" name="Google Shape;1030;p71"/>
          <p:cNvSpPr/>
          <p:nvPr/>
        </p:nvSpPr>
        <p:spPr>
          <a:xfrm>
            <a:off x="7788727" y="722275"/>
            <a:ext cx="543600" cy="238800"/>
          </a:xfrm>
          <a:prstGeom prst="roundRect">
            <a:avLst>
              <a:gd fmla="val 5961" name="adj"/>
            </a:avLst>
          </a:prstGeom>
          <a:solidFill>
            <a:srgbClr val="EBEDFE"/>
          </a:solidFill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15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1" name="Google Shape;1031;p71"/>
          <p:cNvSpPr/>
          <p:nvPr/>
        </p:nvSpPr>
        <p:spPr>
          <a:xfrm>
            <a:off x="7788727" y="1336150"/>
            <a:ext cx="543600" cy="238800"/>
          </a:xfrm>
          <a:prstGeom prst="roundRect">
            <a:avLst>
              <a:gd fmla="val 5961" name="adj"/>
            </a:avLst>
          </a:prstGeom>
          <a:noFill/>
          <a:ln cap="flat" cmpd="sng" w="38100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2" name="Google Shape;1032;p71"/>
          <p:cNvSpPr/>
          <p:nvPr/>
        </p:nvSpPr>
        <p:spPr>
          <a:xfrm>
            <a:off x="7788727" y="1950050"/>
            <a:ext cx="543600" cy="238800"/>
          </a:xfrm>
          <a:prstGeom prst="roundRect">
            <a:avLst>
              <a:gd fmla="val 5961" name="adj"/>
            </a:avLst>
          </a:prstGeom>
          <a:noFill/>
          <a:ln cap="flat" cmpd="sng" w="38100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30</a:t>
            </a:r>
            <a:endParaRPr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3" name="Google Shape;1033;p71"/>
          <p:cNvSpPr/>
          <p:nvPr/>
        </p:nvSpPr>
        <p:spPr>
          <a:xfrm>
            <a:off x="8101102" y="1041437"/>
            <a:ext cx="543600" cy="238800"/>
          </a:xfrm>
          <a:prstGeom prst="roundRect">
            <a:avLst>
              <a:gd fmla="val 5961" name="adj"/>
            </a:avLst>
          </a:prstGeom>
          <a:noFill/>
          <a:ln cap="flat" cmpd="sng" w="38100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4" name="Google Shape;1034;p71"/>
          <p:cNvSpPr txBox="1"/>
          <p:nvPr/>
        </p:nvSpPr>
        <p:spPr>
          <a:xfrm>
            <a:off x="334225" y="3419550"/>
            <a:ext cx="8485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outcome of 15 on the outcome tree is…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5" name="Google Shape;1035;p71"/>
          <p:cNvSpPr/>
          <p:nvPr/>
        </p:nvSpPr>
        <p:spPr>
          <a:xfrm>
            <a:off x="8101102" y="1655312"/>
            <a:ext cx="543600" cy="238800"/>
          </a:xfrm>
          <a:prstGeom prst="roundRect">
            <a:avLst>
              <a:gd fmla="val 5961" name="adj"/>
            </a:avLst>
          </a:prstGeom>
          <a:noFill/>
          <a:ln cap="flat" cmpd="sng" w="38100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7</a:t>
            </a:r>
            <a:endParaRPr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6" name="Google Shape;1036;p71"/>
          <p:cNvSpPr/>
          <p:nvPr/>
        </p:nvSpPr>
        <p:spPr>
          <a:xfrm>
            <a:off x="8101102" y="2269212"/>
            <a:ext cx="543600" cy="238800"/>
          </a:xfrm>
          <a:prstGeom prst="roundRect">
            <a:avLst>
              <a:gd fmla="val 5961" name="adj"/>
            </a:avLst>
          </a:prstGeom>
          <a:noFill/>
          <a:ln cap="flat" cmpd="sng" w="38100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6</a:t>
            </a:r>
            <a:endParaRPr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7" name="Google Shape;1037;p71"/>
          <p:cNvSpPr/>
          <p:nvPr/>
        </p:nvSpPr>
        <p:spPr>
          <a:xfrm>
            <a:off x="8101102" y="2883062"/>
            <a:ext cx="543600" cy="238800"/>
          </a:xfrm>
          <a:prstGeom prst="roundRect">
            <a:avLst>
              <a:gd fmla="val 5961" name="adj"/>
            </a:avLst>
          </a:prstGeom>
          <a:noFill/>
          <a:ln cap="flat" cmpd="sng" w="38100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8</a:t>
            </a:r>
            <a:endParaRPr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8" name="Google Shape;1038;p71"/>
          <p:cNvSpPr txBox="1"/>
          <p:nvPr/>
        </p:nvSpPr>
        <p:spPr>
          <a:xfrm>
            <a:off x="2303099" y="1683025"/>
            <a:ext cx="3237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9" name="Google Shape;1039;p71"/>
          <p:cNvSpPr txBox="1"/>
          <p:nvPr/>
        </p:nvSpPr>
        <p:spPr>
          <a:xfrm>
            <a:off x="1928199" y="2167500"/>
            <a:ext cx="3237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40" name="Google Shape;1040;p71"/>
          <p:cNvCxnSpPr/>
          <p:nvPr/>
        </p:nvCxnSpPr>
        <p:spPr>
          <a:xfrm flipH="1" rot="10800000">
            <a:off x="6877469" y="841593"/>
            <a:ext cx="586200" cy="145800"/>
          </a:xfrm>
          <a:prstGeom prst="straightConnector1">
            <a:avLst/>
          </a:prstGeom>
          <a:noFill/>
          <a:ln cap="flat" cmpd="sng" w="762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1" name="Google Shape;1041;p71"/>
          <p:cNvCxnSpPr/>
          <p:nvPr/>
        </p:nvCxnSpPr>
        <p:spPr>
          <a:xfrm flipH="1" rot="10800000">
            <a:off x="5867682" y="994707"/>
            <a:ext cx="586200" cy="280500"/>
          </a:xfrm>
          <a:prstGeom prst="straightConnector1">
            <a:avLst/>
          </a:prstGeom>
          <a:noFill/>
          <a:ln cap="flat" cmpd="sng" w="762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2" name="Google Shape;1042;p71"/>
          <p:cNvCxnSpPr/>
          <p:nvPr/>
        </p:nvCxnSpPr>
        <p:spPr>
          <a:xfrm flipH="1" rot="10800000">
            <a:off x="4798543" y="1312681"/>
            <a:ext cx="586200" cy="539700"/>
          </a:xfrm>
          <a:prstGeom prst="straightConnector1">
            <a:avLst/>
          </a:prstGeom>
          <a:noFill/>
          <a:ln cap="flat" cmpd="sng" w="762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43" name="Google Shape;1043;p71"/>
          <p:cNvSpPr txBox="1"/>
          <p:nvPr/>
        </p:nvSpPr>
        <p:spPr>
          <a:xfrm>
            <a:off x="1567800" y="3749150"/>
            <a:ext cx="907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odd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4" name="Google Shape;1044;p71"/>
          <p:cNvSpPr txBox="1"/>
          <p:nvPr/>
        </p:nvSpPr>
        <p:spPr>
          <a:xfrm>
            <a:off x="1567800" y="4078750"/>
            <a:ext cx="2413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 multiple of 3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5" name="Google Shape;1045;p71"/>
          <p:cNvSpPr txBox="1"/>
          <p:nvPr/>
        </p:nvSpPr>
        <p:spPr>
          <a:xfrm>
            <a:off x="1567800" y="4408350"/>
            <a:ext cx="2413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 multiple of 5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46" name="Google Shape;1046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92258" y="367820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7" name="Google Shape;1047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4333" y="400780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8" name="Google Shape;1048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4333" y="4337400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9" name="Google Shape;1049;p71"/>
          <p:cNvSpPr txBox="1"/>
          <p:nvPr/>
        </p:nvSpPr>
        <p:spPr>
          <a:xfrm>
            <a:off x="4678150" y="3837750"/>
            <a:ext cx="3513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And so 15 would go into the intersection of all three circles in the Venn diagram.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0" name="Google Shape;1050;p71"/>
          <p:cNvSpPr/>
          <p:nvPr/>
        </p:nvSpPr>
        <p:spPr>
          <a:xfrm>
            <a:off x="1483279" y="1370258"/>
            <a:ext cx="1213500" cy="1213500"/>
          </a:xfrm>
          <a:prstGeom prst="ellipse">
            <a:avLst/>
          </a:prstGeom>
          <a:noFill/>
          <a:ln cap="flat" cmpd="sng" w="762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1" name="Google Shape;1051;p71"/>
          <p:cNvSpPr txBox="1"/>
          <p:nvPr/>
        </p:nvSpPr>
        <p:spPr>
          <a:xfrm>
            <a:off x="1928174" y="1460900"/>
            <a:ext cx="3237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15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52" name="Google Shape;1052;p71"/>
          <p:cNvSpPr/>
          <p:nvPr/>
        </p:nvSpPr>
        <p:spPr>
          <a:xfrm>
            <a:off x="7788727" y="2563900"/>
            <a:ext cx="543600" cy="238800"/>
          </a:xfrm>
          <a:prstGeom prst="roundRect">
            <a:avLst>
              <a:gd fmla="val 5961" name="adj"/>
            </a:avLst>
          </a:prstGeom>
          <a:noFill/>
          <a:ln cap="flat" cmpd="sng" w="38100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3" name="Google Shape;1053;p71"/>
          <p:cNvSpPr txBox="1"/>
          <p:nvPr/>
        </p:nvSpPr>
        <p:spPr>
          <a:xfrm>
            <a:off x="1928174" y="1011225"/>
            <a:ext cx="3237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54" name="Google Shape;1054;p71"/>
          <p:cNvGrpSpPr/>
          <p:nvPr/>
        </p:nvGrpSpPr>
        <p:grpSpPr>
          <a:xfrm>
            <a:off x="1181537" y="828352"/>
            <a:ext cx="1513661" cy="1755481"/>
            <a:chOff x="1181537" y="828352"/>
            <a:chExt cx="1513661" cy="1755481"/>
          </a:xfrm>
        </p:grpSpPr>
        <p:sp>
          <p:nvSpPr>
            <p:cNvPr id="1055" name="Google Shape;1055;p71"/>
            <p:cNvSpPr/>
            <p:nvPr/>
          </p:nvSpPr>
          <p:spPr>
            <a:xfrm>
              <a:off x="1181537" y="828352"/>
              <a:ext cx="1213500" cy="1213500"/>
            </a:xfrm>
            <a:prstGeom prst="arc">
              <a:avLst>
                <a:gd fmla="val 413" name="adj1"/>
                <a:gd fmla="val 7361471" name="adj2"/>
              </a:avLst>
            </a:prstGeom>
            <a:noFill/>
            <a:ln cap="flat" cmpd="sng" w="762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56" name="Google Shape;1056;p71"/>
            <p:cNvSpPr/>
            <p:nvPr/>
          </p:nvSpPr>
          <p:spPr>
            <a:xfrm>
              <a:off x="1481698" y="1370333"/>
              <a:ext cx="1213500" cy="1213500"/>
            </a:xfrm>
            <a:prstGeom prst="arc">
              <a:avLst>
                <a:gd fmla="val 10815866" name="adj1"/>
                <a:gd fmla="val 18157035" name="adj2"/>
              </a:avLst>
            </a:prstGeom>
            <a:noFill/>
            <a:ln cap="flat" cmpd="sng" w="762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57" name="Google Shape;1057;p71"/>
          <p:cNvGrpSpPr/>
          <p:nvPr/>
        </p:nvGrpSpPr>
        <p:grpSpPr>
          <a:xfrm>
            <a:off x="1181537" y="828277"/>
            <a:ext cx="1815403" cy="1755556"/>
            <a:chOff x="1181537" y="828277"/>
            <a:chExt cx="1815403" cy="1755556"/>
          </a:xfrm>
        </p:grpSpPr>
        <p:grpSp>
          <p:nvGrpSpPr>
            <p:cNvPr id="1058" name="Google Shape;1058;p71"/>
            <p:cNvGrpSpPr/>
            <p:nvPr/>
          </p:nvGrpSpPr>
          <p:grpSpPr>
            <a:xfrm>
              <a:off x="1181537" y="828352"/>
              <a:ext cx="1513661" cy="1755481"/>
              <a:chOff x="1181537" y="828352"/>
              <a:chExt cx="1513661" cy="1755481"/>
            </a:xfrm>
          </p:grpSpPr>
          <p:sp>
            <p:nvSpPr>
              <p:cNvPr id="1059" name="Google Shape;1059;p71"/>
              <p:cNvSpPr/>
              <p:nvPr/>
            </p:nvSpPr>
            <p:spPr>
              <a:xfrm>
                <a:off x="1181537" y="828352"/>
                <a:ext cx="1213500" cy="1213500"/>
              </a:xfrm>
              <a:prstGeom prst="arc">
                <a:avLst>
                  <a:gd fmla="val 413" name="adj1"/>
                  <a:gd fmla="val 3739728" name="adj2"/>
                </a:avLst>
              </a:prstGeom>
              <a:noFill/>
              <a:ln cap="flat" cmpd="sng" w="76200">
                <a:solidFill>
                  <a:srgbClr val="D02AA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060" name="Google Shape;1060;p71"/>
              <p:cNvSpPr/>
              <p:nvPr/>
            </p:nvSpPr>
            <p:spPr>
              <a:xfrm>
                <a:off x="1481698" y="1370333"/>
                <a:ext cx="1213500" cy="1213500"/>
              </a:xfrm>
              <a:prstGeom prst="arc">
                <a:avLst>
                  <a:gd fmla="val 14236228" name="adj1"/>
                  <a:gd fmla="val 18157035" name="adj2"/>
                </a:avLst>
              </a:prstGeom>
              <a:noFill/>
              <a:ln cap="flat" cmpd="sng" w="76200">
                <a:solidFill>
                  <a:srgbClr val="D02AA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1061" name="Google Shape;1061;p71"/>
            <p:cNvSpPr/>
            <p:nvPr/>
          </p:nvSpPr>
          <p:spPr>
            <a:xfrm>
              <a:off x="1783440" y="828277"/>
              <a:ext cx="1213500" cy="1213500"/>
            </a:xfrm>
            <a:prstGeom prst="arc">
              <a:avLst>
                <a:gd fmla="val 7055164" name="adj1"/>
                <a:gd fmla="val 10801861" name="adj2"/>
              </a:avLst>
            </a:prstGeom>
            <a:noFill/>
            <a:ln cap="flat" cmpd="sng" w="76200">
              <a:solidFill>
                <a:srgbClr val="D02AA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5" name="Shape 1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p72"/>
          <p:cNvSpPr txBox="1"/>
          <p:nvPr/>
        </p:nvSpPr>
        <p:spPr>
          <a:xfrm>
            <a:off x="5232900" y="3837750"/>
            <a:ext cx="33075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And so 5 would be at the end of the following branches: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odd → not M3 → M5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7" name="Google Shape;1067;p72"/>
          <p:cNvSpPr txBox="1"/>
          <p:nvPr/>
        </p:nvSpPr>
        <p:spPr>
          <a:xfrm>
            <a:off x="1567800" y="4408350"/>
            <a:ext cx="2413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 multiple of 5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8" name="Google Shape;1068;p7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different diagrams for multiple events</a:t>
            </a:r>
            <a:endParaRPr/>
          </a:p>
        </p:txBody>
      </p:sp>
      <p:cxnSp>
        <p:nvCxnSpPr>
          <p:cNvPr id="1069" name="Google Shape;1069;p72"/>
          <p:cNvCxnSpPr/>
          <p:nvPr/>
        </p:nvCxnSpPr>
        <p:spPr>
          <a:xfrm flipH="1" rot="10800000">
            <a:off x="6877469" y="841593"/>
            <a:ext cx="586200" cy="1458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70" name="Google Shape;1070;p72"/>
          <p:cNvCxnSpPr/>
          <p:nvPr/>
        </p:nvCxnSpPr>
        <p:spPr>
          <a:xfrm>
            <a:off x="6877469" y="1028081"/>
            <a:ext cx="586200" cy="1458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71" name="Google Shape;1071;p72"/>
          <p:cNvCxnSpPr/>
          <p:nvPr/>
        </p:nvCxnSpPr>
        <p:spPr>
          <a:xfrm flipH="1" rot="10800000">
            <a:off x="6877469" y="1454877"/>
            <a:ext cx="586200" cy="1458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72" name="Google Shape;1072;p72"/>
          <p:cNvCxnSpPr/>
          <p:nvPr/>
        </p:nvCxnSpPr>
        <p:spPr>
          <a:xfrm>
            <a:off x="6877469" y="1641365"/>
            <a:ext cx="586200" cy="1458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73" name="Google Shape;1073;p72"/>
          <p:cNvCxnSpPr/>
          <p:nvPr/>
        </p:nvCxnSpPr>
        <p:spPr>
          <a:xfrm flipH="1" rot="10800000">
            <a:off x="6877469" y="2068160"/>
            <a:ext cx="586200" cy="1458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74" name="Google Shape;1074;p72"/>
          <p:cNvCxnSpPr/>
          <p:nvPr/>
        </p:nvCxnSpPr>
        <p:spPr>
          <a:xfrm>
            <a:off x="6877469" y="2254648"/>
            <a:ext cx="586200" cy="1458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75" name="Google Shape;1075;p72"/>
          <p:cNvCxnSpPr/>
          <p:nvPr/>
        </p:nvCxnSpPr>
        <p:spPr>
          <a:xfrm flipH="1" rot="10800000">
            <a:off x="6877469" y="2681444"/>
            <a:ext cx="586200" cy="1458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76" name="Google Shape;1076;p72"/>
          <p:cNvCxnSpPr/>
          <p:nvPr/>
        </p:nvCxnSpPr>
        <p:spPr>
          <a:xfrm>
            <a:off x="6877469" y="2867932"/>
            <a:ext cx="586200" cy="1458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77" name="Google Shape;1077;p72"/>
          <p:cNvCxnSpPr/>
          <p:nvPr/>
        </p:nvCxnSpPr>
        <p:spPr>
          <a:xfrm flipH="1" rot="10800000">
            <a:off x="5867682" y="2221284"/>
            <a:ext cx="586200" cy="2805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78" name="Google Shape;1078;p72"/>
          <p:cNvCxnSpPr/>
          <p:nvPr/>
        </p:nvCxnSpPr>
        <p:spPr>
          <a:xfrm>
            <a:off x="5867682" y="2580137"/>
            <a:ext cx="586200" cy="2805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79" name="Google Shape;1079;p72"/>
          <p:cNvCxnSpPr/>
          <p:nvPr/>
        </p:nvCxnSpPr>
        <p:spPr>
          <a:xfrm flipH="1" rot="10800000">
            <a:off x="5867682" y="994707"/>
            <a:ext cx="586200" cy="2805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80" name="Google Shape;1080;p72"/>
          <p:cNvCxnSpPr/>
          <p:nvPr/>
        </p:nvCxnSpPr>
        <p:spPr>
          <a:xfrm>
            <a:off x="5867682" y="1353560"/>
            <a:ext cx="586200" cy="2805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81" name="Google Shape;1081;p72"/>
          <p:cNvCxnSpPr/>
          <p:nvPr/>
        </p:nvCxnSpPr>
        <p:spPr>
          <a:xfrm flipH="1" rot="10800000">
            <a:off x="4798543" y="1312681"/>
            <a:ext cx="586200" cy="5397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82" name="Google Shape;1082;p72"/>
          <p:cNvCxnSpPr/>
          <p:nvPr/>
        </p:nvCxnSpPr>
        <p:spPr>
          <a:xfrm>
            <a:off x="4798543" y="2003123"/>
            <a:ext cx="586200" cy="5397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83" name="Google Shape;1083;p72"/>
          <p:cNvSpPr txBox="1"/>
          <p:nvPr/>
        </p:nvSpPr>
        <p:spPr>
          <a:xfrm>
            <a:off x="5419629" y="1154118"/>
            <a:ext cx="440700" cy="32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odd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4" name="Google Shape;1084;p72"/>
          <p:cNvSpPr txBox="1"/>
          <p:nvPr/>
        </p:nvSpPr>
        <p:spPr>
          <a:xfrm>
            <a:off x="5419629" y="2380676"/>
            <a:ext cx="440700" cy="32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even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5" name="Google Shape;1085;p72"/>
          <p:cNvSpPr txBox="1"/>
          <p:nvPr/>
        </p:nvSpPr>
        <p:spPr>
          <a:xfrm>
            <a:off x="6461154" y="847756"/>
            <a:ext cx="440700" cy="32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M3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6" name="Google Shape;1086;p72"/>
          <p:cNvSpPr txBox="1"/>
          <p:nvPr/>
        </p:nvSpPr>
        <p:spPr>
          <a:xfrm>
            <a:off x="6461154" y="1460756"/>
            <a:ext cx="440700" cy="32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not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M3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7" name="Google Shape;1087;p72"/>
          <p:cNvSpPr txBox="1"/>
          <p:nvPr/>
        </p:nvSpPr>
        <p:spPr>
          <a:xfrm>
            <a:off x="6461154" y="2074203"/>
            <a:ext cx="440700" cy="32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M3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8" name="Google Shape;1088;p72"/>
          <p:cNvSpPr txBox="1"/>
          <p:nvPr/>
        </p:nvSpPr>
        <p:spPr>
          <a:xfrm>
            <a:off x="6461154" y="2687203"/>
            <a:ext cx="440700" cy="32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not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M3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9" name="Google Shape;1089;p72"/>
          <p:cNvSpPr txBox="1"/>
          <p:nvPr/>
        </p:nvSpPr>
        <p:spPr>
          <a:xfrm>
            <a:off x="7463614" y="681473"/>
            <a:ext cx="543600" cy="32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M5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0" name="Google Shape;1090;p72"/>
          <p:cNvSpPr txBox="1"/>
          <p:nvPr/>
        </p:nvSpPr>
        <p:spPr>
          <a:xfrm>
            <a:off x="7463611" y="1011065"/>
            <a:ext cx="615900" cy="32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not M5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1" name="Google Shape;1091;p72"/>
          <p:cNvSpPr txBox="1"/>
          <p:nvPr/>
        </p:nvSpPr>
        <p:spPr>
          <a:xfrm>
            <a:off x="7463614" y="1295962"/>
            <a:ext cx="543600" cy="32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M5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2" name="Google Shape;1092;p72"/>
          <p:cNvSpPr txBox="1"/>
          <p:nvPr/>
        </p:nvSpPr>
        <p:spPr>
          <a:xfrm>
            <a:off x="7463611" y="1625554"/>
            <a:ext cx="615900" cy="32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not M5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3" name="Google Shape;1093;p72"/>
          <p:cNvSpPr txBox="1"/>
          <p:nvPr/>
        </p:nvSpPr>
        <p:spPr>
          <a:xfrm>
            <a:off x="7463614" y="1909222"/>
            <a:ext cx="543600" cy="32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M5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4" name="Google Shape;1094;p72"/>
          <p:cNvSpPr txBox="1"/>
          <p:nvPr/>
        </p:nvSpPr>
        <p:spPr>
          <a:xfrm>
            <a:off x="7463611" y="2238814"/>
            <a:ext cx="615900" cy="32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not M5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5" name="Google Shape;1095;p72"/>
          <p:cNvSpPr txBox="1"/>
          <p:nvPr/>
        </p:nvSpPr>
        <p:spPr>
          <a:xfrm>
            <a:off x="7463614" y="2522539"/>
            <a:ext cx="543600" cy="32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M5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6" name="Google Shape;1096;p72"/>
          <p:cNvSpPr txBox="1"/>
          <p:nvPr/>
        </p:nvSpPr>
        <p:spPr>
          <a:xfrm>
            <a:off x="7463611" y="2852131"/>
            <a:ext cx="615900" cy="32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not M5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7" name="Google Shape;1097;p72"/>
          <p:cNvSpPr/>
          <p:nvPr/>
        </p:nvSpPr>
        <p:spPr>
          <a:xfrm>
            <a:off x="486725" y="768300"/>
            <a:ext cx="3206700" cy="18756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8" name="Google Shape;1098;p72"/>
          <p:cNvSpPr/>
          <p:nvPr/>
        </p:nvSpPr>
        <p:spPr>
          <a:xfrm>
            <a:off x="1183118" y="828277"/>
            <a:ext cx="1213500" cy="1213500"/>
          </a:xfrm>
          <a:prstGeom prst="ellips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9" name="Google Shape;1099;p72"/>
          <p:cNvSpPr/>
          <p:nvPr/>
        </p:nvSpPr>
        <p:spPr>
          <a:xfrm>
            <a:off x="1783440" y="828277"/>
            <a:ext cx="1213500" cy="1213500"/>
          </a:xfrm>
          <a:prstGeom prst="ellips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0" name="Google Shape;1100;p72"/>
          <p:cNvSpPr/>
          <p:nvPr/>
        </p:nvSpPr>
        <p:spPr>
          <a:xfrm>
            <a:off x="1483279" y="1370258"/>
            <a:ext cx="1213500" cy="1213500"/>
          </a:xfrm>
          <a:prstGeom prst="ellips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1" name="Google Shape;1101;p72"/>
          <p:cNvSpPr txBox="1"/>
          <p:nvPr/>
        </p:nvSpPr>
        <p:spPr>
          <a:xfrm>
            <a:off x="599833" y="847673"/>
            <a:ext cx="654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M3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2" name="Google Shape;1102;p72"/>
          <p:cNvSpPr txBox="1"/>
          <p:nvPr/>
        </p:nvSpPr>
        <p:spPr>
          <a:xfrm>
            <a:off x="2950491" y="847673"/>
            <a:ext cx="654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M5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3" name="Google Shape;1103;p72"/>
          <p:cNvSpPr txBox="1"/>
          <p:nvPr/>
        </p:nvSpPr>
        <p:spPr>
          <a:xfrm>
            <a:off x="2500811" y="2385213"/>
            <a:ext cx="654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odd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4" name="Google Shape;1104;p72"/>
          <p:cNvSpPr/>
          <p:nvPr/>
        </p:nvSpPr>
        <p:spPr>
          <a:xfrm>
            <a:off x="7788727" y="722275"/>
            <a:ext cx="543600" cy="238800"/>
          </a:xfrm>
          <a:prstGeom prst="roundRect">
            <a:avLst>
              <a:gd fmla="val 5961" name="adj"/>
            </a:avLst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15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5" name="Google Shape;1105;p72"/>
          <p:cNvSpPr/>
          <p:nvPr/>
        </p:nvSpPr>
        <p:spPr>
          <a:xfrm>
            <a:off x="7788727" y="1336150"/>
            <a:ext cx="543600" cy="238800"/>
          </a:xfrm>
          <a:prstGeom prst="roundRect">
            <a:avLst>
              <a:gd fmla="val 5961" name="adj"/>
            </a:avLst>
          </a:prstGeom>
          <a:noFill/>
          <a:ln cap="flat" cmpd="sng" w="38100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Kalam"/>
                <a:ea typeface="Kalam"/>
                <a:cs typeface="Kalam"/>
                <a:sym typeface="Kalam"/>
              </a:rPr>
              <a:t>5</a:t>
            </a:r>
            <a:endParaRPr sz="2000">
              <a:solidFill>
                <a:schemeClr val="lt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06" name="Google Shape;1106;p72"/>
          <p:cNvSpPr/>
          <p:nvPr/>
        </p:nvSpPr>
        <p:spPr>
          <a:xfrm>
            <a:off x="7788727" y="1950050"/>
            <a:ext cx="543600" cy="238800"/>
          </a:xfrm>
          <a:prstGeom prst="roundRect">
            <a:avLst>
              <a:gd fmla="val 5961" name="adj"/>
            </a:avLst>
          </a:prstGeom>
          <a:noFill/>
          <a:ln cap="flat" cmpd="sng" w="38100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30</a:t>
            </a:r>
            <a:endParaRPr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7" name="Google Shape;1107;p72"/>
          <p:cNvSpPr/>
          <p:nvPr/>
        </p:nvSpPr>
        <p:spPr>
          <a:xfrm>
            <a:off x="8101102" y="1041437"/>
            <a:ext cx="543600" cy="238800"/>
          </a:xfrm>
          <a:prstGeom prst="roundRect">
            <a:avLst>
              <a:gd fmla="val 5961" name="adj"/>
            </a:avLst>
          </a:prstGeom>
          <a:noFill/>
          <a:ln cap="flat" cmpd="sng" w="38100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8" name="Google Shape;1108;p72"/>
          <p:cNvSpPr txBox="1"/>
          <p:nvPr/>
        </p:nvSpPr>
        <p:spPr>
          <a:xfrm>
            <a:off x="334225" y="3419550"/>
            <a:ext cx="8485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Whilst the outcome of 5 on the Venn diagram is…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9" name="Google Shape;1109;p72"/>
          <p:cNvSpPr/>
          <p:nvPr/>
        </p:nvSpPr>
        <p:spPr>
          <a:xfrm>
            <a:off x="8101102" y="1655312"/>
            <a:ext cx="543600" cy="238800"/>
          </a:xfrm>
          <a:prstGeom prst="roundRect">
            <a:avLst>
              <a:gd fmla="val 5961" name="adj"/>
            </a:avLst>
          </a:prstGeom>
          <a:noFill/>
          <a:ln cap="flat" cmpd="sng" w="38100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7</a:t>
            </a:r>
            <a:endParaRPr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0" name="Google Shape;1110;p72"/>
          <p:cNvSpPr/>
          <p:nvPr/>
        </p:nvSpPr>
        <p:spPr>
          <a:xfrm>
            <a:off x="8101102" y="2269212"/>
            <a:ext cx="543600" cy="238800"/>
          </a:xfrm>
          <a:prstGeom prst="roundRect">
            <a:avLst>
              <a:gd fmla="val 5961" name="adj"/>
            </a:avLst>
          </a:prstGeom>
          <a:noFill/>
          <a:ln cap="flat" cmpd="sng" w="38100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6</a:t>
            </a:r>
            <a:endParaRPr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1" name="Google Shape;1111;p72"/>
          <p:cNvSpPr/>
          <p:nvPr/>
        </p:nvSpPr>
        <p:spPr>
          <a:xfrm>
            <a:off x="8101102" y="2883062"/>
            <a:ext cx="543600" cy="238800"/>
          </a:xfrm>
          <a:prstGeom prst="roundRect">
            <a:avLst>
              <a:gd fmla="val 5961" name="adj"/>
            </a:avLst>
          </a:prstGeom>
          <a:noFill/>
          <a:ln cap="flat" cmpd="sng" w="38100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8</a:t>
            </a:r>
            <a:endParaRPr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2" name="Google Shape;1112;p72"/>
          <p:cNvSpPr txBox="1"/>
          <p:nvPr/>
        </p:nvSpPr>
        <p:spPr>
          <a:xfrm>
            <a:off x="2303099" y="1683025"/>
            <a:ext cx="3237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3" name="Google Shape;1113;p72"/>
          <p:cNvSpPr txBox="1"/>
          <p:nvPr/>
        </p:nvSpPr>
        <p:spPr>
          <a:xfrm>
            <a:off x="1928199" y="2167500"/>
            <a:ext cx="3237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4" name="Google Shape;1114;p72"/>
          <p:cNvSpPr txBox="1"/>
          <p:nvPr/>
        </p:nvSpPr>
        <p:spPr>
          <a:xfrm>
            <a:off x="1567800" y="3749150"/>
            <a:ext cx="907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odd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5" name="Google Shape;1115;p72"/>
          <p:cNvSpPr txBox="1"/>
          <p:nvPr/>
        </p:nvSpPr>
        <p:spPr>
          <a:xfrm>
            <a:off x="1567800" y="4078750"/>
            <a:ext cx="2413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not a multiple of 3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16" name="Google Shape;1116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92258" y="367820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7" name="Google Shape;1117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4333" y="4337400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8" name="Google Shape;1118;p72"/>
          <p:cNvSpPr/>
          <p:nvPr/>
        </p:nvSpPr>
        <p:spPr>
          <a:xfrm>
            <a:off x="1783440" y="828277"/>
            <a:ext cx="1213500" cy="1213500"/>
          </a:xfrm>
          <a:prstGeom prst="ellipse">
            <a:avLst/>
          </a:prstGeom>
          <a:noFill/>
          <a:ln cap="flat" cmpd="sng" w="762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9" name="Google Shape;1119;p72"/>
          <p:cNvSpPr/>
          <p:nvPr/>
        </p:nvSpPr>
        <p:spPr>
          <a:xfrm>
            <a:off x="1483279" y="1370258"/>
            <a:ext cx="1213500" cy="1213500"/>
          </a:xfrm>
          <a:prstGeom prst="ellipse">
            <a:avLst/>
          </a:prstGeom>
          <a:noFill/>
          <a:ln cap="flat" cmpd="sng" w="762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0" name="Google Shape;1120;p72"/>
          <p:cNvSpPr txBox="1"/>
          <p:nvPr/>
        </p:nvSpPr>
        <p:spPr>
          <a:xfrm>
            <a:off x="1928174" y="1460900"/>
            <a:ext cx="3237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15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21" name="Google Shape;1121;p7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0263" y="1089551"/>
            <a:ext cx="396000" cy="41976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22" name="Google Shape;1122;p72"/>
          <p:cNvCxnSpPr/>
          <p:nvPr/>
        </p:nvCxnSpPr>
        <p:spPr>
          <a:xfrm flipH="1" rot="10800000">
            <a:off x="6877469" y="1454877"/>
            <a:ext cx="586200" cy="145800"/>
          </a:xfrm>
          <a:prstGeom prst="straightConnector1">
            <a:avLst/>
          </a:prstGeom>
          <a:noFill/>
          <a:ln cap="flat" cmpd="sng" w="76200">
            <a:solidFill>
              <a:srgbClr val="374CF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3" name="Google Shape;1123;p72"/>
          <p:cNvCxnSpPr/>
          <p:nvPr/>
        </p:nvCxnSpPr>
        <p:spPr>
          <a:xfrm>
            <a:off x="5867682" y="1353560"/>
            <a:ext cx="586200" cy="280500"/>
          </a:xfrm>
          <a:prstGeom prst="straightConnector1">
            <a:avLst/>
          </a:prstGeom>
          <a:noFill/>
          <a:ln cap="flat" cmpd="sng" w="76200">
            <a:solidFill>
              <a:srgbClr val="374CF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4" name="Google Shape;1124;p72"/>
          <p:cNvCxnSpPr/>
          <p:nvPr/>
        </p:nvCxnSpPr>
        <p:spPr>
          <a:xfrm flipH="1" rot="10800000">
            <a:off x="4798543" y="1312681"/>
            <a:ext cx="586200" cy="539700"/>
          </a:xfrm>
          <a:prstGeom prst="straightConnector1">
            <a:avLst/>
          </a:prstGeom>
          <a:noFill/>
          <a:ln cap="flat" cmpd="sng" w="76200">
            <a:solidFill>
              <a:srgbClr val="374CF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125" name="Google Shape;1125;p7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05388" y="4007476"/>
            <a:ext cx="396000" cy="419760"/>
          </a:xfrm>
          <a:prstGeom prst="rect">
            <a:avLst/>
          </a:prstGeom>
          <a:noFill/>
          <a:ln>
            <a:noFill/>
          </a:ln>
        </p:spPr>
      </p:pic>
      <p:sp>
        <p:nvSpPr>
          <p:cNvPr id="1126" name="Google Shape;1126;p72"/>
          <p:cNvSpPr/>
          <p:nvPr/>
        </p:nvSpPr>
        <p:spPr>
          <a:xfrm>
            <a:off x="7786677" y="1336150"/>
            <a:ext cx="543600" cy="238800"/>
          </a:xfrm>
          <a:prstGeom prst="roundRect">
            <a:avLst>
              <a:gd fmla="val 5961" name="adj"/>
            </a:avLst>
          </a:prstGeom>
          <a:solidFill>
            <a:srgbClr val="EBEDFE"/>
          </a:solidFill>
          <a:ln cap="flat" cmpd="sng" w="38100">
            <a:solidFill>
              <a:srgbClr val="374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5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27" name="Google Shape;1127;p72"/>
          <p:cNvSpPr/>
          <p:nvPr/>
        </p:nvSpPr>
        <p:spPr>
          <a:xfrm>
            <a:off x="7788727" y="2563900"/>
            <a:ext cx="543600" cy="238800"/>
          </a:xfrm>
          <a:prstGeom prst="roundRect">
            <a:avLst>
              <a:gd fmla="val 5961" name="adj"/>
            </a:avLst>
          </a:prstGeom>
          <a:noFill/>
          <a:ln cap="flat" cmpd="sng" w="38100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8" name="Google Shape;1128;p72"/>
          <p:cNvSpPr txBox="1"/>
          <p:nvPr/>
        </p:nvSpPr>
        <p:spPr>
          <a:xfrm>
            <a:off x="1928174" y="1011225"/>
            <a:ext cx="3237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2" name="Shape 1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Google Shape;1133;p73"/>
          <p:cNvSpPr txBox="1"/>
          <p:nvPr/>
        </p:nvSpPr>
        <p:spPr>
          <a:xfrm>
            <a:off x="7896624" y="1921600"/>
            <a:ext cx="3237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30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34" name="Google Shape;1134;p7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different diagrams for multiple events</a:t>
            </a:r>
            <a:endParaRPr/>
          </a:p>
        </p:txBody>
      </p:sp>
      <p:cxnSp>
        <p:nvCxnSpPr>
          <p:cNvPr id="1135" name="Google Shape;1135;p73"/>
          <p:cNvCxnSpPr/>
          <p:nvPr/>
        </p:nvCxnSpPr>
        <p:spPr>
          <a:xfrm flipH="1" rot="10800000">
            <a:off x="6877469" y="841593"/>
            <a:ext cx="586200" cy="1458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36" name="Google Shape;1136;p73"/>
          <p:cNvCxnSpPr/>
          <p:nvPr/>
        </p:nvCxnSpPr>
        <p:spPr>
          <a:xfrm>
            <a:off x="6877469" y="1028081"/>
            <a:ext cx="586200" cy="1458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37" name="Google Shape;1137;p73"/>
          <p:cNvCxnSpPr/>
          <p:nvPr/>
        </p:nvCxnSpPr>
        <p:spPr>
          <a:xfrm flipH="1" rot="10800000">
            <a:off x="6877469" y="1454877"/>
            <a:ext cx="586200" cy="1458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38" name="Google Shape;1138;p73"/>
          <p:cNvCxnSpPr/>
          <p:nvPr/>
        </p:nvCxnSpPr>
        <p:spPr>
          <a:xfrm>
            <a:off x="6877469" y="1641365"/>
            <a:ext cx="586200" cy="1458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39" name="Google Shape;1139;p73"/>
          <p:cNvCxnSpPr/>
          <p:nvPr/>
        </p:nvCxnSpPr>
        <p:spPr>
          <a:xfrm flipH="1" rot="10800000">
            <a:off x="6877469" y="2068160"/>
            <a:ext cx="586200" cy="1458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40" name="Google Shape;1140;p73"/>
          <p:cNvCxnSpPr/>
          <p:nvPr/>
        </p:nvCxnSpPr>
        <p:spPr>
          <a:xfrm>
            <a:off x="6877469" y="2254648"/>
            <a:ext cx="586200" cy="1458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41" name="Google Shape;1141;p73"/>
          <p:cNvCxnSpPr/>
          <p:nvPr/>
        </p:nvCxnSpPr>
        <p:spPr>
          <a:xfrm flipH="1" rot="10800000">
            <a:off x="6877469" y="2681444"/>
            <a:ext cx="586200" cy="1458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42" name="Google Shape;1142;p73"/>
          <p:cNvCxnSpPr/>
          <p:nvPr/>
        </p:nvCxnSpPr>
        <p:spPr>
          <a:xfrm>
            <a:off x="6877469" y="2867932"/>
            <a:ext cx="586200" cy="1458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43" name="Google Shape;1143;p73"/>
          <p:cNvCxnSpPr/>
          <p:nvPr/>
        </p:nvCxnSpPr>
        <p:spPr>
          <a:xfrm flipH="1" rot="10800000">
            <a:off x="5867682" y="2221284"/>
            <a:ext cx="586200" cy="2805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44" name="Google Shape;1144;p73"/>
          <p:cNvCxnSpPr/>
          <p:nvPr/>
        </p:nvCxnSpPr>
        <p:spPr>
          <a:xfrm>
            <a:off x="5867682" y="2580137"/>
            <a:ext cx="586200" cy="2805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45" name="Google Shape;1145;p73"/>
          <p:cNvCxnSpPr/>
          <p:nvPr/>
        </p:nvCxnSpPr>
        <p:spPr>
          <a:xfrm flipH="1" rot="10800000">
            <a:off x="5867682" y="994707"/>
            <a:ext cx="586200" cy="2805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46" name="Google Shape;1146;p73"/>
          <p:cNvCxnSpPr/>
          <p:nvPr/>
        </p:nvCxnSpPr>
        <p:spPr>
          <a:xfrm>
            <a:off x="5867682" y="1353560"/>
            <a:ext cx="586200" cy="2805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47" name="Google Shape;1147;p73"/>
          <p:cNvCxnSpPr/>
          <p:nvPr/>
        </p:nvCxnSpPr>
        <p:spPr>
          <a:xfrm flipH="1" rot="10800000">
            <a:off x="4798543" y="1312681"/>
            <a:ext cx="586200" cy="5397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48" name="Google Shape;1148;p73"/>
          <p:cNvCxnSpPr/>
          <p:nvPr/>
        </p:nvCxnSpPr>
        <p:spPr>
          <a:xfrm>
            <a:off x="4798543" y="2003123"/>
            <a:ext cx="586200" cy="5397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49" name="Google Shape;1149;p73"/>
          <p:cNvSpPr txBox="1"/>
          <p:nvPr/>
        </p:nvSpPr>
        <p:spPr>
          <a:xfrm>
            <a:off x="5419629" y="1154118"/>
            <a:ext cx="440700" cy="32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odd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0" name="Google Shape;1150;p73"/>
          <p:cNvSpPr txBox="1"/>
          <p:nvPr/>
        </p:nvSpPr>
        <p:spPr>
          <a:xfrm>
            <a:off x="5419629" y="2380676"/>
            <a:ext cx="440700" cy="32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even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1" name="Google Shape;1151;p73"/>
          <p:cNvSpPr txBox="1"/>
          <p:nvPr/>
        </p:nvSpPr>
        <p:spPr>
          <a:xfrm>
            <a:off x="6461154" y="847756"/>
            <a:ext cx="440700" cy="32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M3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2" name="Google Shape;1152;p73"/>
          <p:cNvSpPr txBox="1"/>
          <p:nvPr/>
        </p:nvSpPr>
        <p:spPr>
          <a:xfrm>
            <a:off x="6461154" y="1460756"/>
            <a:ext cx="440700" cy="32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not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M3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3" name="Google Shape;1153;p73"/>
          <p:cNvSpPr txBox="1"/>
          <p:nvPr/>
        </p:nvSpPr>
        <p:spPr>
          <a:xfrm>
            <a:off x="6461154" y="2074203"/>
            <a:ext cx="440700" cy="32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M3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4" name="Google Shape;1154;p73"/>
          <p:cNvSpPr txBox="1"/>
          <p:nvPr/>
        </p:nvSpPr>
        <p:spPr>
          <a:xfrm>
            <a:off x="6461154" y="2687203"/>
            <a:ext cx="440700" cy="32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not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M3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5" name="Google Shape;1155;p73"/>
          <p:cNvSpPr txBox="1"/>
          <p:nvPr/>
        </p:nvSpPr>
        <p:spPr>
          <a:xfrm>
            <a:off x="7463614" y="681473"/>
            <a:ext cx="543600" cy="32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M5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6" name="Google Shape;1156;p73"/>
          <p:cNvSpPr txBox="1"/>
          <p:nvPr/>
        </p:nvSpPr>
        <p:spPr>
          <a:xfrm>
            <a:off x="7463611" y="1011065"/>
            <a:ext cx="615900" cy="32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not M5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7" name="Google Shape;1157;p73"/>
          <p:cNvSpPr txBox="1"/>
          <p:nvPr/>
        </p:nvSpPr>
        <p:spPr>
          <a:xfrm>
            <a:off x="7463614" y="1295962"/>
            <a:ext cx="543600" cy="32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M5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8" name="Google Shape;1158;p73"/>
          <p:cNvSpPr txBox="1"/>
          <p:nvPr/>
        </p:nvSpPr>
        <p:spPr>
          <a:xfrm>
            <a:off x="7463611" y="1625554"/>
            <a:ext cx="615900" cy="32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not M5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9" name="Google Shape;1159;p73"/>
          <p:cNvSpPr txBox="1"/>
          <p:nvPr/>
        </p:nvSpPr>
        <p:spPr>
          <a:xfrm>
            <a:off x="7463614" y="1909222"/>
            <a:ext cx="543600" cy="32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M5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0" name="Google Shape;1160;p73"/>
          <p:cNvSpPr txBox="1"/>
          <p:nvPr/>
        </p:nvSpPr>
        <p:spPr>
          <a:xfrm>
            <a:off x="7463611" y="2238814"/>
            <a:ext cx="615900" cy="32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not M5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1" name="Google Shape;1161;p73"/>
          <p:cNvSpPr txBox="1"/>
          <p:nvPr/>
        </p:nvSpPr>
        <p:spPr>
          <a:xfrm>
            <a:off x="7463614" y="2522539"/>
            <a:ext cx="543600" cy="32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M5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2" name="Google Shape;1162;p73"/>
          <p:cNvSpPr txBox="1"/>
          <p:nvPr/>
        </p:nvSpPr>
        <p:spPr>
          <a:xfrm>
            <a:off x="7463611" y="2852131"/>
            <a:ext cx="615900" cy="32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not M5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3" name="Google Shape;1163;p73"/>
          <p:cNvSpPr/>
          <p:nvPr/>
        </p:nvSpPr>
        <p:spPr>
          <a:xfrm>
            <a:off x="486725" y="768300"/>
            <a:ext cx="3206700" cy="18756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4" name="Google Shape;1164;p73"/>
          <p:cNvSpPr/>
          <p:nvPr/>
        </p:nvSpPr>
        <p:spPr>
          <a:xfrm>
            <a:off x="1183118" y="828277"/>
            <a:ext cx="1213500" cy="1213500"/>
          </a:xfrm>
          <a:prstGeom prst="ellips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5" name="Google Shape;1165;p73"/>
          <p:cNvSpPr/>
          <p:nvPr/>
        </p:nvSpPr>
        <p:spPr>
          <a:xfrm>
            <a:off x="1783440" y="828277"/>
            <a:ext cx="1213500" cy="1213500"/>
          </a:xfrm>
          <a:prstGeom prst="ellips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6" name="Google Shape;1166;p73"/>
          <p:cNvSpPr/>
          <p:nvPr/>
        </p:nvSpPr>
        <p:spPr>
          <a:xfrm>
            <a:off x="1483279" y="1370258"/>
            <a:ext cx="1213500" cy="1213500"/>
          </a:xfrm>
          <a:prstGeom prst="ellips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7" name="Google Shape;1167;p73"/>
          <p:cNvSpPr txBox="1"/>
          <p:nvPr/>
        </p:nvSpPr>
        <p:spPr>
          <a:xfrm>
            <a:off x="599833" y="847673"/>
            <a:ext cx="654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M3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8" name="Google Shape;1168;p73"/>
          <p:cNvSpPr txBox="1"/>
          <p:nvPr/>
        </p:nvSpPr>
        <p:spPr>
          <a:xfrm>
            <a:off x="2950491" y="847673"/>
            <a:ext cx="654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M5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9" name="Google Shape;1169;p73"/>
          <p:cNvSpPr txBox="1"/>
          <p:nvPr/>
        </p:nvSpPr>
        <p:spPr>
          <a:xfrm>
            <a:off x="2500811" y="2385213"/>
            <a:ext cx="654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odd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0" name="Google Shape;1170;p73"/>
          <p:cNvSpPr/>
          <p:nvPr/>
        </p:nvSpPr>
        <p:spPr>
          <a:xfrm>
            <a:off x="7788727" y="722275"/>
            <a:ext cx="543600" cy="238800"/>
          </a:xfrm>
          <a:prstGeom prst="roundRect">
            <a:avLst>
              <a:gd fmla="val 5961" name="adj"/>
            </a:avLst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15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1" name="Google Shape;1171;p73"/>
          <p:cNvSpPr/>
          <p:nvPr/>
        </p:nvSpPr>
        <p:spPr>
          <a:xfrm>
            <a:off x="7788727" y="1336150"/>
            <a:ext cx="543600" cy="238800"/>
          </a:xfrm>
          <a:prstGeom prst="roundRect">
            <a:avLst>
              <a:gd fmla="val 5961" name="adj"/>
            </a:avLst>
          </a:prstGeom>
          <a:noFill/>
          <a:ln cap="flat" cmpd="sng" w="38100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Kalam"/>
                <a:ea typeface="Kalam"/>
                <a:cs typeface="Kalam"/>
                <a:sym typeface="Kalam"/>
              </a:rPr>
              <a:t>5</a:t>
            </a:r>
            <a:endParaRPr sz="2000">
              <a:solidFill>
                <a:schemeClr val="lt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72" name="Google Shape;1172;p73"/>
          <p:cNvSpPr/>
          <p:nvPr/>
        </p:nvSpPr>
        <p:spPr>
          <a:xfrm>
            <a:off x="7788727" y="1950050"/>
            <a:ext cx="543600" cy="238800"/>
          </a:xfrm>
          <a:prstGeom prst="roundRect">
            <a:avLst>
              <a:gd fmla="val 5961" name="adj"/>
            </a:avLst>
          </a:prstGeom>
          <a:noFill/>
          <a:ln cap="flat" cmpd="sng" w="38100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3" name="Google Shape;1173;p73"/>
          <p:cNvSpPr/>
          <p:nvPr/>
        </p:nvSpPr>
        <p:spPr>
          <a:xfrm>
            <a:off x="8101102" y="1041437"/>
            <a:ext cx="543600" cy="238800"/>
          </a:xfrm>
          <a:prstGeom prst="roundRect">
            <a:avLst>
              <a:gd fmla="val 5961" name="adj"/>
            </a:avLst>
          </a:prstGeom>
          <a:noFill/>
          <a:ln cap="flat" cmpd="sng" w="38100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4" name="Google Shape;1174;p73"/>
          <p:cNvSpPr/>
          <p:nvPr/>
        </p:nvSpPr>
        <p:spPr>
          <a:xfrm>
            <a:off x="8101102" y="1655312"/>
            <a:ext cx="543600" cy="238800"/>
          </a:xfrm>
          <a:prstGeom prst="roundRect">
            <a:avLst>
              <a:gd fmla="val 5961" name="adj"/>
            </a:avLst>
          </a:prstGeom>
          <a:noFill/>
          <a:ln cap="flat" cmpd="sng" w="38100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7</a:t>
            </a:r>
            <a:endParaRPr sz="18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5" name="Google Shape;1175;p73"/>
          <p:cNvSpPr txBox="1"/>
          <p:nvPr/>
        </p:nvSpPr>
        <p:spPr>
          <a:xfrm>
            <a:off x="334225" y="3571950"/>
            <a:ext cx="8485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Where would the outcome of 30 (on the Venn diagram) go on the outcome tree?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6" name="Google Shape;1176;p73"/>
          <p:cNvSpPr/>
          <p:nvPr/>
        </p:nvSpPr>
        <p:spPr>
          <a:xfrm>
            <a:off x="8101102" y="2269212"/>
            <a:ext cx="543600" cy="238800"/>
          </a:xfrm>
          <a:prstGeom prst="roundRect">
            <a:avLst>
              <a:gd fmla="val 5961" name="adj"/>
            </a:avLst>
          </a:prstGeom>
          <a:noFill/>
          <a:ln cap="flat" cmpd="sng" w="38100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6</a:t>
            </a:r>
            <a:endParaRPr sz="18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7" name="Google Shape;1177;p73"/>
          <p:cNvSpPr/>
          <p:nvPr/>
        </p:nvSpPr>
        <p:spPr>
          <a:xfrm>
            <a:off x="8101102" y="2883062"/>
            <a:ext cx="543600" cy="238800"/>
          </a:xfrm>
          <a:prstGeom prst="roundRect">
            <a:avLst>
              <a:gd fmla="val 5961" name="adj"/>
            </a:avLst>
          </a:prstGeom>
          <a:noFill/>
          <a:ln cap="flat" cmpd="sng" w="38100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8</a:t>
            </a:r>
            <a:endParaRPr sz="18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8" name="Google Shape;1178;p73"/>
          <p:cNvSpPr txBox="1"/>
          <p:nvPr/>
        </p:nvSpPr>
        <p:spPr>
          <a:xfrm>
            <a:off x="2303099" y="1683025"/>
            <a:ext cx="3237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9" name="Google Shape;1179;p73"/>
          <p:cNvSpPr txBox="1"/>
          <p:nvPr/>
        </p:nvSpPr>
        <p:spPr>
          <a:xfrm>
            <a:off x="1928199" y="2167500"/>
            <a:ext cx="3237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0" name="Google Shape;1180;p73"/>
          <p:cNvSpPr txBox="1"/>
          <p:nvPr/>
        </p:nvSpPr>
        <p:spPr>
          <a:xfrm>
            <a:off x="1928174" y="1460900"/>
            <a:ext cx="3237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15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1" name="Google Shape;1181;p73"/>
          <p:cNvSpPr/>
          <p:nvPr/>
        </p:nvSpPr>
        <p:spPr>
          <a:xfrm>
            <a:off x="7786677" y="1336150"/>
            <a:ext cx="543600" cy="238800"/>
          </a:xfrm>
          <a:prstGeom prst="roundRect">
            <a:avLst>
              <a:gd fmla="val 5961" name="adj"/>
            </a:avLst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2" name="Google Shape;1182;p73"/>
          <p:cNvSpPr/>
          <p:nvPr/>
        </p:nvSpPr>
        <p:spPr>
          <a:xfrm>
            <a:off x="7788727" y="2563900"/>
            <a:ext cx="543600" cy="238800"/>
          </a:xfrm>
          <a:prstGeom prst="roundRect">
            <a:avLst>
              <a:gd fmla="val 5961" name="adj"/>
            </a:avLst>
          </a:prstGeom>
          <a:noFill/>
          <a:ln cap="flat" cmpd="sng" w="38100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83" name="Google Shape;1183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51542" y="1641137"/>
            <a:ext cx="242727" cy="242727"/>
          </a:xfrm>
          <a:prstGeom prst="rect">
            <a:avLst/>
          </a:prstGeom>
          <a:noFill/>
          <a:ln>
            <a:noFill/>
          </a:ln>
        </p:spPr>
      </p:pic>
      <p:sp>
        <p:nvSpPr>
          <p:cNvPr id="1184" name="Google Shape;1184;p73"/>
          <p:cNvSpPr txBox="1"/>
          <p:nvPr/>
        </p:nvSpPr>
        <p:spPr>
          <a:xfrm>
            <a:off x="8264609" y="1685898"/>
            <a:ext cx="216600" cy="14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="1" sz="18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85" name="Google Shape;1185;p73"/>
          <p:cNvGrpSpPr/>
          <p:nvPr/>
        </p:nvGrpSpPr>
        <p:grpSpPr>
          <a:xfrm>
            <a:off x="7939162" y="1945099"/>
            <a:ext cx="242727" cy="242727"/>
            <a:chOff x="7939162" y="1945099"/>
            <a:chExt cx="242727" cy="242727"/>
          </a:xfrm>
        </p:grpSpPr>
        <p:pic>
          <p:nvPicPr>
            <p:cNvPr id="1186" name="Google Shape;1186;p7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939162" y="1945099"/>
              <a:ext cx="242727" cy="24272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87" name="Google Shape;1187;p73"/>
            <p:cNvSpPr txBox="1"/>
            <p:nvPr/>
          </p:nvSpPr>
          <p:spPr>
            <a:xfrm>
              <a:off x="7952229" y="1989861"/>
              <a:ext cx="216600" cy="14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188" name="Google Shape;1188;p73"/>
          <p:cNvSpPr txBox="1"/>
          <p:nvPr/>
        </p:nvSpPr>
        <p:spPr>
          <a:xfrm>
            <a:off x="1928174" y="1011225"/>
            <a:ext cx="3237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89" name="Google Shape;1189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51542" y="2255012"/>
            <a:ext cx="242727" cy="242727"/>
          </a:xfrm>
          <a:prstGeom prst="rect">
            <a:avLst/>
          </a:prstGeom>
          <a:noFill/>
          <a:ln>
            <a:noFill/>
          </a:ln>
        </p:spPr>
      </p:pic>
      <p:sp>
        <p:nvSpPr>
          <p:cNvPr id="1190" name="Google Shape;1190;p73"/>
          <p:cNvSpPr txBox="1"/>
          <p:nvPr/>
        </p:nvSpPr>
        <p:spPr>
          <a:xfrm>
            <a:off x="8264609" y="2299773"/>
            <a:ext cx="216600" cy="14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b="1" sz="18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91" name="Google Shape;1191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51542" y="2858612"/>
            <a:ext cx="242727" cy="242727"/>
          </a:xfrm>
          <a:prstGeom prst="rect">
            <a:avLst/>
          </a:prstGeom>
          <a:noFill/>
          <a:ln>
            <a:noFill/>
          </a:ln>
        </p:spPr>
      </p:pic>
      <p:sp>
        <p:nvSpPr>
          <p:cNvPr id="1192" name="Google Shape;1192;p73"/>
          <p:cNvSpPr txBox="1"/>
          <p:nvPr/>
        </p:nvSpPr>
        <p:spPr>
          <a:xfrm>
            <a:off x="8264609" y="2903373"/>
            <a:ext cx="216600" cy="14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 b="1" sz="18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3" name="Google Shape;1193;p73"/>
          <p:cNvSpPr/>
          <p:nvPr/>
        </p:nvSpPr>
        <p:spPr>
          <a:xfrm>
            <a:off x="1183118" y="828277"/>
            <a:ext cx="1213500" cy="1213500"/>
          </a:xfrm>
          <a:prstGeom prst="ellipse">
            <a:avLst/>
          </a:prstGeom>
          <a:noFill/>
          <a:ln cap="flat" cmpd="sng" w="762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4" name="Google Shape;1194;p73"/>
          <p:cNvSpPr/>
          <p:nvPr/>
        </p:nvSpPr>
        <p:spPr>
          <a:xfrm>
            <a:off x="1783440" y="828277"/>
            <a:ext cx="1213500" cy="1213500"/>
          </a:xfrm>
          <a:prstGeom prst="ellipse">
            <a:avLst/>
          </a:prstGeom>
          <a:noFill/>
          <a:ln cap="flat" cmpd="sng" w="762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95" name="Google Shape;1195;p73"/>
          <p:cNvGrpSpPr/>
          <p:nvPr/>
        </p:nvGrpSpPr>
        <p:grpSpPr>
          <a:xfrm>
            <a:off x="4798543" y="2003123"/>
            <a:ext cx="2665126" cy="539700"/>
            <a:chOff x="4798543" y="2003123"/>
            <a:chExt cx="2665126" cy="539700"/>
          </a:xfrm>
        </p:grpSpPr>
        <p:cxnSp>
          <p:nvCxnSpPr>
            <p:cNvPr id="1196" name="Google Shape;1196;p73"/>
            <p:cNvCxnSpPr/>
            <p:nvPr/>
          </p:nvCxnSpPr>
          <p:spPr>
            <a:xfrm flipH="1" rot="10800000">
              <a:off x="6877469" y="2068160"/>
              <a:ext cx="586200" cy="145800"/>
            </a:xfrm>
            <a:prstGeom prst="straightConnector1">
              <a:avLst/>
            </a:prstGeom>
            <a:noFill/>
            <a:ln cap="flat" cmpd="sng" w="7620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97" name="Google Shape;1197;p73"/>
            <p:cNvCxnSpPr/>
            <p:nvPr/>
          </p:nvCxnSpPr>
          <p:spPr>
            <a:xfrm flipH="1" rot="10800000">
              <a:off x="5867682" y="2221284"/>
              <a:ext cx="586200" cy="280500"/>
            </a:xfrm>
            <a:prstGeom prst="straightConnector1">
              <a:avLst/>
            </a:prstGeom>
            <a:noFill/>
            <a:ln cap="flat" cmpd="sng" w="7620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98" name="Google Shape;1198;p73"/>
            <p:cNvCxnSpPr/>
            <p:nvPr/>
          </p:nvCxnSpPr>
          <p:spPr>
            <a:xfrm>
              <a:off x="4798543" y="2003123"/>
              <a:ext cx="586200" cy="539700"/>
            </a:xfrm>
            <a:prstGeom prst="straightConnector1">
              <a:avLst/>
            </a:prstGeom>
            <a:noFill/>
            <a:ln cap="flat" cmpd="sng" w="7620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2" name="Shape 1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3" name="Google Shape;1203;p74"/>
          <p:cNvSpPr txBox="1"/>
          <p:nvPr/>
        </p:nvSpPr>
        <p:spPr>
          <a:xfrm>
            <a:off x="2765807" y="1202400"/>
            <a:ext cx="9504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over 100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4" name="Google Shape;1204;p74"/>
          <p:cNvSpPr txBox="1"/>
          <p:nvPr/>
        </p:nvSpPr>
        <p:spPr>
          <a:xfrm>
            <a:off x="324000" y="652055"/>
            <a:ext cx="8496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1) Using the correctly completed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outcome tree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, fill in the incomplete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Venn diagram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5" name="Google Shape;1205;p7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different diagrams for multiple events</a:t>
            </a:r>
            <a:endParaRPr/>
          </a:p>
        </p:txBody>
      </p:sp>
      <p:sp>
        <p:nvSpPr>
          <p:cNvPr id="1206" name="Google Shape;1206;p74"/>
          <p:cNvSpPr/>
          <p:nvPr/>
        </p:nvSpPr>
        <p:spPr>
          <a:xfrm flipH="1">
            <a:off x="5085717" y="1151925"/>
            <a:ext cx="3679800" cy="24477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7" name="Google Shape;1207;p74"/>
          <p:cNvSpPr/>
          <p:nvPr/>
        </p:nvSpPr>
        <p:spPr>
          <a:xfrm flipH="1">
            <a:off x="6168660" y="1980690"/>
            <a:ext cx="1514100" cy="1514100"/>
          </a:xfrm>
          <a:prstGeom prst="ellips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208" name="Google Shape;1208;p74"/>
          <p:cNvGrpSpPr/>
          <p:nvPr/>
        </p:nvGrpSpPr>
        <p:grpSpPr>
          <a:xfrm flipH="1">
            <a:off x="5684256" y="1256636"/>
            <a:ext cx="2483022" cy="1514096"/>
            <a:chOff x="3541748" y="4038900"/>
            <a:chExt cx="979534" cy="597300"/>
          </a:xfrm>
        </p:grpSpPr>
        <p:sp>
          <p:nvSpPr>
            <p:cNvPr id="1209" name="Google Shape;1209;p74"/>
            <p:cNvSpPr/>
            <p:nvPr/>
          </p:nvSpPr>
          <p:spPr>
            <a:xfrm>
              <a:off x="3541748" y="4038900"/>
              <a:ext cx="597300" cy="597300"/>
            </a:xfrm>
            <a:prstGeom prst="ellipse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10" name="Google Shape;1210;p74"/>
            <p:cNvSpPr/>
            <p:nvPr/>
          </p:nvSpPr>
          <p:spPr>
            <a:xfrm>
              <a:off x="3923982" y="4038900"/>
              <a:ext cx="597300" cy="597300"/>
            </a:xfrm>
            <a:prstGeom prst="ellipse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211" name="Google Shape;1211;p74"/>
          <p:cNvSpPr txBox="1"/>
          <p:nvPr/>
        </p:nvSpPr>
        <p:spPr>
          <a:xfrm>
            <a:off x="5347267" y="1240225"/>
            <a:ext cx="543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odd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2" name="Google Shape;1212;p74"/>
          <p:cNvSpPr txBox="1"/>
          <p:nvPr/>
        </p:nvSpPr>
        <p:spPr>
          <a:xfrm>
            <a:off x="7939642" y="1240225"/>
            <a:ext cx="839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cube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3" name="Google Shape;1213;p74"/>
          <p:cNvSpPr txBox="1"/>
          <p:nvPr/>
        </p:nvSpPr>
        <p:spPr>
          <a:xfrm>
            <a:off x="7434946" y="3217600"/>
            <a:ext cx="1050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over 100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14" name="Google Shape;1214;p74"/>
          <p:cNvCxnSpPr/>
          <p:nvPr/>
        </p:nvCxnSpPr>
        <p:spPr>
          <a:xfrm flipH="1" rot="10800000">
            <a:off x="2353547" y="1354097"/>
            <a:ext cx="364200" cy="1377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15" name="Google Shape;1215;p74"/>
          <p:cNvCxnSpPr/>
          <p:nvPr/>
        </p:nvCxnSpPr>
        <p:spPr>
          <a:xfrm>
            <a:off x="2353547" y="1530288"/>
            <a:ext cx="364200" cy="1377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16" name="Google Shape;1216;p74"/>
          <p:cNvCxnSpPr/>
          <p:nvPr/>
        </p:nvCxnSpPr>
        <p:spPr>
          <a:xfrm flipH="1" rot="10800000">
            <a:off x="2353547" y="1934268"/>
            <a:ext cx="364200" cy="1377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17" name="Google Shape;1217;p74"/>
          <p:cNvCxnSpPr/>
          <p:nvPr/>
        </p:nvCxnSpPr>
        <p:spPr>
          <a:xfrm>
            <a:off x="2353547" y="2110460"/>
            <a:ext cx="364200" cy="1377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18" name="Google Shape;1218;p74"/>
          <p:cNvCxnSpPr/>
          <p:nvPr/>
        </p:nvCxnSpPr>
        <p:spPr>
          <a:xfrm flipH="1" rot="10800000">
            <a:off x="2353547" y="2514440"/>
            <a:ext cx="364200" cy="1377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19" name="Google Shape;1219;p74"/>
          <p:cNvCxnSpPr/>
          <p:nvPr/>
        </p:nvCxnSpPr>
        <p:spPr>
          <a:xfrm>
            <a:off x="2353547" y="2690632"/>
            <a:ext cx="364200" cy="1377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20" name="Google Shape;1220;p74"/>
          <p:cNvCxnSpPr/>
          <p:nvPr/>
        </p:nvCxnSpPr>
        <p:spPr>
          <a:xfrm flipH="1" rot="10800000">
            <a:off x="2353547" y="3094612"/>
            <a:ext cx="364200" cy="1377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21" name="Google Shape;1221;p74"/>
          <p:cNvCxnSpPr/>
          <p:nvPr/>
        </p:nvCxnSpPr>
        <p:spPr>
          <a:xfrm>
            <a:off x="2353547" y="3270803"/>
            <a:ext cx="364200" cy="1377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22" name="Google Shape;1222;p74"/>
          <p:cNvCxnSpPr/>
          <p:nvPr/>
        </p:nvCxnSpPr>
        <p:spPr>
          <a:xfrm flipH="1" rot="10800000">
            <a:off x="1395372" y="2659045"/>
            <a:ext cx="312600" cy="2655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23" name="Google Shape;1223;p74"/>
          <p:cNvCxnSpPr/>
          <p:nvPr/>
        </p:nvCxnSpPr>
        <p:spPr>
          <a:xfrm>
            <a:off x="1395372" y="2998668"/>
            <a:ext cx="312600" cy="2655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24" name="Google Shape;1224;p74"/>
          <p:cNvCxnSpPr/>
          <p:nvPr/>
        </p:nvCxnSpPr>
        <p:spPr>
          <a:xfrm flipH="1" rot="10800000">
            <a:off x="1395372" y="1498707"/>
            <a:ext cx="312600" cy="2655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25" name="Google Shape;1225;p74"/>
          <p:cNvCxnSpPr/>
          <p:nvPr/>
        </p:nvCxnSpPr>
        <p:spPr>
          <a:xfrm>
            <a:off x="1395372" y="1838330"/>
            <a:ext cx="312600" cy="2655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26" name="Google Shape;1226;p74"/>
          <p:cNvCxnSpPr/>
          <p:nvPr/>
        </p:nvCxnSpPr>
        <p:spPr>
          <a:xfrm flipH="1" rot="10800000">
            <a:off x="426952" y="1799785"/>
            <a:ext cx="364200" cy="5103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27" name="Google Shape;1227;p74"/>
          <p:cNvCxnSpPr/>
          <p:nvPr/>
        </p:nvCxnSpPr>
        <p:spPr>
          <a:xfrm>
            <a:off x="426952" y="2452690"/>
            <a:ext cx="364200" cy="5103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28" name="Google Shape;1228;p74"/>
          <p:cNvSpPr txBox="1"/>
          <p:nvPr/>
        </p:nvSpPr>
        <p:spPr>
          <a:xfrm>
            <a:off x="799398" y="1649525"/>
            <a:ext cx="5436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odd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9" name="Google Shape;1229;p74"/>
          <p:cNvSpPr txBox="1"/>
          <p:nvPr/>
        </p:nvSpPr>
        <p:spPr>
          <a:xfrm>
            <a:off x="799398" y="2809872"/>
            <a:ext cx="5436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even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0" name="Google Shape;1230;p74"/>
          <p:cNvSpPr txBox="1"/>
          <p:nvPr/>
        </p:nvSpPr>
        <p:spPr>
          <a:xfrm>
            <a:off x="1706599" y="1939601"/>
            <a:ext cx="6549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not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cube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1" name="Google Shape;1231;p74"/>
          <p:cNvSpPr txBox="1"/>
          <p:nvPr/>
        </p:nvSpPr>
        <p:spPr>
          <a:xfrm>
            <a:off x="1706599" y="2519924"/>
            <a:ext cx="6549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cube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2" name="Google Shape;1232;p74"/>
          <p:cNvSpPr txBox="1"/>
          <p:nvPr/>
        </p:nvSpPr>
        <p:spPr>
          <a:xfrm>
            <a:off x="1706599" y="3099825"/>
            <a:ext cx="6549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not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cube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3" name="Google Shape;1233;p74"/>
          <p:cNvSpPr txBox="1"/>
          <p:nvPr/>
        </p:nvSpPr>
        <p:spPr>
          <a:xfrm>
            <a:off x="2765834" y="1514200"/>
            <a:ext cx="12894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100 or less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4" name="Google Shape;1234;p74"/>
          <p:cNvSpPr txBox="1"/>
          <p:nvPr/>
        </p:nvSpPr>
        <p:spPr>
          <a:xfrm>
            <a:off x="2765834" y="2095500"/>
            <a:ext cx="12894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100 or less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5" name="Google Shape;1235;p74"/>
          <p:cNvSpPr txBox="1"/>
          <p:nvPr/>
        </p:nvSpPr>
        <p:spPr>
          <a:xfrm>
            <a:off x="2765798" y="2363874"/>
            <a:ext cx="9504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over 100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6" name="Google Shape;1236;p74"/>
          <p:cNvSpPr txBox="1"/>
          <p:nvPr/>
        </p:nvSpPr>
        <p:spPr>
          <a:xfrm>
            <a:off x="2765834" y="2675659"/>
            <a:ext cx="12894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100 or less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7" name="Google Shape;1237;p74"/>
          <p:cNvSpPr txBox="1"/>
          <p:nvPr/>
        </p:nvSpPr>
        <p:spPr>
          <a:xfrm>
            <a:off x="2765798" y="2944076"/>
            <a:ext cx="9504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over 100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8" name="Google Shape;1238;p74"/>
          <p:cNvSpPr txBox="1"/>
          <p:nvPr/>
        </p:nvSpPr>
        <p:spPr>
          <a:xfrm>
            <a:off x="2765834" y="3255870"/>
            <a:ext cx="12894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100 or less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9" name="Google Shape;1239;p74"/>
          <p:cNvSpPr txBox="1"/>
          <p:nvPr/>
        </p:nvSpPr>
        <p:spPr>
          <a:xfrm>
            <a:off x="2765798" y="1783725"/>
            <a:ext cx="9504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over 100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0" name="Google Shape;1240;p74"/>
          <p:cNvSpPr/>
          <p:nvPr/>
        </p:nvSpPr>
        <p:spPr>
          <a:xfrm>
            <a:off x="3755462" y="1234575"/>
            <a:ext cx="825000" cy="238800"/>
          </a:xfrm>
          <a:prstGeom prst="roundRect">
            <a:avLst>
              <a:gd fmla="val 5961" name="adj"/>
            </a:avLst>
          </a:prstGeom>
          <a:noFill/>
          <a:ln cap="flat" cmpd="sng" w="38100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125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1" name="Google Shape;1241;p74"/>
          <p:cNvSpPr/>
          <p:nvPr/>
        </p:nvSpPr>
        <p:spPr>
          <a:xfrm>
            <a:off x="3997814" y="1546375"/>
            <a:ext cx="825000" cy="238800"/>
          </a:xfrm>
          <a:prstGeom prst="roundRect">
            <a:avLst>
              <a:gd fmla="val 5961" name="adj"/>
            </a:avLst>
          </a:prstGeom>
          <a:noFill/>
          <a:ln cap="flat" cmpd="sng" w="38100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1, 27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2" name="Google Shape;1242;p74"/>
          <p:cNvSpPr/>
          <p:nvPr/>
        </p:nvSpPr>
        <p:spPr>
          <a:xfrm>
            <a:off x="3755462" y="1815875"/>
            <a:ext cx="825000" cy="238800"/>
          </a:xfrm>
          <a:prstGeom prst="roundRect">
            <a:avLst>
              <a:gd fmla="val 5961" name="adj"/>
            </a:avLst>
          </a:prstGeom>
          <a:noFill/>
          <a:ln cap="flat" cmpd="sng" w="38100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755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3" name="Google Shape;1243;p74"/>
          <p:cNvSpPr/>
          <p:nvPr/>
        </p:nvSpPr>
        <p:spPr>
          <a:xfrm>
            <a:off x="3997814" y="2127675"/>
            <a:ext cx="825000" cy="238800"/>
          </a:xfrm>
          <a:prstGeom prst="roundRect">
            <a:avLst>
              <a:gd fmla="val 5961" name="adj"/>
            </a:avLst>
          </a:prstGeom>
          <a:noFill/>
          <a:ln cap="flat" cmpd="sng" w="38100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4" name="Google Shape;1244;p74"/>
          <p:cNvSpPr/>
          <p:nvPr/>
        </p:nvSpPr>
        <p:spPr>
          <a:xfrm>
            <a:off x="3755462" y="2397175"/>
            <a:ext cx="825000" cy="238800"/>
          </a:xfrm>
          <a:prstGeom prst="roundRect">
            <a:avLst>
              <a:gd fmla="val 5961" name="adj"/>
            </a:avLst>
          </a:prstGeom>
          <a:noFill/>
          <a:ln cap="flat" cmpd="sng" w="38100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216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5" name="Google Shape;1245;p74"/>
          <p:cNvSpPr/>
          <p:nvPr/>
        </p:nvSpPr>
        <p:spPr>
          <a:xfrm>
            <a:off x="3997814" y="2708975"/>
            <a:ext cx="825000" cy="238800"/>
          </a:xfrm>
          <a:prstGeom prst="roundRect">
            <a:avLst>
              <a:gd fmla="val 5961" name="adj"/>
            </a:avLst>
          </a:prstGeom>
          <a:noFill/>
          <a:ln cap="flat" cmpd="sng" w="38100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8, 64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6" name="Google Shape;1246;p74"/>
          <p:cNvSpPr/>
          <p:nvPr/>
        </p:nvSpPr>
        <p:spPr>
          <a:xfrm>
            <a:off x="3755462" y="2978475"/>
            <a:ext cx="825000" cy="238800"/>
          </a:xfrm>
          <a:prstGeom prst="roundRect">
            <a:avLst>
              <a:gd fmla="val 5961" name="adj"/>
            </a:avLst>
          </a:prstGeom>
          <a:noFill/>
          <a:ln cap="flat" cmpd="sng" w="38100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108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7" name="Google Shape;1247;p74"/>
          <p:cNvSpPr/>
          <p:nvPr/>
        </p:nvSpPr>
        <p:spPr>
          <a:xfrm>
            <a:off x="3997814" y="3290275"/>
            <a:ext cx="825000" cy="238800"/>
          </a:xfrm>
          <a:prstGeom prst="roundRect">
            <a:avLst>
              <a:gd fmla="val 5961" name="adj"/>
            </a:avLst>
          </a:prstGeom>
          <a:noFill/>
          <a:ln cap="flat" cmpd="sng" w="38100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8" name="Google Shape;1248;p74"/>
          <p:cNvSpPr txBox="1"/>
          <p:nvPr/>
        </p:nvSpPr>
        <p:spPr>
          <a:xfrm>
            <a:off x="1706599" y="1359700"/>
            <a:ext cx="6549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cube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9" name="Google Shape;1249;p74"/>
          <p:cNvSpPr txBox="1"/>
          <p:nvPr/>
        </p:nvSpPr>
        <p:spPr>
          <a:xfrm>
            <a:off x="7630047" y="1551100"/>
            <a:ext cx="364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3" name="Shape 1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4" name="Google Shape;1254;p7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different diagrams for multiple events</a:t>
            </a:r>
            <a:endParaRPr/>
          </a:p>
        </p:txBody>
      </p:sp>
      <p:sp>
        <p:nvSpPr>
          <p:cNvPr id="1255" name="Google Shape;1255;p75"/>
          <p:cNvSpPr/>
          <p:nvPr/>
        </p:nvSpPr>
        <p:spPr>
          <a:xfrm flipH="1">
            <a:off x="361425" y="1671020"/>
            <a:ext cx="3896700" cy="25920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6" name="Google Shape;1256;p75"/>
          <p:cNvSpPr txBox="1"/>
          <p:nvPr/>
        </p:nvSpPr>
        <p:spPr>
          <a:xfrm>
            <a:off x="2924169" y="3796616"/>
            <a:ext cx="1112700" cy="29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 digits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(2d)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7" name="Google Shape;1257;p75"/>
          <p:cNvSpPr/>
          <p:nvPr/>
        </p:nvSpPr>
        <p:spPr>
          <a:xfrm flipH="1">
            <a:off x="1508017" y="2548655"/>
            <a:ext cx="1603500" cy="1603500"/>
          </a:xfrm>
          <a:prstGeom prst="ellips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258" name="Google Shape;1258;p75"/>
          <p:cNvGrpSpPr/>
          <p:nvPr/>
        </p:nvGrpSpPr>
        <p:grpSpPr>
          <a:xfrm flipH="1">
            <a:off x="995091" y="1781997"/>
            <a:ext cx="2629462" cy="1603392"/>
            <a:chOff x="3541748" y="4038900"/>
            <a:chExt cx="979534" cy="597300"/>
          </a:xfrm>
        </p:grpSpPr>
        <p:sp>
          <p:nvSpPr>
            <p:cNvPr id="1259" name="Google Shape;1259;p75"/>
            <p:cNvSpPr/>
            <p:nvPr/>
          </p:nvSpPr>
          <p:spPr>
            <a:xfrm>
              <a:off x="3541748" y="4038900"/>
              <a:ext cx="597300" cy="597300"/>
            </a:xfrm>
            <a:prstGeom prst="ellipse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60" name="Google Shape;1260;p75"/>
            <p:cNvSpPr/>
            <p:nvPr/>
          </p:nvSpPr>
          <p:spPr>
            <a:xfrm>
              <a:off x="3923982" y="4038900"/>
              <a:ext cx="597300" cy="597300"/>
            </a:xfrm>
            <a:prstGeom prst="ellipse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61" name="Google Shape;1261;p75"/>
          <p:cNvGrpSpPr/>
          <p:nvPr/>
        </p:nvGrpSpPr>
        <p:grpSpPr>
          <a:xfrm>
            <a:off x="6502726" y="1675123"/>
            <a:ext cx="364200" cy="377464"/>
            <a:chOff x="6502726" y="1522723"/>
            <a:chExt cx="364200" cy="377464"/>
          </a:xfrm>
        </p:grpSpPr>
        <p:cxnSp>
          <p:nvCxnSpPr>
            <p:cNvPr id="1262" name="Google Shape;1262;p75"/>
            <p:cNvCxnSpPr/>
            <p:nvPr/>
          </p:nvCxnSpPr>
          <p:spPr>
            <a:xfrm flipH="1" rot="10800000">
              <a:off x="6502726" y="1522723"/>
              <a:ext cx="364200" cy="1656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63" name="Google Shape;1263;p75"/>
            <p:cNvCxnSpPr/>
            <p:nvPr/>
          </p:nvCxnSpPr>
          <p:spPr>
            <a:xfrm>
              <a:off x="6502726" y="1734587"/>
              <a:ext cx="364200" cy="1656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264" name="Google Shape;1264;p75"/>
          <p:cNvGrpSpPr/>
          <p:nvPr/>
        </p:nvGrpSpPr>
        <p:grpSpPr>
          <a:xfrm>
            <a:off x="6502726" y="2372452"/>
            <a:ext cx="364200" cy="377464"/>
            <a:chOff x="6502726" y="2220052"/>
            <a:chExt cx="364200" cy="377464"/>
          </a:xfrm>
        </p:grpSpPr>
        <p:cxnSp>
          <p:nvCxnSpPr>
            <p:cNvPr id="1265" name="Google Shape;1265;p75"/>
            <p:cNvCxnSpPr/>
            <p:nvPr/>
          </p:nvCxnSpPr>
          <p:spPr>
            <a:xfrm flipH="1" rot="10800000">
              <a:off x="6502726" y="2220052"/>
              <a:ext cx="364200" cy="1656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66" name="Google Shape;1266;p75"/>
            <p:cNvCxnSpPr/>
            <p:nvPr/>
          </p:nvCxnSpPr>
          <p:spPr>
            <a:xfrm>
              <a:off x="6502726" y="2431916"/>
              <a:ext cx="364200" cy="1656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267" name="Google Shape;1267;p75"/>
          <p:cNvGrpSpPr/>
          <p:nvPr/>
        </p:nvGrpSpPr>
        <p:grpSpPr>
          <a:xfrm>
            <a:off x="6502726" y="3069781"/>
            <a:ext cx="364200" cy="1074793"/>
            <a:chOff x="6502726" y="2917381"/>
            <a:chExt cx="364200" cy="1074793"/>
          </a:xfrm>
        </p:grpSpPr>
        <p:grpSp>
          <p:nvGrpSpPr>
            <p:cNvPr id="1268" name="Google Shape;1268;p75"/>
            <p:cNvGrpSpPr/>
            <p:nvPr/>
          </p:nvGrpSpPr>
          <p:grpSpPr>
            <a:xfrm>
              <a:off x="6502726" y="2917381"/>
              <a:ext cx="364200" cy="377464"/>
              <a:chOff x="6502726" y="2917381"/>
              <a:chExt cx="364200" cy="377464"/>
            </a:xfrm>
          </p:grpSpPr>
          <p:cxnSp>
            <p:nvCxnSpPr>
              <p:cNvPr id="1269" name="Google Shape;1269;p75"/>
              <p:cNvCxnSpPr/>
              <p:nvPr/>
            </p:nvCxnSpPr>
            <p:spPr>
              <a:xfrm flipH="1" rot="10800000">
                <a:off x="6502726" y="2917381"/>
                <a:ext cx="364200" cy="1656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70" name="Google Shape;1270;p75"/>
              <p:cNvCxnSpPr/>
              <p:nvPr/>
            </p:nvCxnSpPr>
            <p:spPr>
              <a:xfrm>
                <a:off x="6502726" y="3129245"/>
                <a:ext cx="364200" cy="1656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271" name="Google Shape;1271;p75"/>
            <p:cNvGrpSpPr/>
            <p:nvPr/>
          </p:nvGrpSpPr>
          <p:grpSpPr>
            <a:xfrm>
              <a:off x="6502726" y="3614710"/>
              <a:ext cx="364200" cy="377464"/>
              <a:chOff x="6502726" y="3614710"/>
              <a:chExt cx="364200" cy="377464"/>
            </a:xfrm>
          </p:grpSpPr>
          <p:cxnSp>
            <p:nvCxnSpPr>
              <p:cNvPr id="1272" name="Google Shape;1272;p75"/>
              <p:cNvCxnSpPr/>
              <p:nvPr/>
            </p:nvCxnSpPr>
            <p:spPr>
              <a:xfrm flipH="1" rot="10800000">
                <a:off x="6502726" y="3614710"/>
                <a:ext cx="364200" cy="1656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73" name="Google Shape;1273;p75"/>
              <p:cNvCxnSpPr/>
              <p:nvPr/>
            </p:nvCxnSpPr>
            <p:spPr>
              <a:xfrm>
                <a:off x="6502726" y="3826574"/>
                <a:ext cx="364200" cy="1656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1274" name="Google Shape;1274;p75"/>
          <p:cNvGrpSpPr/>
          <p:nvPr/>
        </p:nvGrpSpPr>
        <p:grpSpPr>
          <a:xfrm>
            <a:off x="5544548" y="3243593"/>
            <a:ext cx="312600" cy="727492"/>
            <a:chOff x="5544548" y="3091193"/>
            <a:chExt cx="312600" cy="727492"/>
          </a:xfrm>
        </p:grpSpPr>
        <p:cxnSp>
          <p:nvCxnSpPr>
            <p:cNvPr id="1275" name="Google Shape;1275;p75"/>
            <p:cNvCxnSpPr/>
            <p:nvPr/>
          </p:nvCxnSpPr>
          <p:spPr>
            <a:xfrm flipH="1" rot="10800000">
              <a:off x="5544548" y="3091193"/>
              <a:ext cx="312600" cy="3192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76" name="Google Shape;1276;p75"/>
            <p:cNvCxnSpPr/>
            <p:nvPr/>
          </p:nvCxnSpPr>
          <p:spPr>
            <a:xfrm>
              <a:off x="5544548" y="3499485"/>
              <a:ext cx="312600" cy="3192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277" name="Google Shape;1277;p75"/>
          <p:cNvGrpSpPr/>
          <p:nvPr/>
        </p:nvGrpSpPr>
        <p:grpSpPr>
          <a:xfrm>
            <a:off x="5544548" y="1848943"/>
            <a:ext cx="312600" cy="727492"/>
            <a:chOff x="5544548" y="1696543"/>
            <a:chExt cx="312600" cy="727492"/>
          </a:xfrm>
        </p:grpSpPr>
        <p:cxnSp>
          <p:nvCxnSpPr>
            <p:cNvPr id="1278" name="Google Shape;1278;p75"/>
            <p:cNvCxnSpPr/>
            <p:nvPr/>
          </p:nvCxnSpPr>
          <p:spPr>
            <a:xfrm flipH="1" rot="10800000">
              <a:off x="5544548" y="1696543"/>
              <a:ext cx="312600" cy="3192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79" name="Google Shape;1279;p75"/>
            <p:cNvCxnSpPr/>
            <p:nvPr/>
          </p:nvCxnSpPr>
          <p:spPr>
            <a:xfrm>
              <a:off x="5544548" y="2104834"/>
              <a:ext cx="312600" cy="3192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1280" name="Google Shape;1280;p75"/>
          <p:cNvCxnSpPr/>
          <p:nvPr/>
        </p:nvCxnSpPr>
        <p:spPr>
          <a:xfrm flipH="1" rot="10800000">
            <a:off x="4652325" y="2211053"/>
            <a:ext cx="364200" cy="6132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81" name="Google Shape;1281;p75"/>
          <p:cNvCxnSpPr/>
          <p:nvPr/>
        </p:nvCxnSpPr>
        <p:spPr>
          <a:xfrm>
            <a:off x="4652325" y="2995655"/>
            <a:ext cx="364200" cy="6132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82" name="Google Shape;1282;p75"/>
          <p:cNvSpPr txBox="1"/>
          <p:nvPr/>
        </p:nvSpPr>
        <p:spPr>
          <a:xfrm>
            <a:off x="6915023" y="2566347"/>
            <a:ext cx="1037700" cy="36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not m8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3" name="Google Shape;1283;p75"/>
          <p:cNvSpPr txBox="1"/>
          <p:nvPr/>
        </p:nvSpPr>
        <p:spPr>
          <a:xfrm>
            <a:off x="6914975" y="2888899"/>
            <a:ext cx="654900" cy="36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m8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4" name="Google Shape;1284;p75"/>
          <p:cNvSpPr txBox="1"/>
          <p:nvPr/>
        </p:nvSpPr>
        <p:spPr>
          <a:xfrm>
            <a:off x="6915023" y="3263660"/>
            <a:ext cx="1037700" cy="36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not m8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5" name="Google Shape;1285;p75"/>
          <p:cNvSpPr txBox="1"/>
          <p:nvPr/>
        </p:nvSpPr>
        <p:spPr>
          <a:xfrm>
            <a:off x="6914975" y="3586262"/>
            <a:ext cx="654900" cy="36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m8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6" name="Google Shape;1286;p75"/>
          <p:cNvSpPr txBox="1"/>
          <p:nvPr/>
        </p:nvSpPr>
        <p:spPr>
          <a:xfrm>
            <a:off x="6915023" y="3961037"/>
            <a:ext cx="1037700" cy="36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not m8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7" name="Google Shape;1287;p75"/>
          <p:cNvSpPr txBox="1"/>
          <p:nvPr/>
        </p:nvSpPr>
        <p:spPr>
          <a:xfrm>
            <a:off x="6914975" y="2191600"/>
            <a:ext cx="654900" cy="36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m8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8" name="Google Shape;1288;p75"/>
          <p:cNvSpPr/>
          <p:nvPr/>
        </p:nvSpPr>
        <p:spPr>
          <a:xfrm>
            <a:off x="7370684" y="1531559"/>
            <a:ext cx="825000" cy="287100"/>
          </a:xfrm>
          <a:prstGeom prst="roundRect">
            <a:avLst>
              <a:gd fmla="val 5961" name="adj"/>
            </a:avLst>
          </a:prstGeom>
          <a:noFill/>
          <a:ln cap="flat" cmpd="sng" w="38100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24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9" name="Google Shape;1289;p75"/>
          <p:cNvSpPr/>
          <p:nvPr/>
        </p:nvSpPr>
        <p:spPr>
          <a:xfrm>
            <a:off x="7765437" y="1906323"/>
            <a:ext cx="825000" cy="287100"/>
          </a:xfrm>
          <a:prstGeom prst="roundRect">
            <a:avLst>
              <a:gd fmla="val 5961" name="adj"/>
            </a:avLst>
          </a:prstGeom>
          <a:noFill/>
          <a:ln cap="flat" cmpd="sng" w="38100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0" name="Google Shape;1290;p75"/>
          <p:cNvSpPr/>
          <p:nvPr/>
        </p:nvSpPr>
        <p:spPr>
          <a:xfrm>
            <a:off x="7370684" y="2230244"/>
            <a:ext cx="825000" cy="287100"/>
          </a:xfrm>
          <a:prstGeom prst="roundRect">
            <a:avLst>
              <a:gd fmla="val 5961" name="adj"/>
            </a:avLst>
          </a:prstGeom>
          <a:noFill/>
          <a:ln cap="flat" cmpd="sng" w="38100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16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1" name="Google Shape;1291;p75"/>
          <p:cNvSpPr/>
          <p:nvPr/>
        </p:nvSpPr>
        <p:spPr>
          <a:xfrm>
            <a:off x="7765437" y="2605008"/>
            <a:ext cx="825000" cy="287100"/>
          </a:xfrm>
          <a:prstGeom prst="roundRect">
            <a:avLst>
              <a:gd fmla="val 5961" name="adj"/>
            </a:avLst>
          </a:prstGeom>
          <a:noFill/>
          <a:ln cap="flat" cmpd="sng" w="38100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2" name="Google Shape;1292;p75"/>
          <p:cNvSpPr/>
          <p:nvPr/>
        </p:nvSpPr>
        <p:spPr>
          <a:xfrm>
            <a:off x="7370684" y="2928929"/>
            <a:ext cx="825000" cy="287100"/>
          </a:xfrm>
          <a:prstGeom prst="roundRect">
            <a:avLst>
              <a:gd fmla="val 5961" name="adj"/>
            </a:avLst>
          </a:prstGeom>
          <a:noFill/>
          <a:ln cap="flat" cmpd="sng" w="38100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3" name="Google Shape;1293;p75"/>
          <p:cNvSpPr/>
          <p:nvPr/>
        </p:nvSpPr>
        <p:spPr>
          <a:xfrm>
            <a:off x="7370684" y="3627614"/>
            <a:ext cx="825000" cy="287100"/>
          </a:xfrm>
          <a:prstGeom prst="roundRect">
            <a:avLst>
              <a:gd fmla="val 5961" name="adj"/>
            </a:avLst>
          </a:prstGeom>
          <a:noFill/>
          <a:ln cap="flat" cmpd="sng" w="38100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4" name="Google Shape;1294;p75"/>
          <p:cNvSpPr/>
          <p:nvPr/>
        </p:nvSpPr>
        <p:spPr>
          <a:xfrm>
            <a:off x="7765437" y="3303693"/>
            <a:ext cx="825000" cy="287100"/>
          </a:xfrm>
          <a:prstGeom prst="roundRect">
            <a:avLst>
              <a:gd fmla="val 5961" name="adj"/>
            </a:avLst>
          </a:prstGeom>
          <a:noFill/>
          <a:ln cap="flat" cmpd="sng" w="38100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3,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5" name="Google Shape;1295;p75"/>
          <p:cNvSpPr txBox="1"/>
          <p:nvPr/>
        </p:nvSpPr>
        <p:spPr>
          <a:xfrm>
            <a:off x="2127676" y="3530487"/>
            <a:ext cx="364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6" name="Google Shape;1296;p75"/>
          <p:cNvSpPr/>
          <p:nvPr/>
        </p:nvSpPr>
        <p:spPr>
          <a:xfrm>
            <a:off x="7765437" y="4002378"/>
            <a:ext cx="825000" cy="287100"/>
          </a:xfrm>
          <a:prstGeom prst="roundRect">
            <a:avLst>
              <a:gd fmla="val 5961" name="adj"/>
            </a:avLst>
          </a:prstGeom>
          <a:noFill/>
          <a:ln cap="flat" cmpd="sng" w="38100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7,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7" name="Google Shape;1297;p75"/>
          <p:cNvSpPr txBox="1"/>
          <p:nvPr/>
        </p:nvSpPr>
        <p:spPr>
          <a:xfrm>
            <a:off x="1653201" y="2933887"/>
            <a:ext cx="364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90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8" name="Google Shape;1298;p75"/>
          <p:cNvSpPr txBox="1"/>
          <p:nvPr/>
        </p:nvSpPr>
        <p:spPr>
          <a:xfrm>
            <a:off x="2020037" y="2234670"/>
            <a:ext cx="574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9" name="Google Shape;1299;p75"/>
          <p:cNvSpPr txBox="1"/>
          <p:nvPr/>
        </p:nvSpPr>
        <p:spPr>
          <a:xfrm>
            <a:off x="6915023" y="1867662"/>
            <a:ext cx="1037700" cy="36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not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m8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0" name="Google Shape;1300;p75"/>
          <p:cNvSpPr txBox="1"/>
          <p:nvPr/>
        </p:nvSpPr>
        <p:spPr>
          <a:xfrm>
            <a:off x="415142" y="1671022"/>
            <a:ext cx="10065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factor  of 360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(f360)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1" name="Google Shape;1301;p75"/>
          <p:cNvSpPr txBox="1"/>
          <p:nvPr/>
        </p:nvSpPr>
        <p:spPr>
          <a:xfrm>
            <a:off x="3209613" y="1671012"/>
            <a:ext cx="10065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multiple of 8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(m8)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2" name="Google Shape;1302;p75"/>
          <p:cNvSpPr txBox="1"/>
          <p:nvPr/>
        </p:nvSpPr>
        <p:spPr>
          <a:xfrm>
            <a:off x="565220" y="3858759"/>
            <a:ext cx="693600" cy="29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104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3" name="Google Shape;1303;p75"/>
          <p:cNvSpPr txBox="1"/>
          <p:nvPr/>
        </p:nvSpPr>
        <p:spPr>
          <a:xfrm>
            <a:off x="1295049" y="2445112"/>
            <a:ext cx="574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180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4" name="Google Shape;1304;p75"/>
          <p:cNvSpPr txBox="1"/>
          <p:nvPr/>
        </p:nvSpPr>
        <p:spPr>
          <a:xfrm>
            <a:off x="5025238" y="2074088"/>
            <a:ext cx="504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2d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5" name="Google Shape;1305;p75"/>
          <p:cNvSpPr txBox="1"/>
          <p:nvPr/>
        </p:nvSpPr>
        <p:spPr>
          <a:xfrm>
            <a:off x="5025238" y="3468725"/>
            <a:ext cx="504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not 2d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6" name="Google Shape;1306;p75"/>
          <p:cNvSpPr txBox="1"/>
          <p:nvPr/>
        </p:nvSpPr>
        <p:spPr>
          <a:xfrm>
            <a:off x="5950663" y="1725238"/>
            <a:ext cx="504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f360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7" name="Google Shape;1307;p75"/>
          <p:cNvSpPr txBox="1"/>
          <p:nvPr/>
        </p:nvSpPr>
        <p:spPr>
          <a:xfrm>
            <a:off x="5950663" y="2422575"/>
            <a:ext cx="504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not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f360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8" name="Google Shape;1308;p75"/>
          <p:cNvSpPr txBox="1"/>
          <p:nvPr/>
        </p:nvSpPr>
        <p:spPr>
          <a:xfrm>
            <a:off x="5950663" y="3119900"/>
            <a:ext cx="504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f360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9" name="Google Shape;1309;p75"/>
          <p:cNvSpPr txBox="1"/>
          <p:nvPr/>
        </p:nvSpPr>
        <p:spPr>
          <a:xfrm>
            <a:off x="5950663" y="3817238"/>
            <a:ext cx="504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not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f360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0" name="Google Shape;1310;p75"/>
          <p:cNvSpPr txBox="1"/>
          <p:nvPr/>
        </p:nvSpPr>
        <p:spPr>
          <a:xfrm>
            <a:off x="6914982" y="1492887"/>
            <a:ext cx="654900" cy="36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m8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1" name="Google Shape;1311;p75"/>
          <p:cNvSpPr txBox="1"/>
          <p:nvPr/>
        </p:nvSpPr>
        <p:spPr>
          <a:xfrm>
            <a:off x="324000" y="590168"/>
            <a:ext cx="8496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) The Venn diagram and outcome tree both represent the same set of events for a spinner.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Fill in all missing outcomes for both representations.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5" name="Shape 1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16" name="Google Shape;1316;p76"/>
          <p:cNvGraphicFramePr/>
          <p:nvPr/>
        </p:nvGraphicFramePr>
        <p:xfrm>
          <a:off x="407903" y="743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{879B40AD-98D3-44E5-8BA0-BAAD77B1F533}</a:tableStyleId>
              </a:tblPr>
              <a:tblGrid>
                <a:gridCol w="470450"/>
                <a:gridCol w="889275"/>
                <a:gridCol w="889275"/>
              </a:tblGrid>
              <a:tr h="288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heads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solidFill>
                      <a:schemeClr val="accent4"/>
                    </a:solidFill>
                  </a:tcPr>
                </a:tc>
                <a:tc hMerge="1"/>
              </a:tr>
              <a:tr h="288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win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lose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solidFill>
                      <a:schemeClr val="accent4"/>
                    </a:solidFill>
                  </a:tcPr>
                </a:tc>
              </a:tr>
              <a:tr h="4483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red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Aisha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3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not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red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Sam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17" name="Google Shape;1317;p76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different diagrams for multiple events</a:t>
            </a:r>
            <a:endParaRPr/>
          </a:p>
        </p:txBody>
      </p:sp>
      <p:sp>
        <p:nvSpPr>
          <p:cNvPr id="1318" name="Google Shape;1318;p76"/>
          <p:cNvSpPr txBox="1"/>
          <p:nvPr/>
        </p:nvSpPr>
        <p:spPr>
          <a:xfrm>
            <a:off x="3059975" y="624550"/>
            <a:ext cx="57600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) Whilst one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outcome table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cannot show three events from a trial, two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outcome table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 can.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Fill in all missing outcomes on both the pair of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outcome table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 and the Venn diagram.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319" name="Google Shape;1319;p76"/>
          <p:cNvGraphicFramePr/>
          <p:nvPr/>
        </p:nvGraphicFramePr>
        <p:xfrm>
          <a:off x="407903" y="2699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{879B40AD-98D3-44E5-8BA0-BAAD77B1F533}</a:tableStyleId>
              </a:tblPr>
              <a:tblGrid>
                <a:gridCol w="470450"/>
                <a:gridCol w="889275"/>
                <a:gridCol w="889275"/>
              </a:tblGrid>
              <a:tr h="288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tails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solidFill>
                      <a:schemeClr val="accent4"/>
                    </a:solidFill>
                  </a:tcPr>
                </a:tc>
                <a:tc hMerge="1"/>
              </a:tr>
              <a:tr h="288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win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lose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solidFill>
                      <a:schemeClr val="accent4"/>
                    </a:solidFill>
                  </a:tcPr>
                </a:tc>
              </a:tr>
              <a:tr h="4483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red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Lucas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3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not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red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Laura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20" name="Google Shape;1320;p76"/>
          <p:cNvSpPr/>
          <p:nvPr/>
        </p:nvSpPr>
        <p:spPr>
          <a:xfrm flipH="1">
            <a:off x="3644450" y="1941425"/>
            <a:ext cx="5040000" cy="23355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1" name="Google Shape;1321;p76"/>
          <p:cNvSpPr/>
          <p:nvPr/>
        </p:nvSpPr>
        <p:spPr>
          <a:xfrm flipH="1">
            <a:off x="4879136" y="2679680"/>
            <a:ext cx="2570700" cy="1514100"/>
          </a:xfrm>
          <a:prstGeom prst="ellips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2" name="Google Shape;1322;p76"/>
          <p:cNvSpPr/>
          <p:nvPr/>
        </p:nvSpPr>
        <p:spPr>
          <a:xfrm flipH="1">
            <a:off x="5473318" y="2107961"/>
            <a:ext cx="2570400" cy="1514100"/>
          </a:xfrm>
          <a:prstGeom prst="ellips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3" name="Google Shape;1323;p76"/>
          <p:cNvSpPr/>
          <p:nvPr/>
        </p:nvSpPr>
        <p:spPr>
          <a:xfrm flipH="1">
            <a:off x="4285533" y="2107961"/>
            <a:ext cx="2570400" cy="1514100"/>
          </a:xfrm>
          <a:prstGeom prst="ellips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4" name="Google Shape;1324;p76"/>
          <p:cNvSpPr txBox="1"/>
          <p:nvPr/>
        </p:nvSpPr>
        <p:spPr>
          <a:xfrm>
            <a:off x="3827406" y="2088750"/>
            <a:ext cx="744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win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5" name="Google Shape;1325;p76"/>
          <p:cNvSpPr txBox="1"/>
          <p:nvPr/>
        </p:nvSpPr>
        <p:spPr>
          <a:xfrm>
            <a:off x="7856931" y="2088750"/>
            <a:ext cx="744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heads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6" name="Google Shape;1326;p76"/>
          <p:cNvSpPr txBox="1"/>
          <p:nvPr/>
        </p:nvSpPr>
        <p:spPr>
          <a:xfrm>
            <a:off x="7086906" y="3779620"/>
            <a:ext cx="744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red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7" name="Google Shape;1327;p76"/>
          <p:cNvSpPr txBox="1"/>
          <p:nvPr/>
        </p:nvSpPr>
        <p:spPr>
          <a:xfrm>
            <a:off x="6639193" y="3191121"/>
            <a:ext cx="744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Jacob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8" name="Google Shape;1328;p76"/>
          <p:cNvSpPr txBox="1"/>
          <p:nvPr/>
        </p:nvSpPr>
        <p:spPr>
          <a:xfrm>
            <a:off x="5792268" y="2337350"/>
            <a:ext cx="744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Jun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9" name="Google Shape;1329;p76"/>
          <p:cNvSpPr txBox="1"/>
          <p:nvPr/>
        </p:nvSpPr>
        <p:spPr>
          <a:xfrm>
            <a:off x="4602643" y="2561400"/>
            <a:ext cx="744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Izzy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0" name="Google Shape;1330;p76"/>
          <p:cNvSpPr txBox="1"/>
          <p:nvPr/>
        </p:nvSpPr>
        <p:spPr>
          <a:xfrm>
            <a:off x="5689702" y="3779625"/>
            <a:ext cx="949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Andeep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4" name="Shape 1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5" name="Google Shape;1335;p77"/>
          <p:cNvSpPr txBox="1"/>
          <p:nvPr/>
        </p:nvSpPr>
        <p:spPr>
          <a:xfrm>
            <a:off x="2765807" y="1202400"/>
            <a:ext cx="9504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over 100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6" name="Google Shape;1336;p77"/>
          <p:cNvSpPr txBox="1"/>
          <p:nvPr/>
        </p:nvSpPr>
        <p:spPr>
          <a:xfrm>
            <a:off x="324000" y="652055"/>
            <a:ext cx="8496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1) Using the correctly completed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outcome tree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, fill in the incomplete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Venn diagram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7" name="Google Shape;1337;p77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different diagrams for multiple events</a:t>
            </a:r>
            <a:endParaRPr/>
          </a:p>
        </p:txBody>
      </p:sp>
      <p:sp>
        <p:nvSpPr>
          <p:cNvPr id="1338" name="Google Shape;1338;p77"/>
          <p:cNvSpPr/>
          <p:nvPr/>
        </p:nvSpPr>
        <p:spPr>
          <a:xfrm flipH="1">
            <a:off x="5085717" y="1151925"/>
            <a:ext cx="3679800" cy="24477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9" name="Google Shape;1339;p77"/>
          <p:cNvSpPr/>
          <p:nvPr/>
        </p:nvSpPr>
        <p:spPr>
          <a:xfrm flipH="1">
            <a:off x="6168660" y="1980690"/>
            <a:ext cx="1514100" cy="1514100"/>
          </a:xfrm>
          <a:prstGeom prst="ellips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340" name="Google Shape;1340;p77"/>
          <p:cNvGrpSpPr/>
          <p:nvPr/>
        </p:nvGrpSpPr>
        <p:grpSpPr>
          <a:xfrm flipH="1">
            <a:off x="5684256" y="1256636"/>
            <a:ext cx="2483022" cy="1514096"/>
            <a:chOff x="3541748" y="4038900"/>
            <a:chExt cx="979534" cy="597300"/>
          </a:xfrm>
        </p:grpSpPr>
        <p:sp>
          <p:nvSpPr>
            <p:cNvPr id="1341" name="Google Shape;1341;p77"/>
            <p:cNvSpPr/>
            <p:nvPr/>
          </p:nvSpPr>
          <p:spPr>
            <a:xfrm>
              <a:off x="3541748" y="4038900"/>
              <a:ext cx="597300" cy="597300"/>
            </a:xfrm>
            <a:prstGeom prst="ellipse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42" name="Google Shape;1342;p77"/>
            <p:cNvSpPr/>
            <p:nvPr/>
          </p:nvSpPr>
          <p:spPr>
            <a:xfrm>
              <a:off x="3923982" y="4038900"/>
              <a:ext cx="597300" cy="597300"/>
            </a:xfrm>
            <a:prstGeom prst="ellipse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343" name="Google Shape;1343;p77"/>
          <p:cNvSpPr txBox="1"/>
          <p:nvPr/>
        </p:nvSpPr>
        <p:spPr>
          <a:xfrm>
            <a:off x="5347267" y="1240225"/>
            <a:ext cx="543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odd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4" name="Google Shape;1344;p77"/>
          <p:cNvSpPr txBox="1"/>
          <p:nvPr/>
        </p:nvSpPr>
        <p:spPr>
          <a:xfrm>
            <a:off x="7939642" y="1240225"/>
            <a:ext cx="839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cube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5" name="Google Shape;1345;p77"/>
          <p:cNvSpPr txBox="1"/>
          <p:nvPr/>
        </p:nvSpPr>
        <p:spPr>
          <a:xfrm>
            <a:off x="7434946" y="3217600"/>
            <a:ext cx="1050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over 100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46" name="Google Shape;1346;p77"/>
          <p:cNvCxnSpPr/>
          <p:nvPr/>
        </p:nvCxnSpPr>
        <p:spPr>
          <a:xfrm flipH="1" rot="10800000">
            <a:off x="2353547" y="1354097"/>
            <a:ext cx="364200" cy="1377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47" name="Google Shape;1347;p77"/>
          <p:cNvCxnSpPr/>
          <p:nvPr/>
        </p:nvCxnSpPr>
        <p:spPr>
          <a:xfrm>
            <a:off x="2353547" y="1530288"/>
            <a:ext cx="364200" cy="1377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48" name="Google Shape;1348;p77"/>
          <p:cNvCxnSpPr/>
          <p:nvPr/>
        </p:nvCxnSpPr>
        <p:spPr>
          <a:xfrm flipH="1" rot="10800000">
            <a:off x="2353547" y="1934268"/>
            <a:ext cx="364200" cy="1377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49" name="Google Shape;1349;p77"/>
          <p:cNvCxnSpPr/>
          <p:nvPr/>
        </p:nvCxnSpPr>
        <p:spPr>
          <a:xfrm>
            <a:off x="2353547" y="2110460"/>
            <a:ext cx="364200" cy="1377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50" name="Google Shape;1350;p77"/>
          <p:cNvCxnSpPr/>
          <p:nvPr/>
        </p:nvCxnSpPr>
        <p:spPr>
          <a:xfrm flipH="1" rot="10800000">
            <a:off x="2353547" y="2514440"/>
            <a:ext cx="364200" cy="1377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51" name="Google Shape;1351;p77"/>
          <p:cNvCxnSpPr/>
          <p:nvPr/>
        </p:nvCxnSpPr>
        <p:spPr>
          <a:xfrm>
            <a:off x="2353547" y="2690632"/>
            <a:ext cx="364200" cy="1377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52" name="Google Shape;1352;p77"/>
          <p:cNvCxnSpPr/>
          <p:nvPr/>
        </p:nvCxnSpPr>
        <p:spPr>
          <a:xfrm flipH="1" rot="10800000">
            <a:off x="2353547" y="3094612"/>
            <a:ext cx="364200" cy="1377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53" name="Google Shape;1353;p77"/>
          <p:cNvCxnSpPr/>
          <p:nvPr/>
        </p:nvCxnSpPr>
        <p:spPr>
          <a:xfrm>
            <a:off x="2353547" y="3270803"/>
            <a:ext cx="364200" cy="1377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54" name="Google Shape;1354;p77"/>
          <p:cNvCxnSpPr/>
          <p:nvPr/>
        </p:nvCxnSpPr>
        <p:spPr>
          <a:xfrm flipH="1" rot="10800000">
            <a:off x="1395372" y="2659045"/>
            <a:ext cx="312600" cy="2655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55" name="Google Shape;1355;p77"/>
          <p:cNvCxnSpPr/>
          <p:nvPr/>
        </p:nvCxnSpPr>
        <p:spPr>
          <a:xfrm>
            <a:off x="1395372" y="2998668"/>
            <a:ext cx="312600" cy="2655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56" name="Google Shape;1356;p77"/>
          <p:cNvCxnSpPr/>
          <p:nvPr/>
        </p:nvCxnSpPr>
        <p:spPr>
          <a:xfrm flipH="1" rot="10800000">
            <a:off x="1395372" y="1498707"/>
            <a:ext cx="312600" cy="2655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57" name="Google Shape;1357;p77"/>
          <p:cNvCxnSpPr/>
          <p:nvPr/>
        </p:nvCxnSpPr>
        <p:spPr>
          <a:xfrm>
            <a:off x="1395372" y="1838330"/>
            <a:ext cx="312600" cy="2655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58" name="Google Shape;1358;p77"/>
          <p:cNvCxnSpPr/>
          <p:nvPr/>
        </p:nvCxnSpPr>
        <p:spPr>
          <a:xfrm flipH="1" rot="10800000">
            <a:off x="426952" y="1799785"/>
            <a:ext cx="364200" cy="5103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59" name="Google Shape;1359;p77"/>
          <p:cNvCxnSpPr/>
          <p:nvPr/>
        </p:nvCxnSpPr>
        <p:spPr>
          <a:xfrm>
            <a:off x="426952" y="2452690"/>
            <a:ext cx="364200" cy="5103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60" name="Google Shape;1360;p77"/>
          <p:cNvSpPr txBox="1"/>
          <p:nvPr/>
        </p:nvSpPr>
        <p:spPr>
          <a:xfrm>
            <a:off x="799398" y="1649525"/>
            <a:ext cx="5436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odd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1" name="Google Shape;1361;p77"/>
          <p:cNvSpPr txBox="1"/>
          <p:nvPr/>
        </p:nvSpPr>
        <p:spPr>
          <a:xfrm>
            <a:off x="799398" y="2809872"/>
            <a:ext cx="5436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even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2" name="Google Shape;1362;p77"/>
          <p:cNvSpPr txBox="1"/>
          <p:nvPr/>
        </p:nvSpPr>
        <p:spPr>
          <a:xfrm>
            <a:off x="1706599" y="1939601"/>
            <a:ext cx="6549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not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cube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3" name="Google Shape;1363;p77"/>
          <p:cNvSpPr txBox="1"/>
          <p:nvPr/>
        </p:nvSpPr>
        <p:spPr>
          <a:xfrm>
            <a:off x="1706599" y="2519924"/>
            <a:ext cx="6549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cube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4" name="Google Shape;1364;p77"/>
          <p:cNvSpPr txBox="1"/>
          <p:nvPr/>
        </p:nvSpPr>
        <p:spPr>
          <a:xfrm>
            <a:off x="1706599" y="3099825"/>
            <a:ext cx="6549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not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cube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5" name="Google Shape;1365;p77"/>
          <p:cNvSpPr txBox="1"/>
          <p:nvPr/>
        </p:nvSpPr>
        <p:spPr>
          <a:xfrm>
            <a:off x="2765834" y="1514200"/>
            <a:ext cx="12894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100 or less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6" name="Google Shape;1366;p77"/>
          <p:cNvSpPr txBox="1"/>
          <p:nvPr/>
        </p:nvSpPr>
        <p:spPr>
          <a:xfrm>
            <a:off x="2765834" y="2095500"/>
            <a:ext cx="12894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100 or less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7" name="Google Shape;1367;p77"/>
          <p:cNvSpPr txBox="1"/>
          <p:nvPr/>
        </p:nvSpPr>
        <p:spPr>
          <a:xfrm>
            <a:off x="2765798" y="2363874"/>
            <a:ext cx="9504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over 100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8" name="Google Shape;1368;p77"/>
          <p:cNvSpPr txBox="1"/>
          <p:nvPr/>
        </p:nvSpPr>
        <p:spPr>
          <a:xfrm>
            <a:off x="2765834" y="2675659"/>
            <a:ext cx="12894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100 or less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9" name="Google Shape;1369;p77"/>
          <p:cNvSpPr txBox="1"/>
          <p:nvPr/>
        </p:nvSpPr>
        <p:spPr>
          <a:xfrm>
            <a:off x="2765798" y="2944076"/>
            <a:ext cx="9504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over 100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0" name="Google Shape;1370;p77"/>
          <p:cNvSpPr txBox="1"/>
          <p:nvPr/>
        </p:nvSpPr>
        <p:spPr>
          <a:xfrm>
            <a:off x="2765834" y="3255870"/>
            <a:ext cx="12894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100 or less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1" name="Google Shape;1371;p77"/>
          <p:cNvSpPr txBox="1"/>
          <p:nvPr/>
        </p:nvSpPr>
        <p:spPr>
          <a:xfrm>
            <a:off x="2765798" y="1783725"/>
            <a:ext cx="9504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over 100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2" name="Google Shape;1372;p77"/>
          <p:cNvSpPr/>
          <p:nvPr/>
        </p:nvSpPr>
        <p:spPr>
          <a:xfrm>
            <a:off x="3755462" y="1234575"/>
            <a:ext cx="825000" cy="238800"/>
          </a:xfrm>
          <a:prstGeom prst="roundRect">
            <a:avLst>
              <a:gd fmla="val 5961" name="adj"/>
            </a:avLst>
          </a:prstGeom>
          <a:noFill/>
          <a:ln cap="flat" cmpd="sng" w="38100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125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3" name="Google Shape;1373;p77"/>
          <p:cNvSpPr/>
          <p:nvPr/>
        </p:nvSpPr>
        <p:spPr>
          <a:xfrm>
            <a:off x="3997814" y="1546375"/>
            <a:ext cx="825000" cy="238800"/>
          </a:xfrm>
          <a:prstGeom prst="roundRect">
            <a:avLst>
              <a:gd fmla="val 5961" name="adj"/>
            </a:avLst>
          </a:prstGeom>
          <a:noFill/>
          <a:ln cap="flat" cmpd="sng" w="38100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1, 27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4" name="Google Shape;1374;p77"/>
          <p:cNvSpPr/>
          <p:nvPr/>
        </p:nvSpPr>
        <p:spPr>
          <a:xfrm>
            <a:off x="3755462" y="1815875"/>
            <a:ext cx="825000" cy="238800"/>
          </a:xfrm>
          <a:prstGeom prst="roundRect">
            <a:avLst>
              <a:gd fmla="val 5961" name="adj"/>
            </a:avLst>
          </a:prstGeom>
          <a:noFill/>
          <a:ln cap="flat" cmpd="sng" w="38100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755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5" name="Google Shape;1375;p77"/>
          <p:cNvSpPr/>
          <p:nvPr/>
        </p:nvSpPr>
        <p:spPr>
          <a:xfrm>
            <a:off x="3997814" y="2127675"/>
            <a:ext cx="825000" cy="238800"/>
          </a:xfrm>
          <a:prstGeom prst="roundRect">
            <a:avLst>
              <a:gd fmla="val 5961" name="adj"/>
            </a:avLst>
          </a:prstGeom>
          <a:noFill/>
          <a:ln cap="flat" cmpd="sng" w="38100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6" name="Google Shape;1376;p77"/>
          <p:cNvSpPr/>
          <p:nvPr/>
        </p:nvSpPr>
        <p:spPr>
          <a:xfrm>
            <a:off x="3755462" y="2397175"/>
            <a:ext cx="825000" cy="238800"/>
          </a:xfrm>
          <a:prstGeom prst="roundRect">
            <a:avLst>
              <a:gd fmla="val 5961" name="adj"/>
            </a:avLst>
          </a:prstGeom>
          <a:noFill/>
          <a:ln cap="flat" cmpd="sng" w="38100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216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7" name="Google Shape;1377;p77"/>
          <p:cNvSpPr/>
          <p:nvPr/>
        </p:nvSpPr>
        <p:spPr>
          <a:xfrm>
            <a:off x="3997814" y="2708975"/>
            <a:ext cx="825000" cy="238800"/>
          </a:xfrm>
          <a:prstGeom prst="roundRect">
            <a:avLst>
              <a:gd fmla="val 5961" name="adj"/>
            </a:avLst>
          </a:prstGeom>
          <a:noFill/>
          <a:ln cap="flat" cmpd="sng" w="38100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8, 64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8" name="Google Shape;1378;p77"/>
          <p:cNvSpPr/>
          <p:nvPr/>
        </p:nvSpPr>
        <p:spPr>
          <a:xfrm>
            <a:off x="3755462" y="2978475"/>
            <a:ext cx="825000" cy="238800"/>
          </a:xfrm>
          <a:prstGeom prst="roundRect">
            <a:avLst>
              <a:gd fmla="val 5961" name="adj"/>
            </a:avLst>
          </a:prstGeom>
          <a:noFill/>
          <a:ln cap="flat" cmpd="sng" w="38100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108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9" name="Google Shape;1379;p77"/>
          <p:cNvSpPr/>
          <p:nvPr/>
        </p:nvSpPr>
        <p:spPr>
          <a:xfrm>
            <a:off x="3997814" y="3290275"/>
            <a:ext cx="825000" cy="238800"/>
          </a:xfrm>
          <a:prstGeom prst="roundRect">
            <a:avLst>
              <a:gd fmla="val 5961" name="adj"/>
            </a:avLst>
          </a:prstGeom>
          <a:noFill/>
          <a:ln cap="flat" cmpd="sng" w="38100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0" name="Google Shape;1380;p77"/>
          <p:cNvSpPr txBox="1"/>
          <p:nvPr/>
        </p:nvSpPr>
        <p:spPr>
          <a:xfrm>
            <a:off x="1706599" y="1359700"/>
            <a:ext cx="6549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cube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1" name="Google Shape;1381;p77"/>
          <p:cNvSpPr txBox="1"/>
          <p:nvPr/>
        </p:nvSpPr>
        <p:spPr>
          <a:xfrm>
            <a:off x="7630047" y="1551100"/>
            <a:ext cx="364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2" name="Google Shape;1382;p77"/>
          <p:cNvSpPr txBox="1"/>
          <p:nvPr/>
        </p:nvSpPr>
        <p:spPr>
          <a:xfrm>
            <a:off x="6743522" y="2061329"/>
            <a:ext cx="364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125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83" name="Google Shape;1383;p77"/>
          <p:cNvSpPr txBox="1"/>
          <p:nvPr/>
        </p:nvSpPr>
        <p:spPr>
          <a:xfrm>
            <a:off x="6743660" y="1467636"/>
            <a:ext cx="364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84" name="Google Shape;1384;p77"/>
          <p:cNvSpPr txBox="1"/>
          <p:nvPr/>
        </p:nvSpPr>
        <p:spPr>
          <a:xfrm>
            <a:off x="6743660" y="1729879"/>
            <a:ext cx="364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27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85" name="Google Shape;1385;p77"/>
          <p:cNvSpPr txBox="1"/>
          <p:nvPr/>
        </p:nvSpPr>
        <p:spPr>
          <a:xfrm>
            <a:off x="6234514" y="2328641"/>
            <a:ext cx="543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755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86" name="Google Shape;1386;p77"/>
          <p:cNvSpPr txBox="1"/>
          <p:nvPr/>
        </p:nvSpPr>
        <p:spPr>
          <a:xfrm>
            <a:off x="5954626" y="1729866"/>
            <a:ext cx="543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7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87" name="Google Shape;1387;p77"/>
          <p:cNvSpPr txBox="1"/>
          <p:nvPr/>
        </p:nvSpPr>
        <p:spPr>
          <a:xfrm>
            <a:off x="7059592" y="2342603"/>
            <a:ext cx="543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216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88" name="Google Shape;1388;p77"/>
          <p:cNvSpPr txBox="1"/>
          <p:nvPr/>
        </p:nvSpPr>
        <p:spPr>
          <a:xfrm>
            <a:off x="6653954" y="2955328"/>
            <a:ext cx="543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108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89" name="Google Shape;1389;p77"/>
          <p:cNvSpPr txBox="1"/>
          <p:nvPr/>
        </p:nvSpPr>
        <p:spPr>
          <a:xfrm>
            <a:off x="7300329" y="1832478"/>
            <a:ext cx="543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64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90" name="Google Shape;1390;p77"/>
          <p:cNvSpPr txBox="1"/>
          <p:nvPr/>
        </p:nvSpPr>
        <p:spPr>
          <a:xfrm>
            <a:off x="5345404" y="3024853"/>
            <a:ext cx="543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72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4" name="Shape 1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5" name="Google Shape;1395;p7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different diagrams for multiple events</a:t>
            </a:r>
            <a:endParaRPr/>
          </a:p>
        </p:txBody>
      </p:sp>
      <p:sp>
        <p:nvSpPr>
          <p:cNvPr id="1396" name="Google Shape;1396;p78"/>
          <p:cNvSpPr/>
          <p:nvPr/>
        </p:nvSpPr>
        <p:spPr>
          <a:xfrm flipH="1">
            <a:off x="361425" y="1671020"/>
            <a:ext cx="3896700" cy="25920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7" name="Google Shape;1397;p78"/>
          <p:cNvSpPr txBox="1"/>
          <p:nvPr/>
        </p:nvSpPr>
        <p:spPr>
          <a:xfrm>
            <a:off x="2924169" y="3796616"/>
            <a:ext cx="1112700" cy="29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 digits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(2d)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8" name="Google Shape;1398;p78"/>
          <p:cNvSpPr/>
          <p:nvPr/>
        </p:nvSpPr>
        <p:spPr>
          <a:xfrm flipH="1">
            <a:off x="1508017" y="2548655"/>
            <a:ext cx="1603500" cy="1603500"/>
          </a:xfrm>
          <a:prstGeom prst="ellips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399" name="Google Shape;1399;p78"/>
          <p:cNvGrpSpPr/>
          <p:nvPr/>
        </p:nvGrpSpPr>
        <p:grpSpPr>
          <a:xfrm flipH="1">
            <a:off x="995091" y="1781997"/>
            <a:ext cx="2629462" cy="1603392"/>
            <a:chOff x="3541748" y="4038900"/>
            <a:chExt cx="979534" cy="597300"/>
          </a:xfrm>
        </p:grpSpPr>
        <p:sp>
          <p:nvSpPr>
            <p:cNvPr id="1400" name="Google Shape;1400;p78"/>
            <p:cNvSpPr/>
            <p:nvPr/>
          </p:nvSpPr>
          <p:spPr>
            <a:xfrm>
              <a:off x="3541748" y="4038900"/>
              <a:ext cx="597300" cy="597300"/>
            </a:xfrm>
            <a:prstGeom prst="ellipse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01" name="Google Shape;1401;p78"/>
            <p:cNvSpPr/>
            <p:nvPr/>
          </p:nvSpPr>
          <p:spPr>
            <a:xfrm>
              <a:off x="3923982" y="4038900"/>
              <a:ext cx="597300" cy="597300"/>
            </a:xfrm>
            <a:prstGeom prst="ellipse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402" name="Google Shape;1402;p78"/>
          <p:cNvGrpSpPr/>
          <p:nvPr/>
        </p:nvGrpSpPr>
        <p:grpSpPr>
          <a:xfrm>
            <a:off x="6502726" y="1675123"/>
            <a:ext cx="364200" cy="377464"/>
            <a:chOff x="6502726" y="1522723"/>
            <a:chExt cx="364200" cy="377464"/>
          </a:xfrm>
        </p:grpSpPr>
        <p:cxnSp>
          <p:nvCxnSpPr>
            <p:cNvPr id="1403" name="Google Shape;1403;p78"/>
            <p:cNvCxnSpPr/>
            <p:nvPr/>
          </p:nvCxnSpPr>
          <p:spPr>
            <a:xfrm flipH="1" rot="10800000">
              <a:off x="6502726" y="1522723"/>
              <a:ext cx="364200" cy="1656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04" name="Google Shape;1404;p78"/>
            <p:cNvCxnSpPr/>
            <p:nvPr/>
          </p:nvCxnSpPr>
          <p:spPr>
            <a:xfrm>
              <a:off x="6502726" y="1734587"/>
              <a:ext cx="364200" cy="1656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405" name="Google Shape;1405;p78"/>
          <p:cNvGrpSpPr/>
          <p:nvPr/>
        </p:nvGrpSpPr>
        <p:grpSpPr>
          <a:xfrm>
            <a:off x="6502726" y="2372452"/>
            <a:ext cx="364200" cy="377464"/>
            <a:chOff x="6502726" y="2220052"/>
            <a:chExt cx="364200" cy="377464"/>
          </a:xfrm>
        </p:grpSpPr>
        <p:cxnSp>
          <p:nvCxnSpPr>
            <p:cNvPr id="1406" name="Google Shape;1406;p78"/>
            <p:cNvCxnSpPr/>
            <p:nvPr/>
          </p:nvCxnSpPr>
          <p:spPr>
            <a:xfrm flipH="1" rot="10800000">
              <a:off x="6502726" y="2220052"/>
              <a:ext cx="364200" cy="1656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07" name="Google Shape;1407;p78"/>
            <p:cNvCxnSpPr/>
            <p:nvPr/>
          </p:nvCxnSpPr>
          <p:spPr>
            <a:xfrm>
              <a:off x="6502726" y="2431916"/>
              <a:ext cx="364200" cy="1656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408" name="Google Shape;1408;p78"/>
          <p:cNvGrpSpPr/>
          <p:nvPr/>
        </p:nvGrpSpPr>
        <p:grpSpPr>
          <a:xfrm>
            <a:off x="6502726" y="3069781"/>
            <a:ext cx="364200" cy="1074793"/>
            <a:chOff x="6502726" y="2917381"/>
            <a:chExt cx="364200" cy="1074793"/>
          </a:xfrm>
        </p:grpSpPr>
        <p:grpSp>
          <p:nvGrpSpPr>
            <p:cNvPr id="1409" name="Google Shape;1409;p78"/>
            <p:cNvGrpSpPr/>
            <p:nvPr/>
          </p:nvGrpSpPr>
          <p:grpSpPr>
            <a:xfrm>
              <a:off x="6502726" y="2917381"/>
              <a:ext cx="364200" cy="377464"/>
              <a:chOff x="6502726" y="2917381"/>
              <a:chExt cx="364200" cy="377464"/>
            </a:xfrm>
          </p:grpSpPr>
          <p:cxnSp>
            <p:nvCxnSpPr>
              <p:cNvPr id="1410" name="Google Shape;1410;p78"/>
              <p:cNvCxnSpPr/>
              <p:nvPr/>
            </p:nvCxnSpPr>
            <p:spPr>
              <a:xfrm flipH="1" rot="10800000">
                <a:off x="6502726" y="2917381"/>
                <a:ext cx="364200" cy="1656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11" name="Google Shape;1411;p78"/>
              <p:cNvCxnSpPr/>
              <p:nvPr/>
            </p:nvCxnSpPr>
            <p:spPr>
              <a:xfrm>
                <a:off x="6502726" y="3129245"/>
                <a:ext cx="364200" cy="1656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412" name="Google Shape;1412;p78"/>
            <p:cNvGrpSpPr/>
            <p:nvPr/>
          </p:nvGrpSpPr>
          <p:grpSpPr>
            <a:xfrm>
              <a:off x="6502726" y="3614710"/>
              <a:ext cx="364200" cy="377464"/>
              <a:chOff x="6502726" y="3614710"/>
              <a:chExt cx="364200" cy="377464"/>
            </a:xfrm>
          </p:grpSpPr>
          <p:cxnSp>
            <p:nvCxnSpPr>
              <p:cNvPr id="1413" name="Google Shape;1413;p78"/>
              <p:cNvCxnSpPr/>
              <p:nvPr/>
            </p:nvCxnSpPr>
            <p:spPr>
              <a:xfrm flipH="1" rot="10800000">
                <a:off x="6502726" y="3614710"/>
                <a:ext cx="364200" cy="1656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14" name="Google Shape;1414;p78"/>
              <p:cNvCxnSpPr/>
              <p:nvPr/>
            </p:nvCxnSpPr>
            <p:spPr>
              <a:xfrm>
                <a:off x="6502726" y="3826574"/>
                <a:ext cx="364200" cy="1656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1415" name="Google Shape;1415;p78"/>
          <p:cNvGrpSpPr/>
          <p:nvPr/>
        </p:nvGrpSpPr>
        <p:grpSpPr>
          <a:xfrm>
            <a:off x="5544548" y="3243593"/>
            <a:ext cx="312600" cy="727492"/>
            <a:chOff x="5544548" y="3091193"/>
            <a:chExt cx="312600" cy="727492"/>
          </a:xfrm>
        </p:grpSpPr>
        <p:cxnSp>
          <p:nvCxnSpPr>
            <p:cNvPr id="1416" name="Google Shape;1416;p78"/>
            <p:cNvCxnSpPr/>
            <p:nvPr/>
          </p:nvCxnSpPr>
          <p:spPr>
            <a:xfrm flipH="1" rot="10800000">
              <a:off x="5544548" y="3091193"/>
              <a:ext cx="312600" cy="3192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17" name="Google Shape;1417;p78"/>
            <p:cNvCxnSpPr/>
            <p:nvPr/>
          </p:nvCxnSpPr>
          <p:spPr>
            <a:xfrm>
              <a:off x="5544548" y="3499485"/>
              <a:ext cx="312600" cy="3192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418" name="Google Shape;1418;p78"/>
          <p:cNvGrpSpPr/>
          <p:nvPr/>
        </p:nvGrpSpPr>
        <p:grpSpPr>
          <a:xfrm>
            <a:off x="5544548" y="1848943"/>
            <a:ext cx="312600" cy="727492"/>
            <a:chOff x="5544548" y="1696543"/>
            <a:chExt cx="312600" cy="727492"/>
          </a:xfrm>
        </p:grpSpPr>
        <p:cxnSp>
          <p:nvCxnSpPr>
            <p:cNvPr id="1419" name="Google Shape;1419;p78"/>
            <p:cNvCxnSpPr/>
            <p:nvPr/>
          </p:nvCxnSpPr>
          <p:spPr>
            <a:xfrm flipH="1" rot="10800000">
              <a:off x="5544548" y="1696543"/>
              <a:ext cx="312600" cy="3192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20" name="Google Shape;1420;p78"/>
            <p:cNvCxnSpPr/>
            <p:nvPr/>
          </p:nvCxnSpPr>
          <p:spPr>
            <a:xfrm>
              <a:off x="5544548" y="2104834"/>
              <a:ext cx="312600" cy="3192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1421" name="Google Shape;1421;p78"/>
          <p:cNvCxnSpPr/>
          <p:nvPr/>
        </p:nvCxnSpPr>
        <p:spPr>
          <a:xfrm flipH="1" rot="10800000">
            <a:off x="4652325" y="2211053"/>
            <a:ext cx="364200" cy="6132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22" name="Google Shape;1422;p78"/>
          <p:cNvCxnSpPr/>
          <p:nvPr/>
        </p:nvCxnSpPr>
        <p:spPr>
          <a:xfrm>
            <a:off x="4652325" y="2995655"/>
            <a:ext cx="364200" cy="6132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23" name="Google Shape;1423;p78"/>
          <p:cNvSpPr txBox="1"/>
          <p:nvPr/>
        </p:nvSpPr>
        <p:spPr>
          <a:xfrm>
            <a:off x="6915023" y="2566347"/>
            <a:ext cx="1037700" cy="36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not m8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4" name="Google Shape;1424;p78"/>
          <p:cNvSpPr txBox="1"/>
          <p:nvPr/>
        </p:nvSpPr>
        <p:spPr>
          <a:xfrm>
            <a:off x="6914975" y="2888899"/>
            <a:ext cx="654900" cy="36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m8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5" name="Google Shape;1425;p78"/>
          <p:cNvSpPr txBox="1"/>
          <p:nvPr/>
        </p:nvSpPr>
        <p:spPr>
          <a:xfrm>
            <a:off x="6915023" y="3263660"/>
            <a:ext cx="1037700" cy="36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not m8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6" name="Google Shape;1426;p78"/>
          <p:cNvSpPr txBox="1"/>
          <p:nvPr/>
        </p:nvSpPr>
        <p:spPr>
          <a:xfrm>
            <a:off x="6914975" y="3586262"/>
            <a:ext cx="654900" cy="36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m8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7" name="Google Shape;1427;p78"/>
          <p:cNvSpPr txBox="1"/>
          <p:nvPr/>
        </p:nvSpPr>
        <p:spPr>
          <a:xfrm>
            <a:off x="6915023" y="3961037"/>
            <a:ext cx="1037700" cy="36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not m8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8" name="Google Shape;1428;p78"/>
          <p:cNvSpPr txBox="1"/>
          <p:nvPr/>
        </p:nvSpPr>
        <p:spPr>
          <a:xfrm>
            <a:off x="6914975" y="2191600"/>
            <a:ext cx="654900" cy="36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m8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9" name="Google Shape;1429;p78"/>
          <p:cNvSpPr/>
          <p:nvPr/>
        </p:nvSpPr>
        <p:spPr>
          <a:xfrm>
            <a:off x="7370684" y="1531559"/>
            <a:ext cx="825000" cy="287100"/>
          </a:xfrm>
          <a:prstGeom prst="roundRect">
            <a:avLst>
              <a:gd fmla="val 5961" name="adj"/>
            </a:avLst>
          </a:prstGeom>
          <a:noFill/>
          <a:ln cap="flat" cmpd="sng" w="38100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24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0" name="Google Shape;1430;p78"/>
          <p:cNvSpPr/>
          <p:nvPr/>
        </p:nvSpPr>
        <p:spPr>
          <a:xfrm>
            <a:off x="7765437" y="1906323"/>
            <a:ext cx="825000" cy="287100"/>
          </a:xfrm>
          <a:prstGeom prst="roundRect">
            <a:avLst>
              <a:gd fmla="val 5961" name="adj"/>
            </a:avLst>
          </a:prstGeom>
          <a:noFill/>
          <a:ln cap="flat" cmpd="sng" w="38100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90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31" name="Google Shape;1431;p78"/>
          <p:cNvSpPr/>
          <p:nvPr/>
        </p:nvSpPr>
        <p:spPr>
          <a:xfrm>
            <a:off x="7370684" y="2230244"/>
            <a:ext cx="825000" cy="287100"/>
          </a:xfrm>
          <a:prstGeom prst="roundRect">
            <a:avLst>
              <a:gd fmla="val 5961" name="adj"/>
            </a:avLst>
          </a:prstGeom>
          <a:noFill/>
          <a:ln cap="flat" cmpd="sng" w="38100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16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2" name="Google Shape;1432;p78"/>
          <p:cNvSpPr/>
          <p:nvPr/>
        </p:nvSpPr>
        <p:spPr>
          <a:xfrm>
            <a:off x="7765437" y="2605008"/>
            <a:ext cx="825000" cy="287100"/>
          </a:xfrm>
          <a:prstGeom prst="roundRect">
            <a:avLst>
              <a:gd fmla="val 5961" name="adj"/>
            </a:avLst>
          </a:prstGeom>
          <a:noFill/>
          <a:ln cap="flat" cmpd="sng" w="38100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61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33" name="Google Shape;1433;p78"/>
          <p:cNvSpPr/>
          <p:nvPr/>
        </p:nvSpPr>
        <p:spPr>
          <a:xfrm>
            <a:off x="7370684" y="2928929"/>
            <a:ext cx="825000" cy="287100"/>
          </a:xfrm>
          <a:prstGeom prst="roundRect">
            <a:avLst>
              <a:gd fmla="val 5961" name="adj"/>
            </a:avLst>
          </a:prstGeom>
          <a:noFill/>
          <a:ln cap="flat" cmpd="sng" w="38100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4" name="Google Shape;1434;p78"/>
          <p:cNvSpPr/>
          <p:nvPr/>
        </p:nvSpPr>
        <p:spPr>
          <a:xfrm>
            <a:off x="7765437" y="3303693"/>
            <a:ext cx="825000" cy="287100"/>
          </a:xfrm>
          <a:prstGeom prst="roundRect">
            <a:avLst>
              <a:gd fmla="val 5961" name="adj"/>
            </a:avLst>
          </a:prstGeom>
          <a:noFill/>
          <a:ln cap="flat" cmpd="sng" w="38100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3,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180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35" name="Google Shape;1435;p78"/>
          <p:cNvSpPr/>
          <p:nvPr/>
        </p:nvSpPr>
        <p:spPr>
          <a:xfrm>
            <a:off x="7370684" y="3627614"/>
            <a:ext cx="825000" cy="287100"/>
          </a:xfrm>
          <a:prstGeom prst="roundRect">
            <a:avLst>
              <a:gd fmla="val 5961" name="adj"/>
            </a:avLst>
          </a:prstGeom>
          <a:noFill/>
          <a:ln cap="flat" cmpd="sng" w="38100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6" name="Google Shape;1436;p78"/>
          <p:cNvSpPr/>
          <p:nvPr/>
        </p:nvSpPr>
        <p:spPr>
          <a:xfrm>
            <a:off x="7765437" y="4002378"/>
            <a:ext cx="825000" cy="287100"/>
          </a:xfrm>
          <a:prstGeom prst="roundRect">
            <a:avLst>
              <a:gd fmla="val 5961" name="adj"/>
            </a:avLst>
          </a:prstGeom>
          <a:noFill/>
          <a:ln cap="flat" cmpd="sng" w="38100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7,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104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37" name="Google Shape;1437;p78"/>
          <p:cNvSpPr txBox="1"/>
          <p:nvPr/>
        </p:nvSpPr>
        <p:spPr>
          <a:xfrm>
            <a:off x="2116896" y="2637148"/>
            <a:ext cx="385800" cy="29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24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38" name="Google Shape;1438;p78"/>
          <p:cNvSpPr txBox="1"/>
          <p:nvPr/>
        </p:nvSpPr>
        <p:spPr>
          <a:xfrm>
            <a:off x="2569201" y="2932412"/>
            <a:ext cx="364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16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39" name="Google Shape;1439;p78"/>
          <p:cNvSpPr txBox="1"/>
          <p:nvPr/>
        </p:nvSpPr>
        <p:spPr>
          <a:xfrm>
            <a:off x="2127676" y="3530487"/>
            <a:ext cx="364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0" name="Google Shape;1440;p78"/>
          <p:cNvSpPr txBox="1"/>
          <p:nvPr/>
        </p:nvSpPr>
        <p:spPr>
          <a:xfrm>
            <a:off x="1653201" y="2933887"/>
            <a:ext cx="364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90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1" name="Google Shape;1441;p78"/>
          <p:cNvSpPr txBox="1"/>
          <p:nvPr/>
        </p:nvSpPr>
        <p:spPr>
          <a:xfrm>
            <a:off x="1295049" y="2052587"/>
            <a:ext cx="574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3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42" name="Google Shape;1442;p78"/>
          <p:cNvSpPr txBox="1"/>
          <p:nvPr/>
        </p:nvSpPr>
        <p:spPr>
          <a:xfrm>
            <a:off x="2020037" y="2234670"/>
            <a:ext cx="574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3" name="Google Shape;1443;p78"/>
          <p:cNvSpPr txBox="1"/>
          <p:nvPr/>
        </p:nvSpPr>
        <p:spPr>
          <a:xfrm>
            <a:off x="565220" y="3504059"/>
            <a:ext cx="693600" cy="29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7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44" name="Google Shape;1444;p78"/>
          <p:cNvSpPr txBox="1"/>
          <p:nvPr/>
        </p:nvSpPr>
        <p:spPr>
          <a:xfrm>
            <a:off x="6915023" y="1867662"/>
            <a:ext cx="1037700" cy="36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not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m8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5" name="Google Shape;1445;p78"/>
          <p:cNvSpPr txBox="1"/>
          <p:nvPr/>
        </p:nvSpPr>
        <p:spPr>
          <a:xfrm>
            <a:off x="324000" y="590168"/>
            <a:ext cx="8496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) The Venn diagram and outcome tree both represent the same set of events for a spinner.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Fill in all missing outcomes for both representations.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6" name="Google Shape;1446;p78"/>
          <p:cNvSpPr txBox="1"/>
          <p:nvPr/>
        </p:nvSpPr>
        <p:spPr>
          <a:xfrm>
            <a:off x="415142" y="1671022"/>
            <a:ext cx="10065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factor  of 360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(f360)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7" name="Google Shape;1447;p78"/>
          <p:cNvSpPr txBox="1"/>
          <p:nvPr/>
        </p:nvSpPr>
        <p:spPr>
          <a:xfrm>
            <a:off x="3209613" y="1671012"/>
            <a:ext cx="10065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multiple of 8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(m8)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8" name="Google Shape;1448;p78"/>
          <p:cNvSpPr txBox="1"/>
          <p:nvPr/>
        </p:nvSpPr>
        <p:spPr>
          <a:xfrm>
            <a:off x="565220" y="3858759"/>
            <a:ext cx="693600" cy="29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104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9" name="Google Shape;1449;p78"/>
          <p:cNvSpPr txBox="1"/>
          <p:nvPr/>
        </p:nvSpPr>
        <p:spPr>
          <a:xfrm>
            <a:off x="1295049" y="2445112"/>
            <a:ext cx="574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180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0" name="Google Shape;1450;p78"/>
          <p:cNvSpPr txBox="1"/>
          <p:nvPr/>
        </p:nvSpPr>
        <p:spPr>
          <a:xfrm>
            <a:off x="5025238" y="2074088"/>
            <a:ext cx="504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2d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1" name="Google Shape;1451;p78"/>
          <p:cNvSpPr txBox="1"/>
          <p:nvPr/>
        </p:nvSpPr>
        <p:spPr>
          <a:xfrm>
            <a:off x="5025238" y="3468725"/>
            <a:ext cx="504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not 2d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2" name="Google Shape;1452;p78"/>
          <p:cNvSpPr txBox="1"/>
          <p:nvPr/>
        </p:nvSpPr>
        <p:spPr>
          <a:xfrm>
            <a:off x="5950663" y="1725238"/>
            <a:ext cx="504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f360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3" name="Google Shape;1453;p78"/>
          <p:cNvSpPr txBox="1"/>
          <p:nvPr/>
        </p:nvSpPr>
        <p:spPr>
          <a:xfrm>
            <a:off x="5950663" y="2422575"/>
            <a:ext cx="504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not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f360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4" name="Google Shape;1454;p78"/>
          <p:cNvSpPr txBox="1"/>
          <p:nvPr/>
        </p:nvSpPr>
        <p:spPr>
          <a:xfrm>
            <a:off x="5950663" y="3119900"/>
            <a:ext cx="504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f360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5" name="Google Shape;1455;p78"/>
          <p:cNvSpPr txBox="1"/>
          <p:nvPr/>
        </p:nvSpPr>
        <p:spPr>
          <a:xfrm>
            <a:off x="5950663" y="3817238"/>
            <a:ext cx="504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not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f360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6" name="Google Shape;1456;p78"/>
          <p:cNvSpPr txBox="1"/>
          <p:nvPr/>
        </p:nvSpPr>
        <p:spPr>
          <a:xfrm>
            <a:off x="6914982" y="1492887"/>
            <a:ext cx="654900" cy="36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m8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0" name="Shape 1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61" name="Google Shape;1461;p79"/>
          <p:cNvGraphicFramePr/>
          <p:nvPr/>
        </p:nvGraphicFramePr>
        <p:xfrm>
          <a:off x="407903" y="743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{879B40AD-98D3-44E5-8BA0-BAAD77B1F533}</a:tableStyleId>
              </a:tblPr>
              <a:tblGrid>
                <a:gridCol w="470450"/>
                <a:gridCol w="889275"/>
                <a:gridCol w="889275"/>
              </a:tblGrid>
              <a:tr h="288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heads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solidFill>
                      <a:schemeClr val="accent4"/>
                    </a:solidFill>
                  </a:tcPr>
                </a:tc>
                <a:tc hMerge="1"/>
              </a:tr>
              <a:tr h="288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win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lose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solidFill>
                      <a:schemeClr val="accent4"/>
                    </a:solidFill>
                  </a:tcPr>
                </a:tc>
              </a:tr>
              <a:tr h="4483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red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Aisha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Jacob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3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not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red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Jun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Sam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62" name="Google Shape;1462;p7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different diagrams for multiple events</a:t>
            </a:r>
            <a:endParaRPr/>
          </a:p>
        </p:txBody>
      </p:sp>
      <p:sp>
        <p:nvSpPr>
          <p:cNvPr id="1463" name="Google Shape;1463;p79"/>
          <p:cNvSpPr txBox="1"/>
          <p:nvPr/>
        </p:nvSpPr>
        <p:spPr>
          <a:xfrm>
            <a:off x="3059975" y="624550"/>
            <a:ext cx="57600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) Whilst one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outcome table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cannot show three events from a trial, two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outcome table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 can.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Fill in all missing outcomes on both the pair of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outcome table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 and the Venn diagram.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464" name="Google Shape;1464;p79"/>
          <p:cNvGraphicFramePr/>
          <p:nvPr/>
        </p:nvGraphicFramePr>
        <p:xfrm>
          <a:off x="407903" y="2699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{879B40AD-98D3-44E5-8BA0-BAAD77B1F533}</a:tableStyleId>
              </a:tblPr>
              <a:tblGrid>
                <a:gridCol w="470450"/>
                <a:gridCol w="889275"/>
                <a:gridCol w="889275"/>
              </a:tblGrid>
              <a:tr h="288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tails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solidFill>
                      <a:schemeClr val="accent4"/>
                    </a:solidFill>
                  </a:tcPr>
                </a:tc>
                <a:tc hMerge="1"/>
              </a:tr>
              <a:tr h="288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win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lose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solidFill>
                      <a:schemeClr val="accent4"/>
                    </a:solidFill>
                  </a:tcPr>
                </a:tc>
              </a:tr>
              <a:tr h="4483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red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Lucas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Andeep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3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not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red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Izzy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Laura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65" name="Google Shape;1465;p79"/>
          <p:cNvSpPr/>
          <p:nvPr/>
        </p:nvSpPr>
        <p:spPr>
          <a:xfrm flipH="1">
            <a:off x="3644450" y="1941425"/>
            <a:ext cx="5040000" cy="23355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6" name="Google Shape;1466;p79"/>
          <p:cNvSpPr/>
          <p:nvPr/>
        </p:nvSpPr>
        <p:spPr>
          <a:xfrm flipH="1">
            <a:off x="4879136" y="2679680"/>
            <a:ext cx="2570700" cy="1514100"/>
          </a:xfrm>
          <a:prstGeom prst="ellips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7" name="Google Shape;1467;p79"/>
          <p:cNvSpPr/>
          <p:nvPr/>
        </p:nvSpPr>
        <p:spPr>
          <a:xfrm flipH="1">
            <a:off x="5473318" y="2107961"/>
            <a:ext cx="2570400" cy="1514100"/>
          </a:xfrm>
          <a:prstGeom prst="ellips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8" name="Google Shape;1468;p79"/>
          <p:cNvSpPr/>
          <p:nvPr/>
        </p:nvSpPr>
        <p:spPr>
          <a:xfrm flipH="1">
            <a:off x="4285533" y="2107961"/>
            <a:ext cx="2570400" cy="1514100"/>
          </a:xfrm>
          <a:prstGeom prst="ellips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9" name="Google Shape;1469;p79"/>
          <p:cNvSpPr txBox="1"/>
          <p:nvPr/>
        </p:nvSpPr>
        <p:spPr>
          <a:xfrm>
            <a:off x="3827406" y="2088750"/>
            <a:ext cx="744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win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0" name="Google Shape;1470;p79"/>
          <p:cNvSpPr txBox="1"/>
          <p:nvPr/>
        </p:nvSpPr>
        <p:spPr>
          <a:xfrm>
            <a:off x="7856931" y="2088750"/>
            <a:ext cx="744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heads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1" name="Google Shape;1471;p79"/>
          <p:cNvSpPr txBox="1"/>
          <p:nvPr/>
        </p:nvSpPr>
        <p:spPr>
          <a:xfrm>
            <a:off x="7086906" y="3779620"/>
            <a:ext cx="744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red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2" name="Google Shape;1472;p79"/>
          <p:cNvSpPr txBox="1"/>
          <p:nvPr/>
        </p:nvSpPr>
        <p:spPr>
          <a:xfrm>
            <a:off x="5792268" y="2934550"/>
            <a:ext cx="744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Aisha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73" name="Google Shape;1473;p79"/>
          <p:cNvSpPr txBox="1"/>
          <p:nvPr/>
        </p:nvSpPr>
        <p:spPr>
          <a:xfrm>
            <a:off x="6639193" y="3191121"/>
            <a:ext cx="744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Jacob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4" name="Google Shape;1474;p79"/>
          <p:cNvSpPr txBox="1"/>
          <p:nvPr/>
        </p:nvSpPr>
        <p:spPr>
          <a:xfrm>
            <a:off x="5792268" y="2337350"/>
            <a:ext cx="744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Jun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5" name="Google Shape;1475;p79"/>
          <p:cNvSpPr txBox="1"/>
          <p:nvPr/>
        </p:nvSpPr>
        <p:spPr>
          <a:xfrm>
            <a:off x="7016243" y="2561400"/>
            <a:ext cx="744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Sam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76" name="Google Shape;1476;p79"/>
          <p:cNvSpPr txBox="1"/>
          <p:nvPr/>
        </p:nvSpPr>
        <p:spPr>
          <a:xfrm>
            <a:off x="4602643" y="2561400"/>
            <a:ext cx="744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Izzy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7" name="Google Shape;1477;p79"/>
          <p:cNvSpPr txBox="1"/>
          <p:nvPr/>
        </p:nvSpPr>
        <p:spPr>
          <a:xfrm>
            <a:off x="4945343" y="3191125"/>
            <a:ext cx="744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Lucas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78" name="Google Shape;1478;p79"/>
          <p:cNvSpPr txBox="1"/>
          <p:nvPr/>
        </p:nvSpPr>
        <p:spPr>
          <a:xfrm>
            <a:off x="5689702" y="3779625"/>
            <a:ext cx="949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Andeep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9" name="Google Shape;1479;p79"/>
          <p:cNvSpPr txBox="1"/>
          <p:nvPr/>
        </p:nvSpPr>
        <p:spPr>
          <a:xfrm>
            <a:off x="3778077" y="3916575"/>
            <a:ext cx="949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Laura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3" name="Shape 1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" name="Google Shape;1484;p80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different diagrams for multiple events</a:t>
            </a:r>
            <a:endParaRPr/>
          </a:p>
        </p:txBody>
      </p:sp>
      <p:sp>
        <p:nvSpPr>
          <p:cNvPr id="1485" name="Google Shape;1485;p80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Comparing representations of outcomes for more than two events</a:t>
            </a:r>
            <a:endParaRPr/>
          </a:p>
        </p:txBody>
      </p:sp>
      <p:sp>
        <p:nvSpPr>
          <p:cNvPr id="1486" name="Google Shape;1486;p80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Multi-stage trials with lists and outcome trees</a:t>
            </a:r>
            <a:endParaRPr/>
          </a:p>
        </p:txBody>
      </p:sp>
      <p:pic>
        <p:nvPicPr>
          <p:cNvPr id="1487" name="Google Shape;1487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8127" y="2988373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1" name="Shape 1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2" name="Google Shape;1492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48100" y="3134999"/>
            <a:ext cx="1020550" cy="510250"/>
          </a:xfrm>
          <a:prstGeom prst="rect">
            <a:avLst/>
          </a:prstGeom>
          <a:noFill/>
          <a:ln>
            <a:noFill/>
          </a:ln>
        </p:spPr>
      </p:pic>
      <p:sp>
        <p:nvSpPr>
          <p:cNvPr id="1493" name="Google Shape;1493;p81"/>
          <p:cNvSpPr txBox="1"/>
          <p:nvPr/>
        </p:nvSpPr>
        <p:spPr>
          <a:xfrm flipH="1">
            <a:off x="886501" y="719056"/>
            <a:ext cx="3222600" cy="11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So, when we’re </a:t>
            </a:r>
            <a:r>
              <a:rPr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categorising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three events from a trial, we can use: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4" name="Google Shape;1494;p8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Multi-stage trials with lists and outcome trees</a:t>
            </a:r>
            <a:endParaRPr/>
          </a:p>
        </p:txBody>
      </p:sp>
      <p:grpSp>
        <p:nvGrpSpPr>
          <p:cNvPr id="1495" name="Google Shape;1495;p81"/>
          <p:cNvGrpSpPr/>
          <p:nvPr/>
        </p:nvGrpSpPr>
        <p:grpSpPr>
          <a:xfrm flipH="1">
            <a:off x="392725" y="1952742"/>
            <a:ext cx="676200" cy="1040525"/>
            <a:chOff x="8137196" y="1935832"/>
            <a:chExt cx="676200" cy="1040525"/>
          </a:xfrm>
        </p:grpSpPr>
        <p:pic>
          <p:nvPicPr>
            <p:cNvPr id="1496" name="Google Shape;1496;p8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flipH="1">
              <a:off x="8209791" y="1935832"/>
              <a:ext cx="598139" cy="7479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97" name="Google Shape;1497;p81"/>
            <p:cNvSpPr txBox="1"/>
            <p:nvPr/>
          </p:nvSpPr>
          <p:spPr>
            <a:xfrm>
              <a:off x="8137196" y="2699157"/>
              <a:ext cx="6762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Jun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498" name="Google Shape;1498;p81"/>
          <p:cNvPicPr preferRelativeResize="0"/>
          <p:nvPr/>
        </p:nvPicPr>
        <p:blipFill rotWithShape="1">
          <a:blip r:embed="rId5">
            <a:alphaModFix/>
          </a:blip>
          <a:srcRect b="43690" l="0" r="57905" t="0"/>
          <a:stretch/>
        </p:blipFill>
        <p:spPr>
          <a:xfrm flipH="1">
            <a:off x="630233" y="651553"/>
            <a:ext cx="3523220" cy="150391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99" name="Google Shape;1499;p81"/>
          <p:cNvGrpSpPr/>
          <p:nvPr/>
        </p:nvGrpSpPr>
        <p:grpSpPr>
          <a:xfrm>
            <a:off x="324002" y="3181688"/>
            <a:ext cx="2108157" cy="1402287"/>
            <a:chOff x="5085717" y="3209325"/>
            <a:chExt cx="3679800" cy="2447700"/>
          </a:xfrm>
        </p:grpSpPr>
        <p:sp>
          <p:nvSpPr>
            <p:cNvPr id="1500" name="Google Shape;1500;p81"/>
            <p:cNvSpPr/>
            <p:nvPr/>
          </p:nvSpPr>
          <p:spPr>
            <a:xfrm flipH="1">
              <a:off x="5085717" y="3209325"/>
              <a:ext cx="3679800" cy="2447700"/>
            </a:xfrm>
            <a:prstGeom prst="rect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01" name="Google Shape;1501;p81"/>
            <p:cNvSpPr/>
            <p:nvPr/>
          </p:nvSpPr>
          <p:spPr>
            <a:xfrm flipH="1">
              <a:off x="6168660" y="4038090"/>
              <a:ext cx="1514100" cy="1514100"/>
            </a:xfrm>
            <a:prstGeom prst="ellipse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502" name="Google Shape;1502;p81"/>
            <p:cNvGrpSpPr/>
            <p:nvPr/>
          </p:nvGrpSpPr>
          <p:grpSpPr>
            <a:xfrm flipH="1">
              <a:off x="5684256" y="3314036"/>
              <a:ext cx="2483022" cy="1514096"/>
              <a:chOff x="3541748" y="4038900"/>
              <a:chExt cx="979534" cy="597300"/>
            </a:xfrm>
          </p:grpSpPr>
          <p:sp>
            <p:nvSpPr>
              <p:cNvPr id="1503" name="Google Shape;1503;p81"/>
              <p:cNvSpPr/>
              <p:nvPr/>
            </p:nvSpPr>
            <p:spPr>
              <a:xfrm>
                <a:off x="3541748" y="4038900"/>
                <a:ext cx="597300" cy="597300"/>
              </a:xfrm>
              <a:prstGeom prst="ellipse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504" name="Google Shape;1504;p81"/>
              <p:cNvSpPr/>
              <p:nvPr/>
            </p:nvSpPr>
            <p:spPr>
              <a:xfrm>
                <a:off x="3923982" y="4038900"/>
                <a:ext cx="597300" cy="597300"/>
              </a:xfrm>
              <a:prstGeom prst="ellipse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grpSp>
        <p:nvGrpSpPr>
          <p:cNvPr id="1505" name="Google Shape;1505;p81"/>
          <p:cNvGrpSpPr/>
          <p:nvPr/>
        </p:nvGrpSpPr>
        <p:grpSpPr>
          <a:xfrm>
            <a:off x="2690390" y="3181746"/>
            <a:ext cx="1584472" cy="1402334"/>
            <a:chOff x="426949" y="3411500"/>
            <a:chExt cx="2765704" cy="2054401"/>
          </a:xfrm>
        </p:grpSpPr>
        <p:cxnSp>
          <p:nvCxnSpPr>
            <p:cNvPr id="1506" name="Google Shape;1506;p81"/>
            <p:cNvCxnSpPr/>
            <p:nvPr/>
          </p:nvCxnSpPr>
          <p:spPr>
            <a:xfrm flipH="1" rot="10800000">
              <a:off x="2353553" y="3411500"/>
              <a:ext cx="839100" cy="1377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507" name="Google Shape;1507;p81"/>
            <p:cNvGrpSpPr/>
            <p:nvPr/>
          </p:nvGrpSpPr>
          <p:grpSpPr>
            <a:xfrm>
              <a:off x="426949" y="3556102"/>
              <a:ext cx="2765704" cy="1909798"/>
              <a:chOff x="426949" y="3556102"/>
              <a:chExt cx="2765704" cy="1909798"/>
            </a:xfrm>
          </p:grpSpPr>
          <p:cxnSp>
            <p:nvCxnSpPr>
              <p:cNvPr id="1508" name="Google Shape;1508;p81"/>
              <p:cNvCxnSpPr/>
              <p:nvPr/>
            </p:nvCxnSpPr>
            <p:spPr>
              <a:xfrm>
                <a:off x="2353553" y="3587691"/>
                <a:ext cx="839100" cy="1377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09" name="Google Shape;1509;p81"/>
              <p:cNvCxnSpPr/>
              <p:nvPr/>
            </p:nvCxnSpPr>
            <p:spPr>
              <a:xfrm flipH="1" rot="10800000">
                <a:off x="2353553" y="3991670"/>
                <a:ext cx="839100" cy="1377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10" name="Google Shape;1510;p81"/>
              <p:cNvCxnSpPr/>
              <p:nvPr/>
            </p:nvCxnSpPr>
            <p:spPr>
              <a:xfrm>
                <a:off x="2353553" y="4167861"/>
                <a:ext cx="839100" cy="1377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11" name="Google Shape;1511;p81"/>
              <p:cNvCxnSpPr/>
              <p:nvPr/>
            </p:nvCxnSpPr>
            <p:spPr>
              <a:xfrm flipH="1" rot="10800000">
                <a:off x="2353553" y="4571839"/>
                <a:ext cx="839100" cy="1377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12" name="Google Shape;1512;p81"/>
              <p:cNvCxnSpPr/>
              <p:nvPr/>
            </p:nvCxnSpPr>
            <p:spPr>
              <a:xfrm>
                <a:off x="2353553" y="4748031"/>
                <a:ext cx="839100" cy="1377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13" name="Google Shape;1513;p81"/>
              <p:cNvCxnSpPr/>
              <p:nvPr/>
            </p:nvCxnSpPr>
            <p:spPr>
              <a:xfrm flipH="1" rot="10800000">
                <a:off x="2353553" y="5152009"/>
                <a:ext cx="839100" cy="1377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14" name="Google Shape;1514;p81"/>
              <p:cNvCxnSpPr/>
              <p:nvPr/>
            </p:nvCxnSpPr>
            <p:spPr>
              <a:xfrm>
                <a:off x="2353553" y="5328200"/>
                <a:ext cx="839100" cy="1377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15" name="Google Shape;1515;p81"/>
              <p:cNvCxnSpPr/>
              <p:nvPr/>
            </p:nvCxnSpPr>
            <p:spPr>
              <a:xfrm flipH="1" rot="10800000">
                <a:off x="1395377" y="4716449"/>
                <a:ext cx="578100" cy="2655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16" name="Google Shape;1516;p81"/>
              <p:cNvCxnSpPr/>
              <p:nvPr/>
            </p:nvCxnSpPr>
            <p:spPr>
              <a:xfrm>
                <a:off x="1395377" y="5056073"/>
                <a:ext cx="578100" cy="2655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17" name="Google Shape;1517;p81"/>
              <p:cNvCxnSpPr/>
              <p:nvPr/>
            </p:nvCxnSpPr>
            <p:spPr>
              <a:xfrm flipH="1" rot="10800000">
                <a:off x="1395377" y="3556102"/>
                <a:ext cx="578100" cy="2655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18" name="Google Shape;1518;p81"/>
              <p:cNvCxnSpPr/>
              <p:nvPr/>
            </p:nvCxnSpPr>
            <p:spPr>
              <a:xfrm>
                <a:off x="1395377" y="3895726"/>
                <a:ext cx="578100" cy="2655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19" name="Google Shape;1519;p81"/>
              <p:cNvCxnSpPr/>
              <p:nvPr/>
            </p:nvCxnSpPr>
            <p:spPr>
              <a:xfrm flipH="1" rot="10800000">
                <a:off x="426949" y="3857184"/>
                <a:ext cx="588300" cy="5103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20" name="Google Shape;1520;p81"/>
              <p:cNvCxnSpPr/>
              <p:nvPr/>
            </p:nvCxnSpPr>
            <p:spPr>
              <a:xfrm>
                <a:off x="426949" y="4510091"/>
                <a:ext cx="588300" cy="5103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1521" name="Google Shape;1521;p81"/>
          <p:cNvSpPr txBox="1"/>
          <p:nvPr/>
        </p:nvSpPr>
        <p:spPr>
          <a:xfrm flipH="1">
            <a:off x="1849226" y="1267913"/>
            <a:ext cx="1738800" cy="3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Venn diagrams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2" name="Google Shape;1522;p81"/>
          <p:cNvSpPr txBox="1"/>
          <p:nvPr/>
        </p:nvSpPr>
        <p:spPr>
          <a:xfrm flipH="1">
            <a:off x="885606" y="1543613"/>
            <a:ext cx="2379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and outcome trees.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523" name="Google Shape;1523;p8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155584" y="1970229"/>
            <a:ext cx="664425" cy="737087"/>
          </a:xfrm>
          <a:prstGeom prst="rect">
            <a:avLst/>
          </a:prstGeom>
          <a:noFill/>
          <a:ln>
            <a:noFill/>
          </a:ln>
        </p:spPr>
      </p:pic>
      <p:sp>
        <p:nvSpPr>
          <p:cNvPr id="1524" name="Google Shape;1524;p81"/>
          <p:cNvSpPr txBox="1"/>
          <p:nvPr/>
        </p:nvSpPr>
        <p:spPr>
          <a:xfrm>
            <a:off x="8114735" y="2707322"/>
            <a:ext cx="676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Sofia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525" name="Google Shape;1525;p81"/>
          <p:cNvGrpSpPr/>
          <p:nvPr/>
        </p:nvGrpSpPr>
        <p:grpSpPr>
          <a:xfrm>
            <a:off x="4781416" y="734000"/>
            <a:ext cx="3755054" cy="1362199"/>
            <a:chOff x="5013425" y="734000"/>
            <a:chExt cx="3523226" cy="1362199"/>
          </a:xfrm>
        </p:grpSpPr>
        <p:pic>
          <p:nvPicPr>
            <p:cNvPr id="1526" name="Google Shape;1526;p81"/>
            <p:cNvPicPr preferRelativeResize="0"/>
            <p:nvPr/>
          </p:nvPicPr>
          <p:blipFill rotWithShape="1">
            <a:blip r:embed="rId5">
              <a:alphaModFix/>
            </a:blip>
            <a:srcRect b="43690" l="0" r="57905" t="0"/>
            <a:stretch/>
          </p:blipFill>
          <p:spPr>
            <a:xfrm>
              <a:off x="5013425" y="734000"/>
              <a:ext cx="3523226" cy="13621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27" name="Google Shape;1527;p81"/>
            <p:cNvSpPr txBox="1"/>
            <p:nvPr/>
          </p:nvSpPr>
          <p:spPr>
            <a:xfrm>
              <a:off x="5087526" y="750076"/>
              <a:ext cx="3182700" cy="50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But can we still use both diagrams when we’re trying to systematically list outcomes from a three-stage trial?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528" name="Google Shape;1528;p81"/>
          <p:cNvGrpSpPr/>
          <p:nvPr/>
        </p:nvGrpSpPr>
        <p:grpSpPr>
          <a:xfrm flipH="1" rot="10800000">
            <a:off x="6078539" y="2818662"/>
            <a:ext cx="2458155" cy="1008709"/>
            <a:chOff x="5013425" y="734000"/>
            <a:chExt cx="3523226" cy="1362199"/>
          </a:xfrm>
        </p:grpSpPr>
        <p:pic>
          <p:nvPicPr>
            <p:cNvPr id="1529" name="Google Shape;1529;p81"/>
            <p:cNvPicPr preferRelativeResize="0"/>
            <p:nvPr/>
          </p:nvPicPr>
          <p:blipFill rotWithShape="1">
            <a:blip r:embed="rId5">
              <a:alphaModFix/>
            </a:blip>
            <a:srcRect b="43690" l="0" r="57905" t="0"/>
            <a:stretch/>
          </p:blipFill>
          <p:spPr>
            <a:xfrm>
              <a:off x="5013425" y="734000"/>
              <a:ext cx="3523226" cy="13621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30" name="Google Shape;1530;p81"/>
            <p:cNvSpPr txBox="1"/>
            <p:nvPr/>
          </p:nvSpPr>
          <p:spPr>
            <a:xfrm rot="10800000">
              <a:off x="5087525" y="791405"/>
              <a:ext cx="3182700" cy="107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Such as flipping this fair coin three times?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4" name="Shape 1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5" name="Google Shape;1535;p8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Multi-stage trials with lists and outcome trees</a:t>
            </a:r>
            <a:endParaRPr/>
          </a:p>
        </p:txBody>
      </p:sp>
      <p:grpSp>
        <p:nvGrpSpPr>
          <p:cNvPr id="1536" name="Google Shape;1536;p82"/>
          <p:cNvGrpSpPr/>
          <p:nvPr/>
        </p:nvGrpSpPr>
        <p:grpSpPr>
          <a:xfrm>
            <a:off x="2563999" y="2001070"/>
            <a:ext cx="606000" cy="401474"/>
            <a:chOff x="2563999" y="2001070"/>
            <a:chExt cx="606000" cy="401474"/>
          </a:xfrm>
        </p:grpSpPr>
        <p:cxnSp>
          <p:nvCxnSpPr>
            <p:cNvPr id="1537" name="Google Shape;1537;p82"/>
            <p:cNvCxnSpPr/>
            <p:nvPr/>
          </p:nvCxnSpPr>
          <p:spPr>
            <a:xfrm flipH="1" rot="10800000">
              <a:off x="2563999" y="2001070"/>
              <a:ext cx="606000" cy="1761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38" name="Google Shape;1538;p82"/>
            <p:cNvCxnSpPr/>
            <p:nvPr/>
          </p:nvCxnSpPr>
          <p:spPr>
            <a:xfrm>
              <a:off x="2563999" y="2226444"/>
              <a:ext cx="606000" cy="1761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539" name="Google Shape;1539;p82"/>
          <p:cNvGrpSpPr/>
          <p:nvPr/>
        </p:nvGrpSpPr>
        <p:grpSpPr>
          <a:xfrm>
            <a:off x="2563999" y="2743776"/>
            <a:ext cx="606000" cy="401474"/>
            <a:chOff x="2563999" y="2743776"/>
            <a:chExt cx="606000" cy="401474"/>
          </a:xfrm>
        </p:grpSpPr>
        <p:cxnSp>
          <p:nvCxnSpPr>
            <p:cNvPr id="1540" name="Google Shape;1540;p82"/>
            <p:cNvCxnSpPr/>
            <p:nvPr/>
          </p:nvCxnSpPr>
          <p:spPr>
            <a:xfrm flipH="1" rot="10800000">
              <a:off x="2563999" y="2743776"/>
              <a:ext cx="606000" cy="1761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41" name="Google Shape;1541;p82"/>
            <p:cNvCxnSpPr/>
            <p:nvPr/>
          </p:nvCxnSpPr>
          <p:spPr>
            <a:xfrm>
              <a:off x="2563999" y="2969150"/>
              <a:ext cx="606000" cy="1761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542" name="Google Shape;1542;p82"/>
          <p:cNvGrpSpPr/>
          <p:nvPr/>
        </p:nvGrpSpPr>
        <p:grpSpPr>
          <a:xfrm>
            <a:off x="2563999" y="3486481"/>
            <a:ext cx="606000" cy="401474"/>
            <a:chOff x="2563999" y="3486481"/>
            <a:chExt cx="606000" cy="401474"/>
          </a:xfrm>
        </p:grpSpPr>
        <p:cxnSp>
          <p:nvCxnSpPr>
            <p:cNvPr id="1543" name="Google Shape;1543;p82"/>
            <p:cNvCxnSpPr/>
            <p:nvPr/>
          </p:nvCxnSpPr>
          <p:spPr>
            <a:xfrm flipH="1" rot="10800000">
              <a:off x="2563999" y="3486481"/>
              <a:ext cx="606000" cy="1761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44" name="Google Shape;1544;p82"/>
            <p:cNvCxnSpPr/>
            <p:nvPr/>
          </p:nvCxnSpPr>
          <p:spPr>
            <a:xfrm>
              <a:off x="2563999" y="3711856"/>
              <a:ext cx="606000" cy="1761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545" name="Google Shape;1545;p82"/>
          <p:cNvGrpSpPr/>
          <p:nvPr/>
        </p:nvGrpSpPr>
        <p:grpSpPr>
          <a:xfrm>
            <a:off x="2563999" y="4229187"/>
            <a:ext cx="606000" cy="401474"/>
            <a:chOff x="2563999" y="4229187"/>
            <a:chExt cx="606000" cy="401474"/>
          </a:xfrm>
        </p:grpSpPr>
        <p:cxnSp>
          <p:nvCxnSpPr>
            <p:cNvPr id="1546" name="Google Shape;1546;p82"/>
            <p:cNvCxnSpPr/>
            <p:nvPr/>
          </p:nvCxnSpPr>
          <p:spPr>
            <a:xfrm flipH="1" rot="10800000">
              <a:off x="2563999" y="4229187"/>
              <a:ext cx="606000" cy="1761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47" name="Google Shape;1547;p82"/>
            <p:cNvCxnSpPr/>
            <p:nvPr/>
          </p:nvCxnSpPr>
          <p:spPr>
            <a:xfrm>
              <a:off x="2563999" y="4454561"/>
              <a:ext cx="606000" cy="1761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548" name="Google Shape;1548;p82"/>
          <p:cNvGrpSpPr/>
          <p:nvPr/>
        </p:nvGrpSpPr>
        <p:grpSpPr>
          <a:xfrm>
            <a:off x="1654015" y="3671671"/>
            <a:ext cx="549000" cy="774411"/>
            <a:chOff x="1654021" y="3678396"/>
            <a:chExt cx="549000" cy="684471"/>
          </a:xfrm>
        </p:grpSpPr>
        <p:cxnSp>
          <p:nvCxnSpPr>
            <p:cNvPr id="1549" name="Google Shape;1549;p82"/>
            <p:cNvCxnSpPr/>
            <p:nvPr/>
          </p:nvCxnSpPr>
          <p:spPr>
            <a:xfrm flipH="1" rot="10800000">
              <a:off x="1654021" y="3678396"/>
              <a:ext cx="549000" cy="3003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50" name="Google Shape;1550;p82"/>
            <p:cNvCxnSpPr/>
            <p:nvPr/>
          </p:nvCxnSpPr>
          <p:spPr>
            <a:xfrm>
              <a:off x="1654021" y="4062567"/>
              <a:ext cx="549000" cy="3003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551" name="Google Shape;1551;p82"/>
          <p:cNvGrpSpPr/>
          <p:nvPr/>
        </p:nvGrpSpPr>
        <p:grpSpPr>
          <a:xfrm>
            <a:off x="1654015" y="2186219"/>
            <a:ext cx="549000" cy="774411"/>
            <a:chOff x="1654021" y="2365464"/>
            <a:chExt cx="549000" cy="684471"/>
          </a:xfrm>
        </p:grpSpPr>
        <p:cxnSp>
          <p:nvCxnSpPr>
            <p:cNvPr id="1552" name="Google Shape;1552;p82"/>
            <p:cNvCxnSpPr/>
            <p:nvPr/>
          </p:nvCxnSpPr>
          <p:spPr>
            <a:xfrm flipH="1" rot="10800000">
              <a:off x="1654021" y="2365464"/>
              <a:ext cx="549000" cy="3003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53" name="Google Shape;1553;p82"/>
            <p:cNvCxnSpPr/>
            <p:nvPr/>
          </p:nvCxnSpPr>
          <p:spPr>
            <a:xfrm>
              <a:off x="1654021" y="2749635"/>
              <a:ext cx="549000" cy="3003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1554" name="Google Shape;1554;p82"/>
          <p:cNvCxnSpPr/>
          <p:nvPr/>
        </p:nvCxnSpPr>
        <p:spPr>
          <a:xfrm flipH="1" rot="10800000">
            <a:off x="734300" y="2571310"/>
            <a:ext cx="558600" cy="6534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55" name="Google Shape;1555;p82"/>
          <p:cNvCxnSpPr/>
          <p:nvPr/>
        </p:nvCxnSpPr>
        <p:spPr>
          <a:xfrm>
            <a:off x="734300" y="3407268"/>
            <a:ext cx="558600" cy="6534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556" name="Google Shape;1556;p82"/>
          <p:cNvGrpSpPr/>
          <p:nvPr/>
        </p:nvGrpSpPr>
        <p:grpSpPr>
          <a:xfrm>
            <a:off x="338225" y="656549"/>
            <a:ext cx="3418750" cy="510250"/>
            <a:chOff x="2983150" y="656549"/>
            <a:chExt cx="3418750" cy="510250"/>
          </a:xfrm>
        </p:grpSpPr>
        <p:pic>
          <p:nvPicPr>
            <p:cNvPr id="1557" name="Google Shape;1557;p8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983150" y="656549"/>
              <a:ext cx="1020550" cy="510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58" name="Google Shape;1558;p82"/>
            <p:cNvSpPr txBox="1"/>
            <p:nvPr/>
          </p:nvSpPr>
          <p:spPr>
            <a:xfrm>
              <a:off x="4125800" y="773075"/>
              <a:ext cx="22761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coin = {heads, tails}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559" name="Google Shape;1559;p82"/>
          <p:cNvSpPr txBox="1"/>
          <p:nvPr/>
        </p:nvSpPr>
        <p:spPr>
          <a:xfrm>
            <a:off x="1299622" y="2416539"/>
            <a:ext cx="3564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0" name="Google Shape;1560;p82"/>
          <p:cNvSpPr txBox="1"/>
          <p:nvPr/>
        </p:nvSpPr>
        <p:spPr>
          <a:xfrm>
            <a:off x="1299622" y="3901944"/>
            <a:ext cx="3564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1" name="Google Shape;1561;p82"/>
          <p:cNvSpPr txBox="1"/>
          <p:nvPr/>
        </p:nvSpPr>
        <p:spPr>
          <a:xfrm>
            <a:off x="2220422" y="2045051"/>
            <a:ext cx="3564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2" name="Google Shape;1562;p82"/>
          <p:cNvSpPr txBox="1"/>
          <p:nvPr/>
        </p:nvSpPr>
        <p:spPr>
          <a:xfrm>
            <a:off x="2220422" y="2787764"/>
            <a:ext cx="3564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3" name="Google Shape;1563;p82"/>
          <p:cNvSpPr txBox="1"/>
          <p:nvPr/>
        </p:nvSpPr>
        <p:spPr>
          <a:xfrm>
            <a:off x="2220422" y="3530451"/>
            <a:ext cx="3564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4" name="Google Shape;1564;p82"/>
          <p:cNvSpPr txBox="1"/>
          <p:nvPr/>
        </p:nvSpPr>
        <p:spPr>
          <a:xfrm>
            <a:off x="2220422" y="4273151"/>
            <a:ext cx="3564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5" name="Google Shape;1565;p82"/>
          <p:cNvSpPr txBox="1"/>
          <p:nvPr/>
        </p:nvSpPr>
        <p:spPr>
          <a:xfrm>
            <a:off x="3170000" y="1879467"/>
            <a:ext cx="298200" cy="24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6" name="Google Shape;1566;p82"/>
          <p:cNvSpPr txBox="1"/>
          <p:nvPr/>
        </p:nvSpPr>
        <p:spPr>
          <a:xfrm>
            <a:off x="3170000" y="2276752"/>
            <a:ext cx="298200" cy="24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567" name="Google Shape;1567;p82"/>
          <p:cNvGrpSpPr/>
          <p:nvPr/>
        </p:nvGrpSpPr>
        <p:grpSpPr>
          <a:xfrm>
            <a:off x="3170000" y="4109304"/>
            <a:ext cx="298200" cy="641185"/>
            <a:chOff x="3170000" y="2652867"/>
            <a:chExt cx="298200" cy="641185"/>
          </a:xfrm>
        </p:grpSpPr>
        <p:sp>
          <p:nvSpPr>
            <p:cNvPr id="1568" name="Google Shape;1568;p82"/>
            <p:cNvSpPr txBox="1"/>
            <p:nvPr/>
          </p:nvSpPr>
          <p:spPr>
            <a:xfrm>
              <a:off x="3170000" y="2652867"/>
              <a:ext cx="298200" cy="24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H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69" name="Google Shape;1569;p82"/>
            <p:cNvSpPr txBox="1"/>
            <p:nvPr/>
          </p:nvSpPr>
          <p:spPr>
            <a:xfrm>
              <a:off x="3170000" y="3050152"/>
              <a:ext cx="298200" cy="24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T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570" name="Google Shape;1570;p82"/>
          <p:cNvGrpSpPr/>
          <p:nvPr/>
        </p:nvGrpSpPr>
        <p:grpSpPr>
          <a:xfrm>
            <a:off x="3170000" y="3366617"/>
            <a:ext cx="298200" cy="641185"/>
            <a:chOff x="3170000" y="2652867"/>
            <a:chExt cx="298200" cy="641185"/>
          </a:xfrm>
        </p:grpSpPr>
        <p:sp>
          <p:nvSpPr>
            <p:cNvPr id="1571" name="Google Shape;1571;p82"/>
            <p:cNvSpPr txBox="1"/>
            <p:nvPr/>
          </p:nvSpPr>
          <p:spPr>
            <a:xfrm>
              <a:off x="3170000" y="2652867"/>
              <a:ext cx="298200" cy="24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H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72" name="Google Shape;1572;p82"/>
            <p:cNvSpPr txBox="1"/>
            <p:nvPr/>
          </p:nvSpPr>
          <p:spPr>
            <a:xfrm>
              <a:off x="3170000" y="3050152"/>
              <a:ext cx="298200" cy="24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T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573" name="Google Shape;1573;p82"/>
          <p:cNvSpPr txBox="1"/>
          <p:nvPr/>
        </p:nvSpPr>
        <p:spPr>
          <a:xfrm>
            <a:off x="5019725" y="2073700"/>
            <a:ext cx="3800400" cy="5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Each layer of branches represents a stage.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So, it is possible to add even more layers for a four- or five-stage trial.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574" name="Google Shape;1574;p82"/>
          <p:cNvGrpSpPr/>
          <p:nvPr/>
        </p:nvGrpSpPr>
        <p:grpSpPr>
          <a:xfrm>
            <a:off x="3170000" y="2623042"/>
            <a:ext cx="298200" cy="641185"/>
            <a:chOff x="3170000" y="2652867"/>
            <a:chExt cx="298200" cy="641185"/>
          </a:xfrm>
        </p:grpSpPr>
        <p:sp>
          <p:nvSpPr>
            <p:cNvPr id="1575" name="Google Shape;1575;p82"/>
            <p:cNvSpPr txBox="1"/>
            <p:nvPr/>
          </p:nvSpPr>
          <p:spPr>
            <a:xfrm>
              <a:off x="3170000" y="2652867"/>
              <a:ext cx="298200" cy="24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H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76" name="Google Shape;1576;p82"/>
            <p:cNvSpPr txBox="1"/>
            <p:nvPr/>
          </p:nvSpPr>
          <p:spPr>
            <a:xfrm>
              <a:off x="3170000" y="3050152"/>
              <a:ext cx="298200" cy="24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T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577" name="Google Shape;1577;p82"/>
          <p:cNvSpPr txBox="1"/>
          <p:nvPr/>
        </p:nvSpPr>
        <p:spPr>
          <a:xfrm>
            <a:off x="5019725" y="799500"/>
            <a:ext cx="3800400" cy="5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It is possible to use an outcome tree to systematically list all outcomes from a three-stage trial.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578" name="Google Shape;1578;p82"/>
          <p:cNvGrpSpPr/>
          <p:nvPr/>
        </p:nvGrpSpPr>
        <p:grpSpPr>
          <a:xfrm>
            <a:off x="734300" y="1323136"/>
            <a:ext cx="922800" cy="3449615"/>
            <a:chOff x="734300" y="1323150"/>
            <a:chExt cx="922800" cy="3407700"/>
          </a:xfrm>
        </p:grpSpPr>
        <p:sp>
          <p:nvSpPr>
            <p:cNvPr id="1579" name="Google Shape;1579;p82"/>
            <p:cNvSpPr/>
            <p:nvPr/>
          </p:nvSpPr>
          <p:spPr>
            <a:xfrm>
              <a:off x="734300" y="1877250"/>
              <a:ext cx="922800" cy="2853600"/>
            </a:xfrm>
            <a:prstGeom prst="rect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80" name="Google Shape;1580;p82"/>
            <p:cNvSpPr txBox="1"/>
            <p:nvPr/>
          </p:nvSpPr>
          <p:spPr>
            <a:xfrm>
              <a:off x="759650" y="1323150"/>
              <a:ext cx="8721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stage 1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(flip 1)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581" name="Google Shape;1581;p82"/>
          <p:cNvGrpSpPr/>
          <p:nvPr/>
        </p:nvGrpSpPr>
        <p:grpSpPr>
          <a:xfrm>
            <a:off x="1654025" y="1323136"/>
            <a:ext cx="922800" cy="3449615"/>
            <a:chOff x="734300" y="1323150"/>
            <a:chExt cx="922800" cy="3407700"/>
          </a:xfrm>
        </p:grpSpPr>
        <p:sp>
          <p:nvSpPr>
            <p:cNvPr id="1582" name="Google Shape;1582;p82"/>
            <p:cNvSpPr/>
            <p:nvPr/>
          </p:nvSpPr>
          <p:spPr>
            <a:xfrm>
              <a:off x="734300" y="1877250"/>
              <a:ext cx="922800" cy="2853600"/>
            </a:xfrm>
            <a:prstGeom prst="rect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83" name="Google Shape;1583;p82"/>
            <p:cNvSpPr txBox="1"/>
            <p:nvPr/>
          </p:nvSpPr>
          <p:spPr>
            <a:xfrm>
              <a:off x="759650" y="1323150"/>
              <a:ext cx="8721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stage 2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(flip 2)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584" name="Google Shape;1584;p82"/>
          <p:cNvGrpSpPr/>
          <p:nvPr/>
        </p:nvGrpSpPr>
        <p:grpSpPr>
          <a:xfrm>
            <a:off x="2564050" y="1323136"/>
            <a:ext cx="922800" cy="3449615"/>
            <a:chOff x="734300" y="1323150"/>
            <a:chExt cx="922800" cy="3407700"/>
          </a:xfrm>
        </p:grpSpPr>
        <p:sp>
          <p:nvSpPr>
            <p:cNvPr id="1585" name="Google Shape;1585;p82"/>
            <p:cNvSpPr/>
            <p:nvPr/>
          </p:nvSpPr>
          <p:spPr>
            <a:xfrm>
              <a:off x="734300" y="1877250"/>
              <a:ext cx="922800" cy="2853600"/>
            </a:xfrm>
            <a:prstGeom prst="rect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86" name="Google Shape;1586;p82"/>
            <p:cNvSpPr txBox="1"/>
            <p:nvPr/>
          </p:nvSpPr>
          <p:spPr>
            <a:xfrm>
              <a:off x="759650" y="1323150"/>
              <a:ext cx="8721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stage 3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(flip 3)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587" name="Google Shape;1587;p82"/>
          <p:cNvSpPr txBox="1"/>
          <p:nvPr/>
        </p:nvSpPr>
        <p:spPr>
          <a:xfrm>
            <a:off x="5019725" y="3652700"/>
            <a:ext cx="3800400" cy="5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sample space created from the outcome tree is a list of all possible combinations from    three coin flips.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588" name="Google Shape;1588;p82"/>
          <p:cNvGrpSpPr/>
          <p:nvPr/>
        </p:nvGrpSpPr>
        <p:grpSpPr>
          <a:xfrm>
            <a:off x="3521232" y="1323136"/>
            <a:ext cx="922800" cy="3449615"/>
            <a:chOff x="734300" y="1323150"/>
            <a:chExt cx="922800" cy="3407700"/>
          </a:xfrm>
        </p:grpSpPr>
        <p:sp>
          <p:nvSpPr>
            <p:cNvPr id="1589" name="Google Shape;1589;p82"/>
            <p:cNvSpPr/>
            <p:nvPr/>
          </p:nvSpPr>
          <p:spPr>
            <a:xfrm>
              <a:off x="734300" y="1877250"/>
              <a:ext cx="922800" cy="2853600"/>
            </a:xfrm>
            <a:prstGeom prst="rect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90" name="Google Shape;1590;p82"/>
            <p:cNvSpPr txBox="1"/>
            <p:nvPr/>
          </p:nvSpPr>
          <p:spPr>
            <a:xfrm>
              <a:off x="759650" y="1323150"/>
              <a:ext cx="8721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sample space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591" name="Google Shape;1591;p82"/>
          <p:cNvSpPr txBox="1"/>
          <p:nvPr/>
        </p:nvSpPr>
        <p:spPr>
          <a:xfrm>
            <a:off x="3610882" y="1879475"/>
            <a:ext cx="743400" cy="24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HHH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2" name="Google Shape;1592;p82"/>
          <p:cNvSpPr txBox="1"/>
          <p:nvPr/>
        </p:nvSpPr>
        <p:spPr>
          <a:xfrm>
            <a:off x="3610882" y="2276760"/>
            <a:ext cx="743400" cy="24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HHT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593" name="Google Shape;1593;p82"/>
          <p:cNvGrpSpPr/>
          <p:nvPr/>
        </p:nvGrpSpPr>
        <p:grpSpPr>
          <a:xfrm>
            <a:off x="3610904" y="4109312"/>
            <a:ext cx="743502" cy="641185"/>
            <a:chOff x="3170000" y="2652867"/>
            <a:chExt cx="298200" cy="641185"/>
          </a:xfrm>
        </p:grpSpPr>
        <p:sp>
          <p:nvSpPr>
            <p:cNvPr id="1594" name="Google Shape;1594;p82"/>
            <p:cNvSpPr txBox="1"/>
            <p:nvPr/>
          </p:nvSpPr>
          <p:spPr>
            <a:xfrm>
              <a:off x="3170000" y="2652867"/>
              <a:ext cx="298200" cy="24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TTH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95" name="Google Shape;1595;p82"/>
            <p:cNvSpPr txBox="1"/>
            <p:nvPr/>
          </p:nvSpPr>
          <p:spPr>
            <a:xfrm>
              <a:off x="3170000" y="3050152"/>
              <a:ext cx="298200" cy="24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TTT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596" name="Google Shape;1596;p82"/>
          <p:cNvGrpSpPr/>
          <p:nvPr/>
        </p:nvGrpSpPr>
        <p:grpSpPr>
          <a:xfrm>
            <a:off x="3610904" y="3366624"/>
            <a:ext cx="743502" cy="641185"/>
            <a:chOff x="3170000" y="2652867"/>
            <a:chExt cx="298200" cy="641185"/>
          </a:xfrm>
        </p:grpSpPr>
        <p:sp>
          <p:nvSpPr>
            <p:cNvPr id="1597" name="Google Shape;1597;p82"/>
            <p:cNvSpPr txBox="1"/>
            <p:nvPr/>
          </p:nvSpPr>
          <p:spPr>
            <a:xfrm>
              <a:off x="3170000" y="2652867"/>
              <a:ext cx="298200" cy="24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THH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98" name="Google Shape;1598;p82"/>
            <p:cNvSpPr txBox="1"/>
            <p:nvPr/>
          </p:nvSpPr>
          <p:spPr>
            <a:xfrm>
              <a:off x="3170000" y="3050152"/>
              <a:ext cx="298200" cy="24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THT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599" name="Google Shape;1599;p82"/>
          <p:cNvGrpSpPr/>
          <p:nvPr/>
        </p:nvGrpSpPr>
        <p:grpSpPr>
          <a:xfrm>
            <a:off x="3610904" y="2623048"/>
            <a:ext cx="743502" cy="641185"/>
            <a:chOff x="3170000" y="2652867"/>
            <a:chExt cx="298200" cy="641185"/>
          </a:xfrm>
        </p:grpSpPr>
        <p:sp>
          <p:nvSpPr>
            <p:cNvPr id="1600" name="Google Shape;1600;p82"/>
            <p:cNvSpPr txBox="1"/>
            <p:nvPr/>
          </p:nvSpPr>
          <p:spPr>
            <a:xfrm>
              <a:off x="3170000" y="2652867"/>
              <a:ext cx="298200" cy="24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HTH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01" name="Google Shape;1601;p82"/>
            <p:cNvSpPr txBox="1"/>
            <p:nvPr/>
          </p:nvSpPr>
          <p:spPr>
            <a:xfrm>
              <a:off x="3170000" y="3050152"/>
              <a:ext cx="298200" cy="24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HTT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5" name="Shape 1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6" name="Google Shape;1606;p83"/>
          <p:cNvSpPr txBox="1"/>
          <p:nvPr/>
        </p:nvSpPr>
        <p:spPr>
          <a:xfrm>
            <a:off x="338225" y="1907200"/>
            <a:ext cx="4399500" cy="5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However, it is not possible to use a Venn diagram to systematically find all the outcomes of a three-stage trial.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7" name="Google Shape;1607;p8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Multi-stage trials with lists and outcome trees</a:t>
            </a:r>
            <a:endParaRPr/>
          </a:p>
        </p:txBody>
      </p:sp>
      <p:sp>
        <p:nvSpPr>
          <p:cNvPr id="1608" name="Google Shape;1608;p83"/>
          <p:cNvSpPr/>
          <p:nvPr/>
        </p:nvSpPr>
        <p:spPr>
          <a:xfrm flipH="1">
            <a:off x="5012529" y="1907192"/>
            <a:ext cx="3703500" cy="24633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9" name="Google Shape;1609;p83"/>
          <p:cNvSpPr/>
          <p:nvPr/>
        </p:nvSpPr>
        <p:spPr>
          <a:xfrm flipH="1">
            <a:off x="5804897" y="2795225"/>
            <a:ext cx="2119200" cy="1316700"/>
          </a:xfrm>
          <a:prstGeom prst="ellips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0" name="Google Shape;1610;p83"/>
          <p:cNvSpPr/>
          <p:nvPr/>
        </p:nvSpPr>
        <p:spPr>
          <a:xfrm flipH="1">
            <a:off x="6483100" y="2165476"/>
            <a:ext cx="2119200" cy="1316700"/>
          </a:xfrm>
          <a:prstGeom prst="ellips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1" name="Google Shape;1611;p83"/>
          <p:cNvSpPr/>
          <p:nvPr/>
        </p:nvSpPr>
        <p:spPr>
          <a:xfrm flipH="1">
            <a:off x="5126850" y="2165476"/>
            <a:ext cx="2119200" cy="1316700"/>
          </a:xfrm>
          <a:prstGeom prst="ellips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612" name="Google Shape;1612;p83"/>
          <p:cNvGrpSpPr/>
          <p:nvPr/>
        </p:nvGrpSpPr>
        <p:grpSpPr>
          <a:xfrm>
            <a:off x="338225" y="656549"/>
            <a:ext cx="3418750" cy="510250"/>
            <a:chOff x="2983150" y="656549"/>
            <a:chExt cx="3418750" cy="510250"/>
          </a:xfrm>
        </p:grpSpPr>
        <p:pic>
          <p:nvPicPr>
            <p:cNvPr id="1613" name="Google Shape;1613;p8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983150" y="656549"/>
              <a:ext cx="1020550" cy="510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14" name="Google Shape;1614;p83"/>
            <p:cNvSpPr txBox="1"/>
            <p:nvPr/>
          </p:nvSpPr>
          <p:spPr>
            <a:xfrm>
              <a:off x="4125800" y="773075"/>
              <a:ext cx="22761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coin = {heads, tails}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615" name="Google Shape;1615;p83"/>
          <p:cNvSpPr txBox="1"/>
          <p:nvPr/>
        </p:nvSpPr>
        <p:spPr>
          <a:xfrm>
            <a:off x="5378575" y="1968500"/>
            <a:ext cx="5901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6" name="Google Shape;1616;p83"/>
          <p:cNvSpPr txBox="1"/>
          <p:nvPr/>
        </p:nvSpPr>
        <p:spPr>
          <a:xfrm>
            <a:off x="7792162" y="1968500"/>
            <a:ext cx="5901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7" name="Google Shape;1617;p83"/>
          <p:cNvSpPr txBox="1"/>
          <p:nvPr/>
        </p:nvSpPr>
        <p:spPr>
          <a:xfrm>
            <a:off x="338225" y="3023225"/>
            <a:ext cx="4399500" cy="5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This is because a Venn diagram is more helpful when categorising outcomes that are already known.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8" name="Google Shape;1618;p83"/>
          <p:cNvSpPr txBox="1"/>
          <p:nvPr/>
        </p:nvSpPr>
        <p:spPr>
          <a:xfrm>
            <a:off x="7459212" y="3821258"/>
            <a:ext cx="5901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2" name="Shape 1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3" name="Google Shape;1623;p84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 flipH="1">
            <a:off x="630223" y="689475"/>
            <a:ext cx="3022177" cy="1237399"/>
          </a:xfrm>
          <a:prstGeom prst="rect">
            <a:avLst/>
          </a:prstGeom>
          <a:noFill/>
          <a:ln>
            <a:noFill/>
          </a:ln>
        </p:spPr>
      </p:pic>
      <p:sp>
        <p:nvSpPr>
          <p:cNvPr id="1624" name="Google Shape;1624;p84"/>
          <p:cNvSpPr txBox="1"/>
          <p:nvPr/>
        </p:nvSpPr>
        <p:spPr>
          <a:xfrm flipH="1">
            <a:off x="850155" y="751868"/>
            <a:ext cx="2764200" cy="9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Oh, so you can only show three-stage trials using an outcome tree?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5" name="Google Shape;1625;p8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Multi-stage trials with lists and outcome trees</a:t>
            </a:r>
            <a:endParaRPr/>
          </a:p>
        </p:txBody>
      </p:sp>
      <p:grpSp>
        <p:nvGrpSpPr>
          <p:cNvPr id="1626" name="Google Shape;1626;p84"/>
          <p:cNvGrpSpPr/>
          <p:nvPr/>
        </p:nvGrpSpPr>
        <p:grpSpPr>
          <a:xfrm flipH="1">
            <a:off x="392725" y="1724142"/>
            <a:ext cx="676200" cy="1040525"/>
            <a:chOff x="8137196" y="1935832"/>
            <a:chExt cx="676200" cy="1040525"/>
          </a:xfrm>
        </p:grpSpPr>
        <p:pic>
          <p:nvPicPr>
            <p:cNvPr id="1627" name="Google Shape;1627;p8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flipH="1">
              <a:off x="8209791" y="1935832"/>
              <a:ext cx="598139" cy="7479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28" name="Google Shape;1628;p84"/>
            <p:cNvSpPr txBox="1"/>
            <p:nvPr/>
          </p:nvSpPr>
          <p:spPr>
            <a:xfrm>
              <a:off x="8137196" y="2699157"/>
              <a:ext cx="6762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Jun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629" name="Google Shape;1629;p84"/>
          <p:cNvGrpSpPr/>
          <p:nvPr/>
        </p:nvGrpSpPr>
        <p:grpSpPr>
          <a:xfrm>
            <a:off x="5013425" y="734000"/>
            <a:ext cx="3806584" cy="2250522"/>
            <a:chOff x="5013425" y="734000"/>
            <a:chExt cx="3806584" cy="2250522"/>
          </a:xfrm>
        </p:grpSpPr>
        <p:pic>
          <p:nvPicPr>
            <p:cNvPr id="1630" name="Google Shape;1630;p8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8155584" y="1970229"/>
              <a:ext cx="664425" cy="73708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31" name="Google Shape;1631;p84"/>
            <p:cNvSpPr txBox="1"/>
            <p:nvPr/>
          </p:nvSpPr>
          <p:spPr>
            <a:xfrm>
              <a:off x="8114735" y="2707322"/>
              <a:ext cx="6762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Sofia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1632" name="Google Shape;1632;p84"/>
            <p:cNvPicPr preferRelativeResize="0"/>
            <p:nvPr/>
          </p:nvPicPr>
          <p:blipFill rotWithShape="1">
            <a:blip r:embed="rId3">
              <a:alphaModFix/>
            </a:blip>
            <a:srcRect b="43690" l="0" r="57905" t="0"/>
            <a:stretch/>
          </p:blipFill>
          <p:spPr>
            <a:xfrm>
              <a:off x="5013425" y="734000"/>
              <a:ext cx="3523226" cy="13621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33" name="Google Shape;1633;p84"/>
            <p:cNvSpPr txBox="1"/>
            <p:nvPr/>
          </p:nvSpPr>
          <p:spPr>
            <a:xfrm>
              <a:off x="5087526" y="750076"/>
              <a:ext cx="3182700" cy="50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It’s always an option to just write a list of outcomes, as long as you can do it systematically.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634" name="Google Shape;1634;p84"/>
          <p:cNvSpPr txBox="1"/>
          <p:nvPr/>
        </p:nvSpPr>
        <p:spPr>
          <a:xfrm>
            <a:off x="3775688" y="4516125"/>
            <a:ext cx="1136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spinner 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635" name="Google Shape;1635;p84"/>
          <p:cNvGrpSpPr/>
          <p:nvPr/>
        </p:nvGrpSpPr>
        <p:grpSpPr>
          <a:xfrm>
            <a:off x="3683495" y="3333634"/>
            <a:ext cx="1320300" cy="1320300"/>
            <a:chOff x="146832" y="518450"/>
            <a:chExt cx="1320300" cy="1320300"/>
          </a:xfrm>
        </p:grpSpPr>
        <p:sp>
          <p:nvSpPr>
            <p:cNvPr id="1636" name="Google Shape;1636;p84"/>
            <p:cNvSpPr/>
            <p:nvPr/>
          </p:nvSpPr>
          <p:spPr>
            <a:xfrm flipH="1">
              <a:off x="323915" y="695491"/>
              <a:ext cx="966300" cy="966300"/>
            </a:xfrm>
            <a:prstGeom prst="pie">
              <a:avLst>
                <a:gd fmla="val 8993067" name="adj1"/>
                <a:gd fmla="val 16200000" name="adj2"/>
              </a:avLst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7" name="Google Shape;1637;p84"/>
            <p:cNvSpPr/>
            <p:nvPr/>
          </p:nvSpPr>
          <p:spPr>
            <a:xfrm flipH="1" rot="7200178">
              <a:off x="323726" y="695344"/>
              <a:ext cx="966513" cy="966513"/>
            </a:xfrm>
            <a:prstGeom prst="pie">
              <a:avLst>
                <a:gd fmla="val 8993067" name="adj1"/>
                <a:gd fmla="val 16200000" name="adj2"/>
              </a:avLst>
            </a:prstGeom>
            <a:solidFill>
              <a:srgbClr val="CCCC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8" name="Google Shape;1638;p84"/>
            <p:cNvSpPr/>
            <p:nvPr/>
          </p:nvSpPr>
          <p:spPr>
            <a:xfrm>
              <a:off x="323953" y="695491"/>
              <a:ext cx="966300" cy="966300"/>
            </a:xfrm>
            <a:prstGeom prst="pie">
              <a:avLst>
                <a:gd fmla="val 8993067" name="adj1"/>
                <a:gd fmla="val 16200000" name="adj2"/>
              </a:avLst>
            </a:prstGeom>
            <a:solidFill>
              <a:srgbClr val="434343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39" name="Google Shape;1639;p84"/>
          <p:cNvGrpSpPr/>
          <p:nvPr/>
        </p:nvGrpSpPr>
        <p:grpSpPr>
          <a:xfrm>
            <a:off x="4315462" y="3547464"/>
            <a:ext cx="54300" cy="473780"/>
            <a:chOff x="779080" y="747789"/>
            <a:chExt cx="54300" cy="473780"/>
          </a:xfrm>
        </p:grpSpPr>
        <p:cxnSp>
          <p:nvCxnSpPr>
            <p:cNvPr id="1640" name="Google Shape;1640;p84"/>
            <p:cNvCxnSpPr/>
            <p:nvPr/>
          </p:nvCxnSpPr>
          <p:spPr>
            <a:xfrm rot="10800000">
              <a:off x="808433" y="747789"/>
              <a:ext cx="0" cy="4434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641" name="Google Shape;1641;p84"/>
            <p:cNvSpPr/>
            <p:nvPr/>
          </p:nvSpPr>
          <p:spPr>
            <a:xfrm>
              <a:off x="779080" y="1172670"/>
              <a:ext cx="54300" cy="489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42" name="Google Shape;1642;p84"/>
          <p:cNvSpPr txBox="1"/>
          <p:nvPr/>
        </p:nvSpPr>
        <p:spPr>
          <a:xfrm flipH="1">
            <a:off x="4177883" y="4109316"/>
            <a:ext cx="331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3" name="Google Shape;1643;p84"/>
          <p:cNvSpPr txBox="1"/>
          <p:nvPr/>
        </p:nvSpPr>
        <p:spPr>
          <a:xfrm flipH="1">
            <a:off x="3978343" y="3725327"/>
            <a:ext cx="331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4" name="Google Shape;1644;p84"/>
          <p:cNvSpPr txBox="1"/>
          <p:nvPr/>
        </p:nvSpPr>
        <p:spPr>
          <a:xfrm flipH="1">
            <a:off x="4379568" y="3725327"/>
            <a:ext cx="331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645" name="Google Shape;1645;p84"/>
          <p:cNvGrpSpPr/>
          <p:nvPr/>
        </p:nvGrpSpPr>
        <p:grpSpPr>
          <a:xfrm>
            <a:off x="2611311" y="3508145"/>
            <a:ext cx="966279" cy="966204"/>
            <a:chOff x="1079761" y="2819758"/>
            <a:chExt cx="811863" cy="811800"/>
          </a:xfrm>
        </p:grpSpPr>
        <p:sp>
          <p:nvSpPr>
            <p:cNvPr id="1646" name="Google Shape;1646;p84"/>
            <p:cNvSpPr/>
            <p:nvPr/>
          </p:nvSpPr>
          <p:spPr>
            <a:xfrm flipH="1">
              <a:off x="1079761" y="2819758"/>
              <a:ext cx="811800" cy="811800"/>
            </a:xfrm>
            <a:prstGeom prst="pie">
              <a:avLst>
                <a:gd fmla="val 5391668" name="adj1"/>
                <a:gd fmla="val 16200000" name="adj2"/>
              </a:avLst>
            </a:prstGeom>
            <a:solidFill>
              <a:srgbClr val="434343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7" name="Google Shape;1647;p84"/>
            <p:cNvSpPr/>
            <p:nvPr/>
          </p:nvSpPr>
          <p:spPr>
            <a:xfrm flipH="1" rot="10800000">
              <a:off x="1079824" y="2819758"/>
              <a:ext cx="811800" cy="811800"/>
            </a:xfrm>
            <a:prstGeom prst="pie">
              <a:avLst>
                <a:gd fmla="val 5391668" name="adj1"/>
                <a:gd fmla="val 16200000" name="adj2"/>
              </a:avLst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8" name="Google Shape;1648;p84"/>
            <p:cNvSpPr txBox="1"/>
            <p:nvPr/>
          </p:nvSpPr>
          <p:spPr>
            <a:xfrm flipH="1">
              <a:off x="1541035" y="3116844"/>
              <a:ext cx="278400" cy="20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49" name="Google Shape;1649;p84"/>
            <p:cNvSpPr txBox="1"/>
            <p:nvPr/>
          </p:nvSpPr>
          <p:spPr>
            <a:xfrm flipH="1">
              <a:off x="1150360" y="3116844"/>
              <a:ext cx="278400" cy="20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650" name="Google Shape;1650;p84"/>
            <p:cNvGrpSpPr/>
            <p:nvPr/>
          </p:nvGrpSpPr>
          <p:grpSpPr>
            <a:xfrm>
              <a:off x="1462108" y="2863641"/>
              <a:ext cx="45600" cy="398140"/>
              <a:chOff x="854445" y="2913567"/>
              <a:chExt cx="45600" cy="398140"/>
            </a:xfrm>
          </p:grpSpPr>
          <p:cxnSp>
            <p:nvCxnSpPr>
              <p:cNvPr id="1651" name="Google Shape;1651;p84"/>
              <p:cNvCxnSpPr/>
              <p:nvPr/>
            </p:nvCxnSpPr>
            <p:spPr>
              <a:xfrm rot="10800000">
                <a:off x="879108" y="2913567"/>
                <a:ext cx="0" cy="3726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1652" name="Google Shape;1652;p84"/>
              <p:cNvSpPr/>
              <p:nvPr/>
            </p:nvSpPr>
            <p:spPr>
              <a:xfrm>
                <a:off x="854445" y="3270607"/>
                <a:ext cx="45600" cy="41100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653" name="Google Shape;1653;p84"/>
          <p:cNvGrpSpPr/>
          <p:nvPr/>
        </p:nvGrpSpPr>
        <p:grpSpPr>
          <a:xfrm>
            <a:off x="3066100" y="3546193"/>
            <a:ext cx="54300" cy="473780"/>
            <a:chOff x="779080" y="747789"/>
            <a:chExt cx="54300" cy="473780"/>
          </a:xfrm>
        </p:grpSpPr>
        <p:cxnSp>
          <p:nvCxnSpPr>
            <p:cNvPr id="1654" name="Google Shape;1654;p84"/>
            <p:cNvCxnSpPr/>
            <p:nvPr/>
          </p:nvCxnSpPr>
          <p:spPr>
            <a:xfrm rot="10800000">
              <a:off x="808433" y="747789"/>
              <a:ext cx="0" cy="4434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655" name="Google Shape;1655;p84"/>
            <p:cNvSpPr/>
            <p:nvPr/>
          </p:nvSpPr>
          <p:spPr>
            <a:xfrm>
              <a:off x="779080" y="1172670"/>
              <a:ext cx="54300" cy="489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56" name="Google Shape;1656;p84"/>
          <p:cNvSpPr txBox="1"/>
          <p:nvPr/>
        </p:nvSpPr>
        <p:spPr>
          <a:xfrm>
            <a:off x="2526325" y="4516113"/>
            <a:ext cx="1136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spinner 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7" name="Google Shape;1657;p84"/>
          <p:cNvSpPr txBox="1"/>
          <p:nvPr/>
        </p:nvSpPr>
        <p:spPr>
          <a:xfrm>
            <a:off x="5109700" y="4514900"/>
            <a:ext cx="1136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coin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58" name="Google Shape;1658;p8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167625" y="3808349"/>
            <a:ext cx="1020550" cy="5102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59" name="Google Shape;1659;p84"/>
          <p:cNvGrpSpPr/>
          <p:nvPr/>
        </p:nvGrpSpPr>
        <p:grpSpPr>
          <a:xfrm>
            <a:off x="1068897" y="2010788"/>
            <a:ext cx="3022067" cy="1408228"/>
            <a:chOff x="908102" y="2818051"/>
            <a:chExt cx="2706248" cy="1102849"/>
          </a:xfrm>
        </p:grpSpPr>
        <p:pic>
          <p:nvPicPr>
            <p:cNvPr id="1660" name="Google Shape;1660;p84"/>
            <p:cNvPicPr preferRelativeResize="0"/>
            <p:nvPr/>
          </p:nvPicPr>
          <p:blipFill rotWithShape="1">
            <a:blip r:embed="rId3">
              <a:alphaModFix/>
            </a:blip>
            <a:srcRect b="43690" l="0" r="57905" t="0"/>
            <a:stretch/>
          </p:blipFill>
          <p:spPr>
            <a:xfrm rot="10800000">
              <a:off x="908102" y="2818051"/>
              <a:ext cx="2706248" cy="110284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61" name="Google Shape;1661;p84"/>
            <p:cNvSpPr txBox="1"/>
            <p:nvPr/>
          </p:nvSpPr>
          <p:spPr>
            <a:xfrm>
              <a:off x="1112744" y="3018902"/>
              <a:ext cx="2444700" cy="86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Oh, of course!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Which option do you think is better: outcome trees or listing?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662" name="Google Shape;1662;p84"/>
          <p:cNvGrpSpPr/>
          <p:nvPr/>
        </p:nvGrpSpPr>
        <p:grpSpPr>
          <a:xfrm>
            <a:off x="4632425" y="2105600"/>
            <a:ext cx="3523226" cy="1362199"/>
            <a:chOff x="4632425" y="2105600"/>
            <a:chExt cx="3523226" cy="1362199"/>
          </a:xfrm>
        </p:grpSpPr>
        <p:pic>
          <p:nvPicPr>
            <p:cNvPr id="1663" name="Google Shape;1663;p84"/>
            <p:cNvPicPr preferRelativeResize="0"/>
            <p:nvPr/>
          </p:nvPicPr>
          <p:blipFill rotWithShape="1">
            <a:blip r:embed="rId3">
              <a:alphaModFix/>
            </a:blip>
            <a:srcRect b="43690" l="0" r="57905" t="0"/>
            <a:stretch/>
          </p:blipFill>
          <p:spPr>
            <a:xfrm flipH="1" rot="10800000">
              <a:off x="4632425" y="2105600"/>
              <a:ext cx="3523226" cy="13621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64" name="Google Shape;1664;p84"/>
            <p:cNvSpPr txBox="1"/>
            <p:nvPr/>
          </p:nvSpPr>
          <p:spPr>
            <a:xfrm flipH="1">
              <a:off x="4706526" y="2337938"/>
              <a:ext cx="3182700" cy="50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 don’t think there’s a right answer, it’ll depend on the question.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It’s best to practice both.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8" name="Shape 1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" name="Google Shape;1669;p8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Multi-stage trials with lists and outcome trees</a:t>
            </a:r>
            <a:endParaRPr/>
          </a:p>
        </p:txBody>
      </p:sp>
      <p:sp>
        <p:nvSpPr>
          <p:cNvPr id="1670" name="Google Shape;1670;p85"/>
          <p:cNvSpPr txBox="1"/>
          <p:nvPr/>
        </p:nvSpPr>
        <p:spPr>
          <a:xfrm>
            <a:off x="331050" y="810000"/>
            <a:ext cx="8481900" cy="16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For this check question, you should write a list of outcomes and then complete the outcome tree.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If you have a friend nearby, ask them to do one of these, whilst you do the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other.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4" name="Shape 1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5" name="Google Shape;1675;p8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Multi-stage trials with lists and outcome trees</a:t>
            </a:r>
            <a:endParaRPr/>
          </a:p>
        </p:txBody>
      </p:sp>
      <p:sp>
        <p:nvSpPr>
          <p:cNvPr id="1676" name="Google Shape;1676;p86"/>
          <p:cNvSpPr txBox="1"/>
          <p:nvPr/>
        </p:nvSpPr>
        <p:spPr>
          <a:xfrm>
            <a:off x="1511388" y="4132825"/>
            <a:ext cx="1136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spinner 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677" name="Google Shape;1677;p86"/>
          <p:cNvGrpSpPr/>
          <p:nvPr/>
        </p:nvGrpSpPr>
        <p:grpSpPr>
          <a:xfrm>
            <a:off x="1419195" y="2950334"/>
            <a:ext cx="1320300" cy="1320300"/>
            <a:chOff x="146832" y="518450"/>
            <a:chExt cx="1320300" cy="1320300"/>
          </a:xfrm>
        </p:grpSpPr>
        <p:sp>
          <p:nvSpPr>
            <p:cNvPr id="1678" name="Google Shape;1678;p86"/>
            <p:cNvSpPr/>
            <p:nvPr/>
          </p:nvSpPr>
          <p:spPr>
            <a:xfrm flipH="1">
              <a:off x="323915" y="695491"/>
              <a:ext cx="966300" cy="966300"/>
            </a:xfrm>
            <a:prstGeom prst="pie">
              <a:avLst>
                <a:gd fmla="val 8993067" name="adj1"/>
                <a:gd fmla="val 16200000" name="adj2"/>
              </a:avLst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9" name="Google Shape;1679;p86"/>
            <p:cNvSpPr/>
            <p:nvPr/>
          </p:nvSpPr>
          <p:spPr>
            <a:xfrm flipH="1" rot="7200178">
              <a:off x="323726" y="695344"/>
              <a:ext cx="966513" cy="966513"/>
            </a:xfrm>
            <a:prstGeom prst="pie">
              <a:avLst>
                <a:gd fmla="val 8993067" name="adj1"/>
                <a:gd fmla="val 16200000" name="adj2"/>
              </a:avLst>
            </a:prstGeom>
            <a:solidFill>
              <a:srgbClr val="CCCC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0" name="Google Shape;1680;p86"/>
            <p:cNvSpPr/>
            <p:nvPr/>
          </p:nvSpPr>
          <p:spPr>
            <a:xfrm>
              <a:off x="323953" y="695491"/>
              <a:ext cx="966300" cy="966300"/>
            </a:xfrm>
            <a:prstGeom prst="pie">
              <a:avLst>
                <a:gd fmla="val 8993067" name="adj1"/>
                <a:gd fmla="val 16200000" name="adj2"/>
              </a:avLst>
            </a:prstGeom>
            <a:solidFill>
              <a:srgbClr val="434343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81" name="Google Shape;1681;p86"/>
          <p:cNvGrpSpPr/>
          <p:nvPr/>
        </p:nvGrpSpPr>
        <p:grpSpPr>
          <a:xfrm>
            <a:off x="2051162" y="3164164"/>
            <a:ext cx="54300" cy="473780"/>
            <a:chOff x="779080" y="747789"/>
            <a:chExt cx="54300" cy="473780"/>
          </a:xfrm>
        </p:grpSpPr>
        <p:cxnSp>
          <p:nvCxnSpPr>
            <p:cNvPr id="1682" name="Google Shape;1682;p86"/>
            <p:cNvCxnSpPr/>
            <p:nvPr/>
          </p:nvCxnSpPr>
          <p:spPr>
            <a:xfrm rot="10800000">
              <a:off x="808433" y="747789"/>
              <a:ext cx="0" cy="4434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683" name="Google Shape;1683;p86"/>
            <p:cNvSpPr/>
            <p:nvPr/>
          </p:nvSpPr>
          <p:spPr>
            <a:xfrm>
              <a:off x="779080" y="1172670"/>
              <a:ext cx="54300" cy="489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84" name="Google Shape;1684;p86"/>
          <p:cNvSpPr txBox="1"/>
          <p:nvPr/>
        </p:nvSpPr>
        <p:spPr>
          <a:xfrm flipH="1">
            <a:off x="1913583" y="3726016"/>
            <a:ext cx="331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5" name="Google Shape;1685;p86"/>
          <p:cNvSpPr txBox="1"/>
          <p:nvPr/>
        </p:nvSpPr>
        <p:spPr>
          <a:xfrm flipH="1">
            <a:off x="1714043" y="3342027"/>
            <a:ext cx="331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6" name="Google Shape;1686;p86"/>
          <p:cNvSpPr txBox="1"/>
          <p:nvPr/>
        </p:nvSpPr>
        <p:spPr>
          <a:xfrm flipH="1">
            <a:off x="2115268" y="3342027"/>
            <a:ext cx="331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687" name="Google Shape;1687;p86"/>
          <p:cNvGrpSpPr/>
          <p:nvPr/>
        </p:nvGrpSpPr>
        <p:grpSpPr>
          <a:xfrm>
            <a:off x="347011" y="3124845"/>
            <a:ext cx="966279" cy="966204"/>
            <a:chOff x="1079761" y="2819758"/>
            <a:chExt cx="811863" cy="811800"/>
          </a:xfrm>
        </p:grpSpPr>
        <p:sp>
          <p:nvSpPr>
            <p:cNvPr id="1688" name="Google Shape;1688;p86"/>
            <p:cNvSpPr/>
            <p:nvPr/>
          </p:nvSpPr>
          <p:spPr>
            <a:xfrm flipH="1">
              <a:off x="1079761" y="2819758"/>
              <a:ext cx="811800" cy="811800"/>
            </a:xfrm>
            <a:prstGeom prst="pie">
              <a:avLst>
                <a:gd fmla="val 5391668" name="adj1"/>
                <a:gd fmla="val 16200000" name="adj2"/>
              </a:avLst>
            </a:prstGeom>
            <a:solidFill>
              <a:srgbClr val="434343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9" name="Google Shape;1689;p86"/>
            <p:cNvSpPr/>
            <p:nvPr/>
          </p:nvSpPr>
          <p:spPr>
            <a:xfrm flipH="1" rot="10800000">
              <a:off x="1079824" y="2819758"/>
              <a:ext cx="811800" cy="811800"/>
            </a:xfrm>
            <a:prstGeom prst="pie">
              <a:avLst>
                <a:gd fmla="val 5391668" name="adj1"/>
                <a:gd fmla="val 16200000" name="adj2"/>
              </a:avLst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0" name="Google Shape;1690;p86"/>
            <p:cNvSpPr txBox="1"/>
            <p:nvPr/>
          </p:nvSpPr>
          <p:spPr>
            <a:xfrm flipH="1">
              <a:off x="1541035" y="3116844"/>
              <a:ext cx="278400" cy="20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91" name="Google Shape;1691;p86"/>
            <p:cNvSpPr txBox="1"/>
            <p:nvPr/>
          </p:nvSpPr>
          <p:spPr>
            <a:xfrm flipH="1">
              <a:off x="1150360" y="3116844"/>
              <a:ext cx="278400" cy="20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692" name="Google Shape;1692;p86"/>
            <p:cNvGrpSpPr/>
            <p:nvPr/>
          </p:nvGrpSpPr>
          <p:grpSpPr>
            <a:xfrm>
              <a:off x="1462108" y="2863641"/>
              <a:ext cx="45600" cy="398140"/>
              <a:chOff x="854445" y="2913567"/>
              <a:chExt cx="45600" cy="398140"/>
            </a:xfrm>
          </p:grpSpPr>
          <p:cxnSp>
            <p:nvCxnSpPr>
              <p:cNvPr id="1693" name="Google Shape;1693;p86"/>
              <p:cNvCxnSpPr/>
              <p:nvPr/>
            </p:nvCxnSpPr>
            <p:spPr>
              <a:xfrm rot="10800000">
                <a:off x="879108" y="2913567"/>
                <a:ext cx="0" cy="3726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1694" name="Google Shape;1694;p86"/>
              <p:cNvSpPr/>
              <p:nvPr/>
            </p:nvSpPr>
            <p:spPr>
              <a:xfrm>
                <a:off x="854445" y="3270607"/>
                <a:ext cx="45600" cy="41100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695" name="Google Shape;1695;p86"/>
          <p:cNvGrpSpPr/>
          <p:nvPr/>
        </p:nvGrpSpPr>
        <p:grpSpPr>
          <a:xfrm>
            <a:off x="801800" y="3162893"/>
            <a:ext cx="54300" cy="473780"/>
            <a:chOff x="779080" y="747789"/>
            <a:chExt cx="54300" cy="473780"/>
          </a:xfrm>
        </p:grpSpPr>
        <p:cxnSp>
          <p:nvCxnSpPr>
            <p:cNvPr id="1696" name="Google Shape;1696;p86"/>
            <p:cNvCxnSpPr/>
            <p:nvPr/>
          </p:nvCxnSpPr>
          <p:spPr>
            <a:xfrm rot="10800000">
              <a:off x="808433" y="747789"/>
              <a:ext cx="0" cy="4434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697" name="Google Shape;1697;p86"/>
            <p:cNvSpPr/>
            <p:nvPr/>
          </p:nvSpPr>
          <p:spPr>
            <a:xfrm>
              <a:off x="779080" y="1172670"/>
              <a:ext cx="54300" cy="489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98" name="Google Shape;1698;p86"/>
          <p:cNvSpPr txBox="1"/>
          <p:nvPr/>
        </p:nvSpPr>
        <p:spPr>
          <a:xfrm>
            <a:off x="262025" y="4132813"/>
            <a:ext cx="1136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spinner 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9" name="Google Shape;1699;p86"/>
          <p:cNvSpPr txBox="1"/>
          <p:nvPr/>
        </p:nvSpPr>
        <p:spPr>
          <a:xfrm>
            <a:off x="338225" y="699250"/>
            <a:ext cx="3285000" cy="22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Each spinner will be spun once, and the coin will be flipped once.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Write down all outcomes for this trial by writing a list and/or filling in this outcome tree.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0" name="Google Shape;1700;p86"/>
          <p:cNvSpPr txBox="1"/>
          <p:nvPr/>
        </p:nvSpPr>
        <p:spPr>
          <a:xfrm>
            <a:off x="2845400" y="4131600"/>
            <a:ext cx="1136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coin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01" name="Google Shape;1701;p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03325" y="3425049"/>
            <a:ext cx="1020550" cy="5102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02" name="Google Shape;1702;p86"/>
          <p:cNvCxnSpPr/>
          <p:nvPr/>
        </p:nvCxnSpPr>
        <p:spPr>
          <a:xfrm flipH="1" rot="10800000">
            <a:off x="5916421" y="1198602"/>
            <a:ext cx="610200" cy="1311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03" name="Google Shape;1703;p86"/>
          <p:cNvCxnSpPr/>
          <p:nvPr/>
        </p:nvCxnSpPr>
        <p:spPr>
          <a:xfrm>
            <a:off x="5916421" y="1366293"/>
            <a:ext cx="610200" cy="1311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04" name="Google Shape;1704;p86"/>
          <p:cNvCxnSpPr/>
          <p:nvPr/>
        </p:nvCxnSpPr>
        <p:spPr>
          <a:xfrm flipH="1" rot="10800000">
            <a:off x="5916421" y="1820405"/>
            <a:ext cx="610200" cy="1311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05" name="Google Shape;1705;p86"/>
          <p:cNvCxnSpPr/>
          <p:nvPr/>
        </p:nvCxnSpPr>
        <p:spPr>
          <a:xfrm>
            <a:off x="5916421" y="1988096"/>
            <a:ext cx="610200" cy="1311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06" name="Google Shape;1706;p86"/>
          <p:cNvCxnSpPr/>
          <p:nvPr/>
        </p:nvCxnSpPr>
        <p:spPr>
          <a:xfrm flipH="1" rot="10800000">
            <a:off x="5916421" y="2442208"/>
            <a:ext cx="610200" cy="1311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07" name="Google Shape;1707;p86"/>
          <p:cNvCxnSpPr/>
          <p:nvPr/>
        </p:nvCxnSpPr>
        <p:spPr>
          <a:xfrm>
            <a:off x="5916421" y="2609899"/>
            <a:ext cx="610200" cy="1311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08" name="Google Shape;1708;p86"/>
          <p:cNvCxnSpPr/>
          <p:nvPr/>
        </p:nvCxnSpPr>
        <p:spPr>
          <a:xfrm flipH="1" rot="10800000">
            <a:off x="5916421" y="3064011"/>
            <a:ext cx="610200" cy="1311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09" name="Google Shape;1709;p86"/>
          <p:cNvCxnSpPr/>
          <p:nvPr/>
        </p:nvCxnSpPr>
        <p:spPr>
          <a:xfrm>
            <a:off x="5916421" y="3231702"/>
            <a:ext cx="610200" cy="1311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10" name="Google Shape;1710;p86"/>
          <p:cNvCxnSpPr/>
          <p:nvPr/>
        </p:nvCxnSpPr>
        <p:spPr>
          <a:xfrm flipH="1" rot="10800000">
            <a:off x="5916421" y="3685814"/>
            <a:ext cx="610200" cy="1311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11" name="Google Shape;1711;p86"/>
          <p:cNvCxnSpPr/>
          <p:nvPr/>
        </p:nvCxnSpPr>
        <p:spPr>
          <a:xfrm>
            <a:off x="5916421" y="3853505"/>
            <a:ext cx="610200" cy="1311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12" name="Google Shape;1712;p86"/>
          <p:cNvCxnSpPr/>
          <p:nvPr/>
        </p:nvCxnSpPr>
        <p:spPr>
          <a:xfrm flipH="1" rot="10800000">
            <a:off x="5916421" y="4307617"/>
            <a:ext cx="610200" cy="1311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13" name="Google Shape;1713;p86"/>
          <p:cNvCxnSpPr/>
          <p:nvPr/>
        </p:nvCxnSpPr>
        <p:spPr>
          <a:xfrm>
            <a:off x="5916421" y="4475308"/>
            <a:ext cx="610200" cy="1311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14" name="Google Shape;1714;p86"/>
          <p:cNvCxnSpPr/>
          <p:nvPr/>
        </p:nvCxnSpPr>
        <p:spPr>
          <a:xfrm flipH="1" rot="10800000">
            <a:off x="5120286" y="1346609"/>
            <a:ext cx="436800" cy="5460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15" name="Google Shape;1715;p86"/>
          <p:cNvCxnSpPr/>
          <p:nvPr/>
        </p:nvCxnSpPr>
        <p:spPr>
          <a:xfrm>
            <a:off x="5120286" y="2044999"/>
            <a:ext cx="436800" cy="5460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16" name="Google Shape;1716;p86"/>
          <p:cNvCxnSpPr/>
          <p:nvPr/>
        </p:nvCxnSpPr>
        <p:spPr>
          <a:xfrm>
            <a:off x="5120254" y="1969198"/>
            <a:ext cx="4383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17" name="Google Shape;1717;p86"/>
          <p:cNvCxnSpPr/>
          <p:nvPr/>
        </p:nvCxnSpPr>
        <p:spPr>
          <a:xfrm flipH="1" rot="10800000">
            <a:off x="5120286" y="3211329"/>
            <a:ext cx="436800" cy="5460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18" name="Google Shape;1718;p86"/>
          <p:cNvCxnSpPr/>
          <p:nvPr/>
        </p:nvCxnSpPr>
        <p:spPr>
          <a:xfrm>
            <a:off x="5120286" y="3909719"/>
            <a:ext cx="436800" cy="5460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19" name="Google Shape;1719;p86"/>
          <p:cNvCxnSpPr/>
          <p:nvPr/>
        </p:nvCxnSpPr>
        <p:spPr>
          <a:xfrm>
            <a:off x="5120254" y="3833918"/>
            <a:ext cx="4383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20" name="Google Shape;1720;p86"/>
          <p:cNvCxnSpPr/>
          <p:nvPr/>
        </p:nvCxnSpPr>
        <p:spPr>
          <a:xfrm flipH="1" rot="10800000">
            <a:off x="4393999" y="1960585"/>
            <a:ext cx="399300" cy="8247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21" name="Google Shape;1721;p86"/>
          <p:cNvCxnSpPr/>
          <p:nvPr/>
        </p:nvCxnSpPr>
        <p:spPr>
          <a:xfrm>
            <a:off x="4393999" y="3015460"/>
            <a:ext cx="399300" cy="8247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722" name="Google Shape;1722;p86"/>
          <p:cNvGrpSpPr/>
          <p:nvPr/>
        </p:nvGrpSpPr>
        <p:grpSpPr>
          <a:xfrm>
            <a:off x="6922398" y="532626"/>
            <a:ext cx="2022124" cy="4278510"/>
            <a:chOff x="7190868" y="532627"/>
            <a:chExt cx="1683000" cy="4278510"/>
          </a:xfrm>
        </p:grpSpPr>
        <p:sp>
          <p:nvSpPr>
            <p:cNvPr id="1723" name="Google Shape;1723;p86"/>
            <p:cNvSpPr/>
            <p:nvPr/>
          </p:nvSpPr>
          <p:spPr>
            <a:xfrm>
              <a:off x="7570963" y="994837"/>
              <a:ext cx="922800" cy="3816300"/>
            </a:xfrm>
            <a:prstGeom prst="rect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24" name="Google Shape;1724;p86"/>
            <p:cNvSpPr txBox="1"/>
            <p:nvPr/>
          </p:nvSpPr>
          <p:spPr>
            <a:xfrm>
              <a:off x="7190868" y="532627"/>
              <a:ext cx="1683000" cy="56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sample space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725" name="Google Shape;1725;p86"/>
          <p:cNvSpPr txBox="1"/>
          <p:nvPr/>
        </p:nvSpPr>
        <p:spPr>
          <a:xfrm>
            <a:off x="6526388" y="1392475"/>
            <a:ext cx="8211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tails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26" name="Google Shape;1726;p86"/>
          <p:cNvSpPr txBox="1"/>
          <p:nvPr/>
        </p:nvSpPr>
        <p:spPr>
          <a:xfrm>
            <a:off x="6526388" y="1097495"/>
            <a:ext cx="8211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heads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27" name="Google Shape;1727;p86"/>
          <p:cNvSpPr txBox="1"/>
          <p:nvPr/>
        </p:nvSpPr>
        <p:spPr>
          <a:xfrm>
            <a:off x="6526388" y="2014279"/>
            <a:ext cx="8211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tails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28" name="Google Shape;1728;p86"/>
          <p:cNvSpPr txBox="1"/>
          <p:nvPr/>
        </p:nvSpPr>
        <p:spPr>
          <a:xfrm>
            <a:off x="6526388" y="1719299"/>
            <a:ext cx="8211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heads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29" name="Google Shape;1729;p86"/>
          <p:cNvSpPr txBox="1"/>
          <p:nvPr/>
        </p:nvSpPr>
        <p:spPr>
          <a:xfrm>
            <a:off x="6526388" y="2607958"/>
            <a:ext cx="8211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tails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30" name="Google Shape;1730;p86"/>
          <p:cNvSpPr txBox="1"/>
          <p:nvPr/>
        </p:nvSpPr>
        <p:spPr>
          <a:xfrm>
            <a:off x="6526388" y="2341103"/>
            <a:ext cx="8211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heads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31" name="Google Shape;1731;p86"/>
          <p:cNvSpPr txBox="1"/>
          <p:nvPr/>
        </p:nvSpPr>
        <p:spPr>
          <a:xfrm>
            <a:off x="6526388" y="3229762"/>
            <a:ext cx="8211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tails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32" name="Google Shape;1732;p86"/>
          <p:cNvSpPr txBox="1"/>
          <p:nvPr/>
        </p:nvSpPr>
        <p:spPr>
          <a:xfrm>
            <a:off x="6526388" y="2934783"/>
            <a:ext cx="8211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heads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33" name="Google Shape;1733;p86"/>
          <p:cNvSpPr txBox="1"/>
          <p:nvPr/>
        </p:nvSpPr>
        <p:spPr>
          <a:xfrm>
            <a:off x="6526388" y="3851567"/>
            <a:ext cx="8211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tails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34" name="Google Shape;1734;p86"/>
          <p:cNvSpPr txBox="1"/>
          <p:nvPr/>
        </p:nvSpPr>
        <p:spPr>
          <a:xfrm>
            <a:off x="6526388" y="3556587"/>
            <a:ext cx="8211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heads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35" name="Google Shape;1735;p86"/>
          <p:cNvSpPr txBox="1"/>
          <p:nvPr/>
        </p:nvSpPr>
        <p:spPr>
          <a:xfrm>
            <a:off x="6526388" y="4473371"/>
            <a:ext cx="8211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tails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36" name="Google Shape;1736;p86"/>
          <p:cNvSpPr txBox="1"/>
          <p:nvPr/>
        </p:nvSpPr>
        <p:spPr>
          <a:xfrm>
            <a:off x="6526388" y="4178391"/>
            <a:ext cx="8211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heads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37" name="Google Shape;1737;p86"/>
          <p:cNvSpPr txBox="1"/>
          <p:nvPr/>
        </p:nvSpPr>
        <p:spPr>
          <a:xfrm>
            <a:off x="5556805" y="2273562"/>
            <a:ext cx="173700" cy="62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C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38" name="Google Shape;1738;p86"/>
          <p:cNvSpPr txBox="1"/>
          <p:nvPr/>
        </p:nvSpPr>
        <p:spPr>
          <a:xfrm>
            <a:off x="5556805" y="1046694"/>
            <a:ext cx="1737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39" name="Google Shape;1739;p86"/>
          <p:cNvSpPr txBox="1"/>
          <p:nvPr/>
        </p:nvSpPr>
        <p:spPr>
          <a:xfrm>
            <a:off x="5556805" y="1698734"/>
            <a:ext cx="173700" cy="54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B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40" name="Google Shape;1740;p86"/>
          <p:cNvSpPr txBox="1"/>
          <p:nvPr/>
        </p:nvSpPr>
        <p:spPr>
          <a:xfrm>
            <a:off x="5556805" y="4138282"/>
            <a:ext cx="173700" cy="62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C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41" name="Google Shape;1741;p86"/>
          <p:cNvSpPr txBox="1"/>
          <p:nvPr/>
        </p:nvSpPr>
        <p:spPr>
          <a:xfrm>
            <a:off x="5556805" y="2911414"/>
            <a:ext cx="1737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42" name="Google Shape;1742;p86"/>
          <p:cNvSpPr txBox="1"/>
          <p:nvPr/>
        </p:nvSpPr>
        <p:spPr>
          <a:xfrm>
            <a:off x="5556805" y="3563453"/>
            <a:ext cx="173700" cy="54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B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43" name="Google Shape;1743;p86"/>
          <p:cNvSpPr txBox="1"/>
          <p:nvPr/>
        </p:nvSpPr>
        <p:spPr>
          <a:xfrm>
            <a:off x="4829760" y="3360690"/>
            <a:ext cx="158700" cy="93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B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44" name="Google Shape;1744;p86"/>
          <p:cNvSpPr txBox="1"/>
          <p:nvPr/>
        </p:nvSpPr>
        <p:spPr>
          <a:xfrm>
            <a:off x="4829760" y="1507583"/>
            <a:ext cx="158700" cy="93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45" name="Google Shape;1745;p86"/>
          <p:cNvSpPr/>
          <p:nvPr/>
        </p:nvSpPr>
        <p:spPr>
          <a:xfrm>
            <a:off x="7379082" y="1022961"/>
            <a:ext cx="1108744" cy="38163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6" name="Google Shape;1746;p86"/>
          <p:cNvSpPr txBox="1"/>
          <p:nvPr/>
        </p:nvSpPr>
        <p:spPr>
          <a:xfrm>
            <a:off x="7409700" y="1392479"/>
            <a:ext cx="10737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AA tails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47" name="Google Shape;1747;p86"/>
          <p:cNvSpPr txBox="1"/>
          <p:nvPr/>
        </p:nvSpPr>
        <p:spPr>
          <a:xfrm>
            <a:off x="7409700" y="1097500"/>
            <a:ext cx="10737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AA heads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48" name="Google Shape;1748;p86"/>
          <p:cNvSpPr txBox="1"/>
          <p:nvPr/>
        </p:nvSpPr>
        <p:spPr>
          <a:xfrm>
            <a:off x="7409700" y="2014284"/>
            <a:ext cx="10737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AB </a:t>
            </a:r>
            <a:r>
              <a:rPr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tails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49" name="Google Shape;1749;p86"/>
          <p:cNvSpPr txBox="1"/>
          <p:nvPr/>
        </p:nvSpPr>
        <p:spPr>
          <a:xfrm>
            <a:off x="7409700" y="1719304"/>
            <a:ext cx="10737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AB </a:t>
            </a:r>
            <a:r>
              <a:rPr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heads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50" name="Google Shape;1750;p86"/>
          <p:cNvSpPr txBox="1"/>
          <p:nvPr/>
        </p:nvSpPr>
        <p:spPr>
          <a:xfrm>
            <a:off x="7409700" y="2636088"/>
            <a:ext cx="10737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AC </a:t>
            </a:r>
            <a:r>
              <a:rPr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tails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51" name="Google Shape;1751;p86"/>
          <p:cNvSpPr txBox="1"/>
          <p:nvPr/>
        </p:nvSpPr>
        <p:spPr>
          <a:xfrm>
            <a:off x="7409700" y="2341108"/>
            <a:ext cx="10737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AC </a:t>
            </a:r>
            <a:r>
              <a:rPr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heads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52" name="Google Shape;1752;p86"/>
          <p:cNvSpPr txBox="1"/>
          <p:nvPr/>
        </p:nvSpPr>
        <p:spPr>
          <a:xfrm>
            <a:off x="7409700" y="3257892"/>
            <a:ext cx="10737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BA </a:t>
            </a:r>
            <a:r>
              <a:rPr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tails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53" name="Google Shape;1753;p86"/>
          <p:cNvSpPr txBox="1"/>
          <p:nvPr/>
        </p:nvSpPr>
        <p:spPr>
          <a:xfrm>
            <a:off x="7409700" y="2962912"/>
            <a:ext cx="10737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BA </a:t>
            </a:r>
            <a:r>
              <a:rPr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heads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54" name="Google Shape;1754;p86"/>
          <p:cNvSpPr txBox="1"/>
          <p:nvPr/>
        </p:nvSpPr>
        <p:spPr>
          <a:xfrm>
            <a:off x="7409700" y="3879696"/>
            <a:ext cx="10737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BB </a:t>
            </a:r>
            <a:r>
              <a:rPr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tails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55" name="Google Shape;1755;p86"/>
          <p:cNvSpPr txBox="1"/>
          <p:nvPr/>
        </p:nvSpPr>
        <p:spPr>
          <a:xfrm>
            <a:off x="7409700" y="3584716"/>
            <a:ext cx="10737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BB </a:t>
            </a:r>
            <a:r>
              <a:rPr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heads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56" name="Google Shape;1756;p86"/>
          <p:cNvSpPr txBox="1"/>
          <p:nvPr/>
        </p:nvSpPr>
        <p:spPr>
          <a:xfrm>
            <a:off x="7409700" y="4501500"/>
            <a:ext cx="10737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BC </a:t>
            </a:r>
            <a:r>
              <a:rPr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tails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57" name="Google Shape;1757;p86"/>
          <p:cNvSpPr txBox="1"/>
          <p:nvPr/>
        </p:nvSpPr>
        <p:spPr>
          <a:xfrm>
            <a:off x="7409700" y="4206521"/>
            <a:ext cx="10737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BC </a:t>
            </a:r>
            <a:r>
              <a:rPr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heads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1" name="Shape 1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2" name="Google Shape;1762;p8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Multi-stage trials with lists and outcome trees</a:t>
            </a:r>
            <a:endParaRPr/>
          </a:p>
        </p:txBody>
      </p:sp>
      <p:grpSp>
        <p:nvGrpSpPr>
          <p:cNvPr id="1763" name="Google Shape;1763;p87"/>
          <p:cNvGrpSpPr/>
          <p:nvPr/>
        </p:nvGrpSpPr>
        <p:grpSpPr>
          <a:xfrm>
            <a:off x="630223" y="689475"/>
            <a:ext cx="3363077" cy="1376975"/>
            <a:chOff x="630223" y="689475"/>
            <a:chExt cx="3363077" cy="1376975"/>
          </a:xfrm>
        </p:grpSpPr>
        <p:sp>
          <p:nvSpPr>
            <p:cNvPr id="1764" name="Google Shape;1764;p87"/>
            <p:cNvSpPr txBox="1"/>
            <p:nvPr/>
          </p:nvSpPr>
          <p:spPr>
            <a:xfrm flipH="1">
              <a:off x="875064" y="742761"/>
              <a:ext cx="3075900" cy="102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 started writing a list of the outcomes for a three-course meal, but now I’m stuck. 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1765" name="Google Shape;1765;p87"/>
            <p:cNvPicPr preferRelativeResize="0"/>
            <p:nvPr/>
          </p:nvPicPr>
          <p:blipFill rotWithShape="1">
            <a:blip r:embed="rId3">
              <a:alphaModFix/>
            </a:blip>
            <a:srcRect b="43690" l="0" r="57905" t="0"/>
            <a:stretch/>
          </p:blipFill>
          <p:spPr>
            <a:xfrm flipH="1">
              <a:off x="630223" y="689475"/>
              <a:ext cx="3363077" cy="13769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766" name="Google Shape;1766;p87"/>
          <p:cNvGrpSpPr/>
          <p:nvPr/>
        </p:nvGrpSpPr>
        <p:grpSpPr>
          <a:xfrm flipH="1">
            <a:off x="392725" y="1800342"/>
            <a:ext cx="676200" cy="1040525"/>
            <a:chOff x="8137196" y="1935832"/>
            <a:chExt cx="676200" cy="1040525"/>
          </a:xfrm>
        </p:grpSpPr>
        <p:pic>
          <p:nvPicPr>
            <p:cNvPr id="1767" name="Google Shape;1767;p8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flipH="1">
              <a:off x="8209791" y="1935832"/>
              <a:ext cx="598139" cy="7479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68" name="Google Shape;1768;p87"/>
            <p:cNvSpPr txBox="1"/>
            <p:nvPr/>
          </p:nvSpPr>
          <p:spPr>
            <a:xfrm>
              <a:off x="8137196" y="2699157"/>
              <a:ext cx="6762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Jun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769" name="Google Shape;1769;p87"/>
          <p:cNvGrpSpPr/>
          <p:nvPr/>
        </p:nvGrpSpPr>
        <p:grpSpPr>
          <a:xfrm>
            <a:off x="630227" y="2893149"/>
            <a:ext cx="3010248" cy="1376975"/>
            <a:chOff x="630227" y="2893149"/>
            <a:chExt cx="3010248" cy="1376975"/>
          </a:xfrm>
        </p:grpSpPr>
        <p:pic>
          <p:nvPicPr>
            <p:cNvPr id="1770" name="Google Shape;1770;p87"/>
            <p:cNvPicPr preferRelativeResize="0"/>
            <p:nvPr/>
          </p:nvPicPr>
          <p:blipFill rotWithShape="1">
            <a:blip r:embed="rId3">
              <a:alphaModFix/>
            </a:blip>
            <a:srcRect b="43690" l="0" r="57905" t="0"/>
            <a:stretch/>
          </p:blipFill>
          <p:spPr>
            <a:xfrm rot="10800000">
              <a:off x="630227" y="2893149"/>
              <a:ext cx="3010248" cy="13769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71" name="Google Shape;1771;p87"/>
            <p:cNvSpPr txBox="1"/>
            <p:nvPr/>
          </p:nvSpPr>
          <p:spPr>
            <a:xfrm>
              <a:off x="849377" y="3137934"/>
              <a:ext cx="2753100" cy="102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Is it possible to use an outcome tree to complete the list and fix my errors?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aphicFrame>
        <p:nvGraphicFramePr>
          <p:cNvPr id="1772" name="Google Shape;1772;p87"/>
          <p:cNvGraphicFramePr/>
          <p:nvPr/>
        </p:nvGraphicFramePr>
        <p:xfrm>
          <a:off x="6817650" y="121425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{471181EF-68B9-4DC5-A393-97BDB0EA0B63}</a:tableStyleId>
              </a:tblPr>
              <a:tblGrid>
                <a:gridCol w="1776000"/>
              </a:tblGrid>
              <a:tr h="47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G C I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S P B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G L B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S C B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G P B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???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73" name="Google Shape;1773;p87"/>
          <p:cNvSpPr txBox="1"/>
          <p:nvPr/>
        </p:nvSpPr>
        <p:spPr>
          <a:xfrm flipH="1">
            <a:off x="6744900" y="660156"/>
            <a:ext cx="1921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Jun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’s list of outcomes so far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7" name="Shape 1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78" name="Google Shape;1778;p88"/>
          <p:cNvGraphicFramePr/>
          <p:nvPr/>
        </p:nvGraphicFramePr>
        <p:xfrm>
          <a:off x="6817650" y="121425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{471181EF-68B9-4DC5-A393-97BDB0EA0B63}</a:tableStyleId>
              </a:tblPr>
              <a:tblGrid>
                <a:gridCol w="1776000"/>
              </a:tblGrid>
              <a:tr h="47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G C I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S P B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G L B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S C B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G P B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???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79" name="Google Shape;1779;p88"/>
          <p:cNvSpPr txBox="1"/>
          <p:nvPr/>
        </p:nvSpPr>
        <p:spPr>
          <a:xfrm>
            <a:off x="338225" y="623050"/>
            <a:ext cx="47955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If we want to create a sample space of all outcomes from an incomplete list, we have to assume every outcome of each stage is already mentioned once somewhere in the list.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0" name="Google Shape;1780;p8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Multi-stage trials with lists and outcome trees</a:t>
            </a:r>
            <a:endParaRPr/>
          </a:p>
        </p:txBody>
      </p:sp>
      <p:sp>
        <p:nvSpPr>
          <p:cNvPr id="1781" name="Google Shape;1781;p88"/>
          <p:cNvSpPr txBox="1"/>
          <p:nvPr/>
        </p:nvSpPr>
        <p:spPr>
          <a:xfrm flipH="1">
            <a:off x="6744900" y="660156"/>
            <a:ext cx="1921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Jun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’s list of outcomes so far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2" name="Google Shape;1782;p88"/>
          <p:cNvSpPr txBox="1"/>
          <p:nvPr/>
        </p:nvSpPr>
        <p:spPr>
          <a:xfrm>
            <a:off x="338225" y="2499300"/>
            <a:ext cx="5436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For example, we must assume the only two starters are S (salad) and G (gyoza dumplings).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3" name="Google Shape;1783;p88"/>
          <p:cNvSpPr/>
          <p:nvPr/>
        </p:nvSpPr>
        <p:spPr>
          <a:xfrm>
            <a:off x="7284841" y="3166175"/>
            <a:ext cx="305400" cy="3789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4" name="Google Shape;1784;p88"/>
          <p:cNvSpPr/>
          <p:nvPr/>
        </p:nvSpPr>
        <p:spPr>
          <a:xfrm>
            <a:off x="7284841" y="2687625"/>
            <a:ext cx="305400" cy="3789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8" name="Shape 1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89" name="Google Shape;1789;p89"/>
          <p:cNvGraphicFramePr/>
          <p:nvPr/>
        </p:nvGraphicFramePr>
        <p:xfrm>
          <a:off x="6817650" y="159487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{471181EF-68B9-4DC5-A393-97BDB0EA0B63}</a:tableStyleId>
              </a:tblPr>
              <a:tblGrid>
                <a:gridCol w="1776000"/>
              </a:tblGrid>
              <a:tr h="47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G C I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S P B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G L B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S C B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G P B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???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90" name="Google Shape;1790;p89"/>
          <p:cNvSpPr txBox="1"/>
          <p:nvPr/>
        </p:nvSpPr>
        <p:spPr>
          <a:xfrm>
            <a:off x="311050" y="686475"/>
            <a:ext cx="8508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Let’s build out each layer of branches. We can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begin with the starters where we only have options of (G) Gyoza or S (Salad).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1" name="Google Shape;1791;p8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Multi-stage trials with lists and outcome trees</a:t>
            </a:r>
            <a:endParaRPr/>
          </a:p>
        </p:txBody>
      </p:sp>
      <p:sp>
        <p:nvSpPr>
          <p:cNvPr id="1792" name="Google Shape;1792;p89"/>
          <p:cNvSpPr/>
          <p:nvPr/>
        </p:nvSpPr>
        <p:spPr>
          <a:xfrm>
            <a:off x="7297434" y="1682547"/>
            <a:ext cx="305400" cy="22917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93" name="Google Shape;1793;p89"/>
          <p:cNvGrpSpPr/>
          <p:nvPr/>
        </p:nvGrpSpPr>
        <p:grpSpPr>
          <a:xfrm>
            <a:off x="1592900" y="2603691"/>
            <a:ext cx="305400" cy="1508408"/>
            <a:chOff x="1592900" y="2233370"/>
            <a:chExt cx="305400" cy="1944075"/>
          </a:xfrm>
        </p:grpSpPr>
        <p:sp>
          <p:nvSpPr>
            <p:cNvPr id="1794" name="Google Shape;1794;p89"/>
            <p:cNvSpPr txBox="1"/>
            <p:nvPr/>
          </p:nvSpPr>
          <p:spPr>
            <a:xfrm>
              <a:off x="1592900" y="2233370"/>
              <a:ext cx="3054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G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95" name="Google Shape;1795;p89"/>
            <p:cNvSpPr txBox="1"/>
            <p:nvPr/>
          </p:nvSpPr>
          <p:spPr>
            <a:xfrm>
              <a:off x="1592900" y="3900245"/>
              <a:ext cx="3054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S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796" name="Google Shape;1796;p89"/>
          <p:cNvSpPr txBox="1"/>
          <p:nvPr/>
        </p:nvSpPr>
        <p:spPr>
          <a:xfrm>
            <a:off x="6943575" y="1317672"/>
            <a:ext cx="928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97" name="Google Shape;1797;p89"/>
          <p:cNvGrpSpPr/>
          <p:nvPr/>
        </p:nvGrpSpPr>
        <p:grpSpPr>
          <a:xfrm>
            <a:off x="1193600" y="2674070"/>
            <a:ext cx="399300" cy="1367459"/>
            <a:chOff x="1193600" y="2521670"/>
            <a:chExt cx="399300" cy="1367459"/>
          </a:xfrm>
        </p:grpSpPr>
        <p:cxnSp>
          <p:nvCxnSpPr>
            <p:cNvPr id="1798" name="Google Shape;1798;p89"/>
            <p:cNvCxnSpPr/>
            <p:nvPr/>
          </p:nvCxnSpPr>
          <p:spPr>
            <a:xfrm flipH="1" rot="10800000">
              <a:off x="1193600" y="2521670"/>
              <a:ext cx="399300" cy="6000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99" name="Google Shape;1799;p89"/>
            <p:cNvCxnSpPr/>
            <p:nvPr/>
          </p:nvCxnSpPr>
          <p:spPr>
            <a:xfrm>
              <a:off x="1193600" y="3289130"/>
              <a:ext cx="399300" cy="6000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800" name="Google Shape;1800;p89"/>
          <p:cNvGrpSpPr/>
          <p:nvPr/>
        </p:nvGrpSpPr>
        <p:grpSpPr>
          <a:xfrm>
            <a:off x="1193641" y="1549222"/>
            <a:ext cx="928812" cy="3214721"/>
            <a:chOff x="1193588" y="1782350"/>
            <a:chExt cx="928812" cy="2568900"/>
          </a:xfrm>
        </p:grpSpPr>
        <p:sp>
          <p:nvSpPr>
            <p:cNvPr id="1801" name="Google Shape;1801;p89"/>
            <p:cNvSpPr/>
            <p:nvPr/>
          </p:nvSpPr>
          <p:spPr>
            <a:xfrm>
              <a:off x="1193588" y="2059550"/>
              <a:ext cx="928800" cy="2291700"/>
            </a:xfrm>
            <a:prstGeom prst="rect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02" name="Google Shape;1802;p89"/>
            <p:cNvSpPr txBox="1"/>
            <p:nvPr/>
          </p:nvSpPr>
          <p:spPr>
            <a:xfrm>
              <a:off x="1193600" y="1782350"/>
              <a:ext cx="9288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starters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803" name="Google Shape;1803;p89"/>
          <p:cNvSpPr txBox="1"/>
          <p:nvPr/>
        </p:nvSpPr>
        <p:spPr>
          <a:xfrm>
            <a:off x="1898378" y="1623534"/>
            <a:ext cx="928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804" name="Google Shape;1804;p89"/>
          <p:cNvGrpSpPr/>
          <p:nvPr/>
        </p:nvGrpSpPr>
        <p:grpSpPr>
          <a:xfrm>
            <a:off x="2191718" y="2207280"/>
            <a:ext cx="438300" cy="891812"/>
            <a:chOff x="1919856" y="1821985"/>
            <a:chExt cx="438300" cy="1107704"/>
          </a:xfrm>
        </p:grpSpPr>
        <p:cxnSp>
          <p:nvCxnSpPr>
            <p:cNvPr id="1805" name="Google Shape;1805;p89"/>
            <p:cNvCxnSpPr/>
            <p:nvPr/>
          </p:nvCxnSpPr>
          <p:spPr>
            <a:xfrm flipH="1" rot="10800000">
              <a:off x="1919888" y="1821985"/>
              <a:ext cx="436800" cy="4860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06" name="Google Shape;1806;p89"/>
            <p:cNvCxnSpPr/>
            <p:nvPr/>
          </p:nvCxnSpPr>
          <p:spPr>
            <a:xfrm>
              <a:off x="1919888" y="2443688"/>
              <a:ext cx="436800" cy="4860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07" name="Google Shape;1807;p89"/>
            <p:cNvCxnSpPr/>
            <p:nvPr/>
          </p:nvCxnSpPr>
          <p:spPr>
            <a:xfrm>
              <a:off x="1919856" y="2376187"/>
              <a:ext cx="438300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808" name="Google Shape;1808;p89"/>
          <p:cNvGrpSpPr/>
          <p:nvPr/>
        </p:nvGrpSpPr>
        <p:grpSpPr>
          <a:xfrm>
            <a:off x="2191718" y="3544181"/>
            <a:ext cx="438300" cy="891812"/>
            <a:chOff x="1919856" y="3482524"/>
            <a:chExt cx="438300" cy="1107704"/>
          </a:xfrm>
        </p:grpSpPr>
        <p:cxnSp>
          <p:nvCxnSpPr>
            <p:cNvPr id="1809" name="Google Shape;1809;p89"/>
            <p:cNvCxnSpPr/>
            <p:nvPr/>
          </p:nvCxnSpPr>
          <p:spPr>
            <a:xfrm flipH="1" rot="10800000">
              <a:off x="1919888" y="3482524"/>
              <a:ext cx="436800" cy="4860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10" name="Google Shape;1810;p89"/>
            <p:cNvCxnSpPr/>
            <p:nvPr/>
          </p:nvCxnSpPr>
          <p:spPr>
            <a:xfrm>
              <a:off x="1919888" y="4104227"/>
              <a:ext cx="436800" cy="4860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11" name="Google Shape;1811;p89"/>
            <p:cNvCxnSpPr/>
            <p:nvPr/>
          </p:nvCxnSpPr>
          <p:spPr>
            <a:xfrm>
              <a:off x="1919856" y="4036726"/>
              <a:ext cx="438300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812" name="Google Shape;1812;p89"/>
          <p:cNvGrpSpPr/>
          <p:nvPr/>
        </p:nvGrpSpPr>
        <p:grpSpPr>
          <a:xfrm>
            <a:off x="2616910" y="2111258"/>
            <a:ext cx="305400" cy="1083854"/>
            <a:chOff x="2345035" y="1995946"/>
            <a:chExt cx="305400" cy="1083854"/>
          </a:xfrm>
        </p:grpSpPr>
        <p:sp>
          <p:nvSpPr>
            <p:cNvPr id="1813" name="Google Shape;1813;p89"/>
            <p:cNvSpPr txBox="1"/>
            <p:nvPr/>
          </p:nvSpPr>
          <p:spPr>
            <a:xfrm>
              <a:off x="2345035" y="1995946"/>
              <a:ext cx="305400" cy="21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14" name="Google Shape;1814;p89"/>
            <p:cNvSpPr txBox="1"/>
            <p:nvPr/>
          </p:nvSpPr>
          <p:spPr>
            <a:xfrm>
              <a:off x="2345035" y="2430325"/>
              <a:ext cx="305400" cy="21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P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15" name="Google Shape;1815;p89"/>
            <p:cNvSpPr txBox="1"/>
            <p:nvPr/>
          </p:nvSpPr>
          <p:spPr>
            <a:xfrm>
              <a:off x="2345035" y="2864700"/>
              <a:ext cx="305400" cy="21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L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816" name="Google Shape;1816;p89"/>
          <p:cNvGrpSpPr/>
          <p:nvPr/>
        </p:nvGrpSpPr>
        <p:grpSpPr>
          <a:xfrm>
            <a:off x="2616910" y="3448158"/>
            <a:ext cx="305400" cy="1083854"/>
            <a:chOff x="2345035" y="3332846"/>
            <a:chExt cx="305400" cy="1083854"/>
          </a:xfrm>
        </p:grpSpPr>
        <p:sp>
          <p:nvSpPr>
            <p:cNvPr id="1817" name="Google Shape;1817;p89"/>
            <p:cNvSpPr txBox="1"/>
            <p:nvPr/>
          </p:nvSpPr>
          <p:spPr>
            <a:xfrm>
              <a:off x="2345035" y="3332846"/>
              <a:ext cx="305400" cy="21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18" name="Google Shape;1818;p89"/>
            <p:cNvSpPr txBox="1"/>
            <p:nvPr/>
          </p:nvSpPr>
          <p:spPr>
            <a:xfrm>
              <a:off x="2345035" y="3767225"/>
              <a:ext cx="305400" cy="21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P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19" name="Google Shape;1819;p89"/>
            <p:cNvSpPr txBox="1"/>
            <p:nvPr/>
          </p:nvSpPr>
          <p:spPr>
            <a:xfrm>
              <a:off x="2345035" y="4201600"/>
              <a:ext cx="305400" cy="21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L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820" name="Google Shape;1820;p89"/>
          <p:cNvGrpSpPr/>
          <p:nvPr/>
        </p:nvGrpSpPr>
        <p:grpSpPr>
          <a:xfrm>
            <a:off x="2122400" y="1568334"/>
            <a:ext cx="928803" cy="3214719"/>
            <a:chOff x="1193597" y="1832383"/>
            <a:chExt cx="928803" cy="2486441"/>
          </a:xfrm>
        </p:grpSpPr>
        <p:sp>
          <p:nvSpPr>
            <p:cNvPr id="1821" name="Google Shape;1821;p89"/>
            <p:cNvSpPr/>
            <p:nvPr/>
          </p:nvSpPr>
          <p:spPr>
            <a:xfrm>
              <a:off x="1193597" y="2086224"/>
              <a:ext cx="928800" cy="2232600"/>
            </a:xfrm>
            <a:prstGeom prst="rect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22" name="Google Shape;1822;p89"/>
            <p:cNvSpPr txBox="1"/>
            <p:nvPr/>
          </p:nvSpPr>
          <p:spPr>
            <a:xfrm>
              <a:off x="1193600" y="1832383"/>
              <a:ext cx="928800" cy="21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mains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823" name="Google Shape;1823;p89"/>
          <p:cNvSpPr/>
          <p:nvPr/>
        </p:nvSpPr>
        <p:spPr>
          <a:xfrm>
            <a:off x="7571071" y="1682547"/>
            <a:ext cx="305400" cy="22917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824" name="Google Shape;1824;p89"/>
          <p:cNvGrpSpPr/>
          <p:nvPr/>
        </p:nvGrpSpPr>
        <p:grpSpPr>
          <a:xfrm>
            <a:off x="3051192" y="1595496"/>
            <a:ext cx="1166112" cy="3189307"/>
            <a:chOff x="1193597" y="1790327"/>
            <a:chExt cx="928803" cy="2466785"/>
          </a:xfrm>
        </p:grpSpPr>
        <p:sp>
          <p:nvSpPr>
            <p:cNvPr id="1825" name="Google Shape;1825;p89"/>
            <p:cNvSpPr/>
            <p:nvPr/>
          </p:nvSpPr>
          <p:spPr>
            <a:xfrm>
              <a:off x="1193597" y="2024512"/>
              <a:ext cx="928800" cy="2232600"/>
            </a:xfrm>
            <a:prstGeom prst="rect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26" name="Google Shape;1826;p89"/>
            <p:cNvSpPr txBox="1"/>
            <p:nvPr/>
          </p:nvSpPr>
          <p:spPr>
            <a:xfrm>
              <a:off x="1193600" y="1790327"/>
              <a:ext cx="928800" cy="21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desserts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827" name="Google Shape;1827;p89"/>
          <p:cNvGrpSpPr/>
          <p:nvPr/>
        </p:nvGrpSpPr>
        <p:grpSpPr>
          <a:xfrm>
            <a:off x="3275298" y="2138182"/>
            <a:ext cx="610200" cy="214034"/>
            <a:chOff x="2716023" y="2138182"/>
            <a:chExt cx="610200" cy="214034"/>
          </a:xfrm>
        </p:grpSpPr>
        <p:cxnSp>
          <p:nvCxnSpPr>
            <p:cNvPr id="1828" name="Google Shape;1828;p89"/>
            <p:cNvCxnSpPr/>
            <p:nvPr/>
          </p:nvCxnSpPr>
          <p:spPr>
            <a:xfrm flipH="1" rot="10800000">
              <a:off x="2716023" y="2138182"/>
              <a:ext cx="610200" cy="939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29" name="Google Shape;1829;p89"/>
            <p:cNvCxnSpPr/>
            <p:nvPr/>
          </p:nvCxnSpPr>
          <p:spPr>
            <a:xfrm>
              <a:off x="2716023" y="2258316"/>
              <a:ext cx="610200" cy="939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830" name="Google Shape;1830;p89"/>
          <p:cNvGrpSpPr/>
          <p:nvPr/>
        </p:nvGrpSpPr>
        <p:grpSpPr>
          <a:xfrm>
            <a:off x="3275298" y="2583982"/>
            <a:ext cx="610200" cy="214034"/>
            <a:chOff x="2716023" y="2583982"/>
            <a:chExt cx="610200" cy="214034"/>
          </a:xfrm>
        </p:grpSpPr>
        <p:cxnSp>
          <p:nvCxnSpPr>
            <p:cNvPr id="1831" name="Google Shape;1831;p89"/>
            <p:cNvCxnSpPr/>
            <p:nvPr/>
          </p:nvCxnSpPr>
          <p:spPr>
            <a:xfrm flipH="1" rot="10800000">
              <a:off x="2716023" y="2583982"/>
              <a:ext cx="610200" cy="939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32" name="Google Shape;1832;p89"/>
            <p:cNvCxnSpPr/>
            <p:nvPr/>
          </p:nvCxnSpPr>
          <p:spPr>
            <a:xfrm>
              <a:off x="2716023" y="2704116"/>
              <a:ext cx="610200" cy="939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833" name="Google Shape;1833;p89"/>
          <p:cNvGrpSpPr/>
          <p:nvPr/>
        </p:nvGrpSpPr>
        <p:grpSpPr>
          <a:xfrm>
            <a:off x="3275298" y="3029783"/>
            <a:ext cx="610200" cy="214034"/>
            <a:chOff x="2716023" y="3029783"/>
            <a:chExt cx="610200" cy="214034"/>
          </a:xfrm>
        </p:grpSpPr>
        <p:cxnSp>
          <p:nvCxnSpPr>
            <p:cNvPr id="1834" name="Google Shape;1834;p89"/>
            <p:cNvCxnSpPr/>
            <p:nvPr/>
          </p:nvCxnSpPr>
          <p:spPr>
            <a:xfrm flipH="1" rot="10800000">
              <a:off x="2716023" y="3029783"/>
              <a:ext cx="610200" cy="939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35" name="Google Shape;1835;p89"/>
            <p:cNvCxnSpPr/>
            <p:nvPr/>
          </p:nvCxnSpPr>
          <p:spPr>
            <a:xfrm>
              <a:off x="2716023" y="3149917"/>
              <a:ext cx="610200" cy="939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836" name="Google Shape;1836;p89"/>
          <p:cNvGrpSpPr/>
          <p:nvPr/>
        </p:nvGrpSpPr>
        <p:grpSpPr>
          <a:xfrm>
            <a:off x="3275298" y="3475583"/>
            <a:ext cx="610200" cy="214034"/>
            <a:chOff x="2716023" y="3475583"/>
            <a:chExt cx="610200" cy="214034"/>
          </a:xfrm>
        </p:grpSpPr>
        <p:cxnSp>
          <p:nvCxnSpPr>
            <p:cNvPr id="1837" name="Google Shape;1837;p89"/>
            <p:cNvCxnSpPr/>
            <p:nvPr/>
          </p:nvCxnSpPr>
          <p:spPr>
            <a:xfrm flipH="1" rot="10800000">
              <a:off x="2716023" y="3475583"/>
              <a:ext cx="610200" cy="939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38" name="Google Shape;1838;p89"/>
            <p:cNvCxnSpPr/>
            <p:nvPr/>
          </p:nvCxnSpPr>
          <p:spPr>
            <a:xfrm>
              <a:off x="2716023" y="3595717"/>
              <a:ext cx="610200" cy="939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839" name="Google Shape;1839;p89"/>
          <p:cNvGrpSpPr/>
          <p:nvPr/>
        </p:nvGrpSpPr>
        <p:grpSpPr>
          <a:xfrm>
            <a:off x="3275298" y="3921384"/>
            <a:ext cx="610200" cy="214034"/>
            <a:chOff x="2716023" y="3921384"/>
            <a:chExt cx="610200" cy="214034"/>
          </a:xfrm>
        </p:grpSpPr>
        <p:cxnSp>
          <p:nvCxnSpPr>
            <p:cNvPr id="1840" name="Google Shape;1840;p89"/>
            <p:cNvCxnSpPr/>
            <p:nvPr/>
          </p:nvCxnSpPr>
          <p:spPr>
            <a:xfrm flipH="1" rot="10800000">
              <a:off x="2716023" y="3921384"/>
              <a:ext cx="610200" cy="939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41" name="Google Shape;1841;p89"/>
            <p:cNvCxnSpPr/>
            <p:nvPr/>
          </p:nvCxnSpPr>
          <p:spPr>
            <a:xfrm>
              <a:off x="2716023" y="4041518"/>
              <a:ext cx="610200" cy="939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842" name="Google Shape;1842;p89"/>
          <p:cNvGrpSpPr/>
          <p:nvPr/>
        </p:nvGrpSpPr>
        <p:grpSpPr>
          <a:xfrm>
            <a:off x="3275298" y="4367184"/>
            <a:ext cx="610200" cy="214034"/>
            <a:chOff x="2716023" y="4367184"/>
            <a:chExt cx="610200" cy="214034"/>
          </a:xfrm>
        </p:grpSpPr>
        <p:cxnSp>
          <p:nvCxnSpPr>
            <p:cNvPr id="1843" name="Google Shape;1843;p89"/>
            <p:cNvCxnSpPr/>
            <p:nvPr/>
          </p:nvCxnSpPr>
          <p:spPr>
            <a:xfrm flipH="1" rot="10800000">
              <a:off x="2716023" y="4367184"/>
              <a:ext cx="610200" cy="939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44" name="Google Shape;1844;p89"/>
            <p:cNvCxnSpPr/>
            <p:nvPr/>
          </p:nvCxnSpPr>
          <p:spPr>
            <a:xfrm>
              <a:off x="2716023" y="4487318"/>
              <a:ext cx="610200" cy="939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845" name="Google Shape;1845;p89"/>
          <p:cNvGrpSpPr/>
          <p:nvPr/>
        </p:nvGrpSpPr>
        <p:grpSpPr>
          <a:xfrm>
            <a:off x="3870217" y="2032584"/>
            <a:ext cx="305400" cy="425239"/>
            <a:chOff x="3310942" y="2032784"/>
            <a:chExt cx="305400" cy="425239"/>
          </a:xfrm>
        </p:grpSpPr>
        <p:sp>
          <p:nvSpPr>
            <p:cNvPr id="1846" name="Google Shape;1846;p89"/>
            <p:cNvSpPr txBox="1"/>
            <p:nvPr/>
          </p:nvSpPr>
          <p:spPr>
            <a:xfrm>
              <a:off x="3310942" y="2032784"/>
              <a:ext cx="305400" cy="21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47" name="Google Shape;1847;p89"/>
            <p:cNvSpPr txBox="1"/>
            <p:nvPr/>
          </p:nvSpPr>
          <p:spPr>
            <a:xfrm>
              <a:off x="3310942" y="2242924"/>
              <a:ext cx="305400" cy="21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848" name="Google Shape;1848;p89"/>
          <p:cNvGrpSpPr/>
          <p:nvPr/>
        </p:nvGrpSpPr>
        <p:grpSpPr>
          <a:xfrm>
            <a:off x="3870217" y="2478384"/>
            <a:ext cx="305400" cy="425239"/>
            <a:chOff x="3310942" y="2032784"/>
            <a:chExt cx="305400" cy="425239"/>
          </a:xfrm>
        </p:grpSpPr>
        <p:sp>
          <p:nvSpPr>
            <p:cNvPr id="1849" name="Google Shape;1849;p89"/>
            <p:cNvSpPr txBox="1"/>
            <p:nvPr/>
          </p:nvSpPr>
          <p:spPr>
            <a:xfrm>
              <a:off x="3310942" y="2032784"/>
              <a:ext cx="305400" cy="21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50" name="Google Shape;1850;p89"/>
            <p:cNvSpPr txBox="1"/>
            <p:nvPr/>
          </p:nvSpPr>
          <p:spPr>
            <a:xfrm>
              <a:off x="3310942" y="2242924"/>
              <a:ext cx="305400" cy="21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851" name="Google Shape;1851;p89"/>
          <p:cNvGrpSpPr/>
          <p:nvPr/>
        </p:nvGrpSpPr>
        <p:grpSpPr>
          <a:xfrm>
            <a:off x="3870217" y="2924184"/>
            <a:ext cx="305400" cy="425239"/>
            <a:chOff x="3310942" y="2032784"/>
            <a:chExt cx="305400" cy="425239"/>
          </a:xfrm>
        </p:grpSpPr>
        <p:sp>
          <p:nvSpPr>
            <p:cNvPr id="1852" name="Google Shape;1852;p89"/>
            <p:cNvSpPr txBox="1"/>
            <p:nvPr/>
          </p:nvSpPr>
          <p:spPr>
            <a:xfrm>
              <a:off x="3310942" y="2032784"/>
              <a:ext cx="305400" cy="21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53" name="Google Shape;1853;p89"/>
            <p:cNvSpPr txBox="1"/>
            <p:nvPr/>
          </p:nvSpPr>
          <p:spPr>
            <a:xfrm>
              <a:off x="3310942" y="2242924"/>
              <a:ext cx="305400" cy="21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854" name="Google Shape;1854;p89"/>
          <p:cNvGrpSpPr/>
          <p:nvPr/>
        </p:nvGrpSpPr>
        <p:grpSpPr>
          <a:xfrm>
            <a:off x="3870217" y="3369984"/>
            <a:ext cx="305400" cy="425239"/>
            <a:chOff x="3310942" y="2032784"/>
            <a:chExt cx="305400" cy="425239"/>
          </a:xfrm>
        </p:grpSpPr>
        <p:sp>
          <p:nvSpPr>
            <p:cNvPr id="1855" name="Google Shape;1855;p89"/>
            <p:cNvSpPr txBox="1"/>
            <p:nvPr/>
          </p:nvSpPr>
          <p:spPr>
            <a:xfrm>
              <a:off x="3310942" y="2032784"/>
              <a:ext cx="305400" cy="21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56" name="Google Shape;1856;p89"/>
            <p:cNvSpPr txBox="1"/>
            <p:nvPr/>
          </p:nvSpPr>
          <p:spPr>
            <a:xfrm>
              <a:off x="3310942" y="2242924"/>
              <a:ext cx="305400" cy="21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857" name="Google Shape;1857;p89"/>
          <p:cNvGrpSpPr/>
          <p:nvPr/>
        </p:nvGrpSpPr>
        <p:grpSpPr>
          <a:xfrm>
            <a:off x="3870217" y="3815784"/>
            <a:ext cx="305400" cy="425239"/>
            <a:chOff x="3310942" y="2032784"/>
            <a:chExt cx="305400" cy="425239"/>
          </a:xfrm>
        </p:grpSpPr>
        <p:sp>
          <p:nvSpPr>
            <p:cNvPr id="1858" name="Google Shape;1858;p89"/>
            <p:cNvSpPr txBox="1"/>
            <p:nvPr/>
          </p:nvSpPr>
          <p:spPr>
            <a:xfrm>
              <a:off x="3310942" y="2032784"/>
              <a:ext cx="305400" cy="21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59" name="Google Shape;1859;p89"/>
            <p:cNvSpPr txBox="1"/>
            <p:nvPr/>
          </p:nvSpPr>
          <p:spPr>
            <a:xfrm>
              <a:off x="3310942" y="2242924"/>
              <a:ext cx="305400" cy="21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860" name="Google Shape;1860;p89"/>
          <p:cNvGrpSpPr/>
          <p:nvPr/>
        </p:nvGrpSpPr>
        <p:grpSpPr>
          <a:xfrm>
            <a:off x="3870217" y="4261584"/>
            <a:ext cx="305400" cy="425239"/>
            <a:chOff x="3310942" y="2032784"/>
            <a:chExt cx="305400" cy="425239"/>
          </a:xfrm>
        </p:grpSpPr>
        <p:sp>
          <p:nvSpPr>
            <p:cNvPr id="1861" name="Google Shape;1861;p89"/>
            <p:cNvSpPr txBox="1"/>
            <p:nvPr/>
          </p:nvSpPr>
          <p:spPr>
            <a:xfrm>
              <a:off x="3310942" y="2032784"/>
              <a:ext cx="305400" cy="21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62" name="Google Shape;1862;p89"/>
            <p:cNvSpPr txBox="1"/>
            <p:nvPr/>
          </p:nvSpPr>
          <p:spPr>
            <a:xfrm>
              <a:off x="3310942" y="2242924"/>
              <a:ext cx="305400" cy="21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863" name="Google Shape;1863;p89"/>
          <p:cNvSpPr/>
          <p:nvPr/>
        </p:nvSpPr>
        <p:spPr>
          <a:xfrm>
            <a:off x="7867547" y="1682547"/>
            <a:ext cx="305400" cy="22917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7" name="Shape 1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8" name="Google Shape;1868;p90"/>
          <p:cNvSpPr txBox="1"/>
          <p:nvPr/>
        </p:nvSpPr>
        <p:spPr>
          <a:xfrm>
            <a:off x="338225" y="623050"/>
            <a:ext cx="66699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It is possible to take an incomplete list of outcomes and create a sample space of all outcomes using an outcome tree.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9" name="Google Shape;1869;p9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Multi-stage trials with lists and outcome trees</a:t>
            </a:r>
            <a:endParaRPr/>
          </a:p>
        </p:txBody>
      </p:sp>
      <p:grpSp>
        <p:nvGrpSpPr>
          <p:cNvPr id="1870" name="Google Shape;1870;p90"/>
          <p:cNvGrpSpPr/>
          <p:nvPr/>
        </p:nvGrpSpPr>
        <p:grpSpPr>
          <a:xfrm>
            <a:off x="1592900" y="2603691"/>
            <a:ext cx="305400" cy="1508408"/>
            <a:chOff x="1592900" y="2233370"/>
            <a:chExt cx="305400" cy="1944075"/>
          </a:xfrm>
        </p:grpSpPr>
        <p:sp>
          <p:nvSpPr>
            <p:cNvPr id="1871" name="Google Shape;1871;p90"/>
            <p:cNvSpPr txBox="1"/>
            <p:nvPr/>
          </p:nvSpPr>
          <p:spPr>
            <a:xfrm>
              <a:off x="1592900" y="2233370"/>
              <a:ext cx="3054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G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72" name="Google Shape;1872;p90"/>
            <p:cNvSpPr txBox="1"/>
            <p:nvPr/>
          </p:nvSpPr>
          <p:spPr>
            <a:xfrm>
              <a:off x="1592900" y="3900245"/>
              <a:ext cx="3054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S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873" name="Google Shape;1873;p90"/>
          <p:cNvGrpSpPr/>
          <p:nvPr/>
        </p:nvGrpSpPr>
        <p:grpSpPr>
          <a:xfrm>
            <a:off x="1193600" y="2674070"/>
            <a:ext cx="399300" cy="1367459"/>
            <a:chOff x="1193600" y="2521670"/>
            <a:chExt cx="399300" cy="1367459"/>
          </a:xfrm>
        </p:grpSpPr>
        <p:cxnSp>
          <p:nvCxnSpPr>
            <p:cNvPr id="1874" name="Google Shape;1874;p90"/>
            <p:cNvCxnSpPr/>
            <p:nvPr/>
          </p:nvCxnSpPr>
          <p:spPr>
            <a:xfrm flipH="1" rot="10800000">
              <a:off x="1193600" y="2521670"/>
              <a:ext cx="399300" cy="6000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75" name="Google Shape;1875;p90"/>
            <p:cNvCxnSpPr/>
            <p:nvPr/>
          </p:nvCxnSpPr>
          <p:spPr>
            <a:xfrm>
              <a:off x="1193600" y="3289130"/>
              <a:ext cx="399300" cy="6000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876" name="Google Shape;1876;p90"/>
          <p:cNvGrpSpPr/>
          <p:nvPr/>
        </p:nvGrpSpPr>
        <p:grpSpPr>
          <a:xfrm>
            <a:off x="1919843" y="2244368"/>
            <a:ext cx="438300" cy="891812"/>
            <a:chOff x="1919856" y="1821985"/>
            <a:chExt cx="438300" cy="1107704"/>
          </a:xfrm>
        </p:grpSpPr>
        <p:cxnSp>
          <p:nvCxnSpPr>
            <p:cNvPr id="1877" name="Google Shape;1877;p90"/>
            <p:cNvCxnSpPr/>
            <p:nvPr/>
          </p:nvCxnSpPr>
          <p:spPr>
            <a:xfrm flipH="1" rot="10800000">
              <a:off x="1919888" y="1821985"/>
              <a:ext cx="436800" cy="4860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78" name="Google Shape;1878;p90"/>
            <p:cNvCxnSpPr/>
            <p:nvPr/>
          </p:nvCxnSpPr>
          <p:spPr>
            <a:xfrm>
              <a:off x="1919888" y="2443688"/>
              <a:ext cx="436800" cy="4860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79" name="Google Shape;1879;p90"/>
            <p:cNvCxnSpPr/>
            <p:nvPr/>
          </p:nvCxnSpPr>
          <p:spPr>
            <a:xfrm>
              <a:off x="1919856" y="2376187"/>
              <a:ext cx="438300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880" name="Google Shape;1880;p90"/>
          <p:cNvGrpSpPr/>
          <p:nvPr/>
        </p:nvGrpSpPr>
        <p:grpSpPr>
          <a:xfrm>
            <a:off x="1919843" y="3581268"/>
            <a:ext cx="438300" cy="891812"/>
            <a:chOff x="1919856" y="3482524"/>
            <a:chExt cx="438300" cy="1107704"/>
          </a:xfrm>
        </p:grpSpPr>
        <p:cxnSp>
          <p:nvCxnSpPr>
            <p:cNvPr id="1881" name="Google Shape;1881;p90"/>
            <p:cNvCxnSpPr/>
            <p:nvPr/>
          </p:nvCxnSpPr>
          <p:spPr>
            <a:xfrm flipH="1" rot="10800000">
              <a:off x="1919888" y="3482524"/>
              <a:ext cx="436800" cy="4860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82" name="Google Shape;1882;p90"/>
            <p:cNvCxnSpPr/>
            <p:nvPr/>
          </p:nvCxnSpPr>
          <p:spPr>
            <a:xfrm>
              <a:off x="1919888" y="4104227"/>
              <a:ext cx="436800" cy="4860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83" name="Google Shape;1883;p90"/>
            <p:cNvCxnSpPr/>
            <p:nvPr/>
          </p:nvCxnSpPr>
          <p:spPr>
            <a:xfrm>
              <a:off x="1919856" y="4036726"/>
              <a:ext cx="438300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884" name="Google Shape;1884;p90"/>
          <p:cNvGrpSpPr/>
          <p:nvPr/>
        </p:nvGrpSpPr>
        <p:grpSpPr>
          <a:xfrm>
            <a:off x="2345035" y="2148346"/>
            <a:ext cx="305400" cy="1083854"/>
            <a:chOff x="2345035" y="1995946"/>
            <a:chExt cx="305400" cy="1083854"/>
          </a:xfrm>
        </p:grpSpPr>
        <p:sp>
          <p:nvSpPr>
            <p:cNvPr id="1885" name="Google Shape;1885;p90"/>
            <p:cNvSpPr txBox="1"/>
            <p:nvPr/>
          </p:nvSpPr>
          <p:spPr>
            <a:xfrm>
              <a:off x="2345035" y="1995946"/>
              <a:ext cx="305400" cy="21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86" name="Google Shape;1886;p90"/>
            <p:cNvSpPr txBox="1"/>
            <p:nvPr/>
          </p:nvSpPr>
          <p:spPr>
            <a:xfrm>
              <a:off x="2345035" y="2430325"/>
              <a:ext cx="305400" cy="21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P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87" name="Google Shape;1887;p90"/>
            <p:cNvSpPr txBox="1"/>
            <p:nvPr/>
          </p:nvSpPr>
          <p:spPr>
            <a:xfrm>
              <a:off x="2345035" y="2864700"/>
              <a:ext cx="305400" cy="21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L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888" name="Google Shape;1888;p90"/>
          <p:cNvGrpSpPr/>
          <p:nvPr/>
        </p:nvGrpSpPr>
        <p:grpSpPr>
          <a:xfrm>
            <a:off x="2345035" y="3485246"/>
            <a:ext cx="305400" cy="1083854"/>
            <a:chOff x="2345035" y="3332846"/>
            <a:chExt cx="305400" cy="1083854"/>
          </a:xfrm>
        </p:grpSpPr>
        <p:sp>
          <p:nvSpPr>
            <p:cNvPr id="1889" name="Google Shape;1889;p90"/>
            <p:cNvSpPr txBox="1"/>
            <p:nvPr/>
          </p:nvSpPr>
          <p:spPr>
            <a:xfrm>
              <a:off x="2345035" y="3332846"/>
              <a:ext cx="305400" cy="21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90" name="Google Shape;1890;p90"/>
            <p:cNvSpPr txBox="1"/>
            <p:nvPr/>
          </p:nvSpPr>
          <p:spPr>
            <a:xfrm>
              <a:off x="2345035" y="3767225"/>
              <a:ext cx="305400" cy="21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P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91" name="Google Shape;1891;p90"/>
            <p:cNvSpPr txBox="1"/>
            <p:nvPr/>
          </p:nvSpPr>
          <p:spPr>
            <a:xfrm>
              <a:off x="2345035" y="4201600"/>
              <a:ext cx="305400" cy="21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L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892" name="Google Shape;1892;p90"/>
          <p:cNvGrpSpPr/>
          <p:nvPr/>
        </p:nvGrpSpPr>
        <p:grpSpPr>
          <a:xfrm>
            <a:off x="2716023" y="2138182"/>
            <a:ext cx="610200" cy="214034"/>
            <a:chOff x="2716023" y="2138182"/>
            <a:chExt cx="610200" cy="214034"/>
          </a:xfrm>
        </p:grpSpPr>
        <p:cxnSp>
          <p:nvCxnSpPr>
            <p:cNvPr id="1893" name="Google Shape;1893;p90"/>
            <p:cNvCxnSpPr/>
            <p:nvPr/>
          </p:nvCxnSpPr>
          <p:spPr>
            <a:xfrm flipH="1" rot="10800000">
              <a:off x="2716023" y="2138182"/>
              <a:ext cx="610200" cy="939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94" name="Google Shape;1894;p90"/>
            <p:cNvCxnSpPr/>
            <p:nvPr/>
          </p:nvCxnSpPr>
          <p:spPr>
            <a:xfrm>
              <a:off x="2716023" y="2258316"/>
              <a:ext cx="610200" cy="939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895" name="Google Shape;1895;p90"/>
          <p:cNvGrpSpPr/>
          <p:nvPr/>
        </p:nvGrpSpPr>
        <p:grpSpPr>
          <a:xfrm>
            <a:off x="2716023" y="2583982"/>
            <a:ext cx="610200" cy="214034"/>
            <a:chOff x="2716023" y="2583982"/>
            <a:chExt cx="610200" cy="214034"/>
          </a:xfrm>
        </p:grpSpPr>
        <p:cxnSp>
          <p:nvCxnSpPr>
            <p:cNvPr id="1896" name="Google Shape;1896;p90"/>
            <p:cNvCxnSpPr/>
            <p:nvPr/>
          </p:nvCxnSpPr>
          <p:spPr>
            <a:xfrm flipH="1" rot="10800000">
              <a:off x="2716023" y="2583982"/>
              <a:ext cx="610200" cy="939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97" name="Google Shape;1897;p90"/>
            <p:cNvCxnSpPr/>
            <p:nvPr/>
          </p:nvCxnSpPr>
          <p:spPr>
            <a:xfrm>
              <a:off x="2716023" y="2704116"/>
              <a:ext cx="610200" cy="939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898" name="Google Shape;1898;p90"/>
          <p:cNvGrpSpPr/>
          <p:nvPr/>
        </p:nvGrpSpPr>
        <p:grpSpPr>
          <a:xfrm>
            <a:off x="2716023" y="3029783"/>
            <a:ext cx="610200" cy="214034"/>
            <a:chOff x="2716023" y="3029783"/>
            <a:chExt cx="610200" cy="214034"/>
          </a:xfrm>
        </p:grpSpPr>
        <p:cxnSp>
          <p:nvCxnSpPr>
            <p:cNvPr id="1899" name="Google Shape;1899;p90"/>
            <p:cNvCxnSpPr/>
            <p:nvPr/>
          </p:nvCxnSpPr>
          <p:spPr>
            <a:xfrm flipH="1" rot="10800000">
              <a:off x="2716023" y="3029783"/>
              <a:ext cx="610200" cy="939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00" name="Google Shape;1900;p90"/>
            <p:cNvCxnSpPr/>
            <p:nvPr/>
          </p:nvCxnSpPr>
          <p:spPr>
            <a:xfrm>
              <a:off x="2716023" y="3149917"/>
              <a:ext cx="610200" cy="939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901" name="Google Shape;1901;p90"/>
          <p:cNvGrpSpPr/>
          <p:nvPr/>
        </p:nvGrpSpPr>
        <p:grpSpPr>
          <a:xfrm>
            <a:off x="2716023" y="3475583"/>
            <a:ext cx="610200" cy="214034"/>
            <a:chOff x="2716023" y="3475583"/>
            <a:chExt cx="610200" cy="214034"/>
          </a:xfrm>
        </p:grpSpPr>
        <p:cxnSp>
          <p:nvCxnSpPr>
            <p:cNvPr id="1902" name="Google Shape;1902;p90"/>
            <p:cNvCxnSpPr/>
            <p:nvPr/>
          </p:nvCxnSpPr>
          <p:spPr>
            <a:xfrm flipH="1" rot="10800000">
              <a:off x="2716023" y="3475583"/>
              <a:ext cx="610200" cy="939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03" name="Google Shape;1903;p90"/>
            <p:cNvCxnSpPr/>
            <p:nvPr/>
          </p:nvCxnSpPr>
          <p:spPr>
            <a:xfrm>
              <a:off x="2716023" y="3595717"/>
              <a:ext cx="610200" cy="939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904" name="Google Shape;1904;p90"/>
          <p:cNvGrpSpPr/>
          <p:nvPr/>
        </p:nvGrpSpPr>
        <p:grpSpPr>
          <a:xfrm>
            <a:off x="2716023" y="3921384"/>
            <a:ext cx="610200" cy="214034"/>
            <a:chOff x="2716023" y="3921384"/>
            <a:chExt cx="610200" cy="214034"/>
          </a:xfrm>
        </p:grpSpPr>
        <p:cxnSp>
          <p:nvCxnSpPr>
            <p:cNvPr id="1905" name="Google Shape;1905;p90"/>
            <p:cNvCxnSpPr/>
            <p:nvPr/>
          </p:nvCxnSpPr>
          <p:spPr>
            <a:xfrm flipH="1" rot="10800000">
              <a:off x="2716023" y="3921384"/>
              <a:ext cx="610200" cy="939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06" name="Google Shape;1906;p90"/>
            <p:cNvCxnSpPr/>
            <p:nvPr/>
          </p:nvCxnSpPr>
          <p:spPr>
            <a:xfrm>
              <a:off x="2716023" y="4041518"/>
              <a:ext cx="610200" cy="939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907" name="Google Shape;1907;p90"/>
          <p:cNvGrpSpPr/>
          <p:nvPr/>
        </p:nvGrpSpPr>
        <p:grpSpPr>
          <a:xfrm>
            <a:off x="2716023" y="4367184"/>
            <a:ext cx="610200" cy="214034"/>
            <a:chOff x="2716023" y="4367184"/>
            <a:chExt cx="610200" cy="214034"/>
          </a:xfrm>
        </p:grpSpPr>
        <p:cxnSp>
          <p:nvCxnSpPr>
            <p:cNvPr id="1908" name="Google Shape;1908;p90"/>
            <p:cNvCxnSpPr/>
            <p:nvPr/>
          </p:nvCxnSpPr>
          <p:spPr>
            <a:xfrm flipH="1" rot="10800000">
              <a:off x="2716023" y="4367184"/>
              <a:ext cx="610200" cy="939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09" name="Google Shape;1909;p90"/>
            <p:cNvCxnSpPr/>
            <p:nvPr/>
          </p:nvCxnSpPr>
          <p:spPr>
            <a:xfrm>
              <a:off x="2716023" y="4487318"/>
              <a:ext cx="610200" cy="939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910" name="Google Shape;1910;p90"/>
          <p:cNvGrpSpPr/>
          <p:nvPr/>
        </p:nvGrpSpPr>
        <p:grpSpPr>
          <a:xfrm>
            <a:off x="3310942" y="2032584"/>
            <a:ext cx="305400" cy="425239"/>
            <a:chOff x="3310942" y="2032784"/>
            <a:chExt cx="305400" cy="425239"/>
          </a:xfrm>
        </p:grpSpPr>
        <p:sp>
          <p:nvSpPr>
            <p:cNvPr id="1911" name="Google Shape;1911;p90"/>
            <p:cNvSpPr txBox="1"/>
            <p:nvPr/>
          </p:nvSpPr>
          <p:spPr>
            <a:xfrm>
              <a:off x="3310942" y="2032784"/>
              <a:ext cx="305400" cy="21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12" name="Google Shape;1912;p90"/>
            <p:cNvSpPr txBox="1"/>
            <p:nvPr/>
          </p:nvSpPr>
          <p:spPr>
            <a:xfrm>
              <a:off x="3310942" y="2242924"/>
              <a:ext cx="305400" cy="21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913" name="Google Shape;1913;p90"/>
          <p:cNvGrpSpPr/>
          <p:nvPr/>
        </p:nvGrpSpPr>
        <p:grpSpPr>
          <a:xfrm>
            <a:off x="3310942" y="2478384"/>
            <a:ext cx="305400" cy="425239"/>
            <a:chOff x="3310942" y="2032784"/>
            <a:chExt cx="305400" cy="425239"/>
          </a:xfrm>
        </p:grpSpPr>
        <p:sp>
          <p:nvSpPr>
            <p:cNvPr id="1914" name="Google Shape;1914;p90"/>
            <p:cNvSpPr txBox="1"/>
            <p:nvPr/>
          </p:nvSpPr>
          <p:spPr>
            <a:xfrm>
              <a:off x="3310942" y="2032784"/>
              <a:ext cx="305400" cy="21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15" name="Google Shape;1915;p90"/>
            <p:cNvSpPr txBox="1"/>
            <p:nvPr/>
          </p:nvSpPr>
          <p:spPr>
            <a:xfrm>
              <a:off x="3310942" y="2242924"/>
              <a:ext cx="305400" cy="21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916" name="Google Shape;1916;p90"/>
          <p:cNvGrpSpPr/>
          <p:nvPr/>
        </p:nvGrpSpPr>
        <p:grpSpPr>
          <a:xfrm>
            <a:off x="3310942" y="2924184"/>
            <a:ext cx="305400" cy="425239"/>
            <a:chOff x="3310942" y="2032784"/>
            <a:chExt cx="305400" cy="425239"/>
          </a:xfrm>
        </p:grpSpPr>
        <p:sp>
          <p:nvSpPr>
            <p:cNvPr id="1917" name="Google Shape;1917;p90"/>
            <p:cNvSpPr txBox="1"/>
            <p:nvPr/>
          </p:nvSpPr>
          <p:spPr>
            <a:xfrm>
              <a:off x="3310942" y="2032784"/>
              <a:ext cx="305400" cy="21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18" name="Google Shape;1918;p90"/>
            <p:cNvSpPr txBox="1"/>
            <p:nvPr/>
          </p:nvSpPr>
          <p:spPr>
            <a:xfrm>
              <a:off x="3310942" y="2242924"/>
              <a:ext cx="305400" cy="21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919" name="Google Shape;1919;p90"/>
          <p:cNvGrpSpPr/>
          <p:nvPr/>
        </p:nvGrpSpPr>
        <p:grpSpPr>
          <a:xfrm>
            <a:off x="3310942" y="3369984"/>
            <a:ext cx="305400" cy="425239"/>
            <a:chOff x="3310942" y="2032784"/>
            <a:chExt cx="305400" cy="425239"/>
          </a:xfrm>
        </p:grpSpPr>
        <p:sp>
          <p:nvSpPr>
            <p:cNvPr id="1920" name="Google Shape;1920;p90"/>
            <p:cNvSpPr txBox="1"/>
            <p:nvPr/>
          </p:nvSpPr>
          <p:spPr>
            <a:xfrm>
              <a:off x="3310942" y="2032784"/>
              <a:ext cx="305400" cy="21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21" name="Google Shape;1921;p90"/>
            <p:cNvSpPr txBox="1"/>
            <p:nvPr/>
          </p:nvSpPr>
          <p:spPr>
            <a:xfrm>
              <a:off x="3310942" y="2242924"/>
              <a:ext cx="305400" cy="21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922" name="Google Shape;1922;p90"/>
          <p:cNvGrpSpPr/>
          <p:nvPr/>
        </p:nvGrpSpPr>
        <p:grpSpPr>
          <a:xfrm>
            <a:off x="3310942" y="3815784"/>
            <a:ext cx="305400" cy="425239"/>
            <a:chOff x="3310942" y="2032784"/>
            <a:chExt cx="305400" cy="425239"/>
          </a:xfrm>
        </p:grpSpPr>
        <p:sp>
          <p:nvSpPr>
            <p:cNvPr id="1923" name="Google Shape;1923;p90"/>
            <p:cNvSpPr txBox="1"/>
            <p:nvPr/>
          </p:nvSpPr>
          <p:spPr>
            <a:xfrm>
              <a:off x="3310942" y="2032784"/>
              <a:ext cx="305400" cy="21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24" name="Google Shape;1924;p90"/>
            <p:cNvSpPr txBox="1"/>
            <p:nvPr/>
          </p:nvSpPr>
          <p:spPr>
            <a:xfrm>
              <a:off x="3310942" y="2242924"/>
              <a:ext cx="305400" cy="21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925" name="Google Shape;1925;p90"/>
          <p:cNvGrpSpPr/>
          <p:nvPr/>
        </p:nvGrpSpPr>
        <p:grpSpPr>
          <a:xfrm>
            <a:off x="3310942" y="4261584"/>
            <a:ext cx="305400" cy="425239"/>
            <a:chOff x="3310942" y="2032784"/>
            <a:chExt cx="305400" cy="425239"/>
          </a:xfrm>
        </p:grpSpPr>
        <p:sp>
          <p:nvSpPr>
            <p:cNvPr id="1926" name="Google Shape;1926;p90"/>
            <p:cNvSpPr txBox="1"/>
            <p:nvPr/>
          </p:nvSpPr>
          <p:spPr>
            <a:xfrm>
              <a:off x="3310942" y="2032784"/>
              <a:ext cx="305400" cy="21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27" name="Google Shape;1927;p90"/>
            <p:cNvSpPr txBox="1"/>
            <p:nvPr/>
          </p:nvSpPr>
          <p:spPr>
            <a:xfrm>
              <a:off x="3310942" y="2242924"/>
              <a:ext cx="305400" cy="21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928" name="Google Shape;1928;p90"/>
          <p:cNvSpPr txBox="1"/>
          <p:nvPr/>
        </p:nvSpPr>
        <p:spPr>
          <a:xfrm>
            <a:off x="3779452" y="2242706"/>
            <a:ext cx="1044600" cy="21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GC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9" name="Google Shape;1929;p90"/>
          <p:cNvSpPr txBox="1"/>
          <p:nvPr/>
        </p:nvSpPr>
        <p:spPr>
          <a:xfrm>
            <a:off x="3779452" y="2478369"/>
            <a:ext cx="1044600" cy="21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GPI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0" name="Google Shape;1930;p90"/>
          <p:cNvSpPr txBox="1"/>
          <p:nvPr/>
        </p:nvSpPr>
        <p:spPr>
          <a:xfrm>
            <a:off x="3779452" y="2688508"/>
            <a:ext cx="1044600" cy="21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GPB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1" name="Google Shape;1931;p90"/>
          <p:cNvSpPr txBox="1"/>
          <p:nvPr/>
        </p:nvSpPr>
        <p:spPr>
          <a:xfrm>
            <a:off x="3779452" y="2924170"/>
            <a:ext cx="1044600" cy="21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GLI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2" name="Google Shape;1932;p90"/>
          <p:cNvSpPr txBox="1"/>
          <p:nvPr/>
        </p:nvSpPr>
        <p:spPr>
          <a:xfrm>
            <a:off x="3779452" y="3134310"/>
            <a:ext cx="1044600" cy="21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GLB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3" name="Google Shape;1933;p90"/>
          <p:cNvSpPr txBox="1"/>
          <p:nvPr/>
        </p:nvSpPr>
        <p:spPr>
          <a:xfrm>
            <a:off x="3779452" y="3580112"/>
            <a:ext cx="1044600" cy="21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SC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4" name="Google Shape;1934;p90"/>
          <p:cNvSpPr txBox="1"/>
          <p:nvPr/>
        </p:nvSpPr>
        <p:spPr>
          <a:xfrm>
            <a:off x="3779452" y="3815774"/>
            <a:ext cx="1044600" cy="21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SPI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5" name="Google Shape;1935;p90"/>
          <p:cNvSpPr txBox="1"/>
          <p:nvPr/>
        </p:nvSpPr>
        <p:spPr>
          <a:xfrm>
            <a:off x="3779452" y="4025913"/>
            <a:ext cx="1044600" cy="21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SPB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6" name="Google Shape;1936;p90"/>
          <p:cNvSpPr txBox="1"/>
          <p:nvPr/>
        </p:nvSpPr>
        <p:spPr>
          <a:xfrm>
            <a:off x="3779452" y="4261576"/>
            <a:ext cx="1044600" cy="21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SLI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7" name="Google Shape;1937;p90"/>
          <p:cNvSpPr txBox="1"/>
          <p:nvPr/>
        </p:nvSpPr>
        <p:spPr>
          <a:xfrm>
            <a:off x="3779452" y="4471715"/>
            <a:ext cx="1044600" cy="21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SLB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8" name="Google Shape;1938;p90"/>
          <p:cNvSpPr txBox="1"/>
          <p:nvPr/>
        </p:nvSpPr>
        <p:spPr>
          <a:xfrm>
            <a:off x="3779452" y="2032567"/>
            <a:ext cx="1044600" cy="21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GCI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9" name="Google Shape;1939;p90"/>
          <p:cNvSpPr txBox="1"/>
          <p:nvPr/>
        </p:nvSpPr>
        <p:spPr>
          <a:xfrm>
            <a:off x="3779452" y="3369972"/>
            <a:ext cx="1044600" cy="21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SCI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940" name="Google Shape;1940;p90"/>
          <p:cNvGrpSpPr/>
          <p:nvPr/>
        </p:nvGrpSpPr>
        <p:grpSpPr>
          <a:xfrm>
            <a:off x="3328573" y="1623525"/>
            <a:ext cx="1946151" cy="3180240"/>
            <a:chOff x="882896" y="1832386"/>
            <a:chExt cx="1550100" cy="2459773"/>
          </a:xfrm>
        </p:grpSpPr>
        <p:sp>
          <p:nvSpPr>
            <p:cNvPr id="1941" name="Google Shape;1941;p90"/>
            <p:cNvSpPr/>
            <p:nvPr/>
          </p:nvSpPr>
          <p:spPr>
            <a:xfrm>
              <a:off x="1193597" y="2059559"/>
              <a:ext cx="928800" cy="2232600"/>
            </a:xfrm>
            <a:prstGeom prst="rect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42" name="Google Shape;1942;p90"/>
            <p:cNvSpPr txBox="1"/>
            <p:nvPr/>
          </p:nvSpPr>
          <p:spPr>
            <a:xfrm>
              <a:off x="882896" y="1832386"/>
              <a:ext cx="1550100" cy="21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sample space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aphicFrame>
        <p:nvGraphicFramePr>
          <p:cNvPr id="1943" name="Google Shape;1943;p90"/>
          <p:cNvGraphicFramePr/>
          <p:nvPr/>
        </p:nvGraphicFramePr>
        <p:xfrm>
          <a:off x="6817650" y="121425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{471181EF-68B9-4DC5-A393-97BDB0EA0B63}</a:tableStyleId>
              </a:tblPr>
              <a:tblGrid>
                <a:gridCol w="1776000"/>
              </a:tblGrid>
              <a:tr h="47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G C I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S P B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G L B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S C B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G P B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???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7" name="Shape 1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48" name="Google Shape;1948;p91"/>
          <p:cNvGraphicFramePr/>
          <p:nvPr/>
        </p:nvGraphicFramePr>
        <p:xfrm>
          <a:off x="6817650" y="121425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{471181EF-68B9-4DC5-A393-97BDB0EA0B63}</a:tableStyleId>
              </a:tblPr>
              <a:tblGrid>
                <a:gridCol w="1776000"/>
              </a:tblGrid>
              <a:tr h="47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 1 T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 2 T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 2 H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 1 T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949" name="Google Shape;1949;p91"/>
          <p:cNvSpPr/>
          <p:nvPr/>
        </p:nvSpPr>
        <p:spPr>
          <a:xfrm>
            <a:off x="7342959" y="1214250"/>
            <a:ext cx="305400" cy="19035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0" name="Google Shape;1950;p9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Multi-stage trials with lists and outcome trees</a:t>
            </a:r>
            <a:endParaRPr/>
          </a:p>
        </p:txBody>
      </p:sp>
      <p:sp>
        <p:nvSpPr>
          <p:cNvPr id="1951" name="Google Shape;1951;p91"/>
          <p:cNvSpPr txBox="1"/>
          <p:nvPr/>
        </p:nvSpPr>
        <p:spPr>
          <a:xfrm>
            <a:off x="338225" y="623050"/>
            <a:ext cx="64794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This list shows a partially completed list of outcomes for a three-stage trial.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Sofia wants to show this trial on an outcome tree.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2" name="Google Shape;1952;p91"/>
          <p:cNvSpPr txBox="1"/>
          <p:nvPr/>
        </p:nvSpPr>
        <p:spPr>
          <a:xfrm>
            <a:off x="338225" y="1537725"/>
            <a:ext cx="6479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How many branches should the first layer of the outcome tree have?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953" name="Google Shape;1953;p91"/>
          <p:cNvGrpSpPr/>
          <p:nvPr/>
        </p:nvGrpSpPr>
        <p:grpSpPr>
          <a:xfrm>
            <a:off x="1383650" y="2255046"/>
            <a:ext cx="1215700" cy="2309416"/>
            <a:chOff x="1993250" y="2331246"/>
            <a:chExt cx="1215700" cy="2309416"/>
          </a:xfrm>
        </p:grpSpPr>
        <p:grpSp>
          <p:nvGrpSpPr>
            <p:cNvPr id="1954" name="Google Shape;1954;p91"/>
            <p:cNvGrpSpPr/>
            <p:nvPr/>
          </p:nvGrpSpPr>
          <p:grpSpPr>
            <a:xfrm>
              <a:off x="1993250" y="2331246"/>
              <a:ext cx="1175100" cy="2309416"/>
              <a:chOff x="3077130" y="2101130"/>
              <a:chExt cx="1175100" cy="1576824"/>
            </a:xfrm>
          </p:grpSpPr>
          <p:cxnSp>
            <p:nvCxnSpPr>
              <p:cNvPr id="1955" name="Google Shape;1955;p91"/>
              <p:cNvCxnSpPr/>
              <p:nvPr/>
            </p:nvCxnSpPr>
            <p:spPr>
              <a:xfrm flipH="1" rot="10800000">
                <a:off x="3077130" y="2101130"/>
                <a:ext cx="1175100" cy="6918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56" name="Google Shape;1956;p91"/>
              <p:cNvCxnSpPr/>
              <p:nvPr/>
            </p:nvCxnSpPr>
            <p:spPr>
              <a:xfrm>
                <a:off x="3077130" y="2986154"/>
                <a:ext cx="1175100" cy="6918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957" name="Google Shape;1957;p91"/>
            <p:cNvGrpSpPr/>
            <p:nvPr/>
          </p:nvGrpSpPr>
          <p:grpSpPr>
            <a:xfrm>
              <a:off x="2033850" y="3003558"/>
              <a:ext cx="1175100" cy="965331"/>
              <a:chOff x="3077130" y="2101130"/>
              <a:chExt cx="1175100" cy="1576824"/>
            </a:xfrm>
          </p:grpSpPr>
          <p:cxnSp>
            <p:nvCxnSpPr>
              <p:cNvPr id="1958" name="Google Shape;1958;p91"/>
              <p:cNvCxnSpPr/>
              <p:nvPr/>
            </p:nvCxnSpPr>
            <p:spPr>
              <a:xfrm flipH="1" rot="10800000">
                <a:off x="3077130" y="2101130"/>
                <a:ext cx="1175100" cy="6918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59" name="Google Shape;1959;p91"/>
              <p:cNvCxnSpPr/>
              <p:nvPr/>
            </p:nvCxnSpPr>
            <p:spPr>
              <a:xfrm>
                <a:off x="3077130" y="2986154"/>
                <a:ext cx="1175100" cy="6918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1960" name="Google Shape;1960;p91"/>
          <p:cNvSpPr txBox="1"/>
          <p:nvPr/>
        </p:nvSpPr>
        <p:spPr>
          <a:xfrm>
            <a:off x="2595617" y="2137900"/>
            <a:ext cx="473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61" name="Google Shape;1961;p91"/>
          <p:cNvSpPr txBox="1"/>
          <p:nvPr/>
        </p:nvSpPr>
        <p:spPr>
          <a:xfrm>
            <a:off x="2585972" y="2806572"/>
            <a:ext cx="473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B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62" name="Google Shape;1962;p91"/>
          <p:cNvSpPr txBox="1"/>
          <p:nvPr/>
        </p:nvSpPr>
        <p:spPr>
          <a:xfrm>
            <a:off x="2595617" y="3735755"/>
            <a:ext cx="473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C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63" name="Google Shape;1963;p91"/>
          <p:cNvSpPr txBox="1"/>
          <p:nvPr/>
        </p:nvSpPr>
        <p:spPr>
          <a:xfrm>
            <a:off x="2585972" y="4404426"/>
            <a:ext cx="473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D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64" name="Google Shape;1964;p91"/>
          <p:cNvSpPr txBox="1"/>
          <p:nvPr/>
        </p:nvSpPr>
        <p:spPr>
          <a:xfrm>
            <a:off x="3881520" y="3320850"/>
            <a:ext cx="1731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4 branches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8" name="Shape 1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69" name="Google Shape;1969;p92"/>
          <p:cNvGraphicFramePr/>
          <p:nvPr/>
        </p:nvGraphicFramePr>
        <p:xfrm>
          <a:off x="6817650" y="121425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{471181EF-68B9-4DC5-A393-97BDB0EA0B63}</a:tableStyleId>
              </a:tblPr>
              <a:tblGrid>
                <a:gridCol w="1776000"/>
              </a:tblGrid>
              <a:tr h="47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 1 T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 2 T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 2 H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 1 T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970" name="Google Shape;1970;p92"/>
          <p:cNvSpPr/>
          <p:nvPr/>
        </p:nvSpPr>
        <p:spPr>
          <a:xfrm>
            <a:off x="2857575" y="1966200"/>
            <a:ext cx="1441200" cy="28521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1" name="Google Shape;1971;p92"/>
          <p:cNvSpPr txBox="1"/>
          <p:nvPr/>
        </p:nvSpPr>
        <p:spPr>
          <a:xfrm>
            <a:off x="338225" y="623050"/>
            <a:ext cx="64794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This list shows a partially completed list of outcomes for a three-stage trial.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Sofia wants to show this trial on an outcome tree.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2" name="Google Shape;1972;p9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Multi-stage trials with lists and outcome trees</a:t>
            </a:r>
            <a:endParaRPr/>
          </a:p>
        </p:txBody>
      </p:sp>
      <p:sp>
        <p:nvSpPr>
          <p:cNvPr id="1973" name="Google Shape;1973;p92"/>
          <p:cNvSpPr txBox="1"/>
          <p:nvPr/>
        </p:nvSpPr>
        <p:spPr>
          <a:xfrm>
            <a:off x="338225" y="1537725"/>
            <a:ext cx="6479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How many branches, in total, should there be in this layer?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4" name="Google Shape;1974;p92"/>
          <p:cNvSpPr/>
          <p:nvPr/>
        </p:nvSpPr>
        <p:spPr>
          <a:xfrm>
            <a:off x="7597000" y="1214250"/>
            <a:ext cx="217200" cy="19035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975" name="Google Shape;1975;p92"/>
          <p:cNvGrpSpPr/>
          <p:nvPr/>
        </p:nvGrpSpPr>
        <p:grpSpPr>
          <a:xfrm>
            <a:off x="1383650" y="2255046"/>
            <a:ext cx="1175100" cy="2309416"/>
            <a:chOff x="3077130" y="2101130"/>
            <a:chExt cx="1175100" cy="1576824"/>
          </a:xfrm>
        </p:grpSpPr>
        <p:cxnSp>
          <p:nvCxnSpPr>
            <p:cNvPr id="1976" name="Google Shape;1976;p92"/>
            <p:cNvCxnSpPr/>
            <p:nvPr/>
          </p:nvCxnSpPr>
          <p:spPr>
            <a:xfrm flipH="1" rot="10800000">
              <a:off x="3077130" y="2101130"/>
              <a:ext cx="1175100" cy="6918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77" name="Google Shape;1977;p92"/>
            <p:cNvCxnSpPr/>
            <p:nvPr/>
          </p:nvCxnSpPr>
          <p:spPr>
            <a:xfrm>
              <a:off x="3077130" y="2986154"/>
              <a:ext cx="1175100" cy="6918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978" name="Google Shape;1978;p92"/>
          <p:cNvGrpSpPr/>
          <p:nvPr/>
        </p:nvGrpSpPr>
        <p:grpSpPr>
          <a:xfrm>
            <a:off x="1424250" y="2927358"/>
            <a:ext cx="1175100" cy="965331"/>
            <a:chOff x="3077130" y="2101130"/>
            <a:chExt cx="1175100" cy="1576824"/>
          </a:xfrm>
        </p:grpSpPr>
        <p:cxnSp>
          <p:nvCxnSpPr>
            <p:cNvPr id="1979" name="Google Shape;1979;p92"/>
            <p:cNvCxnSpPr/>
            <p:nvPr/>
          </p:nvCxnSpPr>
          <p:spPr>
            <a:xfrm flipH="1" rot="10800000">
              <a:off x="3077130" y="2101130"/>
              <a:ext cx="1175100" cy="6918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80" name="Google Shape;1980;p92"/>
            <p:cNvCxnSpPr/>
            <p:nvPr/>
          </p:nvCxnSpPr>
          <p:spPr>
            <a:xfrm>
              <a:off x="3077130" y="2986154"/>
              <a:ext cx="1175100" cy="6918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1981" name="Google Shape;1981;p92"/>
          <p:cNvCxnSpPr/>
          <p:nvPr/>
        </p:nvCxnSpPr>
        <p:spPr>
          <a:xfrm flipH="1" rot="10800000">
            <a:off x="2902496" y="2083791"/>
            <a:ext cx="1175100" cy="1551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82" name="Google Shape;1982;p92"/>
          <p:cNvCxnSpPr/>
          <p:nvPr/>
        </p:nvCxnSpPr>
        <p:spPr>
          <a:xfrm>
            <a:off x="2902496" y="2282212"/>
            <a:ext cx="1175100" cy="1551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83" name="Google Shape;1983;p92"/>
          <p:cNvCxnSpPr/>
          <p:nvPr/>
        </p:nvCxnSpPr>
        <p:spPr>
          <a:xfrm flipH="1" rot="10800000">
            <a:off x="2902496" y="2752254"/>
            <a:ext cx="1175100" cy="1551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84" name="Google Shape;1984;p92"/>
          <p:cNvCxnSpPr/>
          <p:nvPr/>
        </p:nvCxnSpPr>
        <p:spPr>
          <a:xfrm>
            <a:off x="2902496" y="2950675"/>
            <a:ext cx="1175100" cy="1551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85" name="Google Shape;1985;p92"/>
          <p:cNvCxnSpPr/>
          <p:nvPr/>
        </p:nvCxnSpPr>
        <p:spPr>
          <a:xfrm flipH="1" rot="10800000">
            <a:off x="2902496" y="3705166"/>
            <a:ext cx="1175100" cy="1551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86" name="Google Shape;1986;p92"/>
          <p:cNvCxnSpPr/>
          <p:nvPr/>
        </p:nvCxnSpPr>
        <p:spPr>
          <a:xfrm>
            <a:off x="2902496" y="3903587"/>
            <a:ext cx="1175100" cy="1551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87" name="Google Shape;1987;p92"/>
          <p:cNvCxnSpPr/>
          <p:nvPr/>
        </p:nvCxnSpPr>
        <p:spPr>
          <a:xfrm flipH="1" rot="10800000">
            <a:off x="2902496" y="4349154"/>
            <a:ext cx="1175100" cy="1551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88" name="Google Shape;1988;p92"/>
          <p:cNvCxnSpPr/>
          <p:nvPr/>
        </p:nvCxnSpPr>
        <p:spPr>
          <a:xfrm>
            <a:off x="2902496" y="4547575"/>
            <a:ext cx="1175100" cy="1551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89" name="Google Shape;1989;p92"/>
          <p:cNvSpPr txBox="1"/>
          <p:nvPr/>
        </p:nvSpPr>
        <p:spPr>
          <a:xfrm>
            <a:off x="2595617" y="2137900"/>
            <a:ext cx="473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0" name="Google Shape;1990;p92"/>
          <p:cNvSpPr txBox="1"/>
          <p:nvPr/>
        </p:nvSpPr>
        <p:spPr>
          <a:xfrm>
            <a:off x="2585972" y="2806572"/>
            <a:ext cx="473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1" name="Google Shape;1991;p92"/>
          <p:cNvSpPr txBox="1"/>
          <p:nvPr/>
        </p:nvSpPr>
        <p:spPr>
          <a:xfrm>
            <a:off x="2595617" y="3735755"/>
            <a:ext cx="473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2" name="Google Shape;1992;p92"/>
          <p:cNvSpPr txBox="1"/>
          <p:nvPr/>
        </p:nvSpPr>
        <p:spPr>
          <a:xfrm>
            <a:off x="4383025" y="2964482"/>
            <a:ext cx="4437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8 branches, total.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In the second stage of this trial, there are only two outcomes (1 and 2).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Therefore, there are two branches that come off of each of the four branches from stage 1.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93" name="Google Shape;1993;p92"/>
          <p:cNvSpPr txBox="1"/>
          <p:nvPr/>
        </p:nvSpPr>
        <p:spPr>
          <a:xfrm>
            <a:off x="2585972" y="4404426"/>
            <a:ext cx="473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7" name="Shape 1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8" name="Google Shape;1998;p93"/>
          <p:cNvSpPr txBox="1"/>
          <p:nvPr/>
        </p:nvSpPr>
        <p:spPr>
          <a:xfrm>
            <a:off x="5757250" y="2234150"/>
            <a:ext cx="30627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Create two lists of outcomes to find all possible two course meals.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9" name="Google Shape;1999;p93"/>
          <p:cNvSpPr txBox="1"/>
          <p:nvPr/>
        </p:nvSpPr>
        <p:spPr>
          <a:xfrm>
            <a:off x="5757250" y="623050"/>
            <a:ext cx="3062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2) A two-course meal is made from either: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0" name="Google Shape;2000;p93"/>
          <p:cNvSpPr txBox="1"/>
          <p:nvPr/>
        </p:nvSpPr>
        <p:spPr>
          <a:xfrm>
            <a:off x="338225" y="623050"/>
            <a:ext cx="30630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1) A three-course meal is made from one starter, one main, and one dessert.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By creating an outcome tree, list all possible three-course meals.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1" name="Google Shape;2001;p9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Multi-stage trials with lists and outcome trees</a:t>
            </a:r>
            <a:endParaRPr/>
          </a:p>
        </p:txBody>
      </p:sp>
      <p:sp>
        <p:nvSpPr>
          <p:cNvPr id="2002" name="Google Shape;2002;p93"/>
          <p:cNvSpPr txBox="1"/>
          <p:nvPr/>
        </p:nvSpPr>
        <p:spPr>
          <a:xfrm>
            <a:off x="5876300" y="1355875"/>
            <a:ext cx="2943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one starter and one main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one main and one dessert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03" name="Google Shape;2003;p93"/>
          <p:cNvCxnSpPr/>
          <p:nvPr/>
        </p:nvCxnSpPr>
        <p:spPr>
          <a:xfrm>
            <a:off x="4572000" y="539600"/>
            <a:ext cx="0" cy="36915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04" name="Google Shape;2004;p93"/>
          <p:cNvSpPr txBox="1"/>
          <p:nvPr/>
        </p:nvSpPr>
        <p:spPr>
          <a:xfrm>
            <a:off x="3616200" y="705600"/>
            <a:ext cx="1911600" cy="3412500"/>
          </a:xfrm>
          <a:prstGeom prst="rect">
            <a:avLst/>
          </a:prstGeom>
          <a:solidFill>
            <a:srgbClr val="E6F2F2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1700">
                <a:latin typeface="Lexend"/>
                <a:ea typeface="Lexend"/>
                <a:cs typeface="Lexend"/>
                <a:sym typeface="Lexend"/>
              </a:rPr>
              <a:t>Starters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700">
                <a:latin typeface="Lexend"/>
                <a:ea typeface="Lexend"/>
                <a:cs typeface="Lexend"/>
                <a:sym typeface="Lexend"/>
              </a:rPr>
              <a:t>Tomato Soup</a:t>
            </a:r>
            <a:endParaRPr sz="17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700">
                <a:latin typeface="Lexend"/>
                <a:ea typeface="Lexend"/>
                <a:cs typeface="Lexend"/>
                <a:sym typeface="Lexend"/>
              </a:rPr>
              <a:t>Garlic Bread</a:t>
            </a:r>
            <a:endParaRPr sz="17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4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1700">
                <a:latin typeface="Lexend"/>
                <a:ea typeface="Lexend"/>
                <a:cs typeface="Lexend"/>
                <a:sym typeface="Lexend"/>
              </a:rPr>
              <a:t>Mains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700">
                <a:latin typeface="Lexend"/>
                <a:ea typeface="Lexend"/>
                <a:cs typeface="Lexend"/>
                <a:sym typeface="Lexend"/>
              </a:rPr>
              <a:t>Pasta Carbonara</a:t>
            </a:r>
            <a:endParaRPr sz="17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700">
                <a:latin typeface="Lexend"/>
                <a:ea typeface="Lexend"/>
                <a:cs typeface="Lexend"/>
                <a:sym typeface="Lexend"/>
              </a:rPr>
              <a:t>Fish Pie</a:t>
            </a:r>
            <a:endParaRPr sz="17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700">
                <a:latin typeface="Lexend"/>
                <a:ea typeface="Lexend"/>
                <a:cs typeface="Lexend"/>
                <a:sym typeface="Lexend"/>
              </a:rPr>
              <a:t>Spinach Gnocchi</a:t>
            </a:r>
            <a:endParaRPr sz="17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400">
                <a:latin typeface="Lexend"/>
                <a:ea typeface="Lexend"/>
                <a:cs typeface="Lexend"/>
                <a:sym typeface="Lexend"/>
              </a:rPr>
              <a:t> </a:t>
            </a:r>
            <a:endParaRPr sz="4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Desserts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Vanilla Ice Cream</a:t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Chocolate Cake</a:t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Banana Split</a:t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005" name="Google Shape;2005;p93"/>
          <p:cNvGrpSpPr/>
          <p:nvPr/>
        </p:nvGrpSpPr>
        <p:grpSpPr>
          <a:xfrm>
            <a:off x="420600" y="4252100"/>
            <a:ext cx="8302800" cy="360900"/>
            <a:chOff x="569913" y="4252100"/>
            <a:chExt cx="8302800" cy="360900"/>
          </a:xfrm>
        </p:grpSpPr>
        <p:cxnSp>
          <p:nvCxnSpPr>
            <p:cNvPr id="2006" name="Google Shape;2006;p93"/>
            <p:cNvCxnSpPr/>
            <p:nvPr/>
          </p:nvCxnSpPr>
          <p:spPr>
            <a:xfrm rot="10800000">
              <a:off x="569913" y="4252100"/>
              <a:ext cx="8302800" cy="0"/>
            </a:xfrm>
            <a:prstGeom prst="straightConnector1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007" name="Google Shape;2007;p93"/>
            <p:cNvSpPr txBox="1"/>
            <p:nvPr/>
          </p:nvSpPr>
          <p:spPr>
            <a:xfrm>
              <a:off x="569913" y="4335800"/>
              <a:ext cx="83028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3) How many more three-course meals are there than two-course meals?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1" name="Shape 2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2" name="Google Shape;2012;p94"/>
          <p:cNvSpPr txBox="1"/>
          <p:nvPr/>
        </p:nvSpPr>
        <p:spPr>
          <a:xfrm>
            <a:off x="338225" y="623050"/>
            <a:ext cx="5213100" cy="24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4) Izzy has started to write down a list of outcomes for a three-stage trial.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Each outcome from every stage of the trial is represented at least once in Izzy’s incomplete list.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Draw and complete an outcome tree to create a sample space of all outcomes.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3" name="Google Shape;2013;p9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Multi-stage trials with lists and outcome trees</a:t>
            </a:r>
            <a:endParaRPr/>
          </a:p>
        </p:txBody>
      </p:sp>
      <p:graphicFrame>
        <p:nvGraphicFramePr>
          <p:cNvPr id="2014" name="Google Shape;2014;p94"/>
          <p:cNvGraphicFramePr/>
          <p:nvPr/>
        </p:nvGraphicFramePr>
        <p:xfrm>
          <a:off x="6692225" y="774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{471181EF-68B9-4DC5-A393-97BDB0EA0B63}</a:tableStyleId>
              </a:tblPr>
              <a:tblGrid>
                <a:gridCol w="1968075"/>
              </a:tblGrid>
              <a:tr h="530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 A T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0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 R T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0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 F T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0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 R H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0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 A H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0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 K H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8" name="Shape 2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9" name="Google Shape;2019;p95"/>
          <p:cNvSpPr/>
          <p:nvPr/>
        </p:nvSpPr>
        <p:spPr>
          <a:xfrm>
            <a:off x="6151825" y="656750"/>
            <a:ext cx="884100" cy="41547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0" name="Google Shape;2020;p95"/>
          <p:cNvSpPr txBox="1"/>
          <p:nvPr/>
        </p:nvSpPr>
        <p:spPr>
          <a:xfrm>
            <a:off x="338225" y="623050"/>
            <a:ext cx="3194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1) A three-course meal is made from one starter, one main, and one dessert.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1" name="Google Shape;2021;p9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Multi-stage trials with lists and outcome trees</a:t>
            </a:r>
            <a:endParaRPr/>
          </a:p>
        </p:txBody>
      </p:sp>
      <p:grpSp>
        <p:nvGrpSpPr>
          <p:cNvPr id="2022" name="Google Shape;2022;p95"/>
          <p:cNvGrpSpPr/>
          <p:nvPr/>
        </p:nvGrpSpPr>
        <p:grpSpPr>
          <a:xfrm>
            <a:off x="4418379" y="1020956"/>
            <a:ext cx="301989" cy="1361487"/>
            <a:chOff x="5196454" y="1346609"/>
            <a:chExt cx="438300" cy="1244390"/>
          </a:xfrm>
        </p:grpSpPr>
        <p:cxnSp>
          <p:nvCxnSpPr>
            <p:cNvPr id="2023" name="Google Shape;2023;p95"/>
            <p:cNvCxnSpPr/>
            <p:nvPr/>
          </p:nvCxnSpPr>
          <p:spPr>
            <a:xfrm flipH="1" rot="10800000">
              <a:off x="5196486" y="1346609"/>
              <a:ext cx="436800" cy="5460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24" name="Google Shape;2024;p95"/>
            <p:cNvCxnSpPr/>
            <p:nvPr/>
          </p:nvCxnSpPr>
          <p:spPr>
            <a:xfrm>
              <a:off x="5196486" y="2044999"/>
              <a:ext cx="436800" cy="5460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25" name="Google Shape;2025;p95"/>
            <p:cNvCxnSpPr/>
            <p:nvPr/>
          </p:nvCxnSpPr>
          <p:spPr>
            <a:xfrm>
              <a:off x="5196454" y="1969198"/>
              <a:ext cx="438300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026" name="Google Shape;2026;p95"/>
          <p:cNvGrpSpPr/>
          <p:nvPr/>
        </p:nvGrpSpPr>
        <p:grpSpPr>
          <a:xfrm>
            <a:off x="4418379" y="3061146"/>
            <a:ext cx="301989" cy="1361487"/>
            <a:chOff x="5196454" y="3211329"/>
            <a:chExt cx="438300" cy="1244390"/>
          </a:xfrm>
        </p:grpSpPr>
        <p:cxnSp>
          <p:nvCxnSpPr>
            <p:cNvPr id="2027" name="Google Shape;2027;p95"/>
            <p:cNvCxnSpPr/>
            <p:nvPr/>
          </p:nvCxnSpPr>
          <p:spPr>
            <a:xfrm flipH="1" rot="10800000">
              <a:off x="5196486" y="3211329"/>
              <a:ext cx="436800" cy="5460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28" name="Google Shape;2028;p95"/>
            <p:cNvCxnSpPr/>
            <p:nvPr/>
          </p:nvCxnSpPr>
          <p:spPr>
            <a:xfrm>
              <a:off x="5196486" y="3909719"/>
              <a:ext cx="436800" cy="5460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29" name="Google Shape;2029;p95"/>
            <p:cNvCxnSpPr/>
            <p:nvPr/>
          </p:nvCxnSpPr>
          <p:spPr>
            <a:xfrm>
              <a:off x="5196454" y="3833918"/>
              <a:ext cx="438300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030" name="Google Shape;2030;p95"/>
          <p:cNvGrpSpPr/>
          <p:nvPr/>
        </p:nvGrpSpPr>
        <p:grpSpPr>
          <a:xfrm>
            <a:off x="3632000" y="1692724"/>
            <a:ext cx="399300" cy="2056443"/>
            <a:chOff x="4470199" y="1960585"/>
            <a:chExt cx="399300" cy="1879575"/>
          </a:xfrm>
        </p:grpSpPr>
        <p:cxnSp>
          <p:nvCxnSpPr>
            <p:cNvPr id="2031" name="Google Shape;2031;p95"/>
            <p:cNvCxnSpPr/>
            <p:nvPr/>
          </p:nvCxnSpPr>
          <p:spPr>
            <a:xfrm flipH="1" rot="10800000">
              <a:off x="4470199" y="1960585"/>
              <a:ext cx="399300" cy="8247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32" name="Google Shape;2032;p95"/>
            <p:cNvCxnSpPr/>
            <p:nvPr/>
          </p:nvCxnSpPr>
          <p:spPr>
            <a:xfrm>
              <a:off x="4470199" y="3015460"/>
              <a:ext cx="399300" cy="8247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033" name="Google Shape;2033;p95"/>
          <p:cNvSpPr txBox="1"/>
          <p:nvPr/>
        </p:nvSpPr>
        <p:spPr>
          <a:xfrm>
            <a:off x="4107499" y="1550091"/>
            <a:ext cx="473700" cy="30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T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34" name="Google Shape;2034;p95"/>
          <p:cNvSpPr txBox="1"/>
          <p:nvPr/>
        </p:nvSpPr>
        <p:spPr>
          <a:xfrm>
            <a:off x="4107499" y="3592158"/>
            <a:ext cx="473700" cy="30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G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35" name="Google Shape;2035;p95"/>
          <p:cNvSpPr txBox="1"/>
          <p:nvPr/>
        </p:nvSpPr>
        <p:spPr>
          <a:xfrm>
            <a:off x="4784874" y="1551199"/>
            <a:ext cx="473700" cy="30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F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36" name="Google Shape;2036;p95"/>
          <p:cNvSpPr txBox="1"/>
          <p:nvPr/>
        </p:nvSpPr>
        <p:spPr>
          <a:xfrm>
            <a:off x="4784874" y="870879"/>
            <a:ext cx="473700" cy="30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P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37" name="Google Shape;2037;p95"/>
          <p:cNvSpPr txBox="1"/>
          <p:nvPr/>
        </p:nvSpPr>
        <p:spPr>
          <a:xfrm>
            <a:off x="4784874" y="2231518"/>
            <a:ext cx="473700" cy="30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S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38" name="Google Shape;2038;p95"/>
          <p:cNvSpPr txBox="1"/>
          <p:nvPr/>
        </p:nvSpPr>
        <p:spPr>
          <a:xfrm>
            <a:off x="4784874" y="3592171"/>
            <a:ext cx="473700" cy="30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F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39" name="Google Shape;2039;p95"/>
          <p:cNvSpPr txBox="1"/>
          <p:nvPr/>
        </p:nvSpPr>
        <p:spPr>
          <a:xfrm>
            <a:off x="4784874" y="2911852"/>
            <a:ext cx="473700" cy="30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P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40" name="Google Shape;2040;p95"/>
          <p:cNvSpPr txBox="1"/>
          <p:nvPr/>
        </p:nvSpPr>
        <p:spPr>
          <a:xfrm>
            <a:off x="4784874" y="4272491"/>
            <a:ext cx="473700" cy="30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S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41" name="Google Shape;2041;p95"/>
          <p:cNvSpPr txBox="1"/>
          <p:nvPr/>
        </p:nvSpPr>
        <p:spPr>
          <a:xfrm>
            <a:off x="5605625" y="641079"/>
            <a:ext cx="473700" cy="30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V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42" name="Google Shape;2042;p95"/>
          <p:cNvSpPr txBox="1"/>
          <p:nvPr/>
        </p:nvSpPr>
        <p:spPr>
          <a:xfrm>
            <a:off x="5605625" y="1100604"/>
            <a:ext cx="473700" cy="30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B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2043" name="Google Shape;2043;p95"/>
          <p:cNvCxnSpPr/>
          <p:nvPr/>
        </p:nvCxnSpPr>
        <p:spPr>
          <a:xfrm flipH="1" rot="10800000">
            <a:off x="5150653" y="792447"/>
            <a:ext cx="464700" cy="2019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44" name="Google Shape;2044;p95"/>
          <p:cNvCxnSpPr/>
          <p:nvPr/>
        </p:nvCxnSpPr>
        <p:spPr>
          <a:xfrm>
            <a:off x="5150653" y="1050725"/>
            <a:ext cx="464700" cy="2019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45" name="Google Shape;2045;p95"/>
          <p:cNvCxnSpPr/>
          <p:nvPr/>
        </p:nvCxnSpPr>
        <p:spPr>
          <a:xfrm>
            <a:off x="5150653" y="1020372"/>
            <a:ext cx="4962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46" name="Google Shape;2046;p95"/>
          <p:cNvSpPr txBox="1"/>
          <p:nvPr/>
        </p:nvSpPr>
        <p:spPr>
          <a:xfrm>
            <a:off x="5676000" y="870843"/>
            <a:ext cx="473700" cy="30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C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47" name="Google Shape;2047;p95"/>
          <p:cNvSpPr txBox="1"/>
          <p:nvPr/>
        </p:nvSpPr>
        <p:spPr>
          <a:xfrm>
            <a:off x="5605625" y="1321630"/>
            <a:ext cx="473700" cy="30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V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48" name="Google Shape;2048;p95"/>
          <p:cNvSpPr txBox="1"/>
          <p:nvPr/>
        </p:nvSpPr>
        <p:spPr>
          <a:xfrm>
            <a:off x="5605625" y="1781155"/>
            <a:ext cx="473700" cy="30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B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2049" name="Google Shape;2049;p95"/>
          <p:cNvCxnSpPr/>
          <p:nvPr/>
        </p:nvCxnSpPr>
        <p:spPr>
          <a:xfrm flipH="1" rot="10800000">
            <a:off x="5150653" y="1472997"/>
            <a:ext cx="464700" cy="2019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50" name="Google Shape;2050;p95"/>
          <p:cNvCxnSpPr/>
          <p:nvPr/>
        </p:nvCxnSpPr>
        <p:spPr>
          <a:xfrm>
            <a:off x="5150653" y="1731275"/>
            <a:ext cx="464700" cy="2019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51" name="Google Shape;2051;p95"/>
          <p:cNvCxnSpPr/>
          <p:nvPr/>
        </p:nvCxnSpPr>
        <p:spPr>
          <a:xfrm>
            <a:off x="5150653" y="1700922"/>
            <a:ext cx="4962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52" name="Google Shape;2052;p95"/>
          <p:cNvSpPr txBox="1"/>
          <p:nvPr/>
        </p:nvSpPr>
        <p:spPr>
          <a:xfrm>
            <a:off x="5676000" y="1551394"/>
            <a:ext cx="473700" cy="30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C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53" name="Google Shape;2053;p95"/>
          <p:cNvSpPr txBox="1"/>
          <p:nvPr/>
        </p:nvSpPr>
        <p:spPr>
          <a:xfrm>
            <a:off x="5605625" y="2002180"/>
            <a:ext cx="473700" cy="30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V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54" name="Google Shape;2054;p95"/>
          <p:cNvSpPr txBox="1"/>
          <p:nvPr/>
        </p:nvSpPr>
        <p:spPr>
          <a:xfrm>
            <a:off x="5605625" y="2461705"/>
            <a:ext cx="473700" cy="30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B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2055" name="Google Shape;2055;p95"/>
          <p:cNvCxnSpPr/>
          <p:nvPr/>
        </p:nvCxnSpPr>
        <p:spPr>
          <a:xfrm flipH="1" rot="10800000">
            <a:off x="5150653" y="2153547"/>
            <a:ext cx="464700" cy="2019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56" name="Google Shape;2056;p95"/>
          <p:cNvCxnSpPr/>
          <p:nvPr/>
        </p:nvCxnSpPr>
        <p:spPr>
          <a:xfrm>
            <a:off x="5150653" y="2411825"/>
            <a:ext cx="464700" cy="2019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57" name="Google Shape;2057;p95"/>
          <p:cNvCxnSpPr/>
          <p:nvPr/>
        </p:nvCxnSpPr>
        <p:spPr>
          <a:xfrm>
            <a:off x="5150653" y="2381472"/>
            <a:ext cx="4962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58" name="Google Shape;2058;p95"/>
          <p:cNvSpPr txBox="1"/>
          <p:nvPr/>
        </p:nvSpPr>
        <p:spPr>
          <a:xfrm>
            <a:off x="5676000" y="2231944"/>
            <a:ext cx="473700" cy="30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C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59" name="Google Shape;2059;p95"/>
          <p:cNvSpPr txBox="1"/>
          <p:nvPr/>
        </p:nvSpPr>
        <p:spPr>
          <a:xfrm>
            <a:off x="5605625" y="4043830"/>
            <a:ext cx="473700" cy="30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V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60" name="Google Shape;2060;p95"/>
          <p:cNvSpPr txBox="1"/>
          <p:nvPr/>
        </p:nvSpPr>
        <p:spPr>
          <a:xfrm>
            <a:off x="5605625" y="4503356"/>
            <a:ext cx="473700" cy="30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B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2061" name="Google Shape;2061;p95"/>
          <p:cNvCxnSpPr/>
          <p:nvPr/>
        </p:nvCxnSpPr>
        <p:spPr>
          <a:xfrm flipH="1" rot="10800000">
            <a:off x="5150653" y="4195198"/>
            <a:ext cx="464700" cy="2019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62" name="Google Shape;2062;p95"/>
          <p:cNvCxnSpPr/>
          <p:nvPr/>
        </p:nvCxnSpPr>
        <p:spPr>
          <a:xfrm>
            <a:off x="5150653" y="4453476"/>
            <a:ext cx="464700" cy="2019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63" name="Google Shape;2063;p95"/>
          <p:cNvCxnSpPr/>
          <p:nvPr/>
        </p:nvCxnSpPr>
        <p:spPr>
          <a:xfrm>
            <a:off x="5150653" y="4423123"/>
            <a:ext cx="4962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64" name="Google Shape;2064;p95"/>
          <p:cNvSpPr txBox="1"/>
          <p:nvPr/>
        </p:nvSpPr>
        <p:spPr>
          <a:xfrm>
            <a:off x="5676000" y="4273595"/>
            <a:ext cx="473700" cy="30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C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65" name="Google Shape;2065;p95"/>
          <p:cNvSpPr txBox="1"/>
          <p:nvPr/>
        </p:nvSpPr>
        <p:spPr>
          <a:xfrm>
            <a:off x="5605625" y="3363280"/>
            <a:ext cx="473700" cy="30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V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66" name="Google Shape;2066;p95"/>
          <p:cNvSpPr txBox="1"/>
          <p:nvPr/>
        </p:nvSpPr>
        <p:spPr>
          <a:xfrm>
            <a:off x="5605625" y="3822805"/>
            <a:ext cx="473700" cy="30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B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2067" name="Google Shape;2067;p95"/>
          <p:cNvCxnSpPr/>
          <p:nvPr/>
        </p:nvCxnSpPr>
        <p:spPr>
          <a:xfrm flipH="1" rot="10800000">
            <a:off x="5150653" y="3514647"/>
            <a:ext cx="464700" cy="2019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68" name="Google Shape;2068;p95"/>
          <p:cNvCxnSpPr/>
          <p:nvPr/>
        </p:nvCxnSpPr>
        <p:spPr>
          <a:xfrm>
            <a:off x="5150653" y="3772926"/>
            <a:ext cx="464700" cy="2019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69" name="Google Shape;2069;p95"/>
          <p:cNvCxnSpPr/>
          <p:nvPr/>
        </p:nvCxnSpPr>
        <p:spPr>
          <a:xfrm>
            <a:off x="5150653" y="3742573"/>
            <a:ext cx="4962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70" name="Google Shape;2070;p95"/>
          <p:cNvSpPr txBox="1"/>
          <p:nvPr/>
        </p:nvSpPr>
        <p:spPr>
          <a:xfrm>
            <a:off x="5676000" y="3593044"/>
            <a:ext cx="473700" cy="30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C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71" name="Google Shape;2071;p95"/>
          <p:cNvSpPr txBox="1"/>
          <p:nvPr/>
        </p:nvSpPr>
        <p:spPr>
          <a:xfrm>
            <a:off x="5605625" y="2682730"/>
            <a:ext cx="473700" cy="30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V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72" name="Google Shape;2072;p95"/>
          <p:cNvSpPr txBox="1"/>
          <p:nvPr/>
        </p:nvSpPr>
        <p:spPr>
          <a:xfrm>
            <a:off x="5605625" y="3142255"/>
            <a:ext cx="473700" cy="30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B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2073" name="Google Shape;2073;p95"/>
          <p:cNvCxnSpPr/>
          <p:nvPr/>
        </p:nvCxnSpPr>
        <p:spPr>
          <a:xfrm flipH="1" rot="10800000">
            <a:off x="5150653" y="2834097"/>
            <a:ext cx="464700" cy="2019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74" name="Google Shape;2074;p95"/>
          <p:cNvCxnSpPr/>
          <p:nvPr/>
        </p:nvCxnSpPr>
        <p:spPr>
          <a:xfrm>
            <a:off x="5150653" y="3092376"/>
            <a:ext cx="464700" cy="2019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75" name="Google Shape;2075;p95"/>
          <p:cNvCxnSpPr/>
          <p:nvPr/>
        </p:nvCxnSpPr>
        <p:spPr>
          <a:xfrm>
            <a:off x="5150653" y="3062022"/>
            <a:ext cx="4962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76" name="Google Shape;2076;p95"/>
          <p:cNvSpPr txBox="1"/>
          <p:nvPr/>
        </p:nvSpPr>
        <p:spPr>
          <a:xfrm>
            <a:off x="5676000" y="2912494"/>
            <a:ext cx="473700" cy="30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C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77" name="Google Shape;2077;p95"/>
          <p:cNvSpPr txBox="1"/>
          <p:nvPr/>
        </p:nvSpPr>
        <p:spPr>
          <a:xfrm>
            <a:off x="5950721" y="1781150"/>
            <a:ext cx="1286400" cy="30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TFB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78" name="Google Shape;2078;p95"/>
          <p:cNvSpPr txBox="1"/>
          <p:nvPr/>
        </p:nvSpPr>
        <p:spPr>
          <a:xfrm>
            <a:off x="5950721" y="1551389"/>
            <a:ext cx="1286400" cy="30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TFC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79" name="Google Shape;2079;p95"/>
          <p:cNvSpPr txBox="1"/>
          <p:nvPr/>
        </p:nvSpPr>
        <p:spPr>
          <a:xfrm>
            <a:off x="5950721" y="2461700"/>
            <a:ext cx="1286400" cy="30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TSB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80" name="Google Shape;2080;p95"/>
          <p:cNvSpPr txBox="1"/>
          <p:nvPr/>
        </p:nvSpPr>
        <p:spPr>
          <a:xfrm>
            <a:off x="5950721" y="2231939"/>
            <a:ext cx="1286400" cy="30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TSC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81" name="Google Shape;2081;p95"/>
          <p:cNvSpPr txBox="1"/>
          <p:nvPr/>
        </p:nvSpPr>
        <p:spPr>
          <a:xfrm>
            <a:off x="5950721" y="641075"/>
            <a:ext cx="1286400" cy="30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TPV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82" name="Google Shape;2082;p95"/>
          <p:cNvSpPr txBox="1"/>
          <p:nvPr/>
        </p:nvSpPr>
        <p:spPr>
          <a:xfrm>
            <a:off x="5950721" y="870839"/>
            <a:ext cx="1286400" cy="30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TPC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83" name="Google Shape;2083;p95"/>
          <p:cNvSpPr txBox="1"/>
          <p:nvPr/>
        </p:nvSpPr>
        <p:spPr>
          <a:xfrm>
            <a:off x="5950721" y="1100600"/>
            <a:ext cx="1286400" cy="30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TPB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84" name="Google Shape;2084;p95"/>
          <p:cNvSpPr txBox="1"/>
          <p:nvPr/>
        </p:nvSpPr>
        <p:spPr>
          <a:xfrm>
            <a:off x="5950721" y="2002175"/>
            <a:ext cx="1286400" cy="30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TSV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85" name="Google Shape;2085;p95"/>
          <p:cNvSpPr txBox="1"/>
          <p:nvPr/>
        </p:nvSpPr>
        <p:spPr>
          <a:xfrm>
            <a:off x="7205325" y="2046350"/>
            <a:ext cx="1614900" cy="11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sample space</a:t>
            </a:r>
            <a:endParaRPr sz="1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18 outcomes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86" name="Google Shape;2086;p95"/>
          <p:cNvSpPr txBox="1"/>
          <p:nvPr/>
        </p:nvSpPr>
        <p:spPr>
          <a:xfrm>
            <a:off x="324000" y="1391400"/>
            <a:ext cx="1911600" cy="34125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1700">
                <a:latin typeface="Lexend"/>
                <a:ea typeface="Lexend"/>
                <a:cs typeface="Lexend"/>
                <a:sym typeface="Lexend"/>
              </a:rPr>
              <a:t>Starters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700">
                <a:latin typeface="Lexend"/>
                <a:ea typeface="Lexend"/>
                <a:cs typeface="Lexend"/>
                <a:sym typeface="Lexend"/>
              </a:rPr>
              <a:t>Tomato Soup</a:t>
            </a:r>
            <a:endParaRPr sz="17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700">
                <a:latin typeface="Lexend"/>
                <a:ea typeface="Lexend"/>
                <a:cs typeface="Lexend"/>
                <a:sym typeface="Lexend"/>
              </a:rPr>
              <a:t>Garlic Bread</a:t>
            </a:r>
            <a:endParaRPr sz="17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4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1700">
                <a:latin typeface="Lexend"/>
                <a:ea typeface="Lexend"/>
                <a:cs typeface="Lexend"/>
                <a:sym typeface="Lexend"/>
              </a:rPr>
              <a:t>Mains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700">
                <a:latin typeface="Lexend"/>
                <a:ea typeface="Lexend"/>
                <a:cs typeface="Lexend"/>
                <a:sym typeface="Lexend"/>
              </a:rPr>
              <a:t>Pasta Carbonara</a:t>
            </a:r>
            <a:endParaRPr sz="17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700">
                <a:latin typeface="Lexend"/>
                <a:ea typeface="Lexend"/>
                <a:cs typeface="Lexend"/>
                <a:sym typeface="Lexend"/>
              </a:rPr>
              <a:t>Fish Pie</a:t>
            </a:r>
            <a:endParaRPr sz="17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700">
                <a:latin typeface="Lexend"/>
                <a:ea typeface="Lexend"/>
                <a:cs typeface="Lexend"/>
                <a:sym typeface="Lexend"/>
              </a:rPr>
              <a:t>Spinach Gnocchi</a:t>
            </a:r>
            <a:endParaRPr sz="17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400">
                <a:latin typeface="Lexend"/>
                <a:ea typeface="Lexend"/>
                <a:cs typeface="Lexend"/>
                <a:sym typeface="Lexend"/>
              </a:rPr>
              <a:t> </a:t>
            </a:r>
            <a:endParaRPr sz="4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Desserts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Vanilla Ice Cream</a:t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Chocolate Cake</a:t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Banana Split</a:t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7" name="Google Shape;2087;p95"/>
          <p:cNvSpPr txBox="1"/>
          <p:nvPr/>
        </p:nvSpPr>
        <p:spPr>
          <a:xfrm>
            <a:off x="5950721" y="1321625"/>
            <a:ext cx="1286400" cy="30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TFV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88" name="Google Shape;2088;p95"/>
          <p:cNvSpPr txBox="1"/>
          <p:nvPr/>
        </p:nvSpPr>
        <p:spPr>
          <a:xfrm>
            <a:off x="5950721" y="3838550"/>
            <a:ext cx="1286400" cy="30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G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FB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89" name="Google Shape;2089;p95"/>
          <p:cNvSpPr txBox="1"/>
          <p:nvPr/>
        </p:nvSpPr>
        <p:spPr>
          <a:xfrm>
            <a:off x="5950721" y="3608789"/>
            <a:ext cx="1286400" cy="30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G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FC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90" name="Google Shape;2090;p95"/>
          <p:cNvSpPr txBox="1"/>
          <p:nvPr/>
        </p:nvSpPr>
        <p:spPr>
          <a:xfrm>
            <a:off x="5950721" y="4519100"/>
            <a:ext cx="1286400" cy="30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G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SB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91" name="Google Shape;2091;p95"/>
          <p:cNvSpPr txBox="1"/>
          <p:nvPr/>
        </p:nvSpPr>
        <p:spPr>
          <a:xfrm>
            <a:off x="5950721" y="4289339"/>
            <a:ext cx="1286400" cy="30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G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SC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92" name="Google Shape;2092;p95"/>
          <p:cNvSpPr txBox="1"/>
          <p:nvPr/>
        </p:nvSpPr>
        <p:spPr>
          <a:xfrm>
            <a:off x="5950721" y="2698475"/>
            <a:ext cx="1286400" cy="30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G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PV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93" name="Google Shape;2093;p95"/>
          <p:cNvSpPr txBox="1"/>
          <p:nvPr/>
        </p:nvSpPr>
        <p:spPr>
          <a:xfrm>
            <a:off x="5950721" y="2928239"/>
            <a:ext cx="1286400" cy="30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G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PC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94" name="Google Shape;2094;p95"/>
          <p:cNvSpPr txBox="1"/>
          <p:nvPr/>
        </p:nvSpPr>
        <p:spPr>
          <a:xfrm>
            <a:off x="5950721" y="3158000"/>
            <a:ext cx="1286400" cy="30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G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PB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95" name="Google Shape;2095;p95"/>
          <p:cNvSpPr txBox="1"/>
          <p:nvPr/>
        </p:nvSpPr>
        <p:spPr>
          <a:xfrm>
            <a:off x="5950721" y="4059575"/>
            <a:ext cx="1286400" cy="30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G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SV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96" name="Google Shape;2096;p95"/>
          <p:cNvSpPr txBox="1"/>
          <p:nvPr/>
        </p:nvSpPr>
        <p:spPr>
          <a:xfrm>
            <a:off x="5950721" y="3379025"/>
            <a:ext cx="1286400" cy="30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G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FV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0" name="Shape 2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1" name="Google Shape;2101;p96"/>
          <p:cNvSpPr/>
          <p:nvPr/>
        </p:nvSpPr>
        <p:spPr>
          <a:xfrm>
            <a:off x="7647500" y="1431050"/>
            <a:ext cx="790500" cy="25719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2" name="Google Shape;2102;p96"/>
          <p:cNvSpPr/>
          <p:nvPr/>
        </p:nvSpPr>
        <p:spPr>
          <a:xfrm>
            <a:off x="6001650" y="1431050"/>
            <a:ext cx="790500" cy="17697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3" name="Google Shape;2103;p96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Multi-stage trials with lists and outcome trees</a:t>
            </a:r>
            <a:endParaRPr/>
          </a:p>
        </p:txBody>
      </p:sp>
      <p:sp>
        <p:nvSpPr>
          <p:cNvPr id="2104" name="Google Shape;2104;p96"/>
          <p:cNvSpPr txBox="1"/>
          <p:nvPr/>
        </p:nvSpPr>
        <p:spPr>
          <a:xfrm>
            <a:off x="324000" y="1391400"/>
            <a:ext cx="1911600" cy="34125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1700">
                <a:latin typeface="Lexend"/>
                <a:ea typeface="Lexend"/>
                <a:cs typeface="Lexend"/>
                <a:sym typeface="Lexend"/>
              </a:rPr>
              <a:t>Starters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700">
                <a:latin typeface="Lexend"/>
                <a:ea typeface="Lexend"/>
                <a:cs typeface="Lexend"/>
                <a:sym typeface="Lexend"/>
              </a:rPr>
              <a:t>Tomato Soup</a:t>
            </a:r>
            <a:endParaRPr sz="17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700">
                <a:latin typeface="Lexend"/>
                <a:ea typeface="Lexend"/>
                <a:cs typeface="Lexend"/>
                <a:sym typeface="Lexend"/>
              </a:rPr>
              <a:t>Garlic Bread</a:t>
            </a:r>
            <a:endParaRPr sz="17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4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1700">
                <a:latin typeface="Lexend"/>
                <a:ea typeface="Lexend"/>
                <a:cs typeface="Lexend"/>
                <a:sym typeface="Lexend"/>
              </a:rPr>
              <a:t>Mains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700">
                <a:latin typeface="Lexend"/>
                <a:ea typeface="Lexend"/>
                <a:cs typeface="Lexend"/>
                <a:sym typeface="Lexend"/>
              </a:rPr>
              <a:t>Pasta Carbonara</a:t>
            </a:r>
            <a:endParaRPr sz="17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700">
                <a:latin typeface="Lexend"/>
                <a:ea typeface="Lexend"/>
                <a:cs typeface="Lexend"/>
                <a:sym typeface="Lexend"/>
              </a:rPr>
              <a:t>Fish Pie</a:t>
            </a:r>
            <a:endParaRPr sz="17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700">
                <a:latin typeface="Lexend"/>
                <a:ea typeface="Lexend"/>
                <a:cs typeface="Lexend"/>
                <a:sym typeface="Lexend"/>
              </a:rPr>
              <a:t>Spinach Gnocchi</a:t>
            </a:r>
            <a:endParaRPr sz="17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400">
                <a:latin typeface="Lexend"/>
                <a:ea typeface="Lexend"/>
                <a:cs typeface="Lexend"/>
                <a:sym typeface="Lexend"/>
              </a:rPr>
              <a:t> </a:t>
            </a:r>
            <a:endParaRPr sz="4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Desserts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Vanilla Ice Cream</a:t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Chocolate Cake</a:t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Banana Split</a:t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5" name="Google Shape;2105;p96"/>
          <p:cNvSpPr txBox="1"/>
          <p:nvPr/>
        </p:nvSpPr>
        <p:spPr>
          <a:xfrm>
            <a:off x="2388000" y="2234150"/>
            <a:ext cx="30627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Create two lists of outcomes to find all possible two course meals.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6" name="Google Shape;2106;p96"/>
          <p:cNvSpPr txBox="1"/>
          <p:nvPr/>
        </p:nvSpPr>
        <p:spPr>
          <a:xfrm>
            <a:off x="2388000" y="623050"/>
            <a:ext cx="3062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2) A two-course meal is made from either: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7" name="Google Shape;2107;p96"/>
          <p:cNvSpPr txBox="1"/>
          <p:nvPr/>
        </p:nvSpPr>
        <p:spPr>
          <a:xfrm>
            <a:off x="2507050" y="1355875"/>
            <a:ext cx="2943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one starter and one main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one main and one dessert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108" name="Google Shape;2108;p96"/>
          <p:cNvGraphicFramePr/>
          <p:nvPr/>
        </p:nvGraphicFramePr>
        <p:xfrm>
          <a:off x="6001650" y="1467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{471181EF-68B9-4DC5-A393-97BDB0EA0B63}</a:tableStyleId>
              </a:tblPr>
              <a:tblGrid>
                <a:gridCol w="395275"/>
                <a:gridCol w="395275"/>
              </a:tblGrid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T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P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T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F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T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S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G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P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G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F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G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S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109" name="Google Shape;2109;p96"/>
          <p:cNvGraphicFramePr/>
          <p:nvPr/>
        </p:nvGraphicFramePr>
        <p:xfrm>
          <a:off x="7647475" y="1467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{471181EF-68B9-4DC5-A393-97BDB0EA0B63}</a:tableStyleId>
              </a:tblPr>
              <a:tblGrid>
                <a:gridCol w="395275"/>
                <a:gridCol w="395275"/>
              </a:tblGrid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P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V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P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C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P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B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F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V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F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C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F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B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S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V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S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C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S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B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110" name="Google Shape;2110;p96"/>
          <p:cNvSpPr txBox="1"/>
          <p:nvPr/>
        </p:nvSpPr>
        <p:spPr>
          <a:xfrm>
            <a:off x="7611051" y="1024500"/>
            <a:ext cx="863400" cy="30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main</a:t>
            </a:r>
            <a:endParaRPr sz="1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dessert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11" name="Google Shape;2111;p96"/>
          <p:cNvSpPr txBox="1"/>
          <p:nvPr/>
        </p:nvSpPr>
        <p:spPr>
          <a:xfrm>
            <a:off x="5965201" y="1024500"/>
            <a:ext cx="863400" cy="30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starter</a:t>
            </a:r>
            <a:endParaRPr sz="1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main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12" name="Google Shape;2112;p96"/>
          <p:cNvSpPr txBox="1"/>
          <p:nvPr/>
        </p:nvSpPr>
        <p:spPr>
          <a:xfrm>
            <a:off x="5353824" y="3953175"/>
            <a:ext cx="2086200" cy="30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6 + 9 = 15 outcomes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6" name="Shape 2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7" name="Google Shape;2117;p97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Multi-stage trials with lists and outcome trees</a:t>
            </a:r>
            <a:endParaRPr/>
          </a:p>
        </p:txBody>
      </p:sp>
      <p:sp>
        <p:nvSpPr>
          <p:cNvPr id="2118" name="Google Shape;2118;p97"/>
          <p:cNvSpPr txBox="1"/>
          <p:nvPr/>
        </p:nvSpPr>
        <p:spPr>
          <a:xfrm>
            <a:off x="324000" y="1391400"/>
            <a:ext cx="1911600" cy="34125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1700">
                <a:latin typeface="Lexend"/>
                <a:ea typeface="Lexend"/>
                <a:cs typeface="Lexend"/>
                <a:sym typeface="Lexend"/>
              </a:rPr>
              <a:t>Starters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700">
                <a:latin typeface="Lexend"/>
                <a:ea typeface="Lexend"/>
                <a:cs typeface="Lexend"/>
                <a:sym typeface="Lexend"/>
              </a:rPr>
              <a:t>Tomato Soup</a:t>
            </a:r>
            <a:endParaRPr sz="17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700">
                <a:latin typeface="Lexend"/>
                <a:ea typeface="Lexend"/>
                <a:cs typeface="Lexend"/>
                <a:sym typeface="Lexend"/>
              </a:rPr>
              <a:t>Garlic Bread</a:t>
            </a:r>
            <a:endParaRPr sz="17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4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1700">
                <a:latin typeface="Lexend"/>
                <a:ea typeface="Lexend"/>
                <a:cs typeface="Lexend"/>
                <a:sym typeface="Lexend"/>
              </a:rPr>
              <a:t>Mains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700">
                <a:latin typeface="Lexend"/>
                <a:ea typeface="Lexend"/>
                <a:cs typeface="Lexend"/>
                <a:sym typeface="Lexend"/>
              </a:rPr>
              <a:t>Pasta Carbonara</a:t>
            </a:r>
            <a:endParaRPr sz="17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700">
                <a:latin typeface="Lexend"/>
                <a:ea typeface="Lexend"/>
                <a:cs typeface="Lexend"/>
                <a:sym typeface="Lexend"/>
              </a:rPr>
              <a:t>Fish Pie</a:t>
            </a:r>
            <a:endParaRPr sz="17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700">
                <a:latin typeface="Lexend"/>
                <a:ea typeface="Lexend"/>
                <a:cs typeface="Lexend"/>
                <a:sym typeface="Lexend"/>
              </a:rPr>
              <a:t>Spinach Gnocchi</a:t>
            </a:r>
            <a:endParaRPr sz="17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400">
                <a:latin typeface="Lexend"/>
                <a:ea typeface="Lexend"/>
                <a:cs typeface="Lexend"/>
                <a:sym typeface="Lexend"/>
              </a:rPr>
              <a:t> </a:t>
            </a:r>
            <a:endParaRPr sz="4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Desserts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Vanilla Ice Cream</a:t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Chocolate Cake</a:t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Banana Split</a:t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9" name="Google Shape;2119;p97"/>
          <p:cNvSpPr txBox="1"/>
          <p:nvPr/>
        </p:nvSpPr>
        <p:spPr>
          <a:xfrm>
            <a:off x="2388000" y="623050"/>
            <a:ext cx="30627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3) How many more three-course meals are there than two-course meals?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0" name="Google Shape;2120;p97"/>
          <p:cNvSpPr txBox="1"/>
          <p:nvPr/>
        </p:nvSpPr>
        <p:spPr>
          <a:xfrm>
            <a:off x="2595600" y="2087050"/>
            <a:ext cx="4186500" cy="80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There were 18 three-course meals, whilst only 15 two-course meals.</a:t>
            </a:r>
            <a:endParaRPr sz="1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There were 3 more three-course meals.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4" name="Shape 2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5" name="Google Shape;2125;p98"/>
          <p:cNvSpPr txBox="1"/>
          <p:nvPr/>
        </p:nvSpPr>
        <p:spPr>
          <a:xfrm>
            <a:off x="338225" y="623050"/>
            <a:ext cx="5213100" cy="24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4) Izzy has started to write down a list of outcomes for a three-stage trial.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Each outcome from every stage of the trial is represented at least once in Izzy’s incomplete list.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Draw and complete an outcome tree to create a sample space of all outcomes.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6" name="Google Shape;2126;p9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Multi-stage trials with lists and outcome trees</a:t>
            </a:r>
            <a:endParaRPr/>
          </a:p>
        </p:txBody>
      </p:sp>
      <p:graphicFrame>
        <p:nvGraphicFramePr>
          <p:cNvPr id="2127" name="Google Shape;2127;p98"/>
          <p:cNvGraphicFramePr/>
          <p:nvPr/>
        </p:nvGraphicFramePr>
        <p:xfrm>
          <a:off x="6692225" y="774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{471181EF-68B9-4DC5-A393-97BDB0EA0B63}</a:tableStyleId>
              </a:tblPr>
              <a:tblGrid>
                <a:gridCol w="1968075"/>
              </a:tblGrid>
              <a:tr h="530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 A T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0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 R T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0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 F T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0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 R H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0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 A H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0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 K H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1" name="Shape 2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2" name="Google Shape;2132;p99"/>
          <p:cNvSpPr txBox="1"/>
          <p:nvPr/>
        </p:nvSpPr>
        <p:spPr>
          <a:xfrm>
            <a:off x="324000" y="1002125"/>
            <a:ext cx="2766300" cy="3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Here are the 24 outcomes.</a:t>
            </a:r>
            <a:endParaRPr sz="1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There were: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33" name="Google Shape;2133;p9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Multi-stage trials with lists and outcome trees</a:t>
            </a:r>
            <a:endParaRPr/>
          </a:p>
        </p:txBody>
      </p:sp>
      <p:sp>
        <p:nvSpPr>
          <p:cNvPr id="2134" name="Google Shape;2134;p99"/>
          <p:cNvSpPr txBox="1"/>
          <p:nvPr/>
        </p:nvSpPr>
        <p:spPr>
          <a:xfrm>
            <a:off x="603300" y="1885100"/>
            <a:ext cx="2766300" cy="3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three outcomes for the first stage of the event</a:t>
            </a:r>
            <a:endParaRPr sz="1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four outcomes for the second stage of the event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two outcomes for the third stage of the event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2135" name="Google Shape;2135;p99"/>
          <p:cNvGraphicFramePr/>
          <p:nvPr/>
        </p:nvGraphicFramePr>
        <p:xfrm>
          <a:off x="6168025" y="78564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{471181EF-68B9-4DC5-A393-97BDB0EA0B63}</a:tableStyleId>
              </a:tblPr>
              <a:tblGrid>
                <a:gridCol w="1028475"/>
              </a:tblGrid>
              <a:tr h="179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1AH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</a:tr>
              <a:tr h="179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1AT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</a:tr>
              <a:tr h="179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1FH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</a:tr>
              <a:tr h="179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1FT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</a:tr>
              <a:tr h="179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1KH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</a:tr>
              <a:tr h="179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1KT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</a:tr>
              <a:tr h="179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1RH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</a:tr>
              <a:tr h="179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1RT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</a:tr>
              <a:tr h="179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4AH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</a:tr>
              <a:tr h="179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4AT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</a:tr>
              <a:tr h="179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4FH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</a:tr>
              <a:tr h="179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4FT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graphicFrame>
        <p:nvGraphicFramePr>
          <p:cNvPr id="2136" name="Google Shape;2136;p99"/>
          <p:cNvGraphicFramePr/>
          <p:nvPr/>
        </p:nvGraphicFramePr>
        <p:xfrm>
          <a:off x="7414463" y="78564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{471181EF-68B9-4DC5-A393-97BDB0EA0B63}</a:tableStyleId>
              </a:tblPr>
              <a:tblGrid>
                <a:gridCol w="1028475"/>
              </a:tblGrid>
              <a:tr h="179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4KH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</a:tr>
              <a:tr h="179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4KT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</a:tr>
              <a:tr h="179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4RH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</a:tr>
              <a:tr h="179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4RT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</a:tr>
              <a:tr h="179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7AH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</a:tr>
              <a:tr h="179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7AT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</a:tr>
              <a:tr h="179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7FH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</a:tr>
              <a:tr h="179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7FT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</a:tr>
              <a:tr h="179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7KH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</a:tr>
              <a:tr h="179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7KT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</a:tr>
              <a:tr h="179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7RH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</a:tr>
              <a:tr h="179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7RT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graphicFrame>
        <p:nvGraphicFramePr>
          <p:cNvPr id="2137" name="Google Shape;2137;p99"/>
          <p:cNvGraphicFramePr/>
          <p:nvPr/>
        </p:nvGraphicFramePr>
        <p:xfrm>
          <a:off x="5163300" y="78564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{471181EF-68B9-4DC5-A393-97BDB0EA0B63}</a:tableStyleId>
              </a:tblPr>
              <a:tblGrid>
                <a:gridCol w="776125"/>
              </a:tblGrid>
              <a:tr h="132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Kalam"/>
                          <a:ea typeface="Kalam"/>
                          <a:cs typeface="Kalam"/>
                          <a:sym typeface="Kalam"/>
                        </a:rPr>
                        <a:t>1AH</a:t>
                      </a:r>
                      <a:endParaRPr sz="1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</a:tr>
              <a:tr h="132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Kalam"/>
                          <a:ea typeface="Kalam"/>
                          <a:cs typeface="Kalam"/>
                          <a:sym typeface="Kalam"/>
                        </a:rPr>
                        <a:t>1AT</a:t>
                      </a:r>
                      <a:endParaRPr sz="1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</a:tr>
              <a:tr h="132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Kalam"/>
                          <a:ea typeface="Kalam"/>
                          <a:cs typeface="Kalam"/>
                          <a:sym typeface="Kalam"/>
                        </a:rPr>
                        <a:t>1FH</a:t>
                      </a:r>
                      <a:endParaRPr sz="1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</a:tr>
              <a:tr h="132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Kalam"/>
                          <a:ea typeface="Kalam"/>
                          <a:cs typeface="Kalam"/>
                          <a:sym typeface="Kalam"/>
                        </a:rPr>
                        <a:t>1FT</a:t>
                      </a:r>
                      <a:endParaRPr sz="1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</a:tr>
              <a:tr h="132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Kalam"/>
                          <a:ea typeface="Kalam"/>
                          <a:cs typeface="Kalam"/>
                          <a:sym typeface="Kalam"/>
                        </a:rPr>
                        <a:t>1KH</a:t>
                      </a:r>
                      <a:endParaRPr sz="1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</a:tr>
              <a:tr h="132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Kalam"/>
                          <a:ea typeface="Kalam"/>
                          <a:cs typeface="Kalam"/>
                          <a:sym typeface="Kalam"/>
                        </a:rPr>
                        <a:t>1KT</a:t>
                      </a:r>
                      <a:endParaRPr sz="1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</a:tr>
              <a:tr h="132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Kalam"/>
                          <a:ea typeface="Kalam"/>
                          <a:cs typeface="Kalam"/>
                          <a:sym typeface="Kalam"/>
                        </a:rPr>
                        <a:t>1RH</a:t>
                      </a:r>
                      <a:endParaRPr sz="1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</a:tr>
              <a:tr h="132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Kalam"/>
                          <a:ea typeface="Kalam"/>
                          <a:cs typeface="Kalam"/>
                          <a:sym typeface="Kalam"/>
                        </a:rPr>
                        <a:t>1RT</a:t>
                      </a:r>
                      <a:endParaRPr sz="1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</a:tr>
              <a:tr h="132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Kalam"/>
                          <a:ea typeface="Kalam"/>
                          <a:cs typeface="Kalam"/>
                          <a:sym typeface="Kalam"/>
                        </a:rPr>
                        <a:t>4AH</a:t>
                      </a:r>
                      <a:endParaRPr sz="1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</a:tr>
              <a:tr h="132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Kalam"/>
                          <a:ea typeface="Kalam"/>
                          <a:cs typeface="Kalam"/>
                          <a:sym typeface="Kalam"/>
                        </a:rPr>
                        <a:t>4AT</a:t>
                      </a:r>
                      <a:endParaRPr sz="1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</a:tr>
              <a:tr h="132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Kalam"/>
                          <a:ea typeface="Kalam"/>
                          <a:cs typeface="Kalam"/>
                          <a:sym typeface="Kalam"/>
                        </a:rPr>
                        <a:t>4FH</a:t>
                      </a:r>
                      <a:endParaRPr sz="1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</a:tr>
              <a:tr h="132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Kalam"/>
                          <a:ea typeface="Kalam"/>
                          <a:cs typeface="Kalam"/>
                          <a:sym typeface="Kalam"/>
                        </a:rPr>
                        <a:t>4FT</a:t>
                      </a:r>
                      <a:endParaRPr sz="1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</a:tr>
              <a:tr h="132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Kalam"/>
                          <a:ea typeface="Kalam"/>
                          <a:cs typeface="Kalam"/>
                          <a:sym typeface="Kalam"/>
                        </a:rPr>
                        <a:t>4KH</a:t>
                      </a:r>
                      <a:endParaRPr sz="1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</a:tr>
              <a:tr h="132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Kalam"/>
                          <a:ea typeface="Kalam"/>
                          <a:cs typeface="Kalam"/>
                          <a:sym typeface="Kalam"/>
                        </a:rPr>
                        <a:t>4KT</a:t>
                      </a:r>
                      <a:endParaRPr sz="1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</a:tr>
              <a:tr h="132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Kalam"/>
                          <a:ea typeface="Kalam"/>
                          <a:cs typeface="Kalam"/>
                          <a:sym typeface="Kalam"/>
                        </a:rPr>
                        <a:t>4RH</a:t>
                      </a:r>
                      <a:endParaRPr sz="1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</a:tr>
              <a:tr h="132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Kalam"/>
                          <a:ea typeface="Kalam"/>
                          <a:cs typeface="Kalam"/>
                          <a:sym typeface="Kalam"/>
                        </a:rPr>
                        <a:t>4RT</a:t>
                      </a:r>
                      <a:endParaRPr sz="1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</a:tr>
              <a:tr h="132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Kalam"/>
                          <a:ea typeface="Kalam"/>
                          <a:cs typeface="Kalam"/>
                          <a:sym typeface="Kalam"/>
                        </a:rPr>
                        <a:t>7AH</a:t>
                      </a:r>
                      <a:endParaRPr sz="1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</a:tr>
              <a:tr h="132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Kalam"/>
                          <a:ea typeface="Kalam"/>
                          <a:cs typeface="Kalam"/>
                          <a:sym typeface="Kalam"/>
                        </a:rPr>
                        <a:t>7AT</a:t>
                      </a:r>
                      <a:endParaRPr sz="1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</a:tr>
              <a:tr h="132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Kalam"/>
                          <a:ea typeface="Kalam"/>
                          <a:cs typeface="Kalam"/>
                          <a:sym typeface="Kalam"/>
                        </a:rPr>
                        <a:t>7FH</a:t>
                      </a:r>
                      <a:endParaRPr sz="1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</a:tr>
              <a:tr h="132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Kalam"/>
                          <a:ea typeface="Kalam"/>
                          <a:cs typeface="Kalam"/>
                          <a:sym typeface="Kalam"/>
                        </a:rPr>
                        <a:t>7FT</a:t>
                      </a:r>
                      <a:endParaRPr sz="1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</a:tr>
              <a:tr h="132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Kalam"/>
                          <a:ea typeface="Kalam"/>
                          <a:cs typeface="Kalam"/>
                          <a:sym typeface="Kalam"/>
                        </a:rPr>
                        <a:t>7KH</a:t>
                      </a:r>
                      <a:endParaRPr sz="1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</a:tr>
              <a:tr h="132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Kalam"/>
                          <a:ea typeface="Kalam"/>
                          <a:cs typeface="Kalam"/>
                          <a:sym typeface="Kalam"/>
                        </a:rPr>
                        <a:t>7KT</a:t>
                      </a:r>
                      <a:endParaRPr sz="1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</a:tr>
              <a:tr h="132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Kalam"/>
                          <a:ea typeface="Kalam"/>
                          <a:cs typeface="Kalam"/>
                          <a:sym typeface="Kalam"/>
                        </a:rPr>
                        <a:t>7RH</a:t>
                      </a:r>
                      <a:endParaRPr sz="1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</a:tr>
              <a:tr h="132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latin typeface="Kalam"/>
                          <a:ea typeface="Kalam"/>
                          <a:cs typeface="Kalam"/>
                          <a:sym typeface="Kalam"/>
                        </a:rPr>
                        <a:t>7RT</a:t>
                      </a:r>
                      <a:endParaRPr sz="1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grpSp>
        <p:nvGrpSpPr>
          <p:cNvPr id="2138" name="Google Shape;2138;p99"/>
          <p:cNvGrpSpPr/>
          <p:nvPr/>
        </p:nvGrpSpPr>
        <p:grpSpPr>
          <a:xfrm>
            <a:off x="4851500" y="2687151"/>
            <a:ext cx="464700" cy="159820"/>
            <a:chOff x="5150653" y="792447"/>
            <a:chExt cx="464700" cy="460178"/>
          </a:xfrm>
        </p:grpSpPr>
        <p:cxnSp>
          <p:nvCxnSpPr>
            <p:cNvPr id="2139" name="Google Shape;2139;p99"/>
            <p:cNvCxnSpPr/>
            <p:nvPr/>
          </p:nvCxnSpPr>
          <p:spPr>
            <a:xfrm flipH="1" rot="10800000">
              <a:off x="5150653" y="792447"/>
              <a:ext cx="464700" cy="2019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40" name="Google Shape;2140;p99"/>
            <p:cNvCxnSpPr/>
            <p:nvPr/>
          </p:nvCxnSpPr>
          <p:spPr>
            <a:xfrm>
              <a:off x="5150653" y="1050725"/>
              <a:ext cx="464700" cy="2019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141" name="Google Shape;2141;p99"/>
          <p:cNvGrpSpPr/>
          <p:nvPr/>
        </p:nvGrpSpPr>
        <p:grpSpPr>
          <a:xfrm>
            <a:off x="4851500" y="4212640"/>
            <a:ext cx="464700" cy="159820"/>
            <a:chOff x="5150653" y="792447"/>
            <a:chExt cx="464700" cy="460178"/>
          </a:xfrm>
        </p:grpSpPr>
        <p:cxnSp>
          <p:nvCxnSpPr>
            <p:cNvPr id="2142" name="Google Shape;2142;p99"/>
            <p:cNvCxnSpPr/>
            <p:nvPr/>
          </p:nvCxnSpPr>
          <p:spPr>
            <a:xfrm flipH="1" rot="10800000">
              <a:off x="5150653" y="792447"/>
              <a:ext cx="464700" cy="2019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43" name="Google Shape;2143;p99"/>
            <p:cNvCxnSpPr/>
            <p:nvPr/>
          </p:nvCxnSpPr>
          <p:spPr>
            <a:xfrm>
              <a:off x="5150653" y="1050725"/>
              <a:ext cx="464700" cy="2019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144" name="Google Shape;2144;p99"/>
          <p:cNvGrpSpPr/>
          <p:nvPr/>
        </p:nvGrpSpPr>
        <p:grpSpPr>
          <a:xfrm>
            <a:off x="4851500" y="856565"/>
            <a:ext cx="464700" cy="159820"/>
            <a:chOff x="5150653" y="792447"/>
            <a:chExt cx="464700" cy="460178"/>
          </a:xfrm>
        </p:grpSpPr>
        <p:cxnSp>
          <p:nvCxnSpPr>
            <p:cNvPr id="2145" name="Google Shape;2145;p99"/>
            <p:cNvCxnSpPr/>
            <p:nvPr/>
          </p:nvCxnSpPr>
          <p:spPr>
            <a:xfrm flipH="1" rot="10800000">
              <a:off x="5150653" y="792447"/>
              <a:ext cx="464700" cy="2019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46" name="Google Shape;2146;p99"/>
            <p:cNvCxnSpPr/>
            <p:nvPr/>
          </p:nvCxnSpPr>
          <p:spPr>
            <a:xfrm>
              <a:off x="5150653" y="1050725"/>
              <a:ext cx="464700" cy="2019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147" name="Google Shape;2147;p99"/>
          <p:cNvGrpSpPr/>
          <p:nvPr/>
        </p:nvGrpSpPr>
        <p:grpSpPr>
          <a:xfrm>
            <a:off x="4851500" y="1161663"/>
            <a:ext cx="464700" cy="464918"/>
            <a:chOff x="6451700" y="1161663"/>
            <a:chExt cx="464700" cy="464918"/>
          </a:xfrm>
        </p:grpSpPr>
        <p:grpSp>
          <p:nvGrpSpPr>
            <p:cNvPr id="2148" name="Google Shape;2148;p99"/>
            <p:cNvGrpSpPr/>
            <p:nvPr/>
          </p:nvGrpSpPr>
          <p:grpSpPr>
            <a:xfrm>
              <a:off x="6451700" y="1161663"/>
              <a:ext cx="464700" cy="159820"/>
              <a:chOff x="5150653" y="792447"/>
              <a:chExt cx="464700" cy="460178"/>
            </a:xfrm>
          </p:grpSpPr>
          <p:cxnSp>
            <p:nvCxnSpPr>
              <p:cNvPr id="2149" name="Google Shape;2149;p99"/>
              <p:cNvCxnSpPr/>
              <p:nvPr/>
            </p:nvCxnSpPr>
            <p:spPr>
              <a:xfrm flipH="1" rot="10800000">
                <a:off x="5150653" y="792447"/>
                <a:ext cx="464700" cy="2019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50" name="Google Shape;2150;p99"/>
              <p:cNvCxnSpPr/>
              <p:nvPr/>
            </p:nvCxnSpPr>
            <p:spPr>
              <a:xfrm>
                <a:off x="5150653" y="1050725"/>
                <a:ext cx="464700" cy="2019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2151" name="Google Shape;2151;p99"/>
            <p:cNvGrpSpPr/>
            <p:nvPr/>
          </p:nvGrpSpPr>
          <p:grpSpPr>
            <a:xfrm>
              <a:off x="6451700" y="1466760"/>
              <a:ext cx="464700" cy="159820"/>
              <a:chOff x="5150653" y="792447"/>
              <a:chExt cx="464700" cy="460178"/>
            </a:xfrm>
          </p:grpSpPr>
          <p:cxnSp>
            <p:nvCxnSpPr>
              <p:cNvPr id="2152" name="Google Shape;2152;p99"/>
              <p:cNvCxnSpPr/>
              <p:nvPr/>
            </p:nvCxnSpPr>
            <p:spPr>
              <a:xfrm flipH="1" rot="10800000">
                <a:off x="5150653" y="792447"/>
                <a:ext cx="464700" cy="2019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53" name="Google Shape;2153;p99"/>
              <p:cNvCxnSpPr/>
              <p:nvPr/>
            </p:nvCxnSpPr>
            <p:spPr>
              <a:xfrm>
                <a:off x="5150653" y="1050725"/>
                <a:ext cx="464700" cy="2019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2154" name="Google Shape;2154;p99"/>
          <p:cNvGrpSpPr/>
          <p:nvPr/>
        </p:nvGrpSpPr>
        <p:grpSpPr>
          <a:xfrm>
            <a:off x="4851500" y="1771858"/>
            <a:ext cx="464700" cy="159820"/>
            <a:chOff x="5150653" y="792447"/>
            <a:chExt cx="464700" cy="460178"/>
          </a:xfrm>
        </p:grpSpPr>
        <p:cxnSp>
          <p:nvCxnSpPr>
            <p:cNvPr id="2155" name="Google Shape;2155;p99"/>
            <p:cNvCxnSpPr/>
            <p:nvPr/>
          </p:nvCxnSpPr>
          <p:spPr>
            <a:xfrm flipH="1" rot="10800000">
              <a:off x="5150653" y="792447"/>
              <a:ext cx="464700" cy="2019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56" name="Google Shape;2156;p99"/>
            <p:cNvCxnSpPr/>
            <p:nvPr/>
          </p:nvCxnSpPr>
          <p:spPr>
            <a:xfrm>
              <a:off x="5150653" y="1050725"/>
              <a:ext cx="464700" cy="2019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157" name="Google Shape;2157;p99"/>
          <p:cNvGrpSpPr/>
          <p:nvPr/>
        </p:nvGrpSpPr>
        <p:grpSpPr>
          <a:xfrm>
            <a:off x="4851500" y="2076956"/>
            <a:ext cx="464700" cy="159820"/>
            <a:chOff x="5150653" y="792447"/>
            <a:chExt cx="464700" cy="460178"/>
          </a:xfrm>
        </p:grpSpPr>
        <p:cxnSp>
          <p:nvCxnSpPr>
            <p:cNvPr id="2158" name="Google Shape;2158;p99"/>
            <p:cNvCxnSpPr/>
            <p:nvPr/>
          </p:nvCxnSpPr>
          <p:spPr>
            <a:xfrm flipH="1" rot="10800000">
              <a:off x="5150653" y="792447"/>
              <a:ext cx="464700" cy="2019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59" name="Google Shape;2159;p99"/>
            <p:cNvCxnSpPr/>
            <p:nvPr/>
          </p:nvCxnSpPr>
          <p:spPr>
            <a:xfrm>
              <a:off x="5150653" y="1050725"/>
              <a:ext cx="464700" cy="2019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160" name="Google Shape;2160;p99"/>
          <p:cNvGrpSpPr/>
          <p:nvPr/>
        </p:nvGrpSpPr>
        <p:grpSpPr>
          <a:xfrm>
            <a:off x="4851500" y="2382054"/>
            <a:ext cx="464700" cy="159820"/>
            <a:chOff x="5150653" y="792447"/>
            <a:chExt cx="464700" cy="460178"/>
          </a:xfrm>
        </p:grpSpPr>
        <p:cxnSp>
          <p:nvCxnSpPr>
            <p:cNvPr id="2161" name="Google Shape;2161;p99"/>
            <p:cNvCxnSpPr/>
            <p:nvPr/>
          </p:nvCxnSpPr>
          <p:spPr>
            <a:xfrm flipH="1" rot="10800000">
              <a:off x="5150653" y="792447"/>
              <a:ext cx="464700" cy="2019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62" name="Google Shape;2162;p99"/>
            <p:cNvCxnSpPr/>
            <p:nvPr/>
          </p:nvCxnSpPr>
          <p:spPr>
            <a:xfrm>
              <a:off x="5150653" y="1050725"/>
              <a:ext cx="464700" cy="2019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163" name="Google Shape;2163;p99"/>
          <p:cNvGrpSpPr/>
          <p:nvPr/>
        </p:nvGrpSpPr>
        <p:grpSpPr>
          <a:xfrm>
            <a:off x="4851500" y="2992249"/>
            <a:ext cx="464700" cy="159820"/>
            <a:chOff x="5150653" y="792447"/>
            <a:chExt cx="464700" cy="460178"/>
          </a:xfrm>
        </p:grpSpPr>
        <p:cxnSp>
          <p:nvCxnSpPr>
            <p:cNvPr id="2164" name="Google Shape;2164;p99"/>
            <p:cNvCxnSpPr/>
            <p:nvPr/>
          </p:nvCxnSpPr>
          <p:spPr>
            <a:xfrm flipH="1" rot="10800000">
              <a:off x="5150653" y="792447"/>
              <a:ext cx="464700" cy="2019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65" name="Google Shape;2165;p99"/>
            <p:cNvCxnSpPr/>
            <p:nvPr/>
          </p:nvCxnSpPr>
          <p:spPr>
            <a:xfrm>
              <a:off x="5150653" y="1050725"/>
              <a:ext cx="464700" cy="2019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166" name="Google Shape;2166;p99"/>
          <p:cNvGrpSpPr/>
          <p:nvPr/>
        </p:nvGrpSpPr>
        <p:grpSpPr>
          <a:xfrm>
            <a:off x="4851500" y="3297347"/>
            <a:ext cx="464700" cy="159820"/>
            <a:chOff x="5150653" y="792447"/>
            <a:chExt cx="464700" cy="460178"/>
          </a:xfrm>
        </p:grpSpPr>
        <p:cxnSp>
          <p:nvCxnSpPr>
            <p:cNvPr id="2167" name="Google Shape;2167;p99"/>
            <p:cNvCxnSpPr/>
            <p:nvPr/>
          </p:nvCxnSpPr>
          <p:spPr>
            <a:xfrm flipH="1" rot="10800000">
              <a:off x="5150653" y="792447"/>
              <a:ext cx="464700" cy="2019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68" name="Google Shape;2168;p99"/>
            <p:cNvCxnSpPr/>
            <p:nvPr/>
          </p:nvCxnSpPr>
          <p:spPr>
            <a:xfrm>
              <a:off x="5150653" y="1050725"/>
              <a:ext cx="464700" cy="2019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169" name="Google Shape;2169;p99"/>
          <p:cNvGrpSpPr/>
          <p:nvPr/>
        </p:nvGrpSpPr>
        <p:grpSpPr>
          <a:xfrm>
            <a:off x="4851500" y="3602444"/>
            <a:ext cx="464700" cy="464918"/>
            <a:chOff x="6451700" y="3602444"/>
            <a:chExt cx="464700" cy="464918"/>
          </a:xfrm>
        </p:grpSpPr>
        <p:grpSp>
          <p:nvGrpSpPr>
            <p:cNvPr id="2170" name="Google Shape;2170;p99"/>
            <p:cNvGrpSpPr/>
            <p:nvPr/>
          </p:nvGrpSpPr>
          <p:grpSpPr>
            <a:xfrm>
              <a:off x="6451700" y="3602444"/>
              <a:ext cx="464700" cy="159820"/>
              <a:chOff x="5150653" y="792447"/>
              <a:chExt cx="464700" cy="460178"/>
            </a:xfrm>
          </p:grpSpPr>
          <p:cxnSp>
            <p:nvCxnSpPr>
              <p:cNvPr id="2171" name="Google Shape;2171;p99"/>
              <p:cNvCxnSpPr/>
              <p:nvPr/>
            </p:nvCxnSpPr>
            <p:spPr>
              <a:xfrm flipH="1" rot="10800000">
                <a:off x="5150653" y="792447"/>
                <a:ext cx="464700" cy="2019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72" name="Google Shape;2172;p99"/>
              <p:cNvCxnSpPr/>
              <p:nvPr/>
            </p:nvCxnSpPr>
            <p:spPr>
              <a:xfrm>
                <a:off x="5150653" y="1050725"/>
                <a:ext cx="464700" cy="2019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2173" name="Google Shape;2173;p99"/>
            <p:cNvGrpSpPr/>
            <p:nvPr/>
          </p:nvGrpSpPr>
          <p:grpSpPr>
            <a:xfrm>
              <a:off x="6451700" y="3907542"/>
              <a:ext cx="464700" cy="159820"/>
              <a:chOff x="5150653" y="792447"/>
              <a:chExt cx="464700" cy="460178"/>
            </a:xfrm>
          </p:grpSpPr>
          <p:cxnSp>
            <p:nvCxnSpPr>
              <p:cNvPr id="2174" name="Google Shape;2174;p99"/>
              <p:cNvCxnSpPr/>
              <p:nvPr/>
            </p:nvCxnSpPr>
            <p:spPr>
              <a:xfrm flipH="1" rot="10800000">
                <a:off x="5150653" y="792447"/>
                <a:ext cx="464700" cy="2019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75" name="Google Shape;2175;p99"/>
              <p:cNvCxnSpPr/>
              <p:nvPr/>
            </p:nvCxnSpPr>
            <p:spPr>
              <a:xfrm>
                <a:off x="5150653" y="1050725"/>
                <a:ext cx="464700" cy="2019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2176" name="Google Shape;2176;p99"/>
          <p:cNvGrpSpPr/>
          <p:nvPr/>
        </p:nvGrpSpPr>
        <p:grpSpPr>
          <a:xfrm>
            <a:off x="4284325" y="3379208"/>
            <a:ext cx="464700" cy="911429"/>
            <a:chOff x="5884525" y="3379208"/>
            <a:chExt cx="464700" cy="911429"/>
          </a:xfrm>
        </p:grpSpPr>
        <p:grpSp>
          <p:nvGrpSpPr>
            <p:cNvPr id="2177" name="Google Shape;2177;p99"/>
            <p:cNvGrpSpPr/>
            <p:nvPr/>
          </p:nvGrpSpPr>
          <p:grpSpPr>
            <a:xfrm>
              <a:off x="5884525" y="3379208"/>
              <a:ext cx="464700" cy="911429"/>
              <a:chOff x="5150653" y="792447"/>
              <a:chExt cx="464700" cy="460178"/>
            </a:xfrm>
          </p:grpSpPr>
          <p:cxnSp>
            <p:nvCxnSpPr>
              <p:cNvPr id="2178" name="Google Shape;2178;p99"/>
              <p:cNvCxnSpPr/>
              <p:nvPr/>
            </p:nvCxnSpPr>
            <p:spPr>
              <a:xfrm flipH="1" rot="10800000">
                <a:off x="5150653" y="792447"/>
                <a:ext cx="464700" cy="2019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79" name="Google Shape;2179;p99"/>
              <p:cNvCxnSpPr/>
              <p:nvPr/>
            </p:nvCxnSpPr>
            <p:spPr>
              <a:xfrm>
                <a:off x="5150653" y="1050725"/>
                <a:ext cx="464700" cy="2019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2180" name="Google Shape;2180;p99"/>
            <p:cNvGrpSpPr/>
            <p:nvPr/>
          </p:nvGrpSpPr>
          <p:grpSpPr>
            <a:xfrm>
              <a:off x="5884525" y="3676347"/>
              <a:ext cx="464700" cy="317109"/>
              <a:chOff x="5150653" y="792447"/>
              <a:chExt cx="464700" cy="460178"/>
            </a:xfrm>
          </p:grpSpPr>
          <p:cxnSp>
            <p:nvCxnSpPr>
              <p:cNvPr id="2181" name="Google Shape;2181;p99"/>
              <p:cNvCxnSpPr/>
              <p:nvPr/>
            </p:nvCxnSpPr>
            <p:spPr>
              <a:xfrm flipH="1" rot="10800000">
                <a:off x="5150653" y="792447"/>
                <a:ext cx="464700" cy="2019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82" name="Google Shape;2182;p99"/>
              <p:cNvCxnSpPr/>
              <p:nvPr/>
            </p:nvCxnSpPr>
            <p:spPr>
              <a:xfrm>
                <a:off x="5150653" y="1050725"/>
                <a:ext cx="464700" cy="2019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2183" name="Google Shape;2183;p99"/>
          <p:cNvGrpSpPr/>
          <p:nvPr/>
        </p:nvGrpSpPr>
        <p:grpSpPr>
          <a:xfrm>
            <a:off x="4284325" y="938420"/>
            <a:ext cx="464700" cy="911429"/>
            <a:chOff x="5884525" y="3379208"/>
            <a:chExt cx="464700" cy="911429"/>
          </a:xfrm>
        </p:grpSpPr>
        <p:grpSp>
          <p:nvGrpSpPr>
            <p:cNvPr id="2184" name="Google Shape;2184;p99"/>
            <p:cNvGrpSpPr/>
            <p:nvPr/>
          </p:nvGrpSpPr>
          <p:grpSpPr>
            <a:xfrm>
              <a:off x="5884525" y="3379208"/>
              <a:ext cx="464700" cy="911429"/>
              <a:chOff x="5150653" y="792447"/>
              <a:chExt cx="464700" cy="460178"/>
            </a:xfrm>
          </p:grpSpPr>
          <p:cxnSp>
            <p:nvCxnSpPr>
              <p:cNvPr id="2185" name="Google Shape;2185;p99"/>
              <p:cNvCxnSpPr/>
              <p:nvPr/>
            </p:nvCxnSpPr>
            <p:spPr>
              <a:xfrm flipH="1" rot="10800000">
                <a:off x="5150653" y="792447"/>
                <a:ext cx="464700" cy="2019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86" name="Google Shape;2186;p99"/>
              <p:cNvCxnSpPr/>
              <p:nvPr/>
            </p:nvCxnSpPr>
            <p:spPr>
              <a:xfrm>
                <a:off x="5150653" y="1050725"/>
                <a:ext cx="464700" cy="2019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2187" name="Google Shape;2187;p99"/>
            <p:cNvGrpSpPr/>
            <p:nvPr/>
          </p:nvGrpSpPr>
          <p:grpSpPr>
            <a:xfrm>
              <a:off x="5884525" y="3676347"/>
              <a:ext cx="464700" cy="317109"/>
              <a:chOff x="5150653" y="792447"/>
              <a:chExt cx="464700" cy="460178"/>
            </a:xfrm>
          </p:grpSpPr>
          <p:cxnSp>
            <p:nvCxnSpPr>
              <p:cNvPr id="2188" name="Google Shape;2188;p99"/>
              <p:cNvCxnSpPr/>
              <p:nvPr/>
            </p:nvCxnSpPr>
            <p:spPr>
              <a:xfrm flipH="1" rot="10800000">
                <a:off x="5150653" y="792447"/>
                <a:ext cx="464700" cy="2019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89" name="Google Shape;2189;p99"/>
              <p:cNvCxnSpPr/>
              <p:nvPr/>
            </p:nvCxnSpPr>
            <p:spPr>
              <a:xfrm>
                <a:off x="5150653" y="1050725"/>
                <a:ext cx="464700" cy="2019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2190" name="Google Shape;2190;p99"/>
          <p:cNvGrpSpPr/>
          <p:nvPr/>
        </p:nvGrpSpPr>
        <p:grpSpPr>
          <a:xfrm>
            <a:off x="4284325" y="2158808"/>
            <a:ext cx="464700" cy="911429"/>
            <a:chOff x="5884525" y="3379208"/>
            <a:chExt cx="464700" cy="911429"/>
          </a:xfrm>
        </p:grpSpPr>
        <p:grpSp>
          <p:nvGrpSpPr>
            <p:cNvPr id="2191" name="Google Shape;2191;p99"/>
            <p:cNvGrpSpPr/>
            <p:nvPr/>
          </p:nvGrpSpPr>
          <p:grpSpPr>
            <a:xfrm>
              <a:off x="5884525" y="3379208"/>
              <a:ext cx="464700" cy="911429"/>
              <a:chOff x="5150653" y="792447"/>
              <a:chExt cx="464700" cy="460178"/>
            </a:xfrm>
          </p:grpSpPr>
          <p:cxnSp>
            <p:nvCxnSpPr>
              <p:cNvPr id="2192" name="Google Shape;2192;p99"/>
              <p:cNvCxnSpPr/>
              <p:nvPr/>
            </p:nvCxnSpPr>
            <p:spPr>
              <a:xfrm flipH="1" rot="10800000">
                <a:off x="5150653" y="792447"/>
                <a:ext cx="464700" cy="2019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93" name="Google Shape;2193;p99"/>
              <p:cNvCxnSpPr/>
              <p:nvPr/>
            </p:nvCxnSpPr>
            <p:spPr>
              <a:xfrm>
                <a:off x="5150653" y="1050725"/>
                <a:ext cx="464700" cy="2019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2194" name="Google Shape;2194;p99"/>
            <p:cNvGrpSpPr/>
            <p:nvPr/>
          </p:nvGrpSpPr>
          <p:grpSpPr>
            <a:xfrm>
              <a:off x="5884525" y="3676347"/>
              <a:ext cx="464700" cy="317109"/>
              <a:chOff x="5150653" y="792447"/>
              <a:chExt cx="464700" cy="460178"/>
            </a:xfrm>
          </p:grpSpPr>
          <p:cxnSp>
            <p:nvCxnSpPr>
              <p:cNvPr id="2195" name="Google Shape;2195;p99"/>
              <p:cNvCxnSpPr/>
              <p:nvPr/>
            </p:nvCxnSpPr>
            <p:spPr>
              <a:xfrm flipH="1" rot="10800000">
                <a:off x="5150653" y="792447"/>
                <a:ext cx="464700" cy="2019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96" name="Google Shape;2196;p99"/>
              <p:cNvCxnSpPr/>
              <p:nvPr/>
            </p:nvCxnSpPr>
            <p:spPr>
              <a:xfrm>
                <a:off x="5150653" y="1050725"/>
                <a:ext cx="464700" cy="2019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2197" name="Google Shape;2197;p99"/>
          <p:cNvGrpSpPr/>
          <p:nvPr/>
        </p:nvGrpSpPr>
        <p:grpSpPr>
          <a:xfrm>
            <a:off x="3704250" y="1395289"/>
            <a:ext cx="477600" cy="2438256"/>
            <a:chOff x="5884525" y="3379208"/>
            <a:chExt cx="477600" cy="911429"/>
          </a:xfrm>
        </p:grpSpPr>
        <p:grpSp>
          <p:nvGrpSpPr>
            <p:cNvPr id="2198" name="Google Shape;2198;p99"/>
            <p:cNvGrpSpPr/>
            <p:nvPr/>
          </p:nvGrpSpPr>
          <p:grpSpPr>
            <a:xfrm>
              <a:off x="5884525" y="3379208"/>
              <a:ext cx="464700" cy="911429"/>
              <a:chOff x="5150653" y="792447"/>
              <a:chExt cx="464700" cy="460178"/>
            </a:xfrm>
          </p:grpSpPr>
          <p:cxnSp>
            <p:nvCxnSpPr>
              <p:cNvPr id="2199" name="Google Shape;2199;p99"/>
              <p:cNvCxnSpPr/>
              <p:nvPr/>
            </p:nvCxnSpPr>
            <p:spPr>
              <a:xfrm flipH="1" rot="10800000">
                <a:off x="5150653" y="792447"/>
                <a:ext cx="464700" cy="2019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00" name="Google Shape;2200;p99"/>
              <p:cNvCxnSpPr/>
              <p:nvPr/>
            </p:nvCxnSpPr>
            <p:spPr>
              <a:xfrm>
                <a:off x="5150653" y="1050725"/>
                <a:ext cx="464700" cy="2019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cxnSp>
          <p:nvCxnSpPr>
            <p:cNvPr id="2201" name="Google Shape;2201;p99"/>
            <p:cNvCxnSpPr/>
            <p:nvPr/>
          </p:nvCxnSpPr>
          <p:spPr>
            <a:xfrm>
              <a:off x="5884525" y="3834851"/>
              <a:ext cx="477600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5" name="Shape 2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6" name="Google Shape;2206;p100"/>
          <p:cNvSpPr txBox="1"/>
          <p:nvPr/>
        </p:nvSpPr>
        <p:spPr>
          <a:xfrm>
            <a:off x="338225" y="913200"/>
            <a:ext cx="8481900" cy="35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Outcome trees with three layers of branches and Venn diagrams with three circles can both be used to categorise the outcomes of a trial into three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events.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Whilst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an outcome table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cannot be used to do this, a pair of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outcome table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 can.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However, Venn diagrams cannot be used to systematically write the outcomes to a two-, or three-stage trial.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Lists and outcome trees can be used to systematically write the outcomes of multi-stage trials, and an outcome tree can be used to complete an incomplete list of outcomes.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7" name="Google Shape;2207;p100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Comparing representations of outcomes for more than two events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1" name="Shape 2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2" name="Google Shape;2212;p101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2024.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2213" name="Google Shape;2213;p10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