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379498-5AD1-497D-9FB3-F8A8FC29E0F8}">
  <a:tblStyle styleId="{A9379498-5AD1-497D-9FB3-F8A8FC29E0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C498A5C-9B8C-4974-AA7E-5FA93B15FAD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b84ab6135d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b84ab613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2380182" y="2394001"/>
            <a:ext cx="74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964919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Using the correctly completed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fill in the incomplete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1" y="1563650"/>
            <a:ext cx="6254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different diagrams for multiple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 flipH="1">
            <a:off x="4189022" y="2354647"/>
            <a:ext cx="2868900" cy="190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 flipH="1">
            <a:off x="5033238" y="3000803"/>
            <a:ext cx="1180500" cy="1180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 flipH="1">
            <a:off x="4655414" y="2436437"/>
            <a:ext cx="1935952" cy="1180504"/>
            <a:chOff x="3541748" y="4038900"/>
            <a:chExt cx="979534" cy="597300"/>
          </a:xfrm>
        </p:grpSpPr>
        <p:sp>
          <p:nvSpPr>
            <p:cNvPr id="179" name="Google Shape;179;p20"/>
            <p:cNvSpPr/>
            <p:nvPr/>
          </p:nvSpPr>
          <p:spPr>
            <a:xfrm>
              <a:off x="3541748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3923982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4392845" y="2423492"/>
            <a:ext cx="4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414019" y="2423492"/>
            <a:ext cx="654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020528" y="3965174"/>
            <a:ext cx="819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 flipH="1" rot="10800000">
            <a:off x="2058759" y="2512232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2058759" y="2649642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/>
          <p:nvPr/>
        </p:nvCxnSpPr>
        <p:spPr>
          <a:xfrm flipH="1" rot="10800000">
            <a:off x="2058759" y="2964569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2058759" y="3101980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0"/>
          <p:cNvCxnSpPr/>
          <p:nvPr/>
        </p:nvCxnSpPr>
        <p:spPr>
          <a:xfrm flipH="1" rot="10800000">
            <a:off x="2058759" y="3416907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2058759" y="3554317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/>
          <p:nvPr/>
        </p:nvCxnSpPr>
        <p:spPr>
          <a:xfrm flipH="1" rot="10800000">
            <a:off x="2058759" y="3869244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2058759" y="4006654"/>
            <a:ext cx="284100" cy="10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/>
          <p:nvPr/>
        </p:nvCxnSpPr>
        <p:spPr>
          <a:xfrm flipH="1" rot="10800000">
            <a:off x="1311707" y="3529690"/>
            <a:ext cx="243600" cy="20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0"/>
          <p:cNvCxnSpPr/>
          <p:nvPr/>
        </p:nvCxnSpPr>
        <p:spPr>
          <a:xfrm>
            <a:off x="1311707" y="3794481"/>
            <a:ext cx="243600" cy="20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0"/>
          <p:cNvCxnSpPr/>
          <p:nvPr/>
        </p:nvCxnSpPr>
        <p:spPr>
          <a:xfrm flipH="1" rot="10800000">
            <a:off x="1311707" y="2625020"/>
            <a:ext cx="243600" cy="20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1311707" y="2889811"/>
            <a:ext cx="243600" cy="20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0"/>
          <p:cNvCxnSpPr/>
          <p:nvPr/>
        </p:nvCxnSpPr>
        <p:spPr>
          <a:xfrm flipH="1" rot="10800000">
            <a:off x="556667" y="2859820"/>
            <a:ext cx="284100" cy="39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556667" y="3368803"/>
            <a:ext cx="284100" cy="39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0"/>
          <p:cNvSpPr txBox="1"/>
          <p:nvPr/>
        </p:nvSpPr>
        <p:spPr>
          <a:xfrm>
            <a:off x="847049" y="2742607"/>
            <a:ext cx="4239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47049" y="3647284"/>
            <a:ext cx="4239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554358" y="2968768"/>
            <a:ext cx="51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554358" y="3421223"/>
            <a:ext cx="51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554358" y="3873349"/>
            <a:ext cx="51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380203" y="2637099"/>
            <a:ext cx="100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380203" y="3090316"/>
            <a:ext cx="100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380174" y="3299557"/>
            <a:ext cx="74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380203" y="3542643"/>
            <a:ext cx="100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2380174" y="3751917"/>
            <a:ext cx="74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380203" y="3995012"/>
            <a:ext cx="100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380174" y="2847237"/>
            <a:ext cx="74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3151777" y="2419086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340730" y="2662185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151777" y="2872303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755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340730" y="3115402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3151777" y="3325520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340730" y="3568619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8, 64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151777" y="3778737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340730" y="4021836"/>
            <a:ext cx="643200" cy="186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554358" y="2516642"/>
            <a:ext cx="51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172640" y="2665869"/>
            <a:ext cx="284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481451" y="3063674"/>
            <a:ext cx="284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5481559" y="2600795"/>
            <a:ext cx="284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481559" y="2805255"/>
            <a:ext cx="284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084597" y="3272087"/>
            <a:ext cx="4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755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866380" y="2805245"/>
            <a:ext cx="4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5727878" y="3282973"/>
            <a:ext cx="4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411619" y="3760691"/>
            <a:ext cx="4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915572" y="2885248"/>
            <a:ext cx="4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391393" y="3814897"/>
            <a:ext cx="4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/>
          <p:nvPr/>
        </p:nvSpPr>
        <p:spPr>
          <a:xfrm flipH="1">
            <a:off x="505633" y="5698349"/>
            <a:ext cx="3031800" cy="2016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499519" y="7352208"/>
            <a:ext cx="8658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digits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(2d)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 flipH="1">
            <a:off x="1397589" y="6381209"/>
            <a:ext cx="1247700" cy="1247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2" name="Google Shape;232;p20"/>
          <p:cNvGrpSpPr/>
          <p:nvPr/>
        </p:nvGrpSpPr>
        <p:grpSpPr>
          <a:xfrm flipH="1">
            <a:off x="998361" y="5784512"/>
            <a:ext cx="2045954" cy="1247521"/>
            <a:chOff x="3541748" y="4038900"/>
            <a:chExt cx="979534" cy="597300"/>
          </a:xfrm>
        </p:grpSpPr>
        <p:sp>
          <p:nvSpPr>
            <p:cNvPr id="233" name="Google Shape;233;p20"/>
            <p:cNvSpPr/>
            <p:nvPr/>
          </p:nvSpPr>
          <p:spPr>
            <a:xfrm>
              <a:off x="3541748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3923982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5" name="Google Shape;235;p20"/>
          <p:cNvGrpSpPr/>
          <p:nvPr/>
        </p:nvGrpSpPr>
        <p:grpSpPr>
          <a:xfrm>
            <a:off x="5284076" y="5701591"/>
            <a:ext cx="283384" cy="293705"/>
            <a:chOff x="6502726" y="1522723"/>
            <a:chExt cx="364200" cy="377464"/>
          </a:xfrm>
        </p:grpSpPr>
        <p:cxnSp>
          <p:nvCxnSpPr>
            <p:cNvPr id="236" name="Google Shape;236;p20"/>
            <p:cNvCxnSpPr/>
            <p:nvPr/>
          </p:nvCxnSpPr>
          <p:spPr>
            <a:xfrm flipH="1" rot="10800000">
              <a:off x="6502726" y="1522723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0"/>
            <p:cNvCxnSpPr/>
            <p:nvPr/>
          </p:nvCxnSpPr>
          <p:spPr>
            <a:xfrm>
              <a:off x="6502726" y="1734587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8" name="Google Shape;238;p20"/>
          <p:cNvGrpSpPr/>
          <p:nvPr/>
        </p:nvGrpSpPr>
        <p:grpSpPr>
          <a:xfrm>
            <a:off x="5284076" y="6244182"/>
            <a:ext cx="283384" cy="293705"/>
            <a:chOff x="6502726" y="2220052"/>
            <a:chExt cx="364200" cy="377464"/>
          </a:xfrm>
        </p:grpSpPr>
        <p:cxnSp>
          <p:nvCxnSpPr>
            <p:cNvPr id="239" name="Google Shape;239;p20"/>
            <p:cNvCxnSpPr/>
            <p:nvPr/>
          </p:nvCxnSpPr>
          <p:spPr>
            <a:xfrm flipH="1" rot="10800000">
              <a:off x="6502726" y="2220052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20"/>
            <p:cNvCxnSpPr/>
            <p:nvPr/>
          </p:nvCxnSpPr>
          <p:spPr>
            <a:xfrm>
              <a:off x="6502726" y="2431916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1" name="Google Shape;241;p20"/>
          <p:cNvGrpSpPr/>
          <p:nvPr/>
        </p:nvGrpSpPr>
        <p:grpSpPr>
          <a:xfrm>
            <a:off x="5284076" y="6786774"/>
            <a:ext cx="283384" cy="836296"/>
            <a:chOff x="6502726" y="2917381"/>
            <a:chExt cx="364200" cy="1074793"/>
          </a:xfrm>
        </p:grpSpPr>
        <p:grpSp>
          <p:nvGrpSpPr>
            <p:cNvPr id="242" name="Google Shape;242;p20"/>
            <p:cNvGrpSpPr/>
            <p:nvPr/>
          </p:nvGrpSpPr>
          <p:grpSpPr>
            <a:xfrm>
              <a:off x="6502726" y="2917381"/>
              <a:ext cx="364200" cy="377464"/>
              <a:chOff x="6502726" y="2917381"/>
              <a:chExt cx="364200" cy="377464"/>
            </a:xfrm>
          </p:grpSpPr>
          <p:cxnSp>
            <p:nvCxnSpPr>
              <p:cNvPr id="243" name="Google Shape;243;p20"/>
              <p:cNvCxnSpPr/>
              <p:nvPr/>
            </p:nvCxnSpPr>
            <p:spPr>
              <a:xfrm flipH="1" rot="10800000">
                <a:off x="6502726" y="2917381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20"/>
              <p:cNvCxnSpPr/>
              <p:nvPr/>
            </p:nvCxnSpPr>
            <p:spPr>
              <a:xfrm>
                <a:off x="6502726" y="3129245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5" name="Google Shape;245;p20"/>
            <p:cNvGrpSpPr/>
            <p:nvPr/>
          </p:nvGrpSpPr>
          <p:grpSpPr>
            <a:xfrm>
              <a:off x="6502726" y="3614710"/>
              <a:ext cx="364200" cy="377464"/>
              <a:chOff x="6502726" y="3614710"/>
              <a:chExt cx="364200" cy="377464"/>
            </a:xfrm>
          </p:grpSpPr>
          <p:cxnSp>
            <p:nvCxnSpPr>
              <p:cNvPr id="246" name="Google Shape;246;p20"/>
              <p:cNvCxnSpPr/>
              <p:nvPr/>
            </p:nvCxnSpPr>
            <p:spPr>
              <a:xfrm flipH="1" rot="10800000">
                <a:off x="6502726" y="3614710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" name="Google Shape;247;p20"/>
              <p:cNvCxnSpPr/>
              <p:nvPr/>
            </p:nvCxnSpPr>
            <p:spPr>
              <a:xfrm>
                <a:off x="6502726" y="3826574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48" name="Google Shape;248;p20"/>
          <p:cNvGrpSpPr/>
          <p:nvPr/>
        </p:nvGrpSpPr>
        <p:grpSpPr>
          <a:xfrm>
            <a:off x="4538518" y="6922017"/>
            <a:ext cx="243234" cy="566061"/>
            <a:chOff x="5544548" y="3091193"/>
            <a:chExt cx="312600" cy="727492"/>
          </a:xfrm>
        </p:grpSpPr>
        <p:cxnSp>
          <p:nvCxnSpPr>
            <p:cNvPr id="249" name="Google Shape;249;p20"/>
            <p:cNvCxnSpPr/>
            <p:nvPr/>
          </p:nvCxnSpPr>
          <p:spPr>
            <a:xfrm flipH="1" rot="10800000">
              <a:off x="5544548" y="3091193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5544548" y="3499485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1" name="Google Shape;251;p20"/>
          <p:cNvGrpSpPr/>
          <p:nvPr/>
        </p:nvGrpSpPr>
        <p:grpSpPr>
          <a:xfrm>
            <a:off x="4538518" y="5836840"/>
            <a:ext cx="243234" cy="566061"/>
            <a:chOff x="5544548" y="1696543"/>
            <a:chExt cx="312600" cy="727492"/>
          </a:xfrm>
        </p:grpSpPr>
        <p:cxnSp>
          <p:nvCxnSpPr>
            <p:cNvPr id="252" name="Google Shape;252;p20"/>
            <p:cNvCxnSpPr/>
            <p:nvPr/>
          </p:nvCxnSpPr>
          <p:spPr>
            <a:xfrm flipH="1" rot="10800000">
              <a:off x="5544548" y="1696543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20"/>
            <p:cNvCxnSpPr/>
            <p:nvPr/>
          </p:nvCxnSpPr>
          <p:spPr>
            <a:xfrm>
              <a:off x="5544548" y="2104834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54" name="Google Shape;254;p20"/>
          <p:cNvCxnSpPr/>
          <p:nvPr/>
        </p:nvCxnSpPr>
        <p:spPr>
          <a:xfrm flipH="1" rot="10800000">
            <a:off x="3844149" y="6118644"/>
            <a:ext cx="283500" cy="47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0"/>
          <p:cNvCxnSpPr/>
          <p:nvPr/>
        </p:nvCxnSpPr>
        <p:spPr>
          <a:xfrm>
            <a:off x="3844149" y="6729006"/>
            <a:ext cx="283500" cy="47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0"/>
          <p:cNvSpPr txBox="1"/>
          <p:nvPr/>
        </p:nvSpPr>
        <p:spPr>
          <a:xfrm>
            <a:off x="5604691" y="6394975"/>
            <a:ext cx="807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5604653" y="6645943"/>
            <a:ext cx="509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5604691" y="6937532"/>
            <a:ext cx="807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5604653" y="7188539"/>
            <a:ext cx="509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5604691" y="7480139"/>
            <a:ext cx="807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5604653" y="6103396"/>
            <a:ext cx="509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959228" y="5589840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6266374" y="5881431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5959228" y="6133464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6266374" y="6425056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5959228" y="6677089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6266374" y="6968680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5959228" y="7220713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6266374" y="7512305"/>
            <a:ext cx="642000" cy="2235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7,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1871402" y="6450063"/>
            <a:ext cx="300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2223328" y="6679799"/>
            <a:ext cx="283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1879790" y="7145142"/>
            <a:ext cx="283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1510614" y="6680946"/>
            <a:ext cx="283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1231946" y="5995235"/>
            <a:ext cx="447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1796039" y="6136908"/>
            <a:ext cx="447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664086" y="7124579"/>
            <a:ext cx="5397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5604691" y="5851351"/>
            <a:ext cx="807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476400" y="5085973"/>
            <a:ext cx="66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The Venn diagram and outcome tree both represent the same set of events for a spinner.  Fill in all missing outcomes for both representations.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547315" y="5698351"/>
            <a:ext cx="78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  of 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(f360)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2721615" y="5698344"/>
            <a:ext cx="78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multiple of 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(m8)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664086" y="7400559"/>
            <a:ext cx="5397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1231946" y="6300646"/>
            <a:ext cx="447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134301" y="6011964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4134301" y="7097087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2d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4854349" y="5740535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4854349" y="6283111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4854349" y="6825677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4854349" y="7368253"/>
            <a:ext cx="392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5604658" y="5559750"/>
            <a:ext cx="509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  <p:cxnSp>
        <p:nvCxnSpPr>
          <p:cNvPr id="295" name="Google Shape;295;p21"/>
          <p:cNvCxnSpPr/>
          <p:nvPr/>
        </p:nvCxnSpPr>
        <p:spPr>
          <a:xfrm>
            <a:off x="474757" y="42044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96" name="Google Shape;296;p21"/>
          <p:cNvGraphicFramePr/>
          <p:nvPr/>
        </p:nvGraphicFramePr>
        <p:xfrm>
          <a:off x="484103" y="89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{A9379498-5AD1-497D-9FB3-F8A8FC29E0F8}</a:tableStyleId>
              </a:tblPr>
              <a:tblGrid>
                <a:gridCol w="403275"/>
                <a:gridCol w="762300"/>
                <a:gridCol w="762300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</a:tr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Jacob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Jun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21"/>
          <p:cNvSpPr txBox="1"/>
          <p:nvPr/>
        </p:nvSpPr>
        <p:spPr>
          <a:xfrm>
            <a:off x="2602775" y="853150"/>
            <a:ext cx="448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Whilst one outcome table cannot show three events from a trial, two outcome tables can.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all missing outcomes on both the pair of outcome tables and the Venn diagram.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8" name="Google Shape;298;p21"/>
          <p:cNvGraphicFramePr/>
          <p:nvPr/>
        </p:nvGraphicFramePr>
        <p:xfrm>
          <a:off x="484103" y="254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{A9379498-5AD1-497D-9FB3-F8A8FC29E0F8}</a:tableStyleId>
              </a:tblPr>
              <a:tblGrid>
                <a:gridCol w="403275"/>
                <a:gridCol w="762300"/>
                <a:gridCol w="762300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tails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</a:tr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Lucas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Andeep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Izzy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21"/>
          <p:cNvSpPr/>
          <p:nvPr/>
        </p:nvSpPr>
        <p:spPr>
          <a:xfrm flipH="1">
            <a:off x="3058175" y="1879495"/>
            <a:ext cx="3928200" cy="1820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 flipH="1">
            <a:off x="4020442" y="2454876"/>
            <a:ext cx="2003700" cy="118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 flipH="1">
            <a:off x="4483601" y="2009290"/>
            <a:ext cx="2003400" cy="118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 flipH="1">
            <a:off x="3557867" y="2009290"/>
            <a:ext cx="2003400" cy="118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3200895" y="1994317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6341423" y="1994317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5741282" y="3312146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732268" y="2653516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Aisha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5392344" y="2853482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732268" y="2188071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5686209" y="2362691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Sam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3805099" y="2362691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072192" y="2853486"/>
            <a:ext cx="580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Lucas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652330" y="3312150"/>
            <a:ext cx="740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3162449" y="3418886"/>
            <a:ext cx="740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Laura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4714113" y="6093403"/>
            <a:ext cx="238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Create two lists of outcomes to find all possible two course meals.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714113" y="4837741"/>
            <a:ext cx="23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 two-course meal is made from either: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90625" y="4837741"/>
            <a:ext cx="238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 three-course meal is made from one starter, one main, and one dessert.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By creating an outcome tree, list all possible three-course meals.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467999" y="4230650"/>
            <a:ext cx="62550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Multi-stage trials with lists and outcome trees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4806899" y="5408891"/>
            <a:ext cx="229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starter and one main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main and one dessert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" name="Google Shape;319;p21"/>
          <p:cNvCxnSpPr/>
          <p:nvPr/>
        </p:nvCxnSpPr>
        <p:spPr>
          <a:xfrm>
            <a:off x="3790351" y="4772702"/>
            <a:ext cx="8400" cy="515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21"/>
          <p:cNvSpPr txBox="1"/>
          <p:nvPr/>
        </p:nvSpPr>
        <p:spPr>
          <a:xfrm>
            <a:off x="3045418" y="4902079"/>
            <a:ext cx="1489800" cy="2733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Tomato Soup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Garlic Bread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Pasta Carbonara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Fish Pie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Spinach Gnocchi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Desserts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Vanilla Ice Cream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Chocolate Cake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Banana Split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2238368" y="6366840"/>
            <a:ext cx="607200" cy="2853300"/>
          </a:xfrm>
          <a:prstGeom prst="rect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1"/>
          <p:cNvGrpSpPr/>
          <p:nvPr/>
        </p:nvGrpSpPr>
        <p:grpSpPr>
          <a:xfrm>
            <a:off x="1047911" y="6616962"/>
            <a:ext cx="207404" cy="935035"/>
            <a:chOff x="5196454" y="1346609"/>
            <a:chExt cx="438300" cy="1244390"/>
          </a:xfrm>
        </p:grpSpPr>
        <p:cxnSp>
          <p:nvCxnSpPr>
            <p:cNvPr id="323" name="Google Shape;323;p21"/>
            <p:cNvCxnSpPr/>
            <p:nvPr/>
          </p:nvCxnSpPr>
          <p:spPr>
            <a:xfrm flipH="1" rot="10800000">
              <a:off x="5196486" y="1346609"/>
              <a:ext cx="436800" cy="54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21"/>
            <p:cNvCxnSpPr/>
            <p:nvPr/>
          </p:nvCxnSpPr>
          <p:spPr>
            <a:xfrm>
              <a:off x="5196486" y="2044999"/>
              <a:ext cx="436800" cy="54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21"/>
            <p:cNvCxnSpPr/>
            <p:nvPr/>
          </p:nvCxnSpPr>
          <p:spPr>
            <a:xfrm>
              <a:off x="5196454" y="1969198"/>
              <a:ext cx="438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6" name="Google Shape;326;p21"/>
          <p:cNvGrpSpPr/>
          <p:nvPr/>
        </p:nvGrpSpPr>
        <p:grpSpPr>
          <a:xfrm>
            <a:off x="1047911" y="8018112"/>
            <a:ext cx="207404" cy="935035"/>
            <a:chOff x="5196454" y="3211329"/>
            <a:chExt cx="438300" cy="1244390"/>
          </a:xfrm>
        </p:grpSpPr>
        <p:cxnSp>
          <p:nvCxnSpPr>
            <p:cNvPr id="327" name="Google Shape;327;p21"/>
            <p:cNvCxnSpPr/>
            <p:nvPr/>
          </p:nvCxnSpPr>
          <p:spPr>
            <a:xfrm flipH="1" rot="10800000">
              <a:off x="5196486" y="3211329"/>
              <a:ext cx="436800" cy="54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21"/>
            <p:cNvCxnSpPr/>
            <p:nvPr/>
          </p:nvCxnSpPr>
          <p:spPr>
            <a:xfrm>
              <a:off x="5196486" y="3909719"/>
              <a:ext cx="436800" cy="54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21"/>
            <p:cNvCxnSpPr/>
            <p:nvPr/>
          </p:nvCxnSpPr>
          <p:spPr>
            <a:xfrm>
              <a:off x="5196454" y="3833918"/>
              <a:ext cx="438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0" name="Google Shape;330;p21"/>
          <p:cNvGrpSpPr/>
          <p:nvPr/>
        </p:nvGrpSpPr>
        <p:grpSpPr>
          <a:xfrm>
            <a:off x="507884" y="7078315"/>
            <a:ext cx="274239" cy="1412313"/>
            <a:chOff x="4470199" y="1960585"/>
            <a:chExt cx="399300" cy="1879575"/>
          </a:xfrm>
        </p:grpSpPr>
        <p:cxnSp>
          <p:nvCxnSpPr>
            <p:cNvPr id="331" name="Google Shape;331;p21"/>
            <p:cNvCxnSpPr/>
            <p:nvPr/>
          </p:nvCxnSpPr>
          <p:spPr>
            <a:xfrm flipH="1" rot="10800000">
              <a:off x="4470199" y="1960585"/>
              <a:ext cx="399300" cy="824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" name="Google Shape;332;p21"/>
            <p:cNvCxnSpPr/>
            <p:nvPr/>
          </p:nvCxnSpPr>
          <p:spPr>
            <a:xfrm>
              <a:off x="4470199" y="3015460"/>
              <a:ext cx="399300" cy="824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3" name="Google Shape;333;p21"/>
          <p:cNvSpPr txBox="1"/>
          <p:nvPr/>
        </p:nvSpPr>
        <p:spPr>
          <a:xfrm>
            <a:off x="834364" y="6980369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834364" y="8382819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1299572" y="6981130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1299572" y="6513900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1299572" y="7448359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1299572" y="8382829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1299572" y="7915599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1299572" y="8850059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1863249" y="6356078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863249" y="6671671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43" name="Google Shape;343;p21"/>
          <p:cNvCxnSpPr/>
          <p:nvPr/>
        </p:nvCxnSpPr>
        <p:spPr>
          <a:xfrm flipH="1" rot="10800000">
            <a:off x="1550783" y="6460095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1"/>
          <p:cNvCxnSpPr/>
          <p:nvPr/>
        </p:nvCxnSpPr>
        <p:spPr>
          <a:xfrm>
            <a:off x="1550783" y="6637414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1"/>
          <p:cNvCxnSpPr/>
          <p:nvPr/>
        </p:nvCxnSpPr>
        <p:spPr>
          <a:xfrm>
            <a:off x="1550783" y="6616568"/>
            <a:ext cx="340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21"/>
          <p:cNvSpPr txBox="1"/>
          <p:nvPr/>
        </p:nvSpPr>
        <p:spPr>
          <a:xfrm>
            <a:off x="1911580" y="6513875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1863249" y="6823466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1863249" y="7139059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49" name="Google Shape;349;p21"/>
          <p:cNvCxnSpPr/>
          <p:nvPr/>
        </p:nvCxnSpPr>
        <p:spPr>
          <a:xfrm flipH="1" rot="10800000">
            <a:off x="1550783" y="6927483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1"/>
          <p:cNvCxnSpPr/>
          <p:nvPr/>
        </p:nvCxnSpPr>
        <p:spPr>
          <a:xfrm>
            <a:off x="1550783" y="7104803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1"/>
          <p:cNvCxnSpPr/>
          <p:nvPr/>
        </p:nvCxnSpPr>
        <p:spPr>
          <a:xfrm>
            <a:off x="1550783" y="7083957"/>
            <a:ext cx="340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21"/>
          <p:cNvSpPr txBox="1"/>
          <p:nvPr/>
        </p:nvSpPr>
        <p:spPr>
          <a:xfrm>
            <a:off x="1911580" y="6981264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1863249" y="7290854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1863249" y="7606447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55" name="Google Shape;355;p21"/>
          <p:cNvCxnSpPr/>
          <p:nvPr/>
        </p:nvCxnSpPr>
        <p:spPr>
          <a:xfrm flipH="1" rot="10800000">
            <a:off x="1550783" y="7394871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21"/>
          <p:cNvCxnSpPr/>
          <p:nvPr/>
        </p:nvCxnSpPr>
        <p:spPr>
          <a:xfrm>
            <a:off x="1550783" y="7572191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21"/>
          <p:cNvCxnSpPr/>
          <p:nvPr/>
        </p:nvCxnSpPr>
        <p:spPr>
          <a:xfrm>
            <a:off x="1550783" y="7551345"/>
            <a:ext cx="340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21"/>
          <p:cNvSpPr txBox="1"/>
          <p:nvPr/>
        </p:nvSpPr>
        <p:spPr>
          <a:xfrm>
            <a:off x="1911580" y="7448652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1863249" y="8693019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1863249" y="9008612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61" name="Google Shape;361;p21"/>
          <p:cNvCxnSpPr/>
          <p:nvPr/>
        </p:nvCxnSpPr>
        <p:spPr>
          <a:xfrm flipH="1" rot="10800000">
            <a:off x="1550783" y="8797036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1"/>
          <p:cNvCxnSpPr/>
          <p:nvPr/>
        </p:nvCxnSpPr>
        <p:spPr>
          <a:xfrm>
            <a:off x="1550783" y="8974355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21"/>
          <p:cNvCxnSpPr/>
          <p:nvPr/>
        </p:nvCxnSpPr>
        <p:spPr>
          <a:xfrm>
            <a:off x="1550783" y="8953509"/>
            <a:ext cx="340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21"/>
          <p:cNvSpPr txBox="1"/>
          <p:nvPr/>
        </p:nvSpPr>
        <p:spPr>
          <a:xfrm>
            <a:off x="1911580" y="8850816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1863249" y="8225631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1863249" y="8541223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67" name="Google Shape;367;p21"/>
          <p:cNvCxnSpPr/>
          <p:nvPr/>
        </p:nvCxnSpPr>
        <p:spPr>
          <a:xfrm flipH="1" rot="10800000">
            <a:off x="1550783" y="8329648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21"/>
          <p:cNvCxnSpPr/>
          <p:nvPr/>
        </p:nvCxnSpPr>
        <p:spPr>
          <a:xfrm>
            <a:off x="1550783" y="8506967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21"/>
          <p:cNvCxnSpPr/>
          <p:nvPr/>
        </p:nvCxnSpPr>
        <p:spPr>
          <a:xfrm>
            <a:off x="1550783" y="8486121"/>
            <a:ext cx="340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21"/>
          <p:cNvSpPr txBox="1"/>
          <p:nvPr/>
        </p:nvSpPr>
        <p:spPr>
          <a:xfrm>
            <a:off x="1911580" y="8383428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1863249" y="7758243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1863249" y="8073835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73" name="Google Shape;373;p21"/>
          <p:cNvCxnSpPr/>
          <p:nvPr/>
        </p:nvCxnSpPr>
        <p:spPr>
          <a:xfrm flipH="1" rot="10800000">
            <a:off x="1550783" y="7862259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1"/>
          <p:cNvCxnSpPr/>
          <p:nvPr/>
        </p:nvCxnSpPr>
        <p:spPr>
          <a:xfrm>
            <a:off x="1550783" y="8039579"/>
            <a:ext cx="319200" cy="13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21"/>
          <p:cNvCxnSpPr/>
          <p:nvPr/>
        </p:nvCxnSpPr>
        <p:spPr>
          <a:xfrm>
            <a:off x="1550783" y="8018733"/>
            <a:ext cx="340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21"/>
          <p:cNvSpPr txBox="1"/>
          <p:nvPr/>
        </p:nvSpPr>
        <p:spPr>
          <a:xfrm>
            <a:off x="1911580" y="7916040"/>
            <a:ext cx="325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2100254" y="7139056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TFB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2100254" y="6981260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TFC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2100254" y="7606444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TSB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2100254" y="7448648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TSC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2100254" y="6356075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TPV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2100254" y="6513872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TPC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2100254" y="6671667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TPB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2100254" y="7290851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TSV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2199892" y="9226190"/>
            <a:ext cx="11091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sample space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 outcomes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2100254" y="6823463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TFV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2100254" y="8552037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GFB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2100254" y="8394241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GFC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2100254" y="9019425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GSB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2100254" y="8861629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GSC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2100254" y="7769056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GPV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2100254" y="7926853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GPC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2100254" y="8084648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GPB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2100254" y="8703832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GSV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2100254" y="8236444"/>
            <a:ext cx="88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GFV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5971100" y="7298450"/>
            <a:ext cx="790500" cy="1918500"/>
          </a:xfrm>
          <a:prstGeom prst="rect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4782450" y="7298450"/>
            <a:ext cx="790500" cy="1293000"/>
          </a:xfrm>
          <a:prstGeom prst="rect">
            <a:avLst/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98" name="Google Shape;398;p21"/>
          <p:cNvGraphicFramePr/>
          <p:nvPr/>
        </p:nvGraphicFramePr>
        <p:xfrm>
          <a:off x="4782450" y="733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{2C498A5C-9B8C-4974-AA7E-5FA93B15FAD4}</a:tableStyleId>
              </a:tblPr>
              <a:tblGrid>
                <a:gridCol w="395275"/>
                <a:gridCol w="395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9" name="Google Shape;399;p21"/>
          <p:cNvGraphicFramePr/>
          <p:nvPr/>
        </p:nvGraphicFramePr>
        <p:xfrm>
          <a:off x="5971075" y="733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{2C498A5C-9B8C-4974-AA7E-5FA93B15FAD4}</a:tableStyleId>
              </a:tblPr>
              <a:tblGrid>
                <a:gridCol w="395275"/>
                <a:gridCol w="395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V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V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V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0" name="Google Shape;400;p21"/>
          <p:cNvSpPr txBox="1"/>
          <p:nvPr/>
        </p:nvSpPr>
        <p:spPr>
          <a:xfrm>
            <a:off x="5934651" y="6891900"/>
            <a:ext cx="863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main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dessert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4746001" y="6891900"/>
            <a:ext cx="863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starter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main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>
            <a:off x="4732274" y="9410550"/>
            <a:ext cx="20862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 + 9 = 15 outcomes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3" name="Google Shape;40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9" name="Google Shape;409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12" name="Google Shape;412;p22"/>
          <p:cNvSpPr txBox="1"/>
          <p:nvPr/>
        </p:nvSpPr>
        <p:spPr>
          <a:xfrm>
            <a:off x="468000" y="858000"/>
            <a:ext cx="1590300" cy="27336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Tomato Soup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Garlic Bread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Pasta Carbonara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Fish Pie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Spinach Gnocchi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Desserts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Vanilla Ice Cream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Chocolate Cake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Banana Split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2388000" y="851650"/>
            <a:ext cx="47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How many more three-course meals are there than two-course meals?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2595600" y="1401250"/>
            <a:ext cx="41865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were 18 three-course meals, whilst only 15 two-course meals.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were 3 more three-course meals.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490625" y="3975850"/>
            <a:ext cx="46575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Izzy has started to write down a list of outcomes for a three-stage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 outcome from every stage of the trial is represented at least once in Izzy’s incomplete list.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Draw and complete an outcome tree to create a sample space of all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16" name="Google Shape;416;p22"/>
          <p:cNvGraphicFramePr/>
          <p:nvPr/>
        </p:nvGraphicFramePr>
        <p:xfrm>
          <a:off x="5368800" y="375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{2C498A5C-9B8C-4974-AA7E-5FA93B15FAD4}</a:tableStyleId>
              </a:tblPr>
              <a:tblGrid>
                <a:gridCol w="1298075"/>
              </a:tblGrid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A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R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F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R 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A 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K 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7" name="Google Shape;417;p22"/>
          <p:cNvSpPr txBox="1"/>
          <p:nvPr/>
        </p:nvSpPr>
        <p:spPr>
          <a:xfrm>
            <a:off x="476400" y="6259925"/>
            <a:ext cx="21111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Here are the 24 outcomes.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were: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689562" y="7142900"/>
            <a:ext cx="21111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three outcomes for the first stage of the event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four outcomes for the second stage of the event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two outcomes for the third stage of the event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419" name="Google Shape;419;p22"/>
          <p:cNvGraphicFramePr/>
          <p:nvPr/>
        </p:nvGraphicFramePr>
        <p:xfrm>
          <a:off x="5406025" y="60434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{2C498A5C-9B8C-4974-AA7E-5FA93B15FAD4}</a:tableStyleId>
              </a:tblPr>
              <a:tblGrid>
                <a:gridCol w="60715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1AH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1AT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1FH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1FT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1KH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1KT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1RH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1RT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4AH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4AT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4FH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4FT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420" name="Google Shape;420;p22"/>
          <p:cNvGraphicFramePr/>
          <p:nvPr/>
        </p:nvGraphicFramePr>
        <p:xfrm>
          <a:off x="6271463" y="60434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{2C498A5C-9B8C-4974-AA7E-5FA93B15FAD4}</a:tableStyleId>
              </a:tblPr>
              <a:tblGrid>
                <a:gridCol w="6681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4KH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4KT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4RH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4RT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7AH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7AT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7FH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7FT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7KH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7KT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7RH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7RT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421" name="Google Shape;421;p22"/>
          <p:cNvGraphicFramePr/>
          <p:nvPr/>
        </p:nvGraphicFramePr>
        <p:xfrm>
          <a:off x="4248900" y="60434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{2C498A5C-9B8C-4974-AA7E-5FA93B15FAD4}</a:tableStyleId>
              </a:tblPr>
              <a:tblGrid>
                <a:gridCol w="776125"/>
              </a:tblGrid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1AH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1AT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1FH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1FT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1KH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1KT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1RH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1RT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4AH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4AT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4FH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4FT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4KH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4KT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4RH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4RT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7AH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7AT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7FH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7FT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7KH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7KT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7RH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7RT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422" name="Google Shape;422;p22"/>
          <p:cNvGrpSpPr/>
          <p:nvPr/>
        </p:nvGrpSpPr>
        <p:grpSpPr>
          <a:xfrm>
            <a:off x="3937100" y="7944951"/>
            <a:ext cx="464700" cy="159820"/>
            <a:chOff x="5150653" y="792447"/>
            <a:chExt cx="464700" cy="460178"/>
          </a:xfrm>
        </p:grpSpPr>
        <p:cxnSp>
          <p:nvCxnSpPr>
            <p:cNvPr id="423" name="Google Shape;423;p22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22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5" name="Google Shape;425;p22"/>
          <p:cNvGrpSpPr/>
          <p:nvPr/>
        </p:nvGrpSpPr>
        <p:grpSpPr>
          <a:xfrm>
            <a:off x="3937100" y="9470440"/>
            <a:ext cx="464700" cy="159820"/>
            <a:chOff x="5150653" y="792447"/>
            <a:chExt cx="464700" cy="460178"/>
          </a:xfrm>
        </p:grpSpPr>
        <p:cxnSp>
          <p:nvCxnSpPr>
            <p:cNvPr id="426" name="Google Shape;426;p22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22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8" name="Google Shape;428;p22"/>
          <p:cNvGrpSpPr/>
          <p:nvPr/>
        </p:nvGrpSpPr>
        <p:grpSpPr>
          <a:xfrm>
            <a:off x="3937100" y="6114365"/>
            <a:ext cx="464700" cy="159820"/>
            <a:chOff x="5150653" y="792447"/>
            <a:chExt cx="464700" cy="460178"/>
          </a:xfrm>
        </p:grpSpPr>
        <p:cxnSp>
          <p:nvCxnSpPr>
            <p:cNvPr id="429" name="Google Shape;429;p22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22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1" name="Google Shape;431;p22"/>
          <p:cNvGrpSpPr/>
          <p:nvPr/>
        </p:nvGrpSpPr>
        <p:grpSpPr>
          <a:xfrm>
            <a:off x="3937100" y="6419463"/>
            <a:ext cx="464700" cy="464918"/>
            <a:chOff x="6451700" y="1161663"/>
            <a:chExt cx="464700" cy="464918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6451700" y="1161663"/>
              <a:ext cx="464700" cy="159820"/>
              <a:chOff x="5150653" y="792447"/>
              <a:chExt cx="464700" cy="460178"/>
            </a:xfrm>
          </p:grpSpPr>
          <p:cxnSp>
            <p:nvCxnSpPr>
              <p:cNvPr id="433" name="Google Shape;433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" name="Google Shape;434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35" name="Google Shape;435;p22"/>
            <p:cNvGrpSpPr/>
            <p:nvPr/>
          </p:nvGrpSpPr>
          <p:grpSpPr>
            <a:xfrm>
              <a:off x="6451700" y="1466760"/>
              <a:ext cx="464700" cy="159820"/>
              <a:chOff x="5150653" y="792447"/>
              <a:chExt cx="464700" cy="460178"/>
            </a:xfrm>
          </p:grpSpPr>
          <p:cxnSp>
            <p:nvCxnSpPr>
              <p:cNvPr id="436" name="Google Shape;436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" name="Google Shape;437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38" name="Google Shape;438;p22"/>
          <p:cNvGrpSpPr/>
          <p:nvPr/>
        </p:nvGrpSpPr>
        <p:grpSpPr>
          <a:xfrm>
            <a:off x="3937100" y="7029658"/>
            <a:ext cx="464700" cy="159820"/>
            <a:chOff x="5150653" y="792447"/>
            <a:chExt cx="464700" cy="460178"/>
          </a:xfrm>
        </p:grpSpPr>
        <p:cxnSp>
          <p:nvCxnSpPr>
            <p:cNvPr id="439" name="Google Shape;439;p22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22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1" name="Google Shape;441;p22"/>
          <p:cNvGrpSpPr/>
          <p:nvPr/>
        </p:nvGrpSpPr>
        <p:grpSpPr>
          <a:xfrm>
            <a:off x="3937100" y="7334756"/>
            <a:ext cx="464700" cy="159820"/>
            <a:chOff x="5150653" y="792447"/>
            <a:chExt cx="464700" cy="460178"/>
          </a:xfrm>
        </p:grpSpPr>
        <p:cxnSp>
          <p:nvCxnSpPr>
            <p:cNvPr id="442" name="Google Shape;442;p22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" name="Google Shape;443;p22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4" name="Google Shape;444;p22"/>
          <p:cNvGrpSpPr/>
          <p:nvPr/>
        </p:nvGrpSpPr>
        <p:grpSpPr>
          <a:xfrm>
            <a:off x="3937100" y="7639854"/>
            <a:ext cx="464700" cy="159820"/>
            <a:chOff x="5150653" y="792447"/>
            <a:chExt cx="464700" cy="460178"/>
          </a:xfrm>
        </p:grpSpPr>
        <p:cxnSp>
          <p:nvCxnSpPr>
            <p:cNvPr id="445" name="Google Shape;445;p22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22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7" name="Google Shape;447;p22"/>
          <p:cNvGrpSpPr/>
          <p:nvPr/>
        </p:nvGrpSpPr>
        <p:grpSpPr>
          <a:xfrm>
            <a:off x="3937100" y="8250049"/>
            <a:ext cx="464700" cy="159820"/>
            <a:chOff x="5150653" y="792447"/>
            <a:chExt cx="464700" cy="460178"/>
          </a:xfrm>
        </p:grpSpPr>
        <p:cxnSp>
          <p:nvCxnSpPr>
            <p:cNvPr id="448" name="Google Shape;448;p22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22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50" name="Google Shape;450;p22"/>
          <p:cNvGrpSpPr/>
          <p:nvPr/>
        </p:nvGrpSpPr>
        <p:grpSpPr>
          <a:xfrm>
            <a:off x="3937100" y="8555147"/>
            <a:ext cx="464700" cy="159820"/>
            <a:chOff x="5150653" y="792447"/>
            <a:chExt cx="464700" cy="460178"/>
          </a:xfrm>
        </p:grpSpPr>
        <p:cxnSp>
          <p:nvCxnSpPr>
            <p:cNvPr id="451" name="Google Shape;451;p22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22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53" name="Google Shape;453;p22"/>
          <p:cNvGrpSpPr/>
          <p:nvPr/>
        </p:nvGrpSpPr>
        <p:grpSpPr>
          <a:xfrm>
            <a:off x="3937100" y="8860244"/>
            <a:ext cx="464700" cy="464918"/>
            <a:chOff x="6451700" y="3602444"/>
            <a:chExt cx="464700" cy="464918"/>
          </a:xfrm>
        </p:grpSpPr>
        <p:grpSp>
          <p:nvGrpSpPr>
            <p:cNvPr id="454" name="Google Shape;454;p22"/>
            <p:cNvGrpSpPr/>
            <p:nvPr/>
          </p:nvGrpSpPr>
          <p:grpSpPr>
            <a:xfrm>
              <a:off x="6451700" y="3602444"/>
              <a:ext cx="464700" cy="159820"/>
              <a:chOff x="5150653" y="792447"/>
              <a:chExt cx="464700" cy="460178"/>
            </a:xfrm>
          </p:grpSpPr>
          <p:cxnSp>
            <p:nvCxnSpPr>
              <p:cNvPr id="455" name="Google Shape;455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" name="Google Shape;456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57" name="Google Shape;457;p22"/>
            <p:cNvGrpSpPr/>
            <p:nvPr/>
          </p:nvGrpSpPr>
          <p:grpSpPr>
            <a:xfrm>
              <a:off x="6451700" y="3907542"/>
              <a:ext cx="464700" cy="159820"/>
              <a:chOff x="5150653" y="792447"/>
              <a:chExt cx="464700" cy="460178"/>
            </a:xfrm>
          </p:grpSpPr>
          <p:cxnSp>
            <p:nvCxnSpPr>
              <p:cNvPr id="458" name="Google Shape;458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" name="Google Shape;459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0" name="Google Shape;460;p22"/>
          <p:cNvGrpSpPr/>
          <p:nvPr/>
        </p:nvGrpSpPr>
        <p:grpSpPr>
          <a:xfrm>
            <a:off x="3369925" y="8637008"/>
            <a:ext cx="464700" cy="911429"/>
            <a:chOff x="5884525" y="3379208"/>
            <a:chExt cx="464700" cy="911429"/>
          </a:xfrm>
        </p:grpSpPr>
        <p:grpSp>
          <p:nvGrpSpPr>
            <p:cNvPr id="461" name="Google Shape;461;p22"/>
            <p:cNvGrpSpPr/>
            <p:nvPr/>
          </p:nvGrpSpPr>
          <p:grpSpPr>
            <a:xfrm>
              <a:off x="5884525" y="3379208"/>
              <a:ext cx="464700" cy="911429"/>
              <a:chOff x="5150653" y="792447"/>
              <a:chExt cx="464700" cy="460178"/>
            </a:xfrm>
          </p:grpSpPr>
          <p:cxnSp>
            <p:nvCxnSpPr>
              <p:cNvPr id="462" name="Google Shape;462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" name="Google Shape;463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64" name="Google Shape;464;p22"/>
            <p:cNvGrpSpPr/>
            <p:nvPr/>
          </p:nvGrpSpPr>
          <p:grpSpPr>
            <a:xfrm>
              <a:off x="5884525" y="3676347"/>
              <a:ext cx="464700" cy="317109"/>
              <a:chOff x="5150653" y="792447"/>
              <a:chExt cx="464700" cy="460178"/>
            </a:xfrm>
          </p:grpSpPr>
          <p:cxnSp>
            <p:nvCxnSpPr>
              <p:cNvPr id="465" name="Google Shape;465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" name="Google Shape;466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7" name="Google Shape;467;p22"/>
          <p:cNvGrpSpPr/>
          <p:nvPr/>
        </p:nvGrpSpPr>
        <p:grpSpPr>
          <a:xfrm>
            <a:off x="3369925" y="6196220"/>
            <a:ext cx="464700" cy="911429"/>
            <a:chOff x="5884525" y="3379208"/>
            <a:chExt cx="464700" cy="911429"/>
          </a:xfrm>
        </p:grpSpPr>
        <p:grpSp>
          <p:nvGrpSpPr>
            <p:cNvPr id="468" name="Google Shape;468;p22"/>
            <p:cNvGrpSpPr/>
            <p:nvPr/>
          </p:nvGrpSpPr>
          <p:grpSpPr>
            <a:xfrm>
              <a:off x="5884525" y="3379208"/>
              <a:ext cx="464700" cy="911429"/>
              <a:chOff x="5150653" y="792447"/>
              <a:chExt cx="464700" cy="460178"/>
            </a:xfrm>
          </p:grpSpPr>
          <p:cxnSp>
            <p:nvCxnSpPr>
              <p:cNvPr id="469" name="Google Shape;469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" name="Google Shape;470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1" name="Google Shape;471;p22"/>
            <p:cNvGrpSpPr/>
            <p:nvPr/>
          </p:nvGrpSpPr>
          <p:grpSpPr>
            <a:xfrm>
              <a:off x="5884525" y="3676347"/>
              <a:ext cx="464700" cy="317109"/>
              <a:chOff x="5150653" y="792447"/>
              <a:chExt cx="464700" cy="460178"/>
            </a:xfrm>
          </p:grpSpPr>
          <p:cxnSp>
            <p:nvCxnSpPr>
              <p:cNvPr id="472" name="Google Shape;472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" name="Google Shape;473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74" name="Google Shape;474;p22"/>
          <p:cNvGrpSpPr/>
          <p:nvPr/>
        </p:nvGrpSpPr>
        <p:grpSpPr>
          <a:xfrm>
            <a:off x="3369925" y="7416608"/>
            <a:ext cx="464700" cy="911429"/>
            <a:chOff x="5884525" y="3379208"/>
            <a:chExt cx="464700" cy="911429"/>
          </a:xfrm>
        </p:grpSpPr>
        <p:grpSp>
          <p:nvGrpSpPr>
            <p:cNvPr id="475" name="Google Shape;475;p22"/>
            <p:cNvGrpSpPr/>
            <p:nvPr/>
          </p:nvGrpSpPr>
          <p:grpSpPr>
            <a:xfrm>
              <a:off x="5884525" y="3379208"/>
              <a:ext cx="464700" cy="911429"/>
              <a:chOff x="5150653" y="792447"/>
              <a:chExt cx="464700" cy="460178"/>
            </a:xfrm>
          </p:grpSpPr>
          <p:cxnSp>
            <p:nvCxnSpPr>
              <p:cNvPr id="476" name="Google Shape;476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" name="Google Shape;477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8" name="Google Shape;478;p22"/>
            <p:cNvGrpSpPr/>
            <p:nvPr/>
          </p:nvGrpSpPr>
          <p:grpSpPr>
            <a:xfrm>
              <a:off x="5884525" y="3676347"/>
              <a:ext cx="464700" cy="317109"/>
              <a:chOff x="5150653" y="792447"/>
              <a:chExt cx="464700" cy="460178"/>
            </a:xfrm>
          </p:grpSpPr>
          <p:cxnSp>
            <p:nvCxnSpPr>
              <p:cNvPr id="479" name="Google Shape;479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" name="Google Shape;480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81" name="Google Shape;481;p22"/>
          <p:cNvGrpSpPr/>
          <p:nvPr/>
        </p:nvGrpSpPr>
        <p:grpSpPr>
          <a:xfrm>
            <a:off x="2789850" y="6653089"/>
            <a:ext cx="477600" cy="2438256"/>
            <a:chOff x="5884525" y="3379208"/>
            <a:chExt cx="477600" cy="911429"/>
          </a:xfrm>
        </p:grpSpPr>
        <p:grpSp>
          <p:nvGrpSpPr>
            <p:cNvPr id="482" name="Google Shape;482;p22"/>
            <p:cNvGrpSpPr/>
            <p:nvPr/>
          </p:nvGrpSpPr>
          <p:grpSpPr>
            <a:xfrm>
              <a:off x="5884525" y="3379208"/>
              <a:ext cx="464700" cy="911429"/>
              <a:chOff x="5150653" y="792447"/>
              <a:chExt cx="464700" cy="460178"/>
            </a:xfrm>
          </p:grpSpPr>
          <p:cxnSp>
            <p:nvCxnSpPr>
              <p:cNvPr id="483" name="Google Shape;483;p22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22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485" name="Google Shape;485;p22"/>
            <p:cNvCxnSpPr/>
            <p:nvPr/>
          </p:nvCxnSpPr>
          <p:spPr>
            <a:xfrm>
              <a:off x="5884525" y="3834851"/>
              <a:ext cx="477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