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1DE6C041-1D2B-4811-A9E7-CF52C8E9CF3A}">
  <a:tblStyle styleId="{1DE6C041-1D2B-4811-A9E7-CF52C8E9CF3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3" name="Shape 243"/>
        <p:cNvGrpSpPr/>
        <p:nvPr/>
      </p:nvGrpSpPr>
      <p:grpSpPr>
        <a:xfrm>
          <a:off x="0" y="0"/>
          <a:ext cx="0" cy="0"/>
        </a:xfrm>
      </p:grpSpPr>
      <p:sp>
        <p:nvSpPr>
          <p:cNvPr id="244" name="Google Shape;244;g2b853100a99_0_107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b853100a99_0_1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26" name="Shape 326"/>
        <p:cNvGrpSpPr/>
        <p:nvPr/>
      </p:nvGrpSpPr>
      <p:grpSpPr>
        <a:xfrm>
          <a:off x="0" y="0"/>
          <a:ext cx="0" cy="0"/>
        </a:xfrm>
      </p:grpSpPr>
      <p:sp>
        <p:nvSpPr>
          <p:cNvPr id="327" name="Google Shape;327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possible outcomes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490625" y="3576859"/>
            <a:ext cx="329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Construct your own outcome table which shows the most likely outcome.</a:t>
            </a:r>
            <a:endParaRPr sz="1200" i="1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90625" y="1699081"/>
            <a:ext cx="2370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Alex will spin this spinner twice.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Complete this outcome table to list all unique outcomes.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90723" y="1258850"/>
            <a:ext cx="6610500" cy="3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Outcome tables and likelihood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" name="Google Shape;177;p20"/>
          <p:cNvGrpSpPr/>
          <p:nvPr/>
        </p:nvGrpSpPr>
        <p:grpSpPr>
          <a:xfrm>
            <a:off x="2956073" y="1700537"/>
            <a:ext cx="939462" cy="1015973"/>
            <a:chOff x="3091900" y="742300"/>
            <a:chExt cx="1136400" cy="1228950"/>
          </a:xfrm>
        </p:grpSpPr>
        <p:sp>
          <p:nvSpPr>
            <p:cNvPr id="178" name="Google Shape;178;p20"/>
            <p:cNvSpPr txBox="1"/>
            <p:nvPr/>
          </p:nvSpPr>
          <p:spPr>
            <a:xfrm>
              <a:off x="3091900" y="1747750"/>
              <a:ext cx="1136400" cy="22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spinner 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" name="Google Shape;179;p20"/>
            <p:cNvSpPr/>
            <p:nvPr/>
          </p:nvSpPr>
          <p:spPr>
            <a:xfrm flipH="1">
              <a:off x="3176790" y="742300"/>
              <a:ext cx="966300" cy="966300"/>
            </a:xfrm>
            <a:prstGeom prst="pie">
              <a:avLst>
                <a:gd name="adj1" fmla="val 10755008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0" name="Google Shape;180;p20"/>
            <p:cNvSpPr/>
            <p:nvPr/>
          </p:nvSpPr>
          <p:spPr>
            <a:xfrm rot="5400000" flipH="1">
              <a:off x="3176803" y="742300"/>
              <a:ext cx="966300" cy="966300"/>
            </a:xfrm>
            <a:prstGeom prst="pie">
              <a:avLst>
                <a:gd name="adj1" fmla="val 10755008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1" name="Google Shape;181;p20"/>
            <p:cNvSpPr/>
            <p:nvPr/>
          </p:nvSpPr>
          <p:spPr>
            <a:xfrm rot="10800000" flipH="1">
              <a:off x="3176953" y="742300"/>
              <a:ext cx="966300" cy="966300"/>
            </a:xfrm>
            <a:prstGeom prst="pie">
              <a:avLst>
                <a:gd name="adj1" fmla="val 10755008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2" name="Google Shape;182;p20"/>
            <p:cNvSpPr/>
            <p:nvPr/>
          </p:nvSpPr>
          <p:spPr>
            <a:xfrm rot="-5400000" flipH="1">
              <a:off x="3176940" y="742300"/>
              <a:ext cx="966300" cy="966300"/>
            </a:xfrm>
            <a:prstGeom prst="pie">
              <a:avLst>
                <a:gd name="adj1" fmla="val 10755008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183" name="Google Shape;183;p20"/>
            <p:cNvGrpSpPr/>
            <p:nvPr/>
          </p:nvGrpSpPr>
          <p:grpSpPr>
            <a:xfrm>
              <a:off x="3631675" y="779089"/>
              <a:ext cx="54300" cy="473780"/>
              <a:chOff x="3631675" y="779089"/>
              <a:chExt cx="54300" cy="473780"/>
            </a:xfrm>
          </p:grpSpPr>
          <p:cxnSp>
            <p:nvCxnSpPr>
              <p:cNvPr id="184" name="Google Shape;184;p20"/>
              <p:cNvCxnSpPr/>
              <p:nvPr/>
            </p:nvCxnSpPr>
            <p:spPr>
              <a:xfrm rot="10800000" flipH="1">
                <a:off x="3661028" y="779089"/>
                <a:ext cx="0" cy="443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85" name="Google Shape;185;p20"/>
              <p:cNvSpPr/>
              <p:nvPr/>
            </p:nvSpPr>
            <p:spPr>
              <a:xfrm>
                <a:off x="3631675" y="1203969"/>
                <a:ext cx="54300" cy="48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86" name="Google Shape;186;p20"/>
            <p:cNvSpPr txBox="1"/>
            <p:nvPr/>
          </p:nvSpPr>
          <p:spPr>
            <a:xfrm flipH="1">
              <a:off x="3294545" y="1340941"/>
              <a:ext cx="331500" cy="22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" name="Google Shape;187;p20"/>
            <p:cNvSpPr txBox="1"/>
            <p:nvPr/>
          </p:nvSpPr>
          <p:spPr>
            <a:xfrm flipH="1">
              <a:off x="3294555" y="956952"/>
              <a:ext cx="331500" cy="22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" name="Google Shape;188;p20"/>
            <p:cNvSpPr txBox="1"/>
            <p:nvPr/>
          </p:nvSpPr>
          <p:spPr>
            <a:xfrm flipH="1">
              <a:off x="3695780" y="956952"/>
              <a:ext cx="331500" cy="22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" name="Google Shape;189;p20"/>
            <p:cNvSpPr txBox="1"/>
            <p:nvPr/>
          </p:nvSpPr>
          <p:spPr>
            <a:xfrm flipH="1">
              <a:off x="3695770" y="1340941"/>
              <a:ext cx="331500" cy="22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0" name="Google Shape;190;p20"/>
          <p:cNvSpPr txBox="1"/>
          <p:nvPr/>
        </p:nvSpPr>
        <p:spPr>
          <a:xfrm>
            <a:off x="4198957" y="3500659"/>
            <a:ext cx="2742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outcome AA is the most likely, appearing 9 times.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Even if order didn’t matter, AB only appears 6 times.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91" name="Google Shape;191;p20"/>
          <p:cNvGraphicFramePr>
            <a:graphicFrameLocks noGrp="1"/>
          </p:cNvGraphicFramePr>
          <p:nvPr/>
        </p:nvGraphicFramePr>
        <p:xfrm>
          <a:off x="584275" y="2716500"/>
          <a:ext cx="1883775" cy="614477"/>
        </p:xfrm>
        <a:graphic>
          <a:graphicData uri="http://schemas.openxmlformats.org/drawingml/2006/table">
            <a:tbl>
              <a:tblPr>
                <a:noFill/>
                <a:tableStyleId>{1DE6C041-1D2B-4811-A9E7-CF52C8E9CF3A}</a:tableStyleId>
              </a:tblPr>
              <a:tblGrid>
                <a:gridCol w="627925"/>
                <a:gridCol w="627925"/>
                <a:gridCol w="627925"/>
              </a:tblGrid>
              <a:tr h="1013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1013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13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2" name="Google Shape;192;p20"/>
          <p:cNvGraphicFramePr>
            <a:graphicFrameLocks noGrp="1"/>
          </p:cNvGraphicFramePr>
          <p:nvPr/>
        </p:nvGraphicFramePr>
        <p:xfrm>
          <a:off x="4140000" y="1755925"/>
          <a:ext cx="2945250" cy="1666875"/>
        </p:xfrm>
        <a:graphic>
          <a:graphicData uri="http://schemas.openxmlformats.org/drawingml/2006/table">
            <a:tbl>
              <a:tblPr>
                <a:noFill/>
                <a:tableStyleId>{1DE6C041-1D2B-4811-A9E7-CF52C8E9CF3A}</a:tableStyleId>
              </a:tblPr>
              <a:tblGrid>
                <a:gridCol w="589050"/>
                <a:gridCol w="589050"/>
                <a:gridCol w="589050"/>
                <a:gridCol w="589050"/>
                <a:gridCol w="589050"/>
              </a:tblGrid>
              <a:tr h="333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333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AA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AA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AA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BA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AA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AA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AA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BA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AA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AA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AA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BA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AB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AB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AB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BB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3" name="Google Shape;193;p20"/>
          <p:cNvSpPr txBox="1"/>
          <p:nvPr/>
        </p:nvSpPr>
        <p:spPr>
          <a:xfrm>
            <a:off x="496100" y="4169550"/>
            <a:ext cx="2379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Aisha will spin spinner 2 and spinner 3 twice, and find the produc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of the numbers the spinners land 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96100" y="6292475"/>
            <a:ext cx="468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Construct a second outcome table.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Starting with the least likely outcome, rank the outcomes in order of likelihood.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5" name="Google Shape;195;p20"/>
          <p:cNvGrpSpPr/>
          <p:nvPr/>
        </p:nvGrpSpPr>
        <p:grpSpPr>
          <a:xfrm>
            <a:off x="2952125" y="4170974"/>
            <a:ext cx="902529" cy="983180"/>
            <a:chOff x="3091900" y="742300"/>
            <a:chExt cx="1136400" cy="1237950"/>
          </a:xfrm>
        </p:grpSpPr>
        <p:sp>
          <p:nvSpPr>
            <p:cNvPr id="196" name="Google Shape;196;p20"/>
            <p:cNvSpPr txBox="1"/>
            <p:nvPr/>
          </p:nvSpPr>
          <p:spPr>
            <a:xfrm>
              <a:off x="3091900" y="1747750"/>
              <a:ext cx="11364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spinner 2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" name="Google Shape;197;p20"/>
            <p:cNvSpPr/>
            <p:nvPr/>
          </p:nvSpPr>
          <p:spPr>
            <a:xfrm flipH="1">
              <a:off x="3176790" y="742300"/>
              <a:ext cx="966300" cy="966300"/>
            </a:xfrm>
            <a:prstGeom prst="pie">
              <a:avLst>
                <a:gd name="adj1" fmla="val 10755008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8" name="Google Shape;198;p20"/>
            <p:cNvSpPr/>
            <p:nvPr/>
          </p:nvSpPr>
          <p:spPr>
            <a:xfrm rot="5400000" flipH="1">
              <a:off x="3176803" y="742300"/>
              <a:ext cx="966300" cy="966300"/>
            </a:xfrm>
            <a:prstGeom prst="pie">
              <a:avLst>
                <a:gd name="adj1" fmla="val 10755008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9" name="Google Shape;199;p20"/>
            <p:cNvSpPr/>
            <p:nvPr/>
          </p:nvSpPr>
          <p:spPr>
            <a:xfrm rot="10800000" flipH="1">
              <a:off x="3176953" y="742300"/>
              <a:ext cx="966300" cy="966300"/>
            </a:xfrm>
            <a:prstGeom prst="pie">
              <a:avLst>
                <a:gd name="adj1" fmla="val 10755008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00" name="Google Shape;200;p20"/>
            <p:cNvSpPr/>
            <p:nvPr/>
          </p:nvSpPr>
          <p:spPr>
            <a:xfrm rot="-5400000" flipH="1">
              <a:off x="3176940" y="742300"/>
              <a:ext cx="966300" cy="966300"/>
            </a:xfrm>
            <a:prstGeom prst="pie">
              <a:avLst>
                <a:gd name="adj1" fmla="val 10755008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201" name="Google Shape;201;p20"/>
            <p:cNvGrpSpPr/>
            <p:nvPr/>
          </p:nvGrpSpPr>
          <p:grpSpPr>
            <a:xfrm>
              <a:off x="3631675" y="779089"/>
              <a:ext cx="54300" cy="473780"/>
              <a:chOff x="3631675" y="779089"/>
              <a:chExt cx="54300" cy="473780"/>
            </a:xfrm>
          </p:grpSpPr>
          <p:cxnSp>
            <p:nvCxnSpPr>
              <p:cNvPr id="202" name="Google Shape;202;p20"/>
              <p:cNvCxnSpPr/>
              <p:nvPr/>
            </p:nvCxnSpPr>
            <p:spPr>
              <a:xfrm rot="10800000" flipH="1">
                <a:off x="3661028" y="779089"/>
                <a:ext cx="0" cy="443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203" name="Google Shape;203;p20"/>
              <p:cNvSpPr/>
              <p:nvPr/>
            </p:nvSpPr>
            <p:spPr>
              <a:xfrm>
                <a:off x="3631675" y="1203969"/>
                <a:ext cx="54300" cy="48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204" name="Google Shape;204;p20"/>
            <p:cNvSpPr txBox="1"/>
            <p:nvPr/>
          </p:nvSpPr>
          <p:spPr>
            <a:xfrm flipH="1">
              <a:off x="3294545" y="1340941"/>
              <a:ext cx="3315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5" name="Google Shape;205;p20"/>
            <p:cNvSpPr txBox="1"/>
            <p:nvPr/>
          </p:nvSpPr>
          <p:spPr>
            <a:xfrm flipH="1">
              <a:off x="3294555" y="956952"/>
              <a:ext cx="3315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" name="Google Shape;206;p20"/>
            <p:cNvSpPr txBox="1"/>
            <p:nvPr/>
          </p:nvSpPr>
          <p:spPr>
            <a:xfrm flipH="1">
              <a:off x="3695780" y="956952"/>
              <a:ext cx="3315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" name="Google Shape;207;p20"/>
            <p:cNvSpPr txBox="1"/>
            <p:nvPr/>
          </p:nvSpPr>
          <p:spPr>
            <a:xfrm flipH="1">
              <a:off x="3695770" y="1340941"/>
              <a:ext cx="3315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8" name="Google Shape;208;p20"/>
          <p:cNvGrpSpPr/>
          <p:nvPr/>
        </p:nvGrpSpPr>
        <p:grpSpPr>
          <a:xfrm>
            <a:off x="2874661" y="5101377"/>
            <a:ext cx="1048582" cy="1123786"/>
            <a:chOff x="7418490" y="1474216"/>
            <a:chExt cx="1320300" cy="1414991"/>
          </a:xfrm>
        </p:grpSpPr>
        <p:sp>
          <p:nvSpPr>
            <p:cNvPr id="209" name="Google Shape;209;p20"/>
            <p:cNvSpPr txBox="1"/>
            <p:nvPr/>
          </p:nvSpPr>
          <p:spPr>
            <a:xfrm>
              <a:off x="7510682" y="2656707"/>
              <a:ext cx="11364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spinner 3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10" name="Google Shape;210;p20"/>
            <p:cNvGrpSpPr/>
            <p:nvPr/>
          </p:nvGrpSpPr>
          <p:grpSpPr>
            <a:xfrm>
              <a:off x="7418490" y="1474216"/>
              <a:ext cx="1320300" cy="1320300"/>
              <a:chOff x="146832" y="518450"/>
              <a:chExt cx="1320300" cy="1320300"/>
            </a:xfrm>
          </p:grpSpPr>
          <p:sp>
            <p:nvSpPr>
              <p:cNvPr id="211" name="Google Shape;211;p20"/>
              <p:cNvSpPr/>
              <p:nvPr/>
            </p:nvSpPr>
            <p:spPr>
              <a:xfrm flipH="1">
                <a:off x="323915" y="695491"/>
                <a:ext cx="966300" cy="966300"/>
              </a:xfrm>
              <a:prstGeom prst="pie">
                <a:avLst>
                  <a:gd name="adj1" fmla="val 8993067"/>
                  <a:gd name="adj2" fmla="val 16200000"/>
                </a:avLst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20"/>
              <p:cNvSpPr/>
              <p:nvPr/>
            </p:nvSpPr>
            <p:spPr>
              <a:xfrm rot="7200178" flipH="1">
                <a:off x="323726" y="695344"/>
                <a:ext cx="966513" cy="966513"/>
              </a:xfrm>
              <a:prstGeom prst="pie">
                <a:avLst>
                  <a:gd name="adj1" fmla="val 8993067"/>
                  <a:gd name="adj2" fmla="val 16200000"/>
                </a:avLst>
              </a:prstGeom>
              <a:solidFill>
                <a:srgbClr val="43434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20"/>
              <p:cNvSpPr/>
              <p:nvPr/>
            </p:nvSpPr>
            <p:spPr>
              <a:xfrm>
                <a:off x="323953" y="695491"/>
                <a:ext cx="966300" cy="966300"/>
              </a:xfrm>
              <a:prstGeom prst="pie">
                <a:avLst>
                  <a:gd name="adj1" fmla="val 8993067"/>
                  <a:gd name="adj2" fmla="val 16200000"/>
                </a:avLst>
              </a:prstGeom>
              <a:solidFill>
                <a:srgbClr val="434343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20"/>
            <p:cNvGrpSpPr/>
            <p:nvPr/>
          </p:nvGrpSpPr>
          <p:grpSpPr>
            <a:xfrm>
              <a:off x="8050457" y="1688046"/>
              <a:ext cx="54300" cy="473780"/>
              <a:chOff x="779080" y="747789"/>
              <a:chExt cx="54300" cy="473780"/>
            </a:xfrm>
          </p:grpSpPr>
          <p:cxnSp>
            <p:nvCxnSpPr>
              <p:cNvPr id="215" name="Google Shape;215;p20"/>
              <p:cNvCxnSpPr/>
              <p:nvPr/>
            </p:nvCxnSpPr>
            <p:spPr>
              <a:xfrm rot="10800000" flipH="1">
                <a:off x="808433" y="747789"/>
                <a:ext cx="0" cy="443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216" name="Google Shape;216;p20"/>
              <p:cNvSpPr/>
              <p:nvPr/>
            </p:nvSpPr>
            <p:spPr>
              <a:xfrm>
                <a:off x="779080" y="1172670"/>
                <a:ext cx="54300" cy="48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217" name="Google Shape;217;p20"/>
            <p:cNvSpPr txBox="1"/>
            <p:nvPr/>
          </p:nvSpPr>
          <p:spPr>
            <a:xfrm flipH="1">
              <a:off x="7912877" y="2249898"/>
              <a:ext cx="3315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" name="Google Shape;218;p20"/>
            <p:cNvSpPr txBox="1"/>
            <p:nvPr/>
          </p:nvSpPr>
          <p:spPr>
            <a:xfrm flipH="1">
              <a:off x="7713337" y="1865909"/>
              <a:ext cx="3315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" name="Google Shape;219;p20"/>
            <p:cNvSpPr txBox="1"/>
            <p:nvPr/>
          </p:nvSpPr>
          <p:spPr>
            <a:xfrm flipH="1">
              <a:off x="8114562" y="1865909"/>
              <a:ext cx="331500" cy="23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220" name="Google Shape;220;p20"/>
          <p:cNvGraphicFramePr>
            <a:graphicFrameLocks noGrp="1"/>
          </p:cNvGraphicFramePr>
          <p:nvPr/>
        </p:nvGraphicFramePr>
        <p:xfrm>
          <a:off x="511250" y="5224463"/>
          <a:ext cx="1048575" cy="607173"/>
        </p:xfrm>
        <a:graphic>
          <a:graphicData uri="http://schemas.openxmlformats.org/drawingml/2006/table">
            <a:tbl>
              <a:tblPr>
                <a:noFill/>
                <a:tableStyleId>{1DE6C041-1D2B-4811-A9E7-CF52C8E9CF3A}</a:tableStyleId>
              </a:tblPr>
              <a:tblGrid>
                <a:gridCol w="349525"/>
                <a:gridCol w="349525"/>
                <a:gridCol w="349525"/>
              </a:tblGrid>
              <a:tr h="1013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1013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13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1" name="Google Shape;221;p20"/>
          <p:cNvSpPr txBox="1"/>
          <p:nvPr/>
        </p:nvSpPr>
        <p:spPr>
          <a:xfrm>
            <a:off x="1773866" y="5077094"/>
            <a:ext cx="119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this outcome table to list all unique outcomes.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2" name="Google Shape;222;p20"/>
          <p:cNvGraphicFramePr>
            <a:graphicFrameLocks noGrp="1"/>
          </p:cNvGraphicFramePr>
          <p:nvPr/>
        </p:nvGraphicFramePr>
        <p:xfrm>
          <a:off x="4134000" y="4503375"/>
          <a:ext cx="2945250" cy="1254500"/>
        </p:xfrm>
        <a:graphic>
          <a:graphicData uri="http://schemas.openxmlformats.org/drawingml/2006/table">
            <a:tbl>
              <a:tblPr>
                <a:noFill/>
                <a:tableStyleId>{1DE6C041-1D2B-4811-A9E7-CF52C8E9CF3A}</a:tableStyleId>
              </a:tblPr>
              <a:tblGrid>
                <a:gridCol w="589050"/>
                <a:gridCol w="589050"/>
                <a:gridCol w="589050"/>
                <a:gridCol w="589050"/>
                <a:gridCol w="589050"/>
              </a:tblGrid>
              <a:tr h="3136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313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3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3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3" name="Google Shape;223;p20"/>
          <p:cNvSpPr txBox="1"/>
          <p:nvPr/>
        </p:nvSpPr>
        <p:spPr>
          <a:xfrm>
            <a:off x="5222675" y="6320750"/>
            <a:ext cx="188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Order of likelihood: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→ 2 → 12 → 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518325" y="6836550"/>
            <a:ext cx="36615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Sam and Lucas play a game.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Sam will spin spinner 4 twice and find the sum of the numbers the spinner lands 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If the score is a double-digit number, Sam wins, if the score is either 8 or 9, it’s a draw, and if the score is 7 or less, Lucas wins.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Construct the most efficient outcome table to show it is impossible for Sam and Lucas to draw.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5" name="Google Shape;225;p20"/>
          <p:cNvGraphicFramePr>
            <a:graphicFrameLocks noGrp="1"/>
          </p:cNvGraphicFramePr>
          <p:nvPr/>
        </p:nvGraphicFramePr>
        <p:xfrm>
          <a:off x="5564288" y="6905700"/>
          <a:ext cx="1542075" cy="1000125"/>
        </p:xfrm>
        <a:graphic>
          <a:graphicData uri="http://schemas.openxmlformats.org/drawingml/2006/table">
            <a:tbl>
              <a:tblPr>
                <a:noFill/>
                <a:tableStyleId>{1DE6C041-1D2B-4811-A9E7-CF52C8E9CF3A}</a:tableStyleId>
              </a:tblPr>
              <a:tblGrid>
                <a:gridCol w="514025"/>
                <a:gridCol w="514025"/>
                <a:gridCol w="514025"/>
              </a:tblGrid>
              <a:tr h="333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333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3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226" name="Google Shape;226;p20"/>
          <p:cNvGrpSpPr/>
          <p:nvPr/>
        </p:nvGrpSpPr>
        <p:grpSpPr>
          <a:xfrm>
            <a:off x="4273675" y="6837948"/>
            <a:ext cx="887528" cy="969885"/>
            <a:chOff x="3091900" y="742300"/>
            <a:chExt cx="1136400" cy="1241850"/>
          </a:xfrm>
        </p:grpSpPr>
        <p:sp>
          <p:nvSpPr>
            <p:cNvPr id="227" name="Google Shape;227;p20"/>
            <p:cNvSpPr txBox="1"/>
            <p:nvPr/>
          </p:nvSpPr>
          <p:spPr>
            <a:xfrm>
              <a:off x="3091900" y="1747750"/>
              <a:ext cx="11364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spinner 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" name="Google Shape;228;p20"/>
            <p:cNvSpPr/>
            <p:nvPr/>
          </p:nvSpPr>
          <p:spPr>
            <a:xfrm flipH="1">
              <a:off x="3176790" y="742300"/>
              <a:ext cx="966300" cy="966300"/>
            </a:xfrm>
            <a:prstGeom prst="pie">
              <a:avLst>
                <a:gd name="adj1" fmla="val 10755008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29" name="Google Shape;229;p20"/>
            <p:cNvSpPr/>
            <p:nvPr/>
          </p:nvSpPr>
          <p:spPr>
            <a:xfrm rot="5400000" flipH="1">
              <a:off x="3176803" y="742300"/>
              <a:ext cx="966300" cy="966300"/>
            </a:xfrm>
            <a:prstGeom prst="pie">
              <a:avLst>
                <a:gd name="adj1" fmla="val 10755008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0" name="Google Shape;230;p20"/>
            <p:cNvSpPr/>
            <p:nvPr/>
          </p:nvSpPr>
          <p:spPr>
            <a:xfrm rot="10800000" flipH="1">
              <a:off x="3176953" y="742300"/>
              <a:ext cx="966300" cy="966300"/>
            </a:xfrm>
            <a:prstGeom prst="pie">
              <a:avLst>
                <a:gd name="adj1" fmla="val 10755008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1" name="Google Shape;231;p20"/>
            <p:cNvSpPr/>
            <p:nvPr/>
          </p:nvSpPr>
          <p:spPr>
            <a:xfrm rot="-5400000" flipH="1">
              <a:off x="3176940" y="742300"/>
              <a:ext cx="966300" cy="966300"/>
            </a:xfrm>
            <a:prstGeom prst="pie">
              <a:avLst>
                <a:gd name="adj1" fmla="val 10755008"/>
                <a:gd name="adj2" fmla="val 16200000"/>
              </a:avLst>
            </a:prstGeom>
            <a:solidFill>
              <a:srgbClr val="434343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232" name="Google Shape;232;p20"/>
            <p:cNvGrpSpPr/>
            <p:nvPr/>
          </p:nvGrpSpPr>
          <p:grpSpPr>
            <a:xfrm>
              <a:off x="3631675" y="779089"/>
              <a:ext cx="54300" cy="473780"/>
              <a:chOff x="3631675" y="779089"/>
              <a:chExt cx="54300" cy="473780"/>
            </a:xfrm>
          </p:grpSpPr>
          <p:cxnSp>
            <p:nvCxnSpPr>
              <p:cNvPr id="233" name="Google Shape;233;p20"/>
              <p:cNvCxnSpPr/>
              <p:nvPr/>
            </p:nvCxnSpPr>
            <p:spPr>
              <a:xfrm rot="10800000" flipH="1">
                <a:off x="3661028" y="779089"/>
                <a:ext cx="0" cy="443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234" name="Google Shape;234;p20"/>
              <p:cNvSpPr/>
              <p:nvPr/>
            </p:nvSpPr>
            <p:spPr>
              <a:xfrm>
                <a:off x="3631675" y="1203969"/>
                <a:ext cx="54300" cy="48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235" name="Google Shape;235;p20"/>
            <p:cNvSpPr txBox="1"/>
            <p:nvPr/>
          </p:nvSpPr>
          <p:spPr>
            <a:xfrm flipH="1">
              <a:off x="3294545" y="1340941"/>
              <a:ext cx="3315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6" name="Google Shape;236;p20"/>
            <p:cNvSpPr txBox="1"/>
            <p:nvPr/>
          </p:nvSpPr>
          <p:spPr>
            <a:xfrm flipH="1">
              <a:off x="3294555" y="956952"/>
              <a:ext cx="3315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7" name="Google Shape;237;p20"/>
            <p:cNvSpPr txBox="1"/>
            <p:nvPr/>
          </p:nvSpPr>
          <p:spPr>
            <a:xfrm flipH="1">
              <a:off x="3695780" y="956952"/>
              <a:ext cx="3315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8" name="Google Shape;238;p20"/>
            <p:cNvSpPr txBox="1"/>
            <p:nvPr/>
          </p:nvSpPr>
          <p:spPr>
            <a:xfrm flipH="1">
              <a:off x="3695770" y="1340941"/>
              <a:ext cx="3315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9" name="Google Shape;239;p20"/>
          <p:cNvSpPr txBox="1"/>
          <p:nvPr/>
        </p:nvSpPr>
        <p:spPr>
          <a:xfrm>
            <a:off x="4438076" y="8127975"/>
            <a:ext cx="2128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are no outcomes that are either 8 or 9.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544200" y="8685900"/>
            <a:ext cx="3768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Construct the most efficient outcome table to find whether Sam or Lucas are more likely to win. Explain how you know.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1" name="Google Shape;241;p20"/>
          <p:cNvGraphicFramePr>
            <a:graphicFrameLocks noGrp="1"/>
          </p:cNvGraphicFramePr>
          <p:nvPr/>
        </p:nvGraphicFramePr>
        <p:xfrm>
          <a:off x="4438075" y="8609700"/>
          <a:ext cx="2668250" cy="1254500"/>
        </p:xfrm>
        <a:graphic>
          <a:graphicData uri="http://schemas.openxmlformats.org/drawingml/2006/table">
            <a:tbl>
              <a:tblPr>
                <a:noFill/>
                <a:tableStyleId>{1DE6C041-1D2B-4811-A9E7-CF52C8E9CF3A}</a:tableStyleId>
              </a:tblPr>
              <a:tblGrid>
                <a:gridCol w="533650"/>
                <a:gridCol w="533650"/>
                <a:gridCol w="533650"/>
                <a:gridCol w="533650"/>
                <a:gridCol w="533650"/>
              </a:tblGrid>
              <a:tr h="250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250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0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0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0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2" name="Google Shape;242;p20"/>
          <p:cNvSpPr txBox="1"/>
          <p:nvPr/>
        </p:nvSpPr>
        <p:spPr>
          <a:xfrm>
            <a:off x="518325" y="9350850"/>
            <a:ext cx="366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Sam is more likely to win, as there are 9 double-digit outcomes, but only 7 outcomes that are 7 or less.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6" name="Shape 246"/>
        <p:cNvGrpSpPr/>
        <p:nvPr/>
      </p:nvGrpSpPr>
      <p:grpSpPr>
        <a:xfrm>
          <a:off x="0" y="0"/>
          <a:ext cx="0" cy="0"/>
        </a:xfrm>
      </p:grpSpPr>
      <p:sp>
        <p:nvSpPr>
          <p:cNvPr id="247" name="Google Shape;247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482724" y="725450"/>
            <a:ext cx="66090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Outcomes and unequal likelihood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482725" y="3067925"/>
            <a:ext cx="66090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Jacob will spin spinners A and B once each, with the number each spinner lands on multiplied together. Construct an outcome table which lists each unique outcome to this trial.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Split sectors on spinners A, B, C so that all outcomes on a spinner are equally likely.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/>
          <p:nvPr/>
        </p:nvSpPr>
        <p:spPr>
          <a:xfrm rot="10800000">
            <a:off x="981771" y="5591576"/>
            <a:ext cx="1227900" cy="1227900"/>
          </a:xfrm>
          <a:prstGeom prst="pie">
            <a:avLst>
              <a:gd name="adj1" fmla="val 12607844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1" name="Google Shape;251;p21"/>
          <p:cNvSpPr/>
          <p:nvPr/>
        </p:nvSpPr>
        <p:spPr>
          <a:xfrm rot="-7200940">
            <a:off x="981473" y="5591247"/>
            <a:ext cx="1228218" cy="1228328"/>
          </a:xfrm>
          <a:prstGeom prst="pie">
            <a:avLst>
              <a:gd name="adj1" fmla="val 12607844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2" name="Google Shape;252;p21"/>
          <p:cNvSpPr/>
          <p:nvPr/>
        </p:nvSpPr>
        <p:spPr>
          <a:xfrm rot="-3599060">
            <a:off x="981289" y="5591280"/>
            <a:ext cx="1228218" cy="1228328"/>
          </a:xfrm>
          <a:prstGeom prst="pie">
            <a:avLst>
              <a:gd name="adj1" fmla="val 12607844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981051" y="5591419"/>
            <a:ext cx="1227900" cy="1227900"/>
          </a:xfrm>
          <a:prstGeom prst="pie">
            <a:avLst>
              <a:gd name="adj1" fmla="val 12607844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1070192" y="6819573"/>
            <a:ext cx="1050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/>
          <p:nvPr/>
        </p:nvSpPr>
        <p:spPr>
          <a:xfrm flipH="1">
            <a:off x="981618" y="5591569"/>
            <a:ext cx="1227900" cy="1227900"/>
          </a:xfrm>
          <a:prstGeom prst="pie">
            <a:avLst>
              <a:gd name="adj1" fmla="val 12595974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6" name="Google Shape;256;p21"/>
          <p:cNvSpPr/>
          <p:nvPr/>
        </p:nvSpPr>
        <p:spPr>
          <a:xfrm rot="3599060" flipH="1">
            <a:off x="980854" y="5591430"/>
            <a:ext cx="1228218" cy="1228328"/>
          </a:xfrm>
          <a:prstGeom prst="pie">
            <a:avLst>
              <a:gd name="adj1" fmla="val 12595974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7" name="Google Shape;257;p21"/>
          <p:cNvSpPr txBox="1"/>
          <p:nvPr/>
        </p:nvSpPr>
        <p:spPr>
          <a:xfrm flipH="1">
            <a:off x="1655020" y="5778481"/>
            <a:ext cx="3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 flipH="1">
            <a:off x="1814713" y="6091763"/>
            <a:ext cx="3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 flipH="1">
            <a:off x="1229475" y="5778460"/>
            <a:ext cx="3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 flipH="1">
            <a:off x="1655020" y="6455679"/>
            <a:ext cx="3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 flipH="1">
            <a:off x="1229475" y="6455658"/>
            <a:ext cx="3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 flipH="1">
            <a:off x="1069787" y="6091763"/>
            <a:ext cx="3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/>
          <p:nvPr/>
        </p:nvSpPr>
        <p:spPr>
          <a:xfrm flipH="1">
            <a:off x="3248137" y="5590697"/>
            <a:ext cx="1227900" cy="1227900"/>
          </a:xfrm>
          <a:prstGeom prst="pie">
            <a:avLst>
              <a:gd name="adj1" fmla="val 11872534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4" name="Google Shape;264;p21"/>
          <p:cNvSpPr/>
          <p:nvPr/>
        </p:nvSpPr>
        <p:spPr>
          <a:xfrm rot="4320189" flipH="1">
            <a:off x="3247425" y="5590415"/>
            <a:ext cx="1228296" cy="1228296"/>
          </a:xfrm>
          <a:prstGeom prst="pie">
            <a:avLst>
              <a:gd name="adj1" fmla="val 11872534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5" name="Google Shape;265;p21"/>
          <p:cNvSpPr/>
          <p:nvPr/>
        </p:nvSpPr>
        <p:spPr>
          <a:xfrm rot="8639716" flipH="1">
            <a:off x="3248396" y="5590737"/>
            <a:ext cx="1227860" cy="1227860"/>
          </a:xfrm>
          <a:prstGeom prst="pie">
            <a:avLst>
              <a:gd name="adj1" fmla="val 11872534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1"/>
          <p:cNvSpPr/>
          <p:nvPr/>
        </p:nvSpPr>
        <p:spPr>
          <a:xfrm rot="-8639531" flipH="1">
            <a:off x="3248679" y="5590341"/>
            <a:ext cx="1228279" cy="1228279"/>
          </a:xfrm>
          <a:prstGeom prst="pie">
            <a:avLst>
              <a:gd name="adj1" fmla="val 11872534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7" name="Google Shape;267;p21"/>
          <p:cNvSpPr/>
          <p:nvPr/>
        </p:nvSpPr>
        <p:spPr>
          <a:xfrm>
            <a:off x="3247290" y="5590697"/>
            <a:ext cx="1227900" cy="1227900"/>
          </a:xfrm>
          <a:prstGeom prst="pie">
            <a:avLst>
              <a:gd name="adj1" fmla="val 11872534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8" name="Google Shape;268;p21"/>
          <p:cNvSpPr txBox="1"/>
          <p:nvPr/>
        </p:nvSpPr>
        <p:spPr>
          <a:xfrm flipH="1">
            <a:off x="4074939" y="6186382"/>
            <a:ext cx="3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 flipH="1">
            <a:off x="3709805" y="6482490"/>
            <a:ext cx="3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 flipH="1">
            <a:off x="3342589" y="6186382"/>
            <a:ext cx="3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 flipH="1">
            <a:off x="3474643" y="5789340"/>
            <a:ext cx="3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 flipH="1">
            <a:off x="3942903" y="5789340"/>
            <a:ext cx="3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3337425" y="6819573"/>
            <a:ext cx="1050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/>
          <p:nvPr/>
        </p:nvSpPr>
        <p:spPr>
          <a:xfrm rot="10800000">
            <a:off x="5516700" y="5591576"/>
            <a:ext cx="1227900" cy="1227900"/>
          </a:xfrm>
          <a:prstGeom prst="pie">
            <a:avLst>
              <a:gd name="adj1" fmla="val 12607844"/>
              <a:gd name="adj2" fmla="val 19826604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5" name="Google Shape;275;p21"/>
          <p:cNvSpPr/>
          <p:nvPr/>
        </p:nvSpPr>
        <p:spPr>
          <a:xfrm>
            <a:off x="5515979" y="5591419"/>
            <a:ext cx="1227900" cy="1227900"/>
          </a:xfrm>
          <a:prstGeom prst="pie">
            <a:avLst>
              <a:gd name="adj1" fmla="val 9019745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6" name="Google Shape;276;p21"/>
          <p:cNvSpPr/>
          <p:nvPr/>
        </p:nvSpPr>
        <p:spPr>
          <a:xfrm flipH="1">
            <a:off x="5516546" y="5591569"/>
            <a:ext cx="1227900" cy="1227900"/>
          </a:xfrm>
          <a:prstGeom prst="pie">
            <a:avLst>
              <a:gd name="adj1" fmla="val 8998870"/>
              <a:gd name="adj2" fmla="val 16200000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7" name="Google Shape;277;p21"/>
          <p:cNvSpPr txBox="1"/>
          <p:nvPr/>
        </p:nvSpPr>
        <p:spPr>
          <a:xfrm flipH="1">
            <a:off x="6272615" y="5918352"/>
            <a:ext cx="3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 flipH="1">
            <a:off x="5976984" y="6455683"/>
            <a:ext cx="3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5604658" y="6819573"/>
            <a:ext cx="1050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spinner 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 flipH="1">
            <a:off x="5644059" y="5918291"/>
            <a:ext cx="3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1" name="Google Shape;281;p21"/>
          <p:cNvGraphicFramePr>
            <a:graphicFrameLocks noGrp="1"/>
          </p:cNvGraphicFramePr>
          <p:nvPr/>
        </p:nvGraphicFramePr>
        <p:xfrm>
          <a:off x="3780950" y="360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{1DE6C041-1D2B-4811-A9E7-CF52C8E9CF3A}</a:tableStyleId>
              </a:tblPr>
              <a:tblGrid>
                <a:gridCol w="559400"/>
                <a:gridCol w="559400"/>
                <a:gridCol w="559400"/>
              </a:tblGrid>
              <a:tr h="27705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277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7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7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82" name="Google Shape;282;p21"/>
          <p:cNvSpPr txBox="1"/>
          <p:nvPr/>
        </p:nvSpPr>
        <p:spPr>
          <a:xfrm>
            <a:off x="482725" y="7296150"/>
            <a:ext cx="6609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Jacob will spin spinners B and C once each, with the number each spinner lands on multiplied together. Construct an outcome table which shows how likely each outcome is to occur.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3" name="Google Shape;283;p21"/>
          <p:cNvGraphicFramePr>
            <a:graphicFrameLocks noGrp="1"/>
          </p:cNvGraphicFramePr>
          <p:nvPr/>
        </p:nvGraphicFramePr>
        <p:xfrm>
          <a:off x="1743600" y="813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{1DE6C041-1D2B-4811-A9E7-CF52C8E9CF3A}</a:tableStyleId>
              </a:tblPr>
              <a:tblGrid>
                <a:gridCol w="613825"/>
                <a:gridCol w="613825"/>
                <a:gridCol w="613825"/>
                <a:gridCol w="613825"/>
                <a:gridCol w="613825"/>
                <a:gridCol w="613825"/>
              </a:tblGrid>
              <a:tr h="277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(BC)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277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7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7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84" name="Google Shape;284;p21"/>
          <p:cNvSpPr txBox="1"/>
          <p:nvPr/>
        </p:nvSpPr>
        <p:spPr>
          <a:xfrm>
            <a:off x="1571725" y="9447400"/>
            <a:ext cx="3843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outcome 30 appears 6 times out of 15 total outcomes.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85" name="Google Shape;285;p21"/>
          <p:cNvGrpSpPr/>
          <p:nvPr/>
        </p:nvGrpSpPr>
        <p:grpSpPr>
          <a:xfrm>
            <a:off x="661650" y="1138101"/>
            <a:ext cx="6082955" cy="1742871"/>
            <a:chOff x="95411" y="396713"/>
            <a:chExt cx="6476052" cy="1855500"/>
          </a:xfrm>
        </p:grpSpPr>
        <p:sp>
          <p:nvSpPr>
            <p:cNvPr id="286" name="Google Shape;286;p21"/>
            <p:cNvSpPr/>
            <p:nvPr/>
          </p:nvSpPr>
          <p:spPr>
            <a:xfrm rot="10800000">
              <a:off x="339063" y="661533"/>
              <a:ext cx="1328100" cy="1328100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87" name="Google Shape;287;p21"/>
            <p:cNvSpPr/>
            <p:nvPr/>
          </p:nvSpPr>
          <p:spPr>
            <a:xfrm rot="-7200295">
              <a:off x="338952" y="661391"/>
              <a:ext cx="1328202" cy="1328202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88" name="Google Shape;288;p21"/>
            <p:cNvSpPr/>
            <p:nvPr/>
          </p:nvSpPr>
          <p:spPr>
            <a:xfrm rot="-3599705">
              <a:off x="338510" y="661456"/>
              <a:ext cx="1328202" cy="1328202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89" name="Google Shape;289;p21"/>
            <p:cNvSpPr/>
            <p:nvPr/>
          </p:nvSpPr>
          <p:spPr>
            <a:xfrm>
              <a:off x="338470" y="661448"/>
              <a:ext cx="1328100" cy="1328100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90" name="Google Shape;290;p21"/>
            <p:cNvSpPr txBox="1"/>
            <p:nvPr/>
          </p:nvSpPr>
          <p:spPr>
            <a:xfrm>
              <a:off x="434872" y="1989738"/>
              <a:ext cx="11364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spinner 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1" name="Google Shape;291;p21"/>
            <p:cNvSpPr/>
            <p:nvPr/>
          </p:nvSpPr>
          <p:spPr>
            <a:xfrm flipH="1">
              <a:off x="338896" y="661610"/>
              <a:ext cx="1328100" cy="1328100"/>
            </a:xfrm>
            <a:prstGeom prst="pie">
              <a:avLst>
                <a:gd name="adj1" fmla="val 12595974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92" name="Google Shape;292;p21"/>
            <p:cNvSpPr/>
            <p:nvPr/>
          </p:nvSpPr>
          <p:spPr>
            <a:xfrm rot="3599705" flipH="1">
              <a:off x="338529" y="661618"/>
              <a:ext cx="1328202" cy="1328202"/>
            </a:xfrm>
            <a:prstGeom prst="pie">
              <a:avLst>
                <a:gd name="adj1" fmla="val 12595974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93" name="Google Shape;293;p21"/>
            <p:cNvSpPr txBox="1"/>
            <p:nvPr/>
          </p:nvSpPr>
          <p:spPr>
            <a:xfrm flipH="1">
              <a:off x="1067083" y="863762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4" name="Google Shape;294;p21"/>
            <p:cNvSpPr txBox="1"/>
            <p:nvPr/>
          </p:nvSpPr>
          <p:spPr>
            <a:xfrm flipH="1">
              <a:off x="1239783" y="1202587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5" name="Google Shape;295;p21"/>
            <p:cNvSpPr txBox="1"/>
            <p:nvPr/>
          </p:nvSpPr>
          <p:spPr>
            <a:xfrm flipH="1">
              <a:off x="606877" y="863739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6" name="Google Shape;296;p21"/>
            <p:cNvSpPr txBox="1"/>
            <p:nvPr/>
          </p:nvSpPr>
          <p:spPr>
            <a:xfrm flipH="1">
              <a:off x="1067083" y="1596175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7" name="Google Shape;297;p21"/>
            <p:cNvSpPr txBox="1"/>
            <p:nvPr/>
          </p:nvSpPr>
          <p:spPr>
            <a:xfrm flipH="1">
              <a:off x="606877" y="1596152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8" name="Google Shape;298;p21"/>
            <p:cNvSpPr txBox="1"/>
            <p:nvPr/>
          </p:nvSpPr>
          <p:spPr>
            <a:xfrm flipH="1">
              <a:off x="434183" y="1202587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99" name="Google Shape;299;p21"/>
            <p:cNvGrpSpPr/>
            <p:nvPr/>
          </p:nvGrpSpPr>
          <p:grpSpPr>
            <a:xfrm>
              <a:off x="338871" y="661585"/>
              <a:ext cx="1328100" cy="1328100"/>
              <a:chOff x="338871" y="661585"/>
              <a:chExt cx="1328100" cy="1328100"/>
            </a:xfrm>
          </p:grpSpPr>
          <p:sp>
            <p:nvSpPr>
              <p:cNvPr id="300" name="Google Shape;300;p21"/>
              <p:cNvSpPr/>
              <p:nvPr/>
            </p:nvSpPr>
            <p:spPr>
              <a:xfrm>
                <a:off x="338871" y="661585"/>
                <a:ext cx="1328100" cy="1328100"/>
              </a:xfrm>
              <a:prstGeom prst="pie">
                <a:avLst>
                  <a:gd name="adj1" fmla="val 9021560"/>
                  <a:gd name="adj2" fmla="val 16200000"/>
                </a:avLst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/>
              </a:p>
            </p:txBody>
          </p:sp>
          <p:sp>
            <p:nvSpPr>
              <p:cNvPr id="301" name="Google Shape;301;p21"/>
              <p:cNvSpPr txBox="1"/>
              <p:nvPr/>
            </p:nvSpPr>
            <p:spPr>
              <a:xfrm flipH="1">
                <a:off x="403727" y="877421"/>
                <a:ext cx="331500" cy="19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02" name="Google Shape;302;p21"/>
            <p:cNvSpPr/>
            <p:nvPr/>
          </p:nvSpPr>
          <p:spPr>
            <a:xfrm flipH="1">
              <a:off x="2790024" y="660667"/>
              <a:ext cx="1328100" cy="1328100"/>
            </a:xfrm>
            <a:prstGeom prst="pie">
              <a:avLst>
                <a:gd name="adj1" fmla="val 11872534"/>
                <a:gd name="adj2" fmla="val 1620000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303" name="Google Shape;303;p21"/>
            <p:cNvSpPr/>
            <p:nvPr/>
          </p:nvSpPr>
          <p:spPr>
            <a:xfrm rot="4320175" flipH="1">
              <a:off x="2789498" y="660491"/>
              <a:ext cx="1328290" cy="1328290"/>
            </a:xfrm>
            <a:prstGeom prst="pie">
              <a:avLst>
                <a:gd name="adj1" fmla="val 11872534"/>
                <a:gd name="adj2" fmla="val 1620000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304" name="Google Shape;304;p21"/>
            <p:cNvSpPr/>
            <p:nvPr/>
          </p:nvSpPr>
          <p:spPr>
            <a:xfrm rot="8639842" flipH="1">
              <a:off x="2790493" y="660739"/>
              <a:ext cx="1327952" cy="1327952"/>
            </a:xfrm>
            <a:prstGeom prst="pie">
              <a:avLst>
                <a:gd name="adj1" fmla="val 11872534"/>
                <a:gd name="adj2" fmla="val 1620000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305" name="Google Shape;305;p21"/>
            <p:cNvSpPr/>
            <p:nvPr/>
          </p:nvSpPr>
          <p:spPr>
            <a:xfrm rot="-8639670" flipH="1">
              <a:off x="2790801" y="660277"/>
              <a:ext cx="1328371" cy="1328371"/>
            </a:xfrm>
            <a:prstGeom prst="pie">
              <a:avLst>
                <a:gd name="adj1" fmla="val 11872534"/>
                <a:gd name="adj2" fmla="val 1620000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306" name="Google Shape;306;p21"/>
            <p:cNvSpPr/>
            <p:nvPr/>
          </p:nvSpPr>
          <p:spPr>
            <a:xfrm>
              <a:off x="2789296" y="660667"/>
              <a:ext cx="1328100" cy="1328100"/>
            </a:xfrm>
            <a:prstGeom prst="pie">
              <a:avLst>
                <a:gd name="adj1" fmla="val 11872534"/>
                <a:gd name="adj2" fmla="val 1620000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307" name="Google Shape;307;p21"/>
            <p:cNvSpPr txBox="1"/>
            <p:nvPr/>
          </p:nvSpPr>
          <p:spPr>
            <a:xfrm flipH="1">
              <a:off x="3684105" y="1304921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8" name="Google Shape;308;p21"/>
            <p:cNvSpPr txBox="1"/>
            <p:nvPr/>
          </p:nvSpPr>
          <p:spPr>
            <a:xfrm flipH="1">
              <a:off x="3289230" y="1625171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9" name="Google Shape;309;p21"/>
            <p:cNvSpPr txBox="1"/>
            <p:nvPr/>
          </p:nvSpPr>
          <p:spPr>
            <a:xfrm flipH="1">
              <a:off x="2892105" y="1304921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0" name="Google Shape;310;p21"/>
            <p:cNvSpPr txBox="1"/>
            <p:nvPr/>
          </p:nvSpPr>
          <p:spPr>
            <a:xfrm flipH="1">
              <a:off x="3034915" y="875506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1" name="Google Shape;311;p21"/>
            <p:cNvSpPr txBox="1"/>
            <p:nvPr/>
          </p:nvSpPr>
          <p:spPr>
            <a:xfrm flipH="1">
              <a:off x="3541315" y="875506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312" name="Google Shape;312;p21"/>
            <p:cNvGrpSpPr/>
            <p:nvPr/>
          </p:nvGrpSpPr>
          <p:grpSpPr>
            <a:xfrm>
              <a:off x="2790924" y="660642"/>
              <a:ext cx="1328100" cy="1328100"/>
              <a:chOff x="401046" y="786560"/>
              <a:chExt cx="1328100" cy="1328100"/>
            </a:xfrm>
          </p:grpSpPr>
          <p:sp>
            <p:nvSpPr>
              <p:cNvPr id="313" name="Google Shape;313;p21"/>
              <p:cNvSpPr/>
              <p:nvPr/>
            </p:nvSpPr>
            <p:spPr>
              <a:xfrm>
                <a:off x="401046" y="786560"/>
                <a:ext cx="1328100" cy="1328100"/>
              </a:xfrm>
              <a:prstGeom prst="pie">
                <a:avLst>
                  <a:gd name="adj1" fmla="val 3244423"/>
                  <a:gd name="adj2" fmla="val 16200000"/>
                </a:avLst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/>
              </a:p>
            </p:txBody>
          </p:sp>
          <p:sp>
            <p:nvSpPr>
              <p:cNvPr id="314" name="Google Shape;314;p21"/>
              <p:cNvSpPr txBox="1"/>
              <p:nvPr/>
            </p:nvSpPr>
            <p:spPr>
              <a:xfrm flipH="1">
                <a:off x="551677" y="1529689"/>
                <a:ext cx="331500" cy="19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15" name="Google Shape;315;p21"/>
            <p:cNvSpPr txBox="1"/>
            <p:nvPr/>
          </p:nvSpPr>
          <p:spPr>
            <a:xfrm>
              <a:off x="2886772" y="1989738"/>
              <a:ext cx="11364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spinner 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6" name="Google Shape;316;p21"/>
            <p:cNvSpPr/>
            <p:nvPr/>
          </p:nvSpPr>
          <p:spPr>
            <a:xfrm rot="10800000">
              <a:off x="5243363" y="661533"/>
              <a:ext cx="1328100" cy="1328100"/>
            </a:xfrm>
            <a:prstGeom prst="pie">
              <a:avLst>
                <a:gd name="adj1" fmla="val 12607844"/>
                <a:gd name="adj2" fmla="val 19826604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317" name="Google Shape;317;p21"/>
            <p:cNvSpPr/>
            <p:nvPr/>
          </p:nvSpPr>
          <p:spPr>
            <a:xfrm>
              <a:off x="5242770" y="661448"/>
              <a:ext cx="1328100" cy="1328100"/>
            </a:xfrm>
            <a:prstGeom prst="pie">
              <a:avLst>
                <a:gd name="adj1" fmla="val 9019745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318" name="Google Shape;318;p21"/>
            <p:cNvSpPr/>
            <p:nvPr/>
          </p:nvSpPr>
          <p:spPr>
            <a:xfrm flipH="1">
              <a:off x="5243196" y="661610"/>
              <a:ext cx="1328100" cy="1328100"/>
            </a:xfrm>
            <a:prstGeom prst="pie">
              <a:avLst>
                <a:gd name="adj1" fmla="val 8998870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319" name="Google Shape;319;p21"/>
            <p:cNvSpPr txBox="1"/>
            <p:nvPr/>
          </p:nvSpPr>
          <p:spPr>
            <a:xfrm flipH="1">
              <a:off x="6060783" y="1015037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0" name="Google Shape;320;p21"/>
            <p:cNvSpPr txBox="1"/>
            <p:nvPr/>
          </p:nvSpPr>
          <p:spPr>
            <a:xfrm flipH="1">
              <a:off x="5971383" y="1596175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1" name="Google Shape;321;p21"/>
            <p:cNvSpPr txBox="1"/>
            <p:nvPr/>
          </p:nvSpPr>
          <p:spPr>
            <a:xfrm flipH="1">
              <a:off x="5511177" y="1596152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322" name="Google Shape;322;p21"/>
            <p:cNvGrpSpPr/>
            <p:nvPr/>
          </p:nvGrpSpPr>
          <p:grpSpPr>
            <a:xfrm>
              <a:off x="5243171" y="661585"/>
              <a:ext cx="1328100" cy="1328100"/>
              <a:chOff x="338871" y="661585"/>
              <a:chExt cx="1328100" cy="1328100"/>
            </a:xfrm>
          </p:grpSpPr>
          <p:sp>
            <p:nvSpPr>
              <p:cNvPr id="323" name="Google Shape;323;p21"/>
              <p:cNvSpPr/>
              <p:nvPr/>
            </p:nvSpPr>
            <p:spPr>
              <a:xfrm>
                <a:off x="338871" y="661585"/>
                <a:ext cx="1328100" cy="1328100"/>
              </a:xfrm>
              <a:prstGeom prst="pie">
                <a:avLst>
                  <a:gd name="adj1" fmla="val 1803033"/>
                  <a:gd name="adj2" fmla="val 16200000"/>
                </a:avLst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/>
              </a:p>
            </p:txBody>
          </p:sp>
          <p:sp>
            <p:nvSpPr>
              <p:cNvPr id="324" name="Google Shape;324;p21"/>
              <p:cNvSpPr txBox="1"/>
              <p:nvPr/>
            </p:nvSpPr>
            <p:spPr>
              <a:xfrm flipH="1">
                <a:off x="394189" y="1496210"/>
                <a:ext cx="331500" cy="19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25" name="Google Shape;325;p21"/>
            <p:cNvSpPr txBox="1"/>
            <p:nvPr/>
          </p:nvSpPr>
          <p:spPr>
            <a:xfrm>
              <a:off x="5338672" y="1989738"/>
              <a:ext cx="11364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spinner C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29" name="Shape 329"/>
        <p:cNvGrpSpPr/>
        <p:nvPr/>
      </p:nvGrpSpPr>
      <p:grpSpPr>
        <a:xfrm>
          <a:off x="0" y="0"/>
          <a:ext cx="0" cy="0"/>
        </a:xfrm>
      </p:grpSpPr>
      <p:sp>
        <p:nvSpPr>
          <p:cNvPr id="330" name="Google Shape;330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331" name="Google Shape;331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possible outcomes</a:t>
            </a:r>
            <a:endParaRPr/>
          </a:p>
        </p:txBody>
      </p:sp>
      <p:sp>
        <p:nvSpPr>
          <p:cNvPr id="332" name="Google Shape;332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graphicFrame>
        <p:nvGraphicFramePr>
          <p:cNvPr id="334" name="Google Shape;334;p22"/>
          <p:cNvGraphicFramePr>
            <a:graphicFrameLocks noGrp="1"/>
          </p:cNvGraphicFramePr>
          <p:nvPr/>
        </p:nvGraphicFramePr>
        <p:xfrm>
          <a:off x="482725" y="3643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{1DE6C041-1D2B-4811-A9E7-CF52C8E9CF3A}</a:tableStyleId>
              </a:tblPr>
              <a:tblGrid>
                <a:gridCol w="549550"/>
                <a:gridCol w="549550"/>
                <a:gridCol w="549550"/>
                <a:gridCol w="549550"/>
                <a:gridCol w="549550"/>
                <a:gridCol w="549550"/>
              </a:tblGrid>
              <a:tr h="287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(AB)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287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7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7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7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7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7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35" name="Google Shape;335;p22"/>
          <p:cNvGraphicFramePr>
            <a:graphicFrameLocks noGrp="1"/>
          </p:cNvGraphicFramePr>
          <p:nvPr/>
        </p:nvGraphicFramePr>
        <p:xfrm>
          <a:off x="4138200" y="3643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{1DE6C041-1D2B-4811-A9E7-CF52C8E9CF3A}</a:tableStyleId>
              </a:tblPr>
              <a:tblGrid>
                <a:gridCol w="553525"/>
                <a:gridCol w="553525"/>
                <a:gridCol w="553525"/>
                <a:gridCol w="553525"/>
              </a:tblGrid>
              <a:tr h="287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(AC)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 b="1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287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7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7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28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7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28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7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28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70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28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2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36" name="Google Shape;336;p22"/>
          <p:cNvSpPr txBox="1"/>
          <p:nvPr/>
        </p:nvSpPr>
        <p:spPr>
          <a:xfrm>
            <a:off x="482726" y="6051318"/>
            <a:ext cx="290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AB: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outcome 24 appears 12 times out of 30 total outcomes.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7" name="Google Shape;337;p22"/>
          <p:cNvSpPr txBox="1"/>
          <p:nvPr/>
        </p:nvSpPr>
        <p:spPr>
          <a:xfrm>
            <a:off x="4140000" y="6051325"/>
            <a:ext cx="2953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AC: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outcome 20 appears 8 times out of 18 total outcomes.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8" name="Google Shape;338;p22"/>
          <p:cNvSpPr txBox="1"/>
          <p:nvPr/>
        </p:nvSpPr>
        <p:spPr>
          <a:xfrm>
            <a:off x="4138212" y="5718325"/>
            <a:ext cx="2953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 is the most likely outcome to occur.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9" name="Google Shape;339;p22"/>
          <p:cNvSpPr txBox="1"/>
          <p:nvPr/>
        </p:nvSpPr>
        <p:spPr>
          <a:xfrm>
            <a:off x="482725" y="2631450"/>
            <a:ext cx="6609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Jacob will spin spinners A and B once each, then spinners B and C once each, then spinners A and C once each. After each trial, the number each spinner lands on are multiplied together.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Which outcome is most likely to occur across all experiments?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0" name="Google Shape;340;p22"/>
          <p:cNvGrpSpPr/>
          <p:nvPr/>
        </p:nvGrpSpPr>
        <p:grpSpPr>
          <a:xfrm>
            <a:off x="661650" y="757101"/>
            <a:ext cx="6082955" cy="1742871"/>
            <a:chOff x="95411" y="396713"/>
            <a:chExt cx="6476052" cy="1855500"/>
          </a:xfrm>
        </p:grpSpPr>
        <p:sp>
          <p:nvSpPr>
            <p:cNvPr id="341" name="Google Shape;341;p22"/>
            <p:cNvSpPr/>
            <p:nvPr/>
          </p:nvSpPr>
          <p:spPr>
            <a:xfrm rot="10800000">
              <a:off x="339063" y="661533"/>
              <a:ext cx="1328100" cy="1328100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342" name="Google Shape;342;p22"/>
            <p:cNvSpPr/>
            <p:nvPr/>
          </p:nvSpPr>
          <p:spPr>
            <a:xfrm rot="-7200295">
              <a:off x="338952" y="661391"/>
              <a:ext cx="1328202" cy="1328202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343" name="Google Shape;343;p22"/>
            <p:cNvSpPr/>
            <p:nvPr/>
          </p:nvSpPr>
          <p:spPr>
            <a:xfrm rot="-3599705">
              <a:off x="338510" y="661456"/>
              <a:ext cx="1328202" cy="1328202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338470" y="661448"/>
              <a:ext cx="1328100" cy="1328100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345" name="Google Shape;345;p22"/>
            <p:cNvSpPr txBox="1"/>
            <p:nvPr/>
          </p:nvSpPr>
          <p:spPr>
            <a:xfrm>
              <a:off x="434872" y="1989738"/>
              <a:ext cx="11364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spinner A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6" name="Google Shape;346;p22"/>
            <p:cNvSpPr/>
            <p:nvPr/>
          </p:nvSpPr>
          <p:spPr>
            <a:xfrm flipH="1">
              <a:off x="338896" y="661610"/>
              <a:ext cx="1328100" cy="1328100"/>
            </a:xfrm>
            <a:prstGeom prst="pie">
              <a:avLst>
                <a:gd name="adj1" fmla="val 12595974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347" name="Google Shape;347;p22"/>
            <p:cNvSpPr/>
            <p:nvPr/>
          </p:nvSpPr>
          <p:spPr>
            <a:xfrm rot="3599705" flipH="1">
              <a:off x="338529" y="661618"/>
              <a:ext cx="1328202" cy="1328202"/>
            </a:xfrm>
            <a:prstGeom prst="pie">
              <a:avLst>
                <a:gd name="adj1" fmla="val 12595974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348" name="Google Shape;348;p22"/>
            <p:cNvSpPr txBox="1"/>
            <p:nvPr/>
          </p:nvSpPr>
          <p:spPr>
            <a:xfrm flipH="1">
              <a:off x="1067083" y="863762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49" name="Google Shape;349;p22"/>
            <p:cNvSpPr txBox="1"/>
            <p:nvPr/>
          </p:nvSpPr>
          <p:spPr>
            <a:xfrm flipH="1">
              <a:off x="1239783" y="1202587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0" name="Google Shape;350;p22"/>
            <p:cNvSpPr txBox="1"/>
            <p:nvPr/>
          </p:nvSpPr>
          <p:spPr>
            <a:xfrm flipH="1">
              <a:off x="606877" y="863739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1" name="Google Shape;351;p22"/>
            <p:cNvSpPr txBox="1"/>
            <p:nvPr/>
          </p:nvSpPr>
          <p:spPr>
            <a:xfrm flipH="1">
              <a:off x="1067083" y="1596175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2" name="Google Shape;352;p22"/>
            <p:cNvSpPr txBox="1"/>
            <p:nvPr/>
          </p:nvSpPr>
          <p:spPr>
            <a:xfrm flipH="1">
              <a:off x="606877" y="1596152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53" name="Google Shape;353;p22"/>
            <p:cNvSpPr txBox="1"/>
            <p:nvPr/>
          </p:nvSpPr>
          <p:spPr>
            <a:xfrm flipH="1">
              <a:off x="434183" y="1202587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354" name="Google Shape;354;p22"/>
            <p:cNvGrpSpPr/>
            <p:nvPr/>
          </p:nvGrpSpPr>
          <p:grpSpPr>
            <a:xfrm>
              <a:off x="338871" y="661585"/>
              <a:ext cx="1328100" cy="1328100"/>
              <a:chOff x="338871" y="661585"/>
              <a:chExt cx="1328100" cy="1328100"/>
            </a:xfrm>
          </p:grpSpPr>
          <p:sp>
            <p:nvSpPr>
              <p:cNvPr id="355" name="Google Shape;355;p22"/>
              <p:cNvSpPr/>
              <p:nvPr/>
            </p:nvSpPr>
            <p:spPr>
              <a:xfrm>
                <a:off x="338871" y="661585"/>
                <a:ext cx="1328100" cy="1328100"/>
              </a:xfrm>
              <a:prstGeom prst="pie">
                <a:avLst>
                  <a:gd name="adj1" fmla="val 9021560"/>
                  <a:gd name="adj2" fmla="val 16200000"/>
                </a:avLst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/>
              </a:p>
            </p:txBody>
          </p:sp>
          <p:sp>
            <p:nvSpPr>
              <p:cNvPr id="356" name="Google Shape;356;p22"/>
              <p:cNvSpPr txBox="1"/>
              <p:nvPr/>
            </p:nvSpPr>
            <p:spPr>
              <a:xfrm flipH="1">
                <a:off x="403727" y="877421"/>
                <a:ext cx="331500" cy="19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57" name="Google Shape;357;p22"/>
            <p:cNvSpPr/>
            <p:nvPr/>
          </p:nvSpPr>
          <p:spPr>
            <a:xfrm flipH="1">
              <a:off x="2790024" y="660667"/>
              <a:ext cx="1328100" cy="1328100"/>
            </a:xfrm>
            <a:prstGeom prst="pie">
              <a:avLst>
                <a:gd name="adj1" fmla="val 11872534"/>
                <a:gd name="adj2" fmla="val 1620000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358" name="Google Shape;358;p22"/>
            <p:cNvSpPr/>
            <p:nvPr/>
          </p:nvSpPr>
          <p:spPr>
            <a:xfrm rot="4320175" flipH="1">
              <a:off x="2789498" y="660491"/>
              <a:ext cx="1328290" cy="1328290"/>
            </a:xfrm>
            <a:prstGeom prst="pie">
              <a:avLst>
                <a:gd name="adj1" fmla="val 11872534"/>
                <a:gd name="adj2" fmla="val 1620000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359" name="Google Shape;359;p22"/>
            <p:cNvSpPr/>
            <p:nvPr/>
          </p:nvSpPr>
          <p:spPr>
            <a:xfrm rot="8639842" flipH="1">
              <a:off x="2790493" y="660739"/>
              <a:ext cx="1327952" cy="1327952"/>
            </a:xfrm>
            <a:prstGeom prst="pie">
              <a:avLst>
                <a:gd name="adj1" fmla="val 11872534"/>
                <a:gd name="adj2" fmla="val 1620000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360" name="Google Shape;360;p22"/>
            <p:cNvSpPr/>
            <p:nvPr/>
          </p:nvSpPr>
          <p:spPr>
            <a:xfrm rot="-8639670" flipH="1">
              <a:off x="2790801" y="660277"/>
              <a:ext cx="1328371" cy="1328371"/>
            </a:xfrm>
            <a:prstGeom prst="pie">
              <a:avLst>
                <a:gd name="adj1" fmla="val 11872534"/>
                <a:gd name="adj2" fmla="val 1620000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2789296" y="660667"/>
              <a:ext cx="1328100" cy="1328100"/>
            </a:xfrm>
            <a:prstGeom prst="pie">
              <a:avLst>
                <a:gd name="adj1" fmla="val 11872534"/>
                <a:gd name="adj2" fmla="val 1620000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362" name="Google Shape;362;p22"/>
            <p:cNvSpPr txBox="1"/>
            <p:nvPr/>
          </p:nvSpPr>
          <p:spPr>
            <a:xfrm flipH="1">
              <a:off x="3684105" y="1304921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3" name="Google Shape;363;p22"/>
            <p:cNvSpPr txBox="1"/>
            <p:nvPr/>
          </p:nvSpPr>
          <p:spPr>
            <a:xfrm flipH="1">
              <a:off x="3289230" y="1625171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4" name="Google Shape;364;p22"/>
            <p:cNvSpPr txBox="1"/>
            <p:nvPr/>
          </p:nvSpPr>
          <p:spPr>
            <a:xfrm flipH="1">
              <a:off x="2892105" y="1304921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5" name="Google Shape;365;p22"/>
            <p:cNvSpPr txBox="1"/>
            <p:nvPr/>
          </p:nvSpPr>
          <p:spPr>
            <a:xfrm flipH="1">
              <a:off x="3034915" y="875506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66" name="Google Shape;366;p22"/>
            <p:cNvSpPr txBox="1"/>
            <p:nvPr/>
          </p:nvSpPr>
          <p:spPr>
            <a:xfrm flipH="1">
              <a:off x="3541315" y="875506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367" name="Google Shape;367;p22"/>
            <p:cNvGrpSpPr/>
            <p:nvPr/>
          </p:nvGrpSpPr>
          <p:grpSpPr>
            <a:xfrm>
              <a:off x="2790924" y="660642"/>
              <a:ext cx="1328100" cy="1328100"/>
              <a:chOff x="401046" y="786560"/>
              <a:chExt cx="1328100" cy="1328100"/>
            </a:xfrm>
          </p:grpSpPr>
          <p:sp>
            <p:nvSpPr>
              <p:cNvPr id="368" name="Google Shape;368;p22"/>
              <p:cNvSpPr/>
              <p:nvPr/>
            </p:nvSpPr>
            <p:spPr>
              <a:xfrm>
                <a:off x="401046" y="786560"/>
                <a:ext cx="1328100" cy="1328100"/>
              </a:xfrm>
              <a:prstGeom prst="pie">
                <a:avLst>
                  <a:gd name="adj1" fmla="val 3244423"/>
                  <a:gd name="adj2" fmla="val 16200000"/>
                </a:avLst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/>
              </a:p>
            </p:txBody>
          </p:sp>
          <p:sp>
            <p:nvSpPr>
              <p:cNvPr id="369" name="Google Shape;369;p22"/>
              <p:cNvSpPr txBox="1"/>
              <p:nvPr/>
            </p:nvSpPr>
            <p:spPr>
              <a:xfrm flipH="1">
                <a:off x="551677" y="1529689"/>
                <a:ext cx="331500" cy="19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70" name="Google Shape;370;p22"/>
            <p:cNvSpPr txBox="1"/>
            <p:nvPr/>
          </p:nvSpPr>
          <p:spPr>
            <a:xfrm>
              <a:off x="2886772" y="1989738"/>
              <a:ext cx="11364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spinner B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1" name="Google Shape;371;p22"/>
            <p:cNvSpPr/>
            <p:nvPr/>
          </p:nvSpPr>
          <p:spPr>
            <a:xfrm rot="10800000">
              <a:off x="5243363" y="661533"/>
              <a:ext cx="1328100" cy="1328100"/>
            </a:xfrm>
            <a:prstGeom prst="pie">
              <a:avLst>
                <a:gd name="adj1" fmla="val 12607844"/>
                <a:gd name="adj2" fmla="val 19826604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5242770" y="661448"/>
              <a:ext cx="1328100" cy="1328100"/>
            </a:xfrm>
            <a:prstGeom prst="pie">
              <a:avLst>
                <a:gd name="adj1" fmla="val 9019745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373" name="Google Shape;373;p22"/>
            <p:cNvSpPr/>
            <p:nvPr/>
          </p:nvSpPr>
          <p:spPr>
            <a:xfrm flipH="1">
              <a:off x="5243196" y="661610"/>
              <a:ext cx="1328100" cy="1328100"/>
            </a:xfrm>
            <a:prstGeom prst="pie">
              <a:avLst>
                <a:gd name="adj1" fmla="val 8998870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374" name="Google Shape;374;p22"/>
            <p:cNvSpPr txBox="1"/>
            <p:nvPr/>
          </p:nvSpPr>
          <p:spPr>
            <a:xfrm flipH="1">
              <a:off x="6060783" y="1015037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5" name="Google Shape;375;p22"/>
            <p:cNvSpPr txBox="1"/>
            <p:nvPr/>
          </p:nvSpPr>
          <p:spPr>
            <a:xfrm flipH="1">
              <a:off x="5971383" y="1596175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6" name="Google Shape;376;p22"/>
            <p:cNvSpPr txBox="1"/>
            <p:nvPr/>
          </p:nvSpPr>
          <p:spPr>
            <a:xfrm flipH="1">
              <a:off x="5511177" y="1596152"/>
              <a:ext cx="3315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377" name="Google Shape;377;p22"/>
            <p:cNvGrpSpPr/>
            <p:nvPr/>
          </p:nvGrpSpPr>
          <p:grpSpPr>
            <a:xfrm>
              <a:off x="5243171" y="661585"/>
              <a:ext cx="1328100" cy="1328100"/>
              <a:chOff x="338871" y="661585"/>
              <a:chExt cx="1328100" cy="1328100"/>
            </a:xfrm>
          </p:grpSpPr>
          <p:sp>
            <p:nvSpPr>
              <p:cNvPr id="378" name="Google Shape;378;p22"/>
              <p:cNvSpPr/>
              <p:nvPr/>
            </p:nvSpPr>
            <p:spPr>
              <a:xfrm>
                <a:off x="338871" y="661585"/>
                <a:ext cx="1328100" cy="1328100"/>
              </a:xfrm>
              <a:prstGeom prst="pie">
                <a:avLst>
                  <a:gd name="adj1" fmla="val 1803033"/>
                  <a:gd name="adj2" fmla="val 16200000"/>
                </a:avLst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200"/>
              </a:p>
            </p:txBody>
          </p:sp>
          <p:sp>
            <p:nvSpPr>
              <p:cNvPr id="379" name="Google Shape;379;p22"/>
              <p:cNvSpPr txBox="1"/>
              <p:nvPr/>
            </p:nvSpPr>
            <p:spPr>
              <a:xfrm flipH="1">
                <a:off x="394189" y="1496210"/>
                <a:ext cx="331500" cy="19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80" name="Google Shape;380;p22"/>
            <p:cNvSpPr txBox="1"/>
            <p:nvPr/>
          </p:nvSpPr>
          <p:spPr>
            <a:xfrm>
              <a:off x="5338672" y="1989738"/>
              <a:ext cx="1136400" cy="19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spinner C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381" name="Google Shape;381;p22"/>
          <p:cNvCxnSpPr/>
          <p:nvPr/>
        </p:nvCxnSpPr>
        <p:spPr>
          <a:xfrm>
            <a:off x="1056753" y="8163541"/>
            <a:ext cx="5541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2" name="Google Shape;382;p22"/>
          <p:cNvCxnSpPr/>
          <p:nvPr/>
        </p:nvCxnSpPr>
        <p:spPr>
          <a:xfrm flipH="1">
            <a:off x="1056770" y="7920732"/>
            <a:ext cx="0" cy="485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3" name="Google Shape;383;p22"/>
          <p:cNvCxnSpPr/>
          <p:nvPr/>
        </p:nvCxnSpPr>
        <p:spPr>
          <a:xfrm flipH="1">
            <a:off x="6589428" y="7920732"/>
            <a:ext cx="0" cy="485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4" name="Google Shape;384;p22"/>
          <p:cNvCxnSpPr/>
          <p:nvPr/>
        </p:nvCxnSpPr>
        <p:spPr>
          <a:xfrm flipH="1">
            <a:off x="3823099" y="7920732"/>
            <a:ext cx="0" cy="4854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5" name="Google Shape;385;p22"/>
          <p:cNvCxnSpPr/>
          <p:nvPr/>
        </p:nvCxnSpPr>
        <p:spPr>
          <a:xfrm>
            <a:off x="1141419" y="8283402"/>
            <a:ext cx="26100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6" name="Google Shape;386;p22"/>
          <p:cNvCxnSpPr/>
          <p:nvPr/>
        </p:nvCxnSpPr>
        <p:spPr>
          <a:xfrm>
            <a:off x="3904011" y="8283402"/>
            <a:ext cx="2610000" cy="0"/>
          </a:xfrm>
          <a:prstGeom prst="straightConnector1">
            <a:avLst/>
          </a:prstGeom>
          <a:noFill/>
          <a:ln w="38100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87" name="Google Shape;387;p22"/>
          <p:cNvSpPr txBox="1"/>
          <p:nvPr/>
        </p:nvSpPr>
        <p:spPr>
          <a:xfrm>
            <a:off x="6148923" y="8352623"/>
            <a:ext cx="88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8" name="Google Shape;388;p22"/>
          <p:cNvSpPr txBox="1"/>
          <p:nvPr/>
        </p:nvSpPr>
        <p:spPr>
          <a:xfrm>
            <a:off x="482800" y="8352623"/>
            <a:ext cx="116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2"/>
          <p:cNvSpPr txBox="1"/>
          <p:nvPr/>
        </p:nvSpPr>
        <p:spPr>
          <a:xfrm>
            <a:off x="2038238" y="8227244"/>
            <a:ext cx="88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unlikely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22"/>
          <p:cNvSpPr txBox="1"/>
          <p:nvPr/>
        </p:nvSpPr>
        <p:spPr>
          <a:xfrm>
            <a:off x="5061405" y="8227244"/>
            <a:ext cx="641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p22"/>
          <p:cNvSpPr txBox="1"/>
          <p:nvPr/>
        </p:nvSpPr>
        <p:spPr>
          <a:xfrm>
            <a:off x="3142600" y="8352623"/>
            <a:ext cx="136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2" name="Google Shape;392;p22"/>
          <p:cNvSpPr txBox="1"/>
          <p:nvPr/>
        </p:nvSpPr>
        <p:spPr>
          <a:xfrm>
            <a:off x="2897053" y="7806426"/>
            <a:ext cx="31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AB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3" name="Google Shape;393;p22"/>
          <p:cNvSpPr txBox="1"/>
          <p:nvPr/>
        </p:nvSpPr>
        <p:spPr>
          <a:xfrm>
            <a:off x="468772" y="6659000"/>
            <a:ext cx="293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BC: The outcome 30 appears 6 times out of 15 total outcomes.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2897053" y="7585165"/>
            <a:ext cx="31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5" name="Google Shape;395;p22"/>
          <p:cNvSpPr txBox="1"/>
          <p:nvPr/>
        </p:nvSpPr>
        <p:spPr>
          <a:xfrm>
            <a:off x="3305795" y="7806426"/>
            <a:ext cx="31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119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Problem solving with possible outcomes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2024-03-05T12:21:23.417</cp:lastPrinted>
  <dcterms:created xsi:type="dcterms:W3CDTF">2024-03-05T12:21:23Z</dcterms:created>
  <dcterms:modified xsi:type="dcterms:W3CDTF">2024-03-05T12:24:07Z</dcterms:modified>
</cp:coreProperties>
</file>