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DBC843F-A4E5-4155-9F39-8E52EA71F70F}">
  <a:tblStyle styleId="{EDBC843F-A4E5-4155-9F39-8E52EA71F70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90625" y="3576859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Construct your own outcome table which shows the most likely outcome.</a:t>
            </a:r>
            <a:endParaRPr sz="12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90625" y="1699081"/>
            <a:ext cx="2370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Alex will spin this spinner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this outcome table to list all unique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90723" y="1258850"/>
            <a:ext cx="6610500" cy="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Outcome tables and likelihood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2956073" y="1700537"/>
            <a:ext cx="939462" cy="1015973"/>
            <a:chOff x="3091900" y="742300"/>
            <a:chExt cx="1136400" cy="1228950"/>
          </a:xfrm>
        </p:grpSpPr>
        <p:sp>
          <p:nvSpPr>
            <p:cNvPr id="166" name="Google Shape;166;p20"/>
            <p:cNvSpPr txBox="1"/>
            <p:nvPr/>
          </p:nvSpPr>
          <p:spPr>
            <a:xfrm>
              <a:off x="3091900" y="1747750"/>
              <a:ext cx="11364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 rot="5400000" flipH="1">
              <a:off x="317680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" name="Google Shape;169;p20"/>
            <p:cNvSpPr/>
            <p:nvPr/>
          </p:nvSpPr>
          <p:spPr>
            <a:xfrm rot="10800000" flipH="1">
              <a:off x="317695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rot="-5400000" flipH="1">
              <a:off x="317694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71" name="Google Shape;171;p2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72" name="Google Shape;172;p20"/>
              <p:cNvCxnSpPr/>
              <p:nvPr/>
            </p:nvCxnSpPr>
            <p:spPr>
              <a:xfrm rot="10800000" flipH="1">
                <a:off x="3661028" y="7790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73" name="Google Shape;173;p2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74" name="Google Shape;174;p20"/>
            <p:cNvSpPr txBox="1"/>
            <p:nvPr/>
          </p:nvSpPr>
          <p:spPr>
            <a:xfrm flipH="1">
              <a:off x="3294545" y="1340941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 flipH="1">
              <a:off x="3294555" y="956952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 flipH="1">
              <a:off x="3695780" y="956952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 flipH="1">
              <a:off x="3695770" y="1340941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584275" y="2716500"/>
          <a:ext cx="1883775" cy="631546"/>
        </p:xfrm>
        <a:graphic>
          <a:graphicData uri="http://schemas.openxmlformats.org/drawingml/2006/table">
            <a:tbl>
              <a:tblPr>
                <a:noFill/>
                <a:tableStyleId>{EDBC843F-A4E5-4155-9F39-8E52EA71F70F}</a:tableStyleId>
              </a:tblPr>
              <a:tblGrid>
                <a:gridCol w="627925"/>
                <a:gridCol w="627925"/>
                <a:gridCol w="627925"/>
              </a:tblGrid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96100" y="4169550"/>
            <a:ext cx="237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Aisha will spin spinner 2 and spinner 3 twice, and find the produc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the numbers the spinners land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96100" y="6292475"/>
            <a:ext cx="468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second outcome table.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Starting with the least likely outcome, rank the outcomes in order of likelihood.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2952125" y="4170974"/>
            <a:ext cx="902529" cy="983180"/>
            <a:chOff x="3091900" y="742300"/>
            <a:chExt cx="1136400" cy="1237950"/>
          </a:xfrm>
        </p:grpSpPr>
        <p:sp>
          <p:nvSpPr>
            <p:cNvPr id="182" name="Google Shape;182;p20"/>
            <p:cNvSpPr txBox="1"/>
            <p:nvPr/>
          </p:nvSpPr>
          <p:spPr>
            <a:xfrm>
              <a:off x="3091900" y="1747750"/>
              <a:ext cx="11364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 rot="5400000" flipH="1">
              <a:off x="317680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 rot="10800000" flipH="1">
              <a:off x="317695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 rot="-5400000" flipH="1">
              <a:off x="317694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87" name="Google Shape;187;p2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88" name="Google Shape;188;p20"/>
              <p:cNvCxnSpPr/>
              <p:nvPr/>
            </p:nvCxnSpPr>
            <p:spPr>
              <a:xfrm rot="10800000" flipH="1">
                <a:off x="3661028" y="7790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9" name="Google Shape;189;p2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90" name="Google Shape;190;p20"/>
            <p:cNvSpPr txBox="1"/>
            <p:nvPr/>
          </p:nvSpPr>
          <p:spPr>
            <a:xfrm flipH="1">
              <a:off x="3294545" y="1340941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 flipH="1">
              <a:off x="3294555" y="956952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 flipH="1">
              <a:off x="3695780" y="956952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 flipH="1">
              <a:off x="3695770" y="1340941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2874661" y="5101377"/>
            <a:ext cx="1048582" cy="1123786"/>
            <a:chOff x="7418490" y="1474216"/>
            <a:chExt cx="1320300" cy="1414991"/>
          </a:xfrm>
        </p:grpSpPr>
        <p:sp>
          <p:nvSpPr>
            <p:cNvPr id="195" name="Google Shape;195;p20"/>
            <p:cNvSpPr txBox="1"/>
            <p:nvPr/>
          </p:nvSpPr>
          <p:spPr>
            <a:xfrm>
              <a:off x="7510682" y="2656707"/>
              <a:ext cx="11364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6" name="Google Shape;196;p20"/>
            <p:cNvGrpSpPr/>
            <p:nvPr/>
          </p:nvGrpSpPr>
          <p:grpSpPr>
            <a:xfrm>
              <a:off x="7418490" y="1474216"/>
              <a:ext cx="1320300" cy="1320300"/>
              <a:chOff x="146832" y="518450"/>
              <a:chExt cx="1320300" cy="1320300"/>
            </a:xfrm>
          </p:grpSpPr>
          <p:sp>
            <p:nvSpPr>
              <p:cNvPr id="197" name="Google Shape;197;p20"/>
              <p:cNvSpPr/>
              <p:nvPr/>
            </p:nvSpPr>
            <p:spPr>
              <a:xfrm flipH="1">
                <a:off x="323915" y="695491"/>
                <a:ext cx="966300" cy="966300"/>
              </a:xfrm>
              <a:prstGeom prst="pie">
                <a:avLst>
                  <a:gd name="adj1" fmla="val 8993067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 rot="7200178" flipH="1">
                <a:off x="323726" y="695344"/>
                <a:ext cx="966513" cy="966513"/>
              </a:xfrm>
              <a:prstGeom prst="pie">
                <a:avLst>
                  <a:gd name="adj1" fmla="val 8993067"/>
                  <a:gd name="adj2" fmla="val 16200000"/>
                </a:avLst>
              </a:prstGeom>
              <a:solidFill>
                <a:srgbClr val="43434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23953" y="695491"/>
                <a:ext cx="966300" cy="966300"/>
              </a:xfrm>
              <a:prstGeom prst="pie">
                <a:avLst>
                  <a:gd name="adj1" fmla="val 8993067"/>
                  <a:gd name="adj2" fmla="val 16200000"/>
                </a:avLst>
              </a:prstGeom>
              <a:solidFill>
                <a:srgbClr val="43434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" name="Google Shape;200;p20"/>
            <p:cNvGrpSpPr/>
            <p:nvPr/>
          </p:nvGrpSpPr>
          <p:grpSpPr>
            <a:xfrm>
              <a:off x="8050457" y="1688046"/>
              <a:ext cx="54300" cy="473780"/>
              <a:chOff x="779080" y="747789"/>
              <a:chExt cx="54300" cy="473780"/>
            </a:xfrm>
          </p:grpSpPr>
          <p:cxnSp>
            <p:nvCxnSpPr>
              <p:cNvPr id="201" name="Google Shape;201;p20"/>
              <p:cNvCxnSpPr/>
              <p:nvPr/>
            </p:nvCxnSpPr>
            <p:spPr>
              <a:xfrm rot="10800000" flipH="1">
                <a:off x="808433" y="7477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02" name="Google Shape;202;p20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03" name="Google Shape;203;p20"/>
            <p:cNvSpPr txBox="1"/>
            <p:nvPr/>
          </p:nvSpPr>
          <p:spPr>
            <a:xfrm flipH="1">
              <a:off x="7912877" y="2249898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 flipH="1">
              <a:off x="7713337" y="1865909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 flipH="1">
              <a:off x="8114562" y="1865909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06" name="Google Shape;206;p20"/>
          <p:cNvGraphicFramePr>
            <a:graphicFrameLocks noGrp="1"/>
          </p:cNvGraphicFramePr>
          <p:nvPr/>
        </p:nvGraphicFramePr>
        <p:xfrm>
          <a:off x="511250" y="5224463"/>
          <a:ext cx="1048575" cy="631546"/>
        </p:xfrm>
        <a:graphic>
          <a:graphicData uri="http://schemas.openxmlformats.org/drawingml/2006/table">
            <a:tbl>
              <a:tblPr>
                <a:noFill/>
                <a:tableStyleId>{EDBC843F-A4E5-4155-9F39-8E52EA71F70F}</a:tableStyleId>
              </a:tblPr>
              <a:tblGrid>
                <a:gridCol w="349525"/>
                <a:gridCol w="349525"/>
                <a:gridCol w="349525"/>
              </a:tblGrid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 b="1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 b="1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 b="1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0"/>
          <p:cNvSpPr txBox="1"/>
          <p:nvPr/>
        </p:nvSpPr>
        <p:spPr>
          <a:xfrm>
            <a:off x="1773866" y="5077094"/>
            <a:ext cx="119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this outcome table to list all unique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18325" y="6836550"/>
            <a:ext cx="3661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Sam and Lucas play a game.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 will spin spinner 4 twice and find the sum of the numbers the spinner lands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the score is a double-digit number, Sam wins, if the score is either 8 or 9, it’s a draw, and if the score is 7 or less, Lucas wins.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Construct the most efficient outcome table to show it is impossible for Sam and Lucas to draw.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" name="Google Shape;209;p20"/>
          <p:cNvGrpSpPr/>
          <p:nvPr/>
        </p:nvGrpSpPr>
        <p:grpSpPr>
          <a:xfrm>
            <a:off x="4273675" y="6837948"/>
            <a:ext cx="887528" cy="969885"/>
            <a:chOff x="3091900" y="742300"/>
            <a:chExt cx="1136400" cy="124185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3091900" y="1747750"/>
              <a:ext cx="11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 rot="5400000" flipH="1">
              <a:off x="317680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/>
            <p:nvPr/>
          </p:nvSpPr>
          <p:spPr>
            <a:xfrm rot="10800000" flipH="1">
              <a:off x="317695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 rot="-5400000" flipH="1">
              <a:off x="317694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15" name="Google Shape;215;p2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216" name="Google Shape;216;p20"/>
              <p:cNvCxnSpPr/>
              <p:nvPr/>
            </p:nvCxnSpPr>
            <p:spPr>
              <a:xfrm rot="10800000" flipH="1">
                <a:off x="3661028" y="7790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7" name="Google Shape;217;p2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18" name="Google Shape;218;p20"/>
            <p:cNvSpPr txBox="1"/>
            <p:nvPr/>
          </p:nvSpPr>
          <p:spPr>
            <a:xfrm flipH="1">
              <a:off x="3294545" y="1340941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 flipH="1">
              <a:off x="3294555" y="956952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 flipH="1">
              <a:off x="3695780" y="956952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 flipH="1">
              <a:off x="3695770" y="1340941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" name="Google Shape;222;p20"/>
          <p:cNvSpPr txBox="1"/>
          <p:nvPr/>
        </p:nvSpPr>
        <p:spPr>
          <a:xfrm>
            <a:off x="544200" y="8685900"/>
            <a:ext cx="376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the most efficient outcome table to find whether Sam or Lucas are more likely to win.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8" name="Google Shape;22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82724" y="573050"/>
            <a:ext cx="66090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Outcomes and unequal likelihood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82725" y="2915525"/>
            <a:ext cx="3682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Jacob will spin spinners A and B once each, with the number each spinner lands on multiplied together. Construct an outcome table which lists each unique outcome to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Split sectors on spinners A, B, C so that all outcomes on a spinner are equally likely.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82725" y="4852675"/>
            <a:ext cx="365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Jacob will spin spinners B and C once each, with the number each spinner lands on multiplied together. Construct an outcome table which shows how likely each outcome is to occur.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" name="Google Shape;234;p21"/>
          <p:cNvGrpSpPr/>
          <p:nvPr/>
        </p:nvGrpSpPr>
        <p:grpSpPr>
          <a:xfrm>
            <a:off x="661650" y="985701"/>
            <a:ext cx="6082955" cy="1742871"/>
            <a:chOff x="95411" y="396713"/>
            <a:chExt cx="6476052" cy="1855500"/>
          </a:xfrm>
        </p:grpSpPr>
        <p:sp>
          <p:nvSpPr>
            <p:cNvPr id="235" name="Google Shape;235;p21"/>
            <p:cNvSpPr/>
            <p:nvPr/>
          </p:nvSpPr>
          <p:spPr>
            <a:xfrm rot="10800000">
              <a:off x="339063" y="661533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6" name="Google Shape;236;p21"/>
            <p:cNvSpPr/>
            <p:nvPr/>
          </p:nvSpPr>
          <p:spPr>
            <a:xfrm rot="-7200295">
              <a:off x="338952" y="661391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7" name="Google Shape;237;p21"/>
            <p:cNvSpPr/>
            <p:nvPr/>
          </p:nvSpPr>
          <p:spPr>
            <a:xfrm rot="-3599705">
              <a:off x="338510" y="661456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338470" y="661448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4348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 flipH="1">
              <a:off x="338896" y="661610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1" name="Google Shape;241;p21"/>
            <p:cNvSpPr/>
            <p:nvPr/>
          </p:nvSpPr>
          <p:spPr>
            <a:xfrm rot="3599705" flipH="1">
              <a:off x="338529" y="661618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2" name="Google Shape;242;p21"/>
            <p:cNvSpPr txBox="1"/>
            <p:nvPr/>
          </p:nvSpPr>
          <p:spPr>
            <a:xfrm flipH="1">
              <a:off x="1067083" y="86376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 flipH="1">
              <a:off x="1239783" y="120258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 flipH="1">
              <a:off x="606877" y="863739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 flipH="1">
              <a:off x="1067083" y="1596175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 txBox="1"/>
            <p:nvPr/>
          </p:nvSpPr>
          <p:spPr>
            <a:xfrm flipH="1">
              <a:off x="606877" y="159615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 flipH="1">
              <a:off x="434183" y="120258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8" name="Google Shape;248;p21"/>
            <p:cNvGrpSpPr/>
            <p:nvPr/>
          </p:nvGrpSpPr>
          <p:grpSpPr>
            <a:xfrm>
              <a:off x="338871" y="661585"/>
              <a:ext cx="1328100" cy="1328100"/>
              <a:chOff x="338871" y="661585"/>
              <a:chExt cx="1328100" cy="1328100"/>
            </a:xfrm>
          </p:grpSpPr>
          <p:sp>
            <p:nvSpPr>
              <p:cNvPr id="249" name="Google Shape;249;p21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name="adj1" fmla="val 9021560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250" name="Google Shape;250;p21"/>
              <p:cNvSpPr txBox="1"/>
              <p:nvPr/>
            </p:nvSpPr>
            <p:spPr>
              <a:xfrm flipH="1">
                <a:off x="403727" y="877421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1" name="Google Shape;251;p21"/>
            <p:cNvSpPr/>
            <p:nvPr/>
          </p:nvSpPr>
          <p:spPr>
            <a:xfrm flipH="1">
              <a:off x="2790024" y="660667"/>
              <a:ext cx="1328100" cy="132810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52" name="Google Shape;252;p21"/>
            <p:cNvSpPr/>
            <p:nvPr/>
          </p:nvSpPr>
          <p:spPr>
            <a:xfrm rot="4320175" flipH="1">
              <a:off x="2789498" y="660491"/>
              <a:ext cx="1328290" cy="132829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53" name="Google Shape;253;p21"/>
            <p:cNvSpPr/>
            <p:nvPr/>
          </p:nvSpPr>
          <p:spPr>
            <a:xfrm rot="8639842" flipH="1">
              <a:off x="2790493" y="660739"/>
              <a:ext cx="1327952" cy="1327952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54" name="Google Shape;254;p21"/>
            <p:cNvSpPr/>
            <p:nvPr/>
          </p:nvSpPr>
          <p:spPr>
            <a:xfrm rot="-8639670" flipH="1">
              <a:off x="2790801" y="660277"/>
              <a:ext cx="1328371" cy="1328371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2789296" y="660667"/>
              <a:ext cx="1328100" cy="132810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56" name="Google Shape;256;p21"/>
            <p:cNvSpPr txBox="1"/>
            <p:nvPr/>
          </p:nvSpPr>
          <p:spPr>
            <a:xfrm flipH="1">
              <a:off x="3684105" y="130492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1"/>
            <p:cNvSpPr txBox="1"/>
            <p:nvPr/>
          </p:nvSpPr>
          <p:spPr>
            <a:xfrm flipH="1">
              <a:off x="3289230" y="162517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1"/>
            <p:cNvSpPr txBox="1"/>
            <p:nvPr/>
          </p:nvSpPr>
          <p:spPr>
            <a:xfrm flipH="1">
              <a:off x="2892105" y="130492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1"/>
            <p:cNvSpPr txBox="1"/>
            <p:nvPr/>
          </p:nvSpPr>
          <p:spPr>
            <a:xfrm flipH="1">
              <a:off x="3034915" y="875506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 flipH="1">
              <a:off x="3541315" y="875506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1" name="Google Shape;261;p21"/>
            <p:cNvGrpSpPr/>
            <p:nvPr/>
          </p:nvGrpSpPr>
          <p:grpSpPr>
            <a:xfrm>
              <a:off x="2790924" y="660642"/>
              <a:ext cx="1328100" cy="1328100"/>
              <a:chOff x="401046" y="786560"/>
              <a:chExt cx="1328100" cy="1328100"/>
            </a:xfrm>
          </p:grpSpPr>
          <p:sp>
            <p:nvSpPr>
              <p:cNvPr id="262" name="Google Shape;262;p21"/>
              <p:cNvSpPr/>
              <p:nvPr/>
            </p:nvSpPr>
            <p:spPr>
              <a:xfrm>
                <a:off x="401046" y="786560"/>
                <a:ext cx="1328100" cy="1328100"/>
              </a:xfrm>
              <a:prstGeom prst="pie">
                <a:avLst>
                  <a:gd name="adj1" fmla="val 3244423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263" name="Google Shape;263;p21"/>
              <p:cNvSpPr txBox="1"/>
              <p:nvPr/>
            </p:nvSpPr>
            <p:spPr>
              <a:xfrm flipH="1">
                <a:off x="551677" y="1529689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64" name="Google Shape;264;p21"/>
            <p:cNvSpPr txBox="1"/>
            <p:nvPr/>
          </p:nvSpPr>
          <p:spPr>
            <a:xfrm>
              <a:off x="28867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 rot="10800000">
              <a:off x="5243363" y="661533"/>
              <a:ext cx="1328100" cy="1328100"/>
            </a:xfrm>
            <a:prstGeom prst="pie">
              <a:avLst>
                <a:gd name="adj1" fmla="val 12607844"/>
                <a:gd name="adj2" fmla="val 19826604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5242770" y="661448"/>
              <a:ext cx="1328100" cy="1328100"/>
            </a:xfrm>
            <a:prstGeom prst="pie">
              <a:avLst>
                <a:gd name="adj1" fmla="val 9019745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67" name="Google Shape;267;p21"/>
            <p:cNvSpPr/>
            <p:nvPr/>
          </p:nvSpPr>
          <p:spPr>
            <a:xfrm flipH="1">
              <a:off x="5243196" y="661610"/>
              <a:ext cx="1328100" cy="1328100"/>
            </a:xfrm>
            <a:prstGeom prst="pie">
              <a:avLst>
                <a:gd name="adj1" fmla="val 8998870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68" name="Google Shape;268;p21"/>
            <p:cNvSpPr txBox="1"/>
            <p:nvPr/>
          </p:nvSpPr>
          <p:spPr>
            <a:xfrm flipH="1">
              <a:off x="6060783" y="101503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1"/>
            <p:cNvSpPr txBox="1"/>
            <p:nvPr/>
          </p:nvSpPr>
          <p:spPr>
            <a:xfrm flipH="1">
              <a:off x="5971383" y="1596175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1"/>
            <p:cNvSpPr txBox="1"/>
            <p:nvPr/>
          </p:nvSpPr>
          <p:spPr>
            <a:xfrm flipH="1">
              <a:off x="5511177" y="159615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71" name="Google Shape;271;p21"/>
            <p:cNvGrpSpPr/>
            <p:nvPr/>
          </p:nvGrpSpPr>
          <p:grpSpPr>
            <a:xfrm>
              <a:off x="5243171" y="661585"/>
              <a:ext cx="1328100" cy="1328100"/>
              <a:chOff x="338871" y="661585"/>
              <a:chExt cx="1328100" cy="1328100"/>
            </a:xfrm>
          </p:grpSpPr>
          <p:sp>
            <p:nvSpPr>
              <p:cNvPr id="272" name="Google Shape;272;p21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name="adj1" fmla="val 1803033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273" name="Google Shape;273;p21"/>
              <p:cNvSpPr txBox="1"/>
              <p:nvPr/>
            </p:nvSpPr>
            <p:spPr>
              <a:xfrm flipH="1">
                <a:off x="394189" y="1496210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74" name="Google Shape;274;p21"/>
            <p:cNvSpPr txBox="1"/>
            <p:nvPr/>
          </p:nvSpPr>
          <p:spPr>
            <a:xfrm>
              <a:off x="53386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5" name="Google Shape;275;p21"/>
          <p:cNvSpPr txBox="1"/>
          <p:nvPr/>
        </p:nvSpPr>
        <p:spPr>
          <a:xfrm>
            <a:off x="475350" y="6050288"/>
            <a:ext cx="660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Jacob will spin spinners A and B once each, then spinners B and C once each, then spinners A and C once each. After each trial, the number each spinner lands on are multiplied together.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outcome is most likely to occur across all experiments?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possible outcomes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2024-03-05T12:21:22.449</cp:lastPrinted>
  <dcterms:created xsi:type="dcterms:W3CDTF">2024-03-05T12:21:22Z</dcterms:created>
  <dcterms:modified xsi:type="dcterms:W3CDTF">2024-03-05T12:21:32Z</dcterms:modified>
</cp:coreProperties>
</file>