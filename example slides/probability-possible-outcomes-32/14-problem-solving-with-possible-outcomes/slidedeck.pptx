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BB6AE2-A58B-474A-B8DE-D38CB066C94D}">
  <a:tblStyle styleId="{BEBB6AE2-A58B-474A-B8DE-D38CB066C9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DEDC8E9-E31A-4F49-AE26-0267436622A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5d03ee8f2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5d03ee8f2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5d03ee8f2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5d03ee8f2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5d03ee8f2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5d03ee8f2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7e67167e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7e67167e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b5d03ee8f2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b5d03ee8f2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5d03ee8f2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5d03ee8f2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b5d03ee8f2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b5d03ee8f2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b5d03ee8f2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b5d03ee8f2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b5d03ee8f2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b5d03ee8f2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b5d03ee8f2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b5d03ee8f2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b5d03ee8f2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b5d03ee8f2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b5d03ee8f2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b5d03ee8f2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b5d03ee8f2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b5d03ee8f2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b5d03ee8f2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b5d03ee8f2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b5d03ee8f2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b5d03ee8f2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2b5d03ee8f2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2b5d03ee8f2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b5d03ee8f2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b5d03ee8f2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b5d03ee8f2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b5d03ee8f2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b5d03ee8f2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b5d03ee8f2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b5d03ee8f2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b5d03ee8f2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b5d03ee8f2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b5d03ee8f2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2b5d03ee8f2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2b5d03ee8f2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b5d03ee8f2_0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b5d03ee8f2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b5d03ee8f2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b5d03ee8f2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b5d03ee8f2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b5d03ee8f2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b5d03ee8f2_0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b5d03ee8f2_0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b5d03ee8f2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b5d03ee8f2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2b5d03ee8f2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2b5d03ee8f2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b5d03ee8f2_0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2b5d03ee8f2_0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b5d03ee8f2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b5d03ee8f2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2b5d03ee8f2_0_1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2b5d03ee8f2_0_1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2b5d03ee8f2_0_1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2b5d03ee8f2_0_1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2b5d03ee8f2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2b5d03ee8f2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b5d03ee8f2_0_2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b5d03ee8f2_0_2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2b5d03ee8f2_0_2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2b5d03ee8f2_0_2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2b5d03ee8f2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2b5d03ee8f2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g2b7e67167eb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1" name="Google Shape;2091;g2b7e67167eb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2b5d03ee8f2_0_2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2b5d03ee8f2_0_2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b5d03ee8f2_0_2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b5d03ee8f2_0_2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2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2.png"/><Relationship Id="rId4" Type="http://schemas.openxmlformats.org/officeDocument/2006/relationships/image" Target="../media/image32.png"/><Relationship Id="rId11" Type="http://schemas.openxmlformats.org/officeDocument/2006/relationships/image" Target="../media/image22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Relationship Id="rId4" Type="http://schemas.openxmlformats.org/officeDocument/2006/relationships/image" Target="../media/image44.png"/><Relationship Id="rId5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Relationship Id="rId4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Relationship Id="rId4" Type="http://schemas.openxmlformats.org/officeDocument/2006/relationships/image" Target="../media/image54.png"/><Relationship Id="rId5" Type="http://schemas.openxmlformats.org/officeDocument/2006/relationships/image" Target="../media/image44.png"/><Relationship Id="rId6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Relationship Id="rId5" Type="http://schemas.openxmlformats.org/officeDocument/2006/relationships/image" Target="../media/image5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choose an appropriate diagram to display the outcomes for different events.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4" type="subTitle"/>
          </p:nvPr>
        </p:nvSpPr>
        <p:spPr>
          <a:xfrm>
            <a:off x="324000" y="706475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Likelihood describes the chance that a particular event occurs. </a:t>
            </a:r>
            <a:endParaRPr/>
          </a:p>
        </p:txBody>
      </p:sp>
      <p:sp>
        <p:nvSpPr>
          <p:cNvPr id="763" name="Google Shape;763;p65"/>
          <p:cNvSpPr txBox="1"/>
          <p:nvPr>
            <p:ph idx="2" type="subTitle"/>
          </p:nvPr>
        </p:nvSpPr>
        <p:spPr>
          <a:xfrm>
            <a:off x="324000" y="1726983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outcome table is a table that shows all the possible outcomes.</a:t>
            </a:r>
            <a:endParaRPr/>
          </a:p>
        </p:txBody>
      </p:sp>
      <p:sp>
        <p:nvSpPr>
          <p:cNvPr id="764" name="Google Shape;764;p65"/>
          <p:cNvSpPr txBox="1"/>
          <p:nvPr>
            <p:ph idx="6" type="subTitle"/>
          </p:nvPr>
        </p:nvSpPr>
        <p:spPr>
          <a:xfrm>
            <a:off x="324000" y="4086600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Venn diagrams are a representation used to model statistical/probability questions. Commonly circles are used to represent events.  </a:t>
            </a:r>
            <a:endParaRPr/>
          </a:p>
        </p:txBody>
      </p:sp>
      <p:sp>
        <p:nvSpPr>
          <p:cNvPr id="765" name="Google Shape;765;p65"/>
          <p:cNvSpPr txBox="1"/>
          <p:nvPr>
            <p:ph idx="4" type="subTitle"/>
          </p:nvPr>
        </p:nvSpPr>
        <p:spPr>
          <a:xfrm>
            <a:off x="324000" y="2747492"/>
            <a:ext cx="84960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branch of an outcome tree shows a possible outcome from an event or from a stage of a trial. The full outcome tree shows all possible outcomes.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sp>
        <p:nvSpPr>
          <p:cNvPr id="771" name="Google Shape;771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pic>
        <p:nvPicPr>
          <p:cNvPr id="772" name="Google Shape;7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052674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1" name="Google Shape;781;p67"/>
          <p:cNvGrpSpPr/>
          <p:nvPr/>
        </p:nvGrpSpPr>
        <p:grpSpPr>
          <a:xfrm flipH="1">
            <a:off x="5774570" y="788201"/>
            <a:ext cx="2914488" cy="1362206"/>
            <a:chOff x="797575" y="5295652"/>
            <a:chExt cx="3320975" cy="1476325"/>
          </a:xfrm>
        </p:grpSpPr>
        <p:pic>
          <p:nvPicPr>
            <p:cNvPr id="782" name="Google Shape;782;p6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7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I were to spin spinner 1 twice, I could display the outcomes in this table.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4" name="Google Shape;784;p67"/>
          <p:cNvSpPr txBox="1"/>
          <p:nvPr/>
        </p:nvSpPr>
        <p:spPr>
          <a:xfrm>
            <a:off x="239025" y="17477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146832" y="565259"/>
            <a:ext cx="1320300" cy="1320300"/>
            <a:chOff x="146832" y="518450"/>
            <a:chExt cx="1320300" cy="1320300"/>
          </a:xfrm>
        </p:grpSpPr>
        <p:sp>
          <p:nvSpPr>
            <p:cNvPr id="786" name="Google Shape;786;p67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7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7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67"/>
          <p:cNvGrpSpPr/>
          <p:nvPr/>
        </p:nvGrpSpPr>
        <p:grpSpPr>
          <a:xfrm>
            <a:off x="778800" y="779089"/>
            <a:ext cx="54300" cy="473780"/>
            <a:chOff x="779080" y="747789"/>
            <a:chExt cx="54300" cy="473780"/>
          </a:xfrm>
        </p:grpSpPr>
        <p:cxnSp>
          <p:nvCxnSpPr>
            <p:cNvPr id="790" name="Google Shape;790;p67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1" name="Google Shape;791;p67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2" name="Google Shape;792;p67"/>
          <p:cNvSpPr txBox="1"/>
          <p:nvPr/>
        </p:nvSpPr>
        <p:spPr>
          <a:xfrm flipH="1">
            <a:off x="641220" y="134094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 flipH="1">
            <a:off x="441680" y="9569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7"/>
          <p:cNvSpPr txBox="1"/>
          <p:nvPr/>
        </p:nvSpPr>
        <p:spPr>
          <a:xfrm flipH="1">
            <a:off x="842905" y="9569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95" name="Google Shape;795;p67"/>
          <p:cNvGraphicFramePr/>
          <p:nvPr/>
        </p:nvGraphicFramePr>
        <p:xfrm>
          <a:off x="2292828" y="75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{BEBB6AE2-A58B-474A-B8DE-D38CB066C94D}</a:tableStyleId>
              </a:tblPr>
              <a:tblGrid>
                <a:gridCol w="603225"/>
                <a:gridCol w="603225"/>
                <a:gridCol w="603225"/>
                <a:gridCol w="603225"/>
              </a:tblGrid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pic>
        <p:nvPicPr>
          <p:cNvPr id="801" name="Google Shape;80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8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/>
        </p:nvSpPr>
        <p:spPr>
          <a:xfrm>
            <a:off x="239025" y="1747750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4" name="Google Shape;804;p68"/>
          <p:cNvGrpSpPr/>
          <p:nvPr/>
        </p:nvGrpSpPr>
        <p:grpSpPr>
          <a:xfrm>
            <a:off x="146832" y="565259"/>
            <a:ext cx="1320300" cy="1320300"/>
            <a:chOff x="146832" y="518450"/>
            <a:chExt cx="1320300" cy="1320300"/>
          </a:xfrm>
        </p:grpSpPr>
        <p:sp>
          <p:nvSpPr>
            <p:cNvPr id="805" name="Google Shape;805;p68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8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8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8" name="Google Shape;808;p68"/>
          <p:cNvGrpSpPr/>
          <p:nvPr/>
        </p:nvGrpSpPr>
        <p:grpSpPr>
          <a:xfrm>
            <a:off x="778800" y="779089"/>
            <a:ext cx="54300" cy="473780"/>
            <a:chOff x="779080" y="747789"/>
            <a:chExt cx="54300" cy="473780"/>
          </a:xfrm>
        </p:grpSpPr>
        <p:cxnSp>
          <p:nvCxnSpPr>
            <p:cNvPr id="809" name="Google Shape;809;p68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0" name="Google Shape;810;p68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68"/>
          <p:cNvSpPr txBox="1"/>
          <p:nvPr/>
        </p:nvSpPr>
        <p:spPr>
          <a:xfrm flipH="1">
            <a:off x="641220" y="134094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/>
        </p:nvSpPr>
        <p:spPr>
          <a:xfrm flipH="1">
            <a:off x="441680" y="9569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/>
        </p:nvSpPr>
        <p:spPr>
          <a:xfrm flipH="1">
            <a:off x="842905" y="9569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14" name="Google Shape;814;p68"/>
          <p:cNvGraphicFramePr/>
          <p:nvPr/>
        </p:nvGraphicFramePr>
        <p:xfrm>
          <a:off x="2292828" y="75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{BEBB6AE2-A58B-474A-B8DE-D38CB066C94D}</a:tableStyleId>
              </a:tblPr>
              <a:tblGrid>
                <a:gridCol w="603225"/>
                <a:gridCol w="603225"/>
                <a:gridCol w="603225"/>
                <a:gridCol w="603225"/>
              </a:tblGrid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15" name="Google Shape;815;p68"/>
          <p:cNvGrpSpPr/>
          <p:nvPr/>
        </p:nvGrpSpPr>
        <p:grpSpPr>
          <a:xfrm>
            <a:off x="142453" y="3312282"/>
            <a:ext cx="1329600" cy="1464343"/>
            <a:chOff x="142453" y="2702682"/>
            <a:chExt cx="1329600" cy="1464343"/>
          </a:xfrm>
        </p:grpSpPr>
        <p:sp>
          <p:nvSpPr>
            <p:cNvPr id="816" name="Google Shape;816;p68"/>
            <p:cNvSpPr txBox="1"/>
            <p:nvPr/>
          </p:nvSpPr>
          <p:spPr>
            <a:xfrm>
              <a:off x="239025" y="3889825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68"/>
            <p:cNvSpPr/>
            <p:nvPr/>
          </p:nvSpPr>
          <p:spPr>
            <a:xfrm flipH="1">
              <a:off x="320808" y="2880856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8"/>
            <p:cNvSpPr/>
            <p:nvPr/>
          </p:nvSpPr>
          <p:spPr>
            <a:xfrm flipH="1" rot="3600183">
              <a:off x="321047" y="2880894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8"/>
            <p:cNvSpPr/>
            <p:nvPr/>
          </p:nvSpPr>
          <p:spPr>
            <a:xfrm flipH="1" rot="10800000">
              <a:off x="320981" y="2880745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8"/>
            <p:cNvSpPr/>
            <p:nvPr/>
          </p:nvSpPr>
          <p:spPr>
            <a:xfrm flipH="1" rot="7199817">
              <a:off x="320898" y="2880976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8"/>
            <p:cNvSpPr/>
            <p:nvPr/>
          </p:nvSpPr>
          <p:spPr>
            <a:xfrm flipH="1" rot="-3598878">
              <a:off x="320628" y="2880857"/>
              <a:ext cx="973250" cy="97325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8"/>
            <p:cNvSpPr/>
            <p:nvPr/>
          </p:nvSpPr>
          <p:spPr>
            <a:xfrm flipH="1" rot="-7198369">
              <a:off x="320972" y="2880930"/>
              <a:ext cx="972800" cy="9728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68"/>
            <p:cNvGrpSpPr/>
            <p:nvPr/>
          </p:nvGrpSpPr>
          <p:grpSpPr>
            <a:xfrm>
              <a:off x="374923" y="2960977"/>
              <a:ext cx="866777" cy="812428"/>
              <a:chOff x="374923" y="2960977"/>
              <a:chExt cx="866777" cy="812428"/>
            </a:xfrm>
          </p:grpSpPr>
          <p:sp>
            <p:nvSpPr>
              <p:cNvPr id="824" name="Google Shape;824;p68"/>
              <p:cNvSpPr txBox="1"/>
              <p:nvPr/>
            </p:nvSpPr>
            <p:spPr>
              <a:xfrm>
                <a:off x="837691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5" name="Google Shape;825;p68"/>
              <p:cNvSpPr txBox="1"/>
              <p:nvPr/>
            </p:nvSpPr>
            <p:spPr>
              <a:xfrm>
                <a:off x="1006801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6" name="Google Shape;826;p68"/>
              <p:cNvSpPr txBox="1"/>
              <p:nvPr/>
            </p:nvSpPr>
            <p:spPr>
              <a:xfrm>
                <a:off x="837691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7" name="Google Shape;827;p68"/>
              <p:cNvSpPr txBox="1"/>
              <p:nvPr/>
            </p:nvSpPr>
            <p:spPr>
              <a:xfrm flipH="1">
                <a:off x="544033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8" name="Google Shape;828;p68"/>
              <p:cNvSpPr txBox="1"/>
              <p:nvPr/>
            </p:nvSpPr>
            <p:spPr>
              <a:xfrm flipH="1">
                <a:off x="374923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9" name="Google Shape;829;p68"/>
              <p:cNvSpPr txBox="1"/>
              <p:nvPr/>
            </p:nvSpPr>
            <p:spPr>
              <a:xfrm flipH="1">
                <a:off x="544033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30" name="Google Shape;830;p68"/>
            <p:cNvGrpSpPr/>
            <p:nvPr/>
          </p:nvGrpSpPr>
          <p:grpSpPr>
            <a:xfrm>
              <a:off x="780057" y="2911181"/>
              <a:ext cx="54520" cy="476738"/>
              <a:chOff x="1012152" y="1933239"/>
              <a:chExt cx="42000" cy="367258"/>
            </a:xfrm>
          </p:grpSpPr>
          <p:cxnSp>
            <p:nvCxnSpPr>
              <p:cNvPr id="831" name="Google Shape;831;p68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32" name="Google Shape;832;p68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33" name="Google Shape;833;p68"/>
          <p:cNvGrpSpPr/>
          <p:nvPr/>
        </p:nvGrpSpPr>
        <p:grpSpPr>
          <a:xfrm flipH="1">
            <a:off x="5774570" y="794274"/>
            <a:ext cx="2914488" cy="1362206"/>
            <a:chOff x="797575" y="5295652"/>
            <a:chExt cx="3320975" cy="1476325"/>
          </a:xfrm>
        </p:grpSpPr>
        <p:pic>
          <p:nvPicPr>
            <p:cNvPr id="834" name="Google Shape;834;p6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68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if I were to spin spinner 2 twice, would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table also look like this…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6" name="Google Shape;836;p68"/>
          <p:cNvSpPr txBox="1"/>
          <p:nvPr/>
        </p:nvSpPr>
        <p:spPr>
          <a:xfrm>
            <a:off x="7411691" y="1634161"/>
            <a:ext cx="10425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this?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7" name="Google Shape;837;p68"/>
          <p:cNvGraphicFramePr/>
          <p:nvPr/>
        </p:nvGraphicFramePr>
        <p:xfrm>
          <a:off x="1607028" y="3339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{BEBB6AE2-A58B-474A-B8DE-D38CB066C94D}</a:tableStyleId>
              </a:tblPr>
              <a:tblGrid>
                <a:gridCol w="603225"/>
                <a:gridCol w="603225"/>
                <a:gridCol w="603225"/>
                <a:gridCol w="603225"/>
              </a:tblGrid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38" name="Google Shape;838;p68"/>
          <p:cNvGraphicFramePr/>
          <p:nvPr/>
        </p:nvGraphicFramePr>
        <p:xfrm>
          <a:off x="4345478" y="2571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{BEBB6AE2-A58B-474A-B8DE-D38CB066C94D}</a:tableStyleId>
              </a:tblPr>
              <a:tblGrid>
                <a:gridCol w="516700"/>
                <a:gridCol w="516700"/>
                <a:gridCol w="516700"/>
                <a:gridCol w="516700"/>
                <a:gridCol w="516700"/>
                <a:gridCol w="516700"/>
                <a:gridCol w="516700"/>
              </a:tblGrid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p69"/>
          <p:cNvGrpSpPr/>
          <p:nvPr/>
        </p:nvGrpSpPr>
        <p:grpSpPr>
          <a:xfrm>
            <a:off x="2370590" y="2999492"/>
            <a:ext cx="2635232" cy="1779289"/>
            <a:chOff x="2370590" y="2999492"/>
            <a:chExt cx="2635232" cy="1779289"/>
          </a:xfrm>
        </p:grpSpPr>
        <p:grpSp>
          <p:nvGrpSpPr>
            <p:cNvPr id="844" name="Google Shape;844;p69"/>
            <p:cNvGrpSpPr/>
            <p:nvPr/>
          </p:nvGrpSpPr>
          <p:grpSpPr>
            <a:xfrm flipH="1">
              <a:off x="2912611" y="2999492"/>
              <a:ext cx="2093211" cy="1405105"/>
              <a:chOff x="4950696" y="682200"/>
              <a:chExt cx="3320975" cy="1767651"/>
            </a:xfrm>
          </p:grpSpPr>
          <p:pic>
            <p:nvPicPr>
              <p:cNvPr id="845" name="Google Shape;845;p69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4950696" y="682200"/>
                <a:ext cx="3320975" cy="17676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6" name="Google Shape;846;p69"/>
              <p:cNvSpPr txBox="1"/>
              <p:nvPr/>
            </p:nvSpPr>
            <p:spPr>
              <a:xfrm>
                <a:off x="5036584" y="714518"/>
                <a:ext cx="3000000" cy="14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both are correct.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They just have different uses.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47" name="Google Shape;847;p69"/>
            <p:cNvGrpSpPr/>
            <p:nvPr/>
          </p:nvGrpSpPr>
          <p:grpSpPr>
            <a:xfrm flipH="1">
              <a:off x="2370590" y="3738257"/>
              <a:ext cx="676200" cy="1040525"/>
              <a:chOff x="8137196" y="1935832"/>
              <a:chExt cx="676200" cy="1040525"/>
            </a:xfrm>
          </p:grpSpPr>
          <p:pic>
            <p:nvPicPr>
              <p:cNvPr id="848" name="Google Shape;848;p6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8209791" y="1935832"/>
                <a:ext cx="598139" cy="7479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9" name="Google Shape;849;p69"/>
              <p:cNvSpPr txBox="1"/>
              <p:nvPr/>
            </p:nvSpPr>
            <p:spPr>
              <a:xfrm>
                <a:off x="8137196" y="2699157"/>
                <a:ext cx="67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Jun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50" name="Google Shape;850;p69"/>
          <p:cNvSpPr/>
          <p:nvPr/>
        </p:nvSpPr>
        <p:spPr>
          <a:xfrm>
            <a:off x="2028300" y="2639475"/>
            <a:ext cx="3129900" cy="213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aphicFrame>
        <p:nvGraphicFramePr>
          <p:cNvPr id="852" name="Google Shape;852;p69"/>
          <p:cNvGraphicFramePr/>
          <p:nvPr/>
        </p:nvGraphicFramePr>
        <p:xfrm>
          <a:off x="324003" y="694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{BEBB6AE2-A58B-474A-B8DE-D38CB066C94D}</a:tableStyleId>
              </a:tblPr>
              <a:tblGrid>
                <a:gridCol w="603225"/>
                <a:gridCol w="603225"/>
                <a:gridCol w="603225"/>
                <a:gridCol w="603225"/>
              </a:tblGrid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5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53" name="Google Shape;853;p69"/>
          <p:cNvSpPr txBox="1"/>
          <p:nvPr/>
        </p:nvSpPr>
        <p:spPr>
          <a:xfrm>
            <a:off x="338225" y="2147050"/>
            <a:ext cx="312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table is helpful for showing the number of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unique outcomes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efficiently.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4" name="Google Shape;854;p69"/>
          <p:cNvGraphicFramePr/>
          <p:nvPr/>
        </p:nvGraphicFramePr>
        <p:xfrm>
          <a:off x="5203103" y="694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{BEBB6AE2-A58B-474A-B8DE-D38CB066C94D}</a:tableStyleId>
              </a:tblPr>
              <a:tblGrid>
                <a:gridCol w="516700"/>
                <a:gridCol w="516700"/>
                <a:gridCol w="516700"/>
                <a:gridCol w="516700"/>
                <a:gridCol w="516700"/>
                <a:gridCol w="516700"/>
                <a:gridCol w="516700"/>
              </a:tblGrid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1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55" name="Google Shape;855;p69"/>
          <p:cNvSpPr txBox="1"/>
          <p:nvPr/>
        </p:nvSpPr>
        <p:spPr>
          <a:xfrm>
            <a:off x="338225" y="3021425"/>
            <a:ext cx="312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order matters, then there are 9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69"/>
          <p:cNvSpPr txBox="1"/>
          <p:nvPr/>
        </p:nvSpPr>
        <p:spPr>
          <a:xfrm>
            <a:off x="338225" y="3618600"/>
            <a:ext cx="312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if order doesn’t matter (e.g. AC is the same as CA), then there are 6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69"/>
          <p:cNvSpPr txBox="1"/>
          <p:nvPr/>
        </p:nvSpPr>
        <p:spPr>
          <a:xfrm>
            <a:off x="4249575" y="2918575"/>
            <a:ext cx="457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table is helpful for showing which outcome is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most likely to occur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>
            <a:off x="4249575" y="3519250"/>
            <a:ext cx="457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order matters, then AA is the most likely outcome (9 outcomes).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69"/>
          <p:cNvSpPr/>
          <p:nvPr/>
        </p:nvSpPr>
        <p:spPr>
          <a:xfrm>
            <a:off x="5719800" y="1005550"/>
            <a:ext cx="1550100" cy="9333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69"/>
          <p:cNvSpPr txBox="1"/>
          <p:nvPr/>
        </p:nvSpPr>
        <p:spPr>
          <a:xfrm>
            <a:off x="4249575" y="4119925"/>
            <a:ext cx="457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order doesn’t matter, then AC is the most likely outcome (12 outcomes).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1" name="Google Shape;861;p69"/>
          <p:cNvGrpSpPr/>
          <p:nvPr/>
        </p:nvGrpSpPr>
        <p:grpSpPr>
          <a:xfrm>
            <a:off x="5719800" y="1005550"/>
            <a:ext cx="3100300" cy="1866500"/>
            <a:chOff x="5719800" y="1005550"/>
            <a:chExt cx="3100300" cy="1866500"/>
          </a:xfrm>
        </p:grpSpPr>
        <p:sp>
          <p:nvSpPr>
            <p:cNvPr id="862" name="Google Shape;862;p69"/>
            <p:cNvSpPr/>
            <p:nvPr/>
          </p:nvSpPr>
          <p:spPr>
            <a:xfrm>
              <a:off x="7786600" y="1005550"/>
              <a:ext cx="1033500" cy="9333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3" name="Google Shape;863;p69"/>
            <p:cNvSpPr/>
            <p:nvPr/>
          </p:nvSpPr>
          <p:spPr>
            <a:xfrm>
              <a:off x="5719800" y="2249850"/>
              <a:ext cx="1550100" cy="6222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4" name="Google Shape;864;p69"/>
          <p:cNvGrpSpPr/>
          <p:nvPr/>
        </p:nvGrpSpPr>
        <p:grpSpPr>
          <a:xfrm>
            <a:off x="927225" y="1399225"/>
            <a:ext cx="1206525" cy="704750"/>
            <a:chOff x="927225" y="1399225"/>
            <a:chExt cx="1206525" cy="704750"/>
          </a:xfrm>
        </p:grpSpPr>
        <p:sp>
          <p:nvSpPr>
            <p:cNvPr id="865" name="Google Shape;865;p69"/>
            <p:cNvSpPr/>
            <p:nvPr/>
          </p:nvSpPr>
          <p:spPr>
            <a:xfrm>
              <a:off x="927225" y="1399225"/>
              <a:ext cx="603300" cy="352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6" name="Google Shape;866;p69"/>
            <p:cNvSpPr/>
            <p:nvPr/>
          </p:nvSpPr>
          <p:spPr>
            <a:xfrm>
              <a:off x="927225" y="1751475"/>
              <a:ext cx="603300" cy="352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7" name="Google Shape;867;p69"/>
            <p:cNvSpPr/>
            <p:nvPr/>
          </p:nvSpPr>
          <p:spPr>
            <a:xfrm>
              <a:off x="1530450" y="1751475"/>
              <a:ext cx="603300" cy="352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0"/>
          <p:cNvSpPr txBox="1"/>
          <p:nvPr/>
        </p:nvSpPr>
        <p:spPr>
          <a:xfrm>
            <a:off x="1196500" y="3100550"/>
            <a:ext cx="57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shows the likelihood of the different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pSp>
        <p:nvGrpSpPr>
          <p:cNvPr id="874" name="Google Shape;874;p70"/>
          <p:cNvGrpSpPr/>
          <p:nvPr/>
        </p:nvGrpSpPr>
        <p:grpSpPr>
          <a:xfrm>
            <a:off x="7413642" y="1453832"/>
            <a:ext cx="1329600" cy="1464343"/>
            <a:chOff x="142453" y="2702682"/>
            <a:chExt cx="1329600" cy="1464343"/>
          </a:xfrm>
        </p:grpSpPr>
        <p:sp>
          <p:nvSpPr>
            <p:cNvPr id="875" name="Google Shape;875;p70"/>
            <p:cNvSpPr txBox="1"/>
            <p:nvPr/>
          </p:nvSpPr>
          <p:spPr>
            <a:xfrm>
              <a:off x="239025" y="3889825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6" name="Google Shape;876;p70"/>
            <p:cNvSpPr/>
            <p:nvPr/>
          </p:nvSpPr>
          <p:spPr>
            <a:xfrm flipH="1">
              <a:off x="320808" y="2880856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70"/>
            <p:cNvSpPr/>
            <p:nvPr/>
          </p:nvSpPr>
          <p:spPr>
            <a:xfrm flipH="1" rot="3600183">
              <a:off x="321047" y="2880894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70"/>
            <p:cNvSpPr/>
            <p:nvPr/>
          </p:nvSpPr>
          <p:spPr>
            <a:xfrm flipH="1" rot="10800000">
              <a:off x="320981" y="2880745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70"/>
            <p:cNvSpPr/>
            <p:nvPr/>
          </p:nvSpPr>
          <p:spPr>
            <a:xfrm flipH="1" rot="7199817">
              <a:off x="320898" y="2880976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70"/>
            <p:cNvSpPr/>
            <p:nvPr/>
          </p:nvSpPr>
          <p:spPr>
            <a:xfrm flipH="1" rot="-3598878">
              <a:off x="320628" y="2880857"/>
              <a:ext cx="973250" cy="97325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0"/>
            <p:cNvSpPr/>
            <p:nvPr/>
          </p:nvSpPr>
          <p:spPr>
            <a:xfrm flipH="1" rot="-7198369">
              <a:off x="320972" y="2880930"/>
              <a:ext cx="972800" cy="9728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2" name="Google Shape;882;p70"/>
            <p:cNvGrpSpPr/>
            <p:nvPr/>
          </p:nvGrpSpPr>
          <p:grpSpPr>
            <a:xfrm>
              <a:off x="374923" y="2960977"/>
              <a:ext cx="866777" cy="812428"/>
              <a:chOff x="374923" y="2960977"/>
              <a:chExt cx="866777" cy="812428"/>
            </a:xfrm>
          </p:grpSpPr>
          <p:sp>
            <p:nvSpPr>
              <p:cNvPr id="883" name="Google Shape;883;p70"/>
              <p:cNvSpPr txBox="1"/>
              <p:nvPr/>
            </p:nvSpPr>
            <p:spPr>
              <a:xfrm>
                <a:off x="837691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4" name="Google Shape;884;p70"/>
              <p:cNvSpPr txBox="1"/>
              <p:nvPr/>
            </p:nvSpPr>
            <p:spPr>
              <a:xfrm>
                <a:off x="1006801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5" name="Google Shape;885;p70"/>
              <p:cNvSpPr txBox="1"/>
              <p:nvPr/>
            </p:nvSpPr>
            <p:spPr>
              <a:xfrm>
                <a:off x="837691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6" name="Google Shape;886;p70"/>
              <p:cNvSpPr txBox="1"/>
              <p:nvPr/>
            </p:nvSpPr>
            <p:spPr>
              <a:xfrm flipH="1">
                <a:off x="544033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7" name="Google Shape;887;p70"/>
              <p:cNvSpPr txBox="1"/>
              <p:nvPr/>
            </p:nvSpPr>
            <p:spPr>
              <a:xfrm flipH="1">
                <a:off x="374923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8" name="Google Shape;888;p70"/>
              <p:cNvSpPr txBox="1"/>
              <p:nvPr/>
            </p:nvSpPr>
            <p:spPr>
              <a:xfrm flipH="1">
                <a:off x="544033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89" name="Google Shape;889;p70"/>
            <p:cNvGrpSpPr/>
            <p:nvPr/>
          </p:nvGrpSpPr>
          <p:grpSpPr>
            <a:xfrm>
              <a:off x="780057" y="2911181"/>
              <a:ext cx="54520" cy="476738"/>
              <a:chOff x="1012152" y="1933239"/>
              <a:chExt cx="42000" cy="367258"/>
            </a:xfrm>
          </p:grpSpPr>
          <p:cxnSp>
            <p:nvCxnSpPr>
              <p:cNvPr id="890" name="Google Shape;890;p70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91" name="Google Shape;891;p70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892" name="Google Shape;89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8115" y="3353199"/>
            <a:ext cx="1020550" cy="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0"/>
          <p:cNvSpPr txBox="1"/>
          <p:nvPr/>
        </p:nvSpPr>
        <p:spPr>
          <a:xfrm>
            <a:off x="7287790" y="3860175"/>
            <a:ext cx="15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0"/>
          <p:cNvSpPr txBox="1"/>
          <p:nvPr/>
        </p:nvSpPr>
        <p:spPr>
          <a:xfrm>
            <a:off x="2547565" y="672050"/>
            <a:ext cx="45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0"/>
          <p:cNvSpPr txBox="1"/>
          <p:nvPr/>
        </p:nvSpPr>
        <p:spPr>
          <a:xfrm>
            <a:off x="338225" y="2223250"/>
            <a:ext cx="694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are correct for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6" name="Google Shape;896;p70"/>
          <p:cNvGrpSpPr/>
          <p:nvPr/>
        </p:nvGrpSpPr>
        <p:grpSpPr>
          <a:xfrm>
            <a:off x="790788" y="2623810"/>
            <a:ext cx="433200" cy="277200"/>
            <a:chOff x="4193788" y="2215950"/>
            <a:chExt cx="433200" cy="277200"/>
          </a:xfrm>
        </p:grpSpPr>
        <p:sp>
          <p:nvSpPr>
            <p:cNvPr id="897" name="Google Shape;897;p70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98" name="Google Shape;898;p70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899" name="Google Shape;899;p7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0" name="Google Shape;900;p7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01" name="Google Shape;901;p70"/>
          <p:cNvSpPr txBox="1"/>
          <p:nvPr/>
        </p:nvSpPr>
        <p:spPr>
          <a:xfrm>
            <a:off x="1196500" y="2623800"/>
            <a:ext cx="57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efficiently shows there are four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70"/>
          <p:cNvGrpSpPr/>
          <p:nvPr/>
        </p:nvGrpSpPr>
        <p:grpSpPr>
          <a:xfrm>
            <a:off x="790788" y="3100560"/>
            <a:ext cx="433200" cy="277200"/>
            <a:chOff x="4193788" y="2215950"/>
            <a:chExt cx="433200" cy="277200"/>
          </a:xfrm>
        </p:grpSpPr>
        <p:sp>
          <p:nvSpPr>
            <p:cNvPr id="903" name="Google Shape;903;p70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04" name="Google Shape;904;p70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05" name="Google Shape;905;p7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6" name="Google Shape;906;p7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07" name="Google Shape;907;p70"/>
          <p:cNvSpPr txBox="1"/>
          <p:nvPr/>
        </p:nvSpPr>
        <p:spPr>
          <a:xfrm>
            <a:off x="1196500" y="3577300"/>
            <a:ext cx="57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the quicker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construct.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8" name="Google Shape;908;p70"/>
          <p:cNvGrpSpPr/>
          <p:nvPr/>
        </p:nvGrpSpPr>
        <p:grpSpPr>
          <a:xfrm>
            <a:off x="790788" y="3577310"/>
            <a:ext cx="433200" cy="277200"/>
            <a:chOff x="4193788" y="2215950"/>
            <a:chExt cx="433200" cy="277200"/>
          </a:xfrm>
        </p:grpSpPr>
        <p:sp>
          <p:nvSpPr>
            <p:cNvPr id="909" name="Google Shape;909;p70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10" name="Google Shape;910;p70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11" name="Google Shape;911;p7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2" name="Google Shape;912;p7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13" name="Google Shape;913;p70"/>
          <p:cNvSpPr txBox="1"/>
          <p:nvPr/>
        </p:nvSpPr>
        <p:spPr>
          <a:xfrm>
            <a:off x="1196500" y="4054050"/>
            <a:ext cx="57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most common outcomes are equally likely.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4" name="Google Shape;914;p70"/>
          <p:cNvGrpSpPr/>
          <p:nvPr/>
        </p:nvGrpSpPr>
        <p:grpSpPr>
          <a:xfrm>
            <a:off x="790788" y="4054060"/>
            <a:ext cx="433200" cy="277200"/>
            <a:chOff x="4193788" y="2215950"/>
            <a:chExt cx="433200" cy="277200"/>
          </a:xfrm>
        </p:grpSpPr>
        <p:sp>
          <p:nvSpPr>
            <p:cNvPr id="915" name="Google Shape;915;p70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16" name="Google Shape;916;p70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17" name="Google Shape;917;p7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8" name="Google Shape;918;p70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919" name="Google Shape;91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558" y="30296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558" y="39831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1" name="Google Shape;921;p70"/>
          <p:cNvGraphicFramePr/>
          <p:nvPr/>
        </p:nvGraphicFramePr>
        <p:xfrm>
          <a:off x="2547563" y="94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43725"/>
                <a:gridCol w="643725"/>
                <a:gridCol w="643725"/>
                <a:gridCol w="643725"/>
                <a:gridCol w="643725"/>
                <a:gridCol w="643725"/>
                <a:gridCol w="643725"/>
              </a:tblGrid>
              <a:tr h="32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22" name="Google Shape;922;p70"/>
          <p:cNvGraphicFramePr/>
          <p:nvPr/>
        </p:nvGraphicFramePr>
        <p:xfrm>
          <a:off x="323988" y="94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43725"/>
                <a:gridCol w="643725"/>
                <a:gridCol w="643725"/>
              </a:tblGrid>
              <a:tr h="32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3" name="Google Shape;923;p70"/>
          <p:cNvSpPr txBox="1"/>
          <p:nvPr/>
        </p:nvSpPr>
        <p:spPr>
          <a:xfrm>
            <a:off x="321832" y="672050"/>
            <a:ext cx="193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able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pSp>
        <p:nvGrpSpPr>
          <p:cNvPr id="929" name="Google Shape;929;p71"/>
          <p:cNvGrpSpPr/>
          <p:nvPr/>
        </p:nvGrpSpPr>
        <p:grpSpPr>
          <a:xfrm>
            <a:off x="7413642" y="1453832"/>
            <a:ext cx="1329600" cy="1464343"/>
            <a:chOff x="142453" y="2702682"/>
            <a:chExt cx="1329600" cy="1464343"/>
          </a:xfrm>
        </p:grpSpPr>
        <p:sp>
          <p:nvSpPr>
            <p:cNvPr id="930" name="Google Shape;930;p71"/>
            <p:cNvSpPr txBox="1"/>
            <p:nvPr/>
          </p:nvSpPr>
          <p:spPr>
            <a:xfrm>
              <a:off x="239025" y="3889825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71"/>
            <p:cNvSpPr/>
            <p:nvPr/>
          </p:nvSpPr>
          <p:spPr>
            <a:xfrm flipH="1">
              <a:off x="320808" y="2880856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71"/>
            <p:cNvSpPr/>
            <p:nvPr/>
          </p:nvSpPr>
          <p:spPr>
            <a:xfrm flipH="1" rot="3600183">
              <a:off x="321047" y="2880894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71"/>
            <p:cNvSpPr/>
            <p:nvPr/>
          </p:nvSpPr>
          <p:spPr>
            <a:xfrm flipH="1" rot="10800000">
              <a:off x="320981" y="2880745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71"/>
            <p:cNvSpPr/>
            <p:nvPr/>
          </p:nvSpPr>
          <p:spPr>
            <a:xfrm flipH="1" rot="7199817">
              <a:off x="320898" y="2880976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71"/>
            <p:cNvSpPr/>
            <p:nvPr/>
          </p:nvSpPr>
          <p:spPr>
            <a:xfrm flipH="1" rot="-3598878">
              <a:off x="320628" y="2880857"/>
              <a:ext cx="973250" cy="97325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71"/>
            <p:cNvSpPr/>
            <p:nvPr/>
          </p:nvSpPr>
          <p:spPr>
            <a:xfrm flipH="1" rot="-7198369">
              <a:off x="320972" y="2880930"/>
              <a:ext cx="972800" cy="9728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7" name="Google Shape;937;p71"/>
            <p:cNvGrpSpPr/>
            <p:nvPr/>
          </p:nvGrpSpPr>
          <p:grpSpPr>
            <a:xfrm>
              <a:off x="374923" y="2960977"/>
              <a:ext cx="866777" cy="812428"/>
              <a:chOff x="374923" y="2960977"/>
              <a:chExt cx="866777" cy="812428"/>
            </a:xfrm>
          </p:grpSpPr>
          <p:sp>
            <p:nvSpPr>
              <p:cNvPr id="938" name="Google Shape;938;p71"/>
              <p:cNvSpPr txBox="1"/>
              <p:nvPr/>
            </p:nvSpPr>
            <p:spPr>
              <a:xfrm>
                <a:off x="837691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39" name="Google Shape;939;p71"/>
              <p:cNvSpPr txBox="1"/>
              <p:nvPr/>
            </p:nvSpPr>
            <p:spPr>
              <a:xfrm>
                <a:off x="1006801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0" name="Google Shape;940;p71"/>
              <p:cNvSpPr txBox="1"/>
              <p:nvPr/>
            </p:nvSpPr>
            <p:spPr>
              <a:xfrm>
                <a:off x="837691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1" name="Google Shape;941;p71"/>
              <p:cNvSpPr txBox="1"/>
              <p:nvPr/>
            </p:nvSpPr>
            <p:spPr>
              <a:xfrm flipH="1">
                <a:off x="544033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2" name="Google Shape;942;p71"/>
              <p:cNvSpPr txBox="1"/>
              <p:nvPr/>
            </p:nvSpPr>
            <p:spPr>
              <a:xfrm flipH="1">
                <a:off x="374923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3" name="Google Shape;943;p71"/>
              <p:cNvSpPr txBox="1"/>
              <p:nvPr/>
            </p:nvSpPr>
            <p:spPr>
              <a:xfrm flipH="1">
                <a:off x="544033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0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44" name="Google Shape;944;p71"/>
            <p:cNvGrpSpPr/>
            <p:nvPr/>
          </p:nvGrpSpPr>
          <p:grpSpPr>
            <a:xfrm>
              <a:off x="780057" y="2911181"/>
              <a:ext cx="54520" cy="476738"/>
              <a:chOff x="1012152" y="1933239"/>
              <a:chExt cx="42000" cy="367258"/>
            </a:xfrm>
          </p:grpSpPr>
          <p:cxnSp>
            <p:nvCxnSpPr>
              <p:cNvPr id="945" name="Google Shape;945;p71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46" name="Google Shape;946;p71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947" name="Google Shape;94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8115" y="3353199"/>
            <a:ext cx="1020550" cy="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1"/>
          <p:cNvSpPr txBox="1"/>
          <p:nvPr/>
        </p:nvSpPr>
        <p:spPr>
          <a:xfrm>
            <a:off x="7287790" y="3860175"/>
            <a:ext cx="15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1"/>
          <p:cNvSpPr txBox="1"/>
          <p:nvPr/>
        </p:nvSpPr>
        <p:spPr>
          <a:xfrm>
            <a:off x="321832" y="672050"/>
            <a:ext cx="193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1"/>
          <p:cNvSpPr txBox="1"/>
          <p:nvPr/>
        </p:nvSpPr>
        <p:spPr>
          <a:xfrm>
            <a:off x="2547565" y="672050"/>
            <a:ext cx="45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1"/>
          <p:cNvSpPr txBox="1"/>
          <p:nvPr/>
        </p:nvSpPr>
        <p:spPr>
          <a:xfrm>
            <a:off x="338225" y="2223250"/>
            <a:ext cx="694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two statements are correct for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52" name="Google Shape;952;p71"/>
          <p:cNvGrpSpPr/>
          <p:nvPr/>
        </p:nvGrpSpPr>
        <p:grpSpPr>
          <a:xfrm>
            <a:off x="790788" y="2623810"/>
            <a:ext cx="433200" cy="277200"/>
            <a:chOff x="4193788" y="2215950"/>
            <a:chExt cx="433200" cy="277200"/>
          </a:xfrm>
        </p:grpSpPr>
        <p:sp>
          <p:nvSpPr>
            <p:cNvPr id="953" name="Google Shape;953;p71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54" name="Google Shape;954;p71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55" name="Google Shape;955;p7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6" name="Google Shape;956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57" name="Google Shape;957;p71"/>
          <p:cNvSpPr txBox="1"/>
          <p:nvPr/>
        </p:nvSpPr>
        <p:spPr>
          <a:xfrm>
            <a:off x="1196500" y="2623800"/>
            <a:ext cx="57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efficiently shows there are four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1"/>
          <p:cNvSpPr txBox="1"/>
          <p:nvPr/>
        </p:nvSpPr>
        <p:spPr>
          <a:xfrm>
            <a:off x="1196500" y="3577300"/>
            <a:ext cx="578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the quicker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construct.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9" name="Google Shape;959;p71"/>
          <p:cNvGrpSpPr/>
          <p:nvPr/>
        </p:nvGrpSpPr>
        <p:grpSpPr>
          <a:xfrm>
            <a:off x="790788" y="3577310"/>
            <a:ext cx="433200" cy="277200"/>
            <a:chOff x="4193788" y="2215950"/>
            <a:chExt cx="433200" cy="277200"/>
          </a:xfrm>
        </p:grpSpPr>
        <p:sp>
          <p:nvSpPr>
            <p:cNvPr id="960" name="Google Shape;960;p71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61" name="Google Shape;961;p71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962" name="Google Shape;962;p7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3" name="Google Shape;963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aphicFrame>
        <p:nvGraphicFramePr>
          <p:cNvPr id="964" name="Google Shape;964;p71"/>
          <p:cNvGraphicFramePr/>
          <p:nvPr/>
        </p:nvGraphicFramePr>
        <p:xfrm>
          <a:off x="2547563" y="94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43725"/>
                <a:gridCol w="643725"/>
                <a:gridCol w="643725"/>
                <a:gridCol w="643725"/>
                <a:gridCol w="643725"/>
                <a:gridCol w="643725"/>
                <a:gridCol w="643725"/>
              </a:tblGrid>
              <a:tr h="32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65" name="Google Shape;965;p71"/>
          <p:cNvGraphicFramePr/>
          <p:nvPr/>
        </p:nvGraphicFramePr>
        <p:xfrm>
          <a:off x="323988" y="94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43725"/>
                <a:gridCol w="643725"/>
                <a:gridCol w="643725"/>
              </a:tblGrid>
              <a:tr h="32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pSp>
        <p:nvGrpSpPr>
          <p:cNvPr id="971" name="Google Shape;971;p72"/>
          <p:cNvGrpSpPr/>
          <p:nvPr/>
        </p:nvGrpSpPr>
        <p:grpSpPr>
          <a:xfrm>
            <a:off x="7413642" y="2362032"/>
            <a:ext cx="1329600" cy="1464343"/>
            <a:chOff x="142453" y="2702682"/>
            <a:chExt cx="1329600" cy="1464343"/>
          </a:xfrm>
        </p:grpSpPr>
        <p:sp>
          <p:nvSpPr>
            <p:cNvPr id="972" name="Google Shape;972;p72"/>
            <p:cNvSpPr txBox="1"/>
            <p:nvPr/>
          </p:nvSpPr>
          <p:spPr>
            <a:xfrm>
              <a:off x="239025" y="3889825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3" name="Google Shape;973;p72"/>
            <p:cNvSpPr/>
            <p:nvPr/>
          </p:nvSpPr>
          <p:spPr>
            <a:xfrm flipH="1">
              <a:off x="320808" y="2880856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72"/>
            <p:cNvSpPr/>
            <p:nvPr/>
          </p:nvSpPr>
          <p:spPr>
            <a:xfrm flipH="1" rot="3600183">
              <a:off x="321047" y="2880894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72"/>
            <p:cNvSpPr/>
            <p:nvPr/>
          </p:nvSpPr>
          <p:spPr>
            <a:xfrm flipH="1" rot="10800000">
              <a:off x="320981" y="2880745"/>
              <a:ext cx="972900" cy="9729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72"/>
            <p:cNvSpPr/>
            <p:nvPr/>
          </p:nvSpPr>
          <p:spPr>
            <a:xfrm flipH="1" rot="7199817">
              <a:off x="320898" y="2880976"/>
              <a:ext cx="972690" cy="9726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72"/>
            <p:cNvSpPr/>
            <p:nvPr/>
          </p:nvSpPr>
          <p:spPr>
            <a:xfrm flipH="1" rot="-3598878">
              <a:off x="320628" y="2880857"/>
              <a:ext cx="973250" cy="97325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72"/>
            <p:cNvSpPr/>
            <p:nvPr/>
          </p:nvSpPr>
          <p:spPr>
            <a:xfrm flipH="1" rot="-7198369">
              <a:off x="320972" y="2880930"/>
              <a:ext cx="972800" cy="9728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9" name="Google Shape;979;p72"/>
            <p:cNvGrpSpPr/>
            <p:nvPr/>
          </p:nvGrpSpPr>
          <p:grpSpPr>
            <a:xfrm>
              <a:off x="374923" y="2960977"/>
              <a:ext cx="866777" cy="812428"/>
              <a:chOff x="374923" y="2960977"/>
              <a:chExt cx="866777" cy="812428"/>
            </a:xfrm>
          </p:grpSpPr>
          <p:sp>
            <p:nvSpPr>
              <p:cNvPr id="980" name="Google Shape;980;p72"/>
              <p:cNvSpPr txBox="1"/>
              <p:nvPr/>
            </p:nvSpPr>
            <p:spPr>
              <a:xfrm>
                <a:off x="837691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1" name="Google Shape;981;p72"/>
              <p:cNvSpPr txBox="1"/>
              <p:nvPr/>
            </p:nvSpPr>
            <p:spPr>
              <a:xfrm>
                <a:off x="1006801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2" name="Google Shape;982;p72"/>
              <p:cNvSpPr txBox="1"/>
              <p:nvPr/>
            </p:nvSpPr>
            <p:spPr>
              <a:xfrm>
                <a:off x="837691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3" name="Google Shape;983;p72"/>
              <p:cNvSpPr txBox="1"/>
              <p:nvPr/>
            </p:nvSpPr>
            <p:spPr>
              <a:xfrm flipH="1">
                <a:off x="544033" y="2960977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4" name="Google Shape;984;p72"/>
              <p:cNvSpPr txBox="1"/>
              <p:nvPr/>
            </p:nvSpPr>
            <p:spPr>
              <a:xfrm flipH="1">
                <a:off x="374923" y="3233092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85" name="Google Shape;985;p72"/>
              <p:cNvSpPr txBox="1"/>
              <p:nvPr/>
            </p:nvSpPr>
            <p:spPr>
              <a:xfrm flipH="1">
                <a:off x="544033" y="3505206"/>
                <a:ext cx="234900" cy="26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86" name="Google Shape;986;p72"/>
            <p:cNvGrpSpPr/>
            <p:nvPr/>
          </p:nvGrpSpPr>
          <p:grpSpPr>
            <a:xfrm>
              <a:off x="780057" y="2911181"/>
              <a:ext cx="54520" cy="476738"/>
              <a:chOff x="1012152" y="1933239"/>
              <a:chExt cx="42000" cy="367258"/>
            </a:xfrm>
          </p:grpSpPr>
          <p:cxnSp>
            <p:nvCxnSpPr>
              <p:cNvPr id="987" name="Google Shape;987;p72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88" name="Google Shape;988;p72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9" name="Google Shape;989;p72"/>
          <p:cNvGrpSpPr/>
          <p:nvPr/>
        </p:nvGrpSpPr>
        <p:grpSpPr>
          <a:xfrm>
            <a:off x="7426532" y="609548"/>
            <a:ext cx="1320300" cy="1459691"/>
            <a:chOff x="7418490" y="1474216"/>
            <a:chExt cx="1320300" cy="1459691"/>
          </a:xfrm>
        </p:grpSpPr>
        <p:sp>
          <p:nvSpPr>
            <p:cNvPr id="990" name="Google Shape;990;p72"/>
            <p:cNvSpPr txBox="1"/>
            <p:nvPr/>
          </p:nvSpPr>
          <p:spPr>
            <a:xfrm>
              <a:off x="7510682" y="2656707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91" name="Google Shape;991;p72"/>
            <p:cNvGrpSpPr/>
            <p:nvPr/>
          </p:nvGrpSpPr>
          <p:grpSpPr>
            <a:xfrm>
              <a:off x="7418490" y="1474216"/>
              <a:ext cx="1320300" cy="1320300"/>
              <a:chOff x="146832" y="518450"/>
              <a:chExt cx="1320300" cy="1320300"/>
            </a:xfrm>
          </p:grpSpPr>
          <p:sp>
            <p:nvSpPr>
              <p:cNvPr id="992" name="Google Shape;992;p72"/>
              <p:cNvSpPr/>
              <p:nvPr/>
            </p:nvSpPr>
            <p:spPr>
              <a:xfrm flipH="1">
                <a:off x="323915" y="695491"/>
                <a:ext cx="966300" cy="966300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72"/>
              <p:cNvSpPr/>
              <p:nvPr/>
            </p:nvSpPr>
            <p:spPr>
              <a:xfrm flipH="1" rot="7200178">
                <a:off x="323726" y="695344"/>
                <a:ext cx="966513" cy="966513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CC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72"/>
              <p:cNvSpPr/>
              <p:nvPr/>
            </p:nvSpPr>
            <p:spPr>
              <a:xfrm>
                <a:off x="323953" y="695491"/>
                <a:ext cx="966300" cy="966300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5" name="Google Shape;995;p72"/>
            <p:cNvGrpSpPr/>
            <p:nvPr/>
          </p:nvGrpSpPr>
          <p:grpSpPr>
            <a:xfrm>
              <a:off x="8050457" y="1688046"/>
              <a:ext cx="54300" cy="473780"/>
              <a:chOff x="779080" y="747789"/>
              <a:chExt cx="54300" cy="473780"/>
            </a:xfrm>
          </p:grpSpPr>
          <p:cxnSp>
            <p:nvCxnSpPr>
              <p:cNvPr id="996" name="Google Shape;996;p72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97" name="Google Shape;997;p72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8" name="Google Shape;998;p72"/>
            <p:cNvSpPr txBox="1"/>
            <p:nvPr/>
          </p:nvSpPr>
          <p:spPr>
            <a:xfrm flipH="1">
              <a:off x="7912877" y="2249898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72"/>
            <p:cNvSpPr txBox="1"/>
            <p:nvPr/>
          </p:nvSpPr>
          <p:spPr>
            <a:xfrm flipH="1">
              <a:off x="7713337" y="18659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2"/>
            <p:cNvSpPr txBox="1"/>
            <p:nvPr/>
          </p:nvSpPr>
          <p:spPr>
            <a:xfrm flipH="1">
              <a:off x="8114562" y="18659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1" name="Google Shape;1001;p72"/>
          <p:cNvGrpSpPr/>
          <p:nvPr/>
        </p:nvGrpSpPr>
        <p:grpSpPr>
          <a:xfrm flipH="1">
            <a:off x="324000" y="765792"/>
            <a:ext cx="676200" cy="1040525"/>
            <a:chOff x="8137196" y="1935832"/>
            <a:chExt cx="676200" cy="1040525"/>
          </a:xfrm>
        </p:grpSpPr>
        <p:pic>
          <p:nvPicPr>
            <p:cNvPr id="1002" name="Google Shape;1002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72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4" name="Google Shape;1004;p72"/>
          <p:cNvSpPr txBox="1"/>
          <p:nvPr/>
        </p:nvSpPr>
        <p:spPr>
          <a:xfrm>
            <a:off x="1249650" y="815825"/>
            <a:ext cx="4839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plays a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will spin both spinners once each, and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multiply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outcomes of each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outcome is a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prime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number, Jun wins a prize.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outcome isn’t a prime number, he wins nothing.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aphicFrame>
        <p:nvGraphicFramePr>
          <p:cNvPr id="1010" name="Google Shape;1010;p73"/>
          <p:cNvGraphicFramePr/>
          <p:nvPr/>
        </p:nvGraphicFramePr>
        <p:xfrm>
          <a:off x="324000" y="259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57425"/>
                <a:gridCol w="757425"/>
                <a:gridCol w="757425"/>
                <a:gridCol w="757425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1" name="Google Shape;1011;p73"/>
          <p:cNvGraphicFramePr/>
          <p:nvPr/>
        </p:nvGraphicFramePr>
        <p:xfrm>
          <a:off x="324000" y="96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57425"/>
                <a:gridCol w="757425"/>
                <a:gridCol w="757425"/>
                <a:gridCol w="757425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12" name="Google Shape;1012;p73"/>
          <p:cNvSpPr txBox="1"/>
          <p:nvPr/>
        </p:nvSpPr>
        <p:spPr>
          <a:xfrm>
            <a:off x="324075" y="2319850"/>
            <a:ext cx="30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3"/>
          <p:cNvSpPr txBox="1"/>
          <p:nvPr/>
        </p:nvSpPr>
        <p:spPr>
          <a:xfrm>
            <a:off x="3597525" y="1730225"/>
            <a:ext cx="5222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most appropriate for the purpose of Jun’s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Select the correct justification for your choice.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4" name="Google Shape;1014;p73"/>
          <p:cNvGrpSpPr/>
          <p:nvPr/>
        </p:nvGrpSpPr>
        <p:grpSpPr>
          <a:xfrm>
            <a:off x="4320000" y="2419000"/>
            <a:ext cx="1465500" cy="381000"/>
            <a:chOff x="4586650" y="2373925"/>
            <a:chExt cx="1465500" cy="381000"/>
          </a:xfrm>
        </p:grpSpPr>
        <p:sp>
          <p:nvSpPr>
            <p:cNvPr id="1015" name="Google Shape;1015;p73"/>
            <p:cNvSpPr/>
            <p:nvPr/>
          </p:nvSpPr>
          <p:spPr>
            <a:xfrm>
              <a:off x="4586650" y="2373925"/>
              <a:ext cx="1465500" cy="381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table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73"/>
            <p:cNvSpPr/>
            <p:nvPr/>
          </p:nvSpPr>
          <p:spPr>
            <a:xfrm>
              <a:off x="4586650" y="2373925"/>
              <a:ext cx="381000" cy="381000"/>
            </a:xfrm>
            <a:prstGeom prst="ellipse">
              <a:avLst/>
            </a:prstGeom>
            <a:solidFill>
              <a:srgbClr val="845A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73"/>
          <p:cNvGrpSpPr/>
          <p:nvPr/>
        </p:nvGrpSpPr>
        <p:grpSpPr>
          <a:xfrm>
            <a:off x="6582875" y="2419000"/>
            <a:ext cx="1465500" cy="381000"/>
            <a:chOff x="4586650" y="2373925"/>
            <a:chExt cx="1465500" cy="381000"/>
          </a:xfrm>
        </p:grpSpPr>
        <p:sp>
          <p:nvSpPr>
            <p:cNvPr id="1018" name="Google Shape;1018;p73"/>
            <p:cNvSpPr/>
            <p:nvPr/>
          </p:nvSpPr>
          <p:spPr>
            <a:xfrm>
              <a:off x="4586650" y="2373925"/>
              <a:ext cx="1465500" cy="381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   table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3"/>
            <p:cNvSpPr/>
            <p:nvPr/>
          </p:nvSpPr>
          <p:spPr>
            <a:xfrm>
              <a:off x="4586650" y="2373925"/>
              <a:ext cx="381000" cy="381000"/>
            </a:xfrm>
            <a:prstGeom prst="ellipse">
              <a:avLst/>
            </a:prstGeom>
            <a:solidFill>
              <a:srgbClr val="845AD9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73"/>
          <p:cNvGrpSpPr/>
          <p:nvPr/>
        </p:nvGrpSpPr>
        <p:grpSpPr>
          <a:xfrm>
            <a:off x="3686388" y="3506097"/>
            <a:ext cx="433200" cy="277200"/>
            <a:chOff x="4193788" y="2215950"/>
            <a:chExt cx="433200" cy="277200"/>
          </a:xfrm>
        </p:grpSpPr>
        <p:sp>
          <p:nvSpPr>
            <p:cNvPr id="1021" name="Google Shape;1021;p73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22" name="Google Shape;1022;p73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023" name="Google Shape;1023;p7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4" name="Google Shape;1024;p73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025" name="Google Shape;1025;p73"/>
          <p:cNvSpPr txBox="1"/>
          <p:nvPr/>
        </p:nvSpPr>
        <p:spPr>
          <a:xfrm>
            <a:off x="4092100" y="3506075"/>
            <a:ext cx="472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table shows how likely Jun is to win.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73"/>
          <p:cNvGrpSpPr/>
          <p:nvPr/>
        </p:nvGrpSpPr>
        <p:grpSpPr>
          <a:xfrm>
            <a:off x="3686388" y="3918941"/>
            <a:ext cx="433200" cy="277200"/>
            <a:chOff x="4193788" y="2215950"/>
            <a:chExt cx="433200" cy="277200"/>
          </a:xfrm>
        </p:grpSpPr>
        <p:sp>
          <p:nvSpPr>
            <p:cNvPr id="1027" name="Google Shape;1027;p73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28" name="Google Shape;1028;p73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029" name="Google Shape;1029;p7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0" name="Google Shape;1030;p73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031" name="Google Shape;1031;p73"/>
          <p:cNvSpPr txBox="1"/>
          <p:nvPr/>
        </p:nvSpPr>
        <p:spPr>
          <a:xfrm>
            <a:off x="4092100" y="3918919"/>
            <a:ext cx="472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efficiently shows all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0308" y="23836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8" y="3848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73"/>
          <p:cNvSpPr txBox="1"/>
          <p:nvPr/>
        </p:nvSpPr>
        <p:spPr>
          <a:xfrm>
            <a:off x="3597525" y="788850"/>
            <a:ext cx="522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wants to construct 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see whether it is possible for him to win the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3"/>
          <p:cNvSpPr txBox="1"/>
          <p:nvPr/>
        </p:nvSpPr>
        <p:spPr>
          <a:xfrm>
            <a:off x="324075" y="684475"/>
            <a:ext cx="30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4"/>
          <p:cNvSpPr txBox="1"/>
          <p:nvPr/>
        </p:nvSpPr>
        <p:spPr>
          <a:xfrm>
            <a:off x="3597525" y="1273025"/>
            <a:ext cx="52224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wants to see whether it is possible to win.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does not care how likely it is that he wins.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Table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 shows all the unique outcomes, and none of them are prime numbers.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Therefore, it is not possible for Jun to win.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was no need to list all the individual outcomes in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table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1" name="Google Shape;104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aphicFrame>
        <p:nvGraphicFramePr>
          <p:cNvPr id="1042" name="Google Shape;1042;p74"/>
          <p:cNvGraphicFramePr/>
          <p:nvPr/>
        </p:nvGraphicFramePr>
        <p:xfrm>
          <a:off x="324000" y="259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57425"/>
                <a:gridCol w="757425"/>
                <a:gridCol w="757425"/>
                <a:gridCol w="757425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3" name="Google Shape;1043;p74"/>
          <p:cNvGraphicFramePr/>
          <p:nvPr/>
        </p:nvGraphicFramePr>
        <p:xfrm>
          <a:off x="324000" y="96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57425"/>
                <a:gridCol w="757425"/>
                <a:gridCol w="757425"/>
                <a:gridCol w="757425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4" name="Google Shape;1044;p74"/>
          <p:cNvSpPr txBox="1"/>
          <p:nvPr/>
        </p:nvSpPr>
        <p:spPr>
          <a:xfrm>
            <a:off x="324075" y="684475"/>
            <a:ext cx="30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4"/>
          <p:cNvSpPr txBox="1"/>
          <p:nvPr/>
        </p:nvSpPr>
        <p:spPr>
          <a:xfrm>
            <a:off x="324075" y="2319850"/>
            <a:ext cx="30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table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75"/>
          <p:cNvSpPr txBox="1"/>
          <p:nvPr/>
        </p:nvSpPr>
        <p:spPr>
          <a:xfrm>
            <a:off x="338225" y="664350"/>
            <a:ext cx="2867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Alex will spin this spinner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to list all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cxnSp>
        <p:nvCxnSpPr>
          <p:cNvPr id="1052" name="Google Shape;1052;p75"/>
          <p:cNvCxnSpPr/>
          <p:nvPr/>
        </p:nvCxnSpPr>
        <p:spPr>
          <a:xfrm>
            <a:off x="4572000" y="570725"/>
            <a:ext cx="0" cy="4256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3" name="Google Shape;1053;p75"/>
          <p:cNvGrpSpPr/>
          <p:nvPr/>
        </p:nvGrpSpPr>
        <p:grpSpPr>
          <a:xfrm>
            <a:off x="3320500" y="666100"/>
            <a:ext cx="1136400" cy="1282650"/>
            <a:chOff x="3091900" y="742300"/>
            <a:chExt cx="1136400" cy="1282650"/>
          </a:xfrm>
        </p:grpSpPr>
        <p:sp>
          <p:nvSpPr>
            <p:cNvPr id="1054" name="Google Shape;1054;p75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75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75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75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75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9" name="Google Shape;1059;p75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060" name="Google Shape;1060;p75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61" name="Google Shape;1061;p75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2" name="Google Shape;1062;p75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5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75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5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6" name="Google Shape;1066;p75"/>
          <p:cNvSpPr txBox="1"/>
          <p:nvPr/>
        </p:nvSpPr>
        <p:spPr>
          <a:xfrm>
            <a:off x="4687100" y="664350"/>
            <a:ext cx="2996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will spin spinner 2 and spinner 3 once each, and find the product of the numbers the spinners land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7" name="Google Shape;1067;p75"/>
          <p:cNvGraphicFramePr/>
          <p:nvPr/>
        </p:nvGraphicFramePr>
        <p:xfrm>
          <a:off x="915350" y="238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27925"/>
                <a:gridCol w="627925"/>
                <a:gridCol w="627925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68" name="Google Shape;1068;p75"/>
          <p:cNvSpPr txBox="1"/>
          <p:nvPr/>
        </p:nvSpPr>
        <p:spPr>
          <a:xfrm>
            <a:off x="338225" y="3488850"/>
            <a:ext cx="398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Construct your own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table which shows the most likely outcome.</a:t>
            </a:r>
            <a:endParaRPr i="1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5"/>
          <p:cNvSpPr txBox="1"/>
          <p:nvPr/>
        </p:nvSpPr>
        <p:spPr>
          <a:xfrm>
            <a:off x="4687100" y="3625408"/>
            <a:ext cx="379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second outcome table.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Starting with the least likely outcome, rank the outcomes in order of likelihood.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0" name="Google Shape;1070;p75"/>
          <p:cNvGrpSpPr/>
          <p:nvPr/>
        </p:nvGrpSpPr>
        <p:grpSpPr>
          <a:xfrm>
            <a:off x="7683600" y="666100"/>
            <a:ext cx="1136400" cy="1282650"/>
            <a:chOff x="3091900" y="742300"/>
            <a:chExt cx="1136400" cy="1282650"/>
          </a:xfrm>
        </p:grpSpPr>
        <p:sp>
          <p:nvSpPr>
            <p:cNvPr id="1071" name="Google Shape;1071;p75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5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75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75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75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6" name="Google Shape;1076;p75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077" name="Google Shape;1077;p75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78" name="Google Shape;1078;p75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9" name="Google Shape;1079;p75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75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75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75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3" name="Google Shape;1083;p75"/>
          <p:cNvGrpSpPr/>
          <p:nvPr/>
        </p:nvGrpSpPr>
        <p:grpSpPr>
          <a:xfrm>
            <a:off x="7585809" y="1933574"/>
            <a:ext cx="1320300" cy="1459691"/>
            <a:chOff x="7418490" y="1474216"/>
            <a:chExt cx="1320300" cy="1459691"/>
          </a:xfrm>
        </p:grpSpPr>
        <p:sp>
          <p:nvSpPr>
            <p:cNvPr id="1084" name="Google Shape;1084;p75"/>
            <p:cNvSpPr txBox="1"/>
            <p:nvPr/>
          </p:nvSpPr>
          <p:spPr>
            <a:xfrm>
              <a:off x="7510682" y="2656707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85" name="Google Shape;1085;p75"/>
            <p:cNvGrpSpPr/>
            <p:nvPr/>
          </p:nvGrpSpPr>
          <p:grpSpPr>
            <a:xfrm>
              <a:off x="7418490" y="1474216"/>
              <a:ext cx="1320300" cy="1320300"/>
              <a:chOff x="146832" y="518450"/>
              <a:chExt cx="1320300" cy="1320300"/>
            </a:xfrm>
          </p:grpSpPr>
          <p:sp>
            <p:nvSpPr>
              <p:cNvPr id="1086" name="Google Shape;1086;p75"/>
              <p:cNvSpPr/>
              <p:nvPr/>
            </p:nvSpPr>
            <p:spPr>
              <a:xfrm flipH="1">
                <a:off x="323915" y="695491"/>
                <a:ext cx="966300" cy="966300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75"/>
              <p:cNvSpPr/>
              <p:nvPr/>
            </p:nvSpPr>
            <p:spPr>
              <a:xfrm flipH="1" rot="7200178">
                <a:off x="323726" y="695344"/>
                <a:ext cx="966513" cy="966513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75"/>
              <p:cNvSpPr/>
              <p:nvPr/>
            </p:nvSpPr>
            <p:spPr>
              <a:xfrm>
                <a:off x="323953" y="695491"/>
                <a:ext cx="966300" cy="966300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9" name="Google Shape;1089;p75"/>
            <p:cNvGrpSpPr/>
            <p:nvPr/>
          </p:nvGrpSpPr>
          <p:grpSpPr>
            <a:xfrm>
              <a:off x="8050457" y="1688046"/>
              <a:ext cx="54300" cy="473780"/>
              <a:chOff x="779080" y="747789"/>
              <a:chExt cx="54300" cy="473780"/>
            </a:xfrm>
          </p:grpSpPr>
          <p:cxnSp>
            <p:nvCxnSpPr>
              <p:cNvPr id="1090" name="Google Shape;1090;p75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91" name="Google Shape;1091;p75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2" name="Google Shape;1092;p75"/>
            <p:cNvSpPr txBox="1"/>
            <p:nvPr/>
          </p:nvSpPr>
          <p:spPr>
            <a:xfrm flipH="1">
              <a:off x="7912877" y="2249898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75"/>
            <p:cNvSpPr txBox="1"/>
            <p:nvPr/>
          </p:nvSpPr>
          <p:spPr>
            <a:xfrm flipH="1">
              <a:off x="7713337" y="18659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75"/>
            <p:cNvSpPr txBox="1"/>
            <p:nvPr/>
          </p:nvSpPr>
          <p:spPr>
            <a:xfrm flipH="1">
              <a:off x="8114562" y="18659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95" name="Google Shape;1095;p75"/>
          <p:cNvGraphicFramePr/>
          <p:nvPr/>
        </p:nvGraphicFramePr>
        <p:xfrm>
          <a:off x="4702250" y="2328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440100"/>
                <a:gridCol w="440100"/>
                <a:gridCol w="440100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96" name="Google Shape;1096;p75"/>
          <p:cNvSpPr txBox="1"/>
          <p:nvPr/>
        </p:nvSpPr>
        <p:spPr>
          <a:xfrm>
            <a:off x="6211100" y="2049750"/>
            <a:ext cx="1502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table to list all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6"/>
          <p:cNvSpPr txBox="1"/>
          <p:nvPr/>
        </p:nvSpPr>
        <p:spPr>
          <a:xfrm>
            <a:off x="338225" y="664350"/>
            <a:ext cx="66717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Sam and Lucas play a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will spin spinner 4 twice and find the sum of the numbers the spinner lands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score is a double-digit number, Sam wins, if the score is either 8 or 9, it’s a draw, and if the score is 7 or less, Lucas wins.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Construct the most efficient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to show it is impossible for Sam and Lucas to draw.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most efficient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table to find whether Sam or Lucas is more likely to win.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pSp>
        <p:nvGrpSpPr>
          <p:cNvPr id="1103" name="Google Shape;1103;p76"/>
          <p:cNvGrpSpPr/>
          <p:nvPr/>
        </p:nvGrpSpPr>
        <p:grpSpPr>
          <a:xfrm>
            <a:off x="7683600" y="666100"/>
            <a:ext cx="1136400" cy="1282650"/>
            <a:chOff x="3091900" y="742300"/>
            <a:chExt cx="1136400" cy="1282650"/>
          </a:xfrm>
        </p:grpSpPr>
        <p:sp>
          <p:nvSpPr>
            <p:cNvPr id="1104" name="Google Shape;1104;p76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76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76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76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76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9" name="Google Shape;1109;p76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110" name="Google Shape;1110;p76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11" name="Google Shape;1111;p76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12" name="Google Shape;1112;p76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76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76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76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77"/>
          <p:cNvSpPr txBox="1"/>
          <p:nvPr/>
        </p:nvSpPr>
        <p:spPr>
          <a:xfrm>
            <a:off x="338225" y="3488850"/>
            <a:ext cx="398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Construct your own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table which shows the most likely outcome.</a:t>
            </a:r>
            <a:endParaRPr i="1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7"/>
          <p:cNvSpPr txBox="1"/>
          <p:nvPr/>
        </p:nvSpPr>
        <p:spPr>
          <a:xfrm>
            <a:off x="338225" y="664350"/>
            <a:ext cx="2867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Alex will spin this spinner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to list all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pSp>
        <p:nvGrpSpPr>
          <p:cNvPr id="1123" name="Google Shape;1123;p77"/>
          <p:cNvGrpSpPr/>
          <p:nvPr/>
        </p:nvGrpSpPr>
        <p:grpSpPr>
          <a:xfrm>
            <a:off x="3320500" y="666100"/>
            <a:ext cx="1136400" cy="1282650"/>
            <a:chOff x="3091900" y="742300"/>
            <a:chExt cx="1136400" cy="1282650"/>
          </a:xfrm>
        </p:grpSpPr>
        <p:sp>
          <p:nvSpPr>
            <p:cNvPr id="1124" name="Google Shape;1124;p77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77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77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77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77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9" name="Google Shape;1129;p77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130" name="Google Shape;1130;p77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31" name="Google Shape;1131;p77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2" name="Google Shape;1132;p77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77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77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77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6" name="Google Shape;1136;p77"/>
          <p:cNvSpPr txBox="1"/>
          <p:nvPr/>
        </p:nvSpPr>
        <p:spPr>
          <a:xfrm>
            <a:off x="4824000" y="3488850"/>
            <a:ext cx="3317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AA is the most likely, appearing 9 times.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 if order didn’t matter, AB only appears 6 times.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37" name="Google Shape;1137;p77"/>
          <p:cNvGraphicFramePr/>
          <p:nvPr/>
        </p:nvGraphicFramePr>
        <p:xfrm>
          <a:off x="915350" y="238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27925"/>
                <a:gridCol w="627925"/>
                <a:gridCol w="627925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38" name="Google Shape;1138;p77"/>
          <p:cNvGraphicFramePr/>
          <p:nvPr/>
        </p:nvGraphicFramePr>
        <p:xfrm>
          <a:off x="4824000" y="151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96375"/>
                <a:gridCol w="796375"/>
                <a:gridCol w="796375"/>
                <a:gridCol w="796375"/>
                <a:gridCol w="7963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BA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BA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BA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AB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BB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sp>
        <p:nvSpPr>
          <p:cNvPr id="1144" name="Google Shape;1144;p78"/>
          <p:cNvSpPr txBox="1"/>
          <p:nvPr/>
        </p:nvSpPr>
        <p:spPr>
          <a:xfrm>
            <a:off x="343700" y="664350"/>
            <a:ext cx="2996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will spin spinner 2 and spinner 3 twice, and find the produc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the numbers the spinners land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8"/>
          <p:cNvSpPr txBox="1"/>
          <p:nvPr/>
        </p:nvSpPr>
        <p:spPr>
          <a:xfrm>
            <a:off x="343700" y="3625408"/>
            <a:ext cx="379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second outcome table.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Starting with the least likely outcome, rank the outcomes in order of likelihood.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6" name="Google Shape;1146;p78"/>
          <p:cNvGrpSpPr/>
          <p:nvPr/>
        </p:nvGrpSpPr>
        <p:grpSpPr>
          <a:xfrm>
            <a:off x="3340200" y="666100"/>
            <a:ext cx="1136400" cy="1282650"/>
            <a:chOff x="3091900" y="742300"/>
            <a:chExt cx="1136400" cy="1282650"/>
          </a:xfrm>
        </p:grpSpPr>
        <p:sp>
          <p:nvSpPr>
            <p:cNvPr id="1147" name="Google Shape;1147;p78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78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78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78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78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2" name="Google Shape;1152;p78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153" name="Google Shape;1153;p78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54" name="Google Shape;1154;p78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5" name="Google Shape;1155;p78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78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78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78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78"/>
          <p:cNvGrpSpPr/>
          <p:nvPr/>
        </p:nvGrpSpPr>
        <p:grpSpPr>
          <a:xfrm>
            <a:off x="3242409" y="1933574"/>
            <a:ext cx="1320300" cy="1459691"/>
            <a:chOff x="7418490" y="1474216"/>
            <a:chExt cx="1320300" cy="1459691"/>
          </a:xfrm>
        </p:grpSpPr>
        <p:sp>
          <p:nvSpPr>
            <p:cNvPr id="1160" name="Google Shape;1160;p78"/>
            <p:cNvSpPr txBox="1"/>
            <p:nvPr/>
          </p:nvSpPr>
          <p:spPr>
            <a:xfrm>
              <a:off x="7510682" y="2656707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61" name="Google Shape;1161;p78"/>
            <p:cNvGrpSpPr/>
            <p:nvPr/>
          </p:nvGrpSpPr>
          <p:grpSpPr>
            <a:xfrm>
              <a:off x="7418490" y="1474216"/>
              <a:ext cx="1320300" cy="1320300"/>
              <a:chOff x="146832" y="518450"/>
              <a:chExt cx="1320300" cy="1320300"/>
            </a:xfrm>
          </p:grpSpPr>
          <p:sp>
            <p:nvSpPr>
              <p:cNvPr id="1162" name="Google Shape;1162;p78"/>
              <p:cNvSpPr/>
              <p:nvPr/>
            </p:nvSpPr>
            <p:spPr>
              <a:xfrm flipH="1">
                <a:off x="323915" y="695491"/>
                <a:ext cx="966300" cy="966300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78"/>
              <p:cNvSpPr/>
              <p:nvPr/>
            </p:nvSpPr>
            <p:spPr>
              <a:xfrm flipH="1" rot="7200178">
                <a:off x="323726" y="695344"/>
                <a:ext cx="966513" cy="966513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78"/>
              <p:cNvSpPr/>
              <p:nvPr/>
            </p:nvSpPr>
            <p:spPr>
              <a:xfrm>
                <a:off x="323953" y="695491"/>
                <a:ext cx="966300" cy="966300"/>
              </a:xfrm>
              <a:prstGeom prst="pie">
                <a:avLst>
                  <a:gd fmla="val 8993067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5" name="Google Shape;1165;p78"/>
            <p:cNvGrpSpPr/>
            <p:nvPr/>
          </p:nvGrpSpPr>
          <p:grpSpPr>
            <a:xfrm>
              <a:off x="8050457" y="1688046"/>
              <a:ext cx="54300" cy="473780"/>
              <a:chOff x="779080" y="747789"/>
              <a:chExt cx="54300" cy="473780"/>
            </a:xfrm>
          </p:grpSpPr>
          <p:cxnSp>
            <p:nvCxnSpPr>
              <p:cNvPr id="1166" name="Google Shape;1166;p78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67" name="Google Shape;1167;p78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8" name="Google Shape;1168;p78"/>
            <p:cNvSpPr txBox="1"/>
            <p:nvPr/>
          </p:nvSpPr>
          <p:spPr>
            <a:xfrm flipH="1">
              <a:off x="7912877" y="2249898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9" name="Google Shape;1169;p78"/>
            <p:cNvSpPr txBox="1"/>
            <p:nvPr/>
          </p:nvSpPr>
          <p:spPr>
            <a:xfrm flipH="1">
              <a:off x="7713337" y="18659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78"/>
            <p:cNvSpPr txBox="1"/>
            <p:nvPr/>
          </p:nvSpPr>
          <p:spPr>
            <a:xfrm flipH="1">
              <a:off x="8114562" y="18659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71" name="Google Shape;1171;p78"/>
          <p:cNvGraphicFramePr/>
          <p:nvPr/>
        </p:nvGraphicFramePr>
        <p:xfrm>
          <a:off x="358850" y="2252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440100"/>
                <a:gridCol w="440100"/>
                <a:gridCol w="440100"/>
              </a:tblGrid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1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2" name="Google Shape;1172;p78"/>
          <p:cNvSpPr txBox="1"/>
          <p:nvPr/>
        </p:nvSpPr>
        <p:spPr>
          <a:xfrm>
            <a:off x="1867700" y="2049750"/>
            <a:ext cx="1502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table to list all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3" name="Google Shape;1173;p78"/>
          <p:cNvGraphicFramePr/>
          <p:nvPr/>
        </p:nvGraphicFramePr>
        <p:xfrm>
          <a:off x="4667400" y="183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99200"/>
                <a:gridCol w="799200"/>
                <a:gridCol w="799200"/>
                <a:gridCol w="799200"/>
                <a:gridCol w="799200"/>
              </a:tblGrid>
              <a:tr h="31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13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3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3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4" name="Google Shape;1174;p78"/>
          <p:cNvSpPr txBox="1"/>
          <p:nvPr/>
        </p:nvSpPr>
        <p:spPr>
          <a:xfrm>
            <a:off x="5219150" y="3565050"/>
            <a:ext cx="344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Order of likelihood: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→ 2 → 12 →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9"/>
          <p:cNvSpPr txBox="1"/>
          <p:nvPr/>
        </p:nvSpPr>
        <p:spPr>
          <a:xfrm>
            <a:off x="338225" y="664350"/>
            <a:ext cx="4688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Sam and Lucas play a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will spin spinner 4 twice and find the sum of the numbers the spinner lands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score is a double-digit number, Sam wins, if the score is either 8 or 9, it’s a draw, and if the score is 7 or less, Lucas wins.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Construct the most efficient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to show it is impossible for Sam and Lucas to draw.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aphicFrame>
        <p:nvGraphicFramePr>
          <p:cNvPr id="1181" name="Google Shape;1181;p79"/>
          <p:cNvGraphicFramePr/>
          <p:nvPr/>
        </p:nvGraphicFramePr>
        <p:xfrm>
          <a:off x="5308000" y="233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574325"/>
                <a:gridCol w="574325"/>
                <a:gridCol w="5743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182" name="Google Shape;1182;p79"/>
          <p:cNvGrpSpPr/>
          <p:nvPr/>
        </p:nvGrpSpPr>
        <p:grpSpPr>
          <a:xfrm>
            <a:off x="7683600" y="666100"/>
            <a:ext cx="1136400" cy="1282650"/>
            <a:chOff x="3091900" y="742300"/>
            <a:chExt cx="1136400" cy="1282650"/>
          </a:xfrm>
        </p:grpSpPr>
        <p:sp>
          <p:nvSpPr>
            <p:cNvPr id="1183" name="Google Shape;1183;p79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79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79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79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79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8" name="Google Shape;1188;p79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189" name="Google Shape;1189;p79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90" name="Google Shape;1190;p79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1" name="Google Shape;1191;p79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79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79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79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5" name="Google Shape;1195;p79"/>
          <p:cNvSpPr txBox="1"/>
          <p:nvPr/>
        </p:nvSpPr>
        <p:spPr>
          <a:xfrm>
            <a:off x="5357398" y="3488850"/>
            <a:ext cx="34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no outcomes that are either 8 or 9.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80"/>
          <p:cNvSpPr txBox="1"/>
          <p:nvPr/>
        </p:nvSpPr>
        <p:spPr>
          <a:xfrm>
            <a:off x="338225" y="664350"/>
            <a:ext cx="4688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Sam and Lucas play a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 will spin spinner 4 twice and find the sum of the numbers the spinner lands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score is a double-digit number, Sam wins, if the score is either 8 or 9, it’s a draw, and if the score is 7 or less, Lucas wins.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most efficient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table to find whether Sam or Lucas are more likely to win. Explain how you know.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graphicFrame>
        <p:nvGraphicFramePr>
          <p:cNvPr id="1202" name="Google Shape;1202;p80"/>
          <p:cNvGraphicFramePr/>
          <p:nvPr/>
        </p:nvGraphicFramePr>
        <p:xfrm>
          <a:off x="5079400" y="206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574325"/>
                <a:gridCol w="574325"/>
                <a:gridCol w="574325"/>
                <a:gridCol w="574325"/>
                <a:gridCol w="5743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03" name="Google Shape;1203;p80"/>
          <p:cNvGrpSpPr/>
          <p:nvPr/>
        </p:nvGrpSpPr>
        <p:grpSpPr>
          <a:xfrm>
            <a:off x="7683600" y="666100"/>
            <a:ext cx="1136400" cy="1282650"/>
            <a:chOff x="3091900" y="742300"/>
            <a:chExt cx="1136400" cy="1282650"/>
          </a:xfrm>
        </p:grpSpPr>
        <p:sp>
          <p:nvSpPr>
            <p:cNvPr id="1204" name="Google Shape;1204;p80"/>
            <p:cNvSpPr txBox="1"/>
            <p:nvPr/>
          </p:nvSpPr>
          <p:spPr>
            <a:xfrm>
              <a:off x="3091900" y="1747750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80"/>
            <p:cNvSpPr/>
            <p:nvPr/>
          </p:nvSpPr>
          <p:spPr>
            <a:xfrm flipH="1" rot="5400000">
              <a:off x="317680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80"/>
            <p:cNvSpPr/>
            <p:nvPr/>
          </p:nvSpPr>
          <p:spPr>
            <a:xfrm flipH="1" rot="10800000">
              <a:off x="3176953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80"/>
            <p:cNvSpPr/>
            <p:nvPr/>
          </p:nvSpPr>
          <p:spPr>
            <a:xfrm flipH="1" rot="-5400000">
              <a:off x="3176940" y="742300"/>
              <a:ext cx="966300" cy="966300"/>
            </a:xfrm>
            <a:prstGeom prst="pie">
              <a:avLst>
                <a:gd fmla="val 1075500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9" name="Google Shape;1209;p8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210" name="Google Shape;1210;p80"/>
              <p:cNvCxnSpPr/>
              <p:nvPr/>
            </p:nvCxnSpPr>
            <p:spPr>
              <a:xfrm rot="10800000">
                <a:off x="3661028" y="7790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11" name="Google Shape;1211;p8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2" name="Google Shape;1212;p80"/>
            <p:cNvSpPr txBox="1"/>
            <p:nvPr/>
          </p:nvSpPr>
          <p:spPr>
            <a:xfrm flipH="1">
              <a:off x="3294545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80"/>
            <p:cNvSpPr txBox="1"/>
            <p:nvPr/>
          </p:nvSpPr>
          <p:spPr>
            <a:xfrm flipH="1">
              <a:off x="3294555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0"/>
            <p:cNvSpPr txBox="1"/>
            <p:nvPr/>
          </p:nvSpPr>
          <p:spPr>
            <a:xfrm flipH="1">
              <a:off x="3695780" y="956952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0"/>
            <p:cNvSpPr txBox="1"/>
            <p:nvPr/>
          </p:nvSpPr>
          <p:spPr>
            <a:xfrm flipH="1">
              <a:off x="3695770" y="134094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6" name="Google Shape;1216;p80"/>
          <p:cNvSpPr txBox="1"/>
          <p:nvPr/>
        </p:nvSpPr>
        <p:spPr>
          <a:xfrm>
            <a:off x="324013" y="4112225"/>
            <a:ext cx="801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 is more likely to win, as there are 9 double-digit outcomes, but only 7 outcomes that are 7 or less.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</a:t>
            </a:r>
            <a:r>
              <a:rPr lang="en-GB"/>
              <a:t>utcome</a:t>
            </a:r>
            <a:r>
              <a:rPr lang="en-GB"/>
              <a:t> tables and likelihood</a:t>
            </a:r>
            <a:endParaRPr/>
          </a:p>
        </p:txBody>
      </p:sp>
      <p:sp>
        <p:nvSpPr>
          <p:cNvPr id="1222" name="Google Shape;1222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sp>
        <p:nvSpPr>
          <p:cNvPr id="1223" name="Google Shape;1223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pic>
        <p:nvPicPr>
          <p:cNvPr id="1224" name="Google Shape;122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7" y="298837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2"/>
          <p:cNvSpPr/>
          <p:nvPr/>
        </p:nvSpPr>
        <p:spPr>
          <a:xfrm rot="10800000">
            <a:off x="401238" y="3187483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82"/>
          <p:cNvSpPr/>
          <p:nvPr/>
        </p:nvSpPr>
        <p:spPr>
          <a:xfrm rot="-7200295">
            <a:off x="401127" y="3187341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82"/>
          <p:cNvSpPr/>
          <p:nvPr/>
        </p:nvSpPr>
        <p:spPr>
          <a:xfrm rot="-3599705">
            <a:off x="400685" y="3187406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82"/>
          <p:cNvSpPr/>
          <p:nvPr/>
        </p:nvSpPr>
        <p:spPr>
          <a:xfrm>
            <a:off x="400645" y="3187398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82"/>
          <p:cNvSpPr/>
          <p:nvPr/>
        </p:nvSpPr>
        <p:spPr>
          <a:xfrm>
            <a:off x="400974" y="1243785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2"/>
          <p:cNvSpPr/>
          <p:nvPr/>
        </p:nvSpPr>
        <p:spPr>
          <a:xfrm rot="-1799623">
            <a:off x="400939" y="1243900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82"/>
          <p:cNvSpPr/>
          <p:nvPr/>
        </p:nvSpPr>
        <p:spPr>
          <a:xfrm rot="-3599705">
            <a:off x="400956" y="1243787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2"/>
          <p:cNvSpPr/>
          <p:nvPr/>
        </p:nvSpPr>
        <p:spPr>
          <a:xfrm rot="-5400000">
            <a:off x="400916" y="1243779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2"/>
          <p:cNvSpPr/>
          <p:nvPr/>
        </p:nvSpPr>
        <p:spPr>
          <a:xfrm rot="-7199623">
            <a:off x="400873" y="1243797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2"/>
          <p:cNvSpPr/>
          <p:nvPr/>
        </p:nvSpPr>
        <p:spPr>
          <a:xfrm rot="-8999705">
            <a:off x="401046" y="1243576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2"/>
          <p:cNvSpPr/>
          <p:nvPr/>
        </p:nvSpPr>
        <p:spPr>
          <a:xfrm rot="10800000">
            <a:off x="400902" y="1243822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2"/>
          <p:cNvSpPr/>
          <p:nvPr/>
        </p:nvSpPr>
        <p:spPr>
          <a:xfrm flipH="1">
            <a:off x="401071" y="1243785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242" name="Google Shape;1242;p82"/>
          <p:cNvSpPr txBox="1"/>
          <p:nvPr/>
        </p:nvSpPr>
        <p:spPr>
          <a:xfrm>
            <a:off x="497047" y="25719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3" name="Google Shape;1243;p82"/>
          <p:cNvGrpSpPr/>
          <p:nvPr/>
        </p:nvGrpSpPr>
        <p:grpSpPr>
          <a:xfrm>
            <a:off x="5774570" y="794274"/>
            <a:ext cx="3045438" cy="2190248"/>
            <a:chOff x="5774570" y="794274"/>
            <a:chExt cx="3045438" cy="2190248"/>
          </a:xfrm>
        </p:grpSpPr>
        <p:pic>
          <p:nvPicPr>
            <p:cNvPr id="1244" name="Google Shape;1244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55584" y="1970229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5" name="Google Shape;1245;p82"/>
            <p:cNvSpPr txBox="1"/>
            <p:nvPr/>
          </p:nvSpPr>
          <p:spPr>
            <a:xfrm>
              <a:off x="8114735" y="2707322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6" name="Google Shape;1246;p82"/>
            <p:cNvGrpSpPr/>
            <p:nvPr/>
          </p:nvGrpSpPr>
          <p:grpSpPr>
            <a:xfrm flipH="1">
              <a:off x="5774570" y="794274"/>
              <a:ext cx="2914488" cy="1362206"/>
              <a:chOff x="797575" y="5295652"/>
              <a:chExt cx="3320975" cy="1476325"/>
            </a:xfrm>
          </p:grpSpPr>
          <p:pic>
            <p:nvPicPr>
              <p:cNvPr id="1247" name="Google Shape;1247;p82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8" name="Google Shape;1248;p82"/>
              <p:cNvSpPr txBox="1"/>
              <p:nvPr/>
            </p:nvSpPr>
            <p:spPr>
              <a:xfrm flipH="1">
                <a:off x="1048703" y="5313075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So, if I can use an 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outcome</a:t>
                </a: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table to see which outcomes are more likely, then…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249" name="Google Shape;1249;p82"/>
          <p:cNvSpPr/>
          <p:nvPr/>
        </p:nvSpPr>
        <p:spPr>
          <a:xfrm flipH="1" rot="1799623">
            <a:off x="401154" y="1243900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82"/>
          <p:cNvSpPr/>
          <p:nvPr/>
        </p:nvSpPr>
        <p:spPr>
          <a:xfrm flipH="1" rot="3599705">
            <a:off x="400987" y="1243787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82"/>
          <p:cNvSpPr/>
          <p:nvPr/>
        </p:nvSpPr>
        <p:spPr>
          <a:xfrm flipH="1" rot="5400000">
            <a:off x="401130" y="1243779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82"/>
          <p:cNvSpPr txBox="1"/>
          <p:nvPr/>
        </p:nvSpPr>
        <p:spPr>
          <a:xfrm flipH="1">
            <a:off x="1035583" y="12860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2"/>
          <p:cNvSpPr txBox="1"/>
          <p:nvPr/>
        </p:nvSpPr>
        <p:spPr>
          <a:xfrm flipH="1">
            <a:off x="1266283" y="14171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2"/>
          <p:cNvSpPr txBox="1"/>
          <p:nvPr/>
        </p:nvSpPr>
        <p:spPr>
          <a:xfrm flipH="1">
            <a:off x="1397733" y="16369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2"/>
          <p:cNvSpPr txBox="1"/>
          <p:nvPr/>
        </p:nvSpPr>
        <p:spPr>
          <a:xfrm flipH="1">
            <a:off x="1397733" y="19107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2"/>
          <p:cNvSpPr/>
          <p:nvPr/>
        </p:nvSpPr>
        <p:spPr>
          <a:xfrm rot="9000377">
            <a:off x="401285" y="1243755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2"/>
          <p:cNvSpPr/>
          <p:nvPr/>
        </p:nvSpPr>
        <p:spPr>
          <a:xfrm>
            <a:off x="401046" y="1243760"/>
            <a:ext cx="1328100" cy="1328100"/>
          </a:xfrm>
          <a:prstGeom prst="pie">
            <a:avLst>
              <a:gd fmla="val 1806011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8" name="Google Shape;1258;p82"/>
          <p:cNvGrpSpPr/>
          <p:nvPr/>
        </p:nvGrpSpPr>
        <p:grpSpPr>
          <a:xfrm>
            <a:off x="1037747" y="1458636"/>
            <a:ext cx="54300" cy="473780"/>
            <a:chOff x="779080" y="747789"/>
            <a:chExt cx="54300" cy="473780"/>
          </a:xfrm>
        </p:grpSpPr>
        <p:cxnSp>
          <p:nvCxnSpPr>
            <p:cNvPr id="1259" name="Google Shape;1259;p82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60" name="Google Shape;1260;p82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1" name="Google Shape;1261;p82"/>
          <p:cNvSpPr txBox="1"/>
          <p:nvPr/>
        </p:nvSpPr>
        <p:spPr>
          <a:xfrm flipH="1">
            <a:off x="704077" y="19106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2"/>
          <p:cNvSpPr/>
          <p:nvPr/>
        </p:nvSpPr>
        <p:spPr>
          <a:xfrm flipH="1">
            <a:off x="401071" y="3187560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82"/>
          <p:cNvSpPr txBox="1"/>
          <p:nvPr/>
        </p:nvSpPr>
        <p:spPr>
          <a:xfrm>
            <a:off x="497047" y="4515688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2"/>
          <p:cNvSpPr/>
          <p:nvPr/>
        </p:nvSpPr>
        <p:spPr>
          <a:xfrm flipH="1" rot="3599705">
            <a:off x="400704" y="3187568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82"/>
          <p:cNvSpPr/>
          <p:nvPr/>
        </p:nvSpPr>
        <p:spPr>
          <a:xfrm>
            <a:off x="401046" y="3187535"/>
            <a:ext cx="1328100" cy="1328100"/>
          </a:xfrm>
          <a:prstGeom prst="pie">
            <a:avLst>
              <a:gd fmla="val 1806011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6" name="Google Shape;1266;p82"/>
          <p:cNvGrpSpPr/>
          <p:nvPr/>
        </p:nvGrpSpPr>
        <p:grpSpPr>
          <a:xfrm>
            <a:off x="1037747" y="3402411"/>
            <a:ext cx="54300" cy="473780"/>
            <a:chOff x="779080" y="747789"/>
            <a:chExt cx="54300" cy="473780"/>
          </a:xfrm>
        </p:grpSpPr>
        <p:cxnSp>
          <p:nvCxnSpPr>
            <p:cNvPr id="1267" name="Google Shape;1267;p82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68" name="Google Shape;1268;p82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9" name="Google Shape;1269;p82"/>
          <p:cNvSpPr txBox="1"/>
          <p:nvPr/>
        </p:nvSpPr>
        <p:spPr>
          <a:xfrm flipH="1">
            <a:off x="1129258" y="338971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2"/>
          <p:cNvSpPr txBox="1"/>
          <p:nvPr/>
        </p:nvSpPr>
        <p:spPr>
          <a:xfrm flipH="1">
            <a:off x="1301958" y="372853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2"/>
          <p:cNvSpPr txBox="1"/>
          <p:nvPr/>
        </p:nvSpPr>
        <p:spPr>
          <a:xfrm flipH="1">
            <a:off x="732152" y="39323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2" name="Google Shape;1272;p82"/>
          <p:cNvGraphicFramePr/>
          <p:nvPr/>
        </p:nvGraphicFramePr>
        <p:xfrm>
          <a:off x="2202925" y="210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94075"/>
                <a:gridCol w="694075"/>
                <a:gridCol w="694075"/>
                <a:gridCol w="694075"/>
                <a:gridCol w="694075"/>
                <a:gridCol w="694075"/>
              </a:tblGrid>
              <a:tr h="32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20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0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0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73" name="Google Shape;1273;p82"/>
          <p:cNvGrpSpPr/>
          <p:nvPr/>
        </p:nvGrpSpPr>
        <p:grpSpPr>
          <a:xfrm rot="10800000">
            <a:off x="6130167" y="3281480"/>
            <a:ext cx="2688662" cy="1100158"/>
            <a:chOff x="797575" y="5295652"/>
            <a:chExt cx="3320975" cy="1476325"/>
          </a:xfrm>
        </p:grpSpPr>
        <p:pic>
          <p:nvPicPr>
            <p:cNvPr id="1274" name="Google Shape;1274;p82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82"/>
            <p:cNvSpPr txBox="1"/>
            <p:nvPr/>
          </p:nvSpPr>
          <p:spPr>
            <a:xfrm flipH="1" rot="10800000">
              <a:off x="1048781" y="5313125"/>
              <a:ext cx="3000000" cy="115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outcome BC is obviously the most likely one to happen.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6" name="Google Shape;1276;p82"/>
          <p:cNvSpPr/>
          <p:nvPr/>
        </p:nvSpPr>
        <p:spPr>
          <a:xfrm>
            <a:off x="3591075" y="2420600"/>
            <a:ext cx="2776200" cy="6276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2"/>
          <p:cNvSpPr txBox="1"/>
          <p:nvPr/>
        </p:nvSpPr>
        <p:spPr>
          <a:xfrm>
            <a:off x="2526963" y="3518650"/>
            <a:ext cx="280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 looking at spinner 1 and spinner 2…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is Sofia’s statement incorrect?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2"/>
          <p:cNvSpPr txBox="1"/>
          <p:nvPr/>
        </p:nvSpPr>
        <p:spPr>
          <a:xfrm>
            <a:off x="332905" y="628654"/>
            <a:ext cx="256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spinners 1 and 2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grpSp>
        <p:nvGrpSpPr>
          <p:cNvPr id="1284" name="Google Shape;1284;p83"/>
          <p:cNvGrpSpPr/>
          <p:nvPr/>
        </p:nvGrpSpPr>
        <p:grpSpPr>
          <a:xfrm>
            <a:off x="8143800" y="2213592"/>
            <a:ext cx="676200" cy="1040525"/>
            <a:chOff x="8137196" y="1935832"/>
            <a:chExt cx="676200" cy="1040525"/>
          </a:xfrm>
        </p:grpSpPr>
        <p:pic>
          <p:nvPicPr>
            <p:cNvPr id="1285" name="Google Shape;1285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83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83"/>
          <p:cNvGrpSpPr/>
          <p:nvPr/>
        </p:nvGrpSpPr>
        <p:grpSpPr>
          <a:xfrm flipH="1">
            <a:off x="4923635" y="748762"/>
            <a:ext cx="3710526" cy="1687735"/>
            <a:chOff x="797575" y="5295652"/>
            <a:chExt cx="3320975" cy="1476325"/>
          </a:xfrm>
        </p:grpSpPr>
        <p:pic>
          <p:nvPicPr>
            <p:cNvPr id="1288" name="Google Shape;1288;p83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83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You can’t say that for certain.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think all the outcomes on these spinners are equally likely, since some sectors are different in size.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0" name="Google Shape;1290;p83"/>
          <p:cNvSpPr txBox="1"/>
          <p:nvPr/>
        </p:nvSpPr>
        <p:spPr>
          <a:xfrm>
            <a:off x="332905" y="628654"/>
            <a:ext cx="256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spinners 1 and 2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3"/>
          <p:cNvSpPr/>
          <p:nvPr/>
        </p:nvSpPr>
        <p:spPr>
          <a:xfrm rot="10800000">
            <a:off x="401238" y="3187483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83"/>
          <p:cNvSpPr/>
          <p:nvPr/>
        </p:nvSpPr>
        <p:spPr>
          <a:xfrm rot="-7200295">
            <a:off x="401127" y="3187341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3"/>
          <p:cNvSpPr/>
          <p:nvPr/>
        </p:nvSpPr>
        <p:spPr>
          <a:xfrm rot="-3599705">
            <a:off x="400685" y="3187406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3"/>
          <p:cNvSpPr/>
          <p:nvPr/>
        </p:nvSpPr>
        <p:spPr>
          <a:xfrm>
            <a:off x="400645" y="3187398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83"/>
          <p:cNvSpPr/>
          <p:nvPr/>
        </p:nvSpPr>
        <p:spPr>
          <a:xfrm>
            <a:off x="400974" y="1243785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83"/>
          <p:cNvSpPr/>
          <p:nvPr/>
        </p:nvSpPr>
        <p:spPr>
          <a:xfrm rot="-1799623">
            <a:off x="400939" y="1243900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83"/>
          <p:cNvSpPr/>
          <p:nvPr/>
        </p:nvSpPr>
        <p:spPr>
          <a:xfrm rot="-3599705">
            <a:off x="400956" y="1243787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83"/>
          <p:cNvSpPr/>
          <p:nvPr/>
        </p:nvSpPr>
        <p:spPr>
          <a:xfrm rot="-5400000">
            <a:off x="400916" y="1243779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83"/>
          <p:cNvSpPr/>
          <p:nvPr/>
        </p:nvSpPr>
        <p:spPr>
          <a:xfrm rot="-7199623">
            <a:off x="400873" y="1243797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83"/>
          <p:cNvSpPr/>
          <p:nvPr/>
        </p:nvSpPr>
        <p:spPr>
          <a:xfrm rot="-8999705">
            <a:off x="401046" y="1243576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3"/>
          <p:cNvSpPr/>
          <p:nvPr/>
        </p:nvSpPr>
        <p:spPr>
          <a:xfrm rot="10800000">
            <a:off x="400902" y="1243822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83"/>
          <p:cNvSpPr/>
          <p:nvPr/>
        </p:nvSpPr>
        <p:spPr>
          <a:xfrm flipH="1">
            <a:off x="401071" y="1243785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83"/>
          <p:cNvSpPr txBox="1"/>
          <p:nvPr/>
        </p:nvSpPr>
        <p:spPr>
          <a:xfrm>
            <a:off x="497047" y="25719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3"/>
          <p:cNvSpPr/>
          <p:nvPr/>
        </p:nvSpPr>
        <p:spPr>
          <a:xfrm flipH="1" rot="1799623">
            <a:off x="401154" y="1243900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83"/>
          <p:cNvSpPr/>
          <p:nvPr/>
        </p:nvSpPr>
        <p:spPr>
          <a:xfrm flipH="1" rot="3599705">
            <a:off x="400987" y="1243787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83"/>
          <p:cNvSpPr/>
          <p:nvPr/>
        </p:nvSpPr>
        <p:spPr>
          <a:xfrm flipH="1" rot="5400000">
            <a:off x="401130" y="1243779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83"/>
          <p:cNvSpPr txBox="1"/>
          <p:nvPr/>
        </p:nvSpPr>
        <p:spPr>
          <a:xfrm flipH="1">
            <a:off x="1035583" y="12860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3"/>
          <p:cNvSpPr txBox="1"/>
          <p:nvPr/>
        </p:nvSpPr>
        <p:spPr>
          <a:xfrm flipH="1">
            <a:off x="1266283" y="14171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3"/>
          <p:cNvSpPr txBox="1"/>
          <p:nvPr/>
        </p:nvSpPr>
        <p:spPr>
          <a:xfrm flipH="1">
            <a:off x="1397733" y="16369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3"/>
          <p:cNvSpPr txBox="1"/>
          <p:nvPr/>
        </p:nvSpPr>
        <p:spPr>
          <a:xfrm flipH="1">
            <a:off x="1397733" y="19107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3"/>
          <p:cNvSpPr/>
          <p:nvPr/>
        </p:nvSpPr>
        <p:spPr>
          <a:xfrm rot="9000377">
            <a:off x="401285" y="1243755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3"/>
          <p:cNvSpPr/>
          <p:nvPr/>
        </p:nvSpPr>
        <p:spPr>
          <a:xfrm flipH="1">
            <a:off x="401071" y="3187560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3"/>
          <p:cNvSpPr txBox="1"/>
          <p:nvPr/>
        </p:nvSpPr>
        <p:spPr>
          <a:xfrm>
            <a:off x="497047" y="4515688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3"/>
          <p:cNvSpPr/>
          <p:nvPr/>
        </p:nvSpPr>
        <p:spPr>
          <a:xfrm flipH="1" rot="3599705">
            <a:off x="400704" y="3187568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83"/>
          <p:cNvSpPr txBox="1"/>
          <p:nvPr/>
        </p:nvSpPr>
        <p:spPr>
          <a:xfrm flipH="1">
            <a:off x="1129258" y="338971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3"/>
          <p:cNvSpPr txBox="1"/>
          <p:nvPr/>
        </p:nvSpPr>
        <p:spPr>
          <a:xfrm flipH="1">
            <a:off x="1301958" y="372853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3"/>
          <p:cNvSpPr txBox="1"/>
          <p:nvPr/>
        </p:nvSpPr>
        <p:spPr>
          <a:xfrm flipH="1">
            <a:off x="1256732" y="212175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3"/>
          <p:cNvSpPr txBox="1"/>
          <p:nvPr/>
        </p:nvSpPr>
        <p:spPr>
          <a:xfrm flipH="1">
            <a:off x="1049857" y="230225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83"/>
          <p:cNvSpPr txBox="1"/>
          <p:nvPr/>
        </p:nvSpPr>
        <p:spPr>
          <a:xfrm flipH="1">
            <a:off x="760557" y="230225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3"/>
          <p:cNvSpPr txBox="1"/>
          <p:nvPr/>
        </p:nvSpPr>
        <p:spPr>
          <a:xfrm flipH="1">
            <a:off x="528407" y="21570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83"/>
          <p:cNvSpPr txBox="1"/>
          <p:nvPr/>
        </p:nvSpPr>
        <p:spPr>
          <a:xfrm flipH="1">
            <a:off x="415582" y="19107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3"/>
          <p:cNvSpPr txBox="1"/>
          <p:nvPr/>
        </p:nvSpPr>
        <p:spPr>
          <a:xfrm flipH="1">
            <a:off x="400582" y="16634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3"/>
          <p:cNvSpPr txBox="1"/>
          <p:nvPr/>
        </p:nvSpPr>
        <p:spPr>
          <a:xfrm flipH="1">
            <a:off x="545050" y="141823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3"/>
          <p:cNvSpPr txBox="1"/>
          <p:nvPr/>
        </p:nvSpPr>
        <p:spPr>
          <a:xfrm flipH="1">
            <a:off x="767066" y="12650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5" name="Google Shape;1325;p83"/>
          <p:cNvGrpSpPr/>
          <p:nvPr/>
        </p:nvGrpSpPr>
        <p:grpSpPr>
          <a:xfrm>
            <a:off x="401046" y="1243760"/>
            <a:ext cx="1328100" cy="1328100"/>
            <a:chOff x="401046" y="786560"/>
            <a:chExt cx="1328100" cy="1328100"/>
          </a:xfrm>
        </p:grpSpPr>
        <p:sp>
          <p:nvSpPr>
            <p:cNvPr id="1326" name="Google Shape;1326;p83"/>
            <p:cNvSpPr/>
            <p:nvPr/>
          </p:nvSpPr>
          <p:spPr>
            <a:xfrm>
              <a:off x="401046" y="786560"/>
              <a:ext cx="1328100" cy="1328100"/>
            </a:xfrm>
            <a:prstGeom prst="pie">
              <a:avLst>
                <a:gd fmla="val 1806011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83"/>
            <p:cNvSpPr txBox="1"/>
            <p:nvPr/>
          </p:nvSpPr>
          <p:spPr>
            <a:xfrm flipH="1">
              <a:off x="704077" y="145348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83"/>
          <p:cNvGrpSpPr/>
          <p:nvPr/>
        </p:nvGrpSpPr>
        <p:grpSpPr>
          <a:xfrm>
            <a:off x="1037747" y="1458636"/>
            <a:ext cx="54300" cy="473780"/>
            <a:chOff x="779080" y="747789"/>
            <a:chExt cx="54300" cy="473780"/>
          </a:xfrm>
        </p:grpSpPr>
        <p:cxnSp>
          <p:nvCxnSpPr>
            <p:cNvPr id="1329" name="Google Shape;1329;p8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0" name="Google Shape;1330;p83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1" name="Google Shape;1331;p83"/>
          <p:cNvSpPr txBox="1"/>
          <p:nvPr/>
        </p:nvSpPr>
        <p:spPr>
          <a:xfrm flipH="1">
            <a:off x="669052" y="33896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3"/>
          <p:cNvSpPr txBox="1"/>
          <p:nvPr/>
        </p:nvSpPr>
        <p:spPr>
          <a:xfrm flipH="1">
            <a:off x="1129258" y="41221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3"/>
          <p:cNvSpPr txBox="1"/>
          <p:nvPr/>
        </p:nvSpPr>
        <p:spPr>
          <a:xfrm flipH="1">
            <a:off x="669052" y="412210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3"/>
          <p:cNvSpPr txBox="1"/>
          <p:nvPr/>
        </p:nvSpPr>
        <p:spPr>
          <a:xfrm flipH="1">
            <a:off x="496358" y="372853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5" name="Google Shape;1335;p83"/>
          <p:cNvGrpSpPr/>
          <p:nvPr/>
        </p:nvGrpSpPr>
        <p:grpSpPr>
          <a:xfrm>
            <a:off x="401046" y="3187535"/>
            <a:ext cx="1328100" cy="1328100"/>
            <a:chOff x="401046" y="2730335"/>
            <a:chExt cx="1328100" cy="1328100"/>
          </a:xfrm>
        </p:grpSpPr>
        <p:sp>
          <p:nvSpPr>
            <p:cNvPr id="1336" name="Google Shape;1336;p83"/>
            <p:cNvSpPr/>
            <p:nvPr/>
          </p:nvSpPr>
          <p:spPr>
            <a:xfrm>
              <a:off x="401046" y="2730335"/>
              <a:ext cx="1328100" cy="1328100"/>
            </a:xfrm>
            <a:prstGeom prst="pie">
              <a:avLst>
                <a:gd fmla="val 1806011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83"/>
            <p:cNvSpPr txBox="1"/>
            <p:nvPr/>
          </p:nvSpPr>
          <p:spPr>
            <a:xfrm flipH="1">
              <a:off x="732152" y="347518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8" name="Google Shape;1338;p83"/>
          <p:cNvGrpSpPr/>
          <p:nvPr/>
        </p:nvGrpSpPr>
        <p:grpSpPr>
          <a:xfrm>
            <a:off x="1037747" y="3402411"/>
            <a:ext cx="54300" cy="473780"/>
            <a:chOff x="779080" y="747789"/>
            <a:chExt cx="54300" cy="473780"/>
          </a:xfrm>
        </p:grpSpPr>
        <p:cxnSp>
          <p:nvCxnSpPr>
            <p:cNvPr id="1339" name="Google Shape;1339;p8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40" name="Google Shape;1340;p83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1" name="Google Shape;1341;p83"/>
          <p:cNvGrpSpPr/>
          <p:nvPr/>
        </p:nvGrpSpPr>
        <p:grpSpPr>
          <a:xfrm rot="10800000">
            <a:off x="4619257" y="2659820"/>
            <a:ext cx="3786244" cy="2062870"/>
            <a:chOff x="797575" y="5295652"/>
            <a:chExt cx="3320975" cy="1476325"/>
          </a:xfrm>
        </p:grpSpPr>
        <p:pic>
          <p:nvPicPr>
            <p:cNvPr id="1342" name="Google Shape;1342;p83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83"/>
            <p:cNvSpPr txBox="1"/>
            <p:nvPr/>
          </p:nvSpPr>
          <p:spPr>
            <a:xfrm flipH="1" rot="10800000">
              <a:off x="1048693" y="5328951"/>
              <a:ext cx="3000000" cy="11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each spinner now only has outcomes that are equally likely.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means each outcome of a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table we make is equally likely to happen.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349" name="Google Shape;1349;p84"/>
          <p:cNvSpPr txBox="1"/>
          <p:nvPr/>
        </p:nvSpPr>
        <p:spPr>
          <a:xfrm>
            <a:off x="332905" y="628654"/>
            <a:ext cx="256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spinners 1 and 2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4"/>
          <p:cNvSpPr/>
          <p:nvPr/>
        </p:nvSpPr>
        <p:spPr>
          <a:xfrm rot="10800000">
            <a:off x="401238" y="3187483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84"/>
          <p:cNvSpPr/>
          <p:nvPr/>
        </p:nvSpPr>
        <p:spPr>
          <a:xfrm rot="-7200295">
            <a:off x="401127" y="3187341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84"/>
          <p:cNvSpPr/>
          <p:nvPr/>
        </p:nvSpPr>
        <p:spPr>
          <a:xfrm rot="-3599705">
            <a:off x="400685" y="3187406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84"/>
          <p:cNvSpPr/>
          <p:nvPr/>
        </p:nvSpPr>
        <p:spPr>
          <a:xfrm>
            <a:off x="400645" y="3187398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84"/>
          <p:cNvSpPr/>
          <p:nvPr/>
        </p:nvSpPr>
        <p:spPr>
          <a:xfrm>
            <a:off x="400974" y="1243785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84"/>
          <p:cNvSpPr/>
          <p:nvPr/>
        </p:nvSpPr>
        <p:spPr>
          <a:xfrm rot="-1799623">
            <a:off x="400939" y="1243900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84"/>
          <p:cNvSpPr/>
          <p:nvPr/>
        </p:nvSpPr>
        <p:spPr>
          <a:xfrm rot="-3599705">
            <a:off x="400956" y="1243787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84"/>
          <p:cNvSpPr/>
          <p:nvPr/>
        </p:nvSpPr>
        <p:spPr>
          <a:xfrm rot="-5400000">
            <a:off x="400916" y="1243779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84"/>
          <p:cNvSpPr/>
          <p:nvPr/>
        </p:nvSpPr>
        <p:spPr>
          <a:xfrm rot="-7199623">
            <a:off x="400873" y="1243797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84"/>
          <p:cNvSpPr/>
          <p:nvPr/>
        </p:nvSpPr>
        <p:spPr>
          <a:xfrm rot="-8999705">
            <a:off x="401046" y="1243576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84"/>
          <p:cNvSpPr/>
          <p:nvPr/>
        </p:nvSpPr>
        <p:spPr>
          <a:xfrm rot="10800000">
            <a:off x="400902" y="1243822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84"/>
          <p:cNvSpPr/>
          <p:nvPr/>
        </p:nvSpPr>
        <p:spPr>
          <a:xfrm flipH="1">
            <a:off x="401071" y="1243785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84"/>
          <p:cNvSpPr txBox="1"/>
          <p:nvPr/>
        </p:nvSpPr>
        <p:spPr>
          <a:xfrm>
            <a:off x="497047" y="25719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4"/>
          <p:cNvSpPr/>
          <p:nvPr/>
        </p:nvSpPr>
        <p:spPr>
          <a:xfrm flipH="1" rot="1799623">
            <a:off x="401154" y="1243900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84"/>
          <p:cNvSpPr/>
          <p:nvPr/>
        </p:nvSpPr>
        <p:spPr>
          <a:xfrm flipH="1" rot="3599705">
            <a:off x="400987" y="1243787"/>
            <a:ext cx="1328202" cy="132820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84"/>
          <p:cNvSpPr/>
          <p:nvPr/>
        </p:nvSpPr>
        <p:spPr>
          <a:xfrm flipH="1" rot="5400000">
            <a:off x="401130" y="1243779"/>
            <a:ext cx="1328100" cy="1328100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84"/>
          <p:cNvSpPr txBox="1"/>
          <p:nvPr/>
        </p:nvSpPr>
        <p:spPr>
          <a:xfrm flipH="1">
            <a:off x="1035583" y="12860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4"/>
          <p:cNvSpPr txBox="1"/>
          <p:nvPr/>
        </p:nvSpPr>
        <p:spPr>
          <a:xfrm flipH="1">
            <a:off x="1266283" y="14171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4"/>
          <p:cNvSpPr txBox="1"/>
          <p:nvPr/>
        </p:nvSpPr>
        <p:spPr>
          <a:xfrm flipH="1">
            <a:off x="1397733" y="16369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4"/>
          <p:cNvSpPr txBox="1"/>
          <p:nvPr/>
        </p:nvSpPr>
        <p:spPr>
          <a:xfrm flipH="1">
            <a:off x="1397733" y="1910700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4"/>
          <p:cNvSpPr/>
          <p:nvPr/>
        </p:nvSpPr>
        <p:spPr>
          <a:xfrm rot="9000377">
            <a:off x="401285" y="1243755"/>
            <a:ext cx="1328052" cy="1328052"/>
          </a:xfrm>
          <a:prstGeom prst="pie">
            <a:avLst>
              <a:gd fmla="val 14393697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84"/>
          <p:cNvSpPr/>
          <p:nvPr/>
        </p:nvSpPr>
        <p:spPr>
          <a:xfrm flipH="1">
            <a:off x="401071" y="3187560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84"/>
          <p:cNvSpPr txBox="1"/>
          <p:nvPr/>
        </p:nvSpPr>
        <p:spPr>
          <a:xfrm>
            <a:off x="497047" y="4515688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4"/>
          <p:cNvSpPr/>
          <p:nvPr/>
        </p:nvSpPr>
        <p:spPr>
          <a:xfrm flipH="1" rot="3599705">
            <a:off x="400704" y="3187568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84"/>
          <p:cNvSpPr txBox="1"/>
          <p:nvPr/>
        </p:nvSpPr>
        <p:spPr>
          <a:xfrm flipH="1">
            <a:off x="1129258" y="338971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4"/>
          <p:cNvSpPr txBox="1"/>
          <p:nvPr/>
        </p:nvSpPr>
        <p:spPr>
          <a:xfrm flipH="1">
            <a:off x="1301958" y="372853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4"/>
          <p:cNvSpPr txBox="1"/>
          <p:nvPr/>
        </p:nvSpPr>
        <p:spPr>
          <a:xfrm flipH="1">
            <a:off x="1256732" y="212175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4"/>
          <p:cNvSpPr txBox="1"/>
          <p:nvPr/>
        </p:nvSpPr>
        <p:spPr>
          <a:xfrm flipH="1">
            <a:off x="1049857" y="230225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84"/>
          <p:cNvSpPr txBox="1"/>
          <p:nvPr/>
        </p:nvSpPr>
        <p:spPr>
          <a:xfrm flipH="1">
            <a:off x="760557" y="230225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4"/>
          <p:cNvSpPr txBox="1"/>
          <p:nvPr/>
        </p:nvSpPr>
        <p:spPr>
          <a:xfrm flipH="1">
            <a:off x="528407" y="21570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4"/>
          <p:cNvSpPr txBox="1"/>
          <p:nvPr/>
        </p:nvSpPr>
        <p:spPr>
          <a:xfrm flipH="1">
            <a:off x="415582" y="19107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4"/>
          <p:cNvSpPr txBox="1"/>
          <p:nvPr/>
        </p:nvSpPr>
        <p:spPr>
          <a:xfrm flipH="1">
            <a:off x="400582" y="16634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4"/>
          <p:cNvSpPr txBox="1"/>
          <p:nvPr/>
        </p:nvSpPr>
        <p:spPr>
          <a:xfrm flipH="1">
            <a:off x="545050" y="141823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4"/>
          <p:cNvSpPr txBox="1"/>
          <p:nvPr/>
        </p:nvSpPr>
        <p:spPr>
          <a:xfrm flipH="1">
            <a:off x="767066" y="12650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4" name="Google Shape;1384;p84"/>
          <p:cNvGrpSpPr/>
          <p:nvPr/>
        </p:nvGrpSpPr>
        <p:grpSpPr>
          <a:xfrm>
            <a:off x="1037747" y="1458636"/>
            <a:ext cx="54300" cy="473780"/>
            <a:chOff x="779080" y="747789"/>
            <a:chExt cx="54300" cy="473780"/>
          </a:xfrm>
        </p:grpSpPr>
        <p:cxnSp>
          <p:nvCxnSpPr>
            <p:cNvPr id="1385" name="Google Shape;1385;p84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86" name="Google Shape;1386;p84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7" name="Google Shape;1387;p84"/>
          <p:cNvSpPr txBox="1"/>
          <p:nvPr/>
        </p:nvSpPr>
        <p:spPr>
          <a:xfrm flipH="1">
            <a:off x="669052" y="33896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4"/>
          <p:cNvSpPr txBox="1"/>
          <p:nvPr/>
        </p:nvSpPr>
        <p:spPr>
          <a:xfrm flipH="1">
            <a:off x="1129258" y="41221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4"/>
          <p:cNvSpPr txBox="1"/>
          <p:nvPr/>
        </p:nvSpPr>
        <p:spPr>
          <a:xfrm flipH="1">
            <a:off x="669052" y="412210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4"/>
          <p:cNvSpPr txBox="1"/>
          <p:nvPr/>
        </p:nvSpPr>
        <p:spPr>
          <a:xfrm flipH="1">
            <a:off x="496358" y="372853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1" name="Google Shape;1391;p84"/>
          <p:cNvGrpSpPr/>
          <p:nvPr/>
        </p:nvGrpSpPr>
        <p:grpSpPr>
          <a:xfrm>
            <a:off x="1037747" y="3402411"/>
            <a:ext cx="54300" cy="473780"/>
            <a:chOff x="779080" y="747789"/>
            <a:chExt cx="54300" cy="473780"/>
          </a:xfrm>
        </p:grpSpPr>
        <p:cxnSp>
          <p:nvCxnSpPr>
            <p:cNvPr id="1392" name="Google Shape;1392;p84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3" name="Google Shape;1393;p84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4" name="Google Shape;1394;p84"/>
          <p:cNvSpPr txBox="1"/>
          <p:nvPr/>
        </p:nvSpPr>
        <p:spPr>
          <a:xfrm>
            <a:off x="7295800" y="1286000"/>
            <a:ext cx="152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most likely outcome, not BC.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95" name="Google Shape;1395;p84"/>
          <p:cNvGraphicFramePr/>
          <p:nvPr/>
        </p:nvGraphicFramePr>
        <p:xfrm>
          <a:off x="2009975" y="1005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41800"/>
                <a:gridCol w="741800"/>
                <a:gridCol w="741800"/>
                <a:gridCol w="741800"/>
                <a:gridCol w="741800"/>
                <a:gridCol w="741800"/>
                <a:gridCol w="741800"/>
              </a:tblGrid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BC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96" name="Google Shape;1396;p84"/>
          <p:cNvSpPr/>
          <p:nvPr/>
        </p:nvSpPr>
        <p:spPr>
          <a:xfrm>
            <a:off x="4235375" y="1265050"/>
            <a:ext cx="2967300" cy="22269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84"/>
          <p:cNvSpPr/>
          <p:nvPr/>
        </p:nvSpPr>
        <p:spPr>
          <a:xfrm>
            <a:off x="2751775" y="3486750"/>
            <a:ext cx="1483500" cy="11082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403" name="Google Shape;1403;p85"/>
          <p:cNvSpPr/>
          <p:nvPr/>
        </p:nvSpPr>
        <p:spPr>
          <a:xfrm rot="10800000">
            <a:off x="339063" y="661533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85"/>
          <p:cNvSpPr/>
          <p:nvPr/>
        </p:nvSpPr>
        <p:spPr>
          <a:xfrm rot="-7200295">
            <a:off x="338952" y="661391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5"/>
          <p:cNvSpPr/>
          <p:nvPr/>
        </p:nvSpPr>
        <p:spPr>
          <a:xfrm rot="-3599705">
            <a:off x="338510" y="661456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85"/>
          <p:cNvSpPr/>
          <p:nvPr/>
        </p:nvSpPr>
        <p:spPr>
          <a:xfrm>
            <a:off x="338470" y="661448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85"/>
          <p:cNvSpPr/>
          <p:nvPr/>
        </p:nvSpPr>
        <p:spPr>
          <a:xfrm flipH="1">
            <a:off x="338896" y="661610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85"/>
          <p:cNvSpPr txBox="1"/>
          <p:nvPr/>
        </p:nvSpPr>
        <p:spPr>
          <a:xfrm>
            <a:off x="434872" y="1989738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5"/>
          <p:cNvSpPr/>
          <p:nvPr/>
        </p:nvSpPr>
        <p:spPr>
          <a:xfrm flipH="1" rot="3599705">
            <a:off x="338529" y="661618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85"/>
          <p:cNvSpPr txBox="1"/>
          <p:nvPr/>
        </p:nvSpPr>
        <p:spPr>
          <a:xfrm flipH="1">
            <a:off x="1067083" y="86376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5"/>
          <p:cNvSpPr txBox="1"/>
          <p:nvPr/>
        </p:nvSpPr>
        <p:spPr>
          <a:xfrm flipH="1">
            <a:off x="1239783" y="120258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5"/>
          <p:cNvSpPr txBox="1"/>
          <p:nvPr/>
        </p:nvSpPr>
        <p:spPr>
          <a:xfrm flipH="1">
            <a:off x="606877" y="8637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5"/>
          <p:cNvSpPr txBox="1"/>
          <p:nvPr/>
        </p:nvSpPr>
        <p:spPr>
          <a:xfrm flipH="1">
            <a:off x="1067083" y="159617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5"/>
          <p:cNvSpPr txBox="1"/>
          <p:nvPr/>
        </p:nvSpPr>
        <p:spPr>
          <a:xfrm flipH="1">
            <a:off x="606877" y="15961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5"/>
          <p:cNvSpPr txBox="1"/>
          <p:nvPr/>
        </p:nvSpPr>
        <p:spPr>
          <a:xfrm flipH="1">
            <a:off x="434183" y="120258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6" name="Google Shape;1416;p85"/>
          <p:cNvGrpSpPr/>
          <p:nvPr/>
        </p:nvGrpSpPr>
        <p:grpSpPr>
          <a:xfrm>
            <a:off x="338871" y="661585"/>
            <a:ext cx="1328100" cy="1328100"/>
            <a:chOff x="401046" y="2730335"/>
            <a:chExt cx="1328100" cy="1328100"/>
          </a:xfrm>
        </p:grpSpPr>
        <p:sp>
          <p:nvSpPr>
            <p:cNvPr id="1417" name="Google Shape;1417;p85"/>
            <p:cNvSpPr/>
            <p:nvPr/>
          </p:nvSpPr>
          <p:spPr>
            <a:xfrm>
              <a:off x="401046" y="2730335"/>
              <a:ext cx="1328100" cy="1328100"/>
            </a:xfrm>
            <a:prstGeom prst="pie">
              <a:avLst>
                <a:gd fmla="val 5376027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85"/>
            <p:cNvSpPr txBox="1"/>
            <p:nvPr/>
          </p:nvSpPr>
          <p:spPr>
            <a:xfrm flipH="1">
              <a:off x="655952" y="328097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-4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9" name="Google Shape;1419;p85"/>
          <p:cNvGrpSpPr/>
          <p:nvPr/>
        </p:nvGrpSpPr>
        <p:grpSpPr>
          <a:xfrm>
            <a:off x="975572" y="876461"/>
            <a:ext cx="54300" cy="473780"/>
            <a:chOff x="779080" y="747789"/>
            <a:chExt cx="54300" cy="473780"/>
          </a:xfrm>
        </p:grpSpPr>
        <p:cxnSp>
          <p:nvCxnSpPr>
            <p:cNvPr id="1420" name="Google Shape;1420;p85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21" name="Google Shape;1421;p85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2" name="Google Shape;1422;p85"/>
          <p:cNvSpPr txBox="1"/>
          <p:nvPr/>
        </p:nvSpPr>
        <p:spPr>
          <a:xfrm>
            <a:off x="2038225" y="628650"/>
            <a:ext cx="238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will spin this spinner twice, and find the sum of the numbers the spinner lands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3" name="Google Shape;1423;p85"/>
          <p:cNvGraphicFramePr/>
          <p:nvPr/>
        </p:nvGraphicFramePr>
        <p:xfrm>
          <a:off x="344222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295225"/>
                <a:gridCol w="295225"/>
                <a:gridCol w="295225"/>
                <a:gridCol w="295225"/>
                <a:gridCol w="295225"/>
              </a:tblGrid>
              <a:tr h="265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sz="1600"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265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5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5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5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24" name="Google Shape;1424;p85"/>
          <p:cNvGrpSpPr/>
          <p:nvPr/>
        </p:nvGrpSpPr>
        <p:grpSpPr>
          <a:xfrm>
            <a:off x="4814178" y="672667"/>
            <a:ext cx="4080625" cy="1646925"/>
            <a:chOff x="4814178" y="672667"/>
            <a:chExt cx="4080625" cy="1646925"/>
          </a:xfrm>
        </p:grpSpPr>
        <p:pic>
          <p:nvPicPr>
            <p:cNvPr id="1425" name="Google Shape;1425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146753" y="1206118"/>
              <a:ext cx="610800" cy="799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85"/>
            <p:cNvSpPr txBox="1"/>
            <p:nvPr/>
          </p:nvSpPr>
          <p:spPr>
            <a:xfrm>
              <a:off x="8009503" y="2006092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27" name="Google Shape;1427;p85"/>
            <p:cNvGrpSpPr/>
            <p:nvPr/>
          </p:nvGrpSpPr>
          <p:grpSpPr>
            <a:xfrm flipH="1">
              <a:off x="4814178" y="672667"/>
              <a:ext cx="3540176" cy="1385399"/>
              <a:chOff x="797567" y="5295650"/>
              <a:chExt cx="3320991" cy="1243849"/>
            </a:xfrm>
          </p:grpSpPr>
          <p:pic>
            <p:nvPicPr>
              <p:cNvPr id="1428" name="Google Shape;1428;p85"/>
              <p:cNvPicPr preferRelativeResize="0"/>
              <p:nvPr/>
            </p:nvPicPr>
            <p:blipFill rotWithShape="1">
              <a:blip r:embed="rId4">
                <a:alphaModFix/>
              </a:blip>
              <a:srcRect b="43690" l="0" r="57905" t="0"/>
              <a:stretch/>
            </p:blipFill>
            <p:spPr>
              <a:xfrm flipH="1">
                <a:off x="797567" y="5295650"/>
                <a:ext cx="3320991" cy="12438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9" name="Google Shape;1429;p85"/>
              <p:cNvSpPr txBox="1"/>
              <p:nvPr/>
            </p:nvSpPr>
            <p:spPr>
              <a:xfrm flipH="1">
                <a:off x="1048703" y="5313075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It’s pretty obvious that 8 is the most likely outcome, as there are more 4s than any other number on the spinner.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30" name="Google Shape;1430;p85"/>
          <p:cNvGrpSpPr/>
          <p:nvPr/>
        </p:nvGrpSpPr>
        <p:grpSpPr>
          <a:xfrm>
            <a:off x="2000125" y="2281348"/>
            <a:ext cx="6819600" cy="2538568"/>
            <a:chOff x="2000125" y="2509948"/>
            <a:chExt cx="6819600" cy="2538568"/>
          </a:xfrm>
        </p:grpSpPr>
        <p:sp>
          <p:nvSpPr>
            <p:cNvPr id="1431" name="Google Shape;1431;p85"/>
            <p:cNvSpPr txBox="1"/>
            <p:nvPr/>
          </p:nvSpPr>
          <p:spPr>
            <a:xfrm>
              <a:off x="2720500" y="3840625"/>
              <a:ext cx="6099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-4 sector has the same area as the total area of the 4 sectors.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2" name="Google Shape;1432;p85"/>
            <p:cNvGrpSpPr/>
            <p:nvPr/>
          </p:nvGrpSpPr>
          <p:grpSpPr>
            <a:xfrm>
              <a:off x="2314788" y="2972697"/>
              <a:ext cx="433200" cy="277200"/>
              <a:chOff x="4193788" y="2215950"/>
              <a:chExt cx="433200" cy="277200"/>
            </a:xfrm>
          </p:grpSpPr>
          <p:sp>
            <p:nvSpPr>
              <p:cNvPr id="1433" name="Google Shape;1433;p85"/>
              <p:cNvSpPr txBox="1"/>
              <p:nvPr/>
            </p:nvSpPr>
            <p:spPr>
              <a:xfrm>
                <a:off x="4193788" y="22159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434" name="Google Shape;1434;p85"/>
              <p:cNvGrpSpPr/>
              <p:nvPr/>
            </p:nvGrpSpPr>
            <p:grpSpPr>
              <a:xfrm>
                <a:off x="4276799" y="2233177"/>
                <a:ext cx="242727" cy="242727"/>
                <a:chOff x="1020916" y="1442088"/>
                <a:chExt cx="457200" cy="457200"/>
              </a:xfrm>
            </p:grpSpPr>
            <p:pic>
              <p:nvPicPr>
                <p:cNvPr id="1435" name="Google Shape;1435;p8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6" name="Google Shape;1436;p85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1437" name="Google Shape;1437;p85"/>
            <p:cNvSpPr txBox="1"/>
            <p:nvPr/>
          </p:nvSpPr>
          <p:spPr>
            <a:xfrm>
              <a:off x="2720500" y="2972675"/>
              <a:ext cx="5946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outcomes of the spinner aren’t all equally likely.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85"/>
            <p:cNvSpPr txBox="1"/>
            <p:nvPr/>
          </p:nvSpPr>
          <p:spPr>
            <a:xfrm>
              <a:off x="2038225" y="2571750"/>
              <a:ext cx="6781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Which of these statements explain why Laura is incorrect?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39" name="Google Shape;1439;p85"/>
            <p:cNvGrpSpPr/>
            <p:nvPr/>
          </p:nvGrpSpPr>
          <p:grpSpPr>
            <a:xfrm>
              <a:off x="2000125" y="2509948"/>
              <a:ext cx="6819475" cy="2538568"/>
              <a:chOff x="2000225" y="2179800"/>
              <a:chExt cx="6856500" cy="2908200"/>
            </a:xfrm>
          </p:grpSpPr>
          <p:cxnSp>
            <p:nvCxnSpPr>
              <p:cNvPr id="1440" name="Google Shape;1440;p85"/>
              <p:cNvCxnSpPr/>
              <p:nvPr/>
            </p:nvCxnSpPr>
            <p:spPr>
              <a:xfrm>
                <a:off x="2000250" y="2179800"/>
                <a:ext cx="0" cy="29082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1" name="Google Shape;1441;p85"/>
              <p:cNvCxnSpPr/>
              <p:nvPr/>
            </p:nvCxnSpPr>
            <p:spPr>
              <a:xfrm rot="10800000">
                <a:off x="2000225" y="2190025"/>
                <a:ext cx="68565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42" name="Google Shape;1442;p85"/>
            <p:cNvGrpSpPr/>
            <p:nvPr/>
          </p:nvGrpSpPr>
          <p:grpSpPr>
            <a:xfrm>
              <a:off x="2314788" y="3406672"/>
              <a:ext cx="433200" cy="277200"/>
              <a:chOff x="4193788" y="2215950"/>
              <a:chExt cx="433200" cy="277200"/>
            </a:xfrm>
          </p:grpSpPr>
          <p:sp>
            <p:nvSpPr>
              <p:cNvPr id="1443" name="Google Shape;1443;p85"/>
              <p:cNvSpPr txBox="1"/>
              <p:nvPr/>
            </p:nvSpPr>
            <p:spPr>
              <a:xfrm>
                <a:off x="4193788" y="22159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444" name="Google Shape;1444;p85"/>
              <p:cNvGrpSpPr/>
              <p:nvPr/>
            </p:nvGrpSpPr>
            <p:grpSpPr>
              <a:xfrm>
                <a:off x="4276799" y="2233177"/>
                <a:ext cx="242727" cy="242727"/>
                <a:chOff x="1020916" y="1442088"/>
                <a:chExt cx="457200" cy="457200"/>
              </a:xfrm>
            </p:grpSpPr>
            <p:pic>
              <p:nvPicPr>
                <p:cNvPr id="1445" name="Google Shape;1445;p8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6" name="Google Shape;1446;p85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1447" name="Google Shape;1447;p85"/>
            <p:cNvSpPr txBox="1"/>
            <p:nvPr/>
          </p:nvSpPr>
          <p:spPr>
            <a:xfrm>
              <a:off x="2720500" y="3406650"/>
              <a:ext cx="5946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There are more 4s than -4s.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48" name="Google Shape;1448;p85"/>
            <p:cNvGrpSpPr/>
            <p:nvPr/>
          </p:nvGrpSpPr>
          <p:grpSpPr>
            <a:xfrm>
              <a:off x="2314788" y="3840647"/>
              <a:ext cx="433200" cy="277200"/>
              <a:chOff x="4193788" y="2215950"/>
              <a:chExt cx="433200" cy="277200"/>
            </a:xfrm>
          </p:grpSpPr>
          <p:sp>
            <p:nvSpPr>
              <p:cNvPr id="1449" name="Google Shape;1449;p85"/>
              <p:cNvSpPr txBox="1"/>
              <p:nvPr/>
            </p:nvSpPr>
            <p:spPr>
              <a:xfrm>
                <a:off x="4193788" y="22159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450" name="Google Shape;1450;p85"/>
              <p:cNvGrpSpPr/>
              <p:nvPr/>
            </p:nvGrpSpPr>
            <p:grpSpPr>
              <a:xfrm>
                <a:off x="4276799" y="2233177"/>
                <a:ext cx="242727" cy="242727"/>
                <a:chOff x="1020916" y="1442088"/>
                <a:chExt cx="457200" cy="457200"/>
              </a:xfrm>
            </p:grpSpPr>
            <p:pic>
              <p:nvPicPr>
                <p:cNvPr id="1451" name="Google Shape;1451;p8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2" name="Google Shape;1452;p85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c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sp>
          <p:nvSpPr>
            <p:cNvPr id="1453" name="Google Shape;1453;p85"/>
            <p:cNvSpPr txBox="1"/>
            <p:nvPr/>
          </p:nvSpPr>
          <p:spPr>
            <a:xfrm>
              <a:off x="2720500" y="4503200"/>
              <a:ext cx="6099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spinner has too many sectors.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54" name="Google Shape;1454;p85"/>
            <p:cNvGrpSpPr/>
            <p:nvPr/>
          </p:nvGrpSpPr>
          <p:grpSpPr>
            <a:xfrm>
              <a:off x="2314788" y="4274622"/>
              <a:ext cx="433200" cy="488555"/>
              <a:chOff x="4193788" y="2215950"/>
              <a:chExt cx="433200" cy="488555"/>
            </a:xfrm>
          </p:grpSpPr>
          <p:sp>
            <p:nvSpPr>
              <p:cNvPr id="1455" name="Google Shape;1455;p85"/>
              <p:cNvSpPr txBox="1"/>
              <p:nvPr/>
            </p:nvSpPr>
            <p:spPr>
              <a:xfrm>
                <a:off x="4193788" y="22159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456" name="Google Shape;1456;p85"/>
              <p:cNvGrpSpPr/>
              <p:nvPr/>
            </p:nvGrpSpPr>
            <p:grpSpPr>
              <a:xfrm>
                <a:off x="4276799" y="2461777"/>
                <a:ext cx="242727" cy="242727"/>
                <a:chOff x="1020916" y="1872677"/>
                <a:chExt cx="457200" cy="457200"/>
              </a:xfrm>
            </p:grpSpPr>
            <p:pic>
              <p:nvPicPr>
                <p:cNvPr id="1457" name="Google Shape;1457;p8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020916" y="1872677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8" name="Google Shape;1458;p85"/>
                <p:cNvSpPr txBox="1"/>
                <p:nvPr/>
              </p:nvSpPr>
              <p:spPr>
                <a:xfrm>
                  <a:off x="1045528" y="195699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d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pic>
        <p:nvPicPr>
          <p:cNvPr id="1459" name="Google Shape;1459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8233" y="26979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8233" y="35514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86"/>
          <p:cNvSpPr txBox="1"/>
          <p:nvPr/>
        </p:nvSpPr>
        <p:spPr>
          <a:xfrm>
            <a:off x="330325" y="2800350"/>
            <a:ext cx="848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sector of the spinner represents an equally likely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467" name="Google Shape;1467;p86"/>
          <p:cNvSpPr txBox="1"/>
          <p:nvPr/>
        </p:nvSpPr>
        <p:spPr>
          <a:xfrm>
            <a:off x="2038225" y="628650"/>
            <a:ext cx="238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 will spin this spinner twice, and find the sum of the numbers the spinner lands 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6"/>
          <p:cNvSpPr txBox="1"/>
          <p:nvPr/>
        </p:nvSpPr>
        <p:spPr>
          <a:xfrm>
            <a:off x="1272700" y="4145425"/>
            <a:ext cx="609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outcomes of 8 and -8 are equally likely.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9" name="Google Shape;1469;p86"/>
          <p:cNvGrpSpPr/>
          <p:nvPr/>
        </p:nvGrpSpPr>
        <p:grpSpPr>
          <a:xfrm>
            <a:off x="866988" y="3429897"/>
            <a:ext cx="433200" cy="277200"/>
            <a:chOff x="4193788" y="2215950"/>
            <a:chExt cx="433200" cy="277200"/>
          </a:xfrm>
        </p:grpSpPr>
        <p:sp>
          <p:nvSpPr>
            <p:cNvPr id="1470" name="Google Shape;1470;p8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71" name="Google Shape;1471;p8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472" name="Google Shape;1472;p8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3" name="Google Shape;1473;p8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74" name="Google Shape;1474;p86"/>
          <p:cNvSpPr txBox="1"/>
          <p:nvPr/>
        </p:nvSpPr>
        <p:spPr>
          <a:xfrm>
            <a:off x="1272700" y="3429875"/>
            <a:ext cx="594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four equally likely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5" name="Google Shape;1475;p86"/>
          <p:cNvCxnSpPr/>
          <p:nvPr/>
        </p:nvCxnSpPr>
        <p:spPr>
          <a:xfrm rot="10800000">
            <a:off x="330200" y="2747474"/>
            <a:ext cx="8489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6" name="Google Shape;1476;p86"/>
          <p:cNvGrpSpPr/>
          <p:nvPr/>
        </p:nvGrpSpPr>
        <p:grpSpPr>
          <a:xfrm>
            <a:off x="866988" y="3787672"/>
            <a:ext cx="433200" cy="277200"/>
            <a:chOff x="4193788" y="2215950"/>
            <a:chExt cx="433200" cy="277200"/>
          </a:xfrm>
        </p:grpSpPr>
        <p:sp>
          <p:nvSpPr>
            <p:cNvPr id="1477" name="Google Shape;1477;p8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78" name="Google Shape;1478;p8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479" name="Google Shape;1479;p8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0" name="Google Shape;1480;p8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81" name="Google Shape;1481;p86"/>
          <p:cNvSpPr txBox="1"/>
          <p:nvPr/>
        </p:nvSpPr>
        <p:spPr>
          <a:xfrm>
            <a:off x="1272700" y="3787650"/>
            <a:ext cx="594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four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2" name="Google Shape;1482;p86"/>
          <p:cNvGrpSpPr/>
          <p:nvPr/>
        </p:nvGrpSpPr>
        <p:grpSpPr>
          <a:xfrm>
            <a:off x="866988" y="4145447"/>
            <a:ext cx="433200" cy="277200"/>
            <a:chOff x="4193788" y="2215950"/>
            <a:chExt cx="433200" cy="277200"/>
          </a:xfrm>
        </p:grpSpPr>
        <p:sp>
          <p:nvSpPr>
            <p:cNvPr id="1483" name="Google Shape;1483;p8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84" name="Google Shape;1484;p8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485" name="Google Shape;1485;p8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6" name="Google Shape;1486;p8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87" name="Google Shape;1487;p86"/>
          <p:cNvSpPr txBox="1"/>
          <p:nvPr/>
        </p:nvSpPr>
        <p:spPr>
          <a:xfrm>
            <a:off x="1272700" y="4503200"/>
            <a:ext cx="609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 is the most likely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8" name="Google Shape;1488;p86"/>
          <p:cNvGrpSpPr/>
          <p:nvPr/>
        </p:nvGrpSpPr>
        <p:grpSpPr>
          <a:xfrm>
            <a:off x="866988" y="4503222"/>
            <a:ext cx="433200" cy="277200"/>
            <a:chOff x="4193788" y="2215950"/>
            <a:chExt cx="433200" cy="277200"/>
          </a:xfrm>
        </p:grpSpPr>
        <p:sp>
          <p:nvSpPr>
            <p:cNvPr id="1489" name="Google Shape;1489;p8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90" name="Google Shape;1490;p8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491" name="Google Shape;1491;p8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2" name="Google Shape;1492;p8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aphicFrame>
        <p:nvGraphicFramePr>
          <p:cNvPr id="1493" name="Google Shape;1493;p86"/>
          <p:cNvGraphicFramePr/>
          <p:nvPr/>
        </p:nvGraphicFramePr>
        <p:xfrm>
          <a:off x="4796075" y="6683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574775"/>
                <a:gridCol w="574775"/>
                <a:gridCol w="574775"/>
                <a:gridCol w="574775"/>
                <a:gridCol w="574775"/>
                <a:gridCol w="574775"/>
                <a:gridCol w="574775"/>
              </a:tblGrid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+</a:t>
                      </a:r>
                      <a:endParaRPr sz="1600"/>
                    </a:p>
                  </a:txBody>
                  <a:tcPr marT="0" marB="0" marR="0" marL="0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3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-4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94" name="Google Shape;149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383" y="405387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383" y="4409096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86"/>
          <p:cNvSpPr/>
          <p:nvPr/>
        </p:nvSpPr>
        <p:spPr>
          <a:xfrm rot="10800000">
            <a:off x="339063" y="661533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86"/>
          <p:cNvSpPr/>
          <p:nvPr/>
        </p:nvSpPr>
        <p:spPr>
          <a:xfrm rot="-7200295">
            <a:off x="338952" y="661391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86"/>
          <p:cNvSpPr/>
          <p:nvPr/>
        </p:nvSpPr>
        <p:spPr>
          <a:xfrm rot="-3599705">
            <a:off x="338510" y="661456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86"/>
          <p:cNvSpPr/>
          <p:nvPr/>
        </p:nvSpPr>
        <p:spPr>
          <a:xfrm>
            <a:off x="338470" y="661448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86"/>
          <p:cNvSpPr/>
          <p:nvPr/>
        </p:nvSpPr>
        <p:spPr>
          <a:xfrm flipH="1">
            <a:off x="338896" y="661610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86"/>
          <p:cNvSpPr txBox="1"/>
          <p:nvPr/>
        </p:nvSpPr>
        <p:spPr>
          <a:xfrm>
            <a:off x="434872" y="1989738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6"/>
          <p:cNvSpPr/>
          <p:nvPr/>
        </p:nvSpPr>
        <p:spPr>
          <a:xfrm flipH="1" rot="3599705">
            <a:off x="338529" y="661618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86"/>
          <p:cNvSpPr txBox="1"/>
          <p:nvPr/>
        </p:nvSpPr>
        <p:spPr>
          <a:xfrm flipH="1">
            <a:off x="1067083" y="86376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6"/>
          <p:cNvSpPr txBox="1"/>
          <p:nvPr/>
        </p:nvSpPr>
        <p:spPr>
          <a:xfrm flipH="1">
            <a:off x="1239783" y="120258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6"/>
          <p:cNvSpPr txBox="1"/>
          <p:nvPr/>
        </p:nvSpPr>
        <p:spPr>
          <a:xfrm flipH="1">
            <a:off x="606877" y="8637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-4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6"/>
          <p:cNvSpPr txBox="1"/>
          <p:nvPr/>
        </p:nvSpPr>
        <p:spPr>
          <a:xfrm flipH="1">
            <a:off x="1067083" y="159617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86"/>
          <p:cNvSpPr txBox="1"/>
          <p:nvPr/>
        </p:nvSpPr>
        <p:spPr>
          <a:xfrm flipH="1">
            <a:off x="606877" y="1596152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-4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6"/>
          <p:cNvSpPr txBox="1"/>
          <p:nvPr/>
        </p:nvSpPr>
        <p:spPr>
          <a:xfrm flipH="1">
            <a:off x="434183" y="1202587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-4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9" name="Google Shape;1509;p86"/>
          <p:cNvGrpSpPr/>
          <p:nvPr/>
        </p:nvGrpSpPr>
        <p:grpSpPr>
          <a:xfrm>
            <a:off x="975572" y="876461"/>
            <a:ext cx="54300" cy="473780"/>
            <a:chOff x="779080" y="747789"/>
            <a:chExt cx="54300" cy="473780"/>
          </a:xfrm>
        </p:grpSpPr>
        <p:cxnSp>
          <p:nvCxnSpPr>
            <p:cNvPr id="1510" name="Google Shape;1510;p86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11" name="Google Shape;1511;p86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87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pic>
        <p:nvPicPr>
          <p:cNvPr id="1518" name="Google Shape;151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584" y="19702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87"/>
          <p:cNvSpPr txBox="1"/>
          <p:nvPr/>
        </p:nvSpPr>
        <p:spPr>
          <a:xfrm>
            <a:off x="8114735" y="27073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0" name="Google Shape;1520;p8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78473" y="777025"/>
            <a:ext cx="3710577" cy="13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87"/>
          <p:cNvSpPr txBox="1"/>
          <p:nvPr/>
        </p:nvSpPr>
        <p:spPr>
          <a:xfrm>
            <a:off x="5056514" y="793305"/>
            <a:ext cx="33519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So, it is important to make sure the area of each sector is equal in size before you can look at likelihood…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2" name="Google Shape;1522;p87"/>
          <p:cNvGrpSpPr/>
          <p:nvPr/>
        </p:nvGrpSpPr>
        <p:grpSpPr>
          <a:xfrm>
            <a:off x="5056302" y="2829698"/>
            <a:ext cx="3556580" cy="1081499"/>
            <a:chOff x="5652350" y="3286901"/>
            <a:chExt cx="3036698" cy="1081499"/>
          </a:xfrm>
        </p:grpSpPr>
        <p:pic>
          <p:nvPicPr>
            <p:cNvPr id="1523" name="Google Shape;1523;p87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 rot="10800000">
              <a:off x="5652350" y="3286901"/>
              <a:ext cx="3036698" cy="1081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4" name="Google Shape;1524;p87"/>
            <p:cNvSpPr txBox="1"/>
            <p:nvPr/>
          </p:nvSpPr>
          <p:spPr>
            <a:xfrm flipH="1">
              <a:off x="5716487" y="3489306"/>
              <a:ext cx="27429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… But, how do you make sure the spinner is equally likely to land on each sector?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5" name="Google Shape;1525;p87"/>
          <p:cNvSpPr/>
          <p:nvPr/>
        </p:nvSpPr>
        <p:spPr>
          <a:xfrm flipH="1" rot="4320175">
            <a:off x="1086345" y="1472210"/>
            <a:ext cx="1328290" cy="132829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87"/>
          <p:cNvSpPr/>
          <p:nvPr/>
        </p:nvSpPr>
        <p:spPr>
          <a:xfrm flipH="1" rot="8639842">
            <a:off x="1087340" y="1472457"/>
            <a:ext cx="1327952" cy="1327952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87"/>
          <p:cNvSpPr/>
          <p:nvPr/>
        </p:nvSpPr>
        <p:spPr>
          <a:xfrm flipH="1" rot="-8639670">
            <a:off x="1087649" y="1471995"/>
            <a:ext cx="1328371" cy="1328371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87"/>
          <p:cNvSpPr/>
          <p:nvPr/>
        </p:nvSpPr>
        <p:spPr>
          <a:xfrm>
            <a:off x="1086143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87"/>
          <p:cNvSpPr txBox="1"/>
          <p:nvPr/>
        </p:nvSpPr>
        <p:spPr>
          <a:xfrm flipH="1">
            <a:off x="1980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87"/>
          <p:cNvSpPr txBox="1"/>
          <p:nvPr/>
        </p:nvSpPr>
        <p:spPr>
          <a:xfrm flipH="1">
            <a:off x="1586077" y="24368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7"/>
          <p:cNvSpPr txBox="1"/>
          <p:nvPr/>
        </p:nvSpPr>
        <p:spPr>
          <a:xfrm flipH="1">
            <a:off x="1188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7"/>
          <p:cNvSpPr txBox="1"/>
          <p:nvPr/>
        </p:nvSpPr>
        <p:spPr>
          <a:xfrm flipH="1">
            <a:off x="1331762" y="16872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87"/>
          <p:cNvSpPr txBox="1"/>
          <p:nvPr/>
        </p:nvSpPr>
        <p:spPr>
          <a:xfrm>
            <a:off x="1182847" y="28005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87"/>
          <p:cNvSpPr txBox="1"/>
          <p:nvPr/>
        </p:nvSpPr>
        <p:spPr>
          <a:xfrm flipH="1">
            <a:off x="19143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5" name="Google Shape;1535;p87"/>
          <p:cNvGrpSpPr/>
          <p:nvPr/>
        </p:nvGrpSpPr>
        <p:grpSpPr>
          <a:xfrm>
            <a:off x="1087771" y="1472360"/>
            <a:ext cx="1328100" cy="1328100"/>
            <a:chOff x="401046" y="786560"/>
            <a:chExt cx="1328100" cy="1328100"/>
          </a:xfrm>
        </p:grpSpPr>
        <p:sp>
          <p:nvSpPr>
            <p:cNvPr id="1536" name="Google Shape;1536;p87"/>
            <p:cNvSpPr/>
            <p:nvPr/>
          </p:nvSpPr>
          <p:spPr>
            <a:xfrm>
              <a:off x="401046" y="786560"/>
              <a:ext cx="1328100" cy="1328100"/>
            </a:xfrm>
            <a:prstGeom prst="pie">
              <a:avLst>
                <a:gd fmla="val 20521763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87"/>
            <p:cNvSpPr txBox="1"/>
            <p:nvPr/>
          </p:nvSpPr>
          <p:spPr>
            <a:xfrm flipH="1">
              <a:off x="704077" y="145348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88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544" name="Google Shape;1544;p88"/>
          <p:cNvSpPr txBox="1"/>
          <p:nvPr/>
        </p:nvSpPr>
        <p:spPr>
          <a:xfrm flipH="1">
            <a:off x="19143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8"/>
          <p:cNvSpPr/>
          <p:nvPr/>
        </p:nvSpPr>
        <p:spPr>
          <a:xfrm flipH="1" rot="4320175">
            <a:off x="1086345" y="1472210"/>
            <a:ext cx="1328290" cy="132829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88"/>
          <p:cNvSpPr/>
          <p:nvPr/>
        </p:nvSpPr>
        <p:spPr>
          <a:xfrm flipH="1" rot="8639842">
            <a:off x="1087340" y="1472457"/>
            <a:ext cx="1327952" cy="1327952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88"/>
          <p:cNvSpPr/>
          <p:nvPr/>
        </p:nvSpPr>
        <p:spPr>
          <a:xfrm flipH="1" rot="-8639670">
            <a:off x="1087649" y="1471995"/>
            <a:ext cx="1328371" cy="1328371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88"/>
          <p:cNvSpPr/>
          <p:nvPr/>
        </p:nvSpPr>
        <p:spPr>
          <a:xfrm>
            <a:off x="1086143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88"/>
          <p:cNvSpPr txBox="1"/>
          <p:nvPr/>
        </p:nvSpPr>
        <p:spPr>
          <a:xfrm flipH="1">
            <a:off x="1980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88"/>
          <p:cNvSpPr txBox="1"/>
          <p:nvPr/>
        </p:nvSpPr>
        <p:spPr>
          <a:xfrm flipH="1">
            <a:off x="1586077" y="24368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88"/>
          <p:cNvSpPr txBox="1"/>
          <p:nvPr/>
        </p:nvSpPr>
        <p:spPr>
          <a:xfrm flipH="1">
            <a:off x="1188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88"/>
          <p:cNvSpPr txBox="1"/>
          <p:nvPr/>
        </p:nvSpPr>
        <p:spPr>
          <a:xfrm flipH="1">
            <a:off x="12555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88"/>
          <p:cNvSpPr txBox="1"/>
          <p:nvPr/>
        </p:nvSpPr>
        <p:spPr>
          <a:xfrm>
            <a:off x="1182847" y="28005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4" name="Google Shape;1554;p88"/>
          <p:cNvGrpSpPr/>
          <p:nvPr/>
        </p:nvGrpSpPr>
        <p:grpSpPr>
          <a:xfrm>
            <a:off x="8143800" y="1832592"/>
            <a:ext cx="676200" cy="1040525"/>
            <a:chOff x="8137196" y="1935832"/>
            <a:chExt cx="676200" cy="1040525"/>
          </a:xfrm>
        </p:grpSpPr>
        <p:pic>
          <p:nvPicPr>
            <p:cNvPr id="1555" name="Google Shape;1555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6" name="Google Shape;1556;p88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7" name="Google Shape;1557;p88"/>
          <p:cNvGrpSpPr/>
          <p:nvPr/>
        </p:nvGrpSpPr>
        <p:grpSpPr>
          <a:xfrm flipH="1">
            <a:off x="5996267" y="698025"/>
            <a:ext cx="2637851" cy="1388189"/>
            <a:chOff x="797575" y="5295652"/>
            <a:chExt cx="3320975" cy="1476325"/>
          </a:xfrm>
        </p:grpSpPr>
        <p:pic>
          <p:nvPicPr>
            <p:cNvPr id="1558" name="Google Shape;1558;p8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9" name="Google Shape;1559;p88"/>
            <p:cNvSpPr txBox="1"/>
            <p:nvPr/>
          </p:nvSpPr>
          <p:spPr>
            <a:xfrm flipH="1">
              <a:off x="1048703" y="5311751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you can use a protractor to measure the angle of the smallest sector…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0" name="Google Shape;1560;p88"/>
          <p:cNvGrpSpPr/>
          <p:nvPr/>
        </p:nvGrpSpPr>
        <p:grpSpPr>
          <a:xfrm rot="10800000">
            <a:off x="6044404" y="2715691"/>
            <a:ext cx="2589697" cy="1388189"/>
            <a:chOff x="797575" y="5295652"/>
            <a:chExt cx="3320975" cy="1476325"/>
          </a:xfrm>
        </p:grpSpPr>
        <p:pic>
          <p:nvPicPr>
            <p:cNvPr id="1561" name="Google Shape;1561;p8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88"/>
            <p:cNvSpPr txBox="1"/>
            <p:nvPr/>
          </p:nvSpPr>
          <p:spPr>
            <a:xfrm flipH="1" rot="10800000">
              <a:off x="1048698" y="5311731"/>
              <a:ext cx="3000000" cy="11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split up any larger sector into multiple smaller sectors.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3" name="Google Shape;1563;p88"/>
          <p:cNvSpPr/>
          <p:nvPr/>
        </p:nvSpPr>
        <p:spPr>
          <a:xfrm>
            <a:off x="1360100" y="1741375"/>
            <a:ext cx="781200" cy="781200"/>
          </a:xfrm>
          <a:prstGeom prst="arc">
            <a:avLst>
              <a:gd fmla="val 11832887" name="adj1"/>
              <a:gd fmla="val 16128299" name="adj2"/>
            </a:avLst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8"/>
          <p:cNvSpPr txBox="1"/>
          <p:nvPr/>
        </p:nvSpPr>
        <p:spPr>
          <a:xfrm flipH="1">
            <a:off x="1441160" y="1843027"/>
            <a:ext cx="33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5" name="Google Shape;1565;p88"/>
          <p:cNvGrpSpPr/>
          <p:nvPr/>
        </p:nvGrpSpPr>
        <p:grpSpPr>
          <a:xfrm>
            <a:off x="1359600" y="1741375"/>
            <a:ext cx="781200" cy="781200"/>
            <a:chOff x="1359600" y="1741375"/>
            <a:chExt cx="781200" cy="781200"/>
          </a:xfrm>
        </p:grpSpPr>
        <p:sp>
          <p:nvSpPr>
            <p:cNvPr id="1566" name="Google Shape;1566;p88"/>
            <p:cNvSpPr/>
            <p:nvPr/>
          </p:nvSpPr>
          <p:spPr>
            <a:xfrm flipH="1">
              <a:off x="1359600" y="1741375"/>
              <a:ext cx="781200" cy="781200"/>
            </a:xfrm>
            <a:prstGeom prst="arc">
              <a:avLst>
                <a:gd fmla="val 11832887" name="adj1"/>
                <a:gd fmla="val 16128299" name="adj2"/>
              </a:avLst>
            </a:prstGeom>
            <a:solidFill>
              <a:srgbClr val="FAEAF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8"/>
            <p:cNvSpPr txBox="1"/>
            <p:nvPr/>
          </p:nvSpPr>
          <p:spPr>
            <a:xfrm>
              <a:off x="1752980" y="1843027"/>
              <a:ext cx="331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72°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8" name="Google Shape;1568;p88"/>
          <p:cNvSpPr/>
          <p:nvPr/>
        </p:nvSpPr>
        <p:spPr>
          <a:xfrm>
            <a:off x="1087768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9" name="Google Shape;1569;p88"/>
          <p:cNvGrpSpPr/>
          <p:nvPr/>
        </p:nvGrpSpPr>
        <p:grpSpPr>
          <a:xfrm>
            <a:off x="1087771" y="1472360"/>
            <a:ext cx="1328100" cy="1328100"/>
            <a:chOff x="401046" y="786560"/>
            <a:chExt cx="1328100" cy="1328100"/>
          </a:xfrm>
        </p:grpSpPr>
        <p:sp>
          <p:nvSpPr>
            <p:cNvPr id="1570" name="Google Shape;1570;p88"/>
            <p:cNvSpPr/>
            <p:nvPr/>
          </p:nvSpPr>
          <p:spPr>
            <a:xfrm>
              <a:off x="401046" y="786560"/>
              <a:ext cx="1328100" cy="1328100"/>
            </a:xfrm>
            <a:prstGeom prst="pie">
              <a:avLst>
                <a:gd fmla="val 20521763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88"/>
            <p:cNvSpPr txBox="1"/>
            <p:nvPr/>
          </p:nvSpPr>
          <p:spPr>
            <a:xfrm flipH="1">
              <a:off x="704077" y="145348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2" name="Google Shape;1572;p88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3" name="Google Shape;1573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7508" y="1252425"/>
            <a:ext cx="2928967" cy="16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89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580" name="Google Shape;1580;p89"/>
          <p:cNvSpPr txBox="1"/>
          <p:nvPr/>
        </p:nvSpPr>
        <p:spPr>
          <a:xfrm flipH="1">
            <a:off x="19143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9"/>
          <p:cNvSpPr/>
          <p:nvPr/>
        </p:nvSpPr>
        <p:spPr>
          <a:xfrm flipH="1" rot="4320175">
            <a:off x="1086345" y="1472210"/>
            <a:ext cx="1328290" cy="132829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89"/>
          <p:cNvSpPr/>
          <p:nvPr/>
        </p:nvSpPr>
        <p:spPr>
          <a:xfrm flipH="1" rot="8639842">
            <a:off x="1087340" y="1472457"/>
            <a:ext cx="1327952" cy="1327952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89"/>
          <p:cNvSpPr/>
          <p:nvPr/>
        </p:nvSpPr>
        <p:spPr>
          <a:xfrm flipH="1" rot="-8639670">
            <a:off x="1087649" y="1471995"/>
            <a:ext cx="1328371" cy="1328371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89"/>
          <p:cNvSpPr/>
          <p:nvPr/>
        </p:nvSpPr>
        <p:spPr>
          <a:xfrm>
            <a:off x="1086143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89"/>
          <p:cNvSpPr txBox="1"/>
          <p:nvPr/>
        </p:nvSpPr>
        <p:spPr>
          <a:xfrm flipH="1">
            <a:off x="1980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89"/>
          <p:cNvSpPr txBox="1"/>
          <p:nvPr/>
        </p:nvSpPr>
        <p:spPr>
          <a:xfrm flipH="1">
            <a:off x="1586077" y="24368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9"/>
          <p:cNvSpPr txBox="1"/>
          <p:nvPr/>
        </p:nvSpPr>
        <p:spPr>
          <a:xfrm flipH="1">
            <a:off x="1188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9"/>
          <p:cNvSpPr txBox="1"/>
          <p:nvPr/>
        </p:nvSpPr>
        <p:spPr>
          <a:xfrm flipH="1">
            <a:off x="12555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89"/>
          <p:cNvSpPr txBox="1"/>
          <p:nvPr/>
        </p:nvSpPr>
        <p:spPr>
          <a:xfrm>
            <a:off x="1182847" y="28005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0" name="Google Shape;1590;p89"/>
          <p:cNvGrpSpPr/>
          <p:nvPr/>
        </p:nvGrpSpPr>
        <p:grpSpPr>
          <a:xfrm flipH="1">
            <a:off x="5700320" y="698025"/>
            <a:ext cx="2933750" cy="1388189"/>
            <a:chOff x="797575" y="5295652"/>
            <a:chExt cx="3320975" cy="1476325"/>
          </a:xfrm>
        </p:grpSpPr>
        <p:pic>
          <p:nvPicPr>
            <p:cNvPr id="1591" name="Google Shape;1591;p8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2" name="Google Shape;1592;p89"/>
            <p:cNvSpPr txBox="1"/>
            <p:nvPr/>
          </p:nvSpPr>
          <p:spPr>
            <a:xfrm flipH="1">
              <a:off x="1048703" y="5311751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if it’s possible to draw an outcome tree to show which outcome is most likely?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3" name="Google Shape;1593;p89"/>
          <p:cNvSpPr/>
          <p:nvPr/>
        </p:nvSpPr>
        <p:spPr>
          <a:xfrm>
            <a:off x="1360100" y="1741375"/>
            <a:ext cx="781200" cy="781200"/>
          </a:xfrm>
          <a:prstGeom prst="arc">
            <a:avLst>
              <a:gd fmla="val 11832887" name="adj1"/>
              <a:gd fmla="val 16128299" name="adj2"/>
            </a:avLst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89"/>
          <p:cNvSpPr txBox="1"/>
          <p:nvPr/>
        </p:nvSpPr>
        <p:spPr>
          <a:xfrm flipH="1">
            <a:off x="1441160" y="1843027"/>
            <a:ext cx="33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5" name="Google Shape;1595;p89"/>
          <p:cNvGrpSpPr/>
          <p:nvPr/>
        </p:nvGrpSpPr>
        <p:grpSpPr>
          <a:xfrm>
            <a:off x="1359600" y="1741375"/>
            <a:ext cx="781200" cy="781200"/>
            <a:chOff x="1359600" y="1741375"/>
            <a:chExt cx="781200" cy="781200"/>
          </a:xfrm>
        </p:grpSpPr>
        <p:sp>
          <p:nvSpPr>
            <p:cNvPr id="1596" name="Google Shape;1596;p89"/>
            <p:cNvSpPr/>
            <p:nvPr/>
          </p:nvSpPr>
          <p:spPr>
            <a:xfrm flipH="1">
              <a:off x="1359600" y="1741375"/>
              <a:ext cx="781200" cy="781200"/>
            </a:xfrm>
            <a:prstGeom prst="arc">
              <a:avLst>
                <a:gd fmla="val 11832887" name="adj1"/>
                <a:gd fmla="val 16128299" name="adj2"/>
              </a:avLst>
            </a:prstGeom>
            <a:solidFill>
              <a:srgbClr val="FAEAF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7" name="Google Shape;1597;p89"/>
            <p:cNvSpPr txBox="1"/>
            <p:nvPr/>
          </p:nvSpPr>
          <p:spPr>
            <a:xfrm>
              <a:off x="1752980" y="1843027"/>
              <a:ext cx="331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72°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8" name="Google Shape;1598;p89"/>
          <p:cNvSpPr/>
          <p:nvPr/>
        </p:nvSpPr>
        <p:spPr>
          <a:xfrm>
            <a:off x="1087768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89"/>
          <p:cNvSpPr txBox="1"/>
          <p:nvPr/>
        </p:nvSpPr>
        <p:spPr>
          <a:xfrm>
            <a:off x="330325" y="3181350"/>
            <a:ext cx="255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spin spinner 1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89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1" name="Google Shape;1601;p89"/>
          <p:cNvGrpSpPr/>
          <p:nvPr/>
        </p:nvGrpSpPr>
        <p:grpSpPr>
          <a:xfrm>
            <a:off x="4882200" y="2529625"/>
            <a:ext cx="3349652" cy="1379449"/>
            <a:chOff x="4882200" y="2529625"/>
            <a:chExt cx="3349652" cy="1379449"/>
          </a:xfrm>
        </p:grpSpPr>
        <p:pic>
          <p:nvPicPr>
            <p:cNvPr id="1602" name="Google Shape;1602;p89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882200" y="2529625"/>
              <a:ext cx="3349652" cy="1379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3" name="Google Shape;1603;p89"/>
            <p:cNvSpPr txBox="1"/>
            <p:nvPr/>
          </p:nvSpPr>
          <p:spPr>
            <a:xfrm>
              <a:off x="4952650" y="2545905"/>
              <a:ext cx="3025800" cy="5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It’s definitely possible, but won’t it have lots of branches because there are so many sectors?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4" name="Google Shape;1604;p89"/>
          <p:cNvGrpSpPr/>
          <p:nvPr/>
        </p:nvGrpSpPr>
        <p:grpSpPr>
          <a:xfrm>
            <a:off x="4600391" y="2430050"/>
            <a:ext cx="3727236" cy="1560900"/>
            <a:chOff x="4792800" y="4868450"/>
            <a:chExt cx="3534600" cy="1560900"/>
          </a:xfrm>
        </p:grpSpPr>
        <p:sp>
          <p:nvSpPr>
            <p:cNvPr id="1605" name="Google Shape;1605;p89"/>
            <p:cNvSpPr/>
            <p:nvPr/>
          </p:nvSpPr>
          <p:spPr>
            <a:xfrm>
              <a:off x="4792800" y="4868450"/>
              <a:ext cx="3534600" cy="156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06" name="Google Shape;1606;p89"/>
            <p:cNvGrpSpPr/>
            <p:nvPr/>
          </p:nvGrpSpPr>
          <p:grpSpPr>
            <a:xfrm>
              <a:off x="4882200" y="4988400"/>
              <a:ext cx="3349652" cy="1379449"/>
              <a:chOff x="4882200" y="2529625"/>
              <a:chExt cx="3349652" cy="1379449"/>
            </a:xfrm>
          </p:grpSpPr>
          <p:pic>
            <p:nvPicPr>
              <p:cNvPr id="1607" name="Google Shape;1607;p89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4882200" y="2529625"/>
                <a:ext cx="3349652" cy="13794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8" name="Google Shape;1608;p89"/>
              <p:cNvSpPr txBox="1"/>
              <p:nvPr/>
            </p:nvSpPr>
            <p:spPr>
              <a:xfrm>
                <a:off x="4952650" y="2545905"/>
                <a:ext cx="3025800" cy="5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outcome trees are a lot better for showing unique outcomes only… That means a lot fewer branches!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609" name="Google Shape;1609;p89"/>
          <p:cNvGrpSpPr/>
          <p:nvPr/>
        </p:nvGrpSpPr>
        <p:grpSpPr>
          <a:xfrm>
            <a:off x="7657535" y="3722829"/>
            <a:ext cx="705274" cy="1014294"/>
            <a:chOff x="7657535" y="3722829"/>
            <a:chExt cx="705274" cy="1014294"/>
          </a:xfrm>
        </p:grpSpPr>
        <p:pic>
          <p:nvPicPr>
            <p:cNvPr id="1610" name="Google Shape;161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98384" y="3722829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1" name="Google Shape;1611;p89"/>
            <p:cNvSpPr txBox="1"/>
            <p:nvPr/>
          </p:nvSpPr>
          <p:spPr>
            <a:xfrm>
              <a:off x="7657535" y="4459922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2" name="Google Shape;1612;p89"/>
          <p:cNvGrpSpPr/>
          <p:nvPr/>
        </p:nvGrpSpPr>
        <p:grpSpPr>
          <a:xfrm>
            <a:off x="8143800" y="1832592"/>
            <a:ext cx="676200" cy="1040525"/>
            <a:chOff x="8137196" y="1935832"/>
            <a:chExt cx="676200" cy="1040525"/>
          </a:xfrm>
        </p:grpSpPr>
        <p:pic>
          <p:nvPicPr>
            <p:cNvPr id="1613" name="Google Shape;1613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4" name="Google Shape;1614;p89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90"/>
          <p:cNvSpPr/>
          <p:nvPr/>
        </p:nvSpPr>
        <p:spPr>
          <a:xfrm>
            <a:off x="6214400" y="638750"/>
            <a:ext cx="532500" cy="12447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0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622" name="Google Shape;1622;p90"/>
          <p:cNvSpPr txBox="1"/>
          <p:nvPr/>
        </p:nvSpPr>
        <p:spPr>
          <a:xfrm flipH="1">
            <a:off x="19143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0"/>
          <p:cNvSpPr/>
          <p:nvPr/>
        </p:nvSpPr>
        <p:spPr>
          <a:xfrm flipH="1" rot="4320175">
            <a:off x="1086345" y="1472210"/>
            <a:ext cx="1328290" cy="132829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90"/>
          <p:cNvSpPr/>
          <p:nvPr/>
        </p:nvSpPr>
        <p:spPr>
          <a:xfrm flipH="1" rot="8639842">
            <a:off x="1087340" y="1472457"/>
            <a:ext cx="1327952" cy="1327952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90"/>
          <p:cNvSpPr/>
          <p:nvPr/>
        </p:nvSpPr>
        <p:spPr>
          <a:xfrm flipH="1" rot="-8639670">
            <a:off x="1087649" y="1471995"/>
            <a:ext cx="1328371" cy="1328371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90"/>
          <p:cNvSpPr/>
          <p:nvPr/>
        </p:nvSpPr>
        <p:spPr>
          <a:xfrm>
            <a:off x="1086143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90"/>
          <p:cNvSpPr txBox="1"/>
          <p:nvPr/>
        </p:nvSpPr>
        <p:spPr>
          <a:xfrm flipH="1">
            <a:off x="1980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0"/>
          <p:cNvSpPr txBox="1"/>
          <p:nvPr/>
        </p:nvSpPr>
        <p:spPr>
          <a:xfrm flipH="1">
            <a:off x="1586077" y="243688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0"/>
          <p:cNvSpPr txBox="1"/>
          <p:nvPr/>
        </p:nvSpPr>
        <p:spPr>
          <a:xfrm flipH="1">
            <a:off x="1188952" y="211663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0"/>
          <p:cNvSpPr txBox="1"/>
          <p:nvPr/>
        </p:nvSpPr>
        <p:spPr>
          <a:xfrm flipH="1">
            <a:off x="1255562" y="161102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0"/>
          <p:cNvSpPr txBox="1"/>
          <p:nvPr/>
        </p:nvSpPr>
        <p:spPr>
          <a:xfrm>
            <a:off x="1182847" y="2800513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0"/>
          <p:cNvSpPr/>
          <p:nvPr/>
        </p:nvSpPr>
        <p:spPr>
          <a:xfrm>
            <a:off x="1360100" y="1741375"/>
            <a:ext cx="781200" cy="781200"/>
          </a:xfrm>
          <a:prstGeom prst="arc">
            <a:avLst>
              <a:gd fmla="val 11832887" name="adj1"/>
              <a:gd fmla="val 16128299" name="adj2"/>
            </a:avLst>
          </a:prstGeom>
          <a:solidFill>
            <a:srgbClr val="FAEAF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0"/>
          <p:cNvSpPr txBox="1"/>
          <p:nvPr/>
        </p:nvSpPr>
        <p:spPr>
          <a:xfrm flipH="1">
            <a:off x="1441160" y="1843027"/>
            <a:ext cx="33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4" name="Google Shape;1634;p90"/>
          <p:cNvGrpSpPr/>
          <p:nvPr/>
        </p:nvGrpSpPr>
        <p:grpSpPr>
          <a:xfrm>
            <a:off x="1359600" y="1741375"/>
            <a:ext cx="781200" cy="781200"/>
            <a:chOff x="1359600" y="1741375"/>
            <a:chExt cx="781200" cy="781200"/>
          </a:xfrm>
        </p:grpSpPr>
        <p:sp>
          <p:nvSpPr>
            <p:cNvPr id="1635" name="Google Shape;1635;p90"/>
            <p:cNvSpPr/>
            <p:nvPr/>
          </p:nvSpPr>
          <p:spPr>
            <a:xfrm flipH="1">
              <a:off x="1359600" y="1741375"/>
              <a:ext cx="781200" cy="781200"/>
            </a:xfrm>
            <a:prstGeom prst="arc">
              <a:avLst>
                <a:gd fmla="val 11832887" name="adj1"/>
                <a:gd fmla="val 16128299" name="adj2"/>
              </a:avLst>
            </a:prstGeom>
            <a:solidFill>
              <a:srgbClr val="FAEAF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6" name="Google Shape;1636;p90"/>
            <p:cNvSpPr txBox="1"/>
            <p:nvPr/>
          </p:nvSpPr>
          <p:spPr>
            <a:xfrm>
              <a:off x="1752980" y="1843027"/>
              <a:ext cx="331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72°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7" name="Google Shape;1637;p90"/>
          <p:cNvSpPr/>
          <p:nvPr/>
        </p:nvSpPr>
        <p:spPr>
          <a:xfrm>
            <a:off x="1087768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90"/>
          <p:cNvSpPr txBox="1"/>
          <p:nvPr/>
        </p:nvSpPr>
        <p:spPr>
          <a:xfrm>
            <a:off x="330325" y="3181350"/>
            <a:ext cx="255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spin spinner 1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0"/>
          <p:cNvSpPr/>
          <p:nvPr/>
        </p:nvSpPr>
        <p:spPr>
          <a:xfrm flipH="1">
            <a:off x="1086871" y="1472385"/>
            <a:ext cx="1328100" cy="1328100"/>
          </a:xfrm>
          <a:prstGeom prst="pie">
            <a:avLst>
              <a:gd fmla="val 1187253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40" name="Google Shape;1640;p90"/>
          <p:cNvGraphicFramePr/>
          <p:nvPr/>
        </p:nvGraphicFramePr>
        <p:xfrm>
          <a:off x="6768825" y="191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266250"/>
                <a:gridCol w="266250"/>
              </a:tblGrid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641" name="Google Shape;1641;p90"/>
          <p:cNvGrpSpPr/>
          <p:nvPr/>
        </p:nvGrpSpPr>
        <p:grpSpPr>
          <a:xfrm>
            <a:off x="3982196" y="1901925"/>
            <a:ext cx="3319129" cy="2878800"/>
            <a:chOff x="3982196" y="1901925"/>
            <a:chExt cx="3319129" cy="2878800"/>
          </a:xfrm>
        </p:grpSpPr>
        <p:grpSp>
          <p:nvGrpSpPr>
            <p:cNvPr id="1642" name="Google Shape;1642;p90"/>
            <p:cNvGrpSpPr/>
            <p:nvPr/>
          </p:nvGrpSpPr>
          <p:grpSpPr>
            <a:xfrm>
              <a:off x="5115328" y="1982125"/>
              <a:ext cx="1433363" cy="456194"/>
              <a:chOff x="4835994" y="3364650"/>
              <a:chExt cx="615600" cy="563899"/>
            </a:xfrm>
          </p:grpSpPr>
          <p:grpSp>
            <p:nvGrpSpPr>
              <p:cNvPr id="1643" name="Google Shape;1643;p90"/>
              <p:cNvGrpSpPr/>
              <p:nvPr/>
            </p:nvGrpSpPr>
            <p:grpSpPr>
              <a:xfrm>
                <a:off x="4835994" y="3513457"/>
                <a:ext cx="610054" cy="266539"/>
                <a:chOff x="3226678" y="2761126"/>
                <a:chExt cx="469200" cy="1426870"/>
              </a:xfrm>
            </p:grpSpPr>
            <p:cxnSp>
              <p:nvCxnSpPr>
                <p:cNvPr id="1644" name="Google Shape;1644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45" name="Google Shape;1645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46" name="Google Shape;1646;p90"/>
              <p:cNvGrpSpPr/>
              <p:nvPr/>
            </p:nvGrpSpPr>
            <p:grpSpPr>
              <a:xfrm>
                <a:off x="4836026" y="3364650"/>
                <a:ext cx="610054" cy="563899"/>
                <a:chOff x="3226678" y="2761126"/>
                <a:chExt cx="469200" cy="1426870"/>
              </a:xfrm>
            </p:grpSpPr>
            <p:cxnSp>
              <p:nvCxnSpPr>
                <p:cNvPr id="1647" name="Google Shape;1647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48" name="Google Shape;1648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49" name="Google Shape;1649;p90"/>
              <p:cNvCxnSpPr/>
              <p:nvPr/>
            </p:nvCxnSpPr>
            <p:spPr>
              <a:xfrm>
                <a:off x="4835994" y="3646716"/>
                <a:ext cx="61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50" name="Google Shape;1650;p90"/>
            <p:cNvGrpSpPr/>
            <p:nvPr/>
          </p:nvGrpSpPr>
          <p:grpSpPr>
            <a:xfrm>
              <a:off x="5115328" y="2542156"/>
              <a:ext cx="1433363" cy="456194"/>
              <a:chOff x="4835994" y="3364650"/>
              <a:chExt cx="615600" cy="563899"/>
            </a:xfrm>
          </p:grpSpPr>
          <p:grpSp>
            <p:nvGrpSpPr>
              <p:cNvPr id="1651" name="Google Shape;1651;p90"/>
              <p:cNvGrpSpPr/>
              <p:nvPr/>
            </p:nvGrpSpPr>
            <p:grpSpPr>
              <a:xfrm>
                <a:off x="4835994" y="3513457"/>
                <a:ext cx="610054" cy="266539"/>
                <a:chOff x="3226678" y="2761126"/>
                <a:chExt cx="469200" cy="1426870"/>
              </a:xfrm>
            </p:grpSpPr>
            <p:cxnSp>
              <p:nvCxnSpPr>
                <p:cNvPr id="1652" name="Google Shape;1652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53" name="Google Shape;1653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54" name="Google Shape;1654;p90"/>
              <p:cNvGrpSpPr/>
              <p:nvPr/>
            </p:nvGrpSpPr>
            <p:grpSpPr>
              <a:xfrm>
                <a:off x="4836026" y="3364650"/>
                <a:ext cx="610054" cy="563899"/>
                <a:chOff x="3226678" y="2761126"/>
                <a:chExt cx="469200" cy="1426870"/>
              </a:xfrm>
            </p:grpSpPr>
            <p:cxnSp>
              <p:nvCxnSpPr>
                <p:cNvPr id="1655" name="Google Shape;1655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56" name="Google Shape;1656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57" name="Google Shape;1657;p90"/>
              <p:cNvCxnSpPr/>
              <p:nvPr/>
            </p:nvCxnSpPr>
            <p:spPr>
              <a:xfrm>
                <a:off x="4835994" y="3646716"/>
                <a:ext cx="61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58" name="Google Shape;1658;p90"/>
            <p:cNvGrpSpPr/>
            <p:nvPr/>
          </p:nvGrpSpPr>
          <p:grpSpPr>
            <a:xfrm>
              <a:off x="5115328" y="3102186"/>
              <a:ext cx="1433363" cy="456194"/>
              <a:chOff x="4835994" y="3364650"/>
              <a:chExt cx="615600" cy="563899"/>
            </a:xfrm>
          </p:grpSpPr>
          <p:grpSp>
            <p:nvGrpSpPr>
              <p:cNvPr id="1659" name="Google Shape;1659;p90"/>
              <p:cNvGrpSpPr/>
              <p:nvPr/>
            </p:nvGrpSpPr>
            <p:grpSpPr>
              <a:xfrm>
                <a:off x="4835994" y="3513457"/>
                <a:ext cx="610054" cy="266539"/>
                <a:chOff x="3226678" y="2761126"/>
                <a:chExt cx="469200" cy="1426870"/>
              </a:xfrm>
            </p:grpSpPr>
            <p:cxnSp>
              <p:nvCxnSpPr>
                <p:cNvPr id="1660" name="Google Shape;1660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1" name="Google Shape;1661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62" name="Google Shape;1662;p90"/>
              <p:cNvGrpSpPr/>
              <p:nvPr/>
            </p:nvGrpSpPr>
            <p:grpSpPr>
              <a:xfrm>
                <a:off x="4836026" y="3364650"/>
                <a:ext cx="610054" cy="563899"/>
                <a:chOff x="3226678" y="2761126"/>
                <a:chExt cx="469200" cy="1426870"/>
              </a:xfrm>
            </p:grpSpPr>
            <p:cxnSp>
              <p:nvCxnSpPr>
                <p:cNvPr id="1663" name="Google Shape;1663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4" name="Google Shape;1664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65" name="Google Shape;1665;p90"/>
              <p:cNvCxnSpPr/>
              <p:nvPr/>
            </p:nvCxnSpPr>
            <p:spPr>
              <a:xfrm>
                <a:off x="4835994" y="3646716"/>
                <a:ext cx="61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66" name="Google Shape;1666;p90"/>
            <p:cNvGrpSpPr/>
            <p:nvPr/>
          </p:nvGrpSpPr>
          <p:grpSpPr>
            <a:xfrm>
              <a:off x="5115328" y="3662216"/>
              <a:ext cx="1433363" cy="456194"/>
              <a:chOff x="4835994" y="3364650"/>
              <a:chExt cx="615600" cy="563899"/>
            </a:xfrm>
          </p:grpSpPr>
          <p:grpSp>
            <p:nvGrpSpPr>
              <p:cNvPr id="1667" name="Google Shape;1667;p90"/>
              <p:cNvGrpSpPr/>
              <p:nvPr/>
            </p:nvGrpSpPr>
            <p:grpSpPr>
              <a:xfrm>
                <a:off x="4835994" y="3513457"/>
                <a:ext cx="610054" cy="266539"/>
                <a:chOff x="3226678" y="2761126"/>
                <a:chExt cx="469200" cy="1426870"/>
              </a:xfrm>
            </p:grpSpPr>
            <p:cxnSp>
              <p:nvCxnSpPr>
                <p:cNvPr id="1668" name="Google Shape;1668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9" name="Google Shape;1669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70" name="Google Shape;1670;p90"/>
              <p:cNvGrpSpPr/>
              <p:nvPr/>
            </p:nvGrpSpPr>
            <p:grpSpPr>
              <a:xfrm>
                <a:off x="4836026" y="3364650"/>
                <a:ext cx="610054" cy="563899"/>
                <a:chOff x="3226678" y="2761126"/>
                <a:chExt cx="469200" cy="1426870"/>
              </a:xfrm>
            </p:grpSpPr>
            <p:cxnSp>
              <p:nvCxnSpPr>
                <p:cNvPr id="1671" name="Google Shape;1671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2" name="Google Shape;1672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73" name="Google Shape;1673;p90"/>
              <p:cNvCxnSpPr/>
              <p:nvPr/>
            </p:nvCxnSpPr>
            <p:spPr>
              <a:xfrm>
                <a:off x="4835994" y="3646716"/>
                <a:ext cx="61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74" name="Google Shape;1674;p90"/>
            <p:cNvGrpSpPr/>
            <p:nvPr/>
          </p:nvGrpSpPr>
          <p:grpSpPr>
            <a:xfrm>
              <a:off x="5115328" y="4222246"/>
              <a:ext cx="1433363" cy="456194"/>
              <a:chOff x="4835994" y="3364650"/>
              <a:chExt cx="615600" cy="563899"/>
            </a:xfrm>
          </p:grpSpPr>
          <p:grpSp>
            <p:nvGrpSpPr>
              <p:cNvPr id="1675" name="Google Shape;1675;p90"/>
              <p:cNvGrpSpPr/>
              <p:nvPr/>
            </p:nvGrpSpPr>
            <p:grpSpPr>
              <a:xfrm>
                <a:off x="4835994" y="3513457"/>
                <a:ext cx="610054" cy="266539"/>
                <a:chOff x="3226678" y="2761126"/>
                <a:chExt cx="469200" cy="1426870"/>
              </a:xfrm>
            </p:grpSpPr>
            <p:cxnSp>
              <p:nvCxnSpPr>
                <p:cNvPr id="1676" name="Google Shape;1676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7" name="Google Shape;1677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78" name="Google Shape;1678;p90"/>
              <p:cNvGrpSpPr/>
              <p:nvPr/>
            </p:nvGrpSpPr>
            <p:grpSpPr>
              <a:xfrm>
                <a:off x="4836026" y="3364650"/>
                <a:ext cx="610054" cy="563899"/>
                <a:chOff x="3226678" y="2761126"/>
                <a:chExt cx="469200" cy="1426870"/>
              </a:xfrm>
            </p:grpSpPr>
            <p:cxnSp>
              <p:nvCxnSpPr>
                <p:cNvPr id="1679" name="Google Shape;1679;p9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0" name="Google Shape;1680;p9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81" name="Google Shape;1681;p90"/>
              <p:cNvCxnSpPr/>
              <p:nvPr/>
            </p:nvCxnSpPr>
            <p:spPr>
              <a:xfrm>
                <a:off x="4835994" y="3646716"/>
                <a:ext cx="615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82" name="Google Shape;1682;p90"/>
            <p:cNvGrpSpPr/>
            <p:nvPr/>
          </p:nvGrpSpPr>
          <p:grpSpPr>
            <a:xfrm>
              <a:off x="3982196" y="2166658"/>
              <a:ext cx="732049" cy="2327384"/>
              <a:chOff x="5137131" y="3364650"/>
              <a:chExt cx="314400" cy="563900"/>
            </a:xfrm>
          </p:grpSpPr>
          <p:grpSp>
            <p:nvGrpSpPr>
              <p:cNvPr id="1683" name="Google Shape;1683;p90"/>
              <p:cNvGrpSpPr/>
              <p:nvPr/>
            </p:nvGrpSpPr>
            <p:grpSpPr>
              <a:xfrm>
                <a:off x="5137131" y="3513457"/>
                <a:ext cx="311658" cy="266540"/>
                <a:chOff x="3458286" y="2761127"/>
                <a:chExt cx="239700" cy="1426872"/>
              </a:xfrm>
            </p:grpSpPr>
            <p:cxnSp>
              <p:nvCxnSpPr>
                <p:cNvPr id="1684" name="Google Shape;1684;p90"/>
                <p:cNvCxnSpPr/>
                <p:nvPr/>
              </p:nvCxnSpPr>
              <p:spPr>
                <a:xfrm flipH="1" rot="10800000">
                  <a:off x="3458286" y="2761127"/>
                  <a:ext cx="2397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5" name="Google Shape;1685;p90"/>
                <p:cNvCxnSpPr/>
                <p:nvPr/>
              </p:nvCxnSpPr>
              <p:spPr>
                <a:xfrm>
                  <a:off x="3458286" y="3561899"/>
                  <a:ext cx="2397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86" name="Google Shape;1686;p90"/>
              <p:cNvGrpSpPr/>
              <p:nvPr/>
            </p:nvGrpSpPr>
            <p:grpSpPr>
              <a:xfrm>
                <a:off x="5137148" y="3364650"/>
                <a:ext cx="311658" cy="563900"/>
                <a:chOff x="3458274" y="2761126"/>
                <a:chExt cx="239700" cy="1426872"/>
              </a:xfrm>
            </p:grpSpPr>
            <p:cxnSp>
              <p:nvCxnSpPr>
                <p:cNvPr id="1687" name="Google Shape;1687;p90"/>
                <p:cNvCxnSpPr/>
                <p:nvPr/>
              </p:nvCxnSpPr>
              <p:spPr>
                <a:xfrm flipH="1" rot="10800000">
                  <a:off x="3458274" y="2761126"/>
                  <a:ext cx="2397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88" name="Google Shape;1688;p90"/>
                <p:cNvCxnSpPr/>
                <p:nvPr/>
              </p:nvCxnSpPr>
              <p:spPr>
                <a:xfrm>
                  <a:off x="3458274" y="3561898"/>
                  <a:ext cx="2397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689" name="Google Shape;1689;p90"/>
              <p:cNvCxnSpPr/>
              <p:nvPr/>
            </p:nvCxnSpPr>
            <p:spPr>
              <a:xfrm>
                <a:off x="5137131" y="3646717"/>
                <a:ext cx="314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90" name="Google Shape;1690;p90"/>
            <p:cNvSpPr txBox="1"/>
            <p:nvPr/>
          </p:nvSpPr>
          <p:spPr>
            <a:xfrm>
              <a:off x="4839809" y="2119478"/>
              <a:ext cx="242700" cy="1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1" name="Google Shape;1691;p90"/>
            <p:cNvSpPr txBox="1"/>
            <p:nvPr/>
          </p:nvSpPr>
          <p:spPr>
            <a:xfrm>
              <a:off x="4839809" y="2679503"/>
              <a:ext cx="242700" cy="1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2" name="Google Shape;1692;p90"/>
            <p:cNvSpPr txBox="1"/>
            <p:nvPr/>
          </p:nvSpPr>
          <p:spPr>
            <a:xfrm>
              <a:off x="4839809" y="3239528"/>
              <a:ext cx="242700" cy="1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3" name="Google Shape;1693;p90"/>
            <p:cNvSpPr txBox="1"/>
            <p:nvPr/>
          </p:nvSpPr>
          <p:spPr>
            <a:xfrm>
              <a:off x="4839809" y="3799553"/>
              <a:ext cx="242700" cy="1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4" name="Google Shape;1694;p90"/>
            <p:cNvSpPr txBox="1"/>
            <p:nvPr/>
          </p:nvSpPr>
          <p:spPr>
            <a:xfrm>
              <a:off x="4839809" y="4359578"/>
              <a:ext cx="242700" cy="1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95" name="Google Shape;1695;p90"/>
            <p:cNvGrpSpPr/>
            <p:nvPr/>
          </p:nvGrpSpPr>
          <p:grpSpPr>
            <a:xfrm>
              <a:off x="6526125" y="1976675"/>
              <a:ext cx="242700" cy="467106"/>
              <a:chOff x="7288125" y="2055525"/>
              <a:chExt cx="242700" cy="467106"/>
            </a:xfrm>
          </p:grpSpPr>
          <p:sp>
            <p:nvSpPr>
              <p:cNvPr id="1696" name="Google Shape;1696;p90"/>
              <p:cNvSpPr txBox="1"/>
              <p:nvPr/>
            </p:nvSpPr>
            <p:spPr>
              <a:xfrm>
                <a:off x="7288125" y="2055525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7" name="Google Shape;1697;p90"/>
              <p:cNvSpPr txBox="1"/>
              <p:nvPr/>
            </p:nvSpPr>
            <p:spPr>
              <a:xfrm>
                <a:off x="7288125" y="2163526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8" name="Google Shape;1698;p90"/>
              <p:cNvSpPr txBox="1"/>
              <p:nvPr/>
            </p:nvSpPr>
            <p:spPr>
              <a:xfrm>
                <a:off x="7288125" y="2271528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9" name="Google Shape;1699;p90"/>
              <p:cNvSpPr txBox="1"/>
              <p:nvPr/>
            </p:nvSpPr>
            <p:spPr>
              <a:xfrm>
                <a:off x="7288125" y="2379529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0" name="Google Shape;1700;p90"/>
              <p:cNvSpPr txBox="1"/>
              <p:nvPr/>
            </p:nvSpPr>
            <p:spPr>
              <a:xfrm>
                <a:off x="7288125" y="2487531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01" name="Google Shape;1701;p90"/>
            <p:cNvGrpSpPr/>
            <p:nvPr/>
          </p:nvGrpSpPr>
          <p:grpSpPr>
            <a:xfrm>
              <a:off x="6526125" y="2536700"/>
              <a:ext cx="242700" cy="467106"/>
              <a:chOff x="7288125" y="2055525"/>
              <a:chExt cx="242700" cy="467106"/>
            </a:xfrm>
          </p:grpSpPr>
          <p:sp>
            <p:nvSpPr>
              <p:cNvPr id="1702" name="Google Shape;1702;p90"/>
              <p:cNvSpPr txBox="1"/>
              <p:nvPr/>
            </p:nvSpPr>
            <p:spPr>
              <a:xfrm>
                <a:off x="7288125" y="2055525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3" name="Google Shape;1703;p90"/>
              <p:cNvSpPr txBox="1"/>
              <p:nvPr/>
            </p:nvSpPr>
            <p:spPr>
              <a:xfrm>
                <a:off x="7288125" y="2163526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4" name="Google Shape;1704;p90"/>
              <p:cNvSpPr txBox="1"/>
              <p:nvPr/>
            </p:nvSpPr>
            <p:spPr>
              <a:xfrm>
                <a:off x="7288125" y="2271528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5" name="Google Shape;1705;p90"/>
              <p:cNvSpPr txBox="1"/>
              <p:nvPr/>
            </p:nvSpPr>
            <p:spPr>
              <a:xfrm>
                <a:off x="7288125" y="2379529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6" name="Google Shape;1706;p90"/>
              <p:cNvSpPr txBox="1"/>
              <p:nvPr/>
            </p:nvSpPr>
            <p:spPr>
              <a:xfrm>
                <a:off x="7288125" y="2487531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07" name="Google Shape;1707;p90"/>
            <p:cNvGrpSpPr/>
            <p:nvPr/>
          </p:nvGrpSpPr>
          <p:grpSpPr>
            <a:xfrm>
              <a:off x="6526125" y="3099462"/>
              <a:ext cx="242700" cy="467106"/>
              <a:chOff x="7288125" y="2055525"/>
              <a:chExt cx="242700" cy="467106"/>
            </a:xfrm>
          </p:grpSpPr>
          <p:sp>
            <p:nvSpPr>
              <p:cNvPr id="1708" name="Google Shape;1708;p90"/>
              <p:cNvSpPr txBox="1"/>
              <p:nvPr/>
            </p:nvSpPr>
            <p:spPr>
              <a:xfrm>
                <a:off x="7288125" y="2055525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9" name="Google Shape;1709;p90"/>
              <p:cNvSpPr txBox="1"/>
              <p:nvPr/>
            </p:nvSpPr>
            <p:spPr>
              <a:xfrm>
                <a:off x="7288125" y="2163526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0" name="Google Shape;1710;p90"/>
              <p:cNvSpPr txBox="1"/>
              <p:nvPr/>
            </p:nvSpPr>
            <p:spPr>
              <a:xfrm>
                <a:off x="7288125" y="2271528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1" name="Google Shape;1711;p90"/>
              <p:cNvSpPr txBox="1"/>
              <p:nvPr/>
            </p:nvSpPr>
            <p:spPr>
              <a:xfrm>
                <a:off x="7288125" y="2379529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2" name="Google Shape;1712;p90"/>
              <p:cNvSpPr txBox="1"/>
              <p:nvPr/>
            </p:nvSpPr>
            <p:spPr>
              <a:xfrm>
                <a:off x="7288125" y="2487531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13" name="Google Shape;1713;p90"/>
            <p:cNvGrpSpPr/>
            <p:nvPr/>
          </p:nvGrpSpPr>
          <p:grpSpPr>
            <a:xfrm>
              <a:off x="6526125" y="3656227"/>
              <a:ext cx="242700" cy="467106"/>
              <a:chOff x="7288125" y="2055525"/>
              <a:chExt cx="242700" cy="467106"/>
            </a:xfrm>
          </p:grpSpPr>
          <p:sp>
            <p:nvSpPr>
              <p:cNvPr id="1714" name="Google Shape;1714;p90"/>
              <p:cNvSpPr txBox="1"/>
              <p:nvPr/>
            </p:nvSpPr>
            <p:spPr>
              <a:xfrm>
                <a:off x="7288125" y="2055525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5" name="Google Shape;1715;p90"/>
              <p:cNvSpPr txBox="1"/>
              <p:nvPr/>
            </p:nvSpPr>
            <p:spPr>
              <a:xfrm>
                <a:off x="7288125" y="2163526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6" name="Google Shape;1716;p90"/>
              <p:cNvSpPr txBox="1"/>
              <p:nvPr/>
            </p:nvSpPr>
            <p:spPr>
              <a:xfrm>
                <a:off x="7288125" y="2271528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7" name="Google Shape;1717;p90"/>
              <p:cNvSpPr txBox="1"/>
              <p:nvPr/>
            </p:nvSpPr>
            <p:spPr>
              <a:xfrm>
                <a:off x="7288125" y="2379529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8" name="Google Shape;1718;p90"/>
              <p:cNvSpPr txBox="1"/>
              <p:nvPr/>
            </p:nvSpPr>
            <p:spPr>
              <a:xfrm>
                <a:off x="7288125" y="2487531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19" name="Google Shape;1719;p90"/>
            <p:cNvGrpSpPr/>
            <p:nvPr/>
          </p:nvGrpSpPr>
          <p:grpSpPr>
            <a:xfrm>
              <a:off x="6526125" y="4217617"/>
              <a:ext cx="242700" cy="467106"/>
              <a:chOff x="7288125" y="2055525"/>
              <a:chExt cx="242700" cy="467106"/>
            </a:xfrm>
          </p:grpSpPr>
          <p:sp>
            <p:nvSpPr>
              <p:cNvPr id="1720" name="Google Shape;1720;p90"/>
              <p:cNvSpPr txBox="1"/>
              <p:nvPr/>
            </p:nvSpPr>
            <p:spPr>
              <a:xfrm>
                <a:off x="7288125" y="2055525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1" name="Google Shape;1721;p90"/>
              <p:cNvSpPr txBox="1"/>
              <p:nvPr/>
            </p:nvSpPr>
            <p:spPr>
              <a:xfrm>
                <a:off x="7288125" y="2163526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2" name="Google Shape;1722;p90"/>
              <p:cNvSpPr txBox="1"/>
              <p:nvPr/>
            </p:nvSpPr>
            <p:spPr>
              <a:xfrm>
                <a:off x="7288125" y="2271528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3" name="Google Shape;1723;p90"/>
              <p:cNvSpPr txBox="1"/>
              <p:nvPr/>
            </p:nvSpPr>
            <p:spPr>
              <a:xfrm>
                <a:off x="7288125" y="2379529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4" name="Google Shape;1724;p90"/>
              <p:cNvSpPr txBox="1"/>
              <p:nvPr/>
            </p:nvSpPr>
            <p:spPr>
              <a:xfrm>
                <a:off x="7288125" y="2487531"/>
                <a:ext cx="242700" cy="3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25" name="Google Shape;1725;p90"/>
            <p:cNvSpPr/>
            <p:nvPr/>
          </p:nvSpPr>
          <p:spPr>
            <a:xfrm>
              <a:off x="6768825" y="1901925"/>
              <a:ext cx="532500" cy="2878800"/>
            </a:xfrm>
            <a:prstGeom prst="roundRect">
              <a:avLst>
                <a:gd fmla="val 5961" name="adj"/>
              </a:avLst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6" name="Google Shape;1726;p90"/>
          <p:cNvSpPr txBox="1"/>
          <p:nvPr/>
        </p:nvSpPr>
        <p:spPr>
          <a:xfrm>
            <a:off x="7426450" y="2284350"/>
            <a:ext cx="1393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 showing the likelihood of each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7" name="Google Shape;1727;p90"/>
          <p:cNvGrpSpPr/>
          <p:nvPr/>
        </p:nvGrpSpPr>
        <p:grpSpPr>
          <a:xfrm>
            <a:off x="5140794" y="780998"/>
            <a:ext cx="610054" cy="266539"/>
            <a:chOff x="3226678" y="2761126"/>
            <a:chExt cx="469200" cy="1426870"/>
          </a:xfrm>
        </p:grpSpPr>
        <p:cxnSp>
          <p:nvCxnSpPr>
            <p:cNvPr id="1728" name="Google Shape;1728;p9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9" name="Google Shape;1729;p9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30" name="Google Shape;1730;p90"/>
          <p:cNvGrpSpPr/>
          <p:nvPr/>
        </p:nvGrpSpPr>
        <p:grpSpPr>
          <a:xfrm>
            <a:off x="5140794" y="1438232"/>
            <a:ext cx="610054" cy="266539"/>
            <a:chOff x="3226678" y="2761126"/>
            <a:chExt cx="469200" cy="1426870"/>
          </a:xfrm>
        </p:grpSpPr>
        <p:cxnSp>
          <p:nvCxnSpPr>
            <p:cNvPr id="1731" name="Google Shape;1731;p9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2" name="Google Shape;1732;p9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33" name="Google Shape;1733;p90"/>
          <p:cNvGrpSpPr/>
          <p:nvPr/>
        </p:nvGrpSpPr>
        <p:grpSpPr>
          <a:xfrm>
            <a:off x="4286998" y="1009148"/>
            <a:ext cx="610054" cy="467157"/>
            <a:chOff x="3226678" y="2761126"/>
            <a:chExt cx="469200" cy="1426870"/>
          </a:xfrm>
        </p:grpSpPr>
        <p:cxnSp>
          <p:nvCxnSpPr>
            <p:cNvPr id="1734" name="Google Shape;1734;p90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5" name="Google Shape;1735;p90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36" name="Google Shape;1736;p90"/>
          <p:cNvSpPr txBox="1"/>
          <p:nvPr/>
        </p:nvSpPr>
        <p:spPr>
          <a:xfrm>
            <a:off x="4897034" y="92177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0"/>
          <p:cNvSpPr txBox="1"/>
          <p:nvPr/>
        </p:nvSpPr>
        <p:spPr>
          <a:xfrm>
            <a:off x="4897034" y="148081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0"/>
          <p:cNvSpPr txBox="1"/>
          <p:nvPr/>
        </p:nvSpPr>
        <p:spPr>
          <a:xfrm>
            <a:off x="5712713" y="932243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0"/>
          <p:cNvSpPr txBox="1"/>
          <p:nvPr/>
        </p:nvSpPr>
        <p:spPr>
          <a:xfrm>
            <a:off x="5712713" y="71476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0"/>
          <p:cNvSpPr txBox="1"/>
          <p:nvPr/>
        </p:nvSpPr>
        <p:spPr>
          <a:xfrm>
            <a:off x="5712713" y="1589555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90"/>
          <p:cNvSpPr txBox="1"/>
          <p:nvPr/>
        </p:nvSpPr>
        <p:spPr>
          <a:xfrm>
            <a:off x="5712713" y="1372080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90"/>
          <p:cNvSpPr txBox="1"/>
          <p:nvPr/>
        </p:nvSpPr>
        <p:spPr>
          <a:xfrm>
            <a:off x="6199691" y="714775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0"/>
          <p:cNvSpPr txBox="1"/>
          <p:nvPr/>
        </p:nvSpPr>
        <p:spPr>
          <a:xfrm>
            <a:off x="6199691" y="932247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0"/>
          <p:cNvSpPr txBox="1"/>
          <p:nvPr/>
        </p:nvSpPr>
        <p:spPr>
          <a:xfrm>
            <a:off x="6199691" y="1589552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0"/>
          <p:cNvSpPr txBox="1"/>
          <p:nvPr/>
        </p:nvSpPr>
        <p:spPr>
          <a:xfrm>
            <a:off x="6199691" y="1372080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0"/>
          <p:cNvSpPr txBox="1"/>
          <p:nvPr/>
        </p:nvSpPr>
        <p:spPr>
          <a:xfrm>
            <a:off x="6929675" y="637225"/>
            <a:ext cx="189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 showing each unique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91"/>
          <p:cNvSpPr/>
          <p:nvPr/>
        </p:nvSpPr>
        <p:spPr>
          <a:xfrm>
            <a:off x="6214400" y="638750"/>
            <a:ext cx="532500" cy="12447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grpSp>
        <p:nvGrpSpPr>
          <p:cNvPr id="1753" name="Google Shape;1753;p91"/>
          <p:cNvGrpSpPr/>
          <p:nvPr/>
        </p:nvGrpSpPr>
        <p:grpSpPr>
          <a:xfrm>
            <a:off x="5140794" y="780998"/>
            <a:ext cx="610054" cy="266539"/>
            <a:chOff x="3226678" y="2761126"/>
            <a:chExt cx="469200" cy="1426870"/>
          </a:xfrm>
        </p:grpSpPr>
        <p:cxnSp>
          <p:nvCxnSpPr>
            <p:cNvPr id="1754" name="Google Shape;1754;p9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5" name="Google Shape;1755;p9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56" name="Google Shape;1756;p91"/>
          <p:cNvGrpSpPr/>
          <p:nvPr/>
        </p:nvGrpSpPr>
        <p:grpSpPr>
          <a:xfrm>
            <a:off x="5140794" y="1438232"/>
            <a:ext cx="610054" cy="266539"/>
            <a:chOff x="3226678" y="2761126"/>
            <a:chExt cx="469200" cy="1426870"/>
          </a:xfrm>
        </p:grpSpPr>
        <p:cxnSp>
          <p:nvCxnSpPr>
            <p:cNvPr id="1757" name="Google Shape;1757;p9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8" name="Google Shape;1758;p9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59" name="Google Shape;1759;p91"/>
          <p:cNvGrpSpPr/>
          <p:nvPr/>
        </p:nvGrpSpPr>
        <p:grpSpPr>
          <a:xfrm>
            <a:off x="4286998" y="1009148"/>
            <a:ext cx="610054" cy="467157"/>
            <a:chOff x="3226678" y="2761126"/>
            <a:chExt cx="469200" cy="1426870"/>
          </a:xfrm>
        </p:grpSpPr>
        <p:cxnSp>
          <p:nvCxnSpPr>
            <p:cNvPr id="1760" name="Google Shape;1760;p91"/>
            <p:cNvCxnSpPr/>
            <p:nvPr/>
          </p:nvCxnSpPr>
          <p:spPr>
            <a:xfrm flipH="1" rot="10800000">
              <a:off x="3226678" y="2761126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1" name="Google Shape;1761;p91"/>
            <p:cNvCxnSpPr/>
            <p:nvPr/>
          </p:nvCxnSpPr>
          <p:spPr>
            <a:xfrm>
              <a:off x="3226678" y="3561897"/>
              <a:ext cx="469200" cy="62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2" name="Google Shape;1762;p91"/>
          <p:cNvSpPr txBox="1"/>
          <p:nvPr/>
        </p:nvSpPr>
        <p:spPr>
          <a:xfrm>
            <a:off x="4897034" y="92177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1"/>
          <p:cNvSpPr txBox="1"/>
          <p:nvPr/>
        </p:nvSpPr>
        <p:spPr>
          <a:xfrm>
            <a:off x="4897034" y="148081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1"/>
          <p:cNvSpPr txBox="1"/>
          <p:nvPr/>
        </p:nvSpPr>
        <p:spPr>
          <a:xfrm>
            <a:off x="5712713" y="932243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1"/>
          <p:cNvSpPr txBox="1"/>
          <p:nvPr/>
        </p:nvSpPr>
        <p:spPr>
          <a:xfrm>
            <a:off x="5712713" y="71476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1"/>
          <p:cNvSpPr txBox="1"/>
          <p:nvPr/>
        </p:nvSpPr>
        <p:spPr>
          <a:xfrm>
            <a:off x="5712713" y="1589555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1"/>
          <p:cNvSpPr txBox="1"/>
          <p:nvPr/>
        </p:nvSpPr>
        <p:spPr>
          <a:xfrm>
            <a:off x="5712713" y="1372080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1"/>
          <p:cNvSpPr txBox="1"/>
          <p:nvPr/>
        </p:nvSpPr>
        <p:spPr>
          <a:xfrm>
            <a:off x="6199691" y="714775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1"/>
          <p:cNvSpPr txBox="1"/>
          <p:nvPr/>
        </p:nvSpPr>
        <p:spPr>
          <a:xfrm>
            <a:off x="6199691" y="932247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1"/>
          <p:cNvSpPr txBox="1"/>
          <p:nvPr/>
        </p:nvSpPr>
        <p:spPr>
          <a:xfrm>
            <a:off x="6199691" y="1589552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1"/>
          <p:cNvSpPr txBox="1"/>
          <p:nvPr/>
        </p:nvSpPr>
        <p:spPr>
          <a:xfrm>
            <a:off x="6199691" y="1372080"/>
            <a:ext cx="56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1"/>
          <p:cNvSpPr txBox="1"/>
          <p:nvPr/>
        </p:nvSpPr>
        <p:spPr>
          <a:xfrm>
            <a:off x="6929675" y="637225"/>
            <a:ext cx="189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 showing each unique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3" name="Google Shape;1773;p91"/>
          <p:cNvGraphicFramePr/>
          <p:nvPr/>
        </p:nvGraphicFramePr>
        <p:xfrm>
          <a:off x="6768825" y="191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266250"/>
                <a:gridCol w="266250"/>
              </a:tblGrid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774" name="Google Shape;1774;p91"/>
          <p:cNvGrpSpPr/>
          <p:nvPr/>
        </p:nvGrpSpPr>
        <p:grpSpPr>
          <a:xfrm>
            <a:off x="5115328" y="1982125"/>
            <a:ext cx="1433363" cy="456194"/>
            <a:chOff x="4835994" y="3364650"/>
            <a:chExt cx="615600" cy="563899"/>
          </a:xfrm>
        </p:grpSpPr>
        <p:grpSp>
          <p:nvGrpSpPr>
            <p:cNvPr id="1775" name="Google Shape;1775;p91"/>
            <p:cNvGrpSpPr/>
            <p:nvPr/>
          </p:nvGrpSpPr>
          <p:grpSpPr>
            <a:xfrm>
              <a:off x="4835994" y="3513457"/>
              <a:ext cx="610054" cy="266539"/>
              <a:chOff x="3226678" y="2761126"/>
              <a:chExt cx="469200" cy="1426870"/>
            </a:xfrm>
          </p:grpSpPr>
          <p:cxnSp>
            <p:nvCxnSpPr>
              <p:cNvPr id="1776" name="Google Shape;1776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7" name="Google Shape;1777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78" name="Google Shape;1778;p91"/>
            <p:cNvGrpSpPr/>
            <p:nvPr/>
          </p:nvGrpSpPr>
          <p:grpSpPr>
            <a:xfrm>
              <a:off x="4836026" y="3364650"/>
              <a:ext cx="610054" cy="563899"/>
              <a:chOff x="3226678" y="2761126"/>
              <a:chExt cx="469200" cy="1426870"/>
            </a:xfrm>
          </p:grpSpPr>
          <p:cxnSp>
            <p:nvCxnSpPr>
              <p:cNvPr id="1779" name="Google Shape;1779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0" name="Google Shape;1780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81" name="Google Shape;1781;p91"/>
            <p:cNvCxnSpPr/>
            <p:nvPr/>
          </p:nvCxnSpPr>
          <p:spPr>
            <a:xfrm>
              <a:off x="4835994" y="3646716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82" name="Google Shape;1782;p91"/>
          <p:cNvGrpSpPr/>
          <p:nvPr/>
        </p:nvGrpSpPr>
        <p:grpSpPr>
          <a:xfrm>
            <a:off x="5115328" y="2542156"/>
            <a:ext cx="1433363" cy="456194"/>
            <a:chOff x="4835994" y="3364650"/>
            <a:chExt cx="615600" cy="563899"/>
          </a:xfrm>
        </p:grpSpPr>
        <p:grpSp>
          <p:nvGrpSpPr>
            <p:cNvPr id="1783" name="Google Shape;1783;p91"/>
            <p:cNvGrpSpPr/>
            <p:nvPr/>
          </p:nvGrpSpPr>
          <p:grpSpPr>
            <a:xfrm>
              <a:off x="4835994" y="3513457"/>
              <a:ext cx="610054" cy="266539"/>
              <a:chOff x="3226678" y="2761126"/>
              <a:chExt cx="469200" cy="1426870"/>
            </a:xfrm>
          </p:grpSpPr>
          <p:cxnSp>
            <p:nvCxnSpPr>
              <p:cNvPr id="1784" name="Google Shape;1784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5" name="Google Shape;1785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86" name="Google Shape;1786;p91"/>
            <p:cNvGrpSpPr/>
            <p:nvPr/>
          </p:nvGrpSpPr>
          <p:grpSpPr>
            <a:xfrm>
              <a:off x="4836026" y="3364650"/>
              <a:ext cx="610054" cy="563899"/>
              <a:chOff x="3226678" y="2761126"/>
              <a:chExt cx="469200" cy="1426870"/>
            </a:xfrm>
          </p:grpSpPr>
          <p:cxnSp>
            <p:nvCxnSpPr>
              <p:cNvPr id="1787" name="Google Shape;1787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8" name="Google Shape;1788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89" name="Google Shape;1789;p91"/>
            <p:cNvCxnSpPr/>
            <p:nvPr/>
          </p:nvCxnSpPr>
          <p:spPr>
            <a:xfrm>
              <a:off x="4835994" y="3646716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90" name="Google Shape;1790;p91"/>
          <p:cNvGrpSpPr/>
          <p:nvPr/>
        </p:nvGrpSpPr>
        <p:grpSpPr>
          <a:xfrm>
            <a:off x="5115328" y="3102186"/>
            <a:ext cx="1433363" cy="456194"/>
            <a:chOff x="4835994" y="3364650"/>
            <a:chExt cx="615600" cy="563899"/>
          </a:xfrm>
        </p:grpSpPr>
        <p:grpSp>
          <p:nvGrpSpPr>
            <p:cNvPr id="1791" name="Google Shape;1791;p91"/>
            <p:cNvGrpSpPr/>
            <p:nvPr/>
          </p:nvGrpSpPr>
          <p:grpSpPr>
            <a:xfrm>
              <a:off x="4835994" y="3513457"/>
              <a:ext cx="610054" cy="266539"/>
              <a:chOff x="3226678" y="2761126"/>
              <a:chExt cx="469200" cy="1426870"/>
            </a:xfrm>
          </p:grpSpPr>
          <p:cxnSp>
            <p:nvCxnSpPr>
              <p:cNvPr id="1792" name="Google Shape;1792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3" name="Google Shape;1793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94" name="Google Shape;1794;p91"/>
            <p:cNvGrpSpPr/>
            <p:nvPr/>
          </p:nvGrpSpPr>
          <p:grpSpPr>
            <a:xfrm>
              <a:off x="4836026" y="3364650"/>
              <a:ext cx="610054" cy="563899"/>
              <a:chOff x="3226678" y="2761126"/>
              <a:chExt cx="469200" cy="1426870"/>
            </a:xfrm>
          </p:grpSpPr>
          <p:cxnSp>
            <p:nvCxnSpPr>
              <p:cNvPr id="1795" name="Google Shape;1795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6" name="Google Shape;1796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797" name="Google Shape;1797;p91"/>
            <p:cNvCxnSpPr/>
            <p:nvPr/>
          </p:nvCxnSpPr>
          <p:spPr>
            <a:xfrm>
              <a:off x="4835994" y="3646716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98" name="Google Shape;1798;p91"/>
          <p:cNvGrpSpPr/>
          <p:nvPr/>
        </p:nvGrpSpPr>
        <p:grpSpPr>
          <a:xfrm>
            <a:off x="5115328" y="3662216"/>
            <a:ext cx="1433363" cy="456194"/>
            <a:chOff x="4835994" y="3364650"/>
            <a:chExt cx="615600" cy="563899"/>
          </a:xfrm>
        </p:grpSpPr>
        <p:grpSp>
          <p:nvGrpSpPr>
            <p:cNvPr id="1799" name="Google Shape;1799;p91"/>
            <p:cNvGrpSpPr/>
            <p:nvPr/>
          </p:nvGrpSpPr>
          <p:grpSpPr>
            <a:xfrm>
              <a:off x="4835994" y="3513457"/>
              <a:ext cx="610054" cy="266539"/>
              <a:chOff x="3226678" y="2761126"/>
              <a:chExt cx="469200" cy="1426870"/>
            </a:xfrm>
          </p:grpSpPr>
          <p:cxnSp>
            <p:nvCxnSpPr>
              <p:cNvPr id="1800" name="Google Shape;1800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1" name="Google Shape;1801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02" name="Google Shape;1802;p91"/>
            <p:cNvGrpSpPr/>
            <p:nvPr/>
          </p:nvGrpSpPr>
          <p:grpSpPr>
            <a:xfrm>
              <a:off x="4836026" y="3364650"/>
              <a:ext cx="610054" cy="563899"/>
              <a:chOff x="3226678" y="2761126"/>
              <a:chExt cx="469200" cy="1426870"/>
            </a:xfrm>
          </p:grpSpPr>
          <p:cxnSp>
            <p:nvCxnSpPr>
              <p:cNvPr id="1803" name="Google Shape;1803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4" name="Google Shape;1804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805" name="Google Shape;1805;p91"/>
            <p:cNvCxnSpPr/>
            <p:nvPr/>
          </p:nvCxnSpPr>
          <p:spPr>
            <a:xfrm>
              <a:off x="4835994" y="3646716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06" name="Google Shape;1806;p91"/>
          <p:cNvGrpSpPr/>
          <p:nvPr/>
        </p:nvGrpSpPr>
        <p:grpSpPr>
          <a:xfrm>
            <a:off x="5115328" y="4222246"/>
            <a:ext cx="1433363" cy="456194"/>
            <a:chOff x="4835994" y="3364650"/>
            <a:chExt cx="615600" cy="563899"/>
          </a:xfrm>
        </p:grpSpPr>
        <p:grpSp>
          <p:nvGrpSpPr>
            <p:cNvPr id="1807" name="Google Shape;1807;p91"/>
            <p:cNvGrpSpPr/>
            <p:nvPr/>
          </p:nvGrpSpPr>
          <p:grpSpPr>
            <a:xfrm>
              <a:off x="4835994" y="3513457"/>
              <a:ext cx="610054" cy="266539"/>
              <a:chOff x="3226678" y="2761126"/>
              <a:chExt cx="469200" cy="1426870"/>
            </a:xfrm>
          </p:grpSpPr>
          <p:cxnSp>
            <p:nvCxnSpPr>
              <p:cNvPr id="1808" name="Google Shape;1808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9" name="Google Shape;1809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10" name="Google Shape;1810;p91"/>
            <p:cNvGrpSpPr/>
            <p:nvPr/>
          </p:nvGrpSpPr>
          <p:grpSpPr>
            <a:xfrm>
              <a:off x="4836026" y="3364650"/>
              <a:ext cx="610054" cy="563899"/>
              <a:chOff x="3226678" y="2761126"/>
              <a:chExt cx="469200" cy="1426870"/>
            </a:xfrm>
          </p:grpSpPr>
          <p:cxnSp>
            <p:nvCxnSpPr>
              <p:cNvPr id="1811" name="Google Shape;1811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2" name="Google Shape;1812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813" name="Google Shape;1813;p91"/>
            <p:cNvCxnSpPr/>
            <p:nvPr/>
          </p:nvCxnSpPr>
          <p:spPr>
            <a:xfrm>
              <a:off x="4835994" y="3646716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14" name="Google Shape;1814;p91"/>
          <p:cNvGrpSpPr/>
          <p:nvPr/>
        </p:nvGrpSpPr>
        <p:grpSpPr>
          <a:xfrm>
            <a:off x="3982154" y="2166538"/>
            <a:ext cx="732195" cy="2327381"/>
            <a:chOff x="4835994" y="3364650"/>
            <a:chExt cx="615600" cy="563899"/>
          </a:xfrm>
        </p:grpSpPr>
        <p:grpSp>
          <p:nvGrpSpPr>
            <p:cNvPr id="1815" name="Google Shape;1815;p91"/>
            <p:cNvGrpSpPr/>
            <p:nvPr/>
          </p:nvGrpSpPr>
          <p:grpSpPr>
            <a:xfrm>
              <a:off x="4835994" y="3513457"/>
              <a:ext cx="610054" cy="266539"/>
              <a:chOff x="3226678" y="2761126"/>
              <a:chExt cx="469200" cy="1426870"/>
            </a:xfrm>
          </p:grpSpPr>
          <p:cxnSp>
            <p:nvCxnSpPr>
              <p:cNvPr id="1816" name="Google Shape;1816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7" name="Google Shape;1817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818" name="Google Shape;1818;p91"/>
            <p:cNvGrpSpPr/>
            <p:nvPr/>
          </p:nvGrpSpPr>
          <p:grpSpPr>
            <a:xfrm>
              <a:off x="4836026" y="3364650"/>
              <a:ext cx="610054" cy="563899"/>
              <a:chOff x="3226678" y="2761126"/>
              <a:chExt cx="469200" cy="1426870"/>
            </a:xfrm>
          </p:grpSpPr>
          <p:cxnSp>
            <p:nvCxnSpPr>
              <p:cNvPr id="1819" name="Google Shape;1819;p91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0" name="Google Shape;1820;p91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821" name="Google Shape;1821;p91"/>
            <p:cNvCxnSpPr/>
            <p:nvPr/>
          </p:nvCxnSpPr>
          <p:spPr>
            <a:xfrm>
              <a:off x="4835994" y="3646716"/>
              <a:ext cx="615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2" name="Google Shape;1822;p91"/>
          <p:cNvSpPr txBox="1"/>
          <p:nvPr/>
        </p:nvSpPr>
        <p:spPr>
          <a:xfrm>
            <a:off x="4839809" y="211947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1"/>
          <p:cNvSpPr txBox="1"/>
          <p:nvPr/>
        </p:nvSpPr>
        <p:spPr>
          <a:xfrm>
            <a:off x="4839809" y="2679503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1"/>
          <p:cNvSpPr txBox="1"/>
          <p:nvPr/>
        </p:nvSpPr>
        <p:spPr>
          <a:xfrm>
            <a:off x="4839809" y="323952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91"/>
          <p:cNvSpPr txBox="1"/>
          <p:nvPr/>
        </p:nvSpPr>
        <p:spPr>
          <a:xfrm>
            <a:off x="4839809" y="3799553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1"/>
          <p:cNvSpPr txBox="1"/>
          <p:nvPr/>
        </p:nvSpPr>
        <p:spPr>
          <a:xfrm>
            <a:off x="4839809" y="4359578"/>
            <a:ext cx="2427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7" name="Google Shape;1827;p91"/>
          <p:cNvGrpSpPr/>
          <p:nvPr/>
        </p:nvGrpSpPr>
        <p:grpSpPr>
          <a:xfrm>
            <a:off x="6526125" y="1976675"/>
            <a:ext cx="242700" cy="467106"/>
            <a:chOff x="7288125" y="2055525"/>
            <a:chExt cx="242700" cy="467106"/>
          </a:xfrm>
        </p:grpSpPr>
        <p:sp>
          <p:nvSpPr>
            <p:cNvPr id="1828" name="Google Shape;1828;p91"/>
            <p:cNvSpPr txBox="1"/>
            <p:nvPr/>
          </p:nvSpPr>
          <p:spPr>
            <a:xfrm>
              <a:off x="7288125" y="2055525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9" name="Google Shape;1829;p91"/>
            <p:cNvSpPr txBox="1"/>
            <p:nvPr/>
          </p:nvSpPr>
          <p:spPr>
            <a:xfrm>
              <a:off x="7288125" y="2163526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0" name="Google Shape;1830;p91"/>
            <p:cNvSpPr txBox="1"/>
            <p:nvPr/>
          </p:nvSpPr>
          <p:spPr>
            <a:xfrm>
              <a:off x="7288125" y="2271528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1" name="Google Shape;1831;p91"/>
            <p:cNvSpPr txBox="1"/>
            <p:nvPr/>
          </p:nvSpPr>
          <p:spPr>
            <a:xfrm>
              <a:off x="7288125" y="2379529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2" name="Google Shape;1832;p91"/>
            <p:cNvSpPr txBox="1"/>
            <p:nvPr/>
          </p:nvSpPr>
          <p:spPr>
            <a:xfrm>
              <a:off x="7288125" y="2487531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3" name="Google Shape;1833;p91"/>
          <p:cNvGrpSpPr/>
          <p:nvPr/>
        </p:nvGrpSpPr>
        <p:grpSpPr>
          <a:xfrm>
            <a:off x="6526125" y="2536700"/>
            <a:ext cx="242700" cy="467106"/>
            <a:chOff x="7288125" y="2055525"/>
            <a:chExt cx="242700" cy="467106"/>
          </a:xfrm>
        </p:grpSpPr>
        <p:sp>
          <p:nvSpPr>
            <p:cNvPr id="1834" name="Google Shape;1834;p91"/>
            <p:cNvSpPr txBox="1"/>
            <p:nvPr/>
          </p:nvSpPr>
          <p:spPr>
            <a:xfrm>
              <a:off x="7288125" y="2055525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5" name="Google Shape;1835;p91"/>
            <p:cNvSpPr txBox="1"/>
            <p:nvPr/>
          </p:nvSpPr>
          <p:spPr>
            <a:xfrm>
              <a:off x="7288125" y="2163526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6" name="Google Shape;1836;p91"/>
            <p:cNvSpPr txBox="1"/>
            <p:nvPr/>
          </p:nvSpPr>
          <p:spPr>
            <a:xfrm>
              <a:off x="7288125" y="2271528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7" name="Google Shape;1837;p91"/>
            <p:cNvSpPr txBox="1"/>
            <p:nvPr/>
          </p:nvSpPr>
          <p:spPr>
            <a:xfrm>
              <a:off x="7288125" y="2379529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8" name="Google Shape;1838;p91"/>
            <p:cNvSpPr txBox="1"/>
            <p:nvPr/>
          </p:nvSpPr>
          <p:spPr>
            <a:xfrm>
              <a:off x="7288125" y="2487531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9" name="Google Shape;1839;p91"/>
          <p:cNvGrpSpPr/>
          <p:nvPr/>
        </p:nvGrpSpPr>
        <p:grpSpPr>
          <a:xfrm>
            <a:off x="6526125" y="3099462"/>
            <a:ext cx="242700" cy="467106"/>
            <a:chOff x="7288125" y="2055525"/>
            <a:chExt cx="242700" cy="467106"/>
          </a:xfrm>
        </p:grpSpPr>
        <p:sp>
          <p:nvSpPr>
            <p:cNvPr id="1840" name="Google Shape;1840;p91"/>
            <p:cNvSpPr txBox="1"/>
            <p:nvPr/>
          </p:nvSpPr>
          <p:spPr>
            <a:xfrm>
              <a:off x="7288125" y="2055525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1" name="Google Shape;1841;p91"/>
            <p:cNvSpPr txBox="1"/>
            <p:nvPr/>
          </p:nvSpPr>
          <p:spPr>
            <a:xfrm>
              <a:off x="7288125" y="2163526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2" name="Google Shape;1842;p91"/>
            <p:cNvSpPr txBox="1"/>
            <p:nvPr/>
          </p:nvSpPr>
          <p:spPr>
            <a:xfrm>
              <a:off x="7288125" y="2271528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3" name="Google Shape;1843;p91"/>
            <p:cNvSpPr txBox="1"/>
            <p:nvPr/>
          </p:nvSpPr>
          <p:spPr>
            <a:xfrm>
              <a:off x="7288125" y="2379529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4" name="Google Shape;1844;p91"/>
            <p:cNvSpPr txBox="1"/>
            <p:nvPr/>
          </p:nvSpPr>
          <p:spPr>
            <a:xfrm>
              <a:off x="7288125" y="2487531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5" name="Google Shape;1845;p91"/>
          <p:cNvGrpSpPr/>
          <p:nvPr/>
        </p:nvGrpSpPr>
        <p:grpSpPr>
          <a:xfrm>
            <a:off x="6526125" y="3656227"/>
            <a:ext cx="242700" cy="467106"/>
            <a:chOff x="7288125" y="2055525"/>
            <a:chExt cx="242700" cy="467106"/>
          </a:xfrm>
        </p:grpSpPr>
        <p:sp>
          <p:nvSpPr>
            <p:cNvPr id="1846" name="Google Shape;1846;p91"/>
            <p:cNvSpPr txBox="1"/>
            <p:nvPr/>
          </p:nvSpPr>
          <p:spPr>
            <a:xfrm>
              <a:off x="7288125" y="2055525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7" name="Google Shape;1847;p91"/>
            <p:cNvSpPr txBox="1"/>
            <p:nvPr/>
          </p:nvSpPr>
          <p:spPr>
            <a:xfrm>
              <a:off x="7288125" y="2163526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8" name="Google Shape;1848;p91"/>
            <p:cNvSpPr txBox="1"/>
            <p:nvPr/>
          </p:nvSpPr>
          <p:spPr>
            <a:xfrm>
              <a:off x="7288125" y="2271528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9" name="Google Shape;1849;p91"/>
            <p:cNvSpPr txBox="1"/>
            <p:nvPr/>
          </p:nvSpPr>
          <p:spPr>
            <a:xfrm>
              <a:off x="7288125" y="2379529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0" name="Google Shape;1850;p91"/>
            <p:cNvSpPr txBox="1"/>
            <p:nvPr/>
          </p:nvSpPr>
          <p:spPr>
            <a:xfrm>
              <a:off x="7288125" y="2487531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1" name="Google Shape;1851;p91"/>
          <p:cNvGrpSpPr/>
          <p:nvPr/>
        </p:nvGrpSpPr>
        <p:grpSpPr>
          <a:xfrm>
            <a:off x="6526125" y="4217617"/>
            <a:ext cx="242700" cy="467106"/>
            <a:chOff x="7288125" y="2055525"/>
            <a:chExt cx="242700" cy="467106"/>
          </a:xfrm>
        </p:grpSpPr>
        <p:sp>
          <p:nvSpPr>
            <p:cNvPr id="1852" name="Google Shape;1852;p91"/>
            <p:cNvSpPr txBox="1"/>
            <p:nvPr/>
          </p:nvSpPr>
          <p:spPr>
            <a:xfrm>
              <a:off x="7288125" y="2055525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3" name="Google Shape;1853;p91"/>
            <p:cNvSpPr txBox="1"/>
            <p:nvPr/>
          </p:nvSpPr>
          <p:spPr>
            <a:xfrm>
              <a:off x="7288125" y="2163526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4" name="Google Shape;1854;p91"/>
            <p:cNvSpPr txBox="1"/>
            <p:nvPr/>
          </p:nvSpPr>
          <p:spPr>
            <a:xfrm>
              <a:off x="7288125" y="2271528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5" name="Google Shape;1855;p91"/>
            <p:cNvSpPr txBox="1"/>
            <p:nvPr/>
          </p:nvSpPr>
          <p:spPr>
            <a:xfrm>
              <a:off x="7288125" y="2379529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6" name="Google Shape;1856;p91"/>
            <p:cNvSpPr txBox="1"/>
            <p:nvPr/>
          </p:nvSpPr>
          <p:spPr>
            <a:xfrm>
              <a:off x="7288125" y="2487531"/>
              <a:ext cx="242700" cy="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7" name="Google Shape;1857;p91"/>
          <p:cNvSpPr/>
          <p:nvPr/>
        </p:nvSpPr>
        <p:spPr>
          <a:xfrm>
            <a:off x="6768825" y="1901925"/>
            <a:ext cx="532500" cy="2878800"/>
          </a:xfrm>
          <a:prstGeom prst="roundRect">
            <a:avLst>
              <a:gd fmla="val 5961" name="adj"/>
            </a:avLst>
          </a:prstGeom>
          <a:noFill/>
          <a:ln cap="flat" cmpd="sng" w="3810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8" name="Google Shape;1858;p91"/>
          <p:cNvGraphicFramePr/>
          <p:nvPr/>
        </p:nvGraphicFramePr>
        <p:xfrm>
          <a:off x="971700" y="25175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464050"/>
                <a:gridCol w="464050"/>
                <a:gridCol w="464050"/>
                <a:gridCol w="464050"/>
                <a:gridCol w="464050"/>
                <a:gridCol w="464050"/>
              </a:tblGrid>
              <a:tr h="26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59" name="Google Shape;1859;p91"/>
          <p:cNvSpPr txBox="1"/>
          <p:nvPr/>
        </p:nvSpPr>
        <p:spPr>
          <a:xfrm>
            <a:off x="781200" y="4254350"/>
            <a:ext cx="316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showing the likelihood of each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0" name="Google Shape;1860;p91"/>
          <p:cNvGrpSpPr/>
          <p:nvPr/>
        </p:nvGrpSpPr>
        <p:grpSpPr>
          <a:xfrm>
            <a:off x="247444" y="698214"/>
            <a:ext cx="3864951" cy="1073141"/>
            <a:chOff x="797575" y="5295652"/>
            <a:chExt cx="3320975" cy="1476325"/>
          </a:xfrm>
        </p:grpSpPr>
        <p:pic>
          <p:nvPicPr>
            <p:cNvPr id="1861" name="Google Shape;1861;p91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2" name="Google Shape;1862;p91"/>
            <p:cNvSpPr txBox="1"/>
            <p:nvPr/>
          </p:nvSpPr>
          <p:spPr>
            <a:xfrm flipH="1">
              <a:off x="1048703" y="5311751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You’re right!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Outcome trees are so useful for listing unique outcomes.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3" name="Google Shape;1863;p91"/>
          <p:cNvGrpSpPr/>
          <p:nvPr/>
        </p:nvGrpSpPr>
        <p:grpSpPr>
          <a:xfrm>
            <a:off x="264708" y="587011"/>
            <a:ext cx="3927056" cy="1274700"/>
            <a:chOff x="-3181556" y="3558375"/>
            <a:chExt cx="3927056" cy="1274700"/>
          </a:xfrm>
        </p:grpSpPr>
        <p:sp>
          <p:nvSpPr>
            <p:cNvPr id="1864" name="Google Shape;1864;p91"/>
            <p:cNvSpPr/>
            <p:nvPr/>
          </p:nvSpPr>
          <p:spPr>
            <a:xfrm>
              <a:off x="-3071400" y="3558375"/>
              <a:ext cx="3816900" cy="127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65" name="Google Shape;1865;p91"/>
            <p:cNvGrpSpPr/>
            <p:nvPr/>
          </p:nvGrpSpPr>
          <p:grpSpPr>
            <a:xfrm>
              <a:off x="-3181556" y="3662214"/>
              <a:ext cx="3864951" cy="1073141"/>
              <a:chOff x="797575" y="5295652"/>
              <a:chExt cx="3320975" cy="1476325"/>
            </a:xfrm>
          </p:grpSpPr>
          <p:pic>
            <p:nvPicPr>
              <p:cNvPr id="1866" name="Google Shape;1866;p91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67" name="Google Shape;1867;p91"/>
              <p:cNvSpPr txBox="1"/>
              <p:nvPr/>
            </p:nvSpPr>
            <p:spPr>
              <a:xfrm flipH="1">
                <a:off x="1048703" y="5311751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But they get really messy when looking at likelihood because there are so many branches!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868" name="Google Shape;1868;p91"/>
          <p:cNvGrpSpPr/>
          <p:nvPr/>
        </p:nvGrpSpPr>
        <p:grpSpPr>
          <a:xfrm>
            <a:off x="264708" y="586217"/>
            <a:ext cx="3927056" cy="1274700"/>
            <a:chOff x="-3181556" y="3558375"/>
            <a:chExt cx="3927056" cy="1274700"/>
          </a:xfrm>
        </p:grpSpPr>
        <p:sp>
          <p:nvSpPr>
            <p:cNvPr id="1869" name="Google Shape;1869;p91"/>
            <p:cNvSpPr/>
            <p:nvPr/>
          </p:nvSpPr>
          <p:spPr>
            <a:xfrm>
              <a:off x="-3071400" y="3558375"/>
              <a:ext cx="3816900" cy="127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70" name="Google Shape;1870;p91"/>
            <p:cNvGrpSpPr/>
            <p:nvPr/>
          </p:nvGrpSpPr>
          <p:grpSpPr>
            <a:xfrm>
              <a:off x="-3181556" y="3662214"/>
              <a:ext cx="3864951" cy="1073141"/>
              <a:chOff x="797575" y="5295652"/>
              <a:chExt cx="3320975" cy="1476325"/>
            </a:xfrm>
          </p:grpSpPr>
          <p:pic>
            <p:nvPicPr>
              <p:cNvPr id="1871" name="Google Shape;1871;p91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2" name="Google Shape;1872;p91"/>
              <p:cNvSpPr txBox="1"/>
              <p:nvPr/>
            </p:nvSpPr>
            <p:spPr>
              <a:xfrm flipH="1">
                <a:off x="1048703" y="5311751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When showing likelihood, I’m going to stick to 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outcome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tables.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873" name="Google Shape;1873;p91"/>
          <p:cNvGrpSpPr/>
          <p:nvPr/>
        </p:nvGrpSpPr>
        <p:grpSpPr>
          <a:xfrm flipH="1">
            <a:off x="346039" y="1595548"/>
            <a:ext cx="676200" cy="1040525"/>
            <a:chOff x="8137196" y="1935832"/>
            <a:chExt cx="676200" cy="1040525"/>
          </a:xfrm>
        </p:grpSpPr>
        <p:pic>
          <p:nvPicPr>
            <p:cNvPr id="1874" name="Google Shape;1874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91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6" name="Google Shape;1876;p91"/>
          <p:cNvSpPr txBox="1"/>
          <p:nvPr/>
        </p:nvSpPr>
        <p:spPr>
          <a:xfrm>
            <a:off x="7426450" y="2284350"/>
            <a:ext cx="1393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 tree showing the likelihood of each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882" name="Google Shape;1882;p92"/>
          <p:cNvSpPr txBox="1"/>
          <p:nvPr/>
        </p:nvSpPr>
        <p:spPr>
          <a:xfrm>
            <a:off x="684347" y="2511388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92"/>
          <p:cNvSpPr/>
          <p:nvPr/>
        </p:nvSpPr>
        <p:spPr>
          <a:xfrm flipH="1">
            <a:off x="402421" y="711518"/>
            <a:ext cx="1701600" cy="1701600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92"/>
          <p:cNvSpPr txBox="1"/>
          <p:nvPr/>
        </p:nvSpPr>
        <p:spPr>
          <a:xfrm flipH="1">
            <a:off x="1268384" y="893734"/>
            <a:ext cx="42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92"/>
          <p:cNvSpPr/>
          <p:nvPr/>
        </p:nvSpPr>
        <p:spPr>
          <a:xfrm flipH="1" rot="2700000">
            <a:off x="402803" y="711767"/>
            <a:ext cx="1701299" cy="1701511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92"/>
          <p:cNvSpPr/>
          <p:nvPr/>
        </p:nvSpPr>
        <p:spPr>
          <a:xfrm flipH="1" rot="5400000">
            <a:off x="402143" y="711487"/>
            <a:ext cx="1701600" cy="1701600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CCCC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92"/>
          <p:cNvSpPr/>
          <p:nvPr/>
        </p:nvSpPr>
        <p:spPr>
          <a:xfrm flipH="1" rot="8100000">
            <a:off x="402249" y="711873"/>
            <a:ext cx="1701299" cy="1701299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92"/>
          <p:cNvSpPr/>
          <p:nvPr/>
        </p:nvSpPr>
        <p:spPr>
          <a:xfrm flipH="1" rot="10800000">
            <a:off x="401984" y="711626"/>
            <a:ext cx="1701600" cy="1701600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92"/>
          <p:cNvSpPr/>
          <p:nvPr/>
        </p:nvSpPr>
        <p:spPr>
          <a:xfrm flipH="1" rot="-8099571">
            <a:off x="401797" y="711873"/>
            <a:ext cx="1701511" cy="1701299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92"/>
          <p:cNvSpPr/>
          <p:nvPr/>
        </p:nvSpPr>
        <p:spPr>
          <a:xfrm flipH="1" rot="-5400000">
            <a:off x="402261" y="711657"/>
            <a:ext cx="1701600" cy="1701600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92"/>
          <p:cNvSpPr/>
          <p:nvPr/>
        </p:nvSpPr>
        <p:spPr>
          <a:xfrm flipH="1" rot="-2700429">
            <a:off x="402351" y="711767"/>
            <a:ext cx="1701511" cy="1701511"/>
          </a:xfrm>
          <a:prstGeom prst="pie">
            <a:avLst>
              <a:gd fmla="val 1348776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92"/>
          <p:cNvSpPr txBox="1"/>
          <p:nvPr/>
        </p:nvSpPr>
        <p:spPr>
          <a:xfrm flipH="1">
            <a:off x="1742941" y="1232947"/>
            <a:ext cx="2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3" name="Google Shape;1893;p92"/>
          <p:cNvGrpSpPr/>
          <p:nvPr/>
        </p:nvGrpSpPr>
        <p:grpSpPr>
          <a:xfrm>
            <a:off x="772851" y="1084326"/>
            <a:ext cx="961200" cy="961200"/>
            <a:chOff x="1269556" y="1651418"/>
            <a:chExt cx="961200" cy="961200"/>
          </a:xfrm>
        </p:grpSpPr>
        <p:sp>
          <p:nvSpPr>
            <p:cNvPr id="1894" name="Google Shape;1894;p92"/>
            <p:cNvSpPr/>
            <p:nvPr/>
          </p:nvSpPr>
          <p:spPr>
            <a:xfrm flipH="1">
              <a:off x="1269556" y="1651418"/>
              <a:ext cx="961200" cy="961200"/>
            </a:xfrm>
            <a:prstGeom prst="arc">
              <a:avLst>
                <a:gd fmla="val 10851093" name="adj1"/>
                <a:gd fmla="val 13529019" name="adj2"/>
              </a:avLst>
            </a:prstGeom>
            <a:solidFill>
              <a:srgbClr val="FAEAF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5" name="Google Shape;1895;p92"/>
            <p:cNvSpPr txBox="1"/>
            <p:nvPr/>
          </p:nvSpPr>
          <p:spPr>
            <a:xfrm>
              <a:off x="1892037" y="1927702"/>
              <a:ext cx="331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45°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6" name="Google Shape;1896;p92"/>
          <p:cNvSpPr txBox="1"/>
          <p:nvPr/>
        </p:nvSpPr>
        <p:spPr>
          <a:xfrm flipH="1">
            <a:off x="1710541" y="1640219"/>
            <a:ext cx="24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92"/>
          <p:cNvSpPr/>
          <p:nvPr/>
        </p:nvSpPr>
        <p:spPr>
          <a:xfrm flipH="1" rot="2700000">
            <a:off x="402803" y="711767"/>
            <a:ext cx="1701299" cy="1701511"/>
          </a:xfrm>
          <a:prstGeom prst="pie">
            <a:avLst>
              <a:gd fmla="val 13487764" name="adj1"/>
              <a:gd fmla="val 1620000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92"/>
          <p:cNvSpPr txBox="1"/>
          <p:nvPr/>
        </p:nvSpPr>
        <p:spPr>
          <a:xfrm>
            <a:off x="2606125" y="2657700"/>
            <a:ext cx="4160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225° ÷ 45° =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sector with outcome A should be split into 5 smaller sectors.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92"/>
          <p:cNvSpPr txBox="1"/>
          <p:nvPr/>
        </p:nvSpPr>
        <p:spPr>
          <a:xfrm>
            <a:off x="2606125" y="711650"/>
            <a:ext cx="6213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three sectors whose outcomes are B and C are all equally likely.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smaller sectors should the sector with outcome A be split up into so that all outcomes on the spinner are equally likely?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92"/>
          <p:cNvSpPr/>
          <p:nvPr/>
        </p:nvSpPr>
        <p:spPr>
          <a:xfrm flipH="1" rot="8100000">
            <a:off x="402249" y="711873"/>
            <a:ext cx="1701299" cy="1701299"/>
          </a:xfrm>
          <a:prstGeom prst="pie">
            <a:avLst>
              <a:gd fmla="val 269646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1" name="Google Shape;1901;p92"/>
          <p:cNvGrpSpPr/>
          <p:nvPr/>
        </p:nvGrpSpPr>
        <p:grpSpPr>
          <a:xfrm flipH="1">
            <a:off x="818025" y="1126349"/>
            <a:ext cx="871500" cy="871500"/>
            <a:chOff x="1314395" y="1696299"/>
            <a:chExt cx="871500" cy="871500"/>
          </a:xfrm>
        </p:grpSpPr>
        <p:sp>
          <p:nvSpPr>
            <p:cNvPr id="1902" name="Google Shape;1902;p92"/>
            <p:cNvSpPr/>
            <p:nvPr/>
          </p:nvSpPr>
          <p:spPr>
            <a:xfrm flipH="1">
              <a:off x="1314395" y="1696299"/>
              <a:ext cx="871500" cy="871500"/>
            </a:xfrm>
            <a:prstGeom prst="arc">
              <a:avLst>
                <a:gd fmla="val 2719057" name="adj1"/>
                <a:gd fmla="val 16237625" name="adj2"/>
              </a:avLst>
            </a:prstGeom>
            <a:solidFill>
              <a:srgbClr val="FAEAF6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3" name="Google Shape;1903;p92"/>
            <p:cNvSpPr txBox="1"/>
            <p:nvPr/>
          </p:nvSpPr>
          <p:spPr>
            <a:xfrm>
              <a:off x="1758348" y="2060597"/>
              <a:ext cx="391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225°</a:t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4" name="Google Shape;1904;p92"/>
          <p:cNvGrpSpPr/>
          <p:nvPr/>
        </p:nvGrpSpPr>
        <p:grpSpPr>
          <a:xfrm>
            <a:off x="49898" y="359522"/>
            <a:ext cx="2406000" cy="2406000"/>
            <a:chOff x="49898" y="359522"/>
            <a:chExt cx="2406000" cy="2406000"/>
          </a:xfrm>
        </p:grpSpPr>
        <p:sp>
          <p:nvSpPr>
            <p:cNvPr id="1905" name="Google Shape;1905;p92"/>
            <p:cNvSpPr/>
            <p:nvPr/>
          </p:nvSpPr>
          <p:spPr>
            <a:xfrm flipH="1" rot="8100000">
              <a:off x="402249" y="711873"/>
              <a:ext cx="1701299" cy="1701299"/>
            </a:xfrm>
            <a:prstGeom prst="pie">
              <a:avLst>
                <a:gd fmla="val 269646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92"/>
            <p:cNvSpPr txBox="1"/>
            <p:nvPr/>
          </p:nvSpPr>
          <p:spPr>
            <a:xfrm flipH="1">
              <a:off x="548291" y="1640219"/>
              <a:ext cx="248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1912" name="Google Shape;1912;p93"/>
          <p:cNvSpPr txBox="1"/>
          <p:nvPr/>
        </p:nvSpPr>
        <p:spPr>
          <a:xfrm>
            <a:off x="330325" y="2952750"/>
            <a:ext cx="8489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Jacob will spin spinners A and B once each, with the number each spinner lands on multiplied together. Construct 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which lists each unique outcome to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Split sectors on spinners A, B, C so that all outcomes on a spinner are equally likely.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3" name="Google Shape;1913;p93"/>
          <p:cNvGrpSpPr/>
          <p:nvPr/>
        </p:nvGrpSpPr>
        <p:grpSpPr>
          <a:xfrm>
            <a:off x="661654" y="376082"/>
            <a:ext cx="7668293" cy="2196912"/>
            <a:chOff x="95411" y="396713"/>
            <a:chExt cx="6476052" cy="1855500"/>
          </a:xfrm>
        </p:grpSpPr>
        <p:sp>
          <p:nvSpPr>
            <p:cNvPr id="1914" name="Google Shape;1914;p93"/>
            <p:cNvSpPr/>
            <p:nvPr/>
          </p:nvSpPr>
          <p:spPr>
            <a:xfrm rot="10800000">
              <a:off x="339063" y="661533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93"/>
            <p:cNvSpPr/>
            <p:nvPr/>
          </p:nvSpPr>
          <p:spPr>
            <a:xfrm rot="-7200295">
              <a:off x="338952" y="661391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93"/>
            <p:cNvSpPr/>
            <p:nvPr/>
          </p:nvSpPr>
          <p:spPr>
            <a:xfrm rot="-3599705">
              <a:off x="338510" y="661456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93"/>
            <p:cNvSpPr/>
            <p:nvPr/>
          </p:nvSpPr>
          <p:spPr>
            <a:xfrm>
              <a:off x="338470" y="661448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93"/>
            <p:cNvSpPr txBox="1"/>
            <p:nvPr/>
          </p:nvSpPr>
          <p:spPr>
            <a:xfrm>
              <a:off x="434872" y="1989738"/>
              <a:ext cx="1136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9" name="Google Shape;1919;p93"/>
            <p:cNvSpPr/>
            <p:nvPr/>
          </p:nvSpPr>
          <p:spPr>
            <a:xfrm flipH="1">
              <a:off x="338896" y="661610"/>
              <a:ext cx="1328100" cy="1328100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93"/>
            <p:cNvSpPr/>
            <p:nvPr/>
          </p:nvSpPr>
          <p:spPr>
            <a:xfrm flipH="1" rot="3599705">
              <a:off x="338529" y="661618"/>
              <a:ext cx="1328202" cy="1328202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93"/>
            <p:cNvSpPr txBox="1"/>
            <p:nvPr/>
          </p:nvSpPr>
          <p:spPr>
            <a:xfrm flipH="1">
              <a:off x="1067083" y="863762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2" name="Google Shape;1922;p93"/>
            <p:cNvSpPr txBox="1"/>
            <p:nvPr/>
          </p:nvSpPr>
          <p:spPr>
            <a:xfrm flipH="1">
              <a:off x="1239783" y="1202587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3" name="Google Shape;1923;p93"/>
            <p:cNvSpPr txBox="1"/>
            <p:nvPr/>
          </p:nvSpPr>
          <p:spPr>
            <a:xfrm flipH="1">
              <a:off x="606877" y="863739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4" name="Google Shape;1924;p93"/>
            <p:cNvSpPr txBox="1"/>
            <p:nvPr/>
          </p:nvSpPr>
          <p:spPr>
            <a:xfrm flipH="1">
              <a:off x="1067083" y="1596175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5" name="Google Shape;1925;p93"/>
            <p:cNvSpPr txBox="1"/>
            <p:nvPr/>
          </p:nvSpPr>
          <p:spPr>
            <a:xfrm flipH="1">
              <a:off x="606877" y="1596152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6" name="Google Shape;1926;p93"/>
            <p:cNvSpPr txBox="1"/>
            <p:nvPr/>
          </p:nvSpPr>
          <p:spPr>
            <a:xfrm flipH="1">
              <a:off x="434183" y="1202587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7" name="Google Shape;1927;p93"/>
            <p:cNvGrpSpPr/>
            <p:nvPr/>
          </p:nvGrpSpPr>
          <p:grpSpPr>
            <a:xfrm>
              <a:off x="338871" y="661585"/>
              <a:ext cx="1328100" cy="1328100"/>
              <a:chOff x="338871" y="661585"/>
              <a:chExt cx="1328100" cy="1328100"/>
            </a:xfrm>
          </p:grpSpPr>
          <p:sp>
            <p:nvSpPr>
              <p:cNvPr id="1928" name="Google Shape;1928;p93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fmla="val 9021560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93"/>
              <p:cNvSpPr txBox="1"/>
              <p:nvPr/>
            </p:nvSpPr>
            <p:spPr>
              <a:xfrm flipH="1">
                <a:off x="403727" y="877421"/>
                <a:ext cx="3315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30" name="Google Shape;1930;p93"/>
            <p:cNvSpPr/>
            <p:nvPr/>
          </p:nvSpPr>
          <p:spPr>
            <a:xfrm flipH="1">
              <a:off x="2790024" y="660667"/>
              <a:ext cx="1328100" cy="1328100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93"/>
            <p:cNvSpPr/>
            <p:nvPr/>
          </p:nvSpPr>
          <p:spPr>
            <a:xfrm flipH="1" rot="4320175">
              <a:off x="2789498" y="660491"/>
              <a:ext cx="1328290" cy="1328290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93"/>
            <p:cNvSpPr/>
            <p:nvPr/>
          </p:nvSpPr>
          <p:spPr>
            <a:xfrm flipH="1" rot="8639842">
              <a:off x="2790493" y="660739"/>
              <a:ext cx="1327952" cy="1327952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93"/>
            <p:cNvSpPr/>
            <p:nvPr/>
          </p:nvSpPr>
          <p:spPr>
            <a:xfrm flipH="1" rot="-8639670">
              <a:off x="2790801" y="660277"/>
              <a:ext cx="1328371" cy="1328371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93"/>
            <p:cNvSpPr/>
            <p:nvPr/>
          </p:nvSpPr>
          <p:spPr>
            <a:xfrm>
              <a:off x="2789296" y="660667"/>
              <a:ext cx="1328100" cy="1328100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93"/>
            <p:cNvSpPr txBox="1"/>
            <p:nvPr/>
          </p:nvSpPr>
          <p:spPr>
            <a:xfrm flipH="1">
              <a:off x="3684105" y="1304921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6" name="Google Shape;1936;p93"/>
            <p:cNvSpPr txBox="1"/>
            <p:nvPr/>
          </p:nvSpPr>
          <p:spPr>
            <a:xfrm flipH="1">
              <a:off x="3289230" y="1625171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7" name="Google Shape;1937;p93"/>
            <p:cNvSpPr txBox="1"/>
            <p:nvPr/>
          </p:nvSpPr>
          <p:spPr>
            <a:xfrm flipH="1">
              <a:off x="2892105" y="1304921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8" name="Google Shape;1938;p93"/>
            <p:cNvSpPr txBox="1"/>
            <p:nvPr/>
          </p:nvSpPr>
          <p:spPr>
            <a:xfrm flipH="1">
              <a:off x="3034915" y="875506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9" name="Google Shape;1939;p93"/>
            <p:cNvSpPr txBox="1"/>
            <p:nvPr/>
          </p:nvSpPr>
          <p:spPr>
            <a:xfrm flipH="1">
              <a:off x="3541315" y="875506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40" name="Google Shape;1940;p93"/>
            <p:cNvGrpSpPr/>
            <p:nvPr/>
          </p:nvGrpSpPr>
          <p:grpSpPr>
            <a:xfrm>
              <a:off x="2790924" y="660642"/>
              <a:ext cx="1328100" cy="1328100"/>
              <a:chOff x="401046" y="786560"/>
              <a:chExt cx="1328100" cy="1328100"/>
            </a:xfrm>
          </p:grpSpPr>
          <p:sp>
            <p:nvSpPr>
              <p:cNvPr id="1941" name="Google Shape;1941;p93"/>
              <p:cNvSpPr/>
              <p:nvPr/>
            </p:nvSpPr>
            <p:spPr>
              <a:xfrm>
                <a:off x="401046" y="786560"/>
                <a:ext cx="1328100" cy="1328100"/>
              </a:xfrm>
              <a:prstGeom prst="pie">
                <a:avLst>
                  <a:gd fmla="val 3244423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93"/>
              <p:cNvSpPr txBox="1"/>
              <p:nvPr/>
            </p:nvSpPr>
            <p:spPr>
              <a:xfrm flipH="1">
                <a:off x="551677" y="1529689"/>
                <a:ext cx="3315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43" name="Google Shape;1943;p93"/>
            <p:cNvSpPr txBox="1"/>
            <p:nvPr/>
          </p:nvSpPr>
          <p:spPr>
            <a:xfrm>
              <a:off x="2886772" y="1989738"/>
              <a:ext cx="1136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4" name="Google Shape;1944;p93"/>
            <p:cNvSpPr/>
            <p:nvPr/>
          </p:nvSpPr>
          <p:spPr>
            <a:xfrm rot="10800000">
              <a:off x="5243363" y="661533"/>
              <a:ext cx="1328100" cy="1328100"/>
            </a:xfrm>
            <a:prstGeom prst="pie">
              <a:avLst>
                <a:gd fmla="val 12607844" name="adj1"/>
                <a:gd fmla="val 19826604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93"/>
            <p:cNvSpPr/>
            <p:nvPr/>
          </p:nvSpPr>
          <p:spPr>
            <a:xfrm>
              <a:off x="5242770" y="661448"/>
              <a:ext cx="1328100" cy="1328100"/>
            </a:xfrm>
            <a:prstGeom prst="pie">
              <a:avLst>
                <a:gd fmla="val 9019745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93"/>
            <p:cNvSpPr/>
            <p:nvPr/>
          </p:nvSpPr>
          <p:spPr>
            <a:xfrm flipH="1">
              <a:off x="5243196" y="661610"/>
              <a:ext cx="1328100" cy="1328100"/>
            </a:xfrm>
            <a:prstGeom prst="pie">
              <a:avLst>
                <a:gd fmla="val 8998870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93"/>
            <p:cNvSpPr txBox="1"/>
            <p:nvPr/>
          </p:nvSpPr>
          <p:spPr>
            <a:xfrm flipH="1">
              <a:off x="6060783" y="1015037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8" name="Google Shape;1948;p93"/>
            <p:cNvSpPr txBox="1"/>
            <p:nvPr/>
          </p:nvSpPr>
          <p:spPr>
            <a:xfrm flipH="1">
              <a:off x="5971383" y="1596175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9" name="Google Shape;1949;p93"/>
            <p:cNvSpPr txBox="1"/>
            <p:nvPr/>
          </p:nvSpPr>
          <p:spPr>
            <a:xfrm flipH="1">
              <a:off x="5511177" y="1596152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50" name="Google Shape;1950;p93"/>
            <p:cNvGrpSpPr/>
            <p:nvPr/>
          </p:nvGrpSpPr>
          <p:grpSpPr>
            <a:xfrm>
              <a:off x="5243171" y="661585"/>
              <a:ext cx="1328100" cy="1328100"/>
              <a:chOff x="338871" y="661585"/>
              <a:chExt cx="1328100" cy="1328100"/>
            </a:xfrm>
          </p:grpSpPr>
          <p:sp>
            <p:nvSpPr>
              <p:cNvPr id="1951" name="Google Shape;1951;p93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fmla="val 1803033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93"/>
              <p:cNvSpPr txBox="1"/>
              <p:nvPr/>
            </p:nvSpPr>
            <p:spPr>
              <a:xfrm flipH="1">
                <a:off x="394189" y="1496210"/>
                <a:ext cx="3315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53" name="Google Shape;1953;p93"/>
            <p:cNvSpPr txBox="1"/>
            <p:nvPr/>
          </p:nvSpPr>
          <p:spPr>
            <a:xfrm>
              <a:off x="5338672" y="1989738"/>
              <a:ext cx="1136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94"/>
          <p:cNvSpPr txBox="1"/>
          <p:nvPr/>
        </p:nvSpPr>
        <p:spPr>
          <a:xfrm>
            <a:off x="330325" y="2647950"/>
            <a:ext cx="8489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Jacob will spin spinners B and C once each, with the number each spinner lands on multiplied together. Construct 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which shows how likely each outcome is to occur.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Jacob will spin spinners A and B once each, then spinners B and C once each, then spinners A and C once each. After each trial, the number each spinner lands on are multiplied together.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outcome is most likely to occur across all experiments?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grpSp>
        <p:nvGrpSpPr>
          <p:cNvPr id="1960" name="Google Shape;1960;p94"/>
          <p:cNvGrpSpPr/>
          <p:nvPr/>
        </p:nvGrpSpPr>
        <p:grpSpPr>
          <a:xfrm>
            <a:off x="661654" y="376082"/>
            <a:ext cx="7668293" cy="2196912"/>
            <a:chOff x="95411" y="396713"/>
            <a:chExt cx="6476052" cy="1855500"/>
          </a:xfrm>
        </p:grpSpPr>
        <p:sp>
          <p:nvSpPr>
            <p:cNvPr id="1961" name="Google Shape;1961;p94"/>
            <p:cNvSpPr/>
            <p:nvPr/>
          </p:nvSpPr>
          <p:spPr>
            <a:xfrm rot="10800000">
              <a:off x="339063" y="661533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94"/>
            <p:cNvSpPr/>
            <p:nvPr/>
          </p:nvSpPr>
          <p:spPr>
            <a:xfrm rot="-7200295">
              <a:off x="338952" y="661391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94"/>
            <p:cNvSpPr/>
            <p:nvPr/>
          </p:nvSpPr>
          <p:spPr>
            <a:xfrm rot="-3599705">
              <a:off x="338510" y="661456"/>
              <a:ext cx="1328202" cy="1328202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94"/>
            <p:cNvSpPr/>
            <p:nvPr/>
          </p:nvSpPr>
          <p:spPr>
            <a:xfrm>
              <a:off x="338470" y="661448"/>
              <a:ext cx="1328100" cy="1328100"/>
            </a:xfrm>
            <a:prstGeom prst="pie">
              <a:avLst>
                <a:gd fmla="val 12607844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94"/>
            <p:cNvSpPr txBox="1"/>
            <p:nvPr/>
          </p:nvSpPr>
          <p:spPr>
            <a:xfrm>
              <a:off x="434872" y="1989738"/>
              <a:ext cx="1136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6" name="Google Shape;1966;p94"/>
            <p:cNvSpPr/>
            <p:nvPr/>
          </p:nvSpPr>
          <p:spPr>
            <a:xfrm flipH="1">
              <a:off x="338896" y="661610"/>
              <a:ext cx="1328100" cy="1328100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94"/>
            <p:cNvSpPr/>
            <p:nvPr/>
          </p:nvSpPr>
          <p:spPr>
            <a:xfrm flipH="1" rot="3599705">
              <a:off x="338529" y="661618"/>
              <a:ext cx="1328202" cy="1328202"/>
            </a:xfrm>
            <a:prstGeom prst="pie">
              <a:avLst>
                <a:gd fmla="val 1259597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94"/>
            <p:cNvSpPr txBox="1"/>
            <p:nvPr/>
          </p:nvSpPr>
          <p:spPr>
            <a:xfrm flipH="1">
              <a:off x="1067083" y="863762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9" name="Google Shape;1969;p94"/>
            <p:cNvSpPr txBox="1"/>
            <p:nvPr/>
          </p:nvSpPr>
          <p:spPr>
            <a:xfrm flipH="1">
              <a:off x="1239783" y="1202587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0" name="Google Shape;1970;p94"/>
            <p:cNvSpPr txBox="1"/>
            <p:nvPr/>
          </p:nvSpPr>
          <p:spPr>
            <a:xfrm flipH="1">
              <a:off x="606877" y="863739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1" name="Google Shape;1971;p94"/>
            <p:cNvSpPr txBox="1"/>
            <p:nvPr/>
          </p:nvSpPr>
          <p:spPr>
            <a:xfrm flipH="1">
              <a:off x="1067083" y="1596175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2" name="Google Shape;1972;p94"/>
            <p:cNvSpPr txBox="1"/>
            <p:nvPr/>
          </p:nvSpPr>
          <p:spPr>
            <a:xfrm flipH="1">
              <a:off x="606877" y="1596152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3" name="Google Shape;1973;p94"/>
            <p:cNvSpPr txBox="1"/>
            <p:nvPr/>
          </p:nvSpPr>
          <p:spPr>
            <a:xfrm flipH="1">
              <a:off x="434183" y="1202587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74" name="Google Shape;1974;p94"/>
            <p:cNvGrpSpPr/>
            <p:nvPr/>
          </p:nvGrpSpPr>
          <p:grpSpPr>
            <a:xfrm>
              <a:off x="338871" y="661585"/>
              <a:ext cx="1328100" cy="1328100"/>
              <a:chOff x="338871" y="661585"/>
              <a:chExt cx="1328100" cy="1328100"/>
            </a:xfrm>
          </p:grpSpPr>
          <p:sp>
            <p:nvSpPr>
              <p:cNvPr id="1975" name="Google Shape;1975;p94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fmla="val 9021560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94"/>
              <p:cNvSpPr txBox="1"/>
              <p:nvPr/>
            </p:nvSpPr>
            <p:spPr>
              <a:xfrm flipH="1">
                <a:off x="403727" y="877421"/>
                <a:ext cx="3315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77" name="Google Shape;1977;p94"/>
            <p:cNvSpPr/>
            <p:nvPr/>
          </p:nvSpPr>
          <p:spPr>
            <a:xfrm flipH="1">
              <a:off x="2790024" y="660667"/>
              <a:ext cx="1328100" cy="1328100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94"/>
            <p:cNvSpPr/>
            <p:nvPr/>
          </p:nvSpPr>
          <p:spPr>
            <a:xfrm flipH="1" rot="4320175">
              <a:off x="2789498" y="660491"/>
              <a:ext cx="1328290" cy="1328290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94"/>
            <p:cNvSpPr/>
            <p:nvPr/>
          </p:nvSpPr>
          <p:spPr>
            <a:xfrm flipH="1" rot="8639842">
              <a:off x="2790493" y="660739"/>
              <a:ext cx="1327952" cy="1327952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94"/>
            <p:cNvSpPr/>
            <p:nvPr/>
          </p:nvSpPr>
          <p:spPr>
            <a:xfrm flipH="1" rot="-8639670">
              <a:off x="2790801" y="660277"/>
              <a:ext cx="1328371" cy="1328371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94"/>
            <p:cNvSpPr/>
            <p:nvPr/>
          </p:nvSpPr>
          <p:spPr>
            <a:xfrm>
              <a:off x="2789296" y="660667"/>
              <a:ext cx="1328100" cy="1328100"/>
            </a:xfrm>
            <a:prstGeom prst="pie">
              <a:avLst>
                <a:gd fmla="val 11872534" name="adj1"/>
                <a:gd fmla="val 1620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94"/>
            <p:cNvSpPr txBox="1"/>
            <p:nvPr/>
          </p:nvSpPr>
          <p:spPr>
            <a:xfrm flipH="1">
              <a:off x="3684105" y="1304921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3" name="Google Shape;1983;p94"/>
            <p:cNvSpPr txBox="1"/>
            <p:nvPr/>
          </p:nvSpPr>
          <p:spPr>
            <a:xfrm flipH="1">
              <a:off x="3289230" y="1625171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4" name="Google Shape;1984;p94"/>
            <p:cNvSpPr txBox="1"/>
            <p:nvPr/>
          </p:nvSpPr>
          <p:spPr>
            <a:xfrm flipH="1">
              <a:off x="2892105" y="1304921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5" name="Google Shape;1985;p94"/>
            <p:cNvSpPr txBox="1"/>
            <p:nvPr/>
          </p:nvSpPr>
          <p:spPr>
            <a:xfrm flipH="1">
              <a:off x="3034915" y="875506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86" name="Google Shape;1986;p94"/>
            <p:cNvSpPr txBox="1"/>
            <p:nvPr/>
          </p:nvSpPr>
          <p:spPr>
            <a:xfrm flipH="1">
              <a:off x="3541315" y="875506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87" name="Google Shape;1987;p94"/>
            <p:cNvGrpSpPr/>
            <p:nvPr/>
          </p:nvGrpSpPr>
          <p:grpSpPr>
            <a:xfrm>
              <a:off x="2790924" y="660642"/>
              <a:ext cx="1328100" cy="1328100"/>
              <a:chOff x="401046" y="786560"/>
              <a:chExt cx="1328100" cy="1328100"/>
            </a:xfrm>
          </p:grpSpPr>
          <p:sp>
            <p:nvSpPr>
              <p:cNvPr id="1988" name="Google Shape;1988;p94"/>
              <p:cNvSpPr/>
              <p:nvPr/>
            </p:nvSpPr>
            <p:spPr>
              <a:xfrm>
                <a:off x="401046" y="786560"/>
                <a:ext cx="1328100" cy="1328100"/>
              </a:xfrm>
              <a:prstGeom prst="pie">
                <a:avLst>
                  <a:gd fmla="val 3244423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94"/>
              <p:cNvSpPr txBox="1"/>
              <p:nvPr/>
            </p:nvSpPr>
            <p:spPr>
              <a:xfrm flipH="1">
                <a:off x="551677" y="1529689"/>
                <a:ext cx="3315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90" name="Google Shape;1990;p94"/>
            <p:cNvSpPr txBox="1"/>
            <p:nvPr/>
          </p:nvSpPr>
          <p:spPr>
            <a:xfrm>
              <a:off x="2886772" y="1989738"/>
              <a:ext cx="1136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1" name="Google Shape;1991;p94"/>
            <p:cNvSpPr/>
            <p:nvPr/>
          </p:nvSpPr>
          <p:spPr>
            <a:xfrm rot="10800000">
              <a:off x="5243363" y="661533"/>
              <a:ext cx="1328100" cy="1328100"/>
            </a:xfrm>
            <a:prstGeom prst="pie">
              <a:avLst>
                <a:gd fmla="val 12607844" name="adj1"/>
                <a:gd fmla="val 19826604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94"/>
            <p:cNvSpPr/>
            <p:nvPr/>
          </p:nvSpPr>
          <p:spPr>
            <a:xfrm>
              <a:off x="5242770" y="661448"/>
              <a:ext cx="1328100" cy="1328100"/>
            </a:xfrm>
            <a:prstGeom prst="pie">
              <a:avLst>
                <a:gd fmla="val 9019745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94"/>
            <p:cNvSpPr/>
            <p:nvPr/>
          </p:nvSpPr>
          <p:spPr>
            <a:xfrm flipH="1">
              <a:off x="5243196" y="661610"/>
              <a:ext cx="1328100" cy="1328100"/>
            </a:xfrm>
            <a:prstGeom prst="pie">
              <a:avLst>
                <a:gd fmla="val 8998870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94"/>
            <p:cNvSpPr txBox="1"/>
            <p:nvPr/>
          </p:nvSpPr>
          <p:spPr>
            <a:xfrm flipH="1">
              <a:off x="6060783" y="1015037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5" name="Google Shape;1995;p94"/>
            <p:cNvSpPr txBox="1"/>
            <p:nvPr/>
          </p:nvSpPr>
          <p:spPr>
            <a:xfrm flipH="1">
              <a:off x="5971383" y="1596175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6" name="Google Shape;1996;p94"/>
            <p:cNvSpPr txBox="1"/>
            <p:nvPr/>
          </p:nvSpPr>
          <p:spPr>
            <a:xfrm flipH="1">
              <a:off x="5511177" y="1596152"/>
              <a:ext cx="3315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97" name="Google Shape;1997;p94"/>
            <p:cNvGrpSpPr/>
            <p:nvPr/>
          </p:nvGrpSpPr>
          <p:grpSpPr>
            <a:xfrm>
              <a:off x="5243171" y="661585"/>
              <a:ext cx="1328100" cy="1328100"/>
              <a:chOff x="338871" y="661585"/>
              <a:chExt cx="1328100" cy="1328100"/>
            </a:xfrm>
          </p:grpSpPr>
          <p:sp>
            <p:nvSpPr>
              <p:cNvPr id="1998" name="Google Shape;1998;p94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fmla="val 1803033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94"/>
              <p:cNvSpPr txBox="1"/>
              <p:nvPr/>
            </p:nvSpPr>
            <p:spPr>
              <a:xfrm flipH="1">
                <a:off x="394189" y="1496210"/>
                <a:ext cx="331500" cy="2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000" name="Google Shape;2000;p94"/>
            <p:cNvSpPr txBox="1"/>
            <p:nvPr/>
          </p:nvSpPr>
          <p:spPr>
            <a:xfrm>
              <a:off x="5338672" y="1989738"/>
              <a:ext cx="1136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 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2006" name="Google Shape;2006;p95"/>
          <p:cNvSpPr txBox="1"/>
          <p:nvPr/>
        </p:nvSpPr>
        <p:spPr>
          <a:xfrm>
            <a:off x="330325" y="2876550"/>
            <a:ext cx="5789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Jacob will spin spinners A and B once each, with the number each spinner lands on multiplied together. Construct an outcome table which lists each unique outcome to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Split sectors on spinners A, B, C so that all outcomes on a spinner are equally likely.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95"/>
          <p:cNvSpPr/>
          <p:nvPr/>
        </p:nvSpPr>
        <p:spPr>
          <a:xfrm rot="10800000">
            <a:off x="950165" y="689499"/>
            <a:ext cx="1572600" cy="15726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95"/>
          <p:cNvSpPr/>
          <p:nvPr/>
        </p:nvSpPr>
        <p:spPr>
          <a:xfrm rot="-7200799">
            <a:off x="950073" y="689542"/>
            <a:ext cx="1572567" cy="1572677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95"/>
          <p:cNvSpPr/>
          <p:nvPr/>
        </p:nvSpPr>
        <p:spPr>
          <a:xfrm rot="-3599201">
            <a:off x="949670" y="689507"/>
            <a:ext cx="1572567" cy="1572677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95"/>
          <p:cNvSpPr/>
          <p:nvPr/>
        </p:nvSpPr>
        <p:spPr>
          <a:xfrm>
            <a:off x="949460" y="689528"/>
            <a:ext cx="1572600" cy="15726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95"/>
          <p:cNvSpPr txBox="1"/>
          <p:nvPr/>
        </p:nvSpPr>
        <p:spPr>
          <a:xfrm>
            <a:off x="1063610" y="22622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95"/>
          <p:cNvSpPr/>
          <p:nvPr/>
        </p:nvSpPr>
        <p:spPr>
          <a:xfrm flipH="1">
            <a:off x="949968" y="689720"/>
            <a:ext cx="1572600" cy="15726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95"/>
          <p:cNvSpPr/>
          <p:nvPr/>
        </p:nvSpPr>
        <p:spPr>
          <a:xfrm flipH="1" rot="3599201">
            <a:off x="949524" y="689699"/>
            <a:ext cx="1572567" cy="1572677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95"/>
          <p:cNvSpPr txBox="1"/>
          <p:nvPr/>
        </p:nvSpPr>
        <p:spPr>
          <a:xfrm flipH="1">
            <a:off x="1812339" y="929068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95"/>
          <p:cNvSpPr txBox="1"/>
          <p:nvPr/>
        </p:nvSpPr>
        <p:spPr>
          <a:xfrm flipH="1">
            <a:off x="2016833" y="1330237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6" name="Google Shape;2016;p95"/>
          <p:cNvSpPr txBox="1"/>
          <p:nvPr/>
        </p:nvSpPr>
        <p:spPr>
          <a:xfrm flipH="1">
            <a:off x="1267410" y="929041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95"/>
          <p:cNvSpPr txBox="1"/>
          <p:nvPr/>
        </p:nvSpPr>
        <p:spPr>
          <a:xfrm flipH="1">
            <a:off x="1812339" y="1796244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95"/>
          <p:cNvSpPr txBox="1"/>
          <p:nvPr/>
        </p:nvSpPr>
        <p:spPr>
          <a:xfrm flipH="1">
            <a:off x="1267410" y="1796217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95"/>
          <p:cNvSpPr txBox="1"/>
          <p:nvPr/>
        </p:nvSpPr>
        <p:spPr>
          <a:xfrm flipH="1">
            <a:off x="1062923" y="1330237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95"/>
          <p:cNvSpPr/>
          <p:nvPr/>
        </p:nvSpPr>
        <p:spPr>
          <a:xfrm flipH="1">
            <a:off x="3852348" y="6886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95"/>
          <p:cNvSpPr/>
          <p:nvPr/>
        </p:nvSpPr>
        <p:spPr>
          <a:xfrm flipH="1" rot="4320031">
            <a:off x="3851764" y="688374"/>
            <a:ext cx="1572773" cy="1572773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95"/>
          <p:cNvSpPr/>
          <p:nvPr/>
        </p:nvSpPr>
        <p:spPr>
          <a:xfrm flipH="1" rot="8639756">
            <a:off x="3852900" y="688607"/>
            <a:ext cx="1572360" cy="1572360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95"/>
          <p:cNvSpPr/>
          <p:nvPr/>
        </p:nvSpPr>
        <p:spPr>
          <a:xfrm flipH="1" rot="-8639611">
            <a:off x="3853240" y="688169"/>
            <a:ext cx="1572779" cy="1572779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95"/>
          <p:cNvSpPr/>
          <p:nvPr/>
        </p:nvSpPr>
        <p:spPr>
          <a:xfrm>
            <a:off x="3851483" y="6886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95"/>
          <p:cNvSpPr txBox="1"/>
          <p:nvPr/>
        </p:nvSpPr>
        <p:spPr>
          <a:xfrm flipH="1">
            <a:off x="4911156" y="14514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95"/>
          <p:cNvSpPr txBox="1"/>
          <p:nvPr/>
        </p:nvSpPr>
        <p:spPr>
          <a:xfrm flipH="1">
            <a:off x="4443584" y="183057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95"/>
          <p:cNvSpPr txBox="1"/>
          <p:nvPr/>
        </p:nvSpPr>
        <p:spPr>
          <a:xfrm flipH="1">
            <a:off x="3973348" y="14514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95"/>
          <p:cNvSpPr txBox="1"/>
          <p:nvPr/>
        </p:nvSpPr>
        <p:spPr>
          <a:xfrm flipH="1">
            <a:off x="4142449" y="9429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95"/>
          <p:cNvSpPr txBox="1"/>
          <p:nvPr/>
        </p:nvSpPr>
        <p:spPr>
          <a:xfrm flipH="1">
            <a:off x="4742077" y="9429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95"/>
          <p:cNvSpPr txBox="1"/>
          <p:nvPr/>
        </p:nvSpPr>
        <p:spPr>
          <a:xfrm>
            <a:off x="3966905" y="22622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95"/>
          <p:cNvSpPr/>
          <p:nvPr/>
        </p:nvSpPr>
        <p:spPr>
          <a:xfrm rot="10800000">
            <a:off x="6757346" y="689499"/>
            <a:ext cx="1572600" cy="1572600"/>
          </a:xfrm>
          <a:prstGeom prst="pie">
            <a:avLst>
              <a:gd fmla="val 12607844" name="adj1"/>
              <a:gd fmla="val 1982660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95"/>
          <p:cNvSpPr/>
          <p:nvPr/>
        </p:nvSpPr>
        <p:spPr>
          <a:xfrm>
            <a:off x="6756642" y="689528"/>
            <a:ext cx="1572600" cy="1572600"/>
          </a:xfrm>
          <a:prstGeom prst="pie">
            <a:avLst>
              <a:gd fmla="val 9019745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95"/>
          <p:cNvSpPr/>
          <p:nvPr/>
        </p:nvSpPr>
        <p:spPr>
          <a:xfrm flipH="1">
            <a:off x="6757149" y="689720"/>
            <a:ext cx="1572600" cy="1572600"/>
          </a:xfrm>
          <a:prstGeom prst="pie">
            <a:avLst>
              <a:gd fmla="val 8998870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95"/>
          <p:cNvSpPr txBox="1"/>
          <p:nvPr/>
        </p:nvSpPr>
        <p:spPr>
          <a:xfrm flipH="1">
            <a:off x="7725380" y="1108178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5"/>
          <p:cNvSpPr txBox="1"/>
          <p:nvPr/>
        </p:nvSpPr>
        <p:spPr>
          <a:xfrm flipH="1">
            <a:off x="7346810" y="179624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5"/>
          <p:cNvSpPr txBox="1"/>
          <p:nvPr/>
        </p:nvSpPr>
        <p:spPr>
          <a:xfrm>
            <a:off x="6870199" y="22622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95"/>
          <p:cNvSpPr txBox="1"/>
          <p:nvPr/>
        </p:nvSpPr>
        <p:spPr>
          <a:xfrm flipH="1">
            <a:off x="6920485" y="110809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38" name="Google Shape;2038;p95"/>
          <p:cNvGraphicFramePr/>
          <p:nvPr/>
        </p:nvGraphicFramePr>
        <p:xfrm>
          <a:off x="6369725" y="283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779450"/>
                <a:gridCol w="779450"/>
                <a:gridCol w="7794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96"/>
          <p:cNvSpPr txBox="1"/>
          <p:nvPr/>
        </p:nvSpPr>
        <p:spPr>
          <a:xfrm>
            <a:off x="330325" y="2647950"/>
            <a:ext cx="3039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Jacob will spin spinners B and C once each, with the number each spinner lands on multiplied together. Construct an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outcome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table which shows how likely each outcome is to occur.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2045" name="Google Shape;2045;p96"/>
          <p:cNvSpPr/>
          <p:nvPr/>
        </p:nvSpPr>
        <p:spPr>
          <a:xfrm rot="10800000">
            <a:off x="950165" y="689499"/>
            <a:ext cx="1572600" cy="15726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96"/>
          <p:cNvSpPr/>
          <p:nvPr/>
        </p:nvSpPr>
        <p:spPr>
          <a:xfrm rot="-7200799">
            <a:off x="950073" y="689542"/>
            <a:ext cx="1572567" cy="1572677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96"/>
          <p:cNvSpPr/>
          <p:nvPr/>
        </p:nvSpPr>
        <p:spPr>
          <a:xfrm rot="-3599201">
            <a:off x="949670" y="689507"/>
            <a:ext cx="1572567" cy="1572677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96"/>
          <p:cNvSpPr/>
          <p:nvPr/>
        </p:nvSpPr>
        <p:spPr>
          <a:xfrm>
            <a:off x="949460" y="689528"/>
            <a:ext cx="1572600" cy="15726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96"/>
          <p:cNvSpPr txBox="1"/>
          <p:nvPr/>
        </p:nvSpPr>
        <p:spPr>
          <a:xfrm>
            <a:off x="1063610" y="22622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96"/>
          <p:cNvSpPr/>
          <p:nvPr/>
        </p:nvSpPr>
        <p:spPr>
          <a:xfrm flipH="1">
            <a:off x="949968" y="689720"/>
            <a:ext cx="1572600" cy="15726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96"/>
          <p:cNvSpPr/>
          <p:nvPr/>
        </p:nvSpPr>
        <p:spPr>
          <a:xfrm flipH="1" rot="3599201">
            <a:off x="949524" y="689699"/>
            <a:ext cx="1572567" cy="1572677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96"/>
          <p:cNvSpPr txBox="1"/>
          <p:nvPr/>
        </p:nvSpPr>
        <p:spPr>
          <a:xfrm flipH="1">
            <a:off x="1812339" y="929068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96"/>
          <p:cNvSpPr txBox="1"/>
          <p:nvPr/>
        </p:nvSpPr>
        <p:spPr>
          <a:xfrm flipH="1">
            <a:off x="2016833" y="1330237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96"/>
          <p:cNvSpPr txBox="1"/>
          <p:nvPr/>
        </p:nvSpPr>
        <p:spPr>
          <a:xfrm flipH="1">
            <a:off x="1267410" y="929041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96"/>
          <p:cNvSpPr txBox="1"/>
          <p:nvPr/>
        </p:nvSpPr>
        <p:spPr>
          <a:xfrm flipH="1">
            <a:off x="1812339" y="1796244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96"/>
          <p:cNvSpPr txBox="1"/>
          <p:nvPr/>
        </p:nvSpPr>
        <p:spPr>
          <a:xfrm flipH="1">
            <a:off x="1267410" y="1796217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96"/>
          <p:cNvSpPr txBox="1"/>
          <p:nvPr/>
        </p:nvSpPr>
        <p:spPr>
          <a:xfrm flipH="1">
            <a:off x="1062923" y="1330237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96"/>
          <p:cNvSpPr/>
          <p:nvPr/>
        </p:nvSpPr>
        <p:spPr>
          <a:xfrm flipH="1">
            <a:off x="3852348" y="6886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96"/>
          <p:cNvSpPr/>
          <p:nvPr/>
        </p:nvSpPr>
        <p:spPr>
          <a:xfrm flipH="1" rot="4320031">
            <a:off x="3851764" y="688374"/>
            <a:ext cx="1572773" cy="1572773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96"/>
          <p:cNvSpPr/>
          <p:nvPr/>
        </p:nvSpPr>
        <p:spPr>
          <a:xfrm flipH="1" rot="8639756">
            <a:off x="3852900" y="688607"/>
            <a:ext cx="1572360" cy="1572360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96"/>
          <p:cNvSpPr/>
          <p:nvPr/>
        </p:nvSpPr>
        <p:spPr>
          <a:xfrm flipH="1" rot="-8639611">
            <a:off x="3853240" y="688169"/>
            <a:ext cx="1572779" cy="1572779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96"/>
          <p:cNvSpPr/>
          <p:nvPr/>
        </p:nvSpPr>
        <p:spPr>
          <a:xfrm>
            <a:off x="3851483" y="6886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96"/>
          <p:cNvSpPr txBox="1"/>
          <p:nvPr/>
        </p:nvSpPr>
        <p:spPr>
          <a:xfrm flipH="1">
            <a:off x="4911156" y="14514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96"/>
          <p:cNvSpPr txBox="1"/>
          <p:nvPr/>
        </p:nvSpPr>
        <p:spPr>
          <a:xfrm flipH="1">
            <a:off x="4443584" y="183057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96"/>
          <p:cNvSpPr txBox="1"/>
          <p:nvPr/>
        </p:nvSpPr>
        <p:spPr>
          <a:xfrm flipH="1">
            <a:off x="3973348" y="14514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96"/>
          <p:cNvSpPr txBox="1"/>
          <p:nvPr/>
        </p:nvSpPr>
        <p:spPr>
          <a:xfrm flipH="1">
            <a:off x="4142449" y="9429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96"/>
          <p:cNvSpPr txBox="1"/>
          <p:nvPr/>
        </p:nvSpPr>
        <p:spPr>
          <a:xfrm flipH="1">
            <a:off x="4742077" y="9429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96"/>
          <p:cNvSpPr txBox="1"/>
          <p:nvPr/>
        </p:nvSpPr>
        <p:spPr>
          <a:xfrm>
            <a:off x="3966905" y="22622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96"/>
          <p:cNvSpPr/>
          <p:nvPr/>
        </p:nvSpPr>
        <p:spPr>
          <a:xfrm rot="10800000">
            <a:off x="6757346" y="689499"/>
            <a:ext cx="1572600" cy="1572600"/>
          </a:xfrm>
          <a:prstGeom prst="pie">
            <a:avLst>
              <a:gd fmla="val 12607844" name="adj1"/>
              <a:gd fmla="val 19826604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96"/>
          <p:cNvSpPr/>
          <p:nvPr/>
        </p:nvSpPr>
        <p:spPr>
          <a:xfrm>
            <a:off x="6756642" y="689528"/>
            <a:ext cx="1572600" cy="1572600"/>
          </a:xfrm>
          <a:prstGeom prst="pie">
            <a:avLst>
              <a:gd fmla="val 9019745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96"/>
          <p:cNvSpPr/>
          <p:nvPr/>
        </p:nvSpPr>
        <p:spPr>
          <a:xfrm flipH="1">
            <a:off x="6757149" y="689720"/>
            <a:ext cx="1572600" cy="1572600"/>
          </a:xfrm>
          <a:prstGeom prst="pie">
            <a:avLst>
              <a:gd fmla="val 8998870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96"/>
          <p:cNvSpPr txBox="1"/>
          <p:nvPr/>
        </p:nvSpPr>
        <p:spPr>
          <a:xfrm flipH="1">
            <a:off x="7725380" y="1108178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96"/>
          <p:cNvSpPr txBox="1"/>
          <p:nvPr/>
        </p:nvSpPr>
        <p:spPr>
          <a:xfrm flipH="1">
            <a:off x="7346810" y="179624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96"/>
          <p:cNvSpPr txBox="1"/>
          <p:nvPr/>
        </p:nvSpPr>
        <p:spPr>
          <a:xfrm>
            <a:off x="6870199" y="22622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96"/>
          <p:cNvSpPr txBox="1"/>
          <p:nvPr/>
        </p:nvSpPr>
        <p:spPr>
          <a:xfrm flipH="1">
            <a:off x="6920485" y="110809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6" name="Google Shape;2076;p96"/>
          <p:cNvGraphicFramePr/>
          <p:nvPr/>
        </p:nvGraphicFramePr>
        <p:xfrm>
          <a:off x="3689850" y="283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816925"/>
                <a:gridCol w="816925"/>
                <a:gridCol w="816925"/>
                <a:gridCol w="816925"/>
                <a:gridCol w="816925"/>
                <a:gridCol w="8169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(BC)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77" name="Google Shape;2077;p96"/>
          <p:cNvSpPr txBox="1"/>
          <p:nvPr/>
        </p:nvSpPr>
        <p:spPr>
          <a:xfrm>
            <a:off x="4572001" y="4237125"/>
            <a:ext cx="37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30 appears 6 times out of 15 total outcomes.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graphicFrame>
        <p:nvGraphicFramePr>
          <p:cNvPr id="2083" name="Google Shape;2083;p97"/>
          <p:cNvGraphicFramePr/>
          <p:nvPr/>
        </p:nvGraphicFramePr>
        <p:xfrm>
          <a:off x="330325" y="1890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27250"/>
                <a:gridCol w="627250"/>
                <a:gridCol w="627250"/>
                <a:gridCol w="627250"/>
                <a:gridCol w="627250"/>
                <a:gridCol w="6272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(AB)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84" name="Google Shape;2084;p97"/>
          <p:cNvGraphicFramePr/>
          <p:nvPr/>
        </p:nvGraphicFramePr>
        <p:xfrm>
          <a:off x="4519200" y="1890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{5DEDC8E9-E31A-4F49-AE26-0267436622A4}</a:tableStyleId>
              </a:tblPr>
              <a:tblGrid>
                <a:gridCol w="627250"/>
                <a:gridCol w="627250"/>
                <a:gridCol w="627250"/>
                <a:gridCol w="6272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(AC)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85" name="Google Shape;2085;p97"/>
          <p:cNvSpPr txBox="1"/>
          <p:nvPr/>
        </p:nvSpPr>
        <p:spPr>
          <a:xfrm>
            <a:off x="330326" y="4237125"/>
            <a:ext cx="37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24 appears 12 times out of 30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outcomes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6" name="Google Shape;2086;p97"/>
          <p:cNvSpPr txBox="1"/>
          <p:nvPr/>
        </p:nvSpPr>
        <p:spPr>
          <a:xfrm>
            <a:off x="4320002" y="4237125"/>
            <a:ext cx="391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20 appears 8 times out of 18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outcomes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7" name="Google Shape;2087;p97"/>
          <p:cNvSpPr txBox="1"/>
          <p:nvPr/>
        </p:nvSpPr>
        <p:spPr>
          <a:xfrm>
            <a:off x="7371421" y="2294300"/>
            <a:ext cx="1448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 is the most likely outcome to occur.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8" name="Google Shape;2088;p97"/>
          <p:cNvSpPr txBox="1"/>
          <p:nvPr/>
        </p:nvSpPr>
        <p:spPr>
          <a:xfrm>
            <a:off x="330325" y="650250"/>
            <a:ext cx="848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Jacob will spin spinners A and B once each, then spinners B and C once each, then spinners A and C once each. After each trial, the number each spinner lands on are multiplied together.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 is most likely to occur across all experiments?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and unequal likelihood</a:t>
            </a:r>
            <a:endParaRPr/>
          </a:p>
        </p:txBody>
      </p:sp>
      <p:sp>
        <p:nvSpPr>
          <p:cNvPr id="2094" name="Google Shape;2094;p98"/>
          <p:cNvSpPr txBox="1"/>
          <p:nvPr/>
        </p:nvSpPr>
        <p:spPr>
          <a:xfrm>
            <a:off x="330325" y="650250"/>
            <a:ext cx="8489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Jacob will spin spinners A and B once each, then spinners B and C once each, then spinners A and C once each. After each trial, the number each spinner lands on are multiplied together.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 is most likely to occur across all experiments?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98"/>
          <p:cNvSpPr txBox="1"/>
          <p:nvPr/>
        </p:nvSpPr>
        <p:spPr>
          <a:xfrm>
            <a:off x="330326" y="1886476"/>
            <a:ext cx="37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AB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24 appears 12 times out of 30 total outcomes.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96" name="Google Shape;2096;p98"/>
          <p:cNvCxnSpPr/>
          <p:nvPr/>
        </p:nvCxnSpPr>
        <p:spPr>
          <a:xfrm>
            <a:off x="992233" y="3834688"/>
            <a:ext cx="7187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7" name="Google Shape;2097;p98"/>
          <p:cNvCxnSpPr/>
          <p:nvPr/>
        </p:nvCxnSpPr>
        <p:spPr>
          <a:xfrm>
            <a:off x="992256" y="3505225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8" name="Google Shape;2098;p98"/>
          <p:cNvCxnSpPr/>
          <p:nvPr/>
        </p:nvCxnSpPr>
        <p:spPr>
          <a:xfrm>
            <a:off x="8168274" y="3505225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9" name="Google Shape;2099;p98"/>
          <p:cNvCxnSpPr/>
          <p:nvPr/>
        </p:nvCxnSpPr>
        <p:spPr>
          <a:xfrm>
            <a:off x="4580265" y="3505225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0" name="Google Shape;2100;p98"/>
          <p:cNvCxnSpPr/>
          <p:nvPr/>
        </p:nvCxnSpPr>
        <p:spPr>
          <a:xfrm>
            <a:off x="1102047" y="3997325"/>
            <a:ext cx="3385500" cy="0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1" name="Google Shape;2101;p98"/>
          <p:cNvCxnSpPr/>
          <p:nvPr/>
        </p:nvCxnSpPr>
        <p:spPr>
          <a:xfrm>
            <a:off x="4685210" y="3997325"/>
            <a:ext cx="3385500" cy="0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2" name="Google Shape;2102;p98"/>
          <p:cNvSpPr txBox="1"/>
          <p:nvPr/>
        </p:nvSpPr>
        <p:spPr>
          <a:xfrm>
            <a:off x="7596925" y="4091250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3" name="Google Shape;2103;p98"/>
          <p:cNvSpPr txBox="1"/>
          <p:nvPr/>
        </p:nvSpPr>
        <p:spPr>
          <a:xfrm>
            <a:off x="247800" y="4091250"/>
            <a:ext cx="15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98"/>
          <p:cNvSpPr txBox="1"/>
          <p:nvPr/>
        </p:nvSpPr>
        <p:spPr>
          <a:xfrm>
            <a:off x="2265248" y="3921125"/>
            <a:ext cx="11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5" name="Google Shape;2105;p98"/>
          <p:cNvSpPr txBox="1"/>
          <p:nvPr/>
        </p:nvSpPr>
        <p:spPr>
          <a:xfrm>
            <a:off x="6186382" y="3921125"/>
            <a:ext cx="8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98"/>
          <p:cNvSpPr txBox="1"/>
          <p:nvPr/>
        </p:nvSpPr>
        <p:spPr>
          <a:xfrm>
            <a:off x="3697637" y="4091250"/>
            <a:ext cx="176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98"/>
          <p:cNvSpPr txBox="1"/>
          <p:nvPr/>
        </p:nvSpPr>
        <p:spPr>
          <a:xfrm>
            <a:off x="3379156" y="3350125"/>
            <a:ext cx="4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AB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8" name="Google Shape;2108;p98"/>
          <p:cNvSpPr txBox="1"/>
          <p:nvPr/>
        </p:nvSpPr>
        <p:spPr>
          <a:xfrm>
            <a:off x="330326" y="1886476"/>
            <a:ext cx="3757200" cy="615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BC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30 appears 6 times out of 15 total outcomes.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9" name="Google Shape;2109;p98"/>
          <p:cNvSpPr txBox="1"/>
          <p:nvPr/>
        </p:nvSpPr>
        <p:spPr>
          <a:xfrm>
            <a:off x="3379156" y="3049900"/>
            <a:ext cx="4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BC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0" name="Google Shape;2110;p98"/>
          <p:cNvSpPr txBox="1"/>
          <p:nvPr/>
        </p:nvSpPr>
        <p:spPr>
          <a:xfrm>
            <a:off x="324002" y="1886476"/>
            <a:ext cx="3911100" cy="615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outcome 20 appears 8 times out of 18 total outcomes.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1" name="Google Shape;2111;p98"/>
          <p:cNvSpPr txBox="1"/>
          <p:nvPr/>
        </p:nvSpPr>
        <p:spPr>
          <a:xfrm>
            <a:off x="3909306" y="3350125"/>
            <a:ext cx="41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2" name="Google Shape;2112;p98"/>
          <p:cNvSpPr txBox="1"/>
          <p:nvPr/>
        </p:nvSpPr>
        <p:spPr>
          <a:xfrm>
            <a:off x="7371421" y="2294300"/>
            <a:ext cx="1448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 is the most likely outcome to occur.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99"/>
          <p:cNvSpPr txBox="1"/>
          <p:nvPr/>
        </p:nvSpPr>
        <p:spPr>
          <a:xfrm>
            <a:off x="330325" y="650250"/>
            <a:ext cx="84897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table can show the number of unique outcomes of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outcome table can also show the number of individual outcomes of a two-stage trial, where some outcomes of at least one stage are repeated.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9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24" name="Google Shape;212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