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394E82-D0AC-41AB-AE17-E3A0158B5B99}">
  <a:tblStyle styleId="{F3394E82-D0AC-41AB-AE17-E3A0158B5B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efb5cde0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efb5cde0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449fd6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449fd6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efb5cde023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fb5cde023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b4b799271b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b4b799271b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b4b799271b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b4b799271b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b4b799271b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b4b799271b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b4b799271b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b4b799271b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b4b799271b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b4b799271b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b4b799271b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b4b799271b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b4b799271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b4b799271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b4b799271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b4b799271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b4b799271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b4b799271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b4b799271b_0_1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b4b799271b_0_1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4b799271b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4b799271b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b4b799271b_2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b4b799271b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b4face5e3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b4face5e3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b4face5e35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b4face5e3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b4face5e35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b4face5e35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b4face5e35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b4face5e35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b4b799271b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b4b799271b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2b4face5e3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b4face5e3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b4face5e3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b4face5e3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b4face5e3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4face5e3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b4face5e3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b4face5e3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b4face5e3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b4face5e3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b4face5e35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4face5e3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b4face5e35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b4face5e35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b4face5e35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b4face5e35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b4face5e35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b4face5e3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b4face5e3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b4face5e3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b4face5e35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b4face5e35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b4face5e35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b4face5e35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b4face5e35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b4face5e35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Relationship Id="rId4" Type="http://schemas.openxmlformats.org/officeDocument/2006/relationships/image" Target="../media/image4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48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48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42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906200" y="4321250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6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11" Type="http://schemas.openxmlformats.org/officeDocument/2006/relationships/image" Target="../media/image71.png"/><Relationship Id="rId10" Type="http://schemas.openxmlformats.org/officeDocument/2006/relationships/image" Target="../media/image69.png"/><Relationship Id="rId12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Relationship Id="rId6" Type="http://schemas.openxmlformats.org/officeDocument/2006/relationships/image" Target="../media/image59.png"/><Relationship Id="rId7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5.png"/><Relationship Id="rId7" Type="http://schemas.openxmlformats.org/officeDocument/2006/relationships/image" Target="../media/image59.png"/><Relationship Id="rId8" Type="http://schemas.openxmlformats.org/officeDocument/2006/relationships/image" Target="../media/image7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Relationship Id="rId4" Type="http://schemas.openxmlformats.org/officeDocument/2006/relationships/image" Target="../media/image79.png"/><Relationship Id="rId5" Type="http://schemas.openxmlformats.org/officeDocument/2006/relationships/image" Target="../media/image7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2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906200" y="4321250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state when outcomes will not be equally likely.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2478256"/>
            <a:ext cx="84960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sample space is all the possible outcomes of a trial. A sample space diagram is a systematic way of producing a sample space.</a:t>
            </a:r>
            <a:endParaRPr sz="200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trial is a single predefined test.</a:t>
            </a:r>
            <a:endParaRPr sz="2000"/>
          </a:p>
        </p:txBody>
      </p:sp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17635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outcome is a result of a trial.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idx="1" type="subTitle"/>
          </p:nvPr>
        </p:nvSpPr>
        <p:spPr>
          <a:xfrm>
            <a:off x="324000" y="1048850"/>
            <a:ext cx="84960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</a:t>
            </a:r>
            <a:r>
              <a:rPr b="1" lang="en-GB" sz="2000"/>
              <a:t>event</a:t>
            </a:r>
            <a:r>
              <a:rPr lang="en-GB" sz="2000"/>
              <a:t> is a subset of a sample space. It could be a particular outcome or be a set of outcomes that may occur from a trial.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782" name="Google Shape;78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783" name="Google Shape;78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25" y="2045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00" y="759300"/>
            <a:ext cx="82377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Izzy are playing a game that involves spinning the spinner below to determine who gets to move forward.</a:t>
            </a:r>
            <a:endParaRPr/>
          </a:p>
        </p:txBody>
      </p:sp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791" name="Google Shape;791;p69"/>
          <p:cNvSpPr/>
          <p:nvPr/>
        </p:nvSpPr>
        <p:spPr>
          <a:xfrm>
            <a:off x="3708800" y="2601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9"/>
          <p:cNvSpPr/>
          <p:nvPr/>
        </p:nvSpPr>
        <p:spPr>
          <a:xfrm flipH="1">
            <a:off x="3723489" y="2616411"/>
            <a:ext cx="1666500" cy="1666500"/>
          </a:xfrm>
          <a:prstGeom prst="pie">
            <a:avLst>
              <a:gd fmla="val 5387953" name="adj1"/>
              <a:gd fmla="val 188826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9"/>
          <p:cNvSpPr/>
          <p:nvPr/>
        </p:nvSpPr>
        <p:spPr>
          <a:xfrm>
            <a:off x="3723561" y="2616411"/>
            <a:ext cx="1666500" cy="1666500"/>
          </a:xfrm>
          <a:prstGeom prst="pie">
            <a:avLst>
              <a:gd fmla="val 5387953" name="adj1"/>
              <a:gd fmla="val 8921549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3922550" y="3694156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4738525" y="3238925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6" name="Google Shape;796;p69"/>
          <p:cNvGrpSpPr/>
          <p:nvPr/>
        </p:nvGrpSpPr>
        <p:grpSpPr>
          <a:xfrm>
            <a:off x="4508109" y="2657542"/>
            <a:ext cx="93900" cy="816939"/>
            <a:chOff x="996050" y="213293"/>
            <a:chExt cx="93900" cy="909732"/>
          </a:xfrm>
        </p:grpSpPr>
        <p:cxnSp>
          <p:nvCxnSpPr>
            <p:cNvPr id="797" name="Google Shape;797;p6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8" name="Google Shape;798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99" name="Google Shape;7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01" y="3546275"/>
            <a:ext cx="844163" cy="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0989" y="3615293"/>
            <a:ext cx="588665" cy="678887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324000" y="1673700"/>
            <a:ext cx="8237700" cy="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might Alex not be happy with the spinner?</a:t>
            </a:r>
            <a:endParaRPr/>
          </a:p>
        </p:txBody>
      </p:sp>
      <p:pic>
        <p:nvPicPr>
          <p:cNvPr id="802" name="Google Shape;80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100" y="2288349"/>
            <a:ext cx="2726649" cy="13703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755625" y="2381400"/>
            <a:ext cx="2592900" cy="10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spinner is more likely to land on Izzy’s name than mine.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5" y="1225651"/>
            <a:ext cx="3134700" cy="2355898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24000" y="759300"/>
            <a:ext cx="82377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adjusts the spinner and shows Alex.</a:t>
            </a:r>
            <a:endParaRPr/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3708800" y="2601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0"/>
          <p:cNvSpPr/>
          <p:nvPr/>
        </p:nvSpPr>
        <p:spPr>
          <a:xfrm flipH="1">
            <a:off x="3723489" y="2616411"/>
            <a:ext cx="1666500" cy="1666500"/>
          </a:xfrm>
          <a:prstGeom prst="pie">
            <a:avLst>
              <a:gd fmla="val 5387953" name="adj1"/>
              <a:gd fmla="val 16807428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0"/>
          <p:cNvSpPr/>
          <p:nvPr/>
        </p:nvSpPr>
        <p:spPr>
          <a:xfrm>
            <a:off x="3723561" y="2616411"/>
            <a:ext cx="1666500" cy="1666500"/>
          </a:xfrm>
          <a:prstGeom prst="pie">
            <a:avLst>
              <a:gd fmla="val 5387953" name="adj1"/>
              <a:gd fmla="val 1557395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0"/>
          <p:cNvSpPr txBox="1"/>
          <p:nvPr/>
        </p:nvSpPr>
        <p:spPr>
          <a:xfrm>
            <a:off x="3816288" y="3289256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 txBox="1"/>
          <p:nvPr/>
        </p:nvSpPr>
        <p:spPr>
          <a:xfrm>
            <a:off x="4738525" y="3238925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4508109" y="2657542"/>
            <a:ext cx="93900" cy="816939"/>
            <a:chOff x="996050" y="213293"/>
            <a:chExt cx="93900" cy="909732"/>
          </a:xfrm>
        </p:grpSpPr>
        <p:cxnSp>
          <p:nvCxnSpPr>
            <p:cNvPr id="817" name="Google Shape;817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8" name="Google Shape;818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9" name="Google Shape;81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1701" y="3546275"/>
            <a:ext cx="844163" cy="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80989" y="3615293"/>
            <a:ext cx="588665" cy="678887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673098" y="1359167"/>
            <a:ext cx="3004500" cy="19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Not quite. T</a:t>
            </a:r>
            <a:r>
              <a:rPr lang="en-GB" sz="1800"/>
              <a:t>he outcomes are still </a:t>
            </a:r>
            <a:r>
              <a:rPr lang="en-GB" sz="1800">
                <a:solidFill>
                  <a:schemeClr val="accent4"/>
                </a:solidFill>
              </a:rPr>
              <a:t>not equally likely</a:t>
            </a:r>
            <a:r>
              <a:rPr lang="en-GB" sz="1800"/>
              <a:t> to happen.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It’s still more likely to land on your name than mine.</a:t>
            </a:r>
            <a:endParaRPr sz="1800"/>
          </a:p>
        </p:txBody>
      </p:sp>
      <p:pic>
        <p:nvPicPr>
          <p:cNvPr id="822" name="Google Shape;82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574899" y="2059750"/>
            <a:ext cx="2888801" cy="13703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>
            <p:ph idx="1" type="body"/>
          </p:nvPr>
        </p:nvSpPr>
        <p:spPr>
          <a:xfrm flipH="1">
            <a:off x="5651425" y="2152800"/>
            <a:ext cx="2703300" cy="10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about this spinner? Does this now seem fair for both of us?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25" y="2452850"/>
            <a:ext cx="2109076" cy="10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324000" y="759300"/>
            <a:ext cx="82377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</a:t>
            </a:r>
            <a:r>
              <a:rPr lang="en-GB"/>
              <a:t>adjusts the spinner and shows Izzy.</a:t>
            </a:r>
            <a:endParaRPr/>
          </a:p>
        </p:txBody>
      </p:sp>
      <p:sp>
        <p:nvSpPr>
          <p:cNvPr id="830" name="Google Shape;83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831" name="Google Shape;831;p71"/>
          <p:cNvSpPr/>
          <p:nvPr/>
        </p:nvSpPr>
        <p:spPr>
          <a:xfrm>
            <a:off x="3708800" y="2601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1"/>
          <p:cNvSpPr/>
          <p:nvPr/>
        </p:nvSpPr>
        <p:spPr>
          <a:xfrm flipH="1">
            <a:off x="3723489" y="2616411"/>
            <a:ext cx="1666500" cy="1666500"/>
          </a:xfrm>
          <a:prstGeom prst="pie">
            <a:avLst>
              <a:gd fmla="val 5387953" name="adj1"/>
              <a:gd fmla="val 16807428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1"/>
          <p:cNvSpPr/>
          <p:nvPr/>
        </p:nvSpPr>
        <p:spPr>
          <a:xfrm>
            <a:off x="3723561" y="2616411"/>
            <a:ext cx="1666500" cy="1666500"/>
          </a:xfrm>
          <a:prstGeom prst="pie">
            <a:avLst>
              <a:gd fmla="val 5387953" name="adj1"/>
              <a:gd fmla="val 1925656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1"/>
          <p:cNvSpPr txBox="1"/>
          <p:nvPr/>
        </p:nvSpPr>
        <p:spPr>
          <a:xfrm>
            <a:off x="3816288" y="3289256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 txBox="1"/>
          <p:nvPr/>
        </p:nvSpPr>
        <p:spPr>
          <a:xfrm>
            <a:off x="4738525" y="3315125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6" name="Google Shape;836;p71"/>
          <p:cNvGrpSpPr/>
          <p:nvPr/>
        </p:nvGrpSpPr>
        <p:grpSpPr>
          <a:xfrm>
            <a:off x="4508109" y="2657542"/>
            <a:ext cx="93900" cy="816939"/>
            <a:chOff x="996050" y="213293"/>
            <a:chExt cx="93900" cy="909732"/>
          </a:xfrm>
        </p:grpSpPr>
        <p:cxnSp>
          <p:nvCxnSpPr>
            <p:cNvPr id="837" name="Google Shape;837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8" name="Google Shape;838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39" name="Google Shape;83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1701" y="3546275"/>
            <a:ext cx="844163" cy="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80989" y="3615293"/>
            <a:ext cx="588665" cy="67888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785100" y="2585841"/>
            <a:ext cx="1951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about this? I like this spinner!</a:t>
            </a:r>
            <a:endParaRPr sz="1800"/>
          </a:p>
        </p:txBody>
      </p:sp>
      <p:pic>
        <p:nvPicPr>
          <p:cNvPr id="842" name="Google Shape;842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27299" y="1696200"/>
            <a:ext cx="2651022" cy="1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1"/>
          <p:cNvSpPr txBox="1"/>
          <p:nvPr>
            <p:ph idx="1" type="body"/>
          </p:nvPr>
        </p:nvSpPr>
        <p:spPr>
          <a:xfrm flipH="1">
            <a:off x="5803400" y="1848000"/>
            <a:ext cx="2440800" cy="13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But it is still unfair. The spinner is more likely to stop on your name now.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25" y="2639075"/>
            <a:ext cx="2109076" cy="8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2"/>
          <p:cNvSpPr txBox="1"/>
          <p:nvPr>
            <p:ph idx="1" type="body"/>
          </p:nvPr>
        </p:nvSpPr>
        <p:spPr>
          <a:xfrm>
            <a:off x="324000" y="759300"/>
            <a:ext cx="82377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settle on this as their final spinner.</a:t>
            </a:r>
            <a:endParaRPr/>
          </a:p>
        </p:txBody>
      </p:sp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851" name="Google Shape;851;p72"/>
          <p:cNvSpPr/>
          <p:nvPr/>
        </p:nvSpPr>
        <p:spPr>
          <a:xfrm>
            <a:off x="3708800" y="2601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2"/>
          <p:cNvSpPr/>
          <p:nvPr/>
        </p:nvSpPr>
        <p:spPr>
          <a:xfrm flipH="1">
            <a:off x="3723489" y="2616411"/>
            <a:ext cx="1666500" cy="1666500"/>
          </a:xfrm>
          <a:prstGeom prst="pie">
            <a:avLst>
              <a:gd fmla="val 5387953" name="adj1"/>
              <a:gd fmla="val 16807428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2"/>
          <p:cNvSpPr/>
          <p:nvPr/>
        </p:nvSpPr>
        <p:spPr>
          <a:xfrm>
            <a:off x="3723561" y="2616411"/>
            <a:ext cx="1666500" cy="1666500"/>
          </a:xfrm>
          <a:prstGeom prst="pie">
            <a:avLst>
              <a:gd fmla="val 5387953" name="adj1"/>
              <a:gd fmla="val 16193401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2"/>
          <p:cNvSpPr txBox="1"/>
          <p:nvPr/>
        </p:nvSpPr>
        <p:spPr>
          <a:xfrm>
            <a:off x="3816288" y="3289256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4738525" y="3315125"/>
            <a:ext cx="6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6" name="Google Shape;856;p72"/>
          <p:cNvGrpSpPr/>
          <p:nvPr/>
        </p:nvGrpSpPr>
        <p:grpSpPr>
          <a:xfrm>
            <a:off x="4508109" y="2657542"/>
            <a:ext cx="93900" cy="816939"/>
            <a:chOff x="996050" y="213293"/>
            <a:chExt cx="93900" cy="909732"/>
          </a:xfrm>
        </p:grpSpPr>
        <p:cxnSp>
          <p:nvCxnSpPr>
            <p:cNvPr id="857" name="Google Shape;857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8" name="Google Shape;858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9" name="Google Shape;859;p72"/>
          <p:cNvSpPr txBox="1"/>
          <p:nvPr>
            <p:ph idx="1" type="body"/>
          </p:nvPr>
        </p:nvSpPr>
        <p:spPr>
          <a:xfrm>
            <a:off x="807175" y="2713230"/>
            <a:ext cx="1951800" cy="4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seems fair for both of us.</a:t>
            </a:r>
            <a:endParaRPr sz="1800"/>
          </a:p>
        </p:txBody>
      </p:sp>
      <p:pic>
        <p:nvPicPr>
          <p:cNvPr id="860" name="Google Shape;86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1701" y="3546275"/>
            <a:ext cx="844163" cy="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80989" y="3615293"/>
            <a:ext cx="588665" cy="67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10036" y="2134412"/>
            <a:ext cx="2342702" cy="13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/>
          <p:cNvSpPr txBox="1"/>
          <p:nvPr>
            <p:ph idx="1" type="body"/>
          </p:nvPr>
        </p:nvSpPr>
        <p:spPr>
          <a:xfrm flipH="1">
            <a:off x="6175400" y="2258075"/>
            <a:ext cx="2221200" cy="8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two outcomes are now equally likely to happen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869" name="Google Shape;869;p73"/>
          <p:cNvSpPr txBox="1"/>
          <p:nvPr>
            <p:ph idx="1" type="body"/>
          </p:nvPr>
        </p:nvSpPr>
        <p:spPr>
          <a:xfrm>
            <a:off x="324000" y="759300"/>
            <a:ext cx="8237700" cy="14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Likelihood describes the chance that a particular event will occur.</a:t>
            </a:r>
            <a:endParaRPr sz="1900"/>
          </a:p>
        </p:txBody>
      </p:sp>
      <p:sp>
        <p:nvSpPr>
          <p:cNvPr id="870" name="Google Shape;870;p73"/>
          <p:cNvSpPr/>
          <p:nvPr/>
        </p:nvSpPr>
        <p:spPr>
          <a:xfrm>
            <a:off x="1670642" y="22968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73"/>
          <p:cNvSpPr/>
          <p:nvPr/>
        </p:nvSpPr>
        <p:spPr>
          <a:xfrm flipH="1">
            <a:off x="1685332" y="23116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3"/>
          <p:cNvSpPr/>
          <p:nvPr/>
        </p:nvSpPr>
        <p:spPr>
          <a:xfrm>
            <a:off x="1685403" y="23116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3"/>
          <p:cNvSpPr txBox="1"/>
          <p:nvPr/>
        </p:nvSpPr>
        <p:spPr>
          <a:xfrm>
            <a:off x="1820826" y="29341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 txBox="1"/>
          <p:nvPr/>
        </p:nvSpPr>
        <p:spPr>
          <a:xfrm>
            <a:off x="2627769" y="2934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73"/>
          <p:cNvGrpSpPr/>
          <p:nvPr/>
        </p:nvGrpSpPr>
        <p:grpSpPr>
          <a:xfrm>
            <a:off x="2469952" y="2389423"/>
            <a:ext cx="93900" cy="816939"/>
            <a:chOff x="996050" y="213293"/>
            <a:chExt cx="93900" cy="909732"/>
          </a:xfrm>
        </p:grpSpPr>
        <p:cxnSp>
          <p:nvCxnSpPr>
            <p:cNvPr id="876" name="Google Shape;876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7" name="Google Shape;877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8" name="Google Shape;878;p73"/>
          <p:cNvSpPr/>
          <p:nvPr/>
        </p:nvSpPr>
        <p:spPr>
          <a:xfrm>
            <a:off x="5556842" y="22968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3"/>
          <p:cNvSpPr/>
          <p:nvPr/>
        </p:nvSpPr>
        <p:spPr>
          <a:xfrm flipH="1">
            <a:off x="5571532" y="2311611"/>
            <a:ext cx="1666500" cy="16665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3"/>
          <p:cNvSpPr/>
          <p:nvPr/>
        </p:nvSpPr>
        <p:spPr>
          <a:xfrm>
            <a:off x="5571603" y="2311611"/>
            <a:ext cx="1666500" cy="1666500"/>
          </a:xfrm>
          <a:prstGeom prst="pie">
            <a:avLst>
              <a:gd fmla="val 5387953" name="adj1"/>
              <a:gd fmla="val 156296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3"/>
          <p:cNvSpPr txBox="1"/>
          <p:nvPr/>
        </p:nvSpPr>
        <p:spPr>
          <a:xfrm>
            <a:off x="5707026" y="29341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3"/>
          <p:cNvSpPr txBox="1"/>
          <p:nvPr/>
        </p:nvSpPr>
        <p:spPr>
          <a:xfrm>
            <a:off x="6513969" y="2934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3" name="Google Shape;883;p73"/>
          <p:cNvGrpSpPr/>
          <p:nvPr/>
        </p:nvGrpSpPr>
        <p:grpSpPr>
          <a:xfrm>
            <a:off x="6356152" y="2352742"/>
            <a:ext cx="93900" cy="816939"/>
            <a:chOff x="996050" y="213293"/>
            <a:chExt cx="93900" cy="909732"/>
          </a:xfrm>
        </p:grpSpPr>
        <p:cxnSp>
          <p:nvCxnSpPr>
            <p:cNvPr id="884" name="Google Shape;884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5" name="Google Shape;885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6" name="Google Shape;886;p73"/>
          <p:cNvSpPr txBox="1"/>
          <p:nvPr>
            <p:ph idx="1" type="body"/>
          </p:nvPr>
        </p:nvSpPr>
        <p:spPr>
          <a:xfrm>
            <a:off x="324000" y="1140300"/>
            <a:ext cx="8496000" cy="10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For the spinner on the right, the sectors for ‘Alex’ and ‘Izzy’ are </a:t>
            </a:r>
            <a:r>
              <a:rPr lang="en-GB" sz="1900"/>
              <a:t>not</a:t>
            </a:r>
            <a:r>
              <a:rPr lang="en-GB" sz="1900">
                <a:solidFill>
                  <a:srgbClr val="000000"/>
                </a:solidFill>
              </a:rPr>
              <a:t> the same size. Therefore, the spinner is </a:t>
            </a:r>
            <a:r>
              <a:rPr lang="en-GB" sz="1900">
                <a:solidFill>
                  <a:schemeClr val="accent4"/>
                </a:solidFill>
              </a:rPr>
              <a:t>more likely</a:t>
            </a:r>
            <a:r>
              <a:rPr lang="en-GB" sz="1900">
                <a:solidFill>
                  <a:srgbClr val="000000"/>
                </a:solidFill>
              </a:rPr>
              <a:t> to stop on Izzy’s name than Alex’s.</a:t>
            </a:r>
            <a:endParaRPr sz="1900"/>
          </a:p>
        </p:txBody>
      </p:sp>
      <p:sp>
        <p:nvSpPr>
          <p:cNvPr id="887" name="Google Shape;887;p73"/>
          <p:cNvSpPr txBox="1"/>
          <p:nvPr>
            <p:ph idx="1" type="body"/>
          </p:nvPr>
        </p:nvSpPr>
        <p:spPr>
          <a:xfrm>
            <a:off x="1158400" y="4192525"/>
            <a:ext cx="29538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equally likely outcomes</a:t>
            </a:r>
            <a:endParaRPr sz="1900"/>
          </a:p>
        </p:txBody>
      </p:sp>
      <p:sp>
        <p:nvSpPr>
          <p:cNvPr id="888" name="Google Shape;888;p73"/>
          <p:cNvSpPr txBox="1"/>
          <p:nvPr>
            <p:ph idx="1" type="body"/>
          </p:nvPr>
        </p:nvSpPr>
        <p:spPr>
          <a:xfrm>
            <a:off x="5022275" y="4192525"/>
            <a:ext cx="34107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o</a:t>
            </a:r>
            <a:r>
              <a:rPr lang="en-GB" sz="1900">
                <a:solidFill>
                  <a:srgbClr val="000000"/>
                </a:solidFill>
              </a:rPr>
              <a:t>ne outcome more likely to happen than the other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4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An </a:t>
            </a:r>
            <a:r>
              <a:rPr b="1" lang="en-GB" sz="2000">
                <a:solidFill>
                  <a:srgbClr val="000000"/>
                </a:solidFill>
              </a:rPr>
              <a:t>event</a:t>
            </a:r>
            <a:r>
              <a:rPr lang="en-GB" sz="2000">
                <a:solidFill>
                  <a:srgbClr val="000000"/>
                </a:solidFill>
              </a:rPr>
              <a:t> is a subset of a sample space. It could be a particular outcome or be a set of outcomes that may occur from a trial.</a:t>
            </a:r>
            <a:endParaRPr sz="2400"/>
          </a:p>
        </p:txBody>
      </p:sp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895" name="Google Shape;895;p74"/>
          <p:cNvSpPr/>
          <p:nvPr/>
        </p:nvSpPr>
        <p:spPr>
          <a:xfrm>
            <a:off x="356000" y="2144450"/>
            <a:ext cx="1695900" cy="16959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4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4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4"/>
          <p:cNvSpPr txBox="1"/>
          <p:nvPr/>
        </p:nvSpPr>
        <p:spPr>
          <a:xfrm>
            <a:off x="828675" y="3391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4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4"/>
          <p:cNvSpPr txBox="1"/>
          <p:nvPr/>
        </p:nvSpPr>
        <p:spPr>
          <a:xfrm>
            <a:off x="1310772" y="2198650"/>
            <a:ext cx="29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4"/>
          <p:cNvSpPr txBox="1"/>
          <p:nvPr/>
        </p:nvSpPr>
        <p:spPr>
          <a:xfrm>
            <a:off x="801354" y="2191375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4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4"/>
          <p:cNvSpPr txBox="1"/>
          <p:nvPr/>
        </p:nvSpPr>
        <p:spPr>
          <a:xfrm>
            <a:off x="393651" y="30321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4"/>
          <p:cNvSpPr txBox="1"/>
          <p:nvPr/>
        </p:nvSpPr>
        <p:spPr>
          <a:xfrm>
            <a:off x="450586" y="2508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4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4"/>
          <p:cNvSpPr txBox="1"/>
          <p:nvPr/>
        </p:nvSpPr>
        <p:spPr>
          <a:xfrm>
            <a:off x="1244201" y="3391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4"/>
          <p:cNvSpPr txBox="1"/>
          <p:nvPr/>
        </p:nvSpPr>
        <p:spPr>
          <a:xfrm>
            <a:off x="1605154" y="30606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1689125" y="2530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2" name="Google Shape;912;p74"/>
          <p:cNvGrpSpPr/>
          <p:nvPr/>
        </p:nvGrpSpPr>
        <p:grpSpPr>
          <a:xfrm>
            <a:off x="1155309" y="2209963"/>
            <a:ext cx="93900" cy="816939"/>
            <a:chOff x="996050" y="213293"/>
            <a:chExt cx="93900" cy="909732"/>
          </a:xfrm>
        </p:grpSpPr>
        <p:cxnSp>
          <p:nvCxnSpPr>
            <p:cNvPr id="913" name="Google Shape;913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4" name="Google Shape;914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5" name="Google Shape;915;p74"/>
          <p:cNvSpPr txBox="1"/>
          <p:nvPr/>
        </p:nvSpPr>
        <p:spPr>
          <a:xfrm>
            <a:off x="2326075" y="3010775"/>
            <a:ext cx="359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C, D, E, F, G, 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4"/>
          <p:cNvSpPr txBox="1"/>
          <p:nvPr/>
        </p:nvSpPr>
        <p:spPr>
          <a:xfrm>
            <a:off x="3479346" y="2492422"/>
            <a:ext cx="13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74"/>
          <p:cNvCxnSpPr/>
          <p:nvPr/>
        </p:nvCxnSpPr>
        <p:spPr>
          <a:xfrm>
            <a:off x="5011891" y="3391325"/>
            <a:ext cx="158700" cy="36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74"/>
          <p:cNvSpPr txBox="1"/>
          <p:nvPr/>
        </p:nvSpPr>
        <p:spPr>
          <a:xfrm>
            <a:off x="4702991" y="3629050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 txBox="1"/>
          <p:nvPr/>
        </p:nvSpPr>
        <p:spPr>
          <a:xfrm>
            <a:off x="2292650" y="20298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4"/>
          <p:cNvSpPr/>
          <p:nvPr/>
        </p:nvSpPr>
        <p:spPr>
          <a:xfrm>
            <a:off x="2832400" y="3125350"/>
            <a:ext cx="21795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4"/>
          <p:cNvSpPr txBox="1"/>
          <p:nvPr>
            <p:ph idx="1" type="body"/>
          </p:nvPr>
        </p:nvSpPr>
        <p:spPr>
          <a:xfrm>
            <a:off x="324000" y="1521300"/>
            <a:ext cx="82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Example: Jacob is going to spin the spinner once.</a:t>
            </a:r>
            <a:endParaRPr sz="2400"/>
          </a:p>
        </p:txBody>
      </p:sp>
      <p:pic>
        <p:nvPicPr>
          <p:cNvPr id="922" name="Google Shape;9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2" y="3553127"/>
            <a:ext cx="630000" cy="7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944775" y="1986325"/>
            <a:ext cx="2493025" cy="16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4"/>
          <p:cNvSpPr txBox="1"/>
          <p:nvPr/>
        </p:nvSpPr>
        <p:spPr>
          <a:xfrm>
            <a:off x="6040775" y="2164600"/>
            <a:ext cx="217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of these outcomes are equally likely to happen.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5" name="Google Shape;925;p74"/>
          <p:cNvGrpSpPr/>
          <p:nvPr/>
        </p:nvGrpSpPr>
        <p:grpSpPr>
          <a:xfrm>
            <a:off x="3109450" y="2838125"/>
            <a:ext cx="1695400" cy="299400"/>
            <a:chOff x="3109450" y="2838125"/>
            <a:chExt cx="1695400" cy="299400"/>
          </a:xfrm>
        </p:grpSpPr>
        <p:cxnSp>
          <p:nvCxnSpPr>
            <p:cNvPr id="926" name="Google Shape;926;p74"/>
            <p:cNvCxnSpPr/>
            <p:nvPr/>
          </p:nvCxnSpPr>
          <p:spPr>
            <a:xfrm flipH="1">
              <a:off x="3109450" y="2840700"/>
              <a:ext cx="478500" cy="269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74"/>
            <p:cNvCxnSpPr/>
            <p:nvPr/>
          </p:nvCxnSpPr>
          <p:spPr>
            <a:xfrm flipH="1">
              <a:off x="3294600" y="2849600"/>
              <a:ext cx="426300" cy="28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74"/>
            <p:cNvCxnSpPr/>
            <p:nvPr/>
          </p:nvCxnSpPr>
          <p:spPr>
            <a:xfrm flipH="1">
              <a:off x="3547175" y="2843075"/>
              <a:ext cx="304500" cy="28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74"/>
            <p:cNvCxnSpPr/>
            <p:nvPr/>
          </p:nvCxnSpPr>
          <p:spPr>
            <a:xfrm flipH="1">
              <a:off x="3811125" y="2849600"/>
              <a:ext cx="121200" cy="269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0" name="Google Shape;930;p74"/>
            <p:cNvCxnSpPr/>
            <p:nvPr/>
          </p:nvCxnSpPr>
          <p:spPr>
            <a:xfrm>
              <a:off x="4018138" y="2842475"/>
              <a:ext cx="28500" cy="283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74"/>
            <p:cNvCxnSpPr/>
            <p:nvPr/>
          </p:nvCxnSpPr>
          <p:spPr>
            <a:xfrm>
              <a:off x="4161975" y="2846825"/>
              <a:ext cx="130800" cy="279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2" name="Google Shape;932;p74"/>
            <p:cNvCxnSpPr/>
            <p:nvPr/>
          </p:nvCxnSpPr>
          <p:spPr>
            <a:xfrm>
              <a:off x="4290575" y="2846825"/>
              <a:ext cx="289800" cy="290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74"/>
            <p:cNvCxnSpPr/>
            <p:nvPr/>
          </p:nvCxnSpPr>
          <p:spPr>
            <a:xfrm>
              <a:off x="4390850" y="2838125"/>
              <a:ext cx="414000" cy="299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5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An </a:t>
            </a:r>
            <a:r>
              <a:rPr b="1" lang="en-GB" sz="2000">
                <a:solidFill>
                  <a:srgbClr val="000000"/>
                </a:solidFill>
              </a:rPr>
              <a:t>event</a:t>
            </a:r>
            <a:r>
              <a:rPr lang="en-GB" sz="2000">
                <a:solidFill>
                  <a:srgbClr val="000000"/>
                </a:solidFill>
              </a:rPr>
              <a:t> is a subset of a sample space. It could be a particular outcome or be a set of outcomes that may occur from a trial.</a:t>
            </a:r>
            <a:endParaRPr sz="2400"/>
          </a:p>
        </p:txBody>
      </p:sp>
      <p:sp>
        <p:nvSpPr>
          <p:cNvPr id="939" name="Google Shape;93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940" name="Google Shape;940;p75"/>
          <p:cNvSpPr/>
          <p:nvPr/>
        </p:nvSpPr>
        <p:spPr>
          <a:xfrm>
            <a:off x="356000" y="2144450"/>
            <a:ext cx="1695900" cy="16959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75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75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5"/>
          <p:cNvSpPr txBox="1"/>
          <p:nvPr/>
        </p:nvSpPr>
        <p:spPr>
          <a:xfrm>
            <a:off x="828675" y="3391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5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5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5"/>
          <p:cNvSpPr txBox="1"/>
          <p:nvPr/>
        </p:nvSpPr>
        <p:spPr>
          <a:xfrm>
            <a:off x="1310772" y="2198650"/>
            <a:ext cx="29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5"/>
          <p:cNvSpPr txBox="1"/>
          <p:nvPr/>
        </p:nvSpPr>
        <p:spPr>
          <a:xfrm>
            <a:off x="801354" y="2191375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5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5"/>
          <p:cNvSpPr txBox="1"/>
          <p:nvPr/>
        </p:nvSpPr>
        <p:spPr>
          <a:xfrm>
            <a:off x="393651" y="30321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5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5"/>
          <p:cNvSpPr txBox="1"/>
          <p:nvPr/>
        </p:nvSpPr>
        <p:spPr>
          <a:xfrm>
            <a:off x="450586" y="2508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5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5"/>
          <p:cNvSpPr txBox="1"/>
          <p:nvPr/>
        </p:nvSpPr>
        <p:spPr>
          <a:xfrm>
            <a:off x="1244201" y="3391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5"/>
          <p:cNvSpPr txBox="1"/>
          <p:nvPr/>
        </p:nvSpPr>
        <p:spPr>
          <a:xfrm>
            <a:off x="1605154" y="30606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 txBox="1"/>
          <p:nvPr/>
        </p:nvSpPr>
        <p:spPr>
          <a:xfrm>
            <a:off x="1689125" y="2530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75"/>
          <p:cNvGrpSpPr/>
          <p:nvPr/>
        </p:nvGrpSpPr>
        <p:grpSpPr>
          <a:xfrm>
            <a:off x="1155309" y="2209963"/>
            <a:ext cx="93900" cy="816939"/>
            <a:chOff x="996050" y="213293"/>
            <a:chExt cx="93900" cy="909732"/>
          </a:xfrm>
        </p:grpSpPr>
        <p:cxnSp>
          <p:nvCxnSpPr>
            <p:cNvPr id="958" name="Google Shape;958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9" name="Google Shape;959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0" name="Google Shape;960;p75"/>
          <p:cNvSpPr txBox="1"/>
          <p:nvPr/>
        </p:nvSpPr>
        <p:spPr>
          <a:xfrm>
            <a:off x="2326075" y="3010775"/>
            <a:ext cx="359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C, D, E, F, G, 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5"/>
          <p:cNvSpPr txBox="1"/>
          <p:nvPr/>
        </p:nvSpPr>
        <p:spPr>
          <a:xfrm>
            <a:off x="3479346" y="2492422"/>
            <a:ext cx="13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2" name="Google Shape;962;p75"/>
          <p:cNvCxnSpPr/>
          <p:nvPr/>
        </p:nvCxnSpPr>
        <p:spPr>
          <a:xfrm>
            <a:off x="5011891" y="3391325"/>
            <a:ext cx="158700" cy="36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75"/>
          <p:cNvSpPr txBox="1"/>
          <p:nvPr/>
        </p:nvSpPr>
        <p:spPr>
          <a:xfrm>
            <a:off x="4702991" y="3629050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5"/>
          <p:cNvSpPr txBox="1"/>
          <p:nvPr/>
        </p:nvSpPr>
        <p:spPr>
          <a:xfrm>
            <a:off x="2292650" y="20298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5"/>
          <p:cNvSpPr txBox="1"/>
          <p:nvPr>
            <p:ph idx="1" type="body"/>
          </p:nvPr>
        </p:nvSpPr>
        <p:spPr>
          <a:xfrm>
            <a:off x="324000" y="1521300"/>
            <a:ext cx="82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Example: Jacob is going to spin the spinner once.</a:t>
            </a:r>
            <a:endParaRPr sz="2400"/>
          </a:p>
        </p:txBody>
      </p:sp>
      <p:pic>
        <p:nvPicPr>
          <p:cNvPr id="966" name="Google Shape;96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2" y="3553127"/>
            <a:ext cx="630000" cy="7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5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944775" y="1986325"/>
            <a:ext cx="2493025" cy="16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5"/>
          <p:cNvSpPr txBox="1"/>
          <p:nvPr/>
        </p:nvSpPr>
        <p:spPr>
          <a:xfrm>
            <a:off x="6040775" y="2164600"/>
            <a:ext cx="217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spinner more likely to stop on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vowel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consonant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9" name="Google Shape;969;p75"/>
          <p:cNvGrpSpPr/>
          <p:nvPr/>
        </p:nvGrpSpPr>
        <p:grpSpPr>
          <a:xfrm>
            <a:off x="3109450" y="2838125"/>
            <a:ext cx="1695400" cy="299400"/>
            <a:chOff x="3109450" y="2838125"/>
            <a:chExt cx="1695400" cy="299400"/>
          </a:xfrm>
        </p:grpSpPr>
        <p:cxnSp>
          <p:nvCxnSpPr>
            <p:cNvPr id="970" name="Google Shape;970;p75"/>
            <p:cNvCxnSpPr/>
            <p:nvPr/>
          </p:nvCxnSpPr>
          <p:spPr>
            <a:xfrm flipH="1">
              <a:off x="3109450" y="2840700"/>
              <a:ext cx="478500" cy="269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75"/>
            <p:cNvCxnSpPr/>
            <p:nvPr/>
          </p:nvCxnSpPr>
          <p:spPr>
            <a:xfrm flipH="1">
              <a:off x="3294600" y="2849600"/>
              <a:ext cx="426300" cy="28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75"/>
            <p:cNvCxnSpPr/>
            <p:nvPr/>
          </p:nvCxnSpPr>
          <p:spPr>
            <a:xfrm flipH="1">
              <a:off x="3547175" y="2843075"/>
              <a:ext cx="304500" cy="28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75"/>
            <p:cNvCxnSpPr/>
            <p:nvPr/>
          </p:nvCxnSpPr>
          <p:spPr>
            <a:xfrm flipH="1">
              <a:off x="3811125" y="2849600"/>
              <a:ext cx="121200" cy="269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75"/>
            <p:cNvCxnSpPr/>
            <p:nvPr/>
          </p:nvCxnSpPr>
          <p:spPr>
            <a:xfrm>
              <a:off x="4018138" y="2842475"/>
              <a:ext cx="28500" cy="283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5" name="Google Shape;975;p75"/>
            <p:cNvCxnSpPr/>
            <p:nvPr/>
          </p:nvCxnSpPr>
          <p:spPr>
            <a:xfrm>
              <a:off x="4161975" y="2846825"/>
              <a:ext cx="130800" cy="279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75"/>
            <p:cNvCxnSpPr/>
            <p:nvPr/>
          </p:nvCxnSpPr>
          <p:spPr>
            <a:xfrm>
              <a:off x="4290575" y="2846825"/>
              <a:ext cx="289800" cy="290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75"/>
            <p:cNvCxnSpPr/>
            <p:nvPr/>
          </p:nvCxnSpPr>
          <p:spPr>
            <a:xfrm>
              <a:off x="4390850" y="2838125"/>
              <a:ext cx="414000" cy="299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8" name="Google Shape;978;p75"/>
          <p:cNvSpPr/>
          <p:nvPr/>
        </p:nvSpPr>
        <p:spPr>
          <a:xfrm>
            <a:off x="2840829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5"/>
          <p:cNvSpPr/>
          <p:nvPr/>
        </p:nvSpPr>
        <p:spPr>
          <a:xfrm>
            <a:off x="3118695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5"/>
          <p:cNvSpPr/>
          <p:nvPr/>
        </p:nvSpPr>
        <p:spPr>
          <a:xfrm>
            <a:off x="3396560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5"/>
          <p:cNvSpPr/>
          <p:nvPr/>
        </p:nvSpPr>
        <p:spPr>
          <a:xfrm>
            <a:off x="3688824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5"/>
          <p:cNvSpPr/>
          <p:nvPr/>
        </p:nvSpPr>
        <p:spPr>
          <a:xfrm>
            <a:off x="3959343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5"/>
          <p:cNvSpPr/>
          <p:nvPr/>
        </p:nvSpPr>
        <p:spPr>
          <a:xfrm>
            <a:off x="4215172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5"/>
          <p:cNvSpPr/>
          <p:nvPr/>
        </p:nvSpPr>
        <p:spPr>
          <a:xfrm>
            <a:off x="4495486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5"/>
          <p:cNvSpPr/>
          <p:nvPr/>
        </p:nvSpPr>
        <p:spPr>
          <a:xfrm>
            <a:off x="4761108" y="3125350"/>
            <a:ext cx="261300" cy="2598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5"/>
          <p:cNvSpPr txBox="1"/>
          <p:nvPr/>
        </p:nvSpPr>
        <p:spPr>
          <a:xfrm>
            <a:off x="2917475" y="4044977"/>
            <a:ext cx="19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vowels = {A, E}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5"/>
          <p:cNvSpPr txBox="1"/>
          <p:nvPr/>
        </p:nvSpPr>
        <p:spPr>
          <a:xfrm>
            <a:off x="2384075" y="4425975"/>
            <a:ext cx="375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consonants = {B, C, D, F, G, H}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5"/>
          <p:cNvSpPr txBox="1"/>
          <p:nvPr/>
        </p:nvSpPr>
        <p:spPr>
          <a:xfrm>
            <a:off x="1145884" y="4093063"/>
            <a:ext cx="1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events</a:t>
            </a:r>
            <a:endParaRPr b="1"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9" name="Google Shape;989;p75"/>
          <p:cNvCxnSpPr>
            <a:endCxn id="986" idx="1"/>
          </p:cNvCxnSpPr>
          <p:nvPr/>
        </p:nvCxnSpPr>
        <p:spPr>
          <a:xfrm flipH="1" rot="10800000">
            <a:off x="2027375" y="4275827"/>
            <a:ext cx="890100" cy="10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5"/>
          <p:cNvCxnSpPr>
            <a:endCxn id="987" idx="1"/>
          </p:cNvCxnSpPr>
          <p:nvPr/>
        </p:nvCxnSpPr>
        <p:spPr>
          <a:xfrm>
            <a:off x="2018675" y="4399125"/>
            <a:ext cx="365400" cy="25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996" name="Google Shape;996;p76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An </a:t>
            </a:r>
            <a:r>
              <a:rPr b="1" lang="en-GB" sz="2000">
                <a:solidFill>
                  <a:srgbClr val="000000"/>
                </a:solidFill>
              </a:rPr>
              <a:t>event</a:t>
            </a:r>
            <a:r>
              <a:rPr lang="en-GB" sz="2000">
                <a:solidFill>
                  <a:srgbClr val="000000"/>
                </a:solidFill>
              </a:rPr>
              <a:t> is a subset of a sample space. It could be a particular outcome or be a set of outcomes that may occur from a trial.</a:t>
            </a:r>
            <a:endParaRPr sz="2400"/>
          </a:p>
        </p:txBody>
      </p:sp>
      <p:sp>
        <p:nvSpPr>
          <p:cNvPr id="997" name="Google Shape;997;p76"/>
          <p:cNvSpPr/>
          <p:nvPr/>
        </p:nvSpPr>
        <p:spPr>
          <a:xfrm>
            <a:off x="356000" y="2144450"/>
            <a:ext cx="1695900" cy="16959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76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76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76"/>
          <p:cNvSpPr txBox="1"/>
          <p:nvPr/>
        </p:nvSpPr>
        <p:spPr>
          <a:xfrm>
            <a:off x="828675" y="3391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6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6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6"/>
          <p:cNvSpPr txBox="1"/>
          <p:nvPr/>
        </p:nvSpPr>
        <p:spPr>
          <a:xfrm>
            <a:off x="1310772" y="2198650"/>
            <a:ext cx="29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6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76"/>
          <p:cNvSpPr txBox="1"/>
          <p:nvPr/>
        </p:nvSpPr>
        <p:spPr>
          <a:xfrm>
            <a:off x="801354" y="2191375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6"/>
          <p:cNvSpPr/>
          <p:nvPr/>
        </p:nvSpPr>
        <p:spPr>
          <a:xfrm>
            <a:off x="370761" y="21592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6"/>
          <p:cNvSpPr txBox="1"/>
          <p:nvPr/>
        </p:nvSpPr>
        <p:spPr>
          <a:xfrm>
            <a:off x="393651" y="30321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6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76"/>
          <p:cNvSpPr txBox="1"/>
          <p:nvPr/>
        </p:nvSpPr>
        <p:spPr>
          <a:xfrm>
            <a:off x="450586" y="2508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6"/>
          <p:cNvSpPr/>
          <p:nvPr/>
        </p:nvSpPr>
        <p:spPr>
          <a:xfrm flipH="1">
            <a:off x="370689" y="21592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6"/>
          <p:cNvSpPr txBox="1"/>
          <p:nvPr/>
        </p:nvSpPr>
        <p:spPr>
          <a:xfrm>
            <a:off x="1244201" y="3391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6"/>
          <p:cNvSpPr txBox="1"/>
          <p:nvPr/>
        </p:nvSpPr>
        <p:spPr>
          <a:xfrm>
            <a:off x="1605154" y="30606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6"/>
          <p:cNvSpPr txBox="1"/>
          <p:nvPr/>
        </p:nvSpPr>
        <p:spPr>
          <a:xfrm>
            <a:off x="1689125" y="2530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4" name="Google Shape;1014;p76"/>
          <p:cNvGrpSpPr/>
          <p:nvPr/>
        </p:nvGrpSpPr>
        <p:grpSpPr>
          <a:xfrm>
            <a:off x="1155309" y="2209963"/>
            <a:ext cx="93900" cy="816939"/>
            <a:chOff x="996050" y="213293"/>
            <a:chExt cx="93900" cy="909732"/>
          </a:xfrm>
        </p:grpSpPr>
        <p:cxnSp>
          <p:nvCxnSpPr>
            <p:cNvPr id="1015" name="Google Shape;1015;p7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6" name="Google Shape;1016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76"/>
          <p:cNvSpPr txBox="1"/>
          <p:nvPr/>
        </p:nvSpPr>
        <p:spPr>
          <a:xfrm>
            <a:off x="2326075" y="3010775"/>
            <a:ext cx="359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C, D, E, F, G, 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6"/>
          <p:cNvSpPr txBox="1"/>
          <p:nvPr/>
        </p:nvSpPr>
        <p:spPr>
          <a:xfrm>
            <a:off x="3479346" y="2492422"/>
            <a:ext cx="13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9" name="Google Shape;1019;p76"/>
          <p:cNvCxnSpPr/>
          <p:nvPr/>
        </p:nvCxnSpPr>
        <p:spPr>
          <a:xfrm>
            <a:off x="5011891" y="3391325"/>
            <a:ext cx="158700" cy="36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76"/>
          <p:cNvSpPr txBox="1"/>
          <p:nvPr/>
        </p:nvSpPr>
        <p:spPr>
          <a:xfrm>
            <a:off x="4702991" y="3629050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6"/>
          <p:cNvSpPr txBox="1"/>
          <p:nvPr/>
        </p:nvSpPr>
        <p:spPr>
          <a:xfrm>
            <a:off x="2292650" y="20298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6"/>
          <p:cNvSpPr txBox="1"/>
          <p:nvPr>
            <p:ph idx="1" type="body"/>
          </p:nvPr>
        </p:nvSpPr>
        <p:spPr>
          <a:xfrm>
            <a:off x="324000" y="1521300"/>
            <a:ext cx="82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Example: Jacob is going to spin the spinner once.</a:t>
            </a:r>
            <a:endParaRPr sz="2400"/>
          </a:p>
        </p:txBody>
      </p:sp>
      <p:pic>
        <p:nvPicPr>
          <p:cNvPr id="1023" name="Google Shape;102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2" y="3553127"/>
            <a:ext cx="630000" cy="7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6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631050" y="2115175"/>
            <a:ext cx="3152650" cy="14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6"/>
          <p:cNvSpPr txBox="1"/>
          <p:nvPr/>
        </p:nvSpPr>
        <p:spPr>
          <a:xfrm>
            <a:off x="5710000" y="2317000"/>
            <a:ext cx="292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spinner is more likely to land on a consonant than a vowel.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76"/>
          <p:cNvGrpSpPr/>
          <p:nvPr/>
        </p:nvGrpSpPr>
        <p:grpSpPr>
          <a:xfrm>
            <a:off x="3109450" y="2838125"/>
            <a:ext cx="1695400" cy="299400"/>
            <a:chOff x="3109450" y="2838125"/>
            <a:chExt cx="1695400" cy="299400"/>
          </a:xfrm>
        </p:grpSpPr>
        <p:cxnSp>
          <p:nvCxnSpPr>
            <p:cNvPr id="1027" name="Google Shape;1027;p76"/>
            <p:cNvCxnSpPr/>
            <p:nvPr/>
          </p:nvCxnSpPr>
          <p:spPr>
            <a:xfrm flipH="1">
              <a:off x="3109450" y="2840700"/>
              <a:ext cx="478500" cy="269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76"/>
            <p:cNvCxnSpPr/>
            <p:nvPr/>
          </p:nvCxnSpPr>
          <p:spPr>
            <a:xfrm flipH="1">
              <a:off x="3294600" y="2849600"/>
              <a:ext cx="426300" cy="28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9" name="Google Shape;1029;p76"/>
            <p:cNvCxnSpPr/>
            <p:nvPr/>
          </p:nvCxnSpPr>
          <p:spPr>
            <a:xfrm flipH="1">
              <a:off x="3547175" y="2843075"/>
              <a:ext cx="304500" cy="28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76"/>
            <p:cNvCxnSpPr/>
            <p:nvPr/>
          </p:nvCxnSpPr>
          <p:spPr>
            <a:xfrm flipH="1">
              <a:off x="3811125" y="2849600"/>
              <a:ext cx="121200" cy="269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6"/>
            <p:cNvCxnSpPr/>
            <p:nvPr/>
          </p:nvCxnSpPr>
          <p:spPr>
            <a:xfrm>
              <a:off x="4018138" y="2842475"/>
              <a:ext cx="28500" cy="283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76"/>
            <p:cNvCxnSpPr/>
            <p:nvPr/>
          </p:nvCxnSpPr>
          <p:spPr>
            <a:xfrm>
              <a:off x="4161975" y="2846825"/>
              <a:ext cx="130800" cy="279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76"/>
            <p:cNvCxnSpPr/>
            <p:nvPr/>
          </p:nvCxnSpPr>
          <p:spPr>
            <a:xfrm>
              <a:off x="4290575" y="2846825"/>
              <a:ext cx="289800" cy="290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76"/>
            <p:cNvCxnSpPr/>
            <p:nvPr/>
          </p:nvCxnSpPr>
          <p:spPr>
            <a:xfrm>
              <a:off x="4390850" y="2838125"/>
              <a:ext cx="414000" cy="299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5" name="Google Shape;1035;p76"/>
          <p:cNvSpPr txBox="1"/>
          <p:nvPr/>
        </p:nvSpPr>
        <p:spPr>
          <a:xfrm>
            <a:off x="2917475" y="4044977"/>
            <a:ext cx="19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vowels = {A, E}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6"/>
          <p:cNvSpPr txBox="1"/>
          <p:nvPr/>
        </p:nvSpPr>
        <p:spPr>
          <a:xfrm>
            <a:off x="2384075" y="4425975"/>
            <a:ext cx="375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consonants = {B, C, D, F, G, H}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6"/>
          <p:cNvSpPr txBox="1"/>
          <p:nvPr/>
        </p:nvSpPr>
        <p:spPr>
          <a:xfrm>
            <a:off x="1145884" y="4093063"/>
            <a:ext cx="1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events</a:t>
            </a:r>
            <a:endParaRPr b="1"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8" name="Google Shape;1038;p76"/>
          <p:cNvCxnSpPr>
            <a:endCxn id="1035" idx="1"/>
          </p:cNvCxnSpPr>
          <p:nvPr/>
        </p:nvCxnSpPr>
        <p:spPr>
          <a:xfrm flipH="1" rot="10800000">
            <a:off x="2027375" y="4275827"/>
            <a:ext cx="890100" cy="10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76"/>
          <p:cNvCxnSpPr>
            <a:endCxn id="1036" idx="1"/>
          </p:cNvCxnSpPr>
          <p:nvPr/>
        </p:nvCxnSpPr>
        <p:spPr>
          <a:xfrm>
            <a:off x="2018675" y="4399125"/>
            <a:ext cx="365400" cy="25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p7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601125" y="1467350"/>
            <a:ext cx="3419249" cy="17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046" name="Google Shape;1046;p77"/>
          <p:cNvSpPr txBox="1"/>
          <p:nvPr>
            <p:ph idx="1" type="body"/>
          </p:nvPr>
        </p:nvSpPr>
        <p:spPr>
          <a:xfrm>
            <a:off x="324000" y="759300"/>
            <a:ext cx="8496000" cy="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Alex and Sofia are trying to decide who should get the last cookie in the jar.</a:t>
            </a:r>
            <a:endParaRPr sz="1800"/>
          </a:p>
        </p:txBody>
      </p:sp>
      <p:sp>
        <p:nvSpPr>
          <p:cNvPr id="1047" name="Google Shape;1047;p77"/>
          <p:cNvSpPr txBox="1"/>
          <p:nvPr>
            <p:ph idx="1" type="body"/>
          </p:nvPr>
        </p:nvSpPr>
        <p:spPr>
          <a:xfrm>
            <a:off x="324000" y="11403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They decide to roll a regular six-sided dice to determine who gets it.</a:t>
            </a:r>
            <a:endParaRPr sz="1800"/>
          </a:p>
        </p:txBody>
      </p:sp>
      <p:sp>
        <p:nvSpPr>
          <p:cNvPr id="1048" name="Google Shape;1048;p77"/>
          <p:cNvSpPr txBox="1"/>
          <p:nvPr>
            <p:ph idx="1" type="body"/>
          </p:nvPr>
        </p:nvSpPr>
        <p:spPr>
          <a:xfrm>
            <a:off x="3900825" y="1634400"/>
            <a:ext cx="3098100" cy="12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If we roll a </a:t>
            </a:r>
            <a:r>
              <a:rPr lang="en-GB" sz="1800">
                <a:solidFill>
                  <a:schemeClr val="accent4"/>
                </a:solidFill>
              </a:rPr>
              <a:t>multiple of 3 </a:t>
            </a:r>
            <a:r>
              <a:rPr lang="en-GB" sz="1800">
                <a:solidFill>
                  <a:srgbClr val="000000"/>
                </a:solidFill>
              </a:rPr>
              <a:t>then you can have the cookie. If it’s </a:t>
            </a:r>
            <a:r>
              <a:rPr lang="en-GB" sz="1800">
                <a:solidFill>
                  <a:schemeClr val="accent4"/>
                </a:solidFill>
              </a:rPr>
              <a:t>not a multiple of 3</a:t>
            </a:r>
            <a:r>
              <a:rPr lang="en-GB" sz="1800">
                <a:solidFill>
                  <a:srgbClr val="000000"/>
                </a:solidFill>
              </a:rPr>
              <a:t> then I’ll have it.</a:t>
            </a:r>
            <a:endParaRPr sz="1800"/>
          </a:p>
        </p:txBody>
      </p:sp>
      <p:sp>
        <p:nvSpPr>
          <p:cNvPr id="1049" name="Google Shape;1049;p77"/>
          <p:cNvSpPr txBox="1"/>
          <p:nvPr>
            <p:ph idx="1" type="body"/>
          </p:nvPr>
        </p:nvSpPr>
        <p:spPr>
          <a:xfrm>
            <a:off x="335975" y="4502400"/>
            <a:ext cx="68244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Who is more likely to get the cookie?</a:t>
            </a:r>
            <a:endParaRPr sz="1800"/>
          </a:p>
        </p:txBody>
      </p:sp>
      <p:pic>
        <p:nvPicPr>
          <p:cNvPr id="1050" name="Google Shape;105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68151" y="2876725"/>
            <a:ext cx="688099" cy="79353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77"/>
          <p:cNvSpPr txBox="1"/>
          <p:nvPr/>
        </p:nvSpPr>
        <p:spPr>
          <a:xfrm>
            <a:off x="726075" y="1761300"/>
            <a:ext cx="20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{Alex, Sofia}</a:t>
            </a:r>
            <a:endParaRPr sz="1800"/>
          </a:p>
        </p:txBody>
      </p:sp>
      <p:pic>
        <p:nvPicPr>
          <p:cNvPr id="1052" name="Google Shape;1052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5523" y="2878051"/>
            <a:ext cx="688101" cy="7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77"/>
          <p:cNvPicPr preferRelativeResize="0"/>
          <p:nvPr/>
        </p:nvPicPr>
        <p:blipFill rotWithShape="1">
          <a:blip r:embed="rId6">
            <a:alphaModFix/>
          </a:blip>
          <a:srcRect b="7970" l="60186" r="34236" t="68840"/>
          <a:stretch/>
        </p:blipFill>
        <p:spPr>
          <a:xfrm>
            <a:off x="5774388" y="3021595"/>
            <a:ext cx="727851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77"/>
          <p:cNvSpPr txBox="1"/>
          <p:nvPr>
            <p:ph idx="1" type="body"/>
          </p:nvPr>
        </p:nvSpPr>
        <p:spPr>
          <a:xfrm>
            <a:off x="4484248" y="4499125"/>
            <a:ext cx="6186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5" name="Google Shape;105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9038" y="3749279"/>
            <a:ext cx="444704" cy="43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77"/>
          <p:cNvPicPr preferRelativeResize="0"/>
          <p:nvPr/>
        </p:nvPicPr>
        <p:blipFill rotWithShape="1">
          <a:blip r:embed="rId8">
            <a:alphaModFix/>
          </a:blip>
          <a:srcRect b="2162" l="0" r="0" t="0"/>
          <a:stretch/>
        </p:blipFill>
        <p:spPr>
          <a:xfrm>
            <a:off x="3842789" y="3749274"/>
            <a:ext cx="444703" cy="43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31150" y="3756081"/>
            <a:ext cx="423405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6549" y="3756992"/>
            <a:ext cx="419427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7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5031" y="3756992"/>
            <a:ext cx="414732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7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21900" y="3756070"/>
            <a:ext cx="411605" cy="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8"/>
          <p:cNvSpPr txBox="1"/>
          <p:nvPr>
            <p:ph type="title"/>
          </p:nvPr>
        </p:nvSpPr>
        <p:spPr>
          <a:xfrm>
            <a:off x="324000" y="748781"/>
            <a:ext cx="8179200" cy="7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counter is chosen at random from the bag and its letter is noted. The counters are equal size. Which </a:t>
            </a:r>
            <a:r>
              <a:rPr lang="en-GB"/>
              <a:t>statement</a:t>
            </a:r>
            <a:r>
              <a:rPr lang="en-GB"/>
              <a:t> is true?</a:t>
            </a:r>
            <a:endParaRPr/>
          </a:p>
        </p:txBody>
      </p:sp>
      <p:sp>
        <p:nvSpPr>
          <p:cNvPr id="1066" name="Google Shape;1066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067" name="Google Shape;1067;p78"/>
          <p:cNvSpPr txBox="1"/>
          <p:nvPr>
            <p:ph idx="1" type="subTitle"/>
          </p:nvPr>
        </p:nvSpPr>
        <p:spPr>
          <a:xfrm>
            <a:off x="1034425" y="1837775"/>
            <a:ext cx="3605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two outcomes are equally likely to happen.</a:t>
            </a:r>
            <a:endParaRPr sz="2000"/>
          </a:p>
        </p:txBody>
      </p:sp>
      <p:sp>
        <p:nvSpPr>
          <p:cNvPr id="1068" name="Google Shape;1068;p78"/>
          <p:cNvSpPr txBox="1"/>
          <p:nvPr>
            <p:ph idx="3" type="subTitle"/>
          </p:nvPr>
        </p:nvSpPr>
        <p:spPr>
          <a:xfrm>
            <a:off x="1034425" y="2794247"/>
            <a:ext cx="3605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letter A is more likely to be picked than the letter B.</a:t>
            </a:r>
            <a:endParaRPr sz="2000"/>
          </a:p>
        </p:txBody>
      </p:sp>
      <p:sp>
        <p:nvSpPr>
          <p:cNvPr id="1069" name="Google Shape;1069;p78"/>
          <p:cNvSpPr txBox="1"/>
          <p:nvPr>
            <p:ph idx="4" type="subTitle"/>
          </p:nvPr>
        </p:nvSpPr>
        <p:spPr>
          <a:xfrm>
            <a:off x="1034425" y="3766975"/>
            <a:ext cx="366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letter B is more likely to be picked than the letter A.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070" name="Google Shape;10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650" y="1488875"/>
            <a:ext cx="2427100" cy="32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8"/>
          <p:cNvSpPr/>
          <p:nvPr/>
        </p:nvSpPr>
        <p:spPr>
          <a:xfrm>
            <a:off x="6305875" y="2788850"/>
            <a:ext cx="389100" cy="3891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8"/>
          <p:cNvSpPr txBox="1"/>
          <p:nvPr>
            <p:ph idx="3" type="subTitle"/>
          </p:nvPr>
        </p:nvSpPr>
        <p:spPr>
          <a:xfrm>
            <a:off x="6401273" y="28216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6839275" y="3017450"/>
            <a:ext cx="389100" cy="3891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 txBox="1"/>
          <p:nvPr>
            <p:ph idx="3" type="subTitle"/>
          </p:nvPr>
        </p:nvSpPr>
        <p:spPr>
          <a:xfrm>
            <a:off x="6934673" y="30502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6991675" y="3931850"/>
            <a:ext cx="389100" cy="3891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 txBox="1"/>
          <p:nvPr>
            <p:ph idx="3" type="subTitle"/>
          </p:nvPr>
        </p:nvSpPr>
        <p:spPr>
          <a:xfrm>
            <a:off x="7087073" y="39646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77" name="Google Shape;1077;p78"/>
          <p:cNvSpPr/>
          <p:nvPr/>
        </p:nvSpPr>
        <p:spPr>
          <a:xfrm>
            <a:off x="5924875" y="3855650"/>
            <a:ext cx="389100" cy="3891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8"/>
          <p:cNvSpPr txBox="1"/>
          <p:nvPr>
            <p:ph idx="3" type="subTitle"/>
          </p:nvPr>
        </p:nvSpPr>
        <p:spPr>
          <a:xfrm>
            <a:off x="6020273" y="38884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79" name="Google Shape;1079;p78"/>
          <p:cNvSpPr/>
          <p:nvPr/>
        </p:nvSpPr>
        <p:spPr>
          <a:xfrm>
            <a:off x="6458275" y="3550850"/>
            <a:ext cx="389100" cy="3891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8"/>
          <p:cNvSpPr txBox="1"/>
          <p:nvPr>
            <p:ph idx="3" type="subTitle"/>
          </p:nvPr>
        </p:nvSpPr>
        <p:spPr>
          <a:xfrm>
            <a:off x="6553673" y="35836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B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81" name="Google Shape;1081;p78"/>
          <p:cNvSpPr/>
          <p:nvPr/>
        </p:nvSpPr>
        <p:spPr>
          <a:xfrm>
            <a:off x="6458275" y="4127605"/>
            <a:ext cx="389100" cy="3891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8"/>
          <p:cNvSpPr txBox="1"/>
          <p:nvPr>
            <p:ph idx="3" type="subTitle"/>
          </p:nvPr>
        </p:nvSpPr>
        <p:spPr>
          <a:xfrm>
            <a:off x="6553673" y="4160450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B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83" name="Google Shape;1083;p78"/>
          <p:cNvSpPr/>
          <p:nvPr/>
        </p:nvSpPr>
        <p:spPr>
          <a:xfrm>
            <a:off x="6001075" y="3322250"/>
            <a:ext cx="389100" cy="3891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8"/>
          <p:cNvSpPr txBox="1"/>
          <p:nvPr>
            <p:ph idx="3" type="subTitle"/>
          </p:nvPr>
        </p:nvSpPr>
        <p:spPr>
          <a:xfrm>
            <a:off x="6096473" y="3355095"/>
            <a:ext cx="220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lt1"/>
                </a:solidFill>
              </a:rPr>
              <a:t>B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1085" name="Google Shape;108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033" y="3050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9"/>
          <p:cNvSpPr/>
          <p:nvPr/>
        </p:nvSpPr>
        <p:spPr>
          <a:xfrm>
            <a:off x="3708800" y="2068250"/>
            <a:ext cx="1695900" cy="16959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spinners have no</a:t>
            </a:r>
            <a:r>
              <a:rPr lang="en-GB"/>
              <a:t>n-e</a:t>
            </a:r>
            <a:r>
              <a:rPr lang="en-GB"/>
              <a:t>qually likely </a:t>
            </a:r>
            <a:r>
              <a:rPr lang="en-GB"/>
              <a:t>outcomes?</a:t>
            </a:r>
            <a:endParaRPr/>
          </a:p>
        </p:txBody>
      </p:sp>
      <p:sp>
        <p:nvSpPr>
          <p:cNvPr id="1092" name="Google Shape;1092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093" name="Google Shape;1093;p79"/>
          <p:cNvSpPr/>
          <p:nvPr/>
        </p:nvSpPr>
        <p:spPr>
          <a:xfrm>
            <a:off x="6680600" y="2068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79"/>
          <p:cNvSpPr/>
          <p:nvPr/>
        </p:nvSpPr>
        <p:spPr>
          <a:xfrm rot="8649824">
            <a:off x="6695495" y="2083161"/>
            <a:ext cx="1666351" cy="1666351"/>
          </a:xfrm>
          <a:prstGeom prst="pie">
            <a:avLst>
              <a:gd fmla="val 11928607" name="adj1"/>
              <a:gd fmla="val 2050204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79"/>
          <p:cNvSpPr/>
          <p:nvPr/>
        </p:nvSpPr>
        <p:spPr>
          <a:xfrm rot="-4309758">
            <a:off x="6695641" y="2083427"/>
            <a:ext cx="1666190" cy="1666190"/>
          </a:xfrm>
          <a:prstGeom prst="pie">
            <a:avLst>
              <a:gd fmla="val 11928607" name="adj1"/>
              <a:gd fmla="val 16225322" name="adj2"/>
            </a:avLst>
          </a:prstGeom>
          <a:solidFill>
            <a:schemeClr val="accent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79"/>
          <p:cNvSpPr/>
          <p:nvPr/>
        </p:nvSpPr>
        <p:spPr>
          <a:xfrm>
            <a:off x="6695641" y="2083427"/>
            <a:ext cx="1666200" cy="1666200"/>
          </a:xfrm>
          <a:prstGeom prst="pie">
            <a:avLst>
              <a:gd fmla="val 11928607" name="adj1"/>
              <a:gd fmla="val 16225322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79"/>
          <p:cNvSpPr/>
          <p:nvPr/>
        </p:nvSpPr>
        <p:spPr>
          <a:xfrm rot="4312496">
            <a:off x="6695474" y="2083006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79"/>
          <p:cNvSpPr txBox="1"/>
          <p:nvPr/>
        </p:nvSpPr>
        <p:spPr>
          <a:xfrm>
            <a:off x="6983175" y="23245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9"/>
          <p:cNvSpPr txBox="1"/>
          <p:nvPr/>
        </p:nvSpPr>
        <p:spPr>
          <a:xfrm>
            <a:off x="7561526" y="2324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9"/>
          <p:cNvSpPr txBox="1"/>
          <p:nvPr/>
        </p:nvSpPr>
        <p:spPr>
          <a:xfrm>
            <a:off x="7485326" y="3086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9"/>
          <p:cNvSpPr txBox="1"/>
          <p:nvPr/>
        </p:nvSpPr>
        <p:spPr>
          <a:xfrm>
            <a:off x="6754575" y="2857925"/>
            <a:ext cx="7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2" name="Google Shape;1102;p79"/>
          <p:cNvGrpSpPr/>
          <p:nvPr/>
        </p:nvGrpSpPr>
        <p:grpSpPr>
          <a:xfrm>
            <a:off x="7479909" y="2124142"/>
            <a:ext cx="93900" cy="816939"/>
            <a:chOff x="996050" y="213293"/>
            <a:chExt cx="93900" cy="909732"/>
          </a:xfrm>
        </p:grpSpPr>
        <p:cxnSp>
          <p:nvCxnSpPr>
            <p:cNvPr id="1103" name="Google Shape;1103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4" name="Google Shape;1104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5" name="Google Shape;1105;p79"/>
          <p:cNvSpPr/>
          <p:nvPr/>
        </p:nvSpPr>
        <p:spPr>
          <a:xfrm rot="-3572318">
            <a:off x="3723547" y="2083080"/>
            <a:ext cx="1666413" cy="1666413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accent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79"/>
          <p:cNvSpPr txBox="1"/>
          <p:nvPr/>
        </p:nvSpPr>
        <p:spPr>
          <a:xfrm>
            <a:off x="3935175" y="3010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9"/>
          <p:cNvSpPr txBox="1"/>
          <p:nvPr/>
        </p:nvSpPr>
        <p:spPr>
          <a:xfrm>
            <a:off x="3965150" y="2208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9"/>
          <p:cNvSpPr/>
          <p:nvPr/>
        </p:nvSpPr>
        <p:spPr>
          <a:xfrm flipH="1">
            <a:off x="3723489" y="2083011"/>
            <a:ext cx="1666500" cy="1666500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9"/>
          <p:cNvSpPr txBox="1"/>
          <p:nvPr/>
        </p:nvSpPr>
        <p:spPr>
          <a:xfrm>
            <a:off x="4589726" y="219666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9"/>
          <p:cNvSpPr txBox="1"/>
          <p:nvPr/>
        </p:nvSpPr>
        <p:spPr>
          <a:xfrm>
            <a:off x="4665751" y="29341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9"/>
          <p:cNvSpPr/>
          <p:nvPr/>
        </p:nvSpPr>
        <p:spPr>
          <a:xfrm rot="-7167804">
            <a:off x="3723556" y="2083203"/>
            <a:ext cx="1666303" cy="166630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9"/>
          <p:cNvSpPr/>
          <p:nvPr/>
        </p:nvSpPr>
        <p:spPr>
          <a:xfrm rot="10800000">
            <a:off x="3723659" y="2083306"/>
            <a:ext cx="1666200" cy="16662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79"/>
          <p:cNvSpPr txBox="1"/>
          <p:nvPr/>
        </p:nvSpPr>
        <p:spPr>
          <a:xfrm>
            <a:off x="3795039" y="26661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9"/>
          <p:cNvSpPr txBox="1"/>
          <p:nvPr/>
        </p:nvSpPr>
        <p:spPr>
          <a:xfrm>
            <a:off x="4023639" y="316681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5" name="Google Shape;1115;p79"/>
          <p:cNvGrpSpPr/>
          <p:nvPr/>
        </p:nvGrpSpPr>
        <p:grpSpPr>
          <a:xfrm>
            <a:off x="4508109" y="2133763"/>
            <a:ext cx="93900" cy="816939"/>
            <a:chOff x="996050" y="213293"/>
            <a:chExt cx="93900" cy="909732"/>
          </a:xfrm>
        </p:grpSpPr>
        <p:cxnSp>
          <p:nvCxnSpPr>
            <p:cNvPr id="1116" name="Google Shape;1116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7" name="Google Shape;1117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79"/>
          <p:cNvSpPr/>
          <p:nvPr/>
        </p:nvSpPr>
        <p:spPr>
          <a:xfrm>
            <a:off x="813200" y="2068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79"/>
          <p:cNvSpPr txBox="1"/>
          <p:nvPr/>
        </p:nvSpPr>
        <p:spPr>
          <a:xfrm>
            <a:off x="1039575" y="3010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9"/>
          <p:cNvSpPr/>
          <p:nvPr/>
        </p:nvSpPr>
        <p:spPr>
          <a:xfrm rot="3055089">
            <a:off x="828059" y="2083016"/>
            <a:ext cx="1666482" cy="1666482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79"/>
          <p:cNvSpPr txBox="1"/>
          <p:nvPr/>
        </p:nvSpPr>
        <p:spPr>
          <a:xfrm>
            <a:off x="1039575" y="2324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9"/>
          <p:cNvSpPr txBox="1"/>
          <p:nvPr/>
        </p:nvSpPr>
        <p:spPr>
          <a:xfrm>
            <a:off x="1646790" y="229008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9"/>
          <p:cNvSpPr txBox="1"/>
          <p:nvPr/>
        </p:nvSpPr>
        <p:spPr>
          <a:xfrm>
            <a:off x="1770326" y="3010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9"/>
          <p:cNvSpPr/>
          <p:nvPr/>
        </p:nvSpPr>
        <p:spPr>
          <a:xfrm rot="6175224">
            <a:off x="828205" y="2083100"/>
            <a:ext cx="1666390" cy="1666390"/>
          </a:xfrm>
          <a:prstGeom prst="pie">
            <a:avLst>
              <a:gd fmla="val 13145506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79"/>
          <p:cNvSpPr/>
          <p:nvPr/>
        </p:nvSpPr>
        <p:spPr>
          <a:xfrm rot="9204713">
            <a:off x="828257" y="2083250"/>
            <a:ext cx="1666318" cy="1666318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9"/>
          <p:cNvSpPr/>
          <p:nvPr/>
        </p:nvSpPr>
        <p:spPr>
          <a:xfrm rot="-9367530">
            <a:off x="828255" y="2083311"/>
            <a:ext cx="1666276" cy="1666276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79"/>
          <p:cNvSpPr/>
          <p:nvPr/>
        </p:nvSpPr>
        <p:spPr>
          <a:xfrm rot="-6354938">
            <a:off x="828221" y="2083402"/>
            <a:ext cx="1666170" cy="1666170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79"/>
          <p:cNvSpPr/>
          <p:nvPr/>
        </p:nvSpPr>
        <p:spPr>
          <a:xfrm rot="-3302710">
            <a:off x="828242" y="2083520"/>
            <a:ext cx="1666171" cy="1666171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9"/>
          <p:cNvSpPr/>
          <p:nvPr/>
        </p:nvSpPr>
        <p:spPr>
          <a:xfrm rot="-191374">
            <a:off x="828211" y="2083554"/>
            <a:ext cx="1666081" cy="1666081"/>
          </a:xfrm>
          <a:prstGeom prst="pie">
            <a:avLst>
              <a:gd fmla="val 13196772" name="adj1"/>
              <a:gd fmla="val 1642607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9"/>
          <p:cNvSpPr txBox="1"/>
          <p:nvPr/>
        </p:nvSpPr>
        <p:spPr>
          <a:xfrm>
            <a:off x="1770326" y="2985507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9"/>
          <p:cNvSpPr txBox="1"/>
          <p:nvPr/>
        </p:nvSpPr>
        <p:spPr>
          <a:xfrm>
            <a:off x="932126" y="30472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1120606" y="225400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9"/>
          <p:cNvSpPr txBox="1"/>
          <p:nvPr/>
        </p:nvSpPr>
        <p:spPr>
          <a:xfrm>
            <a:off x="889751" y="2608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9"/>
          <p:cNvSpPr txBox="1"/>
          <p:nvPr/>
        </p:nvSpPr>
        <p:spPr>
          <a:xfrm>
            <a:off x="1956551" y="2608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9"/>
          <p:cNvSpPr txBox="1"/>
          <p:nvPr/>
        </p:nvSpPr>
        <p:spPr>
          <a:xfrm>
            <a:off x="1423151" y="3294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6" name="Google Shape;1136;p79"/>
          <p:cNvGrpSpPr/>
          <p:nvPr/>
        </p:nvGrpSpPr>
        <p:grpSpPr>
          <a:xfrm>
            <a:off x="1612509" y="2124142"/>
            <a:ext cx="93900" cy="816939"/>
            <a:chOff x="996050" y="213293"/>
            <a:chExt cx="93900" cy="909732"/>
          </a:xfrm>
        </p:grpSpPr>
        <p:cxnSp>
          <p:nvCxnSpPr>
            <p:cNvPr id="1137" name="Google Shape;1137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8" name="Google Shape;1138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39" name="Google Shape;113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33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53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For each scenario, tick the outcome or event that is most likely to happen.</a:t>
            </a:r>
            <a:endParaRPr sz="1800"/>
          </a:p>
        </p:txBody>
      </p:sp>
      <p:sp>
        <p:nvSpPr>
          <p:cNvPr id="1146" name="Google Shape;114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which outcome is more </a:t>
            </a:r>
            <a:r>
              <a:rPr lang="en-GB"/>
              <a:t>likely</a:t>
            </a:r>
            <a:r>
              <a:rPr lang="en-GB"/>
              <a:t> to happen</a:t>
            </a:r>
            <a:endParaRPr/>
          </a:p>
        </p:txBody>
      </p:sp>
      <p:sp>
        <p:nvSpPr>
          <p:cNvPr id="1147" name="Google Shape;1147;p80"/>
          <p:cNvSpPr txBox="1"/>
          <p:nvPr>
            <p:ph idx="1" type="body"/>
          </p:nvPr>
        </p:nvSpPr>
        <p:spPr>
          <a:xfrm>
            <a:off x="324000" y="1140300"/>
            <a:ext cx="39960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rolling a regular six-sided dice </a:t>
            </a:r>
            <a:endParaRPr sz="1800"/>
          </a:p>
        </p:txBody>
      </p:sp>
      <p:sp>
        <p:nvSpPr>
          <p:cNvPr id="1148" name="Google Shape;1148;p80"/>
          <p:cNvSpPr txBox="1"/>
          <p:nvPr>
            <p:ph idx="1" type="body"/>
          </p:nvPr>
        </p:nvSpPr>
        <p:spPr>
          <a:xfrm>
            <a:off x="1832700" y="1700250"/>
            <a:ext cx="23370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rolling a multiple of 2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rolling a multiple of 3</a:t>
            </a:r>
            <a:endParaRPr sz="1800"/>
          </a:p>
        </p:txBody>
      </p:sp>
      <p:sp>
        <p:nvSpPr>
          <p:cNvPr id="1149" name="Google Shape;1149;p80"/>
          <p:cNvSpPr txBox="1"/>
          <p:nvPr>
            <p:ph idx="1" type="body"/>
          </p:nvPr>
        </p:nvSpPr>
        <p:spPr>
          <a:xfrm>
            <a:off x="4819800" y="1140300"/>
            <a:ext cx="34173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spinning the spinner </a:t>
            </a:r>
            <a:endParaRPr sz="1800"/>
          </a:p>
        </p:txBody>
      </p:sp>
      <p:sp>
        <p:nvSpPr>
          <p:cNvPr id="1150" name="Google Shape;1150;p80"/>
          <p:cNvSpPr txBox="1"/>
          <p:nvPr>
            <p:ph idx="1" type="body"/>
          </p:nvPr>
        </p:nvSpPr>
        <p:spPr>
          <a:xfrm>
            <a:off x="6326025" y="1700250"/>
            <a:ext cx="24939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</a:t>
            </a:r>
            <a:r>
              <a:rPr lang="en-GB" sz="1800"/>
              <a:t>ands on a factor of 8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lands on a factor of 12</a:t>
            </a:r>
            <a:endParaRPr sz="1800"/>
          </a:p>
        </p:txBody>
      </p:sp>
      <p:sp>
        <p:nvSpPr>
          <p:cNvPr id="1151" name="Google Shape;1151;p80"/>
          <p:cNvSpPr txBox="1"/>
          <p:nvPr>
            <p:ph idx="1" type="body"/>
          </p:nvPr>
        </p:nvSpPr>
        <p:spPr>
          <a:xfrm>
            <a:off x="324000" y="3121500"/>
            <a:ext cx="42027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picking a counter from the bag</a:t>
            </a:r>
            <a:endParaRPr sz="1800"/>
          </a:p>
        </p:txBody>
      </p:sp>
      <p:sp>
        <p:nvSpPr>
          <p:cNvPr id="1152" name="Google Shape;1152;p80"/>
          <p:cNvSpPr txBox="1"/>
          <p:nvPr>
            <p:ph idx="1" type="body"/>
          </p:nvPr>
        </p:nvSpPr>
        <p:spPr>
          <a:xfrm>
            <a:off x="2899500" y="3794575"/>
            <a:ext cx="12384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r>
              <a:rPr lang="en-GB" sz="1800"/>
              <a:t>icking A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p</a:t>
            </a:r>
            <a:r>
              <a:rPr lang="en-GB" sz="1800"/>
              <a:t>icking B</a:t>
            </a:r>
            <a:endParaRPr sz="1800"/>
          </a:p>
        </p:txBody>
      </p:sp>
      <p:sp>
        <p:nvSpPr>
          <p:cNvPr id="1153" name="Google Shape;1153;p80"/>
          <p:cNvSpPr txBox="1"/>
          <p:nvPr>
            <p:ph idx="1" type="body"/>
          </p:nvPr>
        </p:nvSpPr>
        <p:spPr>
          <a:xfrm>
            <a:off x="4819800" y="3121500"/>
            <a:ext cx="39960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choosing a letter at random from the word MATHEMATICS</a:t>
            </a:r>
            <a:endParaRPr sz="1800"/>
          </a:p>
        </p:txBody>
      </p:sp>
      <p:sp>
        <p:nvSpPr>
          <p:cNvPr id="1154" name="Google Shape;1154;p80"/>
          <p:cNvSpPr txBox="1"/>
          <p:nvPr>
            <p:ph idx="1" type="body"/>
          </p:nvPr>
        </p:nvSpPr>
        <p:spPr>
          <a:xfrm>
            <a:off x="5129250" y="3794575"/>
            <a:ext cx="29700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hoosing a vowel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choosing a consonant</a:t>
            </a:r>
            <a:endParaRPr sz="1800"/>
          </a:p>
        </p:txBody>
      </p:sp>
      <p:sp>
        <p:nvSpPr>
          <p:cNvPr id="1155" name="Google Shape;1155;p80"/>
          <p:cNvSpPr/>
          <p:nvPr/>
        </p:nvSpPr>
        <p:spPr>
          <a:xfrm>
            <a:off x="4922709" y="1485752"/>
            <a:ext cx="1317300" cy="13173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80"/>
          <p:cNvSpPr/>
          <p:nvPr/>
        </p:nvSpPr>
        <p:spPr>
          <a:xfrm flipH="1">
            <a:off x="4934080" y="1497217"/>
            <a:ext cx="1294500" cy="1294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80"/>
          <p:cNvSpPr/>
          <p:nvPr/>
        </p:nvSpPr>
        <p:spPr>
          <a:xfrm>
            <a:off x="4934175" y="1497217"/>
            <a:ext cx="1294500" cy="1294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0"/>
          <p:cNvSpPr txBox="1"/>
          <p:nvPr/>
        </p:nvSpPr>
        <p:spPr>
          <a:xfrm>
            <a:off x="5229276" y="2378067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0"/>
          <p:cNvSpPr/>
          <p:nvPr/>
        </p:nvSpPr>
        <p:spPr>
          <a:xfrm>
            <a:off x="4934175" y="1497217"/>
            <a:ext cx="1294500" cy="1294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0"/>
          <p:cNvSpPr/>
          <p:nvPr/>
        </p:nvSpPr>
        <p:spPr>
          <a:xfrm flipH="1">
            <a:off x="4934080" y="1497217"/>
            <a:ext cx="1294500" cy="1294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0"/>
          <p:cNvSpPr txBox="1"/>
          <p:nvPr/>
        </p:nvSpPr>
        <p:spPr>
          <a:xfrm>
            <a:off x="5658087" y="1505991"/>
            <a:ext cx="2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0"/>
          <p:cNvSpPr/>
          <p:nvPr/>
        </p:nvSpPr>
        <p:spPr>
          <a:xfrm>
            <a:off x="4934175" y="1497217"/>
            <a:ext cx="1294500" cy="1294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0"/>
          <p:cNvSpPr txBox="1"/>
          <p:nvPr/>
        </p:nvSpPr>
        <p:spPr>
          <a:xfrm>
            <a:off x="5259271" y="1506586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0"/>
          <p:cNvSpPr/>
          <p:nvPr/>
        </p:nvSpPr>
        <p:spPr>
          <a:xfrm>
            <a:off x="4934175" y="1497217"/>
            <a:ext cx="1294500" cy="1294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0"/>
          <p:cNvSpPr txBox="1"/>
          <p:nvPr/>
        </p:nvSpPr>
        <p:spPr>
          <a:xfrm>
            <a:off x="4961324" y="2099058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0"/>
          <p:cNvSpPr/>
          <p:nvPr/>
        </p:nvSpPr>
        <p:spPr>
          <a:xfrm flipH="1">
            <a:off x="4934080" y="1497217"/>
            <a:ext cx="1294500" cy="1294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0"/>
          <p:cNvSpPr txBox="1"/>
          <p:nvPr/>
        </p:nvSpPr>
        <p:spPr>
          <a:xfrm>
            <a:off x="4993056" y="1743407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0"/>
          <p:cNvSpPr/>
          <p:nvPr/>
        </p:nvSpPr>
        <p:spPr>
          <a:xfrm flipH="1">
            <a:off x="4934080" y="1497217"/>
            <a:ext cx="1294500" cy="1294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0"/>
          <p:cNvSpPr txBox="1"/>
          <p:nvPr/>
        </p:nvSpPr>
        <p:spPr>
          <a:xfrm>
            <a:off x="5618875" y="2377385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0"/>
          <p:cNvSpPr txBox="1"/>
          <p:nvPr/>
        </p:nvSpPr>
        <p:spPr>
          <a:xfrm>
            <a:off x="5889872" y="2121192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0"/>
          <p:cNvSpPr txBox="1"/>
          <p:nvPr/>
        </p:nvSpPr>
        <p:spPr>
          <a:xfrm>
            <a:off x="5882019" y="1785682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2" name="Google Shape;1172;p80"/>
          <p:cNvGrpSpPr/>
          <p:nvPr/>
        </p:nvGrpSpPr>
        <p:grpSpPr>
          <a:xfrm>
            <a:off x="5543622" y="1536634"/>
            <a:ext cx="72942" cy="634538"/>
            <a:chOff x="996050" y="213293"/>
            <a:chExt cx="93900" cy="909732"/>
          </a:xfrm>
        </p:grpSpPr>
        <p:cxnSp>
          <p:nvCxnSpPr>
            <p:cNvPr id="1173" name="Google Shape;1173;p8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4" name="Google Shape;1174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5" name="Google Shape;117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50" y="3416525"/>
            <a:ext cx="2074801" cy="13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0"/>
          <p:cNvSpPr/>
          <p:nvPr/>
        </p:nvSpPr>
        <p:spPr>
          <a:xfrm>
            <a:off x="2099500" y="4334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0"/>
          <p:cNvSpPr txBox="1"/>
          <p:nvPr>
            <p:ph idx="4294967295" type="subTitle"/>
          </p:nvPr>
        </p:nvSpPr>
        <p:spPr>
          <a:xfrm>
            <a:off x="21450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78" name="Google Shape;1178;p80"/>
          <p:cNvSpPr/>
          <p:nvPr/>
        </p:nvSpPr>
        <p:spPr>
          <a:xfrm>
            <a:off x="1870900" y="4029556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0"/>
          <p:cNvSpPr txBox="1"/>
          <p:nvPr>
            <p:ph idx="4294967295" type="subTitle"/>
          </p:nvPr>
        </p:nvSpPr>
        <p:spPr>
          <a:xfrm>
            <a:off x="1916407" y="40102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0" name="Google Shape;1180;p80"/>
          <p:cNvSpPr/>
          <p:nvPr/>
        </p:nvSpPr>
        <p:spPr>
          <a:xfrm>
            <a:off x="1566100" y="41819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0"/>
          <p:cNvSpPr txBox="1"/>
          <p:nvPr>
            <p:ph idx="4294967295" type="subTitle"/>
          </p:nvPr>
        </p:nvSpPr>
        <p:spPr>
          <a:xfrm>
            <a:off x="1611607" y="41626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2" name="Google Shape;1182;p80"/>
          <p:cNvSpPr/>
          <p:nvPr/>
        </p:nvSpPr>
        <p:spPr>
          <a:xfrm>
            <a:off x="1337500" y="3953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0"/>
          <p:cNvSpPr txBox="1"/>
          <p:nvPr>
            <p:ph idx="4294967295" type="subTitle"/>
          </p:nvPr>
        </p:nvSpPr>
        <p:spPr>
          <a:xfrm>
            <a:off x="1383007" y="3934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4" name="Google Shape;1184;p80"/>
          <p:cNvSpPr/>
          <p:nvPr/>
        </p:nvSpPr>
        <p:spPr>
          <a:xfrm>
            <a:off x="956500" y="4334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0"/>
          <p:cNvSpPr txBox="1"/>
          <p:nvPr>
            <p:ph idx="4294967295" type="subTitle"/>
          </p:nvPr>
        </p:nvSpPr>
        <p:spPr>
          <a:xfrm>
            <a:off x="10020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6" name="Google Shape;1186;p80"/>
          <p:cNvSpPr/>
          <p:nvPr/>
        </p:nvSpPr>
        <p:spPr>
          <a:xfrm>
            <a:off x="1261300" y="4334356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0"/>
          <p:cNvSpPr txBox="1"/>
          <p:nvPr>
            <p:ph idx="4294967295" type="subTitle"/>
          </p:nvPr>
        </p:nvSpPr>
        <p:spPr>
          <a:xfrm>
            <a:off x="13068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88" name="Google Shape;1188;p80"/>
          <p:cNvSpPr/>
          <p:nvPr/>
        </p:nvSpPr>
        <p:spPr>
          <a:xfrm>
            <a:off x="1800237" y="4388405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0"/>
          <p:cNvSpPr txBox="1"/>
          <p:nvPr>
            <p:ph idx="4294967295" type="subTitle"/>
          </p:nvPr>
        </p:nvSpPr>
        <p:spPr>
          <a:xfrm>
            <a:off x="1845745" y="4369122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90" name="Google Shape;1190;p80"/>
          <p:cNvSpPr/>
          <p:nvPr/>
        </p:nvSpPr>
        <p:spPr>
          <a:xfrm>
            <a:off x="532828" y="1709963"/>
            <a:ext cx="995400" cy="9366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0"/>
          <p:cNvSpPr/>
          <p:nvPr/>
        </p:nvSpPr>
        <p:spPr>
          <a:xfrm rot="-5400000">
            <a:off x="1298205" y="2393184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0"/>
          <p:cNvSpPr/>
          <p:nvPr/>
        </p:nvSpPr>
        <p:spPr>
          <a:xfrm rot="-5400000">
            <a:off x="1344967" y="2175083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0"/>
          <p:cNvSpPr/>
          <p:nvPr/>
        </p:nvSpPr>
        <p:spPr>
          <a:xfrm rot="-5400000">
            <a:off x="1397550" y="1961392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0"/>
          <p:cNvSpPr/>
          <p:nvPr/>
        </p:nvSpPr>
        <p:spPr>
          <a:xfrm rot="-5400000">
            <a:off x="672331" y="2463690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0"/>
          <p:cNvSpPr/>
          <p:nvPr/>
        </p:nvSpPr>
        <p:spPr>
          <a:xfrm rot="-5400000">
            <a:off x="1049339" y="2007787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0"/>
          <p:cNvSpPr/>
          <p:nvPr/>
        </p:nvSpPr>
        <p:spPr>
          <a:xfrm rot="-5400000">
            <a:off x="672331" y="2007656"/>
            <a:ext cx="99900" cy="106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0"/>
          <p:cNvSpPr/>
          <p:nvPr/>
        </p:nvSpPr>
        <p:spPr>
          <a:xfrm rot="-5400000">
            <a:off x="1049155" y="2463690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0"/>
          <p:cNvSpPr/>
          <p:nvPr/>
        </p:nvSpPr>
        <p:spPr>
          <a:xfrm rot="-5400000">
            <a:off x="672331" y="2233756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0"/>
          <p:cNvSpPr/>
          <p:nvPr/>
        </p:nvSpPr>
        <p:spPr>
          <a:xfrm rot="-5400000">
            <a:off x="1049155" y="2233756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0"/>
          <p:cNvSpPr/>
          <p:nvPr/>
        </p:nvSpPr>
        <p:spPr>
          <a:xfrm rot="-5400000">
            <a:off x="1099326" y="1798734"/>
            <a:ext cx="699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0"/>
          <p:cNvSpPr/>
          <p:nvPr/>
        </p:nvSpPr>
        <p:spPr>
          <a:xfrm rot="-5400000">
            <a:off x="829112" y="1723879"/>
            <a:ext cx="672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1"/>
          <p:cNvSpPr/>
          <p:nvPr/>
        </p:nvSpPr>
        <p:spPr>
          <a:xfrm rot="7199673">
            <a:off x="7297295" y="1537300"/>
            <a:ext cx="1374826" cy="1374826"/>
          </a:xfrm>
          <a:prstGeom prst="pie">
            <a:avLst>
              <a:gd fmla="val 9034165" name="adj1"/>
              <a:gd fmla="val 1441823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1"/>
          <p:cNvSpPr txBox="1"/>
          <p:nvPr>
            <p:ph idx="1" type="body"/>
          </p:nvPr>
        </p:nvSpPr>
        <p:spPr>
          <a:xfrm>
            <a:off x="324000" y="759300"/>
            <a:ext cx="84960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Starting with the least likely, sort the spinners in order of their likelihood of landing on ‘win’.</a:t>
            </a:r>
            <a:endParaRPr sz="1800"/>
          </a:p>
        </p:txBody>
      </p:sp>
      <p:sp>
        <p:nvSpPr>
          <p:cNvPr id="1208" name="Google Shape;120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209" name="Google Shape;1209;p81"/>
          <p:cNvSpPr/>
          <p:nvPr/>
        </p:nvSpPr>
        <p:spPr>
          <a:xfrm>
            <a:off x="2724431" y="1518214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81"/>
          <p:cNvSpPr/>
          <p:nvPr/>
        </p:nvSpPr>
        <p:spPr>
          <a:xfrm rot="7199673">
            <a:off x="2736690" y="1530497"/>
            <a:ext cx="1374826" cy="137482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1"/>
          <p:cNvSpPr/>
          <p:nvPr/>
        </p:nvSpPr>
        <p:spPr>
          <a:xfrm rot="-7211120">
            <a:off x="2736798" y="1530874"/>
            <a:ext cx="1374705" cy="1374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81"/>
          <p:cNvSpPr/>
          <p:nvPr/>
        </p:nvSpPr>
        <p:spPr>
          <a:xfrm>
            <a:off x="2736704" y="1530537"/>
            <a:ext cx="1374900" cy="13749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81"/>
          <p:cNvSpPr/>
          <p:nvPr/>
        </p:nvSpPr>
        <p:spPr>
          <a:xfrm>
            <a:off x="556525" y="1574256"/>
            <a:ext cx="1399200" cy="1399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1"/>
          <p:cNvSpPr/>
          <p:nvPr/>
        </p:nvSpPr>
        <p:spPr>
          <a:xfrm flipH="1">
            <a:off x="568620" y="1586434"/>
            <a:ext cx="1374900" cy="13749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1"/>
          <p:cNvSpPr/>
          <p:nvPr/>
        </p:nvSpPr>
        <p:spPr>
          <a:xfrm>
            <a:off x="568703" y="1586434"/>
            <a:ext cx="1374900" cy="1374900"/>
          </a:xfrm>
          <a:prstGeom prst="pie">
            <a:avLst>
              <a:gd fmla="val 5387953" name="adj1"/>
              <a:gd fmla="val 1565546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1"/>
          <p:cNvSpPr txBox="1"/>
          <p:nvPr/>
        </p:nvSpPr>
        <p:spPr>
          <a:xfrm>
            <a:off x="680409" y="210001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1"/>
          <p:cNvSpPr txBox="1"/>
          <p:nvPr/>
        </p:nvSpPr>
        <p:spPr>
          <a:xfrm>
            <a:off x="1346175" y="2100012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1"/>
          <p:cNvSpPr txBox="1"/>
          <p:nvPr/>
        </p:nvSpPr>
        <p:spPr>
          <a:xfrm>
            <a:off x="3514068" y="1855383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1"/>
          <p:cNvSpPr txBox="1"/>
          <p:nvPr/>
        </p:nvSpPr>
        <p:spPr>
          <a:xfrm>
            <a:off x="3199752" y="2358300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1"/>
          <p:cNvSpPr txBox="1"/>
          <p:nvPr/>
        </p:nvSpPr>
        <p:spPr>
          <a:xfrm>
            <a:off x="2822546" y="1855383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1" name="Google Shape;1221;p81"/>
          <p:cNvGrpSpPr/>
          <p:nvPr/>
        </p:nvGrpSpPr>
        <p:grpSpPr>
          <a:xfrm>
            <a:off x="3383859" y="1588147"/>
            <a:ext cx="77467" cy="674020"/>
            <a:chOff x="996050" y="213293"/>
            <a:chExt cx="93900" cy="909732"/>
          </a:xfrm>
        </p:grpSpPr>
        <p:cxnSp>
          <p:nvCxnSpPr>
            <p:cNvPr id="1222" name="Google Shape;1222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3" name="Google Shape;1223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4" name="Google Shape;1224;p81"/>
          <p:cNvGrpSpPr/>
          <p:nvPr/>
        </p:nvGrpSpPr>
        <p:grpSpPr>
          <a:xfrm>
            <a:off x="1215954" y="1620376"/>
            <a:ext cx="77467" cy="674020"/>
            <a:chOff x="996050" y="213293"/>
            <a:chExt cx="93900" cy="909732"/>
          </a:xfrm>
        </p:grpSpPr>
        <p:cxnSp>
          <p:nvCxnSpPr>
            <p:cNvPr id="1225" name="Google Shape;1225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6" name="Google Shape;1226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7" name="Google Shape;1227;p81"/>
          <p:cNvSpPr/>
          <p:nvPr/>
        </p:nvSpPr>
        <p:spPr>
          <a:xfrm>
            <a:off x="7285035" y="152501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1"/>
          <p:cNvSpPr/>
          <p:nvPr/>
        </p:nvSpPr>
        <p:spPr>
          <a:xfrm rot="-7211120">
            <a:off x="7297403" y="1537677"/>
            <a:ext cx="1374705" cy="1374446"/>
          </a:xfrm>
          <a:prstGeom prst="pie">
            <a:avLst>
              <a:gd fmla="val 7194289" name="adj1"/>
              <a:gd fmla="val 184224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81"/>
          <p:cNvSpPr/>
          <p:nvPr/>
        </p:nvSpPr>
        <p:spPr>
          <a:xfrm>
            <a:off x="7297309" y="1537340"/>
            <a:ext cx="1374900" cy="1374900"/>
          </a:xfrm>
          <a:prstGeom prst="pie">
            <a:avLst>
              <a:gd fmla="val 16233541" name="adj1"/>
              <a:gd fmla="val 1879777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1"/>
          <p:cNvSpPr txBox="1"/>
          <p:nvPr/>
        </p:nvSpPr>
        <p:spPr>
          <a:xfrm>
            <a:off x="8148106" y="1854077"/>
            <a:ext cx="68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1"/>
          <p:cNvSpPr txBox="1"/>
          <p:nvPr/>
        </p:nvSpPr>
        <p:spPr>
          <a:xfrm>
            <a:off x="7508887" y="2239384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1"/>
          <p:cNvSpPr txBox="1"/>
          <p:nvPr/>
        </p:nvSpPr>
        <p:spPr>
          <a:xfrm>
            <a:off x="7959760" y="1510928"/>
            <a:ext cx="68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3" name="Google Shape;1233;p81"/>
          <p:cNvGrpSpPr/>
          <p:nvPr/>
        </p:nvGrpSpPr>
        <p:grpSpPr>
          <a:xfrm>
            <a:off x="7944464" y="1594950"/>
            <a:ext cx="77467" cy="674020"/>
            <a:chOff x="996050" y="213293"/>
            <a:chExt cx="93900" cy="909732"/>
          </a:xfrm>
        </p:grpSpPr>
        <p:cxnSp>
          <p:nvCxnSpPr>
            <p:cNvPr id="1234" name="Google Shape;1234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5" name="Google Shape;1235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6" name="Google Shape;1236;p81"/>
          <p:cNvSpPr/>
          <p:nvPr/>
        </p:nvSpPr>
        <p:spPr>
          <a:xfrm>
            <a:off x="1589043" y="300712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1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1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1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1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1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1"/>
          <p:cNvSpPr txBox="1"/>
          <p:nvPr/>
        </p:nvSpPr>
        <p:spPr>
          <a:xfrm>
            <a:off x="1785333" y="2996879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1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1"/>
          <p:cNvSpPr txBox="1"/>
          <p:nvPr/>
        </p:nvSpPr>
        <p:spPr>
          <a:xfrm>
            <a:off x="1587621" y="3641011"/>
            <a:ext cx="6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1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1"/>
          <p:cNvSpPr txBox="1"/>
          <p:nvPr/>
        </p:nvSpPr>
        <p:spPr>
          <a:xfrm>
            <a:off x="1610295" y="336124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1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1"/>
          <p:cNvSpPr txBox="1"/>
          <p:nvPr/>
        </p:nvSpPr>
        <p:spPr>
          <a:xfrm>
            <a:off x="2220300" y="3972952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1"/>
          <p:cNvSpPr txBox="1"/>
          <p:nvPr/>
        </p:nvSpPr>
        <p:spPr>
          <a:xfrm>
            <a:off x="2443192" y="3651376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1"/>
          <p:cNvSpPr txBox="1"/>
          <p:nvPr/>
        </p:nvSpPr>
        <p:spPr>
          <a:xfrm>
            <a:off x="2448971" y="333859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1" name="Google Shape;1251;p81"/>
          <p:cNvGrpSpPr/>
          <p:nvPr/>
        </p:nvGrpSpPr>
        <p:grpSpPr>
          <a:xfrm>
            <a:off x="2248472" y="3061184"/>
            <a:ext cx="77468" cy="674020"/>
            <a:chOff x="996050" y="213293"/>
            <a:chExt cx="93900" cy="909732"/>
          </a:xfrm>
        </p:grpSpPr>
        <p:cxnSp>
          <p:nvCxnSpPr>
            <p:cNvPr id="1252" name="Google Shape;1252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3" name="Google Shape;1253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4" name="Google Shape;1254;p81"/>
          <p:cNvSpPr/>
          <p:nvPr/>
        </p:nvSpPr>
        <p:spPr>
          <a:xfrm>
            <a:off x="4928533" y="1518214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1"/>
          <p:cNvSpPr/>
          <p:nvPr/>
        </p:nvSpPr>
        <p:spPr>
          <a:xfrm rot="8649335">
            <a:off x="4941078" y="1530796"/>
            <a:ext cx="1374520" cy="137452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81"/>
          <p:cNvSpPr/>
          <p:nvPr/>
        </p:nvSpPr>
        <p:spPr>
          <a:xfrm rot="-8628924">
            <a:off x="4941031" y="1530790"/>
            <a:ext cx="1374518" cy="1374518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1"/>
          <p:cNvSpPr/>
          <p:nvPr/>
        </p:nvSpPr>
        <p:spPr>
          <a:xfrm rot="-4309798">
            <a:off x="4940954" y="1530620"/>
            <a:ext cx="1374752" cy="1374752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1"/>
          <p:cNvSpPr/>
          <p:nvPr/>
        </p:nvSpPr>
        <p:spPr>
          <a:xfrm>
            <a:off x="4940942" y="1530735"/>
            <a:ext cx="1374600" cy="13746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1"/>
          <p:cNvSpPr txBox="1"/>
          <p:nvPr/>
        </p:nvSpPr>
        <p:spPr>
          <a:xfrm>
            <a:off x="5357762" y="2504606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1"/>
          <p:cNvSpPr/>
          <p:nvPr/>
        </p:nvSpPr>
        <p:spPr>
          <a:xfrm rot="4312883">
            <a:off x="4940804" y="1530322"/>
            <a:ext cx="1374663" cy="1374663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1"/>
          <p:cNvSpPr txBox="1"/>
          <p:nvPr/>
        </p:nvSpPr>
        <p:spPr>
          <a:xfrm>
            <a:off x="5056383" y="1680552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1"/>
          <p:cNvSpPr txBox="1"/>
          <p:nvPr/>
        </p:nvSpPr>
        <p:spPr>
          <a:xfrm>
            <a:off x="5668068" y="1680558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1"/>
          <p:cNvSpPr txBox="1"/>
          <p:nvPr/>
        </p:nvSpPr>
        <p:spPr>
          <a:xfrm>
            <a:off x="5781038" y="2169715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1"/>
          <p:cNvSpPr txBox="1"/>
          <p:nvPr/>
        </p:nvSpPr>
        <p:spPr>
          <a:xfrm>
            <a:off x="4989561" y="216969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5" name="Google Shape;1265;p81"/>
          <p:cNvGrpSpPr/>
          <p:nvPr/>
        </p:nvGrpSpPr>
        <p:grpSpPr>
          <a:xfrm>
            <a:off x="5587962" y="1564334"/>
            <a:ext cx="77468" cy="674020"/>
            <a:chOff x="996050" y="213293"/>
            <a:chExt cx="93900" cy="909732"/>
          </a:xfrm>
        </p:grpSpPr>
        <p:cxnSp>
          <p:nvCxnSpPr>
            <p:cNvPr id="1266" name="Google Shape;1266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7" name="Google Shape;1267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8" name="Google Shape;1268;p81"/>
          <p:cNvSpPr/>
          <p:nvPr/>
        </p:nvSpPr>
        <p:spPr>
          <a:xfrm>
            <a:off x="3896015" y="300712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1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1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1"/>
          <p:cNvSpPr txBox="1"/>
          <p:nvPr/>
        </p:nvSpPr>
        <p:spPr>
          <a:xfrm>
            <a:off x="4129550" y="396670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1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1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81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1"/>
          <p:cNvSpPr txBox="1"/>
          <p:nvPr/>
        </p:nvSpPr>
        <p:spPr>
          <a:xfrm>
            <a:off x="4097074" y="3005656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1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1"/>
          <p:cNvSpPr txBox="1"/>
          <p:nvPr/>
        </p:nvSpPr>
        <p:spPr>
          <a:xfrm>
            <a:off x="3889604" y="364225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1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1"/>
          <p:cNvSpPr txBox="1"/>
          <p:nvPr/>
        </p:nvSpPr>
        <p:spPr>
          <a:xfrm>
            <a:off x="3897851" y="331584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1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81"/>
          <p:cNvSpPr txBox="1"/>
          <p:nvPr/>
        </p:nvSpPr>
        <p:spPr>
          <a:xfrm>
            <a:off x="4550847" y="3969830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4750167" y="3651376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4771354" y="3343674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4" name="Google Shape;1284;p81"/>
          <p:cNvGrpSpPr/>
          <p:nvPr/>
        </p:nvGrpSpPr>
        <p:grpSpPr>
          <a:xfrm>
            <a:off x="4555443" y="3061184"/>
            <a:ext cx="77468" cy="674020"/>
            <a:chOff x="996050" y="213293"/>
            <a:chExt cx="93900" cy="909732"/>
          </a:xfrm>
        </p:grpSpPr>
        <p:cxnSp>
          <p:nvCxnSpPr>
            <p:cNvPr id="1285" name="Google Shape;1285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6" name="Google Shape;1286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7" name="Google Shape;1287;p81"/>
          <p:cNvSpPr/>
          <p:nvPr/>
        </p:nvSpPr>
        <p:spPr>
          <a:xfrm>
            <a:off x="6086783" y="3007126"/>
            <a:ext cx="1399200" cy="1399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81"/>
          <p:cNvSpPr/>
          <p:nvPr/>
        </p:nvSpPr>
        <p:spPr>
          <a:xfrm flipH="1">
            <a:off x="6098877" y="3019304"/>
            <a:ext cx="1374900" cy="13749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81"/>
          <p:cNvSpPr/>
          <p:nvPr/>
        </p:nvSpPr>
        <p:spPr>
          <a:xfrm>
            <a:off x="6098960" y="3019304"/>
            <a:ext cx="1374900" cy="1374900"/>
          </a:xfrm>
          <a:prstGeom prst="pie">
            <a:avLst>
              <a:gd fmla="val 5387953" name="adj1"/>
              <a:gd fmla="val 16641225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81"/>
          <p:cNvSpPr txBox="1"/>
          <p:nvPr/>
        </p:nvSpPr>
        <p:spPr>
          <a:xfrm>
            <a:off x="6210671" y="3532884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1"/>
          <p:cNvSpPr txBox="1"/>
          <p:nvPr/>
        </p:nvSpPr>
        <p:spPr>
          <a:xfrm>
            <a:off x="6876409" y="3532884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1"/>
          <p:cNvGrpSpPr/>
          <p:nvPr/>
        </p:nvGrpSpPr>
        <p:grpSpPr>
          <a:xfrm>
            <a:off x="6746211" y="3053247"/>
            <a:ext cx="77467" cy="674020"/>
            <a:chOff x="996050" y="213293"/>
            <a:chExt cx="93900" cy="909732"/>
          </a:xfrm>
        </p:grpSpPr>
        <p:cxnSp>
          <p:nvCxnSpPr>
            <p:cNvPr id="1293" name="Google Shape;1293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4" name="Google Shape;1294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81"/>
          <p:cNvSpPr txBox="1"/>
          <p:nvPr/>
        </p:nvSpPr>
        <p:spPr>
          <a:xfrm>
            <a:off x="2251009" y="303604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1"/>
          <p:cNvSpPr txBox="1"/>
          <p:nvPr>
            <p:ph idx="1" type="body"/>
          </p:nvPr>
        </p:nvSpPr>
        <p:spPr>
          <a:xfrm>
            <a:off x="1181815" y="129833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97" name="Google Shape;1297;p81"/>
          <p:cNvSpPr txBox="1"/>
          <p:nvPr>
            <p:ph idx="1" type="body"/>
          </p:nvPr>
        </p:nvSpPr>
        <p:spPr>
          <a:xfrm>
            <a:off x="3360331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98" name="Google Shape;1298;p81"/>
          <p:cNvSpPr txBox="1"/>
          <p:nvPr>
            <p:ph idx="1" type="body"/>
          </p:nvPr>
        </p:nvSpPr>
        <p:spPr>
          <a:xfrm>
            <a:off x="5552718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299" name="Google Shape;1299;p81"/>
          <p:cNvSpPr txBox="1"/>
          <p:nvPr>
            <p:ph idx="1" type="body"/>
          </p:nvPr>
        </p:nvSpPr>
        <p:spPr>
          <a:xfrm>
            <a:off x="7897505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300" name="Google Shape;1300;p81"/>
          <p:cNvSpPr txBox="1"/>
          <p:nvPr>
            <p:ph idx="1" type="body"/>
          </p:nvPr>
        </p:nvSpPr>
        <p:spPr>
          <a:xfrm>
            <a:off x="2231773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301" name="Google Shape;1301;p81"/>
          <p:cNvSpPr txBox="1"/>
          <p:nvPr>
            <p:ph idx="1" type="body"/>
          </p:nvPr>
        </p:nvSpPr>
        <p:spPr>
          <a:xfrm>
            <a:off x="4531378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302" name="Google Shape;1302;p81"/>
          <p:cNvSpPr txBox="1"/>
          <p:nvPr>
            <p:ph idx="1" type="body"/>
          </p:nvPr>
        </p:nvSpPr>
        <p:spPr>
          <a:xfrm>
            <a:off x="6717233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303" name="Google Shape;1303;p81"/>
          <p:cNvSpPr txBox="1"/>
          <p:nvPr/>
        </p:nvSpPr>
        <p:spPr>
          <a:xfrm>
            <a:off x="1793934" y="396670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1"/>
          <p:cNvSpPr txBox="1"/>
          <p:nvPr/>
        </p:nvSpPr>
        <p:spPr>
          <a:xfrm>
            <a:off x="4577326" y="2984625"/>
            <a:ext cx="6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2"/>
          <p:cNvSpPr txBox="1"/>
          <p:nvPr>
            <p:ph idx="1" type="body"/>
          </p:nvPr>
        </p:nvSpPr>
        <p:spPr>
          <a:xfrm>
            <a:off x="324000" y="759300"/>
            <a:ext cx="8486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For each scenario, tick the outcome or event that is most likely to happen.</a:t>
            </a:r>
            <a:endParaRPr sz="1800"/>
          </a:p>
        </p:txBody>
      </p:sp>
      <p:sp>
        <p:nvSpPr>
          <p:cNvPr id="1310" name="Google Shape;1310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311" name="Google Shape;1311;p82"/>
          <p:cNvSpPr txBox="1"/>
          <p:nvPr>
            <p:ph idx="1" type="body"/>
          </p:nvPr>
        </p:nvSpPr>
        <p:spPr>
          <a:xfrm>
            <a:off x="324000" y="1140300"/>
            <a:ext cx="39960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rolling a regular six-sided dice </a:t>
            </a:r>
            <a:endParaRPr sz="1800"/>
          </a:p>
        </p:txBody>
      </p:sp>
      <p:sp>
        <p:nvSpPr>
          <p:cNvPr id="1312" name="Google Shape;1312;p82"/>
          <p:cNvSpPr txBox="1"/>
          <p:nvPr>
            <p:ph idx="1" type="body"/>
          </p:nvPr>
        </p:nvSpPr>
        <p:spPr>
          <a:xfrm>
            <a:off x="1832700" y="1700250"/>
            <a:ext cx="23370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rolling a multiple of 2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rolling a multiple of 3</a:t>
            </a:r>
            <a:endParaRPr sz="1800"/>
          </a:p>
        </p:txBody>
      </p:sp>
      <p:sp>
        <p:nvSpPr>
          <p:cNvPr id="1313" name="Google Shape;1313;p82"/>
          <p:cNvSpPr txBox="1"/>
          <p:nvPr>
            <p:ph idx="1" type="body"/>
          </p:nvPr>
        </p:nvSpPr>
        <p:spPr>
          <a:xfrm>
            <a:off x="4819800" y="1140300"/>
            <a:ext cx="34173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spinning the spinner </a:t>
            </a:r>
            <a:endParaRPr sz="1800"/>
          </a:p>
        </p:txBody>
      </p:sp>
      <p:sp>
        <p:nvSpPr>
          <p:cNvPr id="1314" name="Google Shape;1314;p82"/>
          <p:cNvSpPr txBox="1"/>
          <p:nvPr>
            <p:ph idx="1" type="body"/>
          </p:nvPr>
        </p:nvSpPr>
        <p:spPr>
          <a:xfrm>
            <a:off x="6256800" y="1700250"/>
            <a:ext cx="25632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lands on a factor of 8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lands on a factor of 12</a:t>
            </a:r>
            <a:endParaRPr sz="1800"/>
          </a:p>
        </p:txBody>
      </p:sp>
      <p:sp>
        <p:nvSpPr>
          <p:cNvPr id="1315" name="Google Shape;1315;p82"/>
          <p:cNvSpPr txBox="1"/>
          <p:nvPr>
            <p:ph idx="1" type="body"/>
          </p:nvPr>
        </p:nvSpPr>
        <p:spPr>
          <a:xfrm>
            <a:off x="324000" y="3121500"/>
            <a:ext cx="42027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picking a counter from the bag</a:t>
            </a:r>
            <a:endParaRPr sz="1800"/>
          </a:p>
        </p:txBody>
      </p:sp>
      <p:sp>
        <p:nvSpPr>
          <p:cNvPr id="1316" name="Google Shape;1316;p82"/>
          <p:cNvSpPr txBox="1"/>
          <p:nvPr>
            <p:ph idx="1" type="body"/>
          </p:nvPr>
        </p:nvSpPr>
        <p:spPr>
          <a:xfrm>
            <a:off x="2729850" y="3620950"/>
            <a:ext cx="1408200" cy="10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picking A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picking B</a:t>
            </a:r>
            <a:endParaRPr sz="1800"/>
          </a:p>
        </p:txBody>
      </p:sp>
      <p:sp>
        <p:nvSpPr>
          <p:cNvPr id="1317" name="Google Shape;1317;p82"/>
          <p:cNvSpPr txBox="1"/>
          <p:nvPr>
            <p:ph idx="1" type="body"/>
          </p:nvPr>
        </p:nvSpPr>
        <p:spPr>
          <a:xfrm>
            <a:off x="4819800" y="3121500"/>
            <a:ext cx="39903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choosing a letter at random from the word MATHEMATICS</a:t>
            </a:r>
            <a:endParaRPr sz="1800"/>
          </a:p>
        </p:txBody>
      </p:sp>
      <p:sp>
        <p:nvSpPr>
          <p:cNvPr id="1318" name="Google Shape;1318;p82"/>
          <p:cNvSpPr txBox="1"/>
          <p:nvPr>
            <p:ph idx="1" type="body"/>
          </p:nvPr>
        </p:nvSpPr>
        <p:spPr>
          <a:xfrm>
            <a:off x="5129250" y="3794575"/>
            <a:ext cx="2689200" cy="8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choosing a vowel</a:t>
            </a:r>
            <a:br>
              <a:rPr lang="en-GB" sz="1800"/>
            </a:br>
            <a:r>
              <a:rPr lang="en-GB" sz="1800"/>
              <a:t>or</a:t>
            </a:r>
            <a:br>
              <a:rPr lang="en-GB" sz="1800"/>
            </a:br>
            <a:r>
              <a:rPr lang="en-GB" sz="1800"/>
              <a:t>choosing a consonant</a:t>
            </a:r>
            <a:endParaRPr sz="1800"/>
          </a:p>
        </p:txBody>
      </p:sp>
      <p:sp>
        <p:nvSpPr>
          <p:cNvPr id="1319" name="Google Shape;1319;p82"/>
          <p:cNvSpPr/>
          <p:nvPr/>
        </p:nvSpPr>
        <p:spPr>
          <a:xfrm>
            <a:off x="4846509" y="1485752"/>
            <a:ext cx="1317300" cy="1317300"/>
          </a:xfrm>
          <a:prstGeom prst="ellips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2"/>
          <p:cNvSpPr/>
          <p:nvPr/>
        </p:nvSpPr>
        <p:spPr>
          <a:xfrm flipH="1">
            <a:off x="4857880" y="1497217"/>
            <a:ext cx="1294500" cy="1294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82"/>
          <p:cNvSpPr/>
          <p:nvPr/>
        </p:nvSpPr>
        <p:spPr>
          <a:xfrm>
            <a:off x="4857975" y="1497217"/>
            <a:ext cx="1294500" cy="1294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2"/>
          <p:cNvSpPr txBox="1"/>
          <p:nvPr/>
        </p:nvSpPr>
        <p:spPr>
          <a:xfrm>
            <a:off x="5153076" y="2378067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2"/>
          <p:cNvSpPr/>
          <p:nvPr/>
        </p:nvSpPr>
        <p:spPr>
          <a:xfrm>
            <a:off x="4857975" y="1497217"/>
            <a:ext cx="1294500" cy="1294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2"/>
          <p:cNvSpPr/>
          <p:nvPr/>
        </p:nvSpPr>
        <p:spPr>
          <a:xfrm flipH="1">
            <a:off x="4857880" y="1497217"/>
            <a:ext cx="1294500" cy="1294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2"/>
          <p:cNvSpPr txBox="1"/>
          <p:nvPr/>
        </p:nvSpPr>
        <p:spPr>
          <a:xfrm>
            <a:off x="5581887" y="1505991"/>
            <a:ext cx="2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2"/>
          <p:cNvSpPr/>
          <p:nvPr/>
        </p:nvSpPr>
        <p:spPr>
          <a:xfrm>
            <a:off x="4857975" y="1497217"/>
            <a:ext cx="1294500" cy="1294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2"/>
          <p:cNvSpPr txBox="1"/>
          <p:nvPr/>
        </p:nvSpPr>
        <p:spPr>
          <a:xfrm>
            <a:off x="5183071" y="1506586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2"/>
          <p:cNvSpPr/>
          <p:nvPr/>
        </p:nvSpPr>
        <p:spPr>
          <a:xfrm>
            <a:off x="4857975" y="1497217"/>
            <a:ext cx="1294500" cy="1294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2"/>
          <p:cNvSpPr txBox="1"/>
          <p:nvPr/>
        </p:nvSpPr>
        <p:spPr>
          <a:xfrm>
            <a:off x="4885124" y="2099058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2"/>
          <p:cNvSpPr/>
          <p:nvPr/>
        </p:nvSpPr>
        <p:spPr>
          <a:xfrm flipH="1">
            <a:off x="4857880" y="1497217"/>
            <a:ext cx="1294500" cy="1294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82"/>
          <p:cNvSpPr txBox="1"/>
          <p:nvPr/>
        </p:nvSpPr>
        <p:spPr>
          <a:xfrm>
            <a:off x="4916856" y="1743407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2"/>
          <p:cNvSpPr/>
          <p:nvPr/>
        </p:nvSpPr>
        <p:spPr>
          <a:xfrm flipH="1">
            <a:off x="4857880" y="1497217"/>
            <a:ext cx="1294500" cy="1294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82"/>
          <p:cNvSpPr txBox="1"/>
          <p:nvPr/>
        </p:nvSpPr>
        <p:spPr>
          <a:xfrm>
            <a:off x="5542675" y="2377385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2"/>
          <p:cNvSpPr txBox="1"/>
          <p:nvPr/>
        </p:nvSpPr>
        <p:spPr>
          <a:xfrm>
            <a:off x="5813672" y="2121192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2"/>
          <p:cNvSpPr txBox="1"/>
          <p:nvPr/>
        </p:nvSpPr>
        <p:spPr>
          <a:xfrm>
            <a:off x="5805819" y="1785682"/>
            <a:ext cx="4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6" name="Google Shape;1336;p82"/>
          <p:cNvGrpSpPr/>
          <p:nvPr/>
        </p:nvGrpSpPr>
        <p:grpSpPr>
          <a:xfrm>
            <a:off x="5467422" y="1536634"/>
            <a:ext cx="72942" cy="634538"/>
            <a:chOff x="996050" y="213293"/>
            <a:chExt cx="93900" cy="909732"/>
          </a:xfrm>
        </p:grpSpPr>
        <p:cxnSp>
          <p:nvCxnSpPr>
            <p:cNvPr id="1337" name="Google Shape;1337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8" name="Google Shape;1338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39" name="Google Shape;133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50" y="3416525"/>
            <a:ext cx="2074801" cy="13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82"/>
          <p:cNvSpPr/>
          <p:nvPr/>
        </p:nvSpPr>
        <p:spPr>
          <a:xfrm>
            <a:off x="2099500" y="4334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2"/>
          <p:cNvSpPr txBox="1"/>
          <p:nvPr>
            <p:ph idx="4294967295" type="subTitle"/>
          </p:nvPr>
        </p:nvSpPr>
        <p:spPr>
          <a:xfrm>
            <a:off x="21450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42" name="Google Shape;1342;p82"/>
          <p:cNvSpPr/>
          <p:nvPr/>
        </p:nvSpPr>
        <p:spPr>
          <a:xfrm>
            <a:off x="1870900" y="4029556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2"/>
          <p:cNvSpPr txBox="1"/>
          <p:nvPr>
            <p:ph idx="4294967295" type="subTitle"/>
          </p:nvPr>
        </p:nvSpPr>
        <p:spPr>
          <a:xfrm>
            <a:off x="1916407" y="40102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44" name="Google Shape;1344;p82"/>
          <p:cNvSpPr/>
          <p:nvPr/>
        </p:nvSpPr>
        <p:spPr>
          <a:xfrm>
            <a:off x="1566100" y="41819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2"/>
          <p:cNvSpPr txBox="1"/>
          <p:nvPr>
            <p:ph idx="4294967295" type="subTitle"/>
          </p:nvPr>
        </p:nvSpPr>
        <p:spPr>
          <a:xfrm>
            <a:off x="1611607" y="41626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46" name="Google Shape;1346;p82"/>
          <p:cNvSpPr/>
          <p:nvPr/>
        </p:nvSpPr>
        <p:spPr>
          <a:xfrm>
            <a:off x="1337500" y="3953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2"/>
          <p:cNvSpPr txBox="1"/>
          <p:nvPr>
            <p:ph idx="4294967295" type="subTitle"/>
          </p:nvPr>
        </p:nvSpPr>
        <p:spPr>
          <a:xfrm>
            <a:off x="1383007" y="3934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48" name="Google Shape;1348;p82"/>
          <p:cNvSpPr/>
          <p:nvPr/>
        </p:nvSpPr>
        <p:spPr>
          <a:xfrm>
            <a:off x="956500" y="4334356"/>
            <a:ext cx="230700" cy="2307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2"/>
          <p:cNvSpPr txBox="1"/>
          <p:nvPr>
            <p:ph idx="4294967295" type="subTitle"/>
          </p:nvPr>
        </p:nvSpPr>
        <p:spPr>
          <a:xfrm>
            <a:off x="10020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B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50" name="Google Shape;1350;p82"/>
          <p:cNvSpPr/>
          <p:nvPr/>
        </p:nvSpPr>
        <p:spPr>
          <a:xfrm>
            <a:off x="1261300" y="4334356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2"/>
          <p:cNvSpPr txBox="1"/>
          <p:nvPr>
            <p:ph idx="4294967295" type="subTitle"/>
          </p:nvPr>
        </p:nvSpPr>
        <p:spPr>
          <a:xfrm>
            <a:off x="1306807" y="4315073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52" name="Google Shape;1352;p82"/>
          <p:cNvSpPr/>
          <p:nvPr/>
        </p:nvSpPr>
        <p:spPr>
          <a:xfrm>
            <a:off x="1800237" y="4388405"/>
            <a:ext cx="230700" cy="230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2"/>
          <p:cNvSpPr txBox="1"/>
          <p:nvPr>
            <p:ph idx="4294967295" type="subTitle"/>
          </p:nvPr>
        </p:nvSpPr>
        <p:spPr>
          <a:xfrm>
            <a:off x="1845745" y="4369122"/>
            <a:ext cx="130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354" name="Google Shape;135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325" y="1688969"/>
            <a:ext cx="311675" cy="32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8505" y="2436277"/>
            <a:ext cx="311675" cy="32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8021" y="4184052"/>
            <a:ext cx="311675" cy="32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769" y="4319552"/>
            <a:ext cx="311675" cy="329856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82"/>
          <p:cNvSpPr/>
          <p:nvPr/>
        </p:nvSpPr>
        <p:spPr>
          <a:xfrm>
            <a:off x="441900" y="1663500"/>
            <a:ext cx="995400" cy="9366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2"/>
          <p:cNvSpPr/>
          <p:nvPr/>
        </p:nvSpPr>
        <p:spPr>
          <a:xfrm rot="-5400000">
            <a:off x="1207277" y="2346722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2"/>
          <p:cNvSpPr/>
          <p:nvPr/>
        </p:nvSpPr>
        <p:spPr>
          <a:xfrm rot="-5400000">
            <a:off x="1254039" y="2128621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2"/>
          <p:cNvSpPr/>
          <p:nvPr/>
        </p:nvSpPr>
        <p:spPr>
          <a:xfrm rot="-5400000">
            <a:off x="1306622" y="1914929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2"/>
          <p:cNvSpPr/>
          <p:nvPr/>
        </p:nvSpPr>
        <p:spPr>
          <a:xfrm rot="-5400000">
            <a:off x="581403" y="2417228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2"/>
          <p:cNvSpPr/>
          <p:nvPr/>
        </p:nvSpPr>
        <p:spPr>
          <a:xfrm rot="-5400000">
            <a:off x="958410" y="1961324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2"/>
          <p:cNvSpPr/>
          <p:nvPr/>
        </p:nvSpPr>
        <p:spPr>
          <a:xfrm rot="-5400000">
            <a:off x="581403" y="1961193"/>
            <a:ext cx="99900" cy="106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2"/>
          <p:cNvSpPr/>
          <p:nvPr/>
        </p:nvSpPr>
        <p:spPr>
          <a:xfrm rot="-5400000">
            <a:off x="958227" y="2417228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2"/>
          <p:cNvSpPr/>
          <p:nvPr/>
        </p:nvSpPr>
        <p:spPr>
          <a:xfrm rot="-5400000">
            <a:off x="581403" y="2187294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2"/>
          <p:cNvSpPr/>
          <p:nvPr/>
        </p:nvSpPr>
        <p:spPr>
          <a:xfrm rot="-5400000">
            <a:off x="958227" y="2187294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2"/>
          <p:cNvSpPr/>
          <p:nvPr/>
        </p:nvSpPr>
        <p:spPr>
          <a:xfrm rot="-5400000">
            <a:off x="1008398" y="1752272"/>
            <a:ext cx="699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2"/>
          <p:cNvSpPr/>
          <p:nvPr/>
        </p:nvSpPr>
        <p:spPr>
          <a:xfrm rot="-5400000">
            <a:off x="738184" y="1677417"/>
            <a:ext cx="672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3"/>
          <p:cNvSpPr/>
          <p:nvPr/>
        </p:nvSpPr>
        <p:spPr>
          <a:xfrm rot="7199673">
            <a:off x="7297295" y="1537300"/>
            <a:ext cx="1374826" cy="1374826"/>
          </a:xfrm>
          <a:prstGeom prst="pie">
            <a:avLst>
              <a:gd fmla="val 9034165" name="adj1"/>
              <a:gd fmla="val 1441823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8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Starting with the least likely, sort the spinners in order of their likelihood of landing on ‘win’.</a:t>
            </a:r>
            <a:endParaRPr sz="1800"/>
          </a:p>
        </p:txBody>
      </p:sp>
      <p:sp>
        <p:nvSpPr>
          <p:cNvPr id="1376" name="Google Shape;1376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which outcome is more likely to happen</a:t>
            </a:r>
            <a:endParaRPr/>
          </a:p>
        </p:txBody>
      </p:sp>
      <p:sp>
        <p:nvSpPr>
          <p:cNvPr id="1377" name="Google Shape;1377;p83"/>
          <p:cNvSpPr/>
          <p:nvPr/>
        </p:nvSpPr>
        <p:spPr>
          <a:xfrm>
            <a:off x="2724431" y="1518214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83"/>
          <p:cNvSpPr/>
          <p:nvPr/>
        </p:nvSpPr>
        <p:spPr>
          <a:xfrm rot="7199673">
            <a:off x="2736690" y="1530497"/>
            <a:ext cx="1374826" cy="137482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83"/>
          <p:cNvSpPr/>
          <p:nvPr/>
        </p:nvSpPr>
        <p:spPr>
          <a:xfrm rot="-7211120">
            <a:off x="2736798" y="1530874"/>
            <a:ext cx="1374705" cy="1374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83"/>
          <p:cNvSpPr/>
          <p:nvPr/>
        </p:nvSpPr>
        <p:spPr>
          <a:xfrm>
            <a:off x="2736704" y="1530537"/>
            <a:ext cx="1374900" cy="13749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3"/>
          <p:cNvSpPr/>
          <p:nvPr/>
        </p:nvSpPr>
        <p:spPr>
          <a:xfrm>
            <a:off x="556525" y="1574256"/>
            <a:ext cx="1399200" cy="1399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3"/>
          <p:cNvSpPr/>
          <p:nvPr/>
        </p:nvSpPr>
        <p:spPr>
          <a:xfrm flipH="1">
            <a:off x="568620" y="1586434"/>
            <a:ext cx="1374900" cy="13749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83"/>
          <p:cNvSpPr/>
          <p:nvPr/>
        </p:nvSpPr>
        <p:spPr>
          <a:xfrm>
            <a:off x="568703" y="1586434"/>
            <a:ext cx="1374900" cy="1374900"/>
          </a:xfrm>
          <a:prstGeom prst="pie">
            <a:avLst>
              <a:gd fmla="val 5387953" name="adj1"/>
              <a:gd fmla="val 1565546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83"/>
          <p:cNvSpPr txBox="1"/>
          <p:nvPr/>
        </p:nvSpPr>
        <p:spPr>
          <a:xfrm>
            <a:off x="680409" y="210001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3"/>
          <p:cNvSpPr txBox="1"/>
          <p:nvPr/>
        </p:nvSpPr>
        <p:spPr>
          <a:xfrm>
            <a:off x="1346175" y="2100012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3"/>
          <p:cNvSpPr txBox="1"/>
          <p:nvPr/>
        </p:nvSpPr>
        <p:spPr>
          <a:xfrm>
            <a:off x="3514068" y="1855383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3"/>
          <p:cNvSpPr txBox="1"/>
          <p:nvPr/>
        </p:nvSpPr>
        <p:spPr>
          <a:xfrm>
            <a:off x="3199752" y="2358300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3"/>
          <p:cNvSpPr txBox="1"/>
          <p:nvPr/>
        </p:nvSpPr>
        <p:spPr>
          <a:xfrm>
            <a:off x="2822546" y="1855383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9" name="Google Shape;1389;p83"/>
          <p:cNvGrpSpPr/>
          <p:nvPr/>
        </p:nvGrpSpPr>
        <p:grpSpPr>
          <a:xfrm>
            <a:off x="3383859" y="1588147"/>
            <a:ext cx="77467" cy="674020"/>
            <a:chOff x="996050" y="213293"/>
            <a:chExt cx="93900" cy="909732"/>
          </a:xfrm>
        </p:grpSpPr>
        <p:cxnSp>
          <p:nvCxnSpPr>
            <p:cNvPr id="1390" name="Google Shape;1390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1" name="Google Shape;1391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2" name="Google Shape;1392;p83"/>
          <p:cNvGrpSpPr/>
          <p:nvPr/>
        </p:nvGrpSpPr>
        <p:grpSpPr>
          <a:xfrm>
            <a:off x="1215954" y="1620376"/>
            <a:ext cx="77467" cy="674020"/>
            <a:chOff x="996050" y="213293"/>
            <a:chExt cx="93900" cy="909732"/>
          </a:xfrm>
        </p:grpSpPr>
        <p:cxnSp>
          <p:nvCxnSpPr>
            <p:cNvPr id="1393" name="Google Shape;1393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4" name="Google Shape;1394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5" name="Google Shape;1395;p83"/>
          <p:cNvSpPr/>
          <p:nvPr/>
        </p:nvSpPr>
        <p:spPr>
          <a:xfrm>
            <a:off x="7285035" y="152501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83"/>
          <p:cNvSpPr/>
          <p:nvPr/>
        </p:nvSpPr>
        <p:spPr>
          <a:xfrm rot="-7211120">
            <a:off x="7297403" y="1537677"/>
            <a:ext cx="1374705" cy="1374446"/>
          </a:xfrm>
          <a:prstGeom prst="pie">
            <a:avLst>
              <a:gd fmla="val 7194289" name="adj1"/>
              <a:gd fmla="val 184224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3"/>
          <p:cNvSpPr/>
          <p:nvPr/>
        </p:nvSpPr>
        <p:spPr>
          <a:xfrm>
            <a:off x="7297309" y="1537340"/>
            <a:ext cx="1374900" cy="1374900"/>
          </a:xfrm>
          <a:prstGeom prst="pie">
            <a:avLst>
              <a:gd fmla="val 16233541" name="adj1"/>
              <a:gd fmla="val 1879777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83"/>
          <p:cNvSpPr txBox="1"/>
          <p:nvPr/>
        </p:nvSpPr>
        <p:spPr>
          <a:xfrm>
            <a:off x="8148106" y="1854077"/>
            <a:ext cx="68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3"/>
          <p:cNvSpPr txBox="1"/>
          <p:nvPr/>
        </p:nvSpPr>
        <p:spPr>
          <a:xfrm>
            <a:off x="7508887" y="2239384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3"/>
          <p:cNvSpPr txBox="1"/>
          <p:nvPr/>
        </p:nvSpPr>
        <p:spPr>
          <a:xfrm>
            <a:off x="7959760" y="1510928"/>
            <a:ext cx="68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1" name="Google Shape;1401;p83"/>
          <p:cNvGrpSpPr/>
          <p:nvPr/>
        </p:nvGrpSpPr>
        <p:grpSpPr>
          <a:xfrm>
            <a:off x="7944464" y="1594950"/>
            <a:ext cx="77467" cy="674020"/>
            <a:chOff x="996050" y="213293"/>
            <a:chExt cx="93900" cy="909732"/>
          </a:xfrm>
        </p:grpSpPr>
        <p:cxnSp>
          <p:nvCxnSpPr>
            <p:cNvPr id="1402" name="Google Shape;1402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3" name="Google Shape;1403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4" name="Google Shape;1404;p83"/>
          <p:cNvSpPr/>
          <p:nvPr/>
        </p:nvSpPr>
        <p:spPr>
          <a:xfrm>
            <a:off x="1589043" y="300712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3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3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83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83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83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83"/>
          <p:cNvSpPr txBox="1"/>
          <p:nvPr/>
        </p:nvSpPr>
        <p:spPr>
          <a:xfrm>
            <a:off x="1785333" y="2996879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3"/>
          <p:cNvSpPr/>
          <p:nvPr/>
        </p:nvSpPr>
        <p:spPr>
          <a:xfrm>
            <a:off x="1601221" y="3019304"/>
            <a:ext cx="1374900" cy="13749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83"/>
          <p:cNvSpPr txBox="1"/>
          <p:nvPr/>
        </p:nvSpPr>
        <p:spPr>
          <a:xfrm>
            <a:off x="1587621" y="3641011"/>
            <a:ext cx="6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3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83"/>
          <p:cNvSpPr txBox="1"/>
          <p:nvPr/>
        </p:nvSpPr>
        <p:spPr>
          <a:xfrm>
            <a:off x="1610295" y="336124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3"/>
          <p:cNvSpPr/>
          <p:nvPr/>
        </p:nvSpPr>
        <p:spPr>
          <a:xfrm flipH="1">
            <a:off x="1601138" y="3019304"/>
            <a:ext cx="1374900" cy="13749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83"/>
          <p:cNvSpPr txBox="1"/>
          <p:nvPr/>
        </p:nvSpPr>
        <p:spPr>
          <a:xfrm>
            <a:off x="2220300" y="3972952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3"/>
          <p:cNvSpPr txBox="1"/>
          <p:nvPr/>
        </p:nvSpPr>
        <p:spPr>
          <a:xfrm>
            <a:off x="2443192" y="3651376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3"/>
          <p:cNvSpPr txBox="1"/>
          <p:nvPr/>
        </p:nvSpPr>
        <p:spPr>
          <a:xfrm>
            <a:off x="2448971" y="333859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9" name="Google Shape;1419;p83"/>
          <p:cNvGrpSpPr/>
          <p:nvPr/>
        </p:nvGrpSpPr>
        <p:grpSpPr>
          <a:xfrm>
            <a:off x="2248472" y="3061184"/>
            <a:ext cx="77468" cy="674020"/>
            <a:chOff x="996050" y="213293"/>
            <a:chExt cx="93900" cy="909732"/>
          </a:xfrm>
        </p:grpSpPr>
        <p:cxnSp>
          <p:nvCxnSpPr>
            <p:cNvPr id="1420" name="Google Shape;1420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21" name="Google Shape;1421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2" name="Google Shape;1422;p83"/>
          <p:cNvSpPr/>
          <p:nvPr/>
        </p:nvSpPr>
        <p:spPr>
          <a:xfrm>
            <a:off x="4928533" y="1518214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3"/>
          <p:cNvSpPr/>
          <p:nvPr/>
        </p:nvSpPr>
        <p:spPr>
          <a:xfrm rot="8649335">
            <a:off x="4941078" y="1530796"/>
            <a:ext cx="1374520" cy="137452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83"/>
          <p:cNvSpPr/>
          <p:nvPr/>
        </p:nvSpPr>
        <p:spPr>
          <a:xfrm rot="-8628924">
            <a:off x="4941031" y="1530790"/>
            <a:ext cx="1374518" cy="1374518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83"/>
          <p:cNvSpPr/>
          <p:nvPr/>
        </p:nvSpPr>
        <p:spPr>
          <a:xfrm rot="-4309798">
            <a:off x="4940954" y="1530620"/>
            <a:ext cx="1374752" cy="1374752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83"/>
          <p:cNvSpPr/>
          <p:nvPr/>
        </p:nvSpPr>
        <p:spPr>
          <a:xfrm>
            <a:off x="4940942" y="1530735"/>
            <a:ext cx="1374600" cy="13746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83"/>
          <p:cNvSpPr txBox="1"/>
          <p:nvPr/>
        </p:nvSpPr>
        <p:spPr>
          <a:xfrm>
            <a:off x="5357762" y="2504606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3"/>
          <p:cNvSpPr/>
          <p:nvPr/>
        </p:nvSpPr>
        <p:spPr>
          <a:xfrm rot="4312883">
            <a:off x="4940804" y="1530322"/>
            <a:ext cx="1374663" cy="1374663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83"/>
          <p:cNvSpPr txBox="1"/>
          <p:nvPr/>
        </p:nvSpPr>
        <p:spPr>
          <a:xfrm>
            <a:off x="5056383" y="1680552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3"/>
          <p:cNvSpPr txBox="1"/>
          <p:nvPr/>
        </p:nvSpPr>
        <p:spPr>
          <a:xfrm>
            <a:off x="5668068" y="1680558"/>
            <a:ext cx="58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3"/>
          <p:cNvSpPr txBox="1"/>
          <p:nvPr/>
        </p:nvSpPr>
        <p:spPr>
          <a:xfrm>
            <a:off x="5781038" y="2169715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3"/>
          <p:cNvSpPr txBox="1"/>
          <p:nvPr/>
        </p:nvSpPr>
        <p:spPr>
          <a:xfrm>
            <a:off x="4989561" y="216969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3" name="Google Shape;1433;p83"/>
          <p:cNvGrpSpPr/>
          <p:nvPr/>
        </p:nvGrpSpPr>
        <p:grpSpPr>
          <a:xfrm>
            <a:off x="5587962" y="1564334"/>
            <a:ext cx="77468" cy="674020"/>
            <a:chOff x="996050" y="213293"/>
            <a:chExt cx="93900" cy="909732"/>
          </a:xfrm>
        </p:grpSpPr>
        <p:cxnSp>
          <p:nvCxnSpPr>
            <p:cNvPr id="1434" name="Google Shape;1434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5" name="Google Shape;1435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83"/>
          <p:cNvSpPr/>
          <p:nvPr/>
        </p:nvSpPr>
        <p:spPr>
          <a:xfrm>
            <a:off x="3896015" y="3007126"/>
            <a:ext cx="1399200" cy="1399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83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83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83"/>
          <p:cNvSpPr txBox="1"/>
          <p:nvPr/>
        </p:nvSpPr>
        <p:spPr>
          <a:xfrm>
            <a:off x="4129550" y="396670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3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83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83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83"/>
          <p:cNvSpPr txBox="1"/>
          <p:nvPr/>
        </p:nvSpPr>
        <p:spPr>
          <a:xfrm>
            <a:off x="4097074" y="3005656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3"/>
          <p:cNvSpPr/>
          <p:nvPr/>
        </p:nvSpPr>
        <p:spPr>
          <a:xfrm>
            <a:off x="3908192" y="3019304"/>
            <a:ext cx="1374900" cy="13749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83"/>
          <p:cNvSpPr txBox="1"/>
          <p:nvPr/>
        </p:nvSpPr>
        <p:spPr>
          <a:xfrm>
            <a:off x="3889604" y="364225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3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83"/>
          <p:cNvSpPr txBox="1"/>
          <p:nvPr/>
        </p:nvSpPr>
        <p:spPr>
          <a:xfrm>
            <a:off x="3897851" y="3315847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3"/>
          <p:cNvSpPr/>
          <p:nvPr/>
        </p:nvSpPr>
        <p:spPr>
          <a:xfrm flipH="1">
            <a:off x="3908109" y="3019304"/>
            <a:ext cx="1374900" cy="13749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83"/>
          <p:cNvSpPr txBox="1"/>
          <p:nvPr/>
        </p:nvSpPr>
        <p:spPr>
          <a:xfrm>
            <a:off x="4550847" y="3969830"/>
            <a:ext cx="55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3"/>
          <p:cNvSpPr txBox="1"/>
          <p:nvPr/>
        </p:nvSpPr>
        <p:spPr>
          <a:xfrm>
            <a:off x="4750167" y="3651376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3"/>
          <p:cNvSpPr txBox="1"/>
          <p:nvPr/>
        </p:nvSpPr>
        <p:spPr>
          <a:xfrm>
            <a:off x="4771354" y="3343674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2" name="Google Shape;1452;p83"/>
          <p:cNvGrpSpPr/>
          <p:nvPr/>
        </p:nvGrpSpPr>
        <p:grpSpPr>
          <a:xfrm>
            <a:off x="4555443" y="3061184"/>
            <a:ext cx="77468" cy="674020"/>
            <a:chOff x="996050" y="213293"/>
            <a:chExt cx="93900" cy="909732"/>
          </a:xfrm>
        </p:grpSpPr>
        <p:cxnSp>
          <p:nvCxnSpPr>
            <p:cNvPr id="1453" name="Google Shape;1453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54" name="Google Shape;1454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5" name="Google Shape;1455;p83"/>
          <p:cNvSpPr/>
          <p:nvPr/>
        </p:nvSpPr>
        <p:spPr>
          <a:xfrm>
            <a:off x="6086783" y="3007126"/>
            <a:ext cx="1399200" cy="1399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83"/>
          <p:cNvSpPr/>
          <p:nvPr/>
        </p:nvSpPr>
        <p:spPr>
          <a:xfrm flipH="1">
            <a:off x="6098877" y="3019304"/>
            <a:ext cx="1374900" cy="13749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83"/>
          <p:cNvSpPr/>
          <p:nvPr/>
        </p:nvSpPr>
        <p:spPr>
          <a:xfrm>
            <a:off x="6098960" y="3019304"/>
            <a:ext cx="1374900" cy="1374900"/>
          </a:xfrm>
          <a:prstGeom prst="pie">
            <a:avLst>
              <a:gd fmla="val 5387953" name="adj1"/>
              <a:gd fmla="val 16641225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83"/>
          <p:cNvSpPr txBox="1"/>
          <p:nvPr/>
        </p:nvSpPr>
        <p:spPr>
          <a:xfrm>
            <a:off x="6210671" y="3532884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3"/>
          <p:cNvSpPr txBox="1"/>
          <p:nvPr/>
        </p:nvSpPr>
        <p:spPr>
          <a:xfrm>
            <a:off x="6876409" y="3532884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0" name="Google Shape;1460;p83"/>
          <p:cNvGrpSpPr/>
          <p:nvPr/>
        </p:nvGrpSpPr>
        <p:grpSpPr>
          <a:xfrm>
            <a:off x="6746211" y="3053247"/>
            <a:ext cx="77467" cy="674020"/>
            <a:chOff x="996050" y="213293"/>
            <a:chExt cx="93900" cy="909732"/>
          </a:xfrm>
        </p:grpSpPr>
        <p:cxnSp>
          <p:nvCxnSpPr>
            <p:cNvPr id="1461" name="Google Shape;1461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62" name="Google Shape;1462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3" name="Google Shape;1463;p83"/>
          <p:cNvSpPr txBox="1"/>
          <p:nvPr/>
        </p:nvSpPr>
        <p:spPr>
          <a:xfrm>
            <a:off x="2251009" y="3036042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3"/>
          <p:cNvSpPr txBox="1"/>
          <p:nvPr>
            <p:ph idx="1" type="body"/>
          </p:nvPr>
        </p:nvSpPr>
        <p:spPr>
          <a:xfrm>
            <a:off x="1181815" y="129833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65" name="Google Shape;1465;p83"/>
          <p:cNvSpPr txBox="1"/>
          <p:nvPr>
            <p:ph idx="1" type="body"/>
          </p:nvPr>
        </p:nvSpPr>
        <p:spPr>
          <a:xfrm>
            <a:off x="3360331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66" name="Google Shape;1466;p83"/>
          <p:cNvSpPr txBox="1"/>
          <p:nvPr>
            <p:ph idx="1" type="body"/>
          </p:nvPr>
        </p:nvSpPr>
        <p:spPr>
          <a:xfrm>
            <a:off x="5552718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67" name="Google Shape;1467;p83"/>
          <p:cNvSpPr txBox="1"/>
          <p:nvPr>
            <p:ph idx="1" type="body"/>
          </p:nvPr>
        </p:nvSpPr>
        <p:spPr>
          <a:xfrm>
            <a:off x="7897505" y="1273551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68" name="Google Shape;1468;p83"/>
          <p:cNvSpPr txBox="1"/>
          <p:nvPr>
            <p:ph idx="1" type="body"/>
          </p:nvPr>
        </p:nvSpPr>
        <p:spPr>
          <a:xfrm>
            <a:off x="2231773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469" name="Google Shape;1469;p83"/>
          <p:cNvSpPr txBox="1"/>
          <p:nvPr>
            <p:ph idx="1" type="body"/>
          </p:nvPr>
        </p:nvSpPr>
        <p:spPr>
          <a:xfrm>
            <a:off x="4531378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470" name="Google Shape;1470;p83"/>
          <p:cNvSpPr txBox="1"/>
          <p:nvPr>
            <p:ph idx="1" type="body"/>
          </p:nvPr>
        </p:nvSpPr>
        <p:spPr>
          <a:xfrm>
            <a:off x="6717233" y="2767109"/>
            <a:ext cx="2025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471" name="Google Shape;1471;p83"/>
          <p:cNvSpPr txBox="1"/>
          <p:nvPr/>
        </p:nvSpPr>
        <p:spPr>
          <a:xfrm>
            <a:off x="1793934" y="3966708"/>
            <a:ext cx="5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83"/>
          <p:cNvSpPr txBox="1"/>
          <p:nvPr/>
        </p:nvSpPr>
        <p:spPr>
          <a:xfrm>
            <a:off x="4577326" y="2984625"/>
            <a:ext cx="6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3"/>
          <p:cNvSpPr txBox="1"/>
          <p:nvPr>
            <p:ph idx="1" type="body"/>
          </p:nvPr>
        </p:nvSpPr>
        <p:spPr>
          <a:xfrm>
            <a:off x="3514075" y="4539350"/>
            <a:ext cx="21309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D, B, A, E, G, C, 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which outcome is more likely than another</a:t>
            </a:r>
            <a:endParaRPr/>
          </a:p>
        </p:txBody>
      </p:sp>
      <p:sp>
        <p:nvSpPr>
          <p:cNvPr id="1479" name="Google Shape;1479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480" name="Google Shape;1480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pic>
        <p:nvPicPr>
          <p:cNvPr id="1481" name="Google Shape;14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85"/>
          <p:cNvSpPr txBox="1"/>
          <p:nvPr>
            <p:ph idx="1" type="body"/>
          </p:nvPr>
        </p:nvSpPr>
        <p:spPr>
          <a:xfrm>
            <a:off x="324000" y="759300"/>
            <a:ext cx="84960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Laura and Aisha are going to play each other in a tennis match.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87" name="Google Shape;148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pic>
        <p:nvPicPr>
          <p:cNvPr id="1488" name="Google Shape;148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726" y="3856200"/>
            <a:ext cx="411974" cy="7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876" y="2805600"/>
            <a:ext cx="514075" cy="6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85"/>
          <p:cNvSpPr txBox="1"/>
          <p:nvPr/>
        </p:nvSpPr>
        <p:spPr>
          <a:xfrm flipH="1">
            <a:off x="541944" y="4578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85"/>
          <p:cNvSpPr txBox="1"/>
          <p:nvPr/>
        </p:nvSpPr>
        <p:spPr>
          <a:xfrm flipH="1">
            <a:off x="157150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34137" y="3931725"/>
            <a:ext cx="475813" cy="6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0475" y="2802019"/>
            <a:ext cx="546600" cy="673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85"/>
          <p:cNvSpPr txBox="1"/>
          <p:nvPr/>
        </p:nvSpPr>
        <p:spPr>
          <a:xfrm flipH="1">
            <a:off x="7992900" y="3419076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5"/>
          <p:cNvSpPr txBox="1"/>
          <p:nvPr/>
        </p:nvSpPr>
        <p:spPr>
          <a:xfrm flipH="1">
            <a:off x="7601083" y="456934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6" name="Google Shape;1496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651802" y="1766687"/>
            <a:ext cx="4878223" cy="1355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85"/>
          <p:cNvSpPr txBox="1"/>
          <p:nvPr>
            <p:ph idx="1" type="body"/>
          </p:nvPr>
        </p:nvSpPr>
        <p:spPr>
          <a:xfrm flipH="1">
            <a:off x="3726200" y="1872950"/>
            <a:ext cx="4785000" cy="58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that the two outcomes are </a:t>
            </a:r>
            <a:r>
              <a:rPr lang="en-GB" sz="1800">
                <a:solidFill>
                  <a:schemeClr val="accent5"/>
                </a:solidFill>
              </a:rPr>
              <a:t>equally likely</a:t>
            </a:r>
            <a:r>
              <a:rPr lang="en-GB" sz="1800"/>
              <a:t> to happen, because either Aisha will win or Laura will win.</a:t>
            </a:r>
            <a:endParaRPr sz="1800"/>
          </a:p>
        </p:txBody>
      </p:sp>
      <p:pic>
        <p:nvPicPr>
          <p:cNvPr id="1498" name="Google Shape;1498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304975" y="3240350"/>
            <a:ext cx="4625725" cy="89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85"/>
          <p:cNvSpPr txBox="1"/>
          <p:nvPr>
            <p:ph idx="1" type="body"/>
          </p:nvPr>
        </p:nvSpPr>
        <p:spPr>
          <a:xfrm flipH="1">
            <a:off x="3369750" y="3339825"/>
            <a:ext cx="46842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that one of these outcomes could be </a:t>
            </a:r>
            <a:r>
              <a:rPr lang="en-GB" sz="1800">
                <a:solidFill>
                  <a:schemeClr val="accent5"/>
                </a:solidFill>
              </a:rPr>
              <a:t>more likely</a:t>
            </a:r>
            <a:r>
              <a:rPr lang="en-GB" sz="1800"/>
              <a:t> to happen than the other.</a:t>
            </a:r>
            <a:endParaRPr sz="1800"/>
          </a:p>
        </p:txBody>
      </p:sp>
      <p:sp>
        <p:nvSpPr>
          <p:cNvPr id="1500" name="Google Shape;1500;p85"/>
          <p:cNvSpPr txBox="1"/>
          <p:nvPr>
            <p:ph idx="1" type="body"/>
          </p:nvPr>
        </p:nvSpPr>
        <p:spPr>
          <a:xfrm>
            <a:off x="324000" y="1163470"/>
            <a:ext cx="84960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Jacob and Sam are considering the likelihood of the possible outcomes.</a:t>
            </a:r>
            <a:endParaRPr sz="1900"/>
          </a:p>
        </p:txBody>
      </p:sp>
      <p:sp>
        <p:nvSpPr>
          <p:cNvPr id="1501" name="Google Shape;1501;p85"/>
          <p:cNvSpPr txBox="1"/>
          <p:nvPr/>
        </p:nvSpPr>
        <p:spPr>
          <a:xfrm>
            <a:off x="290275" y="1505925"/>
            <a:ext cx="3424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{Aisha wins, Laura wins} </a:t>
            </a:r>
            <a:endParaRPr sz="1300"/>
          </a:p>
        </p:txBody>
      </p:sp>
      <p:sp>
        <p:nvSpPr>
          <p:cNvPr id="1502" name="Google Shape;1502;p85"/>
          <p:cNvSpPr txBox="1"/>
          <p:nvPr>
            <p:ph idx="1" type="body"/>
          </p:nvPr>
        </p:nvSpPr>
        <p:spPr>
          <a:xfrm>
            <a:off x="2189295" y="4524766"/>
            <a:ext cx="47850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Who do you agree with? Jacob or Sam?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p8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961875" y="1718425"/>
            <a:ext cx="2424351" cy="1202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86"/>
          <p:cNvSpPr txBox="1"/>
          <p:nvPr>
            <p:ph idx="1" type="body"/>
          </p:nvPr>
        </p:nvSpPr>
        <p:spPr>
          <a:xfrm>
            <a:off x="324000" y="759300"/>
            <a:ext cx="84960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Laura and Aisha are going to play each other in a tennis match.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09" name="Google Shape;150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pic>
        <p:nvPicPr>
          <p:cNvPr id="1510" name="Google Shape;151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26" y="3856200"/>
            <a:ext cx="411974" cy="7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876" y="2805600"/>
            <a:ext cx="514075" cy="6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86"/>
          <p:cNvSpPr txBox="1"/>
          <p:nvPr/>
        </p:nvSpPr>
        <p:spPr>
          <a:xfrm flipH="1">
            <a:off x="541944" y="4578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6"/>
          <p:cNvSpPr txBox="1"/>
          <p:nvPr/>
        </p:nvSpPr>
        <p:spPr>
          <a:xfrm flipH="1">
            <a:off x="157150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4" name="Google Shape;1514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34137" y="3931725"/>
            <a:ext cx="475813" cy="6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0475" y="2802019"/>
            <a:ext cx="546600" cy="673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86"/>
          <p:cNvSpPr txBox="1"/>
          <p:nvPr/>
        </p:nvSpPr>
        <p:spPr>
          <a:xfrm flipH="1">
            <a:off x="7992900" y="3419076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6"/>
          <p:cNvSpPr txBox="1"/>
          <p:nvPr/>
        </p:nvSpPr>
        <p:spPr>
          <a:xfrm flipH="1">
            <a:off x="7601083" y="456934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6"/>
          <p:cNvSpPr txBox="1"/>
          <p:nvPr>
            <p:ph idx="1" type="body"/>
          </p:nvPr>
        </p:nvSpPr>
        <p:spPr>
          <a:xfrm>
            <a:off x="324000" y="1163470"/>
            <a:ext cx="84960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Jacob and Sam are considering the likelihood of the possible outcomes.</a:t>
            </a:r>
            <a:endParaRPr sz="1900"/>
          </a:p>
        </p:txBody>
      </p:sp>
      <p:sp>
        <p:nvSpPr>
          <p:cNvPr id="1519" name="Google Shape;1519;p86"/>
          <p:cNvSpPr txBox="1"/>
          <p:nvPr/>
        </p:nvSpPr>
        <p:spPr>
          <a:xfrm>
            <a:off x="290275" y="1505925"/>
            <a:ext cx="3424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{Aisha wins, Laura wins} </a:t>
            </a:r>
            <a:endParaRPr sz="1300"/>
          </a:p>
        </p:txBody>
      </p:sp>
      <p:pic>
        <p:nvPicPr>
          <p:cNvPr id="1520" name="Google Shape;1520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8275" y="2249750"/>
            <a:ext cx="364532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86"/>
          <p:cNvSpPr txBox="1"/>
          <p:nvPr>
            <p:ph idx="1" type="body"/>
          </p:nvPr>
        </p:nvSpPr>
        <p:spPr>
          <a:xfrm>
            <a:off x="874100" y="2349225"/>
            <a:ext cx="35295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I’ve never played tennis before.</a:t>
            </a:r>
            <a:endParaRPr sz="1800"/>
          </a:p>
        </p:txBody>
      </p:sp>
      <p:pic>
        <p:nvPicPr>
          <p:cNvPr id="1522" name="Google Shape;1522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7200" y="2920725"/>
            <a:ext cx="3610598" cy="13572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86"/>
          <p:cNvSpPr txBox="1"/>
          <p:nvPr>
            <p:ph idx="1" type="body"/>
          </p:nvPr>
        </p:nvSpPr>
        <p:spPr>
          <a:xfrm flipH="1">
            <a:off x="1198900" y="2973550"/>
            <a:ext cx="3487200" cy="8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play tennis every weekend and have won lots of competitions.</a:t>
            </a:r>
            <a:endParaRPr sz="1800"/>
          </a:p>
        </p:txBody>
      </p:sp>
      <p:sp>
        <p:nvSpPr>
          <p:cNvPr id="1524" name="Google Shape;1524;p86"/>
          <p:cNvSpPr txBox="1"/>
          <p:nvPr>
            <p:ph idx="1" type="body"/>
          </p:nvPr>
        </p:nvSpPr>
        <p:spPr>
          <a:xfrm>
            <a:off x="1877084" y="4198175"/>
            <a:ext cx="54024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 the outcomes equally likely to happen?</a:t>
            </a:r>
            <a:br>
              <a:rPr lang="en-GB" sz="1900"/>
            </a:br>
            <a:r>
              <a:rPr lang="en-GB" sz="1900"/>
              <a:t>Or is one outcome more likely than the other?</a:t>
            </a:r>
            <a:endParaRPr sz="1900"/>
          </a:p>
        </p:txBody>
      </p:sp>
      <p:sp>
        <p:nvSpPr>
          <p:cNvPr id="1525" name="Google Shape;1525;p86"/>
          <p:cNvSpPr txBox="1"/>
          <p:nvPr>
            <p:ph idx="1" type="body"/>
          </p:nvPr>
        </p:nvSpPr>
        <p:spPr>
          <a:xfrm flipH="1">
            <a:off x="6047125" y="1809150"/>
            <a:ext cx="2238000" cy="8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now think that Aisha is </a:t>
            </a:r>
            <a:r>
              <a:rPr lang="en-GB" sz="1800">
                <a:solidFill>
                  <a:schemeClr val="accent5"/>
                </a:solidFill>
              </a:rPr>
              <a:t>more likely</a:t>
            </a:r>
            <a:r>
              <a:rPr lang="en-GB" sz="1800"/>
              <a:t> to win than Laura.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0" name="Google Shape;1530;p8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642950" y="1822350"/>
            <a:ext cx="3624550" cy="17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8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965550" y="1897250"/>
            <a:ext cx="3624550" cy="15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87"/>
          <p:cNvSpPr txBox="1"/>
          <p:nvPr>
            <p:ph idx="1" type="body"/>
          </p:nvPr>
        </p:nvSpPr>
        <p:spPr>
          <a:xfrm>
            <a:off x="324000" y="759300"/>
            <a:ext cx="84960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Andeep and Jun are thinking about whether it might rain tomorrow.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33" name="Google Shape;153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534" name="Google Shape;1534;p87"/>
          <p:cNvSpPr txBox="1"/>
          <p:nvPr/>
        </p:nvSpPr>
        <p:spPr>
          <a:xfrm>
            <a:off x="3490675" y="1201125"/>
            <a:ext cx="237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{rain, not rain} </a:t>
            </a:r>
            <a:endParaRPr sz="1300"/>
          </a:p>
        </p:txBody>
      </p:sp>
      <p:sp>
        <p:nvSpPr>
          <p:cNvPr id="1535" name="Google Shape;1535;p87"/>
          <p:cNvSpPr txBox="1"/>
          <p:nvPr>
            <p:ph idx="1" type="body"/>
          </p:nvPr>
        </p:nvSpPr>
        <p:spPr>
          <a:xfrm>
            <a:off x="2145551" y="4452444"/>
            <a:ext cx="48573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Who do you agree with? Andeep or Jun?</a:t>
            </a:r>
            <a:endParaRPr sz="1900"/>
          </a:p>
        </p:txBody>
      </p:sp>
      <p:pic>
        <p:nvPicPr>
          <p:cNvPr id="1536" name="Google Shape;153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6547" y="3409950"/>
            <a:ext cx="512964" cy="641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6340" y="3360143"/>
            <a:ext cx="556116" cy="71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87"/>
          <p:cNvSpPr txBox="1"/>
          <p:nvPr/>
        </p:nvSpPr>
        <p:spPr>
          <a:xfrm>
            <a:off x="30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7"/>
          <p:cNvSpPr txBox="1"/>
          <p:nvPr/>
        </p:nvSpPr>
        <p:spPr>
          <a:xfrm>
            <a:off x="80057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87"/>
          <p:cNvSpPr txBox="1"/>
          <p:nvPr>
            <p:ph idx="1" type="body"/>
          </p:nvPr>
        </p:nvSpPr>
        <p:spPr>
          <a:xfrm flipH="1">
            <a:off x="1004050" y="1962900"/>
            <a:ext cx="3212100" cy="11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that these outcomes are </a:t>
            </a:r>
            <a:r>
              <a:rPr lang="en-GB" sz="1800">
                <a:solidFill>
                  <a:schemeClr val="accent5"/>
                </a:solidFill>
              </a:rPr>
              <a:t>equally likely</a:t>
            </a:r>
            <a:r>
              <a:rPr lang="en-GB" sz="1800"/>
              <a:t> to happen, because it’s either going to rain or it’s not going to rain.</a:t>
            </a:r>
            <a:endParaRPr sz="1800"/>
          </a:p>
        </p:txBody>
      </p:sp>
      <p:sp>
        <p:nvSpPr>
          <p:cNvPr id="1541" name="Google Shape;1541;p87"/>
          <p:cNvSpPr txBox="1"/>
          <p:nvPr>
            <p:ph idx="1" type="body"/>
          </p:nvPr>
        </p:nvSpPr>
        <p:spPr>
          <a:xfrm flipH="1">
            <a:off x="5155750" y="1945988"/>
            <a:ext cx="3122400" cy="11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that one of these outcomes could be </a:t>
            </a:r>
            <a:r>
              <a:rPr lang="en-GB" sz="1800">
                <a:solidFill>
                  <a:srgbClr val="037B7D"/>
                </a:solidFill>
              </a:rPr>
              <a:t>more likely</a:t>
            </a:r>
            <a:r>
              <a:rPr lang="en-GB" sz="1800"/>
              <a:t> than the other, depending on </a:t>
            </a:r>
            <a:r>
              <a:rPr lang="en-GB" sz="1800">
                <a:solidFill>
                  <a:schemeClr val="accent5"/>
                </a:solidFill>
              </a:rPr>
              <a:t>other factors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" name="Google Shape;154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796977" y="1698795"/>
            <a:ext cx="6146273" cy="21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548" name="Google Shape;1548;p88"/>
          <p:cNvSpPr txBox="1"/>
          <p:nvPr/>
        </p:nvSpPr>
        <p:spPr>
          <a:xfrm>
            <a:off x="3490675" y="667725"/>
            <a:ext cx="242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{rain, not rain} </a:t>
            </a:r>
            <a:endParaRPr sz="1300"/>
          </a:p>
        </p:txBody>
      </p:sp>
      <p:sp>
        <p:nvSpPr>
          <p:cNvPr id="1549" name="Google Shape;1549;p88"/>
          <p:cNvSpPr txBox="1"/>
          <p:nvPr>
            <p:ph idx="1" type="body"/>
          </p:nvPr>
        </p:nvSpPr>
        <p:spPr>
          <a:xfrm flipH="1">
            <a:off x="338250" y="1203885"/>
            <a:ext cx="73812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likelihood of an outcome could depend on </a:t>
            </a:r>
            <a:r>
              <a:rPr lang="en-GB" sz="2000">
                <a:solidFill>
                  <a:schemeClr val="accent5"/>
                </a:solidFill>
              </a:rPr>
              <a:t>location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550" name="Google Shape;155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348347" y="3638550"/>
            <a:ext cx="512964" cy="64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88"/>
          <p:cNvSpPr txBox="1"/>
          <p:nvPr/>
        </p:nvSpPr>
        <p:spPr>
          <a:xfrm>
            <a:off x="7167550" y="4293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88"/>
          <p:cNvSpPr txBox="1"/>
          <p:nvPr/>
        </p:nvSpPr>
        <p:spPr>
          <a:xfrm>
            <a:off x="1976672" y="1748875"/>
            <a:ext cx="5927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Spain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it might be more likely that it does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not rain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a particular day than that it rains.</a:t>
            </a:r>
            <a:endParaRPr/>
          </a:p>
        </p:txBody>
      </p:sp>
      <p:sp>
        <p:nvSpPr>
          <p:cNvPr id="1553" name="Google Shape;1553;p88"/>
          <p:cNvSpPr txBox="1"/>
          <p:nvPr/>
        </p:nvSpPr>
        <p:spPr>
          <a:xfrm>
            <a:off x="1924650" y="2510875"/>
            <a:ext cx="6018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in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UK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it might be more likely that it does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rain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a particular day than not rain.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73475" y="1620000"/>
            <a:ext cx="7489475" cy="11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560" name="Google Shape;1560;p89"/>
          <p:cNvSpPr txBox="1"/>
          <p:nvPr/>
        </p:nvSpPr>
        <p:spPr>
          <a:xfrm>
            <a:off x="3490675" y="667725"/>
            <a:ext cx="239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{rain, not rain} </a:t>
            </a:r>
            <a:endParaRPr sz="1300"/>
          </a:p>
        </p:txBody>
      </p:sp>
      <p:pic>
        <p:nvPicPr>
          <p:cNvPr id="1561" name="Google Shape;156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5547" y="2724150"/>
            <a:ext cx="512964" cy="64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89"/>
          <p:cNvSpPr txBox="1"/>
          <p:nvPr/>
        </p:nvSpPr>
        <p:spPr>
          <a:xfrm>
            <a:off x="7624750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9"/>
          <p:cNvSpPr txBox="1"/>
          <p:nvPr/>
        </p:nvSpPr>
        <p:spPr>
          <a:xfrm>
            <a:off x="990600" y="1672675"/>
            <a:ext cx="7542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According to Met Office data from 1941 to 2022, the average rainfall in Bradford is the lowest in April and highest in December.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4" name="Google Shape;1564;p89"/>
          <p:cNvPicPr preferRelativeResize="0"/>
          <p:nvPr/>
        </p:nvPicPr>
        <p:blipFill rotWithShape="1">
          <a:blip r:embed="rId5">
            <a:alphaModFix/>
          </a:blip>
          <a:srcRect b="9885" l="0" r="0" t="0"/>
          <a:stretch/>
        </p:blipFill>
        <p:spPr>
          <a:xfrm>
            <a:off x="2789525" y="2800350"/>
            <a:ext cx="3425275" cy="16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5" name="Google Shape;1565;p89"/>
          <p:cNvCxnSpPr/>
          <p:nvPr/>
        </p:nvCxnSpPr>
        <p:spPr>
          <a:xfrm>
            <a:off x="2811500" y="4489675"/>
            <a:ext cx="369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6" name="Google Shape;1566;p89"/>
          <p:cNvCxnSpPr/>
          <p:nvPr/>
        </p:nvCxnSpPr>
        <p:spPr>
          <a:xfrm rot="10800000">
            <a:off x="2811500" y="2586175"/>
            <a:ext cx="0" cy="1903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7" name="Google Shape;1567;p89"/>
          <p:cNvSpPr txBox="1"/>
          <p:nvPr/>
        </p:nvSpPr>
        <p:spPr>
          <a:xfrm rot="-5400000">
            <a:off x="1528225" y="3310400"/>
            <a:ext cx="163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average rainfall (mm)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68" name="Google Shape;1568;p89"/>
          <p:cNvSpPr txBox="1"/>
          <p:nvPr/>
        </p:nvSpPr>
        <p:spPr>
          <a:xfrm>
            <a:off x="3436777" y="4453400"/>
            <a:ext cx="54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Apr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69" name="Google Shape;1569;p89"/>
          <p:cNvSpPr txBox="1"/>
          <p:nvPr/>
        </p:nvSpPr>
        <p:spPr>
          <a:xfrm>
            <a:off x="5885991" y="4460665"/>
            <a:ext cx="62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 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570" name="Google Shape;1570;p89"/>
          <p:cNvCxnSpPr/>
          <p:nvPr/>
        </p:nvCxnSpPr>
        <p:spPr>
          <a:xfrm rot="10800000">
            <a:off x="3724446" y="4475904"/>
            <a:ext cx="0" cy="13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1" name="Google Shape;1571;p89"/>
          <p:cNvCxnSpPr/>
          <p:nvPr/>
        </p:nvCxnSpPr>
        <p:spPr>
          <a:xfrm rot="10800000">
            <a:off x="6143207" y="4475904"/>
            <a:ext cx="0" cy="13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2" name="Google Shape;1572;p89"/>
          <p:cNvSpPr txBox="1"/>
          <p:nvPr>
            <p:ph idx="1" type="body"/>
          </p:nvPr>
        </p:nvSpPr>
        <p:spPr>
          <a:xfrm flipH="1">
            <a:off x="338250" y="1203885"/>
            <a:ext cx="73812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likelihood of an outcome could depend on </a:t>
            </a:r>
            <a:r>
              <a:rPr lang="en-GB" sz="2000">
                <a:solidFill>
                  <a:schemeClr val="accent5"/>
                </a:solidFill>
              </a:rPr>
              <a:t>time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578" name="Google Shape;1578;p90"/>
          <p:cNvSpPr txBox="1"/>
          <p:nvPr/>
        </p:nvSpPr>
        <p:spPr>
          <a:xfrm>
            <a:off x="3490675" y="667725"/>
            <a:ext cx="239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{rain, not rain} </a:t>
            </a:r>
            <a:endParaRPr sz="1300"/>
          </a:p>
        </p:txBody>
      </p:sp>
      <p:pic>
        <p:nvPicPr>
          <p:cNvPr id="1579" name="Google Shape;157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551498" y="1620000"/>
            <a:ext cx="6911452" cy="11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5547" y="2724150"/>
            <a:ext cx="512964" cy="64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90"/>
          <p:cNvSpPr txBox="1"/>
          <p:nvPr/>
        </p:nvSpPr>
        <p:spPr>
          <a:xfrm>
            <a:off x="7624750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90"/>
          <p:cNvSpPr txBox="1"/>
          <p:nvPr/>
        </p:nvSpPr>
        <p:spPr>
          <a:xfrm>
            <a:off x="1666575" y="1653025"/>
            <a:ext cx="6720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the time of the year could be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factor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determining whether it is more likely to rain or not rain.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3" name="Google Shape;1583;p90"/>
          <p:cNvPicPr preferRelativeResize="0"/>
          <p:nvPr/>
        </p:nvPicPr>
        <p:blipFill rotWithShape="1">
          <a:blip r:embed="rId5">
            <a:alphaModFix/>
          </a:blip>
          <a:srcRect b="9885" l="0" r="0" t="0"/>
          <a:stretch/>
        </p:blipFill>
        <p:spPr>
          <a:xfrm>
            <a:off x="2789525" y="2800350"/>
            <a:ext cx="3425275" cy="16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4" name="Google Shape;1584;p90"/>
          <p:cNvCxnSpPr/>
          <p:nvPr/>
        </p:nvCxnSpPr>
        <p:spPr>
          <a:xfrm>
            <a:off x="2811500" y="4489675"/>
            <a:ext cx="369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5" name="Google Shape;1585;p90"/>
          <p:cNvCxnSpPr/>
          <p:nvPr/>
        </p:nvCxnSpPr>
        <p:spPr>
          <a:xfrm rot="10800000">
            <a:off x="2811500" y="2586175"/>
            <a:ext cx="0" cy="1903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6" name="Google Shape;1586;p90"/>
          <p:cNvSpPr txBox="1"/>
          <p:nvPr/>
        </p:nvSpPr>
        <p:spPr>
          <a:xfrm rot="-5400000">
            <a:off x="1528225" y="3310400"/>
            <a:ext cx="1631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average rainfall (mm)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87" name="Google Shape;1587;p90"/>
          <p:cNvSpPr txBox="1"/>
          <p:nvPr/>
        </p:nvSpPr>
        <p:spPr>
          <a:xfrm>
            <a:off x="3436777" y="4453400"/>
            <a:ext cx="54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Apr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88" name="Google Shape;1588;p90"/>
          <p:cNvSpPr txBox="1"/>
          <p:nvPr/>
        </p:nvSpPr>
        <p:spPr>
          <a:xfrm>
            <a:off x="5885991" y="4460665"/>
            <a:ext cx="62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 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589" name="Google Shape;1589;p90"/>
          <p:cNvCxnSpPr/>
          <p:nvPr/>
        </p:nvCxnSpPr>
        <p:spPr>
          <a:xfrm rot="10800000">
            <a:off x="3724446" y="4475904"/>
            <a:ext cx="0" cy="13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90"/>
          <p:cNvCxnSpPr/>
          <p:nvPr/>
        </p:nvCxnSpPr>
        <p:spPr>
          <a:xfrm rot="10800000">
            <a:off x="6143207" y="4475904"/>
            <a:ext cx="0" cy="13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1" name="Google Shape;1591;p90"/>
          <p:cNvSpPr txBox="1"/>
          <p:nvPr>
            <p:ph idx="1" type="body"/>
          </p:nvPr>
        </p:nvSpPr>
        <p:spPr>
          <a:xfrm flipH="1">
            <a:off x="338250" y="1203885"/>
            <a:ext cx="73812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likelihood of an outcome could depend on </a:t>
            </a:r>
            <a:r>
              <a:rPr lang="en-GB" sz="2000">
                <a:solidFill>
                  <a:schemeClr val="accent5"/>
                </a:solidFill>
              </a:rPr>
              <a:t>time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91"/>
          <p:cNvSpPr txBox="1"/>
          <p:nvPr>
            <p:ph idx="1" type="body"/>
          </p:nvPr>
        </p:nvSpPr>
        <p:spPr>
          <a:xfrm>
            <a:off x="324000" y="759300"/>
            <a:ext cx="8496000" cy="7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likelihood of two particular outcomes can be compared, even when there are other outcomes that are possible.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97" name="Google Shape;159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598" name="Google Shape;1598;p91"/>
          <p:cNvSpPr txBox="1"/>
          <p:nvPr>
            <p:ph idx="1" type="body"/>
          </p:nvPr>
        </p:nvSpPr>
        <p:spPr>
          <a:xfrm>
            <a:off x="324000" y="15975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Which weather is more likely to happen in the UK in December?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99" name="Google Shape;1599;p91"/>
          <p:cNvSpPr txBox="1"/>
          <p:nvPr>
            <p:ph idx="1" type="body"/>
          </p:nvPr>
        </p:nvSpPr>
        <p:spPr>
          <a:xfrm>
            <a:off x="2991000" y="2435700"/>
            <a:ext cx="8169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snow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00" name="Google Shape;1600;p91"/>
          <p:cNvSpPr txBox="1"/>
          <p:nvPr>
            <p:ph idx="1" type="body"/>
          </p:nvPr>
        </p:nvSpPr>
        <p:spPr>
          <a:xfrm>
            <a:off x="5353200" y="2435700"/>
            <a:ext cx="14829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a heatwave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01" name="Google Shape;1601;p91"/>
          <p:cNvSpPr txBox="1"/>
          <p:nvPr>
            <p:ph idx="1" type="body"/>
          </p:nvPr>
        </p:nvSpPr>
        <p:spPr>
          <a:xfrm>
            <a:off x="324000" y="3197700"/>
            <a:ext cx="8248500" cy="7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These are </a:t>
            </a:r>
            <a:r>
              <a:rPr lang="en-GB" sz="1900">
                <a:solidFill>
                  <a:schemeClr val="accent5"/>
                </a:solidFill>
              </a:rPr>
              <a:t>not</a:t>
            </a:r>
            <a:r>
              <a:rPr lang="en-GB" sz="1900">
                <a:solidFill>
                  <a:srgbClr val="000000"/>
                </a:solidFill>
              </a:rPr>
              <a:t> the only two possible outcomes for weather events (e.g. it could also rain or be a moderate temperature).  </a:t>
            </a:r>
            <a:endParaRPr sz="1900"/>
          </a:p>
        </p:txBody>
      </p:sp>
      <p:pic>
        <p:nvPicPr>
          <p:cNvPr id="1602" name="Google Shape;160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483" y="2381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1"/>
          <p:cNvSpPr txBox="1"/>
          <p:nvPr>
            <p:ph idx="1" type="body"/>
          </p:nvPr>
        </p:nvSpPr>
        <p:spPr>
          <a:xfrm>
            <a:off x="324000" y="3987600"/>
            <a:ext cx="8248500" cy="7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But these </a:t>
            </a:r>
            <a:r>
              <a:rPr lang="en-GB" sz="1900">
                <a:solidFill>
                  <a:schemeClr val="accent5"/>
                </a:solidFill>
              </a:rPr>
              <a:t>particular outcomes</a:t>
            </a:r>
            <a:r>
              <a:rPr lang="en-GB" sz="1900">
                <a:solidFill>
                  <a:srgbClr val="000000"/>
                </a:solidFill>
              </a:rPr>
              <a:t> can still be compared to conclude that snow is </a:t>
            </a:r>
            <a:r>
              <a:rPr lang="en-GB" sz="1900">
                <a:solidFill>
                  <a:schemeClr val="accent5"/>
                </a:solidFill>
              </a:rPr>
              <a:t>more likely</a:t>
            </a:r>
            <a:r>
              <a:rPr lang="en-GB" sz="1900">
                <a:solidFill>
                  <a:srgbClr val="000000"/>
                </a:solidFill>
              </a:rPr>
              <a:t> than a heatwave in December.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92"/>
          <p:cNvSpPr txBox="1"/>
          <p:nvPr>
            <p:ph idx="4294967295" type="body"/>
          </p:nvPr>
        </p:nvSpPr>
        <p:spPr>
          <a:xfrm>
            <a:off x="324000" y="759300"/>
            <a:ext cx="84960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weather is more likely to happen in the UK in July?</a:t>
            </a:r>
            <a:endParaRPr sz="2600"/>
          </a:p>
        </p:txBody>
      </p:sp>
      <p:sp>
        <p:nvSpPr>
          <p:cNvPr id="1609" name="Google Shape;160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Recognising non-equally likely outcomes in context</a:t>
            </a:r>
            <a:endParaRPr/>
          </a:p>
        </p:txBody>
      </p:sp>
      <p:sp>
        <p:nvSpPr>
          <p:cNvPr id="1610" name="Google Shape;1610;p92"/>
          <p:cNvSpPr txBox="1"/>
          <p:nvPr>
            <p:ph idx="1" type="body"/>
          </p:nvPr>
        </p:nvSpPr>
        <p:spPr>
          <a:xfrm>
            <a:off x="2977300" y="2446500"/>
            <a:ext cx="795300" cy="3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snow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1" name="Google Shape;1611;p92"/>
          <p:cNvSpPr txBox="1"/>
          <p:nvPr>
            <p:ph idx="1" type="body"/>
          </p:nvPr>
        </p:nvSpPr>
        <p:spPr>
          <a:xfrm>
            <a:off x="5124600" y="2435700"/>
            <a:ext cx="14829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a heatwave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612" name="Google Shape;161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7533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3"/>
          <p:cNvSpPr txBox="1"/>
          <p:nvPr>
            <p:ph idx="1" type="subTitle"/>
          </p:nvPr>
        </p:nvSpPr>
        <p:spPr>
          <a:xfrm>
            <a:off x="324000" y="1080000"/>
            <a:ext cx="8454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novice swimmer races against a professional swimmer. </a:t>
            </a:r>
            <a:br>
              <a:rPr lang="en-GB"/>
            </a:br>
            <a:r>
              <a:rPr lang="en-GB"/>
              <a:t>It is equally likely that each person wins.</a:t>
            </a:r>
            <a:endParaRPr/>
          </a:p>
        </p:txBody>
      </p:sp>
      <p:sp>
        <p:nvSpPr>
          <p:cNvPr id="1618" name="Google Shape;161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non-equally likely outcomes in context</a:t>
            </a:r>
            <a:endParaRPr/>
          </a:p>
        </p:txBody>
      </p:sp>
      <p:sp>
        <p:nvSpPr>
          <p:cNvPr id="1619" name="Google Shape;1619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Either the novice will win or the professional will win.</a:t>
            </a:r>
            <a:endParaRPr/>
          </a:p>
        </p:txBody>
      </p:sp>
      <p:sp>
        <p:nvSpPr>
          <p:cNvPr id="1620" name="Google Shape;162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professional swimmer is more likely to win than the novice swimmer.</a:t>
            </a:r>
            <a:endParaRPr/>
          </a:p>
        </p:txBody>
      </p:sp>
      <p:pic>
        <p:nvPicPr>
          <p:cNvPr id="1621" name="Google Shape;162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94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1958" y="4246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9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For each context, tick the outcome that seems most likely to happen.</a:t>
            </a:r>
            <a:endParaRPr sz="1800"/>
          </a:p>
        </p:txBody>
      </p:sp>
      <p:sp>
        <p:nvSpPr>
          <p:cNvPr id="1628" name="Google Shape;1628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 </a:t>
            </a:r>
            <a:endParaRPr/>
          </a:p>
        </p:txBody>
      </p:sp>
      <p:graphicFrame>
        <p:nvGraphicFramePr>
          <p:cNvPr id="1629" name="Google Shape;1629;p94"/>
          <p:cNvGraphicFramePr/>
          <p:nvPr/>
        </p:nvGraphicFramePr>
        <p:xfrm>
          <a:off x="535175" y="11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{F3394E82-D0AC-41AB-AE17-E3A0158B5B99}</a:tableStyleId>
              </a:tblPr>
              <a:tblGrid>
                <a:gridCol w="3616225"/>
                <a:gridCol w="2173225"/>
                <a:gridCol w="217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context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utcome A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B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July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the UK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the UK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Australia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drink stall in the UK in December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ost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customer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buy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iced smoothie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hot chocolates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rofessional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arts player in a running racing against a professional sprinter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rofessional darts player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darts player in a darts match against a professional sprinter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darts player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95"/>
          <p:cNvSpPr txBox="1"/>
          <p:nvPr>
            <p:ph idx="1" type="body"/>
          </p:nvPr>
        </p:nvSpPr>
        <p:spPr>
          <a:xfrm>
            <a:off x="324000" y="759300"/>
            <a:ext cx="8496000" cy="6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For each scenario, write down a contextual factor which might affect the likelihood of the outcomes.</a:t>
            </a:r>
            <a:endParaRPr sz="1800"/>
          </a:p>
        </p:txBody>
      </p:sp>
      <p:sp>
        <p:nvSpPr>
          <p:cNvPr id="1635" name="Google Shape;1635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 </a:t>
            </a:r>
            <a:endParaRPr/>
          </a:p>
        </p:txBody>
      </p:sp>
      <p:sp>
        <p:nvSpPr>
          <p:cNvPr id="1636" name="Google Shape;1636;p95"/>
          <p:cNvSpPr txBox="1"/>
          <p:nvPr>
            <p:ph idx="1" type="body"/>
          </p:nvPr>
        </p:nvSpPr>
        <p:spPr>
          <a:xfrm>
            <a:off x="324000" y="15213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Sam and Alex are playing each other in a chess match.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{Sam wins, Alex wins} </a:t>
            </a:r>
            <a:endParaRPr sz="1800"/>
          </a:p>
        </p:txBody>
      </p:sp>
      <p:sp>
        <p:nvSpPr>
          <p:cNvPr id="1637" name="Google Shape;1637;p95"/>
          <p:cNvSpPr txBox="1"/>
          <p:nvPr>
            <p:ph idx="1" type="body"/>
          </p:nvPr>
        </p:nvSpPr>
        <p:spPr>
          <a:xfrm>
            <a:off x="324000" y="27024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Laura is predicting whether it will snow on a particular day.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{snow, no snow} </a:t>
            </a:r>
            <a:endParaRPr sz="1800"/>
          </a:p>
        </p:txBody>
      </p:sp>
      <p:sp>
        <p:nvSpPr>
          <p:cNvPr id="1638" name="Google Shape;1638;p95"/>
          <p:cNvSpPr txBox="1"/>
          <p:nvPr>
            <p:ph idx="1" type="body"/>
          </p:nvPr>
        </p:nvSpPr>
        <p:spPr>
          <a:xfrm>
            <a:off x="324000" y="38835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Jun is buying an ice cream and choosing a flavour.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{vanilla, strawberry, mint, chocolate} 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For each context, tick the outcome that seems most likely to happen.</a:t>
            </a:r>
            <a:endParaRPr sz="1800"/>
          </a:p>
        </p:txBody>
      </p:sp>
      <p:sp>
        <p:nvSpPr>
          <p:cNvPr id="1644" name="Google Shape;1644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 </a:t>
            </a:r>
            <a:endParaRPr/>
          </a:p>
        </p:txBody>
      </p:sp>
      <p:graphicFrame>
        <p:nvGraphicFramePr>
          <p:cNvPr id="1645" name="Google Shape;1645;p96"/>
          <p:cNvGraphicFramePr/>
          <p:nvPr/>
        </p:nvGraphicFramePr>
        <p:xfrm>
          <a:off x="535175" y="11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{F3394E82-D0AC-41AB-AE17-E3A0158B5B99}</a:tableStyleId>
              </a:tblPr>
              <a:tblGrid>
                <a:gridCol w="3616225"/>
                <a:gridCol w="2173225"/>
                <a:gridCol w="217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context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A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B</a:t>
                      </a:r>
                      <a:endParaRPr b="1"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July in the UK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the UK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Australia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drink stall in the UK in December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iced smoothies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hot chocolates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running racing against a professional sprinter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darts player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darts match against a professional sprinter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darts player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46" name="Google Shape;164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962" y="1620000"/>
            <a:ext cx="264897" cy="2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512" y="2019825"/>
            <a:ext cx="264897" cy="2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6762" y="2392123"/>
            <a:ext cx="264897" cy="2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287" y="2959648"/>
            <a:ext cx="264897" cy="2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662" y="3563748"/>
            <a:ext cx="264897" cy="2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087" y="4179823"/>
            <a:ext cx="264897" cy="2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97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scenario, write down a contextual factor which might affect the likelihood of the outcomes.</a:t>
            </a:r>
            <a:endParaRPr sz="1800"/>
          </a:p>
        </p:txBody>
      </p:sp>
      <p:sp>
        <p:nvSpPr>
          <p:cNvPr id="1657" name="Google Shape;1657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non-equally likely outcomes in context </a:t>
            </a:r>
            <a:endParaRPr/>
          </a:p>
        </p:txBody>
      </p:sp>
      <p:sp>
        <p:nvSpPr>
          <p:cNvPr id="1658" name="Google Shape;1658;p97"/>
          <p:cNvSpPr txBox="1"/>
          <p:nvPr>
            <p:ph idx="1" type="body"/>
          </p:nvPr>
        </p:nvSpPr>
        <p:spPr>
          <a:xfrm>
            <a:off x="324000" y="15213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Sam and Alex are playing each other in a chess match.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{Sam wins, Alex wins} </a:t>
            </a:r>
            <a:endParaRPr sz="1800"/>
          </a:p>
        </p:txBody>
      </p:sp>
      <p:sp>
        <p:nvSpPr>
          <p:cNvPr id="1659" name="Google Shape;1659;p97"/>
          <p:cNvSpPr txBox="1"/>
          <p:nvPr>
            <p:ph idx="1" type="body"/>
          </p:nvPr>
        </p:nvSpPr>
        <p:spPr>
          <a:xfrm>
            <a:off x="324000" y="27024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Laura is predicting whether it will snow on a particular day.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{snow, no snow} </a:t>
            </a:r>
            <a:endParaRPr sz="1800"/>
          </a:p>
        </p:txBody>
      </p:sp>
      <p:sp>
        <p:nvSpPr>
          <p:cNvPr id="1660" name="Google Shape;1660;p97"/>
          <p:cNvSpPr txBox="1"/>
          <p:nvPr>
            <p:ph idx="1" type="body"/>
          </p:nvPr>
        </p:nvSpPr>
        <p:spPr>
          <a:xfrm>
            <a:off x="324000" y="3883500"/>
            <a:ext cx="8237700" cy="5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Jun is buying an ice cream and choosing a flavour.</a:t>
            </a:r>
            <a:br>
              <a:rPr lang="en-GB" sz="1800"/>
            </a:br>
            <a:r>
              <a:rPr lang="en-GB" sz="1800"/>
              <a:t>    </a:t>
            </a:r>
            <a:r>
              <a:rPr i="1" lang="en-GB" sz="1800"/>
              <a:t>ξ</a:t>
            </a:r>
            <a:r>
              <a:rPr lang="en-GB" sz="1800"/>
              <a:t> = {vanilla, strawberry, mint, chocolate} </a:t>
            </a:r>
            <a:endParaRPr sz="1800"/>
          </a:p>
        </p:txBody>
      </p:sp>
      <p:sp>
        <p:nvSpPr>
          <p:cNvPr id="1661" name="Google Shape;1661;p97"/>
          <p:cNvSpPr txBox="1"/>
          <p:nvPr>
            <p:ph idx="1" type="body"/>
          </p:nvPr>
        </p:nvSpPr>
        <p:spPr>
          <a:xfrm>
            <a:off x="552600" y="2159991"/>
            <a:ext cx="5830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experience of each player at playing chess.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2" name="Google Shape;1662;p97"/>
          <p:cNvSpPr txBox="1"/>
          <p:nvPr>
            <p:ph idx="1" type="body"/>
          </p:nvPr>
        </p:nvSpPr>
        <p:spPr>
          <a:xfrm>
            <a:off x="552600" y="3316746"/>
            <a:ext cx="71949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Time of the year, location, the weather on the days leading up to it.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3" name="Google Shape;1663;p97"/>
          <p:cNvSpPr txBox="1"/>
          <p:nvPr>
            <p:ph idx="1" type="body"/>
          </p:nvPr>
        </p:nvSpPr>
        <p:spPr>
          <a:xfrm>
            <a:off x="552600" y="4473495"/>
            <a:ext cx="71949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Which flavours Jun prefers.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9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Not all outcomes of a trial are equally likely to happen.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Outcomes that are not equally likely can be compared to determine which one is more likely to happen than the other.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Determining which outcome is more likely to happen can be affected by contextual factors.</a:t>
            </a:r>
            <a:endParaRPr/>
          </a:p>
        </p:txBody>
      </p:sp>
      <p:sp>
        <p:nvSpPr>
          <p:cNvPr id="1669" name="Google Shape;1669;p9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75" name="Google Shape;167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