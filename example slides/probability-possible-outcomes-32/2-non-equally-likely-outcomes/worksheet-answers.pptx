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847DD60E-77FD-42BE-9C4F-552A734A7227}">
  <a:tblStyle styleId="{847DD60E-77FD-42BE-9C4F-552A734A722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23" name="Shape 323"/>
        <p:cNvGrpSpPr/>
        <p:nvPr/>
      </p:nvGrpSpPr>
      <p:grpSpPr>
        <a:xfrm>
          <a:off x="0" y="0"/>
          <a:ext cx="0" cy="0"/>
        </a:xfrm>
      </p:grpSpPr>
      <p:sp>
        <p:nvSpPr>
          <p:cNvPr id="324" name="Google Shape;324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jpeg" /><Relationship Id="rId4" Type="http://schemas.openxmlformats.org/officeDocument/2006/relationships/image" Target="../media/image8.png" /><Relationship Id="rId5" Type="http://schemas.openxmlformats.org/officeDocument/2006/relationships/image" Target="../media/image9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8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Non-equally likely outcomes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" name="Google Shape;174;p20"/>
          <p:cNvSpPr txBox="1"/>
          <p:nvPr/>
        </p:nvSpPr>
        <p:spPr>
          <a:xfrm>
            <a:off x="476400" y="1938505"/>
            <a:ext cx="60354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For each scenario, tick the outcome or event that is most likely to happen.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76398" y="1522850"/>
            <a:ext cx="5868900" cy="1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Identifying which outcome is more likely to happen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76400" y="2293846"/>
            <a:ext cx="25038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rolling a regular six-sided dice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1581755" y="2704095"/>
            <a:ext cx="1712100" cy="6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rolling a multiple of 2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rolling a multiple of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3770267" y="2293846"/>
            <a:ext cx="25038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spinning the spinner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5043107" y="2704095"/>
            <a:ext cx="2057400" cy="6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lands on a factor of 8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lands on a factor of 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76400" y="3897780"/>
            <a:ext cx="30792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picking a counter from the bag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2363351" y="4390911"/>
            <a:ext cx="907200" cy="6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picking A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picking 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3770267" y="3897780"/>
            <a:ext cx="28647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choosing a letter at random from the word MATHEMATICS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3996987" y="4390911"/>
            <a:ext cx="1629600" cy="6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choosing a vowel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choosing a consonant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4" name="Google Shape;184;p20"/>
          <p:cNvPicPr preferRelativeResize="0"/>
          <p:nvPr/>
        </p:nvPicPr>
        <p:blipFill>
          <a:blip r:embed="rId3">
            <a:alphaModFix/>
          </a:blip>
          <a:srcRect l="11955" t="11058" r="13278" b="9037"/>
          <a:stretch>
            <a:fillRect/>
          </a:stretch>
        </p:blipFill>
        <p:spPr>
          <a:xfrm>
            <a:off x="713670" y="2634948"/>
            <a:ext cx="759726" cy="81197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/>
          <p:nvPr/>
        </p:nvSpPr>
        <p:spPr>
          <a:xfrm>
            <a:off x="3957320" y="2546943"/>
            <a:ext cx="965100" cy="965100"/>
          </a:xfrm>
          <a:prstGeom prst="ellipse">
            <a:avLst/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86" name="Google Shape;186;p20"/>
          <p:cNvSpPr/>
          <p:nvPr/>
        </p:nvSpPr>
        <p:spPr>
          <a:xfrm flipH="1">
            <a:off x="3965772" y="2555343"/>
            <a:ext cx="948300" cy="9483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87" name="Google Shape;187;p20"/>
          <p:cNvSpPr/>
          <p:nvPr/>
        </p:nvSpPr>
        <p:spPr>
          <a:xfrm>
            <a:off x="3965720" y="2555343"/>
            <a:ext cx="948300" cy="948300"/>
          </a:xfrm>
          <a:prstGeom prst="pie">
            <a:avLst>
              <a:gd name="adj1" fmla="val 5387953"/>
              <a:gd name="adj2" fmla="val 8080958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88" name="Google Shape;188;p20"/>
          <p:cNvSpPr txBox="1"/>
          <p:nvPr/>
        </p:nvSpPr>
        <p:spPr>
          <a:xfrm>
            <a:off x="4181928" y="3200701"/>
            <a:ext cx="358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3965720" y="2555343"/>
            <a:ext cx="948300" cy="948300"/>
          </a:xfrm>
          <a:prstGeom prst="pie">
            <a:avLst>
              <a:gd name="adj1" fmla="val 10799941"/>
              <a:gd name="adj2" fmla="val 13483876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90" name="Google Shape;190;p20"/>
          <p:cNvSpPr/>
          <p:nvPr/>
        </p:nvSpPr>
        <p:spPr>
          <a:xfrm flipH="1">
            <a:off x="3965772" y="2555343"/>
            <a:ext cx="948300" cy="948300"/>
          </a:xfrm>
          <a:prstGeom prst="pie">
            <a:avLst>
              <a:gd name="adj1" fmla="val 13450827"/>
              <a:gd name="adj2" fmla="val 16200000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91" name="Google Shape;191;p20"/>
          <p:cNvSpPr txBox="1"/>
          <p:nvPr/>
        </p:nvSpPr>
        <p:spPr>
          <a:xfrm>
            <a:off x="4496098" y="2561771"/>
            <a:ext cx="16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3965720" y="2555343"/>
            <a:ext cx="948300" cy="948300"/>
          </a:xfrm>
          <a:prstGeom prst="pie">
            <a:avLst>
              <a:gd name="adj1" fmla="val 13499013"/>
              <a:gd name="adj2" fmla="val 16232488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93" name="Google Shape;193;p20"/>
          <p:cNvSpPr txBox="1"/>
          <p:nvPr/>
        </p:nvSpPr>
        <p:spPr>
          <a:xfrm>
            <a:off x="4203903" y="2486007"/>
            <a:ext cx="32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3965720" y="2555343"/>
            <a:ext cx="948300" cy="948300"/>
          </a:xfrm>
          <a:prstGeom prst="pie">
            <a:avLst>
              <a:gd name="adj1" fmla="val 8080793"/>
              <a:gd name="adj2" fmla="val 10858220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95" name="Google Shape;195;p20"/>
          <p:cNvSpPr txBox="1"/>
          <p:nvPr/>
        </p:nvSpPr>
        <p:spPr>
          <a:xfrm>
            <a:off x="3985611" y="2996284"/>
            <a:ext cx="32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/>
          <p:nvPr/>
        </p:nvSpPr>
        <p:spPr>
          <a:xfrm flipH="1">
            <a:off x="3965772" y="2555343"/>
            <a:ext cx="948300" cy="948300"/>
          </a:xfrm>
          <a:prstGeom prst="pie">
            <a:avLst>
              <a:gd name="adj1" fmla="val 10765400"/>
              <a:gd name="adj2" fmla="val 13465582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97" name="Google Shape;197;p20"/>
          <p:cNvSpPr txBox="1"/>
          <p:nvPr/>
        </p:nvSpPr>
        <p:spPr>
          <a:xfrm>
            <a:off x="4008860" y="2735715"/>
            <a:ext cx="358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/>
          <p:nvPr/>
        </p:nvSpPr>
        <p:spPr>
          <a:xfrm flipH="1">
            <a:off x="3965772" y="2555343"/>
            <a:ext cx="948300" cy="948300"/>
          </a:xfrm>
          <a:prstGeom prst="pie">
            <a:avLst>
              <a:gd name="adj1" fmla="val 5387953"/>
              <a:gd name="adj2" fmla="val 8084426"/>
            </a:avLst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99" name="Google Shape;199;p20"/>
          <p:cNvSpPr txBox="1"/>
          <p:nvPr/>
        </p:nvSpPr>
        <p:spPr>
          <a:xfrm>
            <a:off x="4467369" y="3200201"/>
            <a:ext cx="358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665916" y="3012501"/>
            <a:ext cx="358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4660163" y="2766687"/>
            <a:ext cx="32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2" name="Google Shape;202;p20"/>
          <p:cNvGrpSpPr/>
          <p:nvPr/>
        </p:nvGrpSpPr>
        <p:grpSpPr>
          <a:xfrm>
            <a:off x="4412209" y="2584216"/>
            <a:ext cx="53438" cy="464873"/>
            <a:chOff x="996050" y="213293"/>
            <a:chExt cx="93900" cy="909732"/>
          </a:xfrm>
        </p:grpSpPr>
        <p:cxnSp>
          <p:nvCxnSpPr>
            <p:cNvPr id="203" name="Google Shape;203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04" name="Google Shape;204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05" name="Google Shape;205;p20"/>
          <p:cNvSpPr/>
          <p:nvPr/>
        </p:nvSpPr>
        <p:spPr>
          <a:xfrm rot="7200034">
            <a:off x="5847111" y="6463812"/>
            <a:ext cx="1058982" cy="1058982"/>
          </a:xfrm>
          <a:prstGeom prst="pie">
            <a:avLst>
              <a:gd name="adj1" fmla="val 9034165"/>
              <a:gd name="adj2" fmla="val 14418238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476400" y="5864700"/>
            <a:ext cx="6344700" cy="4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Starting with the least likely, sort the spinners in order of their likelihood of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landing on ‘win’.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2325213" y="6449216"/>
            <a:ext cx="1077600" cy="10776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8" name="Google Shape;208;p20"/>
          <p:cNvSpPr/>
          <p:nvPr/>
        </p:nvSpPr>
        <p:spPr>
          <a:xfrm rot="7200034">
            <a:off x="2334530" y="6458573"/>
            <a:ext cx="1058982" cy="1058982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9" name="Google Shape;209;p20"/>
          <p:cNvSpPr/>
          <p:nvPr/>
        </p:nvSpPr>
        <p:spPr>
          <a:xfrm rot="-7211390">
            <a:off x="2334606" y="6458829"/>
            <a:ext cx="1058929" cy="1058670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2334666" y="6458708"/>
            <a:ext cx="1059000" cy="1059000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655491" y="6492380"/>
            <a:ext cx="1077600" cy="10776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2" name="Google Shape;212;p20"/>
          <p:cNvSpPr/>
          <p:nvPr/>
        </p:nvSpPr>
        <p:spPr>
          <a:xfrm flipH="1">
            <a:off x="664755" y="6501759"/>
            <a:ext cx="1059000" cy="1059000"/>
          </a:xfrm>
          <a:prstGeom prst="pie">
            <a:avLst>
              <a:gd name="adj1" fmla="val 5387953"/>
              <a:gd name="adj2" fmla="val 17083187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664870" y="6501759"/>
            <a:ext cx="1059000" cy="1059000"/>
          </a:xfrm>
          <a:prstGeom prst="pie">
            <a:avLst>
              <a:gd name="adj1" fmla="val 5387953"/>
              <a:gd name="adj2" fmla="val 15655466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750906" y="6897317"/>
            <a:ext cx="44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1263673" y="6897325"/>
            <a:ext cx="62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2933400" y="6708900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2691307" y="7096251"/>
            <a:ext cx="46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2341974" y="6708900"/>
            <a:ext cx="5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9" name="Google Shape;219;p20"/>
          <p:cNvGrpSpPr/>
          <p:nvPr/>
        </p:nvGrpSpPr>
        <p:grpSpPr>
          <a:xfrm>
            <a:off x="2833090" y="6503069"/>
            <a:ext cx="59664" cy="519093"/>
            <a:chOff x="996050" y="213293"/>
            <a:chExt cx="93900" cy="909732"/>
          </a:xfrm>
        </p:grpSpPr>
        <p:cxnSp>
          <p:nvCxnSpPr>
            <p:cNvPr id="220" name="Google Shape;220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21" name="Google Shape;221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22" name="Google Shape;222;p20"/>
          <p:cNvGrpSpPr/>
          <p:nvPr/>
        </p:nvGrpSpPr>
        <p:grpSpPr>
          <a:xfrm>
            <a:off x="1163368" y="6527893"/>
            <a:ext cx="59664" cy="519093"/>
            <a:chOff x="996050" y="213293"/>
            <a:chExt cx="93900" cy="909732"/>
          </a:xfrm>
        </p:grpSpPr>
        <p:cxnSp>
          <p:nvCxnSpPr>
            <p:cNvPr id="223" name="Google Shape;223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24" name="Google Shape;224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25" name="Google Shape;225;p20"/>
          <p:cNvSpPr/>
          <p:nvPr/>
        </p:nvSpPr>
        <p:spPr>
          <a:xfrm>
            <a:off x="5837794" y="6454456"/>
            <a:ext cx="1077600" cy="10776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6" name="Google Shape;226;p20"/>
          <p:cNvSpPr/>
          <p:nvPr/>
        </p:nvSpPr>
        <p:spPr>
          <a:xfrm rot="-7211390">
            <a:off x="5847187" y="6464068"/>
            <a:ext cx="1058929" cy="1058670"/>
          </a:xfrm>
          <a:prstGeom prst="pie">
            <a:avLst>
              <a:gd name="adj1" fmla="val 7194289"/>
              <a:gd name="adj2" fmla="val 1842247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7" name="Google Shape;227;p20"/>
          <p:cNvSpPr/>
          <p:nvPr/>
        </p:nvSpPr>
        <p:spPr>
          <a:xfrm>
            <a:off x="5847247" y="6463947"/>
            <a:ext cx="1059000" cy="1059000"/>
          </a:xfrm>
          <a:prstGeom prst="pie">
            <a:avLst>
              <a:gd name="adj1" fmla="val 16233541"/>
              <a:gd name="adj2" fmla="val 18797770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6502532" y="6707898"/>
            <a:ext cx="5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6010198" y="7004650"/>
            <a:ext cx="62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6357468" y="6443605"/>
            <a:ext cx="5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1" name="Google Shape;231;p20"/>
          <p:cNvGrpSpPr/>
          <p:nvPr/>
        </p:nvGrpSpPr>
        <p:grpSpPr>
          <a:xfrm>
            <a:off x="6345671" y="6508309"/>
            <a:ext cx="59664" cy="519093"/>
            <a:chOff x="996050" y="213293"/>
            <a:chExt cx="93900" cy="909732"/>
          </a:xfrm>
        </p:grpSpPr>
        <p:cxnSp>
          <p:nvCxnSpPr>
            <p:cNvPr id="232" name="Google Shape;232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33" name="Google Shape;233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34" name="Google Shape;234;p20"/>
          <p:cNvSpPr/>
          <p:nvPr/>
        </p:nvSpPr>
        <p:spPr>
          <a:xfrm>
            <a:off x="1450737" y="7595978"/>
            <a:ext cx="1077600" cy="10776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35" name="Google Shape;235;p20"/>
          <p:cNvSpPr/>
          <p:nvPr/>
        </p:nvSpPr>
        <p:spPr>
          <a:xfrm flipH="1">
            <a:off x="1460001" y="7605357"/>
            <a:ext cx="1059000" cy="10590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36" name="Google Shape;236;p20"/>
          <p:cNvSpPr/>
          <p:nvPr/>
        </p:nvSpPr>
        <p:spPr>
          <a:xfrm>
            <a:off x="1460117" y="7605357"/>
            <a:ext cx="1059000" cy="1059000"/>
          </a:xfrm>
          <a:prstGeom prst="pie">
            <a:avLst>
              <a:gd name="adj1" fmla="val 5387953"/>
              <a:gd name="adj2" fmla="val 8080958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37" name="Google Shape;237;p20"/>
          <p:cNvSpPr/>
          <p:nvPr/>
        </p:nvSpPr>
        <p:spPr>
          <a:xfrm>
            <a:off x="1460117" y="7605357"/>
            <a:ext cx="1059000" cy="1059000"/>
          </a:xfrm>
          <a:prstGeom prst="pie">
            <a:avLst>
              <a:gd name="adj1" fmla="val 10799941"/>
              <a:gd name="adj2" fmla="val 13483876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38" name="Google Shape;238;p20"/>
          <p:cNvSpPr/>
          <p:nvPr/>
        </p:nvSpPr>
        <p:spPr>
          <a:xfrm flipH="1">
            <a:off x="1460001" y="7605357"/>
            <a:ext cx="1059000" cy="1059000"/>
          </a:xfrm>
          <a:prstGeom prst="pie">
            <a:avLst>
              <a:gd name="adj1" fmla="val 13450827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39" name="Google Shape;239;p20"/>
          <p:cNvSpPr/>
          <p:nvPr/>
        </p:nvSpPr>
        <p:spPr>
          <a:xfrm>
            <a:off x="1460117" y="7605357"/>
            <a:ext cx="1059000" cy="1059000"/>
          </a:xfrm>
          <a:prstGeom prst="pie">
            <a:avLst>
              <a:gd name="adj1" fmla="val 13499013"/>
              <a:gd name="adj2" fmla="val 16232488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40" name="Google Shape;240;p20"/>
          <p:cNvSpPr txBox="1"/>
          <p:nvPr/>
        </p:nvSpPr>
        <p:spPr>
          <a:xfrm>
            <a:off x="1542526" y="7588075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1460117" y="7605357"/>
            <a:ext cx="1059000" cy="1059000"/>
          </a:xfrm>
          <a:prstGeom prst="pie">
            <a:avLst>
              <a:gd name="adj1" fmla="val 8080793"/>
              <a:gd name="adj2" fmla="val 10858220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42" name="Google Shape;242;p20"/>
          <p:cNvSpPr txBox="1"/>
          <p:nvPr/>
        </p:nvSpPr>
        <p:spPr>
          <a:xfrm>
            <a:off x="1449642" y="8084197"/>
            <a:ext cx="47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0"/>
          <p:cNvSpPr/>
          <p:nvPr/>
        </p:nvSpPr>
        <p:spPr>
          <a:xfrm flipH="1">
            <a:off x="1460001" y="7605357"/>
            <a:ext cx="1059000" cy="1059000"/>
          </a:xfrm>
          <a:prstGeom prst="pie">
            <a:avLst>
              <a:gd name="adj1" fmla="val 10765400"/>
              <a:gd name="adj2" fmla="val 1346558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44" name="Google Shape;244;p20"/>
          <p:cNvSpPr txBox="1"/>
          <p:nvPr/>
        </p:nvSpPr>
        <p:spPr>
          <a:xfrm>
            <a:off x="1408299" y="7868725"/>
            <a:ext cx="5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0"/>
          <p:cNvSpPr/>
          <p:nvPr/>
        </p:nvSpPr>
        <p:spPr>
          <a:xfrm flipH="1">
            <a:off x="1460001" y="7605357"/>
            <a:ext cx="1059000" cy="1059000"/>
          </a:xfrm>
          <a:prstGeom prst="pie">
            <a:avLst>
              <a:gd name="adj1" fmla="val 5387953"/>
              <a:gd name="adj2" fmla="val 8084426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46" name="Google Shape;246;p20"/>
          <p:cNvSpPr txBox="1"/>
          <p:nvPr/>
        </p:nvSpPr>
        <p:spPr>
          <a:xfrm>
            <a:off x="1936922" y="8339850"/>
            <a:ext cx="62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2049800" y="8092175"/>
            <a:ext cx="5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0"/>
          <p:cNvSpPr txBox="1"/>
          <p:nvPr/>
        </p:nvSpPr>
        <p:spPr>
          <a:xfrm>
            <a:off x="2113054" y="7851277"/>
            <a:ext cx="46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9" name="Google Shape;249;p20"/>
          <p:cNvGrpSpPr/>
          <p:nvPr/>
        </p:nvGrpSpPr>
        <p:grpSpPr>
          <a:xfrm>
            <a:off x="1958614" y="7637604"/>
            <a:ext cx="59664" cy="519093"/>
            <a:chOff x="996050" y="213293"/>
            <a:chExt cx="93900" cy="909732"/>
          </a:xfrm>
        </p:grpSpPr>
        <p:cxnSp>
          <p:nvCxnSpPr>
            <p:cNvPr id="250" name="Google Shape;250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51" name="Google Shape;251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52" name="Google Shape;252;p20"/>
          <p:cNvSpPr/>
          <p:nvPr/>
        </p:nvSpPr>
        <p:spPr>
          <a:xfrm>
            <a:off x="4022815" y="6449216"/>
            <a:ext cx="1077600" cy="10776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53" name="Google Shape;253;p20"/>
          <p:cNvSpPr/>
          <p:nvPr/>
        </p:nvSpPr>
        <p:spPr>
          <a:xfrm rot="8649960">
            <a:off x="4032455" y="6458751"/>
            <a:ext cx="1058693" cy="1058693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54" name="Google Shape;254;p20"/>
          <p:cNvSpPr/>
          <p:nvPr/>
        </p:nvSpPr>
        <p:spPr>
          <a:xfrm rot="-8629117">
            <a:off x="4032471" y="6459051"/>
            <a:ext cx="1058536" cy="1058536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55" name="Google Shape;255;p20"/>
          <p:cNvSpPr/>
          <p:nvPr/>
        </p:nvSpPr>
        <p:spPr>
          <a:xfrm rot="-4309305">
            <a:off x="4032418" y="6458944"/>
            <a:ext cx="1058741" cy="1058741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56" name="Google Shape;256;p20"/>
          <p:cNvSpPr/>
          <p:nvPr/>
        </p:nvSpPr>
        <p:spPr>
          <a:xfrm>
            <a:off x="4032372" y="6458860"/>
            <a:ext cx="1058700" cy="105870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57" name="Google Shape;257;p20"/>
          <p:cNvSpPr txBox="1"/>
          <p:nvPr/>
        </p:nvSpPr>
        <p:spPr>
          <a:xfrm>
            <a:off x="4353407" y="7208936"/>
            <a:ext cx="45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0"/>
          <p:cNvSpPr/>
          <p:nvPr/>
        </p:nvSpPr>
        <p:spPr>
          <a:xfrm rot="4312385">
            <a:off x="4032379" y="6458588"/>
            <a:ext cx="1058746" cy="1058746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59" name="Google Shape;259;p20"/>
          <p:cNvSpPr txBox="1"/>
          <p:nvPr/>
        </p:nvSpPr>
        <p:spPr>
          <a:xfrm>
            <a:off x="4121285" y="6574249"/>
            <a:ext cx="45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4592405" y="6574254"/>
            <a:ext cx="45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0"/>
          <p:cNvSpPr txBox="1"/>
          <p:nvPr/>
        </p:nvSpPr>
        <p:spPr>
          <a:xfrm>
            <a:off x="4679427" y="6951000"/>
            <a:ext cx="5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0"/>
          <p:cNvSpPr txBox="1"/>
          <p:nvPr/>
        </p:nvSpPr>
        <p:spPr>
          <a:xfrm>
            <a:off x="3989427" y="6950975"/>
            <a:ext cx="5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3" name="Google Shape;263;p20"/>
          <p:cNvGrpSpPr/>
          <p:nvPr/>
        </p:nvGrpSpPr>
        <p:grpSpPr>
          <a:xfrm>
            <a:off x="4530691" y="6484729"/>
            <a:ext cx="59664" cy="519093"/>
            <a:chOff x="996050" y="213293"/>
            <a:chExt cx="93900" cy="909732"/>
          </a:xfrm>
        </p:grpSpPr>
        <p:cxnSp>
          <p:nvCxnSpPr>
            <p:cNvPr id="264" name="Google Shape;264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65" name="Google Shape;265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66" name="Google Shape;266;p20"/>
          <p:cNvSpPr/>
          <p:nvPr/>
        </p:nvSpPr>
        <p:spPr>
          <a:xfrm>
            <a:off x="3227568" y="7595978"/>
            <a:ext cx="1077600" cy="10776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67" name="Google Shape;267;p20"/>
          <p:cNvSpPr/>
          <p:nvPr/>
        </p:nvSpPr>
        <p:spPr>
          <a:xfrm flipH="1">
            <a:off x="3236832" y="7605357"/>
            <a:ext cx="1059000" cy="10590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68" name="Google Shape;268;p20"/>
          <p:cNvSpPr/>
          <p:nvPr/>
        </p:nvSpPr>
        <p:spPr>
          <a:xfrm>
            <a:off x="3236947" y="7605357"/>
            <a:ext cx="1059000" cy="1059000"/>
          </a:xfrm>
          <a:prstGeom prst="pie">
            <a:avLst>
              <a:gd name="adj1" fmla="val 5387953"/>
              <a:gd name="adj2" fmla="val 8080958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69" name="Google Shape;269;p20"/>
          <p:cNvSpPr txBox="1"/>
          <p:nvPr/>
        </p:nvSpPr>
        <p:spPr>
          <a:xfrm>
            <a:off x="3407437" y="8335048"/>
            <a:ext cx="44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3236947" y="7605357"/>
            <a:ext cx="1059000" cy="1059000"/>
          </a:xfrm>
          <a:prstGeom prst="pie">
            <a:avLst>
              <a:gd name="adj1" fmla="val 10799941"/>
              <a:gd name="adj2" fmla="val 13483876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71" name="Google Shape;271;p20"/>
          <p:cNvSpPr/>
          <p:nvPr/>
        </p:nvSpPr>
        <p:spPr>
          <a:xfrm flipH="1">
            <a:off x="3236832" y="7605357"/>
            <a:ext cx="1059000" cy="1059000"/>
          </a:xfrm>
          <a:prstGeom prst="pie">
            <a:avLst>
              <a:gd name="adj1" fmla="val 13450827"/>
              <a:gd name="adj2" fmla="val 16200000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72" name="Google Shape;272;p20"/>
          <p:cNvSpPr/>
          <p:nvPr/>
        </p:nvSpPr>
        <p:spPr>
          <a:xfrm>
            <a:off x="3236947" y="7605357"/>
            <a:ext cx="1059000" cy="1059000"/>
          </a:xfrm>
          <a:prstGeom prst="pie">
            <a:avLst>
              <a:gd name="adj1" fmla="val 13499013"/>
              <a:gd name="adj2" fmla="val 16232488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73" name="Google Shape;273;p20"/>
          <p:cNvSpPr txBox="1"/>
          <p:nvPr/>
        </p:nvSpPr>
        <p:spPr>
          <a:xfrm>
            <a:off x="3337125" y="7594850"/>
            <a:ext cx="46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3236947" y="7605357"/>
            <a:ext cx="1059000" cy="1059000"/>
          </a:xfrm>
          <a:prstGeom prst="pie">
            <a:avLst>
              <a:gd name="adj1" fmla="val 8080793"/>
              <a:gd name="adj2" fmla="val 10858220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75" name="Google Shape;275;p20"/>
          <p:cNvSpPr txBox="1"/>
          <p:nvPr/>
        </p:nvSpPr>
        <p:spPr>
          <a:xfrm>
            <a:off x="3222631" y="8085157"/>
            <a:ext cx="44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0"/>
          <p:cNvSpPr/>
          <p:nvPr/>
        </p:nvSpPr>
        <p:spPr>
          <a:xfrm flipH="1">
            <a:off x="3236832" y="7605357"/>
            <a:ext cx="1059000" cy="1059000"/>
          </a:xfrm>
          <a:prstGeom prst="pie">
            <a:avLst>
              <a:gd name="adj1" fmla="val 10765400"/>
              <a:gd name="adj2" fmla="val 1346558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77" name="Google Shape;277;p20"/>
          <p:cNvSpPr txBox="1"/>
          <p:nvPr/>
        </p:nvSpPr>
        <p:spPr>
          <a:xfrm>
            <a:off x="3170174" y="7833750"/>
            <a:ext cx="5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0"/>
          <p:cNvSpPr/>
          <p:nvPr/>
        </p:nvSpPr>
        <p:spPr>
          <a:xfrm flipH="1">
            <a:off x="3236832" y="7605357"/>
            <a:ext cx="1059000" cy="1059000"/>
          </a:xfrm>
          <a:prstGeom prst="pie">
            <a:avLst>
              <a:gd name="adj1" fmla="val 5387953"/>
              <a:gd name="adj2" fmla="val 8084426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79" name="Google Shape;279;p20"/>
          <p:cNvSpPr txBox="1"/>
          <p:nvPr/>
        </p:nvSpPr>
        <p:spPr>
          <a:xfrm>
            <a:off x="3731926" y="8337450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0"/>
          <p:cNvSpPr txBox="1"/>
          <p:nvPr/>
        </p:nvSpPr>
        <p:spPr>
          <a:xfrm>
            <a:off x="3885422" y="8092175"/>
            <a:ext cx="5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0"/>
          <p:cNvSpPr txBox="1"/>
          <p:nvPr/>
        </p:nvSpPr>
        <p:spPr>
          <a:xfrm>
            <a:off x="3901755" y="7855187"/>
            <a:ext cx="44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82" name="Google Shape;282;p20"/>
          <p:cNvGrpSpPr/>
          <p:nvPr/>
        </p:nvGrpSpPr>
        <p:grpSpPr>
          <a:xfrm>
            <a:off x="3735445" y="7637604"/>
            <a:ext cx="59664" cy="519093"/>
            <a:chOff x="996050" y="213293"/>
            <a:chExt cx="93900" cy="909732"/>
          </a:xfrm>
        </p:grpSpPr>
        <p:cxnSp>
          <p:nvCxnSpPr>
            <p:cNvPr id="283" name="Google Shape;283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84" name="Google Shape;284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85" name="Google Shape;285;p20"/>
          <p:cNvSpPr/>
          <p:nvPr/>
        </p:nvSpPr>
        <p:spPr>
          <a:xfrm>
            <a:off x="4914899" y="7595978"/>
            <a:ext cx="1077600" cy="10776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6" name="Google Shape;286;p20"/>
          <p:cNvSpPr/>
          <p:nvPr/>
        </p:nvSpPr>
        <p:spPr>
          <a:xfrm flipH="1">
            <a:off x="4924163" y="7605357"/>
            <a:ext cx="1059000" cy="1059000"/>
          </a:xfrm>
          <a:prstGeom prst="pie">
            <a:avLst>
              <a:gd name="adj1" fmla="val 5387953"/>
              <a:gd name="adj2" fmla="val 17083187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7" name="Google Shape;287;p20"/>
          <p:cNvSpPr/>
          <p:nvPr/>
        </p:nvSpPr>
        <p:spPr>
          <a:xfrm>
            <a:off x="4924278" y="7605357"/>
            <a:ext cx="1059000" cy="1059000"/>
          </a:xfrm>
          <a:prstGeom prst="pie">
            <a:avLst>
              <a:gd name="adj1" fmla="val 5387953"/>
              <a:gd name="adj2" fmla="val 16641225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8" name="Google Shape;288;p20"/>
          <p:cNvSpPr txBox="1"/>
          <p:nvPr/>
        </p:nvSpPr>
        <p:spPr>
          <a:xfrm>
            <a:off x="5010318" y="8000917"/>
            <a:ext cx="44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0"/>
          <p:cNvSpPr txBox="1"/>
          <p:nvPr/>
        </p:nvSpPr>
        <p:spPr>
          <a:xfrm>
            <a:off x="5523076" y="8000925"/>
            <a:ext cx="62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0" name="Google Shape;290;p20"/>
          <p:cNvGrpSpPr/>
          <p:nvPr/>
        </p:nvGrpSpPr>
        <p:grpSpPr>
          <a:xfrm>
            <a:off x="5422776" y="7631491"/>
            <a:ext cx="59664" cy="519093"/>
            <a:chOff x="996050" y="213293"/>
            <a:chExt cx="93900" cy="909732"/>
          </a:xfrm>
        </p:grpSpPr>
        <p:cxnSp>
          <p:nvCxnSpPr>
            <p:cNvPr id="291" name="Google Shape;291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92" name="Google Shape;292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93" name="Google Shape;293;p20"/>
          <p:cNvSpPr txBox="1"/>
          <p:nvPr/>
        </p:nvSpPr>
        <p:spPr>
          <a:xfrm>
            <a:off x="1960572" y="7618250"/>
            <a:ext cx="62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0"/>
          <p:cNvSpPr txBox="1"/>
          <p:nvPr/>
        </p:nvSpPr>
        <p:spPr>
          <a:xfrm>
            <a:off x="1572851" y="8335050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0"/>
          <p:cNvSpPr txBox="1"/>
          <p:nvPr/>
        </p:nvSpPr>
        <p:spPr>
          <a:xfrm>
            <a:off x="3752315" y="7578647"/>
            <a:ext cx="47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6" name="Google Shape;29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9675" y="2716498"/>
            <a:ext cx="168900" cy="178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1075" y="3173698"/>
            <a:ext cx="168900" cy="178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7275" y="4850098"/>
            <a:ext cx="168900" cy="178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8075" y="4850098"/>
            <a:ext cx="168900" cy="178749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0"/>
          <p:cNvSpPr txBox="1"/>
          <p:nvPr/>
        </p:nvSpPr>
        <p:spPr>
          <a:xfrm>
            <a:off x="2765221" y="9035139"/>
            <a:ext cx="1978800" cy="3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D, B, A, E, G, C, F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01" name="Google Shape;30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8945" y="4113931"/>
            <a:ext cx="1520111" cy="9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0"/>
          <p:cNvSpPr/>
          <p:nvPr/>
        </p:nvSpPr>
        <p:spPr>
          <a:xfrm>
            <a:off x="1777227" y="4786384"/>
            <a:ext cx="168900" cy="168900"/>
          </a:xfrm>
          <a:prstGeom prst="ellipse">
            <a:avLst/>
          </a:prstGeom>
          <a:solidFill>
            <a:srgbClr val="43434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0"/>
          <p:cNvSpPr txBox="1"/>
          <p:nvPr/>
        </p:nvSpPr>
        <p:spPr>
          <a:xfrm>
            <a:off x="1810568" y="4772256"/>
            <a:ext cx="95700" cy="1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0"/>
          <p:cNvSpPr/>
          <p:nvPr/>
        </p:nvSpPr>
        <p:spPr>
          <a:xfrm>
            <a:off x="1609742" y="4563071"/>
            <a:ext cx="168900" cy="168900"/>
          </a:xfrm>
          <a:prstGeom prst="ellipse">
            <a:avLst/>
          </a:prstGeom>
          <a:solidFill>
            <a:srgbClr val="99999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0"/>
          <p:cNvSpPr txBox="1"/>
          <p:nvPr/>
        </p:nvSpPr>
        <p:spPr>
          <a:xfrm>
            <a:off x="1643084" y="4548943"/>
            <a:ext cx="95700" cy="1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0"/>
          <p:cNvSpPr/>
          <p:nvPr/>
        </p:nvSpPr>
        <p:spPr>
          <a:xfrm>
            <a:off x="1386429" y="4674728"/>
            <a:ext cx="168900" cy="168900"/>
          </a:xfrm>
          <a:prstGeom prst="ellipse">
            <a:avLst/>
          </a:prstGeom>
          <a:solidFill>
            <a:srgbClr val="43434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0"/>
          <p:cNvSpPr txBox="1"/>
          <p:nvPr/>
        </p:nvSpPr>
        <p:spPr>
          <a:xfrm>
            <a:off x="1419771" y="4660600"/>
            <a:ext cx="95700" cy="1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0"/>
          <p:cNvSpPr/>
          <p:nvPr/>
        </p:nvSpPr>
        <p:spPr>
          <a:xfrm>
            <a:off x="1218945" y="4507243"/>
            <a:ext cx="168900" cy="168900"/>
          </a:xfrm>
          <a:prstGeom prst="ellipse">
            <a:avLst/>
          </a:prstGeom>
          <a:solidFill>
            <a:srgbClr val="43434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0"/>
          <p:cNvSpPr txBox="1"/>
          <p:nvPr/>
        </p:nvSpPr>
        <p:spPr>
          <a:xfrm>
            <a:off x="1252286" y="4493115"/>
            <a:ext cx="95700" cy="1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0"/>
          <p:cNvSpPr/>
          <p:nvPr/>
        </p:nvSpPr>
        <p:spPr>
          <a:xfrm>
            <a:off x="939803" y="4786384"/>
            <a:ext cx="168900" cy="168900"/>
          </a:xfrm>
          <a:prstGeom prst="ellipse">
            <a:avLst/>
          </a:prstGeom>
          <a:solidFill>
            <a:srgbClr val="43434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0"/>
          <p:cNvSpPr txBox="1"/>
          <p:nvPr/>
        </p:nvSpPr>
        <p:spPr>
          <a:xfrm>
            <a:off x="973145" y="4772256"/>
            <a:ext cx="95700" cy="1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1163116" y="4786384"/>
            <a:ext cx="168900" cy="168900"/>
          </a:xfrm>
          <a:prstGeom prst="ellipse">
            <a:avLst/>
          </a:prstGeom>
          <a:solidFill>
            <a:srgbClr val="99999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0"/>
          <p:cNvSpPr txBox="1"/>
          <p:nvPr/>
        </p:nvSpPr>
        <p:spPr>
          <a:xfrm>
            <a:off x="1196458" y="4772256"/>
            <a:ext cx="95700" cy="1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0"/>
          <p:cNvSpPr/>
          <p:nvPr/>
        </p:nvSpPr>
        <p:spPr>
          <a:xfrm>
            <a:off x="1557972" y="4825983"/>
            <a:ext cx="168900" cy="168900"/>
          </a:xfrm>
          <a:prstGeom prst="ellipse">
            <a:avLst/>
          </a:prstGeom>
          <a:solidFill>
            <a:srgbClr val="99999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0"/>
          <p:cNvSpPr txBox="1"/>
          <p:nvPr/>
        </p:nvSpPr>
        <p:spPr>
          <a:xfrm>
            <a:off x="1591313" y="4811855"/>
            <a:ext cx="95700" cy="1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0"/>
          <p:cNvSpPr txBox="1"/>
          <p:nvPr/>
        </p:nvSpPr>
        <p:spPr>
          <a:xfrm>
            <a:off x="1136150" y="6293328"/>
            <a:ext cx="1560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0"/>
          <p:cNvSpPr txBox="1"/>
          <p:nvPr/>
        </p:nvSpPr>
        <p:spPr>
          <a:xfrm>
            <a:off x="2800800" y="6246276"/>
            <a:ext cx="1560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0"/>
          <p:cNvSpPr txBox="1"/>
          <p:nvPr/>
        </p:nvSpPr>
        <p:spPr>
          <a:xfrm>
            <a:off x="4502050" y="6238625"/>
            <a:ext cx="156000" cy="1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0"/>
          <p:cNvSpPr txBox="1"/>
          <p:nvPr/>
        </p:nvSpPr>
        <p:spPr>
          <a:xfrm>
            <a:off x="6309525" y="6260776"/>
            <a:ext cx="156000" cy="1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0"/>
          <p:cNvSpPr txBox="1"/>
          <p:nvPr/>
        </p:nvSpPr>
        <p:spPr>
          <a:xfrm>
            <a:off x="1938000" y="7388423"/>
            <a:ext cx="156000" cy="1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0"/>
          <p:cNvSpPr txBox="1"/>
          <p:nvPr/>
        </p:nvSpPr>
        <p:spPr>
          <a:xfrm>
            <a:off x="3688450" y="7397973"/>
            <a:ext cx="156000" cy="1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0"/>
          <p:cNvSpPr txBox="1"/>
          <p:nvPr/>
        </p:nvSpPr>
        <p:spPr>
          <a:xfrm>
            <a:off x="5386438" y="7384723"/>
            <a:ext cx="156000" cy="1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26" name="Shape 326"/>
        <p:cNvGrpSpPr/>
        <p:nvPr/>
      </p:nvGrpSpPr>
      <p:grpSpPr>
        <a:xfrm>
          <a:off x="0" y="0"/>
          <a:ext cx="0" cy="0"/>
        </a:xfrm>
      </p:grpSpPr>
      <p:sp>
        <p:nvSpPr>
          <p:cNvPr id="327" name="Google Shape;327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328" name="Google Shape;328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Non-equally likely outcomes</a:t>
            </a:r>
            <a:endParaRPr/>
          </a:p>
        </p:txBody>
      </p:sp>
      <p:sp>
        <p:nvSpPr>
          <p:cNvPr id="329" name="Google Shape;329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31" name="Google Shape;331;p21"/>
          <p:cNvSpPr txBox="1"/>
          <p:nvPr/>
        </p:nvSpPr>
        <p:spPr>
          <a:xfrm>
            <a:off x="476400" y="1069261"/>
            <a:ext cx="6615600" cy="1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For each context, tick the outcome that seems most likely to happen.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1"/>
          <p:cNvSpPr txBox="1"/>
          <p:nvPr/>
        </p:nvSpPr>
        <p:spPr>
          <a:xfrm>
            <a:off x="476399" y="725450"/>
            <a:ext cx="64332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Recognising non-equally likely outcomes in context 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33" name="Google Shape;333;p21"/>
          <p:cNvGraphicFramePr>
            <a:graphicFrameLocks noGrp="1"/>
          </p:cNvGraphicFramePr>
          <p:nvPr/>
        </p:nvGraphicFramePr>
        <p:xfrm>
          <a:off x="476400" y="1504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{847DD60E-77FD-42BE-9C4F-552A734A7227}</a:tableStyleId>
              </a:tblPr>
              <a:tblGrid>
                <a:gridCol w="3119725"/>
                <a:gridCol w="1747925"/>
                <a:gridCol w="17479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context</a:t>
                      </a:r>
                      <a:endParaRPr sz="12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outcome A</a:t>
                      </a:r>
                      <a:endParaRPr sz="12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outcome B</a:t>
                      </a:r>
                      <a:endParaRPr sz="1200" b="1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95959"/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day in July in the UK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frost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heatwave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day in December in the UK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frost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heatwave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day in December in Australia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frost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heatwave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drink stall in the UK in December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most customers buy iced smoothies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most customers buy hot chocolates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professional darts player in a running racing against a professional sprinter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professional darts player wins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professional sprinter wins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 professional darts player in a darts match against a professional sprinter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professional 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darts player wins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professional sprinter wins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34" name="Google Shape;334;p21"/>
          <p:cNvSpPr txBox="1"/>
          <p:nvPr/>
        </p:nvSpPr>
        <p:spPr>
          <a:xfrm>
            <a:off x="476400" y="5636100"/>
            <a:ext cx="66156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For each scenario, write down a contextual factor which might affect the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likelihood of the outcomes.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1"/>
          <p:cNvSpPr txBox="1"/>
          <p:nvPr/>
        </p:nvSpPr>
        <p:spPr>
          <a:xfrm>
            <a:off x="476400" y="6248053"/>
            <a:ext cx="6615600" cy="4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Sam and Alex are playing each other in a chess match.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{Sam wins, Alex wins}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>
            <a:off x="476400" y="7196581"/>
            <a:ext cx="6615600" cy="4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Laura is predicting whether it will snow on a particular day.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{snow, no snow}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476400" y="8145108"/>
            <a:ext cx="6615600" cy="4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Jun is buying an ice cream and choosing a flavour.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{vanilla, strawberry, mint, chocolate}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38" name="Google Shape;33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0075" y="1954498"/>
            <a:ext cx="168900" cy="178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7475" y="2411698"/>
            <a:ext cx="168900" cy="178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0075" y="2716498"/>
            <a:ext cx="168900" cy="178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1075" y="3326098"/>
            <a:ext cx="168900" cy="178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1075" y="3859498"/>
            <a:ext cx="168900" cy="178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8475" y="4392898"/>
            <a:ext cx="168900" cy="178749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1"/>
          <p:cNvSpPr txBox="1"/>
          <p:nvPr/>
        </p:nvSpPr>
        <p:spPr>
          <a:xfrm>
            <a:off x="552600" y="6673449"/>
            <a:ext cx="52989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experience of each player at playing chess.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552600" y="7739092"/>
            <a:ext cx="65394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Time of the year, location, the weather on the days leading up to it.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6" name="Google Shape;346;p21"/>
          <p:cNvSpPr txBox="1"/>
          <p:nvPr/>
        </p:nvSpPr>
        <p:spPr>
          <a:xfrm>
            <a:off x="552600" y="8676960"/>
            <a:ext cx="65394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Which flavours Jun prefers.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80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Non-equally likely outcomes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2024-02-26T15:31:49.713</cp:lastPrinted>
  <dcterms:created xsi:type="dcterms:W3CDTF">2024-02-26T15:31:49Z</dcterms:created>
  <dcterms:modified xsi:type="dcterms:W3CDTF">2024-02-26T15:32:00Z</dcterms:modified>
</cp:coreProperties>
</file>