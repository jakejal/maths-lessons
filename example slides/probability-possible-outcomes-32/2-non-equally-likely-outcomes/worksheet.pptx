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EDDBA0B-7E01-4E31-8FF0-4AD89EEDAF48}">
  <a:tblStyle styleId="{DEDDBA0B-7E01-4E31-8FF0-4AD89EEDAF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06" name="Shape 306"/>
        <p:cNvGrpSpPr/>
        <p:nvPr/>
      </p:nvGrpSpPr>
      <p:grpSpPr>
        <a:xfrm>
          <a:off x="0" y="0"/>
          <a:ext cx="0" cy="0"/>
        </a:xfrm>
      </p:grpSpPr>
      <p:sp>
        <p:nvSpPr>
          <p:cNvPr id="307" name="Google Shape;30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jpe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Non-equally likely outcomes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938505"/>
            <a:ext cx="6035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scenario, tick the outcome or event that is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398" y="1522850"/>
            <a:ext cx="58689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Identifying which outcome is more likely to happen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293846"/>
            <a:ext cx="2503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rolling a regular six-sided dice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581755" y="2704095"/>
            <a:ext cx="17121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rolling a multiple of 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rolling a multiple of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770267" y="2293846"/>
            <a:ext cx="2503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spinning the spinner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043107" y="2704095"/>
            <a:ext cx="20574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lands on a factor of 8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lands on a factor of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3897780"/>
            <a:ext cx="3079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picking a counter from the bag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363351" y="4390911"/>
            <a:ext cx="9072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picking A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picking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770267" y="3897780"/>
            <a:ext cx="28647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choosing a letter at random from the word MATHEMATICS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996987" y="4390911"/>
            <a:ext cx="16296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choosing a vowel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choosing a consonant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l="11955" t="11058" r="13278" b="9037"/>
          <a:stretch>
            <a:fillRect/>
          </a:stretch>
        </p:blipFill>
        <p:spPr>
          <a:xfrm>
            <a:off x="713670" y="2634948"/>
            <a:ext cx="759726" cy="81197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3957320" y="2546943"/>
            <a:ext cx="965100" cy="9651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3" name="Google Shape;173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4" name="Google Shape;174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5" name="Google Shape;175;p20"/>
          <p:cNvSpPr txBox="1"/>
          <p:nvPr/>
        </p:nvSpPr>
        <p:spPr>
          <a:xfrm>
            <a:off x="4181928" y="32007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7" name="Google Shape;177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4496098" y="2561771"/>
            <a:ext cx="16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4203903" y="2486007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3985611" y="2996284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4" name="Google Shape;184;p20"/>
          <p:cNvSpPr txBox="1"/>
          <p:nvPr/>
        </p:nvSpPr>
        <p:spPr>
          <a:xfrm>
            <a:off x="4008860" y="273571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6" name="Google Shape;186;p20"/>
          <p:cNvSpPr txBox="1"/>
          <p:nvPr/>
        </p:nvSpPr>
        <p:spPr>
          <a:xfrm>
            <a:off x="4467369" y="32002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65916" y="30125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60163" y="2766687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4412209" y="2584216"/>
            <a:ext cx="53438" cy="464873"/>
            <a:chOff x="996050" y="213293"/>
            <a:chExt cx="93900" cy="909732"/>
          </a:xfrm>
        </p:grpSpPr>
        <p:cxnSp>
          <p:nvCxnSpPr>
            <p:cNvPr id="190" name="Google Shape;19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1" name="Google Shape;19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945" y="4113931"/>
            <a:ext cx="1520111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1777227" y="4786384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810568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609742" y="4563071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643084" y="4548943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386429" y="4674728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419771" y="4660600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218945" y="4507243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252286" y="4493115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939803" y="4786384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73145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163116" y="4786384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196458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557972" y="4825983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591313" y="4811855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rot="7200034">
            <a:off x="5847111" y="6463812"/>
            <a:ext cx="1058982" cy="1058982"/>
          </a:xfrm>
          <a:prstGeom prst="pie">
            <a:avLst>
              <a:gd name="adj1" fmla="val 9034165"/>
              <a:gd name="adj2" fmla="val 1441823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5864700"/>
            <a:ext cx="63447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Starting with the least likely, sort the spinners in order of their likelihood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landing on ‘win’.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325213" y="644921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 rot="7200034">
            <a:off x="2334530" y="6458573"/>
            <a:ext cx="1058982" cy="105898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/>
          <p:nvPr/>
        </p:nvSpPr>
        <p:spPr>
          <a:xfrm rot="-7211390">
            <a:off x="2334606" y="6458829"/>
            <a:ext cx="1058929" cy="105867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2334666" y="6458708"/>
            <a:ext cx="1059000" cy="1059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55491" y="6492380"/>
            <a:ext cx="1077600" cy="1077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 flipH="1">
            <a:off x="664755" y="6501759"/>
            <a:ext cx="1059000" cy="10590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64870" y="6501759"/>
            <a:ext cx="1059000" cy="1059000"/>
          </a:xfrm>
          <a:prstGeom prst="pie">
            <a:avLst>
              <a:gd name="adj1" fmla="val 5387953"/>
              <a:gd name="adj2" fmla="val 1565546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50906" y="689731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263673" y="6897325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933400" y="67089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691307" y="709625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341974" y="67089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2833090" y="6503069"/>
            <a:ext cx="59664" cy="519093"/>
            <a:chOff x="996050" y="213293"/>
            <a:chExt cx="93900" cy="909732"/>
          </a:xfrm>
        </p:grpSpPr>
        <p:cxnSp>
          <p:nvCxnSpPr>
            <p:cNvPr id="222" name="Google Shape;22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Google Shape;22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1163368" y="6527893"/>
            <a:ext cx="59664" cy="519093"/>
            <a:chOff x="996050" y="213293"/>
            <a:chExt cx="93900" cy="909732"/>
          </a:xfrm>
        </p:grpSpPr>
        <p:cxnSp>
          <p:nvCxnSpPr>
            <p:cNvPr id="225" name="Google Shape;225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6" name="Google Shape;226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7" name="Google Shape;227;p20"/>
          <p:cNvSpPr/>
          <p:nvPr/>
        </p:nvSpPr>
        <p:spPr>
          <a:xfrm>
            <a:off x="5837794" y="645445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 rot="-7211390">
            <a:off x="5847187" y="6464068"/>
            <a:ext cx="1058929" cy="1058670"/>
          </a:xfrm>
          <a:prstGeom prst="pie">
            <a:avLst>
              <a:gd name="adj1" fmla="val 7194289"/>
              <a:gd name="adj2" fmla="val 184224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847247" y="6463947"/>
            <a:ext cx="1059000" cy="1059000"/>
          </a:xfrm>
          <a:prstGeom prst="pie">
            <a:avLst>
              <a:gd name="adj1" fmla="val 16233541"/>
              <a:gd name="adj2" fmla="val 1879777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02532" y="6707898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010198" y="70046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357468" y="644360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6345671" y="6508309"/>
            <a:ext cx="59664" cy="519093"/>
            <a:chOff x="996050" y="213293"/>
            <a:chExt cx="93900" cy="909732"/>
          </a:xfrm>
        </p:grpSpPr>
        <p:cxnSp>
          <p:nvCxnSpPr>
            <p:cNvPr id="234" name="Google Shape;23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5" name="Google Shape;23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6" name="Google Shape;236;p20"/>
          <p:cNvSpPr/>
          <p:nvPr/>
        </p:nvSpPr>
        <p:spPr>
          <a:xfrm>
            <a:off x="1450737" y="7595978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7" name="Google Shape;237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8" name="Google Shape;238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9" name="Google Shape;239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0" name="Google Shape;240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1" name="Google Shape;241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2" name="Google Shape;242;p20"/>
          <p:cNvSpPr txBox="1"/>
          <p:nvPr/>
        </p:nvSpPr>
        <p:spPr>
          <a:xfrm>
            <a:off x="1542526" y="758807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4" name="Google Shape;244;p20"/>
          <p:cNvSpPr txBox="1"/>
          <p:nvPr/>
        </p:nvSpPr>
        <p:spPr>
          <a:xfrm>
            <a:off x="1449642" y="8084197"/>
            <a:ext cx="47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6" name="Google Shape;246;p20"/>
          <p:cNvSpPr txBox="1"/>
          <p:nvPr/>
        </p:nvSpPr>
        <p:spPr>
          <a:xfrm>
            <a:off x="1408299" y="78687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8" name="Google Shape;248;p20"/>
          <p:cNvSpPr txBox="1"/>
          <p:nvPr/>
        </p:nvSpPr>
        <p:spPr>
          <a:xfrm>
            <a:off x="1936922" y="83398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2049800" y="80921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2113054" y="7851277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0"/>
          <p:cNvGrpSpPr/>
          <p:nvPr/>
        </p:nvGrpSpPr>
        <p:grpSpPr>
          <a:xfrm>
            <a:off x="1958614" y="7637604"/>
            <a:ext cx="59664" cy="519093"/>
            <a:chOff x="996050" y="213293"/>
            <a:chExt cx="93900" cy="909732"/>
          </a:xfrm>
        </p:grpSpPr>
        <p:cxnSp>
          <p:nvCxnSpPr>
            <p:cNvPr id="252" name="Google Shape;25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3" name="Google Shape;25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4" name="Google Shape;254;p20"/>
          <p:cNvSpPr/>
          <p:nvPr/>
        </p:nvSpPr>
        <p:spPr>
          <a:xfrm>
            <a:off x="4022815" y="644921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5" name="Google Shape;255;p20"/>
          <p:cNvSpPr/>
          <p:nvPr/>
        </p:nvSpPr>
        <p:spPr>
          <a:xfrm rot="8649960">
            <a:off x="4032455" y="6458751"/>
            <a:ext cx="1058693" cy="105869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6" name="Google Shape;256;p20"/>
          <p:cNvSpPr/>
          <p:nvPr/>
        </p:nvSpPr>
        <p:spPr>
          <a:xfrm rot="-8629117">
            <a:off x="4032471" y="6459051"/>
            <a:ext cx="1058536" cy="105853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7" name="Google Shape;257;p20"/>
          <p:cNvSpPr/>
          <p:nvPr/>
        </p:nvSpPr>
        <p:spPr>
          <a:xfrm rot="-4309305">
            <a:off x="4032418" y="6458944"/>
            <a:ext cx="1058741" cy="105874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8" name="Google Shape;258;p20"/>
          <p:cNvSpPr/>
          <p:nvPr/>
        </p:nvSpPr>
        <p:spPr>
          <a:xfrm>
            <a:off x="4032372" y="6458860"/>
            <a:ext cx="1058700" cy="1058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9" name="Google Shape;259;p20"/>
          <p:cNvSpPr txBox="1"/>
          <p:nvPr/>
        </p:nvSpPr>
        <p:spPr>
          <a:xfrm>
            <a:off x="4353407" y="7208936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 rot="4312385">
            <a:off x="4032379" y="6458588"/>
            <a:ext cx="1058746" cy="105874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1" name="Google Shape;261;p20"/>
          <p:cNvSpPr txBox="1"/>
          <p:nvPr/>
        </p:nvSpPr>
        <p:spPr>
          <a:xfrm>
            <a:off x="4121285" y="6574249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592405" y="6574254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679427" y="69510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989427" y="6950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5" name="Google Shape;265;p20"/>
          <p:cNvGrpSpPr/>
          <p:nvPr/>
        </p:nvGrpSpPr>
        <p:grpSpPr>
          <a:xfrm>
            <a:off x="4530691" y="6484729"/>
            <a:ext cx="59664" cy="519093"/>
            <a:chOff x="996050" y="213293"/>
            <a:chExt cx="93900" cy="909732"/>
          </a:xfrm>
        </p:grpSpPr>
        <p:cxnSp>
          <p:nvCxnSpPr>
            <p:cNvPr id="266" name="Google Shape;26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7" name="Google Shape;26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68" name="Google Shape;268;p20"/>
          <p:cNvSpPr/>
          <p:nvPr/>
        </p:nvSpPr>
        <p:spPr>
          <a:xfrm>
            <a:off x="3227568" y="7595978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9" name="Google Shape;269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0" name="Google Shape;270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1" name="Google Shape;271;p20"/>
          <p:cNvSpPr txBox="1"/>
          <p:nvPr/>
        </p:nvSpPr>
        <p:spPr>
          <a:xfrm>
            <a:off x="3407437" y="8335048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3" name="Google Shape;273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4" name="Google Shape;274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5" name="Google Shape;275;p20"/>
          <p:cNvSpPr txBox="1"/>
          <p:nvPr/>
        </p:nvSpPr>
        <p:spPr>
          <a:xfrm>
            <a:off x="3337125" y="7594850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7" name="Google Shape;277;p20"/>
          <p:cNvSpPr txBox="1"/>
          <p:nvPr/>
        </p:nvSpPr>
        <p:spPr>
          <a:xfrm>
            <a:off x="3222631" y="808515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9" name="Google Shape;279;p20"/>
          <p:cNvSpPr txBox="1"/>
          <p:nvPr/>
        </p:nvSpPr>
        <p:spPr>
          <a:xfrm>
            <a:off x="3170174" y="783375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81" name="Google Shape;281;p20"/>
          <p:cNvSpPr txBox="1"/>
          <p:nvPr/>
        </p:nvSpPr>
        <p:spPr>
          <a:xfrm>
            <a:off x="3731926" y="83374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3885422" y="80921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901755" y="785518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4" name="Google Shape;284;p20"/>
          <p:cNvGrpSpPr/>
          <p:nvPr/>
        </p:nvGrpSpPr>
        <p:grpSpPr>
          <a:xfrm>
            <a:off x="3735445" y="7637604"/>
            <a:ext cx="59664" cy="519093"/>
            <a:chOff x="996050" y="213293"/>
            <a:chExt cx="93900" cy="909732"/>
          </a:xfrm>
        </p:grpSpPr>
        <p:cxnSp>
          <p:nvCxnSpPr>
            <p:cNvPr id="285" name="Google Shape;285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6" name="Google Shape;286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87" name="Google Shape;287;p20"/>
          <p:cNvSpPr/>
          <p:nvPr/>
        </p:nvSpPr>
        <p:spPr>
          <a:xfrm>
            <a:off x="4914899" y="7595978"/>
            <a:ext cx="1077600" cy="1077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 flipH="1">
            <a:off x="4924163" y="7605357"/>
            <a:ext cx="1059000" cy="10590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4924278" y="7605357"/>
            <a:ext cx="1059000" cy="1059000"/>
          </a:xfrm>
          <a:prstGeom prst="pie">
            <a:avLst>
              <a:gd name="adj1" fmla="val 5387953"/>
              <a:gd name="adj2" fmla="val 1664122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5010318" y="800091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523076" y="8000925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2" name="Google Shape;292;p20"/>
          <p:cNvGrpSpPr/>
          <p:nvPr/>
        </p:nvGrpSpPr>
        <p:grpSpPr>
          <a:xfrm>
            <a:off x="5422776" y="7631491"/>
            <a:ext cx="59664" cy="519093"/>
            <a:chOff x="996050" y="213293"/>
            <a:chExt cx="93900" cy="909732"/>
          </a:xfrm>
        </p:grpSpPr>
        <p:cxnSp>
          <p:nvCxnSpPr>
            <p:cNvPr id="293" name="Google Shape;29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4" name="Google Shape;29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95" name="Google Shape;295;p20"/>
          <p:cNvSpPr txBox="1"/>
          <p:nvPr/>
        </p:nvSpPr>
        <p:spPr>
          <a:xfrm>
            <a:off x="1960572" y="76182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136150" y="6293328"/>
            <a:ext cx="156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2800800" y="6246276"/>
            <a:ext cx="156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4502050" y="6238625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6309525" y="6260776"/>
            <a:ext cx="1560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1938000" y="738842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3688450" y="739797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386438" y="738472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1572851" y="83350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3752315" y="7578647"/>
            <a:ext cx="47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5" name="Google Shape;305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9" name="Shape 309"/>
        <p:cNvGrpSpPr/>
        <p:nvPr/>
      </p:nvGrpSpPr>
      <p:grpSpPr>
        <a:xfrm>
          <a:off x="0" y="0"/>
          <a:ext cx="0" cy="0"/>
        </a:xfrm>
      </p:grpSpPr>
      <p:sp>
        <p:nvSpPr>
          <p:cNvPr id="310" name="Google Shape;31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1" name="Google Shape;31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476400" y="1069261"/>
            <a:ext cx="6615600" cy="1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context, tick the outcome that seems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6399" y="725450"/>
            <a:ext cx="643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Recognising non-equally likely outcomes in context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6" name="Google Shape;316;p21"/>
          <p:cNvGraphicFramePr>
            <a:graphicFrameLocks noGrp="1"/>
          </p:cNvGraphicFramePr>
          <p:nvPr/>
        </p:nvGraphicFramePr>
        <p:xfrm>
          <a:off x="687575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{DEDDBA0B-7E01-4E31-8FF0-4AD89EEDAF48}</a:tableStyleId>
              </a:tblPr>
              <a:tblGrid>
                <a:gridCol w="2908550"/>
                <a:gridCol w="1747925"/>
                <a:gridCol w="1747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context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July in the UK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the UK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Australia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drink stall in the UK in December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iced smoothies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hot chocolates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running racing against a professional sprinter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darts player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darts match against a professional sprinter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darts player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21"/>
          <p:cNvSpPr txBox="1"/>
          <p:nvPr/>
        </p:nvSpPr>
        <p:spPr>
          <a:xfrm>
            <a:off x="476400" y="5636100"/>
            <a:ext cx="6615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scenario, write down a contextual factor which might affect the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likelihood of the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76400" y="6248053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Sam and Alex are playing each other in a chess match.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{Sam wins, Alex wins}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76400" y="7196581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Laura is predicting whether it will snow on a particular day.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{snow, no snow}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76400" y="8145108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Jun is buying an ice cream and choosing a flavour.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{vanilla, strawberry, mint, chocolate}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Non-equally likely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2024-02-26T15:35:11.008</cp:lastPrinted>
  <dcterms:created xsi:type="dcterms:W3CDTF">2024-02-26T15:35:11Z</dcterms:created>
  <dcterms:modified xsi:type="dcterms:W3CDTF">2024-02-26T15:32:01Z</dcterms:modified>
</cp:coreProperties>
</file>