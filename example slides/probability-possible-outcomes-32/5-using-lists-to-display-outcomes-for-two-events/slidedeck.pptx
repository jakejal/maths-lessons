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5143500"/>
  <p:notesSz cx="6858000" cy="9144000"/>
  <p:embeddedFontLst>
    <p:embeddedFont>
      <p:font typeface="Lexend" panose="00000000000000000000"/>
      <p:regular r:id="rId43"/>
    </p:embeddedFont>
    <p:embeddedFont>
      <p:font typeface="Lexend Medium" panose="00000000000000000000"/>
      <p:regular r:id="rId44"/>
    </p:embeddedFont>
    <p:embeddedFont>
      <p:font typeface="Kalam" panose="02000000000000000000"/>
      <p:regular r:id="rId45"/>
    </p:embeddedFont>
    <p:embeddedFont>
      <p:font typeface="Lexend Light" panose="00000000000000000000"/>
      <p:regular r:id="rId46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tags" Target="tags/tag1.xml" /><Relationship Id="rId43" Type="http://schemas.openxmlformats.org/officeDocument/2006/relationships/font" Target="fonts/font1.fntdata" /><Relationship Id="rId44" Type="http://schemas.openxmlformats.org/officeDocument/2006/relationships/font" Target="fonts/font2.fntdata" /><Relationship Id="rId45" Type="http://schemas.openxmlformats.org/officeDocument/2006/relationships/font" Target="fonts/font3.fntdata" /><Relationship Id="rId46" Type="http://schemas.openxmlformats.org/officeDocument/2006/relationships/font" Target="fonts/font4.fntdata" /><Relationship Id="rId47" Type="http://schemas.openxmlformats.org/officeDocument/2006/relationships/presProps" Target="presProps.xml" /><Relationship Id="rId48" Type="http://schemas.openxmlformats.org/officeDocument/2006/relationships/viewProps" Target="viewProps.xml" /><Relationship Id="rId49" Type="http://schemas.openxmlformats.org/officeDocument/2006/relationships/theme" Target="theme/theme1.xml" /><Relationship Id="rId5" Type="http://schemas.openxmlformats.org/officeDocument/2006/relationships/slide" Target="slides/slide3.xml" /><Relationship Id="rId50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1" name="Shape 751"/>
        <p:cNvGrpSpPr/>
        <p:nvPr/>
      </p:nvGrpSpPr>
      <p:grpSpPr>
        <a:xfrm>
          <a:off x="0" y="0"/>
          <a:ext cx="0" cy="0"/>
        </a:xfrm>
      </p:grpSpPr>
      <p:sp>
        <p:nvSpPr>
          <p:cNvPr id="752" name="Google Shape;752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28eaf716063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8eaf716063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28eaf716063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8eaf716063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1" name="Shape 781"/>
        <p:cNvGrpSpPr/>
        <p:nvPr/>
      </p:nvGrpSpPr>
      <p:grpSpPr>
        <a:xfrm>
          <a:off x="0" y="0"/>
          <a:ext cx="0" cy="0"/>
        </a:xfrm>
      </p:grpSpPr>
      <p:sp>
        <p:nvSpPr>
          <p:cNvPr id="782" name="Google Shape;782;g28eaf716063_0_7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8eaf716063_0_7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7" name="Shape 787"/>
        <p:cNvGrpSpPr/>
        <p:nvPr/>
      </p:nvGrpSpPr>
      <p:grpSpPr>
        <a:xfrm>
          <a:off x="0" y="0"/>
          <a:ext cx="0" cy="0"/>
        </a:xfrm>
      </p:grpSpPr>
      <p:sp>
        <p:nvSpPr>
          <p:cNvPr id="788" name="Google Shape;788;g28eaf716063_0_8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8eaf716063_0_8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2" name="Shape 802"/>
        <p:cNvGrpSpPr/>
        <p:nvPr/>
      </p:nvGrpSpPr>
      <p:grpSpPr>
        <a:xfrm>
          <a:off x="0" y="0"/>
          <a:ext cx="0" cy="0"/>
        </a:xfrm>
      </p:grpSpPr>
      <p:sp>
        <p:nvSpPr>
          <p:cNvPr id="803" name="Google Shape;803;g2b495dcee02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b495dcee02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5" name="Shape 825"/>
        <p:cNvGrpSpPr/>
        <p:nvPr/>
      </p:nvGrpSpPr>
      <p:grpSpPr>
        <a:xfrm>
          <a:off x="0" y="0"/>
          <a:ext cx="0" cy="0"/>
        </a:xfrm>
      </p:grpSpPr>
      <p:sp>
        <p:nvSpPr>
          <p:cNvPr id="826" name="Google Shape;826;g28eaf716063_0_7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8eaf716063_0_7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sp>
        <p:nvSpPr>
          <p:cNvPr id="876" name="Google Shape;876;g2b495dcee02_0_1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b495dcee02_0_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4" name="Shape 904"/>
        <p:cNvGrpSpPr/>
        <p:nvPr/>
      </p:nvGrpSpPr>
      <p:grpSpPr>
        <a:xfrm>
          <a:off x="0" y="0"/>
          <a:ext cx="0" cy="0"/>
        </a:xfrm>
      </p:grpSpPr>
      <p:sp>
        <p:nvSpPr>
          <p:cNvPr id="905" name="Google Shape;905;g2b495dcee02_0_1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b495dcee02_0_1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3" name="Shape 933"/>
        <p:cNvGrpSpPr/>
        <p:nvPr/>
      </p:nvGrpSpPr>
      <p:grpSpPr>
        <a:xfrm>
          <a:off x="0" y="0"/>
          <a:ext cx="0" cy="0"/>
        </a:xfrm>
      </p:grpSpPr>
      <p:sp>
        <p:nvSpPr>
          <p:cNvPr id="934" name="Google Shape;934;g2b495dcee02_0_1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2b495dcee02_0_1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9" name="Shape 999"/>
        <p:cNvGrpSpPr/>
        <p:nvPr/>
      </p:nvGrpSpPr>
      <p:grpSpPr>
        <a:xfrm>
          <a:off x="0" y="0"/>
          <a:ext cx="0" cy="0"/>
        </a:xfrm>
      </p:grpSpPr>
      <p:sp>
        <p:nvSpPr>
          <p:cNvPr id="1000" name="Google Shape;1000;g2b495dcee02_0_2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b495dcee02_0_2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2" name="Shape 1032"/>
        <p:cNvGrpSpPr/>
        <p:nvPr/>
      </p:nvGrpSpPr>
      <p:grpSpPr>
        <a:xfrm>
          <a:off x="0" y="0"/>
          <a:ext cx="0" cy="0"/>
        </a:xfrm>
      </p:grpSpPr>
      <p:sp>
        <p:nvSpPr>
          <p:cNvPr id="1033" name="Google Shape;1033;g28eaf716063_0_8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8eaf716063_0_8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4" name="Shape 1054"/>
        <p:cNvGrpSpPr/>
        <p:nvPr/>
      </p:nvGrpSpPr>
      <p:grpSpPr>
        <a:xfrm>
          <a:off x="0" y="0"/>
          <a:ext cx="0" cy="0"/>
        </a:xfrm>
      </p:grpSpPr>
      <p:sp>
        <p:nvSpPr>
          <p:cNvPr id="1055" name="Google Shape;1055;g2b422e1e99b_0_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b422e1e99b_0_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5" name="Shape 1095"/>
        <p:cNvGrpSpPr/>
        <p:nvPr/>
      </p:nvGrpSpPr>
      <p:grpSpPr>
        <a:xfrm>
          <a:off x="0" y="0"/>
          <a:ext cx="0" cy="0"/>
        </a:xfrm>
      </p:grpSpPr>
      <p:sp>
        <p:nvSpPr>
          <p:cNvPr id="1096" name="Google Shape;1096;g28eaf716063_0_7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28eaf716063_0_7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9" name="Shape 1119"/>
        <p:cNvGrpSpPr/>
        <p:nvPr/>
      </p:nvGrpSpPr>
      <p:grpSpPr>
        <a:xfrm>
          <a:off x="0" y="0"/>
          <a:ext cx="0" cy="0"/>
        </a:xfrm>
      </p:grpSpPr>
      <p:sp>
        <p:nvSpPr>
          <p:cNvPr id="1120" name="Google Shape;1120;g28eaf716063_0_8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8eaf716063_0_8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5" name="Shape 1145"/>
        <p:cNvGrpSpPr/>
        <p:nvPr/>
      </p:nvGrpSpPr>
      <p:grpSpPr>
        <a:xfrm>
          <a:off x="0" y="0"/>
          <a:ext cx="0" cy="0"/>
        </a:xfrm>
      </p:grpSpPr>
      <p:sp>
        <p:nvSpPr>
          <p:cNvPr id="1146" name="Google Shape;1146;g2b495dcee02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b495dcee02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4" name="Shape 1154"/>
        <p:cNvGrpSpPr/>
        <p:nvPr/>
      </p:nvGrpSpPr>
      <p:grpSpPr>
        <a:xfrm>
          <a:off x="0" y="0"/>
          <a:ext cx="0" cy="0"/>
        </a:xfrm>
      </p:grpSpPr>
      <p:sp>
        <p:nvSpPr>
          <p:cNvPr id="1155" name="Google Shape;1155;g28eaf716063_0_8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8eaf716063_0_8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4" name="Shape 1184"/>
        <p:cNvGrpSpPr/>
        <p:nvPr/>
      </p:nvGrpSpPr>
      <p:grpSpPr>
        <a:xfrm>
          <a:off x="0" y="0"/>
          <a:ext cx="0" cy="0"/>
        </a:xfrm>
      </p:grpSpPr>
      <p:sp>
        <p:nvSpPr>
          <p:cNvPr id="1185" name="Google Shape;1185;g2b495dcee02_1_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b495dcee02_1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6" name="Shape 1206"/>
        <p:cNvGrpSpPr/>
        <p:nvPr/>
      </p:nvGrpSpPr>
      <p:grpSpPr>
        <a:xfrm>
          <a:off x="0" y="0"/>
          <a:ext cx="0" cy="0"/>
        </a:xfrm>
      </p:grpSpPr>
      <p:sp>
        <p:nvSpPr>
          <p:cNvPr id="1207" name="Google Shape;1207;g2b495dcee02_1_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b495dcee02_1_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3" name="Shape 1233"/>
        <p:cNvGrpSpPr/>
        <p:nvPr/>
      </p:nvGrpSpPr>
      <p:grpSpPr>
        <a:xfrm>
          <a:off x="0" y="0"/>
          <a:ext cx="0" cy="0"/>
        </a:xfrm>
      </p:grpSpPr>
      <p:sp>
        <p:nvSpPr>
          <p:cNvPr id="1234" name="Google Shape;1234;g28eaf716063_0_8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8eaf716063_0_8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0" name="Shape 1270"/>
        <p:cNvGrpSpPr/>
        <p:nvPr/>
      </p:nvGrpSpPr>
      <p:grpSpPr>
        <a:xfrm>
          <a:off x="0" y="0"/>
          <a:ext cx="0" cy="0"/>
        </a:xfrm>
      </p:grpSpPr>
      <p:sp>
        <p:nvSpPr>
          <p:cNvPr id="1271" name="Google Shape;1271;g28eaf716063_0_8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8eaf716063_0_8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8" name="Shape 1288"/>
        <p:cNvGrpSpPr/>
        <p:nvPr/>
      </p:nvGrpSpPr>
      <p:grpSpPr>
        <a:xfrm>
          <a:off x="0" y="0"/>
          <a:ext cx="0" cy="0"/>
        </a:xfrm>
      </p:grpSpPr>
      <p:sp>
        <p:nvSpPr>
          <p:cNvPr id="1289" name="Google Shape;1289;g2b495dcee02_1_1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b495dcee02_1_1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0" name="Shape 1310"/>
        <p:cNvGrpSpPr/>
        <p:nvPr/>
      </p:nvGrpSpPr>
      <p:grpSpPr>
        <a:xfrm>
          <a:off x="0" y="0"/>
          <a:ext cx="0" cy="0"/>
        </a:xfrm>
      </p:grpSpPr>
      <p:sp>
        <p:nvSpPr>
          <p:cNvPr id="1311" name="Google Shape;1311;g2b495dcee02_1_1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b495dcee02_1_1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9" name="Shape 1329"/>
        <p:cNvGrpSpPr/>
        <p:nvPr/>
      </p:nvGrpSpPr>
      <p:grpSpPr>
        <a:xfrm>
          <a:off x="0" y="0"/>
          <a:ext cx="0" cy="0"/>
        </a:xfrm>
      </p:grpSpPr>
      <p:sp>
        <p:nvSpPr>
          <p:cNvPr id="1330" name="Google Shape;1330;g2b495dcee02_1_2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b495dcee02_1_2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7" name="Shape 1337"/>
        <p:cNvGrpSpPr/>
        <p:nvPr/>
      </p:nvGrpSpPr>
      <p:grpSpPr>
        <a:xfrm>
          <a:off x="0" y="0"/>
          <a:ext cx="0" cy="0"/>
        </a:xfrm>
      </p:grpSpPr>
      <p:sp>
        <p:nvSpPr>
          <p:cNvPr id="1338" name="Google Shape;1338;g2b495dcee02_1_2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2b495dcee02_1_2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8" name="Shape 1368"/>
        <p:cNvGrpSpPr/>
        <p:nvPr/>
      </p:nvGrpSpPr>
      <p:grpSpPr>
        <a:xfrm>
          <a:off x="0" y="0"/>
          <a:ext cx="0" cy="0"/>
        </a:xfrm>
      </p:grpSpPr>
      <p:sp>
        <p:nvSpPr>
          <p:cNvPr id="1369" name="Google Shape;1369;g2b495dcee02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2b495dcee02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7" name="Shape 1377"/>
        <p:cNvGrpSpPr/>
        <p:nvPr/>
      </p:nvGrpSpPr>
      <p:grpSpPr>
        <a:xfrm>
          <a:off x="0" y="0"/>
          <a:ext cx="0" cy="0"/>
        </a:xfrm>
      </p:grpSpPr>
      <p:sp>
        <p:nvSpPr>
          <p:cNvPr id="1378" name="Google Shape;1378;g2b495dcee02_0_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2b495dcee02_0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4" name="Shape 1404"/>
        <p:cNvGrpSpPr/>
        <p:nvPr/>
      </p:nvGrpSpPr>
      <p:grpSpPr>
        <a:xfrm>
          <a:off x="0" y="0"/>
          <a:ext cx="0" cy="0"/>
        </a:xfrm>
      </p:grpSpPr>
      <p:sp>
        <p:nvSpPr>
          <p:cNvPr id="1405" name="Google Shape;1405;g2b5c7a3e6c7_1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2b5c7a3e6c7_1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31" name="Shape 1431"/>
        <p:cNvGrpSpPr/>
        <p:nvPr/>
      </p:nvGrpSpPr>
      <p:grpSpPr>
        <a:xfrm>
          <a:off x="0" y="0"/>
          <a:ext cx="0" cy="0"/>
        </a:xfrm>
      </p:grpSpPr>
      <p:sp>
        <p:nvSpPr>
          <p:cNvPr id="1432" name="Google Shape;1432;g2b5c7a3e6c7_1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b5c7a3e6c7_1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8" name="Shape 1458"/>
        <p:cNvGrpSpPr/>
        <p:nvPr/>
      </p:nvGrpSpPr>
      <p:grpSpPr>
        <a:xfrm>
          <a:off x="0" y="0"/>
          <a:ext cx="0" cy="0"/>
        </a:xfrm>
      </p:grpSpPr>
      <p:sp>
        <p:nvSpPr>
          <p:cNvPr id="1459" name="Google Shape;1459;g2b495dcee02_0_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2b495dcee02_0_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0" name="Shape 1480"/>
        <p:cNvGrpSpPr/>
        <p:nvPr/>
      </p:nvGrpSpPr>
      <p:grpSpPr>
        <a:xfrm>
          <a:off x="0" y="0"/>
          <a:ext cx="0" cy="0"/>
        </a:xfrm>
      </p:grpSpPr>
      <p:sp>
        <p:nvSpPr>
          <p:cNvPr id="1481" name="Google Shape;1481;g2b4f96c4087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b4f96c4087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8" name="Shape 1508"/>
        <p:cNvGrpSpPr/>
        <p:nvPr/>
      </p:nvGrpSpPr>
      <p:grpSpPr>
        <a:xfrm>
          <a:off x="0" y="0"/>
          <a:ext cx="0" cy="0"/>
        </a:xfrm>
      </p:grpSpPr>
      <p:sp>
        <p:nvSpPr>
          <p:cNvPr id="1509" name="Google Shape;1509;g2b4f96c4087_0_1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2b4f96c4087_0_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1" name="Shape 1541"/>
        <p:cNvGrpSpPr/>
        <p:nvPr/>
      </p:nvGrpSpPr>
      <p:grpSpPr>
        <a:xfrm>
          <a:off x="0" y="0"/>
          <a:ext cx="0" cy="0"/>
        </a:xfrm>
      </p:grpSpPr>
      <p:sp>
        <p:nvSpPr>
          <p:cNvPr id="1542" name="Google Shape;1542;g2b4f96c4087_0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b4f96c4087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3" name="Shape 1553"/>
        <p:cNvGrpSpPr/>
        <p:nvPr/>
      </p:nvGrpSpPr>
      <p:grpSpPr>
        <a:xfrm>
          <a:off x="0" y="0"/>
          <a:ext cx="0" cy="0"/>
        </a:xfrm>
      </p:grpSpPr>
      <p:sp>
        <p:nvSpPr>
          <p:cNvPr id="1554" name="Google Shape;1554;g2b495dcee02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2b495dcee02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3" name="Shape 1573"/>
        <p:cNvGrpSpPr/>
        <p:nvPr/>
      </p:nvGrpSpPr>
      <p:grpSpPr>
        <a:xfrm>
          <a:off x="0" y="0"/>
          <a:ext cx="0" cy="0"/>
        </a:xfrm>
      </p:grpSpPr>
      <p:sp>
        <p:nvSpPr>
          <p:cNvPr id="1574" name="Google Shape;1574;g2b4f96c4087_0_1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b4f96c4087_0_1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8" name="Shape 1598"/>
        <p:cNvGrpSpPr/>
        <p:nvPr/>
      </p:nvGrpSpPr>
      <p:grpSpPr>
        <a:xfrm>
          <a:off x="0" y="0"/>
          <a:ext cx="0" cy="0"/>
        </a:xfrm>
      </p:grpSpPr>
      <p:sp>
        <p:nvSpPr>
          <p:cNvPr id="1599" name="Google Shape;1599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4" name="Shape 1604"/>
        <p:cNvGrpSpPr/>
        <p:nvPr/>
      </p:nvGrpSpPr>
      <p:grpSpPr>
        <a:xfrm>
          <a:off x="0" y="0"/>
          <a:ext cx="0" cy="0"/>
        </a:xfrm>
      </p:grpSpPr>
      <p:sp>
        <p:nvSpPr>
          <p:cNvPr id="1605" name="Google Shape;160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6" name="Google Shape;746;p62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39.png" /><Relationship Id="rId4" Type="http://schemas.openxmlformats.org/officeDocument/2006/relationships/image" Target="../media/image47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39.png" /><Relationship Id="rId4" Type="http://schemas.openxmlformats.org/officeDocument/2006/relationships/image" Target="../media/image47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8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Relationship Id="rId6" Type="http://schemas.openxmlformats.org/officeDocument/2006/relationships/image" Target="../media/image52.png" /><Relationship Id="rId7" Type="http://schemas.openxmlformats.org/officeDocument/2006/relationships/image" Target="../media/image53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55.png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9.png" /><Relationship Id="rId4" Type="http://schemas.openxmlformats.org/officeDocument/2006/relationships/image" Target="../media/image51.png" /><Relationship Id="rId5" Type="http://schemas.openxmlformats.org/officeDocument/2006/relationships/image" Target="../media/image53.png" /><Relationship Id="rId6" Type="http://schemas.openxmlformats.org/officeDocument/2006/relationships/image" Target="../media/image52.png" /><Relationship Id="rId7" Type="http://schemas.openxmlformats.org/officeDocument/2006/relationships/image" Target="../media/image50.png" /><Relationship Id="rId8" Type="http://schemas.openxmlformats.org/officeDocument/2006/relationships/image" Target="../media/image54.png" /><Relationship Id="rId9" Type="http://schemas.openxmlformats.org/officeDocument/2006/relationships/image" Target="../media/image4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3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6.png" /><Relationship Id="rId4" Type="http://schemas.openxmlformats.org/officeDocument/2006/relationships/image" Target="../media/image57.png" /><Relationship Id="rId5" Type="http://schemas.openxmlformats.org/officeDocument/2006/relationships/image" Target="../media/image58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6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43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47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39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4" name="Shape 754"/>
        <p:cNvGrpSpPr/>
        <p:nvPr/>
      </p:nvGrpSpPr>
      <p:grpSpPr>
        <a:xfrm>
          <a:off x="0" y="0"/>
          <a: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two events</a:t>
            </a:r>
            <a:endParaRPr/>
          </a:p>
        </p:txBody>
      </p:sp>
      <p:sp>
        <p:nvSpPr>
          <p:cNvPr id="756" name="Google Shape;756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systematically find all the possible outcomes for two events by listing them.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6"/>
          <p:cNvSpPr txBox="1"/>
          <p:nvPr>
            <p:ph type="subTitle" idx="2"/>
          </p:nvPr>
        </p:nvSpPr>
        <p:spPr>
          <a:xfrm>
            <a:off x="324000" y="826800"/>
            <a:ext cx="8496000" cy="79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When listing outcomes </a:t>
            </a:r>
            <a:r>
              <a:rPr lang="en-GB" b="1"/>
              <a:t>systematically</a:t>
            </a:r>
            <a:r>
              <a:rPr lang="en-GB"/>
              <a:t>, they are listed in such a way as to ensure all outcomes are recorded. 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778" name="Google Shape;778;p67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two events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00" y="1748764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7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of two events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4" name="Shape 784"/>
        <p:cNvGrpSpPr/>
        <p:nvPr/>
      </p:nvGrpSpPr>
      <p:grpSpPr>
        <a:xfrm>
          <a:off x="0" y="0"/>
          <a:ext cx="0" cy="0"/>
        </a:xfrm>
      </p:grpSpPr>
      <p:sp>
        <p:nvSpPr>
          <p:cNvPr id="785" name="Google Shape;785;p6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If we roll a fair six-sided dice, then the possible outcomes are {1, 2, 3, 4, 5, 6}.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If we were to flip a fair coin, then the possible outcomes are {heads, tails}.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If we were to randomly select a letter of the alphabet, then the possible outcomes are {a, b, c, d, e, f, g, h, i, j, k, l, m, n, o, p, q, r, s, t, u, v, w, x, y, z}.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We can list the outcomes of a single stage trial, relatively easily.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786" name="Google Shape;786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0" name="Shape 790"/>
        <p:cNvGrpSpPr/>
        <p:nvPr/>
      </p:nvGrpSpPr>
      <p:grpSpPr>
        <a:xfrm>
          <a:off x="0" y="0"/>
          <a:ext cx="0" cy="0"/>
        </a:xfrm>
      </p:grpSpPr>
      <p:sp>
        <p:nvSpPr>
          <p:cNvPr id="791" name="Google Shape;791;p69"/>
          <p:cNvSpPr txBox="1"/>
          <p:nvPr>
            <p:ph type="body" idx="1"/>
          </p:nvPr>
        </p:nvSpPr>
        <p:spPr>
          <a:xfrm>
            <a:off x="324000" y="759300"/>
            <a:ext cx="82377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we were to spin this spinner twice, what are the possible outcomes?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792" name="Google Shape;792;p69"/>
          <p:cNvSpPr txBox="1"/>
          <p:nvPr>
            <p:ph type="body" idx="1"/>
          </p:nvPr>
        </p:nvSpPr>
        <p:spPr>
          <a:xfrm>
            <a:off x="324000" y="1159425"/>
            <a:ext cx="1408500" cy="16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win, win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lose, lose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lose, win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win, lose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793" name="Google Shape;793;p69"/>
          <p:cNvSpPr/>
          <p:nvPr/>
        </p:nvSpPr>
        <p:spPr>
          <a:xfrm>
            <a:off x="6611250" y="1312050"/>
            <a:ext cx="1695900" cy="169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4" name="Google Shape;794;p69"/>
          <p:cNvSpPr/>
          <p:nvPr/>
        </p:nvSpPr>
        <p:spPr>
          <a:xfrm flipH="1">
            <a:off x="6625939" y="1326811"/>
            <a:ext cx="1666500" cy="1666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5" name="Google Shape;795;p69"/>
          <p:cNvSpPr/>
          <p:nvPr/>
        </p:nvSpPr>
        <p:spPr>
          <a:xfrm>
            <a:off x="6626011" y="1326811"/>
            <a:ext cx="1666500" cy="16665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6" name="Google Shape;796;p69"/>
          <p:cNvSpPr txBox="1"/>
          <p:nvPr/>
        </p:nvSpPr>
        <p:spPr>
          <a:xfrm>
            <a:off x="6761425" y="1949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 txBox="1"/>
          <p:nvPr/>
        </p:nvSpPr>
        <p:spPr>
          <a:xfrm>
            <a:off x="7568376" y="194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8" name="Google Shape;798;p69"/>
          <p:cNvGrpSpPr/>
          <p:nvPr/>
        </p:nvGrpSpPr>
        <p:grpSpPr>
          <a:xfrm>
            <a:off x="7410559" y="1404623"/>
            <a:ext cx="93900" cy="816939"/>
            <a:chOff x="996050" y="213293"/>
            <a:chExt cx="93900" cy="909732"/>
          </a:xfrm>
        </p:grpSpPr>
        <p:cxnSp>
          <p:nvCxnSpPr>
            <p:cNvPr id="799" name="Google Shape;799;p6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00" name="Google Shape;800;p6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01" name="Google Shape;80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5" name="Shape 805"/>
        <p:cNvGrpSpPr/>
        <p:nvPr/>
      </p:nvGrpSpPr>
      <p:grpSpPr>
        <a:xfrm>
          <a:off x="0" y="0"/>
          <a:ext cx="0" cy="0"/>
        </a:xfrm>
      </p:grpSpPr>
      <p:sp>
        <p:nvSpPr>
          <p:cNvPr id="806" name="Google Shape;806;p70"/>
          <p:cNvSpPr txBox="1"/>
          <p:nvPr>
            <p:ph type="body" idx="1"/>
          </p:nvPr>
        </p:nvSpPr>
        <p:spPr>
          <a:xfrm>
            <a:off x="324000" y="759300"/>
            <a:ext cx="82377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we were to spin this spinner twice, what are the possible outcomes?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07" name="Google Shape;80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Possible outcomes from a two stage trial</a:t>
            </a:r>
            <a:endParaRPr/>
          </a:p>
        </p:txBody>
      </p:sp>
      <p:sp>
        <p:nvSpPr>
          <p:cNvPr id="808" name="Google Shape;808;p70"/>
          <p:cNvSpPr txBox="1"/>
          <p:nvPr>
            <p:ph type="body" idx="1"/>
          </p:nvPr>
        </p:nvSpPr>
        <p:spPr>
          <a:xfrm>
            <a:off x="324000" y="1152525"/>
            <a:ext cx="1431900" cy="21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win, win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lose, lose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lose, win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win, lose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09" name="Google Shape;809;p70"/>
          <p:cNvSpPr/>
          <p:nvPr/>
        </p:nvSpPr>
        <p:spPr>
          <a:xfrm>
            <a:off x="6611250" y="1312050"/>
            <a:ext cx="1695900" cy="1695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0" name="Google Shape;810;p70"/>
          <p:cNvSpPr/>
          <p:nvPr/>
        </p:nvSpPr>
        <p:spPr>
          <a:xfrm flipH="1">
            <a:off x="6625939" y="1326811"/>
            <a:ext cx="1666500" cy="1666500"/>
          </a:xfrm>
          <a:prstGeom prst="pie">
            <a:avLst>
              <a:gd name="adj1" fmla="val 5387953"/>
              <a:gd name="adj2" fmla="val 17083187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1" name="Google Shape;811;p70"/>
          <p:cNvSpPr/>
          <p:nvPr/>
        </p:nvSpPr>
        <p:spPr>
          <a:xfrm>
            <a:off x="6626011" y="1326811"/>
            <a:ext cx="1666500" cy="1666500"/>
          </a:xfrm>
          <a:prstGeom prst="pie">
            <a:avLst>
              <a:gd name="adj1" fmla="val 5387953"/>
              <a:gd name="adj2" fmla="val 15344951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2" name="Google Shape;812;p70"/>
          <p:cNvSpPr txBox="1"/>
          <p:nvPr/>
        </p:nvSpPr>
        <p:spPr>
          <a:xfrm>
            <a:off x="6761425" y="1949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/>
        </p:nvSpPr>
        <p:spPr>
          <a:xfrm>
            <a:off x="7568376" y="1949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4" name="Google Shape;814;p70"/>
          <p:cNvGrpSpPr/>
          <p:nvPr/>
        </p:nvGrpSpPr>
        <p:grpSpPr>
          <a:xfrm>
            <a:off x="7410559" y="1406790"/>
            <a:ext cx="93900" cy="816939"/>
            <a:chOff x="996050" y="213293"/>
            <a:chExt cx="93900" cy="909732"/>
          </a:xfrm>
        </p:grpSpPr>
        <p:cxnSp>
          <p:nvCxnSpPr>
            <p:cNvPr id="815" name="Google Shape;815;p7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16" name="Google Shape;816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817" name="Google Shape;81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50" y="323135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0"/>
          <p:cNvSpPr txBox="1"/>
          <p:nvPr/>
        </p:nvSpPr>
        <p:spPr>
          <a:xfrm>
            <a:off x="648975" y="440836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9" name="Google Shape;819;p7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248773" y="1931400"/>
            <a:ext cx="2323476" cy="1588251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0"/>
          <p:cNvSpPr txBox="1"/>
          <p:nvPr>
            <p:ph type="body" idx="1"/>
          </p:nvPr>
        </p:nvSpPr>
        <p:spPr>
          <a:xfrm>
            <a:off x="1453552" y="1970216"/>
            <a:ext cx="1955400" cy="5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spinners are different, why are the outcomes the same?</a:t>
            </a:r>
            <a:endParaRPr sz="1800"/>
          </a:p>
        </p:txBody>
      </p:sp>
      <p:pic>
        <p:nvPicPr>
          <p:cNvPr id="821" name="Google Shape;821;p7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3683400" y="2270175"/>
            <a:ext cx="2926776" cy="158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526602" y="341612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0"/>
          <p:cNvSpPr txBox="1"/>
          <p:nvPr/>
        </p:nvSpPr>
        <p:spPr>
          <a:xfrm>
            <a:off x="6500850" y="44487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 txBox="1"/>
          <p:nvPr>
            <p:ph type="body" idx="1"/>
          </p:nvPr>
        </p:nvSpPr>
        <p:spPr>
          <a:xfrm>
            <a:off x="3739550" y="2275025"/>
            <a:ext cx="2761800" cy="5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spinners have the same outcomes, but the likelihood of the outcomes has changed.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8" name="Shape 828"/>
        <p:cNvGrpSpPr/>
        <p:nvPr/>
      </p:nvGrpSpPr>
      <p:grpSpPr>
        <a:xfrm>
          <a:off x="0" y="0"/>
          <a:ext cx="0" cy="0"/>
        </a:xfrm>
      </p:grpSpPr>
      <p:sp>
        <p:nvSpPr>
          <p:cNvPr id="829" name="Google Shape;829;p71"/>
          <p:cNvSpPr txBox="1"/>
          <p:nvPr>
            <p:ph type="body" idx="1"/>
          </p:nvPr>
        </p:nvSpPr>
        <p:spPr>
          <a:xfrm>
            <a:off x="324000" y="747843"/>
            <a:ext cx="8496000" cy="88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of the following spinners, when spun twice do not have a sample space of {win/win, lose/lose, win/lose, lose/win}?</a:t>
            </a:r>
            <a:endParaRPr/>
          </a:p>
        </p:txBody>
      </p:sp>
      <p:grpSp>
        <p:nvGrpSpPr>
          <p:cNvPr id="830" name="Google Shape;830;p71"/>
          <p:cNvGrpSpPr/>
          <p:nvPr/>
        </p:nvGrpSpPr>
        <p:grpSpPr>
          <a:xfrm>
            <a:off x="545550" y="1822911"/>
            <a:ext cx="2278500" cy="2278500"/>
            <a:chOff x="813675" y="1822861"/>
            <a:chExt cx="2278500" cy="2278500"/>
          </a:xfrm>
        </p:grpSpPr>
        <p:sp>
          <p:nvSpPr>
            <p:cNvPr id="831" name="Google Shape;831;p71"/>
            <p:cNvSpPr/>
            <p:nvPr/>
          </p:nvSpPr>
          <p:spPr>
            <a:xfrm>
              <a:off x="1104825" y="21139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32" name="Google Shape;832;p71"/>
            <p:cNvSpPr/>
            <p:nvPr/>
          </p:nvSpPr>
          <p:spPr>
            <a:xfrm rot="7199661">
              <a:off x="1119634" y="2128828"/>
              <a:ext cx="1666484" cy="1666484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33" name="Google Shape;833;p71"/>
            <p:cNvSpPr/>
            <p:nvPr/>
          </p:nvSpPr>
          <p:spPr>
            <a:xfrm rot="-7211867">
              <a:off x="1119702" y="2128888"/>
              <a:ext cx="1666446" cy="1666446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34" name="Google Shape;834;p71"/>
            <p:cNvSpPr/>
            <p:nvPr/>
          </p:nvSpPr>
          <p:spPr>
            <a:xfrm>
              <a:off x="1119702" y="2128888"/>
              <a:ext cx="1666500" cy="1666500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35" name="Google Shape;835;p71"/>
            <p:cNvSpPr txBox="1"/>
            <p:nvPr/>
          </p:nvSpPr>
          <p:spPr>
            <a:xfrm>
              <a:off x="2061951" y="252263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6" name="Google Shape;836;p71"/>
            <p:cNvSpPr txBox="1"/>
            <p:nvPr/>
          </p:nvSpPr>
          <p:spPr>
            <a:xfrm>
              <a:off x="1680951" y="313223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lose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7" name="Google Shape;837;p71"/>
            <p:cNvSpPr txBox="1"/>
            <p:nvPr/>
          </p:nvSpPr>
          <p:spPr>
            <a:xfrm>
              <a:off x="1223751" y="252263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38" name="Google Shape;838;p71"/>
            <p:cNvGrpSpPr/>
            <p:nvPr/>
          </p:nvGrpSpPr>
          <p:grpSpPr>
            <a:xfrm>
              <a:off x="1904134" y="2198706"/>
              <a:ext cx="93900" cy="816939"/>
              <a:chOff x="996050" y="213293"/>
              <a:chExt cx="93900" cy="909732"/>
            </a:xfrm>
          </p:grpSpPr>
          <p:cxnSp>
            <p:nvCxnSpPr>
              <p:cNvPr id="839" name="Google Shape;839;p71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40" name="Google Shape;840;p71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1" name="Google Shape;841;p71"/>
          <p:cNvGrpSpPr/>
          <p:nvPr/>
        </p:nvGrpSpPr>
        <p:grpSpPr>
          <a:xfrm>
            <a:off x="3724050" y="2114200"/>
            <a:ext cx="1695900" cy="1695900"/>
            <a:chOff x="3940725" y="2114200"/>
            <a:chExt cx="1695900" cy="1695900"/>
          </a:xfrm>
        </p:grpSpPr>
        <p:sp>
          <p:nvSpPr>
            <p:cNvPr id="842" name="Google Shape;842;p71"/>
            <p:cNvSpPr/>
            <p:nvPr/>
          </p:nvSpPr>
          <p:spPr>
            <a:xfrm>
              <a:off x="3940725" y="211420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3" name="Google Shape;843;p71"/>
            <p:cNvSpPr/>
            <p:nvPr/>
          </p:nvSpPr>
          <p:spPr>
            <a:xfrm flipH="1">
              <a:off x="3955414" y="2128961"/>
              <a:ext cx="1666500" cy="1666500"/>
            </a:xfrm>
            <a:prstGeom prst="pie">
              <a:avLst>
                <a:gd name="adj1" fmla="val 5387953"/>
                <a:gd name="adj2" fmla="val 10824216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4" name="Google Shape;844;p71"/>
            <p:cNvSpPr/>
            <p:nvPr/>
          </p:nvSpPr>
          <p:spPr>
            <a:xfrm>
              <a:off x="3955486" y="2128961"/>
              <a:ext cx="1666500" cy="1666500"/>
            </a:xfrm>
            <a:prstGeom prst="pie">
              <a:avLst>
                <a:gd name="adj1" fmla="val 5387953"/>
                <a:gd name="adj2" fmla="val 10858220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5" name="Google Shape;845;p71"/>
            <p:cNvSpPr txBox="1"/>
            <p:nvPr/>
          </p:nvSpPr>
          <p:spPr>
            <a:xfrm>
              <a:off x="4167100" y="3056282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6" name="Google Shape;846;p71"/>
            <p:cNvSpPr/>
            <p:nvPr/>
          </p:nvSpPr>
          <p:spPr>
            <a:xfrm>
              <a:off x="3955486" y="2128961"/>
              <a:ext cx="1666500" cy="1666500"/>
            </a:xfrm>
            <a:prstGeom prst="pie">
              <a:avLst>
                <a:gd name="adj1" fmla="val 10799941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7" name="Google Shape;847;p71"/>
            <p:cNvSpPr txBox="1"/>
            <p:nvPr/>
          </p:nvSpPr>
          <p:spPr>
            <a:xfrm>
              <a:off x="4167100" y="2370482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8" name="Google Shape;848;p71"/>
            <p:cNvSpPr/>
            <p:nvPr/>
          </p:nvSpPr>
          <p:spPr>
            <a:xfrm flipH="1">
              <a:off x="3955414" y="2128961"/>
              <a:ext cx="1666500" cy="1666500"/>
            </a:xfrm>
            <a:prstGeom prst="pie">
              <a:avLst>
                <a:gd name="adj1" fmla="val 10825856"/>
                <a:gd name="adj2" fmla="val 16200000"/>
              </a:avLst>
            </a:prstGeom>
            <a:solidFill>
              <a:schemeClr val="accent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9" name="Google Shape;849;p71"/>
            <p:cNvSpPr txBox="1"/>
            <p:nvPr/>
          </p:nvSpPr>
          <p:spPr>
            <a:xfrm>
              <a:off x="4833925" y="2370475"/>
              <a:ext cx="693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draw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0" name="Google Shape;850;p71"/>
            <p:cNvSpPr txBox="1"/>
            <p:nvPr/>
          </p:nvSpPr>
          <p:spPr>
            <a:xfrm>
              <a:off x="4897851" y="305628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lose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51" name="Google Shape;851;p71"/>
            <p:cNvGrpSpPr/>
            <p:nvPr/>
          </p:nvGrpSpPr>
          <p:grpSpPr>
            <a:xfrm>
              <a:off x="4740034" y="2179713"/>
              <a:ext cx="93900" cy="816939"/>
              <a:chOff x="996050" y="213293"/>
              <a:chExt cx="93900" cy="909732"/>
            </a:xfrm>
          </p:grpSpPr>
          <p:cxnSp>
            <p:nvCxnSpPr>
              <p:cNvPr id="852" name="Google Shape;852;p71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53" name="Google Shape;853;p71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54" name="Google Shape;854;p71"/>
          <p:cNvGrpSpPr/>
          <p:nvPr/>
        </p:nvGrpSpPr>
        <p:grpSpPr>
          <a:xfrm>
            <a:off x="6611250" y="2114200"/>
            <a:ext cx="1695900" cy="1695900"/>
            <a:chOff x="6691250" y="2114250"/>
            <a:chExt cx="1695900" cy="1695900"/>
          </a:xfrm>
        </p:grpSpPr>
        <p:sp>
          <p:nvSpPr>
            <p:cNvPr id="855" name="Google Shape;855;p71"/>
            <p:cNvSpPr/>
            <p:nvPr/>
          </p:nvSpPr>
          <p:spPr>
            <a:xfrm>
              <a:off x="6691250" y="2114250"/>
              <a:ext cx="1695900" cy="16959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6" name="Google Shape;856;p71"/>
            <p:cNvSpPr/>
            <p:nvPr/>
          </p:nvSpPr>
          <p:spPr>
            <a:xfrm flipH="1">
              <a:off x="6705939" y="2129011"/>
              <a:ext cx="1666500" cy="1666500"/>
            </a:xfrm>
            <a:prstGeom prst="pie">
              <a:avLst>
                <a:gd name="adj1" fmla="val 5387953"/>
                <a:gd name="adj2" fmla="val 17083187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7" name="Google Shape;857;p71"/>
            <p:cNvSpPr/>
            <p:nvPr/>
          </p:nvSpPr>
          <p:spPr>
            <a:xfrm>
              <a:off x="6706011" y="2129011"/>
              <a:ext cx="1666500" cy="1666500"/>
            </a:xfrm>
            <a:prstGeom prst="pie">
              <a:avLst>
                <a:gd name="adj1" fmla="val 5387953"/>
                <a:gd name="adj2" fmla="val 17620739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58" name="Google Shape;858;p71"/>
            <p:cNvSpPr txBox="1"/>
            <p:nvPr/>
          </p:nvSpPr>
          <p:spPr>
            <a:xfrm>
              <a:off x="6841425" y="2751532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9" name="Google Shape;859;p71"/>
            <p:cNvSpPr txBox="1"/>
            <p:nvPr/>
          </p:nvSpPr>
          <p:spPr>
            <a:xfrm>
              <a:off x="7648376" y="275153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lose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60" name="Google Shape;860;p71"/>
            <p:cNvGrpSpPr/>
            <p:nvPr/>
          </p:nvGrpSpPr>
          <p:grpSpPr>
            <a:xfrm>
              <a:off x="7490559" y="2170142"/>
              <a:ext cx="93900" cy="816939"/>
              <a:chOff x="996050" y="213293"/>
              <a:chExt cx="93900" cy="909732"/>
            </a:xfrm>
          </p:grpSpPr>
          <p:cxnSp>
            <p:nvCxnSpPr>
              <p:cNvPr id="861" name="Google Shape;861;p71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62" name="Google Shape;862;p71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63" name="Google Shape;863;p71"/>
          <p:cNvGrpSpPr/>
          <p:nvPr/>
        </p:nvGrpSpPr>
        <p:grpSpPr>
          <a:xfrm>
            <a:off x="1456191" y="4091400"/>
            <a:ext cx="457200" cy="457200"/>
            <a:chOff x="1020916" y="1442088"/>
            <a:chExt cx="457200" cy="457200"/>
          </a:xfrm>
        </p:grpSpPr>
        <p:pic>
          <p:nvPicPr>
            <p:cNvPr id="864" name="Google Shape;864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5" name="Google Shape;865;p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6" name="Google Shape;866;p71"/>
          <p:cNvGrpSpPr/>
          <p:nvPr/>
        </p:nvGrpSpPr>
        <p:grpSpPr>
          <a:xfrm>
            <a:off x="4343391" y="4091400"/>
            <a:ext cx="457200" cy="457200"/>
            <a:chOff x="1020916" y="1442088"/>
            <a:chExt cx="457200" cy="457200"/>
          </a:xfrm>
        </p:grpSpPr>
        <p:pic>
          <p:nvPicPr>
            <p:cNvPr id="867" name="Google Shape;867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8" name="Google Shape;868;p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9" name="Google Shape;869;p71"/>
          <p:cNvGrpSpPr/>
          <p:nvPr/>
        </p:nvGrpSpPr>
        <p:grpSpPr>
          <a:xfrm>
            <a:off x="7230591" y="4091400"/>
            <a:ext cx="457200" cy="457200"/>
            <a:chOff x="1020916" y="1442088"/>
            <a:chExt cx="457200" cy="457200"/>
          </a:xfrm>
        </p:grpSpPr>
        <p:pic>
          <p:nvPicPr>
            <p:cNvPr id="870" name="Google Shape;870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1" name="Google Shape;871;p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72" name="Google Shape;87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91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1"/>
          <p:cNvSpPr txBox="1"/>
          <p:nvPr>
            <p:ph type="body" idx="1"/>
          </p:nvPr>
        </p:nvSpPr>
        <p:spPr>
          <a:xfrm>
            <a:off x="2341125" y="1619996"/>
            <a:ext cx="61587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spin has three possible outcomes rather than two.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4" name="Google Shape;87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8" name="Shape 878"/>
        <p:cNvGrpSpPr/>
        <p:nvPr/>
      </p:nvGrpSpPr>
      <p:grpSpPr>
        <a:xfrm>
          <a:off x="0" y="0"/>
          <a:ext cx="0" cy="0"/>
        </a:xfrm>
      </p:grpSpPr>
      <p:sp>
        <p:nvSpPr>
          <p:cNvPr id="879" name="Google Shape;879;p72"/>
          <p:cNvSpPr txBox="1"/>
          <p:nvPr>
            <p:ph type="body" idx="1"/>
          </p:nvPr>
        </p:nvSpPr>
        <p:spPr>
          <a:xfrm>
            <a:off x="324000" y="759300"/>
            <a:ext cx="82377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were to spin this spinner twice, what are the possible outcomes?</a:t>
            </a:r>
            <a:endParaRPr sz="1800"/>
          </a:p>
        </p:txBody>
      </p:sp>
      <p:grpSp>
        <p:nvGrpSpPr>
          <p:cNvPr id="880" name="Google Shape;880;p72"/>
          <p:cNvGrpSpPr/>
          <p:nvPr/>
        </p:nvGrpSpPr>
        <p:grpSpPr>
          <a:xfrm>
            <a:off x="6611250" y="1312050"/>
            <a:ext cx="1695900" cy="1695900"/>
            <a:chOff x="3940725" y="2114200"/>
            <a:chExt cx="1695900" cy="1695900"/>
          </a:xfrm>
        </p:grpSpPr>
        <p:sp>
          <p:nvSpPr>
            <p:cNvPr id="881" name="Google Shape;881;p72"/>
            <p:cNvSpPr/>
            <p:nvPr/>
          </p:nvSpPr>
          <p:spPr>
            <a:xfrm>
              <a:off x="3940725" y="211420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2" name="Google Shape;882;p72"/>
            <p:cNvSpPr/>
            <p:nvPr/>
          </p:nvSpPr>
          <p:spPr>
            <a:xfrm flipH="1">
              <a:off x="3955414" y="2128961"/>
              <a:ext cx="1666500" cy="1666500"/>
            </a:xfrm>
            <a:prstGeom prst="pie">
              <a:avLst>
                <a:gd name="adj1" fmla="val 5387953"/>
                <a:gd name="adj2" fmla="val 10824216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3" name="Google Shape;883;p72"/>
            <p:cNvSpPr/>
            <p:nvPr/>
          </p:nvSpPr>
          <p:spPr>
            <a:xfrm>
              <a:off x="3955486" y="2128961"/>
              <a:ext cx="1666500" cy="1666500"/>
            </a:xfrm>
            <a:prstGeom prst="pie">
              <a:avLst>
                <a:gd name="adj1" fmla="val 5387953"/>
                <a:gd name="adj2" fmla="val 10858220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4" name="Google Shape;884;p72"/>
            <p:cNvSpPr txBox="1"/>
            <p:nvPr/>
          </p:nvSpPr>
          <p:spPr>
            <a:xfrm>
              <a:off x="4167100" y="3056282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5" name="Google Shape;885;p72"/>
            <p:cNvSpPr/>
            <p:nvPr/>
          </p:nvSpPr>
          <p:spPr>
            <a:xfrm>
              <a:off x="3955486" y="2128961"/>
              <a:ext cx="1666500" cy="1666500"/>
            </a:xfrm>
            <a:prstGeom prst="pie">
              <a:avLst>
                <a:gd name="adj1" fmla="val 10799941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6" name="Google Shape;886;p72"/>
            <p:cNvSpPr txBox="1"/>
            <p:nvPr/>
          </p:nvSpPr>
          <p:spPr>
            <a:xfrm>
              <a:off x="4167100" y="2370482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7" name="Google Shape;887;p72"/>
            <p:cNvSpPr/>
            <p:nvPr/>
          </p:nvSpPr>
          <p:spPr>
            <a:xfrm flipH="1">
              <a:off x="3955414" y="2128961"/>
              <a:ext cx="1666500" cy="1666500"/>
            </a:xfrm>
            <a:prstGeom prst="pie">
              <a:avLst>
                <a:gd name="adj1" fmla="val 10825856"/>
                <a:gd name="adj2" fmla="val 16200000"/>
              </a:avLst>
            </a:prstGeom>
            <a:solidFill>
              <a:schemeClr val="accent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88" name="Google Shape;888;p72"/>
            <p:cNvSpPr txBox="1"/>
            <p:nvPr/>
          </p:nvSpPr>
          <p:spPr>
            <a:xfrm>
              <a:off x="4833925" y="2370475"/>
              <a:ext cx="693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draw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9" name="Google Shape;889;p72"/>
            <p:cNvSpPr txBox="1"/>
            <p:nvPr/>
          </p:nvSpPr>
          <p:spPr>
            <a:xfrm>
              <a:off x="4897851" y="305628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lose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90" name="Google Shape;890;p72"/>
            <p:cNvGrpSpPr/>
            <p:nvPr/>
          </p:nvGrpSpPr>
          <p:grpSpPr>
            <a:xfrm>
              <a:off x="4740034" y="2179713"/>
              <a:ext cx="93900" cy="816939"/>
              <a:chOff x="996050" y="213293"/>
              <a:chExt cx="93900" cy="909732"/>
            </a:xfrm>
          </p:grpSpPr>
          <p:cxnSp>
            <p:nvCxnSpPr>
              <p:cNvPr id="891" name="Google Shape;891;p72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92" name="Google Shape;892;p72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93" name="Google Shape;89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50" y="323135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2"/>
          <p:cNvSpPr txBox="1"/>
          <p:nvPr/>
        </p:nvSpPr>
        <p:spPr>
          <a:xfrm>
            <a:off x="648975" y="440836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5" name="Google Shape;895;p72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248774" y="2160000"/>
            <a:ext cx="2263101" cy="135965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2"/>
          <p:cNvSpPr txBox="1"/>
          <p:nvPr>
            <p:ph type="body" idx="1"/>
          </p:nvPr>
        </p:nvSpPr>
        <p:spPr>
          <a:xfrm>
            <a:off x="1453552" y="2275016"/>
            <a:ext cx="1955400" cy="5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 this spinner is different in terms of its outcomes?</a:t>
            </a:r>
            <a:endParaRPr sz="1800"/>
          </a:p>
        </p:txBody>
      </p:sp>
      <p:pic>
        <p:nvPicPr>
          <p:cNvPr id="897" name="Google Shape;897;p72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4293000" y="2346375"/>
            <a:ext cx="2361375" cy="158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526602" y="341612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2"/>
          <p:cNvSpPr txBox="1"/>
          <p:nvPr/>
        </p:nvSpPr>
        <p:spPr>
          <a:xfrm>
            <a:off x="6500850" y="44487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2"/>
          <p:cNvSpPr txBox="1"/>
          <p:nvPr>
            <p:ph type="body" idx="1"/>
          </p:nvPr>
        </p:nvSpPr>
        <p:spPr>
          <a:xfrm>
            <a:off x="4349150" y="2366764"/>
            <a:ext cx="2437200" cy="5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Yes, there will be more possible outcomes in the sample space too.</a:t>
            </a:r>
            <a:endParaRPr sz="1800"/>
          </a:p>
        </p:txBody>
      </p:sp>
      <p:sp>
        <p:nvSpPr>
          <p:cNvPr id="901" name="Google Shape;901;p72"/>
          <p:cNvSpPr txBox="1"/>
          <p:nvPr>
            <p:ph type="body" idx="1"/>
          </p:nvPr>
        </p:nvSpPr>
        <p:spPr>
          <a:xfrm>
            <a:off x="324000" y="1080000"/>
            <a:ext cx="438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Let win be W, lose be L and draw be D.</a:t>
            </a:r>
            <a:endParaRPr sz="1800"/>
          </a:p>
        </p:txBody>
      </p:sp>
      <p:sp>
        <p:nvSpPr>
          <p:cNvPr id="902" name="Google Shape;902;p72"/>
          <p:cNvSpPr txBox="1"/>
          <p:nvPr>
            <p:ph type="body" idx="1"/>
          </p:nvPr>
        </p:nvSpPr>
        <p:spPr>
          <a:xfrm>
            <a:off x="324000" y="1384800"/>
            <a:ext cx="63657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Possible outcomes are </a:t>
            </a:r>
            <a:br>
              <a:rPr lang="en-GB" sz="1800"/>
            </a:br>
            <a:r>
              <a:rPr lang="en-GB" sz="1800"/>
              <a:t>{WW, LL, DD, WD, LW, DL, WL, DW, LD}. </a:t>
            </a:r>
            <a:endParaRPr sz="1800"/>
          </a:p>
        </p:txBody>
      </p:sp>
      <p:sp>
        <p:nvSpPr>
          <p:cNvPr id="903" name="Google Shape;90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7" name="Shape 907"/>
        <p:cNvGrpSpPr/>
        <p:nvPr/>
      </p:nvGrpSpPr>
      <p:grpSpPr>
        <a:xfrm>
          <a:off x="0" y="0"/>
          <a:ext cx="0" cy="0"/>
        </a:xfrm>
      </p:grpSpPr>
      <p:sp>
        <p:nvSpPr>
          <p:cNvPr id="908" name="Google Shape;908;p73"/>
          <p:cNvSpPr txBox="1"/>
          <p:nvPr>
            <p:ph type="body" idx="1"/>
          </p:nvPr>
        </p:nvSpPr>
        <p:spPr>
          <a:xfrm>
            <a:off x="324000" y="759300"/>
            <a:ext cx="82377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were to spin this spinner twice, what are the possible outcomes?</a:t>
            </a:r>
            <a:endParaRPr sz="1800"/>
          </a:p>
        </p:txBody>
      </p:sp>
      <p:grpSp>
        <p:nvGrpSpPr>
          <p:cNvPr id="909" name="Google Shape;909;p73"/>
          <p:cNvGrpSpPr/>
          <p:nvPr/>
        </p:nvGrpSpPr>
        <p:grpSpPr>
          <a:xfrm>
            <a:off x="6611250" y="1312050"/>
            <a:ext cx="1695900" cy="1695900"/>
            <a:chOff x="3940725" y="2114200"/>
            <a:chExt cx="1695900" cy="1695900"/>
          </a:xfrm>
        </p:grpSpPr>
        <p:sp>
          <p:nvSpPr>
            <p:cNvPr id="910" name="Google Shape;910;p73"/>
            <p:cNvSpPr/>
            <p:nvPr/>
          </p:nvSpPr>
          <p:spPr>
            <a:xfrm>
              <a:off x="3940725" y="211420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1" name="Google Shape;911;p73"/>
            <p:cNvSpPr/>
            <p:nvPr/>
          </p:nvSpPr>
          <p:spPr>
            <a:xfrm flipH="1">
              <a:off x="3955414" y="2128961"/>
              <a:ext cx="1666500" cy="1666500"/>
            </a:xfrm>
            <a:prstGeom prst="pie">
              <a:avLst>
                <a:gd name="adj1" fmla="val 5387953"/>
                <a:gd name="adj2" fmla="val 10824216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2" name="Google Shape;912;p73"/>
            <p:cNvSpPr/>
            <p:nvPr/>
          </p:nvSpPr>
          <p:spPr>
            <a:xfrm>
              <a:off x="3955486" y="2128961"/>
              <a:ext cx="1666500" cy="1666500"/>
            </a:xfrm>
            <a:prstGeom prst="pie">
              <a:avLst>
                <a:gd name="adj1" fmla="val 5387953"/>
                <a:gd name="adj2" fmla="val 10858220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3" name="Google Shape;913;p73"/>
            <p:cNvSpPr txBox="1"/>
            <p:nvPr/>
          </p:nvSpPr>
          <p:spPr>
            <a:xfrm>
              <a:off x="4167100" y="3056282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4" name="Google Shape;914;p73"/>
            <p:cNvSpPr/>
            <p:nvPr/>
          </p:nvSpPr>
          <p:spPr>
            <a:xfrm>
              <a:off x="3955486" y="2128961"/>
              <a:ext cx="1666500" cy="1666500"/>
            </a:xfrm>
            <a:prstGeom prst="pie">
              <a:avLst>
                <a:gd name="adj1" fmla="val 10799941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5" name="Google Shape;915;p73"/>
            <p:cNvSpPr txBox="1"/>
            <p:nvPr/>
          </p:nvSpPr>
          <p:spPr>
            <a:xfrm>
              <a:off x="4167100" y="2370482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6" name="Google Shape;916;p73"/>
            <p:cNvSpPr/>
            <p:nvPr/>
          </p:nvSpPr>
          <p:spPr>
            <a:xfrm flipH="1">
              <a:off x="3955414" y="2128961"/>
              <a:ext cx="1666500" cy="1666500"/>
            </a:xfrm>
            <a:prstGeom prst="pie">
              <a:avLst>
                <a:gd name="adj1" fmla="val 10825856"/>
                <a:gd name="adj2" fmla="val 16200000"/>
              </a:avLst>
            </a:prstGeom>
            <a:solidFill>
              <a:schemeClr val="accent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7" name="Google Shape;917;p73"/>
            <p:cNvSpPr txBox="1"/>
            <p:nvPr/>
          </p:nvSpPr>
          <p:spPr>
            <a:xfrm>
              <a:off x="4833925" y="2370475"/>
              <a:ext cx="693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draw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8" name="Google Shape;918;p73"/>
            <p:cNvSpPr txBox="1"/>
            <p:nvPr/>
          </p:nvSpPr>
          <p:spPr>
            <a:xfrm>
              <a:off x="4897851" y="305628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lose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19" name="Google Shape;919;p73"/>
            <p:cNvGrpSpPr/>
            <p:nvPr/>
          </p:nvGrpSpPr>
          <p:grpSpPr>
            <a:xfrm>
              <a:off x="4740034" y="2179713"/>
              <a:ext cx="93900" cy="816939"/>
              <a:chOff x="996050" y="213293"/>
              <a:chExt cx="93900" cy="909732"/>
            </a:xfrm>
          </p:grpSpPr>
          <p:cxnSp>
            <p:nvCxnSpPr>
              <p:cNvPr id="920" name="Google Shape;920;p73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921" name="Google Shape;921;p73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922" name="Google Shape;92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50" y="323135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3"/>
          <p:cNvSpPr txBox="1"/>
          <p:nvPr/>
        </p:nvSpPr>
        <p:spPr>
          <a:xfrm>
            <a:off x="648975" y="440836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4" name="Google Shape;924;p73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049756" y="2152230"/>
            <a:ext cx="2846976" cy="12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73"/>
          <p:cNvSpPr txBox="1"/>
          <p:nvPr>
            <p:ph type="body" idx="1"/>
          </p:nvPr>
        </p:nvSpPr>
        <p:spPr>
          <a:xfrm>
            <a:off x="1263800" y="2198825"/>
            <a:ext cx="2679600" cy="5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Does it matter that there are two ‘win’ sectors of the spinner?</a:t>
            </a:r>
            <a:endParaRPr sz="1800"/>
          </a:p>
        </p:txBody>
      </p:sp>
      <p:pic>
        <p:nvPicPr>
          <p:cNvPr id="926" name="Google Shape;926;p73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3974775" y="2182350"/>
            <a:ext cx="2714926" cy="197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526602" y="3416127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3"/>
          <p:cNvSpPr txBox="1"/>
          <p:nvPr/>
        </p:nvSpPr>
        <p:spPr>
          <a:xfrm>
            <a:off x="6500850" y="44487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3"/>
          <p:cNvSpPr txBox="1"/>
          <p:nvPr>
            <p:ph type="body" idx="1"/>
          </p:nvPr>
        </p:nvSpPr>
        <p:spPr>
          <a:xfrm>
            <a:off x="4047991" y="2238061"/>
            <a:ext cx="2500800" cy="5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Not for the possible outcomes, but it just means that outcomes with ‘win’ are more likely to be landed on.</a:t>
            </a:r>
            <a:endParaRPr sz="1800"/>
          </a:p>
        </p:txBody>
      </p:sp>
      <p:sp>
        <p:nvSpPr>
          <p:cNvPr id="930" name="Google Shape;930;p73"/>
          <p:cNvSpPr txBox="1"/>
          <p:nvPr>
            <p:ph type="body" idx="1"/>
          </p:nvPr>
        </p:nvSpPr>
        <p:spPr>
          <a:xfrm>
            <a:off x="324000" y="1080000"/>
            <a:ext cx="438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Let win be W, lose be L and draw be D.</a:t>
            </a:r>
            <a:endParaRPr sz="1800"/>
          </a:p>
        </p:txBody>
      </p:sp>
      <p:sp>
        <p:nvSpPr>
          <p:cNvPr id="931" name="Google Shape;931;p73"/>
          <p:cNvSpPr txBox="1"/>
          <p:nvPr>
            <p:ph type="body" idx="1"/>
          </p:nvPr>
        </p:nvSpPr>
        <p:spPr>
          <a:xfrm>
            <a:off x="324000" y="1384800"/>
            <a:ext cx="63657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Possible outcomes are </a:t>
            </a:r>
            <a:br>
              <a:rPr lang="en-GB" sz="1800"/>
            </a:br>
            <a:r>
              <a:rPr lang="en-GB" sz="1800"/>
              <a:t>{WW, LL, DD, WD, LW, DL, WL, DW, LD}. </a:t>
            </a:r>
            <a:endParaRPr sz="1800"/>
          </a:p>
        </p:txBody>
      </p:sp>
      <p:sp>
        <p:nvSpPr>
          <p:cNvPr id="932" name="Google Shape;93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6" name="Shape 936"/>
        <p:cNvGrpSpPr/>
        <p:nvPr/>
      </p:nvGrpSpPr>
      <p:grpSpPr>
        <a:xfrm>
          <a:off x="0" y="0"/>
          <a:ext cx="0" cy="0"/>
        </a:xfrm>
      </p:grpSpPr>
      <p:sp>
        <p:nvSpPr>
          <p:cNvPr id="937" name="Google Shape;937;p74"/>
          <p:cNvSpPr txBox="1"/>
          <p:nvPr>
            <p:ph type="body" idx="1"/>
          </p:nvPr>
        </p:nvSpPr>
        <p:spPr>
          <a:xfrm>
            <a:off x="324000" y="747843"/>
            <a:ext cx="8496000" cy="88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spinner is spun twice. The possible outcomes are {AA, BA, AB, BB}. Which of these spinners could it have been?</a:t>
            </a:r>
            <a:endParaRPr/>
          </a:p>
        </p:txBody>
      </p:sp>
      <p:grpSp>
        <p:nvGrpSpPr>
          <p:cNvPr id="938" name="Google Shape;938;p74"/>
          <p:cNvGrpSpPr/>
          <p:nvPr/>
        </p:nvGrpSpPr>
        <p:grpSpPr>
          <a:xfrm>
            <a:off x="1456191" y="4091400"/>
            <a:ext cx="457200" cy="457200"/>
            <a:chOff x="1020916" y="1442088"/>
            <a:chExt cx="457200" cy="457200"/>
          </a:xfrm>
        </p:grpSpPr>
        <p:pic>
          <p:nvPicPr>
            <p:cNvPr id="939" name="Google Shape;939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0" name="Google Shape;940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1" name="Google Shape;941;p74"/>
          <p:cNvGrpSpPr/>
          <p:nvPr/>
        </p:nvGrpSpPr>
        <p:grpSpPr>
          <a:xfrm>
            <a:off x="4343391" y="4091400"/>
            <a:ext cx="457200" cy="457200"/>
            <a:chOff x="1020916" y="1442088"/>
            <a:chExt cx="457200" cy="457200"/>
          </a:xfrm>
        </p:grpSpPr>
        <p:pic>
          <p:nvPicPr>
            <p:cNvPr id="942" name="Google Shape;942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4" name="Google Shape;944;p74"/>
          <p:cNvGrpSpPr/>
          <p:nvPr/>
        </p:nvGrpSpPr>
        <p:grpSpPr>
          <a:xfrm>
            <a:off x="7230591" y="4091400"/>
            <a:ext cx="457200" cy="457200"/>
            <a:chOff x="1020916" y="1442088"/>
            <a:chExt cx="457200" cy="457200"/>
          </a:xfrm>
        </p:grpSpPr>
        <p:pic>
          <p:nvPicPr>
            <p:cNvPr id="945" name="Google Shape;945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47" name="Google Shape;94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91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4"/>
          <p:cNvSpPr txBox="1"/>
          <p:nvPr>
            <p:ph type="body" idx="1"/>
          </p:nvPr>
        </p:nvSpPr>
        <p:spPr>
          <a:xfrm>
            <a:off x="324000" y="1538700"/>
            <a:ext cx="8496000" cy="3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of them, each spinner has the two possible outcomes of A or B so when a trial (2 spins) is carried out there are the four possible outcomes.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49" name="Google Shape;949;p74"/>
          <p:cNvGrpSpPr/>
          <p:nvPr/>
        </p:nvGrpSpPr>
        <p:grpSpPr>
          <a:xfrm>
            <a:off x="889400" y="2220650"/>
            <a:ext cx="1802954" cy="1695900"/>
            <a:chOff x="889400" y="2220650"/>
            <a:chExt cx="1802954" cy="1695900"/>
          </a:xfrm>
        </p:grpSpPr>
        <p:sp>
          <p:nvSpPr>
            <p:cNvPr id="950" name="Google Shape;950;p74"/>
            <p:cNvSpPr/>
            <p:nvPr/>
          </p:nvSpPr>
          <p:spPr>
            <a:xfrm>
              <a:off x="889400" y="22206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1" name="Google Shape;951;p74"/>
            <p:cNvSpPr/>
            <p:nvPr/>
          </p:nvSpPr>
          <p:spPr>
            <a:xfrm flipH="1">
              <a:off x="904089" y="2235411"/>
              <a:ext cx="1666500" cy="1666500"/>
            </a:xfrm>
            <a:prstGeom prst="pie">
              <a:avLst>
                <a:gd name="adj1" fmla="val 5387953"/>
                <a:gd name="adj2" fmla="val 10824216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2" name="Google Shape;952;p74"/>
            <p:cNvSpPr/>
            <p:nvPr/>
          </p:nvSpPr>
          <p:spPr>
            <a:xfrm>
              <a:off x="904161" y="2235411"/>
              <a:ext cx="1666500" cy="1666500"/>
            </a:xfrm>
            <a:prstGeom prst="pie">
              <a:avLst>
                <a:gd name="adj1" fmla="val 5387953"/>
                <a:gd name="adj2" fmla="val 8080958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3" name="Google Shape;953;p74"/>
            <p:cNvSpPr txBox="1"/>
            <p:nvPr/>
          </p:nvSpPr>
          <p:spPr>
            <a:xfrm>
              <a:off x="1362075" y="3391325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4"/>
            <p:cNvSpPr/>
            <p:nvPr/>
          </p:nvSpPr>
          <p:spPr>
            <a:xfrm>
              <a:off x="904161" y="2235411"/>
              <a:ext cx="1666500" cy="1666500"/>
            </a:xfrm>
            <a:prstGeom prst="pie">
              <a:avLst>
                <a:gd name="adj1" fmla="val 10799941"/>
                <a:gd name="adj2" fmla="val 13483876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5" name="Google Shape;955;p74"/>
            <p:cNvSpPr/>
            <p:nvPr/>
          </p:nvSpPr>
          <p:spPr>
            <a:xfrm flipH="1">
              <a:off x="904089" y="2235411"/>
              <a:ext cx="1666500" cy="1666500"/>
            </a:xfrm>
            <a:prstGeom prst="pie">
              <a:avLst>
                <a:gd name="adj1" fmla="val 13450827"/>
                <a:gd name="adj2" fmla="val 16200000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6" name="Google Shape;956;p74"/>
            <p:cNvSpPr txBox="1"/>
            <p:nvPr/>
          </p:nvSpPr>
          <p:spPr>
            <a:xfrm>
              <a:off x="1767970" y="2351039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7" name="Google Shape;957;p74"/>
            <p:cNvSpPr/>
            <p:nvPr/>
          </p:nvSpPr>
          <p:spPr>
            <a:xfrm>
              <a:off x="904161" y="2235411"/>
              <a:ext cx="1666500" cy="1666500"/>
            </a:xfrm>
            <a:prstGeom prst="pie">
              <a:avLst>
                <a:gd name="adj1" fmla="val 13499013"/>
                <a:gd name="adj2" fmla="val 16232488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8" name="Google Shape;958;p74"/>
            <p:cNvSpPr txBox="1"/>
            <p:nvPr/>
          </p:nvSpPr>
          <p:spPr>
            <a:xfrm>
              <a:off x="1334752" y="2343775"/>
              <a:ext cx="310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9" name="Google Shape;959;p74"/>
            <p:cNvSpPr/>
            <p:nvPr/>
          </p:nvSpPr>
          <p:spPr>
            <a:xfrm>
              <a:off x="904161" y="2235411"/>
              <a:ext cx="1666500" cy="1666500"/>
            </a:xfrm>
            <a:prstGeom prst="pie">
              <a:avLst>
                <a:gd name="adj1" fmla="val 8080793"/>
                <a:gd name="adj2" fmla="val 10858220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0" name="Google Shape;960;p74"/>
            <p:cNvSpPr txBox="1"/>
            <p:nvPr/>
          </p:nvSpPr>
          <p:spPr>
            <a:xfrm>
              <a:off x="1079451" y="3032127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74"/>
            <p:cNvSpPr/>
            <p:nvPr/>
          </p:nvSpPr>
          <p:spPr>
            <a:xfrm flipH="1">
              <a:off x="904089" y="2235411"/>
              <a:ext cx="1666500" cy="1666500"/>
            </a:xfrm>
            <a:prstGeom prst="pie">
              <a:avLst>
                <a:gd name="adj1" fmla="val 10765400"/>
                <a:gd name="adj2" fmla="val 1346558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2" name="Google Shape;962;p74"/>
            <p:cNvSpPr txBox="1"/>
            <p:nvPr/>
          </p:nvSpPr>
          <p:spPr>
            <a:xfrm>
              <a:off x="1054811" y="264597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3" name="Google Shape;963;p74"/>
            <p:cNvSpPr/>
            <p:nvPr/>
          </p:nvSpPr>
          <p:spPr>
            <a:xfrm flipH="1">
              <a:off x="904089" y="2235411"/>
              <a:ext cx="1666500" cy="1666500"/>
            </a:xfrm>
            <a:prstGeom prst="pie">
              <a:avLst>
                <a:gd name="adj1" fmla="val 5387953"/>
                <a:gd name="adj2" fmla="val 8084426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64" name="Google Shape;964;p74"/>
            <p:cNvSpPr txBox="1"/>
            <p:nvPr/>
          </p:nvSpPr>
          <p:spPr>
            <a:xfrm>
              <a:off x="1777601" y="339133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5" name="Google Shape;965;p74"/>
            <p:cNvSpPr txBox="1"/>
            <p:nvPr/>
          </p:nvSpPr>
          <p:spPr>
            <a:xfrm>
              <a:off x="2062354" y="306062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6" name="Google Shape;966;p74"/>
            <p:cNvSpPr txBox="1"/>
            <p:nvPr/>
          </p:nvSpPr>
          <p:spPr>
            <a:xfrm>
              <a:off x="1993925" y="2682982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67" name="Google Shape;967;p74"/>
            <p:cNvGrpSpPr/>
            <p:nvPr/>
          </p:nvGrpSpPr>
          <p:grpSpPr>
            <a:xfrm>
              <a:off x="1690459" y="2305413"/>
              <a:ext cx="93900" cy="816939"/>
              <a:chOff x="996050" y="213293"/>
              <a:chExt cx="93900" cy="909732"/>
            </a:xfrm>
          </p:grpSpPr>
          <p:cxnSp>
            <p:nvCxnSpPr>
              <p:cNvPr id="968" name="Google Shape;968;p74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969" name="Google Shape;969;p74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0" name="Google Shape;970;p74"/>
          <p:cNvGrpSpPr/>
          <p:nvPr/>
        </p:nvGrpSpPr>
        <p:grpSpPr>
          <a:xfrm>
            <a:off x="3407701" y="1923293"/>
            <a:ext cx="2328600" cy="2328600"/>
            <a:chOff x="3407701" y="1923293"/>
            <a:chExt cx="2328600" cy="2328600"/>
          </a:xfrm>
        </p:grpSpPr>
        <p:sp>
          <p:nvSpPr>
            <p:cNvPr id="971" name="Google Shape;971;p74"/>
            <p:cNvSpPr/>
            <p:nvPr/>
          </p:nvSpPr>
          <p:spPr>
            <a:xfrm>
              <a:off x="3723875" y="22394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2" name="Google Shape;972;p74"/>
            <p:cNvSpPr/>
            <p:nvPr/>
          </p:nvSpPr>
          <p:spPr>
            <a:xfrm rot="8649824">
              <a:off x="3738770" y="22543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3" name="Google Shape;973;p74"/>
            <p:cNvSpPr/>
            <p:nvPr/>
          </p:nvSpPr>
          <p:spPr>
            <a:xfrm rot="-8629029">
              <a:off x="3738871" y="22544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4" name="Google Shape;974;p74"/>
            <p:cNvSpPr/>
            <p:nvPr/>
          </p:nvSpPr>
          <p:spPr>
            <a:xfrm rot="-4309758">
              <a:off x="3738916" y="22546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5" name="Google Shape;975;p74"/>
            <p:cNvSpPr/>
            <p:nvPr/>
          </p:nvSpPr>
          <p:spPr>
            <a:xfrm>
              <a:off x="3738916" y="22546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6" name="Google Shape;976;p74"/>
            <p:cNvSpPr txBox="1"/>
            <p:nvPr/>
          </p:nvSpPr>
          <p:spPr>
            <a:xfrm>
              <a:off x="4425150" y="3410125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7" name="Google Shape;977;p74"/>
            <p:cNvSpPr/>
            <p:nvPr/>
          </p:nvSpPr>
          <p:spPr>
            <a:xfrm rot="4312496">
              <a:off x="3738749" y="22542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78" name="Google Shape;978;p74"/>
            <p:cNvSpPr txBox="1"/>
            <p:nvPr/>
          </p:nvSpPr>
          <p:spPr>
            <a:xfrm>
              <a:off x="4102650" y="2495725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9" name="Google Shape;979;p74"/>
            <p:cNvSpPr txBox="1"/>
            <p:nvPr/>
          </p:nvSpPr>
          <p:spPr>
            <a:xfrm>
              <a:off x="4681001" y="249573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0" name="Google Shape;980;p74"/>
            <p:cNvSpPr txBox="1"/>
            <p:nvPr/>
          </p:nvSpPr>
          <p:spPr>
            <a:xfrm>
              <a:off x="4909601" y="302913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1" name="Google Shape;981;p74"/>
            <p:cNvSpPr txBox="1"/>
            <p:nvPr/>
          </p:nvSpPr>
          <p:spPr>
            <a:xfrm>
              <a:off x="3874050" y="3029132"/>
              <a:ext cx="571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82" name="Google Shape;982;p74"/>
            <p:cNvGrpSpPr/>
            <p:nvPr/>
          </p:nvGrpSpPr>
          <p:grpSpPr>
            <a:xfrm>
              <a:off x="4523184" y="2295342"/>
              <a:ext cx="93900" cy="816939"/>
              <a:chOff x="996050" y="213293"/>
              <a:chExt cx="93900" cy="909732"/>
            </a:xfrm>
          </p:grpSpPr>
          <p:cxnSp>
            <p:nvCxnSpPr>
              <p:cNvPr id="983" name="Google Shape;983;p74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984" name="Google Shape;984;p74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985" name="Google Shape;98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1408" y="413260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6" name="Google Shape;986;p74"/>
          <p:cNvGrpSpPr/>
          <p:nvPr/>
        </p:nvGrpSpPr>
        <p:grpSpPr>
          <a:xfrm>
            <a:off x="6319950" y="1931411"/>
            <a:ext cx="2278500" cy="2278500"/>
            <a:chOff x="813675" y="1822861"/>
            <a:chExt cx="2278500" cy="2278500"/>
          </a:xfrm>
        </p:grpSpPr>
        <p:sp>
          <p:nvSpPr>
            <p:cNvPr id="987" name="Google Shape;987;p74"/>
            <p:cNvSpPr/>
            <p:nvPr/>
          </p:nvSpPr>
          <p:spPr>
            <a:xfrm>
              <a:off x="1104825" y="21139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8" name="Google Shape;988;p74"/>
            <p:cNvSpPr/>
            <p:nvPr/>
          </p:nvSpPr>
          <p:spPr>
            <a:xfrm rot="7199661">
              <a:off x="1119634" y="2128828"/>
              <a:ext cx="1666484" cy="1666484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89" name="Google Shape;989;p74"/>
            <p:cNvSpPr/>
            <p:nvPr/>
          </p:nvSpPr>
          <p:spPr>
            <a:xfrm rot="-7211867">
              <a:off x="1119702" y="2128888"/>
              <a:ext cx="1666446" cy="1666446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0" name="Google Shape;990;p74"/>
            <p:cNvSpPr/>
            <p:nvPr/>
          </p:nvSpPr>
          <p:spPr>
            <a:xfrm>
              <a:off x="1119702" y="2128888"/>
              <a:ext cx="1666500" cy="1666500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91" name="Google Shape;991;p74"/>
            <p:cNvSpPr txBox="1"/>
            <p:nvPr/>
          </p:nvSpPr>
          <p:spPr>
            <a:xfrm>
              <a:off x="2214351" y="252263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2" name="Google Shape;992;p74"/>
            <p:cNvSpPr txBox="1"/>
            <p:nvPr/>
          </p:nvSpPr>
          <p:spPr>
            <a:xfrm>
              <a:off x="1833351" y="313223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3" name="Google Shape;993;p74"/>
            <p:cNvSpPr txBox="1"/>
            <p:nvPr/>
          </p:nvSpPr>
          <p:spPr>
            <a:xfrm>
              <a:off x="1376151" y="2522632"/>
              <a:ext cx="63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94" name="Google Shape;994;p74"/>
            <p:cNvGrpSpPr/>
            <p:nvPr/>
          </p:nvGrpSpPr>
          <p:grpSpPr>
            <a:xfrm>
              <a:off x="1904134" y="2198706"/>
              <a:ext cx="93900" cy="816939"/>
              <a:chOff x="996050" y="213293"/>
              <a:chExt cx="93900" cy="909732"/>
            </a:xfrm>
          </p:grpSpPr>
          <p:cxnSp>
            <p:nvCxnSpPr>
              <p:cNvPr id="995" name="Google Shape;995;p74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996" name="Google Shape;996;p74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997" name="Google Shape;99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0883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2" name="Shape 1002"/>
        <p:cNvGrpSpPr/>
        <p:nvPr/>
      </p:nvGrpSpPr>
      <p:grpSpPr>
        <a:xfrm>
          <a:off x="0" y="0"/>
          <a:ext cx="0" cy="0"/>
        </a:xfrm>
      </p:grpSpPr>
      <p:sp>
        <p:nvSpPr>
          <p:cNvPr id="1003" name="Google Shape;1003;p75"/>
          <p:cNvSpPr txBox="1"/>
          <p:nvPr>
            <p:ph type="body" idx="1"/>
          </p:nvPr>
        </p:nvSpPr>
        <p:spPr>
          <a:xfrm>
            <a:off x="324000" y="759300"/>
            <a:ext cx="8237700" cy="64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Jacob is going to spin both spinner A and spinner B as his trial. </a:t>
            </a:r>
            <a:endParaRPr sz="1800"/>
          </a:p>
        </p:txBody>
      </p:sp>
      <p:sp>
        <p:nvSpPr>
          <p:cNvPr id="1004" name="Google Shape;100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  <p:grpSp>
        <p:nvGrpSpPr>
          <p:cNvPr id="1005" name="Google Shape;1005;p75"/>
          <p:cNvGrpSpPr/>
          <p:nvPr/>
        </p:nvGrpSpPr>
        <p:grpSpPr>
          <a:xfrm>
            <a:off x="1045094" y="1620011"/>
            <a:ext cx="1279422" cy="1247334"/>
            <a:chOff x="996100" y="1992675"/>
            <a:chExt cx="1739526" cy="1695900"/>
          </a:xfrm>
        </p:grpSpPr>
        <p:sp>
          <p:nvSpPr>
            <p:cNvPr id="1006" name="Google Shape;1006;p75"/>
            <p:cNvSpPr/>
            <p:nvPr/>
          </p:nvSpPr>
          <p:spPr>
            <a:xfrm>
              <a:off x="996100" y="1992675"/>
              <a:ext cx="1695900" cy="16959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7" name="Google Shape;1007;p75"/>
            <p:cNvSpPr/>
            <p:nvPr/>
          </p:nvSpPr>
          <p:spPr>
            <a:xfrm flipH="1">
              <a:off x="1010789" y="2007436"/>
              <a:ext cx="1666500" cy="1666500"/>
            </a:xfrm>
            <a:prstGeom prst="pie">
              <a:avLst>
                <a:gd name="adj1" fmla="val 5387953"/>
                <a:gd name="adj2" fmla="val 16200000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8" name="Google Shape;1008;p75"/>
            <p:cNvSpPr/>
            <p:nvPr/>
          </p:nvSpPr>
          <p:spPr>
            <a:xfrm>
              <a:off x="1010861" y="2007436"/>
              <a:ext cx="1666500" cy="1666500"/>
            </a:xfrm>
            <a:prstGeom prst="pie">
              <a:avLst>
                <a:gd name="adj1" fmla="val 5387953"/>
                <a:gd name="adj2" fmla="val 16200000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09" name="Google Shape;1009;p75"/>
            <p:cNvSpPr txBox="1"/>
            <p:nvPr/>
          </p:nvSpPr>
          <p:spPr>
            <a:xfrm>
              <a:off x="1298675" y="2629957"/>
              <a:ext cx="5715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0" name="Google Shape;1010;p75"/>
            <p:cNvSpPr txBox="1"/>
            <p:nvPr/>
          </p:nvSpPr>
          <p:spPr>
            <a:xfrm>
              <a:off x="2105626" y="2629957"/>
              <a:ext cx="6300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11" name="Google Shape;1011;p75"/>
            <p:cNvGrpSpPr/>
            <p:nvPr/>
          </p:nvGrpSpPr>
          <p:grpSpPr>
            <a:xfrm>
              <a:off x="1795409" y="2085248"/>
              <a:ext cx="93900" cy="816939"/>
              <a:chOff x="996050" y="213293"/>
              <a:chExt cx="93900" cy="909732"/>
            </a:xfrm>
          </p:grpSpPr>
          <p:cxnSp>
            <p:nvCxnSpPr>
              <p:cNvPr id="1012" name="Google Shape;1012;p75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013" name="Google Shape;1013;p75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4" name="Google Shape;1014;p75"/>
          <p:cNvGrpSpPr/>
          <p:nvPr/>
        </p:nvGrpSpPr>
        <p:grpSpPr>
          <a:xfrm>
            <a:off x="3369610" y="1620005"/>
            <a:ext cx="1247334" cy="1247334"/>
            <a:chOff x="4318400" y="772850"/>
            <a:chExt cx="1695900" cy="1695900"/>
          </a:xfrm>
        </p:grpSpPr>
        <p:sp>
          <p:nvSpPr>
            <p:cNvPr id="1015" name="Google Shape;1015;p75"/>
            <p:cNvSpPr/>
            <p:nvPr/>
          </p:nvSpPr>
          <p:spPr>
            <a:xfrm>
              <a:off x="43184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6" name="Google Shape;1016;p75"/>
            <p:cNvSpPr/>
            <p:nvPr/>
          </p:nvSpPr>
          <p:spPr>
            <a:xfrm flipH="1">
              <a:off x="4333089" y="787611"/>
              <a:ext cx="1666500" cy="1666500"/>
            </a:xfrm>
            <a:prstGeom prst="pie">
              <a:avLst>
                <a:gd name="adj1" fmla="val 5387953"/>
                <a:gd name="adj2" fmla="val 10824216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7" name="Google Shape;1017;p75"/>
            <p:cNvSpPr/>
            <p:nvPr/>
          </p:nvSpPr>
          <p:spPr>
            <a:xfrm>
              <a:off x="4333161" y="787611"/>
              <a:ext cx="1666500" cy="1666500"/>
            </a:xfrm>
            <a:prstGeom prst="pie">
              <a:avLst>
                <a:gd name="adj1" fmla="val 5387953"/>
                <a:gd name="adj2" fmla="val 10858220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18" name="Google Shape;1018;p75"/>
            <p:cNvSpPr txBox="1"/>
            <p:nvPr/>
          </p:nvSpPr>
          <p:spPr>
            <a:xfrm>
              <a:off x="4593572" y="1714932"/>
              <a:ext cx="5715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9" name="Google Shape;1019;p75"/>
            <p:cNvSpPr/>
            <p:nvPr/>
          </p:nvSpPr>
          <p:spPr>
            <a:xfrm>
              <a:off x="4333161" y="787611"/>
              <a:ext cx="1666500" cy="1666500"/>
            </a:xfrm>
            <a:prstGeom prst="pie">
              <a:avLst>
                <a:gd name="adj1" fmla="val 10799941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0" name="Google Shape;1020;p75"/>
            <p:cNvSpPr txBox="1"/>
            <p:nvPr/>
          </p:nvSpPr>
          <p:spPr>
            <a:xfrm>
              <a:off x="4593572" y="1029132"/>
              <a:ext cx="5715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1" name="Google Shape;1021;p75"/>
            <p:cNvSpPr/>
            <p:nvPr/>
          </p:nvSpPr>
          <p:spPr>
            <a:xfrm flipH="1">
              <a:off x="4333089" y="787611"/>
              <a:ext cx="1666500" cy="1666500"/>
            </a:xfrm>
            <a:prstGeom prst="pie">
              <a:avLst>
                <a:gd name="adj1" fmla="val 10825856"/>
                <a:gd name="adj2" fmla="val 16200000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22" name="Google Shape;1022;p75"/>
            <p:cNvSpPr txBox="1"/>
            <p:nvPr/>
          </p:nvSpPr>
          <p:spPr>
            <a:xfrm>
              <a:off x="5275526" y="1029132"/>
              <a:ext cx="6300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3" name="Google Shape;1023;p75"/>
            <p:cNvSpPr txBox="1"/>
            <p:nvPr/>
          </p:nvSpPr>
          <p:spPr>
            <a:xfrm>
              <a:off x="5275526" y="1714932"/>
              <a:ext cx="6300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24" name="Google Shape;1024;p75"/>
            <p:cNvGrpSpPr/>
            <p:nvPr/>
          </p:nvGrpSpPr>
          <p:grpSpPr>
            <a:xfrm>
              <a:off x="5117709" y="838363"/>
              <a:ext cx="93900" cy="816939"/>
              <a:chOff x="996050" y="213293"/>
              <a:chExt cx="93900" cy="909732"/>
            </a:xfrm>
          </p:grpSpPr>
          <p:cxnSp>
            <p:nvCxnSpPr>
              <p:cNvPr id="1025" name="Google Shape;1025;p75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026" name="Google Shape;1026;p75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27" name="Google Shape;1027;p75"/>
          <p:cNvSpPr txBox="1"/>
          <p:nvPr>
            <p:ph type="body" idx="1"/>
          </p:nvPr>
        </p:nvSpPr>
        <p:spPr>
          <a:xfrm>
            <a:off x="324000" y="3172950"/>
            <a:ext cx="60006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are the possible outcomes that Jacob will get?</a:t>
            </a:r>
            <a:endParaRPr sz="1800"/>
          </a:p>
        </p:txBody>
      </p:sp>
      <p:sp>
        <p:nvSpPr>
          <p:cNvPr id="1028" name="Google Shape;1028;p75"/>
          <p:cNvSpPr txBox="1"/>
          <p:nvPr>
            <p:ph type="body" idx="1"/>
          </p:nvPr>
        </p:nvSpPr>
        <p:spPr>
          <a:xfrm>
            <a:off x="1159225" y="1219475"/>
            <a:ext cx="11163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spinner A</a:t>
            </a:r>
            <a:endParaRPr sz="1800"/>
          </a:p>
        </p:txBody>
      </p:sp>
      <p:sp>
        <p:nvSpPr>
          <p:cNvPr id="1029" name="Google Shape;1029;p75"/>
          <p:cNvSpPr txBox="1"/>
          <p:nvPr>
            <p:ph type="body" idx="1"/>
          </p:nvPr>
        </p:nvSpPr>
        <p:spPr>
          <a:xfrm>
            <a:off x="3435125" y="1219475"/>
            <a:ext cx="11163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spinner B</a:t>
            </a:r>
            <a:endParaRPr sz="1800"/>
          </a:p>
        </p:txBody>
      </p:sp>
      <p:pic>
        <p:nvPicPr>
          <p:cNvPr id="1030" name="Google Shape;103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0550" y="8538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75"/>
          <p:cNvSpPr txBox="1"/>
          <p:nvPr>
            <p:ph type="body" idx="1"/>
          </p:nvPr>
        </p:nvSpPr>
        <p:spPr>
          <a:xfrm>
            <a:off x="324000" y="3553950"/>
            <a:ext cx="60006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BD, AC, AB, AA, BC, BA, AD, BB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5" name="Shape 1035"/>
        <p:cNvGrpSpPr/>
        <p:nvPr/>
      </p:nvGrpSpPr>
      <p:grpSpPr>
        <a:xfrm>
          <a:off x="0" y="0"/>
          <a:ext cx="0" cy="0"/>
        </a:xfrm>
      </p:grpSpPr>
      <p:sp>
        <p:nvSpPr>
          <p:cNvPr id="1036" name="Google Shape;1036;p76"/>
          <p:cNvSpPr txBox="1"/>
          <p:nvPr>
            <p:ph type="body" idx="1"/>
          </p:nvPr>
        </p:nvSpPr>
        <p:spPr>
          <a:xfrm>
            <a:off x="324000" y="759300"/>
            <a:ext cx="8237700" cy="44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two people were playing “rock, paper, scissors”.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037" name="Google Shape;1037;p76"/>
          <p:cNvSpPr txBox="1"/>
          <p:nvPr>
            <p:ph type="body" idx="1"/>
          </p:nvPr>
        </p:nvSpPr>
        <p:spPr>
          <a:xfrm>
            <a:off x="324000" y="1271043"/>
            <a:ext cx="8237700" cy="40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a possible outcome?</a:t>
            </a:r>
            <a:endParaRPr sz="1800"/>
          </a:p>
        </p:txBody>
      </p:sp>
      <p:grpSp>
        <p:nvGrpSpPr>
          <p:cNvPr id="1038" name="Google Shape;1038;p76"/>
          <p:cNvGrpSpPr/>
          <p:nvPr/>
        </p:nvGrpSpPr>
        <p:grpSpPr>
          <a:xfrm>
            <a:off x="5194534" y="1998951"/>
            <a:ext cx="2143118" cy="964249"/>
            <a:chOff x="5194534" y="1998951"/>
            <a:chExt cx="2143118" cy="964249"/>
          </a:xfrm>
        </p:grpSpPr>
        <p:pic>
          <p:nvPicPr>
            <p:cNvPr id="1039" name="Google Shape;1039;p76"/>
            <p:cNvPicPr preferRelativeResize="0"/>
            <p:nvPr/>
          </p:nvPicPr>
          <p:blipFill>
            <a:blip r:embed="rId3">
              <a:alphaModFix/>
            </a:blip>
            <a:srcRect l="73028" t="12876" r="-261"/>
            <a:stretch>
              <a:fillRect/>
            </a:stretch>
          </p:blipFill>
          <p:spPr>
            <a:xfrm rot="5400000" flipH="1">
              <a:off x="5309846" y="1883639"/>
              <a:ext cx="700160" cy="9307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0" name="Google Shape;1040;p76"/>
            <p:cNvPicPr preferRelativeResize="0"/>
            <p:nvPr/>
          </p:nvPicPr>
          <p:blipFill>
            <a:blip r:embed="rId4">
              <a:alphaModFix/>
            </a:blip>
            <a:srcRect t="26610"/>
            <a:stretch>
              <a:fillRect/>
            </a:stretch>
          </p:blipFill>
          <p:spPr>
            <a:xfrm rot="-5400000">
              <a:off x="6781420" y="2011710"/>
              <a:ext cx="357471" cy="7549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76"/>
            <p:cNvSpPr txBox="1"/>
            <p:nvPr/>
          </p:nvSpPr>
          <p:spPr>
            <a:xfrm>
              <a:off x="6646150" y="2624500"/>
              <a:ext cx="691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rock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76"/>
            <p:cNvSpPr txBox="1"/>
            <p:nvPr/>
          </p:nvSpPr>
          <p:spPr>
            <a:xfrm>
              <a:off x="5314175" y="2624500"/>
              <a:ext cx="811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paper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3" name="Google Shape;1043;p76"/>
          <p:cNvGrpSpPr/>
          <p:nvPr/>
        </p:nvGrpSpPr>
        <p:grpSpPr>
          <a:xfrm>
            <a:off x="5249400" y="1991660"/>
            <a:ext cx="2248750" cy="968658"/>
            <a:chOff x="5249400" y="3088042"/>
            <a:chExt cx="2248750" cy="968658"/>
          </a:xfrm>
        </p:grpSpPr>
        <p:pic>
          <p:nvPicPr>
            <p:cNvPr id="1044" name="Google Shape;1044;p76"/>
            <p:cNvPicPr preferRelativeResize="0"/>
            <p:nvPr/>
          </p:nvPicPr>
          <p:blipFill>
            <a:blip r:embed="rId5">
              <a:alphaModFix/>
            </a:blip>
            <a:srcRect l="17449" r="67257"/>
            <a:stretch>
              <a:fillRect/>
            </a:stretch>
          </p:blipFill>
          <p:spPr>
            <a:xfrm rot="5400000">
              <a:off x="5534443" y="3051878"/>
              <a:ext cx="376366" cy="852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5" name="Google Shape;1045;p76"/>
            <p:cNvPicPr preferRelativeResize="0"/>
            <p:nvPr/>
          </p:nvPicPr>
          <p:blipFill>
            <a:blip r:embed="rId6">
              <a:alphaModFix/>
            </a:blip>
            <a:srcRect l="72628" t="11488" r="-541"/>
            <a:stretch>
              <a:fillRect/>
            </a:stretch>
          </p:blipFill>
          <p:spPr>
            <a:xfrm rot="-5400000">
              <a:off x="6635357" y="2970476"/>
              <a:ext cx="740111" cy="9752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6" name="Google Shape;1046;p76"/>
            <p:cNvSpPr txBox="1"/>
            <p:nvPr/>
          </p:nvSpPr>
          <p:spPr>
            <a:xfrm>
              <a:off x="6646150" y="3718000"/>
              <a:ext cx="852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paper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7" name="Google Shape;1047;p76"/>
            <p:cNvSpPr txBox="1"/>
            <p:nvPr/>
          </p:nvSpPr>
          <p:spPr>
            <a:xfrm>
              <a:off x="5249400" y="3718000"/>
              <a:ext cx="1125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scissors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8" name="Google Shape;1048;p76"/>
          <p:cNvGrpSpPr/>
          <p:nvPr/>
        </p:nvGrpSpPr>
        <p:grpSpPr>
          <a:xfrm>
            <a:off x="5335145" y="2230365"/>
            <a:ext cx="2142305" cy="729953"/>
            <a:chOff x="5335145" y="4241147"/>
            <a:chExt cx="2142305" cy="729953"/>
          </a:xfrm>
        </p:grpSpPr>
        <p:pic>
          <p:nvPicPr>
            <p:cNvPr id="1049" name="Google Shape;1049;p76"/>
            <p:cNvPicPr preferRelativeResize="0"/>
            <p:nvPr/>
          </p:nvPicPr>
          <p:blipFill>
            <a:blip r:embed="rId7">
              <a:alphaModFix/>
            </a:blip>
            <a:srcRect t="26610"/>
            <a:stretch>
              <a:fillRect/>
            </a:stretch>
          </p:blipFill>
          <p:spPr>
            <a:xfrm rot="5400000" flipH="1">
              <a:off x="5534853" y="4041439"/>
              <a:ext cx="359180" cy="758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0" name="Google Shape;1050;p76"/>
            <p:cNvPicPr preferRelativeResize="0"/>
            <p:nvPr/>
          </p:nvPicPr>
          <p:blipFill>
            <a:blip r:embed="rId4">
              <a:alphaModFix/>
            </a:blip>
            <a:srcRect t="26610"/>
            <a:stretch>
              <a:fillRect/>
            </a:stretch>
          </p:blipFill>
          <p:spPr>
            <a:xfrm rot="-5400000">
              <a:off x="6781420" y="4044085"/>
              <a:ext cx="357471" cy="7549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76"/>
            <p:cNvSpPr txBox="1"/>
            <p:nvPr/>
          </p:nvSpPr>
          <p:spPr>
            <a:xfrm>
              <a:off x="6722350" y="4632400"/>
              <a:ext cx="755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rock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2" name="Google Shape;1052;p76"/>
            <p:cNvSpPr txBox="1"/>
            <p:nvPr/>
          </p:nvSpPr>
          <p:spPr>
            <a:xfrm>
              <a:off x="5401800" y="4632400"/>
              <a:ext cx="6852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rock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3" name="Google Shape;105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7" name="Shape 1057"/>
        <p:cNvGrpSpPr/>
        <p:nvPr/>
      </p:nvGrpSpPr>
      <p:grpSpPr>
        <a:xfrm>
          <a:off x="0" y="0"/>
          <a:ext cx="0" cy="0"/>
        </a:xfrm>
      </p:grpSpPr>
      <p:sp>
        <p:nvSpPr>
          <p:cNvPr id="1058" name="Google Shape;1058;p77"/>
          <p:cNvSpPr txBox="1"/>
          <p:nvPr>
            <p:ph type="body" idx="1"/>
          </p:nvPr>
        </p:nvSpPr>
        <p:spPr>
          <a:xfrm>
            <a:off x="324000" y="759300"/>
            <a:ext cx="8237700" cy="44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two people were playing “rock, paper, scissors”.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pic>
        <p:nvPicPr>
          <p:cNvPr id="1059" name="Google Shape;1059;p77"/>
          <p:cNvPicPr preferRelativeResize="0"/>
          <p:nvPr/>
        </p:nvPicPr>
        <p:blipFill>
          <a:blip r:embed="rId3">
            <a:alphaModFix/>
          </a:blip>
          <a:srcRect l="73028" t="12876" r="-261"/>
          <a:stretch>
            <a:fillRect/>
          </a:stretch>
        </p:blipFill>
        <p:spPr>
          <a:xfrm rot="5400000" flipH="1">
            <a:off x="1031771" y="2563552"/>
            <a:ext cx="700160" cy="930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77"/>
          <p:cNvPicPr preferRelativeResize="0"/>
          <p:nvPr/>
        </p:nvPicPr>
        <p:blipFill>
          <a:blip r:embed="rId4">
            <a:alphaModFix/>
          </a:blip>
          <a:srcRect l="17449" r="67257"/>
          <a:stretch>
            <a:fillRect/>
          </a:stretch>
        </p:blipFill>
        <p:spPr>
          <a:xfrm rot="5400000">
            <a:off x="1233068" y="1968428"/>
            <a:ext cx="376366" cy="852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77"/>
          <p:cNvPicPr preferRelativeResize="0"/>
          <p:nvPr/>
        </p:nvPicPr>
        <p:blipFill>
          <a:blip r:embed="rId5">
            <a:alphaModFix/>
          </a:blip>
          <a:srcRect t="26610"/>
          <a:stretch>
            <a:fillRect/>
          </a:stretch>
        </p:blipFill>
        <p:spPr>
          <a:xfrm rot="5400000" flipH="1">
            <a:off x="1241653" y="3508026"/>
            <a:ext cx="359180" cy="758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77"/>
          <p:cNvPicPr preferRelativeResize="0"/>
          <p:nvPr/>
        </p:nvPicPr>
        <p:blipFill>
          <a:blip r:embed="rId6">
            <a:alphaModFix/>
          </a:blip>
          <a:srcRect l="17406" t="11488" r="63423"/>
          <a:stretch>
            <a:fillRect/>
          </a:stretch>
        </p:blipFill>
        <p:spPr>
          <a:xfrm rot="-5400000">
            <a:off x="2978191" y="2598403"/>
            <a:ext cx="508293" cy="97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77"/>
          <p:cNvPicPr preferRelativeResize="0"/>
          <p:nvPr/>
        </p:nvPicPr>
        <p:blipFill>
          <a:blip r:embed="rId6">
            <a:alphaModFix/>
          </a:blip>
          <a:srcRect l="72628" t="11488" r="-541"/>
          <a:stretch>
            <a:fillRect/>
          </a:stretch>
        </p:blipFill>
        <p:spPr>
          <a:xfrm rot="-5400000">
            <a:off x="2823457" y="1821201"/>
            <a:ext cx="740111" cy="97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77"/>
          <p:cNvPicPr preferRelativeResize="0"/>
          <p:nvPr/>
        </p:nvPicPr>
        <p:blipFill>
          <a:blip r:embed="rId7">
            <a:alphaModFix/>
          </a:blip>
          <a:srcRect t="26610"/>
          <a:stretch>
            <a:fillRect/>
          </a:stretch>
        </p:blipFill>
        <p:spPr>
          <a:xfrm rot="-5400000">
            <a:off x="3124895" y="3509835"/>
            <a:ext cx="357471" cy="7549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5" name="Google Shape;1065;p77"/>
          <p:cNvCxnSpPr>
            <a:stCxn id="1060" idx="0"/>
            <a:endCxn id="1063" idx="0"/>
          </p:cNvCxnSpPr>
          <p:nvPr/>
        </p:nvCxnSpPr>
        <p:spPr>
          <a:xfrm rot="10800000" flipH="1">
            <a:off x="1847261" y="2308939"/>
            <a:ext cx="858600" cy="85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6" name="Google Shape;1066;p77"/>
          <p:cNvCxnSpPr>
            <a:stCxn id="1059" idx="0"/>
            <a:endCxn id="1062" idx="0"/>
          </p:cNvCxnSpPr>
          <p:nvPr/>
        </p:nvCxnSpPr>
        <p:spPr>
          <a:xfrm>
            <a:off x="1847242" y="3028944"/>
            <a:ext cx="897600" cy="57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7" name="Google Shape;1067;p77"/>
          <p:cNvCxnSpPr>
            <a:stCxn id="1061" idx="0"/>
            <a:endCxn id="1064" idx="0"/>
          </p:cNvCxnSpPr>
          <p:nvPr/>
        </p:nvCxnSpPr>
        <p:spPr>
          <a:xfrm>
            <a:off x="1800541" y="3887324"/>
            <a:ext cx="11256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8" name="Google Shape;1068;p77"/>
          <p:cNvCxnSpPr>
            <a:stCxn id="1061" idx="0"/>
            <a:endCxn id="1062" idx="0"/>
          </p:cNvCxnSpPr>
          <p:nvPr/>
        </p:nvCxnSpPr>
        <p:spPr>
          <a:xfrm rot="10800000" flipH="1">
            <a:off x="1800541" y="3086024"/>
            <a:ext cx="944100" cy="801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9" name="Google Shape;1069;p77"/>
          <p:cNvCxnSpPr>
            <a:stCxn id="1059" idx="0"/>
          </p:cNvCxnSpPr>
          <p:nvPr/>
        </p:nvCxnSpPr>
        <p:spPr>
          <a:xfrm rot="10800000" flipH="1">
            <a:off x="1847242" y="2308944"/>
            <a:ext cx="878100" cy="720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0" name="Google Shape;1070;p77"/>
          <p:cNvCxnSpPr>
            <a:stCxn id="1060" idx="0"/>
            <a:endCxn id="1062" idx="0"/>
          </p:cNvCxnSpPr>
          <p:nvPr/>
        </p:nvCxnSpPr>
        <p:spPr>
          <a:xfrm>
            <a:off x="1847261" y="2394439"/>
            <a:ext cx="897600" cy="691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1" name="Google Shape;1071;p77"/>
          <p:cNvCxnSpPr>
            <a:stCxn id="1060" idx="0"/>
            <a:endCxn id="1064" idx="0"/>
          </p:cNvCxnSpPr>
          <p:nvPr/>
        </p:nvCxnSpPr>
        <p:spPr>
          <a:xfrm>
            <a:off x="1847261" y="2394439"/>
            <a:ext cx="1078800" cy="1492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2" name="Google Shape;1072;p77"/>
          <p:cNvCxnSpPr>
            <a:stCxn id="1059" idx="0"/>
            <a:endCxn id="1064" idx="0"/>
          </p:cNvCxnSpPr>
          <p:nvPr/>
        </p:nvCxnSpPr>
        <p:spPr>
          <a:xfrm>
            <a:off x="1847242" y="3028944"/>
            <a:ext cx="1078800" cy="858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3" name="Google Shape;1073;p77"/>
          <p:cNvCxnSpPr>
            <a:stCxn id="1061" idx="0"/>
            <a:endCxn id="1063" idx="0"/>
          </p:cNvCxnSpPr>
          <p:nvPr/>
        </p:nvCxnSpPr>
        <p:spPr>
          <a:xfrm rot="10800000" flipH="1">
            <a:off x="1800541" y="2308724"/>
            <a:ext cx="905400" cy="1578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4" name="Google Shape;1074;p77"/>
          <p:cNvSpPr txBox="1"/>
          <p:nvPr>
            <p:ph type="body" idx="1"/>
          </p:nvPr>
        </p:nvSpPr>
        <p:spPr>
          <a:xfrm>
            <a:off x="324000" y="1248943"/>
            <a:ext cx="8237700" cy="40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are all the possible outcomes?</a:t>
            </a:r>
            <a:endParaRPr sz="1800"/>
          </a:p>
        </p:txBody>
      </p:sp>
      <p:sp>
        <p:nvSpPr>
          <p:cNvPr id="1075" name="Google Shape;1075;p77"/>
          <p:cNvSpPr txBox="1"/>
          <p:nvPr/>
        </p:nvSpPr>
        <p:spPr>
          <a:xfrm>
            <a:off x="807300" y="1695088"/>
            <a:ext cx="1227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person 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7"/>
          <p:cNvSpPr txBox="1"/>
          <p:nvPr/>
        </p:nvSpPr>
        <p:spPr>
          <a:xfrm>
            <a:off x="2636100" y="1695088"/>
            <a:ext cx="1227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person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7"/>
          <p:cNvSpPr txBox="1"/>
          <p:nvPr/>
        </p:nvSpPr>
        <p:spPr>
          <a:xfrm>
            <a:off x="4845900" y="1161700"/>
            <a:ext cx="35655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 rock be r, paper be p and scissors be 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7"/>
          <p:cNvSpPr txBox="1"/>
          <p:nvPr/>
        </p:nvSpPr>
        <p:spPr>
          <a:xfrm>
            <a:off x="4845900" y="2477700"/>
            <a:ext cx="35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7"/>
          <p:cNvSpPr txBox="1"/>
          <p:nvPr/>
        </p:nvSpPr>
        <p:spPr>
          <a:xfrm>
            <a:off x="4845900" y="2717790"/>
            <a:ext cx="35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7"/>
          <p:cNvSpPr txBox="1"/>
          <p:nvPr/>
        </p:nvSpPr>
        <p:spPr>
          <a:xfrm>
            <a:off x="5349288" y="1708067"/>
            <a:ext cx="35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7"/>
          <p:cNvSpPr txBox="1"/>
          <p:nvPr/>
        </p:nvSpPr>
        <p:spPr>
          <a:xfrm>
            <a:off x="5349288" y="1948157"/>
            <a:ext cx="35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7"/>
          <p:cNvSpPr txBox="1"/>
          <p:nvPr/>
        </p:nvSpPr>
        <p:spPr>
          <a:xfrm>
            <a:off x="5349288" y="2188246"/>
            <a:ext cx="35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7"/>
          <p:cNvSpPr txBox="1"/>
          <p:nvPr/>
        </p:nvSpPr>
        <p:spPr>
          <a:xfrm>
            <a:off x="5349288" y="2428336"/>
            <a:ext cx="356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4" name="Google Shape;1084;p77"/>
          <p:cNvGrpSpPr/>
          <p:nvPr/>
        </p:nvGrpSpPr>
        <p:grpSpPr>
          <a:xfrm>
            <a:off x="6155400" y="1720725"/>
            <a:ext cx="2623295" cy="2017775"/>
            <a:chOff x="6155400" y="1720725"/>
            <a:chExt cx="2623295" cy="2017775"/>
          </a:xfrm>
        </p:grpSpPr>
        <p:pic>
          <p:nvPicPr>
            <p:cNvPr id="1085" name="Google Shape;1085;p7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8051521" y="2515662"/>
              <a:ext cx="727174" cy="909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77"/>
            <p:cNvSpPr txBox="1"/>
            <p:nvPr/>
          </p:nvSpPr>
          <p:spPr>
            <a:xfrm>
              <a:off x="7893388" y="3425000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87" name="Google Shape;1087;p77"/>
            <p:cNvPicPr preferRelativeResize="0"/>
            <p:nvPr/>
          </p:nvPicPr>
          <p:blipFill>
            <a:blip r:embed="rId9">
              <a:alphaModFix/>
            </a:blip>
            <a:srcRect t="56280" r="70143"/>
            <a:stretch>
              <a:fillRect/>
            </a:stretch>
          </p:blipFill>
          <p:spPr>
            <a:xfrm>
              <a:off x="6155400" y="1720725"/>
              <a:ext cx="1888148" cy="122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8" name="Google Shape;1088;p77"/>
            <p:cNvSpPr txBox="1"/>
            <p:nvPr/>
          </p:nvSpPr>
          <p:spPr>
            <a:xfrm>
              <a:off x="6238443" y="1872948"/>
              <a:ext cx="1812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Are ‘sp’ and ‘ps’ not the same outcome?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9" name="Google Shape;1089;p77"/>
          <p:cNvGrpSpPr/>
          <p:nvPr/>
        </p:nvGrpSpPr>
        <p:grpSpPr>
          <a:xfrm>
            <a:off x="4119398" y="2990725"/>
            <a:ext cx="2868432" cy="1844377"/>
            <a:chOff x="4119398" y="2990725"/>
            <a:chExt cx="2868432" cy="1844377"/>
          </a:xfrm>
        </p:grpSpPr>
        <p:pic>
          <p:nvPicPr>
            <p:cNvPr id="1090" name="Google Shape;1090;p77"/>
            <p:cNvPicPr preferRelativeResize="0"/>
            <p:nvPr/>
          </p:nvPicPr>
          <p:blipFill>
            <a:blip r:embed="rId9">
              <a:alphaModFix/>
            </a:blip>
            <a:srcRect t="56280" r="69082"/>
            <a:stretch>
              <a:fillRect/>
            </a:stretch>
          </p:blipFill>
          <p:spPr>
            <a:xfrm flipH="1">
              <a:off x="4968374" y="2990725"/>
              <a:ext cx="2019456" cy="122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1" name="Google Shape;1091;p7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flipH="1">
              <a:off x="4119398" y="3659652"/>
              <a:ext cx="930800" cy="9007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77"/>
            <p:cNvSpPr txBox="1"/>
            <p:nvPr/>
          </p:nvSpPr>
          <p:spPr>
            <a:xfrm>
              <a:off x="4235475" y="4521602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77"/>
            <p:cNvSpPr txBox="1"/>
            <p:nvPr/>
          </p:nvSpPr>
          <p:spPr>
            <a:xfrm>
              <a:off x="5110034" y="3172034"/>
              <a:ext cx="1812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No, they are the same combination.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4" name="Google Shape;109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8" name="Shape 1098"/>
        <p:cNvGrpSpPr/>
        <p:nvPr/>
      </p:nvGrpSpPr>
      <p:grpSpPr>
        <a:xfrm>
          <a:off x="0" y="0"/>
          <a:ext cx="0" cy="0"/>
        </a:xfrm>
      </p:grpSpPr>
      <p:sp>
        <p:nvSpPr>
          <p:cNvPr id="1099" name="Google Shape;1099;p78"/>
          <p:cNvSpPr txBox="1"/>
          <p:nvPr>
            <p:ph type="body" idx="1"/>
          </p:nvPr>
        </p:nvSpPr>
        <p:spPr>
          <a:xfrm>
            <a:off x="324000" y="759300"/>
            <a:ext cx="8237700" cy="69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800"/>
            </a:br>
            <a:r>
              <a:rPr lang="en-GB" sz="1800"/>
              <a:t>Jacob has listed some of the possible outcomes, when selecting one card from each set. </a:t>
            </a:r>
            <a:endParaRPr sz="1800"/>
          </a:p>
        </p:txBody>
      </p:sp>
      <p:sp>
        <p:nvSpPr>
          <p:cNvPr id="1100" name="Google Shape;1100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  <p:sp>
        <p:nvSpPr>
          <p:cNvPr id="1101" name="Google Shape;1101;p78"/>
          <p:cNvSpPr/>
          <p:nvPr/>
        </p:nvSpPr>
        <p:spPr>
          <a:xfrm>
            <a:off x="2890167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ABeeZee"/>
                <a:ea typeface="ABeeZee"/>
                <a:cs typeface="ABeeZee"/>
                <a:sym typeface="ABeeZee"/>
              </a:rPr>
              <a:t>D</a:t>
            </a:r>
            <a:endParaRPr sz="5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102" name="Google Shape;1102;p78"/>
          <p:cNvSpPr/>
          <p:nvPr/>
        </p:nvSpPr>
        <p:spPr>
          <a:xfrm>
            <a:off x="1609470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ABeeZee"/>
                <a:ea typeface="ABeeZee"/>
                <a:cs typeface="ABeeZee"/>
                <a:sym typeface="ABeeZee"/>
              </a:rPr>
              <a:t>B</a:t>
            </a:r>
            <a:endParaRPr sz="5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103" name="Google Shape;1103;p78"/>
          <p:cNvSpPr/>
          <p:nvPr/>
        </p:nvSpPr>
        <p:spPr>
          <a:xfrm>
            <a:off x="2249777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ABeeZee"/>
                <a:ea typeface="ABeeZee"/>
                <a:cs typeface="ABeeZee"/>
                <a:sym typeface="ABeeZee"/>
              </a:rPr>
              <a:t>C</a:t>
            </a:r>
            <a:endParaRPr sz="5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104" name="Google Shape;1104;p78"/>
          <p:cNvSpPr/>
          <p:nvPr/>
        </p:nvSpPr>
        <p:spPr>
          <a:xfrm>
            <a:off x="970025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ABeeZee"/>
                <a:ea typeface="ABeeZee"/>
                <a:cs typeface="ABeeZee"/>
                <a:sym typeface="ABeeZee"/>
              </a:rPr>
              <a:t>A</a:t>
            </a:r>
            <a:endParaRPr sz="5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105" name="Google Shape;1105;p78"/>
          <p:cNvSpPr txBox="1"/>
          <p:nvPr>
            <p:ph type="body" idx="1"/>
          </p:nvPr>
        </p:nvSpPr>
        <p:spPr>
          <a:xfrm>
            <a:off x="1913400" y="715400"/>
            <a:ext cx="619200" cy="3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Set 1</a:t>
            </a:r>
            <a:endParaRPr sz="1800"/>
          </a:p>
        </p:txBody>
      </p:sp>
      <p:sp>
        <p:nvSpPr>
          <p:cNvPr id="1106" name="Google Shape;1106;p78"/>
          <p:cNvSpPr txBox="1"/>
          <p:nvPr>
            <p:ph type="body" idx="1"/>
          </p:nvPr>
        </p:nvSpPr>
        <p:spPr>
          <a:xfrm>
            <a:off x="6333000" y="699050"/>
            <a:ext cx="619200" cy="3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Set 2</a:t>
            </a:r>
            <a:endParaRPr sz="1800"/>
          </a:p>
        </p:txBody>
      </p:sp>
      <p:sp>
        <p:nvSpPr>
          <p:cNvPr id="1107" name="Google Shape;1107;p78"/>
          <p:cNvSpPr/>
          <p:nvPr/>
        </p:nvSpPr>
        <p:spPr>
          <a:xfrm>
            <a:off x="5211445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♡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8"/>
          <p:cNvSpPr/>
          <p:nvPr/>
        </p:nvSpPr>
        <p:spPr>
          <a:xfrm>
            <a:off x="5851752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⁕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8"/>
          <p:cNvSpPr/>
          <p:nvPr/>
        </p:nvSpPr>
        <p:spPr>
          <a:xfrm>
            <a:off x="4572000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☆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78"/>
          <p:cNvSpPr/>
          <p:nvPr/>
        </p:nvSpPr>
        <p:spPr>
          <a:xfrm>
            <a:off x="7131495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♧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78"/>
          <p:cNvSpPr/>
          <p:nvPr/>
        </p:nvSpPr>
        <p:spPr>
          <a:xfrm>
            <a:off x="7771802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♢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78"/>
          <p:cNvSpPr/>
          <p:nvPr/>
        </p:nvSpPr>
        <p:spPr>
          <a:xfrm>
            <a:off x="6492050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♤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8"/>
          <p:cNvSpPr txBox="1"/>
          <p:nvPr>
            <p:ph type="body" idx="1"/>
          </p:nvPr>
        </p:nvSpPr>
        <p:spPr>
          <a:xfrm>
            <a:off x="1291083" y="2700000"/>
            <a:ext cx="530400" cy="16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A♧</a:t>
            </a:r>
            <a:br>
              <a:rPr lang="en-GB" sz="1800"/>
            </a:br>
            <a:r>
              <a:rPr lang="en-GB" sz="1800"/>
              <a:t>B♢</a:t>
            </a:r>
            <a:br>
              <a:rPr lang="en-GB" sz="1800"/>
            </a:br>
            <a:r>
              <a:rPr lang="en-GB" sz="1800"/>
              <a:t>C♢</a:t>
            </a:r>
            <a:br>
              <a:rPr lang="en-GB" sz="1800"/>
            </a:br>
            <a:r>
              <a:rPr lang="en-GB" sz="1800"/>
              <a:t>B☆</a:t>
            </a:r>
            <a:br>
              <a:rPr lang="en-GB" sz="1800"/>
            </a:br>
            <a:r>
              <a:rPr lang="en-GB" sz="1800"/>
              <a:t>D♡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114" name="Google Shape;1114;p78"/>
          <p:cNvSpPr txBox="1"/>
          <p:nvPr/>
        </p:nvSpPr>
        <p:spPr>
          <a:xfrm>
            <a:off x="2532600" y="2700000"/>
            <a:ext cx="5679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D♡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B⁕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A♢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C⁕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D♢</a:t>
            </a:r>
            <a:endParaRPr/>
          </a:p>
        </p:txBody>
      </p:sp>
      <p:sp>
        <p:nvSpPr>
          <p:cNvPr id="1115" name="Google Shape;1115;p78"/>
          <p:cNvSpPr txBox="1"/>
          <p:nvPr>
            <p:ph type="body" idx="1"/>
          </p:nvPr>
        </p:nvSpPr>
        <p:spPr>
          <a:xfrm>
            <a:off x="689075" y="2700000"/>
            <a:ext cx="530400" cy="16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A☆</a:t>
            </a:r>
            <a:br>
              <a:rPr lang="en-GB" sz="1800" b="1"/>
            </a:br>
            <a:r>
              <a:rPr lang="en-GB" sz="1800"/>
              <a:t>C☆</a:t>
            </a:r>
            <a:br>
              <a:rPr lang="en-GB" sz="1800"/>
            </a:br>
            <a:r>
              <a:rPr lang="en-GB" sz="1800"/>
              <a:t>B♡</a:t>
            </a:r>
            <a:br>
              <a:rPr lang="en-GB" sz="1800"/>
            </a:br>
            <a:r>
              <a:rPr lang="en-GB" sz="1800"/>
              <a:t>D⁕</a:t>
            </a:r>
            <a:br>
              <a:rPr lang="en-GB" sz="1800"/>
            </a:br>
            <a:r>
              <a:rPr lang="en-GB" sz="1800"/>
              <a:t>D♤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116" name="Google Shape;1116;p78"/>
          <p:cNvSpPr txBox="1"/>
          <p:nvPr/>
        </p:nvSpPr>
        <p:spPr>
          <a:xfrm>
            <a:off x="1893092" y="2700000"/>
            <a:ext cx="5679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A⁕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B♤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C♧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D♧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A♤</a:t>
            </a:r>
            <a:endParaRPr/>
          </a:p>
        </p:txBody>
      </p:sp>
      <p:sp>
        <p:nvSpPr>
          <p:cNvPr id="1117" name="Google Shape;1117;p78"/>
          <p:cNvSpPr txBox="1"/>
          <p:nvPr>
            <p:ph type="body" idx="1"/>
          </p:nvPr>
        </p:nvSpPr>
        <p:spPr>
          <a:xfrm>
            <a:off x="3340350" y="2700000"/>
            <a:ext cx="5479800" cy="69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What outcomes has Jacob missed from his list?</a:t>
            </a:r>
            <a:endParaRPr sz="1800"/>
          </a:p>
        </p:txBody>
      </p:sp>
      <p:sp>
        <p:nvSpPr>
          <p:cNvPr id="1118" name="Google Shape;1118;p78"/>
          <p:cNvSpPr txBox="1"/>
          <p:nvPr>
            <p:ph type="body" idx="1"/>
          </p:nvPr>
        </p:nvSpPr>
        <p:spPr>
          <a:xfrm>
            <a:off x="3340350" y="3614400"/>
            <a:ext cx="5479800" cy="69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What outcomes has Jacob duplicated?</a:t>
            </a:r>
            <a:endParaRPr sz="1800"/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2" name="Shape 1122"/>
        <p:cNvGrpSpPr/>
        <p:nvPr/>
      </p:nvGrpSpPr>
      <p:grpSpPr>
        <a:xfrm>
          <a:off x="0" y="0"/>
          <a:ext cx="0" cy="0"/>
        </a:xfrm>
      </p:grpSpPr>
      <p:sp>
        <p:nvSpPr>
          <p:cNvPr id="1123" name="Google Shape;1123;p7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800"/>
            </a:br>
            <a:r>
              <a:rPr lang="en-GB" sz="1800"/>
              <a:t>Jacob has listed some of the possible outcomes, when selecting one card from each set. </a:t>
            </a:r>
            <a:endParaRPr sz="1800"/>
          </a:p>
        </p:txBody>
      </p:sp>
      <p:sp>
        <p:nvSpPr>
          <p:cNvPr id="1124" name="Google Shape;1124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  <p:sp>
        <p:nvSpPr>
          <p:cNvPr id="1125" name="Google Shape;1125;p79"/>
          <p:cNvSpPr/>
          <p:nvPr/>
        </p:nvSpPr>
        <p:spPr>
          <a:xfrm>
            <a:off x="2890167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ABeeZee"/>
                <a:ea typeface="ABeeZee"/>
                <a:cs typeface="ABeeZee"/>
                <a:sym typeface="ABeeZee"/>
              </a:rPr>
              <a:t>D</a:t>
            </a:r>
            <a:endParaRPr sz="5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126" name="Google Shape;1126;p79"/>
          <p:cNvSpPr/>
          <p:nvPr/>
        </p:nvSpPr>
        <p:spPr>
          <a:xfrm>
            <a:off x="1609470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ABeeZee"/>
                <a:ea typeface="ABeeZee"/>
                <a:cs typeface="ABeeZee"/>
                <a:sym typeface="ABeeZee"/>
              </a:rPr>
              <a:t>B</a:t>
            </a:r>
            <a:endParaRPr sz="5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127" name="Google Shape;1127;p79"/>
          <p:cNvSpPr/>
          <p:nvPr/>
        </p:nvSpPr>
        <p:spPr>
          <a:xfrm>
            <a:off x="2249777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ABeeZee"/>
                <a:ea typeface="ABeeZee"/>
                <a:cs typeface="ABeeZee"/>
                <a:sym typeface="ABeeZee"/>
              </a:rPr>
              <a:t>C</a:t>
            </a:r>
            <a:endParaRPr sz="5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128" name="Google Shape;1128;p79"/>
          <p:cNvSpPr/>
          <p:nvPr/>
        </p:nvSpPr>
        <p:spPr>
          <a:xfrm>
            <a:off x="970025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ABeeZee"/>
                <a:ea typeface="ABeeZee"/>
                <a:cs typeface="ABeeZee"/>
                <a:sym typeface="ABeeZee"/>
              </a:rPr>
              <a:t>A</a:t>
            </a:r>
            <a:endParaRPr sz="5000" b="1"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129" name="Google Shape;1129;p79"/>
          <p:cNvSpPr txBox="1"/>
          <p:nvPr>
            <p:ph type="body" idx="1"/>
          </p:nvPr>
        </p:nvSpPr>
        <p:spPr>
          <a:xfrm>
            <a:off x="1913400" y="715400"/>
            <a:ext cx="619200" cy="3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Set 1</a:t>
            </a:r>
            <a:endParaRPr sz="1800"/>
          </a:p>
        </p:txBody>
      </p:sp>
      <p:sp>
        <p:nvSpPr>
          <p:cNvPr id="1130" name="Google Shape;1130;p79"/>
          <p:cNvSpPr txBox="1"/>
          <p:nvPr>
            <p:ph type="body" idx="1"/>
          </p:nvPr>
        </p:nvSpPr>
        <p:spPr>
          <a:xfrm>
            <a:off x="6333000" y="699050"/>
            <a:ext cx="619200" cy="3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Set 2</a:t>
            </a:r>
            <a:endParaRPr sz="1800"/>
          </a:p>
        </p:txBody>
      </p:sp>
      <p:sp>
        <p:nvSpPr>
          <p:cNvPr id="1131" name="Google Shape;1131;p79"/>
          <p:cNvSpPr/>
          <p:nvPr/>
        </p:nvSpPr>
        <p:spPr>
          <a:xfrm>
            <a:off x="5211445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♡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9"/>
          <p:cNvSpPr/>
          <p:nvPr/>
        </p:nvSpPr>
        <p:spPr>
          <a:xfrm>
            <a:off x="5851752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⁕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79"/>
          <p:cNvSpPr/>
          <p:nvPr/>
        </p:nvSpPr>
        <p:spPr>
          <a:xfrm>
            <a:off x="4572000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☆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79"/>
          <p:cNvSpPr/>
          <p:nvPr/>
        </p:nvSpPr>
        <p:spPr>
          <a:xfrm>
            <a:off x="7131495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♧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9"/>
          <p:cNvSpPr/>
          <p:nvPr/>
        </p:nvSpPr>
        <p:spPr>
          <a:xfrm>
            <a:off x="7771802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♢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9"/>
          <p:cNvSpPr/>
          <p:nvPr/>
        </p:nvSpPr>
        <p:spPr>
          <a:xfrm>
            <a:off x="6492050" y="1067150"/>
            <a:ext cx="530400" cy="6960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5000" b="1">
                <a:latin typeface="Lexend"/>
                <a:ea typeface="Lexend"/>
                <a:cs typeface="Lexend"/>
                <a:sym typeface="Lexend"/>
              </a:rPr>
              <a:t>♤</a:t>
            </a:r>
            <a:endParaRPr sz="50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9"/>
          <p:cNvSpPr txBox="1"/>
          <p:nvPr>
            <p:ph type="body" idx="1"/>
          </p:nvPr>
        </p:nvSpPr>
        <p:spPr>
          <a:xfrm>
            <a:off x="1291083" y="2700000"/>
            <a:ext cx="530400" cy="16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A♧</a:t>
            </a:r>
            <a:br>
              <a:rPr lang="en-GB" sz="1800"/>
            </a:br>
            <a:r>
              <a:rPr lang="en-GB" sz="1800"/>
              <a:t>B♢</a:t>
            </a:r>
            <a:br>
              <a:rPr lang="en-GB" sz="1800"/>
            </a:br>
            <a:r>
              <a:rPr lang="en-GB" sz="1800"/>
              <a:t>C♢</a:t>
            </a:r>
            <a:br>
              <a:rPr lang="en-GB" sz="1800"/>
            </a:br>
            <a:r>
              <a:rPr lang="en-GB" sz="1800"/>
              <a:t>B☆</a:t>
            </a:r>
            <a:br>
              <a:rPr lang="en-GB" sz="1800"/>
            </a:br>
            <a:r>
              <a:rPr lang="en-GB" sz="1800"/>
              <a:t>D♡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138" name="Google Shape;1138;p79"/>
          <p:cNvSpPr txBox="1"/>
          <p:nvPr/>
        </p:nvSpPr>
        <p:spPr>
          <a:xfrm>
            <a:off x="2532600" y="2700000"/>
            <a:ext cx="5679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D♡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B⁕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A♢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C⁕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D♢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9" name="Google Shape;1139;p79"/>
          <p:cNvSpPr txBox="1"/>
          <p:nvPr>
            <p:ph type="body" idx="1"/>
          </p:nvPr>
        </p:nvSpPr>
        <p:spPr>
          <a:xfrm>
            <a:off x="689075" y="2700000"/>
            <a:ext cx="530400" cy="16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A☆</a:t>
            </a:r>
            <a:br>
              <a:rPr lang="en-GB" sz="1800" b="1"/>
            </a:br>
            <a:r>
              <a:rPr lang="en-GB" sz="1800"/>
              <a:t>C☆</a:t>
            </a:r>
            <a:br>
              <a:rPr lang="en-GB" sz="1800"/>
            </a:br>
            <a:r>
              <a:rPr lang="en-GB" sz="1800"/>
              <a:t>B♡</a:t>
            </a:r>
            <a:br>
              <a:rPr lang="en-GB" sz="1800"/>
            </a:br>
            <a:r>
              <a:rPr lang="en-GB" sz="1800"/>
              <a:t>D⁕</a:t>
            </a:r>
            <a:br>
              <a:rPr lang="en-GB" sz="1800"/>
            </a:br>
            <a:r>
              <a:rPr lang="en-GB" sz="1800"/>
              <a:t>D♤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140" name="Google Shape;1140;p79"/>
          <p:cNvSpPr txBox="1"/>
          <p:nvPr/>
        </p:nvSpPr>
        <p:spPr>
          <a:xfrm>
            <a:off x="1893092" y="2700000"/>
            <a:ext cx="5679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A⁕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B♤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C♧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D♧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A♤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1" name="Google Shape;1141;p79"/>
          <p:cNvSpPr txBox="1"/>
          <p:nvPr>
            <p:ph type="body" idx="1"/>
          </p:nvPr>
        </p:nvSpPr>
        <p:spPr>
          <a:xfrm>
            <a:off x="3340350" y="2700000"/>
            <a:ext cx="5479800" cy="69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What outcomes has Jacob missed from his list?</a:t>
            </a:r>
            <a:endParaRPr sz="1800"/>
          </a:p>
        </p:txBody>
      </p:sp>
      <p:sp>
        <p:nvSpPr>
          <p:cNvPr id="1142" name="Google Shape;1142;p79"/>
          <p:cNvSpPr txBox="1"/>
          <p:nvPr>
            <p:ph type="body" idx="1"/>
          </p:nvPr>
        </p:nvSpPr>
        <p:spPr>
          <a:xfrm>
            <a:off x="3340350" y="3614400"/>
            <a:ext cx="5479800" cy="69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What outcomes has Jacob duplicated?</a:t>
            </a:r>
            <a:endParaRPr sz="1800"/>
          </a:p>
        </p:txBody>
      </p:sp>
      <p:sp>
        <p:nvSpPr>
          <p:cNvPr id="1143" name="Google Shape;1143;p79"/>
          <p:cNvSpPr txBox="1"/>
          <p:nvPr>
            <p:ph type="body" idx="1"/>
          </p:nvPr>
        </p:nvSpPr>
        <p:spPr>
          <a:xfrm>
            <a:off x="4089300" y="3237900"/>
            <a:ext cx="2397300" cy="3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A♡, B♧, C♡, C♤, D☆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4" name="Google Shape;1144;p79"/>
          <p:cNvSpPr txBox="1"/>
          <p:nvPr>
            <p:ph type="body" idx="1"/>
          </p:nvPr>
        </p:nvSpPr>
        <p:spPr>
          <a:xfrm>
            <a:off x="4095750" y="3951300"/>
            <a:ext cx="2397300" cy="3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D♡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8" name="Shape 1148"/>
        <p:cNvGrpSpPr/>
        <p:nvPr/>
      </p:nvGrpSpPr>
      <p:grpSpPr>
        <a:xfrm>
          <a:off x="0" y="0"/>
          <a:ext cx="0" cy="0"/>
        </a:xfrm>
      </p:grpSpPr>
      <p:sp>
        <p:nvSpPr>
          <p:cNvPr id="1149" name="Google Shape;1149;p8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  <p:sp>
        <p:nvSpPr>
          <p:cNvPr id="1150" name="Google Shape;1150;p8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151" name="Google Shape;1151;p8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two events</a:t>
            </a:r>
            <a:endParaRPr/>
          </a:p>
        </p:txBody>
      </p:sp>
      <p:pic>
        <p:nvPicPr>
          <p:cNvPr id="1152" name="Google Shape;115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05" y="2773834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8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of two events</a:t>
            </a:r>
            <a:endParaRPr/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7" name="Shape 1157"/>
        <p:cNvGrpSpPr/>
        <p:nvPr/>
      </p:nvGrpSpPr>
      <p:grpSpPr>
        <a:xfrm>
          <a:off x="0" y="0"/>
          <a:ext cx="0" cy="0"/>
        </a:xfrm>
      </p:grpSpPr>
      <p:sp>
        <p:nvSpPr>
          <p:cNvPr id="1158" name="Google Shape;1158;p81"/>
          <p:cNvSpPr txBox="1"/>
          <p:nvPr>
            <p:ph type="body" idx="1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restaurant has a two course set menu. </a:t>
            </a:r>
            <a:br>
              <a:rPr lang="en-GB" sz="1800"/>
            </a:br>
            <a:r>
              <a:rPr lang="en-GB" sz="1800"/>
              <a:t>You select one from the starters and one from the main course section.</a:t>
            </a:r>
            <a:endParaRPr sz="1800"/>
          </a:p>
        </p:txBody>
      </p:sp>
      <p:sp>
        <p:nvSpPr>
          <p:cNvPr id="1159" name="Google Shape;115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160" name="Google Shape;1160;p81"/>
          <p:cNvSpPr/>
          <p:nvPr/>
        </p:nvSpPr>
        <p:spPr>
          <a:xfrm>
            <a:off x="324000" y="1553925"/>
            <a:ext cx="2791500" cy="2680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1"/>
          <p:cNvSpPr txBox="1"/>
          <p:nvPr>
            <p:ph type="body" idx="1"/>
          </p:nvPr>
        </p:nvSpPr>
        <p:spPr>
          <a:xfrm>
            <a:off x="1279300" y="1620000"/>
            <a:ext cx="9351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Starter</a:t>
            </a:r>
            <a:endParaRPr sz="1800"/>
          </a:p>
        </p:txBody>
      </p:sp>
      <p:sp>
        <p:nvSpPr>
          <p:cNvPr id="1162" name="Google Shape;1162;p81"/>
          <p:cNvSpPr txBox="1"/>
          <p:nvPr>
            <p:ph type="body" idx="1"/>
          </p:nvPr>
        </p:nvSpPr>
        <p:spPr>
          <a:xfrm>
            <a:off x="1395900" y="2758050"/>
            <a:ext cx="5778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Main</a:t>
            </a:r>
            <a:endParaRPr sz="1800"/>
          </a:p>
        </p:txBody>
      </p:sp>
      <p:sp>
        <p:nvSpPr>
          <p:cNvPr id="1163" name="Google Shape;1163;p81"/>
          <p:cNvSpPr txBox="1"/>
          <p:nvPr>
            <p:ph type="body" idx="1"/>
          </p:nvPr>
        </p:nvSpPr>
        <p:spPr>
          <a:xfrm>
            <a:off x="530800" y="1966650"/>
            <a:ext cx="25305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Garlic mushrooms (G)</a:t>
            </a:r>
            <a:endParaRPr sz="1800"/>
          </a:p>
        </p:txBody>
      </p:sp>
      <p:sp>
        <p:nvSpPr>
          <p:cNvPr id="1164" name="Google Shape;1164;p81"/>
          <p:cNvSpPr txBox="1"/>
          <p:nvPr>
            <p:ph type="body" idx="1"/>
          </p:nvPr>
        </p:nvSpPr>
        <p:spPr>
          <a:xfrm>
            <a:off x="808950" y="2313300"/>
            <a:ext cx="21513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Halloumi bites (H)</a:t>
            </a:r>
            <a:endParaRPr sz="1800"/>
          </a:p>
        </p:txBody>
      </p:sp>
      <p:sp>
        <p:nvSpPr>
          <p:cNvPr id="1165" name="Google Shape;1165;p81"/>
          <p:cNvSpPr txBox="1"/>
          <p:nvPr>
            <p:ph type="body" idx="1"/>
          </p:nvPr>
        </p:nvSpPr>
        <p:spPr>
          <a:xfrm>
            <a:off x="700050" y="3390900"/>
            <a:ext cx="21513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Fish and chips (F)</a:t>
            </a:r>
            <a:endParaRPr sz="1800"/>
          </a:p>
        </p:txBody>
      </p:sp>
      <p:sp>
        <p:nvSpPr>
          <p:cNvPr id="1166" name="Google Shape;1166;p81"/>
          <p:cNvSpPr txBox="1"/>
          <p:nvPr>
            <p:ph type="body" idx="1"/>
          </p:nvPr>
        </p:nvSpPr>
        <p:spPr>
          <a:xfrm>
            <a:off x="378250" y="3045450"/>
            <a:ext cx="27372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Bacon cheeseburger (B)</a:t>
            </a:r>
            <a:endParaRPr sz="1800"/>
          </a:p>
        </p:txBody>
      </p:sp>
      <p:sp>
        <p:nvSpPr>
          <p:cNvPr id="1167" name="Google Shape;1167;p81"/>
          <p:cNvSpPr txBox="1"/>
          <p:nvPr>
            <p:ph type="body" idx="1"/>
          </p:nvPr>
        </p:nvSpPr>
        <p:spPr>
          <a:xfrm>
            <a:off x="638950" y="3777600"/>
            <a:ext cx="22125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Vegetable curry (V)</a:t>
            </a:r>
            <a:endParaRPr sz="1800"/>
          </a:p>
        </p:txBody>
      </p:sp>
      <p:sp>
        <p:nvSpPr>
          <p:cNvPr id="1168" name="Google Shape;1168;p81"/>
          <p:cNvSpPr txBox="1"/>
          <p:nvPr>
            <p:ph type="body" idx="1"/>
          </p:nvPr>
        </p:nvSpPr>
        <p:spPr>
          <a:xfrm>
            <a:off x="3405550" y="1477725"/>
            <a:ext cx="46593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are the possible two course meals?</a:t>
            </a:r>
            <a:endParaRPr sz="1800"/>
          </a:p>
        </p:txBody>
      </p:sp>
      <p:pic>
        <p:nvPicPr>
          <p:cNvPr id="1169" name="Google Shape;116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2226" y="186739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81"/>
          <p:cNvSpPr txBox="1"/>
          <p:nvPr/>
        </p:nvSpPr>
        <p:spPr>
          <a:xfrm>
            <a:off x="3434700" y="2852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1"/>
          <p:cNvSpPr/>
          <p:nvPr/>
        </p:nvSpPr>
        <p:spPr>
          <a:xfrm>
            <a:off x="4436475" y="1966650"/>
            <a:ext cx="2835900" cy="4032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1"/>
          <p:cNvSpPr txBox="1"/>
          <p:nvPr>
            <p:ph type="body" idx="1"/>
          </p:nvPr>
        </p:nvSpPr>
        <p:spPr>
          <a:xfrm>
            <a:off x="4566750" y="2022450"/>
            <a:ext cx="2666700" cy="34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GB, HV, HB, GF, HF, GV </a:t>
            </a:r>
            <a:endParaRPr sz="1800"/>
          </a:p>
        </p:txBody>
      </p:sp>
      <p:pic>
        <p:nvPicPr>
          <p:cNvPr id="1173" name="Google Shape;117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3940" y="2453700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81"/>
          <p:cNvSpPr txBox="1"/>
          <p:nvPr/>
        </p:nvSpPr>
        <p:spPr>
          <a:xfrm>
            <a:off x="7715175" y="33778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1"/>
          <p:cNvSpPr/>
          <p:nvPr/>
        </p:nvSpPr>
        <p:spPr>
          <a:xfrm>
            <a:off x="4436475" y="2881050"/>
            <a:ext cx="2835900" cy="4032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1"/>
          <p:cNvSpPr txBox="1"/>
          <p:nvPr>
            <p:ph type="body" idx="1"/>
          </p:nvPr>
        </p:nvSpPr>
        <p:spPr>
          <a:xfrm>
            <a:off x="4566750" y="2936850"/>
            <a:ext cx="2666700" cy="34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GB, GF, GV, HB, HF, HV </a:t>
            </a:r>
            <a:endParaRPr sz="1800"/>
          </a:p>
        </p:txBody>
      </p:sp>
      <p:pic>
        <p:nvPicPr>
          <p:cNvPr id="1177" name="Google Shape;117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471009" y="351591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81"/>
          <p:cNvSpPr txBox="1"/>
          <p:nvPr/>
        </p:nvSpPr>
        <p:spPr>
          <a:xfrm>
            <a:off x="3504350" y="4412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1"/>
          <p:cNvSpPr/>
          <p:nvPr/>
        </p:nvSpPr>
        <p:spPr>
          <a:xfrm>
            <a:off x="4436475" y="3795450"/>
            <a:ext cx="2835900" cy="4032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1"/>
          <p:cNvSpPr txBox="1"/>
          <p:nvPr>
            <p:ph type="body" idx="1"/>
          </p:nvPr>
        </p:nvSpPr>
        <p:spPr>
          <a:xfrm>
            <a:off x="4566750" y="3851250"/>
            <a:ext cx="2666700" cy="34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GB, HB, GF, HF, GV, HV </a:t>
            </a:r>
            <a:endParaRPr sz="1800"/>
          </a:p>
        </p:txBody>
      </p:sp>
      <p:sp>
        <p:nvSpPr>
          <p:cNvPr id="1181" name="Google Shape;1181;p81"/>
          <p:cNvSpPr txBox="1"/>
          <p:nvPr>
            <p:ph type="body" idx="1"/>
          </p:nvPr>
        </p:nvSpPr>
        <p:spPr>
          <a:xfrm>
            <a:off x="4548550" y="4449525"/>
            <a:ext cx="38466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Whose list is the least systematic?</a:t>
            </a:r>
            <a:endParaRPr sz="1800"/>
          </a:p>
        </p:txBody>
      </p:sp>
      <p:cxnSp>
        <p:nvCxnSpPr>
          <p:cNvPr id="1182" name="Google Shape;1182;p81"/>
          <p:cNvCxnSpPr/>
          <p:nvPr/>
        </p:nvCxnSpPr>
        <p:spPr>
          <a:xfrm rot="10800000" flipH="1">
            <a:off x="1320950" y="1866200"/>
            <a:ext cx="695400" cy="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81"/>
          <p:cNvCxnSpPr/>
          <p:nvPr/>
        </p:nvCxnSpPr>
        <p:spPr>
          <a:xfrm>
            <a:off x="1423725" y="3013150"/>
            <a:ext cx="511800" cy="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7" name="Shape 1187"/>
        <p:cNvGrpSpPr/>
        <p:nvPr/>
      </p:nvGrpSpPr>
      <p:grpSpPr>
        <a:xfrm>
          <a:off x="0" y="0"/>
          <a:ext cx="0" cy="0"/>
        </a:xfrm>
      </p:grpSpPr>
      <p:sp>
        <p:nvSpPr>
          <p:cNvPr id="1188" name="Google Shape;1188;p82"/>
          <p:cNvSpPr txBox="1"/>
          <p:nvPr>
            <p:ph type="body" idx="1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restaurant has a two course set menu. </a:t>
            </a:r>
            <a:br>
              <a:rPr lang="en-GB" sz="1800"/>
            </a:br>
            <a:r>
              <a:rPr lang="en-GB" sz="1800"/>
              <a:t>You select one from the starters and one from the main course section.</a:t>
            </a:r>
            <a:endParaRPr sz="1800"/>
          </a:p>
        </p:txBody>
      </p:sp>
      <p:sp>
        <p:nvSpPr>
          <p:cNvPr id="1189" name="Google Shape;118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190" name="Google Shape;1190;p82"/>
          <p:cNvSpPr/>
          <p:nvPr/>
        </p:nvSpPr>
        <p:spPr>
          <a:xfrm>
            <a:off x="324000" y="1553925"/>
            <a:ext cx="2791500" cy="2680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2"/>
          <p:cNvSpPr txBox="1"/>
          <p:nvPr>
            <p:ph type="body" idx="1"/>
          </p:nvPr>
        </p:nvSpPr>
        <p:spPr>
          <a:xfrm>
            <a:off x="1279300" y="1620000"/>
            <a:ext cx="9351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Starter</a:t>
            </a:r>
            <a:endParaRPr sz="1800"/>
          </a:p>
        </p:txBody>
      </p:sp>
      <p:sp>
        <p:nvSpPr>
          <p:cNvPr id="1192" name="Google Shape;1192;p82"/>
          <p:cNvSpPr txBox="1"/>
          <p:nvPr>
            <p:ph type="body" idx="1"/>
          </p:nvPr>
        </p:nvSpPr>
        <p:spPr>
          <a:xfrm>
            <a:off x="1395900" y="2758050"/>
            <a:ext cx="5778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Main</a:t>
            </a:r>
            <a:endParaRPr sz="1800"/>
          </a:p>
        </p:txBody>
      </p:sp>
      <p:sp>
        <p:nvSpPr>
          <p:cNvPr id="1193" name="Google Shape;1193;p82"/>
          <p:cNvSpPr txBox="1"/>
          <p:nvPr>
            <p:ph type="body" idx="1"/>
          </p:nvPr>
        </p:nvSpPr>
        <p:spPr>
          <a:xfrm>
            <a:off x="530800" y="1966650"/>
            <a:ext cx="25305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Garlic mushrooms (G)</a:t>
            </a:r>
            <a:endParaRPr sz="1800"/>
          </a:p>
        </p:txBody>
      </p:sp>
      <p:sp>
        <p:nvSpPr>
          <p:cNvPr id="1194" name="Google Shape;1194;p82"/>
          <p:cNvSpPr txBox="1"/>
          <p:nvPr>
            <p:ph type="body" idx="1"/>
          </p:nvPr>
        </p:nvSpPr>
        <p:spPr>
          <a:xfrm>
            <a:off x="808950" y="2313300"/>
            <a:ext cx="21513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Halloumi bites (H)</a:t>
            </a:r>
            <a:endParaRPr sz="1800"/>
          </a:p>
        </p:txBody>
      </p:sp>
      <p:sp>
        <p:nvSpPr>
          <p:cNvPr id="1195" name="Google Shape;1195;p82"/>
          <p:cNvSpPr txBox="1"/>
          <p:nvPr>
            <p:ph type="body" idx="1"/>
          </p:nvPr>
        </p:nvSpPr>
        <p:spPr>
          <a:xfrm>
            <a:off x="700050" y="3390900"/>
            <a:ext cx="21513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Fish and chips (F)</a:t>
            </a:r>
            <a:endParaRPr sz="1800"/>
          </a:p>
        </p:txBody>
      </p:sp>
      <p:sp>
        <p:nvSpPr>
          <p:cNvPr id="1196" name="Google Shape;1196;p82"/>
          <p:cNvSpPr txBox="1"/>
          <p:nvPr>
            <p:ph type="body" idx="1"/>
          </p:nvPr>
        </p:nvSpPr>
        <p:spPr>
          <a:xfrm>
            <a:off x="378250" y="3045450"/>
            <a:ext cx="27372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Bacon cheeseburger (B)</a:t>
            </a:r>
            <a:endParaRPr sz="1800"/>
          </a:p>
        </p:txBody>
      </p:sp>
      <p:sp>
        <p:nvSpPr>
          <p:cNvPr id="1197" name="Google Shape;1197;p82"/>
          <p:cNvSpPr txBox="1"/>
          <p:nvPr>
            <p:ph type="body" idx="1"/>
          </p:nvPr>
        </p:nvSpPr>
        <p:spPr>
          <a:xfrm>
            <a:off x="638950" y="3777600"/>
            <a:ext cx="22125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Vegetable curry (V)</a:t>
            </a:r>
            <a:endParaRPr sz="1800"/>
          </a:p>
        </p:txBody>
      </p:sp>
      <p:sp>
        <p:nvSpPr>
          <p:cNvPr id="1198" name="Google Shape;1198;p82"/>
          <p:cNvSpPr txBox="1"/>
          <p:nvPr>
            <p:ph type="body" idx="1"/>
          </p:nvPr>
        </p:nvSpPr>
        <p:spPr>
          <a:xfrm>
            <a:off x="3405550" y="1477725"/>
            <a:ext cx="46593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are the possible two course meals?</a:t>
            </a:r>
            <a:endParaRPr sz="1800"/>
          </a:p>
        </p:txBody>
      </p:sp>
      <p:pic>
        <p:nvPicPr>
          <p:cNvPr id="1199" name="Google Shape;119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2226" y="186739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82"/>
          <p:cNvSpPr txBox="1"/>
          <p:nvPr/>
        </p:nvSpPr>
        <p:spPr>
          <a:xfrm>
            <a:off x="3434700" y="2852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2"/>
          <p:cNvSpPr/>
          <p:nvPr/>
        </p:nvSpPr>
        <p:spPr>
          <a:xfrm>
            <a:off x="4436475" y="1966650"/>
            <a:ext cx="2835900" cy="4032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2"/>
          <p:cNvSpPr txBox="1"/>
          <p:nvPr>
            <p:ph type="body" idx="1"/>
          </p:nvPr>
        </p:nvSpPr>
        <p:spPr>
          <a:xfrm>
            <a:off x="4566750" y="2022450"/>
            <a:ext cx="2666700" cy="34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GB, HV, HB, GF, HF, GV </a:t>
            </a:r>
            <a:endParaRPr sz="1800"/>
          </a:p>
        </p:txBody>
      </p:sp>
      <p:sp>
        <p:nvSpPr>
          <p:cNvPr id="1203" name="Google Shape;1203;p82"/>
          <p:cNvSpPr txBox="1"/>
          <p:nvPr>
            <p:ph type="body" idx="1"/>
          </p:nvPr>
        </p:nvSpPr>
        <p:spPr>
          <a:xfrm>
            <a:off x="4436475" y="2571375"/>
            <a:ext cx="38466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Andeep’s list is not systematic. It jumps between the different starters and main courses.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could lead to missed outcomes or duplications.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04" name="Google Shape;1204;p82"/>
          <p:cNvCxnSpPr/>
          <p:nvPr/>
        </p:nvCxnSpPr>
        <p:spPr>
          <a:xfrm rot="10800000" flipH="1">
            <a:off x="1320950" y="1866200"/>
            <a:ext cx="695400" cy="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5" name="Google Shape;1205;p82"/>
          <p:cNvCxnSpPr/>
          <p:nvPr/>
        </p:nvCxnSpPr>
        <p:spPr>
          <a:xfrm>
            <a:off x="1423725" y="3013150"/>
            <a:ext cx="511800" cy="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9" name="Shape 1209"/>
        <p:cNvGrpSpPr/>
        <p:nvPr/>
      </p:nvGrpSpPr>
      <p:grpSpPr>
        <a:xfrm>
          <a:off x="0" y="0"/>
          <a:ext cx="0" cy="0"/>
        </a:xfrm>
      </p:grpSpPr>
      <p:sp>
        <p:nvSpPr>
          <p:cNvPr id="1210" name="Google Shape;1210;p83"/>
          <p:cNvSpPr txBox="1"/>
          <p:nvPr>
            <p:ph type="body" idx="1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restaurant has a two course set menu. </a:t>
            </a:r>
            <a:br>
              <a:rPr lang="en-GB" sz="1800"/>
            </a:br>
            <a:r>
              <a:rPr lang="en-GB" sz="1800"/>
              <a:t>You select one from the starters and one from the main course section.</a:t>
            </a:r>
            <a:endParaRPr sz="1800"/>
          </a:p>
        </p:txBody>
      </p:sp>
      <p:sp>
        <p:nvSpPr>
          <p:cNvPr id="1211" name="Google Shape;121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212" name="Google Shape;1212;p83"/>
          <p:cNvSpPr/>
          <p:nvPr/>
        </p:nvSpPr>
        <p:spPr>
          <a:xfrm>
            <a:off x="324000" y="1553925"/>
            <a:ext cx="2791500" cy="2680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3"/>
          <p:cNvSpPr txBox="1"/>
          <p:nvPr>
            <p:ph type="body" idx="1"/>
          </p:nvPr>
        </p:nvSpPr>
        <p:spPr>
          <a:xfrm>
            <a:off x="1279300" y="1620000"/>
            <a:ext cx="9351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Starter</a:t>
            </a:r>
            <a:endParaRPr sz="1800"/>
          </a:p>
        </p:txBody>
      </p:sp>
      <p:sp>
        <p:nvSpPr>
          <p:cNvPr id="1214" name="Google Shape;1214;p83"/>
          <p:cNvSpPr txBox="1"/>
          <p:nvPr>
            <p:ph type="body" idx="1"/>
          </p:nvPr>
        </p:nvSpPr>
        <p:spPr>
          <a:xfrm>
            <a:off x="1395900" y="2758050"/>
            <a:ext cx="5778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Main</a:t>
            </a:r>
            <a:endParaRPr sz="1800"/>
          </a:p>
        </p:txBody>
      </p:sp>
      <p:sp>
        <p:nvSpPr>
          <p:cNvPr id="1215" name="Google Shape;1215;p83"/>
          <p:cNvSpPr txBox="1"/>
          <p:nvPr>
            <p:ph type="body" idx="1"/>
          </p:nvPr>
        </p:nvSpPr>
        <p:spPr>
          <a:xfrm>
            <a:off x="530800" y="1966650"/>
            <a:ext cx="25305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Garlic mushrooms (G)</a:t>
            </a:r>
            <a:endParaRPr sz="1800"/>
          </a:p>
        </p:txBody>
      </p:sp>
      <p:sp>
        <p:nvSpPr>
          <p:cNvPr id="1216" name="Google Shape;1216;p83"/>
          <p:cNvSpPr txBox="1"/>
          <p:nvPr>
            <p:ph type="body" idx="1"/>
          </p:nvPr>
        </p:nvSpPr>
        <p:spPr>
          <a:xfrm>
            <a:off x="808950" y="2313300"/>
            <a:ext cx="21513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Halloumi bites (H)</a:t>
            </a:r>
            <a:endParaRPr sz="1800"/>
          </a:p>
        </p:txBody>
      </p:sp>
      <p:sp>
        <p:nvSpPr>
          <p:cNvPr id="1217" name="Google Shape;1217;p83"/>
          <p:cNvSpPr txBox="1"/>
          <p:nvPr>
            <p:ph type="body" idx="1"/>
          </p:nvPr>
        </p:nvSpPr>
        <p:spPr>
          <a:xfrm>
            <a:off x="687750" y="3390900"/>
            <a:ext cx="20673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Fish and chips (F)</a:t>
            </a:r>
            <a:endParaRPr sz="1800"/>
          </a:p>
        </p:txBody>
      </p:sp>
      <p:sp>
        <p:nvSpPr>
          <p:cNvPr id="1218" name="Google Shape;1218;p83"/>
          <p:cNvSpPr txBox="1"/>
          <p:nvPr>
            <p:ph type="body" idx="1"/>
          </p:nvPr>
        </p:nvSpPr>
        <p:spPr>
          <a:xfrm>
            <a:off x="378250" y="3045450"/>
            <a:ext cx="27372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Bacon cheeseburger (B)</a:t>
            </a:r>
            <a:endParaRPr sz="1800"/>
          </a:p>
        </p:txBody>
      </p:sp>
      <p:sp>
        <p:nvSpPr>
          <p:cNvPr id="1219" name="Google Shape;1219;p83"/>
          <p:cNvSpPr txBox="1"/>
          <p:nvPr>
            <p:ph type="body" idx="1"/>
          </p:nvPr>
        </p:nvSpPr>
        <p:spPr>
          <a:xfrm>
            <a:off x="638950" y="3777600"/>
            <a:ext cx="22125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Vegetable curry (V)</a:t>
            </a:r>
            <a:endParaRPr sz="1800"/>
          </a:p>
        </p:txBody>
      </p:sp>
      <p:sp>
        <p:nvSpPr>
          <p:cNvPr id="1220" name="Google Shape;1220;p83"/>
          <p:cNvSpPr txBox="1"/>
          <p:nvPr>
            <p:ph type="body" idx="1"/>
          </p:nvPr>
        </p:nvSpPr>
        <p:spPr>
          <a:xfrm>
            <a:off x="3405550" y="1477725"/>
            <a:ext cx="46593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Why are Sofia’s and Alex’s lists better?</a:t>
            </a:r>
            <a:endParaRPr sz="1800"/>
          </a:p>
        </p:txBody>
      </p:sp>
      <p:sp>
        <p:nvSpPr>
          <p:cNvPr id="1221" name="Google Shape;1221;p83"/>
          <p:cNvSpPr txBox="1"/>
          <p:nvPr>
            <p:ph type="body" idx="1"/>
          </p:nvPr>
        </p:nvSpPr>
        <p:spPr>
          <a:xfrm>
            <a:off x="3405550" y="2516988"/>
            <a:ext cx="42318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Sophia has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systematically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found the outcomes for each starter.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22" name="Google Shape;122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3940" y="1767900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83"/>
          <p:cNvSpPr txBox="1"/>
          <p:nvPr/>
        </p:nvSpPr>
        <p:spPr>
          <a:xfrm>
            <a:off x="7715175" y="2692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3"/>
          <p:cNvSpPr/>
          <p:nvPr/>
        </p:nvSpPr>
        <p:spPr>
          <a:xfrm>
            <a:off x="4436475" y="1966650"/>
            <a:ext cx="2835900" cy="4032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3"/>
          <p:cNvSpPr txBox="1"/>
          <p:nvPr>
            <p:ph type="body" idx="1"/>
          </p:nvPr>
        </p:nvSpPr>
        <p:spPr>
          <a:xfrm>
            <a:off x="4566750" y="2022450"/>
            <a:ext cx="2666700" cy="34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GB, GF, GV, HB, HF, HV </a:t>
            </a:r>
            <a:endParaRPr sz="1800"/>
          </a:p>
        </p:txBody>
      </p:sp>
      <p:pic>
        <p:nvPicPr>
          <p:cNvPr id="1226" name="Google Shape;1226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471009" y="328731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83"/>
          <p:cNvSpPr txBox="1"/>
          <p:nvPr/>
        </p:nvSpPr>
        <p:spPr>
          <a:xfrm>
            <a:off x="3504350" y="41834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3"/>
          <p:cNvSpPr/>
          <p:nvPr/>
        </p:nvSpPr>
        <p:spPr>
          <a:xfrm>
            <a:off x="4436475" y="3338250"/>
            <a:ext cx="2835900" cy="403200"/>
          </a:xfrm>
          <a:prstGeom prst="roundRect">
            <a:avLst>
              <a:gd name="adj" fmla="val 16667"/>
            </a:avLst>
          </a:prstGeom>
          <a:solidFill>
            <a:srgbClr val="E6F2F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83"/>
          <p:cNvSpPr txBox="1"/>
          <p:nvPr>
            <p:ph type="body" idx="1"/>
          </p:nvPr>
        </p:nvSpPr>
        <p:spPr>
          <a:xfrm>
            <a:off x="4566750" y="3394050"/>
            <a:ext cx="2666700" cy="34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GB, HB, GF, HF, GV, HV </a:t>
            </a:r>
            <a:endParaRPr sz="1800"/>
          </a:p>
        </p:txBody>
      </p:sp>
      <p:sp>
        <p:nvSpPr>
          <p:cNvPr id="1230" name="Google Shape;1230;p83"/>
          <p:cNvSpPr txBox="1"/>
          <p:nvPr>
            <p:ph type="body" idx="1"/>
          </p:nvPr>
        </p:nvSpPr>
        <p:spPr>
          <a:xfrm>
            <a:off x="4441271" y="3835696"/>
            <a:ext cx="4231800" cy="2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Alex has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systematically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found the outcomes with each main.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31" name="Google Shape;1231;p83"/>
          <p:cNvCxnSpPr/>
          <p:nvPr/>
        </p:nvCxnSpPr>
        <p:spPr>
          <a:xfrm rot="10800000" flipH="1">
            <a:off x="1320950" y="1866200"/>
            <a:ext cx="695400" cy="1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2" name="Google Shape;1232;p83"/>
          <p:cNvCxnSpPr/>
          <p:nvPr/>
        </p:nvCxnSpPr>
        <p:spPr>
          <a:xfrm>
            <a:off x="1423725" y="3013150"/>
            <a:ext cx="511800" cy="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6" name="Shape 1236"/>
        <p:cNvGrpSpPr/>
        <p:nvPr/>
      </p:nvGrpSpPr>
      <p:grpSpPr>
        <a:xfrm>
          <a:off x="0" y="0"/>
          <a:ext cx="0" cy="0"/>
        </a:xfrm>
      </p:grpSpPr>
      <p:sp>
        <p:nvSpPr>
          <p:cNvPr id="1237" name="Google Shape;1237;p84"/>
          <p:cNvSpPr txBox="1"/>
          <p:nvPr>
            <p:ph type="body" idx="1"/>
          </p:nvPr>
        </p:nvSpPr>
        <p:spPr>
          <a:xfrm>
            <a:off x="324000" y="759300"/>
            <a:ext cx="8237700" cy="4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Both spinners are to be spun. Complete the list of outcomes.</a:t>
            </a:r>
            <a:endParaRPr/>
          </a:p>
        </p:txBody>
      </p:sp>
      <p:sp>
        <p:nvSpPr>
          <p:cNvPr id="1238" name="Google Shape;123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239" name="Google Shape;1239;p84"/>
          <p:cNvSpPr/>
          <p:nvPr/>
        </p:nvSpPr>
        <p:spPr>
          <a:xfrm>
            <a:off x="2565800" y="13062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0" name="Google Shape;1240;p84"/>
          <p:cNvSpPr/>
          <p:nvPr/>
        </p:nvSpPr>
        <p:spPr>
          <a:xfrm flipH="1">
            <a:off x="2580489" y="1321011"/>
            <a:ext cx="1666500" cy="16665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1" name="Google Shape;1241;p84"/>
          <p:cNvSpPr/>
          <p:nvPr/>
        </p:nvSpPr>
        <p:spPr>
          <a:xfrm>
            <a:off x="2580561" y="1321011"/>
            <a:ext cx="1666500" cy="16665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2" name="Google Shape;1242;p84"/>
          <p:cNvSpPr txBox="1"/>
          <p:nvPr/>
        </p:nvSpPr>
        <p:spPr>
          <a:xfrm>
            <a:off x="2944575" y="22483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4"/>
          <p:cNvSpPr/>
          <p:nvPr/>
        </p:nvSpPr>
        <p:spPr>
          <a:xfrm>
            <a:off x="2580561" y="1321011"/>
            <a:ext cx="1666500" cy="16665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4" name="Google Shape;1244;p84"/>
          <p:cNvSpPr txBox="1"/>
          <p:nvPr/>
        </p:nvSpPr>
        <p:spPr>
          <a:xfrm>
            <a:off x="2944575" y="15625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4"/>
          <p:cNvSpPr/>
          <p:nvPr/>
        </p:nvSpPr>
        <p:spPr>
          <a:xfrm flipH="1">
            <a:off x="2580489" y="1321011"/>
            <a:ext cx="1666500" cy="16665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6" name="Google Shape;1246;p84"/>
          <p:cNvSpPr txBox="1"/>
          <p:nvPr/>
        </p:nvSpPr>
        <p:spPr>
          <a:xfrm>
            <a:off x="3522926" y="1562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84"/>
          <p:cNvSpPr txBox="1"/>
          <p:nvPr/>
        </p:nvSpPr>
        <p:spPr>
          <a:xfrm>
            <a:off x="3522926" y="22483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8" name="Google Shape;1248;p84"/>
          <p:cNvGrpSpPr/>
          <p:nvPr/>
        </p:nvGrpSpPr>
        <p:grpSpPr>
          <a:xfrm>
            <a:off x="3365109" y="1371763"/>
            <a:ext cx="93900" cy="816939"/>
            <a:chOff x="996050" y="213293"/>
            <a:chExt cx="93900" cy="909732"/>
          </a:xfrm>
        </p:grpSpPr>
        <p:cxnSp>
          <p:nvCxnSpPr>
            <p:cNvPr id="1249" name="Google Shape;1249;p84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50" name="Google Shape;1250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51" name="Google Shape;1251;p84"/>
          <p:cNvSpPr/>
          <p:nvPr/>
        </p:nvSpPr>
        <p:spPr>
          <a:xfrm>
            <a:off x="584600" y="13062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2" name="Google Shape;1252;p84"/>
          <p:cNvSpPr/>
          <p:nvPr/>
        </p:nvSpPr>
        <p:spPr>
          <a:xfrm rot="7199661">
            <a:off x="599409" y="1321128"/>
            <a:ext cx="1666484" cy="1666484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3" name="Google Shape;1253;p84"/>
          <p:cNvSpPr/>
          <p:nvPr/>
        </p:nvSpPr>
        <p:spPr>
          <a:xfrm rot="-7211867">
            <a:off x="599477" y="1321188"/>
            <a:ext cx="1666446" cy="1666446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4" name="Google Shape;1254;p84"/>
          <p:cNvSpPr/>
          <p:nvPr/>
        </p:nvSpPr>
        <p:spPr>
          <a:xfrm>
            <a:off x="599477" y="1321188"/>
            <a:ext cx="1666500" cy="16665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5" name="Google Shape;1255;p84"/>
          <p:cNvSpPr txBox="1"/>
          <p:nvPr/>
        </p:nvSpPr>
        <p:spPr>
          <a:xfrm>
            <a:off x="1617926" y="1714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4"/>
          <p:cNvSpPr txBox="1"/>
          <p:nvPr/>
        </p:nvSpPr>
        <p:spPr>
          <a:xfrm>
            <a:off x="1313126" y="2324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4"/>
          <p:cNvSpPr txBox="1"/>
          <p:nvPr/>
        </p:nvSpPr>
        <p:spPr>
          <a:xfrm>
            <a:off x="855926" y="1714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8" name="Google Shape;1258;p84"/>
          <p:cNvGrpSpPr/>
          <p:nvPr/>
        </p:nvGrpSpPr>
        <p:grpSpPr>
          <a:xfrm>
            <a:off x="1383909" y="1391006"/>
            <a:ext cx="93900" cy="816939"/>
            <a:chOff x="996050" y="213293"/>
            <a:chExt cx="93900" cy="909732"/>
          </a:xfrm>
        </p:grpSpPr>
        <p:cxnSp>
          <p:nvCxnSpPr>
            <p:cNvPr id="1259" name="Google Shape;1259;p84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60" name="Google Shape;1260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261" name="Google Shape;1261;p84"/>
          <p:cNvSpPr txBox="1"/>
          <p:nvPr>
            <p:ph type="body" idx="1"/>
          </p:nvPr>
        </p:nvSpPr>
        <p:spPr>
          <a:xfrm>
            <a:off x="4920625" y="1321200"/>
            <a:ext cx="3602700" cy="4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{A1, A2, A3, A4, B1, B2, B3, B4,       ,       ,       ,       }</a:t>
            </a:r>
            <a:endParaRPr/>
          </a:p>
        </p:txBody>
      </p:sp>
      <p:cxnSp>
        <p:nvCxnSpPr>
          <p:cNvPr id="1262" name="Google Shape;1262;p84"/>
          <p:cNvCxnSpPr/>
          <p:nvPr/>
        </p:nvCxnSpPr>
        <p:spPr>
          <a:xfrm>
            <a:off x="5427925" y="1993625"/>
            <a:ext cx="458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3" name="Google Shape;1263;p84"/>
          <p:cNvCxnSpPr/>
          <p:nvPr/>
        </p:nvCxnSpPr>
        <p:spPr>
          <a:xfrm>
            <a:off x="6069825" y="1993625"/>
            <a:ext cx="458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4" name="Google Shape;1264;p84"/>
          <p:cNvCxnSpPr/>
          <p:nvPr/>
        </p:nvCxnSpPr>
        <p:spPr>
          <a:xfrm>
            <a:off x="6688425" y="1993625"/>
            <a:ext cx="458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5" name="Google Shape;1265;p84"/>
          <p:cNvCxnSpPr/>
          <p:nvPr/>
        </p:nvCxnSpPr>
        <p:spPr>
          <a:xfrm>
            <a:off x="7307000" y="1993625"/>
            <a:ext cx="458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6" name="Google Shape;1266;p84"/>
          <p:cNvSpPr txBox="1"/>
          <p:nvPr>
            <p:ph type="body" idx="1"/>
          </p:nvPr>
        </p:nvSpPr>
        <p:spPr>
          <a:xfrm>
            <a:off x="5520712" y="1696264"/>
            <a:ext cx="381600" cy="4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7" name="Google Shape;1267;p84"/>
          <p:cNvSpPr txBox="1"/>
          <p:nvPr>
            <p:ph type="body" idx="1"/>
          </p:nvPr>
        </p:nvSpPr>
        <p:spPr>
          <a:xfrm>
            <a:off x="6206512" y="1696264"/>
            <a:ext cx="381600" cy="4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8" name="Google Shape;1268;p84"/>
          <p:cNvSpPr txBox="1"/>
          <p:nvPr>
            <p:ph type="body" idx="1"/>
          </p:nvPr>
        </p:nvSpPr>
        <p:spPr>
          <a:xfrm>
            <a:off x="6816112" y="1696264"/>
            <a:ext cx="381600" cy="4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9" name="Google Shape;1269;p84"/>
          <p:cNvSpPr txBox="1"/>
          <p:nvPr>
            <p:ph type="body" idx="1"/>
          </p:nvPr>
        </p:nvSpPr>
        <p:spPr>
          <a:xfrm>
            <a:off x="7425712" y="1696264"/>
            <a:ext cx="381600" cy="49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3" name="Shape 1273"/>
        <p:cNvGrpSpPr/>
        <p:nvPr/>
      </p:nvGrpSpPr>
      <p:grpSpPr>
        <a:xfrm>
          <a:off x="0" y="0"/>
          <a:ext cx="0" cy="0"/>
        </a:xfrm>
      </p:grpSpPr>
      <p:sp>
        <p:nvSpPr>
          <p:cNvPr id="1274" name="Google Shape;1274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275" name="Google Shape;1275;p85"/>
          <p:cNvSpPr txBox="1"/>
          <p:nvPr>
            <p:ph type="body" idx="1"/>
          </p:nvPr>
        </p:nvSpPr>
        <p:spPr>
          <a:xfrm>
            <a:off x="324000" y="768550"/>
            <a:ext cx="8237700" cy="201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A fair six-sided dice and the spinner shown are to be rolled and spun simultaneously.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a) List the possible outcomes </a:t>
            </a:r>
            <a:r>
              <a:rPr lang="en-GB" b="1"/>
              <a:t>systematically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b) How many possible outcomes are there?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pSp>
        <p:nvGrpSpPr>
          <p:cNvPr id="1276" name="Google Shape;1276;p85"/>
          <p:cNvGrpSpPr/>
          <p:nvPr/>
        </p:nvGrpSpPr>
        <p:grpSpPr>
          <a:xfrm>
            <a:off x="6923027" y="1015181"/>
            <a:ext cx="1631862" cy="1631862"/>
            <a:chOff x="6541850" y="1015161"/>
            <a:chExt cx="2278500" cy="2278500"/>
          </a:xfrm>
        </p:grpSpPr>
        <p:sp>
          <p:nvSpPr>
            <p:cNvPr id="1277" name="Google Shape;1277;p85"/>
            <p:cNvSpPr/>
            <p:nvPr/>
          </p:nvSpPr>
          <p:spPr>
            <a:xfrm>
              <a:off x="6833000" y="13062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78" name="Google Shape;1278;p85"/>
            <p:cNvSpPr/>
            <p:nvPr/>
          </p:nvSpPr>
          <p:spPr>
            <a:xfrm rot="7199661">
              <a:off x="6847809" y="1321128"/>
              <a:ext cx="1666484" cy="1666484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79" name="Google Shape;1279;p85"/>
            <p:cNvSpPr/>
            <p:nvPr/>
          </p:nvSpPr>
          <p:spPr>
            <a:xfrm rot="-7211867">
              <a:off x="6847877" y="1321188"/>
              <a:ext cx="1666446" cy="1666446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80" name="Google Shape;1280;p85"/>
            <p:cNvSpPr/>
            <p:nvPr/>
          </p:nvSpPr>
          <p:spPr>
            <a:xfrm>
              <a:off x="6847877" y="1321188"/>
              <a:ext cx="1666500" cy="1666500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81" name="Google Shape;1281;p85"/>
            <p:cNvSpPr txBox="1"/>
            <p:nvPr/>
          </p:nvSpPr>
          <p:spPr>
            <a:xfrm>
              <a:off x="7866326" y="1714932"/>
              <a:ext cx="630000" cy="6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2" name="Google Shape;1282;p85"/>
            <p:cNvSpPr txBox="1"/>
            <p:nvPr/>
          </p:nvSpPr>
          <p:spPr>
            <a:xfrm>
              <a:off x="7455132" y="2324532"/>
              <a:ext cx="630000" cy="6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85"/>
            <p:cNvSpPr txBox="1"/>
            <p:nvPr/>
          </p:nvSpPr>
          <p:spPr>
            <a:xfrm>
              <a:off x="7104326" y="1714932"/>
              <a:ext cx="630000" cy="6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84" name="Google Shape;1284;p85"/>
            <p:cNvGrpSpPr/>
            <p:nvPr/>
          </p:nvGrpSpPr>
          <p:grpSpPr>
            <a:xfrm>
              <a:off x="7632309" y="1391006"/>
              <a:ext cx="93900" cy="816939"/>
              <a:chOff x="996050" y="213293"/>
              <a:chExt cx="93900" cy="909732"/>
            </a:xfrm>
          </p:grpSpPr>
          <p:cxnSp>
            <p:nvCxnSpPr>
              <p:cNvPr id="1285" name="Google Shape;1285;p85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286" name="Google Shape;1286;p85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87" name="Google Shape;1287;p85"/>
          <p:cNvSpPr txBox="1"/>
          <p:nvPr>
            <p:ph type="body" idx="1"/>
          </p:nvPr>
        </p:nvSpPr>
        <p:spPr>
          <a:xfrm>
            <a:off x="324000" y="2825950"/>
            <a:ext cx="8237700" cy="201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2) A fair coin and a fair six-sided dice are flipped and rolled simultaneously.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a) List the possible outcomes </a:t>
            </a:r>
            <a:r>
              <a:rPr lang="en-GB" b="1"/>
              <a:t>systematically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How many possible outcomes are there?</a:t>
            </a:r>
            <a:endParaRPr/>
          </a:p>
        </p:txBody>
      </p:sp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91" name="Shape 1291"/>
        <p:cNvGrpSpPr/>
        <p:nvPr/>
      </p:nvGrpSpPr>
      <p:grpSpPr>
        <a:xfrm>
          <a:off x="0" y="0"/>
          <a:ext cx="0" cy="0"/>
        </a:xfrm>
      </p:grpSpPr>
      <p:sp>
        <p:nvSpPr>
          <p:cNvPr id="1292" name="Google Shape;1292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293" name="Google Shape;1293;p86"/>
          <p:cNvSpPr txBox="1"/>
          <p:nvPr>
            <p:ph type="body" idx="1"/>
          </p:nvPr>
        </p:nvSpPr>
        <p:spPr>
          <a:xfrm>
            <a:off x="324000" y="768550"/>
            <a:ext cx="8237700" cy="201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3) Two spinners are going to be spun.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possible outcomes are </a:t>
            </a:r>
            <a:br>
              <a:rPr lang="en-GB"/>
            </a:br>
            <a:r>
              <a:rPr lang="en-GB"/>
              <a:t>{A1, A2, A3, B1, B2, B3, C1, C2, C3}.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Complete the spinners.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pSp>
        <p:nvGrpSpPr>
          <p:cNvPr id="1294" name="Google Shape;1294;p86"/>
          <p:cNvGrpSpPr/>
          <p:nvPr/>
        </p:nvGrpSpPr>
        <p:grpSpPr>
          <a:xfrm>
            <a:off x="2424427" y="2615706"/>
            <a:ext cx="1631862" cy="1631862"/>
            <a:chOff x="6541850" y="1015161"/>
            <a:chExt cx="2278500" cy="2278500"/>
          </a:xfrm>
        </p:grpSpPr>
        <p:sp>
          <p:nvSpPr>
            <p:cNvPr id="1295" name="Google Shape;1295;p86"/>
            <p:cNvSpPr/>
            <p:nvPr/>
          </p:nvSpPr>
          <p:spPr>
            <a:xfrm>
              <a:off x="6833000" y="13062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6" name="Google Shape;1296;p86"/>
            <p:cNvSpPr/>
            <p:nvPr/>
          </p:nvSpPr>
          <p:spPr>
            <a:xfrm rot="7199661">
              <a:off x="6847809" y="1321128"/>
              <a:ext cx="1666484" cy="1666484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7" name="Google Shape;1297;p86"/>
            <p:cNvSpPr/>
            <p:nvPr/>
          </p:nvSpPr>
          <p:spPr>
            <a:xfrm rot="-7211867">
              <a:off x="6847877" y="1321188"/>
              <a:ext cx="1666446" cy="1666446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98" name="Google Shape;1298;p86"/>
            <p:cNvSpPr/>
            <p:nvPr/>
          </p:nvSpPr>
          <p:spPr>
            <a:xfrm>
              <a:off x="6847877" y="1321188"/>
              <a:ext cx="1666500" cy="1666500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299" name="Google Shape;1299;p86"/>
            <p:cNvGrpSpPr/>
            <p:nvPr/>
          </p:nvGrpSpPr>
          <p:grpSpPr>
            <a:xfrm>
              <a:off x="7632309" y="1391006"/>
              <a:ext cx="93900" cy="816939"/>
              <a:chOff x="996050" y="213293"/>
              <a:chExt cx="93900" cy="909732"/>
            </a:xfrm>
          </p:grpSpPr>
          <p:cxnSp>
            <p:nvCxnSpPr>
              <p:cNvPr id="1300" name="Google Shape;1300;p86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301" name="Google Shape;1301;p86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2" name="Google Shape;1302;p86"/>
          <p:cNvSpPr/>
          <p:nvPr/>
        </p:nvSpPr>
        <p:spPr>
          <a:xfrm>
            <a:off x="4520750" y="2852400"/>
            <a:ext cx="1194600" cy="1194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3" name="Google Shape;1303;p86"/>
          <p:cNvSpPr/>
          <p:nvPr/>
        </p:nvSpPr>
        <p:spPr>
          <a:xfrm flipH="1">
            <a:off x="4530865" y="2862798"/>
            <a:ext cx="1174200" cy="1174200"/>
          </a:xfrm>
          <a:prstGeom prst="pie">
            <a:avLst>
              <a:gd name="adj1" fmla="val 5387953"/>
              <a:gd name="adj2" fmla="val 10824216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4" name="Google Shape;1304;p86"/>
          <p:cNvSpPr/>
          <p:nvPr/>
        </p:nvSpPr>
        <p:spPr>
          <a:xfrm>
            <a:off x="4531148" y="2862798"/>
            <a:ext cx="1174200" cy="1174200"/>
          </a:xfrm>
          <a:prstGeom prst="pie">
            <a:avLst>
              <a:gd name="adj1" fmla="val 5387953"/>
              <a:gd name="adj2" fmla="val 1085822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5" name="Google Shape;1305;p86"/>
          <p:cNvSpPr/>
          <p:nvPr/>
        </p:nvSpPr>
        <p:spPr>
          <a:xfrm>
            <a:off x="4531148" y="2862798"/>
            <a:ext cx="1174200" cy="1174200"/>
          </a:xfrm>
          <a:prstGeom prst="pie">
            <a:avLst>
              <a:gd name="adj1" fmla="val 10799941"/>
              <a:gd name="adj2" fmla="val 16225322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6" name="Google Shape;1306;p86"/>
          <p:cNvSpPr/>
          <p:nvPr/>
        </p:nvSpPr>
        <p:spPr>
          <a:xfrm flipH="1">
            <a:off x="4530865" y="2862798"/>
            <a:ext cx="1174200" cy="1174200"/>
          </a:xfrm>
          <a:prstGeom prst="pie">
            <a:avLst>
              <a:gd name="adj1" fmla="val 10825856"/>
              <a:gd name="adj2" fmla="val 1620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307" name="Google Shape;1307;p86"/>
          <p:cNvGrpSpPr/>
          <p:nvPr/>
        </p:nvGrpSpPr>
        <p:grpSpPr>
          <a:xfrm>
            <a:off x="5083773" y="2898573"/>
            <a:ext cx="66143" cy="575587"/>
            <a:chOff x="996050" y="213293"/>
            <a:chExt cx="93900" cy="909732"/>
          </a:xfrm>
        </p:grpSpPr>
        <p:cxnSp>
          <p:nvCxnSpPr>
            <p:cNvPr id="1308" name="Google Shape;1308;p86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09" name="Google Shape;1309;p8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3" name="Shape 1313"/>
        <p:cNvGrpSpPr/>
        <p:nvPr/>
      </p:nvGrpSpPr>
      <p:grpSpPr>
        <a:xfrm>
          <a:off x="0" y="0"/>
          <a:ext cx="0" cy="0"/>
        </a:xfrm>
      </p:grpSpPr>
      <p:sp>
        <p:nvSpPr>
          <p:cNvPr id="1314" name="Google Shape;1314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315" name="Google Shape;1315;p87"/>
          <p:cNvSpPr txBox="1"/>
          <p:nvPr>
            <p:ph type="body" idx="1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1) A fair six-sided dice and the spinner shown are to be rolled and spun simultaneously.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a) List the possible outcomes </a:t>
            </a:r>
            <a:r>
              <a:rPr lang="en-GB" b="1"/>
              <a:t>systematically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b) How many possible outcomes are there?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pSp>
        <p:nvGrpSpPr>
          <p:cNvPr id="1316" name="Google Shape;1316;p87"/>
          <p:cNvGrpSpPr/>
          <p:nvPr/>
        </p:nvGrpSpPr>
        <p:grpSpPr>
          <a:xfrm>
            <a:off x="6923027" y="1015181"/>
            <a:ext cx="1631862" cy="1631862"/>
            <a:chOff x="6541850" y="1015161"/>
            <a:chExt cx="2278500" cy="2278500"/>
          </a:xfrm>
        </p:grpSpPr>
        <p:sp>
          <p:nvSpPr>
            <p:cNvPr id="1317" name="Google Shape;1317;p87"/>
            <p:cNvSpPr/>
            <p:nvPr/>
          </p:nvSpPr>
          <p:spPr>
            <a:xfrm>
              <a:off x="6833000" y="13062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8" name="Google Shape;1318;p87"/>
            <p:cNvSpPr/>
            <p:nvPr/>
          </p:nvSpPr>
          <p:spPr>
            <a:xfrm rot="7199661">
              <a:off x="6847809" y="1321128"/>
              <a:ext cx="1666484" cy="1666484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9" name="Google Shape;1319;p87"/>
            <p:cNvSpPr/>
            <p:nvPr/>
          </p:nvSpPr>
          <p:spPr>
            <a:xfrm rot="-7211867">
              <a:off x="6847877" y="1321188"/>
              <a:ext cx="1666446" cy="1666446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0" name="Google Shape;1320;p87"/>
            <p:cNvSpPr/>
            <p:nvPr/>
          </p:nvSpPr>
          <p:spPr>
            <a:xfrm>
              <a:off x="6847877" y="1321188"/>
              <a:ext cx="1666500" cy="1666500"/>
            </a:xfrm>
            <a:prstGeom prst="pie">
              <a:avLst>
                <a:gd name="adj1" fmla="val 9034165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1" name="Google Shape;1321;p87"/>
            <p:cNvSpPr txBox="1"/>
            <p:nvPr/>
          </p:nvSpPr>
          <p:spPr>
            <a:xfrm>
              <a:off x="7866326" y="1714932"/>
              <a:ext cx="630000" cy="6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2" name="Google Shape;1322;p87"/>
            <p:cNvSpPr txBox="1"/>
            <p:nvPr/>
          </p:nvSpPr>
          <p:spPr>
            <a:xfrm>
              <a:off x="7455132" y="2324532"/>
              <a:ext cx="630000" cy="6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87"/>
            <p:cNvSpPr txBox="1"/>
            <p:nvPr/>
          </p:nvSpPr>
          <p:spPr>
            <a:xfrm>
              <a:off x="7104326" y="1714932"/>
              <a:ext cx="630000" cy="6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24" name="Google Shape;1324;p87"/>
            <p:cNvGrpSpPr/>
            <p:nvPr/>
          </p:nvGrpSpPr>
          <p:grpSpPr>
            <a:xfrm>
              <a:off x="7632309" y="1391006"/>
              <a:ext cx="93900" cy="816939"/>
              <a:chOff x="996050" y="213293"/>
              <a:chExt cx="93900" cy="909732"/>
            </a:xfrm>
          </p:grpSpPr>
          <p:cxnSp>
            <p:nvCxnSpPr>
              <p:cNvPr id="1325" name="Google Shape;1325;p87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326" name="Google Shape;1326;p87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7" name="Google Shape;1327;p87"/>
          <p:cNvSpPr txBox="1"/>
          <p:nvPr/>
        </p:nvSpPr>
        <p:spPr>
          <a:xfrm>
            <a:off x="324000" y="2013550"/>
            <a:ext cx="63501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{1A, 1B, 1C, 2A, 2B, 2C, 3A, 3B, 3C, 4A, 4B, 4C, 5A, 5B, 5C, 6A, 6B, 6C}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 {A1, A2, A3, A4, A5, A6, B1, B2, B3, B4, B5, B6, C1, C2, C3, C4, C5, C6}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7"/>
          <p:cNvSpPr txBox="1"/>
          <p:nvPr/>
        </p:nvSpPr>
        <p:spPr>
          <a:xfrm>
            <a:off x="635075" y="4040650"/>
            <a:ext cx="62256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18: 6 different outcomes from the dice and 3 different outcomes from the spinner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2" name="Shape 1332"/>
        <p:cNvGrpSpPr/>
        <p:nvPr/>
      </p:nvGrpSpPr>
      <p:grpSpPr>
        <a:xfrm>
          <a:off x="0" y="0"/>
          <a:ext cx="0" cy="0"/>
        </a:xfrm>
      </p:grpSpPr>
      <p:sp>
        <p:nvSpPr>
          <p:cNvPr id="1333" name="Google Shape;1333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334" name="Google Shape;1334;p88"/>
          <p:cNvSpPr txBox="1"/>
          <p:nvPr>
            <p:ph type="body" idx="1"/>
          </p:nvPr>
        </p:nvSpPr>
        <p:spPr>
          <a:xfrm>
            <a:off x="324000" y="768550"/>
            <a:ext cx="8237700" cy="201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2) A fair coin and a fair six-sided dice are flipped and rolled simultaneously.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a) List the possible outcomes </a:t>
            </a:r>
            <a:r>
              <a:rPr lang="en-GB" b="1"/>
              <a:t>systematically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How many possible outcomes are there?</a:t>
            </a:r>
            <a:endParaRPr/>
          </a:p>
        </p:txBody>
      </p:sp>
      <p:sp>
        <p:nvSpPr>
          <p:cNvPr id="1335" name="Google Shape;1335;p88"/>
          <p:cNvSpPr txBox="1"/>
          <p:nvPr/>
        </p:nvSpPr>
        <p:spPr>
          <a:xfrm>
            <a:off x="324000" y="2013550"/>
            <a:ext cx="63501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{1H, 1T, 2H, 2T, 3H, 3T, 4H, 4T, 5H, 5T, 6H, 6T}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 {H1, H2, H3, H4, H5, H6, T1, T2, T3, T4, T5, T6}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88"/>
          <p:cNvSpPr txBox="1"/>
          <p:nvPr/>
        </p:nvSpPr>
        <p:spPr>
          <a:xfrm>
            <a:off x="635075" y="3735850"/>
            <a:ext cx="62256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12: 6 different outcomes from the dice and 2 different outcomes from the coin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0" name="Shape 1340"/>
        <p:cNvGrpSpPr/>
        <p:nvPr/>
      </p:nvGrpSpPr>
      <p:grpSpPr>
        <a:xfrm>
          <a:off x="0" y="0"/>
          <a:ext cx="0" cy="0"/>
        </a:xfrm>
      </p:grpSpPr>
      <p:sp>
        <p:nvSpPr>
          <p:cNvPr id="1341" name="Google Shape;1341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342" name="Google Shape;1342;p8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3) Two spinners are going to be spun.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The possible outcomes are </a:t>
            </a:r>
            <a:br>
              <a:rPr lang="en-GB"/>
            </a:br>
            <a:r>
              <a:rPr lang="en-GB"/>
              <a:t>{A1, A2, A3, B1, B2, B3, C1, C2, C3}.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Complete the spinners.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grpSp>
        <p:nvGrpSpPr>
          <p:cNvPr id="1343" name="Google Shape;1343;p89"/>
          <p:cNvGrpSpPr/>
          <p:nvPr/>
        </p:nvGrpSpPr>
        <p:grpSpPr>
          <a:xfrm>
            <a:off x="2424427" y="2615706"/>
            <a:ext cx="1631862" cy="1631862"/>
            <a:chOff x="6541850" y="1015161"/>
            <a:chExt cx="2278500" cy="2278500"/>
          </a:xfrm>
        </p:grpSpPr>
        <p:sp>
          <p:nvSpPr>
            <p:cNvPr id="1344" name="Google Shape;1344;p89"/>
            <p:cNvSpPr/>
            <p:nvPr/>
          </p:nvSpPr>
          <p:spPr>
            <a:xfrm>
              <a:off x="6833000" y="13062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5" name="Google Shape;1345;p89"/>
            <p:cNvSpPr/>
            <p:nvPr/>
          </p:nvSpPr>
          <p:spPr>
            <a:xfrm rot="7199661">
              <a:off x="6847809" y="1321128"/>
              <a:ext cx="1666484" cy="1666484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6" name="Google Shape;1346;p89"/>
            <p:cNvSpPr/>
            <p:nvPr/>
          </p:nvSpPr>
          <p:spPr>
            <a:xfrm rot="-7211867">
              <a:off x="6847877" y="1321188"/>
              <a:ext cx="1666446" cy="1666446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7" name="Google Shape;1347;p89"/>
            <p:cNvSpPr/>
            <p:nvPr/>
          </p:nvSpPr>
          <p:spPr>
            <a:xfrm>
              <a:off x="6847877" y="1321188"/>
              <a:ext cx="1666500" cy="1666500"/>
            </a:xfrm>
            <a:prstGeom prst="pie">
              <a:avLst>
                <a:gd name="adj1" fmla="val 9034165"/>
                <a:gd name="adj2" fmla="val 16225322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348" name="Google Shape;1348;p89"/>
            <p:cNvGrpSpPr/>
            <p:nvPr/>
          </p:nvGrpSpPr>
          <p:grpSpPr>
            <a:xfrm>
              <a:off x="7632309" y="1391006"/>
              <a:ext cx="93900" cy="816939"/>
              <a:chOff x="996050" y="213293"/>
              <a:chExt cx="93900" cy="909732"/>
            </a:xfrm>
          </p:grpSpPr>
          <p:cxnSp>
            <p:nvCxnSpPr>
              <p:cNvPr id="1349" name="Google Shape;1349;p89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350" name="Google Shape;1350;p89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51" name="Google Shape;1351;p89"/>
          <p:cNvSpPr/>
          <p:nvPr/>
        </p:nvSpPr>
        <p:spPr>
          <a:xfrm>
            <a:off x="4520750" y="2852400"/>
            <a:ext cx="1194600" cy="1194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52" name="Google Shape;1352;p89"/>
          <p:cNvSpPr/>
          <p:nvPr/>
        </p:nvSpPr>
        <p:spPr>
          <a:xfrm flipH="1">
            <a:off x="4530865" y="2862798"/>
            <a:ext cx="1174200" cy="1174200"/>
          </a:xfrm>
          <a:prstGeom prst="pie">
            <a:avLst>
              <a:gd name="adj1" fmla="val 5387953"/>
              <a:gd name="adj2" fmla="val 10824216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53" name="Google Shape;1353;p89"/>
          <p:cNvSpPr/>
          <p:nvPr/>
        </p:nvSpPr>
        <p:spPr>
          <a:xfrm>
            <a:off x="4531148" y="2862798"/>
            <a:ext cx="1174200" cy="1174200"/>
          </a:xfrm>
          <a:prstGeom prst="pie">
            <a:avLst>
              <a:gd name="adj1" fmla="val 5387953"/>
              <a:gd name="adj2" fmla="val 1085822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54" name="Google Shape;1354;p89"/>
          <p:cNvSpPr/>
          <p:nvPr/>
        </p:nvSpPr>
        <p:spPr>
          <a:xfrm>
            <a:off x="4531148" y="2862798"/>
            <a:ext cx="1174200" cy="1174200"/>
          </a:xfrm>
          <a:prstGeom prst="pie">
            <a:avLst>
              <a:gd name="adj1" fmla="val 10799941"/>
              <a:gd name="adj2" fmla="val 16225322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55" name="Google Shape;1355;p89"/>
          <p:cNvSpPr/>
          <p:nvPr/>
        </p:nvSpPr>
        <p:spPr>
          <a:xfrm flipH="1">
            <a:off x="4530865" y="2862798"/>
            <a:ext cx="1174200" cy="1174200"/>
          </a:xfrm>
          <a:prstGeom prst="pie">
            <a:avLst>
              <a:gd name="adj1" fmla="val 10825856"/>
              <a:gd name="adj2" fmla="val 1620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356" name="Google Shape;1356;p89"/>
          <p:cNvGrpSpPr/>
          <p:nvPr/>
        </p:nvGrpSpPr>
        <p:grpSpPr>
          <a:xfrm>
            <a:off x="5083773" y="2898573"/>
            <a:ext cx="66143" cy="575587"/>
            <a:chOff x="996050" y="213293"/>
            <a:chExt cx="93900" cy="909732"/>
          </a:xfrm>
        </p:grpSpPr>
        <p:cxnSp>
          <p:nvCxnSpPr>
            <p:cNvPr id="1357" name="Google Shape;1357;p8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58" name="Google Shape;1358;p8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9" name="Google Shape;1359;p89"/>
          <p:cNvSpPr txBox="1"/>
          <p:nvPr/>
        </p:nvSpPr>
        <p:spPr>
          <a:xfrm>
            <a:off x="2833900" y="3135450"/>
            <a:ext cx="24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89"/>
          <p:cNvSpPr txBox="1"/>
          <p:nvPr/>
        </p:nvSpPr>
        <p:spPr>
          <a:xfrm>
            <a:off x="3126600" y="3610650"/>
            <a:ext cx="24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89"/>
          <p:cNvSpPr txBox="1"/>
          <p:nvPr/>
        </p:nvSpPr>
        <p:spPr>
          <a:xfrm>
            <a:off x="3442150" y="3135450"/>
            <a:ext cx="24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9"/>
          <p:cNvSpPr txBox="1"/>
          <p:nvPr/>
        </p:nvSpPr>
        <p:spPr>
          <a:xfrm>
            <a:off x="4785450" y="3017013"/>
            <a:ext cx="24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9"/>
          <p:cNvSpPr txBox="1"/>
          <p:nvPr/>
        </p:nvSpPr>
        <p:spPr>
          <a:xfrm>
            <a:off x="5357650" y="3017000"/>
            <a:ext cx="24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9"/>
          <p:cNvSpPr txBox="1"/>
          <p:nvPr/>
        </p:nvSpPr>
        <p:spPr>
          <a:xfrm>
            <a:off x="4785450" y="3542350"/>
            <a:ext cx="24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5" name="Google Shape;1365;p89"/>
          <p:cNvCxnSpPr/>
          <p:nvPr/>
        </p:nvCxnSpPr>
        <p:spPr>
          <a:xfrm rot="10800000" flipH="1">
            <a:off x="5345500" y="3674975"/>
            <a:ext cx="1056600" cy="15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6" name="Google Shape;1366;p89"/>
          <p:cNvSpPr txBox="1"/>
          <p:nvPr/>
        </p:nvSpPr>
        <p:spPr>
          <a:xfrm>
            <a:off x="6516200" y="3474150"/>
            <a:ext cx="2193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Either 1, 2 or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9"/>
          <p:cNvSpPr txBox="1"/>
          <p:nvPr/>
        </p:nvSpPr>
        <p:spPr>
          <a:xfrm>
            <a:off x="742950" y="2700000"/>
            <a:ext cx="65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1" name="Shape 1371"/>
        <p:cNvGrpSpPr/>
        <p:nvPr/>
      </p:nvGrpSpPr>
      <p:grpSpPr>
        <a:xfrm>
          <a:off x="0" y="0"/>
          <a:ext cx="0" cy="0"/>
        </a:xfrm>
      </p:grpSpPr>
      <p:sp>
        <p:nvSpPr>
          <p:cNvPr id="1372" name="Google Shape;1372;p9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Possible outcomes from a two stage trial</a:t>
            </a:r>
            <a:endParaRPr/>
          </a:p>
        </p:txBody>
      </p:sp>
      <p:sp>
        <p:nvSpPr>
          <p:cNvPr id="1373" name="Google Shape;1373;p9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Systematic listing</a:t>
            </a:r>
            <a:endParaRPr/>
          </a:p>
        </p:txBody>
      </p:sp>
      <p:sp>
        <p:nvSpPr>
          <p:cNvPr id="1374" name="Google Shape;1374;p9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two events</a:t>
            </a:r>
            <a:endParaRPr/>
          </a:p>
        </p:txBody>
      </p:sp>
      <p:pic>
        <p:nvPicPr>
          <p:cNvPr id="1375" name="Google Shape;137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175" y="3700464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9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of two events</a:t>
            </a:r>
            <a:endParaRPr/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0" name="Shape 1380"/>
        <p:cNvGrpSpPr/>
        <p:nvPr/>
      </p:nvGrpSpPr>
      <p:grpSpPr>
        <a:xfrm>
          <a:off x="0" y="0"/>
          <a:ext cx="0" cy="0"/>
        </a:xfrm>
      </p:grpSpPr>
      <p:sp>
        <p:nvSpPr>
          <p:cNvPr id="1381" name="Google Shape;1381;p91"/>
          <p:cNvSpPr txBox="1"/>
          <p:nvPr>
            <p:ph type="body" idx="1"/>
          </p:nvPr>
        </p:nvSpPr>
        <p:spPr>
          <a:xfrm>
            <a:off x="324000" y="759300"/>
            <a:ext cx="6810300" cy="136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this spinner is spun the possible outcomes are {1, 2, 3, 4, 5}.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Izzy and Lucas are playing a game. Izzy gets a point if it lands on a </a:t>
            </a:r>
            <a:r>
              <a:rPr lang="en-GB" sz="1800">
                <a:solidFill>
                  <a:schemeClr val="accent2"/>
                </a:solidFill>
              </a:rPr>
              <a:t>prime number</a:t>
            </a:r>
            <a:r>
              <a:rPr lang="en-GB" sz="1800"/>
              <a:t> and Lucas gets a point if it lands on an </a:t>
            </a:r>
            <a:r>
              <a:rPr lang="en-GB" sz="1800">
                <a:solidFill>
                  <a:schemeClr val="accent2"/>
                </a:solidFill>
              </a:rPr>
              <a:t>odd number</a:t>
            </a:r>
            <a:r>
              <a:rPr lang="en-GB" sz="1800"/>
              <a:t>.</a:t>
            </a:r>
            <a:endParaRPr sz="1800"/>
          </a:p>
        </p:txBody>
      </p:sp>
      <p:grpSp>
        <p:nvGrpSpPr>
          <p:cNvPr id="1382" name="Google Shape;1382;p91"/>
          <p:cNvGrpSpPr/>
          <p:nvPr/>
        </p:nvGrpSpPr>
        <p:grpSpPr>
          <a:xfrm>
            <a:off x="6974310" y="456718"/>
            <a:ext cx="2021923" cy="2021923"/>
            <a:chOff x="6745426" y="456693"/>
            <a:chExt cx="2328600" cy="2328600"/>
          </a:xfrm>
        </p:grpSpPr>
        <p:sp>
          <p:nvSpPr>
            <p:cNvPr id="1383" name="Google Shape;1383;p91"/>
            <p:cNvSpPr/>
            <p:nvPr/>
          </p:nvSpPr>
          <p:spPr>
            <a:xfrm>
              <a:off x="70616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4" name="Google Shape;1384;p91"/>
            <p:cNvSpPr/>
            <p:nvPr/>
          </p:nvSpPr>
          <p:spPr>
            <a:xfrm rot="8649824">
              <a:off x="70764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5" name="Google Shape;1385;p91"/>
            <p:cNvSpPr/>
            <p:nvPr/>
          </p:nvSpPr>
          <p:spPr>
            <a:xfrm rot="-8629029">
              <a:off x="70765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6" name="Google Shape;1386;p91"/>
            <p:cNvSpPr/>
            <p:nvPr/>
          </p:nvSpPr>
          <p:spPr>
            <a:xfrm rot="-4309758">
              <a:off x="70766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7" name="Google Shape;1387;p91"/>
            <p:cNvSpPr/>
            <p:nvPr/>
          </p:nvSpPr>
          <p:spPr>
            <a:xfrm>
              <a:off x="70766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88" name="Google Shape;1388;p91"/>
            <p:cNvSpPr txBox="1"/>
            <p:nvPr/>
          </p:nvSpPr>
          <p:spPr>
            <a:xfrm>
              <a:off x="7762875" y="1943525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91"/>
            <p:cNvSpPr/>
            <p:nvPr/>
          </p:nvSpPr>
          <p:spPr>
            <a:xfrm rot="4312496">
              <a:off x="70764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90" name="Google Shape;1390;p91"/>
            <p:cNvSpPr txBox="1"/>
            <p:nvPr/>
          </p:nvSpPr>
          <p:spPr>
            <a:xfrm>
              <a:off x="7440375" y="952925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91"/>
            <p:cNvSpPr txBox="1"/>
            <p:nvPr/>
          </p:nvSpPr>
          <p:spPr>
            <a:xfrm>
              <a:off x="8094926" y="952932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2" name="Google Shape;1392;p91"/>
            <p:cNvSpPr txBox="1"/>
            <p:nvPr/>
          </p:nvSpPr>
          <p:spPr>
            <a:xfrm>
              <a:off x="8171126" y="1562532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3" name="Google Shape;1393;p91"/>
            <p:cNvSpPr txBox="1"/>
            <p:nvPr/>
          </p:nvSpPr>
          <p:spPr>
            <a:xfrm>
              <a:off x="7211775" y="1562532"/>
              <a:ext cx="5715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94" name="Google Shape;1394;p91"/>
            <p:cNvGrpSpPr/>
            <p:nvPr/>
          </p:nvGrpSpPr>
          <p:grpSpPr>
            <a:xfrm>
              <a:off x="7860909" y="828742"/>
              <a:ext cx="93900" cy="816939"/>
              <a:chOff x="996050" y="213293"/>
              <a:chExt cx="93900" cy="909732"/>
            </a:xfrm>
          </p:grpSpPr>
          <p:cxnSp>
            <p:nvCxnSpPr>
              <p:cNvPr id="1395" name="Google Shape;1395;p91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396" name="Google Shape;1396;p91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97" name="Google Shape;1397;p91"/>
          <p:cNvSpPr txBox="1"/>
          <p:nvPr>
            <p:ph type="body" idx="1"/>
          </p:nvPr>
        </p:nvSpPr>
        <p:spPr>
          <a:xfrm>
            <a:off x="3398250" y="3035575"/>
            <a:ext cx="1830600" cy="3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Izzy = {2, 3,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8" name="Google Shape;1398;p91"/>
          <p:cNvSpPr txBox="1"/>
          <p:nvPr>
            <p:ph type="body" idx="1"/>
          </p:nvPr>
        </p:nvSpPr>
        <p:spPr>
          <a:xfrm>
            <a:off x="324000" y="226695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From the sample space, which outcomes would form parts of the following events?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Event 1: Izzy gets a point</a:t>
            </a:r>
            <a:endParaRPr sz="1800"/>
          </a:p>
        </p:txBody>
      </p:sp>
      <p:sp>
        <p:nvSpPr>
          <p:cNvPr id="1399" name="Google Shape;139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of two events</a:t>
            </a:r>
            <a:endParaRPr/>
          </a:p>
        </p:txBody>
      </p:sp>
      <p:sp>
        <p:nvSpPr>
          <p:cNvPr id="1400" name="Google Shape;1400;p91"/>
          <p:cNvSpPr txBox="1"/>
          <p:nvPr>
            <p:ph type="body" idx="1"/>
          </p:nvPr>
        </p:nvSpPr>
        <p:spPr>
          <a:xfrm>
            <a:off x="3482220" y="3393748"/>
            <a:ext cx="1947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= {1, 3,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1" name="Google Shape;1401;p91"/>
          <p:cNvSpPr txBox="1"/>
          <p:nvPr>
            <p:ph type="body" idx="1"/>
          </p:nvPr>
        </p:nvSpPr>
        <p:spPr>
          <a:xfrm>
            <a:off x="7053250" y="3724200"/>
            <a:ext cx="1435800" cy="3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2, 3,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2" name="Google Shape;1402;p91"/>
          <p:cNvSpPr txBox="1"/>
          <p:nvPr>
            <p:ph type="body" idx="1"/>
          </p:nvPr>
        </p:nvSpPr>
        <p:spPr>
          <a:xfrm>
            <a:off x="324000" y="3409950"/>
            <a:ext cx="3074400" cy="21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Event 2: Lucas gets a point</a:t>
            </a:r>
            <a:endParaRPr sz="1800"/>
          </a:p>
        </p:txBody>
      </p:sp>
      <p:sp>
        <p:nvSpPr>
          <p:cNvPr id="1403" name="Google Shape;1403;p91"/>
          <p:cNvSpPr txBox="1"/>
          <p:nvPr>
            <p:ph type="body" idx="1"/>
          </p:nvPr>
        </p:nvSpPr>
        <p:spPr>
          <a:xfrm>
            <a:off x="324000" y="3790950"/>
            <a:ext cx="7135200" cy="21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combined event that either Izzy or Lucas gets a point.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7" name="Shape 1407"/>
        <p:cNvGrpSpPr/>
        <p:nvPr/>
      </p:nvGrpSpPr>
      <p:grpSpPr>
        <a:xfrm>
          <a:off x="0" y="0"/>
          <a:ext cx="0" cy="0"/>
        </a:xfrm>
      </p:grpSpPr>
      <p:sp>
        <p:nvSpPr>
          <p:cNvPr id="1408" name="Google Shape;1408;p92"/>
          <p:cNvSpPr txBox="1"/>
          <p:nvPr>
            <p:ph type="body" idx="1"/>
          </p:nvPr>
        </p:nvSpPr>
        <p:spPr>
          <a:xfrm>
            <a:off x="324000" y="759300"/>
            <a:ext cx="6810300" cy="136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this spinner is spun the possible outcomes are {1, 2, 3, 4, 5}.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Izzy and Lucas are playing a game. Izzy gets a point if it lands on a </a:t>
            </a:r>
            <a:r>
              <a:rPr lang="en-GB" sz="1800">
                <a:solidFill>
                  <a:schemeClr val="accent2"/>
                </a:solidFill>
              </a:rPr>
              <a:t>prime number</a:t>
            </a:r>
            <a:r>
              <a:rPr lang="en-GB" sz="1800"/>
              <a:t> and Lucas gets a point if it lands on an </a:t>
            </a:r>
            <a:r>
              <a:rPr lang="en-GB" sz="1800">
                <a:solidFill>
                  <a:schemeClr val="accent2"/>
                </a:solidFill>
              </a:rPr>
              <a:t>odd number</a:t>
            </a:r>
            <a:r>
              <a:rPr lang="en-GB" sz="1800"/>
              <a:t>.</a:t>
            </a:r>
            <a:endParaRPr sz="1800"/>
          </a:p>
        </p:txBody>
      </p:sp>
      <p:grpSp>
        <p:nvGrpSpPr>
          <p:cNvPr id="1409" name="Google Shape;1409;p92"/>
          <p:cNvGrpSpPr/>
          <p:nvPr/>
        </p:nvGrpSpPr>
        <p:grpSpPr>
          <a:xfrm>
            <a:off x="6974310" y="456718"/>
            <a:ext cx="2021923" cy="2021923"/>
            <a:chOff x="6745426" y="456693"/>
            <a:chExt cx="2328600" cy="2328600"/>
          </a:xfrm>
        </p:grpSpPr>
        <p:sp>
          <p:nvSpPr>
            <p:cNvPr id="1410" name="Google Shape;1410;p92"/>
            <p:cNvSpPr/>
            <p:nvPr/>
          </p:nvSpPr>
          <p:spPr>
            <a:xfrm>
              <a:off x="70616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11" name="Google Shape;1411;p92"/>
            <p:cNvSpPr/>
            <p:nvPr/>
          </p:nvSpPr>
          <p:spPr>
            <a:xfrm rot="8649824">
              <a:off x="70764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12" name="Google Shape;1412;p92"/>
            <p:cNvSpPr/>
            <p:nvPr/>
          </p:nvSpPr>
          <p:spPr>
            <a:xfrm rot="-8629029">
              <a:off x="70765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13" name="Google Shape;1413;p92"/>
            <p:cNvSpPr/>
            <p:nvPr/>
          </p:nvSpPr>
          <p:spPr>
            <a:xfrm rot="-4309758">
              <a:off x="70766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14" name="Google Shape;1414;p92"/>
            <p:cNvSpPr/>
            <p:nvPr/>
          </p:nvSpPr>
          <p:spPr>
            <a:xfrm>
              <a:off x="70766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15" name="Google Shape;1415;p92"/>
            <p:cNvSpPr txBox="1"/>
            <p:nvPr/>
          </p:nvSpPr>
          <p:spPr>
            <a:xfrm>
              <a:off x="7762875" y="1943525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6" name="Google Shape;1416;p92"/>
            <p:cNvSpPr/>
            <p:nvPr/>
          </p:nvSpPr>
          <p:spPr>
            <a:xfrm rot="4312496">
              <a:off x="70764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17" name="Google Shape;1417;p92"/>
            <p:cNvSpPr txBox="1"/>
            <p:nvPr/>
          </p:nvSpPr>
          <p:spPr>
            <a:xfrm>
              <a:off x="7440375" y="952925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8" name="Google Shape;1418;p92"/>
            <p:cNvSpPr txBox="1"/>
            <p:nvPr/>
          </p:nvSpPr>
          <p:spPr>
            <a:xfrm>
              <a:off x="8094926" y="952932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9" name="Google Shape;1419;p92"/>
            <p:cNvSpPr txBox="1"/>
            <p:nvPr/>
          </p:nvSpPr>
          <p:spPr>
            <a:xfrm>
              <a:off x="8171126" y="1562532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0" name="Google Shape;1420;p92"/>
            <p:cNvSpPr txBox="1"/>
            <p:nvPr/>
          </p:nvSpPr>
          <p:spPr>
            <a:xfrm>
              <a:off x="7211775" y="1562532"/>
              <a:ext cx="5715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21" name="Google Shape;1421;p92"/>
            <p:cNvGrpSpPr/>
            <p:nvPr/>
          </p:nvGrpSpPr>
          <p:grpSpPr>
            <a:xfrm>
              <a:off x="7860909" y="828742"/>
              <a:ext cx="93900" cy="816939"/>
              <a:chOff x="996050" y="213293"/>
              <a:chExt cx="93900" cy="909732"/>
            </a:xfrm>
          </p:grpSpPr>
          <p:cxnSp>
            <p:nvCxnSpPr>
              <p:cNvPr id="1422" name="Google Shape;1422;p92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423" name="Google Shape;1423;p92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24" name="Google Shape;1424;p92"/>
          <p:cNvSpPr txBox="1"/>
          <p:nvPr>
            <p:ph type="body" idx="1"/>
          </p:nvPr>
        </p:nvSpPr>
        <p:spPr>
          <a:xfrm>
            <a:off x="3398250" y="3035575"/>
            <a:ext cx="1830600" cy="3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Izzy = {2, 3,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5" name="Google Shape;1425;p92"/>
          <p:cNvSpPr txBox="1"/>
          <p:nvPr>
            <p:ph type="body" idx="1"/>
          </p:nvPr>
        </p:nvSpPr>
        <p:spPr>
          <a:xfrm>
            <a:off x="324000" y="226695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From the sample space, which outcomes would form parts of the following events?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Event 1: Izzy gets a point</a:t>
            </a:r>
            <a:endParaRPr sz="1800"/>
          </a:p>
        </p:txBody>
      </p:sp>
      <p:sp>
        <p:nvSpPr>
          <p:cNvPr id="1426" name="Google Shape;142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of two events</a:t>
            </a:r>
            <a:endParaRPr/>
          </a:p>
        </p:txBody>
      </p:sp>
      <p:sp>
        <p:nvSpPr>
          <p:cNvPr id="1427" name="Google Shape;1427;p92"/>
          <p:cNvSpPr txBox="1"/>
          <p:nvPr>
            <p:ph type="body" idx="1"/>
          </p:nvPr>
        </p:nvSpPr>
        <p:spPr>
          <a:xfrm>
            <a:off x="3482220" y="3393748"/>
            <a:ext cx="1947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= {1, 3,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8" name="Google Shape;1428;p92"/>
          <p:cNvSpPr txBox="1"/>
          <p:nvPr>
            <p:ph type="body" idx="1"/>
          </p:nvPr>
        </p:nvSpPr>
        <p:spPr>
          <a:xfrm>
            <a:off x="7053250" y="3724200"/>
            <a:ext cx="1435800" cy="3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{3,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9" name="Google Shape;1429;p92"/>
          <p:cNvSpPr txBox="1"/>
          <p:nvPr>
            <p:ph type="body" idx="1"/>
          </p:nvPr>
        </p:nvSpPr>
        <p:spPr>
          <a:xfrm>
            <a:off x="324000" y="3409950"/>
            <a:ext cx="3074400" cy="21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Event 2: Lucas gets a point</a:t>
            </a:r>
            <a:endParaRPr sz="1800"/>
          </a:p>
        </p:txBody>
      </p:sp>
      <p:sp>
        <p:nvSpPr>
          <p:cNvPr id="1430" name="Google Shape;1430;p92"/>
          <p:cNvSpPr txBox="1"/>
          <p:nvPr>
            <p:ph type="body" idx="1"/>
          </p:nvPr>
        </p:nvSpPr>
        <p:spPr>
          <a:xfrm>
            <a:off x="324000" y="3790950"/>
            <a:ext cx="7135200" cy="21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combined event that both Izzy and Lucas get a point.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34" name="Shape 1434"/>
        <p:cNvGrpSpPr/>
        <p:nvPr/>
      </p:nvGrpSpPr>
      <p:grpSpPr>
        <a:xfrm>
          <a:off x="0" y="0"/>
          <a:ext cx="0" cy="0"/>
        </a:xfrm>
      </p:grpSpPr>
      <p:sp>
        <p:nvSpPr>
          <p:cNvPr id="1435" name="Google Shape;1435;p93"/>
          <p:cNvSpPr txBox="1"/>
          <p:nvPr>
            <p:ph type="body" idx="1"/>
          </p:nvPr>
        </p:nvSpPr>
        <p:spPr>
          <a:xfrm>
            <a:off x="324000" y="759300"/>
            <a:ext cx="6810300" cy="136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this spinner is spun the possible outcomes are {1, 2, 3, 4, 5}.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Izzy and Lucas are playing a game. Izzy gets a point if it lands on a </a:t>
            </a:r>
            <a:r>
              <a:rPr lang="en-GB" sz="1800">
                <a:solidFill>
                  <a:schemeClr val="accent2"/>
                </a:solidFill>
              </a:rPr>
              <a:t>prime number</a:t>
            </a:r>
            <a:r>
              <a:rPr lang="en-GB" sz="1800"/>
              <a:t> and Lucas gets a point if it lands on an </a:t>
            </a:r>
            <a:r>
              <a:rPr lang="en-GB" sz="1800">
                <a:solidFill>
                  <a:schemeClr val="accent2"/>
                </a:solidFill>
              </a:rPr>
              <a:t>odd number</a:t>
            </a:r>
            <a:r>
              <a:rPr lang="en-GB" sz="1800"/>
              <a:t>.</a:t>
            </a:r>
            <a:endParaRPr sz="1800"/>
          </a:p>
        </p:txBody>
      </p:sp>
      <p:grpSp>
        <p:nvGrpSpPr>
          <p:cNvPr id="1436" name="Google Shape;1436;p93"/>
          <p:cNvGrpSpPr/>
          <p:nvPr/>
        </p:nvGrpSpPr>
        <p:grpSpPr>
          <a:xfrm>
            <a:off x="6974310" y="456718"/>
            <a:ext cx="2021923" cy="2021923"/>
            <a:chOff x="6745426" y="456693"/>
            <a:chExt cx="2328600" cy="2328600"/>
          </a:xfrm>
        </p:grpSpPr>
        <p:sp>
          <p:nvSpPr>
            <p:cNvPr id="1437" name="Google Shape;1437;p93"/>
            <p:cNvSpPr/>
            <p:nvPr/>
          </p:nvSpPr>
          <p:spPr>
            <a:xfrm>
              <a:off x="7061600" y="772850"/>
              <a:ext cx="1695900" cy="16959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38" name="Google Shape;1438;p93"/>
            <p:cNvSpPr/>
            <p:nvPr/>
          </p:nvSpPr>
          <p:spPr>
            <a:xfrm rot="8649824">
              <a:off x="7076495" y="787761"/>
              <a:ext cx="1666351" cy="1666351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037B7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39" name="Google Shape;1439;p93"/>
            <p:cNvSpPr/>
            <p:nvPr/>
          </p:nvSpPr>
          <p:spPr>
            <a:xfrm rot="-8629029">
              <a:off x="7076596" y="787863"/>
              <a:ext cx="1666260" cy="166626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D02AA7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40" name="Google Shape;1440;p93"/>
            <p:cNvSpPr/>
            <p:nvPr/>
          </p:nvSpPr>
          <p:spPr>
            <a:xfrm rot="-4309758">
              <a:off x="7076641" y="788027"/>
              <a:ext cx="1666190" cy="166619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374CF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41" name="Google Shape;1441;p93"/>
            <p:cNvSpPr/>
            <p:nvPr/>
          </p:nvSpPr>
          <p:spPr>
            <a:xfrm>
              <a:off x="7076641" y="788027"/>
              <a:ext cx="1666200" cy="1666200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BEF2B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42" name="Google Shape;1442;p93"/>
            <p:cNvSpPr txBox="1"/>
            <p:nvPr/>
          </p:nvSpPr>
          <p:spPr>
            <a:xfrm>
              <a:off x="7762875" y="1943525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3" name="Google Shape;1443;p93"/>
            <p:cNvSpPr/>
            <p:nvPr/>
          </p:nvSpPr>
          <p:spPr>
            <a:xfrm rot="4312496">
              <a:off x="7076474" y="787606"/>
              <a:ext cx="1666387" cy="1666387"/>
            </a:xfrm>
            <a:prstGeom prst="pie">
              <a:avLst>
                <a:gd name="adj1" fmla="val 11928607"/>
                <a:gd name="adj2" fmla="val 16225322"/>
              </a:avLst>
            </a:prstGeom>
            <a:solidFill>
              <a:srgbClr val="845AD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44" name="Google Shape;1444;p93"/>
            <p:cNvSpPr txBox="1"/>
            <p:nvPr/>
          </p:nvSpPr>
          <p:spPr>
            <a:xfrm>
              <a:off x="7440375" y="952925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5" name="Google Shape;1445;p93"/>
            <p:cNvSpPr txBox="1"/>
            <p:nvPr/>
          </p:nvSpPr>
          <p:spPr>
            <a:xfrm>
              <a:off x="8094926" y="952932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6" name="Google Shape;1446;p93"/>
            <p:cNvSpPr txBox="1"/>
            <p:nvPr/>
          </p:nvSpPr>
          <p:spPr>
            <a:xfrm>
              <a:off x="8171126" y="1562532"/>
              <a:ext cx="630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7" name="Google Shape;1447;p93"/>
            <p:cNvSpPr txBox="1"/>
            <p:nvPr/>
          </p:nvSpPr>
          <p:spPr>
            <a:xfrm>
              <a:off x="7211775" y="1562532"/>
              <a:ext cx="5715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48" name="Google Shape;1448;p93"/>
            <p:cNvGrpSpPr/>
            <p:nvPr/>
          </p:nvGrpSpPr>
          <p:grpSpPr>
            <a:xfrm>
              <a:off x="7860909" y="828742"/>
              <a:ext cx="93900" cy="816939"/>
              <a:chOff x="996050" y="213293"/>
              <a:chExt cx="93900" cy="909732"/>
            </a:xfrm>
          </p:grpSpPr>
          <p:cxnSp>
            <p:nvCxnSpPr>
              <p:cNvPr id="1449" name="Google Shape;1449;p93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450" name="Google Shape;1450;p93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51" name="Google Shape;1451;p93"/>
          <p:cNvSpPr txBox="1"/>
          <p:nvPr>
            <p:ph type="body" idx="1"/>
          </p:nvPr>
        </p:nvSpPr>
        <p:spPr>
          <a:xfrm>
            <a:off x="3398250" y="3035575"/>
            <a:ext cx="1830600" cy="3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Izzy = {2, 3,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2" name="Google Shape;1452;p93"/>
          <p:cNvSpPr txBox="1"/>
          <p:nvPr>
            <p:ph type="body" idx="1"/>
          </p:nvPr>
        </p:nvSpPr>
        <p:spPr>
          <a:xfrm>
            <a:off x="324000" y="226695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From the sample space, which outcomes would form parts of the following events?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Event 1: Izzy gets a point</a:t>
            </a:r>
            <a:endParaRPr sz="1800"/>
          </a:p>
        </p:txBody>
      </p:sp>
      <p:sp>
        <p:nvSpPr>
          <p:cNvPr id="1453" name="Google Shape;145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outcomes of two events</a:t>
            </a:r>
            <a:endParaRPr/>
          </a:p>
        </p:txBody>
      </p:sp>
      <p:sp>
        <p:nvSpPr>
          <p:cNvPr id="1454" name="Google Shape;1454;p93"/>
          <p:cNvSpPr txBox="1"/>
          <p:nvPr>
            <p:ph type="body" idx="1"/>
          </p:nvPr>
        </p:nvSpPr>
        <p:spPr>
          <a:xfrm>
            <a:off x="3482220" y="3393748"/>
            <a:ext cx="1947300" cy="3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= {1, 3,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5" name="Google Shape;1455;p93"/>
          <p:cNvSpPr txBox="1"/>
          <p:nvPr>
            <p:ph type="body" idx="1"/>
          </p:nvPr>
        </p:nvSpPr>
        <p:spPr>
          <a:xfrm>
            <a:off x="5312850" y="3790950"/>
            <a:ext cx="1435800" cy="3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{2}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6" name="Google Shape;1456;p93"/>
          <p:cNvSpPr txBox="1"/>
          <p:nvPr>
            <p:ph type="body" idx="1"/>
          </p:nvPr>
        </p:nvSpPr>
        <p:spPr>
          <a:xfrm>
            <a:off x="324000" y="3409950"/>
            <a:ext cx="3074400" cy="21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Event 2: Lucas gets a point</a:t>
            </a:r>
            <a:endParaRPr sz="1800"/>
          </a:p>
        </p:txBody>
      </p:sp>
      <p:sp>
        <p:nvSpPr>
          <p:cNvPr id="1457" name="Google Shape;1457;p93"/>
          <p:cNvSpPr txBox="1"/>
          <p:nvPr>
            <p:ph type="body" idx="1"/>
          </p:nvPr>
        </p:nvSpPr>
        <p:spPr>
          <a:xfrm>
            <a:off x="324000" y="3790950"/>
            <a:ext cx="4904700" cy="21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event where only Izzy receives a point?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1" name="Shape 1461"/>
        <p:cNvGrpSpPr/>
        <p:nvPr/>
      </p:nvGrpSpPr>
      <p:grpSpPr>
        <a:xfrm>
          <a:off x="0" y="0"/>
          <a:ext cx="0" cy="0"/>
        </a:xfrm>
      </p:grpSpPr>
      <p:sp>
        <p:nvSpPr>
          <p:cNvPr id="1462" name="Google Shape;14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 of two events</a:t>
            </a:r>
            <a:endParaRPr/>
          </a:p>
        </p:txBody>
      </p:sp>
      <p:sp>
        <p:nvSpPr>
          <p:cNvPr id="1463" name="Google Shape;1463;p94"/>
          <p:cNvSpPr txBox="1"/>
          <p:nvPr>
            <p:ph type="body" idx="1"/>
          </p:nvPr>
        </p:nvSpPr>
        <p:spPr>
          <a:xfrm>
            <a:off x="324000" y="772850"/>
            <a:ext cx="6326700" cy="10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Izzy and Lucas are playing a game. Izzy gets a point of it lands on a ‘</a:t>
            </a:r>
            <a:r>
              <a:rPr lang="en-GB" sz="1800">
                <a:solidFill>
                  <a:schemeClr val="accent2"/>
                </a:solidFill>
              </a:rPr>
              <a:t>prime number</a:t>
            </a:r>
            <a:r>
              <a:rPr lang="en-GB" sz="1800"/>
              <a:t>’ and Lucas gets a point if it lands on an ‘</a:t>
            </a:r>
            <a:r>
              <a:rPr lang="en-GB" sz="1800">
                <a:solidFill>
                  <a:schemeClr val="accent2"/>
                </a:solidFill>
              </a:rPr>
              <a:t>odd number</a:t>
            </a:r>
            <a:r>
              <a:rPr lang="en-GB" sz="1800"/>
              <a:t>’.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464" name="Google Shape;1464;p94"/>
          <p:cNvSpPr/>
          <p:nvPr/>
        </p:nvSpPr>
        <p:spPr>
          <a:xfrm>
            <a:off x="6756800" y="7728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5" name="Google Shape;1465;p94"/>
          <p:cNvSpPr/>
          <p:nvPr/>
        </p:nvSpPr>
        <p:spPr>
          <a:xfrm rot="8649824">
            <a:off x="6771695" y="787761"/>
            <a:ext cx="1666351" cy="166635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6" name="Google Shape;1466;p94"/>
          <p:cNvSpPr/>
          <p:nvPr/>
        </p:nvSpPr>
        <p:spPr>
          <a:xfrm rot="-8629029">
            <a:off x="6771796" y="787863"/>
            <a:ext cx="1666260" cy="166626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7" name="Google Shape;1467;p94"/>
          <p:cNvSpPr/>
          <p:nvPr/>
        </p:nvSpPr>
        <p:spPr>
          <a:xfrm rot="-4309758">
            <a:off x="6771841" y="788027"/>
            <a:ext cx="1666190" cy="166619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8" name="Google Shape;1468;p94"/>
          <p:cNvSpPr/>
          <p:nvPr/>
        </p:nvSpPr>
        <p:spPr>
          <a:xfrm>
            <a:off x="6771841" y="788027"/>
            <a:ext cx="1666200" cy="16662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9" name="Google Shape;1469;p94"/>
          <p:cNvSpPr txBox="1"/>
          <p:nvPr/>
        </p:nvSpPr>
        <p:spPr>
          <a:xfrm>
            <a:off x="7458075" y="19435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94"/>
          <p:cNvSpPr/>
          <p:nvPr/>
        </p:nvSpPr>
        <p:spPr>
          <a:xfrm rot="4312496">
            <a:off x="6771674" y="787606"/>
            <a:ext cx="1666387" cy="1666387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1" name="Google Shape;1471;p94"/>
          <p:cNvSpPr txBox="1"/>
          <p:nvPr/>
        </p:nvSpPr>
        <p:spPr>
          <a:xfrm>
            <a:off x="7135575" y="9529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94"/>
          <p:cNvSpPr txBox="1"/>
          <p:nvPr/>
        </p:nvSpPr>
        <p:spPr>
          <a:xfrm>
            <a:off x="7790126" y="9529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94"/>
          <p:cNvSpPr txBox="1"/>
          <p:nvPr/>
        </p:nvSpPr>
        <p:spPr>
          <a:xfrm>
            <a:off x="7866326" y="15625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94"/>
          <p:cNvSpPr txBox="1"/>
          <p:nvPr/>
        </p:nvSpPr>
        <p:spPr>
          <a:xfrm>
            <a:off x="6906975" y="15625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5" name="Google Shape;1475;p94"/>
          <p:cNvGrpSpPr/>
          <p:nvPr/>
        </p:nvGrpSpPr>
        <p:grpSpPr>
          <a:xfrm>
            <a:off x="7556109" y="828742"/>
            <a:ext cx="93900" cy="816939"/>
            <a:chOff x="996050" y="213293"/>
            <a:chExt cx="93900" cy="909732"/>
          </a:xfrm>
        </p:grpSpPr>
        <p:cxnSp>
          <p:nvCxnSpPr>
            <p:cNvPr id="1476" name="Google Shape;1476;p94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77" name="Google Shape;1477;p9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478" name="Google Shape;1478;p94"/>
          <p:cNvSpPr txBox="1"/>
          <p:nvPr>
            <p:ph type="body" idx="1"/>
          </p:nvPr>
        </p:nvSpPr>
        <p:spPr>
          <a:xfrm>
            <a:off x="324000" y="296425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only outcome that is not prime nor odd is {4}.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9" name="Google Shape;1479;p94"/>
          <p:cNvSpPr txBox="1"/>
          <p:nvPr>
            <p:ph type="body" idx="1"/>
          </p:nvPr>
        </p:nvSpPr>
        <p:spPr>
          <a:xfrm>
            <a:off x="324000" y="186705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From the sample space, which outcomes would form part of the event that neither Izzy nor Lucas receive a point?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3" name="Shape 1483"/>
        <p:cNvGrpSpPr/>
        <p:nvPr/>
      </p:nvGrpSpPr>
      <p:grpSpPr>
        <a:xfrm>
          <a:off x="0" y="0"/>
          <a:ext cx="0" cy="0"/>
        </a:xfrm>
      </p:grpSpPr>
      <p:sp>
        <p:nvSpPr>
          <p:cNvPr id="1484" name="Google Shape;1484;p95"/>
          <p:cNvSpPr txBox="1"/>
          <p:nvPr>
            <p:ph type="body" idx="1"/>
          </p:nvPr>
        </p:nvSpPr>
        <p:spPr>
          <a:xfrm>
            <a:off x="324000" y="759300"/>
            <a:ext cx="6326700" cy="24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this spinner is spun the possible outcomes are {3, 4, 6, 8, 12, 15, 24, 30}.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Sofia and Alex are playing a game. Sofia gets a point if it lands on a ‘</a:t>
            </a:r>
            <a:r>
              <a:rPr lang="en-GB" sz="1800">
                <a:solidFill>
                  <a:schemeClr val="accent2"/>
                </a:solidFill>
              </a:rPr>
              <a:t>factor of 24</a:t>
            </a:r>
            <a:r>
              <a:rPr lang="en-GB" sz="1800"/>
              <a:t>’ and Alex gets a point if it lands on an ‘</a:t>
            </a:r>
            <a:r>
              <a:rPr lang="en-GB" sz="1800">
                <a:solidFill>
                  <a:schemeClr val="accent2"/>
                </a:solidFill>
              </a:rPr>
              <a:t>multiple of 3</a:t>
            </a:r>
            <a:r>
              <a:rPr lang="en-GB" sz="1800"/>
              <a:t>’.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1485" name="Google Shape;148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 of two events</a:t>
            </a:r>
            <a:endParaRPr/>
          </a:p>
        </p:txBody>
      </p:sp>
      <p:sp>
        <p:nvSpPr>
          <p:cNvPr id="1486" name="Google Shape;1486;p95"/>
          <p:cNvSpPr txBox="1"/>
          <p:nvPr>
            <p:ph type="body" idx="1"/>
          </p:nvPr>
        </p:nvSpPr>
        <p:spPr>
          <a:xfrm>
            <a:off x="324000" y="257175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list the outcomes that would give Sofia a point.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Sofia: factors of 24 = {3, 4, 6, 8, 12, 24}</a:t>
            </a:r>
            <a:endParaRPr sz="1800"/>
          </a:p>
        </p:txBody>
      </p:sp>
      <p:sp>
        <p:nvSpPr>
          <p:cNvPr id="1487" name="Google Shape;1487;p95"/>
          <p:cNvSpPr/>
          <p:nvPr/>
        </p:nvSpPr>
        <p:spPr>
          <a:xfrm>
            <a:off x="7061600" y="8490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8" name="Google Shape;1488;p95"/>
          <p:cNvSpPr/>
          <p:nvPr/>
        </p:nvSpPr>
        <p:spPr>
          <a:xfrm flipH="1">
            <a:off x="7076289" y="863811"/>
            <a:ext cx="1666500" cy="1666500"/>
          </a:xfrm>
          <a:prstGeom prst="pie">
            <a:avLst>
              <a:gd name="adj1" fmla="val 5387953"/>
              <a:gd name="adj2" fmla="val 10824216"/>
            </a:avLst>
          </a:prstGeom>
          <a:solidFill>
            <a:schemeClr val="accen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9" name="Google Shape;1489;p95"/>
          <p:cNvSpPr/>
          <p:nvPr/>
        </p:nvSpPr>
        <p:spPr>
          <a:xfrm>
            <a:off x="7076361" y="863811"/>
            <a:ext cx="1666500" cy="1666500"/>
          </a:xfrm>
          <a:prstGeom prst="pie">
            <a:avLst>
              <a:gd name="adj1" fmla="val 5387953"/>
              <a:gd name="adj2" fmla="val 8080958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0" name="Google Shape;1490;p95"/>
          <p:cNvSpPr txBox="1"/>
          <p:nvPr/>
        </p:nvSpPr>
        <p:spPr>
          <a:xfrm>
            <a:off x="7518071" y="2019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5"/>
          <p:cNvSpPr/>
          <p:nvPr/>
        </p:nvSpPr>
        <p:spPr>
          <a:xfrm>
            <a:off x="7076361" y="863811"/>
            <a:ext cx="1666500" cy="1666500"/>
          </a:xfrm>
          <a:prstGeom prst="pie">
            <a:avLst>
              <a:gd name="adj1" fmla="val 10799941"/>
              <a:gd name="adj2" fmla="val 13483876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2" name="Google Shape;1492;p95"/>
          <p:cNvSpPr txBox="1"/>
          <p:nvPr/>
        </p:nvSpPr>
        <p:spPr>
          <a:xfrm>
            <a:off x="7135575" y="1257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95"/>
          <p:cNvSpPr/>
          <p:nvPr/>
        </p:nvSpPr>
        <p:spPr>
          <a:xfrm flipH="1">
            <a:off x="7076289" y="863811"/>
            <a:ext cx="1666500" cy="16665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4" name="Google Shape;1494;p95"/>
          <p:cNvSpPr txBox="1"/>
          <p:nvPr/>
        </p:nvSpPr>
        <p:spPr>
          <a:xfrm>
            <a:off x="7927979" y="960197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95"/>
          <p:cNvSpPr/>
          <p:nvPr/>
        </p:nvSpPr>
        <p:spPr>
          <a:xfrm>
            <a:off x="7076361" y="863811"/>
            <a:ext cx="1666500" cy="16665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6" name="Google Shape;1496;p95"/>
          <p:cNvSpPr txBox="1"/>
          <p:nvPr/>
        </p:nvSpPr>
        <p:spPr>
          <a:xfrm>
            <a:off x="7524345" y="952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95"/>
          <p:cNvSpPr/>
          <p:nvPr/>
        </p:nvSpPr>
        <p:spPr>
          <a:xfrm>
            <a:off x="7076361" y="863811"/>
            <a:ext cx="1666500" cy="1666500"/>
          </a:xfrm>
          <a:prstGeom prst="pie">
            <a:avLst>
              <a:gd name="adj1" fmla="val 8080793"/>
              <a:gd name="adj2" fmla="val 1085822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8" name="Google Shape;1498;p95"/>
          <p:cNvSpPr txBox="1"/>
          <p:nvPr/>
        </p:nvSpPr>
        <p:spPr>
          <a:xfrm>
            <a:off x="7192486" y="1699375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95"/>
          <p:cNvSpPr/>
          <p:nvPr/>
        </p:nvSpPr>
        <p:spPr>
          <a:xfrm flipH="1">
            <a:off x="7076289" y="863811"/>
            <a:ext cx="1666500" cy="1666500"/>
          </a:xfrm>
          <a:prstGeom prst="pie">
            <a:avLst>
              <a:gd name="adj1" fmla="val 10765400"/>
              <a:gd name="adj2" fmla="val 13465582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00" name="Google Shape;1500;p95"/>
          <p:cNvSpPr txBox="1"/>
          <p:nvPr/>
        </p:nvSpPr>
        <p:spPr>
          <a:xfrm>
            <a:off x="8193913" y="131011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95"/>
          <p:cNvSpPr/>
          <p:nvPr/>
        </p:nvSpPr>
        <p:spPr>
          <a:xfrm flipH="1">
            <a:off x="7076289" y="863811"/>
            <a:ext cx="1666500" cy="1666500"/>
          </a:xfrm>
          <a:prstGeom prst="pie">
            <a:avLst>
              <a:gd name="adj1" fmla="val 5387953"/>
              <a:gd name="adj2" fmla="val 8084426"/>
            </a:avLst>
          </a:prstGeom>
          <a:solidFill>
            <a:schemeClr val="accent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02" name="Google Shape;1502;p95"/>
          <p:cNvSpPr txBox="1"/>
          <p:nvPr/>
        </p:nvSpPr>
        <p:spPr>
          <a:xfrm>
            <a:off x="7927989" y="2019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95"/>
          <p:cNvSpPr txBox="1"/>
          <p:nvPr/>
        </p:nvSpPr>
        <p:spPr>
          <a:xfrm>
            <a:off x="8187181" y="170040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4" name="Google Shape;1504;p95"/>
          <p:cNvGrpSpPr/>
          <p:nvPr/>
        </p:nvGrpSpPr>
        <p:grpSpPr>
          <a:xfrm>
            <a:off x="7860909" y="914563"/>
            <a:ext cx="93900" cy="816939"/>
            <a:chOff x="996050" y="213293"/>
            <a:chExt cx="93900" cy="909732"/>
          </a:xfrm>
        </p:grpSpPr>
        <p:cxnSp>
          <p:nvCxnSpPr>
            <p:cNvPr id="1505" name="Google Shape;1505;p95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06" name="Google Shape;1506;p9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507" name="Google Shape;1507;p95"/>
          <p:cNvSpPr txBox="1"/>
          <p:nvPr>
            <p:ph type="body" idx="1"/>
          </p:nvPr>
        </p:nvSpPr>
        <p:spPr>
          <a:xfrm>
            <a:off x="324000" y="340995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list the outcomes that would give Alex a point.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Alex: multiples of 3 = {3, 6, 12, 15, 24, 30}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1" name="Shape 1511"/>
        <p:cNvGrpSpPr/>
        <p:nvPr/>
      </p:nvGrpSpPr>
      <p:grpSpPr>
        <a:xfrm>
          <a:off x="0" y="0"/>
          <a:ext cx="0" cy="0"/>
        </a:xfrm>
      </p:grpSpPr>
      <p:sp>
        <p:nvSpPr>
          <p:cNvPr id="1512" name="Google Shape;151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 of two events</a:t>
            </a:r>
            <a:endParaRPr/>
          </a:p>
        </p:txBody>
      </p:sp>
      <p:sp>
        <p:nvSpPr>
          <p:cNvPr id="1513" name="Google Shape;1513;p96"/>
          <p:cNvSpPr txBox="1"/>
          <p:nvPr>
            <p:ph type="body" idx="1"/>
          </p:nvPr>
        </p:nvSpPr>
        <p:spPr>
          <a:xfrm>
            <a:off x="324000" y="89535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Sofia: factors of 24 = {3, 4, 6, 8, 12, 24}</a:t>
            </a:r>
            <a:endParaRPr sz="1800"/>
          </a:p>
        </p:txBody>
      </p:sp>
      <p:sp>
        <p:nvSpPr>
          <p:cNvPr id="1514" name="Google Shape;1514;p96"/>
          <p:cNvSpPr/>
          <p:nvPr/>
        </p:nvSpPr>
        <p:spPr>
          <a:xfrm>
            <a:off x="7061600" y="849050"/>
            <a:ext cx="1695900" cy="169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5" name="Google Shape;1515;p96"/>
          <p:cNvSpPr/>
          <p:nvPr/>
        </p:nvSpPr>
        <p:spPr>
          <a:xfrm flipH="1">
            <a:off x="7076289" y="863811"/>
            <a:ext cx="1666500" cy="1666500"/>
          </a:xfrm>
          <a:prstGeom prst="pie">
            <a:avLst>
              <a:gd name="adj1" fmla="val 5387953"/>
              <a:gd name="adj2" fmla="val 10824216"/>
            </a:avLst>
          </a:prstGeom>
          <a:solidFill>
            <a:schemeClr val="accen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6" name="Google Shape;1516;p96"/>
          <p:cNvSpPr/>
          <p:nvPr/>
        </p:nvSpPr>
        <p:spPr>
          <a:xfrm>
            <a:off x="7076361" y="863811"/>
            <a:ext cx="1666500" cy="1666500"/>
          </a:xfrm>
          <a:prstGeom prst="pie">
            <a:avLst>
              <a:gd name="adj1" fmla="val 5387953"/>
              <a:gd name="adj2" fmla="val 8080958"/>
            </a:avLst>
          </a:prstGeom>
          <a:solidFill>
            <a:schemeClr val="dk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7" name="Google Shape;1517;p96"/>
          <p:cNvSpPr txBox="1"/>
          <p:nvPr/>
        </p:nvSpPr>
        <p:spPr>
          <a:xfrm>
            <a:off x="7518071" y="2019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96"/>
          <p:cNvSpPr/>
          <p:nvPr/>
        </p:nvSpPr>
        <p:spPr>
          <a:xfrm>
            <a:off x="7076361" y="863811"/>
            <a:ext cx="1666500" cy="1666500"/>
          </a:xfrm>
          <a:prstGeom prst="pie">
            <a:avLst>
              <a:gd name="adj1" fmla="val 10799941"/>
              <a:gd name="adj2" fmla="val 13483876"/>
            </a:avLst>
          </a:prstGeom>
          <a:solidFill>
            <a:schemeClr val="accen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9" name="Google Shape;1519;p96"/>
          <p:cNvSpPr txBox="1"/>
          <p:nvPr/>
        </p:nvSpPr>
        <p:spPr>
          <a:xfrm>
            <a:off x="7135575" y="12577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96"/>
          <p:cNvSpPr/>
          <p:nvPr/>
        </p:nvSpPr>
        <p:spPr>
          <a:xfrm flipH="1">
            <a:off x="7076289" y="863811"/>
            <a:ext cx="1666500" cy="16665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1" name="Google Shape;1521;p96"/>
          <p:cNvSpPr txBox="1"/>
          <p:nvPr/>
        </p:nvSpPr>
        <p:spPr>
          <a:xfrm>
            <a:off x="7927979" y="960197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96"/>
          <p:cNvSpPr/>
          <p:nvPr/>
        </p:nvSpPr>
        <p:spPr>
          <a:xfrm>
            <a:off x="7076361" y="863811"/>
            <a:ext cx="1666500" cy="16665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3" name="Google Shape;1523;p96"/>
          <p:cNvSpPr txBox="1"/>
          <p:nvPr/>
        </p:nvSpPr>
        <p:spPr>
          <a:xfrm>
            <a:off x="7524345" y="9529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96"/>
          <p:cNvSpPr/>
          <p:nvPr/>
        </p:nvSpPr>
        <p:spPr>
          <a:xfrm>
            <a:off x="7076361" y="863811"/>
            <a:ext cx="1666500" cy="1666500"/>
          </a:xfrm>
          <a:prstGeom prst="pie">
            <a:avLst>
              <a:gd name="adj1" fmla="val 8080793"/>
              <a:gd name="adj2" fmla="val 1085822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5" name="Google Shape;1525;p96"/>
          <p:cNvSpPr txBox="1"/>
          <p:nvPr/>
        </p:nvSpPr>
        <p:spPr>
          <a:xfrm>
            <a:off x="7192486" y="1699375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96"/>
          <p:cNvSpPr/>
          <p:nvPr/>
        </p:nvSpPr>
        <p:spPr>
          <a:xfrm flipH="1">
            <a:off x="7076289" y="863811"/>
            <a:ext cx="1666500" cy="1666500"/>
          </a:xfrm>
          <a:prstGeom prst="pie">
            <a:avLst>
              <a:gd name="adj1" fmla="val 10765400"/>
              <a:gd name="adj2" fmla="val 13465582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7" name="Google Shape;1527;p96"/>
          <p:cNvSpPr txBox="1"/>
          <p:nvPr/>
        </p:nvSpPr>
        <p:spPr>
          <a:xfrm>
            <a:off x="8193913" y="131011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96"/>
          <p:cNvSpPr/>
          <p:nvPr/>
        </p:nvSpPr>
        <p:spPr>
          <a:xfrm flipH="1">
            <a:off x="7076289" y="863811"/>
            <a:ext cx="1666500" cy="1666500"/>
          </a:xfrm>
          <a:prstGeom prst="pie">
            <a:avLst>
              <a:gd name="adj1" fmla="val 5387953"/>
              <a:gd name="adj2" fmla="val 8084426"/>
            </a:avLst>
          </a:prstGeom>
          <a:solidFill>
            <a:schemeClr val="accent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9" name="Google Shape;1529;p96"/>
          <p:cNvSpPr txBox="1"/>
          <p:nvPr/>
        </p:nvSpPr>
        <p:spPr>
          <a:xfrm>
            <a:off x="7927989" y="20197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96"/>
          <p:cNvSpPr txBox="1"/>
          <p:nvPr/>
        </p:nvSpPr>
        <p:spPr>
          <a:xfrm>
            <a:off x="8187181" y="170040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1" name="Google Shape;1531;p96"/>
          <p:cNvGrpSpPr/>
          <p:nvPr/>
        </p:nvGrpSpPr>
        <p:grpSpPr>
          <a:xfrm>
            <a:off x="7860909" y="914563"/>
            <a:ext cx="93900" cy="816939"/>
            <a:chOff x="996050" y="213293"/>
            <a:chExt cx="93900" cy="909732"/>
          </a:xfrm>
        </p:grpSpPr>
        <p:cxnSp>
          <p:nvCxnSpPr>
            <p:cNvPr id="1532" name="Google Shape;1532;p96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33" name="Google Shape;1533;p96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534" name="Google Shape;1534;p96"/>
          <p:cNvSpPr txBox="1"/>
          <p:nvPr>
            <p:ph type="body" idx="1"/>
          </p:nvPr>
        </p:nvSpPr>
        <p:spPr>
          <a:xfrm>
            <a:off x="322025" y="139130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Alex: multiples of 3 = {3, 6, 12, 15, 24, 30}</a:t>
            </a:r>
            <a:endParaRPr sz="1800"/>
          </a:p>
        </p:txBody>
      </p:sp>
      <p:sp>
        <p:nvSpPr>
          <p:cNvPr id="1535" name="Google Shape;1535;p96"/>
          <p:cNvSpPr txBox="1"/>
          <p:nvPr>
            <p:ph type="body" idx="1"/>
          </p:nvPr>
        </p:nvSpPr>
        <p:spPr>
          <a:xfrm>
            <a:off x="322025" y="207710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outcomes give both Sofia and Alex a point?</a:t>
            </a:r>
            <a:endParaRPr sz="1800"/>
          </a:p>
        </p:txBody>
      </p:sp>
      <p:sp>
        <p:nvSpPr>
          <p:cNvPr id="1536" name="Google Shape;1536;p96"/>
          <p:cNvSpPr txBox="1"/>
          <p:nvPr>
            <p:ph type="body" idx="1"/>
          </p:nvPr>
        </p:nvSpPr>
        <p:spPr>
          <a:xfrm>
            <a:off x="322025" y="2450825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 and Alex = {3, 6, 12, 24}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7" name="Google Shape;1537;p96"/>
          <p:cNvSpPr txBox="1"/>
          <p:nvPr>
            <p:ph type="body" idx="1"/>
          </p:nvPr>
        </p:nvSpPr>
        <p:spPr>
          <a:xfrm>
            <a:off x="324000" y="295985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outcomes give neither Sofia nor Alex a point?</a:t>
            </a:r>
            <a:endParaRPr sz="1800"/>
          </a:p>
        </p:txBody>
      </p:sp>
      <p:sp>
        <p:nvSpPr>
          <p:cNvPr id="1538" name="Google Shape;1538;p96"/>
          <p:cNvSpPr txBox="1"/>
          <p:nvPr>
            <p:ph type="body" idx="1"/>
          </p:nvPr>
        </p:nvSpPr>
        <p:spPr>
          <a:xfrm>
            <a:off x="322025" y="3441425"/>
            <a:ext cx="8420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no outcomes that either Sofia or Alex do not have in their sets. Neither Sofia nor Alex = ∅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39" name="Google Shape;1539;p96"/>
          <p:cNvCxnSpPr/>
          <p:nvPr/>
        </p:nvCxnSpPr>
        <p:spPr>
          <a:xfrm>
            <a:off x="3271025" y="4110150"/>
            <a:ext cx="1219800" cy="124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0" name="Google Shape;1540;p96"/>
          <p:cNvSpPr txBox="1"/>
          <p:nvPr>
            <p:ph type="body" idx="1"/>
          </p:nvPr>
        </p:nvSpPr>
        <p:spPr>
          <a:xfrm>
            <a:off x="4640475" y="4060700"/>
            <a:ext cx="63267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symbol means ‘empty set’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4" name="Shape 1544"/>
        <p:cNvGrpSpPr/>
        <p:nvPr/>
      </p:nvGrpSpPr>
      <p:grpSpPr>
        <a:xfrm>
          <a:off x="0" y="0"/>
          <a:ext cx="0" cy="0"/>
        </a:xfrm>
      </p:grpSpPr>
      <p:sp>
        <p:nvSpPr>
          <p:cNvPr id="1545" name="Google Shape;1545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 fair six-sided dice is rolled. Which list shows the outcomes for ‘rolling an even number and a factor of 20’?</a:t>
            </a:r>
            <a:endParaRPr/>
          </a:p>
        </p:txBody>
      </p:sp>
      <p:sp>
        <p:nvSpPr>
          <p:cNvPr id="1546" name="Google Shape;1546;p9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outcomes of two events</a:t>
            </a:r>
            <a:endParaRPr/>
          </a:p>
        </p:txBody>
      </p:sp>
      <p:sp>
        <p:nvSpPr>
          <p:cNvPr id="1547" name="Google Shape;1547;p9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{1, 2, 4, 5, 6} </a:t>
            </a:r>
            <a:endParaRPr/>
          </a:p>
        </p:txBody>
      </p:sp>
      <p:sp>
        <p:nvSpPr>
          <p:cNvPr id="1548" name="Google Shape;1548;p9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{2, 4}</a:t>
            </a:r>
            <a:endParaRPr/>
          </a:p>
        </p:txBody>
      </p:sp>
      <p:sp>
        <p:nvSpPr>
          <p:cNvPr id="1549" name="Google Shape;1549;p9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{3}</a:t>
            </a:r>
            <a:endParaRPr/>
          </a:p>
        </p:txBody>
      </p:sp>
      <p:pic>
        <p:nvPicPr>
          <p:cNvPr id="1550" name="Google Shape;155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108" y="27792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97"/>
          <p:cNvSpPr txBox="1"/>
          <p:nvPr>
            <p:ph type="body" idx="4294967295"/>
          </p:nvPr>
        </p:nvSpPr>
        <p:spPr>
          <a:xfrm>
            <a:off x="2887200" y="1744675"/>
            <a:ext cx="55518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the list of outcomes for even numbers or factors of 20.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2" name="Google Shape;1552;p97"/>
          <p:cNvSpPr txBox="1"/>
          <p:nvPr>
            <p:ph type="body" idx="4294967295"/>
          </p:nvPr>
        </p:nvSpPr>
        <p:spPr>
          <a:xfrm>
            <a:off x="2887200" y="3649675"/>
            <a:ext cx="55518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the list of outcomes that are neither even numbers nor factors of 20.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56" name="Shape 1556"/>
        <p:cNvGrpSpPr/>
        <p:nvPr/>
      </p:nvGrpSpPr>
      <p:grpSpPr>
        <a:xfrm>
          <a:off x="0" y="0"/>
          <a:ext cx="0" cy="0"/>
        </a:xfrm>
      </p:grpSpPr>
      <p:sp>
        <p:nvSpPr>
          <p:cNvPr id="1557" name="Google Shape;1557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Listing outcomes of two events</a:t>
            </a:r>
            <a:endParaRPr/>
          </a:p>
        </p:txBody>
      </p:sp>
      <p:sp>
        <p:nvSpPr>
          <p:cNvPr id="1558" name="Google Shape;1558;p98"/>
          <p:cNvSpPr txBox="1"/>
          <p:nvPr>
            <p:ph type="body" idx="1"/>
          </p:nvPr>
        </p:nvSpPr>
        <p:spPr>
          <a:xfrm>
            <a:off x="324000" y="759300"/>
            <a:ext cx="73185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Laura and Andeep are playing a game using this spinner. Laura wins a point if it lands on a </a:t>
            </a:r>
            <a:r>
              <a:rPr lang="en-GB" sz="1800">
                <a:solidFill>
                  <a:schemeClr val="accent2"/>
                </a:solidFill>
              </a:rPr>
              <a:t>factor of 10</a:t>
            </a:r>
            <a:r>
              <a:rPr lang="en-GB" sz="1800"/>
              <a:t> and Andeep wins a point if it lands on a </a:t>
            </a:r>
            <a:r>
              <a:rPr lang="en-GB" sz="1800">
                <a:solidFill>
                  <a:schemeClr val="accent2"/>
                </a:solidFill>
              </a:rPr>
              <a:t>prime number</a:t>
            </a:r>
            <a:r>
              <a:rPr lang="en-GB" sz="1800"/>
              <a:t>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List the outcomes that win Laura a point.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b) List the outcomes that win Andeep a point.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c) List the outcomes for when neither Laura nor Andeep win a point.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d) List the outcomes for when Laura and Andeep both win a point.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e) List the outcomes for when Laura wins a point, but Andeep does not.</a:t>
            </a:r>
            <a:endParaRPr sz="1800"/>
          </a:p>
        </p:txBody>
      </p:sp>
      <p:sp>
        <p:nvSpPr>
          <p:cNvPr id="1559" name="Google Shape;1559;p98"/>
          <p:cNvSpPr/>
          <p:nvPr/>
        </p:nvSpPr>
        <p:spPr>
          <a:xfrm>
            <a:off x="7159684" y="1404344"/>
            <a:ext cx="1404600" cy="1404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0" name="Google Shape;1560;p98"/>
          <p:cNvSpPr/>
          <p:nvPr/>
        </p:nvSpPr>
        <p:spPr>
          <a:xfrm rot="8649842">
            <a:off x="7172222" y="1416791"/>
            <a:ext cx="1379925" cy="137992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1" name="Google Shape;1561;p98"/>
          <p:cNvSpPr/>
          <p:nvPr/>
        </p:nvSpPr>
        <p:spPr>
          <a:xfrm rot="-8628908">
            <a:off x="7172089" y="1416674"/>
            <a:ext cx="1380099" cy="138009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2" name="Google Shape;1562;p98"/>
          <p:cNvSpPr/>
          <p:nvPr/>
        </p:nvSpPr>
        <p:spPr>
          <a:xfrm rot="-4309976">
            <a:off x="7172090" y="1417005"/>
            <a:ext cx="1379780" cy="137978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3" name="Google Shape;1563;p98"/>
          <p:cNvSpPr/>
          <p:nvPr/>
        </p:nvSpPr>
        <p:spPr>
          <a:xfrm>
            <a:off x="7172142" y="1416914"/>
            <a:ext cx="1380000" cy="13800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4" name="Google Shape;1564;p98"/>
          <p:cNvSpPr txBox="1"/>
          <p:nvPr/>
        </p:nvSpPr>
        <p:spPr>
          <a:xfrm>
            <a:off x="7740489" y="2373911"/>
            <a:ext cx="52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98"/>
          <p:cNvSpPr/>
          <p:nvPr/>
        </p:nvSpPr>
        <p:spPr>
          <a:xfrm rot="4312572">
            <a:off x="7172026" y="1416549"/>
            <a:ext cx="1380070" cy="138007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6" name="Google Shape;1566;p98"/>
          <p:cNvSpPr txBox="1"/>
          <p:nvPr/>
        </p:nvSpPr>
        <p:spPr>
          <a:xfrm>
            <a:off x="7473390" y="1553484"/>
            <a:ext cx="52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98"/>
          <p:cNvSpPr txBox="1"/>
          <p:nvPr/>
        </p:nvSpPr>
        <p:spPr>
          <a:xfrm>
            <a:off x="8015498" y="1553490"/>
            <a:ext cx="52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8"/>
          <p:cNvSpPr txBox="1"/>
          <p:nvPr/>
        </p:nvSpPr>
        <p:spPr>
          <a:xfrm>
            <a:off x="8078608" y="2058368"/>
            <a:ext cx="52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98"/>
          <p:cNvSpPr txBox="1"/>
          <p:nvPr/>
        </p:nvSpPr>
        <p:spPr>
          <a:xfrm>
            <a:off x="7284061" y="2058368"/>
            <a:ext cx="47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0" name="Google Shape;1570;p98"/>
          <p:cNvGrpSpPr/>
          <p:nvPr/>
        </p:nvGrpSpPr>
        <p:grpSpPr>
          <a:xfrm>
            <a:off x="7821670" y="1450627"/>
            <a:ext cx="77768" cy="676568"/>
            <a:chOff x="996050" y="213293"/>
            <a:chExt cx="93900" cy="909732"/>
          </a:xfrm>
        </p:grpSpPr>
        <p:cxnSp>
          <p:nvCxnSpPr>
            <p:cNvPr id="1571" name="Google Shape;1571;p9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72" name="Google Shape;1572;p9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6" name="Shape 1576"/>
        <p:cNvGrpSpPr/>
        <p:nvPr/>
      </p:nvGrpSpPr>
      <p:grpSpPr>
        <a:xfrm>
          <a:off x="0" y="0"/>
          <a:ext cx="0" cy="0"/>
        </a:xfrm>
      </p:grpSpPr>
      <p:sp>
        <p:nvSpPr>
          <p:cNvPr id="1577" name="Google Shape;1577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Listing outcomes of two events</a:t>
            </a:r>
            <a:endParaRPr/>
          </a:p>
        </p:txBody>
      </p:sp>
      <p:sp>
        <p:nvSpPr>
          <p:cNvPr id="1578" name="Google Shape;1578;p99"/>
          <p:cNvSpPr txBox="1"/>
          <p:nvPr>
            <p:ph type="body" idx="1"/>
          </p:nvPr>
        </p:nvSpPr>
        <p:spPr>
          <a:xfrm>
            <a:off x="324000" y="759300"/>
            <a:ext cx="73185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Laura and Andeep are playing a game using this spinner. Laura wins a point if it lands on a </a:t>
            </a:r>
            <a:r>
              <a:rPr lang="en-GB" sz="1800">
                <a:solidFill>
                  <a:schemeClr val="accent2"/>
                </a:solidFill>
              </a:rPr>
              <a:t>factor of 10</a:t>
            </a:r>
            <a:r>
              <a:rPr lang="en-GB" sz="1800"/>
              <a:t> and Andeep wins a point if it lands on a </a:t>
            </a:r>
            <a:r>
              <a:rPr lang="en-GB" sz="1800">
                <a:solidFill>
                  <a:schemeClr val="accent2"/>
                </a:solidFill>
              </a:rPr>
              <a:t>prime number</a:t>
            </a:r>
            <a:r>
              <a:rPr lang="en-GB" sz="1800"/>
              <a:t>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List the outcomes that win Laura a point.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b) List the outcomes that win Andeep a point.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c) List the outcomes for when neither Laura nor Andeep win a point.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d) List the outcomes for when Laura and Andeep both win a point.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e) List the outcomes for when Laura wins a point, but Andeep does not.</a:t>
            </a:r>
            <a:endParaRPr sz="1800"/>
          </a:p>
        </p:txBody>
      </p:sp>
      <p:sp>
        <p:nvSpPr>
          <p:cNvPr id="1579" name="Google Shape;1579;p99"/>
          <p:cNvSpPr/>
          <p:nvPr/>
        </p:nvSpPr>
        <p:spPr>
          <a:xfrm>
            <a:off x="7159684" y="1404344"/>
            <a:ext cx="1404600" cy="1404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80" name="Google Shape;1580;p99"/>
          <p:cNvSpPr/>
          <p:nvPr/>
        </p:nvSpPr>
        <p:spPr>
          <a:xfrm rot="8649842">
            <a:off x="7172222" y="1416791"/>
            <a:ext cx="1379925" cy="1379925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81" name="Google Shape;1581;p99"/>
          <p:cNvSpPr/>
          <p:nvPr/>
        </p:nvSpPr>
        <p:spPr>
          <a:xfrm rot="-8628908">
            <a:off x="7172089" y="1416674"/>
            <a:ext cx="1380099" cy="138009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82" name="Google Shape;1582;p99"/>
          <p:cNvSpPr/>
          <p:nvPr/>
        </p:nvSpPr>
        <p:spPr>
          <a:xfrm rot="-4309976">
            <a:off x="7172090" y="1417005"/>
            <a:ext cx="1379780" cy="137978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83" name="Google Shape;1583;p99"/>
          <p:cNvSpPr/>
          <p:nvPr/>
        </p:nvSpPr>
        <p:spPr>
          <a:xfrm>
            <a:off x="7172142" y="1416914"/>
            <a:ext cx="1380000" cy="13800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84" name="Google Shape;1584;p99"/>
          <p:cNvSpPr txBox="1"/>
          <p:nvPr/>
        </p:nvSpPr>
        <p:spPr>
          <a:xfrm>
            <a:off x="7740489" y="2373911"/>
            <a:ext cx="52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99"/>
          <p:cNvSpPr/>
          <p:nvPr/>
        </p:nvSpPr>
        <p:spPr>
          <a:xfrm rot="4312572">
            <a:off x="7172026" y="1416549"/>
            <a:ext cx="1380070" cy="138007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86" name="Google Shape;1586;p99"/>
          <p:cNvSpPr txBox="1"/>
          <p:nvPr/>
        </p:nvSpPr>
        <p:spPr>
          <a:xfrm>
            <a:off x="7473390" y="1553484"/>
            <a:ext cx="52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99"/>
          <p:cNvSpPr txBox="1"/>
          <p:nvPr/>
        </p:nvSpPr>
        <p:spPr>
          <a:xfrm>
            <a:off x="8015498" y="1553490"/>
            <a:ext cx="52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99"/>
          <p:cNvSpPr txBox="1"/>
          <p:nvPr/>
        </p:nvSpPr>
        <p:spPr>
          <a:xfrm>
            <a:off x="8078608" y="2058368"/>
            <a:ext cx="52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99"/>
          <p:cNvSpPr txBox="1"/>
          <p:nvPr/>
        </p:nvSpPr>
        <p:spPr>
          <a:xfrm>
            <a:off x="7284061" y="2058368"/>
            <a:ext cx="47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0" name="Google Shape;1590;p99"/>
          <p:cNvGrpSpPr/>
          <p:nvPr/>
        </p:nvGrpSpPr>
        <p:grpSpPr>
          <a:xfrm>
            <a:off x="7821670" y="1450627"/>
            <a:ext cx="77768" cy="676568"/>
            <a:chOff x="996050" y="213293"/>
            <a:chExt cx="93900" cy="909732"/>
          </a:xfrm>
        </p:grpSpPr>
        <p:cxnSp>
          <p:nvCxnSpPr>
            <p:cNvPr id="1591" name="Google Shape;1591;p9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92" name="Google Shape;1592;p9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593" name="Google Shape;1593;p99"/>
          <p:cNvSpPr txBox="1"/>
          <p:nvPr>
            <p:ph type="body" idx="4294967295"/>
          </p:nvPr>
        </p:nvSpPr>
        <p:spPr>
          <a:xfrm>
            <a:off x="5396800" y="1777200"/>
            <a:ext cx="1013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2,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4" name="Google Shape;1594;p99"/>
          <p:cNvSpPr txBox="1"/>
          <p:nvPr>
            <p:ph type="body" idx="4294967295"/>
          </p:nvPr>
        </p:nvSpPr>
        <p:spPr>
          <a:xfrm>
            <a:off x="5549200" y="2234400"/>
            <a:ext cx="1013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{2, 3,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5" name="Google Shape;1595;p99"/>
          <p:cNvSpPr txBox="1"/>
          <p:nvPr>
            <p:ph type="body" idx="4294967295"/>
          </p:nvPr>
        </p:nvSpPr>
        <p:spPr>
          <a:xfrm>
            <a:off x="1081750" y="3048600"/>
            <a:ext cx="1013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{4}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6" name="Google Shape;1596;p99"/>
          <p:cNvSpPr txBox="1"/>
          <p:nvPr>
            <p:ph type="body" idx="4294967295"/>
          </p:nvPr>
        </p:nvSpPr>
        <p:spPr>
          <a:xfrm>
            <a:off x="1013700" y="3717375"/>
            <a:ext cx="1013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{2,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7" name="Google Shape;1597;p99"/>
          <p:cNvSpPr txBox="1"/>
          <p:nvPr>
            <p:ph type="body" idx="4294967295"/>
          </p:nvPr>
        </p:nvSpPr>
        <p:spPr>
          <a:xfrm>
            <a:off x="1479300" y="4437600"/>
            <a:ext cx="10131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1" name="Shape 1601"/>
        <p:cNvGrpSpPr/>
        <p:nvPr/>
      </p:nvGrpSpPr>
      <p:grpSpPr>
        <a:xfrm>
          <a:off x="0" y="0"/>
          <a:ext cx="0" cy="0"/>
        </a:xfrm>
      </p:grpSpPr>
      <p:sp>
        <p:nvSpPr>
          <p:cNvPr id="1602" name="Google Shape;1602;p100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systematic listing is more likely to lead to error free lists than randomly listing outcomes.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outcomes for two events can be listed separately, as well as combined.</a:t>
            </a:r>
            <a:endParaRPr/>
          </a:p>
        </p:txBody>
      </p:sp>
      <p:sp>
        <p:nvSpPr>
          <p:cNvPr id="1603" name="Google Shape;1603;p10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lists to display outcomes for two events</a:t>
            </a:r>
            <a:endParaRPr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7" name="Shape 1607"/>
        <p:cNvGrpSpPr/>
        <p:nvPr/>
      </p:nvGrpSpPr>
      <p:grpSpPr>
        <a:xfrm>
          <a:off x="0" y="0"/>
          <a:ext cx="0" cy="0"/>
        </a:xfrm>
      </p:grpSpPr>
      <p:sp>
        <p:nvSpPr>
          <p:cNvPr id="1608" name="Google Shape;1608;p101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09" name="Google Shape;1609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418</Paragraphs>
  <Slides>39</Slides>
  <Notes>39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baseType="lpstr" size="47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Using lists to display outcomes for two events</vt:lpstr>
      <vt:lpstr>PowerPoint Presentation</vt:lpstr>
      <vt:lpstr>PowerPoint Presentation</vt:lpstr>
      <vt:lpstr>PowerPoint Presentation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Possible outcomes from a two stage trial</vt:lpstr>
      <vt:lpstr>Systematic listing</vt:lpstr>
      <vt:lpstr>Systematic listing</vt:lpstr>
      <vt:lpstr>Systematic listing</vt:lpstr>
      <vt:lpstr>Systematic listing</vt:lpstr>
      <vt:lpstr>Systematic listing</vt:lpstr>
      <vt:lpstr>Systematic listing</vt:lpstr>
      <vt:lpstr>Systematic listing</vt:lpstr>
      <vt:lpstr>Systematic listing</vt:lpstr>
      <vt:lpstr>Systematic listing</vt:lpstr>
      <vt:lpstr>Possible outcomes from a two stage trial</vt:lpstr>
      <vt:lpstr>Listing outcomes of two events</vt:lpstr>
      <vt:lpstr>Listing outcomes of two events</vt:lpstr>
      <vt:lpstr>Listing outcomes of two events</vt:lpstr>
      <vt:lpstr>Listing outcomes of two events</vt:lpstr>
      <vt:lpstr>Listing outcomes of two events</vt:lpstr>
      <vt:lpstr>Listing outcomes of two events</vt:lpstr>
      <vt:lpstr>A fair six-sided dice is rolled. Which list shows the outcomes for ‘rolling an even number and a factor of 20’?</vt:lpstr>
      <vt:lpstr>Listing outcomes of two events</vt:lpstr>
      <vt:lpstr>Listing outcomes of two events</vt:lpstr>
      <vt:lpstr>Using lists to display outcomes for two events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2024-02-26T15:42:19.107</cp:lastPrinted>
  <dcterms:created xsi:type="dcterms:W3CDTF">2024-02-26T15:42:19Z</dcterms:created>
  <dcterms:modified xsi:type="dcterms:W3CDTF">2024-02-26T15:42:36Z</dcterms:modified>
</cp:coreProperties>
</file>