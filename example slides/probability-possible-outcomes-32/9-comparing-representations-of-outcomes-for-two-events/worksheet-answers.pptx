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49DD02-3FFA-4982-8E74-3DDEB7A978FE}">
  <a:tblStyle styleId="{8749DD02-3FFA-4982-8E74-3DDEB7A978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843f9b4be_0_9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843f9b4b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880898"/>
            <a:ext cx="66240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Jacob and Laura submit homework for showing the outcomes of two events from a trial using different representations.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Jacob’s correctly written outcome table to circle any errors in the outcome tree and write down what is wrong with the outcome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1" y="1411250"/>
            <a:ext cx="6254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Transferring information between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552603" y="309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{8749DD02-3FFA-4982-8E74-3DDEB7A978FE}</a:tableStyleId>
              </a:tblPr>
              <a:tblGrid>
                <a:gridCol w="594750"/>
                <a:gridCol w="980675"/>
                <a:gridCol w="9806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          of 45 (F45)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factor   of 45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3, 5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1, 9, 15, 45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6" name="Google Shape;176;p20"/>
          <p:cNvCxnSpPr/>
          <p:nvPr/>
        </p:nvCxnSpPr>
        <p:spPr>
          <a:xfrm flipH="1" rot="10800000">
            <a:off x="3558030" y="3489157"/>
            <a:ext cx="5493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3558030" y="3974580"/>
            <a:ext cx="5493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0"/>
          <p:cNvSpPr txBox="1"/>
          <p:nvPr/>
        </p:nvSpPr>
        <p:spPr>
          <a:xfrm>
            <a:off x="4135097" y="3389671"/>
            <a:ext cx="6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135097" y="4147693"/>
            <a:ext cx="6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 flipH="1" rot="10800000">
            <a:off x="4696037" y="3292405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4696037" y="3518430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 txBox="1"/>
          <p:nvPr/>
        </p:nvSpPr>
        <p:spPr>
          <a:xfrm>
            <a:off x="5372768" y="3210344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372769" y="3619529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flipH="1" rot="10800000">
            <a:off x="4696037" y="4166454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4696037" y="4392478"/>
            <a:ext cx="6342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0"/>
          <p:cNvSpPr txBox="1"/>
          <p:nvPr/>
        </p:nvSpPr>
        <p:spPr>
          <a:xfrm>
            <a:off x="5372768" y="4084392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372769" y="4493578"/>
            <a:ext cx="7914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719114" y="3158896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1, 3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071735" y="3544711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5, 23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9114" y="4036541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9, 15, 45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071735" y="4422356"/>
            <a:ext cx="791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12, 21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400" y="6280825"/>
            <a:ext cx="6386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This outcome tree correctly shows two events from the trial of spinning a spinner with 8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this outcome tree to complete the Venn diagram that shows the same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flipH="1" rot="10800000">
            <a:off x="532380" y="7743700"/>
            <a:ext cx="3744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532380" y="8229122"/>
            <a:ext cx="374400" cy="3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0"/>
          <p:cNvSpPr txBox="1"/>
          <p:nvPr/>
        </p:nvSpPr>
        <p:spPr>
          <a:xfrm>
            <a:off x="934647" y="7644213"/>
            <a:ext cx="6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34647" y="8402235"/>
            <a:ext cx="6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flipH="1" rot="10800000">
            <a:off x="1549018" y="7546946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0"/>
          <p:cNvCxnSpPr/>
          <p:nvPr/>
        </p:nvCxnSpPr>
        <p:spPr>
          <a:xfrm>
            <a:off x="1549018" y="7772970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0"/>
          <p:cNvSpPr txBox="1"/>
          <p:nvPr/>
        </p:nvSpPr>
        <p:spPr>
          <a:xfrm>
            <a:off x="2106924" y="7464896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106925" y="7874079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 flipH="1" rot="10800000">
            <a:off x="1549018" y="8420994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>
            <a:off x="1549018" y="8647018"/>
            <a:ext cx="509100" cy="1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0"/>
          <p:cNvSpPr txBox="1"/>
          <p:nvPr/>
        </p:nvSpPr>
        <p:spPr>
          <a:xfrm>
            <a:off x="2106924" y="8338939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106925" y="8748122"/>
            <a:ext cx="461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512680" y="7413438"/>
            <a:ext cx="9249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169, 625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568250" y="7799254"/>
            <a:ext cx="923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400, 784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568250" y="8676899"/>
            <a:ext cx="9234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772, 1000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512680" y="8291083"/>
            <a:ext cx="924900" cy="268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89, 111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188875" y="7478300"/>
            <a:ext cx="2775900" cy="1493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442876" y="7714877"/>
            <a:ext cx="1517400" cy="1001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193456" y="7714877"/>
            <a:ext cx="1517400" cy="1001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553861" y="7580576"/>
            <a:ext cx="463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645727" y="7580574"/>
            <a:ext cx="1130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188853" y="7478306"/>
            <a:ext cx="170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76400" y="4995650"/>
            <a:ext cx="638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is not a prime number.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is also a factor of 45.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is missing - it should be a prime number that isn’t a factor of 45.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 should be removed, as it isn’t an outcome of the trial.</a:t>
            </a:r>
            <a:endParaRPr sz="1200"/>
          </a:p>
        </p:txBody>
      </p:sp>
      <p:sp>
        <p:nvSpPr>
          <p:cNvPr id="216" name="Google Shape;216;p20"/>
          <p:cNvSpPr/>
          <p:nvPr/>
        </p:nvSpPr>
        <p:spPr>
          <a:xfrm>
            <a:off x="6179516" y="3555417"/>
            <a:ext cx="258600" cy="2586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462462" y="4400554"/>
            <a:ext cx="258600" cy="2586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885275" y="3184000"/>
            <a:ext cx="258600" cy="2586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990537" y="7933875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109012" y="8282335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389184" y="8009145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389184" y="8349656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784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717962" y="7961880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772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17962" y="8305384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477649" y="8730756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226047" y="8730756"/>
            <a:ext cx="438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232" name="Google Shape;23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476400" y="870625"/>
            <a:ext cx="6615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outcome tree and outcome table show the same two-stage trial: two spinners that will be spun (once each) with their outcomes added together.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Both diagrams are accurate, but have some information missing.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outcome table shows the sample space of outcomes after addition. Complete both diagrams.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474757" y="4104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1"/>
          <p:cNvCxnSpPr/>
          <p:nvPr/>
        </p:nvCxnSpPr>
        <p:spPr>
          <a:xfrm flipH="1" rot="10800000">
            <a:off x="1229452" y="2315574"/>
            <a:ext cx="654900" cy="56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1"/>
          <p:cNvCxnSpPr/>
          <p:nvPr/>
        </p:nvCxnSpPr>
        <p:spPr>
          <a:xfrm>
            <a:off x="1229452" y="3041464"/>
            <a:ext cx="654900" cy="56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1260136" y="2963051"/>
            <a:ext cx="67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1"/>
          <p:cNvCxnSpPr/>
          <p:nvPr/>
        </p:nvCxnSpPr>
        <p:spPr>
          <a:xfrm flipH="1" rot="10800000">
            <a:off x="2205085" y="2165842"/>
            <a:ext cx="654900" cy="14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1"/>
          <p:cNvCxnSpPr/>
          <p:nvPr/>
        </p:nvCxnSpPr>
        <p:spPr>
          <a:xfrm>
            <a:off x="2205085" y="2350466"/>
            <a:ext cx="654900" cy="14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1"/>
          <p:cNvCxnSpPr/>
          <p:nvPr/>
        </p:nvCxnSpPr>
        <p:spPr>
          <a:xfrm flipH="1" rot="10800000">
            <a:off x="2205085" y="2797751"/>
            <a:ext cx="654900" cy="14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2205085" y="2982375"/>
            <a:ext cx="654900" cy="14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1"/>
          <p:cNvCxnSpPr/>
          <p:nvPr/>
        </p:nvCxnSpPr>
        <p:spPr>
          <a:xfrm flipH="1" rot="10800000">
            <a:off x="2205085" y="3429660"/>
            <a:ext cx="654900" cy="14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1"/>
          <p:cNvCxnSpPr/>
          <p:nvPr/>
        </p:nvCxnSpPr>
        <p:spPr>
          <a:xfrm>
            <a:off x="2205085" y="3614283"/>
            <a:ext cx="654900" cy="14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1"/>
          <p:cNvSpPr txBox="1"/>
          <p:nvPr/>
        </p:nvSpPr>
        <p:spPr>
          <a:xfrm>
            <a:off x="1941262" y="2203951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941262" y="2830854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941262" y="3457757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859885" y="2039000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2859885" y="2368897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2859885" y="2668406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859885" y="2998302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859885" y="3297812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2859885" y="3627708"/>
            <a:ext cx="207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3" name="Google Shape;253;p21"/>
          <p:cNvGraphicFramePr/>
          <p:nvPr/>
        </p:nvGraphicFramePr>
        <p:xfrm>
          <a:off x="4612978" y="227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{8749DD02-3FFA-4982-8E74-3DDEB7A978FE}</a:tableStyleId>
              </a:tblPr>
              <a:tblGrid>
                <a:gridCol w="600000"/>
                <a:gridCol w="600000"/>
                <a:gridCol w="600000"/>
                <a:gridCol w="600000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-1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21"/>
          <p:cNvSpPr txBox="1"/>
          <p:nvPr/>
        </p:nvSpPr>
        <p:spPr>
          <a:xfrm>
            <a:off x="1781273" y="4842692"/>
            <a:ext cx="5289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Jacob will spin this spinner and consider the events that the spinner will land on a negative number and an odd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each diagram for these two events.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Write a sentence explaining which diagram you prefer.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67998" y="4230650"/>
            <a:ext cx="6231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multiple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p21"/>
          <p:cNvCxnSpPr/>
          <p:nvPr/>
        </p:nvCxnSpPr>
        <p:spPr>
          <a:xfrm flipH="1" rot="10800000">
            <a:off x="2402172" y="8722847"/>
            <a:ext cx="267000" cy="37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7" name="Google Shape;257;p21"/>
          <p:cNvGraphicFramePr/>
          <p:nvPr/>
        </p:nvGraphicFramePr>
        <p:xfrm>
          <a:off x="781203" y="654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{8749DD02-3FFA-4982-8E74-3DDEB7A978FE}</a:tableStyleId>
              </a:tblPr>
              <a:tblGrid>
                <a:gridCol w="470450"/>
                <a:gridCol w="889275"/>
                <a:gridCol w="889275"/>
              </a:tblGrid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-1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1, 9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-4, -8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2, 4, 8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58" name="Google Shape;258;p21"/>
          <p:cNvCxnSpPr/>
          <p:nvPr/>
        </p:nvCxnSpPr>
        <p:spPr>
          <a:xfrm>
            <a:off x="2402172" y="9197912"/>
            <a:ext cx="267000" cy="37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1"/>
          <p:cNvSpPr txBox="1"/>
          <p:nvPr/>
        </p:nvSpPr>
        <p:spPr>
          <a:xfrm>
            <a:off x="2681333" y="8549270"/>
            <a:ext cx="76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 flipH="1" rot="10800000">
            <a:off x="3439799" y="8454205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/>
          <p:nvPr/>
        </p:nvCxnSpPr>
        <p:spPr>
          <a:xfrm>
            <a:off x="3439799" y="8675279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1"/>
          <p:cNvSpPr txBox="1"/>
          <p:nvPr/>
        </p:nvSpPr>
        <p:spPr>
          <a:xfrm>
            <a:off x="3704233" y="8373768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704234" y="8774233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 flipH="1" rot="10800000">
            <a:off x="3439664" y="9309631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1"/>
          <p:cNvCxnSpPr/>
          <p:nvPr/>
        </p:nvCxnSpPr>
        <p:spPr>
          <a:xfrm>
            <a:off x="3439664" y="9530705"/>
            <a:ext cx="237300" cy="17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1"/>
          <p:cNvSpPr txBox="1"/>
          <p:nvPr/>
        </p:nvSpPr>
        <p:spPr>
          <a:xfrm>
            <a:off x="3704233" y="9229189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704234" y="9629654"/>
            <a:ext cx="451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101343" y="8323407"/>
            <a:ext cx="6453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155730" y="8701002"/>
            <a:ext cx="6456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155730" y="9559948"/>
            <a:ext cx="6456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101343" y="9182353"/>
            <a:ext cx="645300" cy="262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2681333" y="9400805"/>
            <a:ext cx="76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positive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940603" y="6395689"/>
            <a:ext cx="2094600" cy="1590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132255" y="6595018"/>
            <a:ext cx="1144800" cy="1125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5698579" y="6595018"/>
            <a:ext cx="1144800" cy="1125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134477" y="6444130"/>
            <a:ext cx="900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854422" y="6986004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-1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319768" y="6737173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6387050" y="7247902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5355407" y="6853977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-8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394647" y="7338457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-4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467537" y="7720363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701816" y="5751015"/>
            <a:ext cx="76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4" name="Google Shape;284;p21"/>
          <p:cNvGrpSpPr/>
          <p:nvPr/>
        </p:nvGrpSpPr>
        <p:grpSpPr>
          <a:xfrm>
            <a:off x="454714" y="4706670"/>
            <a:ext cx="1255014" cy="1254847"/>
            <a:chOff x="723989" y="3525311"/>
            <a:chExt cx="1644841" cy="1644622"/>
          </a:xfrm>
        </p:grpSpPr>
        <p:sp>
          <p:nvSpPr>
            <p:cNvPr id="285" name="Google Shape;285;p21"/>
            <p:cNvSpPr/>
            <p:nvPr/>
          </p:nvSpPr>
          <p:spPr>
            <a:xfrm flipH="1">
              <a:off x="964778" y="3766083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 txBox="1"/>
            <p:nvPr/>
          </p:nvSpPr>
          <p:spPr>
            <a:xfrm flipH="1">
              <a:off x="1575631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-8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 flipH="1" rot="2700000">
              <a:off x="965010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1"/>
            <p:cNvSpPr/>
            <p:nvPr/>
          </p:nvSpPr>
          <p:spPr>
            <a:xfrm flipH="1" rot="5400000">
              <a:off x="965130" y="376628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 flipH="1" rot="8100000">
              <a:off x="965076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1"/>
            <p:cNvSpPr/>
            <p:nvPr/>
          </p:nvSpPr>
          <p:spPr>
            <a:xfrm flipH="1" rot="10800000">
              <a:off x="964941" y="3766061"/>
              <a:ext cx="1163100" cy="11631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 flipH="1" rot="-8100000">
              <a:off x="964901" y="3766157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 flipH="1" rot="-5400000">
              <a:off x="964889" y="3766157"/>
              <a:ext cx="1162800" cy="1162800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 flipH="1" rot="-2700000">
              <a:off x="964835" y="3766179"/>
              <a:ext cx="1162908" cy="1162908"/>
            </a:xfrm>
            <a:prstGeom prst="pie">
              <a:avLst>
                <a:gd fmla="val 13499686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4" name="Google Shape;294;p21"/>
            <p:cNvGrpSpPr/>
            <p:nvPr/>
          </p:nvGrpSpPr>
          <p:grpSpPr>
            <a:xfrm>
              <a:off x="1514964" y="3798835"/>
              <a:ext cx="65100" cy="576723"/>
              <a:chOff x="939769" y="2973011"/>
              <a:chExt cx="65100" cy="576723"/>
            </a:xfrm>
          </p:grpSpPr>
          <p:cxnSp>
            <p:nvCxnSpPr>
              <p:cNvPr id="295" name="Google Shape;295;p21"/>
              <p:cNvCxnSpPr/>
              <p:nvPr/>
            </p:nvCxnSpPr>
            <p:spPr>
              <a:xfrm rot="10800000">
                <a:off x="972365" y="2973011"/>
                <a:ext cx="0" cy="534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96" name="Google Shape;296;p21"/>
              <p:cNvSpPr/>
              <p:nvPr/>
            </p:nvSpPr>
            <p:spPr>
              <a:xfrm>
                <a:off x="939769" y="3490935"/>
                <a:ext cx="65100" cy="58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7" name="Google Shape;297;p21"/>
            <p:cNvSpPr txBox="1"/>
            <p:nvPr/>
          </p:nvSpPr>
          <p:spPr>
            <a:xfrm flipH="1">
              <a:off x="174639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-4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1"/>
            <p:cNvSpPr txBox="1"/>
            <p:nvPr/>
          </p:nvSpPr>
          <p:spPr>
            <a:xfrm flipH="1">
              <a:off x="174639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-1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1"/>
            <p:cNvSpPr txBox="1"/>
            <p:nvPr/>
          </p:nvSpPr>
          <p:spPr>
            <a:xfrm flipH="1">
              <a:off x="1543185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1"/>
            <p:cNvSpPr txBox="1"/>
            <p:nvPr/>
          </p:nvSpPr>
          <p:spPr>
            <a:xfrm>
              <a:off x="1229405" y="382334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1058638" y="4027273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" name="Google Shape;302;p21"/>
            <p:cNvSpPr txBox="1"/>
            <p:nvPr/>
          </p:nvSpPr>
          <p:spPr>
            <a:xfrm>
              <a:off x="1058638" y="4322316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" name="Google Shape;303;p21"/>
            <p:cNvSpPr txBox="1"/>
            <p:nvPr/>
          </p:nvSpPr>
          <p:spPr>
            <a:xfrm>
              <a:off x="1261850" y="4544100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4" name="Google Shape;304;p21"/>
          <p:cNvSpPr txBox="1"/>
          <p:nvPr/>
        </p:nvSpPr>
        <p:spPr>
          <a:xfrm>
            <a:off x="6010141" y="7720363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6586683" y="7720363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105151" y="8337373"/>
            <a:ext cx="6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-1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105151" y="9196320"/>
            <a:ext cx="6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1, 9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157783" y="8714969"/>
            <a:ext cx="6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-4, -8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157783" y="9573915"/>
            <a:ext cx="6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2, 4, 8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115025" y="6444130"/>
            <a:ext cx="900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negative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940593" y="6395689"/>
            <a:ext cx="1668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7" name="Google Shape;317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two events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476400" y="870625"/>
            <a:ext cx="4727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Sofia will choose a starter and a main course.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By choosing two different representations, write down the possible outcomes of Sofia’s meal.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476400" y="5614550"/>
            <a:ext cx="6615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Write a sentence explaining why you chose those two representations.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5616474" y="1042734"/>
            <a:ext cx="1475400" cy="1884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Leek Soup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Prawn Toast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Beef Lasagne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Shepherd's Pie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Chicken Burger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Tomato Curry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689675" y="5976025"/>
            <a:ext cx="55563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List - the number of possible combinations is small and lists are easy to write.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Outcome table/tree - makes it easy to see I have found all possible combinations.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517200" y="1861225"/>
            <a:ext cx="4188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representations could have been chosen: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listing, outcome table, and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outcome tree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Here’s an example of an outcome table that represents this two-stage trial.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25" name="Google Shape;325;p22"/>
          <p:cNvGraphicFramePr/>
          <p:nvPr/>
        </p:nvGraphicFramePr>
        <p:xfrm>
          <a:off x="1108853" y="3262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{8749DD02-3FFA-4982-8E74-3DDEB7A978FE}</a:tableStyleId>
              </a:tblPr>
              <a:tblGrid>
                <a:gridCol w="673550"/>
                <a:gridCol w="673550"/>
                <a:gridCol w="673550"/>
                <a:gridCol w="673550"/>
                <a:gridCol w="673550"/>
              </a:tblGrid>
              <a:tr h="39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LB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LS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LC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LT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PB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PS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PC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