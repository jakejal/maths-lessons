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B14D709-67CF-4AEA-B8F9-FF3D39F066EA}">
  <a:tblStyle styleId="{CB14D709-67CF-4AEA-B8F9-FF3D39F066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119AA301-71C9-4D9F-A7E1-64B13F113C20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7" Type="http://schemas.openxmlformats.org/officeDocument/2006/relationships/slide" Target="slides/slide4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28eb7b26e2b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28eb7b26e2b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28eb7b26e2b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28eb7b26e2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28eb7b26e2b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28eb7b26e2b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1f0eecac62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1f0eecac62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28eb7b26e2b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28eb7b26e2b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28eb7b26e2b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28eb7b26e2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28eb7b26e2b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28eb7b26e2b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28eb7b26e2b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28eb7b26e2b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28eb7b26e2b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28eb7b26e2b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28eb7b26e2b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28eb7b26e2b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28eb7b26e2b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28eb7b26e2b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28eb7b26e2b_0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28eb7b26e2b_0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28eb7b26e2b_0_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28eb7b26e2b_0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28eb7b26e2b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2" name="Google Shape;1072;g28eb7b26e2b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g28eb7b26e2b_0_5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0" name="Google Shape;1120;g28eb7b26e2b_0_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g28eb7b26e2b_0_5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7" name="Google Shape;1177;g28eb7b26e2b_0_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g28eb7b26e2b_0_6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5" name="Google Shape;1225;g28eb7b26e2b_0_6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g28eb7b26e2b_0_6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9" name="Google Shape;1249;g28eb7b26e2b_0_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g28eb7b26e2b_0_6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2" name="Google Shape;1272;g28eb7b26e2b_0_6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g28eb7b26e2b_0_7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5" name="Google Shape;1295;g28eb7b26e2b_0_7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g28eb7b26e2b_0_8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8" name="Google Shape;1318;g28eb7b26e2b_0_8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g28eb7b26e2b_0_8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6" name="Google Shape;1346;g28eb7b26e2b_0_8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g28eb7b26e2b_0_8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8" name="Google Shape;1368;g28eb7b26e2b_0_8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g28eb7b26e2b_0_9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4" name="Google Shape;1394;g28eb7b26e2b_0_9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g28eb7b26e2b_0_9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0" name="Google Shape;1430;g28eb7b26e2b_0_9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28eb7b26e2b_0_9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g28eb7b26e2b_0_9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g28eb7b26e2b_0_10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3" name="Google Shape;1463;g28eb7b26e2b_0_10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28eb7b26e2b_0_10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9" name="Google Shape;1519;g28eb7b26e2b_0_10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2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Google Shape;1573;g28eb7b26e2b_0_1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4" name="Google Shape;1574;g28eb7b26e2b_0_1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9" name="Shape 1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" name="Google Shape;1660;g28eb7b26e2b_0_1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1" name="Google Shape;1661;g28eb7b26e2b_0_1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5" name="Shape 1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Google Shape;1706;g28eb7b26e2b_0_1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7" name="Google Shape;1707;g28eb7b26e2b_0_1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28eb7b26e2b_0_1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3" name="Google Shape;1763;g28eb7b26e2b_0_1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0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Google Shape;1811;g28eb7b26e2b_0_1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2" name="Google Shape;1812;g28eb7b26e2b_0_1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8" name="Shape 1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9" name="Google Shape;1859;g28eb7b26e2b_0_1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0" name="Google Shape;1860;g28eb7b26e2b_0_1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6" name="Shape 1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7" name="Google Shape;1927;g28eb7b26e2b_0_14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8" name="Google Shape;1928;g28eb7b26e2b_0_1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4" name="Shape 1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5" name="Google Shape;1985;g28eb7b26e2b_0_1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6" name="Google Shape;1986;g28eb7b26e2b_0_1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4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" name="Google Shape;2035;g28eb7b26e2b_0_1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6" name="Google Shape;2036;g28eb7b26e2b_0_1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2" name="Shape 2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3" name="Google Shape;2043;g28eb7b26e2b_0_1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4" name="Google Shape;2044;g28eb7b26e2b_0_1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4" name="Shape 2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5" name="Google Shape;2105;g28eb7b26e2b_0_16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6" name="Google Shape;2106;g28eb7b26e2b_0_16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4" name="Shape 2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5" name="Google Shape;2115;g2b7e89b532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6" name="Google Shape;2116;g2b7e89b532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3" name="Shape 2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4" name="Google Shape;2124;g28eb7b26e2b_0_17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5" name="Google Shape;2125;g28eb7b26e2b_0_17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9" name="Shape 2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0" name="Google Shape;2130;g28eb7b26e2b_0_24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1" name="Google Shape;2131;g28eb7b26e2b_0_2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1.png"/><Relationship Id="rId4" Type="http://schemas.openxmlformats.org/officeDocument/2006/relationships/image" Target="../media/image15.png"/><Relationship Id="rId5" Type="http://schemas.openxmlformats.org/officeDocument/2006/relationships/image" Target="../media/image23.png"/><Relationship Id="rId6" Type="http://schemas.openxmlformats.org/officeDocument/2006/relationships/image" Target="../media/image18.png"/><Relationship Id="rId7" Type="http://schemas.openxmlformats.org/officeDocument/2006/relationships/image" Target="../media/image1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61.png"/><Relationship Id="rId5" Type="http://schemas.openxmlformats.org/officeDocument/2006/relationships/image" Target="../media/image33.png"/><Relationship Id="rId6" Type="http://schemas.openxmlformats.org/officeDocument/2006/relationships/image" Target="../media/image28.png"/><Relationship Id="rId7" Type="http://schemas.openxmlformats.org/officeDocument/2006/relationships/image" Target="../media/image19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61.png"/><Relationship Id="rId4" Type="http://schemas.openxmlformats.org/officeDocument/2006/relationships/image" Target="../media/image24.png"/><Relationship Id="rId9" Type="http://schemas.openxmlformats.org/officeDocument/2006/relationships/image" Target="../media/image19.png"/><Relationship Id="rId5" Type="http://schemas.openxmlformats.org/officeDocument/2006/relationships/image" Target="../media/image25.png"/><Relationship Id="rId6" Type="http://schemas.openxmlformats.org/officeDocument/2006/relationships/image" Target="../media/image31.png"/><Relationship Id="rId7" Type="http://schemas.openxmlformats.org/officeDocument/2006/relationships/image" Target="../media/image33.png"/><Relationship Id="rId8" Type="http://schemas.openxmlformats.org/officeDocument/2006/relationships/image" Target="../media/image2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61.png"/><Relationship Id="rId4" Type="http://schemas.openxmlformats.org/officeDocument/2006/relationships/image" Target="../media/image29.png"/><Relationship Id="rId11" Type="http://schemas.openxmlformats.org/officeDocument/2006/relationships/image" Target="../media/image19.png"/><Relationship Id="rId10" Type="http://schemas.openxmlformats.org/officeDocument/2006/relationships/image" Target="../media/image39.png"/><Relationship Id="rId9" Type="http://schemas.openxmlformats.org/officeDocument/2006/relationships/image" Target="../media/image28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31.png"/><Relationship Id="rId8" Type="http://schemas.openxmlformats.org/officeDocument/2006/relationships/image" Target="../media/image3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8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9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9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9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9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2" name="Google Shape;552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0" name="Google Shape;590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theme" Target="../theme/theme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1.png"/><Relationship Id="rId4" Type="http://schemas.openxmlformats.org/officeDocument/2006/relationships/image" Target="../media/image5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4.png"/><Relationship Id="rId4" Type="http://schemas.openxmlformats.org/officeDocument/2006/relationships/image" Target="../media/image5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4.png"/><Relationship Id="rId4" Type="http://schemas.openxmlformats.org/officeDocument/2006/relationships/image" Target="../media/image51.png"/><Relationship Id="rId5" Type="http://schemas.openxmlformats.org/officeDocument/2006/relationships/image" Target="../media/image5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1.png"/><Relationship Id="rId4" Type="http://schemas.openxmlformats.org/officeDocument/2006/relationships/image" Target="../media/image54.png"/><Relationship Id="rId5" Type="http://schemas.openxmlformats.org/officeDocument/2006/relationships/image" Target="../media/image5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1.png"/><Relationship Id="rId4" Type="http://schemas.openxmlformats.org/officeDocument/2006/relationships/image" Target="../media/image54.png"/><Relationship Id="rId5" Type="http://schemas.openxmlformats.org/officeDocument/2006/relationships/image" Target="../media/image53.png"/><Relationship Id="rId6" Type="http://schemas.openxmlformats.org/officeDocument/2006/relationships/image" Target="../media/image5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1.png"/><Relationship Id="rId4" Type="http://schemas.openxmlformats.org/officeDocument/2006/relationships/image" Target="../media/image5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1.png"/><Relationship Id="rId4" Type="http://schemas.openxmlformats.org/officeDocument/2006/relationships/image" Target="../media/image5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1.png"/><Relationship Id="rId4" Type="http://schemas.openxmlformats.org/officeDocument/2006/relationships/image" Target="../media/image5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1.png"/><Relationship Id="rId4" Type="http://schemas.openxmlformats.org/officeDocument/2006/relationships/image" Target="../media/image55.png"/><Relationship Id="rId5" Type="http://schemas.openxmlformats.org/officeDocument/2006/relationships/image" Target="../media/image5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8.png"/><Relationship Id="rId4" Type="http://schemas.openxmlformats.org/officeDocument/2006/relationships/image" Target="../media/image44.png"/><Relationship Id="rId5" Type="http://schemas.openxmlformats.org/officeDocument/2006/relationships/image" Target="../media/image5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8.png"/><Relationship Id="rId4" Type="http://schemas.openxmlformats.org/officeDocument/2006/relationships/image" Target="../media/image44.png"/><Relationship Id="rId5" Type="http://schemas.openxmlformats.org/officeDocument/2006/relationships/image" Target="../media/image5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6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representations of outcomes for two events</a:t>
            </a:r>
            <a:endParaRPr/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Probability: possible outcomes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63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64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identify the same outcome across all the different representations.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65"/>
          <p:cNvSpPr txBox="1"/>
          <p:nvPr>
            <p:ph idx="2" type="subTitle"/>
          </p:nvPr>
        </p:nvSpPr>
        <p:spPr>
          <a:xfrm>
            <a:off x="324000" y="810000"/>
            <a:ext cx="80439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 outcome table is a table that shows all the possible outcomes.</a:t>
            </a:r>
            <a:endParaRPr/>
          </a:p>
        </p:txBody>
      </p:sp>
      <p:sp>
        <p:nvSpPr>
          <p:cNvPr id="763" name="Google Shape;763;p65"/>
          <p:cNvSpPr txBox="1"/>
          <p:nvPr>
            <p:ph idx="6" type="subTitle"/>
          </p:nvPr>
        </p:nvSpPr>
        <p:spPr>
          <a:xfrm>
            <a:off x="324000" y="2791200"/>
            <a:ext cx="84960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Venn diagrams are a representation used to </a:t>
            </a:r>
            <a:r>
              <a:rPr lang="en-GB"/>
              <a:t>diagram</a:t>
            </a:r>
            <a:r>
              <a:rPr lang="en-GB"/>
              <a:t> statistical/probability questions. Commonly circles are used to represent events.  </a:t>
            </a:r>
            <a:endParaRPr/>
          </a:p>
        </p:txBody>
      </p:sp>
      <p:sp>
        <p:nvSpPr>
          <p:cNvPr id="764" name="Google Shape;764;p65"/>
          <p:cNvSpPr txBox="1"/>
          <p:nvPr>
            <p:ph idx="4" type="subTitle"/>
          </p:nvPr>
        </p:nvSpPr>
        <p:spPr>
          <a:xfrm>
            <a:off x="324000" y="1800600"/>
            <a:ext cx="84960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chemeClr val="lt1"/>
                </a:highlight>
              </a:rPr>
              <a:t>Tree diagrams are a representation used to diagram statistical/probability questions. Branches represent different possible events or outcomes.</a:t>
            </a:r>
            <a:endParaRPr/>
          </a:p>
        </p:txBody>
      </p:sp>
      <p:sp>
        <p:nvSpPr>
          <p:cNvPr id="765" name="Google Shape;765;p65"/>
          <p:cNvSpPr txBox="1"/>
          <p:nvPr>
            <p:ph idx="4" type="subTitle"/>
          </p:nvPr>
        </p:nvSpPr>
        <p:spPr>
          <a:xfrm>
            <a:off x="324000" y="3770156"/>
            <a:ext cx="84960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Each branch of an outcome tree shows a possible outcome from an event or from a stage of a trial. The full outcome tree shows all possible outcomes.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6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Transferring information between </a:t>
            </a:r>
            <a:r>
              <a:rPr lang="en-GB"/>
              <a:t>diagram</a:t>
            </a:r>
            <a:r>
              <a:rPr lang="en-GB"/>
              <a:t>s</a:t>
            </a:r>
            <a:endParaRPr/>
          </a:p>
        </p:txBody>
      </p:sp>
      <p:sp>
        <p:nvSpPr>
          <p:cNvPr id="771" name="Google Shape;771;p66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multiple </a:t>
            </a:r>
            <a:r>
              <a:rPr lang="en-GB"/>
              <a:t>diagram</a:t>
            </a:r>
            <a:r>
              <a:rPr lang="en-GB"/>
              <a:t>s</a:t>
            </a:r>
            <a:endParaRPr/>
          </a:p>
        </p:txBody>
      </p:sp>
      <p:sp>
        <p:nvSpPr>
          <p:cNvPr id="772" name="Google Shape;772;p66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representations of outcomes for two events</a:t>
            </a:r>
            <a:endParaRPr/>
          </a:p>
        </p:txBody>
      </p:sp>
      <p:pic>
        <p:nvPicPr>
          <p:cNvPr id="773" name="Google Shape;773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132" y="2059448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67"/>
          <p:cNvSpPr txBox="1"/>
          <p:nvPr/>
        </p:nvSpPr>
        <p:spPr>
          <a:xfrm>
            <a:off x="336750" y="629400"/>
            <a:ext cx="2359800" cy="2138100"/>
          </a:xfrm>
          <a:prstGeom prst="rect">
            <a:avLst/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Starters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Tomato Soup (T)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Garlic Bread </a:t>
            </a: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(G)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Mains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Pasta Carbonara (P)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Fish Pie (F)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Spinach Gnocchi (S)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79" name="Google Shape;779;p67"/>
          <p:cNvGrpSpPr/>
          <p:nvPr/>
        </p:nvGrpSpPr>
        <p:grpSpPr>
          <a:xfrm>
            <a:off x="4950696" y="834600"/>
            <a:ext cx="3320975" cy="1767651"/>
            <a:chOff x="4950696" y="682200"/>
            <a:chExt cx="3320975" cy="1767651"/>
          </a:xfrm>
        </p:grpSpPr>
        <p:pic>
          <p:nvPicPr>
            <p:cNvPr id="780" name="Google Shape;780;p67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>
              <a:off x="4950696" y="682200"/>
              <a:ext cx="3320975" cy="17676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1" name="Google Shape;781;p67"/>
            <p:cNvSpPr txBox="1"/>
            <p:nvPr/>
          </p:nvSpPr>
          <p:spPr>
            <a:xfrm>
              <a:off x="5036584" y="714518"/>
              <a:ext cx="3000000" cy="14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I’m able to take information about the stages of an event, like choosing a starter and main course from a menu…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82" name="Google Shape;782;p6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Transferring information between </a:t>
            </a:r>
            <a:r>
              <a:rPr lang="en-GB"/>
              <a:t>diagram</a:t>
            </a:r>
            <a:r>
              <a:rPr lang="en-GB"/>
              <a:t>s</a:t>
            </a:r>
            <a:endParaRPr/>
          </a:p>
        </p:txBody>
      </p:sp>
      <p:grpSp>
        <p:nvGrpSpPr>
          <p:cNvPr id="783" name="Google Shape;783;p67"/>
          <p:cNvGrpSpPr/>
          <p:nvPr/>
        </p:nvGrpSpPr>
        <p:grpSpPr>
          <a:xfrm>
            <a:off x="8137196" y="1935832"/>
            <a:ext cx="676200" cy="1040525"/>
            <a:chOff x="8137196" y="1935832"/>
            <a:chExt cx="676200" cy="1040525"/>
          </a:xfrm>
        </p:grpSpPr>
        <p:pic>
          <p:nvPicPr>
            <p:cNvPr id="784" name="Google Shape;784;p6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8209791" y="1935832"/>
              <a:ext cx="598139" cy="747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5" name="Google Shape;785;p67"/>
            <p:cNvSpPr txBox="1"/>
            <p:nvPr/>
          </p:nvSpPr>
          <p:spPr>
            <a:xfrm>
              <a:off x="8137196" y="2699157"/>
              <a:ext cx="676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Jun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86" name="Google Shape;786;p67"/>
          <p:cNvSpPr txBox="1"/>
          <p:nvPr/>
        </p:nvSpPr>
        <p:spPr>
          <a:xfrm>
            <a:off x="324000" y="2896350"/>
            <a:ext cx="5417700" cy="1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will choose a starter and a main course.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are the possible outcomes of their selection?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Transferring information between </a:t>
            </a:r>
            <a:r>
              <a:rPr lang="en-GB"/>
              <a:t>diagram</a:t>
            </a:r>
            <a:r>
              <a:rPr lang="en-GB"/>
              <a:t>s</a:t>
            </a:r>
            <a:endParaRPr/>
          </a:p>
        </p:txBody>
      </p:sp>
      <p:grpSp>
        <p:nvGrpSpPr>
          <p:cNvPr id="792" name="Google Shape;792;p68"/>
          <p:cNvGrpSpPr/>
          <p:nvPr/>
        </p:nvGrpSpPr>
        <p:grpSpPr>
          <a:xfrm>
            <a:off x="8137196" y="1935832"/>
            <a:ext cx="676200" cy="1040525"/>
            <a:chOff x="8137196" y="1935832"/>
            <a:chExt cx="676200" cy="1040525"/>
          </a:xfrm>
        </p:grpSpPr>
        <p:pic>
          <p:nvPicPr>
            <p:cNvPr id="793" name="Google Shape;793;p6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8209791" y="1935832"/>
              <a:ext cx="598139" cy="747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4" name="Google Shape;794;p68"/>
            <p:cNvSpPr txBox="1"/>
            <p:nvPr/>
          </p:nvSpPr>
          <p:spPr>
            <a:xfrm>
              <a:off x="8137196" y="2699157"/>
              <a:ext cx="676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Jun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95" name="Google Shape;795;p68"/>
          <p:cNvGrpSpPr/>
          <p:nvPr/>
        </p:nvGrpSpPr>
        <p:grpSpPr>
          <a:xfrm>
            <a:off x="2779363" y="747150"/>
            <a:ext cx="1726200" cy="1902600"/>
            <a:chOff x="3369600" y="2693025"/>
            <a:chExt cx="1726200" cy="1902600"/>
          </a:xfrm>
        </p:grpSpPr>
        <p:sp>
          <p:nvSpPr>
            <p:cNvPr id="796" name="Google Shape;796;p68"/>
            <p:cNvSpPr txBox="1"/>
            <p:nvPr/>
          </p:nvSpPr>
          <p:spPr>
            <a:xfrm>
              <a:off x="3369600" y="4220925"/>
              <a:ext cx="1726200" cy="37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sample space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7" name="Google Shape;797;p68"/>
            <p:cNvSpPr/>
            <p:nvPr/>
          </p:nvSpPr>
          <p:spPr>
            <a:xfrm>
              <a:off x="3784825" y="2693025"/>
              <a:ext cx="895800" cy="1527900"/>
            </a:xfrm>
            <a:prstGeom prst="roundRect">
              <a:avLst>
                <a:gd fmla="val 13314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TP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TF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GP</a:t>
              </a:r>
              <a:endParaRPr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GF</a:t>
              </a:r>
              <a:endParaRPr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GS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98" name="Google Shape;798;p68"/>
          <p:cNvGrpSpPr/>
          <p:nvPr/>
        </p:nvGrpSpPr>
        <p:grpSpPr>
          <a:xfrm>
            <a:off x="4827550" y="690350"/>
            <a:ext cx="3444121" cy="2086800"/>
            <a:chOff x="4827550" y="2976350"/>
            <a:chExt cx="3444121" cy="2086800"/>
          </a:xfrm>
        </p:grpSpPr>
        <p:sp>
          <p:nvSpPr>
            <p:cNvPr id="799" name="Google Shape;799;p68"/>
            <p:cNvSpPr/>
            <p:nvPr/>
          </p:nvSpPr>
          <p:spPr>
            <a:xfrm>
              <a:off x="4827550" y="2976350"/>
              <a:ext cx="3381600" cy="2086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800" name="Google Shape;800;p68"/>
            <p:cNvPicPr preferRelativeResize="0"/>
            <p:nvPr/>
          </p:nvPicPr>
          <p:blipFill rotWithShape="1">
            <a:blip r:embed="rId4">
              <a:alphaModFix/>
            </a:blip>
            <a:srcRect b="43690" l="0" r="57905" t="0"/>
            <a:stretch/>
          </p:blipFill>
          <p:spPr>
            <a:xfrm>
              <a:off x="4950696" y="3114350"/>
              <a:ext cx="3320975" cy="17676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1" name="Google Shape;801;p68"/>
            <p:cNvSpPr txBox="1"/>
            <p:nvPr/>
          </p:nvSpPr>
          <p:spPr>
            <a:xfrm>
              <a:off x="5036584" y="3146668"/>
              <a:ext cx="3000000" cy="14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And list out all the possible outcomes,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02" name="Google Shape;802;p68"/>
          <p:cNvSpPr txBox="1"/>
          <p:nvPr/>
        </p:nvSpPr>
        <p:spPr>
          <a:xfrm>
            <a:off x="5036575" y="1413156"/>
            <a:ext cx="30000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or place them in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 outcome table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,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3" name="Google Shape;803;p68"/>
          <p:cNvSpPr txBox="1"/>
          <p:nvPr/>
        </p:nvSpPr>
        <p:spPr>
          <a:xfrm>
            <a:off x="5036575" y="1975217"/>
            <a:ext cx="3000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or in an outcome tree…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04" name="Google Shape;804;p68"/>
          <p:cNvGrpSpPr/>
          <p:nvPr/>
        </p:nvGrpSpPr>
        <p:grpSpPr>
          <a:xfrm>
            <a:off x="4331166" y="2510697"/>
            <a:ext cx="3203859" cy="2250300"/>
            <a:chOff x="4178766" y="2663097"/>
            <a:chExt cx="3203859" cy="2250300"/>
          </a:xfrm>
        </p:grpSpPr>
        <p:sp>
          <p:nvSpPr>
            <p:cNvPr id="805" name="Google Shape;805;p68"/>
            <p:cNvSpPr/>
            <p:nvPr/>
          </p:nvSpPr>
          <p:spPr>
            <a:xfrm>
              <a:off x="6486825" y="2663097"/>
              <a:ext cx="895800" cy="2250300"/>
            </a:xfrm>
            <a:prstGeom prst="roundRect">
              <a:avLst>
                <a:gd fmla="val 13314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TP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TF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GP</a:t>
              </a:r>
              <a:endParaRPr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GF</a:t>
              </a:r>
              <a:endParaRPr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GS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806" name="Google Shape;806;p68"/>
            <p:cNvGrpSpPr/>
            <p:nvPr/>
          </p:nvGrpSpPr>
          <p:grpSpPr>
            <a:xfrm>
              <a:off x="4178766" y="2673199"/>
              <a:ext cx="2308058" cy="2077025"/>
              <a:chOff x="4712166" y="2673199"/>
              <a:chExt cx="2308058" cy="2077025"/>
            </a:xfrm>
          </p:grpSpPr>
          <p:grpSp>
            <p:nvGrpSpPr>
              <p:cNvPr id="807" name="Google Shape;807;p68"/>
              <p:cNvGrpSpPr/>
              <p:nvPr/>
            </p:nvGrpSpPr>
            <p:grpSpPr>
              <a:xfrm>
                <a:off x="4712166" y="2805701"/>
                <a:ext cx="1867477" cy="1808769"/>
                <a:chOff x="531189" y="2507322"/>
                <a:chExt cx="1744490" cy="1840799"/>
              </a:xfrm>
            </p:grpSpPr>
            <p:grpSp>
              <p:nvGrpSpPr>
                <p:cNvPr id="808" name="Google Shape;808;p68"/>
                <p:cNvGrpSpPr/>
                <p:nvPr/>
              </p:nvGrpSpPr>
              <p:grpSpPr>
                <a:xfrm>
                  <a:off x="531189" y="2841325"/>
                  <a:ext cx="657559" cy="1155053"/>
                  <a:chOff x="531205" y="2439944"/>
                  <a:chExt cx="704100" cy="1957717"/>
                </a:xfrm>
              </p:grpSpPr>
              <p:cxnSp>
                <p:nvCxnSpPr>
                  <p:cNvPr id="809" name="Google Shape;809;p68"/>
                  <p:cNvCxnSpPr/>
                  <p:nvPr/>
                </p:nvCxnSpPr>
                <p:spPr>
                  <a:xfrm flipH="1" rot="10800000">
                    <a:off x="531205" y="2439944"/>
                    <a:ext cx="704100" cy="8589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810" name="Google Shape;810;p68"/>
                  <p:cNvCxnSpPr/>
                  <p:nvPr/>
                </p:nvCxnSpPr>
                <p:spPr>
                  <a:xfrm>
                    <a:off x="531205" y="3538762"/>
                    <a:ext cx="704100" cy="8589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811" name="Google Shape;811;p68"/>
                <p:cNvGrpSpPr/>
                <p:nvPr/>
              </p:nvGrpSpPr>
              <p:grpSpPr>
                <a:xfrm>
                  <a:off x="1567974" y="2507322"/>
                  <a:ext cx="707706" cy="683164"/>
                  <a:chOff x="1597330" y="2437981"/>
                  <a:chExt cx="757796" cy="683164"/>
                </a:xfrm>
              </p:grpSpPr>
              <p:cxnSp>
                <p:nvCxnSpPr>
                  <p:cNvPr id="812" name="Google Shape;812;p68"/>
                  <p:cNvCxnSpPr/>
                  <p:nvPr/>
                </p:nvCxnSpPr>
                <p:spPr>
                  <a:xfrm flipH="1" rot="10800000">
                    <a:off x="1597330" y="2437981"/>
                    <a:ext cx="704100" cy="2997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813" name="Google Shape;813;p68"/>
                  <p:cNvCxnSpPr/>
                  <p:nvPr/>
                </p:nvCxnSpPr>
                <p:spPr>
                  <a:xfrm>
                    <a:off x="1597330" y="2821445"/>
                    <a:ext cx="704100" cy="2997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814" name="Google Shape;814;p68"/>
                  <p:cNvCxnSpPr/>
                  <p:nvPr/>
                </p:nvCxnSpPr>
                <p:spPr>
                  <a:xfrm>
                    <a:off x="1630326" y="2780029"/>
                    <a:ext cx="72480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815" name="Google Shape;815;p68"/>
                <p:cNvGrpSpPr/>
                <p:nvPr/>
              </p:nvGrpSpPr>
              <p:grpSpPr>
                <a:xfrm>
                  <a:off x="1567974" y="3664957"/>
                  <a:ext cx="707706" cy="683164"/>
                  <a:chOff x="1597330" y="2437981"/>
                  <a:chExt cx="757796" cy="683164"/>
                </a:xfrm>
              </p:grpSpPr>
              <p:cxnSp>
                <p:nvCxnSpPr>
                  <p:cNvPr id="816" name="Google Shape;816;p68"/>
                  <p:cNvCxnSpPr/>
                  <p:nvPr/>
                </p:nvCxnSpPr>
                <p:spPr>
                  <a:xfrm flipH="1" rot="10800000">
                    <a:off x="1597330" y="2437981"/>
                    <a:ext cx="704100" cy="2997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817" name="Google Shape;817;p68"/>
                  <p:cNvCxnSpPr/>
                  <p:nvPr/>
                </p:nvCxnSpPr>
                <p:spPr>
                  <a:xfrm>
                    <a:off x="1597330" y="2821445"/>
                    <a:ext cx="704100" cy="2997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818" name="Google Shape;818;p68"/>
                  <p:cNvCxnSpPr/>
                  <p:nvPr/>
                </p:nvCxnSpPr>
                <p:spPr>
                  <a:xfrm>
                    <a:off x="1630326" y="2780029"/>
                    <a:ext cx="72480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sp>
            <p:nvSpPr>
              <p:cNvPr id="819" name="Google Shape;819;p68"/>
              <p:cNvSpPr txBox="1"/>
              <p:nvPr/>
            </p:nvSpPr>
            <p:spPr>
              <a:xfrm>
                <a:off x="5414638" y="3002550"/>
                <a:ext cx="433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T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20" name="Google Shape;820;p68"/>
              <p:cNvSpPr txBox="1"/>
              <p:nvPr/>
            </p:nvSpPr>
            <p:spPr>
              <a:xfrm>
                <a:off x="5414638" y="4143673"/>
                <a:ext cx="433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G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21" name="Google Shape;821;p68"/>
              <p:cNvSpPr txBox="1"/>
              <p:nvPr/>
            </p:nvSpPr>
            <p:spPr>
              <a:xfrm>
                <a:off x="6506023" y="2673199"/>
                <a:ext cx="514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P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22" name="Google Shape;822;p68"/>
              <p:cNvSpPr txBox="1"/>
              <p:nvPr/>
            </p:nvSpPr>
            <p:spPr>
              <a:xfrm>
                <a:off x="6506023" y="3002549"/>
                <a:ext cx="514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F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23" name="Google Shape;823;p68"/>
              <p:cNvSpPr txBox="1"/>
              <p:nvPr/>
            </p:nvSpPr>
            <p:spPr>
              <a:xfrm>
                <a:off x="6506023" y="3331899"/>
                <a:ext cx="514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S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24" name="Google Shape;824;p68"/>
              <p:cNvSpPr txBox="1"/>
              <p:nvPr/>
            </p:nvSpPr>
            <p:spPr>
              <a:xfrm>
                <a:off x="6506023" y="3814324"/>
                <a:ext cx="514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P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25" name="Google Shape;825;p68"/>
              <p:cNvSpPr txBox="1"/>
              <p:nvPr/>
            </p:nvSpPr>
            <p:spPr>
              <a:xfrm>
                <a:off x="6506023" y="4143674"/>
                <a:ext cx="514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F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26" name="Google Shape;826;p68"/>
              <p:cNvSpPr txBox="1"/>
              <p:nvPr/>
            </p:nvSpPr>
            <p:spPr>
              <a:xfrm>
                <a:off x="6506023" y="4473024"/>
                <a:ext cx="514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S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aphicFrame>
        <p:nvGraphicFramePr>
          <p:cNvPr id="827" name="Google Shape;827;p68"/>
          <p:cNvGraphicFramePr/>
          <p:nvPr/>
        </p:nvGraphicFramePr>
        <p:xfrm>
          <a:off x="412950" y="310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{CB14D709-67CF-4AEA-B8F9-FF3D39F066EA}</a:tableStyleId>
              </a:tblPr>
              <a:tblGrid>
                <a:gridCol w="800975"/>
                <a:gridCol w="800975"/>
                <a:gridCol w="800975"/>
                <a:gridCol w="800975"/>
              </a:tblGrid>
              <a:tr h="46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</a:tr>
              <a:tr h="46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TP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GP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GF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28" name="Google Shape;828;p68"/>
          <p:cNvSpPr txBox="1"/>
          <p:nvPr/>
        </p:nvSpPr>
        <p:spPr>
          <a:xfrm>
            <a:off x="336750" y="629400"/>
            <a:ext cx="2359800" cy="2138100"/>
          </a:xfrm>
          <a:prstGeom prst="rect">
            <a:avLst/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Starters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Tomato Soup (T)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Garlic Bread </a:t>
            </a: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(G)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Mains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Pasta Carbonara (P)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Fish Pie (F)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Spinach Gnocchi (S)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Transferring information between </a:t>
            </a:r>
            <a:r>
              <a:rPr lang="en-GB"/>
              <a:t>diagram</a:t>
            </a:r>
            <a:r>
              <a:rPr lang="en-GB"/>
              <a:t>s</a:t>
            </a:r>
            <a:endParaRPr/>
          </a:p>
        </p:txBody>
      </p:sp>
      <p:grpSp>
        <p:nvGrpSpPr>
          <p:cNvPr id="834" name="Google Shape;834;p69"/>
          <p:cNvGrpSpPr/>
          <p:nvPr/>
        </p:nvGrpSpPr>
        <p:grpSpPr>
          <a:xfrm>
            <a:off x="8137196" y="1935832"/>
            <a:ext cx="676200" cy="1040525"/>
            <a:chOff x="8137196" y="1935832"/>
            <a:chExt cx="676200" cy="1040525"/>
          </a:xfrm>
        </p:grpSpPr>
        <p:pic>
          <p:nvPicPr>
            <p:cNvPr id="835" name="Google Shape;835;p6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8209791" y="1935832"/>
              <a:ext cx="598139" cy="747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6" name="Google Shape;836;p69"/>
            <p:cNvSpPr txBox="1"/>
            <p:nvPr/>
          </p:nvSpPr>
          <p:spPr>
            <a:xfrm>
              <a:off x="8137196" y="2699157"/>
              <a:ext cx="676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Jun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37" name="Google Shape;837;p69"/>
          <p:cNvGrpSpPr/>
          <p:nvPr/>
        </p:nvGrpSpPr>
        <p:grpSpPr>
          <a:xfrm>
            <a:off x="4827550" y="690350"/>
            <a:ext cx="3444121" cy="2086800"/>
            <a:chOff x="4827550" y="2976350"/>
            <a:chExt cx="3444121" cy="2086800"/>
          </a:xfrm>
        </p:grpSpPr>
        <p:sp>
          <p:nvSpPr>
            <p:cNvPr id="838" name="Google Shape;838;p69"/>
            <p:cNvSpPr/>
            <p:nvPr/>
          </p:nvSpPr>
          <p:spPr>
            <a:xfrm>
              <a:off x="4827550" y="2976350"/>
              <a:ext cx="3381600" cy="2086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839" name="Google Shape;839;p69"/>
            <p:cNvPicPr preferRelativeResize="0"/>
            <p:nvPr/>
          </p:nvPicPr>
          <p:blipFill rotWithShape="1">
            <a:blip r:embed="rId4">
              <a:alphaModFix/>
            </a:blip>
            <a:srcRect b="43690" l="0" r="57905" t="0"/>
            <a:stretch/>
          </p:blipFill>
          <p:spPr>
            <a:xfrm>
              <a:off x="4950696" y="3114350"/>
              <a:ext cx="3320975" cy="17676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0" name="Google Shape;840;p69"/>
            <p:cNvSpPr txBox="1"/>
            <p:nvPr/>
          </p:nvSpPr>
          <p:spPr>
            <a:xfrm>
              <a:off x="5036584" y="3146668"/>
              <a:ext cx="3000000" cy="14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But is it possible to use one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diagram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to finish a different one that isn’t completed, without the actual menu to help us?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41" name="Google Shape;841;p69"/>
          <p:cNvGrpSpPr/>
          <p:nvPr/>
        </p:nvGrpSpPr>
        <p:grpSpPr>
          <a:xfrm>
            <a:off x="4331166" y="2510697"/>
            <a:ext cx="3203859" cy="2250300"/>
            <a:chOff x="4178766" y="2663097"/>
            <a:chExt cx="3203859" cy="2250300"/>
          </a:xfrm>
        </p:grpSpPr>
        <p:sp>
          <p:nvSpPr>
            <p:cNvPr id="842" name="Google Shape;842;p69"/>
            <p:cNvSpPr/>
            <p:nvPr/>
          </p:nvSpPr>
          <p:spPr>
            <a:xfrm>
              <a:off x="6486825" y="2663097"/>
              <a:ext cx="895800" cy="2250300"/>
            </a:xfrm>
            <a:prstGeom prst="roundRect">
              <a:avLst>
                <a:gd fmla="val 13314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TP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GF</a:t>
              </a:r>
              <a:endParaRPr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843" name="Google Shape;843;p69"/>
            <p:cNvGrpSpPr/>
            <p:nvPr/>
          </p:nvGrpSpPr>
          <p:grpSpPr>
            <a:xfrm>
              <a:off x="4178766" y="2673199"/>
              <a:ext cx="2308058" cy="2077025"/>
              <a:chOff x="4712166" y="2673199"/>
              <a:chExt cx="2308058" cy="2077025"/>
            </a:xfrm>
          </p:grpSpPr>
          <p:grpSp>
            <p:nvGrpSpPr>
              <p:cNvPr id="844" name="Google Shape;844;p69"/>
              <p:cNvGrpSpPr/>
              <p:nvPr/>
            </p:nvGrpSpPr>
            <p:grpSpPr>
              <a:xfrm>
                <a:off x="4712166" y="2805701"/>
                <a:ext cx="1867477" cy="1808769"/>
                <a:chOff x="531189" y="2507322"/>
                <a:chExt cx="1744490" cy="1840799"/>
              </a:xfrm>
            </p:grpSpPr>
            <p:grpSp>
              <p:nvGrpSpPr>
                <p:cNvPr id="845" name="Google Shape;845;p69"/>
                <p:cNvGrpSpPr/>
                <p:nvPr/>
              </p:nvGrpSpPr>
              <p:grpSpPr>
                <a:xfrm>
                  <a:off x="531189" y="2841325"/>
                  <a:ext cx="657559" cy="1155053"/>
                  <a:chOff x="531205" y="2439944"/>
                  <a:chExt cx="704100" cy="1957717"/>
                </a:xfrm>
              </p:grpSpPr>
              <p:cxnSp>
                <p:nvCxnSpPr>
                  <p:cNvPr id="846" name="Google Shape;846;p69"/>
                  <p:cNvCxnSpPr/>
                  <p:nvPr/>
                </p:nvCxnSpPr>
                <p:spPr>
                  <a:xfrm flipH="1" rot="10800000">
                    <a:off x="531205" y="2439944"/>
                    <a:ext cx="704100" cy="8589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847" name="Google Shape;847;p69"/>
                  <p:cNvCxnSpPr/>
                  <p:nvPr/>
                </p:nvCxnSpPr>
                <p:spPr>
                  <a:xfrm>
                    <a:off x="531205" y="3538762"/>
                    <a:ext cx="704100" cy="8589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848" name="Google Shape;848;p69"/>
                <p:cNvGrpSpPr/>
                <p:nvPr/>
              </p:nvGrpSpPr>
              <p:grpSpPr>
                <a:xfrm>
                  <a:off x="1567974" y="2507322"/>
                  <a:ext cx="707706" cy="683164"/>
                  <a:chOff x="1597330" y="2437981"/>
                  <a:chExt cx="757796" cy="683164"/>
                </a:xfrm>
              </p:grpSpPr>
              <p:cxnSp>
                <p:nvCxnSpPr>
                  <p:cNvPr id="849" name="Google Shape;849;p69"/>
                  <p:cNvCxnSpPr/>
                  <p:nvPr/>
                </p:nvCxnSpPr>
                <p:spPr>
                  <a:xfrm flipH="1" rot="10800000">
                    <a:off x="1597330" y="2437981"/>
                    <a:ext cx="704100" cy="2997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850" name="Google Shape;850;p69"/>
                  <p:cNvCxnSpPr/>
                  <p:nvPr/>
                </p:nvCxnSpPr>
                <p:spPr>
                  <a:xfrm>
                    <a:off x="1597330" y="2821445"/>
                    <a:ext cx="704100" cy="2997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851" name="Google Shape;851;p69"/>
                  <p:cNvCxnSpPr/>
                  <p:nvPr/>
                </p:nvCxnSpPr>
                <p:spPr>
                  <a:xfrm>
                    <a:off x="1630326" y="2780029"/>
                    <a:ext cx="72480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852" name="Google Shape;852;p69"/>
                <p:cNvGrpSpPr/>
                <p:nvPr/>
              </p:nvGrpSpPr>
              <p:grpSpPr>
                <a:xfrm>
                  <a:off x="1567974" y="3664957"/>
                  <a:ext cx="707706" cy="683164"/>
                  <a:chOff x="1597330" y="2437981"/>
                  <a:chExt cx="757796" cy="683164"/>
                </a:xfrm>
              </p:grpSpPr>
              <p:cxnSp>
                <p:nvCxnSpPr>
                  <p:cNvPr id="853" name="Google Shape;853;p69"/>
                  <p:cNvCxnSpPr/>
                  <p:nvPr/>
                </p:nvCxnSpPr>
                <p:spPr>
                  <a:xfrm flipH="1" rot="10800000">
                    <a:off x="1597330" y="2437981"/>
                    <a:ext cx="704100" cy="2997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854" name="Google Shape;854;p69"/>
                  <p:cNvCxnSpPr/>
                  <p:nvPr/>
                </p:nvCxnSpPr>
                <p:spPr>
                  <a:xfrm>
                    <a:off x="1597330" y="2821445"/>
                    <a:ext cx="704100" cy="2997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855" name="Google Shape;855;p69"/>
                  <p:cNvCxnSpPr/>
                  <p:nvPr/>
                </p:nvCxnSpPr>
                <p:spPr>
                  <a:xfrm>
                    <a:off x="1630326" y="2780029"/>
                    <a:ext cx="72480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sp>
            <p:nvSpPr>
              <p:cNvPr id="856" name="Google Shape;856;p69"/>
              <p:cNvSpPr txBox="1"/>
              <p:nvPr/>
            </p:nvSpPr>
            <p:spPr>
              <a:xfrm>
                <a:off x="5414638" y="3002550"/>
                <a:ext cx="433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57" name="Google Shape;857;p69"/>
              <p:cNvSpPr txBox="1"/>
              <p:nvPr/>
            </p:nvSpPr>
            <p:spPr>
              <a:xfrm>
                <a:off x="5414638" y="4143673"/>
                <a:ext cx="433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58" name="Google Shape;858;p69"/>
              <p:cNvSpPr txBox="1"/>
              <p:nvPr/>
            </p:nvSpPr>
            <p:spPr>
              <a:xfrm>
                <a:off x="6506023" y="2673199"/>
                <a:ext cx="514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59" name="Google Shape;859;p69"/>
              <p:cNvSpPr txBox="1"/>
              <p:nvPr/>
            </p:nvSpPr>
            <p:spPr>
              <a:xfrm>
                <a:off x="6506023" y="3002549"/>
                <a:ext cx="514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60" name="Google Shape;860;p69"/>
              <p:cNvSpPr txBox="1"/>
              <p:nvPr/>
            </p:nvSpPr>
            <p:spPr>
              <a:xfrm>
                <a:off x="6506023" y="3331899"/>
                <a:ext cx="514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61" name="Google Shape;861;p69"/>
              <p:cNvSpPr txBox="1"/>
              <p:nvPr/>
            </p:nvSpPr>
            <p:spPr>
              <a:xfrm>
                <a:off x="6506023" y="3814324"/>
                <a:ext cx="514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62" name="Google Shape;862;p69"/>
              <p:cNvSpPr txBox="1"/>
              <p:nvPr/>
            </p:nvSpPr>
            <p:spPr>
              <a:xfrm>
                <a:off x="6506023" y="4143674"/>
                <a:ext cx="514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FP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63" name="Google Shape;863;p69"/>
              <p:cNvSpPr txBox="1"/>
              <p:nvPr/>
            </p:nvSpPr>
            <p:spPr>
              <a:xfrm>
                <a:off x="6506023" y="4473024"/>
                <a:ext cx="514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864" name="Google Shape;864;p69"/>
          <p:cNvGrpSpPr/>
          <p:nvPr/>
        </p:nvGrpSpPr>
        <p:grpSpPr>
          <a:xfrm flipH="1">
            <a:off x="781425" y="676887"/>
            <a:ext cx="3458700" cy="1925400"/>
            <a:chOff x="4400850" y="5363550"/>
            <a:chExt cx="3458700" cy="1925400"/>
          </a:xfrm>
        </p:grpSpPr>
        <p:sp>
          <p:nvSpPr>
            <p:cNvPr id="865" name="Google Shape;865;p69"/>
            <p:cNvSpPr/>
            <p:nvPr/>
          </p:nvSpPr>
          <p:spPr>
            <a:xfrm>
              <a:off x="4400850" y="5363550"/>
              <a:ext cx="3458700" cy="1925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866" name="Google Shape;866;p69"/>
            <p:cNvPicPr preferRelativeResize="0"/>
            <p:nvPr/>
          </p:nvPicPr>
          <p:blipFill rotWithShape="1">
            <a:blip r:embed="rId4">
              <a:alphaModFix/>
            </a:blip>
            <a:srcRect b="43690" l="0" r="57905" t="0"/>
            <a:stretch/>
          </p:blipFill>
          <p:spPr>
            <a:xfrm>
              <a:off x="4522425" y="5507050"/>
              <a:ext cx="3320975" cy="17676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7" name="Google Shape;867;p69"/>
            <p:cNvSpPr txBox="1"/>
            <p:nvPr/>
          </p:nvSpPr>
          <p:spPr>
            <a:xfrm>
              <a:off x="4608313" y="5539368"/>
              <a:ext cx="3000000" cy="14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think so.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You can use the headers of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an outcome table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to tell you the menu items.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For example…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68" name="Google Shape;868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45156" y="2156754"/>
            <a:ext cx="664425" cy="737087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69"/>
          <p:cNvSpPr txBox="1"/>
          <p:nvPr/>
        </p:nvSpPr>
        <p:spPr>
          <a:xfrm flipH="1">
            <a:off x="374230" y="2893847"/>
            <a:ext cx="676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70" name="Google Shape;870;p69"/>
          <p:cNvGraphicFramePr/>
          <p:nvPr/>
        </p:nvGraphicFramePr>
        <p:xfrm>
          <a:off x="412950" y="310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{CB14D709-67CF-4AEA-B8F9-FF3D39F066EA}</a:tableStyleId>
              </a:tblPr>
              <a:tblGrid>
                <a:gridCol w="800975"/>
                <a:gridCol w="800975"/>
                <a:gridCol w="800975"/>
                <a:gridCol w="800975"/>
              </a:tblGrid>
              <a:tr h="46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</a:tr>
              <a:tr h="46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TP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TF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GP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GF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5" name="Google Shape;875;p70"/>
          <p:cNvGraphicFramePr/>
          <p:nvPr/>
        </p:nvGraphicFramePr>
        <p:xfrm>
          <a:off x="412950" y="310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{CB14D709-67CF-4AEA-B8F9-FF3D39F066EA}</a:tableStyleId>
              </a:tblPr>
              <a:tblGrid>
                <a:gridCol w="800975"/>
                <a:gridCol w="800975"/>
                <a:gridCol w="800975"/>
                <a:gridCol w="800975"/>
              </a:tblGrid>
              <a:tr h="46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</a:tr>
              <a:tr h="46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TP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TF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GP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GF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76" name="Google Shape;876;p70"/>
          <p:cNvSpPr/>
          <p:nvPr/>
        </p:nvSpPr>
        <p:spPr>
          <a:xfrm>
            <a:off x="5347875" y="654644"/>
            <a:ext cx="2945700" cy="181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77" name="Google Shape;877;p70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5455141" y="774848"/>
            <a:ext cx="2892733" cy="1539710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70"/>
          <p:cNvSpPr txBox="1"/>
          <p:nvPr/>
        </p:nvSpPr>
        <p:spPr>
          <a:xfrm>
            <a:off x="5564325" y="858000"/>
            <a:ext cx="2494800" cy="1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Cool!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 I can use these headings on the first layer of branches…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79" name="Google Shape;879;p70"/>
          <p:cNvGrpSpPr/>
          <p:nvPr/>
        </p:nvGrpSpPr>
        <p:grpSpPr>
          <a:xfrm>
            <a:off x="4830675" y="678700"/>
            <a:ext cx="3504900" cy="2031000"/>
            <a:chOff x="4940675" y="4590907"/>
            <a:chExt cx="3504900" cy="2031000"/>
          </a:xfrm>
        </p:grpSpPr>
        <p:sp>
          <p:nvSpPr>
            <p:cNvPr id="880" name="Google Shape;880;p70"/>
            <p:cNvSpPr/>
            <p:nvPr/>
          </p:nvSpPr>
          <p:spPr>
            <a:xfrm>
              <a:off x="4940675" y="4590907"/>
              <a:ext cx="3504900" cy="2031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881" name="Google Shape;881;p70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>
              <a:off x="5062501" y="4626843"/>
              <a:ext cx="3285376" cy="17217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2" name="Google Shape;882;p70"/>
            <p:cNvSpPr txBox="1"/>
            <p:nvPr/>
          </p:nvSpPr>
          <p:spPr>
            <a:xfrm>
              <a:off x="5186505" y="4658154"/>
              <a:ext cx="2833500" cy="127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And these headers on the second layer of branches.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know this because there are three branches and three headers.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83" name="Google Shape;883;p70"/>
          <p:cNvGrpSpPr/>
          <p:nvPr/>
        </p:nvGrpSpPr>
        <p:grpSpPr>
          <a:xfrm>
            <a:off x="8137196" y="1935832"/>
            <a:ext cx="676200" cy="1040525"/>
            <a:chOff x="8137196" y="1935832"/>
            <a:chExt cx="676200" cy="1040525"/>
          </a:xfrm>
        </p:grpSpPr>
        <p:pic>
          <p:nvPicPr>
            <p:cNvPr id="884" name="Google Shape;884;p7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8209791" y="1935832"/>
              <a:ext cx="598139" cy="747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5" name="Google Shape;885;p70"/>
            <p:cNvSpPr txBox="1"/>
            <p:nvPr/>
          </p:nvSpPr>
          <p:spPr>
            <a:xfrm>
              <a:off x="8137196" y="2699157"/>
              <a:ext cx="676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Jun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86" name="Google Shape;886;p70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797575" y="972777"/>
            <a:ext cx="3320975" cy="1476326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Transferring information between </a:t>
            </a:r>
            <a:r>
              <a:rPr lang="en-GB"/>
              <a:t>diagram</a:t>
            </a:r>
            <a:r>
              <a:rPr lang="en-GB"/>
              <a:t>s</a:t>
            </a:r>
            <a:endParaRPr/>
          </a:p>
        </p:txBody>
      </p:sp>
      <p:grpSp>
        <p:nvGrpSpPr>
          <p:cNvPr id="888" name="Google Shape;888;p70"/>
          <p:cNvGrpSpPr/>
          <p:nvPr/>
        </p:nvGrpSpPr>
        <p:grpSpPr>
          <a:xfrm>
            <a:off x="4331166" y="2510697"/>
            <a:ext cx="3203859" cy="2250300"/>
            <a:chOff x="4178766" y="2663097"/>
            <a:chExt cx="3203859" cy="2250300"/>
          </a:xfrm>
        </p:grpSpPr>
        <p:sp>
          <p:nvSpPr>
            <p:cNvPr id="889" name="Google Shape;889;p70"/>
            <p:cNvSpPr/>
            <p:nvPr/>
          </p:nvSpPr>
          <p:spPr>
            <a:xfrm>
              <a:off x="6486825" y="2663097"/>
              <a:ext cx="895800" cy="2250300"/>
            </a:xfrm>
            <a:prstGeom prst="roundRect">
              <a:avLst>
                <a:gd fmla="val 13314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TP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GF</a:t>
              </a:r>
              <a:endParaRPr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890" name="Google Shape;890;p70"/>
            <p:cNvGrpSpPr/>
            <p:nvPr/>
          </p:nvGrpSpPr>
          <p:grpSpPr>
            <a:xfrm>
              <a:off x="4178766" y="2673199"/>
              <a:ext cx="2308058" cy="2077025"/>
              <a:chOff x="4712166" y="2673199"/>
              <a:chExt cx="2308058" cy="2077025"/>
            </a:xfrm>
          </p:grpSpPr>
          <p:grpSp>
            <p:nvGrpSpPr>
              <p:cNvPr id="891" name="Google Shape;891;p70"/>
              <p:cNvGrpSpPr/>
              <p:nvPr/>
            </p:nvGrpSpPr>
            <p:grpSpPr>
              <a:xfrm>
                <a:off x="4712166" y="2805701"/>
                <a:ext cx="1867477" cy="1808769"/>
                <a:chOff x="531189" y="2507322"/>
                <a:chExt cx="1744490" cy="1840799"/>
              </a:xfrm>
            </p:grpSpPr>
            <p:grpSp>
              <p:nvGrpSpPr>
                <p:cNvPr id="892" name="Google Shape;892;p70"/>
                <p:cNvGrpSpPr/>
                <p:nvPr/>
              </p:nvGrpSpPr>
              <p:grpSpPr>
                <a:xfrm>
                  <a:off x="531189" y="2841325"/>
                  <a:ext cx="657559" cy="1155053"/>
                  <a:chOff x="531205" y="2439944"/>
                  <a:chExt cx="704100" cy="1957717"/>
                </a:xfrm>
              </p:grpSpPr>
              <p:cxnSp>
                <p:nvCxnSpPr>
                  <p:cNvPr id="893" name="Google Shape;893;p70"/>
                  <p:cNvCxnSpPr/>
                  <p:nvPr/>
                </p:nvCxnSpPr>
                <p:spPr>
                  <a:xfrm flipH="1" rot="10800000">
                    <a:off x="531205" y="2439944"/>
                    <a:ext cx="704100" cy="8589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894" name="Google Shape;894;p70"/>
                  <p:cNvCxnSpPr/>
                  <p:nvPr/>
                </p:nvCxnSpPr>
                <p:spPr>
                  <a:xfrm>
                    <a:off x="531205" y="3538762"/>
                    <a:ext cx="704100" cy="8589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895" name="Google Shape;895;p70"/>
                <p:cNvGrpSpPr/>
                <p:nvPr/>
              </p:nvGrpSpPr>
              <p:grpSpPr>
                <a:xfrm>
                  <a:off x="1567974" y="2507322"/>
                  <a:ext cx="707706" cy="683164"/>
                  <a:chOff x="1597330" y="2437981"/>
                  <a:chExt cx="757796" cy="683164"/>
                </a:xfrm>
              </p:grpSpPr>
              <p:cxnSp>
                <p:nvCxnSpPr>
                  <p:cNvPr id="896" name="Google Shape;896;p70"/>
                  <p:cNvCxnSpPr/>
                  <p:nvPr/>
                </p:nvCxnSpPr>
                <p:spPr>
                  <a:xfrm flipH="1" rot="10800000">
                    <a:off x="1597330" y="2437981"/>
                    <a:ext cx="704100" cy="2997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897" name="Google Shape;897;p70"/>
                  <p:cNvCxnSpPr/>
                  <p:nvPr/>
                </p:nvCxnSpPr>
                <p:spPr>
                  <a:xfrm>
                    <a:off x="1597330" y="2821445"/>
                    <a:ext cx="704100" cy="2997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898" name="Google Shape;898;p70"/>
                  <p:cNvCxnSpPr/>
                  <p:nvPr/>
                </p:nvCxnSpPr>
                <p:spPr>
                  <a:xfrm>
                    <a:off x="1630326" y="2780029"/>
                    <a:ext cx="72480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899" name="Google Shape;899;p70"/>
                <p:cNvGrpSpPr/>
                <p:nvPr/>
              </p:nvGrpSpPr>
              <p:grpSpPr>
                <a:xfrm>
                  <a:off x="1567974" y="3664957"/>
                  <a:ext cx="707706" cy="683164"/>
                  <a:chOff x="1597330" y="2437981"/>
                  <a:chExt cx="757796" cy="683164"/>
                </a:xfrm>
              </p:grpSpPr>
              <p:cxnSp>
                <p:nvCxnSpPr>
                  <p:cNvPr id="900" name="Google Shape;900;p70"/>
                  <p:cNvCxnSpPr/>
                  <p:nvPr/>
                </p:nvCxnSpPr>
                <p:spPr>
                  <a:xfrm flipH="1" rot="10800000">
                    <a:off x="1597330" y="2437981"/>
                    <a:ext cx="704100" cy="2997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901" name="Google Shape;901;p70"/>
                  <p:cNvCxnSpPr/>
                  <p:nvPr/>
                </p:nvCxnSpPr>
                <p:spPr>
                  <a:xfrm>
                    <a:off x="1597330" y="2821445"/>
                    <a:ext cx="704100" cy="2997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902" name="Google Shape;902;p70"/>
                  <p:cNvCxnSpPr/>
                  <p:nvPr/>
                </p:nvCxnSpPr>
                <p:spPr>
                  <a:xfrm>
                    <a:off x="1630326" y="2780029"/>
                    <a:ext cx="72480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sp>
            <p:nvSpPr>
              <p:cNvPr id="903" name="Google Shape;903;p70"/>
              <p:cNvSpPr txBox="1"/>
              <p:nvPr/>
            </p:nvSpPr>
            <p:spPr>
              <a:xfrm>
                <a:off x="5414638" y="3002550"/>
                <a:ext cx="433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04" name="Google Shape;904;p70"/>
              <p:cNvSpPr txBox="1"/>
              <p:nvPr/>
            </p:nvSpPr>
            <p:spPr>
              <a:xfrm>
                <a:off x="5414638" y="4143673"/>
                <a:ext cx="433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05" name="Google Shape;905;p70"/>
              <p:cNvSpPr txBox="1"/>
              <p:nvPr/>
            </p:nvSpPr>
            <p:spPr>
              <a:xfrm>
                <a:off x="6506023" y="2673199"/>
                <a:ext cx="514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06" name="Google Shape;906;p70"/>
              <p:cNvSpPr txBox="1"/>
              <p:nvPr/>
            </p:nvSpPr>
            <p:spPr>
              <a:xfrm>
                <a:off x="6506023" y="3002549"/>
                <a:ext cx="514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07" name="Google Shape;907;p70"/>
              <p:cNvSpPr txBox="1"/>
              <p:nvPr/>
            </p:nvSpPr>
            <p:spPr>
              <a:xfrm>
                <a:off x="6506023" y="3331899"/>
                <a:ext cx="514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08" name="Google Shape;908;p70"/>
              <p:cNvSpPr txBox="1"/>
              <p:nvPr/>
            </p:nvSpPr>
            <p:spPr>
              <a:xfrm>
                <a:off x="6506023" y="3814324"/>
                <a:ext cx="514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09" name="Google Shape;909;p70"/>
              <p:cNvSpPr txBox="1"/>
              <p:nvPr/>
            </p:nvSpPr>
            <p:spPr>
              <a:xfrm>
                <a:off x="6506023" y="4143674"/>
                <a:ext cx="514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F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10" name="Google Shape;910;p70"/>
              <p:cNvSpPr txBox="1"/>
              <p:nvPr/>
            </p:nvSpPr>
            <p:spPr>
              <a:xfrm>
                <a:off x="6506023" y="4473024"/>
                <a:ext cx="514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911" name="Google Shape;911;p70"/>
          <p:cNvSpPr txBox="1"/>
          <p:nvPr/>
        </p:nvSpPr>
        <p:spPr>
          <a:xfrm flipH="1">
            <a:off x="1032650" y="1005103"/>
            <a:ext cx="30000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These headers tell you the starters,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2" name="Google Shape;912;p70"/>
          <p:cNvSpPr/>
          <p:nvPr/>
        </p:nvSpPr>
        <p:spPr>
          <a:xfrm>
            <a:off x="1394585" y="3187225"/>
            <a:ext cx="2052300" cy="3012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3" name="Google Shape;913;p70"/>
          <p:cNvSpPr/>
          <p:nvPr/>
        </p:nvSpPr>
        <p:spPr>
          <a:xfrm>
            <a:off x="569401" y="3651950"/>
            <a:ext cx="498900" cy="7572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4" name="Google Shape;914;p70"/>
          <p:cNvSpPr txBox="1"/>
          <p:nvPr/>
        </p:nvSpPr>
        <p:spPr>
          <a:xfrm flipH="1">
            <a:off x="1032650" y="1581503"/>
            <a:ext cx="30000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whilst these headers tell you the mains.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5" name="Google Shape;915;p70"/>
          <p:cNvSpPr txBox="1"/>
          <p:nvPr/>
        </p:nvSpPr>
        <p:spPr>
          <a:xfrm>
            <a:off x="4993150" y="2850800"/>
            <a:ext cx="46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6" name="Google Shape;916;p70"/>
          <p:cNvSpPr txBox="1"/>
          <p:nvPr/>
        </p:nvSpPr>
        <p:spPr>
          <a:xfrm>
            <a:off x="4993150" y="3993809"/>
            <a:ext cx="46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G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917" name="Google Shape;917;p70"/>
          <p:cNvGrpSpPr/>
          <p:nvPr/>
        </p:nvGrpSpPr>
        <p:grpSpPr>
          <a:xfrm>
            <a:off x="6120875" y="2523269"/>
            <a:ext cx="462000" cy="930199"/>
            <a:chOff x="6120875" y="2523269"/>
            <a:chExt cx="462000" cy="930199"/>
          </a:xfrm>
        </p:grpSpPr>
        <p:sp>
          <p:nvSpPr>
            <p:cNvPr id="918" name="Google Shape;918;p70"/>
            <p:cNvSpPr txBox="1"/>
            <p:nvPr/>
          </p:nvSpPr>
          <p:spPr>
            <a:xfrm>
              <a:off x="6120875" y="2523269"/>
              <a:ext cx="462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Kalam"/>
                  <a:ea typeface="Kalam"/>
                  <a:cs typeface="Kalam"/>
                  <a:sym typeface="Kalam"/>
                </a:rPr>
                <a:t>P</a:t>
              </a:r>
              <a:endParaRPr sz="18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919" name="Google Shape;919;p70"/>
            <p:cNvSpPr txBox="1"/>
            <p:nvPr/>
          </p:nvSpPr>
          <p:spPr>
            <a:xfrm>
              <a:off x="6120875" y="2849766"/>
              <a:ext cx="462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Kalam"/>
                  <a:ea typeface="Kalam"/>
                  <a:cs typeface="Kalam"/>
                  <a:sym typeface="Kalam"/>
                </a:rPr>
                <a:t>F</a:t>
              </a:r>
              <a:endParaRPr sz="18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920" name="Google Shape;920;p70"/>
            <p:cNvSpPr txBox="1"/>
            <p:nvPr/>
          </p:nvSpPr>
          <p:spPr>
            <a:xfrm>
              <a:off x="6120875" y="3176268"/>
              <a:ext cx="462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Kalam"/>
                  <a:ea typeface="Kalam"/>
                  <a:cs typeface="Kalam"/>
                  <a:sym typeface="Kalam"/>
                </a:rPr>
                <a:t>S</a:t>
              </a:r>
              <a:endParaRPr sz="18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921" name="Google Shape;921;p70"/>
          <p:cNvGrpSpPr/>
          <p:nvPr/>
        </p:nvGrpSpPr>
        <p:grpSpPr>
          <a:xfrm>
            <a:off x="6120875" y="3667294"/>
            <a:ext cx="462000" cy="930199"/>
            <a:chOff x="6120875" y="2523269"/>
            <a:chExt cx="462000" cy="930199"/>
          </a:xfrm>
        </p:grpSpPr>
        <p:sp>
          <p:nvSpPr>
            <p:cNvPr id="922" name="Google Shape;922;p70"/>
            <p:cNvSpPr txBox="1"/>
            <p:nvPr/>
          </p:nvSpPr>
          <p:spPr>
            <a:xfrm>
              <a:off x="6120875" y="2523269"/>
              <a:ext cx="462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Kalam"/>
                  <a:ea typeface="Kalam"/>
                  <a:cs typeface="Kalam"/>
                  <a:sym typeface="Kalam"/>
                </a:rPr>
                <a:t>P</a:t>
              </a:r>
              <a:endParaRPr sz="18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923" name="Google Shape;923;p70"/>
            <p:cNvSpPr txBox="1"/>
            <p:nvPr/>
          </p:nvSpPr>
          <p:spPr>
            <a:xfrm>
              <a:off x="6120875" y="3176268"/>
              <a:ext cx="462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Kalam"/>
                  <a:ea typeface="Kalam"/>
                  <a:cs typeface="Kalam"/>
                  <a:sym typeface="Kalam"/>
                </a:rPr>
                <a:t>S</a:t>
              </a:r>
              <a:endParaRPr sz="18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924" name="Google Shape;924;p70"/>
          <p:cNvGrpSpPr/>
          <p:nvPr/>
        </p:nvGrpSpPr>
        <p:grpSpPr>
          <a:xfrm>
            <a:off x="780200" y="629853"/>
            <a:ext cx="3504900" cy="2031000"/>
            <a:chOff x="780200" y="4958600"/>
            <a:chExt cx="3504900" cy="2031000"/>
          </a:xfrm>
        </p:grpSpPr>
        <p:sp>
          <p:nvSpPr>
            <p:cNvPr id="925" name="Google Shape;925;p70"/>
            <p:cNvSpPr/>
            <p:nvPr/>
          </p:nvSpPr>
          <p:spPr>
            <a:xfrm>
              <a:off x="780200" y="4958600"/>
              <a:ext cx="3504900" cy="2031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926" name="Google Shape;926;p70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 flipH="1">
              <a:off x="797575" y="5295652"/>
              <a:ext cx="3320975" cy="1476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7" name="Google Shape;927;p70"/>
            <p:cNvSpPr txBox="1"/>
            <p:nvPr/>
          </p:nvSpPr>
          <p:spPr>
            <a:xfrm flipH="1">
              <a:off x="1032650" y="5327978"/>
              <a:ext cx="3000000" cy="55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That’s right!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Now your outcome tree is full, you can complete the sample space, too.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28" name="Google Shape;928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45156" y="2156754"/>
            <a:ext cx="664425" cy="737087"/>
          </a:xfrm>
          <a:prstGeom prst="rect">
            <a:avLst/>
          </a:prstGeom>
          <a:noFill/>
          <a:ln>
            <a:noFill/>
          </a:ln>
        </p:spPr>
      </p:pic>
      <p:sp>
        <p:nvSpPr>
          <p:cNvPr id="929" name="Google Shape;929;p70"/>
          <p:cNvSpPr txBox="1"/>
          <p:nvPr/>
        </p:nvSpPr>
        <p:spPr>
          <a:xfrm flipH="1">
            <a:off x="374230" y="2893847"/>
            <a:ext cx="676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0" name="Google Shape;930;p70"/>
          <p:cNvSpPr txBox="1"/>
          <p:nvPr/>
        </p:nvSpPr>
        <p:spPr>
          <a:xfrm>
            <a:off x="6633225" y="2893850"/>
            <a:ext cx="90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TF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1" name="Google Shape;931;p70"/>
          <p:cNvSpPr txBox="1"/>
          <p:nvPr/>
        </p:nvSpPr>
        <p:spPr>
          <a:xfrm>
            <a:off x="6633225" y="3661088"/>
            <a:ext cx="90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GP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2" name="Google Shape;932;p70"/>
          <p:cNvSpPr txBox="1"/>
          <p:nvPr/>
        </p:nvSpPr>
        <p:spPr>
          <a:xfrm>
            <a:off x="6633225" y="4319988"/>
            <a:ext cx="90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GS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933" name="Google Shape;933;p70"/>
          <p:cNvGrpSpPr/>
          <p:nvPr/>
        </p:nvGrpSpPr>
        <p:grpSpPr>
          <a:xfrm>
            <a:off x="5440980" y="2653301"/>
            <a:ext cx="757569" cy="671277"/>
            <a:chOff x="1597330" y="2437981"/>
            <a:chExt cx="757796" cy="683164"/>
          </a:xfrm>
        </p:grpSpPr>
        <p:cxnSp>
          <p:nvCxnSpPr>
            <p:cNvPr id="934" name="Google Shape;934;p70"/>
            <p:cNvCxnSpPr/>
            <p:nvPr/>
          </p:nvCxnSpPr>
          <p:spPr>
            <a:xfrm flipH="1" rot="10800000">
              <a:off x="1597330" y="2437981"/>
              <a:ext cx="704100" cy="299700"/>
            </a:xfrm>
            <a:prstGeom prst="straightConnector1">
              <a:avLst/>
            </a:prstGeom>
            <a:noFill/>
            <a:ln cap="flat" cmpd="sng" w="76200">
              <a:solidFill>
                <a:srgbClr val="845AD9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935" name="Google Shape;935;p70"/>
            <p:cNvCxnSpPr/>
            <p:nvPr/>
          </p:nvCxnSpPr>
          <p:spPr>
            <a:xfrm>
              <a:off x="1597330" y="2821445"/>
              <a:ext cx="704100" cy="299700"/>
            </a:xfrm>
            <a:prstGeom prst="straightConnector1">
              <a:avLst/>
            </a:prstGeom>
            <a:noFill/>
            <a:ln cap="flat" cmpd="sng" w="76200">
              <a:solidFill>
                <a:srgbClr val="845AD9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936" name="Google Shape;936;p70"/>
            <p:cNvCxnSpPr/>
            <p:nvPr/>
          </p:nvCxnSpPr>
          <p:spPr>
            <a:xfrm>
              <a:off x="1630326" y="2780029"/>
              <a:ext cx="724800" cy="0"/>
            </a:xfrm>
            <a:prstGeom prst="straightConnector1">
              <a:avLst/>
            </a:prstGeom>
            <a:noFill/>
            <a:ln cap="flat" cmpd="sng" w="76200">
              <a:solidFill>
                <a:srgbClr val="845AD9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Transferring information between </a:t>
            </a:r>
            <a:r>
              <a:rPr lang="en-GB"/>
              <a:t>diagram</a:t>
            </a:r>
            <a:r>
              <a:rPr lang="en-GB"/>
              <a:t>s</a:t>
            </a:r>
            <a:endParaRPr/>
          </a:p>
        </p:txBody>
      </p:sp>
      <p:graphicFrame>
        <p:nvGraphicFramePr>
          <p:cNvPr id="942" name="Google Shape;942;p71"/>
          <p:cNvGraphicFramePr/>
          <p:nvPr/>
        </p:nvGraphicFramePr>
        <p:xfrm>
          <a:off x="337753" y="26572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{CB14D709-67CF-4AEA-B8F9-FF3D39F066EA}</a:tableStyleId>
              </a:tblPr>
              <a:tblGrid>
                <a:gridCol w="750000"/>
                <a:gridCol w="750000"/>
                <a:gridCol w="750000"/>
                <a:gridCol w="750000"/>
              </a:tblGrid>
              <a:tr h="46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</a:tr>
              <a:tr h="46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heads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tails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43" name="Google Shape;943;p71"/>
          <p:cNvSpPr txBox="1"/>
          <p:nvPr/>
        </p:nvSpPr>
        <p:spPr>
          <a:xfrm>
            <a:off x="324000" y="642021"/>
            <a:ext cx="84960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coin will be flipped and a spinner will be spun.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outcome table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and outcome tree both show the same trial.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would go in the two gaps on the outcome tree?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44" name="Google Shape;944;p71"/>
          <p:cNvGrpSpPr/>
          <p:nvPr/>
        </p:nvGrpSpPr>
        <p:grpSpPr>
          <a:xfrm>
            <a:off x="5038330" y="2029329"/>
            <a:ext cx="3000014" cy="2699717"/>
            <a:chOff x="5245566" y="2215999"/>
            <a:chExt cx="2308058" cy="2077025"/>
          </a:xfrm>
        </p:grpSpPr>
        <p:cxnSp>
          <p:nvCxnSpPr>
            <p:cNvPr id="945" name="Google Shape;945;p71"/>
            <p:cNvCxnSpPr/>
            <p:nvPr/>
          </p:nvCxnSpPr>
          <p:spPr>
            <a:xfrm flipH="1" rot="10800000">
              <a:off x="5245566" y="2676626"/>
              <a:ext cx="703800" cy="498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6" name="Google Shape;946;p71"/>
            <p:cNvCxnSpPr/>
            <p:nvPr/>
          </p:nvCxnSpPr>
          <p:spPr>
            <a:xfrm>
              <a:off x="5245566" y="3313714"/>
              <a:ext cx="703800" cy="498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7" name="Google Shape;947;p71"/>
            <p:cNvCxnSpPr/>
            <p:nvPr/>
          </p:nvCxnSpPr>
          <p:spPr>
            <a:xfrm flipH="1" rot="10800000">
              <a:off x="6355443" y="2348387"/>
              <a:ext cx="703800" cy="2946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8" name="Google Shape;948;p71"/>
            <p:cNvCxnSpPr/>
            <p:nvPr/>
          </p:nvCxnSpPr>
          <p:spPr>
            <a:xfrm>
              <a:off x="6355443" y="2725293"/>
              <a:ext cx="703800" cy="2946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9" name="Google Shape;949;p71"/>
            <p:cNvCxnSpPr/>
            <p:nvPr/>
          </p:nvCxnSpPr>
          <p:spPr>
            <a:xfrm>
              <a:off x="6388431" y="2684598"/>
              <a:ext cx="7245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0" name="Google Shape;950;p71"/>
            <p:cNvCxnSpPr/>
            <p:nvPr/>
          </p:nvCxnSpPr>
          <p:spPr>
            <a:xfrm flipH="1" rot="10800000">
              <a:off x="6355443" y="3485879"/>
              <a:ext cx="703800" cy="2946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1" name="Google Shape;951;p71"/>
            <p:cNvCxnSpPr/>
            <p:nvPr/>
          </p:nvCxnSpPr>
          <p:spPr>
            <a:xfrm>
              <a:off x="6355443" y="3862785"/>
              <a:ext cx="703800" cy="2946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2" name="Google Shape;952;p71"/>
            <p:cNvCxnSpPr/>
            <p:nvPr/>
          </p:nvCxnSpPr>
          <p:spPr>
            <a:xfrm>
              <a:off x="6388431" y="3822090"/>
              <a:ext cx="7245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53" name="Google Shape;953;p71"/>
            <p:cNvSpPr txBox="1"/>
            <p:nvPr/>
          </p:nvSpPr>
          <p:spPr>
            <a:xfrm>
              <a:off x="7039423" y="2215999"/>
              <a:ext cx="514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4" name="Google Shape;954;p71"/>
            <p:cNvSpPr txBox="1"/>
            <p:nvPr/>
          </p:nvSpPr>
          <p:spPr>
            <a:xfrm>
              <a:off x="7039423" y="2545349"/>
              <a:ext cx="514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5" name="Google Shape;955;p71"/>
            <p:cNvSpPr txBox="1"/>
            <p:nvPr/>
          </p:nvSpPr>
          <p:spPr>
            <a:xfrm>
              <a:off x="7039423" y="2874699"/>
              <a:ext cx="514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6" name="Google Shape;956;p71"/>
            <p:cNvSpPr txBox="1"/>
            <p:nvPr/>
          </p:nvSpPr>
          <p:spPr>
            <a:xfrm>
              <a:off x="7039423" y="3357124"/>
              <a:ext cx="514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7" name="Google Shape;957;p71"/>
            <p:cNvSpPr txBox="1"/>
            <p:nvPr/>
          </p:nvSpPr>
          <p:spPr>
            <a:xfrm>
              <a:off x="7039423" y="4015824"/>
              <a:ext cx="514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8" name="Google Shape;958;p71"/>
            <p:cNvSpPr txBox="1"/>
            <p:nvPr/>
          </p:nvSpPr>
          <p:spPr>
            <a:xfrm>
              <a:off x="7039423" y="2873029"/>
              <a:ext cx="514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59" name="Google Shape;959;p71"/>
          <p:cNvGrpSpPr/>
          <p:nvPr/>
        </p:nvGrpSpPr>
        <p:grpSpPr>
          <a:xfrm>
            <a:off x="6011013" y="2447510"/>
            <a:ext cx="433200" cy="381600"/>
            <a:chOff x="4193788" y="2163800"/>
            <a:chExt cx="433200" cy="381600"/>
          </a:xfrm>
        </p:grpSpPr>
        <p:sp>
          <p:nvSpPr>
            <p:cNvPr id="960" name="Google Shape;960;p71"/>
            <p:cNvSpPr txBox="1"/>
            <p:nvPr/>
          </p:nvSpPr>
          <p:spPr>
            <a:xfrm>
              <a:off x="4193788" y="2215950"/>
              <a:ext cx="433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1" name="Google Shape;961;p71"/>
            <p:cNvSpPr/>
            <p:nvPr/>
          </p:nvSpPr>
          <p:spPr>
            <a:xfrm>
              <a:off x="4195125" y="2163800"/>
              <a:ext cx="406200" cy="381600"/>
            </a:xfrm>
            <a:prstGeom prst="roundRect">
              <a:avLst>
                <a:gd fmla="val 5961" name="adj"/>
              </a:avLst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962" name="Google Shape;962;p71"/>
            <p:cNvGrpSpPr/>
            <p:nvPr/>
          </p:nvGrpSpPr>
          <p:grpSpPr>
            <a:xfrm>
              <a:off x="4276799" y="2233177"/>
              <a:ext cx="242727" cy="242727"/>
              <a:chOff x="1020916" y="1442088"/>
              <a:chExt cx="457200" cy="457200"/>
            </a:xfrm>
          </p:grpSpPr>
          <p:pic>
            <p:nvPicPr>
              <p:cNvPr id="963" name="Google Shape;963;p7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64" name="Google Shape;964;p71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965" name="Google Shape;965;p71"/>
          <p:cNvGrpSpPr/>
          <p:nvPr/>
        </p:nvGrpSpPr>
        <p:grpSpPr>
          <a:xfrm>
            <a:off x="6011013" y="3926841"/>
            <a:ext cx="433200" cy="381600"/>
            <a:chOff x="4193788" y="2163800"/>
            <a:chExt cx="433200" cy="381600"/>
          </a:xfrm>
        </p:grpSpPr>
        <p:sp>
          <p:nvSpPr>
            <p:cNvPr id="966" name="Google Shape;966;p71"/>
            <p:cNvSpPr txBox="1"/>
            <p:nvPr/>
          </p:nvSpPr>
          <p:spPr>
            <a:xfrm>
              <a:off x="4193788" y="2215950"/>
              <a:ext cx="433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7" name="Google Shape;967;p71"/>
            <p:cNvSpPr/>
            <p:nvPr/>
          </p:nvSpPr>
          <p:spPr>
            <a:xfrm>
              <a:off x="4195125" y="2163800"/>
              <a:ext cx="406200" cy="381600"/>
            </a:xfrm>
            <a:prstGeom prst="roundRect">
              <a:avLst>
                <a:gd fmla="val 5961" name="adj"/>
              </a:avLst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968" name="Google Shape;968;p71"/>
            <p:cNvGrpSpPr/>
            <p:nvPr/>
          </p:nvGrpSpPr>
          <p:grpSpPr>
            <a:xfrm>
              <a:off x="4276799" y="2233177"/>
              <a:ext cx="242727" cy="242727"/>
              <a:chOff x="1020916" y="1442088"/>
              <a:chExt cx="457200" cy="457200"/>
            </a:xfrm>
          </p:grpSpPr>
          <p:pic>
            <p:nvPicPr>
              <p:cNvPr id="969" name="Google Shape;969;p7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70" name="Google Shape;970;p71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971" name="Google Shape;971;p71"/>
          <p:cNvSpPr txBox="1"/>
          <p:nvPr/>
        </p:nvSpPr>
        <p:spPr>
          <a:xfrm>
            <a:off x="5778350" y="2063707"/>
            <a:ext cx="8985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heads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2" name="Google Shape;972;p71"/>
          <p:cNvSpPr txBox="1"/>
          <p:nvPr/>
        </p:nvSpPr>
        <p:spPr>
          <a:xfrm>
            <a:off x="5778350" y="3514632"/>
            <a:ext cx="8985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tails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3" name="Google Shape;973;p71"/>
          <p:cNvSpPr txBox="1"/>
          <p:nvPr/>
        </p:nvSpPr>
        <p:spPr>
          <a:xfrm>
            <a:off x="2600924" y="4188475"/>
            <a:ext cx="2830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heads and tails can go either way around.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Transferring information between </a:t>
            </a:r>
            <a:r>
              <a:rPr lang="en-GB"/>
              <a:t>diagram</a:t>
            </a:r>
            <a:r>
              <a:rPr lang="en-GB"/>
              <a:t>s</a:t>
            </a:r>
            <a:endParaRPr/>
          </a:p>
        </p:txBody>
      </p:sp>
      <p:sp>
        <p:nvSpPr>
          <p:cNvPr id="979" name="Google Shape;979;p72"/>
          <p:cNvSpPr txBox="1"/>
          <p:nvPr/>
        </p:nvSpPr>
        <p:spPr>
          <a:xfrm>
            <a:off x="324000" y="642021"/>
            <a:ext cx="84960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coin will be flipped and a spinner will be spun.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outcome table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and outcome tree both show the same trial.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would go in the two gaps on the outcome tree?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80" name="Google Shape;980;p72"/>
          <p:cNvGrpSpPr/>
          <p:nvPr/>
        </p:nvGrpSpPr>
        <p:grpSpPr>
          <a:xfrm>
            <a:off x="5038330" y="2029329"/>
            <a:ext cx="3000014" cy="2699717"/>
            <a:chOff x="5245566" y="2215999"/>
            <a:chExt cx="2308058" cy="2077025"/>
          </a:xfrm>
        </p:grpSpPr>
        <p:cxnSp>
          <p:nvCxnSpPr>
            <p:cNvPr id="981" name="Google Shape;981;p72"/>
            <p:cNvCxnSpPr/>
            <p:nvPr/>
          </p:nvCxnSpPr>
          <p:spPr>
            <a:xfrm flipH="1" rot="10800000">
              <a:off x="5245566" y="2676626"/>
              <a:ext cx="703800" cy="498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2" name="Google Shape;982;p72"/>
            <p:cNvCxnSpPr/>
            <p:nvPr/>
          </p:nvCxnSpPr>
          <p:spPr>
            <a:xfrm>
              <a:off x="5245566" y="3313714"/>
              <a:ext cx="703800" cy="498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3" name="Google Shape;983;p72"/>
            <p:cNvCxnSpPr/>
            <p:nvPr/>
          </p:nvCxnSpPr>
          <p:spPr>
            <a:xfrm flipH="1" rot="10800000">
              <a:off x="6355443" y="2348387"/>
              <a:ext cx="703800" cy="2946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4" name="Google Shape;984;p72"/>
            <p:cNvCxnSpPr/>
            <p:nvPr/>
          </p:nvCxnSpPr>
          <p:spPr>
            <a:xfrm>
              <a:off x="6355443" y="2725293"/>
              <a:ext cx="703800" cy="2946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5" name="Google Shape;985;p72"/>
            <p:cNvCxnSpPr/>
            <p:nvPr/>
          </p:nvCxnSpPr>
          <p:spPr>
            <a:xfrm>
              <a:off x="6388431" y="2684598"/>
              <a:ext cx="7245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6" name="Google Shape;986;p72"/>
            <p:cNvCxnSpPr/>
            <p:nvPr/>
          </p:nvCxnSpPr>
          <p:spPr>
            <a:xfrm flipH="1" rot="10800000">
              <a:off x="6355443" y="3485879"/>
              <a:ext cx="703800" cy="2946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7" name="Google Shape;987;p72"/>
            <p:cNvCxnSpPr/>
            <p:nvPr/>
          </p:nvCxnSpPr>
          <p:spPr>
            <a:xfrm>
              <a:off x="6355443" y="3862785"/>
              <a:ext cx="703800" cy="2946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8" name="Google Shape;988;p72"/>
            <p:cNvCxnSpPr/>
            <p:nvPr/>
          </p:nvCxnSpPr>
          <p:spPr>
            <a:xfrm>
              <a:off x="6388431" y="3822090"/>
              <a:ext cx="7245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89" name="Google Shape;989;p72"/>
            <p:cNvSpPr txBox="1"/>
            <p:nvPr/>
          </p:nvSpPr>
          <p:spPr>
            <a:xfrm>
              <a:off x="7039423" y="2215999"/>
              <a:ext cx="514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0" name="Google Shape;990;p72"/>
            <p:cNvSpPr txBox="1"/>
            <p:nvPr/>
          </p:nvSpPr>
          <p:spPr>
            <a:xfrm>
              <a:off x="7039423" y="2545349"/>
              <a:ext cx="514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1" name="Google Shape;991;p72"/>
            <p:cNvSpPr txBox="1"/>
            <p:nvPr/>
          </p:nvSpPr>
          <p:spPr>
            <a:xfrm>
              <a:off x="7039423" y="2874699"/>
              <a:ext cx="514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2" name="Google Shape;992;p72"/>
            <p:cNvSpPr txBox="1"/>
            <p:nvPr/>
          </p:nvSpPr>
          <p:spPr>
            <a:xfrm>
              <a:off x="7039423" y="3357124"/>
              <a:ext cx="514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3" name="Google Shape;993;p72"/>
            <p:cNvSpPr txBox="1"/>
            <p:nvPr/>
          </p:nvSpPr>
          <p:spPr>
            <a:xfrm>
              <a:off x="7039423" y="4015824"/>
              <a:ext cx="514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4" name="Google Shape;994;p72"/>
            <p:cNvSpPr txBox="1"/>
            <p:nvPr/>
          </p:nvSpPr>
          <p:spPr>
            <a:xfrm>
              <a:off x="7039423" y="2873029"/>
              <a:ext cx="514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95" name="Google Shape;995;p72"/>
          <p:cNvSpPr txBox="1"/>
          <p:nvPr/>
        </p:nvSpPr>
        <p:spPr>
          <a:xfrm>
            <a:off x="2600924" y="4188475"/>
            <a:ext cx="2830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1 and 7 can go either way around.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6" name="Google Shape;996;p72"/>
          <p:cNvSpPr txBox="1"/>
          <p:nvPr/>
        </p:nvSpPr>
        <p:spPr>
          <a:xfrm>
            <a:off x="5877124" y="2452650"/>
            <a:ext cx="7362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7" name="Google Shape;997;p72"/>
          <p:cNvSpPr txBox="1"/>
          <p:nvPr/>
        </p:nvSpPr>
        <p:spPr>
          <a:xfrm>
            <a:off x="5877124" y="3936562"/>
            <a:ext cx="7362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8" name="Google Shape;998;p72"/>
          <p:cNvGrpSpPr/>
          <p:nvPr/>
        </p:nvGrpSpPr>
        <p:grpSpPr>
          <a:xfrm>
            <a:off x="7393163" y="2029335"/>
            <a:ext cx="433200" cy="381600"/>
            <a:chOff x="4193788" y="2163800"/>
            <a:chExt cx="433200" cy="381600"/>
          </a:xfrm>
        </p:grpSpPr>
        <p:sp>
          <p:nvSpPr>
            <p:cNvPr id="999" name="Google Shape;999;p72"/>
            <p:cNvSpPr txBox="1"/>
            <p:nvPr/>
          </p:nvSpPr>
          <p:spPr>
            <a:xfrm>
              <a:off x="4193788" y="2215950"/>
              <a:ext cx="433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0" name="Google Shape;1000;p72"/>
            <p:cNvSpPr/>
            <p:nvPr/>
          </p:nvSpPr>
          <p:spPr>
            <a:xfrm>
              <a:off x="4195125" y="2163800"/>
              <a:ext cx="406200" cy="381600"/>
            </a:xfrm>
            <a:prstGeom prst="roundRect">
              <a:avLst>
                <a:gd fmla="val 5961" name="adj"/>
              </a:avLst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001" name="Google Shape;1001;p72"/>
            <p:cNvGrpSpPr/>
            <p:nvPr/>
          </p:nvGrpSpPr>
          <p:grpSpPr>
            <a:xfrm>
              <a:off x="4276799" y="2233177"/>
              <a:ext cx="242727" cy="242727"/>
              <a:chOff x="1020916" y="1442088"/>
              <a:chExt cx="457200" cy="457200"/>
            </a:xfrm>
          </p:grpSpPr>
          <p:pic>
            <p:nvPicPr>
              <p:cNvPr id="1002" name="Google Shape;1002;p7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03" name="Google Shape;1003;p72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004" name="Google Shape;1004;p72"/>
          <p:cNvGrpSpPr/>
          <p:nvPr/>
        </p:nvGrpSpPr>
        <p:grpSpPr>
          <a:xfrm>
            <a:off x="7459188" y="2442010"/>
            <a:ext cx="433200" cy="381600"/>
            <a:chOff x="4193788" y="2163800"/>
            <a:chExt cx="433200" cy="381600"/>
          </a:xfrm>
        </p:grpSpPr>
        <p:sp>
          <p:nvSpPr>
            <p:cNvPr id="1005" name="Google Shape;1005;p72"/>
            <p:cNvSpPr txBox="1"/>
            <p:nvPr/>
          </p:nvSpPr>
          <p:spPr>
            <a:xfrm>
              <a:off x="4193788" y="2215950"/>
              <a:ext cx="433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6" name="Google Shape;1006;p72"/>
            <p:cNvSpPr/>
            <p:nvPr/>
          </p:nvSpPr>
          <p:spPr>
            <a:xfrm>
              <a:off x="4195125" y="2163800"/>
              <a:ext cx="406200" cy="381600"/>
            </a:xfrm>
            <a:prstGeom prst="roundRect">
              <a:avLst>
                <a:gd fmla="val 5961" name="adj"/>
              </a:avLst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007" name="Google Shape;1007;p72"/>
            <p:cNvGrpSpPr/>
            <p:nvPr/>
          </p:nvGrpSpPr>
          <p:grpSpPr>
            <a:xfrm>
              <a:off x="4276799" y="2233177"/>
              <a:ext cx="242727" cy="242727"/>
              <a:chOff x="1020916" y="1442088"/>
              <a:chExt cx="457200" cy="457200"/>
            </a:xfrm>
          </p:grpSpPr>
          <p:pic>
            <p:nvPicPr>
              <p:cNvPr id="1008" name="Google Shape;1008;p7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09" name="Google Shape;1009;p72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010" name="Google Shape;1010;p72"/>
          <p:cNvSpPr txBox="1"/>
          <p:nvPr/>
        </p:nvSpPr>
        <p:spPr>
          <a:xfrm>
            <a:off x="7826375" y="2039975"/>
            <a:ext cx="382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1" name="Google Shape;1011;p72"/>
          <p:cNvSpPr txBox="1"/>
          <p:nvPr/>
        </p:nvSpPr>
        <p:spPr>
          <a:xfrm>
            <a:off x="7892400" y="2452650"/>
            <a:ext cx="382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012" name="Google Shape;1012;p72"/>
          <p:cNvGraphicFramePr/>
          <p:nvPr/>
        </p:nvGraphicFramePr>
        <p:xfrm>
          <a:off x="337753" y="26572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{CB14D709-67CF-4AEA-B8F9-FF3D39F066EA}</a:tableStyleId>
              </a:tblPr>
              <a:tblGrid>
                <a:gridCol w="750000"/>
                <a:gridCol w="750000"/>
                <a:gridCol w="750000"/>
                <a:gridCol w="750000"/>
              </a:tblGrid>
              <a:tr h="46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</a:tr>
              <a:tr h="46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heads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tails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73"/>
          <p:cNvSpPr txBox="1"/>
          <p:nvPr/>
        </p:nvSpPr>
        <p:spPr>
          <a:xfrm>
            <a:off x="4291950" y="1572125"/>
            <a:ext cx="3560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 will spin a spinner with outcomes: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{1, 2, 3, 4, 6, 7, 9, 10}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8" name="Google Shape;1018;p73"/>
          <p:cNvSpPr txBox="1"/>
          <p:nvPr/>
        </p:nvSpPr>
        <p:spPr>
          <a:xfrm>
            <a:off x="4291950" y="2595600"/>
            <a:ext cx="42348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 considers the event that the spinner lands on an even number and the event it lands on a factor of 18.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 shows these events correctly on this Venn diagram.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9" name="Google Shape;1019;p73"/>
          <p:cNvSpPr txBox="1"/>
          <p:nvPr/>
        </p:nvSpPr>
        <p:spPr>
          <a:xfrm>
            <a:off x="324000" y="662650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is possible to use one correct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diagram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to check the errors of a different, incorrectly completed one.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0" name="Google Shape;1020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Transferring information between </a:t>
            </a:r>
            <a:r>
              <a:rPr lang="en-GB"/>
              <a:t>diagram</a:t>
            </a:r>
            <a:r>
              <a:rPr lang="en-GB"/>
              <a:t>s</a:t>
            </a:r>
            <a:endParaRPr/>
          </a:p>
        </p:txBody>
      </p:sp>
      <p:grpSp>
        <p:nvGrpSpPr>
          <p:cNvPr id="1021" name="Google Shape;1021;p73"/>
          <p:cNvGrpSpPr/>
          <p:nvPr/>
        </p:nvGrpSpPr>
        <p:grpSpPr>
          <a:xfrm>
            <a:off x="8071950" y="1319647"/>
            <a:ext cx="885300" cy="997103"/>
            <a:chOff x="8071950" y="1319647"/>
            <a:chExt cx="885300" cy="997103"/>
          </a:xfrm>
        </p:grpSpPr>
        <p:pic>
          <p:nvPicPr>
            <p:cNvPr id="1022" name="Google Shape;1022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209198" y="1319647"/>
              <a:ext cx="610800" cy="7043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3" name="Google Shape;1023;p73"/>
            <p:cNvSpPr txBox="1"/>
            <p:nvPr/>
          </p:nvSpPr>
          <p:spPr>
            <a:xfrm>
              <a:off x="8071950" y="2003250"/>
              <a:ext cx="8853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Alex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4" name="Google Shape;1024;p73"/>
          <p:cNvGrpSpPr/>
          <p:nvPr/>
        </p:nvGrpSpPr>
        <p:grpSpPr>
          <a:xfrm>
            <a:off x="482825" y="1572125"/>
            <a:ext cx="3560400" cy="2865300"/>
            <a:chOff x="482825" y="1572125"/>
            <a:chExt cx="3560400" cy="2865300"/>
          </a:xfrm>
        </p:grpSpPr>
        <p:grpSp>
          <p:nvGrpSpPr>
            <p:cNvPr id="1025" name="Google Shape;1025;p73"/>
            <p:cNvGrpSpPr/>
            <p:nvPr/>
          </p:nvGrpSpPr>
          <p:grpSpPr>
            <a:xfrm>
              <a:off x="482825" y="1572125"/>
              <a:ext cx="3560400" cy="2865300"/>
              <a:chOff x="482825" y="1572125"/>
              <a:chExt cx="3560400" cy="2865300"/>
            </a:xfrm>
          </p:grpSpPr>
          <p:sp>
            <p:nvSpPr>
              <p:cNvPr id="1026" name="Google Shape;1026;p73"/>
              <p:cNvSpPr/>
              <p:nvPr/>
            </p:nvSpPr>
            <p:spPr>
              <a:xfrm>
                <a:off x="482825" y="1572125"/>
                <a:ext cx="3560400" cy="28653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grpSp>
            <p:nvGrpSpPr>
              <p:cNvPr id="1027" name="Google Shape;1027;p73"/>
              <p:cNvGrpSpPr/>
              <p:nvPr/>
            </p:nvGrpSpPr>
            <p:grpSpPr>
              <a:xfrm>
                <a:off x="808625" y="2031725"/>
                <a:ext cx="2908800" cy="1946100"/>
                <a:chOff x="5219150" y="1726950"/>
                <a:chExt cx="2908800" cy="1946100"/>
              </a:xfrm>
            </p:grpSpPr>
            <p:sp>
              <p:nvSpPr>
                <p:cNvPr id="1028" name="Google Shape;1028;p73"/>
                <p:cNvSpPr/>
                <p:nvPr/>
              </p:nvSpPr>
              <p:spPr>
                <a:xfrm>
                  <a:off x="5219150" y="1726950"/>
                  <a:ext cx="1946100" cy="194610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029" name="Google Shape;1029;p73"/>
                <p:cNvSpPr/>
                <p:nvPr/>
              </p:nvSpPr>
              <p:spPr>
                <a:xfrm>
                  <a:off x="6181850" y="1726950"/>
                  <a:ext cx="1946100" cy="194610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sp>
            <p:nvSpPr>
              <p:cNvPr id="1030" name="Google Shape;1030;p73"/>
              <p:cNvSpPr txBox="1"/>
              <p:nvPr/>
            </p:nvSpPr>
            <p:spPr>
              <a:xfrm>
                <a:off x="649950" y="1927900"/>
                <a:ext cx="5946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even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31" name="Google Shape;1031;p73"/>
              <p:cNvSpPr txBox="1"/>
              <p:nvPr/>
            </p:nvSpPr>
            <p:spPr>
              <a:xfrm>
                <a:off x="3183062" y="1927899"/>
                <a:ext cx="7914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factor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of 18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32" name="Google Shape;1032;p73"/>
              <p:cNvSpPr txBox="1"/>
              <p:nvPr/>
            </p:nvSpPr>
            <p:spPr>
              <a:xfrm>
                <a:off x="2096375" y="2333625"/>
                <a:ext cx="3333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33" name="Google Shape;1033;p73"/>
              <p:cNvSpPr txBox="1"/>
              <p:nvPr/>
            </p:nvSpPr>
            <p:spPr>
              <a:xfrm>
                <a:off x="2096375" y="2962800"/>
                <a:ext cx="3333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34" name="Google Shape;1034;p73"/>
              <p:cNvSpPr txBox="1"/>
              <p:nvPr/>
            </p:nvSpPr>
            <p:spPr>
              <a:xfrm>
                <a:off x="1202475" y="2433150"/>
                <a:ext cx="3333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35" name="Google Shape;1035;p73"/>
              <p:cNvSpPr txBox="1"/>
              <p:nvPr/>
            </p:nvSpPr>
            <p:spPr>
              <a:xfrm>
                <a:off x="3412100" y="4042800"/>
                <a:ext cx="3333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7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36" name="Google Shape;1036;p73"/>
              <p:cNvSpPr txBox="1"/>
              <p:nvPr/>
            </p:nvSpPr>
            <p:spPr>
              <a:xfrm>
                <a:off x="2990275" y="2433150"/>
                <a:ext cx="3333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9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37" name="Google Shape;1037;p73"/>
              <p:cNvSpPr txBox="1"/>
              <p:nvPr/>
            </p:nvSpPr>
            <p:spPr>
              <a:xfrm>
                <a:off x="3078800" y="3237975"/>
                <a:ext cx="3333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38" name="Google Shape;1038;p73"/>
              <p:cNvSpPr txBox="1"/>
              <p:nvPr/>
            </p:nvSpPr>
            <p:spPr>
              <a:xfrm>
                <a:off x="1244550" y="3196425"/>
                <a:ext cx="3333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10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039" name="Google Shape;1039;p73"/>
            <p:cNvSpPr txBox="1"/>
            <p:nvPr/>
          </p:nvSpPr>
          <p:spPr>
            <a:xfrm>
              <a:off x="2618100" y="3602425"/>
              <a:ext cx="333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40" name="Google Shape;1040;p73"/>
          <p:cNvSpPr txBox="1"/>
          <p:nvPr/>
        </p:nvSpPr>
        <p:spPr>
          <a:xfrm>
            <a:off x="482825" y="1572125"/>
            <a:ext cx="21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ξ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Transferring information between </a:t>
            </a:r>
            <a:r>
              <a:rPr lang="en-GB"/>
              <a:t>diagram</a:t>
            </a:r>
            <a:r>
              <a:rPr lang="en-GB"/>
              <a:t>s</a:t>
            </a:r>
            <a:endParaRPr/>
          </a:p>
        </p:txBody>
      </p:sp>
      <p:sp>
        <p:nvSpPr>
          <p:cNvPr id="1046" name="Google Shape;1046;p74"/>
          <p:cNvSpPr txBox="1"/>
          <p:nvPr/>
        </p:nvSpPr>
        <p:spPr>
          <a:xfrm>
            <a:off x="324000" y="2011625"/>
            <a:ext cx="3614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will spin the same spinner as Alex, but shows the events of the trial on an outcome tree.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7" name="Google Shape;1047;p74"/>
          <p:cNvSpPr txBox="1"/>
          <p:nvPr/>
        </p:nvSpPr>
        <p:spPr>
          <a:xfrm>
            <a:off x="324000" y="664350"/>
            <a:ext cx="4183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 will spin a spinner with outcomes: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{1, 2, 3, 4, 6, 7, 9, 10}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8" name="Google Shape;1048;p74"/>
          <p:cNvSpPr txBox="1"/>
          <p:nvPr/>
        </p:nvSpPr>
        <p:spPr>
          <a:xfrm>
            <a:off x="5478071" y="2685557"/>
            <a:ext cx="24849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odd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49" name="Google Shape;1049;p74"/>
          <p:cNvCxnSpPr/>
          <p:nvPr/>
        </p:nvCxnSpPr>
        <p:spPr>
          <a:xfrm flipH="1" rot="10800000">
            <a:off x="4596523" y="1188724"/>
            <a:ext cx="813300" cy="746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0" name="Google Shape;1050;p74"/>
          <p:cNvCxnSpPr/>
          <p:nvPr/>
        </p:nvCxnSpPr>
        <p:spPr>
          <a:xfrm>
            <a:off x="4596523" y="2143957"/>
            <a:ext cx="813300" cy="746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1" name="Google Shape;1051;p74"/>
          <p:cNvSpPr txBox="1"/>
          <p:nvPr/>
        </p:nvSpPr>
        <p:spPr>
          <a:xfrm>
            <a:off x="5501395" y="1044294"/>
            <a:ext cx="181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52" name="Google Shape;1052;p74"/>
          <p:cNvCxnSpPr/>
          <p:nvPr/>
        </p:nvCxnSpPr>
        <p:spPr>
          <a:xfrm flipH="1" rot="10800000">
            <a:off x="6106541" y="812983"/>
            <a:ext cx="813300" cy="347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3" name="Google Shape;1053;p74"/>
          <p:cNvCxnSpPr/>
          <p:nvPr/>
        </p:nvCxnSpPr>
        <p:spPr>
          <a:xfrm>
            <a:off x="6106541" y="1257789"/>
            <a:ext cx="813300" cy="347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4" name="Google Shape;1054;p74"/>
          <p:cNvSpPr txBox="1"/>
          <p:nvPr/>
        </p:nvSpPr>
        <p:spPr>
          <a:xfrm>
            <a:off x="6974523" y="651225"/>
            <a:ext cx="14946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factor of 18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74"/>
          <p:cNvSpPr txBox="1"/>
          <p:nvPr/>
        </p:nvSpPr>
        <p:spPr>
          <a:xfrm>
            <a:off x="6974526" y="1456850"/>
            <a:ext cx="17469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factor of 18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56" name="Google Shape;1056;p74"/>
          <p:cNvCxnSpPr/>
          <p:nvPr/>
        </p:nvCxnSpPr>
        <p:spPr>
          <a:xfrm flipH="1" rot="10800000">
            <a:off x="6012667" y="2521873"/>
            <a:ext cx="813300" cy="347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7" name="Google Shape;1057;p74"/>
          <p:cNvCxnSpPr/>
          <p:nvPr/>
        </p:nvCxnSpPr>
        <p:spPr>
          <a:xfrm>
            <a:off x="6012667" y="2966679"/>
            <a:ext cx="813300" cy="347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8" name="Google Shape;1058;p74"/>
          <p:cNvSpPr txBox="1"/>
          <p:nvPr/>
        </p:nvSpPr>
        <p:spPr>
          <a:xfrm>
            <a:off x="6880649" y="2360125"/>
            <a:ext cx="16335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factor of 18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74"/>
          <p:cNvSpPr txBox="1"/>
          <p:nvPr/>
        </p:nvSpPr>
        <p:spPr>
          <a:xfrm>
            <a:off x="6880651" y="3165725"/>
            <a:ext cx="18408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factor of 18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0" name="Google Shape;1060;p74"/>
          <p:cNvSpPr/>
          <p:nvPr/>
        </p:nvSpPr>
        <p:spPr>
          <a:xfrm>
            <a:off x="7078277" y="962437"/>
            <a:ext cx="13908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1" name="Google Shape;1061;p74"/>
          <p:cNvSpPr/>
          <p:nvPr/>
        </p:nvSpPr>
        <p:spPr>
          <a:xfrm>
            <a:off x="7092030" y="1751912"/>
            <a:ext cx="13908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2" name="Google Shape;1062;p74"/>
          <p:cNvSpPr/>
          <p:nvPr/>
        </p:nvSpPr>
        <p:spPr>
          <a:xfrm>
            <a:off x="7135688" y="2687079"/>
            <a:ext cx="13908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3" name="Google Shape;1063;p74"/>
          <p:cNvSpPr/>
          <p:nvPr/>
        </p:nvSpPr>
        <p:spPr>
          <a:xfrm>
            <a:off x="7135688" y="3476554"/>
            <a:ext cx="13908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4" name="Google Shape;1064;p74"/>
          <p:cNvSpPr txBox="1"/>
          <p:nvPr/>
        </p:nvSpPr>
        <p:spPr>
          <a:xfrm>
            <a:off x="7092024" y="1015225"/>
            <a:ext cx="139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2, 4, 8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5" name="Google Shape;1065;p74"/>
          <p:cNvSpPr txBox="1"/>
          <p:nvPr/>
        </p:nvSpPr>
        <p:spPr>
          <a:xfrm>
            <a:off x="7092024" y="1804700"/>
            <a:ext cx="139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6" name="Google Shape;1066;p74"/>
          <p:cNvSpPr txBox="1"/>
          <p:nvPr/>
        </p:nvSpPr>
        <p:spPr>
          <a:xfrm>
            <a:off x="7135699" y="2739875"/>
            <a:ext cx="139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1, 3, 6, 9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7" name="Google Shape;1067;p74"/>
          <p:cNvSpPr txBox="1"/>
          <p:nvPr/>
        </p:nvSpPr>
        <p:spPr>
          <a:xfrm>
            <a:off x="7135699" y="3529350"/>
            <a:ext cx="139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68" name="Google Shape;1068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872155" y="3935556"/>
            <a:ext cx="423385" cy="529447"/>
          </a:xfrm>
          <a:prstGeom prst="rect">
            <a:avLst/>
          </a:prstGeom>
          <a:noFill/>
          <a:ln>
            <a:noFill/>
          </a:ln>
        </p:spPr>
      </p:pic>
      <p:sp>
        <p:nvSpPr>
          <p:cNvPr id="1069" name="Google Shape;1069;p74"/>
          <p:cNvSpPr txBox="1"/>
          <p:nvPr/>
        </p:nvSpPr>
        <p:spPr>
          <a:xfrm flipH="1">
            <a:off x="7641188" y="4414863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Transferring information between </a:t>
            </a:r>
            <a:r>
              <a:rPr lang="en-GB"/>
              <a:t>diagram</a:t>
            </a:r>
            <a:r>
              <a:rPr lang="en-GB"/>
              <a:t>s</a:t>
            </a:r>
            <a:endParaRPr/>
          </a:p>
        </p:txBody>
      </p:sp>
      <p:sp>
        <p:nvSpPr>
          <p:cNvPr id="1075" name="Google Shape;1075;p75"/>
          <p:cNvSpPr txBox="1"/>
          <p:nvPr/>
        </p:nvSpPr>
        <p:spPr>
          <a:xfrm>
            <a:off x="5478071" y="2685557"/>
            <a:ext cx="24849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odd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76" name="Google Shape;1076;p75"/>
          <p:cNvCxnSpPr/>
          <p:nvPr/>
        </p:nvCxnSpPr>
        <p:spPr>
          <a:xfrm flipH="1" rot="10800000">
            <a:off x="4596523" y="1188724"/>
            <a:ext cx="813300" cy="746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7" name="Google Shape;1077;p75"/>
          <p:cNvCxnSpPr/>
          <p:nvPr/>
        </p:nvCxnSpPr>
        <p:spPr>
          <a:xfrm>
            <a:off x="4596523" y="2143957"/>
            <a:ext cx="813300" cy="746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8" name="Google Shape;1078;p75"/>
          <p:cNvSpPr txBox="1"/>
          <p:nvPr/>
        </p:nvSpPr>
        <p:spPr>
          <a:xfrm>
            <a:off x="5501395" y="1044294"/>
            <a:ext cx="181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79" name="Google Shape;1079;p75"/>
          <p:cNvCxnSpPr/>
          <p:nvPr/>
        </p:nvCxnSpPr>
        <p:spPr>
          <a:xfrm flipH="1" rot="10800000">
            <a:off x="6106541" y="812983"/>
            <a:ext cx="813300" cy="347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0" name="Google Shape;1080;p75"/>
          <p:cNvCxnSpPr/>
          <p:nvPr/>
        </p:nvCxnSpPr>
        <p:spPr>
          <a:xfrm>
            <a:off x="6106541" y="1257789"/>
            <a:ext cx="813300" cy="347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1" name="Google Shape;1081;p75"/>
          <p:cNvSpPr txBox="1"/>
          <p:nvPr/>
        </p:nvSpPr>
        <p:spPr>
          <a:xfrm>
            <a:off x="6974523" y="651225"/>
            <a:ext cx="14946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factor of 18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75"/>
          <p:cNvSpPr txBox="1"/>
          <p:nvPr/>
        </p:nvSpPr>
        <p:spPr>
          <a:xfrm>
            <a:off x="6974526" y="1456850"/>
            <a:ext cx="17469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factor of 18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83" name="Google Shape;1083;p75"/>
          <p:cNvCxnSpPr/>
          <p:nvPr/>
        </p:nvCxnSpPr>
        <p:spPr>
          <a:xfrm flipH="1" rot="10800000">
            <a:off x="6012667" y="2521873"/>
            <a:ext cx="813300" cy="347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4" name="Google Shape;1084;p75"/>
          <p:cNvCxnSpPr/>
          <p:nvPr/>
        </p:nvCxnSpPr>
        <p:spPr>
          <a:xfrm>
            <a:off x="6012667" y="2966679"/>
            <a:ext cx="813300" cy="347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5" name="Google Shape;1085;p75"/>
          <p:cNvSpPr txBox="1"/>
          <p:nvPr/>
        </p:nvSpPr>
        <p:spPr>
          <a:xfrm>
            <a:off x="6880649" y="2360125"/>
            <a:ext cx="16335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factor of 18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6" name="Google Shape;1086;p75"/>
          <p:cNvSpPr txBox="1"/>
          <p:nvPr/>
        </p:nvSpPr>
        <p:spPr>
          <a:xfrm>
            <a:off x="6880651" y="3165725"/>
            <a:ext cx="18408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factor of 18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7" name="Google Shape;1087;p75"/>
          <p:cNvSpPr/>
          <p:nvPr/>
        </p:nvSpPr>
        <p:spPr>
          <a:xfrm>
            <a:off x="7078277" y="962437"/>
            <a:ext cx="13908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8" name="Google Shape;1088;p75"/>
          <p:cNvSpPr/>
          <p:nvPr/>
        </p:nvSpPr>
        <p:spPr>
          <a:xfrm>
            <a:off x="7092030" y="1751912"/>
            <a:ext cx="13908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9" name="Google Shape;1089;p75"/>
          <p:cNvSpPr/>
          <p:nvPr/>
        </p:nvSpPr>
        <p:spPr>
          <a:xfrm>
            <a:off x="7135688" y="2687079"/>
            <a:ext cx="13908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0" name="Google Shape;1090;p75"/>
          <p:cNvSpPr/>
          <p:nvPr/>
        </p:nvSpPr>
        <p:spPr>
          <a:xfrm>
            <a:off x="7135688" y="3476554"/>
            <a:ext cx="13908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1" name="Google Shape;1091;p75"/>
          <p:cNvSpPr txBox="1"/>
          <p:nvPr/>
        </p:nvSpPr>
        <p:spPr>
          <a:xfrm>
            <a:off x="7092024" y="1015225"/>
            <a:ext cx="139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2, 4, 8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2" name="Google Shape;1092;p75"/>
          <p:cNvSpPr txBox="1"/>
          <p:nvPr/>
        </p:nvSpPr>
        <p:spPr>
          <a:xfrm>
            <a:off x="7092024" y="1804700"/>
            <a:ext cx="139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3" name="Google Shape;1093;p75"/>
          <p:cNvSpPr txBox="1"/>
          <p:nvPr/>
        </p:nvSpPr>
        <p:spPr>
          <a:xfrm>
            <a:off x="7135699" y="2739875"/>
            <a:ext cx="139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1, 3, 6, 9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4" name="Google Shape;1094;p75"/>
          <p:cNvSpPr txBox="1"/>
          <p:nvPr/>
        </p:nvSpPr>
        <p:spPr>
          <a:xfrm>
            <a:off x="7135699" y="3529350"/>
            <a:ext cx="139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95" name="Google Shape;1095;p75"/>
          <p:cNvGrpSpPr/>
          <p:nvPr/>
        </p:nvGrpSpPr>
        <p:grpSpPr>
          <a:xfrm>
            <a:off x="324000" y="727350"/>
            <a:ext cx="3560400" cy="2865300"/>
            <a:chOff x="482825" y="1572125"/>
            <a:chExt cx="3560400" cy="2865300"/>
          </a:xfrm>
        </p:grpSpPr>
        <p:grpSp>
          <p:nvGrpSpPr>
            <p:cNvPr id="1096" name="Google Shape;1096;p75"/>
            <p:cNvGrpSpPr/>
            <p:nvPr/>
          </p:nvGrpSpPr>
          <p:grpSpPr>
            <a:xfrm>
              <a:off x="482825" y="1572125"/>
              <a:ext cx="3560400" cy="2865300"/>
              <a:chOff x="482825" y="1572125"/>
              <a:chExt cx="3560400" cy="2865300"/>
            </a:xfrm>
          </p:grpSpPr>
          <p:sp>
            <p:nvSpPr>
              <p:cNvPr id="1097" name="Google Shape;1097;p75"/>
              <p:cNvSpPr/>
              <p:nvPr/>
            </p:nvSpPr>
            <p:spPr>
              <a:xfrm>
                <a:off x="482825" y="1572125"/>
                <a:ext cx="3560400" cy="28653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grpSp>
            <p:nvGrpSpPr>
              <p:cNvPr id="1098" name="Google Shape;1098;p75"/>
              <p:cNvGrpSpPr/>
              <p:nvPr/>
            </p:nvGrpSpPr>
            <p:grpSpPr>
              <a:xfrm>
                <a:off x="808625" y="2031725"/>
                <a:ext cx="2908800" cy="1946100"/>
                <a:chOff x="5219150" y="1726950"/>
                <a:chExt cx="2908800" cy="1946100"/>
              </a:xfrm>
            </p:grpSpPr>
            <p:sp>
              <p:nvSpPr>
                <p:cNvPr id="1099" name="Google Shape;1099;p75"/>
                <p:cNvSpPr/>
                <p:nvPr/>
              </p:nvSpPr>
              <p:spPr>
                <a:xfrm>
                  <a:off x="5219150" y="1726950"/>
                  <a:ext cx="1946100" cy="194610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100" name="Google Shape;1100;p75"/>
                <p:cNvSpPr/>
                <p:nvPr/>
              </p:nvSpPr>
              <p:spPr>
                <a:xfrm>
                  <a:off x="6181850" y="1726950"/>
                  <a:ext cx="1946100" cy="194610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sp>
            <p:nvSpPr>
              <p:cNvPr id="1101" name="Google Shape;1101;p75"/>
              <p:cNvSpPr txBox="1"/>
              <p:nvPr/>
            </p:nvSpPr>
            <p:spPr>
              <a:xfrm>
                <a:off x="649950" y="1927900"/>
                <a:ext cx="5946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even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02" name="Google Shape;1102;p75"/>
              <p:cNvSpPr txBox="1"/>
              <p:nvPr/>
            </p:nvSpPr>
            <p:spPr>
              <a:xfrm>
                <a:off x="3183062" y="1927899"/>
                <a:ext cx="7914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factors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of 18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03" name="Google Shape;1103;p75"/>
              <p:cNvSpPr txBox="1"/>
              <p:nvPr/>
            </p:nvSpPr>
            <p:spPr>
              <a:xfrm>
                <a:off x="2096375" y="2333625"/>
                <a:ext cx="3333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04" name="Google Shape;1104;p75"/>
              <p:cNvSpPr txBox="1"/>
              <p:nvPr/>
            </p:nvSpPr>
            <p:spPr>
              <a:xfrm>
                <a:off x="2096375" y="2962800"/>
                <a:ext cx="3333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05" name="Google Shape;1105;p75"/>
              <p:cNvSpPr txBox="1"/>
              <p:nvPr/>
            </p:nvSpPr>
            <p:spPr>
              <a:xfrm>
                <a:off x="1202475" y="2433150"/>
                <a:ext cx="3333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06" name="Google Shape;1106;p75"/>
              <p:cNvSpPr txBox="1"/>
              <p:nvPr/>
            </p:nvSpPr>
            <p:spPr>
              <a:xfrm>
                <a:off x="3412100" y="4042800"/>
                <a:ext cx="3333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7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07" name="Google Shape;1107;p75"/>
              <p:cNvSpPr txBox="1"/>
              <p:nvPr/>
            </p:nvSpPr>
            <p:spPr>
              <a:xfrm>
                <a:off x="2990275" y="2433150"/>
                <a:ext cx="3333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9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08" name="Google Shape;1108;p75"/>
              <p:cNvSpPr txBox="1"/>
              <p:nvPr/>
            </p:nvSpPr>
            <p:spPr>
              <a:xfrm>
                <a:off x="3078800" y="3237975"/>
                <a:ext cx="3333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09" name="Google Shape;1109;p75"/>
              <p:cNvSpPr txBox="1"/>
              <p:nvPr/>
            </p:nvSpPr>
            <p:spPr>
              <a:xfrm>
                <a:off x="1244550" y="3196425"/>
                <a:ext cx="3333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10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110" name="Google Shape;1110;p75"/>
            <p:cNvSpPr txBox="1"/>
            <p:nvPr/>
          </p:nvSpPr>
          <p:spPr>
            <a:xfrm>
              <a:off x="2618100" y="3602425"/>
              <a:ext cx="333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1" name="Google Shape;1111;p75"/>
          <p:cNvGrpSpPr/>
          <p:nvPr/>
        </p:nvGrpSpPr>
        <p:grpSpPr>
          <a:xfrm flipH="1">
            <a:off x="324006" y="3705848"/>
            <a:ext cx="684160" cy="770561"/>
            <a:chOff x="8071950" y="1319647"/>
            <a:chExt cx="885300" cy="997103"/>
          </a:xfrm>
        </p:grpSpPr>
        <p:pic>
          <p:nvPicPr>
            <p:cNvPr id="1112" name="Google Shape;1112;p7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209198" y="1319647"/>
              <a:ext cx="610800" cy="7043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3" name="Google Shape;1113;p75"/>
            <p:cNvSpPr txBox="1"/>
            <p:nvPr/>
          </p:nvSpPr>
          <p:spPr>
            <a:xfrm>
              <a:off x="8071950" y="2003250"/>
              <a:ext cx="8853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Alex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14" name="Google Shape;1114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872155" y="3935556"/>
            <a:ext cx="423385" cy="529447"/>
          </a:xfrm>
          <a:prstGeom prst="rect">
            <a:avLst/>
          </a:prstGeom>
          <a:noFill/>
          <a:ln>
            <a:noFill/>
          </a:ln>
        </p:spPr>
      </p:pic>
      <p:sp>
        <p:nvSpPr>
          <p:cNvPr id="1115" name="Google Shape;1115;p75"/>
          <p:cNvSpPr txBox="1"/>
          <p:nvPr/>
        </p:nvSpPr>
        <p:spPr>
          <a:xfrm>
            <a:off x="1162100" y="3897400"/>
            <a:ext cx="6346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Alex’s Venn diagram is fully correct, whilst Jun’s outcome tree is not.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By comparing the two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diagram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s, find Jun’s three errors.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6" name="Google Shape;1116;p75"/>
          <p:cNvSpPr txBox="1"/>
          <p:nvPr/>
        </p:nvSpPr>
        <p:spPr>
          <a:xfrm flipH="1">
            <a:off x="7641188" y="4414863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7" name="Google Shape;1117;p75"/>
          <p:cNvSpPr txBox="1"/>
          <p:nvPr/>
        </p:nvSpPr>
        <p:spPr>
          <a:xfrm>
            <a:off x="324000" y="727350"/>
            <a:ext cx="21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ξ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Transferring information between </a:t>
            </a:r>
            <a:r>
              <a:rPr lang="en-GB"/>
              <a:t>diagram</a:t>
            </a:r>
            <a:r>
              <a:rPr lang="en-GB"/>
              <a:t>s</a:t>
            </a:r>
            <a:endParaRPr/>
          </a:p>
        </p:txBody>
      </p:sp>
      <p:sp>
        <p:nvSpPr>
          <p:cNvPr id="1123" name="Google Shape;1123;p76"/>
          <p:cNvSpPr txBox="1"/>
          <p:nvPr/>
        </p:nvSpPr>
        <p:spPr>
          <a:xfrm>
            <a:off x="5478071" y="2685557"/>
            <a:ext cx="24849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odd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24" name="Google Shape;1124;p76"/>
          <p:cNvCxnSpPr/>
          <p:nvPr/>
        </p:nvCxnSpPr>
        <p:spPr>
          <a:xfrm flipH="1" rot="10800000">
            <a:off x="4596523" y="1188724"/>
            <a:ext cx="813300" cy="746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5" name="Google Shape;1125;p76"/>
          <p:cNvCxnSpPr/>
          <p:nvPr/>
        </p:nvCxnSpPr>
        <p:spPr>
          <a:xfrm>
            <a:off x="4596523" y="2143957"/>
            <a:ext cx="813300" cy="746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6" name="Google Shape;1126;p76"/>
          <p:cNvSpPr txBox="1"/>
          <p:nvPr/>
        </p:nvSpPr>
        <p:spPr>
          <a:xfrm>
            <a:off x="5501395" y="1044294"/>
            <a:ext cx="181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27" name="Google Shape;1127;p76"/>
          <p:cNvCxnSpPr/>
          <p:nvPr/>
        </p:nvCxnSpPr>
        <p:spPr>
          <a:xfrm flipH="1" rot="10800000">
            <a:off x="6106541" y="812983"/>
            <a:ext cx="813300" cy="347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8" name="Google Shape;1128;p76"/>
          <p:cNvCxnSpPr/>
          <p:nvPr/>
        </p:nvCxnSpPr>
        <p:spPr>
          <a:xfrm>
            <a:off x="6106541" y="1257789"/>
            <a:ext cx="813300" cy="347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9" name="Google Shape;1129;p76"/>
          <p:cNvSpPr txBox="1"/>
          <p:nvPr/>
        </p:nvSpPr>
        <p:spPr>
          <a:xfrm>
            <a:off x="6974523" y="651225"/>
            <a:ext cx="14946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factor of 18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0" name="Google Shape;1130;p76"/>
          <p:cNvSpPr txBox="1"/>
          <p:nvPr/>
        </p:nvSpPr>
        <p:spPr>
          <a:xfrm>
            <a:off x="6974526" y="1456850"/>
            <a:ext cx="17469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factor of 18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31" name="Google Shape;1131;p76"/>
          <p:cNvCxnSpPr/>
          <p:nvPr/>
        </p:nvCxnSpPr>
        <p:spPr>
          <a:xfrm flipH="1" rot="10800000">
            <a:off x="6012667" y="2521873"/>
            <a:ext cx="813300" cy="347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2" name="Google Shape;1132;p76"/>
          <p:cNvCxnSpPr/>
          <p:nvPr/>
        </p:nvCxnSpPr>
        <p:spPr>
          <a:xfrm>
            <a:off x="6012667" y="2966679"/>
            <a:ext cx="813300" cy="347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3" name="Google Shape;1133;p76"/>
          <p:cNvSpPr txBox="1"/>
          <p:nvPr/>
        </p:nvSpPr>
        <p:spPr>
          <a:xfrm>
            <a:off x="6880649" y="2360125"/>
            <a:ext cx="16335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factor of 18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4" name="Google Shape;1134;p76"/>
          <p:cNvSpPr txBox="1"/>
          <p:nvPr/>
        </p:nvSpPr>
        <p:spPr>
          <a:xfrm>
            <a:off x="6880651" y="3165725"/>
            <a:ext cx="18408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factor of 18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5" name="Google Shape;1135;p76"/>
          <p:cNvSpPr/>
          <p:nvPr/>
        </p:nvSpPr>
        <p:spPr>
          <a:xfrm>
            <a:off x="7078277" y="962437"/>
            <a:ext cx="13908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6" name="Google Shape;1136;p76"/>
          <p:cNvSpPr/>
          <p:nvPr/>
        </p:nvSpPr>
        <p:spPr>
          <a:xfrm>
            <a:off x="7092030" y="1751912"/>
            <a:ext cx="13908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7" name="Google Shape;1137;p76"/>
          <p:cNvSpPr/>
          <p:nvPr/>
        </p:nvSpPr>
        <p:spPr>
          <a:xfrm>
            <a:off x="7135688" y="2687079"/>
            <a:ext cx="13908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8" name="Google Shape;1138;p76"/>
          <p:cNvSpPr/>
          <p:nvPr/>
        </p:nvSpPr>
        <p:spPr>
          <a:xfrm>
            <a:off x="7135688" y="3476554"/>
            <a:ext cx="13908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9" name="Google Shape;1139;p76"/>
          <p:cNvSpPr txBox="1"/>
          <p:nvPr/>
        </p:nvSpPr>
        <p:spPr>
          <a:xfrm>
            <a:off x="7092024" y="1015225"/>
            <a:ext cx="139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2, 4, 8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0" name="Google Shape;1140;p76"/>
          <p:cNvSpPr txBox="1"/>
          <p:nvPr/>
        </p:nvSpPr>
        <p:spPr>
          <a:xfrm>
            <a:off x="7135699" y="2739875"/>
            <a:ext cx="139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1, 3, 6, 9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1" name="Google Shape;1141;p76"/>
          <p:cNvSpPr txBox="1"/>
          <p:nvPr/>
        </p:nvSpPr>
        <p:spPr>
          <a:xfrm>
            <a:off x="7092024" y="1804700"/>
            <a:ext cx="139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2" name="Google Shape;1142;p76"/>
          <p:cNvSpPr txBox="1"/>
          <p:nvPr/>
        </p:nvSpPr>
        <p:spPr>
          <a:xfrm>
            <a:off x="7135699" y="3529350"/>
            <a:ext cx="139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43" name="Google Shape;1143;p76"/>
          <p:cNvGrpSpPr/>
          <p:nvPr/>
        </p:nvGrpSpPr>
        <p:grpSpPr>
          <a:xfrm>
            <a:off x="324000" y="727350"/>
            <a:ext cx="3560400" cy="2865300"/>
            <a:chOff x="482825" y="1572125"/>
            <a:chExt cx="3560400" cy="2865300"/>
          </a:xfrm>
        </p:grpSpPr>
        <p:grpSp>
          <p:nvGrpSpPr>
            <p:cNvPr id="1144" name="Google Shape;1144;p76"/>
            <p:cNvGrpSpPr/>
            <p:nvPr/>
          </p:nvGrpSpPr>
          <p:grpSpPr>
            <a:xfrm>
              <a:off x="482825" y="1572125"/>
              <a:ext cx="3560400" cy="2865300"/>
              <a:chOff x="482825" y="1572125"/>
              <a:chExt cx="3560400" cy="2865300"/>
            </a:xfrm>
          </p:grpSpPr>
          <p:sp>
            <p:nvSpPr>
              <p:cNvPr id="1145" name="Google Shape;1145;p76"/>
              <p:cNvSpPr/>
              <p:nvPr/>
            </p:nvSpPr>
            <p:spPr>
              <a:xfrm>
                <a:off x="482825" y="1572125"/>
                <a:ext cx="3560400" cy="28653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grpSp>
            <p:nvGrpSpPr>
              <p:cNvPr id="1146" name="Google Shape;1146;p76"/>
              <p:cNvGrpSpPr/>
              <p:nvPr/>
            </p:nvGrpSpPr>
            <p:grpSpPr>
              <a:xfrm>
                <a:off x="808625" y="2031725"/>
                <a:ext cx="2908800" cy="1946100"/>
                <a:chOff x="5219150" y="1726950"/>
                <a:chExt cx="2908800" cy="1946100"/>
              </a:xfrm>
            </p:grpSpPr>
            <p:sp>
              <p:nvSpPr>
                <p:cNvPr id="1147" name="Google Shape;1147;p76"/>
                <p:cNvSpPr/>
                <p:nvPr/>
              </p:nvSpPr>
              <p:spPr>
                <a:xfrm>
                  <a:off x="5219150" y="1726950"/>
                  <a:ext cx="1946100" cy="194610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148" name="Google Shape;1148;p76"/>
                <p:cNvSpPr/>
                <p:nvPr/>
              </p:nvSpPr>
              <p:spPr>
                <a:xfrm>
                  <a:off x="6181850" y="1726950"/>
                  <a:ext cx="1946100" cy="194610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sp>
            <p:nvSpPr>
              <p:cNvPr id="1149" name="Google Shape;1149;p76"/>
              <p:cNvSpPr txBox="1"/>
              <p:nvPr/>
            </p:nvSpPr>
            <p:spPr>
              <a:xfrm>
                <a:off x="649950" y="1927900"/>
                <a:ext cx="5946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even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50" name="Google Shape;1150;p76"/>
              <p:cNvSpPr txBox="1"/>
              <p:nvPr/>
            </p:nvSpPr>
            <p:spPr>
              <a:xfrm>
                <a:off x="3183062" y="1927899"/>
                <a:ext cx="7914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factors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of 18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51" name="Google Shape;1151;p76"/>
              <p:cNvSpPr txBox="1"/>
              <p:nvPr/>
            </p:nvSpPr>
            <p:spPr>
              <a:xfrm>
                <a:off x="2096375" y="2333625"/>
                <a:ext cx="3333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52" name="Google Shape;1152;p76"/>
              <p:cNvSpPr txBox="1"/>
              <p:nvPr/>
            </p:nvSpPr>
            <p:spPr>
              <a:xfrm>
                <a:off x="2096375" y="2962800"/>
                <a:ext cx="3333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53" name="Google Shape;1153;p76"/>
              <p:cNvSpPr txBox="1"/>
              <p:nvPr/>
            </p:nvSpPr>
            <p:spPr>
              <a:xfrm>
                <a:off x="1202475" y="2433150"/>
                <a:ext cx="3333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54" name="Google Shape;1154;p76"/>
              <p:cNvSpPr txBox="1"/>
              <p:nvPr/>
            </p:nvSpPr>
            <p:spPr>
              <a:xfrm>
                <a:off x="3412100" y="4042800"/>
                <a:ext cx="3333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7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55" name="Google Shape;1155;p76"/>
              <p:cNvSpPr txBox="1"/>
              <p:nvPr/>
            </p:nvSpPr>
            <p:spPr>
              <a:xfrm>
                <a:off x="2990275" y="2433150"/>
                <a:ext cx="3333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9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56" name="Google Shape;1156;p76"/>
              <p:cNvSpPr txBox="1"/>
              <p:nvPr/>
            </p:nvSpPr>
            <p:spPr>
              <a:xfrm>
                <a:off x="3078800" y="3237975"/>
                <a:ext cx="3333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57" name="Google Shape;1157;p76"/>
              <p:cNvSpPr txBox="1"/>
              <p:nvPr/>
            </p:nvSpPr>
            <p:spPr>
              <a:xfrm>
                <a:off x="1244550" y="3196425"/>
                <a:ext cx="3333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10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158" name="Google Shape;1158;p76"/>
            <p:cNvSpPr txBox="1"/>
            <p:nvPr/>
          </p:nvSpPr>
          <p:spPr>
            <a:xfrm>
              <a:off x="2618100" y="3602425"/>
              <a:ext cx="333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9" name="Google Shape;1159;p76"/>
          <p:cNvGrpSpPr/>
          <p:nvPr/>
        </p:nvGrpSpPr>
        <p:grpSpPr>
          <a:xfrm flipH="1">
            <a:off x="324006" y="3705848"/>
            <a:ext cx="684160" cy="770561"/>
            <a:chOff x="8071950" y="1319647"/>
            <a:chExt cx="885300" cy="997103"/>
          </a:xfrm>
        </p:grpSpPr>
        <p:pic>
          <p:nvPicPr>
            <p:cNvPr id="1160" name="Google Shape;1160;p7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209198" y="1319647"/>
              <a:ext cx="610800" cy="7043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1" name="Google Shape;1161;p76"/>
            <p:cNvSpPr txBox="1"/>
            <p:nvPr/>
          </p:nvSpPr>
          <p:spPr>
            <a:xfrm>
              <a:off x="8071950" y="2003250"/>
              <a:ext cx="8853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Alex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62" name="Google Shape;1162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872155" y="3935556"/>
            <a:ext cx="423385" cy="529447"/>
          </a:xfrm>
          <a:prstGeom prst="rect">
            <a:avLst/>
          </a:prstGeom>
          <a:noFill/>
          <a:ln>
            <a:noFill/>
          </a:ln>
        </p:spPr>
      </p:pic>
      <p:sp>
        <p:nvSpPr>
          <p:cNvPr id="1163" name="Google Shape;1163;p76"/>
          <p:cNvSpPr txBox="1"/>
          <p:nvPr/>
        </p:nvSpPr>
        <p:spPr>
          <a:xfrm flipH="1">
            <a:off x="7641188" y="4414863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64" name="Google Shape;1164;p76"/>
          <p:cNvGrpSpPr/>
          <p:nvPr/>
        </p:nvGrpSpPr>
        <p:grpSpPr>
          <a:xfrm>
            <a:off x="1918425" y="1461250"/>
            <a:ext cx="6223153" cy="1577500"/>
            <a:chOff x="1918425" y="1461250"/>
            <a:chExt cx="6223153" cy="1577500"/>
          </a:xfrm>
        </p:grpSpPr>
        <p:sp>
          <p:nvSpPr>
            <p:cNvPr id="1165" name="Google Shape;1165;p76"/>
            <p:cNvSpPr/>
            <p:nvPr/>
          </p:nvSpPr>
          <p:spPr>
            <a:xfrm rot="5400000">
              <a:off x="1945425" y="1434250"/>
              <a:ext cx="317400" cy="371400"/>
            </a:xfrm>
            <a:prstGeom prst="roundRect">
              <a:avLst>
                <a:gd fmla="val 5961" name="adj"/>
              </a:avLst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6" name="Google Shape;1166;p76"/>
            <p:cNvSpPr/>
            <p:nvPr/>
          </p:nvSpPr>
          <p:spPr>
            <a:xfrm rot="5400000">
              <a:off x="7797178" y="2694350"/>
              <a:ext cx="317400" cy="371400"/>
            </a:xfrm>
            <a:prstGeom prst="roundRect">
              <a:avLst>
                <a:gd fmla="val 5961" name="adj"/>
              </a:avLst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67" name="Google Shape;1167;p76"/>
          <p:cNvSpPr/>
          <p:nvPr/>
        </p:nvSpPr>
        <p:spPr>
          <a:xfrm rot="5400000">
            <a:off x="7899153" y="968125"/>
            <a:ext cx="317400" cy="3714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68" name="Google Shape;1168;p76"/>
          <p:cNvGrpSpPr/>
          <p:nvPr/>
        </p:nvGrpSpPr>
        <p:grpSpPr>
          <a:xfrm>
            <a:off x="1028807" y="995125"/>
            <a:ext cx="6944321" cy="881250"/>
            <a:chOff x="1028807" y="995125"/>
            <a:chExt cx="6944321" cy="881250"/>
          </a:xfrm>
        </p:grpSpPr>
        <p:sp>
          <p:nvSpPr>
            <p:cNvPr id="1169" name="Google Shape;1169;p76"/>
            <p:cNvSpPr/>
            <p:nvPr/>
          </p:nvSpPr>
          <p:spPr>
            <a:xfrm rot="5400000">
              <a:off x="7628728" y="968125"/>
              <a:ext cx="317400" cy="371400"/>
            </a:xfrm>
            <a:prstGeom prst="roundRect">
              <a:avLst>
                <a:gd fmla="val 5961" name="adj"/>
              </a:avLst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0" name="Google Shape;1170;p76"/>
            <p:cNvSpPr/>
            <p:nvPr/>
          </p:nvSpPr>
          <p:spPr>
            <a:xfrm rot="5400000">
              <a:off x="1055807" y="1531975"/>
              <a:ext cx="317400" cy="371400"/>
            </a:xfrm>
            <a:prstGeom prst="roundRect">
              <a:avLst>
                <a:gd fmla="val 5961" name="adj"/>
              </a:avLst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71" name="Google Shape;1171;p76"/>
          <p:cNvSpPr txBox="1"/>
          <p:nvPr/>
        </p:nvSpPr>
        <p:spPr>
          <a:xfrm>
            <a:off x="1134574" y="3785950"/>
            <a:ext cx="4435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 is even, not odd.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2" name="Google Shape;1172;p76"/>
          <p:cNvSpPr txBox="1"/>
          <p:nvPr/>
        </p:nvSpPr>
        <p:spPr>
          <a:xfrm>
            <a:off x="1134587" y="4102275"/>
            <a:ext cx="6635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 isn’t a factor of 18, and wasn’t an outcome of the spinner.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3" name="Google Shape;1173;p76"/>
          <p:cNvSpPr txBox="1"/>
          <p:nvPr/>
        </p:nvSpPr>
        <p:spPr>
          <a:xfrm>
            <a:off x="1134587" y="4418600"/>
            <a:ext cx="6635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 is even but it isn’t a factor of 18.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4" name="Google Shape;1174;p76"/>
          <p:cNvSpPr txBox="1"/>
          <p:nvPr/>
        </p:nvSpPr>
        <p:spPr>
          <a:xfrm>
            <a:off x="324000" y="727350"/>
            <a:ext cx="21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ξ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Transferring information between </a:t>
            </a:r>
            <a:r>
              <a:rPr lang="en-GB"/>
              <a:t>diagram</a:t>
            </a:r>
            <a:r>
              <a:rPr lang="en-GB"/>
              <a:t>s</a:t>
            </a:r>
            <a:endParaRPr/>
          </a:p>
        </p:txBody>
      </p:sp>
      <p:sp>
        <p:nvSpPr>
          <p:cNvPr id="1180" name="Google Shape;1180;p77"/>
          <p:cNvSpPr txBox="1"/>
          <p:nvPr/>
        </p:nvSpPr>
        <p:spPr>
          <a:xfrm>
            <a:off x="5478071" y="2685557"/>
            <a:ext cx="24849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odd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81" name="Google Shape;1181;p77"/>
          <p:cNvCxnSpPr/>
          <p:nvPr/>
        </p:nvCxnSpPr>
        <p:spPr>
          <a:xfrm flipH="1" rot="10800000">
            <a:off x="4596523" y="1188724"/>
            <a:ext cx="813300" cy="746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2" name="Google Shape;1182;p77"/>
          <p:cNvCxnSpPr/>
          <p:nvPr/>
        </p:nvCxnSpPr>
        <p:spPr>
          <a:xfrm>
            <a:off x="4596523" y="2143957"/>
            <a:ext cx="813300" cy="746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3" name="Google Shape;1183;p77"/>
          <p:cNvSpPr txBox="1"/>
          <p:nvPr/>
        </p:nvSpPr>
        <p:spPr>
          <a:xfrm>
            <a:off x="5501395" y="1044294"/>
            <a:ext cx="181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84" name="Google Shape;1184;p77"/>
          <p:cNvCxnSpPr/>
          <p:nvPr/>
        </p:nvCxnSpPr>
        <p:spPr>
          <a:xfrm flipH="1" rot="10800000">
            <a:off x="6106541" y="812983"/>
            <a:ext cx="813300" cy="347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5" name="Google Shape;1185;p77"/>
          <p:cNvCxnSpPr/>
          <p:nvPr/>
        </p:nvCxnSpPr>
        <p:spPr>
          <a:xfrm>
            <a:off x="6106541" y="1257789"/>
            <a:ext cx="813300" cy="347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6" name="Google Shape;1186;p77"/>
          <p:cNvSpPr txBox="1"/>
          <p:nvPr/>
        </p:nvSpPr>
        <p:spPr>
          <a:xfrm>
            <a:off x="6974523" y="651225"/>
            <a:ext cx="14946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factor of 18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7" name="Google Shape;1187;p77"/>
          <p:cNvSpPr txBox="1"/>
          <p:nvPr/>
        </p:nvSpPr>
        <p:spPr>
          <a:xfrm>
            <a:off x="6974526" y="1456850"/>
            <a:ext cx="17469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factor of 18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88" name="Google Shape;1188;p77"/>
          <p:cNvCxnSpPr/>
          <p:nvPr/>
        </p:nvCxnSpPr>
        <p:spPr>
          <a:xfrm flipH="1" rot="10800000">
            <a:off x="6012667" y="2521873"/>
            <a:ext cx="813300" cy="347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9" name="Google Shape;1189;p77"/>
          <p:cNvCxnSpPr/>
          <p:nvPr/>
        </p:nvCxnSpPr>
        <p:spPr>
          <a:xfrm>
            <a:off x="6012667" y="2966679"/>
            <a:ext cx="813300" cy="347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0" name="Google Shape;1190;p77"/>
          <p:cNvSpPr txBox="1"/>
          <p:nvPr/>
        </p:nvSpPr>
        <p:spPr>
          <a:xfrm>
            <a:off x="6880649" y="2360125"/>
            <a:ext cx="16335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factor of 18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1" name="Google Shape;1191;p77"/>
          <p:cNvSpPr txBox="1"/>
          <p:nvPr/>
        </p:nvSpPr>
        <p:spPr>
          <a:xfrm>
            <a:off x="6880651" y="3165725"/>
            <a:ext cx="18408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factor of 18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2" name="Google Shape;1192;p77"/>
          <p:cNvSpPr/>
          <p:nvPr/>
        </p:nvSpPr>
        <p:spPr>
          <a:xfrm>
            <a:off x="7078277" y="962437"/>
            <a:ext cx="13908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3" name="Google Shape;1193;p77"/>
          <p:cNvSpPr/>
          <p:nvPr/>
        </p:nvSpPr>
        <p:spPr>
          <a:xfrm>
            <a:off x="7092030" y="1751912"/>
            <a:ext cx="13908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4" name="Google Shape;1194;p77"/>
          <p:cNvSpPr/>
          <p:nvPr/>
        </p:nvSpPr>
        <p:spPr>
          <a:xfrm>
            <a:off x="7135688" y="2687079"/>
            <a:ext cx="13908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5" name="Google Shape;1195;p77"/>
          <p:cNvSpPr/>
          <p:nvPr/>
        </p:nvSpPr>
        <p:spPr>
          <a:xfrm>
            <a:off x="7135688" y="3476554"/>
            <a:ext cx="13908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6" name="Google Shape;1196;p77"/>
          <p:cNvSpPr txBox="1"/>
          <p:nvPr/>
        </p:nvSpPr>
        <p:spPr>
          <a:xfrm>
            <a:off x="7092024" y="1015225"/>
            <a:ext cx="139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2,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6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7" name="Google Shape;1197;p77"/>
          <p:cNvSpPr txBox="1"/>
          <p:nvPr/>
        </p:nvSpPr>
        <p:spPr>
          <a:xfrm>
            <a:off x="7135699" y="2739875"/>
            <a:ext cx="139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1, 3, 9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8" name="Google Shape;1198;p77"/>
          <p:cNvSpPr txBox="1"/>
          <p:nvPr/>
        </p:nvSpPr>
        <p:spPr>
          <a:xfrm>
            <a:off x="7092024" y="1804700"/>
            <a:ext cx="139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, 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9" name="Google Shape;1199;p77"/>
          <p:cNvSpPr txBox="1"/>
          <p:nvPr/>
        </p:nvSpPr>
        <p:spPr>
          <a:xfrm>
            <a:off x="7135699" y="3529350"/>
            <a:ext cx="139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00" name="Google Shape;1200;p77"/>
          <p:cNvGrpSpPr/>
          <p:nvPr/>
        </p:nvGrpSpPr>
        <p:grpSpPr>
          <a:xfrm>
            <a:off x="324000" y="727350"/>
            <a:ext cx="3560400" cy="2865300"/>
            <a:chOff x="482825" y="1572125"/>
            <a:chExt cx="3560400" cy="2865300"/>
          </a:xfrm>
        </p:grpSpPr>
        <p:grpSp>
          <p:nvGrpSpPr>
            <p:cNvPr id="1201" name="Google Shape;1201;p77"/>
            <p:cNvGrpSpPr/>
            <p:nvPr/>
          </p:nvGrpSpPr>
          <p:grpSpPr>
            <a:xfrm>
              <a:off x="482825" y="1572125"/>
              <a:ext cx="3560400" cy="2865300"/>
              <a:chOff x="482825" y="1572125"/>
              <a:chExt cx="3560400" cy="2865300"/>
            </a:xfrm>
          </p:grpSpPr>
          <p:sp>
            <p:nvSpPr>
              <p:cNvPr id="1202" name="Google Shape;1202;p77"/>
              <p:cNvSpPr/>
              <p:nvPr/>
            </p:nvSpPr>
            <p:spPr>
              <a:xfrm>
                <a:off x="482825" y="1572125"/>
                <a:ext cx="3560400" cy="28653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grpSp>
            <p:nvGrpSpPr>
              <p:cNvPr id="1203" name="Google Shape;1203;p77"/>
              <p:cNvGrpSpPr/>
              <p:nvPr/>
            </p:nvGrpSpPr>
            <p:grpSpPr>
              <a:xfrm>
                <a:off x="808625" y="2031725"/>
                <a:ext cx="2908800" cy="1946100"/>
                <a:chOff x="5219150" y="1726950"/>
                <a:chExt cx="2908800" cy="1946100"/>
              </a:xfrm>
            </p:grpSpPr>
            <p:sp>
              <p:nvSpPr>
                <p:cNvPr id="1204" name="Google Shape;1204;p77"/>
                <p:cNvSpPr/>
                <p:nvPr/>
              </p:nvSpPr>
              <p:spPr>
                <a:xfrm>
                  <a:off x="5219150" y="1726950"/>
                  <a:ext cx="1946100" cy="194610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205" name="Google Shape;1205;p77"/>
                <p:cNvSpPr/>
                <p:nvPr/>
              </p:nvSpPr>
              <p:spPr>
                <a:xfrm>
                  <a:off x="6181850" y="1726950"/>
                  <a:ext cx="1946100" cy="194610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sp>
            <p:nvSpPr>
              <p:cNvPr id="1206" name="Google Shape;1206;p77"/>
              <p:cNvSpPr txBox="1"/>
              <p:nvPr/>
            </p:nvSpPr>
            <p:spPr>
              <a:xfrm>
                <a:off x="649950" y="1927900"/>
                <a:ext cx="5946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even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07" name="Google Shape;1207;p77"/>
              <p:cNvSpPr txBox="1"/>
              <p:nvPr/>
            </p:nvSpPr>
            <p:spPr>
              <a:xfrm>
                <a:off x="3183062" y="1927899"/>
                <a:ext cx="7914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factors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of 18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08" name="Google Shape;1208;p77"/>
              <p:cNvSpPr txBox="1"/>
              <p:nvPr/>
            </p:nvSpPr>
            <p:spPr>
              <a:xfrm>
                <a:off x="2096375" y="2333625"/>
                <a:ext cx="3333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09" name="Google Shape;1209;p77"/>
              <p:cNvSpPr txBox="1"/>
              <p:nvPr/>
            </p:nvSpPr>
            <p:spPr>
              <a:xfrm>
                <a:off x="2096375" y="2962800"/>
                <a:ext cx="3333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10" name="Google Shape;1210;p77"/>
              <p:cNvSpPr txBox="1"/>
              <p:nvPr/>
            </p:nvSpPr>
            <p:spPr>
              <a:xfrm>
                <a:off x="1202475" y="2433150"/>
                <a:ext cx="3333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11" name="Google Shape;1211;p77"/>
              <p:cNvSpPr txBox="1"/>
              <p:nvPr/>
            </p:nvSpPr>
            <p:spPr>
              <a:xfrm>
                <a:off x="3412100" y="4042800"/>
                <a:ext cx="3333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7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12" name="Google Shape;1212;p77"/>
              <p:cNvSpPr txBox="1"/>
              <p:nvPr/>
            </p:nvSpPr>
            <p:spPr>
              <a:xfrm>
                <a:off x="2990275" y="2433150"/>
                <a:ext cx="3333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9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13" name="Google Shape;1213;p77"/>
              <p:cNvSpPr txBox="1"/>
              <p:nvPr/>
            </p:nvSpPr>
            <p:spPr>
              <a:xfrm>
                <a:off x="3078800" y="3237975"/>
                <a:ext cx="3333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14" name="Google Shape;1214;p77"/>
              <p:cNvSpPr txBox="1"/>
              <p:nvPr/>
            </p:nvSpPr>
            <p:spPr>
              <a:xfrm>
                <a:off x="1244550" y="3196425"/>
                <a:ext cx="3333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10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215" name="Google Shape;1215;p77"/>
            <p:cNvSpPr txBox="1"/>
            <p:nvPr/>
          </p:nvSpPr>
          <p:spPr>
            <a:xfrm>
              <a:off x="2618100" y="3602425"/>
              <a:ext cx="333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6" name="Google Shape;1216;p77"/>
          <p:cNvGrpSpPr/>
          <p:nvPr/>
        </p:nvGrpSpPr>
        <p:grpSpPr>
          <a:xfrm flipH="1">
            <a:off x="324006" y="3705848"/>
            <a:ext cx="684160" cy="770561"/>
            <a:chOff x="8071950" y="1319647"/>
            <a:chExt cx="885300" cy="997103"/>
          </a:xfrm>
        </p:grpSpPr>
        <p:pic>
          <p:nvPicPr>
            <p:cNvPr id="1217" name="Google Shape;1217;p7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209198" y="1319647"/>
              <a:ext cx="610800" cy="7043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8" name="Google Shape;1218;p77"/>
            <p:cNvSpPr txBox="1"/>
            <p:nvPr/>
          </p:nvSpPr>
          <p:spPr>
            <a:xfrm>
              <a:off x="8071950" y="2003250"/>
              <a:ext cx="8853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Alex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219" name="Google Shape;1219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872155" y="3935556"/>
            <a:ext cx="423385" cy="529447"/>
          </a:xfrm>
          <a:prstGeom prst="rect">
            <a:avLst/>
          </a:prstGeom>
          <a:noFill/>
          <a:ln>
            <a:noFill/>
          </a:ln>
        </p:spPr>
      </p:pic>
      <p:sp>
        <p:nvSpPr>
          <p:cNvPr id="1220" name="Google Shape;1220;p77"/>
          <p:cNvSpPr txBox="1"/>
          <p:nvPr/>
        </p:nvSpPr>
        <p:spPr>
          <a:xfrm flipH="1">
            <a:off x="7641188" y="4414863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1" name="Google Shape;1221;p77"/>
          <p:cNvSpPr txBox="1"/>
          <p:nvPr/>
        </p:nvSpPr>
        <p:spPr>
          <a:xfrm>
            <a:off x="2686399" y="3952800"/>
            <a:ext cx="4435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has corrected the outcome tree.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All outcomes are in the correct location.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2" name="Google Shape;1222;p77"/>
          <p:cNvSpPr txBox="1"/>
          <p:nvPr/>
        </p:nvSpPr>
        <p:spPr>
          <a:xfrm>
            <a:off x="324000" y="727350"/>
            <a:ext cx="21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ξ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78"/>
          <p:cNvSpPr txBox="1"/>
          <p:nvPr/>
        </p:nvSpPr>
        <p:spPr>
          <a:xfrm>
            <a:off x="324000" y="642025"/>
            <a:ext cx="84960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 will roll a dice with integers from 20 to 29 on it.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 and Laura look at the events that the dice lands on an odd number and a multiple of 7.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 correctly shows the outcomes of these events on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 outcome table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, but Laura makes three mistakes in her Venn diagram.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outcome on the Venn diagram should not be on the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diagram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at all?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8" name="Google Shape;1228;p78"/>
          <p:cNvSpPr/>
          <p:nvPr/>
        </p:nvSpPr>
        <p:spPr>
          <a:xfrm>
            <a:off x="4795150" y="2863725"/>
            <a:ext cx="3560400" cy="18918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9" name="Google Shape;1229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Transferring information between </a:t>
            </a:r>
            <a:r>
              <a:rPr lang="en-GB"/>
              <a:t>diagram</a:t>
            </a:r>
            <a:r>
              <a:rPr lang="en-GB"/>
              <a:t>s</a:t>
            </a:r>
            <a:endParaRPr/>
          </a:p>
        </p:txBody>
      </p:sp>
      <p:sp>
        <p:nvSpPr>
          <p:cNvPr id="1230" name="Google Shape;1230;p78"/>
          <p:cNvSpPr/>
          <p:nvPr/>
        </p:nvSpPr>
        <p:spPr>
          <a:xfrm>
            <a:off x="5120950" y="3167153"/>
            <a:ext cx="1946100" cy="12849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1" name="Google Shape;1231;p78"/>
          <p:cNvSpPr/>
          <p:nvPr/>
        </p:nvSpPr>
        <p:spPr>
          <a:xfrm>
            <a:off x="6083650" y="3167153"/>
            <a:ext cx="1946100" cy="12849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2" name="Google Shape;1232;p78"/>
          <p:cNvSpPr txBox="1"/>
          <p:nvPr/>
        </p:nvSpPr>
        <p:spPr>
          <a:xfrm>
            <a:off x="5263300" y="2994898"/>
            <a:ext cx="59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odd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3" name="Google Shape;1233;p78"/>
          <p:cNvSpPr txBox="1"/>
          <p:nvPr/>
        </p:nvSpPr>
        <p:spPr>
          <a:xfrm>
            <a:off x="6663737" y="2994895"/>
            <a:ext cx="1449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multiple of 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4" name="Google Shape;1234;p78"/>
          <p:cNvSpPr txBox="1"/>
          <p:nvPr/>
        </p:nvSpPr>
        <p:spPr>
          <a:xfrm>
            <a:off x="6408700" y="3530938"/>
            <a:ext cx="33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5" name="Google Shape;1235;p78"/>
          <p:cNvSpPr txBox="1"/>
          <p:nvPr/>
        </p:nvSpPr>
        <p:spPr>
          <a:xfrm>
            <a:off x="6408700" y="3946538"/>
            <a:ext cx="33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6" name="Google Shape;1236;p78"/>
          <p:cNvSpPr txBox="1"/>
          <p:nvPr/>
        </p:nvSpPr>
        <p:spPr>
          <a:xfrm>
            <a:off x="5857900" y="3297138"/>
            <a:ext cx="33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7" name="Google Shape;1237;p78"/>
          <p:cNvSpPr txBox="1"/>
          <p:nvPr/>
        </p:nvSpPr>
        <p:spPr>
          <a:xfrm>
            <a:off x="5555350" y="3480138"/>
            <a:ext cx="33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8" name="Google Shape;1238;p78"/>
          <p:cNvSpPr txBox="1"/>
          <p:nvPr/>
        </p:nvSpPr>
        <p:spPr>
          <a:xfrm>
            <a:off x="5263300" y="3779988"/>
            <a:ext cx="33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9" name="Google Shape;1239;p78"/>
          <p:cNvSpPr txBox="1"/>
          <p:nvPr/>
        </p:nvSpPr>
        <p:spPr>
          <a:xfrm>
            <a:off x="5750350" y="4053338"/>
            <a:ext cx="33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0" name="Google Shape;1240;p78"/>
          <p:cNvSpPr txBox="1"/>
          <p:nvPr/>
        </p:nvSpPr>
        <p:spPr>
          <a:xfrm>
            <a:off x="5358400" y="4520938"/>
            <a:ext cx="33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1" name="Google Shape;1241;p78"/>
          <p:cNvSpPr txBox="1"/>
          <p:nvPr/>
        </p:nvSpPr>
        <p:spPr>
          <a:xfrm>
            <a:off x="6135425" y="4520938"/>
            <a:ext cx="33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2" name="Google Shape;1242;p78"/>
          <p:cNvSpPr txBox="1"/>
          <p:nvPr/>
        </p:nvSpPr>
        <p:spPr>
          <a:xfrm>
            <a:off x="6946825" y="4520938"/>
            <a:ext cx="33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3" name="Google Shape;1243;p78"/>
          <p:cNvSpPr txBox="1"/>
          <p:nvPr/>
        </p:nvSpPr>
        <p:spPr>
          <a:xfrm>
            <a:off x="7221875" y="3718001"/>
            <a:ext cx="33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4" name="Google Shape;1244;p78"/>
          <p:cNvSpPr/>
          <p:nvPr/>
        </p:nvSpPr>
        <p:spPr>
          <a:xfrm rot="5400000">
            <a:off x="7229828" y="3594300"/>
            <a:ext cx="317400" cy="3714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45" name="Google Shape;1245;p78"/>
          <p:cNvGraphicFramePr/>
          <p:nvPr/>
        </p:nvGraphicFramePr>
        <p:xfrm>
          <a:off x="337753" y="2863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{CB14D709-67CF-4AEA-B8F9-FF3D39F066EA}</a:tableStyleId>
              </a:tblPr>
              <a:tblGrid>
                <a:gridCol w="843850"/>
                <a:gridCol w="1391425"/>
                <a:gridCol w="1391425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7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multiple of 7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</a:tr>
              <a:tr h="70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odd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23, 25, 27, 29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even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20, 22, 24, 26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46" name="Google Shape;1246;p78"/>
          <p:cNvSpPr txBox="1"/>
          <p:nvPr/>
        </p:nvSpPr>
        <p:spPr>
          <a:xfrm>
            <a:off x="4795150" y="2863700"/>
            <a:ext cx="21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ξ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p79"/>
          <p:cNvSpPr txBox="1"/>
          <p:nvPr/>
        </p:nvSpPr>
        <p:spPr>
          <a:xfrm>
            <a:off x="324000" y="642025"/>
            <a:ext cx="84960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 will roll a dice with integers from 20 to 29 on it.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 and Laura look at the events that the dice lands on an odd number and a multiple of 7.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 correctly shows the outcomes of these events on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 outcome table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, but Laura makes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three mistakes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in her Venn diagram.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outcome on the Venn diagram is in the wrong place?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2" name="Google Shape;1252;p79"/>
          <p:cNvSpPr/>
          <p:nvPr/>
        </p:nvSpPr>
        <p:spPr>
          <a:xfrm>
            <a:off x="4795150" y="2863725"/>
            <a:ext cx="3560400" cy="18918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3" name="Google Shape;1253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Transferring information between </a:t>
            </a:r>
            <a:r>
              <a:rPr lang="en-GB"/>
              <a:t>diagram</a:t>
            </a:r>
            <a:r>
              <a:rPr lang="en-GB"/>
              <a:t>s</a:t>
            </a:r>
            <a:endParaRPr/>
          </a:p>
        </p:txBody>
      </p:sp>
      <p:graphicFrame>
        <p:nvGraphicFramePr>
          <p:cNvPr id="1254" name="Google Shape;1254;p79"/>
          <p:cNvGraphicFramePr/>
          <p:nvPr/>
        </p:nvGraphicFramePr>
        <p:xfrm>
          <a:off x="337753" y="2863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{CB14D709-67CF-4AEA-B8F9-FF3D39F066EA}</a:tableStyleId>
              </a:tblPr>
              <a:tblGrid>
                <a:gridCol w="843850"/>
                <a:gridCol w="1391425"/>
                <a:gridCol w="1391425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7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multiple of 7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</a:tr>
              <a:tr h="70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odd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23, 25, 27, 29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even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20, 22, 24, 26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55" name="Google Shape;1255;p79"/>
          <p:cNvSpPr/>
          <p:nvPr/>
        </p:nvSpPr>
        <p:spPr>
          <a:xfrm>
            <a:off x="5120950" y="3167153"/>
            <a:ext cx="1946100" cy="12849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6" name="Google Shape;1256;p79"/>
          <p:cNvSpPr/>
          <p:nvPr/>
        </p:nvSpPr>
        <p:spPr>
          <a:xfrm>
            <a:off x="6083650" y="3167153"/>
            <a:ext cx="1946100" cy="12849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7" name="Google Shape;1257;p79"/>
          <p:cNvSpPr txBox="1"/>
          <p:nvPr/>
        </p:nvSpPr>
        <p:spPr>
          <a:xfrm>
            <a:off x="5263300" y="2994898"/>
            <a:ext cx="59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odd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8" name="Google Shape;1258;p79"/>
          <p:cNvSpPr txBox="1"/>
          <p:nvPr/>
        </p:nvSpPr>
        <p:spPr>
          <a:xfrm>
            <a:off x="6663737" y="2994895"/>
            <a:ext cx="1449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multiple of 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9" name="Google Shape;1259;p79"/>
          <p:cNvSpPr txBox="1"/>
          <p:nvPr/>
        </p:nvSpPr>
        <p:spPr>
          <a:xfrm>
            <a:off x="6408700" y="3530938"/>
            <a:ext cx="33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0" name="Google Shape;1260;p79"/>
          <p:cNvSpPr txBox="1"/>
          <p:nvPr/>
        </p:nvSpPr>
        <p:spPr>
          <a:xfrm>
            <a:off x="6408700" y="3946538"/>
            <a:ext cx="33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1" name="Google Shape;1261;p79"/>
          <p:cNvSpPr txBox="1"/>
          <p:nvPr/>
        </p:nvSpPr>
        <p:spPr>
          <a:xfrm>
            <a:off x="5857900" y="3297138"/>
            <a:ext cx="33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2" name="Google Shape;1262;p79"/>
          <p:cNvSpPr txBox="1"/>
          <p:nvPr/>
        </p:nvSpPr>
        <p:spPr>
          <a:xfrm>
            <a:off x="5555350" y="3480138"/>
            <a:ext cx="33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3" name="Google Shape;1263;p79"/>
          <p:cNvSpPr txBox="1"/>
          <p:nvPr/>
        </p:nvSpPr>
        <p:spPr>
          <a:xfrm>
            <a:off x="5263300" y="3779988"/>
            <a:ext cx="33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4" name="Google Shape;1264;p79"/>
          <p:cNvSpPr txBox="1"/>
          <p:nvPr/>
        </p:nvSpPr>
        <p:spPr>
          <a:xfrm>
            <a:off x="5750350" y="4053338"/>
            <a:ext cx="33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5" name="Google Shape;1265;p79"/>
          <p:cNvSpPr txBox="1"/>
          <p:nvPr/>
        </p:nvSpPr>
        <p:spPr>
          <a:xfrm>
            <a:off x="5358400" y="4520938"/>
            <a:ext cx="33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6" name="Google Shape;1266;p79"/>
          <p:cNvSpPr txBox="1"/>
          <p:nvPr/>
        </p:nvSpPr>
        <p:spPr>
          <a:xfrm>
            <a:off x="6135425" y="4520938"/>
            <a:ext cx="33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7" name="Google Shape;1267;p79"/>
          <p:cNvSpPr txBox="1"/>
          <p:nvPr/>
        </p:nvSpPr>
        <p:spPr>
          <a:xfrm>
            <a:off x="6946825" y="4520938"/>
            <a:ext cx="33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8" name="Google Shape;1268;p79"/>
          <p:cNvSpPr/>
          <p:nvPr/>
        </p:nvSpPr>
        <p:spPr>
          <a:xfrm rot="5400000">
            <a:off x="6416653" y="3821200"/>
            <a:ext cx="317400" cy="3714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9" name="Google Shape;1269;p79"/>
          <p:cNvSpPr txBox="1"/>
          <p:nvPr/>
        </p:nvSpPr>
        <p:spPr>
          <a:xfrm>
            <a:off x="4795150" y="2863700"/>
            <a:ext cx="21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ξ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80"/>
          <p:cNvSpPr/>
          <p:nvPr/>
        </p:nvSpPr>
        <p:spPr>
          <a:xfrm>
            <a:off x="4795150" y="2863725"/>
            <a:ext cx="3560400" cy="18918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5" name="Google Shape;1275;p80"/>
          <p:cNvSpPr/>
          <p:nvPr/>
        </p:nvSpPr>
        <p:spPr>
          <a:xfrm>
            <a:off x="7683400" y="4320000"/>
            <a:ext cx="549900" cy="3444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6" name="Google Shape;1276;p80"/>
          <p:cNvSpPr txBox="1"/>
          <p:nvPr/>
        </p:nvSpPr>
        <p:spPr>
          <a:xfrm>
            <a:off x="324000" y="642025"/>
            <a:ext cx="84960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 will roll a dice with integers from 20 to 29 on it.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 and Laura look at the events that the dice lands on an odd number and a multiple of 7.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 correctly shows the outcomes of these events on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 outcome table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, but Laura makes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three mistakes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in her Venn diagram.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outcome on the Venn diagram is missing?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7" name="Google Shape;1277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Transferring information between </a:t>
            </a:r>
            <a:r>
              <a:rPr lang="en-GB"/>
              <a:t>diagram</a:t>
            </a:r>
            <a:r>
              <a:rPr lang="en-GB"/>
              <a:t>s</a:t>
            </a:r>
            <a:endParaRPr/>
          </a:p>
        </p:txBody>
      </p:sp>
      <p:sp>
        <p:nvSpPr>
          <p:cNvPr id="1278" name="Google Shape;1278;p80"/>
          <p:cNvSpPr/>
          <p:nvPr/>
        </p:nvSpPr>
        <p:spPr>
          <a:xfrm>
            <a:off x="5120950" y="3167153"/>
            <a:ext cx="1946100" cy="12849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9" name="Google Shape;1279;p80"/>
          <p:cNvSpPr/>
          <p:nvPr/>
        </p:nvSpPr>
        <p:spPr>
          <a:xfrm>
            <a:off x="6083650" y="3167153"/>
            <a:ext cx="1946100" cy="12849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0" name="Google Shape;1280;p80"/>
          <p:cNvSpPr txBox="1"/>
          <p:nvPr/>
        </p:nvSpPr>
        <p:spPr>
          <a:xfrm>
            <a:off x="5263300" y="2994898"/>
            <a:ext cx="59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odd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1" name="Google Shape;1281;p80"/>
          <p:cNvSpPr txBox="1"/>
          <p:nvPr/>
        </p:nvSpPr>
        <p:spPr>
          <a:xfrm>
            <a:off x="6663737" y="2994895"/>
            <a:ext cx="1449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multiple of 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2" name="Google Shape;1282;p80"/>
          <p:cNvSpPr txBox="1"/>
          <p:nvPr/>
        </p:nvSpPr>
        <p:spPr>
          <a:xfrm>
            <a:off x="6408700" y="3530938"/>
            <a:ext cx="33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3" name="Google Shape;1283;p80"/>
          <p:cNvSpPr txBox="1"/>
          <p:nvPr/>
        </p:nvSpPr>
        <p:spPr>
          <a:xfrm>
            <a:off x="7323100" y="3717938"/>
            <a:ext cx="33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4" name="Google Shape;1284;p80"/>
          <p:cNvSpPr txBox="1"/>
          <p:nvPr/>
        </p:nvSpPr>
        <p:spPr>
          <a:xfrm>
            <a:off x="5857900" y="3297138"/>
            <a:ext cx="33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5" name="Google Shape;1285;p80"/>
          <p:cNvSpPr txBox="1"/>
          <p:nvPr/>
        </p:nvSpPr>
        <p:spPr>
          <a:xfrm>
            <a:off x="5555350" y="3480138"/>
            <a:ext cx="33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6" name="Google Shape;1286;p80"/>
          <p:cNvSpPr txBox="1"/>
          <p:nvPr/>
        </p:nvSpPr>
        <p:spPr>
          <a:xfrm>
            <a:off x="5263300" y="3779988"/>
            <a:ext cx="33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7" name="Google Shape;1287;p80"/>
          <p:cNvSpPr txBox="1"/>
          <p:nvPr/>
        </p:nvSpPr>
        <p:spPr>
          <a:xfrm>
            <a:off x="5750350" y="4053338"/>
            <a:ext cx="33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8" name="Google Shape;1288;p80"/>
          <p:cNvSpPr txBox="1"/>
          <p:nvPr/>
        </p:nvSpPr>
        <p:spPr>
          <a:xfrm>
            <a:off x="5358400" y="4520938"/>
            <a:ext cx="33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9" name="Google Shape;1289;p80"/>
          <p:cNvSpPr txBox="1"/>
          <p:nvPr/>
        </p:nvSpPr>
        <p:spPr>
          <a:xfrm>
            <a:off x="6135425" y="4520938"/>
            <a:ext cx="33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0" name="Google Shape;1290;p80"/>
          <p:cNvSpPr txBox="1"/>
          <p:nvPr/>
        </p:nvSpPr>
        <p:spPr>
          <a:xfrm>
            <a:off x="6946825" y="4520938"/>
            <a:ext cx="33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91" name="Google Shape;1291;p80"/>
          <p:cNvGraphicFramePr/>
          <p:nvPr/>
        </p:nvGraphicFramePr>
        <p:xfrm>
          <a:off x="337753" y="2863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{CB14D709-67CF-4AEA-B8F9-FF3D39F066EA}</a:tableStyleId>
              </a:tblPr>
              <a:tblGrid>
                <a:gridCol w="843850"/>
                <a:gridCol w="1391425"/>
                <a:gridCol w="1391425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7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multiple of 7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</a:tr>
              <a:tr h="70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odd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23, 25, 27, 29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even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20, 22, 24, 26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92" name="Google Shape;1292;p80"/>
          <p:cNvSpPr txBox="1"/>
          <p:nvPr/>
        </p:nvSpPr>
        <p:spPr>
          <a:xfrm>
            <a:off x="4795150" y="2863700"/>
            <a:ext cx="21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ξ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81"/>
          <p:cNvSpPr txBox="1"/>
          <p:nvPr/>
        </p:nvSpPr>
        <p:spPr>
          <a:xfrm>
            <a:off x="324000" y="642025"/>
            <a:ext cx="84960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Jacob and Laura submit homework for showing the outcomes of two events from a trial using different representations.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Use Jacob’s correctly written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outcome table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to circle any errors in the outcome tree and write down what is wrong with the outcome tree.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8" name="Google Shape;1298;p8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Transferring information between </a:t>
            </a:r>
            <a:r>
              <a:rPr lang="en-GB"/>
              <a:t>diagram</a:t>
            </a:r>
            <a:r>
              <a:rPr lang="en-GB"/>
              <a:t>s</a:t>
            </a:r>
            <a:endParaRPr/>
          </a:p>
        </p:txBody>
      </p:sp>
      <p:graphicFrame>
        <p:nvGraphicFramePr>
          <p:cNvPr id="1299" name="Google Shape;1299;p81"/>
          <p:cNvGraphicFramePr/>
          <p:nvPr/>
        </p:nvGraphicFramePr>
        <p:xfrm>
          <a:off x="400203" y="2716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{CB14D709-67CF-4AEA-B8F9-FF3D39F066EA}</a:tableStyleId>
              </a:tblPr>
              <a:tblGrid>
                <a:gridCol w="843850"/>
                <a:gridCol w="1391425"/>
                <a:gridCol w="1391425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factor          of 45 (F45)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factor   of 45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70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prime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3, 5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7, 23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prime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1, 9, 15, 45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300" name="Google Shape;1300;p81"/>
          <p:cNvCxnSpPr/>
          <p:nvPr/>
        </p:nvCxnSpPr>
        <p:spPr>
          <a:xfrm flipH="1" rot="10800000">
            <a:off x="4276525" y="2998146"/>
            <a:ext cx="704400" cy="486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1" name="Google Shape;1301;p81"/>
          <p:cNvCxnSpPr/>
          <p:nvPr/>
        </p:nvCxnSpPr>
        <p:spPr>
          <a:xfrm>
            <a:off x="4276525" y="3620604"/>
            <a:ext cx="704400" cy="486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2" name="Google Shape;1302;p81"/>
          <p:cNvSpPr txBox="1"/>
          <p:nvPr/>
        </p:nvSpPr>
        <p:spPr>
          <a:xfrm>
            <a:off x="5016676" y="2870394"/>
            <a:ext cx="81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prime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3" name="Google Shape;1303;p81"/>
          <p:cNvSpPr txBox="1"/>
          <p:nvPr/>
        </p:nvSpPr>
        <p:spPr>
          <a:xfrm>
            <a:off x="5016676" y="3842639"/>
            <a:ext cx="813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not prime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04" name="Google Shape;1304;p81"/>
          <p:cNvCxnSpPr/>
          <p:nvPr/>
        </p:nvCxnSpPr>
        <p:spPr>
          <a:xfrm flipH="1" rot="10800000">
            <a:off x="5736143" y="2745777"/>
            <a:ext cx="813300" cy="226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5" name="Google Shape;1305;p81"/>
          <p:cNvCxnSpPr/>
          <p:nvPr/>
        </p:nvCxnSpPr>
        <p:spPr>
          <a:xfrm>
            <a:off x="5736143" y="3035541"/>
            <a:ext cx="813300" cy="226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6" name="Google Shape;1306;p81"/>
          <p:cNvSpPr txBox="1"/>
          <p:nvPr/>
        </p:nvSpPr>
        <p:spPr>
          <a:xfrm>
            <a:off x="6604124" y="2640388"/>
            <a:ext cx="10149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F45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7" name="Google Shape;1307;p81"/>
          <p:cNvSpPr txBox="1"/>
          <p:nvPr/>
        </p:nvSpPr>
        <p:spPr>
          <a:xfrm>
            <a:off x="6604126" y="3165213"/>
            <a:ext cx="10149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F45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08" name="Google Shape;1308;p81"/>
          <p:cNvCxnSpPr/>
          <p:nvPr/>
        </p:nvCxnSpPr>
        <p:spPr>
          <a:xfrm flipH="1" rot="10800000">
            <a:off x="5736143" y="3866840"/>
            <a:ext cx="813300" cy="226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9" name="Google Shape;1309;p81"/>
          <p:cNvCxnSpPr/>
          <p:nvPr/>
        </p:nvCxnSpPr>
        <p:spPr>
          <a:xfrm>
            <a:off x="5736143" y="4156604"/>
            <a:ext cx="813300" cy="226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0" name="Google Shape;1310;p81"/>
          <p:cNvSpPr txBox="1"/>
          <p:nvPr/>
        </p:nvSpPr>
        <p:spPr>
          <a:xfrm>
            <a:off x="6604124" y="3761450"/>
            <a:ext cx="10149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F45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1" name="Google Shape;1311;p81"/>
          <p:cNvSpPr txBox="1"/>
          <p:nvPr/>
        </p:nvSpPr>
        <p:spPr>
          <a:xfrm>
            <a:off x="6604126" y="4286275"/>
            <a:ext cx="10149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F45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2" name="Google Shape;1312;p81"/>
          <p:cNvSpPr/>
          <p:nvPr/>
        </p:nvSpPr>
        <p:spPr>
          <a:xfrm>
            <a:off x="7048350" y="2574400"/>
            <a:ext cx="1014900" cy="3444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1, 3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3" name="Google Shape;1313;p81"/>
          <p:cNvSpPr/>
          <p:nvPr/>
        </p:nvSpPr>
        <p:spPr>
          <a:xfrm>
            <a:off x="7500625" y="3069250"/>
            <a:ext cx="1014900" cy="3444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5, 23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4" name="Google Shape;1314;p81"/>
          <p:cNvSpPr/>
          <p:nvPr/>
        </p:nvSpPr>
        <p:spPr>
          <a:xfrm>
            <a:off x="7048350" y="3700075"/>
            <a:ext cx="1014900" cy="3444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9, 15, 45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5" name="Google Shape;1315;p81"/>
          <p:cNvSpPr/>
          <p:nvPr/>
        </p:nvSpPr>
        <p:spPr>
          <a:xfrm>
            <a:off x="7500625" y="4194925"/>
            <a:ext cx="1014900" cy="3444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12, 21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p82"/>
          <p:cNvSpPr txBox="1"/>
          <p:nvPr/>
        </p:nvSpPr>
        <p:spPr>
          <a:xfrm>
            <a:off x="324000" y="642025"/>
            <a:ext cx="84960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 This outcome tree correctly shows two events from the trial of spinning a spinner with 8 outcomes.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Use this outcome tree to complete the Venn diagram that shows the same trial.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1" name="Google Shape;1321;p8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Transferring information between </a:t>
            </a:r>
            <a:r>
              <a:rPr lang="en-GB"/>
              <a:t>diagram</a:t>
            </a:r>
            <a:r>
              <a:rPr lang="en-GB"/>
              <a:t>s</a:t>
            </a:r>
            <a:endParaRPr/>
          </a:p>
        </p:txBody>
      </p:sp>
      <p:cxnSp>
        <p:nvCxnSpPr>
          <p:cNvPr id="1322" name="Google Shape;1322;p82"/>
          <p:cNvCxnSpPr/>
          <p:nvPr/>
        </p:nvCxnSpPr>
        <p:spPr>
          <a:xfrm flipH="1" rot="10800000">
            <a:off x="395800" y="2518472"/>
            <a:ext cx="480300" cy="486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3" name="Google Shape;1323;p82"/>
          <p:cNvCxnSpPr/>
          <p:nvPr/>
        </p:nvCxnSpPr>
        <p:spPr>
          <a:xfrm>
            <a:off x="395800" y="3140928"/>
            <a:ext cx="480300" cy="486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4" name="Google Shape;1324;p82"/>
          <p:cNvSpPr txBox="1"/>
          <p:nvPr/>
        </p:nvSpPr>
        <p:spPr>
          <a:xfrm>
            <a:off x="911751" y="2390719"/>
            <a:ext cx="81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square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5" name="Google Shape;1325;p82"/>
          <p:cNvSpPr txBox="1"/>
          <p:nvPr/>
        </p:nvSpPr>
        <p:spPr>
          <a:xfrm>
            <a:off x="911751" y="3362964"/>
            <a:ext cx="813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not square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26" name="Google Shape;1326;p82"/>
          <p:cNvCxnSpPr/>
          <p:nvPr/>
        </p:nvCxnSpPr>
        <p:spPr>
          <a:xfrm flipH="1" rot="10800000">
            <a:off x="1699749" y="2266100"/>
            <a:ext cx="652800" cy="226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7" name="Google Shape;1327;p82"/>
          <p:cNvCxnSpPr/>
          <p:nvPr/>
        </p:nvCxnSpPr>
        <p:spPr>
          <a:xfrm>
            <a:off x="1699749" y="2555864"/>
            <a:ext cx="652800" cy="226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8" name="Google Shape;1328;p82"/>
          <p:cNvSpPr txBox="1"/>
          <p:nvPr/>
        </p:nvSpPr>
        <p:spPr>
          <a:xfrm>
            <a:off x="2415325" y="2160725"/>
            <a:ext cx="5916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odd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9" name="Google Shape;1329;p82"/>
          <p:cNvSpPr txBox="1"/>
          <p:nvPr/>
        </p:nvSpPr>
        <p:spPr>
          <a:xfrm>
            <a:off x="2415325" y="2685546"/>
            <a:ext cx="5916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30" name="Google Shape;1330;p82"/>
          <p:cNvCxnSpPr/>
          <p:nvPr/>
        </p:nvCxnSpPr>
        <p:spPr>
          <a:xfrm flipH="1" rot="10800000">
            <a:off x="1699749" y="3387161"/>
            <a:ext cx="652800" cy="226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1" name="Google Shape;1331;p82"/>
          <p:cNvCxnSpPr/>
          <p:nvPr/>
        </p:nvCxnSpPr>
        <p:spPr>
          <a:xfrm>
            <a:off x="1699749" y="3676925"/>
            <a:ext cx="652800" cy="226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2" name="Google Shape;1332;p82"/>
          <p:cNvSpPr txBox="1"/>
          <p:nvPr/>
        </p:nvSpPr>
        <p:spPr>
          <a:xfrm>
            <a:off x="2415325" y="3281780"/>
            <a:ext cx="5916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odd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3" name="Google Shape;1333;p82"/>
          <p:cNvSpPr txBox="1"/>
          <p:nvPr/>
        </p:nvSpPr>
        <p:spPr>
          <a:xfrm>
            <a:off x="2415325" y="3806601"/>
            <a:ext cx="5916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4" name="Google Shape;1334;p82"/>
          <p:cNvSpPr/>
          <p:nvPr/>
        </p:nvSpPr>
        <p:spPr>
          <a:xfrm>
            <a:off x="2935750" y="2094725"/>
            <a:ext cx="1186200" cy="3444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169, 625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5" name="Google Shape;1335;p82"/>
          <p:cNvSpPr/>
          <p:nvPr/>
        </p:nvSpPr>
        <p:spPr>
          <a:xfrm>
            <a:off x="3007025" y="2589575"/>
            <a:ext cx="1184400" cy="3444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400, 784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6" name="Google Shape;1336;p82"/>
          <p:cNvSpPr/>
          <p:nvPr/>
        </p:nvSpPr>
        <p:spPr>
          <a:xfrm>
            <a:off x="3007025" y="3715250"/>
            <a:ext cx="1184400" cy="3444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77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2, 1000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7" name="Google Shape;1337;p82"/>
          <p:cNvSpPr/>
          <p:nvPr/>
        </p:nvSpPr>
        <p:spPr>
          <a:xfrm>
            <a:off x="2935750" y="3220400"/>
            <a:ext cx="1186200" cy="3444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89, 111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8" name="Google Shape;1338;p82"/>
          <p:cNvSpPr/>
          <p:nvPr/>
        </p:nvSpPr>
        <p:spPr>
          <a:xfrm>
            <a:off x="5085637" y="2177925"/>
            <a:ext cx="3560400" cy="18918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9" name="Google Shape;1339;p82"/>
          <p:cNvSpPr/>
          <p:nvPr/>
        </p:nvSpPr>
        <p:spPr>
          <a:xfrm>
            <a:off x="5411437" y="2481353"/>
            <a:ext cx="1946100" cy="12849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0" name="Google Shape;1340;p82"/>
          <p:cNvSpPr/>
          <p:nvPr/>
        </p:nvSpPr>
        <p:spPr>
          <a:xfrm>
            <a:off x="6374137" y="2481353"/>
            <a:ext cx="1946100" cy="12849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1" name="Google Shape;1341;p82"/>
          <p:cNvSpPr txBox="1"/>
          <p:nvPr/>
        </p:nvSpPr>
        <p:spPr>
          <a:xfrm>
            <a:off x="5553787" y="2309098"/>
            <a:ext cx="59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2" name="Google Shape;1342;p82"/>
          <p:cNvSpPr txBox="1"/>
          <p:nvPr/>
        </p:nvSpPr>
        <p:spPr>
          <a:xfrm>
            <a:off x="6954224" y="2309095"/>
            <a:ext cx="1449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square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3" name="Google Shape;1343;p82"/>
          <p:cNvSpPr txBox="1"/>
          <p:nvPr/>
        </p:nvSpPr>
        <p:spPr>
          <a:xfrm>
            <a:off x="5085625" y="2177925"/>
            <a:ext cx="21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ξ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p83"/>
          <p:cNvSpPr txBox="1"/>
          <p:nvPr/>
        </p:nvSpPr>
        <p:spPr>
          <a:xfrm>
            <a:off x="324000" y="642025"/>
            <a:ext cx="84960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 The outcome tree and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outcome table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show the same two-stage trial: two spinners that will be spun (once each) with their outcomes added together.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Both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diagram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 are accurate, but have some information missing.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outcome table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shows the sample space of outcomes after addition. Complete both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diagram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9" name="Google Shape;1349;p8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Transferring information between </a:t>
            </a:r>
            <a:r>
              <a:rPr lang="en-GB"/>
              <a:t>diagram</a:t>
            </a:r>
            <a:r>
              <a:rPr lang="en-GB"/>
              <a:t>s</a:t>
            </a:r>
            <a:endParaRPr/>
          </a:p>
        </p:txBody>
      </p:sp>
      <p:grpSp>
        <p:nvGrpSpPr>
          <p:cNvPr id="1350" name="Google Shape;1350;p83"/>
          <p:cNvGrpSpPr/>
          <p:nvPr/>
        </p:nvGrpSpPr>
        <p:grpSpPr>
          <a:xfrm>
            <a:off x="1229461" y="2826155"/>
            <a:ext cx="841078" cy="1543746"/>
            <a:chOff x="1597330" y="2437981"/>
            <a:chExt cx="757796" cy="683164"/>
          </a:xfrm>
        </p:grpSpPr>
        <p:cxnSp>
          <p:nvCxnSpPr>
            <p:cNvPr id="1351" name="Google Shape;1351;p83"/>
            <p:cNvCxnSpPr/>
            <p:nvPr/>
          </p:nvCxnSpPr>
          <p:spPr>
            <a:xfrm flipH="1" rot="10800000">
              <a:off x="1597330" y="2437981"/>
              <a:ext cx="704100" cy="2997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2" name="Google Shape;1352;p83"/>
            <p:cNvCxnSpPr/>
            <p:nvPr/>
          </p:nvCxnSpPr>
          <p:spPr>
            <a:xfrm>
              <a:off x="1597330" y="2821445"/>
              <a:ext cx="704100" cy="2997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3" name="Google Shape;1353;p83"/>
            <p:cNvCxnSpPr/>
            <p:nvPr/>
          </p:nvCxnSpPr>
          <p:spPr>
            <a:xfrm>
              <a:off x="1630326" y="2780029"/>
              <a:ext cx="7248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54" name="Google Shape;1354;p83"/>
          <p:cNvGrpSpPr/>
          <p:nvPr/>
        </p:nvGrpSpPr>
        <p:grpSpPr>
          <a:xfrm>
            <a:off x="2393905" y="2647522"/>
            <a:ext cx="781481" cy="392718"/>
            <a:chOff x="531205" y="2439944"/>
            <a:chExt cx="704100" cy="1957717"/>
          </a:xfrm>
        </p:grpSpPr>
        <p:cxnSp>
          <p:nvCxnSpPr>
            <p:cNvPr id="1355" name="Google Shape;1355;p83"/>
            <p:cNvCxnSpPr/>
            <p:nvPr/>
          </p:nvCxnSpPr>
          <p:spPr>
            <a:xfrm flipH="1" rot="10800000">
              <a:off x="531205" y="2439944"/>
              <a:ext cx="704100" cy="858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6" name="Google Shape;1356;p83"/>
            <p:cNvCxnSpPr/>
            <p:nvPr/>
          </p:nvCxnSpPr>
          <p:spPr>
            <a:xfrm>
              <a:off x="531205" y="3538762"/>
              <a:ext cx="704100" cy="858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57" name="Google Shape;1357;p83"/>
          <p:cNvGrpSpPr/>
          <p:nvPr/>
        </p:nvGrpSpPr>
        <p:grpSpPr>
          <a:xfrm>
            <a:off x="2393905" y="3401721"/>
            <a:ext cx="781481" cy="392718"/>
            <a:chOff x="531205" y="2439944"/>
            <a:chExt cx="704100" cy="1957717"/>
          </a:xfrm>
        </p:grpSpPr>
        <p:cxnSp>
          <p:nvCxnSpPr>
            <p:cNvPr id="1358" name="Google Shape;1358;p83"/>
            <p:cNvCxnSpPr/>
            <p:nvPr/>
          </p:nvCxnSpPr>
          <p:spPr>
            <a:xfrm flipH="1" rot="10800000">
              <a:off x="531205" y="2439944"/>
              <a:ext cx="704100" cy="858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9" name="Google Shape;1359;p83"/>
            <p:cNvCxnSpPr/>
            <p:nvPr/>
          </p:nvCxnSpPr>
          <p:spPr>
            <a:xfrm>
              <a:off x="531205" y="3538762"/>
              <a:ext cx="704100" cy="858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60" name="Google Shape;1360;p83"/>
          <p:cNvGrpSpPr/>
          <p:nvPr/>
        </p:nvGrpSpPr>
        <p:grpSpPr>
          <a:xfrm>
            <a:off x="2393905" y="4155921"/>
            <a:ext cx="781481" cy="392718"/>
            <a:chOff x="531205" y="2439944"/>
            <a:chExt cx="704100" cy="1957717"/>
          </a:xfrm>
        </p:grpSpPr>
        <p:cxnSp>
          <p:nvCxnSpPr>
            <p:cNvPr id="1361" name="Google Shape;1361;p83"/>
            <p:cNvCxnSpPr/>
            <p:nvPr/>
          </p:nvCxnSpPr>
          <p:spPr>
            <a:xfrm flipH="1" rot="10800000">
              <a:off x="531205" y="2439944"/>
              <a:ext cx="704100" cy="858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2" name="Google Shape;1362;p83"/>
            <p:cNvCxnSpPr/>
            <p:nvPr/>
          </p:nvCxnSpPr>
          <p:spPr>
            <a:xfrm>
              <a:off x="531205" y="3538762"/>
              <a:ext cx="704100" cy="858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63" name="Google Shape;1363;p83"/>
          <p:cNvSpPr txBox="1"/>
          <p:nvPr/>
        </p:nvSpPr>
        <p:spPr>
          <a:xfrm>
            <a:off x="2079025" y="2693075"/>
            <a:ext cx="2469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-1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4" name="Google Shape;1364;p83"/>
          <p:cNvSpPr txBox="1"/>
          <p:nvPr/>
        </p:nvSpPr>
        <p:spPr>
          <a:xfrm>
            <a:off x="3175425" y="2496201"/>
            <a:ext cx="2469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65" name="Google Shape;1365;p83"/>
          <p:cNvGraphicFramePr/>
          <p:nvPr/>
        </p:nvGraphicFramePr>
        <p:xfrm>
          <a:off x="4985953" y="2962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{CB14D709-67CF-4AEA-B8F9-FF3D39F066EA}</a:tableStyleId>
              </a:tblPr>
              <a:tblGrid>
                <a:gridCol w="600000"/>
                <a:gridCol w="600000"/>
                <a:gridCol w="600000"/>
                <a:gridCol w="600000"/>
              </a:tblGrid>
              <a:tr h="46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+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</a:tr>
              <a:tr h="46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1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p84"/>
          <p:cNvSpPr txBox="1"/>
          <p:nvPr/>
        </p:nvSpPr>
        <p:spPr>
          <a:xfrm>
            <a:off x="324000" y="642025"/>
            <a:ext cx="84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 is not a prime number.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 is also a factor of 45.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 is missing - it should be a prime number that isn’t a factor of 45.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21 should be removed, as it isn’t an outcome of the trial.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1" name="Google Shape;1371;p8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Transferring information between </a:t>
            </a:r>
            <a:r>
              <a:rPr lang="en-GB"/>
              <a:t>diagram</a:t>
            </a:r>
            <a:r>
              <a:rPr lang="en-GB"/>
              <a:t>s</a:t>
            </a:r>
            <a:endParaRPr/>
          </a:p>
        </p:txBody>
      </p:sp>
      <p:graphicFrame>
        <p:nvGraphicFramePr>
          <p:cNvPr id="1372" name="Google Shape;1372;p84"/>
          <p:cNvGraphicFramePr/>
          <p:nvPr/>
        </p:nvGraphicFramePr>
        <p:xfrm>
          <a:off x="400203" y="2716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{CB14D709-67CF-4AEA-B8F9-FF3D39F066EA}</a:tableStyleId>
              </a:tblPr>
              <a:tblGrid>
                <a:gridCol w="843850"/>
                <a:gridCol w="1391425"/>
                <a:gridCol w="1391425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factor          of 45 (F45)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factor   of 45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</a:tr>
              <a:tr h="70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prime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3, 5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7, 23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prime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1,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9, 15, 45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373" name="Google Shape;1373;p84"/>
          <p:cNvCxnSpPr/>
          <p:nvPr/>
        </p:nvCxnSpPr>
        <p:spPr>
          <a:xfrm flipH="1" rot="10800000">
            <a:off x="4276525" y="2998146"/>
            <a:ext cx="704400" cy="486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4" name="Google Shape;1374;p84"/>
          <p:cNvCxnSpPr/>
          <p:nvPr/>
        </p:nvCxnSpPr>
        <p:spPr>
          <a:xfrm>
            <a:off x="4276525" y="3620604"/>
            <a:ext cx="704400" cy="486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5" name="Google Shape;1375;p84"/>
          <p:cNvSpPr txBox="1"/>
          <p:nvPr/>
        </p:nvSpPr>
        <p:spPr>
          <a:xfrm>
            <a:off x="5016676" y="2870394"/>
            <a:ext cx="81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prime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6" name="Google Shape;1376;p84"/>
          <p:cNvSpPr txBox="1"/>
          <p:nvPr/>
        </p:nvSpPr>
        <p:spPr>
          <a:xfrm>
            <a:off x="5016676" y="3842639"/>
            <a:ext cx="813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not prime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77" name="Google Shape;1377;p84"/>
          <p:cNvCxnSpPr/>
          <p:nvPr/>
        </p:nvCxnSpPr>
        <p:spPr>
          <a:xfrm flipH="1" rot="10800000">
            <a:off x="5736143" y="2745777"/>
            <a:ext cx="813300" cy="226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8" name="Google Shape;1378;p84"/>
          <p:cNvCxnSpPr/>
          <p:nvPr/>
        </p:nvCxnSpPr>
        <p:spPr>
          <a:xfrm>
            <a:off x="5736143" y="3035541"/>
            <a:ext cx="813300" cy="226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9" name="Google Shape;1379;p84"/>
          <p:cNvSpPr txBox="1"/>
          <p:nvPr/>
        </p:nvSpPr>
        <p:spPr>
          <a:xfrm>
            <a:off x="6604124" y="2640388"/>
            <a:ext cx="10149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F45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0" name="Google Shape;1380;p84"/>
          <p:cNvSpPr txBox="1"/>
          <p:nvPr/>
        </p:nvSpPr>
        <p:spPr>
          <a:xfrm>
            <a:off x="6604126" y="3165213"/>
            <a:ext cx="10149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F45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81" name="Google Shape;1381;p84"/>
          <p:cNvCxnSpPr/>
          <p:nvPr/>
        </p:nvCxnSpPr>
        <p:spPr>
          <a:xfrm flipH="1" rot="10800000">
            <a:off x="5736143" y="3866840"/>
            <a:ext cx="813300" cy="226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2" name="Google Shape;1382;p84"/>
          <p:cNvCxnSpPr/>
          <p:nvPr/>
        </p:nvCxnSpPr>
        <p:spPr>
          <a:xfrm>
            <a:off x="5736143" y="4156604"/>
            <a:ext cx="813300" cy="226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3" name="Google Shape;1383;p84"/>
          <p:cNvSpPr txBox="1"/>
          <p:nvPr/>
        </p:nvSpPr>
        <p:spPr>
          <a:xfrm>
            <a:off x="6604124" y="3761450"/>
            <a:ext cx="10149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F45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4" name="Google Shape;1384;p84"/>
          <p:cNvSpPr txBox="1"/>
          <p:nvPr/>
        </p:nvSpPr>
        <p:spPr>
          <a:xfrm>
            <a:off x="6604126" y="4286275"/>
            <a:ext cx="10149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F45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5" name="Google Shape;1385;p84"/>
          <p:cNvSpPr/>
          <p:nvPr/>
        </p:nvSpPr>
        <p:spPr>
          <a:xfrm>
            <a:off x="7048350" y="2574400"/>
            <a:ext cx="1014900" cy="3444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1, 3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6" name="Google Shape;1386;p84"/>
          <p:cNvSpPr/>
          <p:nvPr/>
        </p:nvSpPr>
        <p:spPr>
          <a:xfrm>
            <a:off x="7500625" y="3069250"/>
            <a:ext cx="1014900" cy="3444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5, 23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7" name="Google Shape;1387;p84"/>
          <p:cNvSpPr/>
          <p:nvPr/>
        </p:nvSpPr>
        <p:spPr>
          <a:xfrm>
            <a:off x="7048350" y="3700075"/>
            <a:ext cx="1014900" cy="3444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9, 15, 45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8" name="Google Shape;1388;p84"/>
          <p:cNvSpPr/>
          <p:nvPr/>
        </p:nvSpPr>
        <p:spPr>
          <a:xfrm>
            <a:off x="7500625" y="4194925"/>
            <a:ext cx="1014900" cy="3444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12, 21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9" name="Google Shape;1389;p84"/>
          <p:cNvSpPr/>
          <p:nvPr/>
        </p:nvSpPr>
        <p:spPr>
          <a:xfrm>
            <a:off x="7648822" y="3069150"/>
            <a:ext cx="344400" cy="3444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0" name="Google Shape;1390;p84"/>
          <p:cNvSpPr/>
          <p:nvPr/>
        </p:nvSpPr>
        <p:spPr>
          <a:xfrm>
            <a:off x="8025722" y="4194925"/>
            <a:ext cx="344400" cy="3444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1" name="Google Shape;1391;p84"/>
          <p:cNvSpPr/>
          <p:nvPr/>
        </p:nvSpPr>
        <p:spPr>
          <a:xfrm>
            <a:off x="7256876" y="2574400"/>
            <a:ext cx="344400" cy="3444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p85"/>
          <p:cNvSpPr txBox="1"/>
          <p:nvPr/>
        </p:nvSpPr>
        <p:spPr>
          <a:xfrm>
            <a:off x="324000" y="642025"/>
            <a:ext cx="84960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This outcome tree correctly shows two events from the trial of spinning a spinner with 8 outcomes.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 this outcome tree to complete the Venn diagram that shows the same trial.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7" name="Google Shape;1397;p8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Transferring information between </a:t>
            </a:r>
            <a:r>
              <a:rPr lang="en-GB"/>
              <a:t>diagram</a:t>
            </a:r>
            <a:r>
              <a:rPr lang="en-GB"/>
              <a:t>s</a:t>
            </a:r>
            <a:endParaRPr/>
          </a:p>
        </p:txBody>
      </p:sp>
      <p:cxnSp>
        <p:nvCxnSpPr>
          <p:cNvPr id="1398" name="Google Shape;1398;p85"/>
          <p:cNvCxnSpPr/>
          <p:nvPr/>
        </p:nvCxnSpPr>
        <p:spPr>
          <a:xfrm flipH="1" rot="10800000">
            <a:off x="395800" y="2518472"/>
            <a:ext cx="480300" cy="486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9" name="Google Shape;1399;p85"/>
          <p:cNvCxnSpPr/>
          <p:nvPr/>
        </p:nvCxnSpPr>
        <p:spPr>
          <a:xfrm>
            <a:off x="395800" y="3140928"/>
            <a:ext cx="480300" cy="486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0" name="Google Shape;1400;p85"/>
          <p:cNvSpPr txBox="1"/>
          <p:nvPr/>
        </p:nvSpPr>
        <p:spPr>
          <a:xfrm>
            <a:off x="911751" y="2390719"/>
            <a:ext cx="81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square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1" name="Google Shape;1401;p85"/>
          <p:cNvSpPr txBox="1"/>
          <p:nvPr/>
        </p:nvSpPr>
        <p:spPr>
          <a:xfrm>
            <a:off x="911751" y="3362964"/>
            <a:ext cx="813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not square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02" name="Google Shape;1402;p85"/>
          <p:cNvCxnSpPr/>
          <p:nvPr/>
        </p:nvCxnSpPr>
        <p:spPr>
          <a:xfrm flipH="1" rot="10800000">
            <a:off x="1699749" y="2266100"/>
            <a:ext cx="652800" cy="226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3" name="Google Shape;1403;p85"/>
          <p:cNvCxnSpPr/>
          <p:nvPr/>
        </p:nvCxnSpPr>
        <p:spPr>
          <a:xfrm>
            <a:off x="1699749" y="2555864"/>
            <a:ext cx="652800" cy="226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4" name="Google Shape;1404;p85"/>
          <p:cNvSpPr txBox="1"/>
          <p:nvPr/>
        </p:nvSpPr>
        <p:spPr>
          <a:xfrm>
            <a:off x="2415325" y="2160725"/>
            <a:ext cx="5916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odd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5" name="Google Shape;1405;p85"/>
          <p:cNvSpPr txBox="1"/>
          <p:nvPr/>
        </p:nvSpPr>
        <p:spPr>
          <a:xfrm>
            <a:off x="2415325" y="2685546"/>
            <a:ext cx="5916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06" name="Google Shape;1406;p85"/>
          <p:cNvCxnSpPr/>
          <p:nvPr/>
        </p:nvCxnSpPr>
        <p:spPr>
          <a:xfrm flipH="1" rot="10800000">
            <a:off x="1699749" y="3387161"/>
            <a:ext cx="652800" cy="226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7" name="Google Shape;1407;p85"/>
          <p:cNvCxnSpPr/>
          <p:nvPr/>
        </p:nvCxnSpPr>
        <p:spPr>
          <a:xfrm>
            <a:off x="1699749" y="3676925"/>
            <a:ext cx="652800" cy="226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8" name="Google Shape;1408;p85"/>
          <p:cNvSpPr txBox="1"/>
          <p:nvPr/>
        </p:nvSpPr>
        <p:spPr>
          <a:xfrm>
            <a:off x="2415325" y="3281780"/>
            <a:ext cx="5916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odd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9" name="Google Shape;1409;p85"/>
          <p:cNvSpPr txBox="1"/>
          <p:nvPr/>
        </p:nvSpPr>
        <p:spPr>
          <a:xfrm>
            <a:off x="2415325" y="3806601"/>
            <a:ext cx="5916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0" name="Google Shape;1410;p85"/>
          <p:cNvSpPr/>
          <p:nvPr/>
        </p:nvSpPr>
        <p:spPr>
          <a:xfrm>
            <a:off x="2935750" y="2094725"/>
            <a:ext cx="1186200" cy="3444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169, 625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1" name="Google Shape;1411;p85"/>
          <p:cNvSpPr/>
          <p:nvPr/>
        </p:nvSpPr>
        <p:spPr>
          <a:xfrm>
            <a:off x="3007025" y="2589575"/>
            <a:ext cx="1184400" cy="3444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400, 784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2" name="Google Shape;1412;p85"/>
          <p:cNvSpPr/>
          <p:nvPr/>
        </p:nvSpPr>
        <p:spPr>
          <a:xfrm>
            <a:off x="3007025" y="3715250"/>
            <a:ext cx="1184400" cy="3444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77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2, 1000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3" name="Google Shape;1413;p85"/>
          <p:cNvSpPr/>
          <p:nvPr/>
        </p:nvSpPr>
        <p:spPr>
          <a:xfrm>
            <a:off x="2935750" y="3220400"/>
            <a:ext cx="1186200" cy="3444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89, 111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4" name="Google Shape;1414;p85"/>
          <p:cNvSpPr/>
          <p:nvPr/>
        </p:nvSpPr>
        <p:spPr>
          <a:xfrm>
            <a:off x="5085637" y="2177925"/>
            <a:ext cx="3560400" cy="18918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5" name="Google Shape;1415;p85"/>
          <p:cNvSpPr/>
          <p:nvPr/>
        </p:nvSpPr>
        <p:spPr>
          <a:xfrm>
            <a:off x="5411437" y="2481353"/>
            <a:ext cx="1946100" cy="12849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6" name="Google Shape;1416;p85"/>
          <p:cNvSpPr/>
          <p:nvPr/>
        </p:nvSpPr>
        <p:spPr>
          <a:xfrm>
            <a:off x="6374137" y="2481353"/>
            <a:ext cx="1946100" cy="12849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7" name="Google Shape;1417;p85"/>
          <p:cNvSpPr txBox="1"/>
          <p:nvPr/>
        </p:nvSpPr>
        <p:spPr>
          <a:xfrm>
            <a:off x="5553787" y="2309098"/>
            <a:ext cx="59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8" name="Google Shape;1418;p85"/>
          <p:cNvSpPr txBox="1"/>
          <p:nvPr/>
        </p:nvSpPr>
        <p:spPr>
          <a:xfrm>
            <a:off x="6954224" y="2309095"/>
            <a:ext cx="1449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square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9" name="Google Shape;1419;p85"/>
          <p:cNvSpPr txBox="1"/>
          <p:nvPr/>
        </p:nvSpPr>
        <p:spPr>
          <a:xfrm>
            <a:off x="7357525" y="2685550"/>
            <a:ext cx="5637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169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20" name="Google Shape;1420;p85"/>
          <p:cNvSpPr txBox="1"/>
          <p:nvPr/>
        </p:nvSpPr>
        <p:spPr>
          <a:xfrm>
            <a:off x="7509925" y="3133800"/>
            <a:ext cx="5637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625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21" name="Google Shape;1421;p85"/>
          <p:cNvSpPr txBox="1"/>
          <p:nvPr/>
        </p:nvSpPr>
        <p:spPr>
          <a:xfrm>
            <a:off x="6583975" y="2782375"/>
            <a:ext cx="5637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400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22" name="Google Shape;1422;p85"/>
          <p:cNvSpPr txBox="1"/>
          <p:nvPr/>
        </p:nvSpPr>
        <p:spPr>
          <a:xfrm>
            <a:off x="6583975" y="3220400"/>
            <a:ext cx="5637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784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23" name="Google Shape;1423;p85"/>
          <p:cNvSpPr txBox="1"/>
          <p:nvPr/>
        </p:nvSpPr>
        <p:spPr>
          <a:xfrm>
            <a:off x="5720550" y="2721575"/>
            <a:ext cx="5637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77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24" name="Google Shape;1424;p85"/>
          <p:cNvSpPr txBox="1"/>
          <p:nvPr/>
        </p:nvSpPr>
        <p:spPr>
          <a:xfrm>
            <a:off x="5720550" y="3163450"/>
            <a:ext cx="5637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1000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25" name="Google Shape;1425;p85"/>
          <p:cNvSpPr txBox="1"/>
          <p:nvPr/>
        </p:nvSpPr>
        <p:spPr>
          <a:xfrm>
            <a:off x="5411425" y="3808660"/>
            <a:ext cx="5637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89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26" name="Google Shape;1426;p85"/>
          <p:cNvSpPr txBox="1"/>
          <p:nvPr/>
        </p:nvSpPr>
        <p:spPr>
          <a:xfrm>
            <a:off x="6374125" y="3808660"/>
            <a:ext cx="5637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111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27" name="Google Shape;1427;p85"/>
          <p:cNvSpPr txBox="1"/>
          <p:nvPr/>
        </p:nvSpPr>
        <p:spPr>
          <a:xfrm>
            <a:off x="5085613" y="2177925"/>
            <a:ext cx="21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ξ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p86"/>
          <p:cNvSpPr txBox="1"/>
          <p:nvPr/>
        </p:nvSpPr>
        <p:spPr>
          <a:xfrm>
            <a:off x="324000" y="642025"/>
            <a:ext cx="84960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 The outcome tree and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outcome table show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the same two-stage trial: two spinners that will be spun (once each) with their outcomes added together.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Both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diagram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 are accurate, but have some information missing.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outcome table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shows the sample space of outcomes after addition. Complete both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diagram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3" name="Google Shape;1433;p8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Transferring information between </a:t>
            </a:r>
            <a:r>
              <a:rPr lang="en-GB"/>
              <a:t>diagram</a:t>
            </a:r>
            <a:r>
              <a:rPr lang="en-GB"/>
              <a:t>s</a:t>
            </a:r>
            <a:endParaRPr/>
          </a:p>
        </p:txBody>
      </p:sp>
      <p:cxnSp>
        <p:nvCxnSpPr>
          <p:cNvPr id="1434" name="Google Shape;1434;p86"/>
          <p:cNvCxnSpPr/>
          <p:nvPr/>
        </p:nvCxnSpPr>
        <p:spPr>
          <a:xfrm flipH="1" rot="10800000">
            <a:off x="1229461" y="2826287"/>
            <a:ext cx="781500" cy="677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5" name="Google Shape;1435;p86"/>
          <p:cNvCxnSpPr/>
          <p:nvPr/>
        </p:nvCxnSpPr>
        <p:spPr>
          <a:xfrm>
            <a:off x="1229461" y="3692669"/>
            <a:ext cx="781500" cy="677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6" name="Google Shape;1436;p86"/>
          <p:cNvCxnSpPr/>
          <p:nvPr/>
        </p:nvCxnSpPr>
        <p:spPr>
          <a:xfrm>
            <a:off x="1266084" y="3599081"/>
            <a:ext cx="8046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7" name="Google Shape;1437;p86"/>
          <p:cNvCxnSpPr/>
          <p:nvPr/>
        </p:nvCxnSpPr>
        <p:spPr>
          <a:xfrm flipH="1" rot="10800000">
            <a:off x="2393905" y="2647617"/>
            <a:ext cx="781500" cy="172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8" name="Google Shape;1438;p86"/>
          <p:cNvCxnSpPr/>
          <p:nvPr/>
        </p:nvCxnSpPr>
        <p:spPr>
          <a:xfrm>
            <a:off x="2393905" y="2867944"/>
            <a:ext cx="781500" cy="172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9" name="Google Shape;1439;p86"/>
          <p:cNvCxnSpPr/>
          <p:nvPr/>
        </p:nvCxnSpPr>
        <p:spPr>
          <a:xfrm flipH="1" rot="10800000">
            <a:off x="2393905" y="3401817"/>
            <a:ext cx="781500" cy="172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0" name="Google Shape;1440;p86"/>
          <p:cNvCxnSpPr/>
          <p:nvPr/>
        </p:nvCxnSpPr>
        <p:spPr>
          <a:xfrm>
            <a:off x="2393905" y="3622144"/>
            <a:ext cx="781500" cy="172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1" name="Google Shape;1441;p86"/>
          <p:cNvCxnSpPr/>
          <p:nvPr/>
        </p:nvCxnSpPr>
        <p:spPr>
          <a:xfrm flipH="1" rot="10800000">
            <a:off x="2393905" y="4156016"/>
            <a:ext cx="781500" cy="172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2" name="Google Shape;1442;p86"/>
          <p:cNvCxnSpPr/>
          <p:nvPr/>
        </p:nvCxnSpPr>
        <p:spPr>
          <a:xfrm>
            <a:off x="2393905" y="4376344"/>
            <a:ext cx="781500" cy="172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3" name="Google Shape;1443;p86"/>
          <p:cNvSpPr txBox="1"/>
          <p:nvPr/>
        </p:nvSpPr>
        <p:spPr>
          <a:xfrm>
            <a:off x="2079025" y="2693075"/>
            <a:ext cx="2469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-1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4" name="Google Shape;1444;p86"/>
          <p:cNvSpPr txBox="1"/>
          <p:nvPr/>
        </p:nvSpPr>
        <p:spPr>
          <a:xfrm>
            <a:off x="2079025" y="3441300"/>
            <a:ext cx="2469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45" name="Google Shape;1445;p86"/>
          <p:cNvSpPr txBox="1"/>
          <p:nvPr/>
        </p:nvSpPr>
        <p:spPr>
          <a:xfrm>
            <a:off x="2079025" y="4189525"/>
            <a:ext cx="2469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46" name="Google Shape;1446;p86"/>
          <p:cNvSpPr txBox="1"/>
          <p:nvPr/>
        </p:nvSpPr>
        <p:spPr>
          <a:xfrm>
            <a:off x="3175425" y="2496201"/>
            <a:ext cx="2469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7" name="Google Shape;1447;p86"/>
          <p:cNvSpPr txBox="1"/>
          <p:nvPr/>
        </p:nvSpPr>
        <p:spPr>
          <a:xfrm>
            <a:off x="3175425" y="2889942"/>
            <a:ext cx="2469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48" name="Google Shape;1448;p86"/>
          <p:cNvSpPr txBox="1"/>
          <p:nvPr/>
        </p:nvSpPr>
        <p:spPr>
          <a:xfrm>
            <a:off x="3175425" y="3247414"/>
            <a:ext cx="2469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49" name="Google Shape;1449;p86"/>
          <p:cNvSpPr txBox="1"/>
          <p:nvPr/>
        </p:nvSpPr>
        <p:spPr>
          <a:xfrm>
            <a:off x="3175425" y="3641154"/>
            <a:ext cx="2469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50" name="Google Shape;1450;p86"/>
          <p:cNvSpPr txBox="1"/>
          <p:nvPr/>
        </p:nvSpPr>
        <p:spPr>
          <a:xfrm>
            <a:off x="3175425" y="3998626"/>
            <a:ext cx="2469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51" name="Google Shape;1451;p86"/>
          <p:cNvSpPr txBox="1"/>
          <p:nvPr/>
        </p:nvSpPr>
        <p:spPr>
          <a:xfrm>
            <a:off x="3175425" y="4392367"/>
            <a:ext cx="2469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452" name="Google Shape;1452;p86"/>
          <p:cNvGraphicFramePr/>
          <p:nvPr/>
        </p:nvGraphicFramePr>
        <p:xfrm>
          <a:off x="4985953" y="2962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{CB14D709-67CF-4AEA-B8F9-FF3D39F066EA}</a:tableStyleId>
              </a:tblPr>
              <a:tblGrid>
                <a:gridCol w="600000"/>
                <a:gridCol w="600000"/>
                <a:gridCol w="600000"/>
                <a:gridCol w="600000"/>
              </a:tblGrid>
              <a:tr h="46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+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-1</a:t>
                      </a:r>
                      <a:endParaRPr sz="20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</a:tr>
              <a:tr h="46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0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20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8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Transferring information between </a:t>
            </a:r>
            <a:r>
              <a:rPr lang="en-GB"/>
              <a:t>diagram</a:t>
            </a:r>
            <a:r>
              <a:rPr lang="en-GB"/>
              <a:t>s</a:t>
            </a:r>
            <a:endParaRPr/>
          </a:p>
        </p:txBody>
      </p:sp>
      <p:sp>
        <p:nvSpPr>
          <p:cNvPr id="1458" name="Google Shape;1458;p8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multiple </a:t>
            </a:r>
            <a:r>
              <a:rPr lang="en-GB"/>
              <a:t>diagram</a:t>
            </a:r>
            <a:r>
              <a:rPr lang="en-GB"/>
              <a:t>s</a:t>
            </a:r>
            <a:endParaRPr/>
          </a:p>
        </p:txBody>
      </p:sp>
      <p:sp>
        <p:nvSpPr>
          <p:cNvPr id="1459" name="Google Shape;1459;p8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representations of outcomes for two events</a:t>
            </a:r>
            <a:endParaRPr/>
          </a:p>
        </p:txBody>
      </p:sp>
      <p:pic>
        <p:nvPicPr>
          <p:cNvPr id="1460" name="Google Shape;1460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984" y="2988373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multiple </a:t>
            </a:r>
            <a:r>
              <a:rPr lang="en-GB"/>
              <a:t>diagram</a:t>
            </a:r>
            <a:r>
              <a:rPr lang="en-GB"/>
              <a:t>s</a:t>
            </a:r>
            <a:endParaRPr/>
          </a:p>
        </p:txBody>
      </p:sp>
      <p:grpSp>
        <p:nvGrpSpPr>
          <p:cNvPr id="1466" name="Google Shape;1466;p88"/>
          <p:cNvGrpSpPr/>
          <p:nvPr/>
        </p:nvGrpSpPr>
        <p:grpSpPr>
          <a:xfrm>
            <a:off x="5893011" y="1035869"/>
            <a:ext cx="2378483" cy="1109201"/>
            <a:chOff x="4950696" y="682200"/>
            <a:chExt cx="3320975" cy="1767651"/>
          </a:xfrm>
        </p:grpSpPr>
        <p:pic>
          <p:nvPicPr>
            <p:cNvPr id="1467" name="Google Shape;1467;p88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>
              <a:off x="4950696" y="682200"/>
              <a:ext cx="3320975" cy="17676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8" name="Google Shape;1468;p88"/>
            <p:cNvSpPr txBox="1"/>
            <p:nvPr/>
          </p:nvSpPr>
          <p:spPr>
            <a:xfrm>
              <a:off x="5036584" y="736435"/>
              <a:ext cx="3000000" cy="14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It’s so useful to have loads of different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diagram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s!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69" name="Google Shape;1469;p88"/>
          <p:cNvGrpSpPr/>
          <p:nvPr/>
        </p:nvGrpSpPr>
        <p:grpSpPr>
          <a:xfrm>
            <a:off x="8137196" y="1478632"/>
            <a:ext cx="676200" cy="1040525"/>
            <a:chOff x="8137196" y="1935832"/>
            <a:chExt cx="676200" cy="1040525"/>
          </a:xfrm>
        </p:grpSpPr>
        <p:pic>
          <p:nvPicPr>
            <p:cNvPr id="1470" name="Google Shape;1470;p8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8209791" y="1935832"/>
              <a:ext cx="598139" cy="747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1" name="Google Shape;1471;p88"/>
            <p:cNvSpPr txBox="1"/>
            <p:nvPr/>
          </p:nvSpPr>
          <p:spPr>
            <a:xfrm>
              <a:off x="8137196" y="2699157"/>
              <a:ext cx="676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Jun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72" name="Google Shape;1472;p88"/>
          <p:cNvSpPr txBox="1"/>
          <p:nvPr/>
        </p:nvSpPr>
        <p:spPr>
          <a:xfrm>
            <a:off x="473739" y="1832409"/>
            <a:ext cx="99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3" name="Google Shape;1473;p88"/>
          <p:cNvSpPr txBox="1"/>
          <p:nvPr/>
        </p:nvSpPr>
        <p:spPr>
          <a:xfrm>
            <a:off x="393188" y="3705895"/>
            <a:ext cx="1158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74" name="Google Shape;1474;p88"/>
          <p:cNvGrpSpPr/>
          <p:nvPr/>
        </p:nvGrpSpPr>
        <p:grpSpPr>
          <a:xfrm>
            <a:off x="137425" y="2323944"/>
            <a:ext cx="1669839" cy="1669839"/>
            <a:chOff x="2878150" y="2106061"/>
            <a:chExt cx="1377300" cy="1377300"/>
          </a:xfrm>
        </p:grpSpPr>
        <p:sp>
          <p:nvSpPr>
            <p:cNvPr id="1475" name="Google Shape;1475;p88"/>
            <p:cNvSpPr/>
            <p:nvPr/>
          </p:nvSpPr>
          <p:spPr>
            <a:xfrm flipH="1">
              <a:off x="3074060" y="2301801"/>
              <a:ext cx="985500" cy="985500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rgbClr val="845AD9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88"/>
            <p:cNvSpPr/>
            <p:nvPr/>
          </p:nvSpPr>
          <p:spPr>
            <a:xfrm flipH="1" rot="4319377">
              <a:off x="3073909" y="2301755"/>
              <a:ext cx="985804" cy="985804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rgbClr val="037B7D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88"/>
            <p:cNvSpPr/>
            <p:nvPr/>
          </p:nvSpPr>
          <p:spPr>
            <a:xfrm flipH="1" rot="8639896">
              <a:off x="3073783" y="2301695"/>
              <a:ext cx="986033" cy="986033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rgbClr val="374CF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88"/>
            <p:cNvSpPr/>
            <p:nvPr/>
          </p:nvSpPr>
          <p:spPr>
            <a:xfrm>
              <a:off x="3074062" y="2301801"/>
              <a:ext cx="985500" cy="985500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rgbClr val="BEF2BD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88"/>
            <p:cNvSpPr/>
            <p:nvPr/>
          </p:nvSpPr>
          <p:spPr>
            <a:xfrm rot="-4319377">
              <a:off x="3073909" y="2301755"/>
              <a:ext cx="985804" cy="985804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rgbClr val="D02AA7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88"/>
            <p:cNvSpPr txBox="1"/>
            <p:nvPr/>
          </p:nvSpPr>
          <p:spPr>
            <a:xfrm>
              <a:off x="3250648" y="2401900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15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81" name="Google Shape;1481;p88"/>
            <p:cNvSpPr txBox="1"/>
            <p:nvPr/>
          </p:nvSpPr>
          <p:spPr>
            <a:xfrm>
              <a:off x="3139994" y="2733879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82" name="Google Shape;1482;p88"/>
            <p:cNvSpPr txBox="1"/>
            <p:nvPr/>
          </p:nvSpPr>
          <p:spPr>
            <a:xfrm>
              <a:off x="3427144" y="2931304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83" name="Google Shape;1483;p88"/>
            <p:cNvSpPr txBox="1"/>
            <p:nvPr/>
          </p:nvSpPr>
          <p:spPr>
            <a:xfrm flipH="1">
              <a:off x="3602072" y="2401900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84" name="Google Shape;1484;p88"/>
            <p:cNvSpPr txBox="1"/>
            <p:nvPr/>
          </p:nvSpPr>
          <p:spPr>
            <a:xfrm flipH="1">
              <a:off x="3712727" y="2733879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85" name="Google Shape;1485;p88"/>
            <p:cNvCxnSpPr/>
            <p:nvPr/>
          </p:nvCxnSpPr>
          <p:spPr>
            <a:xfrm rot="10800000">
              <a:off x="3566860" y="2337933"/>
              <a:ext cx="0" cy="4527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86" name="Google Shape;1486;p88"/>
            <p:cNvSpPr/>
            <p:nvPr/>
          </p:nvSpPr>
          <p:spPr>
            <a:xfrm>
              <a:off x="3539180" y="2771377"/>
              <a:ext cx="55200" cy="498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87" name="Google Shape;1487;p88"/>
          <p:cNvGrpSpPr/>
          <p:nvPr/>
        </p:nvGrpSpPr>
        <p:grpSpPr>
          <a:xfrm>
            <a:off x="2102133" y="739872"/>
            <a:ext cx="2927901" cy="2174526"/>
            <a:chOff x="2102133" y="739872"/>
            <a:chExt cx="2927901" cy="2174526"/>
          </a:xfrm>
        </p:grpSpPr>
        <p:grpSp>
          <p:nvGrpSpPr>
            <p:cNvPr id="1488" name="Google Shape;1488;p88"/>
            <p:cNvGrpSpPr/>
            <p:nvPr/>
          </p:nvGrpSpPr>
          <p:grpSpPr>
            <a:xfrm>
              <a:off x="2350007" y="739872"/>
              <a:ext cx="2680027" cy="1362353"/>
              <a:chOff x="797575" y="5295652"/>
              <a:chExt cx="3320975" cy="1476325"/>
            </a:xfrm>
          </p:grpSpPr>
          <p:pic>
            <p:nvPicPr>
              <p:cNvPr id="1489" name="Google Shape;1489;p88"/>
              <p:cNvPicPr preferRelativeResize="0"/>
              <p:nvPr/>
            </p:nvPicPr>
            <p:blipFill rotWithShape="1">
              <a:blip r:embed="rId3">
                <a:alphaModFix/>
              </a:blip>
              <a:srcRect b="43690" l="0" r="57905" t="0"/>
              <a:stretch/>
            </p:blipFill>
            <p:spPr>
              <a:xfrm flipH="1">
                <a:off x="797575" y="5295652"/>
                <a:ext cx="3320975" cy="14763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90" name="Google Shape;1490;p88"/>
              <p:cNvSpPr txBox="1"/>
              <p:nvPr/>
            </p:nvSpPr>
            <p:spPr>
              <a:xfrm flipH="1">
                <a:off x="1048703" y="5313075"/>
                <a:ext cx="3000000" cy="55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But it’s tricky to choose.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When is one </a:t>
                </a: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diagram</a:t>
                </a: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 better than another?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pic>
          <p:nvPicPr>
            <p:cNvPr id="1491" name="Google Shape;1491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2102133" y="1900104"/>
              <a:ext cx="664425" cy="7370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2" name="Google Shape;1492;p88"/>
            <p:cNvSpPr txBox="1"/>
            <p:nvPr/>
          </p:nvSpPr>
          <p:spPr>
            <a:xfrm flipH="1">
              <a:off x="2131207" y="2637197"/>
              <a:ext cx="676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Sofia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93" name="Google Shape;1493;p88"/>
          <p:cNvGrpSpPr/>
          <p:nvPr/>
        </p:nvGrpSpPr>
        <p:grpSpPr>
          <a:xfrm>
            <a:off x="3610275" y="2571745"/>
            <a:ext cx="3357583" cy="1853980"/>
            <a:chOff x="3369600" y="2537445"/>
            <a:chExt cx="3357583" cy="1853980"/>
          </a:xfrm>
        </p:grpSpPr>
        <p:grpSp>
          <p:nvGrpSpPr>
            <p:cNvPr id="1494" name="Google Shape;1494;p88"/>
            <p:cNvGrpSpPr/>
            <p:nvPr/>
          </p:nvGrpSpPr>
          <p:grpSpPr>
            <a:xfrm flipH="1">
              <a:off x="3369600" y="3394322"/>
              <a:ext cx="885300" cy="997103"/>
              <a:chOff x="8071950" y="1319647"/>
              <a:chExt cx="885300" cy="997103"/>
            </a:xfrm>
          </p:grpSpPr>
          <p:pic>
            <p:nvPicPr>
              <p:cNvPr id="1495" name="Google Shape;1495;p88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8209198" y="1319647"/>
                <a:ext cx="610800" cy="7043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96" name="Google Shape;1496;p88"/>
              <p:cNvSpPr txBox="1"/>
              <p:nvPr/>
            </p:nvSpPr>
            <p:spPr>
              <a:xfrm>
                <a:off x="8071950" y="2003250"/>
                <a:ext cx="885300" cy="31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Alex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497" name="Google Shape;1497;p88"/>
            <p:cNvGrpSpPr/>
            <p:nvPr/>
          </p:nvGrpSpPr>
          <p:grpSpPr>
            <a:xfrm flipH="1">
              <a:off x="4087340" y="2537445"/>
              <a:ext cx="2639843" cy="1405105"/>
              <a:chOff x="4950696" y="682200"/>
              <a:chExt cx="3320975" cy="1767651"/>
            </a:xfrm>
          </p:grpSpPr>
          <p:pic>
            <p:nvPicPr>
              <p:cNvPr id="1498" name="Google Shape;1498;p88"/>
              <p:cNvPicPr preferRelativeResize="0"/>
              <p:nvPr/>
            </p:nvPicPr>
            <p:blipFill rotWithShape="1">
              <a:blip r:embed="rId3">
                <a:alphaModFix/>
              </a:blip>
              <a:srcRect b="43690" l="0" r="57905" t="0"/>
              <a:stretch/>
            </p:blipFill>
            <p:spPr>
              <a:xfrm>
                <a:off x="4950696" y="682200"/>
                <a:ext cx="3320975" cy="17676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99" name="Google Shape;1499;p88"/>
              <p:cNvSpPr txBox="1"/>
              <p:nvPr/>
            </p:nvSpPr>
            <p:spPr>
              <a:xfrm>
                <a:off x="5036584" y="714518"/>
                <a:ext cx="3000000" cy="142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And is it always possible to use every </a:t>
                </a: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diagram</a:t>
                </a: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 in every situation?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500" name="Google Shape;1500;p88"/>
          <p:cNvGrpSpPr/>
          <p:nvPr/>
        </p:nvGrpSpPr>
        <p:grpSpPr>
          <a:xfrm>
            <a:off x="177489" y="493386"/>
            <a:ext cx="1589763" cy="1589763"/>
            <a:chOff x="1090105" y="2306370"/>
            <a:chExt cx="1024200" cy="1024200"/>
          </a:xfrm>
        </p:grpSpPr>
        <p:grpSp>
          <p:nvGrpSpPr>
            <p:cNvPr id="1501" name="Google Shape;1501;p88"/>
            <p:cNvGrpSpPr/>
            <p:nvPr/>
          </p:nvGrpSpPr>
          <p:grpSpPr>
            <a:xfrm>
              <a:off x="1090105" y="2306370"/>
              <a:ext cx="1024200" cy="1024200"/>
              <a:chOff x="1090105" y="2306370"/>
              <a:chExt cx="1024200" cy="1024200"/>
            </a:xfrm>
          </p:grpSpPr>
          <p:sp>
            <p:nvSpPr>
              <p:cNvPr id="1502" name="Google Shape;1502;p88"/>
              <p:cNvSpPr/>
              <p:nvPr/>
            </p:nvSpPr>
            <p:spPr>
              <a:xfrm flipH="1">
                <a:off x="1227496" y="2443628"/>
                <a:ext cx="749400" cy="749400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3" name="Google Shape;1503;p88"/>
              <p:cNvSpPr txBox="1"/>
              <p:nvPr/>
            </p:nvSpPr>
            <p:spPr>
              <a:xfrm>
                <a:off x="1625600" y="250535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04" name="Google Shape;1504;p88"/>
              <p:cNvSpPr/>
              <p:nvPr/>
            </p:nvSpPr>
            <p:spPr>
              <a:xfrm flipH="1" rot="3599772">
                <a:off x="1227589" y="2443721"/>
                <a:ext cx="749314" cy="74931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rgbClr val="845AD9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5" name="Google Shape;1505;p88"/>
              <p:cNvSpPr/>
              <p:nvPr/>
            </p:nvSpPr>
            <p:spPr>
              <a:xfrm flipH="1" rot="10800000">
                <a:off x="1227549" y="2443623"/>
                <a:ext cx="749400" cy="749400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rgbClr val="374CF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6" name="Google Shape;1506;p88"/>
              <p:cNvSpPr/>
              <p:nvPr/>
            </p:nvSpPr>
            <p:spPr>
              <a:xfrm flipH="1" rot="7200228">
                <a:off x="1227549" y="2443709"/>
                <a:ext cx="749314" cy="74931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rgbClr val="037B7D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7" name="Google Shape;1507;p88"/>
              <p:cNvSpPr/>
              <p:nvPr/>
            </p:nvSpPr>
            <p:spPr>
              <a:xfrm flipH="1" rot="-3599269">
                <a:off x="1227344" y="2443608"/>
                <a:ext cx="749724" cy="74972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rgbClr val="BEF2BD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8" name="Google Shape;1508;p88"/>
              <p:cNvSpPr/>
              <p:nvPr/>
            </p:nvSpPr>
            <p:spPr>
              <a:xfrm flipH="1" rot="-7198348">
                <a:off x="1227546" y="2443681"/>
                <a:ext cx="749424" cy="74942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rgbClr val="D02AA7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9" name="Google Shape;1509;p88"/>
              <p:cNvSpPr txBox="1"/>
              <p:nvPr/>
            </p:nvSpPr>
            <p:spPr>
              <a:xfrm>
                <a:off x="1755875" y="2714975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10" name="Google Shape;1510;p88"/>
              <p:cNvSpPr txBox="1"/>
              <p:nvPr/>
            </p:nvSpPr>
            <p:spPr>
              <a:xfrm>
                <a:off x="1625600" y="292460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11" name="Google Shape;1511;p88"/>
              <p:cNvSpPr txBox="1"/>
              <p:nvPr/>
            </p:nvSpPr>
            <p:spPr>
              <a:xfrm flipH="1">
                <a:off x="1399436" y="250535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F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12" name="Google Shape;1512;p88"/>
              <p:cNvSpPr txBox="1"/>
              <p:nvPr/>
            </p:nvSpPr>
            <p:spPr>
              <a:xfrm flipH="1">
                <a:off x="1269161" y="2714975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E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13" name="Google Shape;1513;p88"/>
              <p:cNvSpPr txBox="1"/>
              <p:nvPr/>
            </p:nvSpPr>
            <p:spPr>
              <a:xfrm flipH="1">
                <a:off x="1399436" y="292460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D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514" name="Google Shape;1514;p88"/>
            <p:cNvGrpSpPr/>
            <p:nvPr/>
          </p:nvGrpSpPr>
          <p:grpSpPr>
            <a:xfrm>
              <a:off x="1581202" y="2466989"/>
              <a:ext cx="42000" cy="367258"/>
              <a:chOff x="1012152" y="1933239"/>
              <a:chExt cx="42000" cy="367258"/>
            </a:xfrm>
          </p:grpSpPr>
          <p:cxnSp>
            <p:nvCxnSpPr>
              <p:cNvPr id="1515" name="Google Shape;1515;p88"/>
              <p:cNvCxnSpPr/>
              <p:nvPr/>
            </p:nvCxnSpPr>
            <p:spPr>
              <a:xfrm rot="10800000">
                <a:off x="1033198" y="1933239"/>
                <a:ext cx="0" cy="3441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516" name="Google Shape;1516;p88"/>
              <p:cNvSpPr/>
              <p:nvPr/>
            </p:nvSpPr>
            <p:spPr>
              <a:xfrm>
                <a:off x="1012152" y="2262698"/>
                <a:ext cx="42000" cy="378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1" name="Google Shape;1521;p89"/>
          <p:cNvGrpSpPr/>
          <p:nvPr/>
        </p:nvGrpSpPr>
        <p:grpSpPr>
          <a:xfrm flipH="1">
            <a:off x="5768531" y="808211"/>
            <a:ext cx="2871647" cy="1362353"/>
            <a:chOff x="797575" y="5295652"/>
            <a:chExt cx="3320975" cy="1476325"/>
          </a:xfrm>
        </p:grpSpPr>
        <p:pic>
          <p:nvPicPr>
            <p:cNvPr id="1522" name="Google Shape;1522;p89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 flipH="1">
              <a:off x="797575" y="5295652"/>
              <a:ext cx="3320975" cy="1476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3" name="Google Shape;1523;p89"/>
            <p:cNvSpPr txBox="1"/>
            <p:nvPr/>
          </p:nvSpPr>
          <p:spPr>
            <a:xfrm flipH="1">
              <a:off x="1048703" y="5313075"/>
              <a:ext cx="3000000" cy="55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Lists are super straightforward if there are only a few outcomes…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24" name="Google Shape;1524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multiple </a:t>
            </a:r>
            <a:r>
              <a:rPr lang="en-GB"/>
              <a:t>diagram</a:t>
            </a:r>
            <a:r>
              <a:rPr lang="en-GB"/>
              <a:t>s</a:t>
            </a:r>
            <a:endParaRPr/>
          </a:p>
        </p:txBody>
      </p:sp>
      <p:sp>
        <p:nvSpPr>
          <p:cNvPr id="1525" name="Google Shape;1525;p89"/>
          <p:cNvSpPr txBox="1"/>
          <p:nvPr/>
        </p:nvSpPr>
        <p:spPr>
          <a:xfrm>
            <a:off x="473739" y="1832409"/>
            <a:ext cx="99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6" name="Google Shape;1526;p89"/>
          <p:cNvSpPr txBox="1"/>
          <p:nvPr/>
        </p:nvSpPr>
        <p:spPr>
          <a:xfrm>
            <a:off x="393188" y="3705895"/>
            <a:ext cx="1158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27" name="Google Shape;1527;p89"/>
          <p:cNvGrpSpPr/>
          <p:nvPr/>
        </p:nvGrpSpPr>
        <p:grpSpPr>
          <a:xfrm>
            <a:off x="137425" y="2323944"/>
            <a:ext cx="1669839" cy="1669839"/>
            <a:chOff x="2878150" y="2106061"/>
            <a:chExt cx="1377300" cy="1377300"/>
          </a:xfrm>
        </p:grpSpPr>
        <p:sp>
          <p:nvSpPr>
            <p:cNvPr id="1528" name="Google Shape;1528;p89"/>
            <p:cNvSpPr/>
            <p:nvPr/>
          </p:nvSpPr>
          <p:spPr>
            <a:xfrm flipH="1">
              <a:off x="3074060" y="2301801"/>
              <a:ext cx="985500" cy="985500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rgbClr val="845AD9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89"/>
            <p:cNvSpPr/>
            <p:nvPr/>
          </p:nvSpPr>
          <p:spPr>
            <a:xfrm flipH="1" rot="4319377">
              <a:off x="3073909" y="2301755"/>
              <a:ext cx="985804" cy="985804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rgbClr val="037B7D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89"/>
            <p:cNvSpPr/>
            <p:nvPr/>
          </p:nvSpPr>
          <p:spPr>
            <a:xfrm flipH="1" rot="8639896">
              <a:off x="3073783" y="2301695"/>
              <a:ext cx="986033" cy="986033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rgbClr val="374CF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89"/>
            <p:cNvSpPr/>
            <p:nvPr/>
          </p:nvSpPr>
          <p:spPr>
            <a:xfrm>
              <a:off x="3074062" y="2301801"/>
              <a:ext cx="985500" cy="985500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rgbClr val="BEF2BD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89"/>
            <p:cNvSpPr/>
            <p:nvPr/>
          </p:nvSpPr>
          <p:spPr>
            <a:xfrm rot="-4319377">
              <a:off x="3073909" y="2301755"/>
              <a:ext cx="985804" cy="985804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rgbClr val="D02AA7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89"/>
            <p:cNvSpPr txBox="1"/>
            <p:nvPr/>
          </p:nvSpPr>
          <p:spPr>
            <a:xfrm>
              <a:off x="3250648" y="2401900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15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4" name="Google Shape;1534;p89"/>
            <p:cNvSpPr txBox="1"/>
            <p:nvPr/>
          </p:nvSpPr>
          <p:spPr>
            <a:xfrm>
              <a:off x="3139994" y="2733879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5" name="Google Shape;1535;p89"/>
            <p:cNvSpPr txBox="1"/>
            <p:nvPr/>
          </p:nvSpPr>
          <p:spPr>
            <a:xfrm>
              <a:off x="3427144" y="2931304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6" name="Google Shape;1536;p89"/>
            <p:cNvSpPr txBox="1"/>
            <p:nvPr/>
          </p:nvSpPr>
          <p:spPr>
            <a:xfrm flipH="1">
              <a:off x="3602072" y="2401900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7" name="Google Shape;1537;p89"/>
            <p:cNvSpPr txBox="1"/>
            <p:nvPr/>
          </p:nvSpPr>
          <p:spPr>
            <a:xfrm flipH="1">
              <a:off x="3712727" y="2733879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38" name="Google Shape;1538;p89"/>
            <p:cNvCxnSpPr/>
            <p:nvPr/>
          </p:nvCxnSpPr>
          <p:spPr>
            <a:xfrm rot="10800000">
              <a:off x="3566860" y="2337933"/>
              <a:ext cx="0" cy="4527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39" name="Google Shape;1539;p89"/>
            <p:cNvSpPr/>
            <p:nvPr/>
          </p:nvSpPr>
          <p:spPr>
            <a:xfrm>
              <a:off x="3539180" y="2771377"/>
              <a:ext cx="55200" cy="498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40" name="Google Shape;1540;p89"/>
          <p:cNvGrpSpPr/>
          <p:nvPr/>
        </p:nvGrpSpPr>
        <p:grpSpPr>
          <a:xfrm>
            <a:off x="177489" y="493386"/>
            <a:ext cx="1589763" cy="1589763"/>
            <a:chOff x="1090105" y="2306370"/>
            <a:chExt cx="1024200" cy="1024200"/>
          </a:xfrm>
        </p:grpSpPr>
        <p:grpSp>
          <p:nvGrpSpPr>
            <p:cNvPr id="1541" name="Google Shape;1541;p89"/>
            <p:cNvGrpSpPr/>
            <p:nvPr/>
          </p:nvGrpSpPr>
          <p:grpSpPr>
            <a:xfrm>
              <a:off x="1090105" y="2306370"/>
              <a:ext cx="1024200" cy="1024200"/>
              <a:chOff x="1090105" y="2306370"/>
              <a:chExt cx="1024200" cy="1024200"/>
            </a:xfrm>
          </p:grpSpPr>
          <p:sp>
            <p:nvSpPr>
              <p:cNvPr id="1542" name="Google Shape;1542;p89"/>
              <p:cNvSpPr/>
              <p:nvPr/>
            </p:nvSpPr>
            <p:spPr>
              <a:xfrm flipH="1">
                <a:off x="1227496" y="2443628"/>
                <a:ext cx="749400" cy="749400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3" name="Google Shape;1543;p89"/>
              <p:cNvSpPr txBox="1"/>
              <p:nvPr/>
            </p:nvSpPr>
            <p:spPr>
              <a:xfrm>
                <a:off x="1625600" y="250535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44" name="Google Shape;1544;p89"/>
              <p:cNvSpPr/>
              <p:nvPr/>
            </p:nvSpPr>
            <p:spPr>
              <a:xfrm flipH="1" rot="3599772">
                <a:off x="1227589" y="2443721"/>
                <a:ext cx="749314" cy="74931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rgbClr val="845AD9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5" name="Google Shape;1545;p89"/>
              <p:cNvSpPr/>
              <p:nvPr/>
            </p:nvSpPr>
            <p:spPr>
              <a:xfrm flipH="1" rot="10800000">
                <a:off x="1227549" y="2443623"/>
                <a:ext cx="749400" cy="749400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rgbClr val="374CF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6" name="Google Shape;1546;p89"/>
              <p:cNvSpPr/>
              <p:nvPr/>
            </p:nvSpPr>
            <p:spPr>
              <a:xfrm flipH="1" rot="7200228">
                <a:off x="1227549" y="2443709"/>
                <a:ext cx="749314" cy="74931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rgbClr val="037B7D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7" name="Google Shape;1547;p89"/>
              <p:cNvSpPr/>
              <p:nvPr/>
            </p:nvSpPr>
            <p:spPr>
              <a:xfrm flipH="1" rot="-3599269">
                <a:off x="1227344" y="2443608"/>
                <a:ext cx="749724" cy="74972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rgbClr val="BEF2BD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8" name="Google Shape;1548;p89"/>
              <p:cNvSpPr/>
              <p:nvPr/>
            </p:nvSpPr>
            <p:spPr>
              <a:xfrm flipH="1" rot="-7198348">
                <a:off x="1227546" y="2443681"/>
                <a:ext cx="749424" cy="74942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rgbClr val="D02AA7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9" name="Google Shape;1549;p89"/>
              <p:cNvSpPr txBox="1"/>
              <p:nvPr/>
            </p:nvSpPr>
            <p:spPr>
              <a:xfrm>
                <a:off x="1755875" y="2714975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50" name="Google Shape;1550;p89"/>
              <p:cNvSpPr txBox="1"/>
              <p:nvPr/>
            </p:nvSpPr>
            <p:spPr>
              <a:xfrm>
                <a:off x="1625600" y="292460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51" name="Google Shape;1551;p89"/>
              <p:cNvSpPr txBox="1"/>
              <p:nvPr/>
            </p:nvSpPr>
            <p:spPr>
              <a:xfrm flipH="1">
                <a:off x="1399436" y="250535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F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52" name="Google Shape;1552;p89"/>
              <p:cNvSpPr txBox="1"/>
              <p:nvPr/>
            </p:nvSpPr>
            <p:spPr>
              <a:xfrm flipH="1">
                <a:off x="1269161" y="2714975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E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53" name="Google Shape;1553;p89"/>
              <p:cNvSpPr txBox="1"/>
              <p:nvPr/>
            </p:nvSpPr>
            <p:spPr>
              <a:xfrm flipH="1">
                <a:off x="1399436" y="292460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D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554" name="Google Shape;1554;p89"/>
            <p:cNvGrpSpPr/>
            <p:nvPr/>
          </p:nvGrpSpPr>
          <p:grpSpPr>
            <a:xfrm>
              <a:off x="1581202" y="2466989"/>
              <a:ext cx="42000" cy="367258"/>
              <a:chOff x="1012152" y="1933239"/>
              <a:chExt cx="42000" cy="367258"/>
            </a:xfrm>
          </p:grpSpPr>
          <p:cxnSp>
            <p:nvCxnSpPr>
              <p:cNvPr id="1555" name="Google Shape;1555;p89"/>
              <p:cNvCxnSpPr/>
              <p:nvPr/>
            </p:nvCxnSpPr>
            <p:spPr>
              <a:xfrm rot="10800000">
                <a:off x="1033198" y="1933239"/>
                <a:ext cx="0" cy="3441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556" name="Google Shape;1556;p89"/>
              <p:cNvSpPr/>
              <p:nvPr/>
            </p:nvSpPr>
            <p:spPr>
              <a:xfrm>
                <a:off x="1012152" y="2262698"/>
                <a:ext cx="42000" cy="378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aphicFrame>
        <p:nvGraphicFramePr>
          <p:cNvPr id="1557" name="Google Shape;1557;p89"/>
          <p:cNvGraphicFramePr/>
          <p:nvPr/>
        </p:nvGraphicFramePr>
        <p:xfrm>
          <a:off x="2645500" y="7114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{119AA301-71C9-4D9F-A7E1-64B13F113C20}</a:tableStyleId>
              </a:tblPr>
              <a:tblGrid>
                <a:gridCol w="831675"/>
              </a:tblGrid>
              <a:tr h="120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A, 15</a:t>
                      </a:r>
                      <a:endParaRPr sz="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90000" anchor="ctr"/>
                </a:tc>
              </a:tr>
              <a:tr h="120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E, 15</a:t>
                      </a:r>
                      <a:endParaRPr sz="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90000" anchor="ctr"/>
                </a:tc>
              </a:tr>
              <a:tr h="120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F, 15</a:t>
                      </a:r>
                      <a:endParaRPr sz="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90000" anchor="ctr"/>
                </a:tc>
              </a:tr>
              <a:tr h="120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E, 1</a:t>
                      </a:r>
                      <a:endParaRPr sz="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90000" anchor="ctr"/>
                </a:tc>
              </a:tr>
              <a:tr h="120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C, 8</a:t>
                      </a:r>
                      <a:endParaRPr sz="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90000" anchor="ctr"/>
                </a:tc>
              </a:tr>
              <a:tr h="120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D, 15</a:t>
                      </a:r>
                      <a:endParaRPr sz="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90000" anchor="ctr"/>
                </a:tc>
              </a:tr>
              <a:tr h="120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F, 9</a:t>
                      </a:r>
                      <a:endParaRPr sz="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90000" anchor="ctr"/>
                </a:tc>
              </a:tr>
              <a:tr h="120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A, 4</a:t>
                      </a:r>
                      <a:endParaRPr sz="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90000" anchor="ctr"/>
                </a:tc>
              </a:tr>
              <a:tr h="120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E, 4</a:t>
                      </a:r>
                      <a:endParaRPr sz="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90000" anchor="ctr"/>
                </a:tc>
              </a:tr>
              <a:tr h="120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90000" anchor="ctr"/>
                </a:tc>
              </a:tr>
              <a:tr h="120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F, 4</a:t>
                      </a:r>
                      <a:endParaRPr sz="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90000" anchor="ctr"/>
                </a:tc>
              </a:tr>
              <a:tr h="120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B, 8</a:t>
                      </a:r>
                      <a:endParaRPr sz="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90000" anchor="ctr"/>
                </a:tc>
              </a:tr>
              <a:tr h="120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D, 1</a:t>
                      </a:r>
                      <a:endParaRPr sz="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90000" anchor="ctr"/>
                </a:tc>
              </a:tr>
              <a:tr h="120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A, 8</a:t>
                      </a:r>
                      <a:endParaRPr sz="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90000" anchor="ctr"/>
                </a:tc>
              </a:tr>
              <a:tr h="120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D, 9</a:t>
                      </a:r>
                      <a:endParaRPr sz="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90000" anchor="ctr"/>
                </a:tc>
              </a:tr>
              <a:tr h="120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C, 4</a:t>
                      </a:r>
                      <a:endParaRPr sz="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90000" anchor="ctr"/>
                </a:tc>
              </a:tr>
              <a:tr h="120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A, 9</a:t>
                      </a:r>
                      <a:endParaRPr sz="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90000" anchor="ctr"/>
                </a:tc>
              </a:tr>
              <a:tr h="120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B, 15</a:t>
                      </a:r>
                      <a:endParaRPr sz="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90000" anchor="ctr"/>
                </a:tc>
              </a:tr>
              <a:tr h="120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E, 9</a:t>
                      </a:r>
                      <a:endParaRPr sz="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90000" anchor="ctr"/>
                </a:tc>
              </a:tr>
              <a:tr h="120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C, 15</a:t>
                      </a:r>
                      <a:endParaRPr sz="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90000" anchor="ctr"/>
                </a:tc>
              </a:tr>
              <a:tr h="120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D, 4</a:t>
                      </a:r>
                      <a:endParaRPr sz="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90000" anchor="ctr"/>
                </a:tc>
              </a:tr>
              <a:tr h="120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A, 1</a:t>
                      </a:r>
                      <a:endParaRPr sz="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90000" anchor="ctr"/>
                </a:tc>
              </a:tr>
              <a:tr h="120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F, 1</a:t>
                      </a:r>
                      <a:endParaRPr sz="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90000" anchor="ctr"/>
                </a:tc>
              </a:tr>
              <a:tr h="120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B, 1</a:t>
                      </a:r>
                      <a:endParaRPr sz="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90000" anchor="ctr"/>
                </a:tc>
              </a:tr>
              <a:tr h="120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D, 8</a:t>
                      </a:r>
                      <a:endParaRPr sz="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90000" anchor="ctr"/>
                </a:tc>
              </a:tr>
              <a:tr h="120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F, 8</a:t>
                      </a:r>
                      <a:endParaRPr sz="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90000" anchor="ctr"/>
                </a:tc>
              </a:tr>
              <a:tr h="120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C, 1</a:t>
                      </a:r>
                      <a:endParaRPr sz="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90000" anchor="ctr"/>
                </a:tc>
              </a:tr>
              <a:tr h="120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E, 8</a:t>
                      </a:r>
                      <a:endParaRPr sz="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90000" anchor="ctr"/>
                </a:tc>
              </a:tr>
              <a:tr h="120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C, 9</a:t>
                      </a:r>
                      <a:endParaRPr sz="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90000" anchor="ctr"/>
                </a:tc>
              </a:tr>
              <a:tr h="120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B, 4</a:t>
                      </a:r>
                      <a:endParaRPr sz="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90000" anchor="ctr"/>
                </a:tc>
              </a:tr>
            </a:tbl>
          </a:graphicData>
        </a:graphic>
      </p:graphicFrame>
      <p:grpSp>
        <p:nvGrpSpPr>
          <p:cNvPr id="1558" name="Google Shape;1558;p89"/>
          <p:cNvGrpSpPr/>
          <p:nvPr/>
        </p:nvGrpSpPr>
        <p:grpSpPr>
          <a:xfrm rot="10800000">
            <a:off x="6035782" y="2781597"/>
            <a:ext cx="2424644" cy="1362353"/>
            <a:chOff x="797575" y="5295652"/>
            <a:chExt cx="3320975" cy="1476325"/>
          </a:xfrm>
        </p:grpSpPr>
        <p:pic>
          <p:nvPicPr>
            <p:cNvPr id="1559" name="Google Shape;1559;p89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 flipH="1">
              <a:off x="797575" y="5295652"/>
              <a:ext cx="3320975" cy="1476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0" name="Google Shape;1560;p89"/>
            <p:cNvSpPr txBox="1"/>
            <p:nvPr/>
          </p:nvSpPr>
          <p:spPr>
            <a:xfrm flipH="1" rot="10800000">
              <a:off x="1048703" y="5958770"/>
              <a:ext cx="3000000" cy="55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It’s really difficult to spot if I’ve missed out an outcome.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61" name="Google Shape;1561;p89"/>
          <p:cNvGrpSpPr/>
          <p:nvPr/>
        </p:nvGrpSpPr>
        <p:grpSpPr>
          <a:xfrm>
            <a:off x="3250775" y="1841772"/>
            <a:ext cx="1171210" cy="277200"/>
            <a:chOff x="2564975" y="1841772"/>
            <a:chExt cx="1171210" cy="277200"/>
          </a:xfrm>
        </p:grpSpPr>
        <p:cxnSp>
          <p:nvCxnSpPr>
            <p:cNvPr id="1562" name="Google Shape;1562;p89"/>
            <p:cNvCxnSpPr/>
            <p:nvPr/>
          </p:nvCxnSpPr>
          <p:spPr>
            <a:xfrm rot="10800000">
              <a:off x="2564975" y="1980375"/>
              <a:ext cx="4950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63" name="Google Shape;1563;p89"/>
            <p:cNvSpPr txBox="1"/>
            <p:nvPr/>
          </p:nvSpPr>
          <p:spPr>
            <a:xfrm>
              <a:off x="3059985" y="1841772"/>
              <a:ext cx="676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B, 9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64" name="Google Shape;1564;p89"/>
          <p:cNvGrpSpPr/>
          <p:nvPr/>
        </p:nvGrpSpPr>
        <p:grpSpPr>
          <a:xfrm>
            <a:off x="5409700" y="720475"/>
            <a:ext cx="3279351" cy="1514100"/>
            <a:chOff x="5409700" y="720475"/>
            <a:chExt cx="3279351" cy="1514100"/>
          </a:xfrm>
        </p:grpSpPr>
        <p:sp>
          <p:nvSpPr>
            <p:cNvPr id="1565" name="Google Shape;1565;p89"/>
            <p:cNvSpPr/>
            <p:nvPr/>
          </p:nvSpPr>
          <p:spPr>
            <a:xfrm>
              <a:off x="5409700" y="720475"/>
              <a:ext cx="3187500" cy="1514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566" name="Google Shape;1566;p89"/>
            <p:cNvGrpSpPr/>
            <p:nvPr/>
          </p:nvGrpSpPr>
          <p:grpSpPr>
            <a:xfrm flipH="1">
              <a:off x="5501579" y="810199"/>
              <a:ext cx="3187472" cy="1362206"/>
              <a:chOff x="797575" y="5295652"/>
              <a:chExt cx="3320975" cy="1476325"/>
            </a:xfrm>
          </p:grpSpPr>
          <p:pic>
            <p:nvPicPr>
              <p:cNvPr id="1567" name="Google Shape;1567;p89"/>
              <p:cNvPicPr preferRelativeResize="0"/>
              <p:nvPr/>
            </p:nvPicPr>
            <p:blipFill rotWithShape="1">
              <a:blip r:embed="rId3">
                <a:alphaModFix/>
              </a:blip>
              <a:srcRect b="43690" l="0" r="57905" t="0"/>
              <a:stretch/>
            </p:blipFill>
            <p:spPr>
              <a:xfrm flipH="1">
                <a:off x="797575" y="5295652"/>
                <a:ext cx="3320975" cy="14763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68" name="Google Shape;1568;p89"/>
              <p:cNvSpPr txBox="1"/>
              <p:nvPr/>
            </p:nvSpPr>
            <p:spPr>
              <a:xfrm flipH="1">
                <a:off x="1048703" y="5313075"/>
                <a:ext cx="3000000" cy="55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But I find making a list really tricky if there are loads of outcomes for each stage of a trial!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pic>
        <p:nvPicPr>
          <p:cNvPr id="1569" name="Google Shape;1569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55584" y="1970229"/>
            <a:ext cx="664425" cy="737087"/>
          </a:xfrm>
          <a:prstGeom prst="rect">
            <a:avLst/>
          </a:prstGeom>
          <a:noFill/>
          <a:ln>
            <a:noFill/>
          </a:ln>
        </p:spPr>
      </p:pic>
      <p:sp>
        <p:nvSpPr>
          <p:cNvPr id="1570" name="Google Shape;1570;p89"/>
          <p:cNvSpPr txBox="1"/>
          <p:nvPr/>
        </p:nvSpPr>
        <p:spPr>
          <a:xfrm>
            <a:off x="8114735" y="2707322"/>
            <a:ext cx="676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1" name="Google Shape;1571;p89"/>
          <p:cNvSpPr txBox="1"/>
          <p:nvPr/>
        </p:nvSpPr>
        <p:spPr>
          <a:xfrm>
            <a:off x="4780025" y="642025"/>
            <a:ext cx="6645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5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multiple </a:t>
            </a:r>
            <a:r>
              <a:rPr lang="en-GB"/>
              <a:t>diagram</a:t>
            </a:r>
            <a:r>
              <a:rPr lang="en-GB"/>
              <a:t>s</a:t>
            </a:r>
            <a:endParaRPr/>
          </a:p>
        </p:txBody>
      </p:sp>
      <p:sp>
        <p:nvSpPr>
          <p:cNvPr id="1577" name="Google Shape;1577;p90"/>
          <p:cNvSpPr txBox="1"/>
          <p:nvPr/>
        </p:nvSpPr>
        <p:spPr>
          <a:xfrm>
            <a:off x="473739" y="1832409"/>
            <a:ext cx="99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8" name="Google Shape;1578;p90"/>
          <p:cNvSpPr txBox="1"/>
          <p:nvPr/>
        </p:nvSpPr>
        <p:spPr>
          <a:xfrm>
            <a:off x="393188" y="3705895"/>
            <a:ext cx="1158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79" name="Google Shape;1579;p90"/>
          <p:cNvGrpSpPr/>
          <p:nvPr/>
        </p:nvGrpSpPr>
        <p:grpSpPr>
          <a:xfrm>
            <a:off x="137425" y="2323944"/>
            <a:ext cx="1669839" cy="1669839"/>
            <a:chOff x="2878150" y="2106061"/>
            <a:chExt cx="1377300" cy="1377300"/>
          </a:xfrm>
        </p:grpSpPr>
        <p:sp>
          <p:nvSpPr>
            <p:cNvPr id="1580" name="Google Shape;1580;p90"/>
            <p:cNvSpPr/>
            <p:nvPr/>
          </p:nvSpPr>
          <p:spPr>
            <a:xfrm flipH="1">
              <a:off x="3074060" y="2301801"/>
              <a:ext cx="985500" cy="985500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rgbClr val="845AD9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90"/>
            <p:cNvSpPr/>
            <p:nvPr/>
          </p:nvSpPr>
          <p:spPr>
            <a:xfrm flipH="1" rot="4319377">
              <a:off x="3073909" y="2301755"/>
              <a:ext cx="985804" cy="985804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rgbClr val="037B7D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90"/>
            <p:cNvSpPr/>
            <p:nvPr/>
          </p:nvSpPr>
          <p:spPr>
            <a:xfrm flipH="1" rot="8639896">
              <a:off x="3073783" y="2301695"/>
              <a:ext cx="986033" cy="986033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rgbClr val="374CF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90"/>
            <p:cNvSpPr/>
            <p:nvPr/>
          </p:nvSpPr>
          <p:spPr>
            <a:xfrm>
              <a:off x="3074062" y="2301801"/>
              <a:ext cx="985500" cy="985500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rgbClr val="BEF2BD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90"/>
            <p:cNvSpPr/>
            <p:nvPr/>
          </p:nvSpPr>
          <p:spPr>
            <a:xfrm rot="-4319377">
              <a:off x="3073909" y="2301755"/>
              <a:ext cx="985804" cy="985804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rgbClr val="D02AA7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90"/>
            <p:cNvSpPr txBox="1"/>
            <p:nvPr/>
          </p:nvSpPr>
          <p:spPr>
            <a:xfrm>
              <a:off x="3250648" y="2401900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15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6" name="Google Shape;1586;p90"/>
            <p:cNvSpPr txBox="1"/>
            <p:nvPr/>
          </p:nvSpPr>
          <p:spPr>
            <a:xfrm>
              <a:off x="3139994" y="2733879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7" name="Google Shape;1587;p90"/>
            <p:cNvSpPr txBox="1"/>
            <p:nvPr/>
          </p:nvSpPr>
          <p:spPr>
            <a:xfrm>
              <a:off x="3427144" y="2931304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8" name="Google Shape;1588;p90"/>
            <p:cNvSpPr txBox="1"/>
            <p:nvPr/>
          </p:nvSpPr>
          <p:spPr>
            <a:xfrm flipH="1">
              <a:off x="3602072" y="2401900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9" name="Google Shape;1589;p90"/>
            <p:cNvSpPr txBox="1"/>
            <p:nvPr/>
          </p:nvSpPr>
          <p:spPr>
            <a:xfrm flipH="1">
              <a:off x="3712727" y="2733879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90" name="Google Shape;1590;p90"/>
            <p:cNvCxnSpPr/>
            <p:nvPr/>
          </p:nvCxnSpPr>
          <p:spPr>
            <a:xfrm rot="10800000">
              <a:off x="3566860" y="2337933"/>
              <a:ext cx="0" cy="4527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91" name="Google Shape;1591;p90"/>
            <p:cNvSpPr/>
            <p:nvPr/>
          </p:nvSpPr>
          <p:spPr>
            <a:xfrm>
              <a:off x="3539180" y="2771377"/>
              <a:ext cx="55200" cy="498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92" name="Google Shape;1592;p90"/>
          <p:cNvGrpSpPr/>
          <p:nvPr/>
        </p:nvGrpSpPr>
        <p:grpSpPr>
          <a:xfrm flipH="1">
            <a:off x="5501330" y="810457"/>
            <a:ext cx="3402671" cy="1124074"/>
            <a:chOff x="797575" y="5295652"/>
            <a:chExt cx="3320975" cy="1476325"/>
          </a:xfrm>
        </p:grpSpPr>
        <p:pic>
          <p:nvPicPr>
            <p:cNvPr id="1593" name="Google Shape;1593;p90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 flipH="1">
              <a:off x="797575" y="5295652"/>
              <a:ext cx="3320975" cy="1476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4" name="Google Shape;1594;p90"/>
            <p:cNvSpPr txBox="1"/>
            <p:nvPr/>
          </p:nvSpPr>
          <p:spPr>
            <a:xfrm flipH="1">
              <a:off x="956898" y="5313079"/>
              <a:ext cx="3091800" cy="55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And drawing an outcome tree can get really hard if there are loads of branches!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595" name="Google Shape;1595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55584" y="1970229"/>
            <a:ext cx="664425" cy="737087"/>
          </a:xfrm>
          <a:prstGeom prst="rect">
            <a:avLst/>
          </a:prstGeom>
          <a:noFill/>
          <a:ln>
            <a:noFill/>
          </a:ln>
        </p:spPr>
      </p:pic>
      <p:sp>
        <p:nvSpPr>
          <p:cNvPr id="1596" name="Google Shape;1596;p90"/>
          <p:cNvSpPr txBox="1"/>
          <p:nvPr/>
        </p:nvSpPr>
        <p:spPr>
          <a:xfrm>
            <a:off x="8114735" y="2707322"/>
            <a:ext cx="676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97" name="Google Shape;1597;p90"/>
          <p:cNvGrpSpPr/>
          <p:nvPr/>
        </p:nvGrpSpPr>
        <p:grpSpPr>
          <a:xfrm>
            <a:off x="177489" y="493386"/>
            <a:ext cx="1589763" cy="1589763"/>
            <a:chOff x="1090105" y="2306370"/>
            <a:chExt cx="1024200" cy="1024200"/>
          </a:xfrm>
        </p:grpSpPr>
        <p:grpSp>
          <p:nvGrpSpPr>
            <p:cNvPr id="1598" name="Google Shape;1598;p90"/>
            <p:cNvGrpSpPr/>
            <p:nvPr/>
          </p:nvGrpSpPr>
          <p:grpSpPr>
            <a:xfrm>
              <a:off x="1090105" y="2306370"/>
              <a:ext cx="1024200" cy="1024200"/>
              <a:chOff x="1090105" y="2306370"/>
              <a:chExt cx="1024200" cy="1024200"/>
            </a:xfrm>
          </p:grpSpPr>
          <p:sp>
            <p:nvSpPr>
              <p:cNvPr id="1599" name="Google Shape;1599;p90"/>
              <p:cNvSpPr/>
              <p:nvPr/>
            </p:nvSpPr>
            <p:spPr>
              <a:xfrm flipH="1">
                <a:off x="1227496" y="2443628"/>
                <a:ext cx="749400" cy="749400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0" name="Google Shape;1600;p90"/>
              <p:cNvSpPr txBox="1"/>
              <p:nvPr/>
            </p:nvSpPr>
            <p:spPr>
              <a:xfrm>
                <a:off x="1625600" y="250535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01" name="Google Shape;1601;p90"/>
              <p:cNvSpPr/>
              <p:nvPr/>
            </p:nvSpPr>
            <p:spPr>
              <a:xfrm flipH="1" rot="3599772">
                <a:off x="1227589" y="2443721"/>
                <a:ext cx="749314" cy="74931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rgbClr val="845AD9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2" name="Google Shape;1602;p90"/>
              <p:cNvSpPr/>
              <p:nvPr/>
            </p:nvSpPr>
            <p:spPr>
              <a:xfrm flipH="1" rot="10800000">
                <a:off x="1227549" y="2443623"/>
                <a:ext cx="749400" cy="749400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rgbClr val="374CF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3" name="Google Shape;1603;p90"/>
              <p:cNvSpPr/>
              <p:nvPr/>
            </p:nvSpPr>
            <p:spPr>
              <a:xfrm flipH="1" rot="7200228">
                <a:off x="1227549" y="2443709"/>
                <a:ext cx="749314" cy="74931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rgbClr val="037B7D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4" name="Google Shape;1604;p90"/>
              <p:cNvSpPr/>
              <p:nvPr/>
            </p:nvSpPr>
            <p:spPr>
              <a:xfrm flipH="1" rot="-3599269">
                <a:off x="1227344" y="2443608"/>
                <a:ext cx="749724" cy="74972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rgbClr val="BEF2BD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5" name="Google Shape;1605;p90"/>
              <p:cNvSpPr/>
              <p:nvPr/>
            </p:nvSpPr>
            <p:spPr>
              <a:xfrm flipH="1" rot="-7198348">
                <a:off x="1227546" y="2443681"/>
                <a:ext cx="749424" cy="74942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rgbClr val="D02AA7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6" name="Google Shape;1606;p90"/>
              <p:cNvSpPr txBox="1"/>
              <p:nvPr/>
            </p:nvSpPr>
            <p:spPr>
              <a:xfrm>
                <a:off x="1755875" y="2714975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07" name="Google Shape;1607;p90"/>
              <p:cNvSpPr txBox="1"/>
              <p:nvPr/>
            </p:nvSpPr>
            <p:spPr>
              <a:xfrm>
                <a:off x="1625600" y="292460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08" name="Google Shape;1608;p90"/>
              <p:cNvSpPr txBox="1"/>
              <p:nvPr/>
            </p:nvSpPr>
            <p:spPr>
              <a:xfrm flipH="1">
                <a:off x="1399436" y="250535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F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09" name="Google Shape;1609;p90"/>
              <p:cNvSpPr txBox="1"/>
              <p:nvPr/>
            </p:nvSpPr>
            <p:spPr>
              <a:xfrm flipH="1">
                <a:off x="1269161" y="2714975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E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10" name="Google Shape;1610;p90"/>
              <p:cNvSpPr txBox="1"/>
              <p:nvPr/>
            </p:nvSpPr>
            <p:spPr>
              <a:xfrm flipH="1">
                <a:off x="1399436" y="292460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D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611" name="Google Shape;1611;p90"/>
            <p:cNvGrpSpPr/>
            <p:nvPr/>
          </p:nvGrpSpPr>
          <p:grpSpPr>
            <a:xfrm>
              <a:off x="1581202" y="2466989"/>
              <a:ext cx="42000" cy="367258"/>
              <a:chOff x="1012152" y="1933239"/>
              <a:chExt cx="42000" cy="367258"/>
            </a:xfrm>
          </p:grpSpPr>
          <p:cxnSp>
            <p:nvCxnSpPr>
              <p:cNvPr id="1612" name="Google Shape;1612;p90"/>
              <p:cNvCxnSpPr/>
              <p:nvPr/>
            </p:nvCxnSpPr>
            <p:spPr>
              <a:xfrm rot="10800000">
                <a:off x="1033198" y="1933239"/>
                <a:ext cx="0" cy="3441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613" name="Google Shape;1613;p90"/>
              <p:cNvSpPr/>
              <p:nvPr/>
            </p:nvSpPr>
            <p:spPr>
              <a:xfrm>
                <a:off x="1012152" y="2262698"/>
                <a:ext cx="42000" cy="378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614" name="Google Shape;1614;p90"/>
          <p:cNvGrpSpPr/>
          <p:nvPr/>
        </p:nvGrpSpPr>
        <p:grpSpPr>
          <a:xfrm>
            <a:off x="2469388" y="1649730"/>
            <a:ext cx="1175100" cy="2130289"/>
            <a:chOff x="3077130" y="2101130"/>
            <a:chExt cx="1175100" cy="1576824"/>
          </a:xfrm>
        </p:grpSpPr>
        <p:cxnSp>
          <p:nvCxnSpPr>
            <p:cNvPr id="1615" name="Google Shape;1615;p90"/>
            <p:cNvCxnSpPr/>
            <p:nvPr/>
          </p:nvCxnSpPr>
          <p:spPr>
            <a:xfrm flipH="1" rot="10800000">
              <a:off x="3077130" y="2101130"/>
              <a:ext cx="1175100" cy="691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16" name="Google Shape;1616;p90"/>
            <p:cNvCxnSpPr/>
            <p:nvPr/>
          </p:nvCxnSpPr>
          <p:spPr>
            <a:xfrm>
              <a:off x="3077130" y="2986154"/>
              <a:ext cx="1175100" cy="691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17" name="Google Shape;1617;p90"/>
          <p:cNvGrpSpPr/>
          <p:nvPr/>
        </p:nvGrpSpPr>
        <p:grpSpPr>
          <a:xfrm>
            <a:off x="2509988" y="2333755"/>
            <a:ext cx="1175100" cy="763025"/>
            <a:chOff x="3077130" y="2101130"/>
            <a:chExt cx="1175100" cy="1576824"/>
          </a:xfrm>
        </p:grpSpPr>
        <p:cxnSp>
          <p:nvCxnSpPr>
            <p:cNvPr id="1618" name="Google Shape;1618;p90"/>
            <p:cNvCxnSpPr/>
            <p:nvPr/>
          </p:nvCxnSpPr>
          <p:spPr>
            <a:xfrm flipH="1" rot="10800000">
              <a:off x="3077130" y="2101130"/>
              <a:ext cx="1175100" cy="691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19" name="Google Shape;1619;p90"/>
            <p:cNvCxnSpPr/>
            <p:nvPr/>
          </p:nvCxnSpPr>
          <p:spPr>
            <a:xfrm>
              <a:off x="3077130" y="2986154"/>
              <a:ext cx="1175100" cy="691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20" name="Google Shape;1620;p90"/>
          <p:cNvGrpSpPr/>
          <p:nvPr/>
        </p:nvGrpSpPr>
        <p:grpSpPr>
          <a:xfrm>
            <a:off x="2509988" y="967667"/>
            <a:ext cx="1175100" cy="3499129"/>
            <a:chOff x="3077130" y="2101130"/>
            <a:chExt cx="1175100" cy="1576824"/>
          </a:xfrm>
        </p:grpSpPr>
        <p:cxnSp>
          <p:nvCxnSpPr>
            <p:cNvPr id="1621" name="Google Shape;1621;p90"/>
            <p:cNvCxnSpPr/>
            <p:nvPr/>
          </p:nvCxnSpPr>
          <p:spPr>
            <a:xfrm flipH="1" rot="10800000">
              <a:off x="3077130" y="2101130"/>
              <a:ext cx="1175100" cy="691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22" name="Google Shape;1622;p90"/>
            <p:cNvCxnSpPr/>
            <p:nvPr/>
          </p:nvCxnSpPr>
          <p:spPr>
            <a:xfrm>
              <a:off x="3077130" y="2986154"/>
              <a:ext cx="1175100" cy="691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23" name="Google Shape;1623;p90"/>
          <p:cNvGrpSpPr/>
          <p:nvPr/>
        </p:nvGrpSpPr>
        <p:grpSpPr>
          <a:xfrm>
            <a:off x="3690144" y="697787"/>
            <a:ext cx="1214704" cy="605747"/>
            <a:chOff x="4124321" y="1386653"/>
            <a:chExt cx="1214704" cy="914888"/>
          </a:xfrm>
        </p:grpSpPr>
        <p:cxnSp>
          <p:nvCxnSpPr>
            <p:cNvPr id="1624" name="Google Shape;1624;p90"/>
            <p:cNvCxnSpPr/>
            <p:nvPr/>
          </p:nvCxnSpPr>
          <p:spPr>
            <a:xfrm flipH="1" rot="10800000">
              <a:off x="4124321" y="1667341"/>
              <a:ext cx="1175100" cy="155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25" name="Google Shape;1625;p90"/>
            <p:cNvCxnSpPr/>
            <p:nvPr/>
          </p:nvCxnSpPr>
          <p:spPr>
            <a:xfrm>
              <a:off x="4124321" y="1865762"/>
              <a:ext cx="1175100" cy="155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26" name="Google Shape;1626;p90"/>
            <p:cNvCxnSpPr/>
            <p:nvPr/>
          </p:nvCxnSpPr>
          <p:spPr>
            <a:xfrm flipH="1" rot="10800000">
              <a:off x="4124325" y="1386653"/>
              <a:ext cx="1175100" cy="401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27" name="Google Shape;1627;p90"/>
            <p:cNvCxnSpPr/>
            <p:nvPr/>
          </p:nvCxnSpPr>
          <p:spPr>
            <a:xfrm>
              <a:off x="4124325" y="1900141"/>
              <a:ext cx="1175100" cy="401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28" name="Google Shape;1628;p90"/>
            <p:cNvCxnSpPr/>
            <p:nvPr/>
          </p:nvCxnSpPr>
          <p:spPr>
            <a:xfrm>
              <a:off x="4124325" y="1842630"/>
              <a:ext cx="12147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29" name="Google Shape;1629;p90"/>
          <p:cNvGrpSpPr/>
          <p:nvPr/>
        </p:nvGrpSpPr>
        <p:grpSpPr>
          <a:xfrm>
            <a:off x="3613944" y="1372214"/>
            <a:ext cx="1214704" cy="605747"/>
            <a:chOff x="4124321" y="1386653"/>
            <a:chExt cx="1214704" cy="914888"/>
          </a:xfrm>
        </p:grpSpPr>
        <p:cxnSp>
          <p:nvCxnSpPr>
            <p:cNvPr id="1630" name="Google Shape;1630;p90"/>
            <p:cNvCxnSpPr/>
            <p:nvPr/>
          </p:nvCxnSpPr>
          <p:spPr>
            <a:xfrm flipH="1" rot="10800000">
              <a:off x="4124321" y="1667341"/>
              <a:ext cx="1175100" cy="155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1" name="Google Shape;1631;p90"/>
            <p:cNvCxnSpPr/>
            <p:nvPr/>
          </p:nvCxnSpPr>
          <p:spPr>
            <a:xfrm>
              <a:off x="4124321" y="1865762"/>
              <a:ext cx="1175100" cy="155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2" name="Google Shape;1632;p90"/>
            <p:cNvCxnSpPr/>
            <p:nvPr/>
          </p:nvCxnSpPr>
          <p:spPr>
            <a:xfrm flipH="1" rot="10800000">
              <a:off x="4124325" y="1386653"/>
              <a:ext cx="1175100" cy="401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3" name="Google Shape;1633;p90"/>
            <p:cNvCxnSpPr/>
            <p:nvPr/>
          </p:nvCxnSpPr>
          <p:spPr>
            <a:xfrm>
              <a:off x="4124325" y="1900141"/>
              <a:ext cx="1175100" cy="401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4" name="Google Shape;1634;p90"/>
            <p:cNvCxnSpPr/>
            <p:nvPr/>
          </p:nvCxnSpPr>
          <p:spPr>
            <a:xfrm>
              <a:off x="4124325" y="1842630"/>
              <a:ext cx="12147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35" name="Google Shape;1635;p90"/>
          <p:cNvGrpSpPr/>
          <p:nvPr/>
        </p:nvGrpSpPr>
        <p:grpSpPr>
          <a:xfrm flipH="1" rot="10800000">
            <a:off x="3690144" y="4145739"/>
            <a:ext cx="1214704" cy="605747"/>
            <a:chOff x="4124321" y="1386653"/>
            <a:chExt cx="1214704" cy="914888"/>
          </a:xfrm>
        </p:grpSpPr>
        <p:cxnSp>
          <p:nvCxnSpPr>
            <p:cNvPr id="1636" name="Google Shape;1636;p90"/>
            <p:cNvCxnSpPr/>
            <p:nvPr/>
          </p:nvCxnSpPr>
          <p:spPr>
            <a:xfrm flipH="1" rot="10800000">
              <a:off x="4124321" y="1667341"/>
              <a:ext cx="1175100" cy="155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7" name="Google Shape;1637;p90"/>
            <p:cNvCxnSpPr/>
            <p:nvPr/>
          </p:nvCxnSpPr>
          <p:spPr>
            <a:xfrm>
              <a:off x="4124321" y="1865762"/>
              <a:ext cx="1175100" cy="155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8" name="Google Shape;1638;p90"/>
            <p:cNvCxnSpPr/>
            <p:nvPr/>
          </p:nvCxnSpPr>
          <p:spPr>
            <a:xfrm flipH="1" rot="10800000">
              <a:off x="4124325" y="1386653"/>
              <a:ext cx="1175100" cy="401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9" name="Google Shape;1639;p90"/>
            <p:cNvCxnSpPr/>
            <p:nvPr/>
          </p:nvCxnSpPr>
          <p:spPr>
            <a:xfrm>
              <a:off x="4124325" y="1900141"/>
              <a:ext cx="1175100" cy="401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0" name="Google Shape;1640;p90"/>
            <p:cNvCxnSpPr/>
            <p:nvPr/>
          </p:nvCxnSpPr>
          <p:spPr>
            <a:xfrm>
              <a:off x="4124325" y="1842630"/>
              <a:ext cx="12147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41" name="Google Shape;1641;p90"/>
          <p:cNvGrpSpPr/>
          <p:nvPr/>
        </p:nvGrpSpPr>
        <p:grpSpPr>
          <a:xfrm flipH="1" rot="10800000">
            <a:off x="3613944" y="3471312"/>
            <a:ext cx="1214704" cy="605747"/>
            <a:chOff x="4124321" y="1386653"/>
            <a:chExt cx="1214704" cy="914888"/>
          </a:xfrm>
        </p:grpSpPr>
        <p:cxnSp>
          <p:nvCxnSpPr>
            <p:cNvPr id="1642" name="Google Shape;1642;p90"/>
            <p:cNvCxnSpPr/>
            <p:nvPr/>
          </p:nvCxnSpPr>
          <p:spPr>
            <a:xfrm flipH="1" rot="10800000">
              <a:off x="4124321" y="1667341"/>
              <a:ext cx="1175100" cy="155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3" name="Google Shape;1643;p90"/>
            <p:cNvCxnSpPr/>
            <p:nvPr/>
          </p:nvCxnSpPr>
          <p:spPr>
            <a:xfrm>
              <a:off x="4124321" y="1865762"/>
              <a:ext cx="1175100" cy="155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4" name="Google Shape;1644;p90"/>
            <p:cNvCxnSpPr/>
            <p:nvPr/>
          </p:nvCxnSpPr>
          <p:spPr>
            <a:xfrm flipH="1" rot="10800000">
              <a:off x="4124325" y="1386653"/>
              <a:ext cx="1175100" cy="401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5" name="Google Shape;1645;p90"/>
            <p:cNvCxnSpPr/>
            <p:nvPr/>
          </p:nvCxnSpPr>
          <p:spPr>
            <a:xfrm>
              <a:off x="4124325" y="1900141"/>
              <a:ext cx="1175100" cy="401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6" name="Google Shape;1646;p90"/>
            <p:cNvCxnSpPr/>
            <p:nvPr/>
          </p:nvCxnSpPr>
          <p:spPr>
            <a:xfrm>
              <a:off x="4124325" y="1842630"/>
              <a:ext cx="12147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47" name="Google Shape;1647;p90"/>
          <p:cNvGrpSpPr/>
          <p:nvPr/>
        </p:nvGrpSpPr>
        <p:grpSpPr>
          <a:xfrm>
            <a:off x="3613944" y="2041891"/>
            <a:ext cx="1214704" cy="605747"/>
            <a:chOff x="4124321" y="1386653"/>
            <a:chExt cx="1214704" cy="914888"/>
          </a:xfrm>
        </p:grpSpPr>
        <p:cxnSp>
          <p:nvCxnSpPr>
            <p:cNvPr id="1648" name="Google Shape;1648;p90"/>
            <p:cNvCxnSpPr/>
            <p:nvPr/>
          </p:nvCxnSpPr>
          <p:spPr>
            <a:xfrm flipH="1" rot="10800000">
              <a:off x="4124321" y="1667341"/>
              <a:ext cx="1175100" cy="155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9" name="Google Shape;1649;p90"/>
            <p:cNvCxnSpPr/>
            <p:nvPr/>
          </p:nvCxnSpPr>
          <p:spPr>
            <a:xfrm>
              <a:off x="4124321" y="1865762"/>
              <a:ext cx="1175100" cy="155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0" name="Google Shape;1650;p90"/>
            <p:cNvCxnSpPr/>
            <p:nvPr/>
          </p:nvCxnSpPr>
          <p:spPr>
            <a:xfrm flipH="1" rot="10800000">
              <a:off x="4124325" y="1386653"/>
              <a:ext cx="1175100" cy="401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1" name="Google Shape;1651;p90"/>
            <p:cNvCxnSpPr/>
            <p:nvPr/>
          </p:nvCxnSpPr>
          <p:spPr>
            <a:xfrm>
              <a:off x="4124325" y="1900141"/>
              <a:ext cx="1175100" cy="401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2" name="Google Shape;1652;p90"/>
            <p:cNvCxnSpPr/>
            <p:nvPr/>
          </p:nvCxnSpPr>
          <p:spPr>
            <a:xfrm>
              <a:off x="4124325" y="1842630"/>
              <a:ext cx="12147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53" name="Google Shape;1653;p90"/>
          <p:cNvGrpSpPr/>
          <p:nvPr/>
        </p:nvGrpSpPr>
        <p:grpSpPr>
          <a:xfrm>
            <a:off x="3613944" y="2786148"/>
            <a:ext cx="1214704" cy="605747"/>
            <a:chOff x="4124321" y="1386653"/>
            <a:chExt cx="1214704" cy="914888"/>
          </a:xfrm>
        </p:grpSpPr>
        <p:cxnSp>
          <p:nvCxnSpPr>
            <p:cNvPr id="1654" name="Google Shape;1654;p90"/>
            <p:cNvCxnSpPr/>
            <p:nvPr/>
          </p:nvCxnSpPr>
          <p:spPr>
            <a:xfrm flipH="1" rot="10800000">
              <a:off x="4124321" y="1667341"/>
              <a:ext cx="1175100" cy="155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5" name="Google Shape;1655;p90"/>
            <p:cNvCxnSpPr/>
            <p:nvPr/>
          </p:nvCxnSpPr>
          <p:spPr>
            <a:xfrm>
              <a:off x="4124321" y="1865762"/>
              <a:ext cx="1175100" cy="155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6" name="Google Shape;1656;p90"/>
            <p:cNvCxnSpPr/>
            <p:nvPr/>
          </p:nvCxnSpPr>
          <p:spPr>
            <a:xfrm flipH="1" rot="10800000">
              <a:off x="4124325" y="1386653"/>
              <a:ext cx="1175100" cy="401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7" name="Google Shape;1657;p90"/>
            <p:cNvCxnSpPr/>
            <p:nvPr/>
          </p:nvCxnSpPr>
          <p:spPr>
            <a:xfrm>
              <a:off x="4124325" y="1900141"/>
              <a:ext cx="1175100" cy="401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8" name="Google Shape;1658;p90"/>
            <p:cNvCxnSpPr/>
            <p:nvPr/>
          </p:nvCxnSpPr>
          <p:spPr>
            <a:xfrm>
              <a:off x="4124325" y="1842630"/>
              <a:ext cx="12147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2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Google Shape;1663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multiple </a:t>
            </a:r>
            <a:r>
              <a:rPr lang="en-GB"/>
              <a:t>diagram</a:t>
            </a:r>
            <a:r>
              <a:rPr lang="en-GB"/>
              <a:t>s</a:t>
            </a:r>
            <a:endParaRPr/>
          </a:p>
        </p:txBody>
      </p:sp>
      <p:sp>
        <p:nvSpPr>
          <p:cNvPr id="1664" name="Google Shape;1664;p91"/>
          <p:cNvSpPr txBox="1"/>
          <p:nvPr/>
        </p:nvSpPr>
        <p:spPr>
          <a:xfrm>
            <a:off x="473739" y="1832409"/>
            <a:ext cx="99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5" name="Google Shape;1665;p91"/>
          <p:cNvSpPr txBox="1"/>
          <p:nvPr/>
        </p:nvSpPr>
        <p:spPr>
          <a:xfrm>
            <a:off x="393188" y="3705895"/>
            <a:ext cx="1158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66" name="Google Shape;1666;p91"/>
          <p:cNvGrpSpPr/>
          <p:nvPr/>
        </p:nvGrpSpPr>
        <p:grpSpPr>
          <a:xfrm>
            <a:off x="137425" y="2323944"/>
            <a:ext cx="1669839" cy="1669839"/>
            <a:chOff x="2878150" y="2106061"/>
            <a:chExt cx="1377300" cy="1377300"/>
          </a:xfrm>
        </p:grpSpPr>
        <p:sp>
          <p:nvSpPr>
            <p:cNvPr id="1667" name="Google Shape;1667;p91"/>
            <p:cNvSpPr/>
            <p:nvPr/>
          </p:nvSpPr>
          <p:spPr>
            <a:xfrm flipH="1">
              <a:off x="3074060" y="2301801"/>
              <a:ext cx="985500" cy="985500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rgbClr val="845AD9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91"/>
            <p:cNvSpPr/>
            <p:nvPr/>
          </p:nvSpPr>
          <p:spPr>
            <a:xfrm flipH="1" rot="4319377">
              <a:off x="3073909" y="2301755"/>
              <a:ext cx="985804" cy="985804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rgbClr val="037B7D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91"/>
            <p:cNvSpPr/>
            <p:nvPr/>
          </p:nvSpPr>
          <p:spPr>
            <a:xfrm flipH="1" rot="8639896">
              <a:off x="3073783" y="2301695"/>
              <a:ext cx="986033" cy="986033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rgbClr val="374CF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91"/>
            <p:cNvSpPr/>
            <p:nvPr/>
          </p:nvSpPr>
          <p:spPr>
            <a:xfrm>
              <a:off x="3074062" y="2301801"/>
              <a:ext cx="985500" cy="985500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rgbClr val="BEF2BD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91"/>
            <p:cNvSpPr/>
            <p:nvPr/>
          </p:nvSpPr>
          <p:spPr>
            <a:xfrm rot="-4319377">
              <a:off x="3073909" y="2301755"/>
              <a:ext cx="985804" cy="985804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rgbClr val="D02AA7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91"/>
            <p:cNvSpPr txBox="1"/>
            <p:nvPr/>
          </p:nvSpPr>
          <p:spPr>
            <a:xfrm>
              <a:off x="3250648" y="2401900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15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3" name="Google Shape;1673;p91"/>
            <p:cNvSpPr txBox="1"/>
            <p:nvPr/>
          </p:nvSpPr>
          <p:spPr>
            <a:xfrm>
              <a:off x="3139994" y="2733879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4" name="Google Shape;1674;p91"/>
            <p:cNvSpPr txBox="1"/>
            <p:nvPr/>
          </p:nvSpPr>
          <p:spPr>
            <a:xfrm>
              <a:off x="3427144" y="2931304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5" name="Google Shape;1675;p91"/>
            <p:cNvSpPr txBox="1"/>
            <p:nvPr/>
          </p:nvSpPr>
          <p:spPr>
            <a:xfrm flipH="1">
              <a:off x="3602072" y="2401900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6" name="Google Shape;1676;p91"/>
            <p:cNvSpPr txBox="1"/>
            <p:nvPr/>
          </p:nvSpPr>
          <p:spPr>
            <a:xfrm flipH="1">
              <a:off x="3712727" y="2733879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77" name="Google Shape;1677;p91"/>
            <p:cNvCxnSpPr/>
            <p:nvPr/>
          </p:nvCxnSpPr>
          <p:spPr>
            <a:xfrm rot="10800000">
              <a:off x="3566860" y="2337933"/>
              <a:ext cx="0" cy="4527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78" name="Google Shape;1678;p91"/>
            <p:cNvSpPr/>
            <p:nvPr/>
          </p:nvSpPr>
          <p:spPr>
            <a:xfrm>
              <a:off x="3539180" y="2771377"/>
              <a:ext cx="55200" cy="498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79" name="Google Shape;1679;p91"/>
          <p:cNvGrpSpPr/>
          <p:nvPr/>
        </p:nvGrpSpPr>
        <p:grpSpPr>
          <a:xfrm flipH="1">
            <a:off x="5501579" y="810199"/>
            <a:ext cx="3187472" cy="1362206"/>
            <a:chOff x="797575" y="5295652"/>
            <a:chExt cx="3320975" cy="1476325"/>
          </a:xfrm>
        </p:grpSpPr>
        <p:pic>
          <p:nvPicPr>
            <p:cNvPr id="1680" name="Google Shape;1680;p91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 flipH="1">
              <a:off x="797575" y="5295652"/>
              <a:ext cx="3320975" cy="1476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1" name="Google Shape;1681;p91"/>
            <p:cNvSpPr txBox="1"/>
            <p:nvPr/>
          </p:nvSpPr>
          <p:spPr>
            <a:xfrm flipH="1">
              <a:off x="1048703" y="5313075"/>
              <a:ext cx="3000000" cy="55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know it’s still possible to write down all outcomes using a list or an outcome tree…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682" name="Google Shape;1682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55584" y="1970229"/>
            <a:ext cx="664425" cy="737087"/>
          </a:xfrm>
          <a:prstGeom prst="rect">
            <a:avLst/>
          </a:prstGeom>
          <a:noFill/>
          <a:ln>
            <a:noFill/>
          </a:ln>
        </p:spPr>
      </p:pic>
      <p:sp>
        <p:nvSpPr>
          <p:cNvPr id="1683" name="Google Shape;1683;p91"/>
          <p:cNvSpPr txBox="1"/>
          <p:nvPr/>
        </p:nvSpPr>
        <p:spPr>
          <a:xfrm>
            <a:off x="8114735" y="2707322"/>
            <a:ext cx="676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84" name="Google Shape;1684;p91"/>
          <p:cNvGrpSpPr/>
          <p:nvPr/>
        </p:nvGrpSpPr>
        <p:grpSpPr>
          <a:xfrm>
            <a:off x="177489" y="493386"/>
            <a:ext cx="1589763" cy="1589763"/>
            <a:chOff x="1090105" y="2306370"/>
            <a:chExt cx="1024200" cy="1024200"/>
          </a:xfrm>
        </p:grpSpPr>
        <p:grpSp>
          <p:nvGrpSpPr>
            <p:cNvPr id="1685" name="Google Shape;1685;p91"/>
            <p:cNvGrpSpPr/>
            <p:nvPr/>
          </p:nvGrpSpPr>
          <p:grpSpPr>
            <a:xfrm>
              <a:off x="1090105" y="2306370"/>
              <a:ext cx="1024200" cy="1024200"/>
              <a:chOff x="1090105" y="2306370"/>
              <a:chExt cx="1024200" cy="1024200"/>
            </a:xfrm>
          </p:grpSpPr>
          <p:sp>
            <p:nvSpPr>
              <p:cNvPr id="1686" name="Google Shape;1686;p91"/>
              <p:cNvSpPr/>
              <p:nvPr/>
            </p:nvSpPr>
            <p:spPr>
              <a:xfrm flipH="1">
                <a:off x="1227496" y="2443628"/>
                <a:ext cx="749400" cy="749400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7" name="Google Shape;1687;p91"/>
              <p:cNvSpPr txBox="1"/>
              <p:nvPr/>
            </p:nvSpPr>
            <p:spPr>
              <a:xfrm>
                <a:off x="1625600" y="250535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88" name="Google Shape;1688;p91"/>
              <p:cNvSpPr/>
              <p:nvPr/>
            </p:nvSpPr>
            <p:spPr>
              <a:xfrm flipH="1" rot="3599772">
                <a:off x="1227589" y="2443721"/>
                <a:ext cx="749314" cy="74931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rgbClr val="845AD9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9" name="Google Shape;1689;p91"/>
              <p:cNvSpPr/>
              <p:nvPr/>
            </p:nvSpPr>
            <p:spPr>
              <a:xfrm flipH="1" rot="10800000">
                <a:off x="1227549" y="2443623"/>
                <a:ext cx="749400" cy="749400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rgbClr val="374CF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0" name="Google Shape;1690;p91"/>
              <p:cNvSpPr/>
              <p:nvPr/>
            </p:nvSpPr>
            <p:spPr>
              <a:xfrm flipH="1" rot="7200228">
                <a:off x="1227549" y="2443709"/>
                <a:ext cx="749314" cy="74931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rgbClr val="037B7D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1" name="Google Shape;1691;p91"/>
              <p:cNvSpPr/>
              <p:nvPr/>
            </p:nvSpPr>
            <p:spPr>
              <a:xfrm flipH="1" rot="-3599269">
                <a:off x="1227344" y="2443608"/>
                <a:ext cx="749724" cy="74972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rgbClr val="BEF2BD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2" name="Google Shape;1692;p91"/>
              <p:cNvSpPr/>
              <p:nvPr/>
            </p:nvSpPr>
            <p:spPr>
              <a:xfrm flipH="1" rot="-7198348">
                <a:off x="1227546" y="2443681"/>
                <a:ext cx="749424" cy="74942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rgbClr val="D02AA7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3" name="Google Shape;1693;p91"/>
              <p:cNvSpPr txBox="1"/>
              <p:nvPr/>
            </p:nvSpPr>
            <p:spPr>
              <a:xfrm>
                <a:off x="1755875" y="2714975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94" name="Google Shape;1694;p91"/>
              <p:cNvSpPr txBox="1"/>
              <p:nvPr/>
            </p:nvSpPr>
            <p:spPr>
              <a:xfrm>
                <a:off x="1625600" y="292460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95" name="Google Shape;1695;p91"/>
              <p:cNvSpPr txBox="1"/>
              <p:nvPr/>
            </p:nvSpPr>
            <p:spPr>
              <a:xfrm flipH="1">
                <a:off x="1399436" y="250535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F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96" name="Google Shape;1696;p91"/>
              <p:cNvSpPr txBox="1"/>
              <p:nvPr/>
            </p:nvSpPr>
            <p:spPr>
              <a:xfrm flipH="1">
                <a:off x="1269161" y="2714975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E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97" name="Google Shape;1697;p91"/>
              <p:cNvSpPr txBox="1"/>
              <p:nvPr/>
            </p:nvSpPr>
            <p:spPr>
              <a:xfrm flipH="1">
                <a:off x="1399436" y="292460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D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698" name="Google Shape;1698;p91"/>
            <p:cNvGrpSpPr/>
            <p:nvPr/>
          </p:nvGrpSpPr>
          <p:grpSpPr>
            <a:xfrm>
              <a:off x="1581202" y="2466989"/>
              <a:ext cx="42000" cy="367258"/>
              <a:chOff x="1012152" y="1933239"/>
              <a:chExt cx="42000" cy="367258"/>
            </a:xfrm>
          </p:grpSpPr>
          <p:cxnSp>
            <p:nvCxnSpPr>
              <p:cNvPr id="1699" name="Google Shape;1699;p91"/>
              <p:cNvCxnSpPr/>
              <p:nvPr/>
            </p:nvCxnSpPr>
            <p:spPr>
              <a:xfrm rot="10800000">
                <a:off x="1033198" y="1933239"/>
                <a:ext cx="0" cy="3441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700" name="Google Shape;1700;p91"/>
              <p:cNvSpPr/>
              <p:nvPr/>
            </p:nvSpPr>
            <p:spPr>
              <a:xfrm>
                <a:off x="1012152" y="2262698"/>
                <a:ext cx="42000" cy="378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01" name="Google Shape;1701;p91"/>
          <p:cNvGrpSpPr/>
          <p:nvPr/>
        </p:nvGrpSpPr>
        <p:grpSpPr>
          <a:xfrm rot="10800000">
            <a:off x="6444973" y="3010203"/>
            <a:ext cx="2063660" cy="1096649"/>
            <a:chOff x="797574" y="5583580"/>
            <a:chExt cx="3320986" cy="1188393"/>
          </a:xfrm>
        </p:grpSpPr>
        <p:pic>
          <p:nvPicPr>
            <p:cNvPr id="1702" name="Google Shape;1702;p91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 flipH="1">
              <a:off x="797574" y="5583580"/>
              <a:ext cx="3320986" cy="11883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3" name="Google Shape;1703;p91"/>
            <p:cNvSpPr txBox="1"/>
            <p:nvPr/>
          </p:nvSpPr>
          <p:spPr>
            <a:xfrm flipH="1" rot="10800000">
              <a:off x="1048703" y="5958770"/>
              <a:ext cx="3000000" cy="55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But I prefer drawing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an outcome table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1704" name="Google Shape;1704;p91"/>
          <p:cNvGraphicFramePr/>
          <p:nvPr/>
        </p:nvGraphicFramePr>
        <p:xfrm>
          <a:off x="1978025" y="244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{119AA301-71C9-4D9F-A7E1-64B13F113C20}</a:tableStyleId>
              </a:tblPr>
              <a:tblGrid>
                <a:gridCol w="607400"/>
                <a:gridCol w="607400"/>
                <a:gridCol w="607400"/>
                <a:gridCol w="607400"/>
                <a:gridCol w="607400"/>
                <a:gridCol w="607400"/>
              </a:tblGrid>
              <a:tr h="307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8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multiple </a:t>
            </a:r>
            <a:r>
              <a:rPr lang="en-GB"/>
              <a:t>diagram</a:t>
            </a:r>
            <a:r>
              <a:rPr lang="en-GB"/>
              <a:t>s</a:t>
            </a:r>
            <a:endParaRPr/>
          </a:p>
        </p:txBody>
      </p:sp>
      <p:sp>
        <p:nvSpPr>
          <p:cNvPr id="1710" name="Google Shape;1710;p92"/>
          <p:cNvSpPr txBox="1"/>
          <p:nvPr/>
        </p:nvSpPr>
        <p:spPr>
          <a:xfrm>
            <a:off x="473739" y="1832409"/>
            <a:ext cx="99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1" name="Google Shape;1711;p92"/>
          <p:cNvSpPr txBox="1"/>
          <p:nvPr/>
        </p:nvSpPr>
        <p:spPr>
          <a:xfrm>
            <a:off x="393188" y="3705895"/>
            <a:ext cx="1158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12" name="Google Shape;1712;p92"/>
          <p:cNvGrpSpPr/>
          <p:nvPr/>
        </p:nvGrpSpPr>
        <p:grpSpPr>
          <a:xfrm>
            <a:off x="137425" y="2323944"/>
            <a:ext cx="1669839" cy="1669839"/>
            <a:chOff x="2878150" y="2106061"/>
            <a:chExt cx="1377300" cy="1377300"/>
          </a:xfrm>
        </p:grpSpPr>
        <p:sp>
          <p:nvSpPr>
            <p:cNvPr id="1713" name="Google Shape;1713;p92"/>
            <p:cNvSpPr/>
            <p:nvPr/>
          </p:nvSpPr>
          <p:spPr>
            <a:xfrm flipH="1">
              <a:off x="3074060" y="2301801"/>
              <a:ext cx="985500" cy="985500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rgbClr val="845AD9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92"/>
            <p:cNvSpPr/>
            <p:nvPr/>
          </p:nvSpPr>
          <p:spPr>
            <a:xfrm flipH="1" rot="4319377">
              <a:off x="3073909" y="2301755"/>
              <a:ext cx="985804" cy="985804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rgbClr val="037B7D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92"/>
            <p:cNvSpPr/>
            <p:nvPr/>
          </p:nvSpPr>
          <p:spPr>
            <a:xfrm flipH="1" rot="8639896">
              <a:off x="3073783" y="2301695"/>
              <a:ext cx="986033" cy="986033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rgbClr val="374CF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92"/>
            <p:cNvSpPr/>
            <p:nvPr/>
          </p:nvSpPr>
          <p:spPr>
            <a:xfrm>
              <a:off x="3074062" y="2301801"/>
              <a:ext cx="985500" cy="985500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rgbClr val="BEF2BD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92"/>
            <p:cNvSpPr/>
            <p:nvPr/>
          </p:nvSpPr>
          <p:spPr>
            <a:xfrm rot="-4319377">
              <a:off x="3073909" y="2301755"/>
              <a:ext cx="985804" cy="985804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rgbClr val="D02AA7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92"/>
            <p:cNvSpPr txBox="1"/>
            <p:nvPr/>
          </p:nvSpPr>
          <p:spPr>
            <a:xfrm>
              <a:off x="3250648" y="2401900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15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9" name="Google Shape;1719;p92"/>
            <p:cNvSpPr txBox="1"/>
            <p:nvPr/>
          </p:nvSpPr>
          <p:spPr>
            <a:xfrm>
              <a:off x="3139994" y="2733879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0" name="Google Shape;1720;p92"/>
            <p:cNvSpPr txBox="1"/>
            <p:nvPr/>
          </p:nvSpPr>
          <p:spPr>
            <a:xfrm>
              <a:off x="3427144" y="2931304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1" name="Google Shape;1721;p92"/>
            <p:cNvSpPr txBox="1"/>
            <p:nvPr/>
          </p:nvSpPr>
          <p:spPr>
            <a:xfrm flipH="1">
              <a:off x="3602072" y="2401900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2" name="Google Shape;1722;p92"/>
            <p:cNvSpPr txBox="1"/>
            <p:nvPr/>
          </p:nvSpPr>
          <p:spPr>
            <a:xfrm flipH="1">
              <a:off x="3712727" y="2733879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23" name="Google Shape;1723;p92"/>
            <p:cNvCxnSpPr/>
            <p:nvPr/>
          </p:nvCxnSpPr>
          <p:spPr>
            <a:xfrm rot="10800000">
              <a:off x="3566860" y="2337933"/>
              <a:ext cx="0" cy="4527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24" name="Google Shape;1724;p92"/>
            <p:cNvSpPr/>
            <p:nvPr/>
          </p:nvSpPr>
          <p:spPr>
            <a:xfrm>
              <a:off x="3539180" y="2771377"/>
              <a:ext cx="55200" cy="498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25" name="Google Shape;1725;p92"/>
          <p:cNvGrpSpPr/>
          <p:nvPr/>
        </p:nvGrpSpPr>
        <p:grpSpPr>
          <a:xfrm>
            <a:off x="177489" y="493386"/>
            <a:ext cx="1589763" cy="1589763"/>
            <a:chOff x="1090105" y="2306370"/>
            <a:chExt cx="1024200" cy="1024200"/>
          </a:xfrm>
        </p:grpSpPr>
        <p:grpSp>
          <p:nvGrpSpPr>
            <p:cNvPr id="1726" name="Google Shape;1726;p92"/>
            <p:cNvGrpSpPr/>
            <p:nvPr/>
          </p:nvGrpSpPr>
          <p:grpSpPr>
            <a:xfrm>
              <a:off x="1090105" y="2306370"/>
              <a:ext cx="1024200" cy="1024200"/>
              <a:chOff x="1090105" y="2306370"/>
              <a:chExt cx="1024200" cy="1024200"/>
            </a:xfrm>
          </p:grpSpPr>
          <p:sp>
            <p:nvSpPr>
              <p:cNvPr id="1727" name="Google Shape;1727;p92"/>
              <p:cNvSpPr/>
              <p:nvPr/>
            </p:nvSpPr>
            <p:spPr>
              <a:xfrm flipH="1">
                <a:off x="1227496" y="2443628"/>
                <a:ext cx="749400" cy="749400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8" name="Google Shape;1728;p92"/>
              <p:cNvSpPr txBox="1"/>
              <p:nvPr/>
            </p:nvSpPr>
            <p:spPr>
              <a:xfrm>
                <a:off x="1625600" y="250535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29" name="Google Shape;1729;p92"/>
              <p:cNvSpPr/>
              <p:nvPr/>
            </p:nvSpPr>
            <p:spPr>
              <a:xfrm flipH="1" rot="3599772">
                <a:off x="1227589" y="2443721"/>
                <a:ext cx="749314" cy="74931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rgbClr val="845AD9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0" name="Google Shape;1730;p92"/>
              <p:cNvSpPr/>
              <p:nvPr/>
            </p:nvSpPr>
            <p:spPr>
              <a:xfrm flipH="1" rot="10800000">
                <a:off x="1227549" y="2443623"/>
                <a:ext cx="749400" cy="749400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rgbClr val="374CF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1" name="Google Shape;1731;p92"/>
              <p:cNvSpPr/>
              <p:nvPr/>
            </p:nvSpPr>
            <p:spPr>
              <a:xfrm flipH="1" rot="7200228">
                <a:off x="1227549" y="2443709"/>
                <a:ext cx="749314" cy="74931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rgbClr val="037B7D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2" name="Google Shape;1732;p92"/>
              <p:cNvSpPr/>
              <p:nvPr/>
            </p:nvSpPr>
            <p:spPr>
              <a:xfrm flipH="1" rot="-3599269">
                <a:off x="1227344" y="2443608"/>
                <a:ext cx="749724" cy="74972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rgbClr val="BEF2BD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3" name="Google Shape;1733;p92"/>
              <p:cNvSpPr/>
              <p:nvPr/>
            </p:nvSpPr>
            <p:spPr>
              <a:xfrm flipH="1" rot="-7198348">
                <a:off x="1227546" y="2443681"/>
                <a:ext cx="749424" cy="74942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rgbClr val="D02AA7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4" name="Google Shape;1734;p92"/>
              <p:cNvSpPr txBox="1"/>
              <p:nvPr/>
            </p:nvSpPr>
            <p:spPr>
              <a:xfrm>
                <a:off x="1755875" y="2714975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35" name="Google Shape;1735;p92"/>
              <p:cNvSpPr txBox="1"/>
              <p:nvPr/>
            </p:nvSpPr>
            <p:spPr>
              <a:xfrm>
                <a:off x="1625600" y="292460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36" name="Google Shape;1736;p92"/>
              <p:cNvSpPr txBox="1"/>
              <p:nvPr/>
            </p:nvSpPr>
            <p:spPr>
              <a:xfrm flipH="1">
                <a:off x="1399436" y="250535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F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37" name="Google Shape;1737;p92"/>
              <p:cNvSpPr txBox="1"/>
              <p:nvPr/>
            </p:nvSpPr>
            <p:spPr>
              <a:xfrm flipH="1">
                <a:off x="1269161" y="2714975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E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38" name="Google Shape;1738;p92"/>
              <p:cNvSpPr txBox="1"/>
              <p:nvPr/>
            </p:nvSpPr>
            <p:spPr>
              <a:xfrm flipH="1">
                <a:off x="1399436" y="292460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D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739" name="Google Shape;1739;p92"/>
            <p:cNvGrpSpPr/>
            <p:nvPr/>
          </p:nvGrpSpPr>
          <p:grpSpPr>
            <a:xfrm>
              <a:off x="1581202" y="2466989"/>
              <a:ext cx="42000" cy="367258"/>
              <a:chOff x="1012152" y="1933239"/>
              <a:chExt cx="42000" cy="367258"/>
            </a:xfrm>
          </p:grpSpPr>
          <p:cxnSp>
            <p:nvCxnSpPr>
              <p:cNvPr id="1740" name="Google Shape;1740;p92"/>
              <p:cNvCxnSpPr/>
              <p:nvPr/>
            </p:nvCxnSpPr>
            <p:spPr>
              <a:xfrm rot="10800000">
                <a:off x="1033198" y="1933239"/>
                <a:ext cx="0" cy="3441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741" name="Google Shape;1741;p92"/>
              <p:cNvSpPr/>
              <p:nvPr/>
            </p:nvSpPr>
            <p:spPr>
              <a:xfrm>
                <a:off x="1012152" y="2262698"/>
                <a:ext cx="42000" cy="378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1742" name="Google Shape;1742;p92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5462425" y="733795"/>
            <a:ext cx="2639841" cy="1405107"/>
          </a:xfrm>
          <a:prstGeom prst="rect">
            <a:avLst/>
          </a:prstGeom>
          <a:noFill/>
          <a:ln>
            <a:noFill/>
          </a:ln>
        </p:spPr>
      </p:pic>
      <p:sp>
        <p:nvSpPr>
          <p:cNvPr id="1743" name="Google Shape;1743;p92"/>
          <p:cNvSpPr txBox="1"/>
          <p:nvPr/>
        </p:nvSpPr>
        <p:spPr>
          <a:xfrm>
            <a:off x="5530697" y="759485"/>
            <a:ext cx="2384700" cy="11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Venn diagrams are my favourite…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44" name="Google Shape;1744;p92"/>
          <p:cNvGrpSpPr/>
          <p:nvPr/>
        </p:nvGrpSpPr>
        <p:grpSpPr>
          <a:xfrm>
            <a:off x="5021700" y="679838"/>
            <a:ext cx="3187500" cy="1514100"/>
            <a:chOff x="5021700" y="3022950"/>
            <a:chExt cx="3187500" cy="1514100"/>
          </a:xfrm>
        </p:grpSpPr>
        <p:sp>
          <p:nvSpPr>
            <p:cNvPr id="1745" name="Google Shape;1745;p92"/>
            <p:cNvSpPr/>
            <p:nvPr/>
          </p:nvSpPr>
          <p:spPr>
            <a:xfrm>
              <a:off x="5021700" y="3022950"/>
              <a:ext cx="3187500" cy="1514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746" name="Google Shape;1746;p92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>
              <a:off x="5462425" y="3077445"/>
              <a:ext cx="2639841" cy="14051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7" name="Google Shape;1747;p92"/>
            <p:cNvSpPr txBox="1"/>
            <p:nvPr/>
          </p:nvSpPr>
          <p:spPr>
            <a:xfrm>
              <a:off x="5530697" y="3103135"/>
              <a:ext cx="2384700" cy="113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… Um, but is it possible to draw one for these two spinners?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48" name="Google Shape;1748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71957" y="1590672"/>
            <a:ext cx="610800" cy="704382"/>
          </a:xfrm>
          <a:prstGeom prst="rect">
            <a:avLst/>
          </a:prstGeom>
          <a:noFill/>
          <a:ln>
            <a:noFill/>
          </a:ln>
        </p:spPr>
      </p:pic>
      <p:sp>
        <p:nvSpPr>
          <p:cNvPr id="1749" name="Google Shape;1749;p92"/>
          <p:cNvSpPr txBox="1"/>
          <p:nvPr/>
        </p:nvSpPr>
        <p:spPr>
          <a:xfrm>
            <a:off x="7934708" y="227427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50" name="Google Shape;1750;p92"/>
          <p:cNvGrpSpPr/>
          <p:nvPr/>
        </p:nvGrpSpPr>
        <p:grpSpPr>
          <a:xfrm>
            <a:off x="5479165" y="2644883"/>
            <a:ext cx="3181831" cy="1779274"/>
            <a:chOff x="5479165" y="2644883"/>
            <a:chExt cx="3181831" cy="1779274"/>
          </a:xfrm>
        </p:grpSpPr>
        <p:grpSp>
          <p:nvGrpSpPr>
            <p:cNvPr id="1751" name="Google Shape;1751;p92"/>
            <p:cNvGrpSpPr/>
            <p:nvPr/>
          </p:nvGrpSpPr>
          <p:grpSpPr>
            <a:xfrm>
              <a:off x="5479165" y="2644883"/>
              <a:ext cx="2639843" cy="1405105"/>
              <a:chOff x="4950696" y="682200"/>
              <a:chExt cx="3320975" cy="1767651"/>
            </a:xfrm>
          </p:grpSpPr>
          <p:pic>
            <p:nvPicPr>
              <p:cNvPr id="1752" name="Google Shape;1752;p92"/>
              <p:cNvPicPr preferRelativeResize="0"/>
              <p:nvPr/>
            </p:nvPicPr>
            <p:blipFill rotWithShape="1">
              <a:blip r:embed="rId3">
                <a:alphaModFix/>
              </a:blip>
              <a:srcRect b="43690" l="0" r="57905" t="0"/>
              <a:stretch/>
            </p:blipFill>
            <p:spPr>
              <a:xfrm>
                <a:off x="4950696" y="682200"/>
                <a:ext cx="3320975" cy="17676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53" name="Google Shape;1753;p92"/>
              <p:cNvSpPr txBox="1"/>
              <p:nvPr/>
            </p:nvSpPr>
            <p:spPr>
              <a:xfrm>
                <a:off x="5036584" y="714518"/>
                <a:ext cx="3000000" cy="142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I think you can only use a Venn diagram for specific question types.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754" name="Google Shape;1754;p92"/>
            <p:cNvGrpSpPr/>
            <p:nvPr/>
          </p:nvGrpSpPr>
          <p:grpSpPr>
            <a:xfrm>
              <a:off x="7984796" y="3383632"/>
              <a:ext cx="676200" cy="1040525"/>
              <a:chOff x="8137196" y="1935832"/>
              <a:chExt cx="676200" cy="1040525"/>
            </a:xfrm>
          </p:grpSpPr>
          <p:pic>
            <p:nvPicPr>
              <p:cNvPr id="1755" name="Google Shape;1755;p92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 flipH="1">
                <a:off x="8209791" y="1935832"/>
                <a:ext cx="598139" cy="7479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56" name="Google Shape;1756;p92"/>
              <p:cNvSpPr txBox="1"/>
              <p:nvPr/>
            </p:nvSpPr>
            <p:spPr>
              <a:xfrm>
                <a:off x="8137196" y="2699157"/>
                <a:ext cx="676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Jun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757" name="Google Shape;1757;p92"/>
          <p:cNvSpPr/>
          <p:nvPr/>
        </p:nvSpPr>
        <p:spPr>
          <a:xfrm>
            <a:off x="1974636" y="1479925"/>
            <a:ext cx="3076800" cy="18918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8" name="Google Shape;1758;p92"/>
          <p:cNvSpPr/>
          <p:nvPr/>
        </p:nvSpPr>
        <p:spPr>
          <a:xfrm>
            <a:off x="2256183" y="1783353"/>
            <a:ext cx="1681800" cy="12849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9" name="Google Shape;1759;p92"/>
          <p:cNvSpPr/>
          <p:nvPr/>
        </p:nvSpPr>
        <p:spPr>
          <a:xfrm>
            <a:off x="3088119" y="1783353"/>
            <a:ext cx="1681800" cy="12849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0" name="Google Shape;1760;p92"/>
          <p:cNvSpPr txBox="1"/>
          <p:nvPr/>
        </p:nvSpPr>
        <p:spPr>
          <a:xfrm>
            <a:off x="1974613" y="1481400"/>
            <a:ext cx="21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ξ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4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multiple </a:t>
            </a:r>
            <a:r>
              <a:rPr lang="en-GB"/>
              <a:t>diagram</a:t>
            </a:r>
            <a:r>
              <a:rPr lang="en-GB"/>
              <a:t>s</a:t>
            </a:r>
            <a:endParaRPr/>
          </a:p>
        </p:txBody>
      </p:sp>
      <p:sp>
        <p:nvSpPr>
          <p:cNvPr id="1766" name="Google Shape;1766;p93"/>
          <p:cNvSpPr txBox="1"/>
          <p:nvPr/>
        </p:nvSpPr>
        <p:spPr>
          <a:xfrm>
            <a:off x="1953850" y="642025"/>
            <a:ext cx="68661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Venn diagrams are very effective at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categorising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outcomes from a trial into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events.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example, spinner 2 will be spun once. What are the outcomes of the events that the spinner will land on an even or square number?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7" name="Google Shape;1767;p93"/>
          <p:cNvSpPr txBox="1"/>
          <p:nvPr/>
        </p:nvSpPr>
        <p:spPr>
          <a:xfrm>
            <a:off x="473739" y="1832409"/>
            <a:ext cx="99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8" name="Google Shape;1768;p93"/>
          <p:cNvSpPr txBox="1"/>
          <p:nvPr/>
        </p:nvSpPr>
        <p:spPr>
          <a:xfrm>
            <a:off x="393188" y="3705895"/>
            <a:ext cx="1158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69" name="Google Shape;1769;p93"/>
          <p:cNvGrpSpPr/>
          <p:nvPr/>
        </p:nvGrpSpPr>
        <p:grpSpPr>
          <a:xfrm>
            <a:off x="137425" y="2323944"/>
            <a:ext cx="1669839" cy="1669839"/>
            <a:chOff x="2878150" y="2106061"/>
            <a:chExt cx="1377300" cy="1377300"/>
          </a:xfrm>
        </p:grpSpPr>
        <p:sp>
          <p:nvSpPr>
            <p:cNvPr id="1770" name="Google Shape;1770;p93"/>
            <p:cNvSpPr/>
            <p:nvPr/>
          </p:nvSpPr>
          <p:spPr>
            <a:xfrm flipH="1">
              <a:off x="3074060" y="2301801"/>
              <a:ext cx="985500" cy="985500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rgbClr val="845AD9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93"/>
            <p:cNvSpPr/>
            <p:nvPr/>
          </p:nvSpPr>
          <p:spPr>
            <a:xfrm flipH="1" rot="4319377">
              <a:off x="3073909" y="2301755"/>
              <a:ext cx="985804" cy="985804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rgbClr val="037B7D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93"/>
            <p:cNvSpPr/>
            <p:nvPr/>
          </p:nvSpPr>
          <p:spPr>
            <a:xfrm flipH="1" rot="8639896">
              <a:off x="3073783" y="2301695"/>
              <a:ext cx="986033" cy="986033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rgbClr val="374CF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93"/>
            <p:cNvSpPr/>
            <p:nvPr/>
          </p:nvSpPr>
          <p:spPr>
            <a:xfrm>
              <a:off x="3074062" y="2301801"/>
              <a:ext cx="985500" cy="985500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rgbClr val="BEF2BD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93"/>
            <p:cNvSpPr/>
            <p:nvPr/>
          </p:nvSpPr>
          <p:spPr>
            <a:xfrm rot="-4319377">
              <a:off x="3073909" y="2301755"/>
              <a:ext cx="985804" cy="985804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rgbClr val="D02AA7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93"/>
            <p:cNvSpPr txBox="1"/>
            <p:nvPr/>
          </p:nvSpPr>
          <p:spPr>
            <a:xfrm>
              <a:off x="3250648" y="2401900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15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6" name="Google Shape;1776;p93"/>
            <p:cNvSpPr txBox="1"/>
            <p:nvPr/>
          </p:nvSpPr>
          <p:spPr>
            <a:xfrm>
              <a:off x="3139994" y="2733879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7" name="Google Shape;1777;p93"/>
            <p:cNvSpPr txBox="1"/>
            <p:nvPr/>
          </p:nvSpPr>
          <p:spPr>
            <a:xfrm>
              <a:off x="3427144" y="2931304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8" name="Google Shape;1778;p93"/>
            <p:cNvSpPr txBox="1"/>
            <p:nvPr/>
          </p:nvSpPr>
          <p:spPr>
            <a:xfrm flipH="1">
              <a:off x="3602072" y="2401900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9" name="Google Shape;1779;p93"/>
            <p:cNvSpPr txBox="1"/>
            <p:nvPr/>
          </p:nvSpPr>
          <p:spPr>
            <a:xfrm flipH="1">
              <a:off x="3712727" y="2733879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80" name="Google Shape;1780;p93"/>
            <p:cNvCxnSpPr/>
            <p:nvPr/>
          </p:nvCxnSpPr>
          <p:spPr>
            <a:xfrm rot="10800000">
              <a:off x="3566860" y="2337933"/>
              <a:ext cx="0" cy="4527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81" name="Google Shape;1781;p93"/>
            <p:cNvSpPr/>
            <p:nvPr/>
          </p:nvSpPr>
          <p:spPr>
            <a:xfrm>
              <a:off x="3539180" y="2771377"/>
              <a:ext cx="55200" cy="498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82" name="Google Shape;1782;p93"/>
          <p:cNvGrpSpPr/>
          <p:nvPr/>
        </p:nvGrpSpPr>
        <p:grpSpPr>
          <a:xfrm>
            <a:off x="177489" y="493386"/>
            <a:ext cx="1589763" cy="1589763"/>
            <a:chOff x="1090105" y="2306370"/>
            <a:chExt cx="1024200" cy="1024200"/>
          </a:xfrm>
        </p:grpSpPr>
        <p:grpSp>
          <p:nvGrpSpPr>
            <p:cNvPr id="1783" name="Google Shape;1783;p93"/>
            <p:cNvGrpSpPr/>
            <p:nvPr/>
          </p:nvGrpSpPr>
          <p:grpSpPr>
            <a:xfrm>
              <a:off x="1090105" y="2306370"/>
              <a:ext cx="1024200" cy="1024200"/>
              <a:chOff x="1090105" y="2306370"/>
              <a:chExt cx="1024200" cy="1024200"/>
            </a:xfrm>
          </p:grpSpPr>
          <p:sp>
            <p:nvSpPr>
              <p:cNvPr id="1784" name="Google Shape;1784;p93"/>
              <p:cNvSpPr/>
              <p:nvPr/>
            </p:nvSpPr>
            <p:spPr>
              <a:xfrm flipH="1">
                <a:off x="1227496" y="2443628"/>
                <a:ext cx="749400" cy="749400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5" name="Google Shape;1785;p93"/>
              <p:cNvSpPr txBox="1"/>
              <p:nvPr/>
            </p:nvSpPr>
            <p:spPr>
              <a:xfrm>
                <a:off x="1625600" y="250535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86" name="Google Shape;1786;p93"/>
              <p:cNvSpPr/>
              <p:nvPr/>
            </p:nvSpPr>
            <p:spPr>
              <a:xfrm flipH="1" rot="3599772">
                <a:off x="1227589" y="2443721"/>
                <a:ext cx="749314" cy="74931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rgbClr val="845AD9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7" name="Google Shape;1787;p93"/>
              <p:cNvSpPr/>
              <p:nvPr/>
            </p:nvSpPr>
            <p:spPr>
              <a:xfrm flipH="1" rot="10800000">
                <a:off x="1227549" y="2443623"/>
                <a:ext cx="749400" cy="749400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rgbClr val="374CF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8" name="Google Shape;1788;p93"/>
              <p:cNvSpPr/>
              <p:nvPr/>
            </p:nvSpPr>
            <p:spPr>
              <a:xfrm flipH="1" rot="7200228">
                <a:off x="1227549" y="2443709"/>
                <a:ext cx="749314" cy="74931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rgbClr val="037B7D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9" name="Google Shape;1789;p93"/>
              <p:cNvSpPr/>
              <p:nvPr/>
            </p:nvSpPr>
            <p:spPr>
              <a:xfrm flipH="1" rot="-3599269">
                <a:off x="1227344" y="2443608"/>
                <a:ext cx="749724" cy="74972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rgbClr val="BEF2BD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0" name="Google Shape;1790;p93"/>
              <p:cNvSpPr/>
              <p:nvPr/>
            </p:nvSpPr>
            <p:spPr>
              <a:xfrm flipH="1" rot="-7198348">
                <a:off x="1227546" y="2443681"/>
                <a:ext cx="749424" cy="74942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rgbClr val="D02AA7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1" name="Google Shape;1791;p93"/>
              <p:cNvSpPr txBox="1"/>
              <p:nvPr/>
            </p:nvSpPr>
            <p:spPr>
              <a:xfrm>
                <a:off x="1755875" y="2714975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92" name="Google Shape;1792;p93"/>
              <p:cNvSpPr txBox="1"/>
              <p:nvPr/>
            </p:nvSpPr>
            <p:spPr>
              <a:xfrm>
                <a:off x="1625600" y="292460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93" name="Google Shape;1793;p93"/>
              <p:cNvSpPr txBox="1"/>
              <p:nvPr/>
            </p:nvSpPr>
            <p:spPr>
              <a:xfrm flipH="1">
                <a:off x="1399436" y="250535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F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94" name="Google Shape;1794;p93"/>
              <p:cNvSpPr txBox="1"/>
              <p:nvPr/>
            </p:nvSpPr>
            <p:spPr>
              <a:xfrm flipH="1">
                <a:off x="1269161" y="2714975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E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95" name="Google Shape;1795;p93"/>
              <p:cNvSpPr txBox="1"/>
              <p:nvPr/>
            </p:nvSpPr>
            <p:spPr>
              <a:xfrm flipH="1">
                <a:off x="1399436" y="292460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D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796" name="Google Shape;1796;p93"/>
            <p:cNvGrpSpPr/>
            <p:nvPr/>
          </p:nvGrpSpPr>
          <p:grpSpPr>
            <a:xfrm>
              <a:off x="1581202" y="2466989"/>
              <a:ext cx="42000" cy="367258"/>
              <a:chOff x="1012152" y="1933239"/>
              <a:chExt cx="42000" cy="367258"/>
            </a:xfrm>
          </p:grpSpPr>
          <p:cxnSp>
            <p:nvCxnSpPr>
              <p:cNvPr id="1797" name="Google Shape;1797;p93"/>
              <p:cNvCxnSpPr/>
              <p:nvPr/>
            </p:nvCxnSpPr>
            <p:spPr>
              <a:xfrm rot="10800000">
                <a:off x="1033198" y="1933239"/>
                <a:ext cx="0" cy="3441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798" name="Google Shape;1798;p93"/>
              <p:cNvSpPr/>
              <p:nvPr/>
            </p:nvSpPr>
            <p:spPr>
              <a:xfrm>
                <a:off x="1012152" y="2262698"/>
                <a:ext cx="42000" cy="378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799" name="Google Shape;1799;p93"/>
          <p:cNvSpPr/>
          <p:nvPr/>
        </p:nvSpPr>
        <p:spPr>
          <a:xfrm>
            <a:off x="4857037" y="2851514"/>
            <a:ext cx="3560400" cy="18918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0" name="Google Shape;1800;p93"/>
          <p:cNvSpPr/>
          <p:nvPr/>
        </p:nvSpPr>
        <p:spPr>
          <a:xfrm>
            <a:off x="5182837" y="3154942"/>
            <a:ext cx="1946100" cy="12849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1" name="Google Shape;1801;p93"/>
          <p:cNvSpPr/>
          <p:nvPr/>
        </p:nvSpPr>
        <p:spPr>
          <a:xfrm>
            <a:off x="6145537" y="3154942"/>
            <a:ext cx="1946100" cy="12849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2" name="Google Shape;1802;p93"/>
          <p:cNvSpPr txBox="1"/>
          <p:nvPr/>
        </p:nvSpPr>
        <p:spPr>
          <a:xfrm>
            <a:off x="5221300" y="2982675"/>
            <a:ext cx="802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square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3" name="Google Shape;1803;p93"/>
          <p:cNvSpPr txBox="1"/>
          <p:nvPr/>
        </p:nvSpPr>
        <p:spPr>
          <a:xfrm>
            <a:off x="6725624" y="2982683"/>
            <a:ext cx="1449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4" name="Google Shape;1804;p93"/>
          <p:cNvSpPr txBox="1"/>
          <p:nvPr/>
        </p:nvSpPr>
        <p:spPr>
          <a:xfrm>
            <a:off x="6423925" y="3433200"/>
            <a:ext cx="4266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5" name="Google Shape;1805;p93"/>
          <p:cNvSpPr txBox="1"/>
          <p:nvPr/>
        </p:nvSpPr>
        <p:spPr>
          <a:xfrm>
            <a:off x="7338475" y="3606600"/>
            <a:ext cx="4266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6" name="Google Shape;1806;p93"/>
          <p:cNvSpPr txBox="1"/>
          <p:nvPr/>
        </p:nvSpPr>
        <p:spPr>
          <a:xfrm>
            <a:off x="5509375" y="3393425"/>
            <a:ext cx="4266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7" name="Google Shape;1807;p93"/>
          <p:cNvSpPr txBox="1"/>
          <p:nvPr/>
        </p:nvSpPr>
        <p:spPr>
          <a:xfrm>
            <a:off x="5509375" y="3881625"/>
            <a:ext cx="4266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9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8" name="Google Shape;1808;p93"/>
          <p:cNvSpPr txBox="1"/>
          <p:nvPr/>
        </p:nvSpPr>
        <p:spPr>
          <a:xfrm>
            <a:off x="6423925" y="4396525"/>
            <a:ext cx="4266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15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9" name="Google Shape;1809;p93"/>
          <p:cNvSpPr txBox="1"/>
          <p:nvPr/>
        </p:nvSpPr>
        <p:spPr>
          <a:xfrm>
            <a:off x="4857013" y="2851525"/>
            <a:ext cx="21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ξ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3" name="Shape 1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4" name="Google Shape;1814;p94"/>
          <p:cNvSpPr txBox="1"/>
          <p:nvPr/>
        </p:nvSpPr>
        <p:spPr>
          <a:xfrm>
            <a:off x="1953850" y="642025"/>
            <a:ext cx="68661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However, Venn diagrams are not effective at systematically listing all the outcomes from a </a:t>
            </a:r>
            <a:r>
              <a:rPr lang="en-GB" sz="18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two-stage trial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For example, there is no way of systematically listing all the outcomes on a Venn diagram if spinner 1 and spinner 2 were spun once each.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5" name="Google Shape;1815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multiple </a:t>
            </a:r>
            <a:r>
              <a:rPr lang="en-GB"/>
              <a:t>diagram</a:t>
            </a:r>
            <a:r>
              <a:rPr lang="en-GB"/>
              <a:t>s</a:t>
            </a:r>
            <a:endParaRPr/>
          </a:p>
        </p:txBody>
      </p:sp>
      <p:sp>
        <p:nvSpPr>
          <p:cNvPr id="1816" name="Google Shape;1816;p94"/>
          <p:cNvSpPr txBox="1"/>
          <p:nvPr/>
        </p:nvSpPr>
        <p:spPr>
          <a:xfrm>
            <a:off x="473739" y="1832409"/>
            <a:ext cx="99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7" name="Google Shape;1817;p94"/>
          <p:cNvSpPr txBox="1"/>
          <p:nvPr/>
        </p:nvSpPr>
        <p:spPr>
          <a:xfrm>
            <a:off x="393188" y="3705895"/>
            <a:ext cx="1158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18" name="Google Shape;1818;p94"/>
          <p:cNvGrpSpPr/>
          <p:nvPr/>
        </p:nvGrpSpPr>
        <p:grpSpPr>
          <a:xfrm>
            <a:off x="137425" y="2323944"/>
            <a:ext cx="1669839" cy="1669839"/>
            <a:chOff x="2878150" y="2106061"/>
            <a:chExt cx="1377300" cy="1377300"/>
          </a:xfrm>
        </p:grpSpPr>
        <p:sp>
          <p:nvSpPr>
            <p:cNvPr id="1819" name="Google Shape;1819;p94"/>
            <p:cNvSpPr/>
            <p:nvPr/>
          </p:nvSpPr>
          <p:spPr>
            <a:xfrm flipH="1">
              <a:off x="3074060" y="2301801"/>
              <a:ext cx="985500" cy="985500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rgbClr val="845AD9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94"/>
            <p:cNvSpPr/>
            <p:nvPr/>
          </p:nvSpPr>
          <p:spPr>
            <a:xfrm flipH="1" rot="4319377">
              <a:off x="3073909" y="2301755"/>
              <a:ext cx="985804" cy="985804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rgbClr val="037B7D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94"/>
            <p:cNvSpPr/>
            <p:nvPr/>
          </p:nvSpPr>
          <p:spPr>
            <a:xfrm flipH="1" rot="8639896">
              <a:off x="3073783" y="2301695"/>
              <a:ext cx="986033" cy="986033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rgbClr val="374CF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94"/>
            <p:cNvSpPr/>
            <p:nvPr/>
          </p:nvSpPr>
          <p:spPr>
            <a:xfrm>
              <a:off x="3074062" y="2301801"/>
              <a:ext cx="985500" cy="985500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rgbClr val="BEF2BD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94"/>
            <p:cNvSpPr/>
            <p:nvPr/>
          </p:nvSpPr>
          <p:spPr>
            <a:xfrm rot="-4319377">
              <a:off x="3073909" y="2301755"/>
              <a:ext cx="985804" cy="985804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rgbClr val="D02AA7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94"/>
            <p:cNvSpPr txBox="1"/>
            <p:nvPr/>
          </p:nvSpPr>
          <p:spPr>
            <a:xfrm>
              <a:off x="3250648" y="2401900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15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5" name="Google Shape;1825;p94"/>
            <p:cNvSpPr txBox="1"/>
            <p:nvPr/>
          </p:nvSpPr>
          <p:spPr>
            <a:xfrm>
              <a:off x="3139994" y="2733879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6" name="Google Shape;1826;p94"/>
            <p:cNvSpPr txBox="1"/>
            <p:nvPr/>
          </p:nvSpPr>
          <p:spPr>
            <a:xfrm>
              <a:off x="3427144" y="2931304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7" name="Google Shape;1827;p94"/>
            <p:cNvSpPr txBox="1"/>
            <p:nvPr/>
          </p:nvSpPr>
          <p:spPr>
            <a:xfrm flipH="1">
              <a:off x="3602072" y="2401900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8" name="Google Shape;1828;p94"/>
            <p:cNvSpPr txBox="1"/>
            <p:nvPr/>
          </p:nvSpPr>
          <p:spPr>
            <a:xfrm flipH="1">
              <a:off x="3712727" y="2733879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29" name="Google Shape;1829;p94"/>
            <p:cNvCxnSpPr/>
            <p:nvPr/>
          </p:nvCxnSpPr>
          <p:spPr>
            <a:xfrm rot="10800000">
              <a:off x="3566860" y="2337933"/>
              <a:ext cx="0" cy="4527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30" name="Google Shape;1830;p94"/>
            <p:cNvSpPr/>
            <p:nvPr/>
          </p:nvSpPr>
          <p:spPr>
            <a:xfrm>
              <a:off x="3539180" y="2771377"/>
              <a:ext cx="55200" cy="498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31" name="Google Shape;1831;p94"/>
          <p:cNvGrpSpPr/>
          <p:nvPr/>
        </p:nvGrpSpPr>
        <p:grpSpPr>
          <a:xfrm>
            <a:off x="177489" y="493386"/>
            <a:ext cx="1589763" cy="1589763"/>
            <a:chOff x="1090105" y="2306370"/>
            <a:chExt cx="1024200" cy="1024200"/>
          </a:xfrm>
        </p:grpSpPr>
        <p:grpSp>
          <p:nvGrpSpPr>
            <p:cNvPr id="1832" name="Google Shape;1832;p94"/>
            <p:cNvGrpSpPr/>
            <p:nvPr/>
          </p:nvGrpSpPr>
          <p:grpSpPr>
            <a:xfrm>
              <a:off x="1090105" y="2306370"/>
              <a:ext cx="1024200" cy="1024200"/>
              <a:chOff x="1090105" y="2306370"/>
              <a:chExt cx="1024200" cy="1024200"/>
            </a:xfrm>
          </p:grpSpPr>
          <p:sp>
            <p:nvSpPr>
              <p:cNvPr id="1833" name="Google Shape;1833;p94"/>
              <p:cNvSpPr/>
              <p:nvPr/>
            </p:nvSpPr>
            <p:spPr>
              <a:xfrm flipH="1">
                <a:off x="1227496" y="2443628"/>
                <a:ext cx="749400" cy="749400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4" name="Google Shape;1834;p94"/>
              <p:cNvSpPr txBox="1"/>
              <p:nvPr/>
            </p:nvSpPr>
            <p:spPr>
              <a:xfrm>
                <a:off x="1625600" y="250535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35" name="Google Shape;1835;p94"/>
              <p:cNvSpPr/>
              <p:nvPr/>
            </p:nvSpPr>
            <p:spPr>
              <a:xfrm flipH="1" rot="3599772">
                <a:off x="1227589" y="2443721"/>
                <a:ext cx="749314" cy="74931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rgbClr val="845AD9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6" name="Google Shape;1836;p94"/>
              <p:cNvSpPr/>
              <p:nvPr/>
            </p:nvSpPr>
            <p:spPr>
              <a:xfrm flipH="1" rot="10800000">
                <a:off x="1227549" y="2443623"/>
                <a:ext cx="749400" cy="749400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rgbClr val="374CF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7" name="Google Shape;1837;p94"/>
              <p:cNvSpPr/>
              <p:nvPr/>
            </p:nvSpPr>
            <p:spPr>
              <a:xfrm flipH="1" rot="7200228">
                <a:off x="1227549" y="2443709"/>
                <a:ext cx="749314" cy="74931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rgbClr val="037B7D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8" name="Google Shape;1838;p94"/>
              <p:cNvSpPr/>
              <p:nvPr/>
            </p:nvSpPr>
            <p:spPr>
              <a:xfrm flipH="1" rot="-3599269">
                <a:off x="1227344" y="2443608"/>
                <a:ext cx="749724" cy="74972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rgbClr val="BEF2BD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9" name="Google Shape;1839;p94"/>
              <p:cNvSpPr/>
              <p:nvPr/>
            </p:nvSpPr>
            <p:spPr>
              <a:xfrm flipH="1" rot="-7198348">
                <a:off x="1227546" y="2443681"/>
                <a:ext cx="749424" cy="74942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rgbClr val="D02AA7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0" name="Google Shape;1840;p94"/>
              <p:cNvSpPr txBox="1"/>
              <p:nvPr/>
            </p:nvSpPr>
            <p:spPr>
              <a:xfrm>
                <a:off x="1755875" y="2714975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41" name="Google Shape;1841;p94"/>
              <p:cNvSpPr txBox="1"/>
              <p:nvPr/>
            </p:nvSpPr>
            <p:spPr>
              <a:xfrm>
                <a:off x="1625600" y="292460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42" name="Google Shape;1842;p94"/>
              <p:cNvSpPr txBox="1"/>
              <p:nvPr/>
            </p:nvSpPr>
            <p:spPr>
              <a:xfrm flipH="1">
                <a:off x="1399436" y="250535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F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43" name="Google Shape;1843;p94"/>
              <p:cNvSpPr txBox="1"/>
              <p:nvPr/>
            </p:nvSpPr>
            <p:spPr>
              <a:xfrm flipH="1">
                <a:off x="1269161" y="2714975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E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44" name="Google Shape;1844;p94"/>
              <p:cNvSpPr txBox="1"/>
              <p:nvPr/>
            </p:nvSpPr>
            <p:spPr>
              <a:xfrm flipH="1">
                <a:off x="1399436" y="292460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D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845" name="Google Shape;1845;p94"/>
            <p:cNvGrpSpPr/>
            <p:nvPr/>
          </p:nvGrpSpPr>
          <p:grpSpPr>
            <a:xfrm>
              <a:off x="1581202" y="2466989"/>
              <a:ext cx="42000" cy="367258"/>
              <a:chOff x="1012152" y="1933239"/>
              <a:chExt cx="42000" cy="367258"/>
            </a:xfrm>
          </p:grpSpPr>
          <p:cxnSp>
            <p:nvCxnSpPr>
              <p:cNvPr id="1846" name="Google Shape;1846;p94"/>
              <p:cNvCxnSpPr/>
              <p:nvPr/>
            </p:nvCxnSpPr>
            <p:spPr>
              <a:xfrm rot="10800000">
                <a:off x="1033198" y="1933239"/>
                <a:ext cx="0" cy="3441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847" name="Google Shape;1847;p94"/>
              <p:cNvSpPr/>
              <p:nvPr/>
            </p:nvSpPr>
            <p:spPr>
              <a:xfrm>
                <a:off x="1012152" y="2262698"/>
                <a:ext cx="42000" cy="378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848" name="Google Shape;1848;p94"/>
          <p:cNvSpPr/>
          <p:nvPr/>
        </p:nvSpPr>
        <p:spPr>
          <a:xfrm>
            <a:off x="4857037" y="2851514"/>
            <a:ext cx="3560400" cy="18918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9" name="Google Shape;1849;p94"/>
          <p:cNvSpPr/>
          <p:nvPr/>
        </p:nvSpPr>
        <p:spPr>
          <a:xfrm>
            <a:off x="5182837" y="3154942"/>
            <a:ext cx="1946100" cy="12849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0" name="Google Shape;1850;p94"/>
          <p:cNvSpPr/>
          <p:nvPr/>
        </p:nvSpPr>
        <p:spPr>
          <a:xfrm>
            <a:off x="6145537" y="3154942"/>
            <a:ext cx="1946100" cy="12849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1" name="Google Shape;1851;p94"/>
          <p:cNvSpPr txBox="1"/>
          <p:nvPr/>
        </p:nvSpPr>
        <p:spPr>
          <a:xfrm>
            <a:off x="4857025" y="2982675"/>
            <a:ext cx="1530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2" name="Google Shape;1852;p94"/>
          <p:cNvSpPr txBox="1"/>
          <p:nvPr/>
        </p:nvSpPr>
        <p:spPr>
          <a:xfrm>
            <a:off x="2192425" y="2922925"/>
            <a:ext cx="22272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Where would the outcome {A8} go on this Venn diagram?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3" name="Google Shape;1853;p94"/>
          <p:cNvSpPr txBox="1"/>
          <p:nvPr/>
        </p:nvSpPr>
        <p:spPr>
          <a:xfrm>
            <a:off x="6886525" y="2982675"/>
            <a:ext cx="1530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54" name="Google Shape;1854;p94"/>
          <p:cNvGrpSpPr/>
          <p:nvPr/>
        </p:nvGrpSpPr>
        <p:grpSpPr>
          <a:xfrm>
            <a:off x="3913482" y="3780000"/>
            <a:ext cx="610800" cy="963329"/>
            <a:chOff x="3913482" y="3780000"/>
            <a:chExt cx="610800" cy="963329"/>
          </a:xfrm>
        </p:grpSpPr>
        <p:pic>
          <p:nvPicPr>
            <p:cNvPr id="1855" name="Google Shape;1855;p9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3913482" y="4038947"/>
              <a:ext cx="610800" cy="7043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6" name="Google Shape;1856;p94"/>
            <p:cNvSpPr txBox="1"/>
            <p:nvPr/>
          </p:nvSpPr>
          <p:spPr>
            <a:xfrm>
              <a:off x="4009504" y="3780000"/>
              <a:ext cx="4848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???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57" name="Google Shape;1857;p94"/>
          <p:cNvSpPr txBox="1"/>
          <p:nvPr/>
        </p:nvSpPr>
        <p:spPr>
          <a:xfrm>
            <a:off x="4857013" y="2851525"/>
            <a:ext cx="21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ξ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1" name="Shape 1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" name="Google Shape;1862;p95"/>
          <p:cNvSpPr txBox="1"/>
          <p:nvPr/>
        </p:nvSpPr>
        <p:spPr>
          <a:xfrm>
            <a:off x="1815350" y="718225"/>
            <a:ext cx="59067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 will spin the spinner and roll this fair 6-sided dice with the integers from 1 to 6 written on its faces.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of these can Jacob use to systematically write down all outcomes of this two-stage trial?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3" name="Google Shape;1863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multiple </a:t>
            </a:r>
            <a:r>
              <a:rPr lang="en-GB"/>
              <a:t>diagram</a:t>
            </a:r>
            <a:r>
              <a:rPr lang="en-GB"/>
              <a:t>s</a:t>
            </a:r>
            <a:endParaRPr/>
          </a:p>
        </p:txBody>
      </p:sp>
      <p:sp>
        <p:nvSpPr>
          <p:cNvPr id="1864" name="Google Shape;1864;p95"/>
          <p:cNvSpPr txBox="1"/>
          <p:nvPr/>
        </p:nvSpPr>
        <p:spPr>
          <a:xfrm>
            <a:off x="473739" y="1832409"/>
            <a:ext cx="99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65" name="Google Shape;1865;p95"/>
          <p:cNvGrpSpPr/>
          <p:nvPr/>
        </p:nvGrpSpPr>
        <p:grpSpPr>
          <a:xfrm>
            <a:off x="177489" y="493386"/>
            <a:ext cx="1589763" cy="1589763"/>
            <a:chOff x="1090105" y="2306370"/>
            <a:chExt cx="1024200" cy="1024200"/>
          </a:xfrm>
        </p:grpSpPr>
        <p:grpSp>
          <p:nvGrpSpPr>
            <p:cNvPr id="1866" name="Google Shape;1866;p95"/>
            <p:cNvGrpSpPr/>
            <p:nvPr/>
          </p:nvGrpSpPr>
          <p:grpSpPr>
            <a:xfrm>
              <a:off x="1090105" y="2306370"/>
              <a:ext cx="1024200" cy="1024200"/>
              <a:chOff x="1090105" y="2306370"/>
              <a:chExt cx="1024200" cy="1024200"/>
            </a:xfrm>
          </p:grpSpPr>
          <p:sp>
            <p:nvSpPr>
              <p:cNvPr id="1867" name="Google Shape;1867;p95"/>
              <p:cNvSpPr/>
              <p:nvPr/>
            </p:nvSpPr>
            <p:spPr>
              <a:xfrm flipH="1">
                <a:off x="1227496" y="2443628"/>
                <a:ext cx="749400" cy="749400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8" name="Google Shape;1868;p95"/>
              <p:cNvSpPr txBox="1"/>
              <p:nvPr/>
            </p:nvSpPr>
            <p:spPr>
              <a:xfrm>
                <a:off x="1625600" y="250535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69" name="Google Shape;1869;p95"/>
              <p:cNvSpPr/>
              <p:nvPr/>
            </p:nvSpPr>
            <p:spPr>
              <a:xfrm flipH="1" rot="3599772">
                <a:off x="1227589" y="2443721"/>
                <a:ext cx="749314" cy="74931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rgbClr val="845AD9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0" name="Google Shape;1870;p95"/>
              <p:cNvSpPr/>
              <p:nvPr/>
            </p:nvSpPr>
            <p:spPr>
              <a:xfrm flipH="1" rot="10800000">
                <a:off x="1227549" y="2443623"/>
                <a:ext cx="749400" cy="749400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rgbClr val="374CF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1" name="Google Shape;1871;p95"/>
              <p:cNvSpPr/>
              <p:nvPr/>
            </p:nvSpPr>
            <p:spPr>
              <a:xfrm flipH="1" rot="7200228">
                <a:off x="1227549" y="2443709"/>
                <a:ext cx="749314" cy="74931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rgbClr val="037B7D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2" name="Google Shape;1872;p95"/>
              <p:cNvSpPr/>
              <p:nvPr/>
            </p:nvSpPr>
            <p:spPr>
              <a:xfrm flipH="1" rot="-3599269">
                <a:off x="1227344" y="2443608"/>
                <a:ext cx="749724" cy="74972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rgbClr val="BEF2BD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3" name="Google Shape;1873;p95"/>
              <p:cNvSpPr/>
              <p:nvPr/>
            </p:nvSpPr>
            <p:spPr>
              <a:xfrm flipH="1" rot="-7198348">
                <a:off x="1227546" y="2443681"/>
                <a:ext cx="749424" cy="74942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rgbClr val="D02AA7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4" name="Google Shape;1874;p95"/>
              <p:cNvSpPr txBox="1"/>
              <p:nvPr/>
            </p:nvSpPr>
            <p:spPr>
              <a:xfrm>
                <a:off x="1755875" y="2714975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75" name="Google Shape;1875;p95"/>
              <p:cNvSpPr txBox="1"/>
              <p:nvPr/>
            </p:nvSpPr>
            <p:spPr>
              <a:xfrm>
                <a:off x="1625600" y="292460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5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76" name="Google Shape;1876;p95"/>
              <p:cNvSpPr txBox="1"/>
              <p:nvPr/>
            </p:nvSpPr>
            <p:spPr>
              <a:xfrm flipH="1">
                <a:off x="1382851" y="250535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10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77" name="Google Shape;1877;p95"/>
              <p:cNvSpPr txBox="1"/>
              <p:nvPr/>
            </p:nvSpPr>
            <p:spPr>
              <a:xfrm flipH="1">
                <a:off x="1269161" y="2714975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9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78" name="Google Shape;1878;p95"/>
              <p:cNvSpPr txBox="1"/>
              <p:nvPr/>
            </p:nvSpPr>
            <p:spPr>
              <a:xfrm flipH="1">
                <a:off x="1399436" y="292460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7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879" name="Google Shape;1879;p95"/>
            <p:cNvGrpSpPr/>
            <p:nvPr/>
          </p:nvGrpSpPr>
          <p:grpSpPr>
            <a:xfrm>
              <a:off x="1581202" y="2466989"/>
              <a:ext cx="42000" cy="367258"/>
              <a:chOff x="1012152" y="1933239"/>
              <a:chExt cx="42000" cy="367258"/>
            </a:xfrm>
          </p:grpSpPr>
          <p:cxnSp>
            <p:nvCxnSpPr>
              <p:cNvPr id="1880" name="Google Shape;1880;p95"/>
              <p:cNvCxnSpPr/>
              <p:nvPr/>
            </p:nvCxnSpPr>
            <p:spPr>
              <a:xfrm rot="10800000">
                <a:off x="1033198" y="1933239"/>
                <a:ext cx="0" cy="3441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881" name="Google Shape;1881;p95"/>
              <p:cNvSpPr/>
              <p:nvPr/>
            </p:nvSpPr>
            <p:spPr>
              <a:xfrm>
                <a:off x="1012152" y="2262698"/>
                <a:ext cx="42000" cy="378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882" name="Google Shape;1882;p95"/>
          <p:cNvGrpSpPr/>
          <p:nvPr/>
        </p:nvGrpSpPr>
        <p:grpSpPr>
          <a:xfrm>
            <a:off x="485878" y="3078174"/>
            <a:ext cx="972942" cy="972942"/>
            <a:chOff x="6840000" y="834175"/>
            <a:chExt cx="1086600" cy="1086600"/>
          </a:xfrm>
        </p:grpSpPr>
        <p:sp>
          <p:nvSpPr>
            <p:cNvPr id="1883" name="Google Shape;1883;p95"/>
            <p:cNvSpPr/>
            <p:nvPr/>
          </p:nvSpPr>
          <p:spPr>
            <a:xfrm>
              <a:off x="6840000" y="834175"/>
              <a:ext cx="1086600" cy="1086600"/>
            </a:xfrm>
            <a:prstGeom prst="cube">
              <a:avLst>
                <a:gd fmla="val 25000" name="adj"/>
              </a:avLst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95"/>
            <p:cNvSpPr/>
            <p:nvPr/>
          </p:nvSpPr>
          <p:spPr>
            <a:xfrm rot="-5400000">
              <a:off x="7671071" y="1628569"/>
              <a:ext cx="148500" cy="49800"/>
            </a:xfrm>
            <a:prstGeom prst="ellipse">
              <a:avLst/>
            </a:prstGeom>
            <a:gradFill>
              <a:gsLst>
                <a:gs pos="0">
                  <a:srgbClr val="424242"/>
                </a:gs>
                <a:gs pos="100000">
                  <a:srgbClr val="010101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5" name="Google Shape;1885;p95"/>
            <p:cNvSpPr/>
            <p:nvPr/>
          </p:nvSpPr>
          <p:spPr>
            <a:xfrm rot="-5400000">
              <a:off x="7722111" y="1375498"/>
              <a:ext cx="148500" cy="49800"/>
            </a:xfrm>
            <a:prstGeom prst="ellipse">
              <a:avLst/>
            </a:prstGeom>
            <a:gradFill>
              <a:gsLst>
                <a:gs pos="0">
                  <a:srgbClr val="424242"/>
                </a:gs>
                <a:gs pos="100000">
                  <a:srgbClr val="010101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6" name="Google Shape;1886;p95"/>
            <p:cNvSpPr/>
            <p:nvPr/>
          </p:nvSpPr>
          <p:spPr>
            <a:xfrm rot="-5400000">
              <a:off x="7779504" y="1127544"/>
              <a:ext cx="148500" cy="49800"/>
            </a:xfrm>
            <a:prstGeom prst="ellipse">
              <a:avLst/>
            </a:prstGeom>
            <a:gradFill>
              <a:gsLst>
                <a:gs pos="0">
                  <a:srgbClr val="424242"/>
                </a:gs>
                <a:gs pos="100000">
                  <a:srgbClr val="010101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7" name="Google Shape;1887;p95"/>
            <p:cNvSpPr/>
            <p:nvPr/>
          </p:nvSpPr>
          <p:spPr>
            <a:xfrm rot="-5400000">
              <a:off x="6988827" y="1712277"/>
              <a:ext cx="116400" cy="116400"/>
            </a:xfrm>
            <a:prstGeom prst="ellipse">
              <a:avLst/>
            </a:prstGeom>
            <a:gradFill>
              <a:gsLst>
                <a:gs pos="0">
                  <a:srgbClr val="424242"/>
                </a:gs>
                <a:gs pos="100000">
                  <a:srgbClr val="010101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8" name="Google Shape;1888;p95"/>
            <p:cNvSpPr/>
            <p:nvPr/>
          </p:nvSpPr>
          <p:spPr>
            <a:xfrm rot="-5400000">
              <a:off x="7400325" y="1183573"/>
              <a:ext cx="116100" cy="116100"/>
            </a:xfrm>
            <a:prstGeom prst="ellipse">
              <a:avLst/>
            </a:prstGeom>
            <a:gradFill>
              <a:gsLst>
                <a:gs pos="0">
                  <a:srgbClr val="424242"/>
                </a:gs>
                <a:gs pos="100000">
                  <a:srgbClr val="010101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9" name="Google Shape;1889;p95"/>
            <p:cNvSpPr/>
            <p:nvPr/>
          </p:nvSpPr>
          <p:spPr>
            <a:xfrm rot="-5400000">
              <a:off x="6988827" y="1183373"/>
              <a:ext cx="115800" cy="115800"/>
            </a:xfrm>
            <a:prstGeom prst="ellipse">
              <a:avLst/>
            </a:prstGeom>
            <a:gradFill>
              <a:gsLst>
                <a:gs pos="0">
                  <a:srgbClr val="424242"/>
                </a:gs>
                <a:gs pos="100000">
                  <a:srgbClr val="010101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0" name="Google Shape;1890;p95"/>
            <p:cNvSpPr/>
            <p:nvPr/>
          </p:nvSpPr>
          <p:spPr>
            <a:xfrm rot="-5400000">
              <a:off x="7400125" y="1712277"/>
              <a:ext cx="116400" cy="116400"/>
            </a:xfrm>
            <a:prstGeom prst="ellipse">
              <a:avLst/>
            </a:prstGeom>
            <a:gradFill>
              <a:gsLst>
                <a:gs pos="0">
                  <a:srgbClr val="424242"/>
                </a:gs>
                <a:gs pos="100000">
                  <a:srgbClr val="010101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1" name="Google Shape;1891;p95"/>
            <p:cNvSpPr/>
            <p:nvPr/>
          </p:nvSpPr>
          <p:spPr>
            <a:xfrm rot="-5400000">
              <a:off x="6988827" y="1445475"/>
              <a:ext cx="116400" cy="116400"/>
            </a:xfrm>
            <a:prstGeom prst="ellipse">
              <a:avLst/>
            </a:prstGeom>
            <a:gradFill>
              <a:gsLst>
                <a:gs pos="0">
                  <a:srgbClr val="424242"/>
                </a:gs>
                <a:gs pos="100000">
                  <a:srgbClr val="010101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2" name="Google Shape;1892;p95"/>
            <p:cNvSpPr/>
            <p:nvPr/>
          </p:nvSpPr>
          <p:spPr>
            <a:xfrm rot="-5400000">
              <a:off x="7400125" y="1445475"/>
              <a:ext cx="116400" cy="116400"/>
            </a:xfrm>
            <a:prstGeom prst="ellipse">
              <a:avLst/>
            </a:prstGeom>
            <a:gradFill>
              <a:gsLst>
                <a:gs pos="0">
                  <a:srgbClr val="424242"/>
                </a:gs>
                <a:gs pos="100000">
                  <a:srgbClr val="010101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3" name="Google Shape;1893;p95"/>
            <p:cNvSpPr/>
            <p:nvPr/>
          </p:nvSpPr>
          <p:spPr>
            <a:xfrm rot="-5400000">
              <a:off x="7455912" y="941063"/>
              <a:ext cx="81000" cy="119400"/>
            </a:xfrm>
            <a:prstGeom prst="ellipse">
              <a:avLst/>
            </a:prstGeom>
            <a:gradFill>
              <a:gsLst>
                <a:gs pos="0">
                  <a:srgbClr val="424242"/>
                </a:gs>
                <a:gs pos="100000">
                  <a:srgbClr val="010101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4" name="Google Shape;1894;p95"/>
            <p:cNvSpPr/>
            <p:nvPr/>
          </p:nvSpPr>
          <p:spPr>
            <a:xfrm rot="-5400000">
              <a:off x="7161005" y="854139"/>
              <a:ext cx="78000" cy="119400"/>
            </a:xfrm>
            <a:prstGeom prst="ellipse">
              <a:avLst/>
            </a:prstGeom>
            <a:gradFill>
              <a:gsLst>
                <a:gs pos="0">
                  <a:srgbClr val="424242"/>
                </a:gs>
                <a:gs pos="100000">
                  <a:srgbClr val="010101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95" name="Google Shape;1895;p95"/>
          <p:cNvSpPr txBox="1"/>
          <p:nvPr/>
        </p:nvSpPr>
        <p:spPr>
          <a:xfrm>
            <a:off x="473739" y="4129109"/>
            <a:ext cx="99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dice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96" name="Google Shape;1896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8835" y="785126"/>
            <a:ext cx="618855" cy="762311"/>
          </a:xfrm>
          <a:prstGeom prst="rect">
            <a:avLst/>
          </a:prstGeom>
          <a:noFill/>
          <a:ln>
            <a:noFill/>
          </a:ln>
        </p:spPr>
      </p:pic>
      <p:sp>
        <p:nvSpPr>
          <p:cNvPr id="1897" name="Google Shape;1897;p95"/>
          <p:cNvSpPr txBox="1"/>
          <p:nvPr/>
        </p:nvSpPr>
        <p:spPr>
          <a:xfrm>
            <a:off x="8031550" y="1574277"/>
            <a:ext cx="753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98" name="Google Shape;1898;p95"/>
          <p:cNvGrpSpPr/>
          <p:nvPr/>
        </p:nvGrpSpPr>
        <p:grpSpPr>
          <a:xfrm>
            <a:off x="3152988" y="2547610"/>
            <a:ext cx="433200" cy="277200"/>
            <a:chOff x="4193788" y="2215950"/>
            <a:chExt cx="433200" cy="277200"/>
          </a:xfrm>
        </p:grpSpPr>
        <p:sp>
          <p:nvSpPr>
            <p:cNvPr id="1899" name="Google Shape;1899;p95"/>
            <p:cNvSpPr txBox="1"/>
            <p:nvPr/>
          </p:nvSpPr>
          <p:spPr>
            <a:xfrm>
              <a:off x="4193788" y="2215950"/>
              <a:ext cx="433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900" name="Google Shape;1900;p95"/>
            <p:cNvGrpSpPr/>
            <p:nvPr/>
          </p:nvGrpSpPr>
          <p:grpSpPr>
            <a:xfrm>
              <a:off x="4276799" y="2233177"/>
              <a:ext cx="242727" cy="242727"/>
              <a:chOff x="1020916" y="1442088"/>
              <a:chExt cx="457200" cy="457200"/>
            </a:xfrm>
          </p:grpSpPr>
          <p:pic>
            <p:nvPicPr>
              <p:cNvPr id="1901" name="Google Shape;1901;p9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02" name="Google Shape;1902;p95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903" name="Google Shape;1903;p95"/>
          <p:cNvSpPr txBox="1"/>
          <p:nvPr/>
        </p:nvSpPr>
        <p:spPr>
          <a:xfrm>
            <a:off x="3558695" y="2547600"/>
            <a:ext cx="1357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list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04" name="Google Shape;1904;p95"/>
          <p:cNvGrpSpPr/>
          <p:nvPr/>
        </p:nvGrpSpPr>
        <p:grpSpPr>
          <a:xfrm>
            <a:off x="3152988" y="3028960"/>
            <a:ext cx="433200" cy="277200"/>
            <a:chOff x="4193788" y="2215950"/>
            <a:chExt cx="433200" cy="277200"/>
          </a:xfrm>
        </p:grpSpPr>
        <p:sp>
          <p:nvSpPr>
            <p:cNvPr id="1905" name="Google Shape;1905;p95"/>
            <p:cNvSpPr txBox="1"/>
            <p:nvPr/>
          </p:nvSpPr>
          <p:spPr>
            <a:xfrm>
              <a:off x="4193788" y="2215950"/>
              <a:ext cx="433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906" name="Google Shape;1906;p95"/>
            <p:cNvGrpSpPr/>
            <p:nvPr/>
          </p:nvGrpSpPr>
          <p:grpSpPr>
            <a:xfrm>
              <a:off x="4276799" y="2233177"/>
              <a:ext cx="242727" cy="242727"/>
              <a:chOff x="1020916" y="1442088"/>
              <a:chExt cx="457200" cy="457200"/>
            </a:xfrm>
          </p:grpSpPr>
          <p:pic>
            <p:nvPicPr>
              <p:cNvPr id="1907" name="Google Shape;1907;p9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08" name="Google Shape;1908;p95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909" name="Google Shape;1909;p95"/>
          <p:cNvSpPr txBox="1"/>
          <p:nvPr/>
        </p:nvSpPr>
        <p:spPr>
          <a:xfrm>
            <a:off x="3558702" y="3028950"/>
            <a:ext cx="177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outcome table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10" name="Google Shape;1910;p95"/>
          <p:cNvGrpSpPr/>
          <p:nvPr/>
        </p:nvGrpSpPr>
        <p:grpSpPr>
          <a:xfrm>
            <a:off x="3152988" y="3510310"/>
            <a:ext cx="433200" cy="277200"/>
            <a:chOff x="4193788" y="2215950"/>
            <a:chExt cx="433200" cy="277200"/>
          </a:xfrm>
        </p:grpSpPr>
        <p:sp>
          <p:nvSpPr>
            <p:cNvPr id="1911" name="Google Shape;1911;p95"/>
            <p:cNvSpPr txBox="1"/>
            <p:nvPr/>
          </p:nvSpPr>
          <p:spPr>
            <a:xfrm>
              <a:off x="4193788" y="2215950"/>
              <a:ext cx="433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912" name="Google Shape;1912;p95"/>
            <p:cNvGrpSpPr/>
            <p:nvPr/>
          </p:nvGrpSpPr>
          <p:grpSpPr>
            <a:xfrm>
              <a:off x="4276799" y="2233177"/>
              <a:ext cx="242727" cy="242727"/>
              <a:chOff x="1020916" y="1442088"/>
              <a:chExt cx="457200" cy="457200"/>
            </a:xfrm>
          </p:grpSpPr>
          <p:pic>
            <p:nvPicPr>
              <p:cNvPr id="1913" name="Google Shape;1913;p9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14" name="Google Shape;1914;p95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915" name="Google Shape;1915;p95"/>
          <p:cNvSpPr txBox="1"/>
          <p:nvPr/>
        </p:nvSpPr>
        <p:spPr>
          <a:xfrm>
            <a:off x="3558702" y="3510300"/>
            <a:ext cx="177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outcome tree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16" name="Google Shape;1916;p95"/>
          <p:cNvGrpSpPr/>
          <p:nvPr/>
        </p:nvGrpSpPr>
        <p:grpSpPr>
          <a:xfrm>
            <a:off x="3152988" y="3991660"/>
            <a:ext cx="433200" cy="277200"/>
            <a:chOff x="4193788" y="2215950"/>
            <a:chExt cx="433200" cy="277200"/>
          </a:xfrm>
        </p:grpSpPr>
        <p:sp>
          <p:nvSpPr>
            <p:cNvPr id="1917" name="Google Shape;1917;p95"/>
            <p:cNvSpPr txBox="1"/>
            <p:nvPr/>
          </p:nvSpPr>
          <p:spPr>
            <a:xfrm>
              <a:off x="4193788" y="2215950"/>
              <a:ext cx="433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918" name="Google Shape;1918;p95"/>
            <p:cNvGrpSpPr/>
            <p:nvPr/>
          </p:nvGrpSpPr>
          <p:grpSpPr>
            <a:xfrm>
              <a:off x="4276799" y="2233177"/>
              <a:ext cx="242727" cy="242727"/>
              <a:chOff x="1020916" y="1442088"/>
              <a:chExt cx="457200" cy="457200"/>
            </a:xfrm>
          </p:grpSpPr>
          <p:pic>
            <p:nvPicPr>
              <p:cNvPr id="1919" name="Google Shape;1919;p9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20" name="Google Shape;1920;p95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d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921" name="Google Shape;1921;p95"/>
          <p:cNvSpPr txBox="1"/>
          <p:nvPr/>
        </p:nvSpPr>
        <p:spPr>
          <a:xfrm>
            <a:off x="3558702" y="3991650"/>
            <a:ext cx="177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Venn diagram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22" name="Google Shape;1922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12183" y="24766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3" name="Google Shape;1923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12183" y="29580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4" name="Google Shape;1924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12183" y="347482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5" name="Google Shape;1925;p95"/>
          <p:cNvSpPr txBox="1"/>
          <p:nvPr/>
        </p:nvSpPr>
        <p:spPr>
          <a:xfrm>
            <a:off x="5774400" y="3028950"/>
            <a:ext cx="3010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Venn diagrams are not helpful for systematically listing outcomes for a trial of two or more stages.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9" name="Shape 1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0" name="Google Shape;1930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multiple </a:t>
            </a:r>
            <a:r>
              <a:rPr lang="en-GB"/>
              <a:t>diagram</a:t>
            </a:r>
            <a:r>
              <a:rPr lang="en-GB"/>
              <a:t>s</a:t>
            </a:r>
            <a:endParaRPr/>
          </a:p>
        </p:txBody>
      </p:sp>
      <p:sp>
        <p:nvSpPr>
          <p:cNvPr id="1931" name="Google Shape;1931;p96"/>
          <p:cNvSpPr txBox="1"/>
          <p:nvPr/>
        </p:nvSpPr>
        <p:spPr>
          <a:xfrm>
            <a:off x="473739" y="1832409"/>
            <a:ext cx="99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32" name="Google Shape;1932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8835" y="785126"/>
            <a:ext cx="618855" cy="762311"/>
          </a:xfrm>
          <a:prstGeom prst="rect">
            <a:avLst/>
          </a:prstGeom>
          <a:noFill/>
          <a:ln>
            <a:noFill/>
          </a:ln>
        </p:spPr>
      </p:pic>
      <p:sp>
        <p:nvSpPr>
          <p:cNvPr id="1933" name="Google Shape;1933;p96"/>
          <p:cNvSpPr txBox="1"/>
          <p:nvPr/>
        </p:nvSpPr>
        <p:spPr>
          <a:xfrm>
            <a:off x="8031550" y="1574277"/>
            <a:ext cx="753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34" name="Google Shape;1934;p96"/>
          <p:cNvGrpSpPr/>
          <p:nvPr/>
        </p:nvGrpSpPr>
        <p:grpSpPr>
          <a:xfrm>
            <a:off x="3152988" y="2700010"/>
            <a:ext cx="433200" cy="277200"/>
            <a:chOff x="4193788" y="2215950"/>
            <a:chExt cx="433200" cy="277200"/>
          </a:xfrm>
        </p:grpSpPr>
        <p:sp>
          <p:nvSpPr>
            <p:cNvPr id="1935" name="Google Shape;1935;p96"/>
            <p:cNvSpPr txBox="1"/>
            <p:nvPr/>
          </p:nvSpPr>
          <p:spPr>
            <a:xfrm>
              <a:off x="4193788" y="2215950"/>
              <a:ext cx="433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936" name="Google Shape;1936;p96"/>
            <p:cNvGrpSpPr/>
            <p:nvPr/>
          </p:nvGrpSpPr>
          <p:grpSpPr>
            <a:xfrm>
              <a:off x="4276799" y="2233177"/>
              <a:ext cx="242727" cy="242727"/>
              <a:chOff x="1020916" y="1442088"/>
              <a:chExt cx="457200" cy="457200"/>
            </a:xfrm>
          </p:grpSpPr>
          <p:pic>
            <p:nvPicPr>
              <p:cNvPr id="1937" name="Google Shape;1937;p9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38" name="Google Shape;1938;p96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939" name="Google Shape;1939;p96"/>
          <p:cNvSpPr txBox="1"/>
          <p:nvPr/>
        </p:nvSpPr>
        <p:spPr>
          <a:xfrm>
            <a:off x="3558695" y="2700000"/>
            <a:ext cx="1357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list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40" name="Google Shape;1940;p96"/>
          <p:cNvGrpSpPr/>
          <p:nvPr/>
        </p:nvGrpSpPr>
        <p:grpSpPr>
          <a:xfrm>
            <a:off x="3152988" y="3181360"/>
            <a:ext cx="433200" cy="277200"/>
            <a:chOff x="4193788" y="2215950"/>
            <a:chExt cx="433200" cy="277200"/>
          </a:xfrm>
        </p:grpSpPr>
        <p:sp>
          <p:nvSpPr>
            <p:cNvPr id="1941" name="Google Shape;1941;p96"/>
            <p:cNvSpPr txBox="1"/>
            <p:nvPr/>
          </p:nvSpPr>
          <p:spPr>
            <a:xfrm>
              <a:off x="4193788" y="2215950"/>
              <a:ext cx="433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942" name="Google Shape;1942;p96"/>
            <p:cNvGrpSpPr/>
            <p:nvPr/>
          </p:nvGrpSpPr>
          <p:grpSpPr>
            <a:xfrm>
              <a:off x="4276799" y="2233177"/>
              <a:ext cx="242727" cy="242727"/>
              <a:chOff x="1020916" y="1442088"/>
              <a:chExt cx="457200" cy="457200"/>
            </a:xfrm>
          </p:grpSpPr>
          <p:pic>
            <p:nvPicPr>
              <p:cNvPr id="1943" name="Google Shape;1943;p9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44" name="Google Shape;1944;p96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945" name="Google Shape;1945;p96"/>
          <p:cNvSpPr txBox="1"/>
          <p:nvPr/>
        </p:nvSpPr>
        <p:spPr>
          <a:xfrm>
            <a:off x="3558702" y="3181350"/>
            <a:ext cx="177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outcome table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46" name="Google Shape;1946;p96"/>
          <p:cNvGrpSpPr/>
          <p:nvPr/>
        </p:nvGrpSpPr>
        <p:grpSpPr>
          <a:xfrm>
            <a:off x="3152988" y="3662710"/>
            <a:ext cx="433200" cy="277200"/>
            <a:chOff x="4193788" y="2215950"/>
            <a:chExt cx="433200" cy="277200"/>
          </a:xfrm>
        </p:grpSpPr>
        <p:sp>
          <p:nvSpPr>
            <p:cNvPr id="1947" name="Google Shape;1947;p96"/>
            <p:cNvSpPr txBox="1"/>
            <p:nvPr/>
          </p:nvSpPr>
          <p:spPr>
            <a:xfrm>
              <a:off x="4193788" y="2215950"/>
              <a:ext cx="433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948" name="Google Shape;1948;p96"/>
            <p:cNvGrpSpPr/>
            <p:nvPr/>
          </p:nvGrpSpPr>
          <p:grpSpPr>
            <a:xfrm>
              <a:off x="4276799" y="2233177"/>
              <a:ext cx="242727" cy="242727"/>
              <a:chOff x="1020916" y="1442088"/>
              <a:chExt cx="457200" cy="457200"/>
            </a:xfrm>
          </p:grpSpPr>
          <p:pic>
            <p:nvPicPr>
              <p:cNvPr id="1949" name="Google Shape;1949;p9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50" name="Google Shape;1950;p96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951" name="Google Shape;1951;p96"/>
          <p:cNvSpPr txBox="1"/>
          <p:nvPr/>
        </p:nvSpPr>
        <p:spPr>
          <a:xfrm>
            <a:off x="3558702" y="3662700"/>
            <a:ext cx="177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outcome tree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52" name="Google Shape;1952;p96"/>
          <p:cNvGrpSpPr/>
          <p:nvPr/>
        </p:nvGrpSpPr>
        <p:grpSpPr>
          <a:xfrm>
            <a:off x="3152988" y="4144060"/>
            <a:ext cx="433200" cy="277200"/>
            <a:chOff x="4193788" y="2215950"/>
            <a:chExt cx="433200" cy="277200"/>
          </a:xfrm>
        </p:grpSpPr>
        <p:sp>
          <p:nvSpPr>
            <p:cNvPr id="1953" name="Google Shape;1953;p96"/>
            <p:cNvSpPr txBox="1"/>
            <p:nvPr/>
          </p:nvSpPr>
          <p:spPr>
            <a:xfrm>
              <a:off x="4193788" y="2215950"/>
              <a:ext cx="433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954" name="Google Shape;1954;p96"/>
            <p:cNvGrpSpPr/>
            <p:nvPr/>
          </p:nvGrpSpPr>
          <p:grpSpPr>
            <a:xfrm>
              <a:off x="4276799" y="2233177"/>
              <a:ext cx="242727" cy="242727"/>
              <a:chOff x="1020916" y="1442088"/>
              <a:chExt cx="457200" cy="457200"/>
            </a:xfrm>
          </p:grpSpPr>
          <p:pic>
            <p:nvPicPr>
              <p:cNvPr id="1955" name="Google Shape;1955;p9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56" name="Google Shape;1956;p96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d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957" name="Google Shape;1957;p96"/>
          <p:cNvSpPr txBox="1"/>
          <p:nvPr/>
        </p:nvSpPr>
        <p:spPr>
          <a:xfrm>
            <a:off x="3558702" y="4144050"/>
            <a:ext cx="177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Venn diagram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58" name="Google Shape;1958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12183" y="26290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9" name="Google Shape;1959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12183" y="31104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0" name="Google Shape;1960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12183" y="362722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1" name="Google Shape;1961;p96"/>
          <p:cNvSpPr txBox="1"/>
          <p:nvPr/>
        </p:nvSpPr>
        <p:spPr>
          <a:xfrm>
            <a:off x="5774400" y="3181350"/>
            <a:ext cx="3010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All of these are helpful for categorising outcomes into different events.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962" name="Google Shape;1962;p96"/>
          <p:cNvGrpSpPr/>
          <p:nvPr/>
        </p:nvGrpSpPr>
        <p:grpSpPr>
          <a:xfrm>
            <a:off x="149951" y="463995"/>
            <a:ext cx="1644841" cy="1644622"/>
            <a:chOff x="723989" y="3525311"/>
            <a:chExt cx="1644841" cy="1644622"/>
          </a:xfrm>
        </p:grpSpPr>
        <p:sp>
          <p:nvSpPr>
            <p:cNvPr id="1963" name="Google Shape;1963;p96"/>
            <p:cNvSpPr/>
            <p:nvPr/>
          </p:nvSpPr>
          <p:spPr>
            <a:xfrm flipH="1">
              <a:off x="964778" y="3766083"/>
              <a:ext cx="1163100" cy="1163100"/>
            </a:xfrm>
            <a:prstGeom prst="pie">
              <a:avLst>
                <a:gd fmla="val 13499686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96"/>
            <p:cNvSpPr txBox="1"/>
            <p:nvPr/>
          </p:nvSpPr>
          <p:spPr>
            <a:xfrm flipH="1">
              <a:off x="1575631" y="3823343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-8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65" name="Google Shape;1965;p96"/>
            <p:cNvSpPr/>
            <p:nvPr/>
          </p:nvSpPr>
          <p:spPr>
            <a:xfrm flipH="1" rot="2700000">
              <a:off x="965010" y="3766179"/>
              <a:ext cx="1162908" cy="1162908"/>
            </a:xfrm>
            <a:prstGeom prst="pie">
              <a:avLst>
                <a:gd fmla="val 13499686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96"/>
            <p:cNvSpPr/>
            <p:nvPr/>
          </p:nvSpPr>
          <p:spPr>
            <a:xfrm flipH="1" rot="5400000">
              <a:off x="965130" y="3766287"/>
              <a:ext cx="1162800" cy="1162800"/>
            </a:xfrm>
            <a:prstGeom prst="pie">
              <a:avLst>
                <a:gd fmla="val 13499686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96"/>
            <p:cNvSpPr/>
            <p:nvPr/>
          </p:nvSpPr>
          <p:spPr>
            <a:xfrm flipH="1" rot="8100000">
              <a:off x="965076" y="3766157"/>
              <a:ext cx="1162908" cy="1162908"/>
            </a:xfrm>
            <a:prstGeom prst="pie">
              <a:avLst>
                <a:gd fmla="val 13499686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96"/>
            <p:cNvSpPr/>
            <p:nvPr/>
          </p:nvSpPr>
          <p:spPr>
            <a:xfrm flipH="1" rot="10800000">
              <a:off x="964941" y="3766061"/>
              <a:ext cx="1163100" cy="1163100"/>
            </a:xfrm>
            <a:prstGeom prst="pie">
              <a:avLst>
                <a:gd fmla="val 13499686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96"/>
            <p:cNvSpPr/>
            <p:nvPr/>
          </p:nvSpPr>
          <p:spPr>
            <a:xfrm flipH="1" rot="-8100000">
              <a:off x="964901" y="3766157"/>
              <a:ext cx="1162908" cy="1162908"/>
            </a:xfrm>
            <a:prstGeom prst="pie">
              <a:avLst>
                <a:gd fmla="val 13499686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96"/>
            <p:cNvSpPr/>
            <p:nvPr/>
          </p:nvSpPr>
          <p:spPr>
            <a:xfrm flipH="1" rot="-5400000">
              <a:off x="964889" y="3766157"/>
              <a:ext cx="1162800" cy="1162800"/>
            </a:xfrm>
            <a:prstGeom prst="pie">
              <a:avLst>
                <a:gd fmla="val 13499686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96"/>
            <p:cNvSpPr/>
            <p:nvPr/>
          </p:nvSpPr>
          <p:spPr>
            <a:xfrm flipH="1" rot="-2700000">
              <a:off x="964835" y="3766179"/>
              <a:ext cx="1162908" cy="1162908"/>
            </a:xfrm>
            <a:prstGeom prst="pie">
              <a:avLst>
                <a:gd fmla="val 13499686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72" name="Google Shape;1972;p96"/>
            <p:cNvGrpSpPr/>
            <p:nvPr/>
          </p:nvGrpSpPr>
          <p:grpSpPr>
            <a:xfrm>
              <a:off x="1514964" y="3798835"/>
              <a:ext cx="65100" cy="576723"/>
              <a:chOff x="939769" y="2973011"/>
              <a:chExt cx="65100" cy="576723"/>
            </a:xfrm>
          </p:grpSpPr>
          <p:cxnSp>
            <p:nvCxnSpPr>
              <p:cNvPr id="1973" name="Google Shape;1973;p96"/>
              <p:cNvCxnSpPr/>
              <p:nvPr/>
            </p:nvCxnSpPr>
            <p:spPr>
              <a:xfrm rot="10800000">
                <a:off x="972365" y="2973011"/>
                <a:ext cx="0" cy="5340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974" name="Google Shape;1974;p96"/>
              <p:cNvSpPr/>
              <p:nvPr/>
            </p:nvSpPr>
            <p:spPr>
              <a:xfrm>
                <a:off x="939769" y="3490935"/>
                <a:ext cx="65100" cy="588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75" name="Google Shape;1975;p96"/>
            <p:cNvSpPr txBox="1"/>
            <p:nvPr/>
          </p:nvSpPr>
          <p:spPr>
            <a:xfrm flipH="1">
              <a:off x="1746398" y="4027273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-4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76" name="Google Shape;1976;p96"/>
            <p:cNvSpPr txBox="1"/>
            <p:nvPr/>
          </p:nvSpPr>
          <p:spPr>
            <a:xfrm flipH="1">
              <a:off x="1746398" y="4322316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-1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77" name="Google Shape;1977;p96"/>
            <p:cNvSpPr txBox="1"/>
            <p:nvPr/>
          </p:nvSpPr>
          <p:spPr>
            <a:xfrm flipH="1">
              <a:off x="1543185" y="4544100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78" name="Google Shape;1978;p96"/>
            <p:cNvSpPr txBox="1"/>
            <p:nvPr/>
          </p:nvSpPr>
          <p:spPr>
            <a:xfrm>
              <a:off x="1229405" y="3823343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79" name="Google Shape;1979;p96"/>
            <p:cNvSpPr txBox="1"/>
            <p:nvPr/>
          </p:nvSpPr>
          <p:spPr>
            <a:xfrm>
              <a:off x="1058638" y="4027273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80" name="Google Shape;1980;p96"/>
            <p:cNvSpPr txBox="1"/>
            <p:nvPr/>
          </p:nvSpPr>
          <p:spPr>
            <a:xfrm>
              <a:off x="1058638" y="4322316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81" name="Google Shape;1981;p96"/>
            <p:cNvSpPr txBox="1"/>
            <p:nvPr/>
          </p:nvSpPr>
          <p:spPr>
            <a:xfrm>
              <a:off x="1261850" y="4544100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82" name="Google Shape;1982;p96"/>
          <p:cNvSpPr txBox="1"/>
          <p:nvPr/>
        </p:nvSpPr>
        <p:spPr>
          <a:xfrm>
            <a:off x="1815350" y="718225"/>
            <a:ext cx="59067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 will spin this spinner and consider the </a:t>
            </a:r>
            <a:r>
              <a:rPr lang="en-GB" sz="18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events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that the spinner will land on a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negative number and an odd number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of these can Jacob use to systematically write down all outcomes for these two events?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83" name="Google Shape;1983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12183" y="40731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7" name="Shape 1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8" name="Google Shape;1988;p97"/>
          <p:cNvSpPr txBox="1"/>
          <p:nvPr/>
        </p:nvSpPr>
        <p:spPr>
          <a:xfrm>
            <a:off x="1888400" y="642025"/>
            <a:ext cx="69315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Jacob will spin this spinner and consider the events that the spinner will land on a negative number and an odd number.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Complete each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diagram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for these two events.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Write a sentence explaining which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diagram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you prefer.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9" name="Google Shape;1989;p9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multiple </a:t>
            </a:r>
            <a:r>
              <a:rPr lang="en-GB"/>
              <a:t>diagram</a:t>
            </a:r>
            <a:r>
              <a:rPr lang="en-GB"/>
              <a:t>s</a:t>
            </a:r>
            <a:endParaRPr/>
          </a:p>
        </p:txBody>
      </p:sp>
      <p:sp>
        <p:nvSpPr>
          <p:cNvPr id="1990" name="Google Shape;1990;p97"/>
          <p:cNvSpPr/>
          <p:nvPr/>
        </p:nvSpPr>
        <p:spPr>
          <a:xfrm>
            <a:off x="6028800" y="2277825"/>
            <a:ext cx="2745000" cy="20847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1" name="Google Shape;1991;p97"/>
          <p:cNvSpPr/>
          <p:nvPr/>
        </p:nvSpPr>
        <p:spPr>
          <a:xfrm>
            <a:off x="6279967" y="2539051"/>
            <a:ext cx="1500300" cy="1474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2" name="Google Shape;1992;p97"/>
          <p:cNvSpPr/>
          <p:nvPr/>
        </p:nvSpPr>
        <p:spPr>
          <a:xfrm>
            <a:off x="7022151" y="2539051"/>
            <a:ext cx="1500300" cy="1474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3" name="Google Shape;1993;p97"/>
          <p:cNvSpPr txBox="1"/>
          <p:nvPr/>
        </p:nvSpPr>
        <p:spPr>
          <a:xfrm>
            <a:off x="6257385" y="2341308"/>
            <a:ext cx="11802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negative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4" name="Google Shape;1994;p97"/>
          <p:cNvSpPr txBox="1"/>
          <p:nvPr/>
        </p:nvSpPr>
        <p:spPr>
          <a:xfrm>
            <a:off x="7593409" y="2341308"/>
            <a:ext cx="11802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odd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95" name="Google Shape;1995;p97"/>
          <p:cNvGraphicFramePr/>
          <p:nvPr/>
        </p:nvGraphicFramePr>
        <p:xfrm>
          <a:off x="324003" y="2430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{CB14D709-67CF-4AEA-B8F9-FF3D39F066EA}</a:tableStyleId>
              </a:tblPr>
              <a:tblGrid>
                <a:gridCol w="470450"/>
                <a:gridCol w="889275"/>
                <a:gridCol w="889275"/>
              </a:tblGrid>
              <a:tr h="46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negative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positive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5"/>
                    </a:solidFill>
                  </a:tcPr>
                </a:tc>
              </a:tr>
              <a:tr h="46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odd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even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996" name="Google Shape;1996;p97"/>
          <p:cNvCxnSpPr/>
          <p:nvPr/>
        </p:nvCxnSpPr>
        <p:spPr>
          <a:xfrm flipH="1" rot="10800000">
            <a:off x="2702107" y="3130794"/>
            <a:ext cx="349800" cy="486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7" name="Google Shape;1997;p97"/>
          <p:cNvCxnSpPr/>
          <p:nvPr/>
        </p:nvCxnSpPr>
        <p:spPr>
          <a:xfrm>
            <a:off x="2702107" y="3753249"/>
            <a:ext cx="349800" cy="486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8" name="Google Shape;1998;p97"/>
          <p:cNvSpPr txBox="1"/>
          <p:nvPr/>
        </p:nvSpPr>
        <p:spPr>
          <a:xfrm>
            <a:off x="3067956" y="3003046"/>
            <a:ext cx="99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negative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99" name="Google Shape;1999;p97"/>
          <p:cNvCxnSpPr/>
          <p:nvPr/>
        </p:nvCxnSpPr>
        <p:spPr>
          <a:xfrm flipH="1" rot="10800000">
            <a:off x="4061950" y="2878421"/>
            <a:ext cx="310800" cy="226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0" name="Google Shape;2000;p97"/>
          <p:cNvCxnSpPr/>
          <p:nvPr/>
        </p:nvCxnSpPr>
        <p:spPr>
          <a:xfrm>
            <a:off x="4061950" y="3168185"/>
            <a:ext cx="310800" cy="226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1" name="Google Shape;2001;p97"/>
          <p:cNvSpPr txBox="1"/>
          <p:nvPr/>
        </p:nvSpPr>
        <p:spPr>
          <a:xfrm>
            <a:off x="4408499" y="2773046"/>
            <a:ext cx="5916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odd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2" name="Google Shape;2002;p97"/>
          <p:cNvSpPr txBox="1"/>
          <p:nvPr/>
        </p:nvSpPr>
        <p:spPr>
          <a:xfrm>
            <a:off x="4408500" y="3297868"/>
            <a:ext cx="5916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03" name="Google Shape;2003;p97"/>
          <p:cNvCxnSpPr/>
          <p:nvPr/>
        </p:nvCxnSpPr>
        <p:spPr>
          <a:xfrm flipH="1" rot="10800000">
            <a:off x="4061774" y="3999483"/>
            <a:ext cx="310800" cy="226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4" name="Google Shape;2004;p97"/>
          <p:cNvCxnSpPr/>
          <p:nvPr/>
        </p:nvCxnSpPr>
        <p:spPr>
          <a:xfrm>
            <a:off x="4061774" y="4289247"/>
            <a:ext cx="310800" cy="226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5" name="Google Shape;2005;p97"/>
          <p:cNvSpPr txBox="1"/>
          <p:nvPr/>
        </p:nvSpPr>
        <p:spPr>
          <a:xfrm>
            <a:off x="4408499" y="3894101"/>
            <a:ext cx="5916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odd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6" name="Google Shape;2006;p97"/>
          <p:cNvSpPr txBox="1"/>
          <p:nvPr/>
        </p:nvSpPr>
        <p:spPr>
          <a:xfrm>
            <a:off x="4408500" y="4418923"/>
            <a:ext cx="5916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7" name="Google Shape;2007;p97"/>
          <p:cNvSpPr/>
          <p:nvPr/>
        </p:nvSpPr>
        <p:spPr>
          <a:xfrm>
            <a:off x="4928924" y="2707046"/>
            <a:ext cx="845700" cy="3444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8" name="Google Shape;2008;p97"/>
          <p:cNvSpPr/>
          <p:nvPr/>
        </p:nvSpPr>
        <p:spPr>
          <a:xfrm>
            <a:off x="5000199" y="3201896"/>
            <a:ext cx="846000" cy="3444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9" name="Google Shape;2009;p97"/>
          <p:cNvSpPr/>
          <p:nvPr/>
        </p:nvSpPr>
        <p:spPr>
          <a:xfrm>
            <a:off x="5000199" y="4327571"/>
            <a:ext cx="846000" cy="3444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0" name="Google Shape;2010;p97"/>
          <p:cNvSpPr/>
          <p:nvPr/>
        </p:nvSpPr>
        <p:spPr>
          <a:xfrm>
            <a:off x="4928924" y="3832721"/>
            <a:ext cx="845700" cy="3444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1" name="Google Shape;2011;p97"/>
          <p:cNvSpPr txBox="1"/>
          <p:nvPr/>
        </p:nvSpPr>
        <p:spPr>
          <a:xfrm>
            <a:off x="3067956" y="4119009"/>
            <a:ext cx="99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positive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2" name="Google Shape;2012;p97"/>
          <p:cNvSpPr txBox="1"/>
          <p:nvPr/>
        </p:nvSpPr>
        <p:spPr>
          <a:xfrm>
            <a:off x="473739" y="1832409"/>
            <a:ext cx="99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13" name="Google Shape;2013;p97"/>
          <p:cNvGrpSpPr/>
          <p:nvPr/>
        </p:nvGrpSpPr>
        <p:grpSpPr>
          <a:xfrm>
            <a:off x="149951" y="463995"/>
            <a:ext cx="1644841" cy="1644622"/>
            <a:chOff x="723989" y="3525311"/>
            <a:chExt cx="1644841" cy="1644622"/>
          </a:xfrm>
        </p:grpSpPr>
        <p:sp>
          <p:nvSpPr>
            <p:cNvPr id="2014" name="Google Shape;2014;p97"/>
            <p:cNvSpPr/>
            <p:nvPr/>
          </p:nvSpPr>
          <p:spPr>
            <a:xfrm flipH="1">
              <a:off x="964778" y="3766083"/>
              <a:ext cx="1163100" cy="1163100"/>
            </a:xfrm>
            <a:prstGeom prst="pie">
              <a:avLst>
                <a:gd fmla="val 13499686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97"/>
            <p:cNvSpPr txBox="1"/>
            <p:nvPr/>
          </p:nvSpPr>
          <p:spPr>
            <a:xfrm flipH="1">
              <a:off x="1575631" y="3823343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-8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16" name="Google Shape;2016;p97"/>
            <p:cNvSpPr/>
            <p:nvPr/>
          </p:nvSpPr>
          <p:spPr>
            <a:xfrm flipH="1" rot="2700000">
              <a:off x="965010" y="3766179"/>
              <a:ext cx="1162908" cy="1162908"/>
            </a:xfrm>
            <a:prstGeom prst="pie">
              <a:avLst>
                <a:gd fmla="val 13499686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97"/>
            <p:cNvSpPr/>
            <p:nvPr/>
          </p:nvSpPr>
          <p:spPr>
            <a:xfrm flipH="1" rot="5400000">
              <a:off x="965130" y="3766287"/>
              <a:ext cx="1162800" cy="1162800"/>
            </a:xfrm>
            <a:prstGeom prst="pie">
              <a:avLst>
                <a:gd fmla="val 13499686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97"/>
            <p:cNvSpPr/>
            <p:nvPr/>
          </p:nvSpPr>
          <p:spPr>
            <a:xfrm flipH="1" rot="8100000">
              <a:off x="965076" y="3766157"/>
              <a:ext cx="1162908" cy="1162908"/>
            </a:xfrm>
            <a:prstGeom prst="pie">
              <a:avLst>
                <a:gd fmla="val 13499686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97"/>
            <p:cNvSpPr/>
            <p:nvPr/>
          </p:nvSpPr>
          <p:spPr>
            <a:xfrm flipH="1" rot="10800000">
              <a:off x="964941" y="3766061"/>
              <a:ext cx="1163100" cy="1163100"/>
            </a:xfrm>
            <a:prstGeom prst="pie">
              <a:avLst>
                <a:gd fmla="val 13499686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97"/>
            <p:cNvSpPr/>
            <p:nvPr/>
          </p:nvSpPr>
          <p:spPr>
            <a:xfrm flipH="1" rot="-8100000">
              <a:off x="964901" y="3766157"/>
              <a:ext cx="1162908" cy="1162908"/>
            </a:xfrm>
            <a:prstGeom prst="pie">
              <a:avLst>
                <a:gd fmla="val 13499686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97"/>
            <p:cNvSpPr/>
            <p:nvPr/>
          </p:nvSpPr>
          <p:spPr>
            <a:xfrm flipH="1" rot="-5400000">
              <a:off x="964889" y="3766157"/>
              <a:ext cx="1162800" cy="1162800"/>
            </a:xfrm>
            <a:prstGeom prst="pie">
              <a:avLst>
                <a:gd fmla="val 13499686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97"/>
            <p:cNvSpPr/>
            <p:nvPr/>
          </p:nvSpPr>
          <p:spPr>
            <a:xfrm flipH="1" rot="-2700000">
              <a:off x="964835" y="3766179"/>
              <a:ext cx="1162908" cy="1162908"/>
            </a:xfrm>
            <a:prstGeom prst="pie">
              <a:avLst>
                <a:gd fmla="val 13499686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23" name="Google Shape;2023;p97"/>
            <p:cNvGrpSpPr/>
            <p:nvPr/>
          </p:nvGrpSpPr>
          <p:grpSpPr>
            <a:xfrm>
              <a:off x="1514964" y="3798835"/>
              <a:ext cx="65100" cy="576723"/>
              <a:chOff x="939769" y="2973011"/>
              <a:chExt cx="65100" cy="576723"/>
            </a:xfrm>
          </p:grpSpPr>
          <p:cxnSp>
            <p:nvCxnSpPr>
              <p:cNvPr id="2024" name="Google Shape;2024;p97"/>
              <p:cNvCxnSpPr/>
              <p:nvPr/>
            </p:nvCxnSpPr>
            <p:spPr>
              <a:xfrm rot="10800000">
                <a:off x="972365" y="2973011"/>
                <a:ext cx="0" cy="5340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2025" name="Google Shape;2025;p97"/>
              <p:cNvSpPr/>
              <p:nvPr/>
            </p:nvSpPr>
            <p:spPr>
              <a:xfrm>
                <a:off x="939769" y="3490935"/>
                <a:ext cx="65100" cy="588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26" name="Google Shape;2026;p97"/>
            <p:cNvSpPr txBox="1"/>
            <p:nvPr/>
          </p:nvSpPr>
          <p:spPr>
            <a:xfrm flipH="1">
              <a:off x="1746398" y="4027273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-4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27" name="Google Shape;2027;p97"/>
            <p:cNvSpPr txBox="1"/>
            <p:nvPr/>
          </p:nvSpPr>
          <p:spPr>
            <a:xfrm flipH="1">
              <a:off x="1746398" y="4322316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-1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28" name="Google Shape;2028;p97"/>
            <p:cNvSpPr txBox="1"/>
            <p:nvPr/>
          </p:nvSpPr>
          <p:spPr>
            <a:xfrm flipH="1">
              <a:off x="1543185" y="4544100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29" name="Google Shape;2029;p97"/>
            <p:cNvSpPr txBox="1"/>
            <p:nvPr/>
          </p:nvSpPr>
          <p:spPr>
            <a:xfrm>
              <a:off x="1229405" y="3823343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30" name="Google Shape;2030;p97"/>
            <p:cNvSpPr txBox="1"/>
            <p:nvPr/>
          </p:nvSpPr>
          <p:spPr>
            <a:xfrm>
              <a:off x="1058638" y="4027273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31" name="Google Shape;2031;p97"/>
            <p:cNvSpPr txBox="1"/>
            <p:nvPr/>
          </p:nvSpPr>
          <p:spPr>
            <a:xfrm>
              <a:off x="1058638" y="4322316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32" name="Google Shape;2032;p97"/>
            <p:cNvSpPr txBox="1"/>
            <p:nvPr/>
          </p:nvSpPr>
          <p:spPr>
            <a:xfrm>
              <a:off x="1261850" y="4544100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33" name="Google Shape;2033;p97"/>
          <p:cNvSpPr txBox="1"/>
          <p:nvPr/>
        </p:nvSpPr>
        <p:spPr>
          <a:xfrm>
            <a:off x="6028788" y="2277825"/>
            <a:ext cx="21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ξ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7" name="Shape 2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8" name="Google Shape;2038;p98"/>
          <p:cNvSpPr txBox="1"/>
          <p:nvPr/>
        </p:nvSpPr>
        <p:spPr>
          <a:xfrm>
            <a:off x="324000" y="642025"/>
            <a:ext cx="59328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Sofia will choose a starter and a main course.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By choosing two different representations, write down the possible outcomes of Sofia’s meal.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9" name="Google Shape;2039;p9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multiple </a:t>
            </a:r>
            <a:r>
              <a:rPr lang="en-GB"/>
              <a:t>diagram</a:t>
            </a:r>
            <a:r>
              <a:rPr lang="en-GB"/>
              <a:t>s</a:t>
            </a:r>
            <a:endParaRPr/>
          </a:p>
        </p:txBody>
      </p:sp>
      <p:sp>
        <p:nvSpPr>
          <p:cNvPr id="2040" name="Google Shape;2040;p98"/>
          <p:cNvSpPr txBox="1"/>
          <p:nvPr/>
        </p:nvSpPr>
        <p:spPr>
          <a:xfrm>
            <a:off x="324000" y="1924050"/>
            <a:ext cx="41139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Write a sentence explaining why you chose those two representations.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1" name="Google Shape;2041;p98"/>
          <p:cNvSpPr txBox="1"/>
          <p:nvPr/>
        </p:nvSpPr>
        <p:spPr>
          <a:xfrm>
            <a:off x="6774150" y="858000"/>
            <a:ext cx="1851600" cy="243900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Starters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Leek Soup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Prawn Toast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Mains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Beef Lasagne 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Shepherd's Pie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Chicken Burger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Tomato Curry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5" name="Shape 2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6" name="Google Shape;2046;p99"/>
          <p:cNvSpPr txBox="1"/>
          <p:nvPr/>
        </p:nvSpPr>
        <p:spPr>
          <a:xfrm>
            <a:off x="1888400" y="642025"/>
            <a:ext cx="69315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Jacob will spin this spinner and consider the events that the spinner will land on a negative number and an odd number.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Complete each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diagram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for these two events.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Write a sentence explaining which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diagram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you prefer.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7" name="Google Shape;2047;p9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multiple </a:t>
            </a:r>
            <a:r>
              <a:rPr lang="en-GB"/>
              <a:t>diagram</a:t>
            </a:r>
            <a:r>
              <a:rPr lang="en-GB"/>
              <a:t>s</a:t>
            </a:r>
            <a:endParaRPr/>
          </a:p>
        </p:txBody>
      </p:sp>
      <p:cxnSp>
        <p:nvCxnSpPr>
          <p:cNvPr id="2048" name="Google Shape;2048;p99"/>
          <p:cNvCxnSpPr/>
          <p:nvPr/>
        </p:nvCxnSpPr>
        <p:spPr>
          <a:xfrm flipH="1" rot="10800000">
            <a:off x="2702107" y="3130794"/>
            <a:ext cx="349800" cy="486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2049" name="Google Shape;2049;p99"/>
          <p:cNvGraphicFramePr/>
          <p:nvPr/>
        </p:nvGraphicFramePr>
        <p:xfrm>
          <a:off x="324003" y="2430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{CB14D709-67CF-4AEA-B8F9-FF3D39F066EA}</a:tableStyleId>
              </a:tblPr>
              <a:tblGrid>
                <a:gridCol w="470450"/>
                <a:gridCol w="889275"/>
                <a:gridCol w="889275"/>
              </a:tblGrid>
              <a:tr h="46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negative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positive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5"/>
                    </a:solidFill>
                  </a:tcPr>
                </a:tc>
              </a:tr>
              <a:tr h="46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odd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-1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1, 9 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even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-4, -8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2, 4, 8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050" name="Google Shape;2050;p99"/>
          <p:cNvCxnSpPr/>
          <p:nvPr/>
        </p:nvCxnSpPr>
        <p:spPr>
          <a:xfrm>
            <a:off x="2702107" y="3753249"/>
            <a:ext cx="349800" cy="486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1" name="Google Shape;2051;p99"/>
          <p:cNvSpPr txBox="1"/>
          <p:nvPr/>
        </p:nvSpPr>
        <p:spPr>
          <a:xfrm>
            <a:off x="3067956" y="3003046"/>
            <a:ext cx="99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negative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52" name="Google Shape;2052;p99"/>
          <p:cNvCxnSpPr/>
          <p:nvPr/>
        </p:nvCxnSpPr>
        <p:spPr>
          <a:xfrm flipH="1" rot="10800000">
            <a:off x="4061950" y="2878421"/>
            <a:ext cx="310800" cy="226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3" name="Google Shape;2053;p99"/>
          <p:cNvCxnSpPr/>
          <p:nvPr/>
        </p:nvCxnSpPr>
        <p:spPr>
          <a:xfrm>
            <a:off x="4061950" y="3168185"/>
            <a:ext cx="310800" cy="226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4" name="Google Shape;2054;p99"/>
          <p:cNvSpPr txBox="1"/>
          <p:nvPr/>
        </p:nvSpPr>
        <p:spPr>
          <a:xfrm>
            <a:off x="4408499" y="2773046"/>
            <a:ext cx="5916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odd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5" name="Google Shape;2055;p99"/>
          <p:cNvSpPr txBox="1"/>
          <p:nvPr/>
        </p:nvSpPr>
        <p:spPr>
          <a:xfrm>
            <a:off x="4408500" y="3297868"/>
            <a:ext cx="5916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56" name="Google Shape;2056;p99"/>
          <p:cNvCxnSpPr/>
          <p:nvPr/>
        </p:nvCxnSpPr>
        <p:spPr>
          <a:xfrm flipH="1" rot="10800000">
            <a:off x="4061774" y="3999483"/>
            <a:ext cx="310800" cy="226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7" name="Google Shape;2057;p99"/>
          <p:cNvCxnSpPr/>
          <p:nvPr/>
        </p:nvCxnSpPr>
        <p:spPr>
          <a:xfrm>
            <a:off x="4061774" y="4289247"/>
            <a:ext cx="310800" cy="226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8" name="Google Shape;2058;p99"/>
          <p:cNvSpPr txBox="1"/>
          <p:nvPr/>
        </p:nvSpPr>
        <p:spPr>
          <a:xfrm>
            <a:off x="4408499" y="3894101"/>
            <a:ext cx="5916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odd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9" name="Google Shape;2059;p99"/>
          <p:cNvSpPr txBox="1"/>
          <p:nvPr/>
        </p:nvSpPr>
        <p:spPr>
          <a:xfrm>
            <a:off x="4408500" y="4418923"/>
            <a:ext cx="5916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0" name="Google Shape;2060;p99"/>
          <p:cNvSpPr/>
          <p:nvPr/>
        </p:nvSpPr>
        <p:spPr>
          <a:xfrm>
            <a:off x="4928924" y="2707046"/>
            <a:ext cx="845700" cy="3444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1" name="Google Shape;2061;p99"/>
          <p:cNvSpPr/>
          <p:nvPr/>
        </p:nvSpPr>
        <p:spPr>
          <a:xfrm>
            <a:off x="5000199" y="3201896"/>
            <a:ext cx="846000" cy="3444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2" name="Google Shape;2062;p99"/>
          <p:cNvSpPr/>
          <p:nvPr/>
        </p:nvSpPr>
        <p:spPr>
          <a:xfrm>
            <a:off x="5000199" y="4327571"/>
            <a:ext cx="846000" cy="3444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3" name="Google Shape;2063;p99"/>
          <p:cNvSpPr/>
          <p:nvPr/>
        </p:nvSpPr>
        <p:spPr>
          <a:xfrm>
            <a:off x="4928924" y="3832721"/>
            <a:ext cx="845700" cy="3444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4" name="Google Shape;2064;p99"/>
          <p:cNvSpPr txBox="1"/>
          <p:nvPr/>
        </p:nvSpPr>
        <p:spPr>
          <a:xfrm>
            <a:off x="3067956" y="4119009"/>
            <a:ext cx="99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positive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5" name="Google Shape;2065;p99"/>
          <p:cNvSpPr/>
          <p:nvPr/>
        </p:nvSpPr>
        <p:spPr>
          <a:xfrm>
            <a:off x="6028800" y="2277825"/>
            <a:ext cx="2745000" cy="20847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6" name="Google Shape;2066;p99"/>
          <p:cNvSpPr/>
          <p:nvPr/>
        </p:nvSpPr>
        <p:spPr>
          <a:xfrm>
            <a:off x="6279967" y="2539051"/>
            <a:ext cx="1500300" cy="1474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7" name="Google Shape;2067;p99"/>
          <p:cNvSpPr/>
          <p:nvPr/>
        </p:nvSpPr>
        <p:spPr>
          <a:xfrm>
            <a:off x="7022151" y="2539051"/>
            <a:ext cx="1500300" cy="1474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8" name="Google Shape;2068;p99"/>
          <p:cNvSpPr txBox="1"/>
          <p:nvPr/>
        </p:nvSpPr>
        <p:spPr>
          <a:xfrm>
            <a:off x="7593409" y="2341308"/>
            <a:ext cx="11802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odd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9" name="Google Shape;2069;p99"/>
          <p:cNvSpPr txBox="1"/>
          <p:nvPr/>
        </p:nvSpPr>
        <p:spPr>
          <a:xfrm>
            <a:off x="7226388" y="3051450"/>
            <a:ext cx="349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-1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0" name="Google Shape;2070;p99"/>
          <p:cNvSpPr txBox="1"/>
          <p:nvPr/>
        </p:nvSpPr>
        <p:spPr>
          <a:xfrm>
            <a:off x="7836238" y="2725350"/>
            <a:ext cx="349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1" name="Google Shape;2071;p99"/>
          <p:cNvSpPr txBox="1"/>
          <p:nvPr/>
        </p:nvSpPr>
        <p:spPr>
          <a:xfrm>
            <a:off x="7924413" y="3394675"/>
            <a:ext cx="349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9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2" name="Google Shape;2072;p99"/>
          <p:cNvSpPr txBox="1"/>
          <p:nvPr/>
        </p:nvSpPr>
        <p:spPr>
          <a:xfrm>
            <a:off x="6572413" y="2878425"/>
            <a:ext cx="349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-8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3" name="Google Shape;2073;p99"/>
          <p:cNvSpPr txBox="1"/>
          <p:nvPr/>
        </p:nvSpPr>
        <p:spPr>
          <a:xfrm>
            <a:off x="6623838" y="3513350"/>
            <a:ext cx="349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-4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4" name="Google Shape;2074;p99"/>
          <p:cNvSpPr txBox="1"/>
          <p:nvPr/>
        </p:nvSpPr>
        <p:spPr>
          <a:xfrm>
            <a:off x="6719363" y="4013850"/>
            <a:ext cx="349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5" name="Google Shape;2075;p99"/>
          <p:cNvSpPr txBox="1"/>
          <p:nvPr/>
        </p:nvSpPr>
        <p:spPr>
          <a:xfrm>
            <a:off x="473739" y="1832409"/>
            <a:ext cx="99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76" name="Google Shape;2076;p99"/>
          <p:cNvGrpSpPr/>
          <p:nvPr/>
        </p:nvGrpSpPr>
        <p:grpSpPr>
          <a:xfrm>
            <a:off x="149951" y="463995"/>
            <a:ext cx="1644841" cy="1644622"/>
            <a:chOff x="723989" y="3525311"/>
            <a:chExt cx="1644841" cy="1644622"/>
          </a:xfrm>
        </p:grpSpPr>
        <p:sp>
          <p:nvSpPr>
            <p:cNvPr id="2077" name="Google Shape;2077;p99"/>
            <p:cNvSpPr/>
            <p:nvPr/>
          </p:nvSpPr>
          <p:spPr>
            <a:xfrm flipH="1">
              <a:off x="964778" y="3766083"/>
              <a:ext cx="1163100" cy="1163100"/>
            </a:xfrm>
            <a:prstGeom prst="pie">
              <a:avLst>
                <a:gd fmla="val 13499686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99"/>
            <p:cNvSpPr txBox="1"/>
            <p:nvPr/>
          </p:nvSpPr>
          <p:spPr>
            <a:xfrm flipH="1">
              <a:off x="1575631" y="3823343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-8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79" name="Google Shape;2079;p99"/>
            <p:cNvSpPr/>
            <p:nvPr/>
          </p:nvSpPr>
          <p:spPr>
            <a:xfrm flipH="1" rot="2700000">
              <a:off x="965010" y="3766179"/>
              <a:ext cx="1162908" cy="1162908"/>
            </a:xfrm>
            <a:prstGeom prst="pie">
              <a:avLst>
                <a:gd fmla="val 13499686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99"/>
            <p:cNvSpPr/>
            <p:nvPr/>
          </p:nvSpPr>
          <p:spPr>
            <a:xfrm flipH="1" rot="5400000">
              <a:off x="965130" y="3766287"/>
              <a:ext cx="1162800" cy="1162800"/>
            </a:xfrm>
            <a:prstGeom prst="pie">
              <a:avLst>
                <a:gd fmla="val 13499686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99"/>
            <p:cNvSpPr/>
            <p:nvPr/>
          </p:nvSpPr>
          <p:spPr>
            <a:xfrm flipH="1" rot="8100000">
              <a:off x="965076" y="3766157"/>
              <a:ext cx="1162908" cy="1162908"/>
            </a:xfrm>
            <a:prstGeom prst="pie">
              <a:avLst>
                <a:gd fmla="val 13499686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99"/>
            <p:cNvSpPr/>
            <p:nvPr/>
          </p:nvSpPr>
          <p:spPr>
            <a:xfrm flipH="1" rot="10800000">
              <a:off x="964941" y="3766061"/>
              <a:ext cx="1163100" cy="1163100"/>
            </a:xfrm>
            <a:prstGeom prst="pie">
              <a:avLst>
                <a:gd fmla="val 13499686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99"/>
            <p:cNvSpPr/>
            <p:nvPr/>
          </p:nvSpPr>
          <p:spPr>
            <a:xfrm flipH="1" rot="-8100000">
              <a:off x="964901" y="3766157"/>
              <a:ext cx="1162908" cy="1162908"/>
            </a:xfrm>
            <a:prstGeom prst="pie">
              <a:avLst>
                <a:gd fmla="val 13499686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99"/>
            <p:cNvSpPr/>
            <p:nvPr/>
          </p:nvSpPr>
          <p:spPr>
            <a:xfrm flipH="1" rot="-5400000">
              <a:off x="964889" y="3766157"/>
              <a:ext cx="1162800" cy="1162800"/>
            </a:xfrm>
            <a:prstGeom prst="pie">
              <a:avLst>
                <a:gd fmla="val 13499686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99"/>
            <p:cNvSpPr/>
            <p:nvPr/>
          </p:nvSpPr>
          <p:spPr>
            <a:xfrm flipH="1" rot="-2700000">
              <a:off x="964835" y="3766179"/>
              <a:ext cx="1162908" cy="1162908"/>
            </a:xfrm>
            <a:prstGeom prst="pie">
              <a:avLst>
                <a:gd fmla="val 13499686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86" name="Google Shape;2086;p99"/>
            <p:cNvGrpSpPr/>
            <p:nvPr/>
          </p:nvGrpSpPr>
          <p:grpSpPr>
            <a:xfrm>
              <a:off x="1514964" y="3798835"/>
              <a:ext cx="65100" cy="576723"/>
              <a:chOff x="939769" y="2973011"/>
              <a:chExt cx="65100" cy="576723"/>
            </a:xfrm>
          </p:grpSpPr>
          <p:cxnSp>
            <p:nvCxnSpPr>
              <p:cNvPr id="2087" name="Google Shape;2087;p99"/>
              <p:cNvCxnSpPr/>
              <p:nvPr/>
            </p:nvCxnSpPr>
            <p:spPr>
              <a:xfrm rot="10800000">
                <a:off x="972365" y="2973011"/>
                <a:ext cx="0" cy="5340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2088" name="Google Shape;2088;p99"/>
              <p:cNvSpPr/>
              <p:nvPr/>
            </p:nvSpPr>
            <p:spPr>
              <a:xfrm>
                <a:off x="939769" y="3490935"/>
                <a:ext cx="65100" cy="588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89" name="Google Shape;2089;p99"/>
            <p:cNvSpPr txBox="1"/>
            <p:nvPr/>
          </p:nvSpPr>
          <p:spPr>
            <a:xfrm flipH="1">
              <a:off x="1746398" y="4027273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-4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0" name="Google Shape;2090;p99"/>
            <p:cNvSpPr txBox="1"/>
            <p:nvPr/>
          </p:nvSpPr>
          <p:spPr>
            <a:xfrm flipH="1">
              <a:off x="1746398" y="4322316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-1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1" name="Google Shape;2091;p99"/>
            <p:cNvSpPr txBox="1"/>
            <p:nvPr/>
          </p:nvSpPr>
          <p:spPr>
            <a:xfrm flipH="1">
              <a:off x="1543185" y="4544100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2" name="Google Shape;2092;p99"/>
            <p:cNvSpPr txBox="1"/>
            <p:nvPr/>
          </p:nvSpPr>
          <p:spPr>
            <a:xfrm>
              <a:off x="1229405" y="3823343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3" name="Google Shape;2093;p99"/>
            <p:cNvSpPr txBox="1"/>
            <p:nvPr/>
          </p:nvSpPr>
          <p:spPr>
            <a:xfrm>
              <a:off x="1058638" y="4027273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4" name="Google Shape;2094;p99"/>
            <p:cNvSpPr txBox="1"/>
            <p:nvPr/>
          </p:nvSpPr>
          <p:spPr>
            <a:xfrm>
              <a:off x="1058638" y="4322316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5" name="Google Shape;2095;p99"/>
            <p:cNvSpPr txBox="1"/>
            <p:nvPr/>
          </p:nvSpPr>
          <p:spPr>
            <a:xfrm>
              <a:off x="1261850" y="4544100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96" name="Google Shape;2096;p99"/>
          <p:cNvSpPr txBox="1"/>
          <p:nvPr/>
        </p:nvSpPr>
        <p:spPr>
          <a:xfrm>
            <a:off x="7430463" y="4013850"/>
            <a:ext cx="349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7" name="Google Shape;2097;p99"/>
          <p:cNvSpPr txBox="1"/>
          <p:nvPr/>
        </p:nvSpPr>
        <p:spPr>
          <a:xfrm>
            <a:off x="8186038" y="4013850"/>
            <a:ext cx="349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8" name="Google Shape;2098;p99"/>
          <p:cNvSpPr txBox="1"/>
          <p:nvPr/>
        </p:nvSpPr>
        <p:spPr>
          <a:xfrm>
            <a:off x="4933915" y="2725350"/>
            <a:ext cx="840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-1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9" name="Google Shape;2099;p99"/>
          <p:cNvSpPr txBox="1"/>
          <p:nvPr/>
        </p:nvSpPr>
        <p:spPr>
          <a:xfrm>
            <a:off x="4933915" y="3851025"/>
            <a:ext cx="840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1, 9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0" name="Google Shape;2100;p99"/>
          <p:cNvSpPr txBox="1"/>
          <p:nvPr/>
        </p:nvSpPr>
        <p:spPr>
          <a:xfrm>
            <a:off x="5002890" y="3220200"/>
            <a:ext cx="840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-4, -8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1" name="Google Shape;2101;p99"/>
          <p:cNvSpPr txBox="1"/>
          <p:nvPr/>
        </p:nvSpPr>
        <p:spPr>
          <a:xfrm>
            <a:off x="5002890" y="4345875"/>
            <a:ext cx="840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2, 4, 8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2" name="Google Shape;2102;p99"/>
          <p:cNvSpPr txBox="1"/>
          <p:nvPr/>
        </p:nvSpPr>
        <p:spPr>
          <a:xfrm>
            <a:off x="6257385" y="2341308"/>
            <a:ext cx="11802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negative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3" name="Google Shape;2103;p99"/>
          <p:cNvSpPr txBox="1"/>
          <p:nvPr/>
        </p:nvSpPr>
        <p:spPr>
          <a:xfrm>
            <a:off x="6028788" y="2277825"/>
            <a:ext cx="21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ξ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7" name="Shape 2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8" name="Google Shape;2108;p100"/>
          <p:cNvSpPr txBox="1"/>
          <p:nvPr/>
        </p:nvSpPr>
        <p:spPr>
          <a:xfrm>
            <a:off x="324000" y="642025"/>
            <a:ext cx="20685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Sofia will choose a starter and a main course.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By choosing two different representations, write down the possible outcomes of Sofia’s meal.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9" name="Google Shape;2109;p10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multiple </a:t>
            </a:r>
            <a:r>
              <a:rPr lang="en-GB"/>
              <a:t>diagram</a:t>
            </a:r>
            <a:r>
              <a:rPr lang="en-GB"/>
              <a:t>s</a:t>
            </a:r>
            <a:endParaRPr/>
          </a:p>
        </p:txBody>
      </p:sp>
      <p:sp>
        <p:nvSpPr>
          <p:cNvPr id="2110" name="Google Shape;2110;p100"/>
          <p:cNvSpPr txBox="1"/>
          <p:nvPr/>
        </p:nvSpPr>
        <p:spPr>
          <a:xfrm>
            <a:off x="324000" y="4008600"/>
            <a:ext cx="41139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Write a sentence explaining why you chose those two representations.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1" name="Google Shape;2111;p100"/>
          <p:cNvSpPr txBox="1"/>
          <p:nvPr/>
        </p:nvSpPr>
        <p:spPr>
          <a:xfrm>
            <a:off x="4632000" y="642025"/>
            <a:ext cx="41880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These representations could have been chosen: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    listing,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outcome table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, and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    outcome tree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Here’s an example of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an outcome table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that represents this two-stage trial.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2" name="Google Shape;2112;p100"/>
          <p:cNvSpPr txBox="1"/>
          <p:nvPr/>
        </p:nvSpPr>
        <p:spPr>
          <a:xfrm>
            <a:off x="2586450" y="858000"/>
            <a:ext cx="1851600" cy="24390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Starters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Leek Soup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Prawn Toast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Mains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Beef Lasagne 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Shepherd's Pie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Chicken Burger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Tomato Curry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13" name="Google Shape;2113;p100"/>
          <p:cNvGraphicFramePr/>
          <p:nvPr/>
        </p:nvGraphicFramePr>
        <p:xfrm>
          <a:off x="5223653" y="28810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{CB14D709-67CF-4AEA-B8F9-FF3D39F066EA}</a:tableStyleId>
              </a:tblPr>
              <a:tblGrid>
                <a:gridCol w="673550"/>
                <a:gridCol w="673550"/>
                <a:gridCol w="673550"/>
                <a:gridCol w="673550"/>
                <a:gridCol w="673550"/>
              </a:tblGrid>
              <a:tr h="391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B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S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C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T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</a:tr>
              <a:tr h="391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L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LB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LS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LC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LT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P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PB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PS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PC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PT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7" name="Shape 2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8" name="Google Shape;2118;p101"/>
          <p:cNvSpPr txBox="1"/>
          <p:nvPr/>
        </p:nvSpPr>
        <p:spPr>
          <a:xfrm>
            <a:off x="324000" y="642025"/>
            <a:ext cx="66375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Sofia will choose a starter and a main course.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9" name="Google Shape;2119;p10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multiple diagrams</a:t>
            </a:r>
            <a:endParaRPr/>
          </a:p>
        </p:txBody>
      </p:sp>
      <p:sp>
        <p:nvSpPr>
          <p:cNvPr id="2120" name="Google Shape;2120;p101"/>
          <p:cNvSpPr txBox="1"/>
          <p:nvPr/>
        </p:nvSpPr>
        <p:spPr>
          <a:xfrm>
            <a:off x="324000" y="1085850"/>
            <a:ext cx="84960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Write a sentence explaining why you chose those two representations.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1" name="Google Shape;2121;p101"/>
          <p:cNvSpPr txBox="1"/>
          <p:nvPr/>
        </p:nvSpPr>
        <p:spPr>
          <a:xfrm>
            <a:off x="324000" y="1722300"/>
            <a:ext cx="1851600" cy="24390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Starters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Leek Soup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Prawn Toast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Mains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Beef Lasagne 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Shepherd's Pie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Chicken Burger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Tomato Curry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2" name="Google Shape;2122;p101"/>
          <p:cNvSpPr txBox="1"/>
          <p:nvPr/>
        </p:nvSpPr>
        <p:spPr>
          <a:xfrm>
            <a:off x="2899476" y="2013625"/>
            <a:ext cx="50799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List - the number of possible combinations is small and lists are easy to write.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Outcome table/tree - makes it easy to see I have found all possible combinations.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6" name="Shape 2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7" name="Google Shape;2127;p102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representations of outcomes for two events</a:t>
            </a:r>
            <a:endParaRPr/>
          </a:p>
        </p:txBody>
      </p:sp>
      <p:sp>
        <p:nvSpPr>
          <p:cNvPr id="2128" name="Google Shape;2128;p102"/>
          <p:cNvSpPr txBox="1"/>
          <p:nvPr/>
        </p:nvSpPr>
        <p:spPr>
          <a:xfrm>
            <a:off x="324750" y="943275"/>
            <a:ext cx="8495400" cy="3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is possible to transfer information from one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diagram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that lists the outcomes of a trial or pair of events to another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diagram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Lists,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outcome table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s, and outcome trees can all be used to systematically list all the possible outcomes of a two-stage trial.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Whilst these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diagram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 can all be used for any two-stage trial, one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diagram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may be preferred over another dependent on the circumstances.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Lists,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table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s, outcome trees, and Venn diagrams can all be used to categorise the outcomes of a trial into events.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2" name="Shape 2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3" name="Google Shape;2133;p103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134" name="Google Shape;2134;p10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