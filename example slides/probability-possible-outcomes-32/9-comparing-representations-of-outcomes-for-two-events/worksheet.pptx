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91EE33-C9EB-4A00-AA3F-3B01D779ABCE}">
  <a:tblStyle styleId="{4891EE33-C9EB-4A00-AA3F-3B01D779AB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b842d1cc2f_0_11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b842d1cc2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two events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400" y="1880898"/>
            <a:ext cx="66240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Jacob and Laura submit homework for showing the outcomes of two events from a trial using different representations.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Jacob’s correctly written outcome table to circle any errors in the outcome tree and write down what is wrong with the outcome tree.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1" y="1411250"/>
            <a:ext cx="6254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Transferring information between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/>
          <p:nvPr/>
        </p:nvGraphicFramePr>
        <p:xfrm>
          <a:off x="552603" y="3097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{4891EE33-C9EB-4A00-AA3F-3B01D779ABCE}</a:tableStyleId>
              </a:tblPr>
              <a:tblGrid>
                <a:gridCol w="594750"/>
                <a:gridCol w="980675"/>
                <a:gridCol w="9806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          of 45 (F45)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factor   of 45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prime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3, 5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prime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1, 9, 15, 45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4" name="Google Shape;164;p20"/>
          <p:cNvCxnSpPr/>
          <p:nvPr/>
        </p:nvCxnSpPr>
        <p:spPr>
          <a:xfrm flipH="1" rot="10800000">
            <a:off x="3558030" y="3489157"/>
            <a:ext cx="549300" cy="37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0"/>
          <p:cNvCxnSpPr/>
          <p:nvPr/>
        </p:nvCxnSpPr>
        <p:spPr>
          <a:xfrm>
            <a:off x="3558030" y="3974580"/>
            <a:ext cx="549300" cy="37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0"/>
          <p:cNvSpPr txBox="1"/>
          <p:nvPr/>
        </p:nvSpPr>
        <p:spPr>
          <a:xfrm>
            <a:off x="4135097" y="3389671"/>
            <a:ext cx="63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135097" y="4147693"/>
            <a:ext cx="63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" name="Google Shape;168;p20"/>
          <p:cNvCxnSpPr/>
          <p:nvPr/>
        </p:nvCxnSpPr>
        <p:spPr>
          <a:xfrm flipH="1" rot="10800000">
            <a:off x="4696037" y="3292405"/>
            <a:ext cx="6342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0"/>
          <p:cNvCxnSpPr/>
          <p:nvPr/>
        </p:nvCxnSpPr>
        <p:spPr>
          <a:xfrm>
            <a:off x="4696037" y="3518430"/>
            <a:ext cx="6342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0"/>
          <p:cNvSpPr txBox="1"/>
          <p:nvPr/>
        </p:nvSpPr>
        <p:spPr>
          <a:xfrm>
            <a:off x="5372768" y="3210344"/>
            <a:ext cx="7914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372769" y="3619529"/>
            <a:ext cx="7914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 flipH="1" rot="10800000">
            <a:off x="4696037" y="4166454"/>
            <a:ext cx="6342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0"/>
          <p:cNvCxnSpPr/>
          <p:nvPr/>
        </p:nvCxnSpPr>
        <p:spPr>
          <a:xfrm>
            <a:off x="4696037" y="4392478"/>
            <a:ext cx="6342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5372768" y="4084392"/>
            <a:ext cx="7914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372769" y="4493578"/>
            <a:ext cx="7914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719114" y="3158896"/>
            <a:ext cx="7914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1, 3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6071735" y="3544711"/>
            <a:ext cx="7914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5, 23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719114" y="4036541"/>
            <a:ext cx="7914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9, 15, 45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6071735" y="4422356"/>
            <a:ext cx="7914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12, 21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6400" y="6280825"/>
            <a:ext cx="64884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This outcome tree correctly shows two events from the trial of spinning a spinner with 8 outcomes.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this outcome tree to complete the Venn diagram that shows the same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 flipH="1" rot="10800000">
            <a:off x="532380" y="7743700"/>
            <a:ext cx="374400" cy="37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532380" y="8229122"/>
            <a:ext cx="374400" cy="37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0"/>
          <p:cNvSpPr txBox="1"/>
          <p:nvPr/>
        </p:nvSpPr>
        <p:spPr>
          <a:xfrm>
            <a:off x="934647" y="7644213"/>
            <a:ext cx="63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934647" y="8402235"/>
            <a:ext cx="63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square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 flipH="1" rot="10800000">
            <a:off x="1549018" y="7546946"/>
            <a:ext cx="5091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0"/>
          <p:cNvCxnSpPr/>
          <p:nvPr/>
        </p:nvCxnSpPr>
        <p:spPr>
          <a:xfrm>
            <a:off x="1549018" y="7772970"/>
            <a:ext cx="5091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0"/>
          <p:cNvSpPr txBox="1"/>
          <p:nvPr/>
        </p:nvSpPr>
        <p:spPr>
          <a:xfrm>
            <a:off x="2106924" y="7464896"/>
            <a:ext cx="4611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106925" y="7874079"/>
            <a:ext cx="4611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 flipH="1" rot="10800000">
            <a:off x="1549018" y="8420994"/>
            <a:ext cx="5091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1549018" y="8647018"/>
            <a:ext cx="5091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0"/>
          <p:cNvSpPr txBox="1"/>
          <p:nvPr/>
        </p:nvSpPr>
        <p:spPr>
          <a:xfrm>
            <a:off x="2106924" y="8338939"/>
            <a:ext cx="4611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106925" y="8748122"/>
            <a:ext cx="4611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512680" y="7413438"/>
            <a:ext cx="9249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169, 625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568250" y="7799254"/>
            <a:ext cx="9234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400, 784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2568250" y="8676899"/>
            <a:ext cx="9234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772, 1000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2512680" y="8291083"/>
            <a:ext cx="9249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89, 111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188863" y="7478306"/>
            <a:ext cx="2775900" cy="1475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442876" y="7714877"/>
            <a:ext cx="1517400" cy="1001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193456" y="7714877"/>
            <a:ext cx="1517400" cy="1001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553861" y="7580576"/>
            <a:ext cx="463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645727" y="7580574"/>
            <a:ext cx="1130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188853" y="7478306"/>
            <a:ext cx="170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two events</a:t>
            </a:r>
            <a:endParaRPr/>
          </a:p>
        </p:txBody>
      </p:sp>
      <p:sp>
        <p:nvSpPr>
          <p:cNvPr id="208" name="Google Shape;20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476400" y="870625"/>
            <a:ext cx="6615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outcome tree and outcome table show the same two-stage trial: two spinners that will be spun (once each) with their outcomes added together.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Both diagrams are accurate, but have some information missing.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outcome table shows the sample space of outcomes after addition. Complete both diagrams.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" name="Google Shape;210;p21"/>
          <p:cNvGrpSpPr/>
          <p:nvPr/>
        </p:nvGrpSpPr>
        <p:grpSpPr>
          <a:xfrm>
            <a:off x="1181380" y="2342823"/>
            <a:ext cx="654887" cy="1202096"/>
            <a:chOff x="1597330" y="2437981"/>
            <a:chExt cx="757796" cy="683164"/>
          </a:xfrm>
        </p:grpSpPr>
        <p:cxnSp>
          <p:nvCxnSpPr>
            <p:cNvPr id="211" name="Google Shape;211;p21"/>
            <p:cNvCxnSpPr/>
            <p:nvPr/>
          </p:nvCxnSpPr>
          <p:spPr>
            <a:xfrm flipH="1" rot="10800000">
              <a:off x="1597330" y="2437981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21"/>
            <p:cNvCxnSpPr/>
            <p:nvPr/>
          </p:nvCxnSpPr>
          <p:spPr>
            <a:xfrm>
              <a:off x="1597330" y="2821445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21"/>
            <p:cNvCxnSpPr/>
            <p:nvPr/>
          </p:nvCxnSpPr>
          <p:spPr>
            <a:xfrm>
              <a:off x="1630326" y="2780029"/>
              <a:ext cx="7248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4" name="Google Shape;214;p21"/>
          <p:cNvGrpSpPr/>
          <p:nvPr/>
        </p:nvGrpSpPr>
        <p:grpSpPr>
          <a:xfrm>
            <a:off x="2088152" y="2203649"/>
            <a:ext cx="608483" cy="305795"/>
            <a:chOff x="531205" y="2439944"/>
            <a:chExt cx="704100" cy="1957717"/>
          </a:xfrm>
        </p:grpSpPr>
        <p:cxnSp>
          <p:nvCxnSpPr>
            <p:cNvPr id="215" name="Google Shape;215;p21"/>
            <p:cNvCxnSpPr/>
            <p:nvPr/>
          </p:nvCxnSpPr>
          <p:spPr>
            <a:xfrm flipH="1" rot="10800000">
              <a:off x="531205" y="2439944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1"/>
            <p:cNvCxnSpPr/>
            <p:nvPr/>
          </p:nvCxnSpPr>
          <p:spPr>
            <a:xfrm>
              <a:off x="531205" y="3538762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7" name="Google Shape;217;p21"/>
          <p:cNvGrpSpPr/>
          <p:nvPr/>
        </p:nvGrpSpPr>
        <p:grpSpPr>
          <a:xfrm>
            <a:off x="2088152" y="2790925"/>
            <a:ext cx="608483" cy="305795"/>
            <a:chOff x="531205" y="2439944"/>
            <a:chExt cx="704100" cy="1957717"/>
          </a:xfrm>
        </p:grpSpPr>
        <p:cxnSp>
          <p:nvCxnSpPr>
            <p:cNvPr id="218" name="Google Shape;218;p21"/>
            <p:cNvCxnSpPr/>
            <p:nvPr/>
          </p:nvCxnSpPr>
          <p:spPr>
            <a:xfrm flipH="1" rot="10800000">
              <a:off x="531205" y="2439944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21"/>
            <p:cNvCxnSpPr/>
            <p:nvPr/>
          </p:nvCxnSpPr>
          <p:spPr>
            <a:xfrm>
              <a:off x="531205" y="3538762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0" name="Google Shape;220;p21"/>
          <p:cNvGrpSpPr/>
          <p:nvPr/>
        </p:nvGrpSpPr>
        <p:grpSpPr>
          <a:xfrm>
            <a:off x="2088152" y="3378201"/>
            <a:ext cx="608483" cy="305795"/>
            <a:chOff x="531205" y="2439944"/>
            <a:chExt cx="704100" cy="1957717"/>
          </a:xfrm>
        </p:grpSpPr>
        <p:cxnSp>
          <p:nvCxnSpPr>
            <p:cNvPr id="221" name="Google Shape;221;p21"/>
            <p:cNvCxnSpPr/>
            <p:nvPr/>
          </p:nvCxnSpPr>
          <p:spPr>
            <a:xfrm flipH="1" rot="10800000">
              <a:off x="531205" y="2439944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21"/>
            <p:cNvCxnSpPr/>
            <p:nvPr/>
          </p:nvCxnSpPr>
          <p:spPr>
            <a:xfrm>
              <a:off x="531205" y="3538762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3" name="Google Shape;223;p21"/>
          <p:cNvSpPr txBox="1"/>
          <p:nvPr/>
        </p:nvSpPr>
        <p:spPr>
          <a:xfrm>
            <a:off x="1842989" y="2239125"/>
            <a:ext cx="192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-1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2696726" y="2085825"/>
            <a:ext cx="192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5" name="Google Shape;225;p21"/>
          <p:cNvGraphicFramePr/>
          <p:nvPr/>
        </p:nvGraphicFramePr>
        <p:xfrm>
          <a:off x="4376353" y="2276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{4891EE33-C9EB-4A00-AA3F-3B01D779ABCE}</a:tableStyleId>
              </a:tblPr>
              <a:tblGrid>
                <a:gridCol w="600000"/>
                <a:gridCol w="600000"/>
                <a:gridCol w="600000"/>
                <a:gridCol w="600000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26" name="Google Shape;226;p21"/>
          <p:cNvCxnSpPr/>
          <p:nvPr/>
        </p:nvCxnSpPr>
        <p:spPr>
          <a:xfrm>
            <a:off x="474757" y="40283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1"/>
          <p:cNvSpPr txBox="1"/>
          <p:nvPr/>
        </p:nvSpPr>
        <p:spPr>
          <a:xfrm>
            <a:off x="1781273" y="4842692"/>
            <a:ext cx="5289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Jacob will spin this spinner and consider the events that the spinner will land on a negative number and an odd number.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each diagram for these two events.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Write a sentence explaining which diagram you prefer.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67998" y="4230650"/>
            <a:ext cx="62319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Using multiple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" name="Google Shape;229;p21"/>
          <p:cNvCxnSpPr/>
          <p:nvPr/>
        </p:nvCxnSpPr>
        <p:spPr>
          <a:xfrm flipH="1" rot="10800000">
            <a:off x="2402172" y="8722847"/>
            <a:ext cx="267000" cy="371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30" name="Google Shape;230;p21"/>
          <p:cNvGraphicFramePr/>
          <p:nvPr/>
        </p:nvGraphicFramePr>
        <p:xfrm>
          <a:off x="781203" y="654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{4891EE33-C9EB-4A00-AA3F-3B01D779ABCE}</a:tableStyleId>
              </a:tblPr>
              <a:tblGrid>
                <a:gridCol w="470450"/>
                <a:gridCol w="889275"/>
                <a:gridCol w="889275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negative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positive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1" name="Google Shape;231;p21"/>
          <p:cNvCxnSpPr/>
          <p:nvPr/>
        </p:nvCxnSpPr>
        <p:spPr>
          <a:xfrm>
            <a:off x="2402172" y="9197912"/>
            <a:ext cx="267000" cy="371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1"/>
          <p:cNvSpPr txBox="1"/>
          <p:nvPr/>
        </p:nvSpPr>
        <p:spPr>
          <a:xfrm>
            <a:off x="2681333" y="8549270"/>
            <a:ext cx="76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negative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" name="Google Shape;233;p21"/>
          <p:cNvCxnSpPr/>
          <p:nvPr/>
        </p:nvCxnSpPr>
        <p:spPr>
          <a:xfrm flipH="1" rot="10800000">
            <a:off x="3439799" y="8454205"/>
            <a:ext cx="237300" cy="17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1"/>
          <p:cNvCxnSpPr/>
          <p:nvPr/>
        </p:nvCxnSpPr>
        <p:spPr>
          <a:xfrm>
            <a:off x="3439799" y="8675279"/>
            <a:ext cx="237300" cy="17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1"/>
          <p:cNvSpPr txBox="1"/>
          <p:nvPr/>
        </p:nvSpPr>
        <p:spPr>
          <a:xfrm>
            <a:off x="3704233" y="8373768"/>
            <a:ext cx="451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3704234" y="8774233"/>
            <a:ext cx="451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1"/>
          <p:cNvCxnSpPr/>
          <p:nvPr/>
        </p:nvCxnSpPr>
        <p:spPr>
          <a:xfrm flipH="1" rot="10800000">
            <a:off x="3439664" y="9309631"/>
            <a:ext cx="237300" cy="17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1"/>
          <p:cNvCxnSpPr/>
          <p:nvPr/>
        </p:nvCxnSpPr>
        <p:spPr>
          <a:xfrm>
            <a:off x="3439664" y="9530705"/>
            <a:ext cx="237300" cy="17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1"/>
          <p:cNvSpPr txBox="1"/>
          <p:nvPr/>
        </p:nvSpPr>
        <p:spPr>
          <a:xfrm>
            <a:off x="3704233" y="9229189"/>
            <a:ext cx="451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3704234" y="9629654"/>
            <a:ext cx="451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101343" y="8323407"/>
            <a:ext cx="645300" cy="262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155730" y="8701002"/>
            <a:ext cx="645600" cy="262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155730" y="9559948"/>
            <a:ext cx="645600" cy="262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101343" y="9182353"/>
            <a:ext cx="645300" cy="262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2681333" y="9400805"/>
            <a:ext cx="76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positive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4940603" y="6395689"/>
            <a:ext cx="2094600" cy="1590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5132255" y="6595018"/>
            <a:ext cx="1144800" cy="11253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698579" y="6595018"/>
            <a:ext cx="1144800" cy="11253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6134477" y="6444130"/>
            <a:ext cx="900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701816" y="5751015"/>
            <a:ext cx="76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1" name="Google Shape;251;p21"/>
          <p:cNvGrpSpPr/>
          <p:nvPr/>
        </p:nvGrpSpPr>
        <p:grpSpPr>
          <a:xfrm>
            <a:off x="454714" y="4706670"/>
            <a:ext cx="1255014" cy="1254847"/>
            <a:chOff x="723989" y="3525311"/>
            <a:chExt cx="1644841" cy="1644622"/>
          </a:xfrm>
        </p:grpSpPr>
        <p:sp>
          <p:nvSpPr>
            <p:cNvPr id="252" name="Google Shape;252;p21"/>
            <p:cNvSpPr/>
            <p:nvPr/>
          </p:nvSpPr>
          <p:spPr>
            <a:xfrm flipH="1">
              <a:off x="964778" y="3766083"/>
              <a:ext cx="1163100" cy="11631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1"/>
            <p:cNvSpPr txBox="1"/>
            <p:nvPr/>
          </p:nvSpPr>
          <p:spPr>
            <a:xfrm flipH="1">
              <a:off x="1575631" y="382334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-8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 flipH="1" rot="2700000">
              <a:off x="965010" y="3766179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1"/>
            <p:cNvSpPr/>
            <p:nvPr/>
          </p:nvSpPr>
          <p:spPr>
            <a:xfrm flipH="1" rot="5400000">
              <a:off x="965130" y="3766287"/>
              <a:ext cx="1162800" cy="11628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1"/>
            <p:cNvSpPr/>
            <p:nvPr/>
          </p:nvSpPr>
          <p:spPr>
            <a:xfrm flipH="1" rot="8100000">
              <a:off x="965076" y="3766157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1"/>
            <p:cNvSpPr/>
            <p:nvPr/>
          </p:nvSpPr>
          <p:spPr>
            <a:xfrm flipH="1" rot="10800000">
              <a:off x="964941" y="3766061"/>
              <a:ext cx="1163100" cy="11631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1"/>
            <p:cNvSpPr/>
            <p:nvPr/>
          </p:nvSpPr>
          <p:spPr>
            <a:xfrm flipH="1" rot="-8100000">
              <a:off x="964901" y="3766157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1"/>
            <p:cNvSpPr/>
            <p:nvPr/>
          </p:nvSpPr>
          <p:spPr>
            <a:xfrm flipH="1" rot="-5400000">
              <a:off x="964889" y="3766157"/>
              <a:ext cx="1162800" cy="11628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1"/>
            <p:cNvSpPr/>
            <p:nvPr/>
          </p:nvSpPr>
          <p:spPr>
            <a:xfrm flipH="1" rot="-2700000">
              <a:off x="964835" y="3766179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1" name="Google Shape;261;p21"/>
            <p:cNvGrpSpPr/>
            <p:nvPr/>
          </p:nvGrpSpPr>
          <p:grpSpPr>
            <a:xfrm>
              <a:off x="1514964" y="3798835"/>
              <a:ext cx="65100" cy="576723"/>
              <a:chOff x="939769" y="2973011"/>
              <a:chExt cx="65100" cy="576723"/>
            </a:xfrm>
          </p:grpSpPr>
          <p:cxnSp>
            <p:nvCxnSpPr>
              <p:cNvPr id="262" name="Google Shape;262;p21"/>
              <p:cNvCxnSpPr/>
              <p:nvPr/>
            </p:nvCxnSpPr>
            <p:spPr>
              <a:xfrm rot="10800000">
                <a:off x="972365" y="2973011"/>
                <a:ext cx="0" cy="534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63" name="Google Shape;263;p21"/>
              <p:cNvSpPr/>
              <p:nvPr/>
            </p:nvSpPr>
            <p:spPr>
              <a:xfrm>
                <a:off x="939769" y="3490935"/>
                <a:ext cx="65100" cy="58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4" name="Google Shape;264;p21"/>
            <p:cNvSpPr txBox="1"/>
            <p:nvPr/>
          </p:nvSpPr>
          <p:spPr>
            <a:xfrm flipH="1">
              <a:off x="1746398" y="402727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-4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1"/>
            <p:cNvSpPr txBox="1"/>
            <p:nvPr/>
          </p:nvSpPr>
          <p:spPr>
            <a:xfrm flipH="1">
              <a:off x="1746398" y="4322316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-1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1"/>
            <p:cNvSpPr txBox="1"/>
            <p:nvPr/>
          </p:nvSpPr>
          <p:spPr>
            <a:xfrm flipH="1">
              <a:off x="1543185" y="4544100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1"/>
            <p:cNvSpPr txBox="1"/>
            <p:nvPr/>
          </p:nvSpPr>
          <p:spPr>
            <a:xfrm>
              <a:off x="1229405" y="382334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" name="Google Shape;268;p21"/>
            <p:cNvSpPr txBox="1"/>
            <p:nvPr/>
          </p:nvSpPr>
          <p:spPr>
            <a:xfrm>
              <a:off x="1058638" y="402727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1"/>
            <p:cNvSpPr txBox="1"/>
            <p:nvPr/>
          </p:nvSpPr>
          <p:spPr>
            <a:xfrm>
              <a:off x="1058638" y="4322316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" name="Google Shape;270;p21"/>
            <p:cNvSpPr txBox="1"/>
            <p:nvPr/>
          </p:nvSpPr>
          <p:spPr>
            <a:xfrm>
              <a:off x="1261850" y="4544100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1" name="Google Shape;271;p21"/>
          <p:cNvSpPr txBox="1"/>
          <p:nvPr/>
        </p:nvSpPr>
        <p:spPr>
          <a:xfrm>
            <a:off x="5115025" y="6444130"/>
            <a:ext cx="900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negative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940593" y="6395689"/>
            <a:ext cx="1668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two events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476400" y="870625"/>
            <a:ext cx="47277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Sofia will choose a starter and a main course.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By choosing two different representations, write down the possible outcomes of Sofia’s meal.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476400" y="5614550"/>
            <a:ext cx="6615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Write a sentence explaining why you chose those two representations.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5616474" y="1042734"/>
            <a:ext cx="1475400" cy="18840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Leek Soup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Prawn Toast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Beef Lasagne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Shepherd's Pie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Chicken Burger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Tomato Curry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