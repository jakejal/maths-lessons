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D404EB-6159-4F10-81CE-28B1918B387E}">
  <a:tblStyle styleId="{EFD404EB-6159-4F10-81CE-28B1918B387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f0fa1fdb3f_0_20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f0fa1fdb3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1" Type="http://schemas.openxmlformats.org/officeDocument/2006/relationships/image" Target="../media/image23.png"/><Relationship Id="rId10" Type="http://schemas.openxmlformats.org/officeDocument/2006/relationships/image" Target="../media/image25.png"/><Relationship Id="rId12" Type="http://schemas.openxmlformats.org/officeDocument/2006/relationships/image" Target="../media/image22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two-way tables to display outcomes for two events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1" y="1639850"/>
            <a:ext cx="64365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table from a two-stage trial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2064948"/>
            <a:ext cx="6610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spinner is going to be spun twice as part of a two-stage trial.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all the possible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500863" y="2945029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3803114" y="2571178"/>
            <a:ext cx="2407982" cy="1536988"/>
            <a:chOff x="3174075" y="2551800"/>
            <a:chExt cx="3000600" cy="1915250"/>
          </a:xfrm>
        </p:grpSpPr>
        <p:cxnSp>
          <p:nvCxnSpPr>
            <p:cNvPr id="177" name="Google Shape;177;p20"/>
            <p:cNvCxnSpPr/>
            <p:nvPr/>
          </p:nvCxnSpPr>
          <p:spPr>
            <a:xfrm>
              <a:off x="3757000" y="2574525"/>
              <a:ext cx="0" cy="1884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20"/>
            <p:cNvCxnSpPr/>
            <p:nvPr/>
          </p:nvCxnSpPr>
          <p:spPr>
            <a:xfrm>
              <a:off x="459355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20"/>
            <p:cNvCxnSpPr/>
            <p:nvPr/>
          </p:nvCxnSpPr>
          <p:spPr>
            <a:xfrm>
              <a:off x="542233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20"/>
            <p:cNvCxnSpPr/>
            <p:nvPr/>
          </p:nvCxnSpPr>
          <p:spPr>
            <a:xfrm rot="10800000">
              <a:off x="3174075" y="2882475"/>
              <a:ext cx="300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20"/>
            <p:cNvCxnSpPr/>
            <p:nvPr/>
          </p:nvCxnSpPr>
          <p:spPr>
            <a:xfrm rot="10800000">
              <a:off x="3174075" y="3415575"/>
              <a:ext cx="300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20"/>
            <p:cNvCxnSpPr/>
            <p:nvPr/>
          </p:nvCxnSpPr>
          <p:spPr>
            <a:xfrm rot="10800000">
              <a:off x="3174075" y="3941925"/>
              <a:ext cx="300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" name="Google Shape;183;p20"/>
            <p:cNvSpPr txBox="1"/>
            <p:nvPr/>
          </p:nvSpPr>
          <p:spPr>
            <a:xfrm>
              <a:off x="4104775" y="2574525"/>
              <a:ext cx="2304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4937438" y="2574525"/>
              <a:ext cx="4458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3402525" y="3010425"/>
              <a:ext cx="1383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3402525" y="3540150"/>
              <a:ext cx="1383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7" name="Google Shape;187;p20"/>
            <p:cNvCxnSpPr/>
            <p:nvPr/>
          </p:nvCxnSpPr>
          <p:spPr>
            <a:xfrm>
              <a:off x="6158950" y="2574525"/>
              <a:ext cx="0" cy="1892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0"/>
            <p:cNvCxnSpPr/>
            <p:nvPr/>
          </p:nvCxnSpPr>
          <p:spPr>
            <a:xfrm rot="10800000">
              <a:off x="3174075" y="4467050"/>
              <a:ext cx="300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" name="Google Shape;189;p20"/>
            <p:cNvSpPr txBox="1"/>
            <p:nvPr/>
          </p:nvSpPr>
          <p:spPr>
            <a:xfrm>
              <a:off x="3369950" y="4065900"/>
              <a:ext cx="2325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5743093" y="2551800"/>
              <a:ext cx="2304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1" name="Google Shape;191;p20"/>
          <p:cNvSpPr txBox="1"/>
          <p:nvPr/>
        </p:nvSpPr>
        <p:spPr>
          <a:xfrm>
            <a:off x="4500863" y="3373066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500863" y="3801103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137269" y="2945029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137269" y="3373066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137269" y="3801103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793282" y="2945029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793282" y="3373066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793282" y="3801103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99" name="Google Shape;199;p20"/>
          <p:cNvGrpSpPr/>
          <p:nvPr/>
        </p:nvGrpSpPr>
        <p:grpSpPr>
          <a:xfrm>
            <a:off x="1430500" y="2499882"/>
            <a:ext cx="1225177" cy="1225177"/>
            <a:chOff x="6389510" y="634229"/>
            <a:chExt cx="1526700" cy="1526700"/>
          </a:xfrm>
        </p:grpSpPr>
        <p:sp>
          <p:nvSpPr>
            <p:cNvPr id="200" name="Google Shape;200;p20"/>
            <p:cNvSpPr/>
            <p:nvPr/>
          </p:nvSpPr>
          <p:spPr>
            <a:xfrm>
              <a:off x="6584544" y="829206"/>
              <a:ext cx="1136400" cy="11364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 rot="7199698">
              <a:off x="6594354" y="839138"/>
              <a:ext cx="1116770" cy="1116770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 rot="-7211730">
              <a:off x="6594556" y="839275"/>
              <a:ext cx="1116608" cy="1116608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6594512" y="839216"/>
              <a:ext cx="1116600" cy="1116600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7182001" y="1008102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6977761" y="1416583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6671401" y="1008102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7" name="Google Shape;207;p20"/>
            <p:cNvGrpSpPr/>
            <p:nvPr/>
          </p:nvGrpSpPr>
          <p:grpSpPr>
            <a:xfrm>
              <a:off x="7120165" y="885993"/>
              <a:ext cx="62922" cy="547386"/>
              <a:chOff x="996050" y="213293"/>
              <a:chExt cx="93900" cy="909732"/>
            </a:xfrm>
          </p:grpSpPr>
          <p:cxnSp>
            <p:nvCxnSpPr>
              <p:cNvPr id="208" name="Google Shape;208;p2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09" name="Google Shape;209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0" name="Google Shape;210;p20"/>
          <p:cNvSpPr txBox="1"/>
          <p:nvPr/>
        </p:nvSpPr>
        <p:spPr>
          <a:xfrm>
            <a:off x="476400" y="4416900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Both spinners are going to be spun as part of a two-stage trial.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all the possible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500832" y="5373175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500832" y="5801209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500832" y="6229243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137233" y="5373175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137233" y="5801209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137233" y="6229243"/>
            <a:ext cx="3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7" name="Google Shape;217;p20"/>
          <p:cNvGrpSpPr/>
          <p:nvPr/>
        </p:nvGrpSpPr>
        <p:grpSpPr>
          <a:xfrm>
            <a:off x="819055" y="4989183"/>
            <a:ext cx="1225177" cy="1225177"/>
            <a:chOff x="6389510" y="634229"/>
            <a:chExt cx="1526700" cy="1526700"/>
          </a:xfrm>
        </p:grpSpPr>
        <p:sp>
          <p:nvSpPr>
            <p:cNvPr id="218" name="Google Shape;218;p20"/>
            <p:cNvSpPr/>
            <p:nvPr/>
          </p:nvSpPr>
          <p:spPr>
            <a:xfrm>
              <a:off x="6584544" y="829206"/>
              <a:ext cx="1136400" cy="11364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/>
            <p:nvPr/>
          </p:nvSpPr>
          <p:spPr>
            <a:xfrm rot="7199698">
              <a:off x="6594354" y="839138"/>
              <a:ext cx="1116770" cy="1116770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/>
            <p:nvPr/>
          </p:nvSpPr>
          <p:spPr>
            <a:xfrm rot="-7211730">
              <a:off x="6594556" y="839275"/>
              <a:ext cx="1116608" cy="1116608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6594512" y="839216"/>
              <a:ext cx="1116600" cy="1116600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7182001" y="1008102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6977761" y="1416583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6671401" y="1008102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5" name="Google Shape;225;p20"/>
            <p:cNvGrpSpPr/>
            <p:nvPr/>
          </p:nvGrpSpPr>
          <p:grpSpPr>
            <a:xfrm>
              <a:off x="7120165" y="885993"/>
              <a:ext cx="62922" cy="547386"/>
              <a:chOff x="996050" y="213293"/>
              <a:chExt cx="93900" cy="909732"/>
            </a:xfrm>
          </p:grpSpPr>
          <p:cxnSp>
            <p:nvCxnSpPr>
              <p:cNvPr id="226" name="Google Shape;226;p2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27" name="Google Shape;227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8" name="Google Shape;228;p20"/>
          <p:cNvSpPr/>
          <p:nvPr/>
        </p:nvSpPr>
        <p:spPr>
          <a:xfrm>
            <a:off x="2064434" y="5455869"/>
            <a:ext cx="937800" cy="937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 flipH="1">
            <a:off x="2072453" y="5464031"/>
            <a:ext cx="921600" cy="9216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2072596" y="5464031"/>
            <a:ext cx="921600" cy="9216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2159441" y="5725626"/>
            <a:ext cx="31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2605647" y="5725626"/>
            <a:ext cx="34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2506461" y="5507067"/>
            <a:ext cx="51927" cy="451773"/>
            <a:chOff x="996050" y="213293"/>
            <a:chExt cx="93900" cy="909732"/>
          </a:xfrm>
        </p:grpSpPr>
        <p:cxnSp>
          <p:nvCxnSpPr>
            <p:cNvPr id="234" name="Google Shape;234;p2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5" name="Google Shape;23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20"/>
          <p:cNvGrpSpPr/>
          <p:nvPr/>
        </p:nvGrpSpPr>
        <p:grpSpPr>
          <a:xfrm>
            <a:off x="3803148" y="5017579"/>
            <a:ext cx="1804187" cy="1518751"/>
            <a:chOff x="3174125" y="2574525"/>
            <a:chExt cx="2248209" cy="1892525"/>
          </a:xfrm>
        </p:grpSpPr>
        <p:cxnSp>
          <p:nvCxnSpPr>
            <p:cNvPr id="237" name="Google Shape;237;p20"/>
            <p:cNvCxnSpPr/>
            <p:nvPr/>
          </p:nvCxnSpPr>
          <p:spPr>
            <a:xfrm>
              <a:off x="3757000" y="2574525"/>
              <a:ext cx="0" cy="1884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0"/>
            <p:cNvCxnSpPr/>
            <p:nvPr/>
          </p:nvCxnSpPr>
          <p:spPr>
            <a:xfrm>
              <a:off x="459355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20"/>
            <p:cNvCxnSpPr/>
            <p:nvPr/>
          </p:nvCxnSpPr>
          <p:spPr>
            <a:xfrm rot="10800000">
              <a:off x="3174125" y="2882475"/>
              <a:ext cx="224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20"/>
            <p:cNvCxnSpPr/>
            <p:nvPr/>
          </p:nvCxnSpPr>
          <p:spPr>
            <a:xfrm rot="10800000">
              <a:off x="3174125" y="3415575"/>
              <a:ext cx="224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20"/>
            <p:cNvCxnSpPr/>
            <p:nvPr/>
          </p:nvCxnSpPr>
          <p:spPr>
            <a:xfrm rot="10800000">
              <a:off x="3174125" y="3941925"/>
              <a:ext cx="224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2" name="Google Shape;242;p20"/>
            <p:cNvSpPr txBox="1"/>
            <p:nvPr/>
          </p:nvSpPr>
          <p:spPr>
            <a:xfrm>
              <a:off x="4104775" y="2574525"/>
              <a:ext cx="2304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4937438" y="2574525"/>
              <a:ext cx="4458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3402525" y="3010425"/>
              <a:ext cx="1383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3402525" y="3540150"/>
              <a:ext cx="1383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3369950" y="4065900"/>
              <a:ext cx="2325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7" name="Google Shape;247;p20"/>
            <p:cNvCxnSpPr/>
            <p:nvPr/>
          </p:nvCxnSpPr>
          <p:spPr>
            <a:xfrm rot="10800000">
              <a:off x="3174125" y="4467050"/>
              <a:ext cx="224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20"/>
            <p:cNvCxnSpPr/>
            <p:nvPr/>
          </p:nvCxnSpPr>
          <p:spPr>
            <a:xfrm>
              <a:off x="542233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9" name="Google Shape;249;p20"/>
          <p:cNvSpPr txBox="1"/>
          <p:nvPr/>
        </p:nvSpPr>
        <p:spPr>
          <a:xfrm>
            <a:off x="476400" y="6855300"/>
            <a:ext cx="6614400" cy="24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and Izzy are playing a game of ‘rock, paper, scissors’. Where rock beats scissors, scissors beats paper and paper beats rock.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when each person wins.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2160423" y="8318308"/>
            <a:ext cx="3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606889" y="8318308"/>
            <a:ext cx="34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3100853" y="8577486"/>
            <a:ext cx="63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one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3" name="Google Shape;253;p20"/>
          <p:cNvGrpSpPr/>
          <p:nvPr/>
        </p:nvGrpSpPr>
        <p:grpSpPr>
          <a:xfrm>
            <a:off x="2282632" y="8204964"/>
            <a:ext cx="3236557" cy="1577459"/>
            <a:chOff x="2802250" y="2553818"/>
            <a:chExt cx="4031084" cy="1913232"/>
          </a:xfrm>
        </p:grpSpPr>
        <p:cxnSp>
          <p:nvCxnSpPr>
            <p:cNvPr id="254" name="Google Shape;254;p20"/>
            <p:cNvCxnSpPr/>
            <p:nvPr/>
          </p:nvCxnSpPr>
          <p:spPr>
            <a:xfrm>
              <a:off x="3757000" y="2574525"/>
              <a:ext cx="0" cy="1884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0"/>
            <p:cNvCxnSpPr/>
            <p:nvPr/>
          </p:nvCxnSpPr>
          <p:spPr>
            <a:xfrm>
              <a:off x="459355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0"/>
            <p:cNvCxnSpPr/>
            <p:nvPr/>
          </p:nvCxnSpPr>
          <p:spPr>
            <a:xfrm>
              <a:off x="542233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20"/>
            <p:cNvCxnSpPr/>
            <p:nvPr/>
          </p:nvCxnSpPr>
          <p:spPr>
            <a:xfrm rot="10800000">
              <a:off x="2802250" y="2882475"/>
              <a:ext cx="3661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0"/>
            <p:cNvCxnSpPr/>
            <p:nvPr/>
          </p:nvCxnSpPr>
          <p:spPr>
            <a:xfrm rot="10800000">
              <a:off x="2802250" y="3415575"/>
              <a:ext cx="3661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20"/>
            <p:cNvCxnSpPr/>
            <p:nvPr/>
          </p:nvCxnSpPr>
          <p:spPr>
            <a:xfrm rot="10800000">
              <a:off x="2802250" y="3941925"/>
              <a:ext cx="3661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20"/>
            <p:cNvSpPr txBox="1"/>
            <p:nvPr/>
          </p:nvSpPr>
          <p:spPr>
            <a:xfrm>
              <a:off x="3944038" y="2553818"/>
              <a:ext cx="5781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rock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4688143" y="2553818"/>
              <a:ext cx="7167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paper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3185450" y="3010425"/>
              <a:ext cx="4932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rock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2961950" y="3540150"/>
              <a:ext cx="7167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paper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4" name="Google Shape;264;p20"/>
            <p:cNvCxnSpPr/>
            <p:nvPr/>
          </p:nvCxnSpPr>
          <p:spPr>
            <a:xfrm>
              <a:off x="6463750" y="2574525"/>
              <a:ext cx="0" cy="1892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20"/>
            <p:cNvCxnSpPr/>
            <p:nvPr/>
          </p:nvCxnSpPr>
          <p:spPr>
            <a:xfrm rot="10800000">
              <a:off x="2802250" y="4467050"/>
              <a:ext cx="3661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6" name="Google Shape;266;p20"/>
            <p:cNvSpPr txBox="1"/>
            <p:nvPr/>
          </p:nvSpPr>
          <p:spPr>
            <a:xfrm>
              <a:off x="2802350" y="4065900"/>
              <a:ext cx="8721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scissors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 txBox="1"/>
            <p:nvPr/>
          </p:nvSpPr>
          <p:spPr>
            <a:xfrm>
              <a:off x="5514534" y="2553818"/>
              <a:ext cx="13188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scissors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8" name="Google Shape;268;p20"/>
          <p:cNvSpPr txBox="1"/>
          <p:nvPr/>
        </p:nvSpPr>
        <p:spPr>
          <a:xfrm>
            <a:off x="3810532" y="8571815"/>
            <a:ext cx="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572673" y="8552196"/>
            <a:ext cx="40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773549" y="9000651"/>
            <a:ext cx="63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one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4502771" y="9411713"/>
            <a:ext cx="63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one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3162646" y="9003999"/>
            <a:ext cx="40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3885204" y="9415060"/>
            <a:ext cx="40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4548067" y="8995673"/>
            <a:ext cx="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3134911" y="9406734"/>
            <a:ext cx="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6" name="Google Shape;276;p20"/>
          <p:cNvPicPr preferRelativeResize="0"/>
          <p:nvPr/>
        </p:nvPicPr>
        <p:blipFill rotWithShape="1">
          <a:blip r:embed="rId3">
            <a:alphaModFix/>
          </a:blip>
          <a:srcRect b="0" l="72517" r="1253" t="11347"/>
          <a:stretch/>
        </p:blipFill>
        <p:spPr>
          <a:xfrm rot="-5400000">
            <a:off x="1951232" y="8861933"/>
            <a:ext cx="366843" cy="51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/>
          <p:cNvPicPr preferRelativeResize="0"/>
          <p:nvPr/>
        </p:nvPicPr>
        <p:blipFill rotWithShape="1">
          <a:blip r:embed="rId4">
            <a:alphaModFix/>
          </a:blip>
          <a:srcRect b="0" l="0" r="0" t="24789"/>
          <a:stretch/>
        </p:blipFill>
        <p:spPr>
          <a:xfrm rot="-5400000">
            <a:off x="2034257" y="8459968"/>
            <a:ext cx="200797" cy="43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/>
          <p:cNvPicPr preferRelativeResize="0"/>
          <p:nvPr/>
        </p:nvPicPr>
        <p:blipFill rotWithShape="1">
          <a:blip r:embed="rId3">
            <a:alphaModFix/>
          </a:blip>
          <a:srcRect b="0" l="72517" r="1253" t="11347"/>
          <a:stretch/>
        </p:blipFill>
        <p:spPr>
          <a:xfrm rot="-5400000">
            <a:off x="3857325" y="7835149"/>
            <a:ext cx="366843" cy="51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0"/>
          <p:cNvPicPr preferRelativeResize="0"/>
          <p:nvPr/>
        </p:nvPicPr>
        <p:blipFill rotWithShape="1">
          <a:blip r:embed="rId3">
            <a:alphaModFix/>
          </a:blip>
          <a:srcRect b="0" l="18128" r="63873" t="11347"/>
          <a:stretch/>
        </p:blipFill>
        <p:spPr>
          <a:xfrm rot="-5400000">
            <a:off x="1899234" y="9302464"/>
            <a:ext cx="251720" cy="51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0"/>
          <p:cNvPicPr preferRelativeResize="0"/>
          <p:nvPr/>
        </p:nvPicPr>
        <p:blipFill rotWithShape="1">
          <a:blip r:embed="rId3">
            <a:alphaModFix/>
          </a:blip>
          <a:srcRect b="0" l="18128" r="63873" t="11347"/>
          <a:stretch/>
        </p:blipFill>
        <p:spPr>
          <a:xfrm rot="-5400000">
            <a:off x="4656057" y="7875854"/>
            <a:ext cx="251720" cy="51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0"/>
          <p:cNvPicPr preferRelativeResize="0"/>
          <p:nvPr/>
        </p:nvPicPr>
        <p:blipFill rotWithShape="1">
          <a:blip r:embed="rId4">
            <a:alphaModFix/>
          </a:blip>
          <a:srcRect b="0" l="0" r="0" t="24789"/>
          <a:stretch/>
        </p:blipFill>
        <p:spPr>
          <a:xfrm rot="-5400000">
            <a:off x="3304995" y="7916192"/>
            <a:ext cx="200797" cy="4345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0"/>
          <p:cNvSpPr txBox="1"/>
          <p:nvPr/>
        </p:nvSpPr>
        <p:spPr>
          <a:xfrm>
            <a:off x="3730702" y="7681460"/>
            <a:ext cx="895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 rot="-5400000">
            <a:off x="1483947" y="8867933"/>
            <a:ext cx="6006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two-way tables to display outcomes for two events</a:t>
            </a:r>
            <a:endParaRPr/>
          </a:p>
        </p:txBody>
      </p:sp>
      <p:sp>
        <p:nvSpPr>
          <p:cNvPr id="289" name="Google Shape;28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476399" y="725450"/>
            <a:ext cx="6181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Outcome table from two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76400" y="1128380"/>
            <a:ext cx="54825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spinner will be spun.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two events are even numbers and factors of 14.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table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show the outcomes for each event.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851986" y="1138836"/>
            <a:ext cx="1106400" cy="1106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 flipH="1">
            <a:off x="5861491" y="1148465"/>
            <a:ext cx="1087200" cy="10872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5861615" y="1148465"/>
            <a:ext cx="1087200" cy="10872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6132485" y="1895834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5861615" y="1148465"/>
            <a:ext cx="1087200" cy="10872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5900242" y="1346634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 flipH="1">
            <a:off x="5861491" y="1148465"/>
            <a:ext cx="1087200" cy="10872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453844" y="1151204"/>
            <a:ext cx="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5861615" y="1148465"/>
            <a:ext cx="1087200" cy="10872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6157876" y="1147801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5861615" y="1148465"/>
            <a:ext cx="1087200" cy="10872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5909956" y="1681557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/>
          <p:nvPr/>
        </p:nvSpPr>
        <p:spPr>
          <a:xfrm flipH="1">
            <a:off x="5861491" y="1148465"/>
            <a:ext cx="1087200" cy="10872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6675987" y="1374353"/>
            <a:ext cx="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 flipH="1">
            <a:off x="5861491" y="1148465"/>
            <a:ext cx="1087200" cy="10872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6455187" y="1889152"/>
            <a:ext cx="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655233" y="1674159"/>
            <a:ext cx="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9" name="Google Shape;309;p21"/>
          <p:cNvGrpSpPr/>
          <p:nvPr/>
        </p:nvGrpSpPr>
        <p:grpSpPr>
          <a:xfrm>
            <a:off x="6373467" y="1181573"/>
            <a:ext cx="61260" cy="532921"/>
            <a:chOff x="996050" y="213293"/>
            <a:chExt cx="93900" cy="909732"/>
          </a:xfrm>
        </p:grpSpPr>
        <p:cxnSp>
          <p:nvCxnSpPr>
            <p:cNvPr id="310" name="Google Shape;310;p2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1" name="Google Shape;311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12" name="Google Shape;312;p21"/>
          <p:cNvCxnSpPr/>
          <p:nvPr/>
        </p:nvCxnSpPr>
        <p:spPr>
          <a:xfrm>
            <a:off x="2587738" y="2093376"/>
            <a:ext cx="0" cy="1480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21"/>
          <p:cNvCxnSpPr/>
          <p:nvPr/>
        </p:nvCxnSpPr>
        <p:spPr>
          <a:xfrm>
            <a:off x="3469754" y="2093376"/>
            <a:ext cx="0" cy="1480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21"/>
          <p:cNvCxnSpPr/>
          <p:nvPr/>
        </p:nvCxnSpPr>
        <p:spPr>
          <a:xfrm>
            <a:off x="4351769" y="2093376"/>
            <a:ext cx="0" cy="1480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21"/>
          <p:cNvCxnSpPr/>
          <p:nvPr/>
        </p:nvCxnSpPr>
        <p:spPr>
          <a:xfrm rot="10800000">
            <a:off x="1526557" y="3571253"/>
            <a:ext cx="2831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21"/>
          <p:cNvCxnSpPr/>
          <p:nvPr/>
        </p:nvCxnSpPr>
        <p:spPr>
          <a:xfrm rot="10800000">
            <a:off x="1534154" y="2509922"/>
            <a:ext cx="2831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21"/>
          <p:cNvCxnSpPr/>
          <p:nvPr/>
        </p:nvCxnSpPr>
        <p:spPr>
          <a:xfrm rot="10800000">
            <a:off x="1534154" y="3046712"/>
            <a:ext cx="2831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1"/>
          <p:cNvSpPr txBox="1"/>
          <p:nvPr/>
        </p:nvSpPr>
        <p:spPr>
          <a:xfrm>
            <a:off x="2666159" y="2051745"/>
            <a:ext cx="9030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numbers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3548174" y="2051745"/>
            <a:ext cx="9030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 numbers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1500525" y="2614263"/>
            <a:ext cx="10872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factors of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1560572" y="3097063"/>
            <a:ext cx="1087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factors of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2" name="Google Shape;322;p21"/>
          <p:cNvCxnSpPr/>
          <p:nvPr/>
        </p:nvCxnSpPr>
        <p:spPr>
          <a:xfrm>
            <a:off x="2518344" y="5771188"/>
            <a:ext cx="0" cy="1293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21"/>
          <p:cNvCxnSpPr/>
          <p:nvPr/>
        </p:nvCxnSpPr>
        <p:spPr>
          <a:xfrm>
            <a:off x="3441672" y="5771188"/>
            <a:ext cx="0" cy="1293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21"/>
          <p:cNvCxnSpPr/>
          <p:nvPr/>
        </p:nvCxnSpPr>
        <p:spPr>
          <a:xfrm>
            <a:off x="4354701" y="5760300"/>
            <a:ext cx="0" cy="131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21"/>
          <p:cNvCxnSpPr/>
          <p:nvPr/>
        </p:nvCxnSpPr>
        <p:spPr>
          <a:xfrm rot="10800000">
            <a:off x="1534355" y="7062371"/>
            <a:ext cx="2812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21"/>
          <p:cNvCxnSpPr/>
          <p:nvPr/>
        </p:nvCxnSpPr>
        <p:spPr>
          <a:xfrm rot="10800000">
            <a:off x="1541901" y="6135113"/>
            <a:ext cx="2812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21"/>
          <p:cNvCxnSpPr/>
          <p:nvPr/>
        </p:nvCxnSpPr>
        <p:spPr>
          <a:xfrm rot="10800000">
            <a:off x="1541901" y="6604093"/>
            <a:ext cx="2812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21"/>
          <p:cNvSpPr txBox="1"/>
          <p:nvPr/>
        </p:nvSpPr>
        <p:spPr>
          <a:xfrm>
            <a:off x="2576052" y="5863029"/>
            <a:ext cx="8655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handle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3479424" y="5863029"/>
            <a:ext cx="8862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handle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1588559" y="6263609"/>
            <a:ext cx="88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straw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1584261" y="6705202"/>
            <a:ext cx="9252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straw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1410696" y="54372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1950519" y="54372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2468691" y="54372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2994080" y="54372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3533902" y="54372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083829" y="54372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609218" y="54372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5188012" y="54372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5735051" y="54372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2589746" y="6667163"/>
            <a:ext cx="170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2562069" y="6193413"/>
            <a:ext cx="170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2775954" y="6262719"/>
            <a:ext cx="170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3507680" y="6193413"/>
            <a:ext cx="170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3677835" y="6193413"/>
            <a:ext cx="170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3001866" y="6193413"/>
            <a:ext cx="170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3472221" y="6667163"/>
            <a:ext cx="170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3837369" y="6233561"/>
            <a:ext cx="170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3141810" y="6311446"/>
            <a:ext cx="170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476400" y="4379500"/>
            <a:ext cx="65829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Sort these drinks into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table.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800" y="4798851"/>
            <a:ext cx="349103" cy="489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0405" y="4865138"/>
            <a:ext cx="318934" cy="433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5762" y="4795613"/>
            <a:ext cx="303849" cy="54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0027" y="4825284"/>
            <a:ext cx="269617" cy="51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37058" y="4775507"/>
            <a:ext cx="308159" cy="562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51319" y="4832821"/>
            <a:ext cx="307581" cy="4977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21"/>
          <p:cNvGrpSpPr/>
          <p:nvPr/>
        </p:nvGrpSpPr>
        <p:grpSpPr>
          <a:xfrm>
            <a:off x="1883395" y="4749272"/>
            <a:ext cx="355570" cy="530151"/>
            <a:chOff x="1984114" y="1120943"/>
            <a:chExt cx="477596" cy="712090"/>
          </a:xfrm>
        </p:grpSpPr>
        <p:pic>
          <p:nvPicPr>
            <p:cNvPr id="358" name="Google Shape;358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984114" y="1199133"/>
              <a:ext cx="477596" cy="63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1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2043225" y="1120943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0" name="Google Shape;360;p21"/>
          <p:cNvGrpSpPr/>
          <p:nvPr/>
        </p:nvGrpSpPr>
        <p:grpSpPr>
          <a:xfrm>
            <a:off x="2426437" y="4792773"/>
            <a:ext cx="361174" cy="495265"/>
            <a:chOff x="2713519" y="1179374"/>
            <a:chExt cx="485123" cy="665232"/>
          </a:xfrm>
        </p:grpSpPr>
        <p:pic>
          <p:nvPicPr>
            <p:cNvPr id="361" name="Google Shape;361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713519" y="1257018"/>
              <a:ext cx="445756" cy="587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21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2784717" y="1179374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3" name="Google Shape;363;p21"/>
          <p:cNvGrpSpPr/>
          <p:nvPr/>
        </p:nvGrpSpPr>
        <p:grpSpPr>
          <a:xfrm>
            <a:off x="4036740" y="4772459"/>
            <a:ext cx="352653" cy="541446"/>
            <a:chOff x="4876452" y="1152087"/>
            <a:chExt cx="473678" cy="727261"/>
          </a:xfrm>
        </p:grpSpPr>
        <p:pic>
          <p:nvPicPr>
            <p:cNvPr id="364" name="Google Shape;364;p2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876452" y="1222293"/>
              <a:ext cx="451545" cy="657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21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4936205" y="1152087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6" name="Google Shape;366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21"/>
          <p:cNvSpPr txBox="1"/>
          <p:nvPr/>
        </p:nvSpPr>
        <p:spPr>
          <a:xfrm>
            <a:off x="3847509" y="32483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2704509" y="26242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3796697" y="2584275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2704509" y="3243525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4114809" y="32483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2953134" y="32483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3957652" y="2584275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3225189" y="32483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0" name="Google Shape;380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two-way tables to display outcomes for two events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476399" y="725450"/>
            <a:ext cx="62349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Frequency in a two-way table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476400" y="1285592"/>
            <a:ext cx="6411900" cy="23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random sample of people is being selected by allocating an integer from 1 to 50 to each person and then picking based on two rules.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1 is that the integer is a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rule 2 is that the integer is a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5" name="Google Shape;385;p22"/>
          <p:cNvGrpSpPr/>
          <p:nvPr/>
        </p:nvGrpSpPr>
        <p:grpSpPr>
          <a:xfrm>
            <a:off x="2835266" y="2031400"/>
            <a:ext cx="4122735" cy="1688350"/>
            <a:chOff x="4749078" y="933000"/>
            <a:chExt cx="5296422" cy="2169000"/>
          </a:xfrm>
        </p:grpSpPr>
        <p:cxnSp>
          <p:nvCxnSpPr>
            <p:cNvPr id="386" name="Google Shape;386;p22"/>
            <p:cNvCxnSpPr/>
            <p:nvPr/>
          </p:nvCxnSpPr>
          <p:spPr>
            <a:xfrm>
              <a:off x="6384375" y="950623"/>
              <a:ext cx="0" cy="214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22"/>
            <p:cNvCxnSpPr/>
            <p:nvPr/>
          </p:nvCxnSpPr>
          <p:spPr>
            <a:xfrm>
              <a:off x="7602188" y="950623"/>
              <a:ext cx="0" cy="214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22"/>
            <p:cNvCxnSpPr/>
            <p:nvPr/>
          </p:nvCxnSpPr>
          <p:spPr>
            <a:xfrm>
              <a:off x="9277200" y="933000"/>
              <a:ext cx="0" cy="2169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22"/>
            <p:cNvCxnSpPr/>
            <p:nvPr/>
          </p:nvCxnSpPr>
          <p:spPr>
            <a:xfrm rot="10800000">
              <a:off x="4776978" y="1569800"/>
              <a:ext cx="52413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22"/>
            <p:cNvCxnSpPr/>
            <p:nvPr/>
          </p:nvCxnSpPr>
          <p:spPr>
            <a:xfrm rot="10800000">
              <a:off x="4749078" y="2069185"/>
              <a:ext cx="5269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p22"/>
            <p:cNvCxnSpPr/>
            <p:nvPr/>
          </p:nvCxnSpPr>
          <p:spPr>
            <a:xfrm rot="10800000">
              <a:off x="4776900" y="2720925"/>
              <a:ext cx="5268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2" name="Google Shape;392;p22"/>
          <p:cNvSpPr txBox="1"/>
          <p:nvPr/>
        </p:nvSpPr>
        <p:spPr>
          <a:xfrm>
            <a:off x="4210303" y="2032330"/>
            <a:ext cx="73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5085912" y="2032525"/>
            <a:ext cx="119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multiple of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2835274" y="2589350"/>
            <a:ext cx="1308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2888749" y="2902600"/>
            <a:ext cx="1155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4548453" y="2603239"/>
            <a:ext cx="1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5661319" y="2603233"/>
            <a:ext cx="315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4548453" y="3041291"/>
            <a:ext cx="1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5661310" y="3041291"/>
            <a:ext cx="279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00" name="Google Shape;400;p22"/>
          <p:cNvCxnSpPr/>
          <p:nvPr/>
        </p:nvCxnSpPr>
        <p:spPr>
          <a:xfrm rot="10800000">
            <a:off x="2856902" y="3719548"/>
            <a:ext cx="4100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22"/>
          <p:cNvSpPr txBox="1"/>
          <p:nvPr/>
        </p:nvSpPr>
        <p:spPr>
          <a:xfrm>
            <a:off x="4536389" y="3453079"/>
            <a:ext cx="1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6622482" y="2603233"/>
            <a:ext cx="279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6596778" y="3041291"/>
            <a:ext cx="279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5661310" y="3453079"/>
            <a:ext cx="279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6562004" y="3453079"/>
            <a:ext cx="239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6428608" y="2267642"/>
            <a:ext cx="663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3622427" y="3453075"/>
            <a:ext cx="663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8" name="Google Shape;408;p22"/>
          <p:cNvCxnSpPr/>
          <p:nvPr/>
        </p:nvCxnSpPr>
        <p:spPr>
          <a:xfrm>
            <a:off x="6952640" y="2027387"/>
            <a:ext cx="0" cy="169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2"/>
          <p:cNvSpPr txBox="1"/>
          <p:nvPr/>
        </p:nvSpPr>
        <p:spPr>
          <a:xfrm>
            <a:off x="476400" y="2165781"/>
            <a:ext cx="24123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two-way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476400" y="4095919"/>
            <a:ext cx="62844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1" name="Google Shape;411;p22"/>
          <p:cNvGrpSpPr/>
          <p:nvPr/>
        </p:nvGrpSpPr>
        <p:grpSpPr>
          <a:xfrm>
            <a:off x="3324704" y="5474480"/>
            <a:ext cx="3495416" cy="1654730"/>
            <a:chOff x="5076451" y="933000"/>
            <a:chExt cx="4581749" cy="2169000"/>
          </a:xfrm>
        </p:grpSpPr>
        <p:cxnSp>
          <p:nvCxnSpPr>
            <p:cNvPr id="412" name="Google Shape;412;p22"/>
            <p:cNvCxnSpPr/>
            <p:nvPr/>
          </p:nvCxnSpPr>
          <p:spPr>
            <a:xfrm>
              <a:off x="6384375" y="950623"/>
              <a:ext cx="0" cy="214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22"/>
            <p:cNvCxnSpPr/>
            <p:nvPr/>
          </p:nvCxnSpPr>
          <p:spPr>
            <a:xfrm>
              <a:off x="7602188" y="950623"/>
              <a:ext cx="0" cy="214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22"/>
            <p:cNvCxnSpPr/>
            <p:nvPr/>
          </p:nvCxnSpPr>
          <p:spPr>
            <a:xfrm>
              <a:off x="8896200" y="933000"/>
              <a:ext cx="0" cy="2169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22"/>
            <p:cNvCxnSpPr/>
            <p:nvPr/>
          </p:nvCxnSpPr>
          <p:spPr>
            <a:xfrm rot="10800000">
              <a:off x="5100751" y="1569800"/>
              <a:ext cx="4533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22"/>
            <p:cNvCxnSpPr/>
            <p:nvPr/>
          </p:nvCxnSpPr>
          <p:spPr>
            <a:xfrm rot="10800000">
              <a:off x="5076451" y="2069185"/>
              <a:ext cx="455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22"/>
            <p:cNvCxnSpPr/>
            <p:nvPr/>
          </p:nvCxnSpPr>
          <p:spPr>
            <a:xfrm rot="10800000">
              <a:off x="5100600" y="2720925"/>
              <a:ext cx="4557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8" name="Google Shape;418;p22"/>
          <p:cNvSpPr txBox="1"/>
          <p:nvPr/>
        </p:nvSpPr>
        <p:spPr>
          <a:xfrm>
            <a:off x="4422899" y="5475437"/>
            <a:ext cx="718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sports club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>
            <a:off x="5281125" y="5475625"/>
            <a:ext cx="904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sports club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3341411" y="6021389"/>
            <a:ext cx="1132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music club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3360119" y="6349475"/>
            <a:ext cx="904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music club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4754336" y="6035012"/>
            <a:ext cx="127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5670706" y="6035007"/>
            <a:ext cx="3090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4754336" y="6464368"/>
            <a:ext cx="127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5670697" y="6464368"/>
            <a:ext cx="274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6" name="Google Shape;426;p22"/>
          <p:cNvCxnSpPr/>
          <p:nvPr/>
        </p:nvCxnSpPr>
        <p:spPr>
          <a:xfrm rot="10800000">
            <a:off x="3348798" y="7129162"/>
            <a:ext cx="349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22"/>
          <p:cNvSpPr txBox="1"/>
          <p:nvPr/>
        </p:nvSpPr>
        <p:spPr>
          <a:xfrm>
            <a:off x="4742511" y="6867982"/>
            <a:ext cx="127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6380253" y="6035007"/>
            <a:ext cx="274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6355059" y="6464368"/>
            <a:ext cx="274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5670697" y="6867982"/>
            <a:ext cx="274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6320976" y="6867982"/>
            <a:ext cx="2349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6306495" y="5706077"/>
            <a:ext cx="650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3846695" y="6867978"/>
            <a:ext cx="650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4" name="Google Shape;434;p22"/>
          <p:cNvCxnSpPr/>
          <p:nvPr/>
        </p:nvCxnSpPr>
        <p:spPr>
          <a:xfrm>
            <a:off x="6830530" y="5470592"/>
            <a:ext cx="0" cy="166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22"/>
          <p:cNvSpPr txBox="1"/>
          <p:nvPr/>
        </p:nvSpPr>
        <p:spPr>
          <a:xfrm>
            <a:off x="3310542" y="4625898"/>
            <a:ext cx="31257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Circle all the numbers in the table that include Izzy.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clubs does Sofia do, if any?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6" name="Google Shape;4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04" y="5343590"/>
            <a:ext cx="201641" cy="252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291" y="4118921"/>
            <a:ext cx="172850" cy="32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045" y="5627184"/>
            <a:ext cx="221368" cy="248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736" y="5928832"/>
            <a:ext cx="223985" cy="293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6941" y="6238864"/>
            <a:ext cx="195755" cy="281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03271" y="4722222"/>
            <a:ext cx="308974" cy="29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648457" y="4433510"/>
            <a:ext cx="218605" cy="281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89907" y="5047093"/>
            <a:ext cx="201642" cy="24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682991" y="6563912"/>
            <a:ext cx="215460" cy="248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702823" y="6855527"/>
            <a:ext cx="223987" cy="24848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6" name="Google Shape;446;p22"/>
          <p:cNvGraphicFramePr/>
          <p:nvPr/>
        </p:nvGraphicFramePr>
        <p:xfrm>
          <a:off x="1066800" y="414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{EFD404EB-6159-4F10-81CE-28B1918B387E}</a:tableStyleId>
              </a:tblPr>
              <a:tblGrid>
                <a:gridCol w="723825"/>
                <a:gridCol w="644850"/>
                <a:gridCol w="660625"/>
              </a:tblGrid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Izzy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Jacob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Lucas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Music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7" name="Google Shape;447;p22"/>
          <p:cNvSpPr txBox="1"/>
          <p:nvPr/>
        </p:nvSpPr>
        <p:spPr>
          <a:xfrm>
            <a:off x="3285750" y="4120075"/>
            <a:ext cx="367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pupils have been asked about whether they are members of a sports or music club.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5537142" y="6403258"/>
            <a:ext cx="364500" cy="378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5537142" y="6790831"/>
            <a:ext cx="364500" cy="378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6241976" y="6379398"/>
            <a:ext cx="364500" cy="378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476400" y="7617300"/>
            <a:ext cx="6411600" cy="23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>
            <a:off x="476400" y="7915245"/>
            <a:ext cx="2397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715775" y="7617300"/>
            <a:ext cx="63735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the missing boxes on each of these two-way tables.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3799131" y="7915245"/>
            <a:ext cx="2397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55" name="Google Shape;455;p22"/>
          <p:cNvGraphicFramePr/>
          <p:nvPr/>
        </p:nvGraphicFramePr>
        <p:xfrm>
          <a:off x="533400" y="794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{EFD404EB-6159-4F10-81CE-28B1918B387E}</a:tableStyleId>
              </a:tblPr>
              <a:tblGrid>
                <a:gridCol w="674425"/>
                <a:gridCol w="880150"/>
                <a:gridCol w="828275"/>
                <a:gridCol w="503725"/>
              </a:tblGrid>
              <a:tr h="52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1st attempt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2nd attempt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pass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fail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6" name="Google Shape;456;p22"/>
          <p:cNvGraphicFramePr/>
          <p:nvPr/>
        </p:nvGraphicFramePr>
        <p:xfrm>
          <a:off x="3867150" y="804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{EFD404EB-6159-4F10-81CE-28B1918B387E}</a:tableStyleId>
              </a:tblPr>
              <a:tblGrid>
                <a:gridCol w="752825"/>
                <a:gridCol w="873275"/>
                <a:gridCol w="843175"/>
                <a:gridCol w="752825"/>
              </a:tblGrid>
              <a:tr h="26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adult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goggles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 goggles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