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82AFBFC-D9C8-48DC-B392-D28179C21DEB}">
  <a:tblStyle styleId="{982AFBFC-D9C8-48DC-B392-D28179C21DE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3" name="Google Shape;753;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g2b37f807d2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9" name="Google Shape;769;g2b37f807d2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2b37f807d2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2b37f807d2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g2b4feb0f78b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3" name="Google Shape;783;g2b4feb0f78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b4feb0f78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b4feb0f78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b4feb0f78b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2b4feb0f78b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2b4feb0f78b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2b4feb0f78b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g2b67e9359c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3" name="Google Shape;1063;g2b67e9359c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b67e9359c6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b67e9359c6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2" name="Shape 1182"/>
        <p:cNvGrpSpPr/>
        <p:nvPr/>
      </p:nvGrpSpPr>
      <p:grpSpPr>
        <a:xfrm>
          <a:off x="0" y="0"/>
          <a:ext cx="0" cy="0"/>
          <a:chOff x="0" y="0"/>
          <a:chExt cx="0" cy="0"/>
        </a:xfrm>
      </p:grpSpPr>
      <p:sp>
        <p:nvSpPr>
          <p:cNvPr id="1183" name="Google Shape;1183;g2b4feb0f78b_0_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4" name="Google Shape;1184;g2b4feb0f78b_0_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g2b4feb0f78b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4" name="Google Shape;1234;g2b4feb0f78b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2b6f05c2d5d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6" name="Google Shape;1266;g2b6f05c2d5d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2b6f05c2d5d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4" name="Google Shape;1304;g2b6f05c2d5d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2b6f05c2d5d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8" name="Google Shape;1338;g2b6f05c2d5d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7" name="Shape 1377"/>
        <p:cNvGrpSpPr/>
        <p:nvPr/>
      </p:nvGrpSpPr>
      <p:grpSpPr>
        <a:xfrm>
          <a:off x="0" y="0"/>
          <a:ext cx="0" cy="0"/>
          <a:chOff x="0" y="0"/>
          <a:chExt cx="0" cy="0"/>
        </a:xfrm>
      </p:grpSpPr>
      <p:sp>
        <p:nvSpPr>
          <p:cNvPr id="1378" name="Google Shape;1378;g2b6f05c2d5d_0_5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9" name="Google Shape;1379;g2b6f05c2d5d_0_5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2b6f05c2d5d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2b6f05c2d5d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1" name="Shape 1461"/>
        <p:cNvGrpSpPr/>
        <p:nvPr/>
      </p:nvGrpSpPr>
      <p:grpSpPr>
        <a:xfrm>
          <a:off x="0" y="0"/>
          <a:ext cx="0" cy="0"/>
          <a:chOff x="0" y="0"/>
          <a:chExt cx="0" cy="0"/>
        </a:xfrm>
      </p:grpSpPr>
      <p:sp>
        <p:nvSpPr>
          <p:cNvPr id="1462" name="Google Shape;1462;g2b67e9359c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3" name="Google Shape;1463;g2b67e9359c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2b4feb0f78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2" name="Google Shape;1472;g2b4feb0f78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7" name="Shape 1507"/>
        <p:cNvGrpSpPr/>
        <p:nvPr/>
      </p:nvGrpSpPr>
      <p:grpSpPr>
        <a:xfrm>
          <a:off x="0" y="0"/>
          <a:ext cx="0" cy="0"/>
          <a:chOff x="0" y="0"/>
          <a:chExt cx="0" cy="0"/>
        </a:xfrm>
      </p:grpSpPr>
      <p:sp>
        <p:nvSpPr>
          <p:cNvPr id="1508" name="Google Shape;1508;g2b4feb0f78b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9" name="Google Shape;1509;g2b4feb0f78b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g2b4feb0f78b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6" name="Google Shape;1546;g2b4feb0f78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9" name="Shape 1579"/>
        <p:cNvGrpSpPr/>
        <p:nvPr/>
      </p:nvGrpSpPr>
      <p:grpSpPr>
        <a:xfrm>
          <a:off x="0" y="0"/>
          <a:ext cx="0" cy="0"/>
          <a:chOff x="0" y="0"/>
          <a:chExt cx="0" cy="0"/>
        </a:xfrm>
      </p:grpSpPr>
      <p:sp>
        <p:nvSpPr>
          <p:cNvPr id="1580" name="Google Shape;1580;g2b4feb0f78b_0_6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1" name="Google Shape;1581;g2b4feb0f78b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1" name="Shape 1611"/>
        <p:cNvGrpSpPr/>
        <p:nvPr/>
      </p:nvGrpSpPr>
      <p:grpSpPr>
        <a:xfrm>
          <a:off x="0" y="0"/>
          <a:ext cx="0" cy="0"/>
          <a:chOff x="0" y="0"/>
          <a:chExt cx="0" cy="0"/>
        </a:xfrm>
      </p:grpSpPr>
      <p:sp>
        <p:nvSpPr>
          <p:cNvPr id="1612" name="Google Shape;1612;g2b4feb0f78b_0_1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3" name="Google Shape;1613;g2b4feb0f78b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6" name="Shape 1636"/>
        <p:cNvGrpSpPr/>
        <p:nvPr/>
      </p:nvGrpSpPr>
      <p:grpSpPr>
        <a:xfrm>
          <a:off x="0" y="0"/>
          <a:ext cx="0" cy="0"/>
          <a:chOff x="0" y="0"/>
          <a:chExt cx="0" cy="0"/>
        </a:xfrm>
      </p:grpSpPr>
      <p:sp>
        <p:nvSpPr>
          <p:cNvPr id="1637" name="Google Shape;1637;g2b4feb0f78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8" name="Google Shape;1638;g2b4feb0f78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2" name="Shape 1672"/>
        <p:cNvGrpSpPr/>
        <p:nvPr/>
      </p:nvGrpSpPr>
      <p:grpSpPr>
        <a:xfrm>
          <a:off x="0" y="0"/>
          <a:ext cx="0" cy="0"/>
          <a:chOff x="0" y="0"/>
          <a:chExt cx="0" cy="0"/>
        </a:xfrm>
      </p:grpSpPr>
      <p:sp>
        <p:nvSpPr>
          <p:cNvPr id="1673" name="Google Shape;1673;g2b750804f3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4" name="Google Shape;1674;g2b750804f3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2" name="Shape 1712"/>
        <p:cNvGrpSpPr/>
        <p:nvPr/>
      </p:nvGrpSpPr>
      <p:grpSpPr>
        <a:xfrm>
          <a:off x="0" y="0"/>
          <a:ext cx="0" cy="0"/>
          <a:chOff x="0" y="0"/>
          <a:chExt cx="0" cy="0"/>
        </a:xfrm>
      </p:grpSpPr>
      <p:sp>
        <p:nvSpPr>
          <p:cNvPr id="1713" name="Google Shape;1713;g2b750804f3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4" name="Google Shape;1714;g2b750804f3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6" name="Shape 1756"/>
        <p:cNvGrpSpPr/>
        <p:nvPr/>
      </p:nvGrpSpPr>
      <p:grpSpPr>
        <a:xfrm>
          <a:off x="0" y="0"/>
          <a:ext cx="0" cy="0"/>
          <a:chOff x="0" y="0"/>
          <a:chExt cx="0" cy="0"/>
        </a:xfrm>
      </p:grpSpPr>
      <p:sp>
        <p:nvSpPr>
          <p:cNvPr id="1757" name="Google Shape;1757;g2b750804f38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8" name="Google Shape;1758;g2b750804f38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5" name="Shape 1805"/>
        <p:cNvGrpSpPr/>
        <p:nvPr/>
      </p:nvGrpSpPr>
      <p:grpSpPr>
        <a:xfrm>
          <a:off x="0" y="0"/>
          <a:ext cx="0" cy="0"/>
          <a:chOff x="0" y="0"/>
          <a:chExt cx="0" cy="0"/>
        </a:xfrm>
      </p:grpSpPr>
      <p:sp>
        <p:nvSpPr>
          <p:cNvPr id="1806" name="Google Shape;1806;g2b67e9359c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7" name="Google Shape;1807;g2b67e9359c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4" name="Shape 1814"/>
        <p:cNvGrpSpPr/>
        <p:nvPr/>
      </p:nvGrpSpPr>
      <p:grpSpPr>
        <a:xfrm>
          <a:off x="0" y="0"/>
          <a:ext cx="0" cy="0"/>
          <a:chOff x="0" y="0"/>
          <a:chExt cx="0" cy="0"/>
        </a:xfrm>
      </p:grpSpPr>
      <p:sp>
        <p:nvSpPr>
          <p:cNvPr id="1815" name="Google Shape;1815;g2b67e9359c6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6" name="Google Shape;1816;g2b67e9359c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3" name="Shape 1853"/>
        <p:cNvGrpSpPr/>
        <p:nvPr/>
      </p:nvGrpSpPr>
      <p:grpSpPr>
        <a:xfrm>
          <a:off x="0" y="0"/>
          <a:ext cx="0" cy="0"/>
          <a:chOff x="0" y="0"/>
          <a:chExt cx="0" cy="0"/>
        </a:xfrm>
      </p:grpSpPr>
      <p:sp>
        <p:nvSpPr>
          <p:cNvPr id="1854" name="Google Shape;1854;g2b6f05c2d5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5" name="Google Shape;1855;g2b6f05c2d5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4" name="Shape 1884"/>
        <p:cNvGrpSpPr/>
        <p:nvPr/>
      </p:nvGrpSpPr>
      <p:grpSpPr>
        <a:xfrm>
          <a:off x="0" y="0"/>
          <a:ext cx="0" cy="0"/>
          <a:chOff x="0" y="0"/>
          <a:chExt cx="0" cy="0"/>
        </a:xfrm>
      </p:grpSpPr>
      <p:sp>
        <p:nvSpPr>
          <p:cNvPr id="1885" name="Google Shape;1885;g2b6f05c2d5d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6" name="Google Shape;1886;g2b6f05c2d5d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4" name="Shape 1914"/>
        <p:cNvGrpSpPr/>
        <p:nvPr/>
      </p:nvGrpSpPr>
      <p:grpSpPr>
        <a:xfrm>
          <a:off x="0" y="0"/>
          <a:ext cx="0" cy="0"/>
          <a:chOff x="0" y="0"/>
          <a:chExt cx="0" cy="0"/>
        </a:xfrm>
      </p:grpSpPr>
      <p:sp>
        <p:nvSpPr>
          <p:cNvPr id="1915" name="Google Shape;1915;g2b67e9359c6_0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6" name="Google Shape;1916;g2b67e9359c6_0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g2b750804f38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6" name="Google Shape;1946;g2b750804f38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5" name="Shape 1975"/>
        <p:cNvGrpSpPr/>
        <p:nvPr/>
      </p:nvGrpSpPr>
      <p:grpSpPr>
        <a:xfrm>
          <a:off x="0" y="0"/>
          <a:ext cx="0" cy="0"/>
          <a:chOff x="0" y="0"/>
          <a:chExt cx="0" cy="0"/>
        </a:xfrm>
      </p:grpSpPr>
      <p:sp>
        <p:nvSpPr>
          <p:cNvPr id="1976" name="Google Shape;1976;g2b750804f38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7" name="Google Shape;1977;g2b750804f38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2b750804f38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9" name="Google Shape;2009;g2b750804f38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4" name="Shape 2044"/>
        <p:cNvGrpSpPr/>
        <p:nvPr/>
      </p:nvGrpSpPr>
      <p:grpSpPr>
        <a:xfrm>
          <a:off x="0" y="0"/>
          <a:ext cx="0" cy="0"/>
          <a:chOff x="0" y="0"/>
          <a:chExt cx="0" cy="0"/>
        </a:xfrm>
      </p:grpSpPr>
      <p:sp>
        <p:nvSpPr>
          <p:cNvPr id="2045" name="Google Shape;2045;g2b750804f38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6" name="Google Shape;2046;g2b750804f3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g2b67e9359c6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9" name="Google Shape;2089;g2b67e9359c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0" name="Shape 2110"/>
        <p:cNvGrpSpPr/>
        <p:nvPr/>
      </p:nvGrpSpPr>
      <p:grpSpPr>
        <a:xfrm>
          <a:off x="0" y="0"/>
          <a:ext cx="0" cy="0"/>
          <a:chOff x="0" y="0"/>
          <a:chExt cx="0" cy="0"/>
        </a:xfrm>
      </p:grpSpPr>
      <p:sp>
        <p:nvSpPr>
          <p:cNvPr id="2111" name="Google Shape;2111;g2b6f05c2d5d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2" name="Google Shape;2112;g2b6f05c2d5d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3" name="Shape 2153"/>
        <p:cNvGrpSpPr/>
        <p:nvPr/>
      </p:nvGrpSpPr>
      <p:grpSpPr>
        <a:xfrm>
          <a:off x="0" y="0"/>
          <a:ext cx="0" cy="0"/>
          <a:chOff x="0" y="0"/>
          <a:chExt cx="0" cy="0"/>
        </a:xfrm>
      </p:grpSpPr>
      <p:sp>
        <p:nvSpPr>
          <p:cNvPr id="2154" name="Google Shape;2154;g2b6f05c2d5d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5" name="Google Shape;2155;g2b6f05c2d5d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4" name="Shape 2164"/>
        <p:cNvGrpSpPr/>
        <p:nvPr/>
      </p:nvGrpSpPr>
      <p:grpSpPr>
        <a:xfrm>
          <a:off x="0" y="0"/>
          <a:ext cx="0" cy="0"/>
          <a:chOff x="0" y="0"/>
          <a:chExt cx="0" cy="0"/>
        </a:xfrm>
      </p:grpSpPr>
      <p:sp>
        <p:nvSpPr>
          <p:cNvPr id="2165" name="Google Shape;2165;g2b750804f3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6" name="Google Shape;2166;g2b750804f3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g2b750804f38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7" name="Google Shape;2197;g2b750804f38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2" name="Shape 2242"/>
        <p:cNvGrpSpPr/>
        <p:nvPr/>
      </p:nvGrpSpPr>
      <p:grpSpPr>
        <a:xfrm>
          <a:off x="0" y="0"/>
          <a:ext cx="0" cy="0"/>
          <a:chOff x="0" y="0"/>
          <a:chExt cx="0" cy="0"/>
        </a:xfrm>
      </p:grpSpPr>
      <p:sp>
        <p:nvSpPr>
          <p:cNvPr id="2243" name="Google Shape;2243;g2b750804f38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4" name="Google Shape;2244;g2b750804f38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3" name="Shape 2253"/>
        <p:cNvGrpSpPr/>
        <p:nvPr/>
      </p:nvGrpSpPr>
      <p:grpSpPr>
        <a:xfrm>
          <a:off x="0" y="0"/>
          <a:ext cx="0" cy="0"/>
          <a:chOff x="0" y="0"/>
          <a:chExt cx="0" cy="0"/>
        </a:xfrm>
      </p:grpSpPr>
      <p:sp>
        <p:nvSpPr>
          <p:cNvPr id="2254" name="Google Shape;2254;g2b37f807d2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5" name="Google Shape;2255;g2b37f807d2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9" name="Shape 2259"/>
        <p:cNvGrpSpPr/>
        <p:nvPr/>
      </p:nvGrpSpPr>
      <p:grpSpPr>
        <a:xfrm>
          <a:off x="0" y="0"/>
          <a:ext cx="0" cy="0"/>
          <a:chOff x="0" y="0"/>
          <a:chExt cx="0" cy="0"/>
        </a:xfrm>
      </p:grpSpPr>
      <p:sp>
        <p:nvSpPr>
          <p:cNvPr id="2260" name="Google Shape;2260;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1" name="Google Shape;2261;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5.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2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4.png"/><Relationship Id="rId4" Type="http://schemas.openxmlformats.org/officeDocument/2006/relationships/image" Target="../media/image80.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0.png"/><Relationship Id="rId4" Type="http://schemas.openxmlformats.org/officeDocument/2006/relationships/image" Target="../media/image22.png"/><Relationship Id="rId9"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33.png"/><Relationship Id="rId7" Type="http://schemas.openxmlformats.org/officeDocument/2006/relationships/image" Target="../media/image26.png"/><Relationship Id="rId8"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80.png"/><Relationship Id="rId4" Type="http://schemas.openxmlformats.org/officeDocument/2006/relationships/image" Target="../media/image34.png"/><Relationship Id="rId11" Type="http://schemas.openxmlformats.org/officeDocument/2006/relationships/image" Target="../media/image11.png"/><Relationship Id="rId10" Type="http://schemas.openxmlformats.org/officeDocument/2006/relationships/image" Target="../media/image38.png"/><Relationship Id="rId9" Type="http://schemas.openxmlformats.org/officeDocument/2006/relationships/image" Target="../media/image32.png"/><Relationship Id="rId5" Type="http://schemas.openxmlformats.org/officeDocument/2006/relationships/image" Target="../media/image22.png"/><Relationship Id="rId6" Type="http://schemas.openxmlformats.org/officeDocument/2006/relationships/image" Target="../media/image24.png"/><Relationship Id="rId7" Type="http://schemas.openxmlformats.org/officeDocument/2006/relationships/image" Target="../media/image33.png"/><Relationship Id="rId8" Type="http://schemas.openxmlformats.org/officeDocument/2006/relationships/image" Target="../media/image26.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5.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7.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5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5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5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5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45.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5.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6" name="Google Shape;746;p62"/>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8" name="Google Shape;748;p62"/>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749" name="Google Shape;749;p62"/>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1.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xml"/><Relationship Id="rId3" Type="http://schemas.openxmlformats.org/officeDocument/2006/relationships/image" Target="../media/image4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5.png"/><Relationship Id="rId4" Type="http://schemas.openxmlformats.org/officeDocument/2006/relationships/image" Target="../media/image5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9.xml"/><Relationship Id="rId3" Type="http://schemas.openxmlformats.org/officeDocument/2006/relationships/image" Target="../media/image43.png"/><Relationship Id="rId4" Type="http://schemas.openxmlformats.org/officeDocument/2006/relationships/image" Target="../media/image5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5.xml"/><Relationship Id="rId3" Type="http://schemas.openxmlformats.org/officeDocument/2006/relationships/image" Target="../media/image56.png"/><Relationship Id="rId4" Type="http://schemas.openxmlformats.org/officeDocument/2006/relationships/image" Target="../media/image5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18.xml"/><Relationship Id="rId3" Type="http://schemas.openxmlformats.org/officeDocument/2006/relationships/image" Target="../media/image56.png"/><Relationship Id="rId4" Type="http://schemas.openxmlformats.org/officeDocument/2006/relationships/image" Target="../media/image5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4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 Id="rId3"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59.png"/><Relationship Id="rId11" Type="http://schemas.openxmlformats.org/officeDocument/2006/relationships/image" Target="../media/image66.png"/><Relationship Id="rId10" Type="http://schemas.openxmlformats.org/officeDocument/2006/relationships/image" Target="../media/image6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28.xml"/><Relationship Id="rId3" Type="http://schemas.openxmlformats.org/officeDocument/2006/relationships/image" Target="../media/image62.png"/><Relationship Id="rId4" Type="http://schemas.openxmlformats.org/officeDocument/2006/relationships/image" Target="../media/image60.png"/><Relationship Id="rId9" Type="http://schemas.openxmlformats.org/officeDocument/2006/relationships/image" Target="../media/image58.png"/><Relationship Id="rId5" Type="http://schemas.openxmlformats.org/officeDocument/2006/relationships/image" Target="../media/image61.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59.png"/><Relationship Id="rId11" Type="http://schemas.openxmlformats.org/officeDocument/2006/relationships/image" Target="../media/image66.png"/><Relationship Id="rId10" Type="http://schemas.openxmlformats.org/officeDocument/2006/relationships/image" Target="../media/image6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0.xml"/><Relationship Id="rId3" Type="http://schemas.openxmlformats.org/officeDocument/2006/relationships/image" Target="../media/image6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1.xml"/><Relationship Id="rId3" Type="http://schemas.openxmlformats.org/officeDocument/2006/relationships/image" Target="../media/image6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3.xml"/><Relationship Id="rId3" Type="http://schemas.openxmlformats.org/officeDocument/2006/relationships/image" Target="../media/image6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 Id="rId3" Type="http://schemas.openxmlformats.org/officeDocument/2006/relationships/image" Target="../media/image6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5.xml"/><Relationship Id="rId3" Type="http://schemas.openxmlformats.org/officeDocument/2006/relationships/image" Target="../media/image6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6.xml"/><Relationship Id="rId3" Type="http://schemas.openxmlformats.org/officeDocument/2006/relationships/image" Target="../media/image6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37.xml"/><Relationship Id="rId3" Type="http://schemas.openxmlformats.org/officeDocument/2006/relationships/image" Target="../media/image43.png"/><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39.xml"/><Relationship Id="rId3" Type="http://schemas.openxmlformats.org/officeDocument/2006/relationships/image" Target="../media/image72.png"/><Relationship Id="rId4" Type="http://schemas.openxmlformats.org/officeDocument/2006/relationships/image" Target="../media/image76.png"/><Relationship Id="rId9" Type="http://schemas.openxmlformats.org/officeDocument/2006/relationships/image" Target="../media/image73.png"/><Relationship Id="rId5" Type="http://schemas.openxmlformats.org/officeDocument/2006/relationships/image" Target="../media/image70.png"/><Relationship Id="rId6" Type="http://schemas.openxmlformats.org/officeDocument/2006/relationships/image" Target="../media/image75.png"/><Relationship Id="rId7" Type="http://schemas.openxmlformats.org/officeDocument/2006/relationships/image" Target="../media/image55.png"/><Relationship Id="rId8" Type="http://schemas.openxmlformats.org/officeDocument/2006/relationships/image" Target="../media/image68.png"/><Relationship Id="rId11" Type="http://schemas.openxmlformats.org/officeDocument/2006/relationships/image" Target="../media/image69.png"/><Relationship Id="rId10" Type="http://schemas.openxmlformats.org/officeDocument/2006/relationships/image" Target="../media/image74.png"/><Relationship Id="rId12" Type="http://schemas.openxmlformats.org/officeDocument/2006/relationships/image" Target="../media/image7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2.xml"/><Relationship Id="rId3" Type="http://schemas.openxmlformats.org/officeDocument/2006/relationships/image" Target="../media/image72.png"/><Relationship Id="rId4" Type="http://schemas.openxmlformats.org/officeDocument/2006/relationships/image" Target="../media/image76.png"/><Relationship Id="rId9" Type="http://schemas.openxmlformats.org/officeDocument/2006/relationships/image" Target="../media/image73.png"/><Relationship Id="rId5" Type="http://schemas.openxmlformats.org/officeDocument/2006/relationships/image" Target="../media/image70.png"/><Relationship Id="rId6" Type="http://schemas.openxmlformats.org/officeDocument/2006/relationships/image" Target="../media/image75.png"/><Relationship Id="rId7" Type="http://schemas.openxmlformats.org/officeDocument/2006/relationships/image" Target="../media/image55.png"/><Relationship Id="rId8" Type="http://schemas.openxmlformats.org/officeDocument/2006/relationships/image" Target="../media/image68.png"/><Relationship Id="rId11" Type="http://schemas.openxmlformats.org/officeDocument/2006/relationships/image" Target="../media/image69.png"/><Relationship Id="rId10" Type="http://schemas.openxmlformats.org/officeDocument/2006/relationships/image" Target="../media/image74.png"/><Relationship Id="rId12" Type="http://schemas.openxmlformats.org/officeDocument/2006/relationships/image" Target="../media/image7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4" name="Shape 754"/>
        <p:cNvGrpSpPr/>
        <p:nvPr/>
      </p:nvGrpSpPr>
      <p:grpSpPr>
        <a:xfrm>
          <a:off x="0" y="0"/>
          <a:ext cx="0" cy="0"/>
          <a:chOff x="0" y="0"/>
          <a:chExt cx="0" cy="0"/>
        </a:xfrm>
      </p:grpSpPr>
      <p:sp>
        <p:nvSpPr>
          <p:cNvPr id="755" name="Google Shape;755;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two-way tables to display outcomes for two events</a:t>
            </a:r>
            <a:endParaRPr/>
          </a:p>
        </p:txBody>
      </p:sp>
      <p:sp>
        <p:nvSpPr>
          <p:cNvPr id="756" name="Google Shape;756;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Probability: possible outcomes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0" name="Shape 760"/>
        <p:cNvGrpSpPr/>
        <p:nvPr/>
      </p:nvGrpSpPr>
      <p:grpSpPr>
        <a:xfrm>
          <a:off x="0" y="0"/>
          <a:ext cx="0" cy="0"/>
          <a:chOff x="0" y="0"/>
          <a:chExt cx="0" cy="0"/>
        </a:xfrm>
      </p:grpSpPr>
      <p:sp>
        <p:nvSpPr>
          <p:cNvPr id="761" name="Google Shape;761;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systematically find all the possible outcomes for two events by using a two-way table.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0" name="Shape 770"/>
        <p:cNvGrpSpPr/>
        <p:nvPr/>
      </p:nvGrpSpPr>
      <p:grpSpPr>
        <a:xfrm>
          <a:off x="0" y="0"/>
          <a:ext cx="0" cy="0"/>
          <a:chOff x="0" y="0"/>
          <a:chExt cx="0" cy="0"/>
        </a:xfrm>
      </p:grpSpPr>
      <p:sp>
        <p:nvSpPr>
          <p:cNvPr id="771" name="Google Shape;771;p66"/>
          <p:cNvSpPr txBox="1"/>
          <p:nvPr>
            <p:ph idx="2" type="subTitle"/>
          </p:nvPr>
        </p:nvSpPr>
        <p:spPr>
          <a:xfrm>
            <a:off x="324000" y="826800"/>
            <a:ext cx="8496000" cy="38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An </a:t>
            </a:r>
            <a:r>
              <a:rPr b="1" lang="en-GB" sz="1800"/>
              <a:t>outcome table </a:t>
            </a:r>
            <a:r>
              <a:rPr lang="en-GB" sz="1800"/>
              <a:t>is a table that shows all the possible outcomes.</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777" name="Google Shape;777;p67"/>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778" name="Google Shape;778;p67"/>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two-way tables to display outcomes for two events</a:t>
            </a:r>
            <a:endParaRPr/>
          </a:p>
        </p:txBody>
      </p:sp>
      <p:pic>
        <p:nvPicPr>
          <p:cNvPr id="779" name="Google Shape;779;p67"/>
          <p:cNvPicPr preferRelativeResize="0"/>
          <p:nvPr/>
        </p:nvPicPr>
        <p:blipFill>
          <a:blip r:embed="rId3">
            <a:alphaModFix/>
          </a:blip>
          <a:stretch>
            <a:fillRect/>
          </a:stretch>
        </p:blipFill>
        <p:spPr>
          <a:xfrm>
            <a:off x="417370" y="1747300"/>
            <a:ext cx="450575" cy="446750"/>
          </a:xfrm>
          <a:prstGeom prst="rect">
            <a:avLst/>
          </a:prstGeom>
          <a:noFill/>
          <a:ln>
            <a:noFill/>
          </a:ln>
        </p:spPr>
      </p:pic>
      <p:sp>
        <p:nvSpPr>
          <p:cNvPr id="780" name="Google Shape;780;p67"/>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a:t>
            </a:r>
            <a:r>
              <a:rPr lang="en-GB"/>
              <a:t> in a two-way table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786" name="Google Shape;786;p68"/>
          <p:cNvSpPr txBox="1"/>
          <p:nvPr/>
        </p:nvSpPr>
        <p:spPr>
          <a:xfrm>
            <a:off x="324000" y="759300"/>
            <a:ext cx="63954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If we were to spin this spinner </a:t>
            </a:r>
            <a:r>
              <a:rPr lang="en-GB" sz="1800">
                <a:latin typeface="Lexend"/>
                <a:ea typeface="Lexend"/>
                <a:cs typeface="Lexend"/>
                <a:sym typeface="Lexend"/>
              </a:rPr>
              <a:t>twice</a:t>
            </a:r>
            <a:r>
              <a:rPr lang="en-GB" sz="1800">
                <a:solidFill>
                  <a:srgbClr val="000000"/>
                </a:solidFill>
                <a:latin typeface="Lexend"/>
                <a:ea typeface="Lexend"/>
                <a:cs typeface="Lexend"/>
                <a:sym typeface="Lexend"/>
              </a:rPr>
              <a:t>, what are the possible outcomes?</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sp>
        <p:nvSpPr>
          <p:cNvPr id="787" name="Google Shape;787;p68"/>
          <p:cNvSpPr/>
          <p:nvPr/>
        </p:nvSpPr>
        <p:spPr>
          <a:xfrm>
            <a:off x="6611250" y="1312050"/>
            <a:ext cx="1695900" cy="16959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8" name="Google Shape;788;p68"/>
          <p:cNvSpPr/>
          <p:nvPr/>
        </p:nvSpPr>
        <p:spPr>
          <a:xfrm flipH="1">
            <a:off x="6625939" y="1326811"/>
            <a:ext cx="1666500" cy="1666500"/>
          </a:xfrm>
          <a:prstGeom prst="pie">
            <a:avLst>
              <a:gd fmla="val 5387953"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9" name="Google Shape;789;p68"/>
          <p:cNvSpPr/>
          <p:nvPr/>
        </p:nvSpPr>
        <p:spPr>
          <a:xfrm>
            <a:off x="6626011" y="1326811"/>
            <a:ext cx="1666500" cy="1666500"/>
          </a:xfrm>
          <a:prstGeom prst="pie">
            <a:avLst>
              <a:gd fmla="val 5387953" name="adj1"/>
              <a:gd fmla="val 16200000"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0" name="Google Shape;790;p68"/>
          <p:cNvSpPr txBox="1"/>
          <p:nvPr/>
        </p:nvSpPr>
        <p:spPr>
          <a:xfrm>
            <a:off x="6761425" y="1949332"/>
            <a:ext cx="571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win</a:t>
            </a:r>
            <a:endParaRPr sz="1600">
              <a:solidFill>
                <a:srgbClr val="FFFFFF"/>
              </a:solidFill>
              <a:latin typeface="Lexend"/>
              <a:ea typeface="Lexend"/>
              <a:cs typeface="Lexend"/>
              <a:sym typeface="Lexend"/>
            </a:endParaRPr>
          </a:p>
        </p:txBody>
      </p:sp>
      <p:grpSp>
        <p:nvGrpSpPr>
          <p:cNvPr id="791" name="Google Shape;791;p68"/>
          <p:cNvGrpSpPr/>
          <p:nvPr/>
        </p:nvGrpSpPr>
        <p:grpSpPr>
          <a:xfrm>
            <a:off x="7410559" y="1404623"/>
            <a:ext cx="93900" cy="816939"/>
            <a:chOff x="996050" y="213293"/>
            <a:chExt cx="93900" cy="909732"/>
          </a:xfrm>
        </p:grpSpPr>
        <p:cxnSp>
          <p:nvCxnSpPr>
            <p:cNvPr id="792" name="Google Shape;792;p68"/>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793" name="Google Shape;793;p68"/>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94" name="Google Shape;794;p68"/>
          <p:cNvSpPr txBox="1"/>
          <p:nvPr/>
        </p:nvSpPr>
        <p:spPr>
          <a:xfrm>
            <a:off x="7568376" y="1949332"/>
            <a:ext cx="63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lose</a:t>
            </a:r>
            <a:endParaRPr sz="1600">
              <a:solidFill>
                <a:srgbClr val="FFFFFF"/>
              </a:solidFill>
              <a:latin typeface="Lexend"/>
              <a:ea typeface="Lexend"/>
              <a:cs typeface="Lexend"/>
              <a:sym typeface="Lexend"/>
            </a:endParaRPr>
          </a:p>
        </p:txBody>
      </p:sp>
      <p:cxnSp>
        <p:nvCxnSpPr>
          <p:cNvPr id="795" name="Google Shape;795;p68"/>
          <p:cNvCxnSpPr/>
          <p:nvPr/>
        </p:nvCxnSpPr>
        <p:spPr>
          <a:xfrm>
            <a:off x="4519000" y="2547600"/>
            <a:ext cx="0" cy="1367400"/>
          </a:xfrm>
          <a:prstGeom prst="straightConnector1">
            <a:avLst/>
          </a:prstGeom>
          <a:noFill/>
          <a:ln cap="flat" cmpd="sng" w="38100">
            <a:solidFill>
              <a:schemeClr val="dk1"/>
            </a:solidFill>
            <a:prstDash val="solid"/>
            <a:round/>
            <a:headEnd len="med" w="med" type="none"/>
            <a:tailEnd len="med" w="med" type="none"/>
          </a:ln>
        </p:spPr>
      </p:cxnSp>
      <p:cxnSp>
        <p:nvCxnSpPr>
          <p:cNvPr id="796" name="Google Shape;796;p68"/>
          <p:cNvCxnSpPr/>
          <p:nvPr/>
        </p:nvCxnSpPr>
        <p:spPr>
          <a:xfrm>
            <a:off x="5355550" y="2547600"/>
            <a:ext cx="0" cy="1367400"/>
          </a:xfrm>
          <a:prstGeom prst="straightConnector1">
            <a:avLst/>
          </a:prstGeom>
          <a:noFill/>
          <a:ln cap="flat" cmpd="sng" w="38100">
            <a:solidFill>
              <a:schemeClr val="dk1"/>
            </a:solidFill>
            <a:prstDash val="solid"/>
            <a:round/>
            <a:headEnd len="med" w="med" type="none"/>
            <a:tailEnd len="med" w="med" type="none"/>
          </a:ln>
        </p:spPr>
      </p:cxnSp>
      <p:cxnSp>
        <p:nvCxnSpPr>
          <p:cNvPr id="797" name="Google Shape;797;p68"/>
          <p:cNvCxnSpPr/>
          <p:nvPr/>
        </p:nvCxnSpPr>
        <p:spPr>
          <a:xfrm>
            <a:off x="6184325" y="2547600"/>
            <a:ext cx="0" cy="1385400"/>
          </a:xfrm>
          <a:prstGeom prst="straightConnector1">
            <a:avLst/>
          </a:prstGeom>
          <a:noFill/>
          <a:ln cap="flat" cmpd="sng" w="38100">
            <a:solidFill>
              <a:schemeClr val="dk1"/>
            </a:solidFill>
            <a:prstDash val="solid"/>
            <a:round/>
            <a:headEnd len="med" w="med" type="none"/>
            <a:tailEnd len="med" w="med" type="none"/>
          </a:ln>
        </p:spPr>
      </p:cxnSp>
      <p:cxnSp>
        <p:nvCxnSpPr>
          <p:cNvPr id="798" name="Google Shape;798;p68"/>
          <p:cNvCxnSpPr/>
          <p:nvPr/>
        </p:nvCxnSpPr>
        <p:spPr>
          <a:xfrm rot="10800000">
            <a:off x="3936025" y="2855550"/>
            <a:ext cx="2260800" cy="0"/>
          </a:xfrm>
          <a:prstGeom prst="straightConnector1">
            <a:avLst/>
          </a:prstGeom>
          <a:noFill/>
          <a:ln cap="flat" cmpd="sng" w="38100">
            <a:solidFill>
              <a:schemeClr val="dk1"/>
            </a:solidFill>
            <a:prstDash val="solid"/>
            <a:round/>
            <a:headEnd len="med" w="med" type="none"/>
            <a:tailEnd len="med" w="med" type="none"/>
          </a:ln>
        </p:spPr>
      </p:cxnSp>
      <p:cxnSp>
        <p:nvCxnSpPr>
          <p:cNvPr id="799" name="Google Shape;799;p68"/>
          <p:cNvCxnSpPr/>
          <p:nvPr/>
        </p:nvCxnSpPr>
        <p:spPr>
          <a:xfrm rot="10800000">
            <a:off x="3936025" y="3388650"/>
            <a:ext cx="2260800" cy="0"/>
          </a:xfrm>
          <a:prstGeom prst="straightConnector1">
            <a:avLst/>
          </a:prstGeom>
          <a:noFill/>
          <a:ln cap="flat" cmpd="sng" w="38100">
            <a:solidFill>
              <a:schemeClr val="dk1"/>
            </a:solidFill>
            <a:prstDash val="solid"/>
            <a:round/>
            <a:headEnd len="med" w="med" type="none"/>
            <a:tailEnd len="med" w="med" type="none"/>
          </a:ln>
        </p:spPr>
      </p:cxnSp>
      <p:cxnSp>
        <p:nvCxnSpPr>
          <p:cNvPr id="800" name="Google Shape;800;p68"/>
          <p:cNvCxnSpPr/>
          <p:nvPr/>
        </p:nvCxnSpPr>
        <p:spPr>
          <a:xfrm rot="10800000">
            <a:off x="3936025" y="3915000"/>
            <a:ext cx="2260800" cy="0"/>
          </a:xfrm>
          <a:prstGeom prst="straightConnector1">
            <a:avLst/>
          </a:prstGeom>
          <a:noFill/>
          <a:ln cap="flat" cmpd="sng" w="38100">
            <a:solidFill>
              <a:schemeClr val="dk1"/>
            </a:solidFill>
            <a:prstDash val="solid"/>
            <a:round/>
            <a:headEnd len="med" w="med" type="none"/>
            <a:tailEnd len="med" w="med" type="none"/>
          </a:ln>
        </p:spPr>
      </p:cxnSp>
      <p:sp>
        <p:nvSpPr>
          <p:cNvPr id="801" name="Google Shape;801;p68"/>
          <p:cNvSpPr txBox="1"/>
          <p:nvPr/>
        </p:nvSpPr>
        <p:spPr>
          <a:xfrm>
            <a:off x="4714375" y="25476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02" name="Google Shape;802;p68"/>
          <p:cNvSpPr txBox="1"/>
          <p:nvPr/>
        </p:nvSpPr>
        <p:spPr>
          <a:xfrm>
            <a:off x="5547038" y="25476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endParaRPr sz="1800">
              <a:solidFill>
                <a:schemeClr val="dk1"/>
              </a:solidFill>
              <a:latin typeface="Lexend"/>
              <a:ea typeface="Lexend"/>
              <a:cs typeface="Lexend"/>
              <a:sym typeface="Lexend"/>
            </a:endParaRPr>
          </a:p>
        </p:txBody>
      </p:sp>
      <p:sp>
        <p:nvSpPr>
          <p:cNvPr id="803" name="Google Shape;803;p68"/>
          <p:cNvSpPr txBox="1"/>
          <p:nvPr/>
        </p:nvSpPr>
        <p:spPr>
          <a:xfrm>
            <a:off x="4012125" y="29835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04" name="Google Shape;804;p68"/>
          <p:cNvSpPr txBox="1"/>
          <p:nvPr/>
        </p:nvSpPr>
        <p:spPr>
          <a:xfrm>
            <a:off x="4012125" y="35132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endParaRPr sz="1800">
              <a:solidFill>
                <a:schemeClr val="dk1"/>
              </a:solidFill>
              <a:latin typeface="Lexend"/>
              <a:ea typeface="Lexend"/>
              <a:cs typeface="Lexend"/>
              <a:sym typeface="Lexend"/>
            </a:endParaRPr>
          </a:p>
        </p:txBody>
      </p:sp>
      <p:sp>
        <p:nvSpPr>
          <p:cNvPr id="805" name="Google Shape;805;p68"/>
          <p:cNvSpPr/>
          <p:nvPr/>
        </p:nvSpPr>
        <p:spPr>
          <a:xfrm rot="-5400000">
            <a:off x="5288650" y="1575925"/>
            <a:ext cx="133800" cy="16572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6" name="Google Shape;806;p68"/>
          <p:cNvSpPr txBox="1"/>
          <p:nvPr/>
        </p:nvSpPr>
        <p:spPr>
          <a:xfrm>
            <a:off x="4965855" y="2045239"/>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 1</a:t>
            </a:r>
            <a:endParaRPr sz="1800">
              <a:solidFill>
                <a:schemeClr val="dk1"/>
              </a:solidFill>
              <a:latin typeface="Lexend"/>
              <a:ea typeface="Lexend"/>
              <a:cs typeface="Lexend"/>
              <a:sym typeface="Lexend"/>
            </a:endParaRPr>
          </a:p>
        </p:txBody>
      </p:sp>
      <p:sp>
        <p:nvSpPr>
          <p:cNvPr id="807" name="Google Shape;807;p68"/>
          <p:cNvSpPr/>
          <p:nvPr/>
        </p:nvSpPr>
        <p:spPr>
          <a:xfrm rot="10800000">
            <a:off x="3725400" y="2855100"/>
            <a:ext cx="133800" cy="10671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8" name="Google Shape;808;p68"/>
          <p:cNvSpPr txBox="1"/>
          <p:nvPr/>
        </p:nvSpPr>
        <p:spPr>
          <a:xfrm>
            <a:off x="2981605" y="3250039"/>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a:t>
            </a:r>
            <a:r>
              <a:rPr lang="en-GB" sz="1800">
                <a:solidFill>
                  <a:schemeClr val="dk1"/>
                </a:solidFill>
                <a:latin typeface="Lexend"/>
                <a:ea typeface="Lexend"/>
                <a:cs typeface="Lexend"/>
                <a:sym typeface="Lexend"/>
              </a:rPr>
              <a:t> 2</a:t>
            </a:r>
            <a:endParaRPr sz="1800">
              <a:solidFill>
                <a:schemeClr val="dk1"/>
              </a:solidFill>
              <a:latin typeface="Lexend"/>
              <a:ea typeface="Lexend"/>
              <a:cs typeface="Lexend"/>
              <a:sym typeface="Lexend"/>
            </a:endParaRPr>
          </a:p>
        </p:txBody>
      </p:sp>
      <p:sp>
        <p:nvSpPr>
          <p:cNvPr id="809" name="Google Shape;809;p68"/>
          <p:cNvSpPr txBox="1"/>
          <p:nvPr/>
        </p:nvSpPr>
        <p:spPr>
          <a:xfrm>
            <a:off x="288400" y="1480125"/>
            <a:ext cx="63954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We can make an </a:t>
            </a:r>
            <a:r>
              <a:rPr b="1" lang="en-GB" sz="1800">
                <a:solidFill>
                  <a:schemeClr val="dk1"/>
                </a:solidFill>
                <a:latin typeface="Lexend"/>
                <a:ea typeface="Lexend"/>
                <a:cs typeface="Lexend"/>
                <a:sym typeface="Lexend"/>
              </a:rPr>
              <a:t>outcome table</a:t>
            </a:r>
            <a:r>
              <a:rPr lang="en-GB" sz="1800">
                <a:solidFill>
                  <a:schemeClr val="dk1"/>
                </a:solidFill>
                <a:latin typeface="Lexend"/>
                <a:ea typeface="Lexend"/>
                <a:cs typeface="Lexend"/>
                <a:sym typeface="Lexend"/>
              </a:rPr>
              <a:t> to determine the possible outcomes.</a:t>
            </a:r>
            <a:endParaRPr sz="1800">
              <a:solidFill>
                <a:srgbClr val="000000"/>
              </a:solidFill>
              <a:latin typeface="Lexend"/>
              <a:ea typeface="Lexend"/>
              <a:cs typeface="Lexend"/>
              <a:sym typeface="Lexend"/>
            </a:endParaRPr>
          </a:p>
        </p:txBody>
      </p:sp>
      <p:sp>
        <p:nvSpPr>
          <p:cNvPr id="810" name="Google Shape;810;p68"/>
          <p:cNvSpPr txBox="1"/>
          <p:nvPr/>
        </p:nvSpPr>
        <p:spPr>
          <a:xfrm>
            <a:off x="324000" y="2346225"/>
            <a:ext cx="2978700" cy="27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a:t>
            </a:r>
            <a:r>
              <a:rPr lang="en-GB" sz="1800">
                <a:solidFill>
                  <a:schemeClr val="dk1"/>
                </a:solidFill>
                <a:latin typeface="Lexend"/>
                <a:ea typeface="Lexend"/>
                <a:cs typeface="Lexend"/>
                <a:sym typeface="Lexend"/>
              </a:rPr>
              <a:t>columns will be the outcomes from spin 1.</a:t>
            </a:r>
            <a:endParaRPr sz="1800">
              <a:solidFill>
                <a:srgbClr val="000000"/>
              </a:solidFill>
              <a:latin typeface="Lexend"/>
              <a:ea typeface="Lexend"/>
              <a:cs typeface="Lexend"/>
              <a:sym typeface="Lexend"/>
            </a:endParaRPr>
          </a:p>
        </p:txBody>
      </p:sp>
      <p:sp>
        <p:nvSpPr>
          <p:cNvPr id="811" name="Google Shape;811;p68"/>
          <p:cNvSpPr txBox="1"/>
          <p:nvPr/>
        </p:nvSpPr>
        <p:spPr>
          <a:xfrm>
            <a:off x="318575" y="2990850"/>
            <a:ext cx="2598900" cy="27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The rows will be outcomes from spin 2.</a:t>
            </a:r>
            <a:endParaRPr sz="1800">
              <a:solidFill>
                <a:srgbClr val="000000"/>
              </a:solidFill>
              <a:latin typeface="Lexend"/>
              <a:ea typeface="Lexend"/>
              <a:cs typeface="Lexend"/>
              <a:sym typeface="Lexend"/>
            </a:endParaRPr>
          </a:p>
        </p:txBody>
      </p:sp>
      <p:sp>
        <p:nvSpPr>
          <p:cNvPr id="812" name="Google Shape;812;p68"/>
          <p:cNvSpPr txBox="1"/>
          <p:nvPr/>
        </p:nvSpPr>
        <p:spPr>
          <a:xfrm>
            <a:off x="4714375" y="2852400"/>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a:t>
            </a:r>
            <a:r>
              <a:rPr lang="en-GB" sz="1800">
                <a:solidFill>
                  <a:schemeClr val="dk1"/>
                </a:solidFill>
                <a:latin typeface="Lexend"/>
                <a:ea typeface="Lexend"/>
                <a:cs typeface="Lexend"/>
                <a:sym typeface="Lexend"/>
              </a:rPr>
              <a:t>in, win</a:t>
            </a:r>
            <a:endParaRPr sz="1800">
              <a:solidFill>
                <a:schemeClr val="dk1"/>
              </a:solidFill>
              <a:latin typeface="Lexend"/>
              <a:ea typeface="Lexend"/>
              <a:cs typeface="Lexend"/>
              <a:sym typeface="Lexend"/>
            </a:endParaRPr>
          </a:p>
        </p:txBody>
      </p:sp>
      <p:sp>
        <p:nvSpPr>
          <p:cNvPr id="813" name="Google Shape;813;p68"/>
          <p:cNvSpPr txBox="1"/>
          <p:nvPr/>
        </p:nvSpPr>
        <p:spPr>
          <a:xfrm>
            <a:off x="5552575" y="2852400"/>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r>
              <a:rPr lang="en-GB" sz="1800">
                <a:solidFill>
                  <a:schemeClr val="dk1"/>
                </a:solidFill>
                <a:latin typeface="Lexend"/>
                <a:ea typeface="Lexend"/>
                <a:cs typeface="Lexend"/>
                <a:sym typeface="Lexend"/>
              </a:rPr>
              <a:t>, win</a:t>
            </a:r>
            <a:endParaRPr sz="1800">
              <a:solidFill>
                <a:schemeClr val="dk1"/>
              </a:solidFill>
              <a:latin typeface="Lexend"/>
              <a:ea typeface="Lexend"/>
              <a:cs typeface="Lexend"/>
              <a:sym typeface="Lexend"/>
            </a:endParaRPr>
          </a:p>
        </p:txBody>
      </p:sp>
      <p:sp>
        <p:nvSpPr>
          <p:cNvPr id="814" name="Google Shape;814;p68"/>
          <p:cNvSpPr txBox="1"/>
          <p:nvPr/>
        </p:nvSpPr>
        <p:spPr>
          <a:xfrm>
            <a:off x="5552575" y="3385800"/>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 lose</a:t>
            </a:r>
            <a:endParaRPr sz="1800">
              <a:solidFill>
                <a:schemeClr val="dk1"/>
              </a:solidFill>
              <a:latin typeface="Lexend"/>
              <a:ea typeface="Lexend"/>
              <a:cs typeface="Lexend"/>
              <a:sym typeface="Lexend"/>
            </a:endParaRPr>
          </a:p>
        </p:txBody>
      </p:sp>
      <p:sp>
        <p:nvSpPr>
          <p:cNvPr id="815" name="Google Shape;815;p68"/>
          <p:cNvSpPr txBox="1"/>
          <p:nvPr/>
        </p:nvSpPr>
        <p:spPr>
          <a:xfrm>
            <a:off x="4735082" y="3375447"/>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 lose</a:t>
            </a:r>
            <a:endParaRPr sz="1800">
              <a:solidFill>
                <a:schemeClr val="dk1"/>
              </a:solidFill>
              <a:latin typeface="Lexend"/>
              <a:ea typeface="Lexend"/>
              <a:cs typeface="Lexend"/>
              <a:sym typeface="Lexend"/>
            </a:endParaRPr>
          </a:p>
        </p:txBody>
      </p:sp>
      <p:sp>
        <p:nvSpPr>
          <p:cNvPr id="816" name="Google Shape;816;p68"/>
          <p:cNvSpPr txBox="1"/>
          <p:nvPr/>
        </p:nvSpPr>
        <p:spPr>
          <a:xfrm>
            <a:off x="284591" y="3635463"/>
            <a:ext cx="2978700" cy="27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t/>
            </a:r>
            <a:endParaRPr sz="18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822" name="Google Shape;822;p69"/>
          <p:cNvSpPr txBox="1"/>
          <p:nvPr/>
        </p:nvSpPr>
        <p:spPr>
          <a:xfrm>
            <a:off x="324000" y="759300"/>
            <a:ext cx="63954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If we were to spin this spinner tw</a:t>
            </a:r>
            <a:r>
              <a:rPr lang="en-GB" sz="1800">
                <a:latin typeface="Lexend"/>
                <a:ea typeface="Lexend"/>
                <a:cs typeface="Lexend"/>
                <a:sym typeface="Lexend"/>
              </a:rPr>
              <a:t>ice</a:t>
            </a:r>
            <a:r>
              <a:rPr lang="en-GB" sz="1800">
                <a:solidFill>
                  <a:srgbClr val="000000"/>
                </a:solidFill>
                <a:latin typeface="Lexend"/>
                <a:ea typeface="Lexend"/>
                <a:cs typeface="Lexend"/>
                <a:sym typeface="Lexend"/>
              </a:rPr>
              <a:t>, what are the possible outcomes?</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sp>
        <p:nvSpPr>
          <p:cNvPr id="823" name="Google Shape;823;p69"/>
          <p:cNvSpPr txBox="1"/>
          <p:nvPr/>
        </p:nvSpPr>
        <p:spPr>
          <a:xfrm>
            <a:off x="6761425" y="1949332"/>
            <a:ext cx="571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win</a:t>
            </a:r>
            <a:endParaRPr sz="1600">
              <a:solidFill>
                <a:srgbClr val="FFFFFF"/>
              </a:solidFill>
              <a:latin typeface="Lexend"/>
              <a:ea typeface="Lexend"/>
              <a:cs typeface="Lexend"/>
              <a:sym typeface="Lexend"/>
            </a:endParaRPr>
          </a:p>
        </p:txBody>
      </p:sp>
      <p:grpSp>
        <p:nvGrpSpPr>
          <p:cNvPr id="824" name="Google Shape;824;p69"/>
          <p:cNvGrpSpPr/>
          <p:nvPr/>
        </p:nvGrpSpPr>
        <p:grpSpPr>
          <a:xfrm>
            <a:off x="7410559" y="1404623"/>
            <a:ext cx="93900" cy="816939"/>
            <a:chOff x="996050" y="213293"/>
            <a:chExt cx="93900" cy="909732"/>
          </a:xfrm>
        </p:grpSpPr>
        <p:cxnSp>
          <p:nvCxnSpPr>
            <p:cNvPr id="825" name="Google Shape;825;p69"/>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826" name="Google Shape;826;p69"/>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27" name="Google Shape;827;p69"/>
          <p:cNvSpPr txBox="1"/>
          <p:nvPr/>
        </p:nvSpPr>
        <p:spPr>
          <a:xfrm>
            <a:off x="7568376" y="1949332"/>
            <a:ext cx="63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lose</a:t>
            </a:r>
            <a:endParaRPr sz="1600">
              <a:solidFill>
                <a:srgbClr val="FFFFFF"/>
              </a:solidFill>
              <a:latin typeface="Lexend"/>
              <a:ea typeface="Lexend"/>
              <a:cs typeface="Lexend"/>
              <a:sym typeface="Lexend"/>
            </a:endParaRPr>
          </a:p>
        </p:txBody>
      </p:sp>
      <p:sp>
        <p:nvSpPr>
          <p:cNvPr id="828" name="Google Shape;828;p69"/>
          <p:cNvSpPr txBox="1"/>
          <p:nvPr/>
        </p:nvSpPr>
        <p:spPr>
          <a:xfrm>
            <a:off x="288400" y="1480125"/>
            <a:ext cx="63954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A</a:t>
            </a:r>
            <a:r>
              <a:rPr lang="en-GB" sz="1800">
                <a:solidFill>
                  <a:schemeClr val="dk1"/>
                </a:solidFill>
                <a:latin typeface="Lexend"/>
                <a:ea typeface="Lexend"/>
                <a:cs typeface="Lexend"/>
                <a:sym typeface="Lexend"/>
              </a:rPr>
              <a:t>n </a:t>
            </a:r>
            <a:r>
              <a:rPr b="1" lang="en-GB" sz="1800">
                <a:solidFill>
                  <a:schemeClr val="dk1"/>
                </a:solidFill>
                <a:latin typeface="Lexend"/>
                <a:ea typeface="Lexend"/>
                <a:cs typeface="Lexend"/>
                <a:sym typeface="Lexend"/>
              </a:rPr>
              <a:t>outcome table </a:t>
            </a:r>
            <a:r>
              <a:rPr lang="en-GB" sz="1800">
                <a:solidFill>
                  <a:schemeClr val="dk1"/>
                </a:solidFill>
                <a:latin typeface="Lexend"/>
                <a:ea typeface="Lexend"/>
                <a:cs typeface="Lexend"/>
                <a:sym typeface="Lexend"/>
              </a:rPr>
              <a:t>will help</a:t>
            </a:r>
            <a:r>
              <a:rPr lang="en-GB" sz="1800">
                <a:solidFill>
                  <a:schemeClr val="dk1"/>
                </a:solidFill>
                <a:latin typeface="Lexend"/>
                <a:ea typeface="Lexend"/>
                <a:cs typeface="Lexend"/>
                <a:sym typeface="Lexend"/>
              </a:rPr>
              <a:t> determine the possible outcomes.</a:t>
            </a:r>
            <a:endParaRPr sz="1800">
              <a:solidFill>
                <a:srgbClr val="000000"/>
              </a:solidFill>
              <a:latin typeface="Lexend"/>
              <a:ea typeface="Lexend"/>
              <a:cs typeface="Lexend"/>
              <a:sym typeface="Lexend"/>
            </a:endParaRPr>
          </a:p>
        </p:txBody>
      </p:sp>
      <p:sp>
        <p:nvSpPr>
          <p:cNvPr id="829" name="Google Shape;829;p69"/>
          <p:cNvSpPr/>
          <p:nvPr/>
        </p:nvSpPr>
        <p:spPr>
          <a:xfrm>
            <a:off x="6974950" y="1050400"/>
            <a:ext cx="1695900" cy="1695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0" name="Google Shape;830;p69"/>
          <p:cNvSpPr/>
          <p:nvPr/>
        </p:nvSpPr>
        <p:spPr>
          <a:xfrm rot="7199661">
            <a:off x="6989759" y="1065278"/>
            <a:ext cx="1666484" cy="1666484"/>
          </a:xfrm>
          <a:prstGeom prst="pie">
            <a:avLst>
              <a:gd fmla="val 9034165" name="adj1"/>
              <a:gd fmla="val 16225322" name="adj2"/>
            </a:avLst>
          </a:prstGeom>
          <a:solidFill>
            <a:schemeClr val="accent2"/>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1" name="Google Shape;831;p69"/>
          <p:cNvSpPr/>
          <p:nvPr/>
        </p:nvSpPr>
        <p:spPr>
          <a:xfrm rot="-7211867">
            <a:off x="6989827" y="1065338"/>
            <a:ext cx="1666446" cy="1666446"/>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2" name="Google Shape;832;p69"/>
          <p:cNvSpPr/>
          <p:nvPr/>
        </p:nvSpPr>
        <p:spPr>
          <a:xfrm>
            <a:off x="6989827" y="1065338"/>
            <a:ext cx="1666500" cy="166650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69"/>
          <p:cNvSpPr txBox="1"/>
          <p:nvPr/>
        </p:nvSpPr>
        <p:spPr>
          <a:xfrm>
            <a:off x="7932075" y="1459075"/>
            <a:ext cx="779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draw</a:t>
            </a:r>
            <a:endParaRPr sz="1600">
              <a:solidFill>
                <a:srgbClr val="FFFFFF"/>
              </a:solidFill>
              <a:latin typeface="Lexend"/>
              <a:ea typeface="Lexend"/>
              <a:cs typeface="Lexend"/>
              <a:sym typeface="Lexend"/>
            </a:endParaRPr>
          </a:p>
        </p:txBody>
      </p:sp>
      <p:sp>
        <p:nvSpPr>
          <p:cNvPr id="834" name="Google Shape;834;p69"/>
          <p:cNvSpPr txBox="1"/>
          <p:nvPr/>
        </p:nvSpPr>
        <p:spPr>
          <a:xfrm>
            <a:off x="7551076" y="2068682"/>
            <a:ext cx="63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win</a:t>
            </a:r>
            <a:endParaRPr sz="1600">
              <a:solidFill>
                <a:srgbClr val="FFFFFF"/>
              </a:solidFill>
              <a:latin typeface="Lexend"/>
              <a:ea typeface="Lexend"/>
              <a:cs typeface="Lexend"/>
              <a:sym typeface="Lexend"/>
            </a:endParaRPr>
          </a:p>
        </p:txBody>
      </p:sp>
      <p:sp>
        <p:nvSpPr>
          <p:cNvPr id="835" name="Google Shape;835;p69"/>
          <p:cNvSpPr txBox="1"/>
          <p:nvPr/>
        </p:nvSpPr>
        <p:spPr>
          <a:xfrm>
            <a:off x="7093876" y="1459082"/>
            <a:ext cx="63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lose</a:t>
            </a:r>
            <a:endParaRPr sz="1600">
              <a:solidFill>
                <a:srgbClr val="FFFFFF"/>
              </a:solidFill>
              <a:latin typeface="Lexend"/>
              <a:ea typeface="Lexend"/>
              <a:cs typeface="Lexend"/>
              <a:sym typeface="Lexend"/>
            </a:endParaRPr>
          </a:p>
        </p:txBody>
      </p:sp>
      <p:grpSp>
        <p:nvGrpSpPr>
          <p:cNvPr id="836" name="Google Shape;836;p69"/>
          <p:cNvGrpSpPr/>
          <p:nvPr/>
        </p:nvGrpSpPr>
        <p:grpSpPr>
          <a:xfrm>
            <a:off x="7774259" y="1135156"/>
            <a:ext cx="93900" cy="816939"/>
            <a:chOff x="996050" y="213293"/>
            <a:chExt cx="93900" cy="909732"/>
          </a:xfrm>
        </p:grpSpPr>
        <p:cxnSp>
          <p:nvCxnSpPr>
            <p:cNvPr id="837" name="Google Shape;837;p69"/>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838" name="Google Shape;838;p69"/>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39" name="Google Shape;839;p69"/>
          <p:cNvSpPr txBox="1"/>
          <p:nvPr/>
        </p:nvSpPr>
        <p:spPr>
          <a:xfrm>
            <a:off x="3952375" y="2879325"/>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 win</a:t>
            </a:r>
            <a:endParaRPr sz="1800">
              <a:solidFill>
                <a:schemeClr val="dk1"/>
              </a:solidFill>
              <a:latin typeface="Lexend"/>
              <a:ea typeface="Lexend"/>
              <a:cs typeface="Lexend"/>
              <a:sym typeface="Lexend"/>
            </a:endParaRPr>
          </a:p>
        </p:txBody>
      </p:sp>
      <p:sp>
        <p:nvSpPr>
          <p:cNvPr id="840" name="Google Shape;840;p69"/>
          <p:cNvSpPr txBox="1"/>
          <p:nvPr/>
        </p:nvSpPr>
        <p:spPr>
          <a:xfrm>
            <a:off x="4790575" y="2879325"/>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r>
              <a:rPr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41" name="Google Shape;841;p69"/>
          <p:cNvSpPr txBox="1"/>
          <p:nvPr/>
        </p:nvSpPr>
        <p:spPr>
          <a:xfrm>
            <a:off x="4790575" y="3412725"/>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 lose</a:t>
            </a:r>
            <a:endParaRPr sz="1800">
              <a:solidFill>
                <a:schemeClr val="dk1"/>
              </a:solidFill>
              <a:latin typeface="Lexend"/>
              <a:ea typeface="Lexend"/>
              <a:cs typeface="Lexend"/>
              <a:sym typeface="Lexend"/>
            </a:endParaRPr>
          </a:p>
        </p:txBody>
      </p:sp>
      <p:sp>
        <p:nvSpPr>
          <p:cNvPr id="842" name="Google Shape;842;p69"/>
          <p:cNvSpPr txBox="1"/>
          <p:nvPr/>
        </p:nvSpPr>
        <p:spPr>
          <a:xfrm>
            <a:off x="3973082" y="3402372"/>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a:t>
            </a:r>
            <a:r>
              <a:rPr lang="en-GB" sz="1800">
                <a:solidFill>
                  <a:schemeClr val="dk1"/>
                </a:solidFill>
                <a:latin typeface="Lexend"/>
                <a:ea typeface="Lexend"/>
                <a:cs typeface="Lexend"/>
                <a:sym typeface="Lexend"/>
              </a:rPr>
              <a:t>, lose</a:t>
            </a:r>
            <a:endParaRPr sz="1800">
              <a:solidFill>
                <a:schemeClr val="dk1"/>
              </a:solidFill>
              <a:latin typeface="Lexend"/>
              <a:ea typeface="Lexend"/>
              <a:cs typeface="Lexend"/>
              <a:sym typeface="Lexend"/>
            </a:endParaRPr>
          </a:p>
        </p:txBody>
      </p:sp>
      <p:grpSp>
        <p:nvGrpSpPr>
          <p:cNvPr id="843" name="Google Shape;843;p69"/>
          <p:cNvGrpSpPr/>
          <p:nvPr/>
        </p:nvGrpSpPr>
        <p:grpSpPr>
          <a:xfrm>
            <a:off x="2193580" y="2093614"/>
            <a:ext cx="3981095" cy="2378986"/>
            <a:chOff x="2193580" y="2093614"/>
            <a:chExt cx="3981095" cy="2378986"/>
          </a:xfrm>
        </p:grpSpPr>
        <p:cxnSp>
          <p:nvCxnSpPr>
            <p:cNvPr id="844" name="Google Shape;844;p69"/>
            <p:cNvCxnSpPr/>
            <p:nvPr/>
          </p:nvCxnSpPr>
          <p:spPr>
            <a:xfrm>
              <a:off x="3757000" y="25745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845" name="Google Shape;845;p69"/>
            <p:cNvCxnSpPr/>
            <p:nvPr/>
          </p:nvCxnSpPr>
          <p:spPr>
            <a:xfrm>
              <a:off x="4593554" y="25745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846" name="Google Shape;846;p69"/>
            <p:cNvCxnSpPr/>
            <p:nvPr/>
          </p:nvCxnSpPr>
          <p:spPr>
            <a:xfrm>
              <a:off x="5422334"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847" name="Google Shape;847;p69"/>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848" name="Google Shape;848;p69"/>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849" name="Google Shape;849;p69"/>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850" name="Google Shape;850;p69"/>
            <p:cNvSpPr txBox="1"/>
            <p:nvPr/>
          </p:nvSpPr>
          <p:spPr>
            <a:xfrm>
              <a:off x="3952375"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51" name="Google Shape;851;p69"/>
            <p:cNvSpPr txBox="1"/>
            <p:nvPr/>
          </p:nvSpPr>
          <p:spPr>
            <a:xfrm>
              <a:off x="47850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endParaRPr sz="1800">
                <a:solidFill>
                  <a:schemeClr val="dk1"/>
                </a:solidFill>
                <a:latin typeface="Lexend"/>
                <a:ea typeface="Lexend"/>
                <a:cs typeface="Lexend"/>
                <a:sym typeface="Lexend"/>
              </a:endParaRPr>
            </a:p>
          </p:txBody>
        </p:sp>
        <p:sp>
          <p:nvSpPr>
            <p:cNvPr id="852" name="Google Shape;852;p69"/>
            <p:cNvSpPr txBox="1"/>
            <p:nvPr/>
          </p:nvSpPr>
          <p:spPr>
            <a:xfrm>
              <a:off x="3250125" y="30104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53" name="Google Shape;853;p69"/>
            <p:cNvSpPr txBox="1"/>
            <p:nvPr/>
          </p:nvSpPr>
          <p:spPr>
            <a:xfrm>
              <a:off x="3250125" y="354015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a:t>
              </a:r>
              <a:endParaRPr sz="1800">
                <a:solidFill>
                  <a:schemeClr val="dk1"/>
                </a:solidFill>
                <a:latin typeface="Lexend"/>
                <a:ea typeface="Lexend"/>
                <a:cs typeface="Lexend"/>
                <a:sym typeface="Lexend"/>
              </a:endParaRPr>
            </a:p>
          </p:txBody>
        </p:sp>
        <p:sp>
          <p:nvSpPr>
            <p:cNvPr id="854" name="Google Shape;854;p69"/>
            <p:cNvSpPr/>
            <p:nvPr/>
          </p:nvSpPr>
          <p:spPr>
            <a:xfrm rot="-5400000">
              <a:off x="4897750" y="1231750"/>
              <a:ext cx="133800" cy="2399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5" name="Google Shape;855;p69"/>
            <p:cNvSpPr txBox="1"/>
            <p:nvPr/>
          </p:nvSpPr>
          <p:spPr>
            <a:xfrm>
              <a:off x="4574955" y="2093614"/>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 1</a:t>
              </a:r>
              <a:endParaRPr sz="1800">
                <a:solidFill>
                  <a:schemeClr val="dk1"/>
                </a:solidFill>
                <a:latin typeface="Lexend"/>
                <a:ea typeface="Lexend"/>
                <a:cs typeface="Lexend"/>
                <a:sym typeface="Lexend"/>
              </a:endParaRPr>
            </a:p>
          </p:txBody>
        </p:sp>
        <p:sp>
          <p:nvSpPr>
            <p:cNvPr id="856" name="Google Shape;856;p69"/>
            <p:cNvSpPr/>
            <p:nvPr/>
          </p:nvSpPr>
          <p:spPr>
            <a:xfrm rot="10800000">
              <a:off x="2963400" y="2882000"/>
              <a:ext cx="133800" cy="15906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7" name="Google Shape;857;p69"/>
            <p:cNvSpPr txBox="1"/>
            <p:nvPr/>
          </p:nvSpPr>
          <p:spPr>
            <a:xfrm>
              <a:off x="2193580" y="3557364"/>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 2</a:t>
              </a:r>
              <a:endParaRPr sz="1800">
                <a:solidFill>
                  <a:schemeClr val="dk1"/>
                </a:solidFill>
                <a:latin typeface="Lexend"/>
                <a:ea typeface="Lexend"/>
                <a:cs typeface="Lexend"/>
                <a:sym typeface="Lexend"/>
              </a:endParaRPr>
            </a:p>
          </p:txBody>
        </p:sp>
        <p:cxnSp>
          <p:nvCxnSpPr>
            <p:cNvPr id="858" name="Google Shape;858;p69"/>
            <p:cNvCxnSpPr/>
            <p:nvPr/>
          </p:nvCxnSpPr>
          <p:spPr>
            <a:xfrm>
              <a:off x="61589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859" name="Google Shape;859;p69"/>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860" name="Google Shape;860;p69"/>
            <p:cNvSpPr txBox="1"/>
            <p:nvPr/>
          </p:nvSpPr>
          <p:spPr>
            <a:xfrm>
              <a:off x="3141350" y="4065888"/>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draw</a:t>
              </a:r>
              <a:endParaRPr sz="1800">
                <a:solidFill>
                  <a:schemeClr val="dk1"/>
                </a:solidFill>
                <a:latin typeface="Lexend"/>
                <a:ea typeface="Lexend"/>
                <a:cs typeface="Lexend"/>
                <a:sym typeface="Lexend"/>
              </a:endParaRPr>
            </a:p>
          </p:txBody>
        </p:sp>
        <p:sp>
          <p:nvSpPr>
            <p:cNvPr id="861" name="Google Shape;861;p69"/>
            <p:cNvSpPr txBox="1"/>
            <p:nvPr/>
          </p:nvSpPr>
          <p:spPr>
            <a:xfrm>
              <a:off x="5514488" y="2551800"/>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draw</a:t>
              </a:r>
              <a:endParaRPr sz="1800">
                <a:solidFill>
                  <a:schemeClr val="dk1"/>
                </a:solidFill>
                <a:latin typeface="Lexend"/>
                <a:ea typeface="Lexend"/>
                <a:cs typeface="Lexend"/>
                <a:sym typeface="Lexend"/>
              </a:endParaRPr>
            </a:p>
          </p:txBody>
        </p:sp>
      </p:grpSp>
      <p:sp>
        <p:nvSpPr>
          <p:cNvPr id="862" name="Google Shape;862;p69"/>
          <p:cNvSpPr txBox="1"/>
          <p:nvPr/>
        </p:nvSpPr>
        <p:spPr>
          <a:xfrm>
            <a:off x="5485238" y="2845238"/>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draw</a:t>
            </a:r>
            <a:r>
              <a:rPr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win</a:t>
            </a:r>
            <a:endParaRPr sz="1800">
              <a:solidFill>
                <a:schemeClr val="dk1"/>
              </a:solidFill>
              <a:latin typeface="Lexend"/>
              <a:ea typeface="Lexend"/>
              <a:cs typeface="Lexend"/>
              <a:sym typeface="Lexend"/>
            </a:endParaRPr>
          </a:p>
        </p:txBody>
      </p:sp>
      <p:sp>
        <p:nvSpPr>
          <p:cNvPr id="863" name="Google Shape;863;p69"/>
          <p:cNvSpPr txBox="1"/>
          <p:nvPr/>
        </p:nvSpPr>
        <p:spPr>
          <a:xfrm>
            <a:off x="5485238" y="3397713"/>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draw</a:t>
            </a:r>
            <a:r>
              <a:rPr lang="en-GB" sz="1800">
                <a:solidFill>
                  <a:schemeClr val="dk1"/>
                </a:solidFill>
                <a:latin typeface="Lexend"/>
                <a:ea typeface="Lexend"/>
                <a:cs typeface="Lexend"/>
                <a:sym typeface="Lexend"/>
              </a:rPr>
              <a:t>, lose</a:t>
            </a:r>
            <a:endParaRPr sz="1800">
              <a:solidFill>
                <a:schemeClr val="dk1"/>
              </a:solidFill>
              <a:latin typeface="Lexend"/>
              <a:ea typeface="Lexend"/>
              <a:cs typeface="Lexend"/>
              <a:sym typeface="Lexend"/>
            </a:endParaRPr>
          </a:p>
        </p:txBody>
      </p:sp>
      <p:sp>
        <p:nvSpPr>
          <p:cNvPr id="864" name="Google Shape;864;p69"/>
          <p:cNvSpPr txBox="1"/>
          <p:nvPr/>
        </p:nvSpPr>
        <p:spPr>
          <a:xfrm>
            <a:off x="3952374" y="3941925"/>
            <a:ext cx="5715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win, </a:t>
            </a:r>
            <a:r>
              <a:rPr lang="en-GB" sz="1800">
                <a:solidFill>
                  <a:schemeClr val="dk1"/>
                </a:solidFill>
                <a:latin typeface="Lexend"/>
                <a:ea typeface="Lexend"/>
                <a:cs typeface="Lexend"/>
                <a:sym typeface="Lexend"/>
              </a:rPr>
              <a:t>draw</a:t>
            </a:r>
            <a:endParaRPr sz="1800">
              <a:solidFill>
                <a:schemeClr val="dk1"/>
              </a:solidFill>
              <a:latin typeface="Lexend"/>
              <a:ea typeface="Lexend"/>
              <a:cs typeface="Lexend"/>
              <a:sym typeface="Lexend"/>
            </a:endParaRPr>
          </a:p>
        </p:txBody>
      </p:sp>
      <p:sp>
        <p:nvSpPr>
          <p:cNvPr id="865" name="Google Shape;865;p69"/>
          <p:cNvSpPr txBox="1"/>
          <p:nvPr/>
        </p:nvSpPr>
        <p:spPr>
          <a:xfrm>
            <a:off x="4768213" y="3927450"/>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lose, draw</a:t>
            </a:r>
            <a:endParaRPr sz="1800">
              <a:solidFill>
                <a:schemeClr val="dk1"/>
              </a:solidFill>
              <a:latin typeface="Lexend"/>
              <a:ea typeface="Lexend"/>
              <a:cs typeface="Lexend"/>
              <a:sym typeface="Lexend"/>
            </a:endParaRPr>
          </a:p>
        </p:txBody>
      </p:sp>
      <p:sp>
        <p:nvSpPr>
          <p:cNvPr id="866" name="Google Shape;866;p69"/>
          <p:cNvSpPr txBox="1"/>
          <p:nvPr/>
        </p:nvSpPr>
        <p:spPr>
          <a:xfrm>
            <a:off x="5485225" y="3948675"/>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draw</a:t>
            </a:r>
            <a:r>
              <a:rPr lang="en-GB" sz="1800">
                <a:solidFill>
                  <a:schemeClr val="dk1"/>
                </a:solidFill>
                <a:latin typeface="Lexend"/>
                <a:ea typeface="Lexend"/>
                <a:cs typeface="Lexend"/>
                <a:sym typeface="Lexend"/>
              </a:rPr>
              <a:t>, draw</a:t>
            </a:r>
            <a:endParaRPr sz="18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872" name="Google Shape;872;p70"/>
          <p:cNvSpPr txBox="1"/>
          <p:nvPr/>
        </p:nvSpPr>
        <p:spPr>
          <a:xfrm>
            <a:off x="324000" y="759300"/>
            <a:ext cx="63954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 trial is to spin both spinners. </a:t>
            </a:r>
            <a:endParaRPr sz="1800">
              <a:solidFill>
                <a:srgbClr val="000000"/>
              </a:solidFill>
              <a:latin typeface="Lexend"/>
              <a:ea typeface="Lexend"/>
              <a:cs typeface="Lexend"/>
              <a:sym typeface="Lexend"/>
            </a:endParaRPr>
          </a:p>
        </p:txBody>
      </p:sp>
      <p:sp>
        <p:nvSpPr>
          <p:cNvPr id="873" name="Google Shape;873;p70"/>
          <p:cNvSpPr txBox="1"/>
          <p:nvPr/>
        </p:nvSpPr>
        <p:spPr>
          <a:xfrm>
            <a:off x="288400" y="1135150"/>
            <a:ext cx="63954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We can make an</a:t>
            </a:r>
            <a:r>
              <a:rPr lang="en-GB" sz="1800">
                <a:solidFill>
                  <a:schemeClr val="dk1"/>
                </a:solidFill>
                <a:latin typeface="Lexend"/>
                <a:ea typeface="Lexend"/>
                <a:cs typeface="Lexend"/>
                <a:sym typeface="Lexend"/>
              </a:rPr>
              <a:t> </a:t>
            </a:r>
            <a:r>
              <a:rPr b="1" lang="en-GB" sz="1800">
                <a:solidFill>
                  <a:schemeClr val="dk1"/>
                </a:solidFill>
                <a:latin typeface="Lexend"/>
                <a:ea typeface="Lexend"/>
                <a:cs typeface="Lexend"/>
                <a:sym typeface="Lexend"/>
              </a:rPr>
              <a:t>outcome table </a:t>
            </a:r>
            <a:r>
              <a:rPr lang="en-GB" sz="1800">
                <a:solidFill>
                  <a:schemeClr val="dk1"/>
                </a:solidFill>
                <a:latin typeface="Lexend"/>
                <a:ea typeface="Lexend"/>
                <a:cs typeface="Lexend"/>
                <a:sym typeface="Lexend"/>
              </a:rPr>
              <a:t>to show the possible outcomes.</a:t>
            </a:r>
            <a:endParaRPr sz="1800">
              <a:solidFill>
                <a:srgbClr val="000000"/>
              </a:solidFill>
              <a:latin typeface="Lexend"/>
              <a:ea typeface="Lexend"/>
              <a:cs typeface="Lexend"/>
              <a:sym typeface="Lexend"/>
            </a:endParaRPr>
          </a:p>
        </p:txBody>
      </p:sp>
      <p:sp>
        <p:nvSpPr>
          <p:cNvPr id="874" name="Google Shape;874;p70"/>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5" name="Google Shape;875;p70"/>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6" name="Google Shape;876;p70"/>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7" name="Google Shape;877;p70"/>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8" name="Google Shape;878;p70"/>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sp>
        <p:nvSpPr>
          <p:cNvPr id="879" name="Google Shape;879;p70"/>
          <p:cNvSpPr txBox="1"/>
          <p:nvPr/>
        </p:nvSpPr>
        <p:spPr>
          <a:xfrm>
            <a:off x="70727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880" name="Google Shape;880;p70"/>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grpSp>
        <p:nvGrpSpPr>
          <p:cNvPr id="881" name="Google Shape;881;p70"/>
          <p:cNvGrpSpPr/>
          <p:nvPr/>
        </p:nvGrpSpPr>
        <p:grpSpPr>
          <a:xfrm>
            <a:off x="7120165" y="885993"/>
            <a:ext cx="62922" cy="547386"/>
            <a:chOff x="996050" y="213293"/>
            <a:chExt cx="93900" cy="909732"/>
          </a:xfrm>
        </p:grpSpPr>
        <p:cxnSp>
          <p:nvCxnSpPr>
            <p:cNvPr id="882" name="Google Shape;882;p70"/>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883" name="Google Shape;883;p70"/>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884" name="Google Shape;884;p70"/>
          <p:cNvSpPr txBox="1"/>
          <p:nvPr/>
        </p:nvSpPr>
        <p:spPr>
          <a:xfrm>
            <a:off x="2519700" y="26367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A1</a:t>
            </a:r>
            <a:endParaRPr sz="1800">
              <a:solidFill>
                <a:schemeClr val="dk1"/>
              </a:solidFill>
              <a:latin typeface="Lexend"/>
              <a:ea typeface="Lexend"/>
              <a:cs typeface="Lexend"/>
              <a:sym typeface="Lexend"/>
            </a:endParaRPr>
          </a:p>
        </p:txBody>
      </p:sp>
      <p:grpSp>
        <p:nvGrpSpPr>
          <p:cNvPr id="885" name="Google Shape;885;p70"/>
          <p:cNvGrpSpPr/>
          <p:nvPr/>
        </p:nvGrpSpPr>
        <p:grpSpPr>
          <a:xfrm>
            <a:off x="356623" y="1712625"/>
            <a:ext cx="4294052" cy="2876100"/>
            <a:chOff x="1880623" y="1712625"/>
            <a:chExt cx="4294052" cy="2876100"/>
          </a:xfrm>
        </p:grpSpPr>
        <p:grpSp>
          <p:nvGrpSpPr>
            <p:cNvPr id="886" name="Google Shape;886;p70"/>
            <p:cNvGrpSpPr/>
            <p:nvPr/>
          </p:nvGrpSpPr>
          <p:grpSpPr>
            <a:xfrm>
              <a:off x="1880623" y="1712625"/>
              <a:ext cx="4294052" cy="2876100"/>
              <a:chOff x="1880623" y="2093625"/>
              <a:chExt cx="4294052" cy="2876100"/>
            </a:xfrm>
          </p:grpSpPr>
          <p:cxnSp>
            <p:nvCxnSpPr>
              <p:cNvPr id="887" name="Google Shape;887;p70"/>
              <p:cNvCxnSpPr/>
              <p:nvPr/>
            </p:nvCxnSpPr>
            <p:spPr>
              <a:xfrm>
                <a:off x="3757000" y="2574525"/>
                <a:ext cx="0" cy="2384700"/>
              </a:xfrm>
              <a:prstGeom prst="straightConnector1">
                <a:avLst/>
              </a:prstGeom>
              <a:noFill/>
              <a:ln cap="flat" cmpd="sng" w="38100">
                <a:solidFill>
                  <a:schemeClr val="dk1"/>
                </a:solidFill>
                <a:prstDash val="solid"/>
                <a:round/>
                <a:headEnd len="med" w="med" type="none"/>
                <a:tailEnd len="med" w="med" type="none"/>
              </a:ln>
            </p:spPr>
          </p:cxnSp>
          <p:cxnSp>
            <p:nvCxnSpPr>
              <p:cNvPr id="888" name="Google Shape;888;p70"/>
              <p:cNvCxnSpPr/>
              <p:nvPr/>
            </p:nvCxnSpPr>
            <p:spPr>
              <a:xfrm>
                <a:off x="4593554" y="2574525"/>
                <a:ext cx="0" cy="2374200"/>
              </a:xfrm>
              <a:prstGeom prst="straightConnector1">
                <a:avLst/>
              </a:prstGeom>
              <a:noFill/>
              <a:ln cap="flat" cmpd="sng" w="38100">
                <a:solidFill>
                  <a:schemeClr val="dk1"/>
                </a:solidFill>
                <a:prstDash val="solid"/>
                <a:round/>
                <a:headEnd len="med" w="med" type="none"/>
                <a:tailEnd len="med" w="med" type="none"/>
              </a:ln>
            </p:spPr>
          </p:cxnSp>
          <p:cxnSp>
            <p:nvCxnSpPr>
              <p:cNvPr id="889" name="Google Shape;889;p70"/>
              <p:cNvCxnSpPr/>
              <p:nvPr/>
            </p:nvCxnSpPr>
            <p:spPr>
              <a:xfrm>
                <a:off x="5422334" y="2574525"/>
                <a:ext cx="0" cy="2374200"/>
              </a:xfrm>
              <a:prstGeom prst="straightConnector1">
                <a:avLst/>
              </a:prstGeom>
              <a:noFill/>
              <a:ln cap="flat" cmpd="sng" w="38100">
                <a:solidFill>
                  <a:schemeClr val="dk1"/>
                </a:solidFill>
                <a:prstDash val="solid"/>
                <a:round/>
                <a:headEnd len="med" w="med" type="none"/>
                <a:tailEnd len="med" w="med" type="none"/>
              </a:ln>
            </p:spPr>
          </p:cxnSp>
          <p:cxnSp>
            <p:nvCxnSpPr>
              <p:cNvPr id="890" name="Google Shape;890;p70"/>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891" name="Google Shape;891;p70"/>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892" name="Google Shape;892;p70"/>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893" name="Google Shape;893;p70"/>
              <p:cNvSpPr txBox="1"/>
              <p:nvPr/>
            </p:nvSpPr>
            <p:spPr>
              <a:xfrm>
                <a:off x="4104775" y="2574525"/>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894" name="Google Shape;894;p70"/>
              <p:cNvSpPr txBox="1"/>
              <p:nvPr/>
            </p:nvSpPr>
            <p:spPr>
              <a:xfrm>
                <a:off x="49374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895" name="Google Shape;895;p70"/>
              <p:cNvSpPr txBox="1"/>
              <p:nvPr/>
            </p:nvSpPr>
            <p:spPr>
              <a:xfrm>
                <a:off x="3402525" y="3010425"/>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896" name="Google Shape;896;p70"/>
              <p:cNvSpPr txBox="1"/>
              <p:nvPr/>
            </p:nvSpPr>
            <p:spPr>
              <a:xfrm>
                <a:off x="3402525" y="3540150"/>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897" name="Google Shape;897;p70"/>
              <p:cNvSpPr/>
              <p:nvPr/>
            </p:nvSpPr>
            <p:spPr>
              <a:xfrm rot="-5400000">
                <a:off x="4897750" y="1231750"/>
                <a:ext cx="133800" cy="2399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98" name="Google Shape;898;p70"/>
              <p:cNvSpPr txBox="1"/>
              <p:nvPr/>
            </p:nvSpPr>
            <p:spPr>
              <a:xfrm>
                <a:off x="4413753" y="2093625"/>
                <a:ext cx="1116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spinner 1</a:t>
                </a:r>
                <a:endParaRPr sz="1800">
                  <a:solidFill>
                    <a:schemeClr val="dk1"/>
                  </a:solidFill>
                  <a:latin typeface="Lexend"/>
                  <a:ea typeface="Lexend"/>
                  <a:cs typeface="Lexend"/>
                  <a:sym typeface="Lexend"/>
                </a:endParaRPr>
              </a:p>
            </p:txBody>
          </p:sp>
          <p:sp>
            <p:nvSpPr>
              <p:cNvPr id="899" name="Google Shape;899;p70"/>
              <p:cNvSpPr/>
              <p:nvPr/>
            </p:nvSpPr>
            <p:spPr>
              <a:xfrm rot="10800000">
                <a:off x="2963400" y="2882150"/>
                <a:ext cx="133800" cy="20667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00" name="Google Shape;900;p70"/>
              <p:cNvSpPr txBox="1"/>
              <p:nvPr/>
            </p:nvSpPr>
            <p:spPr>
              <a:xfrm>
                <a:off x="1880623" y="3776900"/>
                <a:ext cx="1005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spinner 2</a:t>
                </a:r>
                <a:endParaRPr sz="1800">
                  <a:solidFill>
                    <a:schemeClr val="dk1"/>
                  </a:solidFill>
                  <a:latin typeface="Lexend"/>
                  <a:ea typeface="Lexend"/>
                  <a:cs typeface="Lexend"/>
                  <a:sym typeface="Lexend"/>
                </a:endParaRPr>
              </a:p>
            </p:txBody>
          </p:sp>
          <p:cxnSp>
            <p:nvCxnSpPr>
              <p:cNvPr id="901" name="Google Shape;901;p70"/>
              <p:cNvCxnSpPr/>
              <p:nvPr/>
            </p:nvCxnSpPr>
            <p:spPr>
              <a:xfrm>
                <a:off x="6158950" y="2574525"/>
                <a:ext cx="0" cy="2395200"/>
              </a:xfrm>
              <a:prstGeom prst="straightConnector1">
                <a:avLst/>
              </a:prstGeom>
              <a:noFill/>
              <a:ln cap="flat" cmpd="sng" w="38100">
                <a:solidFill>
                  <a:schemeClr val="dk1"/>
                </a:solidFill>
                <a:prstDash val="solid"/>
                <a:round/>
                <a:headEnd len="med" w="med" type="none"/>
                <a:tailEnd len="med" w="med" type="none"/>
              </a:ln>
            </p:spPr>
          </p:cxnSp>
          <p:cxnSp>
            <p:nvCxnSpPr>
              <p:cNvPr id="902" name="Google Shape;902;p70"/>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903" name="Google Shape;903;p70"/>
              <p:cNvSpPr txBox="1"/>
              <p:nvPr/>
            </p:nvSpPr>
            <p:spPr>
              <a:xfrm>
                <a:off x="3403200" y="4065900"/>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904" name="Google Shape;904;p70"/>
              <p:cNvSpPr txBox="1"/>
              <p:nvPr/>
            </p:nvSpPr>
            <p:spPr>
              <a:xfrm>
                <a:off x="5743093" y="2551800"/>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grpSp>
        <p:cxnSp>
          <p:nvCxnSpPr>
            <p:cNvPr id="905" name="Google Shape;905;p70"/>
            <p:cNvCxnSpPr/>
            <p:nvPr/>
          </p:nvCxnSpPr>
          <p:spPr>
            <a:xfrm rot="10800000">
              <a:off x="3174075" y="4574310"/>
              <a:ext cx="3000600" cy="0"/>
            </a:xfrm>
            <a:prstGeom prst="straightConnector1">
              <a:avLst/>
            </a:prstGeom>
            <a:noFill/>
            <a:ln cap="flat" cmpd="sng" w="38100">
              <a:solidFill>
                <a:schemeClr val="dk1"/>
              </a:solidFill>
              <a:prstDash val="solid"/>
              <a:round/>
              <a:headEnd len="med" w="med" type="none"/>
              <a:tailEnd len="med" w="med" type="none"/>
            </a:ln>
          </p:spPr>
        </p:cxnSp>
        <p:sp>
          <p:nvSpPr>
            <p:cNvPr id="906" name="Google Shape;906;p70"/>
            <p:cNvSpPr txBox="1"/>
            <p:nvPr/>
          </p:nvSpPr>
          <p:spPr>
            <a:xfrm>
              <a:off x="3403200" y="4207625"/>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grpSp>
      <p:sp>
        <p:nvSpPr>
          <p:cNvPr id="907" name="Google Shape;907;p70"/>
          <p:cNvSpPr txBox="1"/>
          <p:nvPr/>
        </p:nvSpPr>
        <p:spPr>
          <a:xfrm>
            <a:off x="2519700" y="31701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A2</a:t>
            </a:r>
            <a:endParaRPr sz="1800">
              <a:solidFill>
                <a:schemeClr val="dk1"/>
              </a:solidFill>
              <a:latin typeface="Lexend"/>
              <a:ea typeface="Lexend"/>
              <a:cs typeface="Lexend"/>
              <a:sym typeface="Lexend"/>
            </a:endParaRPr>
          </a:p>
        </p:txBody>
      </p:sp>
      <p:sp>
        <p:nvSpPr>
          <p:cNvPr id="908" name="Google Shape;908;p70"/>
          <p:cNvSpPr txBox="1"/>
          <p:nvPr/>
        </p:nvSpPr>
        <p:spPr>
          <a:xfrm>
            <a:off x="2519700" y="37035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A3</a:t>
            </a:r>
            <a:endParaRPr sz="1800">
              <a:solidFill>
                <a:schemeClr val="dk1"/>
              </a:solidFill>
              <a:latin typeface="Lexend"/>
              <a:ea typeface="Lexend"/>
              <a:cs typeface="Lexend"/>
              <a:sym typeface="Lexend"/>
            </a:endParaRPr>
          </a:p>
        </p:txBody>
      </p:sp>
      <p:sp>
        <p:nvSpPr>
          <p:cNvPr id="909" name="Google Shape;909;p70"/>
          <p:cNvSpPr txBox="1"/>
          <p:nvPr/>
        </p:nvSpPr>
        <p:spPr>
          <a:xfrm>
            <a:off x="2520518" y="41955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A4</a:t>
            </a:r>
            <a:endParaRPr sz="1800">
              <a:solidFill>
                <a:schemeClr val="dk1"/>
              </a:solidFill>
              <a:latin typeface="Lexend"/>
              <a:ea typeface="Lexend"/>
              <a:cs typeface="Lexend"/>
              <a:sym typeface="Lexend"/>
            </a:endParaRPr>
          </a:p>
        </p:txBody>
      </p:sp>
      <p:sp>
        <p:nvSpPr>
          <p:cNvPr id="910" name="Google Shape;910;p70"/>
          <p:cNvSpPr txBox="1"/>
          <p:nvPr/>
        </p:nvSpPr>
        <p:spPr>
          <a:xfrm>
            <a:off x="3312760" y="26367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911" name="Google Shape;911;p70"/>
          <p:cNvSpPr txBox="1"/>
          <p:nvPr/>
        </p:nvSpPr>
        <p:spPr>
          <a:xfrm>
            <a:off x="3312760" y="31701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B2</a:t>
            </a:r>
            <a:endParaRPr sz="1800">
              <a:solidFill>
                <a:schemeClr val="dk1"/>
              </a:solidFill>
              <a:latin typeface="Lexend"/>
              <a:ea typeface="Lexend"/>
              <a:cs typeface="Lexend"/>
              <a:sym typeface="Lexend"/>
            </a:endParaRPr>
          </a:p>
        </p:txBody>
      </p:sp>
      <p:sp>
        <p:nvSpPr>
          <p:cNvPr id="912" name="Google Shape;912;p70"/>
          <p:cNvSpPr txBox="1"/>
          <p:nvPr/>
        </p:nvSpPr>
        <p:spPr>
          <a:xfrm>
            <a:off x="3312760" y="37035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B3</a:t>
            </a:r>
            <a:endParaRPr sz="1800">
              <a:solidFill>
                <a:schemeClr val="dk1"/>
              </a:solidFill>
              <a:latin typeface="Lexend"/>
              <a:ea typeface="Lexend"/>
              <a:cs typeface="Lexend"/>
              <a:sym typeface="Lexend"/>
            </a:endParaRPr>
          </a:p>
        </p:txBody>
      </p:sp>
      <p:sp>
        <p:nvSpPr>
          <p:cNvPr id="913" name="Google Shape;913;p70"/>
          <p:cNvSpPr txBox="1"/>
          <p:nvPr/>
        </p:nvSpPr>
        <p:spPr>
          <a:xfrm>
            <a:off x="3313578" y="41955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B4</a:t>
            </a:r>
            <a:endParaRPr sz="1800">
              <a:solidFill>
                <a:schemeClr val="dk1"/>
              </a:solidFill>
              <a:latin typeface="Lexend"/>
              <a:ea typeface="Lexend"/>
              <a:cs typeface="Lexend"/>
              <a:sym typeface="Lexend"/>
            </a:endParaRPr>
          </a:p>
        </p:txBody>
      </p:sp>
      <p:sp>
        <p:nvSpPr>
          <p:cNvPr id="914" name="Google Shape;914;p70"/>
          <p:cNvSpPr txBox="1"/>
          <p:nvPr/>
        </p:nvSpPr>
        <p:spPr>
          <a:xfrm>
            <a:off x="4130253" y="26367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915" name="Google Shape;915;p70"/>
          <p:cNvSpPr txBox="1"/>
          <p:nvPr/>
        </p:nvSpPr>
        <p:spPr>
          <a:xfrm>
            <a:off x="4130253" y="31701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C2</a:t>
            </a:r>
            <a:endParaRPr sz="1800">
              <a:solidFill>
                <a:schemeClr val="dk1"/>
              </a:solidFill>
              <a:latin typeface="Lexend"/>
              <a:ea typeface="Lexend"/>
              <a:cs typeface="Lexend"/>
              <a:sym typeface="Lexend"/>
            </a:endParaRPr>
          </a:p>
        </p:txBody>
      </p:sp>
      <p:sp>
        <p:nvSpPr>
          <p:cNvPr id="916" name="Google Shape;916;p70"/>
          <p:cNvSpPr txBox="1"/>
          <p:nvPr/>
        </p:nvSpPr>
        <p:spPr>
          <a:xfrm>
            <a:off x="4130253" y="37035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C3</a:t>
            </a:r>
            <a:endParaRPr sz="1800">
              <a:solidFill>
                <a:schemeClr val="dk1"/>
              </a:solidFill>
              <a:latin typeface="Lexend"/>
              <a:ea typeface="Lexend"/>
              <a:cs typeface="Lexend"/>
              <a:sym typeface="Lexend"/>
            </a:endParaRPr>
          </a:p>
        </p:txBody>
      </p:sp>
      <p:sp>
        <p:nvSpPr>
          <p:cNvPr id="917" name="Google Shape;917;p70"/>
          <p:cNvSpPr txBox="1"/>
          <p:nvPr/>
        </p:nvSpPr>
        <p:spPr>
          <a:xfrm>
            <a:off x="4131072" y="41955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C4</a:t>
            </a:r>
            <a:endParaRPr sz="1800">
              <a:solidFill>
                <a:schemeClr val="dk1"/>
              </a:solidFill>
              <a:latin typeface="Lexend"/>
              <a:ea typeface="Lexend"/>
              <a:cs typeface="Lexend"/>
              <a:sym typeface="Lexend"/>
            </a:endParaRPr>
          </a:p>
        </p:txBody>
      </p:sp>
      <p:pic>
        <p:nvPicPr>
          <p:cNvPr id="918" name="Google Shape;918;p70"/>
          <p:cNvPicPr preferRelativeResize="0"/>
          <p:nvPr/>
        </p:nvPicPr>
        <p:blipFill>
          <a:blip r:embed="rId3">
            <a:alphaModFix/>
          </a:blip>
          <a:stretch>
            <a:fillRect/>
          </a:stretch>
        </p:blipFill>
        <p:spPr>
          <a:xfrm flipH="1">
            <a:off x="7422932" y="3239075"/>
            <a:ext cx="705943" cy="1016575"/>
          </a:xfrm>
          <a:prstGeom prst="rect">
            <a:avLst/>
          </a:prstGeom>
          <a:noFill/>
          <a:ln>
            <a:noFill/>
          </a:ln>
        </p:spPr>
      </p:pic>
      <p:sp>
        <p:nvSpPr>
          <p:cNvPr id="919" name="Google Shape;919;p70"/>
          <p:cNvSpPr txBox="1"/>
          <p:nvPr/>
        </p:nvSpPr>
        <p:spPr>
          <a:xfrm>
            <a:off x="6960050" y="4305925"/>
            <a:ext cx="885300" cy="3135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p:txBody>
      </p:sp>
      <p:pic>
        <p:nvPicPr>
          <p:cNvPr id="920" name="Google Shape;920;p70"/>
          <p:cNvPicPr preferRelativeResize="0"/>
          <p:nvPr/>
        </p:nvPicPr>
        <p:blipFill rotWithShape="1">
          <a:blip r:embed="rId4">
            <a:alphaModFix/>
          </a:blip>
          <a:srcRect b="43690" l="0" r="57905" t="0"/>
          <a:stretch/>
        </p:blipFill>
        <p:spPr>
          <a:xfrm>
            <a:off x="4845200" y="2355750"/>
            <a:ext cx="2662052" cy="1198499"/>
          </a:xfrm>
          <a:prstGeom prst="rect">
            <a:avLst/>
          </a:prstGeom>
          <a:noFill/>
          <a:ln>
            <a:noFill/>
          </a:ln>
        </p:spPr>
      </p:pic>
      <p:sp>
        <p:nvSpPr>
          <p:cNvPr id="921" name="Google Shape;921;p70"/>
          <p:cNvSpPr txBox="1"/>
          <p:nvPr/>
        </p:nvSpPr>
        <p:spPr>
          <a:xfrm>
            <a:off x="4947750" y="2393250"/>
            <a:ext cx="23292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Does it matter which spinner was ‘spinner 1’?</a:t>
            </a:r>
            <a:endParaRPr sz="1800">
              <a:solidFill>
                <a:srgbClr val="000000"/>
              </a:solidFill>
              <a:latin typeface="Lexend"/>
              <a:ea typeface="Lexend"/>
              <a:cs typeface="Lexend"/>
              <a:sym typeface="Lexend"/>
            </a:endParaRPr>
          </a:p>
        </p:txBody>
      </p:sp>
      <p:sp>
        <p:nvSpPr>
          <p:cNvPr id="922" name="Google Shape;922;p70"/>
          <p:cNvSpPr/>
          <p:nvPr/>
        </p:nvSpPr>
        <p:spPr>
          <a:xfrm>
            <a:off x="7547800" y="1738800"/>
            <a:ext cx="1198500" cy="11985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3" name="Google Shape;923;p70"/>
          <p:cNvSpPr/>
          <p:nvPr/>
        </p:nvSpPr>
        <p:spPr>
          <a:xfrm flipH="1">
            <a:off x="7558153" y="1749232"/>
            <a:ext cx="1177800" cy="1177800"/>
          </a:xfrm>
          <a:prstGeom prst="pie">
            <a:avLst>
              <a:gd fmla="val 5387953" name="adj1"/>
              <a:gd fmla="val 10824216"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4" name="Google Shape;924;p70"/>
          <p:cNvSpPr/>
          <p:nvPr/>
        </p:nvSpPr>
        <p:spPr>
          <a:xfrm>
            <a:off x="7558232" y="1749232"/>
            <a:ext cx="1177800" cy="1177800"/>
          </a:xfrm>
          <a:prstGeom prst="pie">
            <a:avLst>
              <a:gd fmla="val 5387953" name="adj1"/>
              <a:gd fmla="val 10858220"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5" name="Google Shape;925;p70"/>
          <p:cNvSpPr txBox="1"/>
          <p:nvPr/>
        </p:nvSpPr>
        <p:spPr>
          <a:xfrm>
            <a:off x="7815493" y="2404610"/>
            <a:ext cx="40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926" name="Google Shape;926;p70"/>
          <p:cNvSpPr/>
          <p:nvPr/>
        </p:nvSpPr>
        <p:spPr>
          <a:xfrm>
            <a:off x="7558232" y="1749232"/>
            <a:ext cx="1177800" cy="1177800"/>
          </a:xfrm>
          <a:prstGeom prst="pie">
            <a:avLst>
              <a:gd fmla="val 10799941"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7" name="Google Shape;927;p70"/>
          <p:cNvSpPr txBox="1"/>
          <p:nvPr/>
        </p:nvSpPr>
        <p:spPr>
          <a:xfrm>
            <a:off x="7815493" y="1919926"/>
            <a:ext cx="40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928" name="Google Shape;928;p70"/>
          <p:cNvSpPr/>
          <p:nvPr/>
        </p:nvSpPr>
        <p:spPr>
          <a:xfrm flipH="1">
            <a:off x="7558153" y="1749232"/>
            <a:ext cx="1177800" cy="1177800"/>
          </a:xfrm>
          <a:prstGeom prst="pie">
            <a:avLst>
              <a:gd fmla="val 10825856"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9" name="Google Shape;929;p70"/>
          <p:cNvSpPr txBox="1"/>
          <p:nvPr/>
        </p:nvSpPr>
        <p:spPr>
          <a:xfrm>
            <a:off x="8224234" y="1919926"/>
            <a:ext cx="445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sp>
        <p:nvSpPr>
          <p:cNvPr id="930" name="Google Shape;930;p70"/>
          <p:cNvSpPr txBox="1"/>
          <p:nvPr/>
        </p:nvSpPr>
        <p:spPr>
          <a:xfrm>
            <a:off x="8224234" y="2404610"/>
            <a:ext cx="445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grpSp>
        <p:nvGrpSpPr>
          <p:cNvPr id="931" name="Google Shape;931;p70"/>
          <p:cNvGrpSpPr/>
          <p:nvPr/>
        </p:nvGrpSpPr>
        <p:grpSpPr>
          <a:xfrm>
            <a:off x="8112665" y="1785111"/>
            <a:ext cx="66359" cy="577407"/>
            <a:chOff x="996050" y="213293"/>
            <a:chExt cx="93900" cy="909732"/>
          </a:xfrm>
        </p:grpSpPr>
        <p:cxnSp>
          <p:nvCxnSpPr>
            <p:cNvPr id="932" name="Google Shape;932;p70"/>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933" name="Google Shape;933;p70"/>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934" name="Google Shape;934;p70"/>
          <p:cNvSpPr txBox="1"/>
          <p:nvPr/>
        </p:nvSpPr>
        <p:spPr>
          <a:xfrm>
            <a:off x="4932096" y="3638220"/>
            <a:ext cx="2033400" cy="61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In this case, no. A1 and 1A are the same outcome.</a:t>
            </a:r>
            <a:endParaRPr sz="2000">
              <a:solidFill>
                <a:srgbClr val="000000"/>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1"/>
          <p:cNvSpPr txBox="1"/>
          <p:nvPr>
            <p:ph idx="1" type="body"/>
          </p:nvPr>
        </p:nvSpPr>
        <p:spPr>
          <a:xfrm>
            <a:off x="324000" y="759300"/>
            <a:ext cx="8237700" cy="42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Which of the following could be an </a:t>
            </a:r>
            <a:r>
              <a:rPr b="1" lang="en-GB" sz="1800"/>
              <a:t>outcome table</a:t>
            </a:r>
            <a:r>
              <a:rPr lang="en-GB" sz="1800"/>
              <a:t> for these two spinners?</a:t>
            </a:r>
            <a:endParaRPr sz="1800"/>
          </a:p>
        </p:txBody>
      </p:sp>
      <p:sp>
        <p:nvSpPr>
          <p:cNvPr id="940" name="Google Shape;940;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grpSp>
        <p:nvGrpSpPr>
          <p:cNvPr id="941" name="Google Shape;941;p71"/>
          <p:cNvGrpSpPr/>
          <p:nvPr/>
        </p:nvGrpSpPr>
        <p:grpSpPr>
          <a:xfrm>
            <a:off x="784500" y="2838864"/>
            <a:ext cx="2128636" cy="1581135"/>
            <a:chOff x="1698900" y="2000664"/>
            <a:chExt cx="2128636" cy="1581135"/>
          </a:xfrm>
        </p:grpSpPr>
        <p:sp>
          <p:nvSpPr>
            <p:cNvPr id="942" name="Google Shape;942;p71"/>
            <p:cNvSpPr txBox="1"/>
            <p:nvPr/>
          </p:nvSpPr>
          <p:spPr>
            <a:xfrm>
              <a:off x="2056811" y="2507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A1</a:t>
              </a:r>
              <a:endParaRPr sz="1800">
                <a:solidFill>
                  <a:schemeClr val="dk1"/>
                </a:solidFill>
                <a:latin typeface="Lexend"/>
                <a:ea typeface="Lexend"/>
                <a:cs typeface="Lexend"/>
                <a:sym typeface="Lexend"/>
              </a:endParaRPr>
            </a:p>
          </p:txBody>
        </p:sp>
        <p:sp>
          <p:nvSpPr>
            <p:cNvPr id="943" name="Google Shape;943;p71"/>
            <p:cNvSpPr txBox="1"/>
            <p:nvPr/>
          </p:nvSpPr>
          <p:spPr>
            <a:xfrm>
              <a:off x="2510580" y="2507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B1</a:t>
              </a:r>
              <a:endParaRPr sz="1800">
                <a:solidFill>
                  <a:schemeClr val="dk1"/>
                </a:solidFill>
                <a:latin typeface="Lexend"/>
                <a:ea typeface="Lexend"/>
                <a:cs typeface="Lexend"/>
                <a:sym typeface="Lexend"/>
              </a:endParaRPr>
            </a:p>
          </p:txBody>
        </p:sp>
        <p:sp>
          <p:nvSpPr>
            <p:cNvPr id="944" name="Google Shape;944;p71"/>
            <p:cNvSpPr txBox="1"/>
            <p:nvPr/>
          </p:nvSpPr>
          <p:spPr>
            <a:xfrm>
              <a:off x="2941041" y="2507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C1</a:t>
              </a:r>
              <a:endParaRPr sz="1800">
                <a:solidFill>
                  <a:schemeClr val="dk1"/>
                </a:solidFill>
                <a:latin typeface="Lexend"/>
                <a:ea typeface="Lexend"/>
                <a:cs typeface="Lexend"/>
                <a:sym typeface="Lexend"/>
              </a:endParaRPr>
            </a:p>
          </p:txBody>
        </p:sp>
        <p:sp>
          <p:nvSpPr>
            <p:cNvPr id="945" name="Google Shape;945;p71"/>
            <p:cNvSpPr txBox="1"/>
            <p:nvPr/>
          </p:nvSpPr>
          <p:spPr>
            <a:xfrm>
              <a:off x="3381736" y="2507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D1</a:t>
              </a:r>
              <a:endParaRPr sz="1800">
                <a:solidFill>
                  <a:schemeClr val="dk1"/>
                </a:solidFill>
                <a:latin typeface="Lexend"/>
                <a:ea typeface="Lexend"/>
                <a:cs typeface="Lexend"/>
                <a:sym typeface="Lexend"/>
              </a:endParaRPr>
            </a:p>
          </p:txBody>
        </p:sp>
        <p:sp>
          <p:nvSpPr>
            <p:cNvPr id="946" name="Google Shape;946;p71"/>
            <p:cNvSpPr txBox="1"/>
            <p:nvPr/>
          </p:nvSpPr>
          <p:spPr>
            <a:xfrm>
              <a:off x="2056811" y="28953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A2</a:t>
              </a:r>
              <a:endParaRPr sz="1800">
                <a:solidFill>
                  <a:schemeClr val="dk1"/>
                </a:solidFill>
                <a:latin typeface="Lexend"/>
                <a:ea typeface="Lexend"/>
                <a:cs typeface="Lexend"/>
                <a:sym typeface="Lexend"/>
              </a:endParaRPr>
            </a:p>
          </p:txBody>
        </p:sp>
        <p:sp>
          <p:nvSpPr>
            <p:cNvPr id="947" name="Google Shape;947;p71"/>
            <p:cNvSpPr txBox="1"/>
            <p:nvPr/>
          </p:nvSpPr>
          <p:spPr>
            <a:xfrm>
              <a:off x="2510580" y="28953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B2</a:t>
              </a:r>
              <a:endParaRPr sz="1800">
                <a:solidFill>
                  <a:schemeClr val="dk1"/>
                </a:solidFill>
                <a:latin typeface="Lexend"/>
                <a:ea typeface="Lexend"/>
                <a:cs typeface="Lexend"/>
                <a:sym typeface="Lexend"/>
              </a:endParaRPr>
            </a:p>
          </p:txBody>
        </p:sp>
        <p:sp>
          <p:nvSpPr>
            <p:cNvPr id="948" name="Google Shape;948;p71"/>
            <p:cNvSpPr txBox="1"/>
            <p:nvPr/>
          </p:nvSpPr>
          <p:spPr>
            <a:xfrm>
              <a:off x="2941041" y="28953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C2</a:t>
              </a:r>
              <a:endParaRPr sz="1800">
                <a:solidFill>
                  <a:schemeClr val="dk1"/>
                </a:solidFill>
                <a:latin typeface="Lexend"/>
                <a:ea typeface="Lexend"/>
                <a:cs typeface="Lexend"/>
                <a:sym typeface="Lexend"/>
              </a:endParaRPr>
            </a:p>
          </p:txBody>
        </p:sp>
        <p:sp>
          <p:nvSpPr>
            <p:cNvPr id="949" name="Google Shape;949;p71"/>
            <p:cNvSpPr txBox="1"/>
            <p:nvPr/>
          </p:nvSpPr>
          <p:spPr>
            <a:xfrm>
              <a:off x="3381736" y="289536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D2</a:t>
              </a:r>
              <a:endParaRPr sz="1800">
                <a:solidFill>
                  <a:schemeClr val="dk1"/>
                </a:solidFill>
                <a:latin typeface="Lexend"/>
                <a:ea typeface="Lexend"/>
                <a:cs typeface="Lexend"/>
                <a:sym typeface="Lexend"/>
              </a:endParaRPr>
            </a:p>
          </p:txBody>
        </p:sp>
        <p:sp>
          <p:nvSpPr>
            <p:cNvPr id="950" name="Google Shape;950;p71"/>
            <p:cNvSpPr txBox="1"/>
            <p:nvPr/>
          </p:nvSpPr>
          <p:spPr>
            <a:xfrm>
              <a:off x="2056811" y="32713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A3</a:t>
              </a:r>
              <a:endParaRPr sz="1800">
                <a:solidFill>
                  <a:schemeClr val="dk1"/>
                </a:solidFill>
                <a:latin typeface="Lexend"/>
                <a:ea typeface="Lexend"/>
                <a:cs typeface="Lexend"/>
                <a:sym typeface="Lexend"/>
              </a:endParaRPr>
            </a:p>
          </p:txBody>
        </p:sp>
        <p:sp>
          <p:nvSpPr>
            <p:cNvPr id="951" name="Google Shape;951;p71"/>
            <p:cNvSpPr txBox="1"/>
            <p:nvPr/>
          </p:nvSpPr>
          <p:spPr>
            <a:xfrm>
              <a:off x="2510580" y="32713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B3</a:t>
              </a:r>
              <a:endParaRPr sz="1800">
                <a:solidFill>
                  <a:schemeClr val="dk1"/>
                </a:solidFill>
                <a:latin typeface="Lexend"/>
                <a:ea typeface="Lexend"/>
                <a:cs typeface="Lexend"/>
                <a:sym typeface="Lexend"/>
              </a:endParaRPr>
            </a:p>
          </p:txBody>
        </p:sp>
        <p:sp>
          <p:nvSpPr>
            <p:cNvPr id="952" name="Google Shape;952;p71"/>
            <p:cNvSpPr txBox="1"/>
            <p:nvPr/>
          </p:nvSpPr>
          <p:spPr>
            <a:xfrm>
              <a:off x="2941041" y="32713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C3</a:t>
              </a:r>
              <a:endParaRPr sz="1800">
                <a:solidFill>
                  <a:schemeClr val="dk1"/>
                </a:solidFill>
                <a:latin typeface="Lexend"/>
                <a:ea typeface="Lexend"/>
                <a:cs typeface="Lexend"/>
                <a:sym typeface="Lexend"/>
              </a:endParaRPr>
            </a:p>
          </p:txBody>
        </p:sp>
        <p:sp>
          <p:nvSpPr>
            <p:cNvPr id="953" name="Google Shape;953;p71"/>
            <p:cNvSpPr txBox="1"/>
            <p:nvPr/>
          </p:nvSpPr>
          <p:spPr>
            <a:xfrm>
              <a:off x="3381736" y="327130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D3</a:t>
              </a:r>
              <a:endParaRPr sz="1800">
                <a:solidFill>
                  <a:schemeClr val="dk1"/>
                </a:solidFill>
                <a:latin typeface="Lexend"/>
                <a:ea typeface="Lexend"/>
                <a:cs typeface="Lexend"/>
                <a:sym typeface="Lexend"/>
              </a:endParaRPr>
            </a:p>
          </p:txBody>
        </p:sp>
        <p:grpSp>
          <p:nvGrpSpPr>
            <p:cNvPr id="954" name="Google Shape;954;p71"/>
            <p:cNvGrpSpPr/>
            <p:nvPr/>
          </p:nvGrpSpPr>
          <p:grpSpPr>
            <a:xfrm flipH="1" rot="-5400000">
              <a:off x="1938551" y="1761013"/>
              <a:ext cx="1581135" cy="2060436"/>
              <a:chOff x="3174217" y="2193525"/>
              <a:chExt cx="1905900" cy="2060436"/>
            </a:xfrm>
          </p:grpSpPr>
          <p:grpSp>
            <p:nvGrpSpPr>
              <p:cNvPr id="955" name="Google Shape;955;p71"/>
              <p:cNvGrpSpPr/>
              <p:nvPr/>
            </p:nvGrpSpPr>
            <p:grpSpPr>
              <a:xfrm>
                <a:off x="3174217" y="2193525"/>
                <a:ext cx="1905900" cy="2056200"/>
                <a:chOff x="3174217" y="2574525"/>
                <a:chExt cx="1905900" cy="2056200"/>
              </a:xfrm>
            </p:grpSpPr>
            <p:cxnSp>
              <p:nvCxnSpPr>
                <p:cNvPr id="956" name="Google Shape;956;p71"/>
                <p:cNvCxnSpPr/>
                <p:nvPr/>
              </p:nvCxnSpPr>
              <p:spPr>
                <a:xfrm>
                  <a:off x="3777352" y="2574525"/>
                  <a:ext cx="0" cy="2047200"/>
                </a:xfrm>
                <a:prstGeom prst="straightConnector1">
                  <a:avLst/>
                </a:prstGeom>
                <a:noFill/>
                <a:ln cap="flat" cmpd="sng" w="38100">
                  <a:solidFill>
                    <a:schemeClr val="dk1"/>
                  </a:solidFill>
                  <a:prstDash val="solid"/>
                  <a:round/>
                  <a:headEnd len="med" w="med" type="none"/>
                  <a:tailEnd len="med" w="med" type="none"/>
                </a:ln>
              </p:spPr>
            </p:cxnSp>
            <p:cxnSp>
              <p:nvCxnSpPr>
                <p:cNvPr id="957" name="Google Shape;957;p71"/>
                <p:cNvCxnSpPr/>
                <p:nvPr/>
              </p:nvCxnSpPr>
              <p:spPr>
                <a:xfrm>
                  <a:off x="4220717" y="2574525"/>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958" name="Google Shape;958;p71"/>
                <p:cNvCxnSpPr/>
                <p:nvPr/>
              </p:nvCxnSpPr>
              <p:spPr>
                <a:xfrm>
                  <a:off x="4665648" y="2574525"/>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959" name="Google Shape;959;p71"/>
                <p:cNvCxnSpPr/>
                <p:nvPr/>
              </p:nvCxnSpPr>
              <p:spPr>
                <a:xfrm rot="10800000">
                  <a:off x="3174217" y="2882475"/>
                  <a:ext cx="1905900" cy="0"/>
                </a:xfrm>
                <a:prstGeom prst="straightConnector1">
                  <a:avLst/>
                </a:prstGeom>
                <a:noFill/>
                <a:ln cap="flat" cmpd="sng" w="38100">
                  <a:solidFill>
                    <a:schemeClr val="dk1"/>
                  </a:solidFill>
                  <a:prstDash val="solid"/>
                  <a:round/>
                  <a:headEnd len="med" w="med" type="none"/>
                  <a:tailEnd len="med" w="med" type="none"/>
                </a:ln>
              </p:spPr>
            </p:cxnSp>
            <p:cxnSp>
              <p:nvCxnSpPr>
                <p:cNvPr id="960" name="Google Shape;960;p71"/>
                <p:cNvCxnSpPr/>
                <p:nvPr/>
              </p:nvCxnSpPr>
              <p:spPr>
                <a:xfrm rot="10800000">
                  <a:off x="3174217" y="3323833"/>
                  <a:ext cx="1905900" cy="0"/>
                </a:xfrm>
                <a:prstGeom prst="straightConnector1">
                  <a:avLst/>
                </a:prstGeom>
                <a:noFill/>
                <a:ln cap="flat" cmpd="sng" w="38100">
                  <a:solidFill>
                    <a:schemeClr val="dk1"/>
                  </a:solidFill>
                  <a:prstDash val="solid"/>
                  <a:round/>
                  <a:headEnd len="med" w="med" type="none"/>
                  <a:tailEnd len="med" w="med" type="none"/>
                </a:ln>
              </p:spPr>
            </p:cxnSp>
            <p:cxnSp>
              <p:nvCxnSpPr>
                <p:cNvPr id="961" name="Google Shape;961;p71"/>
                <p:cNvCxnSpPr/>
                <p:nvPr/>
              </p:nvCxnSpPr>
              <p:spPr>
                <a:xfrm rot="10800000">
                  <a:off x="3174217" y="3766211"/>
                  <a:ext cx="1905900" cy="0"/>
                </a:xfrm>
                <a:prstGeom prst="straightConnector1">
                  <a:avLst/>
                </a:prstGeom>
                <a:noFill/>
                <a:ln cap="flat" cmpd="sng" w="38100">
                  <a:solidFill>
                    <a:schemeClr val="dk1"/>
                  </a:solidFill>
                  <a:prstDash val="solid"/>
                  <a:round/>
                  <a:headEnd len="med" w="med" type="none"/>
                  <a:tailEnd len="med" w="med" type="none"/>
                </a:ln>
              </p:spPr>
            </p:cxnSp>
            <p:sp>
              <p:nvSpPr>
                <p:cNvPr id="962" name="Google Shape;962;p71"/>
                <p:cNvSpPr txBox="1"/>
                <p:nvPr/>
              </p:nvSpPr>
              <p:spPr>
                <a:xfrm rot="-5400000">
                  <a:off x="3848902" y="2542480"/>
                  <a:ext cx="1911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963" name="Google Shape;963;p71"/>
                <p:cNvSpPr txBox="1"/>
                <p:nvPr/>
              </p:nvSpPr>
              <p:spPr>
                <a:xfrm rot="-5400000">
                  <a:off x="4234425" y="2631880"/>
                  <a:ext cx="3699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964" name="Google Shape;964;p71"/>
                <p:cNvSpPr txBox="1"/>
                <p:nvPr/>
              </p:nvSpPr>
              <p:spPr>
                <a:xfrm rot="-5400000">
                  <a:off x="3430869" y="2905792"/>
                  <a:ext cx="1146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65" name="Google Shape;965;p71"/>
                <p:cNvSpPr txBox="1"/>
                <p:nvPr/>
              </p:nvSpPr>
              <p:spPr>
                <a:xfrm rot="-5400000">
                  <a:off x="3430869" y="3359317"/>
                  <a:ext cx="1146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966" name="Google Shape;966;p71"/>
                <p:cNvCxnSpPr/>
                <p:nvPr/>
              </p:nvCxnSpPr>
              <p:spPr>
                <a:xfrm>
                  <a:off x="5056734" y="2574525"/>
                  <a:ext cx="0" cy="2056200"/>
                </a:xfrm>
                <a:prstGeom prst="straightConnector1">
                  <a:avLst/>
                </a:prstGeom>
                <a:noFill/>
                <a:ln cap="flat" cmpd="sng" w="38100">
                  <a:solidFill>
                    <a:schemeClr val="dk1"/>
                  </a:solidFill>
                  <a:prstDash val="solid"/>
                  <a:round/>
                  <a:headEnd len="med" w="med" type="none"/>
                  <a:tailEnd len="med" w="med" type="none"/>
                </a:ln>
              </p:spPr>
            </p:cxnSp>
            <p:cxnSp>
              <p:nvCxnSpPr>
                <p:cNvPr id="967" name="Google Shape;967;p71"/>
                <p:cNvCxnSpPr/>
                <p:nvPr/>
              </p:nvCxnSpPr>
              <p:spPr>
                <a:xfrm rot="10800000">
                  <a:off x="3174217" y="4199594"/>
                  <a:ext cx="1905900" cy="0"/>
                </a:xfrm>
                <a:prstGeom prst="straightConnector1">
                  <a:avLst/>
                </a:prstGeom>
                <a:noFill/>
                <a:ln cap="flat" cmpd="sng" w="38100">
                  <a:solidFill>
                    <a:schemeClr val="dk1"/>
                  </a:solidFill>
                  <a:prstDash val="solid"/>
                  <a:round/>
                  <a:headEnd len="med" w="med" type="none"/>
                  <a:tailEnd len="med" w="med" type="none"/>
                </a:ln>
              </p:spPr>
            </p:cxnSp>
            <p:sp>
              <p:nvSpPr>
                <p:cNvPr id="968" name="Google Shape;968;p71"/>
                <p:cNvSpPr txBox="1"/>
                <p:nvPr/>
              </p:nvSpPr>
              <p:spPr>
                <a:xfrm rot="-5400000">
                  <a:off x="3391719" y="3832100"/>
                  <a:ext cx="1929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969" name="Google Shape;969;p71"/>
                <p:cNvSpPr txBox="1"/>
                <p:nvPr/>
              </p:nvSpPr>
              <p:spPr>
                <a:xfrm rot="-5400000">
                  <a:off x="4785942" y="2542480"/>
                  <a:ext cx="1911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grpSp>
          <p:cxnSp>
            <p:nvCxnSpPr>
              <p:cNvPr id="970" name="Google Shape;970;p71"/>
              <p:cNvCxnSpPr/>
              <p:nvPr/>
            </p:nvCxnSpPr>
            <p:spPr>
              <a:xfrm rot="10800000">
                <a:off x="3174217" y="4253961"/>
                <a:ext cx="1905900" cy="0"/>
              </a:xfrm>
              <a:prstGeom prst="straightConnector1">
                <a:avLst/>
              </a:prstGeom>
              <a:noFill/>
              <a:ln cap="flat" cmpd="sng" w="38100">
                <a:solidFill>
                  <a:schemeClr val="dk1"/>
                </a:solidFill>
                <a:prstDash val="solid"/>
                <a:round/>
                <a:headEnd len="med" w="med" type="none"/>
                <a:tailEnd len="med" w="med" type="none"/>
              </a:ln>
            </p:spPr>
          </p:cxnSp>
          <p:sp>
            <p:nvSpPr>
              <p:cNvPr id="971" name="Google Shape;971;p71"/>
              <p:cNvSpPr txBox="1"/>
              <p:nvPr/>
            </p:nvSpPr>
            <p:spPr>
              <a:xfrm rot="-5400000">
                <a:off x="3391719" y="3889855"/>
                <a:ext cx="1929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grpSp>
      </p:grpSp>
      <p:sp>
        <p:nvSpPr>
          <p:cNvPr id="972" name="Google Shape;972;p71"/>
          <p:cNvSpPr txBox="1"/>
          <p:nvPr/>
        </p:nvSpPr>
        <p:spPr>
          <a:xfrm>
            <a:off x="4336542" y="273244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a:t>
            </a:r>
            <a:endParaRPr sz="1800">
              <a:solidFill>
                <a:schemeClr val="dk1"/>
              </a:solidFill>
              <a:latin typeface="Lexend"/>
              <a:ea typeface="Lexend"/>
              <a:cs typeface="Lexend"/>
              <a:sym typeface="Lexend"/>
            </a:endParaRPr>
          </a:p>
        </p:txBody>
      </p:sp>
      <p:sp>
        <p:nvSpPr>
          <p:cNvPr id="973" name="Google Shape;973;p71"/>
          <p:cNvSpPr txBox="1"/>
          <p:nvPr/>
        </p:nvSpPr>
        <p:spPr>
          <a:xfrm>
            <a:off x="4344307" y="316842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1B</a:t>
            </a:r>
            <a:endParaRPr sz="1800">
              <a:solidFill>
                <a:schemeClr val="dk1"/>
              </a:solidFill>
              <a:latin typeface="Lexend"/>
              <a:ea typeface="Lexend"/>
              <a:cs typeface="Lexend"/>
              <a:sym typeface="Lexend"/>
            </a:endParaRPr>
          </a:p>
        </p:txBody>
      </p:sp>
      <p:sp>
        <p:nvSpPr>
          <p:cNvPr id="974" name="Google Shape;974;p71"/>
          <p:cNvSpPr txBox="1"/>
          <p:nvPr/>
        </p:nvSpPr>
        <p:spPr>
          <a:xfrm>
            <a:off x="4344317" y="360629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1C</a:t>
            </a:r>
            <a:endParaRPr sz="1800">
              <a:solidFill>
                <a:schemeClr val="dk1"/>
              </a:solidFill>
              <a:latin typeface="Lexend"/>
              <a:ea typeface="Lexend"/>
              <a:cs typeface="Lexend"/>
              <a:sym typeface="Lexend"/>
            </a:endParaRPr>
          </a:p>
        </p:txBody>
      </p:sp>
      <p:sp>
        <p:nvSpPr>
          <p:cNvPr id="975" name="Google Shape;975;p71"/>
          <p:cNvSpPr txBox="1"/>
          <p:nvPr/>
        </p:nvSpPr>
        <p:spPr>
          <a:xfrm>
            <a:off x="4350391" y="404067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1D</a:t>
            </a:r>
            <a:endParaRPr sz="1800">
              <a:solidFill>
                <a:schemeClr val="dk1"/>
              </a:solidFill>
              <a:latin typeface="Lexend"/>
              <a:ea typeface="Lexend"/>
              <a:cs typeface="Lexend"/>
              <a:sym typeface="Lexend"/>
            </a:endParaRPr>
          </a:p>
        </p:txBody>
      </p:sp>
      <p:sp>
        <p:nvSpPr>
          <p:cNvPr id="976" name="Google Shape;976;p71"/>
          <p:cNvSpPr txBox="1"/>
          <p:nvPr/>
        </p:nvSpPr>
        <p:spPr>
          <a:xfrm>
            <a:off x="4702464" y="272854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a:t>
            </a:r>
            <a:endParaRPr sz="1800">
              <a:solidFill>
                <a:schemeClr val="dk1"/>
              </a:solidFill>
              <a:latin typeface="Lexend"/>
              <a:ea typeface="Lexend"/>
              <a:cs typeface="Lexend"/>
              <a:sym typeface="Lexend"/>
            </a:endParaRPr>
          </a:p>
        </p:txBody>
      </p:sp>
      <p:sp>
        <p:nvSpPr>
          <p:cNvPr id="977" name="Google Shape;977;p71"/>
          <p:cNvSpPr txBox="1"/>
          <p:nvPr/>
        </p:nvSpPr>
        <p:spPr>
          <a:xfrm>
            <a:off x="4697881" y="3168407"/>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2B</a:t>
            </a:r>
            <a:endParaRPr sz="1800">
              <a:solidFill>
                <a:schemeClr val="dk1"/>
              </a:solidFill>
              <a:latin typeface="Lexend"/>
              <a:ea typeface="Lexend"/>
              <a:cs typeface="Lexend"/>
              <a:sym typeface="Lexend"/>
            </a:endParaRPr>
          </a:p>
        </p:txBody>
      </p:sp>
      <p:sp>
        <p:nvSpPr>
          <p:cNvPr id="978" name="Google Shape;978;p71"/>
          <p:cNvSpPr txBox="1"/>
          <p:nvPr/>
        </p:nvSpPr>
        <p:spPr>
          <a:xfrm>
            <a:off x="4707442" y="360628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2C</a:t>
            </a:r>
            <a:endParaRPr sz="1800">
              <a:solidFill>
                <a:schemeClr val="dk1"/>
              </a:solidFill>
              <a:latin typeface="Lexend"/>
              <a:ea typeface="Lexend"/>
              <a:cs typeface="Lexend"/>
              <a:sym typeface="Lexend"/>
            </a:endParaRPr>
          </a:p>
        </p:txBody>
      </p:sp>
      <p:sp>
        <p:nvSpPr>
          <p:cNvPr id="979" name="Google Shape;979;p71"/>
          <p:cNvSpPr txBox="1"/>
          <p:nvPr/>
        </p:nvSpPr>
        <p:spPr>
          <a:xfrm>
            <a:off x="4691923" y="4040656"/>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2D</a:t>
            </a:r>
            <a:endParaRPr sz="1800">
              <a:solidFill>
                <a:schemeClr val="dk1"/>
              </a:solidFill>
              <a:latin typeface="Lexend"/>
              <a:ea typeface="Lexend"/>
              <a:cs typeface="Lexend"/>
              <a:sym typeface="Lexend"/>
            </a:endParaRPr>
          </a:p>
        </p:txBody>
      </p:sp>
      <p:sp>
        <p:nvSpPr>
          <p:cNvPr id="980" name="Google Shape;980;p71"/>
          <p:cNvSpPr txBox="1"/>
          <p:nvPr/>
        </p:nvSpPr>
        <p:spPr>
          <a:xfrm>
            <a:off x="5081883" y="2726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a:t>
            </a:r>
            <a:endParaRPr sz="1800">
              <a:solidFill>
                <a:schemeClr val="dk1"/>
              </a:solidFill>
              <a:latin typeface="Lexend"/>
              <a:ea typeface="Lexend"/>
              <a:cs typeface="Lexend"/>
              <a:sym typeface="Lexend"/>
            </a:endParaRPr>
          </a:p>
        </p:txBody>
      </p:sp>
      <p:sp>
        <p:nvSpPr>
          <p:cNvPr id="981" name="Google Shape;981;p71"/>
          <p:cNvSpPr txBox="1"/>
          <p:nvPr/>
        </p:nvSpPr>
        <p:spPr>
          <a:xfrm>
            <a:off x="5082461" y="316840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3B</a:t>
            </a:r>
            <a:endParaRPr sz="1800">
              <a:solidFill>
                <a:schemeClr val="dk1"/>
              </a:solidFill>
              <a:latin typeface="Lexend"/>
              <a:ea typeface="Lexend"/>
              <a:cs typeface="Lexend"/>
              <a:sym typeface="Lexend"/>
            </a:endParaRPr>
          </a:p>
        </p:txBody>
      </p:sp>
      <p:sp>
        <p:nvSpPr>
          <p:cNvPr id="982" name="Google Shape;982;p71"/>
          <p:cNvSpPr txBox="1"/>
          <p:nvPr/>
        </p:nvSpPr>
        <p:spPr>
          <a:xfrm>
            <a:off x="5088608" y="3606296"/>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3C</a:t>
            </a:r>
            <a:endParaRPr sz="1800">
              <a:solidFill>
                <a:schemeClr val="dk1"/>
              </a:solidFill>
              <a:latin typeface="Lexend"/>
              <a:ea typeface="Lexend"/>
              <a:cs typeface="Lexend"/>
              <a:sym typeface="Lexend"/>
            </a:endParaRPr>
          </a:p>
        </p:txBody>
      </p:sp>
      <p:sp>
        <p:nvSpPr>
          <p:cNvPr id="983" name="Google Shape;983;p71"/>
          <p:cNvSpPr txBox="1"/>
          <p:nvPr/>
        </p:nvSpPr>
        <p:spPr>
          <a:xfrm>
            <a:off x="5073465" y="404065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3D</a:t>
            </a:r>
            <a:endParaRPr sz="1800">
              <a:solidFill>
                <a:schemeClr val="dk1"/>
              </a:solidFill>
              <a:latin typeface="Lexend"/>
              <a:ea typeface="Lexend"/>
              <a:cs typeface="Lexend"/>
              <a:sym typeface="Lexend"/>
            </a:endParaRPr>
          </a:p>
        </p:txBody>
      </p:sp>
      <p:cxnSp>
        <p:nvCxnSpPr>
          <p:cNvPr id="984" name="Google Shape;984;p71"/>
          <p:cNvCxnSpPr/>
          <p:nvPr/>
        </p:nvCxnSpPr>
        <p:spPr>
          <a:xfrm>
            <a:off x="5034624" y="2336513"/>
            <a:ext cx="0" cy="2047200"/>
          </a:xfrm>
          <a:prstGeom prst="straightConnector1">
            <a:avLst/>
          </a:prstGeom>
          <a:noFill/>
          <a:ln cap="flat" cmpd="sng" w="38100">
            <a:solidFill>
              <a:schemeClr val="dk1"/>
            </a:solidFill>
            <a:prstDash val="solid"/>
            <a:round/>
            <a:headEnd len="med" w="med" type="none"/>
            <a:tailEnd len="med" w="med" type="none"/>
          </a:ln>
        </p:spPr>
      </p:cxnSp>
      <p:cxnSp>
        <p:nvCxnSpPr>
          <p:cNvPr id="985" name="Google Shape;985;p71"/>
          <p:cNvCxnSpPr/>
          <p:nvPr/>
        </p:nvCxnSpPr>
        <p:spPr>
          <a:xfrm>
            <a:off x="4666809" y="2336513"/>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986" name="Google Shape;986;p71"/>
          <p:cNvCxnSpPr/>
          <p:nvPr/>
        </p:nvCxnSpPr>
        <p:spPr>
          <a:xfrm>
            <a:off x="4297694" y="2336513"/>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987" name="Google Shape;987;p71"/>
          <p:cNvCxnSpPr/>
          <p:nvPr/>
        </p:nvCxnSpPr>
        <p:spPr>
          <a:xfrm>
            <a:off x="3953850" y="2644475"/>
            <a:ext cx="1459200" cy="0"/>
          </a:xfrm>
          <a:prstGeom prst="straightConnector1">
            <a:avLst/>
          </a:prstGeom>
          <a:noFill/>
          <a:ln cap="flat" cmpd="sng" w="38100">
            <a:solidFill>
              <a:schemeClr val="dk1"/>
            </a:solidFill>
            <a:prstDash val="solid"/>
            <a:round/>
            <a:headEnd len="med" w="med" type="none"/>
            <a:tailEnd len="med" w="med" type="none"/>
          </a:ln>
        </p:spPr>
      </p:cxnSp>
      <p:cxnSp>
        <p:nvCxnSpPr>
          <p:cNvPr id="988" name="Google Shape;988;p71"/>
          <p:cNvCxnSpPr/>
          <p:nvPr/>
        </p:nvCxnSpPr>
        <p:spPr>
          <a:xfrm>
            <a:off x="3953850" y="3085831"/>
            <a:ext cx="1459200" cy="0"/>
          </a:xfrm>
          <a:prstGeom prst="straightConnector1">
            <a:avLst/>
          </a:prstGeom>
          <a:noFill/>
          <a:ln cap="flat" cmpd="sng" w="38100">
            <a:solidFill>
              <a:schemeClr val="dk1"/>
            </a:solidFill>
            <a:prstDash val="solid"/>
            <a:round/>
            <a:headEnd len="med" w="med" type="none"/>
            <a:tailEnd len="med" w="med" type="none"/>
          </a:ln>
        </p:spPr>
      </p:cxnSp>
      <p:cxnSp>
        <p:nvCxnSpPr>
          <p:cNvPr id="989" name="Google Shape;989;p71"/>
          <p:cNvCxnSpPr/>
          <p:nvPr/>
        </p:nvCxnSpPr>
        <p:spPr>
          <a:xfrm>
            <a:off x="3953850" y="3528206"/>
            <a:ext cx="1459200" cy="0"/>
          </a:xfrm>
          <a:prstGeom prst="straightConnector1">
            <a:avLst/>
          </a:prstGeom>
          <a:noFill/>
          <a:ln cap="flat" cmpd="sng" w="38100">
            <a:solidFill>
              <a:schemeClr val="dk1"/>
            </a:solidFill>
            <a:prstDash val="solid"/>
            <a:round/>
            <a:headEnd len="med" w="med" type="none"/>
            <a:tailEnd len="med" w="med" type="none"/>
          </a:ln>
        </p:spPr>
      </p:cxnSp>
      <p:sp>
        <p:nvSpPr>
          <p:cNvPr id="990" name="Google Shape;990;p71"/>
          <p:cNvSpPr txBox="1"/>
          <p:nvPr/>
        </p:nvSpPr>
        <p:spPr>
          <a:xfrm flipH="1">
            <a:off x="4417777" y="2332423"/>
            <a:ext cx="19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991" name="Google Shape;991;p71"/>
          <p:cNvSpPr txBox="1"/>
          <p:nvPr/>
        </p:nvSpPr>
        <p:spPr>
          <a:xfrm flipH="1">
            <a:off x="4783344" y="2340188"/>
            <a:ext cx="369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992" name="Google Shape;992;p71"/>
          <p:cNvSpPr txBox="1"/>
          <p:nvPr/>
        </p:nvSpPr>
        <p:spPr>
          <a:xfrm flipH="1">
            <a:off x="4060179" y="2726560"/>
            <a:ext cx="114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93" name="Google Shape;993;p71"/>
          <p:cNvSpPr txBox="1"/>
          <p:nvPr/>
        </p:nvSpPr>
        <p:spPr>
          <a:xfrm flipH="1">
            <a:off x="4060179" y="3168422"/>
            <a:ext cx="114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994" name="Google Shape;994;p71"/>
          <p:cNvCxnSpPr/>
          <p:nvPr/>
        </p:nvCxnSpPr>
        <p:spPr>
          <a:xfrm>
            <a:off x="5413149" y="2342988"/>
            <a:ext cx="0" cy="2056200"/>
          </a:xfrm>
          <a:prstGeom prst="straightConnector1">
            <a:avLst/>
          </a:prstGeom>
          <a:noFill/>
          <a:ln cap="flat" cmpd="sng" w="38100">
            <a:solidFill>
              <a:schemeClr val="dk1"/>
            </a:solidFill>
            <a:prstDash val="solid"/>
            <a:round/>
            <a:headEnd len="med" w="med" type="none"/>
            <a:tailEnd len="med" w="med" type="none"/>
          </a:ln>
        </p:spPr>
      </p:cxnSp>
      <p:cxnSp>
        <p:nvCxnSpPr>
          <p:cNvPr id="995" name="Google Shape;995;p71"/>
          <p:cNvCxnSpPr/>
          <p:nvPr/>
        </p:nvCxnSpPr>
        <p:spPr>
          <a:xfrm>
            <a:off x="3953850" y="3961586"/>
            <a:ext cx="1459200" cy="0"/>
          </a:xfrm>
          <a:prstGeom prst="straightConnector1">
            <a:avLst/>
          </a:prstGeom>
          <a:noFill/>
          <a:ln cap="flat" cmpd="sng" w="38100">
            <a:solidFill>
              <a:schemeClr val="dk1"/>
            </a:solidFill>
            <a:prstDash val="solid"/>
            <a:round/>
            <a:headEnd len="med" w="med" type="none"/>
            <a:tailEnd len="med" w="med" type="none"/>
          </a:ln>
        </p:spPr>
      </p:cxnSp>
      <p:sp>
        <p:nvSpPr>
          <p:cNvPr id="996" name="Google Shape;996;p71"/>
          <p:cNvSpPr txBox="1"/>
          <p:nvPr/>
        </p:nvSpPr>
        <p:spPr>
          <a:xfrm flipH="1">
            <a:off x="4021035" y="3606297"/>
            <a:ext cx="19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997" name="Google Shape;997;p71"/>
          <p:cNvSpPr txBox="1"/>
          <p:nvPr/>
        </p:nvSpPr>
        <p:spPr>
          <a:xfrm flipH="1">
            <a:off x="5159427" y="2346444"/>
            <a:ext cx="19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cxnSp>
        <p:nvCxnSpPr>
          <p:cNvPr id="998" name="Google Shape;998;p71"/>
          <p:cNvCxnSpPr/>
          <p:nvPr/>
        </p:nvCxnSpPr>
        <p:spPr>
          <a:xfrm>
            <a:off x="3953850" y="4396950"/>
            <a:ext cx="1459200" cy="0"/>
          </a:xfrm>
          <a:prstGeom prst="straightConnector1">
            <a:avLst/>
          </a:prstGeom>
          <a:noFill/>
          <a:ln cap="flat" cmpd="sng" w="38100">
            <a:solidFill>
              <a:schemeClr val="dk1"/>
            </a:solidFill>
            <a:prstDash val="solid"/>
            <a:round/>
            <a:headEnd len="med" w="med" type="none"/>
            <a:tailEnd len="med" w="med" type="none"/>
          </a:ln>
        </p:spPr>
      </p:cxnSp>
      <p:sp>
        <p:nvSpPr>
          <p:cNvPr id="999" name="Google Shape;999;p71"/>
          <p:cNvSpPr txBox="1"/>
          <p:nvPr/>
        </p:nvSpPr>
        <p:spPr>
          <a:xfrm flipH="1">
            <a:off x="4021018" y="4040672"/>
            <a:ext cx="19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000" name="Google Shape;1000;p71"/>
          <p:cNvSpPr txBox="1"/>
          <p:nvPr/>
        </p:nvSpPr>
        <p:spPr>
          <a:xfrm>
            <a:off x="7079742" y="273244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a:t>
            </a:r>
            <a:endParaRPr sz="1800">
              <a:solidFill>
                <a:schemeClr val="dk1"/>
              </a:solidFill>
              <a:latin typeface="Lexend"/>
              <a:ea typeface="Lexend"/>
              <a:cs typeface="Lexend"/>
              <a:sym typeface="Lexend"/>
            </a:endParaRPr>
          </a:p>
        </p:txBody>
      </p:sp>
      <p:sp>
        <p:nvSpPr>
          <p:cNvPr id="1001" name="Google Shape;1001;p71"/>
          <p:cNvSpPr txBox="1"/>
          <p:nvPr/>
        </p:nvSpPr>
        <p:spPr>
          <a:xfrm>
            <a:off x="7087507" y="316842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endParaRPr sz="1800">
              <a:solidFill>
                <a:schemeClr val="dk1"/>
              </a:solidFill>
              <a:latin typeface="Lexend"/>
              <a:ea typeface="Lexend"/>
              <a:cs typeface="Lexend"/>
              <a:sym typeface="Lexend"/>
            </a:endParaRPr>
          </a:p>
        </p:txBody>
      </p:sp>
      <p:sp>
        <p:nvSpPr>
          <p:cNvPr id="1002" name="Google Shape;1002;p71"/>
          <p:cNvSpPr txBox="1"/>
          <p:nvPr/>
        </p:nvSpPr>
        <p:spPr>
          <a:xfrm>
            <a:off x="7087517" y="360629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1C</a:t>
            </a:r>
            <a:endParaRPr sz="1800">
              <a:solidFill>
                <a:schemeClr val="dk1"/>
              </a:solidFill>
              <a:latin typeface="Lexend"/>
              <a:ea typeface="Lexend"/>
              <a:cs typeface="Lexend"/>
              <a:sym typeface="Lexend"/>
            </a:endParaRPr>
          </a:p>
        </p:txBody>
      </p:sp>
      <p:sp>
        <p:nvSpPr>
          <p:cNvPr id="1003" name="Google Shape;1003;p71"/>
          <p:cNvSpPr txBox="1"/>
          <p:nvPr/>
        </p:nvSpPr>
        <p:spPr>
          <a:xfrm>
            <a:off x="7093591" y="404067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1D</a:t>
            </a:r>
            <a:endParaRPr sz="1800">
              <a:solidFill>
                <a:schemeClr val="dk1"/>
              </a:solidFill>
              <a:latin typeface="Lexend"/>
              <a:ea typeface="Lexend"/>
              <a:cs typeface="Lexend"/>
              <a:sym typeface="Lexend"/>
            </a:endParaRPr>
          </a:p>
        </p:txBody>
      </p:sp>
      <p:sp>
        <p:nvSpPr>
          <p:cNvPr id="1004" name="Google Shape;1004;p71"/>
          <p:cNvSpPr txBox="1"/>
          <p:nvPr/>
        </p:nvSpPr>
        <p:spPr>
          <a:xfrm>
            <a:off x="7437894" y="272854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a:t>
            </a:r>
            <a:endParaRPr sz="1800">
              <a:solidFill>
                <a:schemeClr val="dk1"/>
              </a:solidFill>
              <a:latin typeface="Lexend"/>
              <a:ea typeface="Lexend"/>
              <a:cs typeface="Lexend"/>
              <a:sym typeface="Lexend"/>
            </a:endParaRPr>
          </a:p>
        </p:txBody>
      </p:sp>
      <p:sp>
        <p:nvSpPr>
          <p:cNvPr id="1005" name="Google Shape;1005;p71"/>
          <p:cNvSpPr txBox="1"/>
          <p:nvPr/>
        </p:nvSpPr>
        <p:spPr>
          <a:xfrm>
            <a:off x="7441081" y="3168407"/>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B2</a:t>
            </a:r>
            <a:endParaRPr sz="1800">
              <a:solidFill>
                <a:schemeClr val="dk1"/>
              </a:solidFill>
              <a:latin typeface="Lexend"/>
              <a:ea typeface="Lexend"/>
              <a:cs typeface="Lexend"/>
              <a:sym typeface="Lexend"/>
            </a:endParaRPr>
          </a:p>
        </p:txBody>
      </p:sp>
      <p:sp>
        <p:nvSpPr>
          <p:cNvPr id="1006" name="Google Shape;1006;p71"/>
          <p:cNvSpPr txBox="1"/>
          <p:nvPr/>
        </p:nvSpPr>
        <p:spPr>
          <a:xfrm>
            <a:off x="7450642" y="360628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BC</a:t>
            </a:r>
            <a:endParaRPr sz="1800">
              <a:solidFill>
                <a:schemeClr val="dk1"/>
              </a:solidFill>
              <a:latin typeface="Lexend"/>
              <a:ea typeface="Lexend"/>
              <a:cs typeface="Lexend"/>
              <a:sym typeface="Lexend"/>
            </a:endParaRPr>
          </a:p>
        </p:txBody>
      </p:sp>
      <p:sp>
        <p:nvSpPr>
          <p:cNvPr id="1007" name="Google Shape;1007;p71"/>
          <p:cNvSpPr txBox="1"/>
          <p:nvPr/>
        </p:nvSpPr>
        <p:spPr>
          <a:xfrm>
            <a:off x="7435123" y="4040656"/>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BD</a:t>
            </a:r>
            <a:endParaRPr sz="1800">
              <a:solidFill>
                <a:schemeClr val="dk1"/>
              </a:solidFill>
              <a:latin typeface="Lexend"/>
              <a:ea typeface="Lexend"/>
              <a:cs typeface="Lexend"/>
              <a:sym typeface="Lexend"/>
            </a:endParaRPr>
          </a:p>
        </p:txBody>
      </p:sp>
      <p:sp>
        <p:nvSpPr>
          <p:cNvPr id="1008" name="Google Shape;1008;p71"/>
          <p:cNvSpPr txBox="1"/>
          <p:nvPr/>
        </p:nvSpPr>
        <p:spPr>
          <a:xfrm>
            <a:off x="7825083" y="2726539"/>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a:t>
            </a:r>
            <a:endParaRPr sz="1800">
              <a:solidFill>
                <a:schemeClr val="dk1"/>
              </a:solidFill>
              <a:latin typeface="Lexend"/>
              <a:ea typeface="Lexend"/>
              <a:cs typeface="Lexend"/>
              <a:sym typeface="Lexend"/>
            </a:endParaRPr>
          </a:p>
        </p:txBody>
      </p:sp>
      <p:sp>
        <p:nvSpPr>
          <p:cNvPr id="1009" name="Google Shape;1009;p71"/>
          <p:cNvSpPr txBox="1"/>
          <p:nvPr/>
        </p:nvSpPr>
        <p:spPr>
          <a:xfrm>
            <a:off x="7825661" y="316840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32</a:t>
            </a:r>
            <a:endParaRPr sz="1800">
              <a:solidFill>
                <a:schemeClr val="dk1"/>
              </a:solidFill>
              <a:latin typeface="Lexend"/>
              <a:ea typeface="Lexend"/>
              <a:cs typeface="Lexend"/>
              <a:sym typeface="Lexend"/>
            </a:endParaRPr>
          </a:p>
        </p:txBody>
      </p:sp>
      <p:sp>
        <p:nvSpPr>
          <p:cNvPr id="1010" name="Google Shape;1010;p71"/>
          <p:cNvSpPr txBox="1"/>
          <p:nvPr/>
        </p:nvSpPr>
        <p:spPr>
          <a:xfrm>
            <a:off x="7831808" y="3606296"/>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3C</a:t>
            </a:r>
            <a:endParaRPr sz="1800">
              <a:solidFill>
                <a:schemeClr val="dk1"/>
              </a:solidFill>
              <a:latin typeface="Lexend"/>
              <a:ea typeface="Lexend"/>
              <a:cs typeface="Lexend"/>
              <a:sym typeface="Lexend"/>
            </a:endParaRPr>
          </a:p>
        </p:txBody>
      </p:sp>
      <p:sp>
        <p:nvSpPr>
          <p:cNvPr id="1011" name="Google Shape;1011;p71"/>
          <p:cNvSpPr txBox="1"/>
          <p:nvPr/>
        </p:nvSpPr>
        <p:spPr>
          <a:xfrm>
            <a:off x="7816665" y="4040651"/>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3D</a:t>
            </a:r>
            <a:endParaRPr sz="1800">
              <a:solidFill>
                <a:schemeClr val="dk1"/>
              </a:solidFill>
              <a:latin typeface="Lexend"/>
              <a:ea typeface="Lexend"/>
              <a:cs typeface="Lexend"/>
              <a:sym typeface="Lexend"/>
            </a:endParaRPr>
          </a:p>
        </p:txBody>
      </p:sp>
      <p:cxnSp>
        <p:nvCxnSpPr>
          <p:cNvPr id="1012" name="Google Shape;1012;p71"/>
          <p:cNvCxnSpPr/>
          <p:nvPr/>
        </p:nvCxnSpPr>
        <p:spPr>
          <a:xfrm>
            <a:off x="7777824" y="2336513"/>
            <a:ext cx="0" cy="2047200"/>
          </a:xfrm>
          <a:prstGeom prst="straightConnector1">
            <a:avLst/>
          </a:prstGeom>
          <a:noFill/>
          <a:ln cap="flat" cmpd="sng" w="38100">
            <a:solidFill>
              <a:schemeClr val="dk1"/>
            </a:solidFill>
            <a:prstDash val="solid"/>
            <a:round/>
            <a:headEnd len="med" w="med" type="none"/>
            <a:tailEnd len="med" w="med" type="none"/>
          </a:ln>
        </p:spPr>
      </p:cxnSp>
      <p:cxnSp>
        <p:nvCxnSpPr>
          <p:cNvPr id="1013" name="Google Shape;1013;p71"/>
          <p:cNvCxnSpPr/>
          <p:nvPr/>
        </p:nvCxnSpPr>
        <p:spPr>
          <a:xfrm>
            <a:off x="7410009" y="2336513"/>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1014" name="Google Shape;1014;p71"/>
          <p:cNvCxnSpPr/>
          <p:nvPr/>
        </p:nvCxnSpPr>
        <p:spPr>
          <a:xfrm>
            <a:off x="7040894" y="2336513"/>
            <a:ext cx="0" cy="2038200"/>
          </a:xfrm>
          <a:prstGeom prst="straightConnector1">
            <a:avLst/>
          </a:prstGeom>
          <a:noFill/>
          <a:ln cap="flat" cmpd="sng" w="38100">
            <a:solidFill>
              <a:schemeClr val="dk1"/>
            </a:solidFill>
            <a:prstDash val="solid"/>
            <a:round/>
            <a:headEnd len="med" w="med" type="none"/>
            <a:tailEnd len="med" w="med" type="none"/>
          </a:ln>
        </p:spPr>
      </p:cxnSp>
      <p:cxnSp>
        <p:nvCxnSpPr>
          <p:cNvPr id="1015" name="Google Shape;1015;p71"/>
          <p:cNvCxnSpPr/>
          <p:nvPr/>
        </p:nvCxnSpPr>
        <p:spPr>
          <a:xfrm>
            <a:off x="6697050" y="2644475"/>
            <a:ext cx="1459200" cy="0"/>
          </a:xfrm>
          <a:prstGeom prst="straightConnector1">
            <a:avLst/>
          </a:prstGeom>
          <a:noFill/>
          <a:ln cap="flat" cmpd="sng" w="38100">
            <a:solidFill>
              <a:schemeClr val="dk1"/>
            </a:solidFill>
            <a:prstDash val="solid"/>
            <a:round/>
            <a:headEnd len="med" w="med" type="none"/>
            <a:tailEnd len="med" w="med" type="none"/>
          </a:ln>
        </p:spPr>
      </p:cxnSp>
      <p:cxnSp>
        <p:nvCxnSpPr>
          <p:cNvPr id="1016" name="Google Shape;1016;p71"/>
          <p:cNvCxnSpPr/>
          <p:nvPr/>
        </p:nvCxnSpPr>
        <p:spPr>
          <a:xfrm>
            <a:off x="6697050" y="3085831"/>
            <a:ext cx="1459200" cy="0"/>
          </a:xfrm>
          <a:prstGeom prst="straightConnector1">
            <a:avLst/>
          </a:prstGeom>
          <a:noFill/>
          <a:ln cap="flat" cmpd="sng" w="38100">
            <a:solidFill>
              <a:schemeClr val="dk1"/>
            </a:solidFill>
            <a:prstDash val="solid"/>
            <a:round/>
            <a:headEnd len="med" w="med" type="none"/>
            <a:tailEnd len="med" w="med" type="none"/>
          </a:ln>
        </p:spPr>
      </p:cxnSp>
      <p:cxnSp>
        <p:nvCxnSpPr>
          <p:cNvPr id="1017" name="Google Shape;1017;p71"/>
          <p:cNvCxnSpPr/>
          <p:nvPr/>
        </p:nvCxnSpPr>
        <p:spPr>
          <a:xfrm>
            <a:off x="6697050" y="3528206"/>
            <a:ext cx="1459200" cy="0"/>
          </a:xfrm>
          <a:prstGeom prst="straightConnector1">
            <a:avLst/>
          </a:prstGeom>
          <a:noFill/>
          <a:ln cap="flat" cmpd="sng" w="38100">
            <a:solidFill>
              <a:schemeClr val="dk1"/>
            </a:solidFill>
            <a:prstDash val="solid"/>
            <a:round/>
            <a:headEnd len="med" w="med" type="none"/>
            <a:tailEnd len="med" w="med" type="none"/>
          </a:ln>
        </p:spPr>
      </p:cxnSp>
      <p:sp>
        <p:nvSpPr>
          <p:cNvPr id="1018" name="Google Shape;1018;p71"/>
          <p:cNvSpPr txBox="1"/>
          <p:nvPr/>
        </p:nvSpPr>
        <p:spPr>
          <a:xfrm flipH="1">
            <a:off x="7160977" y="2332423"/>
            <a:ext cx="19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019" name="Google Shape;1019;p71"/>
          <p:cNvSpPr txBox="1"/>
          <p:nvPr/>
        </p:nvSpPr>
        <p:spPr>
          <a:xfrm flipH="1">
            <a:off x="7526544" y="2340188"/>
            <a:ext cx="369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020" name="Google Shape;1020;p71"/>
          <p:cNvSpPr txBox="1"/>
          <p:nvPr/>
        </p:nvSpPr>
        <p:spPr>
          <a:xfrm flipH="1">
            <a:off x="6803379" y="2726560"/>
            <a:ext cx="114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021" name="Google Shape;1021;p71"/>
          <p:cNvSpPr txBox="1"/>
          <p:nvPr/>
        </p:nvSpPr>
        <p:spPr>
          <a:xfrm flipH="1">
            <a:off x="6803379" y="3168422"/>
            <a:ext cx="114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cxnSp>
        <p:nvCxnSpPr>
          <p:cNvPr id="1022" name="Google Shape;1022;p71"/>
          <p:cNvCxnSpPr/>
          <p:nvPr/>
        </p:nvCxnSpPr>
        <p:spPr>
          <a:xfrm>
            <a:off x="8156349" y="2342988"/>
            <a:ext cx="0" cy="2056200"/>
          </a:xfrm>
          <a:prstGeom prst="straightConnector1">
            <a:avLst/>
          </a:prstGeom>
          <a:noFill/>
          <a:ln cap="flat" cmpd="sng" w="38100">
            <a:solidFill>
              <a:schemeClr val="dk1"/>
            </a:solidFill>
            <a:prstDash val="solid"/>
            <a:round/>
            <a:headEnd len="med" w="med" type="none"/>
            <a:tailEnd len="med" w="med" type="none"/>
          </a:ln>
        </p:spPr>
      </p:cxnSp>
      <p:cxnSp>
        <p:nvCxnSpPr>
          <p:cNvPr id="1023" name="Google Shape;1023;p71"/>
          <p:cNvCxnSpPr/>
          <p:nvPr/>
        </p:nvCxnSpPr>
        <p:spPr>
          <a:xfrm>
            <a:off x="6697050" y="3961586"/>
            <a:ext cx="1459200" cy="0"/>
          </a:xfrm>
          <a:prstGeom prst="straightConnector1">
            <a:avLst/>
          </a:prstGeom>
          <a:noFill/>
          <a:ln cap="flat" cmpd="sng" w="38100">
            <a:solidFill>
              <a:schemeClr val="dk1"/>
            </a:solidFill>
            <a:prstDash val="solid"/>
            <a:round/>
            <a:headEnd len="med" w="med" type="none"/>
            <a:tailEnd len="med" w="med" type="none"/>
          </a:ln>
        </p:spPr>
      </p:cxnSp>
      <p:sp>
        <p:nvSpPr>
          <p:cNvPr id="1024" name="Google Shape;1024;p71"/>
          <p:cNvSpPr txBox="1"/>
          <p:nvPr/>
        </p:nvSpPr>
        <p:spPr>
          <a:xfrm flipH="1">
            <a:off x="6764235" y="3606297"/>
            <a:ext cx="19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025" name="Google Shape;1025;p71"/>
          <p:cNvSpPr txBox="1"/>
          <p:nvPr/>
        </p:nvSpPr>
        <p:spPr>
          <a:xfrm flipH="1">
            <a:off x="7902627" y="2346444"/>
            <a:ext cx="191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cxnSp>
        <p:nvCxnSpPr>
          <p:cNvPr id="1026" name="Google Shape;1026;p71"/>
          <p:cNvCxnSpPr/>
          <p:nvPr/>
        </p:nvCxnSpPr>
        <p:spPr>
          <a:xfrm>
            <a:off x="6697050" y="4396950"/>
            <a:ext cx="1459200" cy="0"/>
          </a:xfrm>
          <a:prstGeom prst="straightConnector1">
            <a:avLst/>
          </a:prstGeom>
          <a:noFill/>
          <a:ln cap="flat" cmpd="sng" w="38100">
            <a:solidFill>
              <a:schemeClr val="dk1"/>
            </a:solidFill>
            <a:prstDash val="solid"/>
            <a:round/>
            <a:headEnd len="med" w="med" type="none"/>
            <a:tailEnd len="med" w="med" type="none"/>
          </a:ln>
        </p:spPr>
      </p:cxnSp>
      <p:sp>
        <p:nvSpPr>
          <p:cNvPr id="1027" name="Google Shape;1027;p71"/>
          <p:cNvSpPr txBox="1"/>
          <p:nvPr/>
        </p:nvSpPr>
        <p:spPr>
          <a:xfrm flipH="1">
            <a:off x="6764218" y="4040672"/>
            <a:ext cx="192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028" name="Google Shape;1028;p71"/>
          <p:cNvSpPr/>
          <p:nvPr/>
        </p:nvSpPr>
        <p:spPr>
          <a:xfrm>
            <a:off x="869544" y="11340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9" name="Google Shape;1029;p71"/>
          <p:cNvSpPr/>
          <p:nvPr/>
        </p:nvSpPr>
        <p:spPr>
          <a:xfrm rot="7199698">
            <a:off x="879354" y="11439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0" name="Google Shape;1030;p71"/>
          <p:cNvSpPr/>
          <p:nvPr/>
        </p:nvSpPr>
        <p:spPr>
          <a:xfrm rot="-7211730">
            <a:off x="879556" y="11440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1" name="Google Shape;1031;p71"/>
          <p:cNvSpPr/>
          <p:nvPr/>
        </p:nvSpPr>
        <p:spPr>
          <a:xfrm>
            <a:off x="879512" y="11440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2" name="Google Shape;1032;p71"/>
          <p:cNvSpPr txBox="1"/>
          <p:nvPr/>
        </p:nvSpPr>
        <p:spPr>
          <a:xfrm>
            <a:off x="1561954" y="14078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033" name="Google Shape;1033;p71"/>
          <p:cNvSpPr txBox="1"/>
          <p:nvPr/>
        </p:nvSpPr>
        <p:spPr>
          <a:xfrm>
            <a:off x="1357714" y="18163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034" name="Google Shape;1034;p71"/>
          <p:cNvSpPr txBox="1"/>
          <p:nvPr/>
        </p:nvSpPr>
        <p:spPr>
          <a:xfrm>
            <a:off x="1051354" y="14078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grpSp>
        <p:nvGrpSpPr>
          <p:cNvPr id="1035" name="Google Shape;1035;p71"/>
          <p:cNvGrpSpPr/>
          <p:nvPr/>
        </p:nvGrpSpPr>
        <p:grpSpPr>
          <a:xfrm>
            <a:off x="1405165" y="1190793"/>
            <a:ext cx="62922" cy="547386"/>
            <a:chOff x="996050" y="213293"/>
            <a:chExt cx="93900" cy="909732"/>
          </a:xfrm>
        </p:grpSpPr>
        <p:cxnSp>
          <p:nvCxnSpPr>
            <p:cNvPr id="1036" name="Google Shape;1036;p71"/>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037" name="Google Shape;1037;p71"/>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38" name="Google Shape;1038;p71"/>
          <p:cNvSpPr/>
          <p:nvPr/>
        </p:nvSpPr>
        <p:spPr>
          <a:xfrm>
            <a:off x="2290000" y="1129200"/>
            <a:ext cx="1198500" cy="11985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9" name="Google Shape;1039;p71"/>
          <p:cNvSpPr/>
          <p:nvPr/>
        </p:nvSpPr>
        <p:spPr>
          <a:xfrm flipH="1">
            <a:off x="2300353" y="1139632"/>
            <a:ext cx="1177800" cy="1177800"/>
          </a:xfrm>
          <a:prstGeom prst="pie">
            <a:avLst>
              <a:gd fmla="val 5387953" name="adj1"/>
              <a:gd fmla="val 10824216"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71"/>
          <p:cNvSpPr/>
          <p:nvPr/>
        </p:nvSpPr>
        <p:spPr>
          <a:xfrm>
            <a:off x="2300432" y="1139632"/>
            <a:ext cx="1177800" cy="1177800"/>
          </a:xfrm>
          <a:prstGeom prst="pie">
            <a:avLst>
              <a:gd fmla="val 5387953" name="adj1"/>
              <a:gd fmla="val 10858220"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1" name="Google Shape;1041;p71"/>
          <p:cNvSpPr/>
          <p:nvPr/>
        </p:nvSpPr>
        <p:spPr>
          <a:xfrm>
            <a:off x="2300432" y="1139632"/>
            <a:ext cx="1177800" cy="1177800"/>
          </a:xfrm>
          <a:prstGeom prst="pie">
            <a:avLst>
              <a:gd fmla="val 10799941"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2" name="Google Shape;1042;p71"/>
          <p:cNvSpPr txBox="1"/>
          <p:nvPr/>
        </p:nvSpPr>
        <p:spPr>
          <a:xfrm>
            <a:off x="2557693" y="1310326"/>
            <a:ext cx="40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sp>
        <p:nvSpPr>
          <p:cNvPr id="1043" name="Google Shape;1043;p71"/>
          <p:cNvSpPr/>
          <p:nvPr/>
        </p:nvSpPr>
        <p:spPr>
          <a:xfrm flipH="1">
            <a:off x="2300353" y="1139632"/>
            <a:ext cx="1177800" cy="1177800"/>
          </a:xfrm>
          <a:prstGeom prst="pie">
            <a:avLst>
              <a:gd fmla="val 10825856"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4" name="Google Shape;1044;p71"/>
          <p:cNvSpPr txBox="1"/>
          <p:nvPr/>
        </p:nvSpPr>
        <p:spPr>
          <a:xfrm>
            <a:off x="2966434" y="1310326"/>
            <a:ext cx="445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D</a:t>
            </a:r>
            <a:endParaRPr sz="1600">
              <a:solidFill>
                <a:srgbClr val="FFFFFF"/>
              </a:solidFill>
              <a:latin typeface="Lexend"/>
              <a:ea typeface="Lexend"/>
              <a:cs typeface="Lexend"/>
              <a:sym typeface="Lexend"/>
            </a:endParaRPr>
          </a:p>
        </p:txBody>
      </p:sp>
      <p:grpSp>
        <p:nvGrpSpPr>
          <p:cNvPr id="1045" name="Google Shape;1045;p71"/>
          <p:cNvGrpSpPr/>
          <p:nvPr/>
        </p:nvGrpSpPr>
        <p:grpSpPr>
          <a:xfrm>
            <a:off x="2854865" y="1175511"/>
            <a:ext cx="66359" cy="577407"/>
            <a:chOff x="996050" y="213293"/>
            <a:chExt cx="93900" cy="909732"/>
          </a:xfrm>
        </p:grpSpPr>
        <p:cxnSp>
          <p:nvCxnSpPr>
            <p:cNvPr id="1046" name="Google Shape;1046;p71"/>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047" name="Google Shape;1047;p71"/>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48" name="Google Shape;1048;p71"/>
          <p:cNvSpPr txBox="1"/>
          <p:nvPr/>
        </p:nvSpPr>
        <p:spPr>
          <a:xfrm>
            <a:off x="2524363" y="1748554"/>
            <a:ext cx="40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1049" name="Google Shape;1049;p71"/>
          <p:cNvSpPr txBox="1"/>
          <p:nvPr/>
        </p:nvSpPr>
        <p:spPr>
          <a:xfrm>
            <a:off x="2933103" y="1748554"/>
            <a:ext cx="445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grpSp>
        <p:nvGrpSpPr>
          <p:cNvPr id="1050" name="Google Shape;1050;p71"/>
          <p:cNvGrpSpPr/>
          <p:nvPr/>
        </p:nvGrpSpPr>
        <p:grpSpPr>
          <a:xfrm>
            <a:off x="1701566" y="2314550"/>
            <a:ext cx="457200" cy="457200"/>
            <a:chOff x="1020916" y="1442088"/>
            <a:chExt cx="457200" cy="457200"/>
          </a:xfrm>
        </p:grpSpPr>
        <p:pic>
          <p:nvPicPr>
            <p:cNvPr id="1051" name="Google Shape;1051;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52" name="Google Shape;1052;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053" name="Google Shape;1053;p71"/>
          <p:cNvGrpSpPr/>
          <p:nvPr/>
        </p:nvGrpSpPr>
        <p:grpSpPr>
          <a:xfrm>
            <a:off x="4595391" y="1752400"/>
            <a:ext cx="457200" cy="457200"/>
            <a:chOff x="1020916" y="1442088"/>
            <a:chExt cx="457200" cy="457200"/>
          </a:xfrm>
        </p:grpSpPr>
        <p:pic>
          <p:nvPicPr>
            <p:cNvPr id="1054" name="Google Shape;1054;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55" name="Google Shape;1055;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056" name="Google Shape;1056;p71"/>
          <p:cNvGrpSpPr/>
          <p:nvPr/>
        </p:nvGrpSpPr>
        <p:grpSpPr>
          <a:xfrm>
            <a:off x="7230591" y="1725763"/>
            <a:ext cx="457200" cy="457200"/>
            <a:chOff x="1020916" y="1442088"/>
            <a:chExt cx="457200" cy="457200"/>
          </a:xfrm>
        </p:grpSpPr>
        <p:pic>
          <p:nvPicPr>
            <p:cNvPr id="1057" name="Google Shape;1057;p7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1058" name="Google Shape;1058;p7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pic>
        <p:nvPicPr>
          <p:cNvPr id="1059" name="Google Shape;1059;p71"/>
          <p:cNvPicPr preferRelativeResize="0"/>
          <p:nvPr/>
        </p:nvPicPr>
        <p:blipFill>
          <a:blip r:embed="rId4">
            <a:alphaModFix/>
          </a:blip>
          <a:stretch>
            <a:fillRect/>
          </a:stretch>
        </p:blipFill>
        <p:spPr>
          <a:xfrm>
            <a:off x="2273858" y="2299713"/>
            <a:ext cx="396000" cy="419100"/>
          </a:xfrm>
          <a:prstGeom prst="rect">
            <a:avLst/>
          </a:prstGeom>
          <a:noFill/>
          <a:ln>
            <a:noFill/>
          </a:ln>
        </p:spPr>
      </p:pic>
      <p:pic>
        <p:nvPicPr>
          <p:cNvPr id="1060" name="Google Shape;1060;p71"/>
          <p:cNvPicPr preferRelativeResize="0"/>
          <p:nvPr/>
        </p:nvPicPr>
        <p:blipFill>
          <a:blip r:embed="rId4">
            <a:alphaModFix/>
          </a:blip>
          <a:stretch>
            <a:fillRect/>
          </a:stretch>
        </p:blipFill>
        <p:spPr>
          <a:xfrm>
            <a:off x="5250283" y="174382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sp>
        <p:nvSpPr>
          <p:cNvPr id="1065" name="Google Shape;1065;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066" name="Google Shape;1066;p72"/>
          <p:cNvSpPr txBox="1"/>
          <p:nvPr/>
        </p:nvSpPr>
        <p:spPr>
          <a:xfrm>
            <a:off x="324000" y="759300"/>
            <a:ext cx="63954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A game is being played where the highest spin wins. </a:t>
            </a:r>
            <a:endParaRPr sz="1800">
              <a:latin typeface="Lexend"/>
              <a:ea typeface="Lexend"/>
              <a:cs typeface="Lexend"/>
              <a:sym typeface="Lexend"/>
            </a:endParaRPr>
          </a:p>
          <a:p>
            <a:pPr indent="0" lvl="0" marL="0" rtl="0" algn="l">
              <a:lnSpc>
                <a:spcPct val="115000"/>
              </a:lnSpc>
              <a:spcBef>
                <a:spcPts val="1000"/>
              </a:spcBef>
              <a:spcAft>
                <a:spcPts val="1000"/>
              </a:spcAft>
              <a:buNone/>
            </a:pPr>
            <a:r>
              <a:rPr lang="en-GB" sz="1800">
                <a:latin typeface="Lexend"/>
                <a:ea typeface="Lexend"/>
                <a:cs typeface="Lexend"/>
                <a:sym typeface="Lexend"/>
              </a:rPr>
              <a:t>Sofia and Jun play the game, they both have a spinner.</a:t>
            </a:r>
            <a:r>
              <a:rPr lang="en-GB" sz="1800">
                <a:latin typeface="Lexend"/>
                <a:ea typeface="Lexend"/>
                <a:cs typeface="Lexend"/>
                <a:sym typeface="Lexend"/>
              </a:rPr>
              <a:t> </a:t>
            </a:r>
            <a:endParaRPr sz="1800">
              <a:solidFill>
                <a:srgbClr val="000000"/>
              </a:solidFill>
              <a:latin typeface="Lexend"/>
              <a:ea typeface="Lexend"/>
              <a:cs typeface="Lexend"/>
              <a:sym typeface="Lexend"/>
            </a:endParaRPr>
          </a:p>
        </p:txBody>
      </p:sp>
      <p:sp>
        <p:nvSpPr>
          <p:cNvPr id="1067" name="Google Shape;1067;p72"/>
          <p:cNvSpPr txBox="1"/>
          <p:nvPr/>
        </p:nvSpPr>
        <p:spPr>
          <a:xfrm>
            <a:off x="2047375" y="2650725"/>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 win</a:t>
            </a:r>
            <a:endParaRPr sz="1800">
              <a:solidFill>
                <a:schemeClr val="dk1"/>
              </a:solidFill>
              <a:latin typeface="Lexend"/>
              <a:ea typeface="Lexend"/>
              <a:cs typeface="Lexend"/>
              <a:sym typeface="Lexend"/>
            </a:endParaRPr>
          </a:p>
        </p:txBody>
      </p:sp>
      <p:grpSp>
        <p:nvGrpSpPr>
          <p:cNvPr id="1068" name="Google Shape;1068;p72"/>
          <p:cNvGrpSpPr/>
          <p:nvPr/>
        </p:nvGrpSpPr>
        <p:grpSpPr>
          <a:xfrm>
            <a:off x="593377" y="1865014"/>
            <a:ext cx="3676298" cy="2378986"/>
            <a:chOff x="2498377" y="2093614"/>
            <a:chExt cx="3676298" cy="2378986"/>
          </a:xfrm>
        </p:grpSpPr>
        <p:cxnSp>
          <p:nvCxnSpPr>
            <p:cNvPr id="1069" name="Google Shape;1069;p72"/>
            <p:cNvCxnSpPr/>
            <p:nvPr/>
          </p:nvCxnSpPr>
          <p:spPr>
            <a:xfrm>
              <a:off x="3757000" y="25745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1070" name="Google Shape;1070;p72"/>
            <p:cNvCxnSpPr/>
            <p:nvPr/>
          </p:nvCxnSpPr>
          <p:spPr>
            <a:xfrm>
              <a:off x="4593554" y="25745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1071" name="Google Shape;1071;p72"/>
            <p:cNvCxnSpPr/>
            <p:nvPr/>
          </p:nvCxnSpPr>
          <p:spPr>
            <a:xfrm>
              <a:off x="5422334"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072" name="Google Shape;1072;p72"/>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073" name="Google Shape;1073;p72"/>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074" name="Google Shape;1074;p72"/>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1075" name="Google Shape;1075;p72"/>
            <p:cNvSpPr txBox="1"/>
            <p:nvPr/>
          </p:nvSpPr>
          <p:spPr>
            <a:xfrm>
              <a:off x="3952375"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076" name="Google Shape;1076;p72"/>
            <p:cNvSpPr txBox="1"/>
            <p:nvPr/>
          </p:nvSpPr>
          <p:spPr>
            <a:xfrm>
              <a:off x="47850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077" name="Google Shape;1077;p72"/>
            <p:cNvSpPr txBox="1"/>
            <p:nvPr/>
          </p:nvSpPr>
          <p:spPr>
            <a:xfrm>
              <a:off x="3250125" y="30104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078" name="Google Shape;1078;p72"/>
            <p:cNvSpPr txBox="1"/>
            <p:nvPr/>
          </p:nvSpPr>
          <p:spPr>
            <a:xfrm>
              <a:off x="3250125" y="354015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079" name="Google Shape;1079;p72"/>
            <p:cNvSpPr/>
            <p:nvPr/>
          </p:nvSpPr>
          <p:spPr>
            <a:xfrm rot="-5400000">
              <a:off x="4897750" y="1231750"/>
              <a:ext cx="133800" cy="2399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0" name="Google Shape;1080;p72"/>
            <p:cNvSpPr txBox="1"/>
            <p:nvPr/>
          </p:nvSpPr>
          <p:spPr>
            <a:xfrm>
              <a:off x="4574955" y="2093614"/>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a:t>
              </a:r>
              <a:endParaRPr sz="1800">
                <a:solidFill>
                  <a:schemeClr val="dk1"/>
                </a:solidFill>
                <a:latin typeface="Lexend"/>
                <a:ea typeface="Lexend"/>
                <a:cs typeface="Lexend"/>
                <a:sym typeface="Lexend"/>
              </a:endParaRPr>
            </a:p>
          </p:txBody>
        </p:sp>
        <p:sp>
          <p:nvSpPr>
            <p:cNvPr id="1081" name="Google Shape;1081;p72"/>
            <p:cNvSpPr/>
            <p:nvPr/>
          </p:nvSpPr>
          <p:spPr>
            <a:xfrm rot="10800000">
              <a:off x="2963400" y="2882000"/>
              <a:ext cx="133800" cy="15906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2" name="Google Shape;1082;p72"/>
            <p:cNvSpPr txBox="1"/>
            <p:nvPr/>
          </p:nvSpPr>
          <p:spPr>
            <a:xfrm>
              <a:off x="2498377" y="355737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Jun</a:t>
              </a:r>
              <a:endParaRPr sz="1800">
                <a:solidFill>
                  <a:schemeClr val="dk1"/>
                </a:solidFill>
                <a:latin typeface="Lexend"/>
                <a:ea typeface="Lexend"/>
                <a:cs typeface="Lexend"/>
                <a:sym typeface="Lexend"/>
              </a:endParaRPr>
            </a:p>
          </p:txBody>
        </p:sp>
        <p:cxnSp>
          <p:nvCxnSpPr>
            <p:cNvPr id="1083" name="Google Shape;1083;p72"/>
            <p:cNvCxnSpPr/>
            <p:nvPr/>
          </p:nvCxnSpPr>
          <p:spPr>
            <a:xfrm>
              <a:off x="61589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084" name="Google Shape;1084;p72"/>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1085" name="Google Shape;1085;p72"/>
            <p:cNvSpPr txBox="1"/>
            <p:nvPr/>
          </p:nvSpPr>
          <p:spPr>
            <a:xfrm>
              <a:off x="3242355" y="4065888"/>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086" name="Google Shape;1086;p72"/>
            <p:cNvSpPr txBox="1"/>
            <p:nvPr/>
          </p:nvSpPr>
          <p:spPr>
            <a:xfrm>
              <a:off x="5514488" y="2551800"/>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grpSp>
      <p:sp>
        <p:nvSpPr>
          <p:cNvPr id="1087" name="Google Shape;1087;p72"/>
          <p:cNvSpPr txBox="1"/>
          <p:nvPr/>
        </p:nvSpPr>
        <p:spPr>
          <a:xfrm>
            <a:off x="3580238" y="2639946"/>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 wins</a:t>
            </a:r>
            <a:endParaRPr sz="1800">
              <a:solidFill>
                <a:schemeClr val="dk1"/>
              </a:solidFill>
              <a:latin typeface="Lexend"/>
              <a:ea typeface="Lexend"/>
              <a:cs typeface="Lexend"/>
              <a:sym typeface="Lexend"/>
            </a:endParaRPr>
          </a:p>
        </p:txBody>
      </p:sp>
      <p:sp>
        <p:nvSpPr>
          <p:cNvPr id="1088" name="Google Shape;1088;p72"/>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72"/>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0" name="Google Shape;1090;p72"/>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1" name="Google Shape;1091;p72"/>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2" name="Google Shape;1092;p72"/>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093" name="Google Shape;1093;p72"/>
          <p:cNvSpPr txBox="1"/>
          <p:nvPr/>
        </p:nvSpPr>
        <p:spPr>
          <a:xfrm>
            <a:off x="70727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094" name="Google Shape;1094;p72"/>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grpSp>
        <p:nvGrpSpPr>
          <p:cNvPr id="1095" name="Google Shape;1095;p72"/>
          <p:cNvGrpSpPr/>
          <p:nvPr/>
        </p:nvGrpSpPr>
        <p:grpSpPr>
          <a:xfrm>
            <a:off x="7120165" y="885993"/>
            <a:ext cx="62922" cy="547386"/>
            <a:chOff x="996050" y="213293"/>
            <a:chExt cx="93900" cy="909732"/>
          </a:xfrm>
        </p:grpSpPr>
        <p:cxnSp>
          <p:nvCxnSpPr>
            <p:cNvPr id="1096" name="Google Shape;1096;p72"/>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097" name="Google Shape;1097;p72"/>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098" name="Google Shape;1098;p72"/>
          <p:cNvSpPr txBox="1"/>
          <p:nvPr/>
        </p:nvSpPr>
        <p:spPr>
          <a:xfrm>
            <a:off x="1980346" y="3181504"/>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Jun </a:t>
            </a:r>
            <a:r>
              <a:rPr lang="en-GB" sz="1800">
                <a:solidFill>
                  <a:schemeClr val="dk1"/>
                </a:solidFill>
                <a:latin typeface="Lexend"/>
                <a:ea typeface="Lexend"/>
                <a:cs typeface="Lexend"/>
                <a:sym typeface="Lexend"/>
              </a:rPr>
              <a:t>wins</a:t>
            </a:r>
            <a:endParaRPr sz="1800">
              <a:solidFill>
                <a:schemeClr val="dk1"/>
              </a:solidFill>
              <a:latin typeface="Lexend"/>
              <a:ea typeface="Lexend"/>
              <a:cs typeface="Lexend"/>
              <a:sym typeface="Lexend"/>
            </a:endParaRPr>
          </a:p>
        </p:txBody>
      </p:sp>
      <p:sp>
        <p:nvSpPr>
          <p:cNvPr id="1099" name="Google Shape;1099;p72"/>
          <p:cNvSpPr txBox="1"/>
          <p:nvPr/>
        </p:nvSpPr>
        <p:spPr>
          <a:xfrm>
            <a:off x="2906800" y="3170750"/>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 win</a:t>
            </a:r>
            <a:endParaRPr sz="1800">
              <a:solidFill>
                <a:schemeClr val="dk1"/>
              </a:solidFill>
              <a:latin typeface="Lexend"/>
              <a:ea typeface="Lexend"/>
              <a:cs typeface="Lexend"/>
              <a:sym typeface="Lexend"/>
            </a:endParaRPr>
          </a:p>
        </p:txBody>
      </p:sp>
      <p:sp>
        <p:nvSpPr>
          <p:cNvPr id="1100" name="Google Shape;1100;p72"/>
          <p:cNvSpPr txBox="1"/>
          <p:nvPr/>
        </p:nvSpPr>
        <p:spPr>
          <a:xfrm>
            <a:off x="3672350" y="3689900"/>
            <a:ext cx="445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 win</a:t>
            </a:r>
            <a:endParaRPr sz="1800">
              <a:solidFill>
                <a:schemeClr val="dk1"/>
              </a:solidFill>
              <a:latin typeface="Lexend"/>
              <a:ea typeface="Lexend"/>
              <a:cs typeface="Lexend"/>
              <a:sym typeface="Lexend"/>
            </a:endParaRPr>
          </a:p>
        </p:txBody>
      </p:sp>
      <p:sp>
        <p:nvSpPr>
          <p:cNvPr id="1101" name="Google Shape;1101;p72"/>
          <p:cNvSpPr txBox="1"/>
          <p:nvPr/>
        </p:nvSpPr>
        <p:spPr>
          <a:xfrm>
            <a:off x="1980346" y="3697657"/>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Jun wins</a:t>
            </a:r>
            <a:endParaRPr sz="1800">
              <a:solidFill>
                <a:schemeClr val="dk1"/>
              </a:solidFill>
              <a:latin typeface="Lexend"/>
              <a:ea typeface="Lexend"/>
              <a:cs typeface="Lexend"/>
              <a:sym typeface="Lexend"/>
            </a:endParaRPr>
          </a:p>
        </p:txBody>
      </p:sp>
      <p:sp>
        <p:nvSpPr>
          <p:cNvPr id="1102" name="Google Shape;1102;p72"/>
          <p:cNvSpPr txBox="1"/>
          <p:nvPr/>
        </p:nvSpPr>
        <p:spPr>
          <a:xfrm>
            <a:off x="2814688" y="3689888"/>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Jun wins</a:t>
            </a:r>
            <a:endParaRPr sz="1800">
              <a:solidFill>
                <a:schemeClr val="dk1"/>
              </a:solidFill>
              <a:latin typeface="Lexend"/>
              <a:ea typeface="Lexend"/>
              <a:cs typeface="Lexend"/>
              <a:sym typeface="Lexend"/>
            </a:endParaRPr>
          </a:p>
        </p:txBody>
      </p:sp>
      <p:sp>
        <p:nvSpPr>
          <p:cNvPr id="1103" name="Google Shape;1103;p72"/>
          <p:cNvSpPr txBox="1"/>
          <p:nvPr/>
        </p:nvSpPr>
        <p:spPr>
          <a:xfrm>
            <a:off x="2814688" y="2639946"/>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 wins</a:t>
            </a:r>
            <a:endParaRPr sz="1800">
              <a:solidFill>
                <a:schemeClr val="dk1"/>
              </a:solidFill>
              <a:latin typeface="Lexend"/>
              <a:ea typeface="Lexend"/>
              <a:cs typeface="Lexend"/>
              <a:sym typeface="Lexend"/>
            </a:endParaRPr>
          </a:p>
        </p:txBody>
      </p:sp>
      <p:sp>
        <p:nvSpPr>
          <p:cNvPr id="1104" name="Google Shape;1104;p72"/>
          <p:cNvSpPr txBox="1"/>
          <p:nvPr/>
        </p:nvSpPr>
        <p:spPr>
          <a:xfrm>
            <a:off x="3580238" y="3170738"/>
            <a:ext cx="630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Sofia wins</a:t>
            </a:r>
            <a:endParaRPr sz="1800">
              <a:solidFill>
                <a:schemeClr val="dk1"/>
              </a:solidFill>
              <a:latin typeface="Lexend"/>
              <a:ea typeface="Lexend"/>
              <a:cs typeface="Lexend"/>
              <a:sym typeface="Lexend"/>
            </a:endParaRPr>
          </a:p>
        </p:txBody>
      </p:sp>
      <p:sp>
        <p:nvSpPr>
          <p:cNvPr id="1105" name="Google Shape;1105;p72"/>
          <p:cNvSpPr txBox="1"/>
          <p:nvPr/>
        </p:nvSpPr>
        <p:spPr>
          <a:xfrm>
            <a:off x="4778325" y="3248100"/>
            <a:ext cx="33240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However, the allocation of the number to a person is now important, to </a:t>
            </a:r>
            <a:r>
              <a:rPr lang="en-GB" sz="1800">
                <a:latin typeface="Lexend"/>
                <a:ea typeface="Lexend"/>
                <a:cs typeface="Lexend"/>
                <a:sym typeface="Lexend"/>
              </a:rPr>
              <a:t>determine who wins.</a:t>
            </a:r>
            <a:endParaRPr sz="1800">
              <a:latin typeface="Lexend"/>
              <a:ea typeface="Lexend"/>
              <a:cs typeface="Lexend"/>
              <a:sym typeface="Lexend"/>
            </a:endParaRPr>
          </a:p>
        </p:txBody>
      </p:sp>
      <p:sp>
        <p:nvSpPr>
          <p:cNvPr id="1106" name="Google Shape;1106;p72"/>
          <p:cNvSpPr/>
          <p:nvPr/>
        </p:nvSpPr>
        <p:spPr>
          <a:xfrm>
            <a:off x="2692472" y="2639950"/>
            <a:ext cx="818400" cy="554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7" name="Google Shape;1107;p72"/>
          <p:cNvSpPr/>
          <p:nvPr/>
        </p:nvSpPr>
        <p:spPr>
          <a:xfrm>
            <a:off x="1854272" y="3173350"/>
            <a:ext cx="818400" cy="554100"/>
          </a:xfrm>
          <a:prstGeom prst="roundRect">
            <a:avLst>
              <a:gd fmla="val 16667" name="adj"/>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08" name="Google Shape;1108;p72"/>
          <p:cNvSpPr txBox="1"/>
          <p:nvPr/>
        </p:nvSpPr>
        <p:spPr>
          <a:xfrm>
            <a:off x="4778325" y="2181300"/>
            <a:ext cx="37839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Both of these outcomes are one spinner with a ‘1’ and the other with a ‘2’.</a:t>
            </a:r>
            <a:endParaRPr sz="1800">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114" name="Google Shape;1114;p73"/>
          <p:cNvSpPr txBox="1"/>
          <p:nvPr/>
        </p:nvSpPr>
        <p:spPr>
          <a:xfrm>
            <a:off x="324000" y="759300"/>
            <a:ext cx="6395400" cy="903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A game is being played where the total from the two spins of this spinner determines the number of counters collected. </a:t>
            </a:r>
            <a:endParaRPr sz="1800">
              <a:latin typeface="Lexend"/>
              <a:ea typeface="Lexend"/>
              <a:cs typeface="Lexend"/>
              <a:sym typeface="Lexend"/>
            </a:endParaRPr>
          </a:p>
          <a:p>
            <a:pPr indent="0" lvl="0" marL="0" rtl="0" algn="l">
              <a:lnSpc>
                <a:spcPct val="115000"/>
              </a:lnSpc>
              <a:spcBef>
                <a:spcPts val="1000"/>
              </a:spcBef>
              <a:spcAft>
                <a:spcPts val="1000"/>
              </a:spcAft>
              <a:buNone/>
            </a:pPr>
            <a:r>
              <a:rPr lang="en-GB" sz="1800">
                <a:latin typeface="Lexend"/>
                <a:ea typeface="Lexend"/>
                <a:cs typeface="Lexend"/>
                <a:sym typeface="Lexend"/>
              </a:rPr>
              <a:t>An outcome table can show the possible totals, which allows you to see the likelihood of </a:t>
            </a:r>
            <a:r>
              <a:rPr lang="en-GB" sz="1800">
                <a:latin typeface="Lexend"/>
                <a:ea typeface="Lexend"/>
                <a:cs typeface="Lexend"/>
                <a:sym typeface="Lexend"/>
              </a:rPr>
              <a:t>receiving</a:t>
            </a:r>
            <a:r>
              <a:rPr lang="en-GB" sz="1800">
                <a:latin typeface="Lexend"/>
                <a:ea typeface="Lexend"/>
                <a:cs typeface="Lexend"/>
                <a:sym typeface="Lexend"/>
              </a:rPr>
              <a:t> that number of counters.</a:t>
            </a:r>
            <a:endParaRPr sz="1800">
              <a:solidFill>
                <a:srgbClr val="000000"/>
              </a:solidFill>
              <a:latin typeface="Lexend"/>
              <a:ea typeface="Lexend"/>
              <a:cs typeface="Lexend"/>
              <a:sym typeface="Lexend"/>
            </a:endParaRPr>
          </a:p>
        </p:txBody>
      </p:sp>
      <p:cxnSp>
        <p:nvCxnSpPr>
          <p:cNvPr id="1115" name="Google Shape;1115;p73"/>
          <p:cNvCxnSpPr/>
          <p:nvPr/>
        </p:nvCxnSpPr>
        <p:spPr>
          <a:xfrm>
            <a:off x="1852000" y="28793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1116" name="Google Shape;1116;p73"/>
          <p:cNvCxnSpPr/>
          <p:nvPr/>
        </p:nvCxnSpPr>
        <p:spPr>
          <a:xfrm>
            <a:off x="2378110" y="2879325"/>
            <a:ext cx="0" cy="1867800"/>
          </a:xfrm>
          <a:prstGeom prst="straightConnector1">
            <a:avLst/>
          </a:prstGeom>
          <a:noFill/>
          <a:ln cap="flat" cmpd="sng" w="38100">
            <a:solidFill>
              <a:schemeClr val="dk1"/>
            </a:solidFill>
            <a:prstDash val="solid"/>
            <a:round/>
            <a:headEnd len="med" w="med" type="none"/>
            <a:tailEnd len="med" w="med" type="none"/>
          </a:ln>
        </p:spPr>
      </p:cxnSp>
      <p:cxnSp>
        <p:nvCxnSpPr>
          <p:cNvPr id="1117" name="Google Shape;1117;p73"/>
          <p:cNvCxnSpPr/>
          <p:nvPr/>
        </p:nvCxnSpPr>
        <p:spPr>
          <a:xfrm>
            <a:off x="2904220" y="28793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118" name="Google Shape;1118;p73"/>
          <p:cNvCxnSpPr/>
          <p:nvPr/>
        </p:nvCxnSpPr>
        <p:spPr>
          <a:xfrm rot="10800000">
            <a:off x="1497675" y="31872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119" name="Google Shape;1119;p73"/>
          <p:cNvCxnSpPr/>
          <p:nvPr/>
        </p:nvCxnSpPr>
        <p:spPr>
          <a:xfrm rot="10800000">
            <a:off x="1497675" y="3504190"/>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120" name="Google Shape;1120;p73"/>
          <p:cNvCxnSpPr/>
          <p:nvPr/>
        </p:nvCxnSpPr>
        <p:spPr>
          <a:xfrm rot="10800000">
            <a:off x="1497675" y="3821105"/>
            <a:ext cx="3000600" cy="0"/>
          </a:xfrm>
          <a:prstGeom prst="straightConnector1">
            <a:avLst/>
          </a:prstGeom>
          <a:noFill/>
          <a:ln cap="flat" cmpd="sng" w="38100">
            <a:solidFill>
              <a:schemeClr val="dk1"/>
            </a:solidFill>
            <a:prstDash val="solid"/>
            <a:round/>
            <a:headEnd len="med" w="med" type="none"/>
            <a:tailEnd len="med" w="med" type="none"/>
          </a:ln>
        </p:spPr>
      </p:cxnSp>
      <p:sp>
        <p:nvSpPr>
          <p:cNvPr id="1121" name="Google Shape;1121;p73"/>
          <p:cNvSpPr txBox="1"/>
          <p:nvPr/>
        </p:nvSpPr>
        <p:spPr>
          <a:xfrm>
            <a:off x="2047375" y="28793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122" name="Google Shape;1122;p73"/>
          <p:cNvSpPr txBox="1"/>
          <p:nvPr/>
        </p:nvSpPr>
        <p:spPr>
          <a:xfrm>
            <a:off x="2576834" y="28793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123" name="Google Shape;1123;p73"/>
          <p:cNvSpPr txBox="1"/>
          <p:nvPr/>
        </p:nvSpPr>
        <p:spPr>
          <a:xfrm>
            <a:off x="1597034" y="3207946"/>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124" name="Google Shape;1124;p73"/>
          <p:cNvSpPr txBox="1"/>
          <p:nvPr/>
        </p:nvSpPr>
        <p:spPr>
          <a:xfrm>
            <a:off x="1608868" y="3524050"/>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125" name="Google Shape;1125;p73"/>
          <p:cNvSpPr/>
          <p:nvPr/>
        </p:nvSpPr>
        <p:spPr>
          <a:xfrm rot="-5400000">
            <a:off x="3100750" y="1459625"/>
            <a:ext cx="133800" cy="26154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6" name="Google Shape;1126;p73"/>
          <p:cNvSpPr txBox="1"/>
          <p:nvPr/>
        </p:nvSpPr>
        <p:spPr>
          <a:xfrm>
            <a:off x="2669955" y="2398414"/>
            <a:ext cx="77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spin 1</a:t>
            </a:r>
            <a:endParaRPr sz="1800">
              <a:solidFill>
                <a:schemeClr val="dk1"/>
              </a:solidFill>
              <a:latin typeface="Lexend"/>
              <a:ea typeface="Lexend"/>
              <a:cs typeface="Lexend"/>
              <a:sym typeface="Lexend"/>
            </a:endParaRPr>
          </a:p>
        </p:txBody>
      </p:sp>
      <p:sp>
        <p:nvSpPr>
          <p:cNvPr id="1127" name="Google Shape;1127;p73"/>
          <p:cNvSpPr/>
          <p:nvPr/>
        </p:nvSpPr>
        <p:spPr>
          <a:xfrm rot="10800000">
            <a:off x="1287000" y="3186800"/>
            <a:ext cx="133800" cy="1590600"/>
          </a:xfrm>
          <a:prstGeom prst="rightBrace">
            <a:avLst>
              <a:gd fmla="val 50000" name="adj1"/>
              <a:gd fmla="val 5000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28" name="Google Shape;1128;p73"/>
          <p:cNvSpPr txBox="1"/>
          <p:nvPr/>
        </p:nvSpPr>
        <p:spPr>
          <a:xfrm>
            <a:off x="585999" y="3862175"/>
            <a:ext cx="681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a:t>
            </a:r>
            <a:r>
              <a:rPr lang="en-GB" sz="1800">
                <a:solidFill>
                  <a:schemeClr val="dk1"/>
                </a:solidFill>
                <a:latin typeface="Lexend"/>
                <a:ea typeface="Lexend"/>
                <a:cs typeface="Lexend"/>
                <a:sym typeface="Lexend"/>
              </a:rPr>
              <a:t>pin 2</a:t>
            </a:r>
            <a:endParaRPr sz="1800">
              <a:solidFill>
                <a:schemeClr val="dk1"/>
              </a:solidFill>
              <a:latin typeface="Lexend"/>
              <a:ea typeface="Lexend"/>
              <a:cs typeface="Lexend"/>
              <a:sym typeface="Lexend"/>
            </a:endParaRPr>
          </a:p>
        </p:txBody>
      </p:sp>
      <p:cxnSp>
        <p:nvCxnSpPr>
          <p:cNvPr id="1129" name="Google Shape;1129;p73"/>
          <p:cNvCxnSpPr/>
          <p:nvPr/>
        </p:nvCxnSpPr>
        <p:spPr>
          <a:xfrm>
            <a:off x="4482550" y="28793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130" name="Google Shape;1130;p73"/>
          <p:cNvCxnSpPr/>
          <p:nvPr/>
        </p:nvCxnSpPr>
        <p:spPr>
          <a:xfrm rot="10800000">
            <a:off x="1497675" y="4771850"/>
            <a:ext cx="3000600" cy="0"/>
          </a:xfrm>
          <a:prstGeom prst="straightConnector1">
            <a:avLst/>
          </a:prstGeom>
          <a:noFill/>
          <a:ln cap="flat" cmpd="sng" w="38100">
            <a:solidFill>
              <a:schemeClr val="dk1"/>
            </a:solidFill>
            <a:prstDash val="solid"/>
            <a:round/>
            <a:headEnd len="med" w="med" type="none"/>
            <a:tailEnd len="med" w="med" type="none"/>
          </a:ln>
        </p:spPr>
      </p:cxnSp>
      <p:sp>
        <p:nvSpPr>
          <p:cNvPr id="1131" name="Google Shape;1131;p73"/>
          <p:cNvSpPr txBox="1"/>
          <p:nvPr/>
        </p:nvSpPr>
        <p:spPr>
          <a:xfrm>
            <a:off x="1603607" y="3838795"/>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32" name="Google Shape;1132;p73"/>
          <p:cNvSpPr txBox="1"/>
          <p:nvPr/>
        </p:nvSpPr>
        <p:spPr>
          <a:xfrm>
            <a:off x="3106294" y="2879325"/>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33" name="Google Shape;1133;p73"/>
          <p:cNvSpPr/>
          <p:nvPr/>
        </p:nvSpPr>
        <p:spPr>
          <a:xfrm>
            <a:off x="7033589" y="821050"/>
            <a:ext cx="1137000" cy="11370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4" name="Google Shape;1134;p73"/>
          <p:cNvSpPr/>
          <p:nvPr/>
        </p:nvSpPr>
        <p:spPr>
          <a:xfrm rot="8650032">
            <a:off x="7043563" y="830989"/>
            <a:ext cx="1117143" cy="1117143"/>
          </a:xfrm>
          <a:prstGeom prst="pie">
            <a:avLst>
              <a:gd fmla="val 11928607"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5" name="Google Shape;1135;p73"/>
          <p:cNvSpPr/>
          <p:nvPr/>
        </p:nvSpPr>
        <p:spPr>
          <a:xfrm rot="-8628989">
            <a:off x="7043740" y="831288"/>
            <a:ext cx="1116920" cy="1116920"/>
          </a:xfrm>
          <a:prstGeom prst="pie">
            <a:avLst>
              <a:gd fmla="val 11928607"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6" name="Google Shape;1136;p73"/>
          <p:cNvSpPr/>
          <p:nvPr/>
        </p:nvSpPr>
        <p:spPr>
          <a:xfrm rot="-4309960">
            <a:off x="7043661" y="831128"/>
            <a:ext cx="1117087" cy="1117087"/>
          </a:xfrm>
          <a:prstGeom prst="pie">
            <a:avLst>
              <a:gd fmla="val 11928607"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7" name="Google Shape;1137;p73"/>
          <p:cNvSpPr/>
          <p:nvPr/>
        </p:nvSpPr>
        <p:spPr>
          <a:xfrm>
            <a:off x="7043673" y="831225"/>
            <a:ext cx="1116900" cy="1116900"/>
          </a:xfrm>
          <a:prstGeom prst="pie">
            <a:avLst>
              <a:gd fmla="val 11928607" name="adj1"/>
              <a:gd fmla="val 16225322" name="adj2"/>
            </a:avLst>
          </a:prstGeom>
          <a:solidFill>
            <a:srgbClr val="BEF2B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8" name="Google Shape;1138;p73"/>
          <p:cNvSpPr txBox="1"/>
          <p:nvPr/>
        </p:nvSpPr>
        <p:spPr>
          <a:xfrm>
            <a:off x="7464878" y="1582565"/>
            <a:ext cx="42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139" name="Google Shape;1139;p73"/>
          <p:cNvSpPr/>
          <p:nvPr/>
        </p:nvSpPr>
        <p:spPr>
          <a:xfrm rot="4312880">
            <a:off x="7043530" y="830895"/>
            <a:ext cx="1117092" cy="1117092"/>
          </a:xfrm>
          <a:prstGeom prst="pie">
            <a:avLst>
              <a:gd fmla="val 11928607"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0" name="Google Shape;1140;p73"/>
          <p:cNvSpPr txBox="1"/>
          <p:nvPr/>
        </p:nvSpPr>
        <p:spPr>
          <a:xfrm>
            <a:off x="7211321" y="865573"/>
            <a:ext cx="42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5</a:t>
            </a:r>
            <a:endParaRPr sz="1600">
              <a:solidFill>
                <a:srgbClr val="000000"/>
              </a:solidFill>
              <a:latin typeface="Lexend"/>
              <a:ea typeface="Lexend"/>
              <a:cs typeface="Lexend"/>
              <a:sym typeface="Lexend"/>
            </a:endParaRPr>
          </a:p>
        </p:txBody>
      </p:sp>
      <p:sp>
        <p:nvSpPr>
          <p:cNvPr id="1141" name="Google Shape;1141;p73"/>
          <p:cNvSpPr txBox="1"/>
          <p:nvPr/>
        </p:nvSpPr>
        <p:spPr>
          <a:xfrm>
            <a:off x="7703025" y="865578"/>
            <a:ext cx="42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142" name="Google Shape;1142;p73"/>
          <p:cNvSpPr txBox="1"/>
          <p:nvPr/>
        </p:nvSpPr>
        <p:spPr>
          <a:xfrm>
            <a:off x="7824037" y="1303838"/>
            <a:ext cx="422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143" name="Google Shape;1143;p73"/>
          <p:cNvSpPr txBox="1"/>
          <p:nvPr/>
        </p:nvSpPr>
        <p:spPr>
          <a:xfrm>
            <a:off x="7050297" y="1282025"/>
            <a:ext cx="383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grpSp>
        <p:nvGrpSpPr>
          <p:cNvPr id="1144" name="Google Shape;1144;p73"/>
          <p:cNvGrpSpPr/>
          <p:nvPr/>
        </p:nvGrpSpPr>
        <p:grpSpPr>
          <a:xfrm>
            <a:off x="7569445" y="858516"/>
            <a:ext cx="62951" cy="547659"/>
            <a:chOff x="996050" y="213293"/>
            <a:chExt cx="93900" cy="909732"/>
          </a:xfrm>
        </p:grpSpPr>
        <p:cxnSp>
          <p:nvCxnSpPr>
            <p:cNvPr id="1145" name="Google Shape;1145;p73"/>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146" name="Google Shape;1146;p73"/>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147" name="Google Shape;1147;p73"/>
          <p:cNvCxnSpPr/>
          <p:nvPr/>
        </p:nvCxnSpPr>
        <p:spPr>
          <a:xfrm>
            <a:off x="3430330" y="28793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148" name="Google Shape;1148;p73"/>
          <p:cNvCxnSpPr/>
          <p:nvPr/>
        </p:nvCxnSpPr>
        <p:spPr>
          <a:xfrm>
            <a:off x="3956440" y="28793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149" name="Google Shape;1149;p73"/>
          <p:cNvCxnSpPr/>
          <p:nvPr/>
        </p:nvCxnSpPr>
        <p:spPr>
          <a:xfrm rot="10800000">
            <a:off x="1497675" y="4138020"/>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150" name="Google Shape;1150;p73"/>
          <p:cNvCxnSpPr/>
          <p:nvPr/>
        </p:nvCxnSpPr>
        <p:spPr>
          <a:xfrm rot="10800000">
            <a:off x="1497675" y="4454935"/>
            <a:ext cx="3000600" cy="0"/>
          </a:xfrm>
          <a:prstGeom prst="straightConnector1">
            <a:avLst/>
          </a:prstGeom>
          <a:noFill/>
          <a:ln cap="flat" cmpd="sng" w="38100">
            <a:solidFill>
              <a:schemeClr val="dk1"/>
            </a:solidFill>
            <a:prstDash val="solid"/>
            <a:round/>
            <a:headEnd len="med" w="med" type="none"/>
            <a:tailEnd len="med" w="med" type="none"/>
          </a:ln>
        </p:spPr>
      </p:cxnSp>
      <p:sp>
        <p:nvSpPr>
          <p:cNvPr id="1151" name="Google Shape;1151;p73"/>
          <p:cNvSpPr txBox="1"/>
          <p:nvPr/>
        </p:nvSpPr>
        <p:spPr>
          <a:xfrm>
            <a:off x="3609053" y="2879325"/>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152" name="Google Shape;1152;p73"/>
          <p:cNvSpPr txBox="1"/>
          <p:nvPr/>
        </p:nvSpPr>
        <p:spPr>
          <a:xfrm>
            <a:off x="4172473" y="2879325"/>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53" name="Google Shape;1153;p73"/>
          <p:cNvSpPr txBox="1"/>
          <p:nvPr/>
        </p:nvSpPr>
        <p:spPr>
          <a:xfrm>
            <a:off x="1603607" y="44717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54" name="Google Shape;1154;p73"/>
          <p:cNvSpPr txBox="1"/>
          <p:nvPr/>
        </p:nvSpPr>
        <p:spPr>
          <a:xfrm>
            <a:off x="1603607" y="4143595"/>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155" name="Google Shape;1155;p73"/>
          <p:cNvSpPr txBox="1"/>
          <p:nvPr/>
        </p:nvSpPr>
        <p:spPr>
          <a:xfrm>
            <a:off x="2047375" y="319966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156" name="Google Shape;1156;p73"/>
          <p:cNvSpPr txBox="1"/>
          <p:nvPr/>
        </p:nvSpPr>
        <p:spPr>
          <a:xfrm>
            <a:off x="2576834" y="319966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57" name="Google Shape;1157;p73"/>
          <p:cNvSpPr txBox="1"/>
          <p:nvPr/>
        </p:nvSpPr>
        <p:spPr>
          <a:xfrm>
            <a:off x="3106294" y="319966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158" name="Google Shape;1158;p73"/>
          <p:cNvSpPr txBox="1"/>
          <p:nvPr/>
        </p:nvSpPr>
        <p:spPr>
          <a:xfrm>
            <a:off x="3609053" y="319966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59" name="Google Shape;1159;p73"/>
          <p:cNvSpPr txBox="1"/>
          <p:nvPr/>
        </p:nvSpPr>
        <p:spPr>
          <a:xfrm>
            <a:off x="4172473" y="319966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160" name="Google Shape;1160;p73"/>
          <p:cNvSpPr txBox="1"/>
          <p:nvPr/>
        </p:nvSpPr>
        <p:spPr>
          <a:xfrm>
            <a:off x="2047375" y="352000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161" name="Google Shape;1161;p73"/>
          <p:cNvSpPr txBox="1"/>
          <p:nvPr/>
        </p:nvSpPr>
        <p:spPr>
          <a:xfrm>
            <a:off x="2576834" y="352000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162" name="Google Shape;1162;p73"/>
          <p:cNvSpPr txBox="1"/>
          <p:nvPr/>
        </p:nvSpPr>
        <p:spPr>
          <a:xfrm>
            <a:off x="3106294" y="35200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63" name="Google Shape;1163;p73"/>
          <p:cNvSpPr txBox="1"/>
          <p:nvPr/>
        </p:nvSpPr>
        <p:spPr>
          <a:xfrm>
            <a:off x="3609053" y="35200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164" name="Google Shape;1164;p73"/>
          <p:cNvSpPr txBox="1"/>
          <p:nvPr/>
        </p:nvSpPr>
        <p:spPr>
          <a:xfrm>
            <a:off x="4172473" y="35200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p:txBody>
      </p:sp>
      <p:sp>
        <p:nvSpPr>
          <p:cNvPr id="1165" name="Google Shape;1165;p73"/>
          <p:cNvSpPr txBox="1"/>
          <p:nvPr/>
        </p:nvSpPr>
        <p:spPr>
          <a:xfrm>
            <a:off x="2047375" y="382480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166" name="Google Shape;1166;p73"/>
          <p:cNvSpPr txBox="1"/>
          <p:nvPr/>
        </p:nvSpPr>
        <p:spPr>
          <a:xfrm>
            <a:off x="2576834" y="3824804"/>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67" name="Google Shape;1167;p73"/>
          <p:cNvSpPr txBox="1"/>
          <p:nvPr/>
        </p:nvSpPr>
        <p:spPr>
          <a:xfrm>
            <a:off x="3106294" y="38248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168" name="Google Shape;1168;p73"/>
          <p:cNvSpPr txBox="1"/>
          <p:nvPr/>
        </p:nvSpPr>
        <p:spPr>
          <a:xfrm>
            <a:off x="3609053" y="38248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p:txBody>
      </p:sp>
      <p:sp>
        <p:nvSpPr>
          <p:cNvPr id="1169" name="Google Shape;1169;p73"/>
          <p:cNvSpPr txBox="1"/>
          <p:nvPr/>
        </p:nvSpPr>
        <p:spPr>
          <a:xfrm>
            <a:off x="2047375" y="415291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170" name="Google Shape;1170;p73"/>
          <p:cNvSpPr txBox="1"/>
          <p:nvPr/>
        </p:nvSpPr>
        <p:spPr>
          <a:xfrm>
            <a:off x="2576834" y="415291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171" name="Google Shape;1171;p73"/>
          <p:cNvSpPr txBox="1"/>
          <p:nvPr/>
        </p:nvSpPr>
        <p:spPr>
          <a:xfrm>
            <a:off x="3106294" y="415291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p:txBody>
      </p:sp>
      <p:sp>
        <p:nvSpPr>
          <p:cNvPr id="1172" name="Google Shape;1172;p73"/>
          <p:cNvSpPr txBox="1"/>
          <p:nvPr/>
        </p:nvSpPr>
        <p:spPr>
          <a:xfrm>
            <a:off x="3609053" y="415291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173" name="Google Shape;1173;p73"/>
          <p:cNvSpPr txBox="1"/>
          <p:nvPr/>
        </p:nvSpPr>
        <p:spPr>
          <a:xfrm>
            <a:off x="4172473" y="415291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a:t>
            </a:r>
            <a:endParaRPr sz="1800">
              <a:solidFill>
                <a:schemeClr val="dk1"/>
              </a:solidFill>
              <a:latin typeface="Lexend"/>
              <a:ea typeface="Lexend"/>
              <a:cs typeface="Lexend"/>
              <a:sym typeface="Lexend"/>
            </a:endParaRPr>
          </a:p>
        </p:txBody>
      </p:sp>
      <p:sp>
        <p:nvSpPr>
          <p:cNvPr id="1174" name="Google Shape;1174;p73"/>
          <p:cNvSpPr txBox="1"/>
          <p:nvPr/>
        </p:nvSpPr>
        <p:spPr>
          <a:xfrm>
            <a:off x="4172473" y="3824804"/>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175" name="Google Shape;1175;p73"/>
          <p:cNvSpPr txBox="1"/>
          <p:nvPr/>
        </p:nvSpPr>
        <p:spPr>
          <a:xfrm>
            <a:off x="2047375" y="446548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176" name="Google Shape;1176;p73"/>
          <p:cNvSpPr txBox="1"/>
          <p:nvPr/>
        </p:nvSpPr>
        <p:spPr>
          <a:xfrm>
            <a:off x="2576834" y="4465482"/>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p:txBody>
      </p:sp>
      <p:sp>
        <p:nvSpPr>
          <p:cNvPr id="1177" name="Google Shape;1177;p73"/>
          <p:cNvSpPr txBox="1"/>
          <p:nvPr/>
        </p:nvSpPr>
        <p:spPr>
          <a:xfrm>
            <a:off x="3106294" y="446548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178" name="Google Shape;1178;p73"/>
          <p:cNvSpPr txBox="1"/>
          <p:nvPr/>
        </p:nvSpPr>
        <p:spPr>
          <a:xfrm>
            <a:off x="3609053" y="446548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a:t>
            </a:r>
            <a:endParaRPr sz="1800">
              <a:solidFill>
                <a:schemeClr val="dk1"/>
              </a:solidFill>
              <a:latin typeface="Lexend"/>
              <a:ea typeface="Lexend"/>
              <a:cs typeface="Lexend"/>
              <a:sym typeface="Lexend"/>
            </a:endParaRPr>
          </a:p>
        </p:txBody>
      </p:sp>
      <p:sp>
        <p:nvSpPr>
          <p:cNvPr id="1179" name="Google Shape;1179;p73"/>
          <p:cNvSpPr txBox="1"/>
          <p:nvPr/>
        </p:nvSpPr>
        <p:spPr>
          <a:xfrm>
            <a:off x="4096273" y="4465482"/>
            <a:ext cx="571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10</a:t>
            </a:r>
            <a:endParaRPr sz="1800">
              <a:solidFill>
                <a:schemeClr val="dk1"/>
              </a:solidFill>
              <a:latin typeface="Lexend"/>
              <a:ea typeface="Lexend"/>
              <a:cs typeface="Lexend"/>
              <a:sym typeface="Lexend"/>
            </a:endParaRPr>
          </a:p>
        </p:txBody>
      </p:sp>
      <p:sp>
        <p:nvSpPr>
          <p:cNvPr id="1180" name="Google Shape;1180;p73"/>
          <p:cNvSpPr txBox="1"/>
          <p:nvPr/>
        </p:nvSpPr>
        <p:spPr>
          <a:xfrm>
            <a:off x="4743975" y="2740500"/>
            <a:ext cx="4109100" cy="736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 possible number of counters are {2, 3, 4, 5, 6, 7, 8, 9, 10}</a:t>
            </a:r>
            <a:endParaRPr sz="1800">
              <a:latin typeface="Lexend"/>
              <a:ea typeface="Lexend"/>
              <a:cs typeface="Lexend"/>
              <a:sym typeface="Lexend"/>
            </a:endParaRPr>
          </a:p>
        </p:txBody>
      </p:sp>
      <p:sp>
        <p:nvSpPr>
          <p:cNvPr id="1181" name="Google Shape;1181;p73"/>
          <p:cNvSpPr txBox="1"/>
          <p:nvPr/>
        </p:nvSpPr>
        <p:spPr>
          <a:xfrm>
            <a:off x="4766975" y="3595150"/>
            <a:ext cx="4109100" cy="736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These outcomes are not equally likely to each other. </a:t>
            </a:r>
            <a:r>
              <a:rPr lang="en-GB" sz="1800">
                <a:latin typeface="Lexend"/>
                <a:ea typeface="Lexend"/>
                <a:cs typeface="Lexend"/>
                <a:sym typeface="Lexend"/>
              </a:rPr>
              <a:t> </a:t>
            </a:r>
            <a:endParaRPr sz="1800">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74"/>
          <p:cNvSpPr txBox="1"/>
          <p:nvPr>
            <p:ph idx="1" type="body"/>
          </p:nvPr>
        </p:nvSpPr>
        <p:spPr>
          <a:xfrm>
            <a:off x="324000" y="759300"/>
            <a:ext cx="8237700" cy="420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two spinners are going to be spun and the numbers will be multiplied together. Complete the </a:t>
            </a:r>
            <a:r>
              <a:rPr b="1" lang="en-GB"/>
              <a:t>outcome table</a:t>
            </a:r>
            <a:r>
              <a:rPr lang="en-GB"/>
              <a:t>.</a:t>
            </a:r>
            <a:endParaRPr/>
          </a:p>
        </p:txBody>
      </p:sp>
      <p:sp>
        <p:nvSpPr>
          <p:cNvPr id="1187" name="Google Shape;1187;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188" name="Google Shape;1188;p74"/>
          <p:cNvSpPr txBox="1"/>
          <p:nvPr/>
        </p:nvSpPr>
        <p:spPr>
          <a:xfrm>
            <a:off x="2185902" y="2759500"/>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a:t>
            </a:r>
            <a:endParaRPr sz="2000">
              <a:solidFill>
                <a:schemeClr val="dk1"/>
              </a:solidFill>
              <a:latin typeface="Kalam"/>
              <a:ea typeface="Kalam"/>
              <a:cs typeface="Kalam"/>
              <a:sym typeface="Kalam"/>
            </a:endParaRPr>
          </a:p>
        </p:txBody>
      </p:sp>
      <p:sp>
        <p:nvSpPr>
          <p:cNvPr id="1189" name="Google Shape;1189;p74"/>
          <p:cNvSpPr txBox="1"/>
          <p:nvPr/>
        </p:nvSpPr>
        <p:spPr>
          <a:xfrm>
            <a:off x="2708102" y="2759500"/>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8</a:t>
            </a:r>
            <a:endParaRPr sz="2000">
              <a:solidFill>
                <a:schemeClr val="dk1"/>
              </a:solidFill>
              <a:latin typeface="Kalam"/>
              <a:ea typeface="Kalam"/>
              <a:cs typeface="Kalam"/>
              <a:sym typeface="Kalam"/>
            </a:endParaRPr>
          </a:p>
        </p:txBody>
      </p:sp>
      <p:sp>
        <p:nvSpPr>
          <p:cNvPr id="1190" name="Google Shape;1190;p74"/>
          <p:cNvSpPr txBox="1"/>
          <p:nvPr/>
        </p:nvSpPr>
        <p:spPr>
          <a:xfrm>
            <a:off x="3230302" y="27904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a:t>
            </a:r>
            <a:endParaRPr sz="2000">
              <a:solidFill>
                <a:schemeClr val="dk1"/>
              </a:solidFill>
              <a:latin typeface="Kalam"/>
              <a:ea typeface="Kalam"/>
              <a:cs typeface="Kalam"/>
              <a:sym typeface="Kalam"/>
            </a:endParaRPr>
          </a:p>
        </p:txBody>
      </p:sp>
      <p:sp>
        <p:nvSpPr>
          <p:cNvPr id="1191" name="Google Shape;1191;p74"/>
          <p:cNvSpPr txBox="1"/>
          <p:nvPr/>
        </p:nvSpPr>
        <p:spPr>
          <a:xfrm>
            <a:off x="2185902" y="3447375"/>
            <a:ext cx="445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a:t>
            </a:r>
            <a:endParaRPr sz="2000">
              <a:solidFill>
                <a:schemeClr val="dk1"/>
              </a:solidFill>
              <a:latin typeface="Kalam"/>
              <a:ea typeface="Kalam"/>
              <a:cs typeface="Kalam"/>
              <a:sym typeface="Kalam"/>
            </a:endParaRPr>
          </a:p>
          <a:p>
            <a:pPr indent="0" lvl="0" marL="0" rtl="0" algn="l">
              <a:spcBef>
                <a:spcPts val="0"/>
              </a:spcBef>
              <a:spcAft>
                <a:spcPts val="0"/>
              </a:spcAft>
              <a:buNone/>
            </a:pPr>
            <a:r>
              <a:t/>
            </a:r>
            <a:endParaRPr sz="2000">
              <a:solidFill>
                <a:schemeClr val="dk1"/>
              </a:solidFill>
              <a:latin typeface="Kalam"/>
              <a:ea typeface="Kalam"/>
              <a:cs typeface="Kalam"/>
              <a:sym typeface="Kalam"/>
            </a:endParaRPr>
          </a:p>
        </p:txBody>
      </p:sp>
      <p:sp>
        <p:nvSpPr>
          <p:cNvPr id="1192" name="Google Shape;1192;p74"/>
          <p:cNvSpPr txBox="1"/>
          <p:nvPr/>
        </p:nvSpPr>
        <p:spPr>
          <a:xfrm>
            <a:off x="2708102" y="3447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a:t>
            </a:r>
            <a:endParaRPr sz="2000">
              <a:solidFill>
                <a:schemeClr val="dk1"/>
              </a:solidFill>
              <a:latin typeface="Kalam"/>
              <a:ea typeface="Kalam"/>
              <a:cs typeface="Kalam"/>
              <a:sym typeface="Kalam"/>
            </a:endParaRPr>
          </a:p>
        </p:txBody>
      </p:sp>
      <p:sp>
        <p:nvSpPr>
          <p:cNvPr id="1193" name="Google Shape;1193;p74"/>
          <p:cNvSpPr txBox="1"/>
          <p:nvPr/>
        </p:nvSpPr>
        <p:spPr>
          <a:xfrm>
            <a:off x="3230302" y="3472306"/>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15</a:t>
            </a:r>
            <a:endParaRPr sz="2000">
              <a:solidFill>
                <a:schemeClr val="dk1"/>
              </a:solidFill>
              <a:latin typeface="Kalam"/>
              <a:ea typeface="Kalam"/>
              <a:cs typeface="Kalam"/>
              <a:sym typeface="Kalam"/>
            </a:endParaRPr>
          </a:p>
        </p:txBody>
      </p:sp>
      <p:sp>
        <p:nvSpPr>
          <p:cNvPr id="1194" name="Google Shape;1194;p74"/>
          <p:cNvSpPr txBox="1"/>
          <p:nvPr/>
        </p:nvSpPr>
        <p:spPr>
          <a:xfrm>
            <a:off x="2185902" y="4109500"/>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a:t>
            </a:r>
            <a:endParaRPr sz="2000">
              <a:solidFill>
                <a:schemeClr val="dk1"/>
              </a:solidFill>
              <a:latin typeface="Kalam"/>
              <a:ea typeface="Kalam"/>
              <a:cs typeface="Kalam"/>
              <a:sym typeface="Kalam"/>
            </a:endParaRPr>
          </a:p>
        </p:txBody>
      </p:sp>
      <p:sp>
        <p:nvSpPr>
          <p:cNvPr id="1195" name="Google Shape;1195;p74"/>
          <p:cNvSpPr txBox="1"/>
          <p:nvPr/>
        </p:nvSpPr>
        <p:spPr>
          <a:xfrm>
            <a:off x="2708102" y="4109500"/>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a:t>
            </a:r>
            <a:endParaRPr sz="2000">
              <a:solidFill>
                <a:schemeClr val="dk1"/>
              </a:solidFill>
              <a:latin typeface="Kalam"/>
              <a:ea typeface="Kalam"/>
              <a:cs typeface="Kalam"/>
              <a:sym typeface="Kalam"/>
            </a:endParaRPr>
          </a:p>
        </p:txBody>
      </p:sp>
      <p:sp>
        <p:nvSpPr>
          <p:cNvPr id="1196" name="Google Shape;1196;p74"/>
          <p:cNvSpPr txBox="1"/>
          <p:nvPr/>
        </p:nvSpPr>
        <p:spPr>
          <a:xfrm>
            <a:off x="3230302" y="4109500"/>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18</a:t>
            </a:r>
            <a:endParaRPr sz="2000">
              <a:solidFill>
                <a:schemeClr val="dk1"/>
              </a:solidFill>
              <a:latin typeface="Kalam"/>
              <a:ea typeface="Kalam"/>
              <a:cs typeface="Kalam"/>
              <a:sym typeface="Kalam"/>
            </a:endParaRPr>
          </a:p>
        </p:txBody>
      </p:sp>
      <p:sp>
        <p:nvSpPr>
          <p:cNvPr id="1197" name="Google Shape;1197;p74"/>
          <p:cNvSpPr/>
          <p:nvPr/>
        </p:nvSpPr>
        <p:spPr>
          <a:xfrm>
            <a:off x="4712044" y="1735581"/>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8" name="Google Shape;1198;p74"/>
          <p:cNvSpPr/>
          <p:nvPr/>
        </p:nvSpPr>
        <p:spPr>
          <a:xfrm rot="7199698">
            <a:off x="4721854" y="1745513"/>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9" name="Google Shape;1199;p74"/>
          <p:cNvSpPr/>
          <p:nvPr/>
        </p:nvSpPr>
        <p:spPr>
          <a:xfrm rot="-7211730">
            <a:off x="4722056" y="1745650"/>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0" name="Google Shape;1200;p74"/>
          <p:cNvSpPr/>
          <p:nvPr/>
        </p:nvSpPr>
        <p:spPr>
          <a:xfrm>
            <a:off x="4722012" y="1745591"/>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01" name="Google Shape;1201;p74"/>
          <p:cNvSpPr txBox="1"/>
          <p:nvPr/>
        </p:nvSpPr>
        <p:spPr>
          <a:xfrm>
            <a:off x="5404454" y="2009431"/>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202" name="Google Shape;1202;p74"/>
          <p:cNvSpPr txBox="1"/>
          <p:nvPr/>
        </p:nvSpPr>
        <p:spPr>
          <a:xfrm>
            <a:off x="5124014" y="2417911"/>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203" name="Google Shape;1203;p74"/>
          <p:cNvSpPr txBox="1"/>
          <p:nvPr/>
        </p:nvSpPr>
        <p:spPr>
          <a:xfrm>
            <a:off x="4893854" y="2009431"/>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grpSp>
        <p:nvGrpSpPr>
          <p:cNvPr id="1204" name="Google Shape;1204;p74"/>
          <p:cNvGrpSpPr/>
          <p:nvPr/>
        </p:nvGrpSpPr>
        <p:grpSpPr>
          <a:xfrm>
            <a:off x="5247665" y="1792368"/>
            <a:ext cx="62922" cy="547386"/>
            <a:chOff x="996050" y="213293"/>
            <a:chExt cx="93900" cy="909732"/>
          </a:xfrm>
        </p:grpSpPr>
        <p:cxnSp>
          <p:nvCxnSpPr>
            <p:cNvPr id="1205" name="Google Shape;1205;p74"/>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206" name="Google Shape;1206;p74"/>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207" name="Google Shape;1207;p74"/>
          <p:cNvSpPr/>
          <p:nvPr/>
        </p:nvSpPr>
        <p:spPr>
          <a:xfrm>
            <a:off x="6577119" y="16566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208" name="Google Shape;1208;p74"/>
          <p:cNvGrpSpPr/>
          <p:nvPr/>
        </p:nvGrpSpPr>
        <p:grpSpPr>
          <a:xfrm flipH="1" rot="-5400000">
            <a:off x="1400514" y="2375133"/>
            <a:ext cx="2489298" cy="1892525"/>
            <a:chOff x="3174075" y="2574525"/>
            <a:chExt cx="3000600" cy="1892525"/>
          </a:xfrm>
        </p:grpSpPr>
        <p:cxnSp>
          <p:nvCxnSpPr>
            <p:cNvPr id="1209" name="Google Shape;1209;p74"/>
            <p:cNvCxnSpPr/>
            <p:nvPr/>
          </p:nvCxnSpPr>
          <p:spPr>
            <a:xfrm>
              <a:off x="3757011"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210" name="Google Shape;1210;p74"/>
            <p:cNvCxnSpPr/>
            <p:nvPr/>
          </p:nvCxnSpPr>
          <p:spPr>
            <a:xfrm>
              <a:off x="4593562"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211" name="Google Shape;1211;p74"/>
            <p:cNvCxnSpPr/>
            <p:nvPr/>
          </p:nvCxnSpPr>
          <p:spPr>
            <a:xfrm>
              <a:off x="5422338"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212" name="Google Shape;1212;p74"/>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213" name="Google Shape;1213;p74"/>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214" name="Google Shape;1214;p74"/>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1215" name="Google Shape;1215;p74"/>
            <p:cNvSpPr txBox="1"/>
            <p:nvPr/>
          </p:nvSpPr>
          <p:spPr>
            <a:xfrm rot="-5400000">
              <a:off x="4124457" y="2542480"/>
              <a:ext cx="1911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216" name="Google Shape;1216;p74"/>
            <p:cNvSpPr txBox="1"/>
            <p:nvPr/>
          </p:nvSpPr>
          <p:spPr>
            <a:xfrm rot="-5400000">
              <a:off x="4822996" y="2631880"/>
              <a:ext cx="3699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217" name="Google Shape;1217;p74"/>
            <p:cNvSpPr txBox="1"/>
            <p:nvPr/>
          </p:nvSpPr>
          <p:spPr>
            <a:xfrm rot="-5400000">
              <a:off x="3414407" y="2981992"/>
              <a:ext cx="1146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218" name="Google Shape;1218;p74"/>
            <p:cNvSpPr txBox="1"/>
            <p:nvPr/>
          </p:nvSpPr>
          <p:spPr>
            <a:xfrm rot="-5400000">
              <a:off x="3414407" y="3511717"/>
              <a:ext cx="1146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cxnSp>
          <p:nvCxnSpPr>
            <p:cNvPr id="1219" name="Google Shape;1219;p74"/>
            <p:cNvCxnSpPr/>
            <p:nvPr/>
          </p:nvCxnSpPr>
          <p:spPr>
            <a:xfrm>
              <a:off x="6158952"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220" name="Google Shape;1220;p74"/>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1221" name="Google Shape;1221;p74"/>
            <p:cNvSpPr txBox="1"/>
            <p:nvPr/>
          </p:nvSpPr>
          <p:spPr>
            <a:xfrm rot="-5400000">
              <a:off x="3389782" y="4037391"/>
              <a:ext cx="1929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222" name="Google Shape;1222;p74"/>
            <p:cNvSpPr txBox="1"/>
            <p:nvPr/>
          </p:nvSpPr>
          <p:spPr>
            <a:xfrm rot="-5400000">
              <a:off x="5695091" y="2542480"/>
              <a:ext cx="191100" cy="33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grpSp>
      <p:sp>
        <p:nvSpPr>
          <p:cNvPr id="1223" name="Google Shape;1223;p74"/>
          <p:cNvSpPr/>
          <p:nvPr/>
        </p:nvSpPr>
        <p:spPr>
          <a:xfrm rot="7199698">
            <a:off x="6586929" y="16665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4" name="Google Shape;1224;p74"/>
          <p:cNvSpPr/>
          <p:nvPr/>
        </p:nvSpPr>
        <p:spPr>
          <a:xfrm rot="-7211730">
            <a:off x="6587131" y="16666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5" name="Google Shape;1225;p74"/>
          <p:cNvSpPr/>
          <p:nvPr/>
        </p:nvSpPr>
        <p:spPr>
          <a:xfrm>
            <a:off x="6587087" y="16666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6" name="Google Shape;1226;p74"/>
          <p:cNvSpPr txBox="1"/>
          <p:nvPr/>
        </p:nvSpPr>
        <p:spPr>
          <a:xfrm>
            <a:off x="7269529" y="19304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6</a:t>
            </a:r>
            <a:endParaRPr sz="1600">
              <a:solidFill>
                <a:srgbClr val="FFFFFF"/>
              </a:solidFill>
              <a:latin typeface="Lexend"/>
              <a:ea typeface="Lexend"/>
              <a:cs typeface="Lexend"/>
              <a:sym typeface="Lexend"/>
            </a:endParaRPr>
          </a:p>
        </p:txBody>
      </p:sp>
      <p:sp>
        <p:nvSpPr>
          <p:cNvPr id="1227" name="Google Shape;1227;p74"/>
          <p:cNvSpPr txBox="1"/>
          <p:nvPr/>
        </p:nvSpPr>
        <p:spPr>
          <a:xfrm>
            <a:off x="6989089" y="23389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5</a:t>
            </a:r>
            <a:endParaRPr sz="1600">
              <a:solidFill>
                <a:srgbClr val="FFFFFF"/>
              </a:solidFill>
              <a:latin typeface="Lexend"/>
              <a:ea typeface="Lexend"/>
              <a:cs typeface="Lexend"/>
              <a:sym typeface="Lexend"/>
            </a:endParaRPr>
          </a:p>
        </p:txBody>
      </p:sp>
      <p:sp>
        <p:nvSpPr>
          <p:cNvPr id="1228" name="Google Shape;1228;p74"/>
          <p:cNvSpPr txBox="1"/>
          <p:nvPr/>
        </p:nvSpPr>
        <p:spPr>
          <a:xfrm>
            <a:off x="6758929" y="19304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grpSp>
        <p:nvGrpSpPr>
          <p:cNvPr id="1229" name="Google Shape;1229;p74"/>
          <p:cNvGrpSpPr/>
          <p:nvPr/>
        </p:nvGrpSpPr>
        <p:grpSpPr>
          <a:xfrm>
            <a:off x="7112740" y="1713393"/>
            <a:ext cx="62922" cy="547386"/>
            <a:chOff x="996050" y="213293"/>
            <a:chExt cx="93900" cy="909732"/>
          </a:xfrm>
        </p:grpSpPr>
        <p:cxnSp>
          <p:nvCxnSpPr>
            <p:cNvPr id="1230" name="Google Shape;1230;p74"/>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231" name="Google Shape;1231;p74"/>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7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a:t>
            </a:r>
            <a:r>
              <a:rPr lang="en-GB"/>
              <a:t>table from a two-stage trial</a:t>
            </a:r>
            <a:endParaRPr/>
          </a:p>
        </p:txBody>
      </p:sp>
      <p:sp>
        <p:nvSpPr>
          <p:cNvPr id="1237" name="Google Shape;1237;p7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This spinner is going to be spun twice as part of a two-stage trial. Complete the </a:t>
            </a:r>
            <a:r>
              <a:rPr b="1" lang="en-GB" sz="1800"/>
              <a:t>outcome table</a:t>
            </a:r>
            <a:r>
              <a:rPr lang="en-GB" sz="1800"/>
              <a:t> to show all the possible outcomes.</a:t>
            </a:r>
            <a:endParaRPr sz="1800"/>
          </a:p>
        </p:txBody>
      </p:sp>
      <p:grpSp>
        <p:nvGrpSpPr>
          <p:cNvPr id="1238" name="Google Shape;1238;p75"/>
          <p:cNvGrpSpPr/>
          <p:nvPr/>
        </p:nvGrpSpPr>
        <p:grpSpPr>
          <a:xfrm>
            <a:off x="4469475" y="1485000"/>
            <a:ext cx="3000600" cy="1915250"/>
            <a:chOff x="3174075" y="2551800"/>
            <a:chExt cx="3000600" cy="1915250"/>
          </a:xfrm>
        </p:grpSpPr>
        <p:cxnSp>
          <p:nvCxnSpPr>
            <p:cNvPr id="1239" name="Google Shape;1239;p75"/>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240" name="Google Shape;1240;p75"/>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241" name="Google Shape;1241;p75"/>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242" name="Google Shape;1242;p75"/>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243" name="Google Shape;1243;p75"/>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244" name="Google Shape;1244;p75"/>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1245" name="Google Shape;1245;p75"/>
            <p:cNvSpPr txBox="1"/>
            <p:nvPr/>
          </p:nvSpPr>
          <p:spPr>
            <a:xfrm>
              <a:off x="4104775" y="2574525"/>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46" name="Google Shape;1246;p75"/>
            <p:cNvSpPr txBox="1"/>
            <p:nvPr/>
          </p:nvSpPr>
          <p:spPr>
            <a:xfrm>
              <a:off x="49374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247" name="Google Shape;1247;p75"/>
            <p:cNvSpPr txBox="1"/>
            <p:nvPr/>
          </p:nvSpPr>
          <p:spPr>
            <a:xfrm>
              <a:off x="3402525" y="3010425"/>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48" name="Google Shape;1248;p75"/>
            <p:cNvSpPr txBox="1"/>
            <p:nvPr/>
          </p:nvSpPr>
          <p:spPr>
            <a:xfrm>
              <a:off x="3402525" y="3540150"/>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249" name="Google Shape;1249;p75"/>
            <p:cNvCxnSpPr/>
            <p:nvPr/>
          </p:nvCxnSpPr>
          <p:spPr>
            <a:xfrm>
              <a:off x="61589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250" name="Google Shape;1250;p75"/>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1251" name="Google Shape;1251;p75"/>
            <p:cNvSpPr txBox="1"/>
            <p:nvPr/>
          </p:nvSpPr>
          <p:spPr>
            <a:xfrm>
              <a:off x="3369950" y="4065900"/>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252" name="Google Shape;1252;p75"/>
            <p:cNvSpPr txBox="1"/>
            <p:nvPr/>
          </p:nvSpPr>
          <p:spPr>
            <a:xfrm>
              <a:off x="5743093" y="2551800"/>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grpSp>
      <p:grpSp>
        <p:nvGrpSpPr>
          <p:cNvPr id="1253" name="Google Shape;1253;p75"/>
          <p:cNvGrpSpPr/>
          <p:nvPr/>
        </p:nvGrpSpPr>
        <p:grpSpPr>
          <a:xfrm>
            <a:off x="1512710" y="1396229"/>
            <a:ext cx="1526700" cy="1526700"/>
            <a:chOff x="6389510" y="634229"/>
            <a:chExt cx="1526700" cy="1526700"/>
          </a:xfrm>
        </p:grpSpPr>
        <p:sp>
          <p:nvSpPr>
            <p:cNvPr id="1254" name="Google Shape;1254;p75"/>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5" name="Google Shape;1255;p75"/>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6" name="Google Shape;1256;p75"/>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7" name="Google Shape;1257;p75"/>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58" name="Google Shape;1258;p75"/>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sp>
          <p:nvSpPr>
            <p:cNvPr id="1259" name="Google Shape;1259;p75"/>
            <p:cNvSpPr txBox="1"/>
            <p:nvPr/>
          </p:nvSpPr>
          <p:spPr>
            <a:xfrm>
              <a:off x="69965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1260" name="Google Shape;1260;p75"/>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grpSp>
          <p:nvGrpSpPr>
            <p:cNvPr id="1261" name="Google Shape;1261;p75"/>
            <p:cNvGrpSpPr/>
            <p:nvPr/>
          </p:nvGrpSpPr>
          <p:grpSpPr>
            <a:xfrm>
              <a:off x="7120165" y="885993"/>
              <a:ext cx="62922" cy="547386"/>
              <a:chOff x="996050" y="213293"/>
              <a:chExt cx="93900" cy="909732"/>
            </a:xfrm>
          </p:grpSpPr>
          <p:cxnSp>
            <p:nvCxnSpPr>
              <p:cNvPr id="1262" name="Google Shape;1262;p75"/>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263" name="Google Shape;1263;p75"/>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p7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269" name="Google Shape;1269;p7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r>
              <a:rPr lang="en-GB" sz="1800"/>
              <a:t>) Both spinners are</a:t>
            </a:r>
            <a:r>
              <a:rPr lang="en-GB" sz="1800"/>
              <a:t> going to be spun as part of a two-stage trial. Complete the </a:t>
            </a:r>
            <a:r>
              <a:rPr b="1" lang="en-GB" sz="1800"/>
              <a:t>outcome table</a:t>
            </a:r>
            <a:r>
              <a:rPr lang="en-GB" sz="1800"/>
              <a:t> to show all the possible outcomes.</a:t>
            </a:r>
            <a:endParaRPr sz="1800"/>
          </a:p>
        </p:txBody>
      </p:sp>
      <p:grpSp>
        <p:nvGrpSpPr>
          <p:cNvPr id="1270" name="Google Shape;1270;p76"/>
          <p:cNvGrpSpPr/>
          <p:nvPr/>
        </p:nvGrpSpPr>
        <p:grpSpPr>
          <a:xfrm>
            <a:off x="750710" y="1472429"/>
            <a:ext cx="1526700" cy="1526700"/>
            <a:chOff x="6389510" y="634229"/>
            <a:chExt cx="1526700" cy="1526700"/>
          </a:xfrm>
        </p:grpSpPr>
        <p:sp>
          <p:nvSpPr>
            <p:cNvPr id="1271" name="Google Shape;1271;p76"/>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2" name="Google Shape;1272;p76"/>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3" name="Google Shape;1273;p76"/>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4" name="Google Shape;1274;p76"/>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5" name="Google Shape;1275;p76"/>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sp>
          <p:nvSpPr>
            <p:cNvPr id="1276" name="Google Shape;1276;p76"/>
            <p:cNvSpPr txBox="1"/>
            <p:nvPr/>
          </p:nvSpPr>
          <p:spPr>
            <a:xfrm>
              <a:off x="69965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1277" name="Google Shape;1277;p76"/>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grpSp>
          <p:nvGrpSpPr>
            <p:cNvPr id="1278" name="Google Shape;1278;p76"/>
            <p:cNvGrpSpPr/>
            <p:nvPr/>
          </p:nvGrpSpPr>
          <p:grpSpPr>
            <a:xfrm>
              <a:off x="7120165" y="885993"/>
              <a:ext cx="62922" cy="547386"/>
              <a:chOff x="996050" y="213293"/>
              <a:chExt cx="93900" cy="909732"/>
            </a:xfrm>
          </p:grpSpPr>
          <p:cxnSp>
            <p:nvCxnSpPr>
              <p:cNvPr id="1279" name="Google Shape;1279;p76"/>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280" name="Google Shape;1280;p76"/>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281" name="Google Shape;1281;p76"/>
          <p:cNvSpPr/>
          <p:nvPr/>
        </p:nvSpPr>
        <p:spPr>
          <a:xfrm>
            <a:off x="2302950" y="2054025"/>
            <a:ext cx="1168500" cy="11685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2" name="Google Shape;1282;p76"/>
          <p:cNvSpPr/>
          <p:nvPr/>
        </p:nvSpPr>
        <p:spPr>
          <a:xfrm flipH="1">
            <a:off x="2313007" y="2064196"/>
            <a:ext cx="1148400" cy="1148400"/>
          </a:xfrm>
          <a:prstGeom prst="pie">
            <a:avLst>
              <a:gd fmla="val 5387953"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3" name="Google Shape;1283;p76"/>
          <p:cNvSpPr/>
          <p:nvPr/>
        </p:nvSpPr>
        <p:spPr>
          <a:xfrm>
            <a:off x="2313121" y="2064196"/>
            <a:ext cx="1148400" cy="1148400"/>
          </a:xfrm>
          <a:prstGeom prst="pie">
            <a:avLst>
              <a:gd fmla="val 5387953" name="adj1"/>
              <a:gd fmla="val 16200000"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84" name="Google Shape;1284;p76"/>
          <p:cNvSpPr txBox="1"/>
          <p:nvPr/>
        </p:nvSpPr>
        <p:spPr>
          <a:xfrm>
            <a:off x="2421344" y="2390186"/>
            <a:ext cx="393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285" name="Google Shape;1285;p76"/>
          <p:cNvSpPr txBox="1"/>
          <p:nvPr/>
        </p:nvSpPr>
        <p:spPr>
          <a:xfrm>
            <a:off x="2977390" y="2390186"/>
            <a:ext cx="43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grpSp>
        <p:nvGrpSpPr>
          <p:cNvPr id="1286" name="Google Shape;1286;p76"/>
          <p:cNvGrpSpPr/>
          <p:nvPr/>
        </p:nvGrpSpPr>
        <p:grpSpPr>
          <a:xfrm>
            <a:off x="2853760" y="2117817"/>
            <a:ext cx="64706" cy="562942"/>
            <a:chOff x="996050" y="213293"/>
            <a:chExt cx="93900" cy="909732"/>
          </a:xfrm>
        </p:grpSpPr>
        <p:cxnSp>
          <p:nvCxnSpPr>
            <p:cNvPr id="1287" name="Google Shape;1287;p76"/>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288" name="Google Shape;1288;p76"/>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289" name="Google Shape;1289;p76"/>
          <p:cNvGrpSpPr/>
          <p:nvPr/>
        </p:nvGrpSpPr>
        <p:grpSpPr>
          <a:xfrm>
            <a:off x="4469525" y="1507725"/>
            <a:ext cx="2248209" cy="1892525"/>
            <a:chOff x="3174125" y="2574525"/>
            <a:chExt cx="2248209" cy="1892525"/>
          </a:xfrm>
        </p:grpSpPr>
        <p:cxnSp>
          <p:nvCxnSpPr>
            <p:cNvPr id="1290" name="Google Shape;1290;p76"/>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291" name="Google Shape;1291;p76"/>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292" name="Google Shape;1292;p76"/>
            <p:cNvCxnSpPr/>
            <p:nvPr/>
          </p:nvCxnSpPr>
          <p:spPr>
            <a:xfrm rot="10800000">
              <a:off x="3174125" y="2882475"/>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293" name="Google Shape;1293;p76"/>
            <p:cNvCxnSpPr/>
            <p:nvPr/>
          </p:nvCxnSpPr>
          <p:spPr>
            <a:xfrm rot="10800000">
              <a:off x="3174125" y="3415575"/>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294" name="Google Shape;1294;p76"/>
            <p:cNvCxnSpPr/>
            <p:nvPr/>
          </p:nvCxnSpPr>
          <p:spPr>
            <a:xfrm rot="10800000">
              <a:off x="3174125" y="3941925"/>
              <a:ext cx="2248200" cy="0"/>
            </a:xfrm>
            <a:prstGeom prst="straightConnector1">
              <a:avLst/>
            </a:prstGeom>
            <a:noFill/>
            <a:ln cap="flat" cmpd="sng" w="38100">
              <a:solidFill>
                <a:schemeClr val="dk1"/>
              </a:solidFill>
              <a:prstDash val="solid"/>
              <a:round/>
              <a:headEnd len="med" w="med" type="none"/>
              <a:tailEnd len="med" w="med" type="none"/>
            </a:ln>
          </p:spPr>
        </p:cxnSp>
        <p:sp>
          <p:nvSpPr>
            <p:cNvPr id="1295" name="Google Shape;1295;p76"/>
            <p:cNvSpPr txBox="1"/>
            <p:nvPr/>
          </p:nvSpPr>
          <p:spPr>
            <a:xfrm>
              <a:off x="4104775" y="2574525"/>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296" name="Google Shape;1296;p76"/>
            <p:cNvSpPr txBox="1"/>
            <p:nvPr/>
          </p:nvSpPr>
          <p:spPr>
            <a:xfrm>
              <a:off x="49374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297" name="Google Shape;1297;p76"/>
            <p:cNvSpPr txBox="1"/>
            <p:nvPr/>
          </p:nvSpPr>
          <p:spPr>
            <a:xfrm>
              <a:off x="3402525" y="3010425"/>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98" name="Google Shape;1298;p76"/>
            <p:cNvSpPr txBox="1"/>
            <p:nvPr/>
          </p:nvSpPr>
          <p:spPr>
            <a:xfrm>
              <a:off x="3402525" y="3540150"/>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299" name="Google Shape;1299;p76"/>
            <p:cNvSpPr txBox="1"/>
            <p:nvPr/>
          </p:nvSpPr>
          <p:spPr>
            <a:xfrm>
              <a:off x="3369950" y="4065900"/>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cxnSp>
          <p:nvCxnSpPr>
            <p:cNvPr id="1300" name="Google Shape;1300;p76"/>
            <p:cNvCxnSpPr/>
            <p:nvPr/>
          </p:nvCxnSpPr>
          <p:spPr>
            <a:xfrm rot="10800000">
              <a:off x="3174125" y="4467050"/>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301" name="Google Shape;1301;p76"/>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7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307" name="Google Shape;1307;p77"/>
          <p:cNvSpPr txBox="1"/>
          <p:nvPr>
            <p:ph idx="1" type="body"/>
          </p:nvPr>
        </p:nvSpPr>
        <p:spPr>
          <a:xfrm>
            <a:off x="324000" y="759300"/>
            <a:ext cx="8237700" cy="1135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a:t>
            </a:r>
            <a:r>
              <a:rPr lang="en-GB" sz="1800"/>
              <a:t>) Laura and Izzy are playing a game of ‘rock, paper, scissors’, where rock beats scissors, scissors beats paper and paper beats rock.</a:t>
            </a:r>
            <a:endParaRPr sz="1800"/>
          </a:p>
          <a:p>
            <a:pPr indent="0" lvl="0" marL="0" rtl="0" algn="l">
              <a:spcBef>
                <a:spcPts val="1000"/>
              </a:spcBef>
              <a:spcAft>
                <a:spcPts val="1000"/>
              </a:spcAft>
              <a:buNone/>
            </a:pPr>
            <a:r>
              <a:rPr lang="en-GB" sz="1800"/>
              <a:t>Complete the </a:t>
            </a:r>
            <a:r>
              <a:rPr b="1" lang="en-GB" sz="1800"/>
              <a:t>outcome table</a:t>
            </a:r>
            <a:r>
              <a:rPr lang="en-GB" sz="1800"/>
              <a:t> to show when each person wins.</a:t>
            </a:r>
            <a:endParaRPr sz="1800"/>
          </a:p>
        </p:txBody>
      </p:sp>
      <p:sp>
        <p:nvSpPr>
          <p:cNvPr id="1308" name="Google Shape;1308;p77"/>
          <p:cNvSpPr txBox="1"/>
          <p:nvPr/>
        </p:nvSpPr>
        <p:spPr>
          <a:xfrm>
            <a:off x="2421344" y="2847386"/>
            <a:ext cx="393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309" name="Google Shape;1309;p77"/>
          <p:cNvSpPr txBox="1"/>
          <p:nvPr/>
        </p:nvSpPr>
        <p:spPr>
          <a:xfrm>
            <a:off x="2977390" y="2847386"/>
            <a:ext cx="43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grpSp>
        <p:nvGrpSpPr>
          <p:cNvPr id="1310" name="Google Shape;1310;p77"/>
          <p:cNvGrpSpPr/>
          <p:nvPr/>
        </p:nvGrpSpPr>
        <p:grpSpPr>
          <a:xfrm>
            <a:off x="2853760" y="2575017"/>
            <a:ext cx="64706" cy="562942"/>
            <a:chOff x="996050" y="213293"/>
            <a:chExt cx="93900" cy="909732"/>
          </a:xfrm>
        </p:grpSpPr>
        <p:cxnSp>
          <p:nvCxnSpPr>
            <p:cNvPr id="1311" name="Google Shape;1311;p77"/>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312" name="Google Shape;1312;p77"/>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313" name="Google Shape;1313;p77"/>
          <p:cNvGrpSpPr/>
          <p:nvPr/>
        </p:nvGrpSpPr>
        <p:grpSpPr>
          <a:xfrm>
            <a:off x="2573650" y="2706218"/>
            <a:ext cx="4031084" cy="1913232"/>
            <a:chOff x="2802250" y="2553818"/>
            <a:chExt cx="4031084" cy="1913232"/>
          </a:xfrm>
        </p:grpSpPr>
        <p:cxnSp>
          <p:nvCxnSpPr>
            <p:cNvPr id="1314" name="Google Shape;1314;p77"/>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315" name="Google Shape;1315;p77"/>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316" name="Google Shape;1316;p77"/>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317" name="Google Shape;1317;p77"/>
            <p:cNvCxnSpPr/>
            <p:nvPr/>
          </p:nvCxnSpPr>
          <p:spPr>
            <a:xfrm rot="10800000">
              <a:off x="2802250" y="2882475"/>
              <a:ext cx="3661500" cy="0"/>
            </a:xfrm>
            <a:prstGeom prst="straightConnector1">
              <a:avLst/>
            </a:prstGeom>
            <a:noFill/>
            <a:ln cap="flat" cmpd="sng" w="38100">
              <a:solidFill>
                <a:schemeClr val="dk1"/>
              </a:solidFill>
              <a:prstDash val="solid"/>
              <a:round/>
              <a:headEnd len="med" w="med" type="none"/>
              <a:tailEnd len="med" w="med" type="none"/>
            </a:ln>
          </p:spPr>
        </p:cxnSp>
        <p:cxnSp>
          <p:nvCxnSpPr>
            <p:cNvPr id="1318" name="Google Shape;1318;p77"/>
            <p:cNvCxnSpPr/>
            <p:nvPr/>
          </p:nvCxnSpPr>
          <p:spPr>
            <a:xfrm rot="10800000">
              <a:off x="2802250" y="3415575"/>
              <a:ext cx="3661500" cy="0"/>
            </a:xfrm>
            <a:prstGeom prst="straightConnector1">
              <a:avLst/>
            </a:prstGeom>
            <a:noFill/>
            <a:ln cap="flat" cmpd="sng" w="38100">
              <a:solidFill>
                <a:schemeClr val="dk1"/>
              </a:solidFill>
              <a:prstDash val="solid"/>
              <a:round/>
              <a:headEnd len="med" w="med" type="none"/>
              <a:tailEnd len="med" w="med" type="none"/>
            </a:ln>
          </p:spPr>
        </p:cxnSp>
        <p:cxnSp>
          <p:nvCxnSpPr>
            <p:cNvPr id="1319" name="Google Shape;1319;p77"/>
            <p:cNvCxnSpPr/>
            <p:nvPr/>
          </p:nvCxnSpPr>
          <p:spPr>
            <a:xfrm rot="10800000">
              <a:off x="2802250" y="3941925"/>
              <a:ext cx="3661500" cy="0"/>
            </a:xfrm>
            <a:prstGeom prst="straightConnector1">
              <a:avLst/>
            </a:prstGeom>
            <a:noFill/>
            <a:ln cap="flat" cmpd="sng" w="38100">
              <a:solidFill>
                <a:schemeClr val="dk1"/>
              </a:solidFill>
              <a:prstDash val="solid"/>
              <a:round/>
              <a:headEnd len="med" w="med" type="none"/>
              <a:tailEnd len="med" w="med" type="none"/>
            </a:ln>
          </p:spPr>
        </p:cxnSp>
        <p:sp>
          <p:nvSpPr>
            <p:cNvPr id="1320" name="Google Shape;1320;p77"/>
            <p:cNvSpPr txBox="1"/>
            <p:nvPr/>
          </p:nvSpPr>
          <p:spPr>
            <a:xfrm>
              <a:off x="3944038" y="2553818"/>
              <a:ext cx="57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rock</a:t>
              </a:r>
              <a:endParaRPr sz="1800">
                <a:solidFill>
                  <a:schemeClr val="dk1"/>
                </a:solidFill>
                <a:latin typeface="Lexend"/>
                <a:ea typeface="Lexend"/>
                <a:cs typeface="Lexend"/>
                <a:sym typeface="Lexend"/>
              </a:endParaRPr>
            </a:p>
          </p:txBody>
        </p:sp>
        <p:sp>
          <p:nvSpPr>
            <p:cNvPr id="1321" name="Google Shape;1321;p77"/>
            <p:cNvSpPr txBox="1"/>
            <p:nvPr/>
          </p:nvSpPr>
          <p:spPr>
            <a:xfrm>
              <a:off x="4688143" y="2553818"/>
              <a:ext cx="716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paper</a:t>
              </a:r>
              <a:endParaRPr sz="1800">
                <a:solidFill>
                  <a:schemeClr val="dk1"/>
                </a:solidFill>
                <a:latin typeface="Lexend"/>
                <a:ea typeface="Lexend"/>
                <a:cs typeface="Lexend"/>
                <a:sym typeface="Lexend"/>
              </a:endParaRPr>
            </a:p>
          </p:txBody>
        </p:sp>
        <p:sp>
          <p:nvSpPr>
            <p:cNvPr id="1322" name="Google Shape;1322;p77"/>
            <p:cNvSpPr txBox="1"/>
            <p:nvPr/>
          </p:nvSpPr>
          <p:spPr>
            <a:xfrm>
              <a:off x="3185450" y="3010425"/>
              <a:ext cx="493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rock</a:t>
              </a:r>
              <a:endParaRPr sz="1800">
                <a:solidFill>
                  <a:schemeClr val="dk1"/>
                </a:solidFill>
                <a:latin typeface="Lexend"/>
                <a:ea typeface="Lexend"/>
                <a:cs typeface="Lexend"/>
                <a:sym typeface="Lexend"/>
              </a:endParaRPr>
            </a:p>
          </p:txBody>
        </p:sp>
        <p:sp>
          <p:nvSpPr>
            <p:cNvPr id="1323" name="Google Shape;1323;p77"/>
            <p:cNvSpPr txBox="1"/>
            <p:nvPr/>
          </p:nvSpPr>
          <p:spPr>
            <a:xfrm>
              <a:off x="2961950" y="3540150"/>
              <a:ext cx="716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paper</a:t>
              </a:r>
              <a:endParaRPr sz="1800">
                <a:solidFill>
                  <a:schemeClr val="dk1"/>
                </a:solidFill>
                <a:latin typeface="Lexend"/>
                <a:ea typeface="Lexend"/>
                <a:cs typeface="Lexend"/>
                <a:sym typeface="Lexend"/>
              </a:endParaRPr>
            </a:p>
          </p:txBody>
        </p:sp>
        <p:cxnSp>
          <p:nvCxnSpPr>
            <p:cNvPr id="1324" name="Google Shape;1324;p77"/>
            <p:cNvCxnSpPr/>
            <p:nvPr/>
          </p:nvCxnSpPr>
          <p:spPr>
            <a:xfrm>
              <a:off x="64637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325" name="Google Shape;1325;p77"/>
            <p:cNvCxnSpPr/>
            <p:nvPr/>
          </p:nvCxnSpPr>
          <p:spPr>
            <a:xfrm rot="10800000">
              <a:off x="2802250" y="4467050"/>
              <a:ext cx="3661500" cy="0"/>
            </a:xfrm>
            <a:prstGeom prst="straightConnector1">
              <a:avLst/>
            </a:prstGeom>
            <a:noFill/>
            <a:ln cap="flat" cmpd="sng" w="38100">
              <a:solidFill>
                <a:schemeClr val="dk1"/>
              </a:solidFill>
              <a:prstDash val="solid"/>
              <a:round/>
              <a:headEnd len="med" w="med" type="none"/>
              <a:tailEnd len="med" w="med" type="none"/>
            </a:ln>
          </p:spPr>
        </p:cxnSp>
        <p:sp>
          <p:nvSpPr>
            <p:cNvPr id="1326" name="Google Shape;1326;p77"/>
            <p:cNvSpPr txBox="1"/>
            <p:nvPr/>
          </p:nvSpPr>
          <p:spPr>
            <a:xfrm>
              <a:off x="2802350" y="4065900"/>
              <a:ext cx="872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scissors</a:t>
              </a:r>
              <a:endParaRPr sz="1800">
                <a:solidFill>
                  <a:schemeClr val="dk1"/>
                </a:solidFill>
                <a:latin typeface="Lexend"/>
                <a:ea typeface="Lexend"/>
                <a:cs typeface="Lexend"/>
                <a:sym typeface="Lexend"/>
              </a:endParaRPr>
            </a:p>
          </p:txBody>
        </p:sp>
        <p:sp>
          <p:nvSpPr>
            <p:cNvPr id="1327" name="Google Shape;1327;p77"/>
            <p:cNvSpPr txBox="1"/>
            <p:nvPr/>
          </p:nvSpPr>
          <p:spPr>
            <a:xfrm>
              <a:off x="5514534" y="2553818"/>
              <a:ext cx="1318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scissors</a:t>
              </a:r>
              <a:endParaRPr sz="1800">
                <a:solidFill>
                  <a:schemeClr val="dk1"/>
                </a:solidFill>
                <a:latin typeface="Lexend"/>
                <a:ea typeface="Lexend"/>
                <a:cs typeface="Lexend"/>
                <a:sym typeface="Lexend"/>
              </a:endParaRPr>
            </a:p>
          </p:txBody>
        </p:sp>
      </p:grpSp>
      <p:pic>
        <p:nvPicPr>
          <p:cNvPr id="1328" name="Google Shape;1328;p77"/>
          <p:cNvPicPr preferRelativeResize="0"/>
          <p:nvPr/>
        </p:nvPicPr>
        <p:blipFill rotWithShape="1">
          <a:blip r:embed="rId3">
            <a:alphaModFix/>
          </a:blip>
          <a:srcRect b="0" l="72517" r="1253" t="11347"/>
          <a:stretch/>
        </p:blipFill>
        <p:spPr>
          <a:xfrm rot="-5400000">
            <a:off x="2160811" y="3524435"/>
            <a:ext cx="456878" cy="641705"/>
          </a:xfrm>
          <a:prstGeom prst="rect">
            <a:avLst/>
          </a:prstGeom>
          <a:noFill/>
          <a:ln>
            <a:noFill/>
          </a:ln>
        </p:spPr>
      </p:pic>
      <p:pic>
        <p:nvPicPr>
          <p:cNvPr id="1329" name="Google Shape;1329;p77"/>
          <p:cNvPicPr preferRelativeResize="0"/>
          <p:nvPr/>
        </p:nvPicPr>
        <p:blipFill rotWithShape="1">
          <a:blip r:embed="rId4">
            <a:alphaModFix/>
          </a:blip>
          <a:srcRect b="0" l="0" r="0" t="24789"/>
          <a:stretch/>
        </p:blipFill>
        <p:spPr>
          <a:xfrm rot="-5400000">
            <a:off x="2264213" y="3023813"/>
            <a:ext cx="250079" cy="541265"/>
          </a:xfrm>
          <a:prstGeom prst="rect">
            <a:avLst/>
          </a:prstGeom>
          <a:noFill/>
          <a:ln>
            <a:noFill/>
          </a:ln>
        </p:spPr>
      </p:pic>
      <p:pic>
        <p:nvPicPr>
          <p:cNvPr id="1330" name="Google Shape;1330;p77"/>
          <p:cNvPicPr preferRelativeResize="0"/>
          <p:nvPr/>
        </p:nvPicPr>
        <p:blipFill rotWithShape="1">
          <a:blip r:embed="rId3">
            <a:alphaModFix/>
          </a:blip>
          <a:srcRect b="0" l="72517" r="1253" t="11347"/>
          <a:stretch/>
        </p:blipFill>
        <p:spPr>
          <a:xfrm rot="-5400000">
            <a:off x="4534729" y="2245642"/>
            <a:ext cx="456878" cy="641705"/>
          </a:xfrm>
          <a:prstGeom prst="rect">
            <a:avLst/>
          </a:prstGeom>
          <a:noFill/>
          <a:ln>
            <a:noFill/>
          </a:ln>
        </p:spPr>
      </p:pic>
      <p:pic>
        <p:nvPicPr>
          <p:cNvPr id="1331" name="Google Shape;1331;p77"/>
          <p:cNvPicPr preferRelativeResize="0"/>
          <p:nvPr/>
        </p:nvPicPr>
        <p:blipFill rotWithShape="1">
          <a:blip r:embed="rId3">
            <a:alphaModFix/>
          </a:blip>
          <a:srcRect b="0" l="18128" r="63873" t="11347"/>
          <a:stretch/>
        </p:blipFill>
        <p:spPr>
          <a:xfrm rot="-5400000">
            <a:off x="2096049" y="4073086"/>
            <a:ext cx="313503" cy="641705"/>
          </a:xfrm>
          <a:prstGeom prst="rect">
            <a:avLst/>
          </a:prstGeom>
          <a:noFill/>
          <a:ln>
            <a:noFill/>
          </a:ln>
        </p:spPr>
      </p:pic>
      <p:pic>
        <p:nvPicPr>
          <p:cNvPr id="1332" name="Google Shape;1332;p77"/>
          <p:cNvPicPr preferRelativeResize="0"/>
          <p:nvPr/>
        </p:nvPicPr>
        <p:blipFill rotWithShape="1">
          <a:blip r:embed="rId3">
            <a:alphaModFix/>
          </a:blip>
          <a:srcRect b="0" l="18128" r="63873" t="11347"/>
          <a:stretch/>
        </p:blipFill>
        <p:spPr>
          <a:xfrm rot="-5400000">
            <a:off x="5529499" y="2296336"/>
            <a:ext cx="313503" cy="641705"/>
          </a:xfrm>
          <a:prstGeom prst="rect">
            <a:avLst/>
          </a:prstGeom>
          <a:noFill/>
          <a:ln>
            <a:noFill/>
          </a:ln>
        </p:spPr>
      </p:pic>
      <p:pic>
        <p:nvPicPr>
          <p:cNvPr id="1333" name="Google Shape;1333;p77"/>
          <p:cNvPicPr preferRelativeResize="0"/>
          <p:nvPr/>
        </p:nvPicPr>
        <p:blipFill rotWithShape="1">
          <a:blip r:embed="rId4">
            <a:alphaModFix/>
          </a:blip>
          <a:srcRect b="0" l="0" r="0" t="24789"/>
          <a:stretch/>
        </p:blipFill>
        <p:spPr>
          <a:xfrm rot="-5400000">
            <a:off x="3846838" y="2346575"/>
            <a:ext cx="250079" cy="541265"/>
          </a:xfrm>
          <a:prstGeom prst="rect">
            <a:avLst/>
          </a:prstGeom>
          <a:noFill/>
          <a:ln>
            <a:noFill/>
          </a:ln>
        </p:spPr>
      </p:pic>
      <p:sp>
        <p:nvSpPr>
          <p:cNvPr id="1334" name="Google Shape;1334;p77"/>
          <p:cNvSpPr txBox="1"/>
          <p:nvPr>
            <p:ph idx="1" type="body"/>
          </p:nvPr>
        </p:nvSpPr>
        <p:spPr>
          <a:xfrm>
            <a:off x="4300828" y="2032606"/>
            <a:ext cx="1115700" cy="5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Laura</a:t>
            </a:r>
            <a:endParaRPr sz="1800"/>
          </a:p>
        </p:txBody>
      </p:sp>
      <p:sp>
        <p:nvSpPr>
          <p:cNvPr id="1335" name="Google Shape;1335;p77"/>
          <p:cNvSpPr txBox="1"/>
          <p:nvPr>
            <p:ph idx="1" type="body"/>
          </p:nvPr>
        </p:nvSpPr>
        <p:spPr>
          <a:xfrm rot="-5400000">
            <a:off x="1502700" y="3510325"/>
            <a:ext cx="747900" cy="39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Izzy</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9" name="Shape 1339"/>
        <p:cNvGrpSpPr/>
        <p:nvPr/>
      </p:nvGrpSpPr>
      <p:grpSpPr>
        <a:xfrm>
          <a:off x="0" y="0"/>
          <a:ext cx="0" cy="0"/>
          <a:chOff x="0" y="0"/>
          <a:chExt cx="0" cy="0"/>
        </a:xfrm>
      </p:grpSpPr>
      <p:sp>
        <p:nvSpPr>
          <p:cNvPr id="1340" name="Google Shape;1340;p7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341" name="Google Shape;1341;p7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 This spinner is going to be spun twice as part of a two-stage trial. Complete the </a:t>
            </a:r>
            <a:r>
              <a:rPr b="1" lang="en-GB" sz="1800"/>
              <a:t>outcome table</a:t>
            </a:r>
            <a:r>
              <a:rPr lang="en-GB" sz="1800"/>
              <a:t> to show all the possible outcomes.</a:t>
            </a:r>
            <a:endParaRPr sz="1800"/>
          </a:p>
        </p:txBody>
      </p:sp>
      <p:sp>
        <p:nvSpPr>
          <p:cNvPr id="1342" name="Google Shape;1342;p78"/>
          <p:cNvSpPr txBox="1"/>
          <p:nvPr/>
        </p:nvSpPr>
        <p:spPr>
          <a:xfrm>
            <a:off x="5339100" y="19509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AA</a:t>
            </a:r>
            <a:endParaRPr sz="2000">
              <a:solidFill>
                <a:schemeClr val="dk1"/>
              </a:solidFill>
              <a:latin typeface="Kalam"/>
              <a:ea typeface="Kalam"/>
              <a:cs typeface="Kalam"/>
              <a:sym typeface="Kalam"/>
            </a:endParaRPr>
          </a:p>
        </p:txBody>
      </p:sp>
      <p:grpSp>
        <p:nvGrpSpPr>
          <p:cNvPr id="1343" name="Google Shape;1343;p78"/>
          <p:cNvGrpSpPr/>
          <p:nvPr/>
        </p:nvGrpSpPr>
        <p:grpSpPr>
          <a:xfrm>
            <a:off x="4469475" y="1485000"/>
            <a:ext cx="3000600" cy="1915250"/>
            <a:chOff x="3174075" y="2551800"/>
            <a:chExt cx="3000600" cy="1915250"/>
          </a:xfrm>
        </p:grpSpPr>
        <p:cxnSp>
          <p:nvCxnSpPr>
            <p:cNvPr id="1344" name="Google Shape;1344;p78"/>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345" name="Google Shape;1345;p78"/>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346" name="Google Shape;1346;p78"/>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347" name="Google Shape;1347;p78"/>
            <p:cNvCxnSpPr/>
            <p:nvPr/>
          </p:nvCxnSpPr>
          <p:spPr>
            <a:xfrm rot="10800000">
              <a:off x="3174075" y="28824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348" name="Google Shape;1348;p78"/>
            <p:cNvCxnSpPr/>
            <p:nvPr/>
          </p:nvCxnSpPr>
          <p:spPr>
            <a:xfrm rot="10800000">
              <a:off x="3174075" y="3415575"/>
              <a:ext cx="3000600" cy="0"/>
            </a:xfrm>
            <a:prstGeom prst="straightConnector1">
              <a:avLst/>
            </a:prstGeom>
            <a:noFill/>
            <a:ln cap="flat" cmpd="sng" w="38100">
              <a:solidFill>
                <a:schemeClr val="dk1"/>
              </a:solidFill>
              <a:prstDash val="solid"/>
              <a:round/>
              <a:headEnd len="med" w="med" type="none"/>
              <a:tailEnd len="med" w="med" type="none"/>
            </a:ln>
          </p:spPr>
        </p:cxnSp>
        <p:cxnSp>
          <p:nvCxnSpPr>
            <p:cNvPr id="1349" name="Google Shape;1349;p78"/>
            <p:cNvCxnSpPr/>
            <p:nvPr/>
          </p:nvCxnSpPr>
          <p:spPr>
            <a:xfrm rot="10800000">
              <a:off x="3174075" y="3941925"/>
              <a:ext cx="3000600" cy="0"/>
            </a:xfrm>
            <a:prstGeom prst="straightConnector1">
              <a:avLst/>
            </a:prstGeom>
            <a:noFill/>
            <a:ln cap="flat" cmpd="sng" w="38100">
              <a:solidFill>
                <a:schemeClr val="dk1"/>
              </a:solidFill>
              <a:prstDash val="solid"/>
              <a:round/>
              <a:headEnd len="med" w="med" type="none"/>
              <a:tailEnd len="med" w="med" type="none"/>
            </a:ln>
          </p:spPr>
        </p:cxnSp>
        <p:sp>
          <p:nvSpPr>
            <p:cNvPr id="1350" name="Google Shape;1350;p78"/>
            <p:cNvSpPr txBox="1"/>
            <p:nvPr/>
          </p:nvSpPr>
          <p:spPr>
            <a:xfrm>
              <a:off x="4104775" y="2574525"/>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351" name="Google Shape;1351;p78"/>
            <p:cNvSpPr txBox="1"/>
            <p:nvPr/>
          </p:nvSpPr>
          <p:spPr>
            <a:xfrm>
              <a:off x="49374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352" name="Google Shape;1352;p78"/>
            <p:cNvSpPr txBox="1"/>
            <p:nvPr/>
          </p:nvSpPr>
          <p:spPr>
            <a:xfrm>
              <a:off x="3402525" y="3010425"/>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353" name="Google Shape;1353;p78"/>
            <p:cNvSpPr txBox="1"/>
            <p:nvPr/>
          </p:nvSpPr>
          <p:spPr>
            <a:xfrm>
              <a:off x="3402525" y="3540150"/>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354" name="Google Shape;1354;p78"/>
            <p:cNvCxnSpPr/>
            <p:nvPr/>
          </p:nvCxnSpPr>
          <p:spPr>
            <a:xfrm>
              <a:off x="61589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355" name="Google Shape;1355;p78"/>
            <p:cNvCxnSpPr/>
            <p:nvPr/>
          </p:nvCxnSpPr>
          <p:spPr>
            <a:xfrm rot="10800000">
              <a:off x="3174075" y="4467050"/>
              <a:ext cx="3000600" cy="0"/>
            </a:xfrm>
            <a:prstGeom prst="straightConnector1">
              <a:avLst/>
            </a:prstGeom>
            <a:noFill/>
            <a:ln cap="flat" cmpd="sng" w="38100">
              <a:solidFill>
                <a:schemeClr val="dk1"/>
              </a:solidFill>
              <a:prstDash val="solid"/>
              <a:round/>
              <a:headEnd len="med" w="med" type="none"/>
              <a:tailEnd len="med" w="med" type="none"/>
            </a:ln>
          </p:spPr>
        </p:cxnSp>
        <p:sp>
          <p:nvSpPr>
            <p:cNvPr id="1356" name="Google Shape;1356;p78"/>
            <p:cNvSpPr txBox="1"/>
            <p:nvPr/>
          </p:nvSpPr>
          <p:spPr>
            <a:xfrm>
              <a:off x="3369950" y="4065900"/>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357" name="Google Shape;1357;p78"/>
            <p:cNvSpPr txBox="1"/>
            <p:nvPr/>
          </p:nvSpPr>
          <p:spPr>
            <a:xfrm>
              <a:off x="5743093" y="2551800"/>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grpSp>
      <p:sp>
        <p:nvSpPr>
          <p:cNvPr id="1358" name="Google Shape;1358;p78"/>
          <p:cNvSpPr txBox="1"/>
          <p:nvPr/>
        </p:nvSpPr>
        <p:spPr>
          <a:xfrm>
            <a:off x="5339100" y="2484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BA</a:t>
            </a:r>
            <a:endParaRPr sz="2000">
              <a:solidFill>
                <a:schemeClr val="dk1"/>
              </a:solidFill>
              <a:latin typeface="Kalam"/>
              <a:ea typeface="Kalam"/>
              <a:cs typeface="Kalam"/>
              <a:sym typeface="Kalam"/>
            </a:endParaRPr>
          </a:p>
        </p:txBody>
      </p:sp>
      <p:sp>
        <p:nvSpPr>
          <p:cNvPr id="1359" name="Google Shape;1359;p78"/>
          <p:cNvSpPr txBox="1"/>
          <p:nvPr/>
        </p:nvSpPr>
        <p:spPr>
          <a:xfrm>
            <a:off x="5339100" y="30177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CA</a:t>
            </a:r>
            <a:endParaRPr sz="2000">
              <a:solidFill>
                <a:schemeClr val="dk1"/>
              </a:solidFill>
              <a:latin typeface="Kalam"/>
              <a:ea typeface="Kalam"/>
              <a:cs typeface="Kalam"/>
              <a:sym typeface="Kalam"/>
            </a:endParaRPr>
          </a:p>
        </p:txBody>
      </p:sp>
      <p:sp>
        <p:nvSpPr>
          <p:cNvPr id="1360" name="Google Shape;1360;p78"/>
          <p:cNvSpPr txBox="1"/>
          <p:nvPr/>
        </p:nvSpPr>
        <p:spPr>
          <a:xfrm>
            <a:off x="6132160" y="19509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AB</a:t>
            </a:r>
            <a:endParaRPr sz="2000">
              <a:solidFill>
                <a:schemeClr val="dk1"/>
              </a:solidFill>
              <a:latin typeface="Kalam"/>
              <a:ea typeface="Kalam"/>
              <a:cs typeface="Kalam"/>
              <a:sym typeface="Kalam"/>
            </a:endParaRPr>
          </a:p>
        </p:txBody>
      </p:sp>
      <p:sp>
        <p:nvSpPr>
          <p:cNvPr id="1361" name="Google Shape;1361;p78"/>
          <p:cNvSpPr txBox="1"/>
          <p:nvPr/>
        </p:nvSpPr>
        <p:spPr>
          <a:xfrm>
            <a:off x="6132160" y="2484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BB</a:t>
            </a:r>
            <a:endParaRPr sz="2000">
              <a:solidFill>
                <a:schemeClr val="dk1"/>
              </a:solidFill>
              <a:latin typeface="Kalam"/>
              <a:ea typeface="Kalam"/>
              <a:cs typeface="Kalam"/>
              <a:sym typeface="Kalam"/>
            </a:endParaRPr>
          </a:p>
        </p:txBody>
      </p:sp>
      <p:sp>
        <p:nvSpPr>
          <p:cNvPr id="1362" name="Google Shape;1362;p78"/>
          <p:cNvSpPr txBox="1"/>
          <p:nvPr/>
        </p:nvSpPr>
        <p:spPr>
          <a:xfrm>
            <a:off x="6132160" y="30177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CB</a:t>
            </a:r>
            <a:endParaRPr sz="2000">
              <a:solidFill>
                <a:schemeClr val="dk1"/>
              </a:solidFill>
              <a:latin typeface="Kalam"/>
              <a:ea typeface="Kalam"/>
              <a:cs typeface="Kalam"/>
              <a:sym typeface="Kalam"/>
            </a:endParaRPr>
          </a:p>
        </p:txBody>
      </p:sp>
      <p:sp>
        <p:nvSpPr>
          <p:cNvPr id="1363" name="Google Shape;1363;p78"/>
          <p:cNvSpPr txBox="1"/>
          <p:nvPr/>
        </p:nvSpPr>
        <p:spPr>
          <a:xfrm>
            <a:off x="6949653" y="19509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AC</a:t>
            </a:r>
            <a:endParaRPr sz="2000">
              <a:solidFill>
                <a:schemeClr val="dk1"/>
              </a:solidFill>
              <a:latin typeface="Kalam"/>
              <a:ea typeface="Kalam"/>
              <a:cs typeface="Kalam"/>
              <a:sym typeface="Kalam"/>
            </a:endParaRPr>
          </a:p>
        </p:txBody>
      </p:sp>
      <p:sp>
        <p:nvSpPr>
          <p:cNvPr id="1364" name="Google Shape;1364;p78"/>
          <p:cNvSpPr txBox="1"/>
          <p:nvPr/>
        </p:nvSpPr>
        <p:spPr>
          <a:xfrm>
            <a:off x="6949653" y="2484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BC</a:t>
            </a:r>
            <a:endParaRPr sz="2000">
              <a:solidFill>
                <a:schemeClr val="dk1"/>
              </a:solidFill>
              <a:latin typeface="Kalam"/>
              <a:ea typeface="Kalam"/>
              <a:cs typeface="Kalam"/>
              <a:sym typeface="Kalam"/>
            </a:endParaRPr>
          </a:p>
        </p:txBody>
      </p:sp>
      <p:sp>
        <p:nvSpPr>
          <p:cNvPr id="1365" name="Google Shape;1365;p78"/>
          <p:cNvSpPr txBox="1"/>
          <p:nvPr/>
        </p:nvSpPr>
        <p:spPr>
          <a:xfrm>
            <a:off x="6949653" y="30177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CC</a:t>
            </a:r>
            <a:endParaRPr sz="2000">
              <a:solidFill>
                <a:schemeClr val="dk1"/>
              </a:solidFill>
              <a:latin typeface="Kalam"/>
              <a:ea typeface="Kalam"/>
              <a:cs typeface="Kalam"/>
              <a:sym typeface="Kalam"/>
            </a:endParaRPr>
          </a:p>
        </p:txBody>
      </p:sp>
      <p:grpSp>
        <p:nvGrpSpPr>
          <p:cNvPr id="1366" name="Google Shape;1366;p78"/>
          <p:cNvGrpSpPr/>
          <p:nvPr/>
        </p:nvGrpSpPr>
        <p:grpSpPr>
          <a:xfrm>
            <a:off x="1512710" y="1396229"/>
            <a:ext cx="1526700" cy="1526700"/>
            <a:chOff x="6389510" y="634229"/>
            <a:chExt cx="1526700" cy="1526700"/>
          </a:xfrm>
        </p:grpSpPr>
        <p:sp>
          <p:nvSpPr>
            <p:cNvPr id="1367" name="Google Shape;1367;p78"/>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8" name="Google Shape;1368;p78"/>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9" name="Google Shape;1369;p78"/>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0" name="Google Shape;1370;p78"/>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1" name="Google Shape;1371;p78"/>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sp>
          <p:nvSpPr>
            <p:cNvPr id="1372" name="Google Shape;1372;p78"/>
            <p:cNvSpPr txBox="1"/>
            <p:nvPr/>
          </p:nvSpPr>
          <p:spPr>
            <a:xfrm>
              <a:off x="69965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1373" name="Google Shape;1373;p78"/>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grpSp>
          <p:nvGrpSpPr>
            <p:cNvPr id="1374" name="Google Shape;1374;p78"/>
            <p:cNvGrpSpPr/>
            <p:nvPr/>
          </p:nvGrpSpPr>
          <p:grpSpPr>
            <a:xfrm>
              <a:off x="7120165" y="885993"/>
              <a:ext cx="62922" cy="547386"/>
              <a:chOff x="996050" y="213293"/>
              <a:chExt cx="93900" cy="909732"/>
            </a:xfrm>
          </p:grpSpPr>
          <p:cxnSp>
            <p:nvCxnSpPr>
              <p:cNvPr id="1375" name="Google Shape;1375;p78"/>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376" name="Google Shape;1376;p78"/>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0" name="Shape 1380"/>
        <p:cNvGrpSpPr/>
        <p:nvPr/>
      </p:nvGrpSpPr>
      <p:grpSpPr>
        <a:xfrm>
          <a:off x="0" y="0"/>
          <a:ext cx="0" cy="0"/>
          <a:chOff x="0" y="0"/>
          <a:chExt cx="0" cy="0"/>
        </a:xfrm>
      </p:grpSpPr>
      <p:sp>
        <p:nvSpPr>
          <p:cNvPr id="1381" name="Google Shape;1381;p7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382" name="Google Shape;1382;p7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Both spinners are going to be spun as part of a two-stage trial. Complete the </a:t>
            </a:r>
            <a:r>
              <a:rPr b="1" lang="en-GB" sz="1800"/>
              <a:t>outcome table</a:t>
            </a:r>
            <a:r>
              <a:rPr lang="en-GB" sz="1800"/>
              <a:t> to show all the possible outcomes.</a:t>
            </a:r>
            <a:endParaRPr sz="1800"/>
          </a:p>
        </p:txBody>
      </p:sp>
      <p:sp>
        <p:nvSpPr>
          <p:cNvPr id="1383" name="Google Shape;1383;p79"/>
          <p:cNvSpPr txBox="1"/>
          <p:nvPr/>
        </p:nvSpPr>
        <p:spPr>
          <a:xfrm>
            <a:off x="5339100" y="19509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A1</a:t>
            </a:r>
            <a:endParaRPr sz="2000">
              <a:solidFill>
                <a:schemeClr val="dk1"/>
              </a:solidFill>
              <a:latin typeface="Kalam"/>
              <a:ea typeface="Kalam"/>
              <a:cs typeface="Kalam"/>
              <a:sym typeface="Kalam"/>
            </a:endParaRPr>
          </a:p>
        </p:txBody>
      </p:sp>
      <p:sp>
        <p:nvSpPr>
          <p:cNvPr id="1384" name="Google Shape;1384;p79"/>
          <p:cNvSpPr txBox="1"/>
          <p:nvPr/>
        </p:nvSpPr>
        <p:spPr>
          <a:xfrm>
            <a:off x="5339100" y="2484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B1</a:t>
            </a:r>
            <a:endParaRPr sz="2000">
              <a:solidFill>
                <a:schemeClr val="dk1"/>
              </a:solidFill>
              <a:latin typeface="Kalam"/>
              <a:ea typeface="Kalam"/>
              <a:cs typeface="Kalam"/>
              <a:sym typeface="Kalam"/>
            </a:endParaRPr>
          </a:p>
        </p:txBody>
      </p:sp>
      <p:sp>
        <p:nvSpPr>
          <p:cNvPr id="1385" name="Google Shape;1385;p79"/>
          <p:cNvSpPr txBox="1"/>
          <p:nvPr/>
        </p:nvSpPr>
        <p:spPr>
          <a:xfrm>
            <a:off x="5339100" y="30177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C1</a:t>
            </a:r>
            <a:endParaRPr sz="2000">
              <a:solidFill>
                <a:schemeClr val="dk1"/>
              </a:solidFill>
              <a:latin typeface="Kalam"/>
              <a:ea typeface="Kalam"/>
              <a:cs typeface="Kalam"/>
              <a:sym typeface="Kalam"/>
            </a:endParaRPr>
          </a:p>
        </p:txBody>
      </p:sp>
      <p:sp>
        <p:nvSpPr>
          <p:cNvPr id="1386" name="Google Shape;1386;p79"/>
          <p:cNvSpPr txBox="1"/>
          <p:nvPr/>
        </p:nvSpPr>
        <p:spPr>
          <a:xfrm>
            <a:off x="6132160" y="19509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A2</a:t>
            </a:r>
            <a:endParaRPr sz="2000">
              <a:solidFill>
                <a:schemeClr val="dk1"/>
              </a:solidFill>
              <a:latin typeface="Kalam"/>
              <a:ea typeface="Kalam"/>
              <a:cs typeface="Kalam"/>
              <a:sym typeface="Kalam"/>
            </a:endParaRPr>
          </a:p>
        </p:txBody>
      </p:sp>
      <p:sp>
        <p:nvSpPr>
          <p:cNvPr id="1387" name="Google Shape;1387;p79"/>
          <p:cNvSpPr txBox="1"/>
          <p:nvPr/>
        </p:nvSpPr>
        <p:spPr>
          <a:xfrm>
            <a:off x="6132160" y="24843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B2</a:t>
            </a:r>
            <a:endParaRPr sz="2000">
              <a:solidFill>
                <a:schemeClr val="dk1"/>
              </a:solidFill>
              <a:latin typeface="Kalam"/>
              <a:ea typeface="Kalam"/>
              <a:cs typeface="Kalam"/>
              <a:sym typeface="Kalam"/>
            </a:endParaRPr>
          </a:p>
        </p:txBody>
      </p:sp>
      <p:sp>
        <p:nvSpPr>
          <p:cNvPr id="1388" name="Google Shape;1388;p79"/>
          <p:cNvSpPr txBox="1"/>
          <p:nvPr/>
        </p:nvSpPr>
        <p:spPr>
          <a:xfrm>
            <a:off x="6132160" y="3017775"/>
            <a:ext cx="445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C2</a:t>
            </a:r>
            <a:endParaRPr sz="2000">
              <a:solidFill>
                <a:schemeClr val="dk1"/>
              </a:solidFill>
              <a:latin typeface="Kalam"/>
              <a:ea typeface="Kalam"/>
              <a:cs typeface="Kalam"/>
              <a:sym typeface="Kalam"/>
            </a:endParaRPr>
          </a:p>
        </p:txBody>
      </p:sp>
      <p:grpSp>
        <p:nvGrpSpPr>
          <p:cNvPr id="1389" name="Google Shape;1389;p79"/>
          <p:cNvGrpSpPr/>
          <p:nvPr/>
        </p:nvGrpSpPr>
        <p:grpSpPr>
          <a:xfrm>
            <a:off x="750710" y="1472429"/>
            <a:ext cx="1526700" cy="1526700"/>
            <a:chOff x="6389510" y="634229"/>
            <a:chExt cx="1526700" cy="1526700"/>
          </a:xfrm>
        </p:grpSpPr>
        <p:sp>
          <p:nvSpPr>
            <p:cNvPr id="1390" name="Google Shape;1390;p79"/>
            <p:cNvSpPr/>
            <p:nvPr/>
          </p:nvSpPr>
          <p:spPr>
            <a:xfrm>
              <a:off x="6584544" y="829206"/>
              <a:ext cx="1136400" cy="11364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1" name="Google Shape;1391;p79"/>
            <p:cNvSpPr/>
            <p:nvPr/>
          </p:nvSpPr>
          <p:spPr>
            <a:xfrm rot="7199698">
              <a:off x="6594354" y="839138"/>
              <a:ext cx="1116770" cy="1116770"/>
            </a:xfrm>
            <a:prstGeom prst="pie">
              <a:avLst>
                <a:gd fmla="val 9034165"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2" name="Google Shape;1392;p79"/>
            <p:cNvSpPr/>
            <p:nvPr/>
          </p:nvSpPr>
          <p:spPr>
            <a:xfrm rot="-7211730">
              <a:off x="6594556" y="839275"/>
              <a:ext cx="1116608" cy="1116608"/>
            </a:xfrm>
            <a:prstGeom prst="pie">
              <a:avLst>
                <a:gd fmla="val 9034165"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3" name="Google Shape;1393;p79"/>
            <p:cNvSpPr/>
            <p:nvPr/>
          </p:nvSpPr>
          <p:spPr>
            <a:xfrm>
              <a:off x="6594512" y="839216"/>
              <a:ext cx="1116600" cy="1116600"/>
            </a:xfrm>
            <a:prstGeom prst="pie">
              <a:avLst>
                <a:gd fmla="val 9034165"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94" name="Google Shape;1394;p79"/>
            <p:cNvSpPr txBox="1"/>
            <p:nvPr/>
          </p:nvSpPr>
          <p:spPr>
            <a:xfrm>
              <a:off x="72769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C</a:t>
              </a:r>
              <a:endParaRPr sz="1600">
                <a:solidFill>
                  <a:srgbClr val="FFFFFF"/>
                </a:solidFill>
                <a:latin typeface="Lexend"/>
                <a:ea typeface="Lexend"/>
                <a:cs typeface="Lexend"/>
                <a:sym typeface="Lexend"/>
              </a:endParaRPr>
            </a:p>
          </p:txBody>
        </p:sp>
        <p:sp>
          <p:nvSpPr>
            <p:cNvPr id="1395" name="Google Shape;1395;p79"/>
            <p:cNvSpPr txBox="1"/>
            <p:nvPr/>
          </p:nvSpPr>
          <p:spPr>
            <a:xfrm>
              <a:off x="6996514" y="151153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B</a:t>
              </a:r>
              <a:endParaRPr sz="1600">
                <a:solidFill>
                  <a:srgbClr val="FFFFFF"/>
                </a:solidFill>
                <a:latin typeface="Lexend"/>
                <a:ea typeface="Lexend"/>
                <a:cs typeface="Lexend"/>
                <a:sym typeface="Lexend"/>
              </a:endParaRPr>
            </a:p>
          </p:txBody>
        </p:sp>
        <p:sp>
          <p:nvSpPr>
            <p:cNvPr id="1396" name="Google Shape;1396;p79"/>
            <p:cNvSpPr txBox="1"/>
            <p:nvPr/>
          </p:nvSpPr>
          <p:spPr>
            <a:xfrm>
              <a:off x="6766354" y="1103056"/>
              <a:ext cx="422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A</a:t>
              </a:r>
              <a:endParaRPr sz="1600">
                <a:solidFill>
                  <a:srgbClr val="FFFFFF"/>
                </a:solidFill>
                <a:latin typeface="Lexend"/>
                <a:ea typeface="Lexend"/>
                <a:cs typeface="Lexend"/>
                <a:sym typeface="Lexend"/>
              </a:endParaRPr>
            </a:p>
          </p:txBody>
        </p:sp>
        <p:grpSp>
          <p:nvGrpSpPr>
            <p:cNvPr id="1397" name="Google Shape;1397;p79"/>
            <p:cNvGrpSpPr/>
            <p:nvPr/>
          </p:nvGrpSpPr>
          <p:grpSpPr>
            <a:xfrm>
              <a:off x="7120165" y="885993"/>
              <a:ext cx="62922" cy="547386"/>
              <a:chOff x="996050" y="213293"/>
              <a:chExt cx="93900" cy="909732"/>
            </a:xfrm>
          </p:grpSpPr>
          <p:cxnSp>
            <p:nvCxnSpPr>
              <p:cNvPr id="1398" name="Google Shape;1398;p79"/>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399" name="Google Shape;1399;p79"/>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400" name="Google Shape;1400;p79"/>
          <p:cNvSpPr/>
          <p:nvPr/>
        </p:nvSpPr>
        <p:spPr>
          <a:xfrm>
            <a:off x="2302950" y="2054025"/>
            <a:ext cx="1168500" cy="1168500"/>
          </a:xfrm>
          <a:prstGeom prst="ellipse">
            <a:avLst/>
          </a:prstGeom>
          <a:noFill/>
          <a:ln cap="flat" cmpd="sng" w="381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1" name="Google Shape;1401;p79"/>
          <p:cNvSpPr/>
          <p:nvPr/>
        </p:nvSpPr>
        <p:spPr>
          <a:xfrm flipH="1">
            <a:off x="2313007" y="2064196"/>
            <a:ext cx="1148400" cy="1148400"/>
          </a:xfrm>
          <a:prstGeom prst="pie">
            <a:avLst>
              <a:gd fmla="val 5387953"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2" name="Google Shape;1402;p79"/>
          <p:cNvSpPr/>
          <p:nvPr/>
        </p:nvSpPr>
        <p:spPr>
          <a:xfrm>
            <a:off x="2313121" y="2064196"/>
            <a:ext cx="1148400" cy="1148400"/>
          </a:xfrm>
          <a:prstGeom prst="pie">
            <a:avLst>
              <a:gd fmla="val 5387953" name="adj1"/>
              <a:gd fmla="val 16200000"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03" name="Google Shape;1403;p79"/>
          <p:cNvSpPr txBox="1"/>
          <p:nvPr/>
        </p:nvSpPr>
        <p:spPr>
          <a:xfrm>
            <a:off x="2421344" y="2390186"/>
            <a:ext cx="393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404" name="Google Shape;1404;p79"/>
          <p:cNvSpPr txBox="1"/>
          <p:nvPr/>
        </p:nvSpPr>
        <p:spPr>
          <a:xfrm>
            <a:off x="2977390" y="2390186"/>
            <a:ext cx="43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grpSp>
        <p:nvGrpSpPr>
          <p:cNvPr id="1405" name="Google Shape;1405;p79"/>
          <p:cNvGrpSpPr/>
          <p:nvPr/>
        </p:nvGrpSpPr>
        <p:grpSpPr>
          <a:xfrm>
            <a:off x="2853760" y="2117817"/>
            <a:ext cx="64706" cy="562942"/>
            <a:chOff x="996050" y="213293"/>
            <a:chExt cx="93900" cy="909732"/>
          </a:xfrm>
        </p:grpSpPr>
        <p:cxnSp>
          <p:nvCxnSpPr>
            <p:cNvPr id="1406" name="Google Shape;1406;p79"/>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407" name="Google Shape;1407;p79"/>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408" name="Google Shape;1408;p79"/>
          <p:cNvGrpSpPr/>
          <p:nvPr/>
        </p:nvGrpSpPr>
        <p:grpSpPr>
          <a:xfrm>
            <a:off x="4469525" y="1507725"/>
            <a:ext cx="2248209" cy="1892525"/>
            <a:chOff x="3174125" y="2574525"/>
            <a:chExt cx="2248209" cy="1892525"/>
          </a:xfrm>
        </p:grpSpPr>
        <p:cxnSp>
          <p:nvCxnSpPr>
            <p:cNvPr id="1409" name="Google Shape;1409;p79"/>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410" name="Google Shape;1410;p79"/>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411" name="Google Shape;1411;p79"/>
            <p:cNvCxnSpPr/>
            <p:nvPr/>
          </p:nvCxnSpPr>
          <p:spPr>
            <a:xfrm rot="10800000">
              <a:off x="3174125" y="2882475"/>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412" name="Google Shape;1412;p79"/>
            <p:cNvCxnSpPr/>
            <p:nvPr/>
          </p:nvCxnSpPr>
          <p:spPr>
            <a:xfrm rot="10800000">
              <a:off x="3174125" y="3415575"/>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413" name="Google Shape;1413;p79"/>
            <p:cNvCxnSpPr/>
            <p:nvPr/>
          </p:nvCxnSpPr>
          <p:spPr>
            <a:xfrm rot="10800000">
              <a:off x="3174125" y="3941925"/>
              <a:ext cx="2248200" cy="0"/>
            </a:xfrm>
            <a:prstGeom prst="straightConnector1">
              <a:avLst/>
            </a:prstGeom>
            <a:noFill/>
            <a:ln cap="flat" cmpd="sng" w="38100">
              <a:solidFill>
                <a:schemeClr val="dk1"/>
              </a:solidFill>
              <a:prstDash val="solid"/>
              <a:round/>
              <a:headEnd len="med" w="med" type="none"/>
              <a:tailEnd len="med" w="med" type="none"/>
            </a:ln>
          </p:spPr>
        </p:cxnSp>
        <p:sp>
          <p:nvSpPr>
            <p:cNvPr id="1414" name="Google Shape;1414;p79"/>
            <p:cNvSpPr txBox="1"/>
            <p:nvPr/>
          </p:nvSpPr>
          <p:spPr>
            <a:xfrm>
              <a:off x="4104775" y="2574525"/>
              <a:ext cx="230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415" name="Google Shape;1415;p79"/>
            <p:cNvSpPr txBox="1"/>
            <p:nvPr/>
          </p:nvSpPr>
          <p:spPr>
            <a:xfrm>
              <a:off x="4937438" y="2574525"/>
              <a:ext cx="445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416" name="Google Shape;1416;p79"/>
            <p:cNvSpPr txBox="1"/>
            <p:nvPr/>
          </p:nvSpPr>
          <p:spPr>
            <a:xfrm>
              <a:off x="3402525" y="3010425"/>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417" name="Google Shape;1417;p79"/>
            <p:cNvSpPr txBox="1"/>
            <p:nvPr/>
          </p:nvSpPr>
          <p:spPr>
            <a:xfrm>
              <a:off x="3402525" y="3540150"/>
              <a:ext cx="138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418" name="Google Shape;1418;p79"/>
            <p:cNvSpPr txBox="1"/>
            <p:nvPr/>
          </p:nvSpPr>
          <p:spPr>
            <a:xfrm>
              <a:off x="3369950" y="4065900"/>
              <a:ext cx="232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cxnSp>
          <p:nvCxnSpPr>
            <p:cNvPr id="1419" name="Google Shape;1419;p79"/>
            <p:cNvCxnSpPr/>
            <p:nvPr/>
          </p:nvCxnSpPr>
          <p:spPr>
            <a:xfrm rot="10800000">
              <a:off x="3174125" y="4467050"/>
              <a:ext cx="2248200" cy="0"/>
            </a:xfrm>
            <a:prstGeom prst="straightConnector1">
              <a:avLst/>
            </a:prstGeom>
            <a:noFill/>
            <a:ln cap="flat" cmpd="sng" w="38100">
              <a:solidFill>
                <a:schemeClr val="dk1"/>
              </a:solidFill>
              <a:prstDash val="solid"/>
              <a:round/>
              <a:headEnd len="med" w="med" type="none"/>
              <a:tailEnd len="med" w="med" type="none"/>
            </a:ln>
          </p:spPr>
        </p:cxnSp>
        <p:cxnSp>
          <p:nvCxnSpPr>
            <p:cNvPr id="1420" name="Google Shape;1420;p79"/>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8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426" name="Google Shape;1426;p8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3) Laura and Izzy are playing a game of ‘rock, paper, scissors’, where rock beats scissors, scissors beats paper and paper beats rock.</a:t>
            </a:r>
            <a:endParaRPr sz="1800"/>
          </a:p>
          <a:p>
            <a:pPr indent="0" lvl="0" marL="0" rtl="0" algn="l">
              <a:spcBef>
                <a:spcPts val="1000"/>
              </a:spcBef>
              <a:spcAft>
                <a:spcPts val="1000"/>
              </a:spcAft>
              <a:buNone/>
            </a:pPr>
            <a:r>
              <a:rPr lang="en-GB" sz="1800"/>
              <a:t>Complete the </a:t>
            </a:r>
            <a:r>
              <a:rPr b="1" lang="en-GB" sz="1800"/>
              <a:t>outcome table</a:t>
            </a:r>
            <a:r>
              <a:rPr lang="en-GB" sz="1800"/>
              <a:t> to show when each person wins.</a:t>
            </a:r>
            <a:endParaRPr sz="1800"/>
          </a:p>
        </p:txBody>
      </p:sp>
      <p:sp>
        <p:nvSpPr>
          <p:cNvPr id="1427" name="Google Shape;1427;p80"/>
          <p:cNvSpPr txBox="1"/>
          <p:nvPr/>
        </p:nvSpPr>
        <p:spPr>
          <a:xfrm>
            <a:off x="2421344" y="2771186"/>
            <a:ext cx="393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428" name="Google Shape;1428;p80"/>
          <p:cNvSpPr txBox="1"/>
          <p:nvPr/>
        </p:nvSpPr>
        <p:spPr>
          <a:xfrm>
            <a:off x="2977390" y="2771186"/>
            <a:ext cx="4341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429" name="Google Shape;1429;p80"/>
          <p:cNvSpPr txBox="1"/>
          <p:nvPr/>
        </p:nvSpPr>
        <p:spPr>
          <a:xfrm>
            <a:off x="3592590" y="3093975"/>
            <a:ext cx="784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no one</a:t>
            </a:r>
            <a:endParaRPr sz="2000">
              <a:solidFill>
                <a:schemeClr val="dk1"/>
              </a:solidFill>
              <a:latin typeface="Kalam"/>
              <a:ea typeface="Kalam"/>
              <a:cs typeface="Kalam"/>
              <a:sym typeface="Kalam"/>
            </a:endParaRPr>
          </a:p>
        </p:txBody>
      </p:sp>
      <p:grpSp>
        <p:nvGrpSpPr>
          <p:cNvPr id="1430" name="Google Shape;1430;p80"/>
          <p:cNvGrpSpPr/>
          <p:nvPr/>
        </p:nvGrpSpPr>
        <p:grpSpPr>
          <a:xfrm>
            <a:off x="2573656" y="2630122"/>
            <a:ext cx="4031084" cy="1964697"/>
            <a:chOff x="2802250" y="2553818"/>
            <a:chExt cx="4031084" cy="1913232"/>
          </a:xfrm>
        </p:grpSpPr>
        <p:cxnSp>
          <p:nvCxnSpPr>
            <p:cNvPr id="1431" name="Google Shape;1431;p80"/>
            <p:cNvCxnSpPr/>
            <p:nvPr/>
          </p:nvCxnSpPr>
          <p:spPr>
            <a:xfrm>
              <a:off x="3757000" y="2574525"/>
              <a:ext cx="0" cy="1884300"/>
            </a:xfrm>
            <a:prstGeom prst="straightConnector1">
              <a:avLst/>
            </a:prstGeom>
            <a:noFill/>
            <a:ln cap="flat" cmpd="sng" w="38100">
              <a:solidFill>
                <a:schemeClr val="dk1"/>
              </a:solidFill>
              <a:prstDash val="solid"/>
              <a:round/>
              <a:headEnd len="med" w="med" type="none"/>
              <a:tailEnd len="med" w="med" type="none"/>
            </a:ln>
          </p:spPr>
        </p:cxnSp>
        <p:cxnSp>
          <p:nvCxnSpPr>
            <p:cNvPr id="1432" name="Google Shape;1432;p80"/>
            <p:cNvCxnSpPr/>
            <p:nvPr/>
          </p:nvCxnSpPr>
          <p:spPr>
            <a:xfrm>
              <a:off x="459355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433" name="Google Shape;1433;p80"/>
            <p:cNvCxnSpPr/>
            <p:nvPr/>
          </p:nvCxnSpPr>
          <p:spPr>
            <a:xfrm>
              <a:off x="5422334" y="2574525"/>
              <a:ext cx="0" cy="1875900"/>
            </a:xfrm>
            <a:prstGeom prst="straightConnector1">
              <a:avLst/>
            </a:prstGeom>
            <a:noFill/>
            <a:ln cap="flat" cmpd="sng" w="38100">
              <a:solidFill>
                <a:schemeClr val="dk1"/>
              </a:solidFill>
              <a:prstDash val="solid"/>
              <a:round/>
              <a:headEnd len="med" w="med" type="none"/>
              <a:tailEnd len="med" w="med" type="none"/>
            </a:ln>
          </p:spPr>
        </p:cxnSp>
        <p:cxnSp>
          <p:nvCxnSpPr>
            <p:cNvPr id="1434" name="Google Shape;1434;p80"/>
            <p:cNvCxnSpPr/>
            <p:nvPr/>
          </p:nvCxnSpPr>
          <p:spPr>
            <a:xfrm rot="10800000">
              <a:off x="2802250" y="2882475"/>
              <a:ext cx="3661500" cy="0"/>
            </a:xfrm>
            <a:prstGeom prst="straightConnector1">
              <a:avLst/>
            </a:prstGeom>
            <a:noFill/>
            <a:ln cap="flat" cmpd="sng" w="38100">
              <a:solidFill>
                <a:schemeClr val="dk1"/>
              </a:solidFill>
              <a:prstDash val="solid"/>
              <a:round/>
              <a:headEnd len="med" w="med" type="none"/>
              <a:tailEnd len="med" w="med" type="none"/>
            </a:ln>
          </p:spPr>
        </p:cxnSp>
        <p:cxnSp>
          <p:nvCxnSpPr>
            <p:cNvPr id="1435" name="Google Shape;1435;p80"/>
            <p:cNvCxnSpPr/>
            <p:nvPr/>
          </p:nvCxnSpPr>
          <p:spPr>
            <a:xfrm rot="10800000">
              <a:off x="2802250" y="3415575"/>
              <a:ext cx="3661500" cy="0"/>
            </a:xfrm>
            <a:prstGeom prst="straightConnector1">
              <a:avLst/>
            </a:prstGeom>
            <a:noFill/>
            <a:ln cap="flat" cmpd="sng" w="38100">
              <a:solidFill>
                <a:schemeClr val="dk1"/>
              </a:solidFill>
              <a:prstDash val="solid"/>
              <a:round/>
              <a:headEnd len="med" w="med" type="none"/>
              <a:tailEnd len="med" w="med" type="none"/>
            </a:ln>
          </p:spPr>
        </p:cxnSp>
        <p:cxnSp>
          <p:nvCxnSpPr>
            <p:cNvPr id="1436" name="Google Shape;1436;p80"/>
            <p:cNvCxnSpPr/>
            <p:nvPr/>
          </p:nvCxnSpPr>
          <p:spPr>
            <a:xfrm rot="10800000">
              <a:off x="2802250" y="3941925"/>
              <a:ext cx="3661500" cy="0"/>
            </a:xfrm>
            <a:prstGeom prst="straightConnector1">
              <a:avLst/>
            </a:prstGeom>
            <a:noFill/>
            <a:ln cap="flat" cmpd="sng" w="38100">
              <a:solidFill>
                <a:schemeClr val="dk1"/>
              </a:solidFill>
              <a:prstDash val="solid"/>
              <a:round/>
              <a:headEnd len="med" w="med" type="none"/>
              <a:tailEnd len="med" w="med" type="none"/>
            </a:ln>
          </p:spPr>
        </p:cxnSp>
        <p:sp>
          <p:nvSpPr>
            <p:cNvPr id="1437" name="Google Shape;1437;p80"/>
            <p:cNvSpPr txBox="1"/>
            <p:nvPr/>
          </p:nvSpPr>
          <p:spPr>
            <a:xfrm>
              <a:off x="3944038" y="2553818"/>
              <a:ext cx="5781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rock</a:t>
              </a:r>
              <a:endParaRPr sz="1800">
                <a:solidFill>
                  <a:schemeClr val="dk1"/>
                </a:solidFill>
                <a:latin typeface="Lexend"/>
                <a:ea typeface="Lexend"/>
                <a:cs typeface="Lexend"/>
                <a:sym typeface="Lexend"/>
              </a:endParaRPr>
            </a:p>
          </p:txBody>
        </p:sp>
        <p:sp>
          <p:nvSpPr>
            <p:cNvPr id="1438" name="Google Shape;1438;p80"/>
            <p:cNvSpPr txBox="1"/>
            <p:nvPr/>
          </p:nvSpPr>
          <p:spPr>
            <a:xfrm>
              <a:off x="4688143" y="2553818"/>
              <a:ext cx="7167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paper</a:t>
              </a:r>
              <a:endParaRPr sz="1800">
                <a:solidFill>
                  <a:schemeClr val="dk1"/>
                </a:solidFill>
                <a:latin typeface="Lexend"/>
                <a:ea typeface="Lexend"/>
                <a:cs typeface="Lexend"/>
                <a:sym typeface="Lexend"/>
              </a:endParaRPr>
            </a:p>
          </p:txBody>
        </p:sp>
        <p:sp>
          <p:nvSpPr>
            <p:cNvPr id="1439" name="Google Shape;1439;p80"/>
            <p:cNvSpPr txBox="1"/>
            <p:nvPr/>
          </p:nvSpPr>
          <p:spPr>
            <a:xfrm>
              <a:off x="3185450" y="3010425"/>
              <a:ext cx="4932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rock</a:t>
              </a:r>
              <a:endParaRPr sz="1800">
                <a:solidFill>
                  <a:schemeClr val="dk1"/>
                </a:solidFill>
                <a:latin typeface="Lexend"/>
                <a:ea typeface="Lexend"/>
                <a:cs typeface="Lexend"/>
                <a:sym typeface="Lexend"/>
              </a:endParaRPr>
            </a:p>
          </p:txBody>
        </p:sp>
        <p:sp>
          <p:nvSpPr>
            <p:cNvPr id="1440" name="Google Shape;1440;p80"/>
            <p:cNvSpPr txBox="1"/>
            <p:nvPr/>
          </p:nvSpPr>
          <p:spPr>
            <a:xfrm>
              <a:off x="2961950" y="3540150"/>
              <a:ext cx="7167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paper</a:t>
              </a:r>
              <a:endParaRPr sz="1800">
                <a:solidFill>
                  <a:schemeClr val="dk1"/>
                </a:solidFill>
                <a:latin typeface="Lexend"/>
                <a:ea typeface="Lexend"/>
                <a:cs typeface="Lexend"/>
                <a:sym typeface="Lexend"/>
              </a:endParaRPr>
            </a:p>
          </p:txBody>
        </p:sp>
        <p:cxnSp>
          <p:nvCxnSpPr>
            <p:cNvPr id="1441" name="Google Shape;1441;p80"/>
            <p:cNvCxnSpPr/>
            <p:nvPr/>
          </p:nvCxnSpPr>
          <p:spPr>
            <a:xfrm>
              <a:off x="6463750" y="2574525"/>
              <a:ext cx="0" cy="1892400"/>
            </a:xfrm>
            <a:prstGeom prst="straightConnector1">
              <a:avLst/>
            </a:prstGeom>
            <a:noFill/>
            <a:ln cap="flat" cmpd="sng" w="38100">
              <a:solidFill>
                <a:schemeClr val="dk1"/>
              </a:solidFill>
              <a:prstDash val="solid"/>
              <a:round/>
              <a:headEnd len="med" w="med" type="none"/>
              <a:tailEnd len="med" w="med" type="none"/>
            </a:ln>
          </p:spPr>
        </p:cxnSp>
        <p:cxnSp>
          <p:nvCxnSpPr>
            <p:cNvPr id="1442" name="Google Shape;1442;p80"/>
            <p:cNvCxnSpPr/>
            <p:nvPr/>
          </p:nvCxnSpPr>
          <p:spPr>
            <a:xfrm rot="10800000">
              <a:off x="2802250" y="4467050"/>
              <a:ext cx="3661500" cy="0"/>
            </a:xfrm>
            <a:prstGeom prst="straightConnector1">
              <a:avLst/>
            </a:prstGeom>
            <a:noFill/>
            <a:ln cap="flat" cmpd="sng" w="38100">
              <a:solidFill>
                <a:schemeClr val="dk1"/>
              </a:solidFill>
              <a:prstDash val="solid"/>
              <a:round/>
              <a:headEnd len="med" w="med" type="none"/>
              <a:tailEnd len="med" w="med" type="none"/>
            </a:ln>
          </p:spPr>
        </p:cxnSp>
        <p:sp>
          <p:nvSpPr>
            <p:cNvPr id="1443" name="Google Shape;1443;p80"/>
            <p:cNvSpPr txBox="1"/>
            <p:nvPr/>
          </p:nvSpPr>
          <p:spPr>
            <a:xfrm>
              <a:off x="2802350" y="4065900"/>
              <a:ext cx="8721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scissors</a:t>
              </a:r>
              <a:endParaRPr sz="1800">
                <a:solidFill>
                  <a:schemeClr val="dk1"/>
                </a:solidFill>
                <a:latin typeface="Lexend"/>
                <a:ea typeface="Lexend"/>
                <a:cs typeface="Lexend"/>
                <a:sym typeface="Lexend"/>
              </a:endParaRPr>
            </a:p>
          </p:txBody>
        </p:sp>
        <p:sp>
          <p:nvSpPr>
            <p:cNvPr id="1444" name="Google Shape;1444;p80"/>
            <p:cNvSpPr txBox="1"/>
            <p:nvPr/>
          </p:nvSpPr>
          <p:spPr>
            <a:xfrm>
              <a:off x="5514534" y="2553818"/>
              <a:ext cx="1318800" cy="26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scissors</a:t>
              </a:r>
              <a:endParaRPr sz="1800">
                <a:solidFill>
                  <a:schemeClr val="dk1"/>
                </a:solidFill>
                <a:latin typeface="Lexend"/>
                <a:ea typeface="Lexend"/>
                <a:cs typeface="Lexend"/>
                <a:sym typeface="Lexend"/>
              </a:endParaRPr>
            </a:p>
          </p:txBody>
        </p:sp>
      </p:grpSp>
      <p:sp>
        <p:nvSpPr>
          <p:cNvPr id="1445" name="Google Shape;1445;p80"/>
          <p:cNvSpPr txBox="1"/>
          <p:nvPr/>
        </p:nvSpPr>
        <p:spPr>
          <a:xfrm>
            <a:off x="4476451" y="3086912"/>
            <a:ext cx="692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Laura </a:t>
            </a:r>
            <a:endParaRPr sz="2000">
              <a:solidFill>
                <a:schemeClr val="dk1"/>
              </a:solidFill>
              <a:latin typeface="Kalam"/>
              <a:ea typeface="Kalam"/>
              <a:cs typeface="Kalam"/>
              <a:sym typeface="Kalam"/>
            </a:endParaRPr>
          </a:p>
        </p:txBody>
      </p:sp>
      <p:sp>
        <p:nvSpPr>
          <p:cNvPr id="1446" name="Google Shape;1446;p80"/>
          <p:cNvSpPr txBox="1"/>
          <p:nvPr/>
        </p:nvSpPr>
        <p:spPr>
          <a:xfrm>
            <a:off x="5425650" y="3062478"/>
            <a:ext cx="50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Izzy </a:t>
            </a:r>
            <a:endParaRPr sz="2000">
              <a:solidFill>
                <a:schemeClr val="dk1"/>
              </a:solidFill>
              <a:latin typeface="Kalam"/>
              <a:ea typeface="Kalam"/>
              <a:cs typeface="Kalam"/>
              <a:sym typeface="Kalam"/>
            </a:endParaRPr>
          </a:p>
        </p:txBody>
      </p:sp>
      <p:sp>
        <p:nvSpPr>
          <p:cNvPr id="1447" name="Google Shape;1447;p80"/>
          <p:cNvSpPr txBox="1"/>
          <p:nvPr/>
        </p:nvSpPr>
        <p:spPr>
          <a:xfrm>
            <a:off x="4430390" y="3621000"/>
            <a:ext cx="784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no one</a:t>
            </a:r>
            <a:endParaRPr sz="2000">
              <a:solidFill>
                <a:schemeClr val="dk1"/>
              </a:solidFill>
              <a:latin typeface="Kalam"/>
              <a:ea typeface="Kalam"/>
              <a:cs typeface="Kalam"/>
              <a:sym typeface="Kalam"/>
            </a:endParaRPr>
          </a:p>
        </p:txBody>
      </p:sp>
      <p:sp>
        <p:nvSpPr>
          <p:cNvPr id="1448" name="Google Shape;1448;p80"/>
          <p:cNvSpPr txBox="1"/>
          <p:nvPr/>
        </p:nvSpPr>
        <p:spPr>
          <a:xfrm>
            <a:off x="5338590" y="4132950"/>
            <a:ext cx="784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no one</a:t>
            </a:r>
            <a:endParaRPr sz="2000">
              <a:solidFill>
                <a:schemeClr val="dk1"/>
              </a:solidFill>
              <a:latin typeface="Kalam"/>
              <a:ea typeface="Kalam"/>
              <a:cs typeface="Kalam"/>
              <a:sym typeface="Kalam"/>
            </a:endParaRPr>
          </a:p>
        </p:txBody>
      </p:sp>
      <p:sp>
        <p:nvSpPr>
          <p:cNvPr id="1449" name="Google Shape;1449;p80"/>
          <p:cNvSpPr txBox="1"/>
          <p:nvPr/>
        </p:nvSpPr>
        <p:spPr>
          <a:xfrm>
            <a:off x="3669550" y="3625169"/>
            <a:ext cx="50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Izzy </a:t>
            </a:r>
            <a:endParaRPr sz="2000">
              <a:solidFill>
                <a:schemeClr val="dk1"/>
              </a:solidFill>
              <a:latin typeface="Kalam"/>
              <a:ea typeface="Kalam"/>
              <a:cs typeface="Kalam"/>
              <a:sym typeface="Kalam"/>
            </a:endParaRPr>
          </a:p>
        </p:txBody>
      </p:sp>
      <p:sp>
        <p:nvSpPr>
          <p:cNvPr id="1450" name="Google Shape;1450;p80"/>
          <p:cNvSpPr txBox="1"/>
          <p:nvPr/>
        </p:nvSpPr>
        <p:spPr>
          <a:xfrm>
            <a:off x="4569450" y="4137119"/>
            <a:ext cx="50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Izzy </a:t>
            </a:r>
            <a:endParaRPr sz="2000">
              <a:solidFill>
                <a:schemeClr val="dk1"/>
              </a:solidFill>
              <a:latin typeface="Kalam"/>
              <a:ea typeface="Kalam"/>
              <a:cs typeface="Kalam"/>
              <a:sym typeface="Kalam"/>
            </a:endParaRPr>
          </a:p>
        </p:txBody>
      </p:sp>
      <p:sp>
        <p:nvSpPr>
          <p:cNvPr id="1451" name="Google Shape;1451;p80"/>
          <p:cNvSpPr txBox="1"/>
          <p:nvPr/>
        </p:nvSpPr>
        <p:spPr>
          <a:xfrm>
            <a:off x="5395004" y="3614800"/>
            <a:ext cx="692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Laura </a:t>
            </a:r>
            <a:endParaRPr sz="2000">
              <a:solidFill>
                <a:schemeClr val="dk1"/>
              </a:solidFill>
              <a:latin typeface="Kalam"/>
              <a:ea typeface="Kalam"/>
              <a:cs typeface="Kalam"/>
              <a:sym typeface="Kalam"/>
            </a:endParaRPr>
          </a:p>
        </p:txBody>
      </p:sp>
      <p:sp>
        <p:nvSpPr>
          <p:cNvPr id="1452" name="Google Shape;1452;p80"/>
          <p:cNvSpPr txBox="1"/>
          <p:nvPr/>
        </p:nvSpPr>
        <p:spPr>
          <a:xfrm>
            <a:off x="3635008" y="4126750"/>
            <a:ext cx="692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Laura </a:t>
            </a:r>
            <a:endParaRPr sz="2000">
              <a:solidFill>
                <a:schemeClr val="dk1"/>
              </a:solidFill>
              <a:latin typeface="Kalam"/>
              <a:ea typeface="Kalam"/>
              <a:cs typeface="Kalam"/>
              <a:sym typeface="Kalam"/>
            </a:endParaRPr>
          </a:p>
        </p:txBody>
      </p:sp>
      <p:pic>
        <p:nvPicPr>
          <p:cNvPr id="1453" name="Google Shape;1453;p80"/>
          <p:cNvPicPr preferRelativeResize="0"/>
          <p:nvPr/>
        </p:nvPicPr>
        <p:blipFill rotWithShape="1">
          <a:blip r:embed="rId3">
            <a:alphaModFix/>
          </a:blip>
          <a:srcRect b="0" l="72517" r="1253" t="11347"/>
          <a:stretch/>
        </p:blipFill>
        <p:spPr>
          <a:xfrm rot="-5400000">
            <a:off x="2160811" y="3448235"/>
            <a:ext cx="456878" cy="641705"/>
          </a:xfrm>
          <a:prstGeom prst="rect">
            <a:avLst/>
          </a:prstGeom>
          <a:noFill/>
          <a:ln>
            <a:noFill/>
          </a:ln>
        </p:spPr>
      </p:pic>
      <p:pic>
        <p:nvPicPr>
          <p:cNvPr id="1454" name="Google Shape;1454;p80"/>
          <p:cNvPicPr preferRelativeResize="0"/>
          <p:nvPr/>
        </p:nvPicPr>
        <p:blipFill rotWithShape="1">
          <a:blip r:embed="rId4">
            <a:alphaModFix/>
          </a:blip>
          <a:srcRect b="0" l="0" r="0" t="24789"/>
          <a:stretch/>
        </p:blipFill>
        <p:spPr>
          <a:xfrm rot="-5400000">
            <a:off x="2264213" y="2947613"/>
            <a:ext cx="250079" cy="541265"/>
          </a:xfrm>
          <a:prstGeom prst="rect">
            <a:avLst/>
          </a:prstGeom>
          <a:noFill/>
          <a:ln>
            <a:noFill/>
          </a:ln>
        </p:spPr>
      </p:pic>
      <p:pic>
        <p:nvPicPr>
          <p:cNvPr id="1455" name="Google Shape;1455;p80"/>
          <p:cNvPicPr preferRelativeResize="0"/>
          <p:nvPr/>
        </p:nvPicPr>
        <p:blipFill rotWithShape="1">
          <a:blip r:embed="rId3">
            <a:alphaModFix/>
          </a:blip>
          <a:srcRect b="0" l="72517" r="1253" t="11347"/>
          <a:stretch/>
        </p:blipFill>
        <p:spPr>
          <a:xfrm rot="-5400000">
            <a:off x="4534729" y="2169442"/>
            <a:ext cx="456878" cy="641705"/>
          </a:xfrm>
          <a:prstGeom prst="rect">
            <a:avLst/>
          </a:prstGeom>
          <a:noFill/>
          <a:ln>
            <a:noFill/>
          </a:ln>
        </p:spPr>
      </p:pic>
      <p:pic>
        <p:nvPicPr>
          <p:cNvPr id="1456" name="Google Shape;1456;p80"/>
          <p:cNvPicPr preferRelativeResize="0"/>
          <p:nvPr/>
        </p:nvPicPr>
        <p:blipFill rotWithShape="1">
          <a:blip r:embed="rId3">
            <a:alphaModFix/>
          </a:blip>
          <a:srcRect b="0" l="18128" r="63873" t="11347"/>
          <a:stretch/>
        </p:blipFill>
        <p:spPr>
          <a:xfrm rot="-5400000">
            <a:off x="2096049" y="3996886"/>
            <a:ext cx="313503" cy="641705"/>
          </a:xfrm>
          <a:prstGeom prst="rect">
            <a:avLst/>
          </a:prstGeom>
          <a:noFill/>
          <a:ln>
            <a:noFill/>
          </a:ln>
        </p:spPr>
      </p:pic>
      <p:pic>
        <p:nvPicPr>
          <p:cNvPr id="1457" name="Google Shape;1457;p80"/>
          <p:cNvPicPr preferRelativeResize="0"/>
          <p:nvPr/>
        </p:nvPicPr>
        <p:blipFill rotWithShape="1">
          <a:blip r:embed="rId3">
            <a:alphaModFix/>
          </a:blip>
          <a:srcRect b="0" l="18128" r="63873" t="11347"/>
          <a:stretch/>
        </p:blipFill>
        <p:spPr>
          <a:xfrm rot="-5400000">
            <a:off x="5529499" y="2220136"/>
            <a:ext cx="313503" cy="641705"/>
          </a:xfrm>
          <a:prstGeom prst="rect">
            <a:avLst/>
          </a:prstGeom>
          <a:noFill/>
          <a:ln>
            <a:noFill/>
          </a:ln>
        </p:spPr>
      </p:pic>
      <p:pic>
        <p:nvPicPr>
          <p:cNvPr id="1458" name="Google Shape;1458;p80"/>
          <p:cNvPicPr preferRelativeResize="0"/>
          <p:nvPr/>
        </p:nvPicPr>
        <p:blipFill rotWithShape="1">
          <a:blip r:embed="rId4">
            <a:alphaModFix/>
          </a:blip>
          <a:srcRect b="0" l="0" r="0" t="24789"/>
          <a:stretch/>
        </p:blipFill>
        <p:spPr>
          <a:xfrm rot="-5400000">
            <a:off x="3846838" y="2270375"/>
            <a:ext cx="250079" cy="541265"/>
          </a:xfrm>
          <a:prstGeom prst="rect">
            <a:avLst/>
          </a:prstGeom>
          <a:noFill/>
          <a:ln>
            <a:noFill/>
          </a:ln>
        </p:spPr>
      </p:pic>
      <p:sp>
        <p:nvSpPr>
          <p:cNvPr id="1459" name="Google Shape;1459;p80"/>
          <p:cNvSpPr txBox="1"/>
          <p:nvPr>
            <p:ph idx="1" type="body"/>
          </p:nvPr>
        </p:nvSpPr>
        <p:spPr>
          <a:xfrm>
            <a:off x="4377028" y="1978033"/>
            <a:ext cx="1115700" cy="56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Laura</a:t>
            </a:r>
            <a:endParaRPr sz="1800"/>
          </a:p>
        </p:txBody>
      </p:sp>
      <p:sp>
        <p:nvSpPr>
          <p:cNvPr id="1460" name="Google Shape;1460;p80"/>
          <p:cNvSpPr txBox="1"/>
          <p:nvPr>
            <p:ph idx="1" type="body"/>
          </p:nvPr>
        </p:nvSpPr>
        <p:spPr>
          <a:xfrm rot="-5400000">
            <a:off x="1578900" y="3455752"/>
            <a:ext cx="747900" cy="39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Izzy</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4" name="Shape 1464"/>
        <p:cNvGrpSpPr/>
        <p:nvPr/>
      </p:nvGrpSpPr>
      <p:grpSpPr>
        <a:xfrm>
          <a:off x="0" y="0"/>
          <a:ext cx="0" cy="0"/>
          <a:chOff x="0" y="0"/>
          <a:chExt cx="0" cy="0"/>
        </a:xfrm>
      </p:grpSpPr>
      <p:sp>
        <p:nvSpPr>
          <p:cNvPr id="1465" name="Google Shape;1465;p81"/>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466" name="Google Shape;1466;p8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467" name="Google Shape;1467;p8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two-way tables to display outcomes for two events</a:t>
            </a:r>
            <a:endParaRPr/>
          </a:p>
        </p:txBody>
      </p:sp>
      <p:pic>
        <p:nvPicPr>
          <p:cNvPr id="1468" name="Google Shape;1468;p81"/>
          <p:cNvPicPr preferRelativeResize="0"/>
          <p:nvPr/>
        </p:nvPicPr>
        <p:blipFill>
          <a:blip r:embed="rId3">
            <a:alphaModFix/>
          </a:blip>
          <a:stretch>
            <a:fillRect/>
          </a:stretch>
        </p:blipFill>
        <p:spPr>
          <a:xfrm>
            <a:off x="417370" y="2766075"/>
            <a:ext cx="450575" cy="446750"/>
          </a:xfrm>
          <a:prstGeom prst="rect">
            <a:avLst/>
          </a:prstGeom>
          <a:noFill/>
          <a:ln>
            <a:noFill/>
          </a:ln>
        </p:spPr>
      </p:pic>
      <p:sp>
        <p:nvSpPr>
          <p:cNvPr id="1469" name="Google Shape;1469;p8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a:t>
            </a:r>
            <a:r>
              <a:rPr lang="en-GB"/>
              <a:t> table from two events</a:t>
            </a:r>
            <a:endParaRPr/>
          </a:p>
        </p:txBody>
      </p:sp>
      <p:sp>
        <p:nvSpPr>
          <p:cNvPr id="1475" name="Google Shape;1475;p82"/>
          <p:cNvSpPr txBox="1"/>
          <p:nvPr/>
        </p:nvSpPr>
        <p:spPr>
          <a:xfrm>
            <a:off x="324000" y="759300"/>
            <a:ext cx="6971100" cy="248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If this spinner is spun the possible outcomes are {1, 2, 3, 4, 5}.</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rgbClr val="000000"/>
                </a:solidFill>
                <a:latin typeface="Lexend"/>
                <a:ea typeface="Lexend"/>
                <a:cs typeface="Lexend"/>
                <a:sym typeface="Lexend"/>
              </a:rPr>
              <a:t>Izzy and Lucas are playing a game. Izzy gets a point if it lands on a </a:t>
            </a:r>
            <a:r>
              <a:rPr lang="en-GB" sz="1800">
                <a:solidFill>
                  <a:schemeClr val="accent5"/>
                </a:solidFill>
                <a:latin typeface="Lexend"/>
                <a:ea typeface="Lexend"/>
                <a:cs typeface="Lexend"/>
                <a:sym typeface="Lexend"/>
              </a:rPr>
              <a:t>prime number</a:t>
            </a:r>
            <a:r>
              <a:rPr lang="en-GB" sz="1800">
                <a:solidFill>
                  <a:srgbClr val="000000"/>
                </a:solidFill>
                <a:latin typeface="Lexend"/>
                <a:ea typeface="Lexend"/>
                <a:cs typeface="Lexend"/>
                <a:sym typeface="Lexend"/>
              </a:rPr>
              <a:t> and Lucas gets a point if it lands on an </a:t>
            </a:r>
            <a:r>
              <a:rPr lang="en-GB" sz="1800">
                <a:solidFill>
                  <a:schemeClr val="accent5"/>
                </a:solidFill>
                <a:latin typeface="Lexend"/>
                <a:ea typeface="Lexend"/>
                <a:cs typeface="Lexend"/>
                <a:sym typeface="Lexend"/>
              </a:rPr>
              <a:t>odd number</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grpSp>
        <p:nvGrpSpPr>
          <p:cNvPr id="1476" name="Google Shape;1476;p82"/>
          <p:cNvGrpSpPr/>
          <p:nvPr/>
        </p:nvGrpSpPr>
        <p:grpSpPr>
          <a:xfrm>
            <a:off x="7126221" y="456684"/>
            <a:ext cx="1897576" cy="1897576"/>
            <a:chOff x="6440626" y="456693"/>
            <a:chExt cx="2328600" cy="2328600"/>
          </a:xfrm>
        </p:grpSpPr>
        <p:sp>
          <p:nvSpPr>
            <p:cNvPr id="1477" name="Google Shape;1477;p82"/>
            <p:cNvSpPr/>
            <p:nvPr/>
          </p:nvSpPr>
          <p:spPr>
            <a:xfrm>
              <a:off x="6756800" y="772850"/>
              <a:ext cx="1695900" cy="1695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8" name="Google Shape;1478;p82"/>
            <p:cNvSpPr/>
            <p:nvPr/>
          </p:nvSpPr>
          <p:spPr>
            <a:xfrm rot="8649824">
              <a:off x="6771695" y="787761"/>
              <a:ext cx="1666351" cy="1666351"/>
            </a:xfrm>
            <a:prstGeom prst="pie">
              <a:avLst>
                <a:gd fmla="val 11928607"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9" name="Google Shape;1479;p82"/>
            <p:cNvSpPr/>
            <p:nvPr/>
          </p:nvSpPr>
          <p:spPr>
            <a:xfrm rot="-8629029">
              <a:off x="6771796" y="787863"/>
              <a:ext cx="1666260" cy="1666260"/>
            </a:xfrm>
            <a:prstGeom prst="pie">
              <a:avLst>
                <a:gd fmla="val 11928607"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0" name="Google Shape;1480;p82"/>
            <p:cNvSpPr/>
            <p:nvPr/>
          </p:nvSpPr>
          <p:spPr>
            <a:xfrm rot="-4309758">
              <a:off x="6771841" y="788027"/>
              <a:ext cx="1666190" cy="1666190"/>
            </a:xfrm>
            <a:prstGeom prst="pie">
              <a:avLst>
                <a:gd fmla="val 11928607"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1" name="Google Shape;1481;p82"/>
            <p:cNvSpPr/>
            <p:nvPr/>
          </p:nvSpPr>
          <p:spPr>
            <a:xfrm>
              <a:off x="6771841" y="788027"/>
              <a:ext cx="1666200" cy="1666200"/>
            </a:xfrm>
            <a:prstGeom prst="pie">
              <a:avLst>
                <a:gd fmla="val 11928607" name="adj1"/>
                <a:gd fmla="val 16225322" name="adj2"/>
              </a:avLst>
            </a:prstGeom>
            <a:solidFill>
              <a:srgbClr val="BEF2B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2" name="Google Shape;1482;p82"/>
            <p:cNvSpPr txBox="1"/>
            <p:nvPr/>
          </p:nvSpPr>
          <p:spPr>
            <a:xfrm>
              <a:off x="7458075" y="19435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483" name="Google Shape;1483;p82"/>
            <p:cNvSpPr/>
            <p:nvPr/>
          </p:nvSpPr>
          <p:spPr>
            <a:xfrm rot="4312496">
              <a:off x="6771674" y="787606"/>
              <a:ext cx="1666387" cy="1666387"/>
            </a:xfrm>
            <a:prstGeom prst="pie">
              <a:avLst>
                <a:gd fmla="val 11928607"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84" name="Google Shape;1484;p82"/>
            <p:cNvSpPr txBox="1"/>
            <p:nvPr/>
          </p:nvSpPr>
          <p:spPr>
            <a:xfrm>
              <a:off x="7135575" y="9529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5</a:t>
              </a:r>
              <a:endParaRPr sz="1600">
                <a:solidFill>
                  <a:srgbClr val="000000"/>
                </a:solidFill>
                <a:latin typeface="Lexend"/>
                <a:ea typeface="Lexend"/>
                <a:cs typeface="Lexend"/>
                <a:sym typeface="Lexend"/>
              </a:endParaRPr>
            </a:p>
          </p:txBody>
        </p:sp>
        <p:sp>
          <p:nvSpPr>
            <p:cNvPr id="1485" name="Google Shape;1485;p82"/>
            <p:cNvSpPr txBox="1"/>
            <p:nvPr/>
          </p:nvSpPr>
          <p:spPr>
            <a:xfrm>
              <a:off x="7790126" y="9529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486" name="Google Shape;1486;p82"/>
            <p:cNvSpPr txBox="1"/>
            <p:nvPr/>
          </p:nvSpPr>
          <p:spPr>
            <a:xfrm>
              <a:off x="7866326" y="15625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487" name="Google Shape;1487;p82"/>
            <p:cNvSpPr txBox="1"/>
            <p:nvPr/>
          </p:nvSpPr>
          <p:spPr>
            <a:xfrm>
              <a:off x="6906975" y="1562532"/>
              <a:ext cx="5715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grpSp>
          <p:nvGrpSpPr>
            <p:cNvPr id="1488" name="Google Shape;1488;p82"/>
            <p:cNvGrpSpPr/>
            <p:nvPr/>
          </p:nvGrpSpPr>
          <p:grpSpPr>
            <a:xfrm>
              <a:off x="7556109" y="828742"/>
              <a:ext cx="93900" cy="816939"/>
              <a:chOff x="996050" y="213293"/>
              <a:chExt cx="93900" cy="909732"/>
            </a:xfrm>
          </p:grpSpPr>
          <p:cxnSp>
            <p:nvCxnSpPr>
              <p:cNvPr id="1489" name="Google Shape;1489;p82"/>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490" name="Google Shape;1490;p82"/>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491" name="Google Shape;1491;p82"/>
          <p:cNvSpPr txBox="1"/>
          <p:nvPr/>
        </p:nvSpPr>
        <p:spPr>
          <a:xfrm>
            <a:off x="324000" y="2266950"/>
            <a:ext cx="4335000" cy="70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An </a:t>
            </a:r>
            <a:r>
              <a:rPr b="1" lang="en-GB" sz="1800">
                <a:latin typeface="Lexend"/>
                <a:ea typeface="Lexend"/>
                <a:cs typeface="Lexend"/>
                <a:sym typeface="Lexend"/>
              </a:rPr>
              <a:t>outcome table </a:t>
            </a:r>
            <a:r>
              <a:rPr lang="en-GB" sz="1800">
                <a:latin typeface="Lexend"/>
                <a:ea typeface="Lexend"/>
                <a:cs typeface="Lexend"/>
                <a:sym typeface="Lexend"/>
              </a:rPr>
              <a:t>can be set up to categorise the possible outcomes.</a:t>
            </a:r>
            <a:endParaRPr sz="2000">
              <a:solidFill>
                <a:srgbClr val="000000"/>
              </a:solidFill>
              <a:latin typeface="Lexend"/>
              <a:ea typeface="Lexend"/>
              <a:cs typeface="Lexend"/>
              <a:sym typeface="Lexend"/>
            </a:endParaRPr>
          </a:p>
        </p:txBody>
      </p:sp>
      <p:cxnSp>
        <p:nvCxnSpPr>
          <p:cNvPr id="1492" name="Google Shape;1492;p82"/>
          <p:cNvCxnSpPr/>
          <p:nvPr/>
        </p:nvCxnSpPr>
        <p:spPr>
          <a:xfrm>
            <a:off x="5942850"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493" name="Google Shape;1493;p82"/>
          <p:cNvCxnSpPr/>
          <p:nvPr/>
        </p:nvCxnSpPr>
        <p:spPr>
          <a:xfrm>
            <a:off x="7140503"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494" name="Google Shape;1494;p82"/>
          <p:cNvCxnSpPr/>
          <p:nvPr/>
        </p:nvCxnSpPr>
        <p:spPr>
          <a:xfrm>
            <a:off x="8327025" y="2191152"/>
            <a:ext cx="0" cy="2576400"/>
          </a:xfrm>
          <a:prstGeom prst="straightConnector1">
            <a:avLst/>
          </a:prstGeom>
          <a:noFill/>
          <a:ln cap="flat" cmpd="sng" w="38100">
            <a:solidFill>
              <a:schemeClr val="dk1"/>
            </a:solidFill>
            <a:prstDash val="solid"/>
            <a:round/>
            <a:headEnd len="med" w="med" type="none"/>
            <a:tailEnd len="med" w="med" type="none"/>
          </a:ln>
        </p:spPr>
      </p:cxnSp>
      <p:cxnSp>
        <p:nvCxnSpPr>
          <p:cNvPr id="1495" name="Google Shape;1495;p82"/>
          <p:cNvCxnSpPr/>
          <p:nvPr/>
        </p:nvCxnSpPr>
        <p:spPr>
          <a:xfrm rot="10800000">
            <a:off x="4529527" y="3078175"/>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496" name="Google Shape;1496;p82"/>
          <p:cNvCxnSpPr/>
          <p:nvPr/>
        </p:nvCxnSpPr>
        <p:spPr>
          <a:xfrm rot="10800000">
            <a:off x="4529527" y="3913916"/>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497" name="Google Shape;1497;p82"/>
          <p:cNvCxnSpPr/>
          <p:nvPr/>
        </p:nvCxnSpPr>
        <p:spPr>
          <a:xfrm rot="10800000">
            <a:off x="4529527" y="4739075"/>
            <a:ext cx="3815400" cy="0"/>
          </a:xfrm>
          <a:prstGeom prst="straightConnector1">
            <a:avLst/>
          </a:prstGeom>
          <a:noFill/>
          <a:ln cap="flat" cmpd="sng" w="38100">
            <a:solidFill>
              <a:schemeClr val="dk1"/>
            </a:solidFill>
            <a:prstDash val="solid"/>
            <a:round/>
            <a:headEnd len="med" w="med" type="none"/>
            <a:tailEnd len="med" w="med" type="none"/>
          </a:ln>
        </p:spPr>
      </p:cxnSp>
      <p:sp>
        <p:nvSpPr>
          <p:cNvPr id="1498" name="Google Shape;1498;p82"/>
          <p:cNvSpPr txBox="1"/>
          <p:nvPr/>
        </p:nvSpPr>
        <p:spPr>
          <a:xfrm>
            <a:off x="6127227" y="2399238"/>
            <a:ext cx="901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a:t>
            </a:r>
            <a:r>
              <a:rPr lang="en-GB" sz="1800">
                <a:solidFill>
                  <a:schemeClr val="dk1"/>
                </a:solidFill>
                <a:latin typeface="Lexend"/>
                <a:ea typeface="Lexend"/>
                <a:cs typeface="Lexend"/>
                <a:sym typeface="Lexend"/>
              </a:rPr>
              <a:t>rime number</a:t>
            </a:r>
            <a:endParaRPr sz="1800">
              <a:solidFill>
                <a:schemeClr val="dk1"/>
              </a:solidFill>
              <a:latin typeface="Lexend"/>
              <a:ea typeface="Lexend"/>
              <a:cs typeface="Lexend"/>
              <a:sym typeface="Lexend"/>
            </a:endParaRPr>
          </a:p>
        </p:txBody>
      </p:sp>
      <p:sp>
        <p:nvSpPr>
          <p:cNvPr id="1499" name="Google Shape;1499;p82"/>
          <p:cNvSpPr txBox="1"/>
          <p:nvPr/>
        </p:nvSpPr>
        <p:spPr>
          <a:xfrm>
            <a:off x="7213436" y="2214425"/>
            <a:ext cx="1030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a:t>
            </a:r>
            <a:r>
              <a:rPr lang="en-GB" sz="1800">
                <a:solidFill>
                  <a:schemeClr val="dk1"/>
                </a:solidFill>
                <a:latin typeface="Lexend"/>
                <a:ea typeface="Lexend"/>
                <a:cs typeface="Lexend"/>
                <a:sym typeface="Lexend"/>
              </a:rPr>
              <a:t>ot a prime number</a:t>
            </a:r>
            <a:endParaRPr sz="1800">
              <a:solidFill>
                <a:schemeClr val="dk1"/>
              </a:solidFill>
              <a:latin typeface="Lexend"/>
              <a:ea typeface="Lexend"/>
              <a:cs typeface="Lexend"/>
              <a:sym typeface="Lexend"/>
            </a:endParaRPr>
          </a:p>
        </p:txBody>
      </p:sp>
      <p:sp>
        <p:nvSpPr>
          <p:cNvPr id="1500" name="Google Shape;1500;p82"/>
          <p:cNvSpPr txBox="1"/>
          <p:nvPr/>
        </p:nvSpPr>
        <p:spPr>
          <a:xfrm>
            <a:off x="4744192" y="3218700"/>
            <a:ext cx="1030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a:t>
            </a:r>
            <a:r>
              <a:rPr lang="en-GB" sz="1800">
                <a:solidFill>
                  <a:schemeClr val="dk1"/>
                </a:solidFill>
                <a:latin typeface="Lexend"/>
                <a:ea typeface="Lexend"/>
                <a:cs typeface="Lexend"/>
                <a:sym typeface="Lexend"/>
              </a:rPr>
              <a:t>dd number</a:t>
            </a:r>
            <a:endParaRPr sz="1800">
              <a:solidFill>
                <a:schemeClr val="dk1"/>
              </a:solidFill>
              <a:latin typeface="Lexend"/>
              <a:ea typeface="Lexend"/>
              <a:cs typeface="Lexend"/>
              <a:sym typeface="Lexend"/>
            </a:endParaRPr>
          </a:p>
        </p:txBody>
      </p:sp>
      <p:sp>
        <p:nvSpPr>
          <p:cNvPr id="1501" name="Google Shape;1501;p82"/>
          <p:cNvSpPr txBox="1"/>
          <p:nvPr/>
        </p:nvSpPr>
        <p:spPr>
          <a:xfrm>
            <a:off x="4658948" y="3913334"/>
            <a:ext cx="1606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a:t>
            </a:r>
            <a:r>
              <a:rPr lang="en-GB" sz="1800">
                <a:solidFill>
                  <a:schemeClr val="dk1"/>
                </a:solidFill>
                <a:latin typeface="Lexend"/>
                <a:ea typeface="Lexend"/>
                <a:cs typeface="Lexend"/>
                <a:sym typeface="Lexend"/>
              </a:rPr>
              <a:t>ot an odd number (even)</a:t>
            </a:r>
            <a:endParaRPr sz="1800">
              <a:solidFill>
                <a:schemeClr val="dk1"/>
              </a:solidFill>
              <a:latin typeface="Lexend"/>
              <a:ea typeface="Lexend"/>
              <a:cs typeface="Lexend"/>
              <a:sym typeface="Lexend"/>
            </a:endParaRPr>
          </a:p>
        </p:txBody>
      </p:sp>
      <p:sp>
        <p:nvSpPr>
          <p:cNvPr id="1502" name="Google Shape;1502;p82"/>
          <p:cNvSpPr txBox="1"/>
          <p:nvPr/>
        </p:nvSpPr>
        <p:spPr>
          <a:xfrm>
            <a:off x="7301518" y="32334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503" name="Google Shape;1503;p82"/>
          <p:cNvSpPr txBox="1"/>
          <p:nvPr/>
        </p:nvSpPr>
        <p:spPr>
          <a:xfrm>
            <a:off x="6158518" y="32334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504" name="Google Shape;1504;p82"/>
          <p:cNvSpPr txBox="1"/>
          <p:nvPr/>
        </p:nvSpPr>
        <p:spPr>
          <a:xfrm>
            <a:off x="6158518" y="40716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505" name="Google Shape;1505;p82"/>
          <p:cNvSpPr txBox="1"/>
          <p:nvPr/>
        </p:nvSpPr>
        <p:spPr>
          <a:xfrm>
            <a:off x="6691918" y="34620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506" name="Google Shape;1506;p82"/>
          <p:cNvSpPr txBox="1"/>
          <p:nvPr/>
        </p:nvSpPr>
        <p:spPr>
          <a:xfrm>
            <a:off x="7301518" y="40716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0" name="Shape 1510"/>
        <p:cNvGrpSpPr/>
        <p:nvPr/>
      </p:nvGrpSpPr>
      <p:grpSpPr>
        <a:xfrm>
          <a:off x="0" y="0"/>
          <a:ext cx="0" cy="0"/>
          <a:chOff x="0" y="0"/>
          <a:chExt cx="0" cy="0"/>
        </a:xfrm>
      </p:grpSpPr>
      <p:sp>
        <p:nvSpPr>
          <p:cNvPr id="1511" name="Google Shape;1511;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512" name="Google Shape;1512;p83"/>
          <p:cNvSpPr txBox="1"/>
          <p:nvPr/>
        </p:nvSpPr>
        <p:spPr>
          <a:xfrm>
            <a:off x="324000" y="759300"/>
            <a:ext cx="6971100" cy="2480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solidFill>
                  <a:srgbClr val="000000"/>
                </a:solidFill>
                <a:latin typeface="Lexend"/>
                <a:ea typeface="Lexend"/>
                <a:cs typeface="Lexend"/>
                <a:sym typeface="Lexend"/>
              </a:rPr>
              <a:t>If this spinner is spun the possible outcomes are {1, 2, 3, 4, 5}.</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0"/>
              </a:spcAft>
              <a:buNone/>
            </a:pPr>
            <a:r>
              <a:rPr lang="en-GB" sz="1800">
                <a:solidFill>
                  <a:srgbClr val="000000"/>
                </a:solidFill>
                <a:latin typeface="Lexend"/>
                <a:ea typeface="Lexend"/>
                <a:cs typeface="Lexend"/>
                <a:sym typeface="Lexend"/>
              </a:rPr>
              <a:t>Izzy and Lucas are playing a game. Izzy gets a point if it lands on a </a:t>
            </a:r>
            <a:r>
              <a:rPr lang="en-GB" sz="1800">
                <a:solidFill>
                  <a:schemeClr val="accent5"/>
                </a:solidFill>
                <a:latin typeface="Lexend"/>
                <a:ea typeface="Lexend"/>
                <a:cs typeface="Lexend"/>
                <a:sym typeface="Lexend"/>
              </a:rPr>
              <a:t>prime number</a:t>
            </a:r>
            <a:r>
              <a:rPr lang="en-GB" sz="1800">
                <a:solidFill>
                  <a:srgbClr val="000000"/>
                </a:solidFill>
                <a:latin typeface="Lexend"/>
                <a:ea typeface="Lexend"/>
                <a:cs typeface="Lexend"/>
                <a:sym typeface="Lexend"/>
              </a:rPr>
              <a:t> and Lucas gets a point if it lands on an </a:t>
            </a:r>
            <a:r>
              <a:rPr lang="en-GB" sz="1800">
                <a:solidFill>
                  <a:schemeClr val="accent5"/>
                </a:solidFill>
                <a:latin typeface="Lexend"/>
                <a:ea typeface="Lexend"/>
                <a:cs typeface="Lexend"/>
                <a:sym typeface="Lexend"/>
              </a:rPr>
              <a:t>odd number</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grpSp>
        <p:nvGrpSpPr>
          <p:cNvPr id="1513" name="Google Shape;1513;p83"/>
          <p:cNvGrpSpPr/>
          <p:nvPr/>
        </p:nvGrpSpPr>
        <p:grpSpPr>
          <a:xfrm>
            <a:off x="7126221" y="456684"/>
            <a:ext cx="1897576" cy="1897576"/>
            <a:chOff x="6440626" y="456693"/>
            <a:chExt cx="2328600" cy="2328600"/>
          </a:xfrm>
        </p:grpSpPr>
        <p:sp>
          <p:nvSpPr>
            <p:cNvPr id="1514" name="Google Shape;1514;p83"/>
            <p:cNvSpPr/>
            <p:nvPr/>
          </p:nvSpPr>
          <p:spPr>
            <a:xfrm>
              <a:off x="6756800" y="772850"/>
              <a:ext cx="1695900" cy="1695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5" name="Google Shape;1515;p83"/>
            <p:cNvSpPr/>
            <p:nvPr/>
          </p:nvSpPr>
          <p:spPr>
            <a:xfrm rot="8649824">
              <a:off x="6771695" y="787761"/>
              <a:ext cx="1666351" cy="1666351"/>
            </a:xfrm>
            <a:prstGeom prst="pie">
              <a:avLst>
                <a:gd fmla="val 11928607"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6" name="Google Shape;1516;p83"/>
            <p:cNvSpPr/>
            <p:nvPr/>
          </p:nvSpPr>
          <p:spPr>
            <a:xfrm rot="-8629029">
              <a:off x="6771796" y="787863"/>
              <a:ext cx="1666260" cy="1666260"/>
            </a:xfrm>
            <a:prstGeom prst="pie">
              <a:avLst>
                <a:gd fmla="val 11928607"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7" name="Google Shape;1517;p83"/>
            <p:cNvSpPr/>
            <p:nvPr/>
          </p:nvSpPr>
          <p:spPr>
            <a:xfrm rot="-4309758">
              <a:off x="6771841" y="788027"/>
              <a:ext cx="1666190" cy="1666190"/>
            </a:xfrm>
            <a:prstGeom prst="pie">
              <a:avLst>
                <a:gd fmla="val 11928607"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8" name="Google Shape;1518;p83"/>
            <p:cNvSpPr/>
            <p:nvPr/>
          </p:nvSpPr>
          <p:spPr>
            <a:xfrm>
              <a:off x="6771841" y="788027"/>
              <a:ext cx="1666200" cy="1666200"/>
            </a:xfrm>
            <a:prstGeom prst="pie">
              <a:avLst>
                <a:gd fmla="val 11928607" name="adj1"/>
                <a:gd fmla="val 16225322" name="adj2"/>
              </a:avLst>
            </a:prstGeom>
            <a:solidFill>
              <a:srgbClr val="BEF2B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9" name="Google Shape;1519;p83"/>
            <p:cNvSpPr txBox="1"/>
            <p:nvPr/>
          </p:nvSpPr>
          <p:spPr>
            <a:xfrm>
              <a:off x="7458075" y="19435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520" name="Google Shape;1520;p83"/>
            <p:cNvSpPr/>
            <p:nvPr/>
          </p:nvSpPr>
          <p:spPr>
            <a:xfrm rot="4312496">
              <a:off x="6771674" y="787606"/>
              <a:ext cx="1666387" cy="1666387"/>
            </a:xfrm>
            <a:prstGeom prst="pie">
              <a:avLst>
                <a:gd fmla="val 11928607"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1" name="Google Shape;1521;p83"/>
            <p:cNvSpPr txBox="1"/>
            <p:nvPr/>
          </p:nvSpPr>
          <p:spPr>
            <a:xfrm>
              <a:off x="7135575" y="9529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5</a:t>
              </a:r>
              <a:endParaRPr sz="1600">
                <a:solidFill>
                  <a:srgbClr val="000000"/>
                </a:solidFill>
                <a:latin typeface="Lexend"/>
                <a:ea typeface="Lexend"/>
                <a:cs typeface="Lexend"/>
                <a:sym typeface="Lexend"/>
              </a:endParaRPr>
            </a:p>
          </p:txBody>
        </p:sp>
        <p:sp>
          <p:nvSpPr>
            <p:cNvPr id="1522" name="Google Shape;1522;p83"/>
            <p:cNvSpPr txBox="1"/>
            <p:nvPr/>
          </p:nvSpPr>
          <p:spPr>
            <a:xfrm>
              <a:off x="7790126" y="9529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523" name="Google Shape;1523;p83"/>
            <p:cNvSpPr txBox="1"/>
            <p:nvPr/>
          </p:nvSpPr>
          <p:spPr>
            <a:xfrm>
              <a:off x="7866326" y="15625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524" name="Google Shape;1524;p83"/>
            <p:cNvSpPr txBox="1"/>
            <p:nvPr/>
          </p:nvSpPr>
          <p:spPr>
            <a:xfrm>
              <a:off x="6906975" y="1562532"/>
              <a:ext cx="5715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grpSp>
          <p:nvGrpSpPr>
            <p:cNvPr id="1525" name="Google Shape;1525;p83"/>
            <p:cNvGrpSpPr/>
            <p:nvPr/>
          </p:nvGrpSpPr>
          <p:grpSpPr>
            <a:xfrm>
              <a:off x="7556109" y="828742"/>
              <a:ext cx="93900" cy="816939"/>
              <a:chOff x="996050" y="213293"/>
              <a:chExt cx="93900" cy="909732"/>
            </a:xfrm>
          </p:grpSpPr>
          <p:cxnSp>
            <p:nvCxnSpPr>
              <p:cNvPr id="1526" name="Google Shape;1526;p83"/>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527" name="Google Shape;1527;p83"/>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528" name="Google Shape;1528;p83"/>
          <p:cNvSpPr txBox="1"/>
          <p:nvPr/>
        </p:nvSpPr>
        <p:spPr>
          <a:xfrm>
            <a:off x="324000" y="2266950"/>
            <a:ext cx="4335000" cy="70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800">
                <a:latin typeface="Lexend"/>
                <a:ea typeface="Lexend"/>
                <a:cs typeface="Lexend"/>
                <a:sym typeface="Lexend"/>
              </a:rPr>
              <a:t>All possible outcomes, the sample space, are represented in the </a:t>
            </a:r>
            <a:r>
              <a:rPr b="1" lang="en-GB" sz="1800">
                <a:latin typeface="Lexend"/>
                <a:ea typeface="Lexend"/>
                <a:cs typeface="Lexend"/>
                <a:sym typeface="Lexend"/>
              </a:rPr>
              <a:t>outcome table</a:t>
            </a:r>
            <a:r>
              <a:rPr lang="en-GB" sz="1800">
                <a:latin typeface="Lexend"/>
                <a:ea typeface="Lexend"/>
                <a:cs typeface="Lexend"/>
                <a:sym typeface="Lexend"/>
              </a:rPr>
              <a:t>.</a:t>
            </a:r>
            <a:endParaRPr sz="2000">
              <a:solidFill>
                <a:srgbClr val="000000"/>
              </a:solidFill>
              <a:latin typeface="Lexend"/>
              <a:ea typeface="Lexend"/>
              <a:cs typeface="Lexend"/>
              <a:sym typeface="Lexend"/>
            </a:endParaRPr>
          </a:p>
        </p:txBody>
      </p:sp>
      <p:cxnSp>
        <p:nvCxnSpPr>
          <p:cNvPr id="1529" name="Google Shape;1529;p83"/>
          <p:cNvCxnSpPr/>
          <p:nvPr/>
        </p:nvCxnSpPr>
        <p:spPr>
          <a:xfrm>
            <a:off x="5942850"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30" name="Google Shape;1530;p83"/>
          <p:cNvCxnSpPr/>
          <p:nvPr/>
        </p:nvCxnSpPr>
        <p:spPr>
          <a:xfrm>
            <a:off x="7140503"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31" name="Google Shape;1531;p83"/>
          <p:cNvCxnSpPr/>
          <p:nvPr/>
        </p:nvCxnSpPr>
        <p:spPr>
          <a:xfrm>
            <a:off x="8327025" y="2191152"/>
            <a:ext cx="0" cy="2576400"/>
          </a:xfrm>
          <a:prstGeom prst="straightConnector1">
            <a:avLst/>
          </a:prstGeom>
          <a:noFill/>
          <a:ln cap="flat" cmpd="sng" w="38100">
            <a:solidFill>
              <a:schemeClr val="dk1"/>
            </a:solidFill>
            <a:prstDash val="solid"/>
            <a:round/>
            <a:headEnd len="med" w="med" type="none"/>
            <a:tailEnd len="med" w="med" type="none"/>
          </a:ln>
        </p:spPr>
      </p:cxnSp>
      <p:cxnSp>
        <p:nvCxnSpPr>
          <p:cNvPr id="1532" name="Google Shape;1532;p83"/>
          <p:cNvCxnSpPr/>
          <p:nvPr/>
        </p:nvCxnSpPr>
        <p:spPr>
          <a:xfrm rot="10800000">
            <a:off x="4529527" y="3078175"/>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33" name="Google Shape;1533;p83"/>
          <p:cNvCxnSpPr/>
          <p:nvPr/>
        </p:nvCxnSpPr>
        <p:spPr>
          <a:xfrm rot="10800000">
            <a:off x="4529527" y="3913916"/>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34" name="Google Shape;1534;p83"/>
          <p:cNvCxnSpPr/>
          <p:nvPr/>
        </p:nvCxnSpPr>
        <p:spPr>
          <a:xfrm rot="10800000">
            <a:off x="4529527" y="4739075"/>
            <a:ext cx="3815400" cy="0"/>
          </a:xfrm>
          <a:prstGeom prst="straightConnector1">
            <a:avLst/>
          </a:prstGeom>
          <a:noFill/>
          <a:ln cap="flat" cmpd="sng" w="38100">
            <a:solidFill>
              <a:schemeClr val="dk1"/>
            </a:solidFill>
            <a:prstDash val="solid"/>
            <a:round/>
            <a:headEnd len="med" w="med" type="none"/>
            <a:tailEnd len="med" w="med" type="none"/>
          </a:ln>
        </p:spPr>
      </p:cxnSp>
      <p:sp>
        <p:nvSpPr>
          <p:cNvPr id="1535" name="Google Shape;1535;p83"/>
          <p:cNvSpPr txBox="1"/>
          <p:nvPr/>
        </p:nvSpPr>
        <p:spPr>
          <a:xfrm>
            <a:off x="6127227" y="2399238"/>
            <a:ext cx="901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prime number</a:t>
            </a:r>
            <a:endParaRPr sz="1800">
              <a:solidFill>
                <a:schemeClr val="dk1"/>
              </a:solidFill>
              <a:latin typeface="Lexend"/>
              <a:ea typeface="Lexend"/>
              <a:cs typeface="Lexend"/>
              <a:sym typeface="Lexend"/>
            </a:endParaRPr>
          </a:p>
        </p:txBody>
      </p:sp>
      <p:sp>
        <p:nvSpPr>
          <p:cNvPr id="1536" name="Google Shape;1536;p83"/>
          <p:cNvSpPr txBox="1"/>
          <p:nvPr/>
        </p:nvSpPr>
        <p:spPr>
          <a:xfrm>
            <a:off x="7213436" y="2214425"/>
            <a:ext cx="1030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 prime number</a:t>
            </a:r>
            <a:endParaRPr sz="1800">
              <a:solidFill>
                <a:schemeClr val="dk1"/>
              </a:solidFill>
              <a:latin typeface="Lexend"/>
              <a:ea typeface="Lexend"/>
              <a:cs typeface="Lexend"/>
              <a:sym typeface="Lexend"/>
            </a:endParaRPr>
          </a:p>
        </p:txBody>
      </p:sp>
      <p:sp>
        <p:nvSpPr>
          <p:cNvPr id="1537" name="Google Shape;1537;p83"/>
          <p:cNvSpPr txBox="1"/>
          <p:nvPr/>
        </p:nvSpPr>
        <p:spPr>
          <a:xfrm>
            <a:off x="4744192" y="3218700"/>
            <a:ext cx="1030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odd number</a:t>
            </a:r>
            <a:endParaRPr sz="1800">
              <a:solidFill>
                <a:schemeClr val="dk1"/>
              </a:solidFill>
              <a:latin typeface="Lexend"/>
              <a:ea typeface="Lexend"/>
              <a:cs typeface="Lexend"/>
              <a:sym typeface="Lexend"/>
            </a:endParaRPr>
          </a:p>
        </p:txBody>
      </p:sp>
      <p:sp>
        <p:nvSpPr>
          <p:cNvPr id="1538" name="Google Shape;1538;p83"/>
          <p:cNvSpPr txBox="1"/>
          <p:nvPr/>
        </p:nvSpPr>
        <p:spPr>
          <a:xfrm>
            <a:off x="4658948" y="3913334"/>
            <a:ext cx="1606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an odd number (even)</a:t>
            </a:r>
            <a:endParaRPr sz="1800">
              <a:solidFill>
                <a:schemeClr val="dk1"/>
              </a:solidFill>
              <a:latin typeface="Lexend"/>
              <a:ea typeface="Lexend"/>
              <a:cs typeface="Lexend"/>
              <a:sym typeface="Lexend"/>
            </a:endParaRPr>
          </a:p>
        </p:txBody>
      </p:sp>
      <p:sp>
        <p:nvSpPr>
          <p:cNvPr id="1539" name="Google Shape;1539;p83"/>
          <p:cNvSpPr txBox="1"/>
          <p:nvPr/>
        </p:nvSpPr>
        <p:spPr>
          <a:xfrm>
            <a:off x="7301518" y="32334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540" name="Google Shape;1540;p83"/>
          <p:cNvSpPr txBox="1"/>
          <p:nvPr/>
        </p:nvSpPr>
        <p:spPr>
          <a:xfrm>
            <a:off x="6158518" y="32334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541" name="Google Shape;1541;p83"/>
          <p:cNvSpPr txBox="1"/>
          <p:nvPr/>
        </p:nvSpPr>
        <p:spPr>
          <a:xfrm>
            <a:off x="6158518" y="40716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542" name="Google Shape;1542;p83"/>
          <p:cNvSpPr txBox="1"/>
          <p:nvPr/>
        </p:nvSpPr>
        <p:spPr>
          <a:xfrm>
            <a:off x="6691918" y="34620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543" name="Google Shape;1543;p83"/>
          <p:cNvSpPr txBox="1"/>
          <p:nvPr/>
        </p:nvSpPr>
        <p:spPr>
          <a:xfrm>
            <a:off x="7301518" y="40716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7" name="Shape 1547"/>
        <p:cNvGrpSpPr/>
        <p:nvPr/>
      </p:nvGrpSpPr>
      <p:grpSpPr>
        <a:xfrm>
          <a:off x="0" y="0"/>
          <a:ext cx="0" cy="0"/>
          <a:chOff x="0" y="0"/>
          <a:chExt cx="0" cy="0"/>
        </a:xfrm>
      </p:grpSpPr>
      <p:sp>
        <p:nvSpPr>
          <p:cNvPr id="1548" name="Google Shape;1548;p84"/>
          <p:cNvSpPr txBox="1"/>
          <p:nvPr>
            <p:ph idx="1" type="body"/>
          </p:nvPr>
        </p:nvSpPr>
        <p:spPr>
          <a:xfrm>
            <a:off x="324000" y="759300"/>
            <a:ext cx="68022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Izzy and Lucas decide to change the rules of their game. Izzy now gets a point if the spinner lands on ‘an </a:t>
            </a:r>
            <a:r>
              <a:rPr lang="en-GB">
                <a:solidFill>
                  <a:schemeClr val="accent5"/>
                </a:solidFill>
              </a:rPr>
              <a:t>even number</a:t>
            </a:r>
            <a:r>
              <a:rPr lang="en-GB"/>
              <a:t>’ and Lucas gets a point if the spinner lands on ‘a </a:t>
            </a:r>
            <a:r>
              <a:rPr lang="en-GB">
                <a:solidFill>
                  <a:schemeClr val="accent5"/>
                </a:solidFill>
              </a:rPr>
              <a:t>factor of 6</a:t>
            </a:r>
            <a:r>
              <a:rPr lang="en-GB"/>
              <a:t>’. </a:t>
            </a:r>
            <a:endParaRPr/>
          </a:p>
          <a:p>
            <a:pPr indent="0" lvl="0" marL="0" rtl="0" algn="l">
              <a:spcBef>
                <a:spcPts val="1000"/>
              </a:spcBef>
              <a:spcAft>
                <a:spcPts val="1000"/>
              </a:spcAft>
              <a:buNone/>
            </a:pPr>
            <a:r>
              <a:rPr lang="en-GB"/>
              <a:t>Complete the </a:t>
            </a:r>
            <a:r>
              <a:rPr b="1" lang="en-GB"/>
              <a:t>outcome table</a:t>
            </a:r>
            <a:r>
              <a:rPr lang="en-GB"/>
              <a:t>.</a:t>
            </a:r>
            <a:endParaRPr/>
          </a:p>
        </p:txBody>
      </p:sp>
      <p:sp>
        <p:nvSpPr>
          <p:cNvPr id="1549" name="Google Shape;1549;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a:t>
            </a:r>
            <a:r>
              <a:rPr lang="en-GB"/>
              <a:t> table from two events</a:t>
            </a:r>
            <a:endParaRPr/>
          </a:p>
        </p:txBody>
      </p:sp>
      <p:cxnSp>
        <p:nvCxnSpPr>
          <p:cNvPr id="1550" name="Google Shape;1550;p84"/>
          <p:cNvCxnSpPr/>
          <p:nvPr/>
        </p:nvCxnSpPr>
        <p:spPr>
          <a:xfrm>
            <a:off x="5942850"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51" name="Google Shape;1551;p84"/>
          <p:cNvCxnSpPr/>
          <p:nvPr/>
        </p:nvCxnSpPr>
        <p:spPr>
          <a:xfrm>
            <a:off x="7140503" y="21911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52" name="Google Shape;1552;p84"/>
          <p:cNvCxnSpPr/>
          <p:nvPr/>
        </p:nvCxnSpPr>
        <p:spPr>
          <a:xfrm rot="10800000">
            <a:off x="4529527" y="3078175"/>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53" name="Google Shape;1553;p84"/>
          <p:cNvCxnSpPr/>
          <p:nvPr/>
        </p:nvCxnSpPr>
        <p:spPr>
          <a:xfrm rot="10800000">
            <a:off x="4529527" y="3913916"/>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54" name="Google Shape;1554;p84"/>
          <p:cNvCxnSpPr/>
          <p:nvPr/>
        </p:nvCxnSpPr>
        <p:spPr>
          <a:xfrm rot="10800000">
            <a:off x="4529527" y="4739075"/>
            <a:ext cx="3815400" cy="0"/>
          </a:xfrm>
          <a:prstGeom prst="straightConnector1">
            <a:avLst/>
          </a:prstGeom>
          <a:noFill/>
          <a:ln cap="flat" cmpd="sng" w="38100">
            <a:solidFill>
              <a:schemeClr val="dk1"/>
            </a:solidFill>
            <a:prstDash val="solid"/>
            <a:round/>
            <a:headEnd len="med" w="med" type="none"/>
            <a:tailEnd len="med" w="med" type="none"/>
          </a:ln>
        </p:spPr>
      </p:cxnSp>
      <p:sp>
        <p:nvSpPr>
          <p:cNvPr id="1555" name="Google Shape;1555;p84"/>
          <p:cNvSpPr txBox="1"/>
          <p:nvPr/>
        </p:nvSpPr>
        <p:spPr>
          <a:xfrm>
            <a:off x="6127227" y="2399238"/>
            <a:ext cx="901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factor of 6</a:t>
            </a:r>
            <a:endParaRPr sz="1800">
              <a:solidFill>
                <a:schemeClr val="dk1"/>
              </a:solidFill>
              <a:latin typeface="Lexend"/>
              <a:ea typeface="Lexend"/>
              <a:cs typeface="Lexend"/>
              <a:sym typeface="Lexend"/>
            </a:endParaRPr>
          </a:p>
        </p:txBody>
      </p:sp>
      <p:sp>
        <p:nvSpPr>
          <p:cNvPr id="1556" name="Google Shape;1556;p84"/>
          <p:cNvSpPr txBox="1"/>
          <p:nvPr/>
        </p:nvSpPr>
        <p:spPr>
          <a:xfrm>
            <a:off x="7213436" y="2214425"/>
            <a:ext cx="1030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 factor of 6</a:t>
            </a:r>
            <a:endParaRPr sz="1800">
              <a:solidFill>
                <a:schemeClr val="dk1"/>
              </a:solidFill>
              <a:latin typeface="Lexend"/>
              <a:ea typeface="Lexend"/>
              <a:cs typeface="Lexend"/>
              <a:sym typeface="Lexend"/>
            </a:endParaRPr>
          </a:p>
        </p:txBody>
      </p:sp>
      <p:sp>
        <p:nvSpPr>
          <p:cNvPr id="1557" name="Google Shape;1557;p84"/>
          <p:cNvSpPr txBox="1"/>
          <p:nvPr/>
        </p:nvSpPr>
        <p:spPr>
          <a:xfrm>
            <a:off x="4744192" y="3218700"/>
            <a:ext cx="1030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even number</a:t>
            </a:r>
            <a:endParaRPr sz="1800">
              <a:solidFill>
                <a:schemeClr val="dk1"/>
              </a:solidFill>
              <a:latin typeface="Lexend"/>
              <a:ea typeface="Lexend"/>
              <a:cs typeface="Lexend"/>
              <a:sym typeface="Lexend"/>
            </a:endParaRPr>
          </a:p>
        </p:txBody>
      </p:sp>
      <p:sp>
        <p:nvSpPr>
          <p:cNvPr id="1558" name="Google Shape;1558;p84"/>
          <p:cNvSpPr txBox="1"/>
          <p:nvPr/>
        </p:nvSpPr>
        <p:spPr>
          <a:xfrm>
            <a:off x="4582750" y="3913325"/>
            <a:ext cx="1339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an even number (odd)</a:t>
            </a:r>
            <a:endParaRPr sz="1800">
              <a:solidFill>
                <a:schemeClr val="dk1"/>
              </a:solidFill>
              <a:latin typeface="Lexend"/>
              <a:ea typeface="Lexend"/>
              <a:cs typeface="Lexend"/>
              <a:sym typeface="Lexend"/>
            </a:endParaRPr>
          </a:p>
        </p:txBody>
      </p:sp>
      <p:sp>
        <p:nvSpPr>
          <p:cNvPr id="1559" name="Google Shape;1559;p84"/>
          <p:cNvSpPr txBox="1"/>
          <p:nvPr/>
        </p:nvSpPr>
        <p:spPr>
          <a:xfrm flipH="1">
            <a:off x="6791528" y="4100538"/>
            <a:ext cx="516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a:t>
            </a:r>
            <a:endParaRPr sz="2000">
              <a:solidFill>
                <a:schemeClr val="dk1"/>
              </a:solidFill>
              <a:latin typeface="Kalam"/>
              <a:ea typeface="Kalam"/>
              <a:cs typeface="Kalam"/>
              <a:sym typeface="Kalam"/>
            </a:endParaRPr>
          </a:p>
        </p:txBody>
      </p:sp>
      <p:sp>
        <p:nvSpPr>
          <p:cNvPr id="1560" name="Google Shape;1560;p84"/>
          <p:cNvSpPr txBox="1"/>
          <p:nvPr/>
        </p:nvSpPr>
        <p:spPr>
          <a:xfrm>
            <a:off x="6158518" y="43764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561" name="Google Shape;1561;p84"/>
          <p:cNvSpPr txBox="1"/>
          <p:nvPr/>
        </p:nvSpPr>
        <p:spPr>
          <a:xfrm>
            <a:off x="6158518" y="32334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a:t>
            </a:r>
            <a:endParaRPr sz="2000">
              <a:solidFill>
                <a:schemeClr val="dk1"/>
              </a:solidFill>
              <a:latin typeface="Kalam"/>
              <a:ea typeface="Kalam"/>
              <a:cs typeface="Kalam"/>
              <a:sym typeface="Kalam"/>
            </a:endParaRPr>
          </a:p>
        </p:txBody>
      </p:sp>
      <p:sp>
        <p:nvSpPr>
          <p:cNvPr id="1562" name="Google Shape;1562;p84"/>
          <p:cNvSpPr txBox="1"/>
          <p:nvPr/>
        </p:nvSpPr>
        <p:spPr>
          <a:xfrm>
            <a:off x="7377718" y="41478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a:t>
            </a:r>
            <a:endParaRPr sz="2000">
              <a:solidFill>
                <a:schemeClr val="dk1"/>
              </a:solidFill>
              <a:latin typeface="Kalam"/>
              <a:ea typeface="Kalam"/>
              <a:cs typeface="Kalam"/>
              <a:sym typeface="Kalam"/>
            </a:endParaRPr>
          </a:p>
        </p:txBody>
      </p:sp>
      <p:sp>
        <p:nvSpPr>
          <p:cNvPr id="1563" name="Google Shape;1563;p84"/>
          <p:cNvSpPr txBox="1"/>
          <p:nvPr/>
        </p:nvSpPr>
        <p:spPr>
          <a:xfrm>
            <a:off x="7377718" y="32334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a:t>
            </a:r>
            <a:endParaRPr sz="2000">
              <a:solidFill>
                <a:schemeClr val="dk1"/>
              </a:solidFill>
              <a:latin typeface="Kalam"/>
              <a:ea typeface="Kalam"/>
              <a:cs typeface="Kalam"/>
              <a:sym typeface="Kalam"/>
            </a:endParaRPr>
          </a:p>
        </p:txBody>
      </p:sp>
      <p:grpSp>
        <p:nvGrpSpPr>
          <p:cNvPr id="1564" name="Google Shape;1564;p84"/>
          <p:cNvGrpSpPr/>
          <p:nvPr/>
        </p:nvGrpSpPr>
        <p:grpSpPr>
          <a:xfrm>
            <a:off x="7126221" y="456684"/>
            <a:ext cx="1897576" cy="1897576"/>
            <a:chOff x="6440626" y="456693"/>
            <a:chExt cx="2328600" cy="2328600"/>
          </a:xfrm>
        </p:grpSpPr>
        <p:sp>
          <p:nvSpPr>
            <p:cNvPr id="1565" name="Google Shape;1565;p84"/>
            <p:cNvSpPr/>
            <p:nvPr/>
          </p:nvSpPr>
          <p:spPr>
            <a:xfrm>
              <a:off x="6756800" y="772850"/>
              <a:ext cx="1695900" cy="16959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6" name="Google Shape;1566;p84"/>
            <p:cNvSpPr/>
            <p:nvPr/>
          </p:nvSpPr>
          <p:spPr>
            <a:xfrm rot="8649824">
              <a:off x="6771695" y="787761"/>
              <a:ext cx="1666351" cy="1666351"/>
            </a:xfrm>
            <a:prstGeom prst="pie">
              <a:avLst>
                <a:gd fmla="val 11928607" name="adj1"/>
                <a:gd fmla="val 16225322"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7" name="Google Shape;1567;p84"/>
            <p:cNvSpPr/>
            <p:nvPr/>
          </p:nvSpPr>
          <p:spPr>
            <a:xfrm rot="-8629029">
              <a:off x="6771796" y="787863"/>
              <a:ext cx="1666260" cy="1666260"/>
            </a:xfrm>
            <a:prstGeom prst="pie">
              <a:avLst>
                <a:gd fmla="val 11928607" name="adj1"/>
                <a:gd fmla="val 16225322" name="adj2"/>
              </a:avLst>
            </a:prstGeom>
            <a:solidFill>
              <a:srgbClr val="D02AA7"/>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8" name="Google Shape;1568;p84"/>
            <p:cNvSpPr/>
            <p:nvPr/>
          </p:nvSpPr>
          <p:spPr>
            <a:xfrm rot="-4309758">
              <a:off x="6771841" y="788027"/>
              <a:ext cx="1666190" cy="1666190"/>
            </a:xfrm>
            <a:prstGeom prst="pie">
              <a:avLst>
                <a:gd fmla="val 11928607" name="adj1"/>
                <a:gd fmla="val 16225322" name="adj2"/>
              </a:avLst>
            </a:prstGeom>
            <a:solidFill>
              <a:srgbClr val="374CF1"/>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9" name="Google Shape;1569;p84"/>
            <p:cNvSpPr/>
            <p:nvPr/>
          </p:nvSpPr>
          <p:spPr>
            <a:xfrm>
              <a:off x="6771841" y="788027"/>
              <a:ext cx="1666200" cy="1666200"/>
            </a:xfrm>
            <a:prstGeom prst="pie">
              <a:avLst>
                <a:gd fmla="val 11928607" name="adj1"/>
                <a:gd fmla="val 16225322" name="adj2"/>
              </a:avLst>
            </a:prstGeom>
            <a:solidFill>
              <a:srgbClr val="BEF2B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0" name="Google Shape;1570;p84"/>
            <p:cNvSpPr txBox="1"/>
            <p:nvPr/>
          </p:nvSpPr>
          <p:spPr>
            <a:xfrm>
              <a:off x="7458075" y="19435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571" name="Google Shape;1571;p84"/>
            <p:cNvSpPr/>
            <p:nvPr/>
          </p:nvSpPr>
          <p:spPr>
            <a:xfrm rot="4312496">
              <a:off x="6771674" y="787606"/>
              <a:ext cx="1666387" cy="1666387"/>
            </a:xfrm>
            <a:prstGeom prst="pie">
              <a:avLst>
                <a:gd fmla="val 11928607" name="adj1"/>
                <a:gd fmla="val 16225322"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2" name="Google Shape;1572;p84"/>
            <p:cNvSpPr txBox="1"/>
            <p:nvPr/>
          </p:nvSpPr>
          <p:spPr>
            <a:xfrm>
              <a:off x="7135575" y="952925"/>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latin typeface="Lexend"/>
                  <a:ea typeface="Lexend"/>
                  <a:cs typeface="Lexend"/>
                  <a:sym typeface="Lexend"/>
                </a:rPr>
                <a:t>5</a:t>
              </a:r>
              <a:endParaRPr sz="1600">
                <a:solidFill>
                  <a:srgbClr val="000000"/>
                </a:solidFill>
                <a:latin typeface="Lexend"/>
                <a:ea typeface="Lexend"/>
                <a:cs typeface="Lexend"/>
                <a:sym typeface="Lexend"/>
              </a:endParaRPr>
            </a:p>
          </p:txBody>
        </p:sp>
        <p:sp>
          <p:nvSpPr>
            <p:cNvPr id="1573" name="Google Shape;1573;p84"/>
            <p:cNvSpPr txBox="1"/>
            <p:nvPr/>
          </p:nvSpPr>
          <p:spPr>
            <a:xfrm>
              <a:off x="7790126" y="9529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574" name="Google Shape;1574;p84"/>
            <p:cNvSpPr txBox="1"/>
            <p:nvPr/>
          </p:nvSpPr>
          <p:spPr>
            <a:xfrm>
              <a:off x="7866326" y="1562532"/>
              <a:ext cx="6300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575" name="Google Shape;1575;p84"/>
            <p:cNvSpPr txBox="1"/>
            <p:nvPr/>
          </p:nvSpPr>
          <p:spPr>
            <a:xfrm>
              <a:off x="6906975" y="1562532"/>
              <a:ext cx="571500" cy="52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grpSp>
          <p:nvGrpSpPr>
            <p:cNvPr id="1576" name="Google Shape;1576;p84"/>
            <p:cNvGrpSpPr/>
            <p:nvPr/>
          </p:nvGrpSpPr>
          <p:grpSpPr>
            <a:xfrm>
              <a:off x="7556109" y="828742"/>
              <a:ext cx="93900" cy="816939"/>
              <a:chOff x="996050" y="213293"/>
              <a:chExt cx="93900" cy="909732"/>
            </a:xfrm>
          </p:grpSpPr>
          <p:cxnSp>
            <p:nvCxnSpPr>
              <p:cNvPr id="1577" name="Google Shape;1577;p84"/>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578" name="Google Shape;1578;p84"/>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2" name="Shape 1582"/>
        <p:cNvGrpSpPr/>
        <p:nvPr/>
      </p:nvGrpSpPr>
      <p:grpSpPr>
        <a:xfrm>
          <a:off x="0" y="0"/>
          <a:ext cx="0" cy="0"/>
          <a:chOff x="0" y="0"/>
          <a:chExt cx="0" cy="0"/>
        </a:xfrm>
      </p:grpSpPr>
      <p:sp>
        <p:nvSpPr>
          <p:cNvPr id="1583" name="Google Shape;1583;p8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584" name="Google Shape;1584;p85"/>
          <p:cNvSpPr txBox="1"/>
          <p:nvPr/>
        </p:nvSpPr>
        <p:spPr>
          <a:xfrm>
            <a:off x="324000" y="759300"/>
            <a:ext cx="7725300" cy="64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This </a:t>
            </a:r>
            <a:r>
              <a:rPr b="1" lang="en-GB" sz="1800">
                <a:latin typeface="Lexend"/>
                <a:ea typeface="Lexend"/>
                <a:cs typeface="Lexend"/>
                <a:sym typeface="Lexend"/>
              </a:rPr>
              <a:t>outcome table </a:t>
            </a:r>
            <a:r>
              <a:rPr lang="en-GB" sz="1800">
                <a:latin typeface="Lexend"/>
                <a:ea typeface="Lexend"/>
                <a:cs typeface="Lexend"/>
                <a:sym typeface="Lexend"/>
              </a:rPr>
              <a:t>has been created for two events from a trial.</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cxnSp>
        <p:nvCxnSpPr>
          <p:cNvPr id="1585" name="Google Shape;1585;p85"/>
          <p:cNvCxnSpPr/>
          <p:nvPr/>
        </p:nvCxnSpPr>
        <p:spPr>
          <a:xfrm>
            <a:off x="6095250" y="12005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86" name="Google Shape;1586;p85"/>
          <p:cNvCxnSpPr/>
          <p:nvPr/>
        </p:nvCxnSpPr>
        <p:spPr>
          <a:xfrm>
            <a:off x="7292903" y="12005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587" name="Google Shape;1587;p85"/>
          <p:cNvCxnSpPr/>
          <p:nvPr/>
        </p:nvCxnSpPr>
        <p:spPr>
          <a:xfrm>
            <a:off x="8479425" y="1200552"/>
            <a:ext cx="0" cy="2576400"/>
          </a:xfrm>
          <a:prstGeom prst="straightConnector1">
            <a:avLst/>
          </a:prstGeom>
          <a:noFill/>
          <a:ln cap="flat" cmpd="sng" w="38100">
            <a:solidFill>
              <a:schemeClr val="dk1"/>
            </a:solidFill>
            <a:prstDash val="solid"/>
            <a:round/>
            <a:headEnd len="med" w="med" type="none"/>
            <a:tailEnd len="med" w="med" type="none"/>
          </a:ln>
        </p:spPr>
      </p:cxnSp>
      <p:cxnSp>
        <p:nvCxnSpPr>
          <p:cNvPr id="1588" name="Google Shape;1588;p85"/>
          <p:cNvCxnSpPr/>
          <p:nvPr/>
        </p:nvCxnSpPr>
        <p:spPr>
          <a:xfrm rot="10800000">
            <a:off x="4681927" y="2087575"/>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89" name="Google Shape;1589;p85"/>
          <p:cNvCxnSpPr/>
          <p:nvPr/>
        </p:nvCxnSpPr>
        <p:spPr>
          <a:xfrm rot="10800000">
            <a:off x="4681927" y="2923316"/>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590" name="Google Shape;1590;p85"/>
          <p:cNvCxnSpPr/>
          <p:nvPr/>
        </p:nvCxnSpPr>
        <p:spPr>
          <a:xfrm rot="10800000">
            <a:off x="4681927" y="3748475"/>
            <a:ext cx="3815400" cy="0"/>
          </a:xfrm>
          <a:prstGeom prst="straightConnector1">
            <a:avLst/>
          </a:prstGeom>
          <a:noFill/>
          <a:ln cap="flat" cmpd="sng" w="38100">
            <a:solidFill>
              <a:schemeClr val="dk1"/>
            </a:solidFill>
            <a:prstDash val="solid"/>
            <a:round/>
            <a:headEnd len="med" w="med" type="none"/>
            <a:tailEnd len="med" w="med" type="none"/>
          </a:ln>
        </p:spPr>
      </p:cxnSp>
      <p:sp>
        <p:nvSpPr>
          <p:cNvPr id="1591" name="Google Shape;1591;p85"/>
          <p:cNvSpPr txBox="1"/>
          <p:nvPr/>
        </p:nvSpPr>
        <p:spPr>
          <a:xfrm>
            <a:off x="6279627" y="1408638"/>
            <a:ext cx="901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s</a:t>
            </a:r>
            <a:r>
              <a:rPr lang="en-GB" sz="1800">
                <a:solidFill>
                  <a:schemeClr val="dk1"/>
                </a:solidFill>
                <a:latin typeface="Lexend"/>
                <a:ea typeface="Lexend"/>
                <a:cs typeface="Lexend"/>
                <a:sym typeface="Lexend"/>
              </a:rPr>
              <a:t>quare number</a:t>
            </a:r>
            <a:endParaRPr sz="1800">
              <a:solidFill>
                <a:schemeClr val="dk1"/>
              </a:solidFill>
              <a:latin typeface="Lexend"/>
              <a:ea typeface="Lexend"/>
              <a:cs typeface="Lexend"/>
              <a:sym typeface="Lexend"/>
            </a:endParaRPr>
          </a:p>
        </p:txBody>
      </p:sp>
      <p:sp>
        <p:nvSpPr>
          <p:cNvPr id="1592" name="Google Shape;1592;p85"/>
          <p:cNvSpPr txBox="1"/>
          <p:nvPr/>
        </p:nvSpPr>
        <p:spPr>
          <a:xfrm>
            <a:off x="7365836" y="1223825"/>
            <a:ext cx="1030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 square number</a:t>
            </a:r>
            <a:endParaRPr sz="1800">
              <a:solidFill>
                <a:schemeClr val="dk1"/>
              </a:solidFill>
              <a:latin typeface="Lexend"/>
              <a:ea typeface="Lexend"/>
              <a:cs typeface="Lexend"/>
              <a:sym typeface="Lexend"/>
            </a:endParaRPr>
          </a:p>
        </p:txBody>
      </p:sp>
      <p:sp>
        <p:nvSpPr>
          <p:cNvPr id="1593" name="Google Shape;1593;p85"/>
          <p:cNvSpPr txBox="1"/>
          <p:nvPr/>
        </p:nvSpPr>
        <p:spPr>
          <a:xfrm>
            <a:off x="4896592" y="2228100"/>
            <a:ext cx="1030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odd number</a:t>
            </a:r>
            <a:endParaRPr sz="1800">
              <a:solidFill>
                <a:schemeClr val="dk1"/>
              </a:solidFill>
              <a:latin typeface="Lexend"/>
              <a:ea typeface="Lexend"/>
              <a:cs typeface="Lexend"/>
              <a:sym typeface="Lexend"/>
            </a:endParaRPr>
          </a:p>
        </p:txBody>
      </p:sp>
      <p:sp>
        <p:nvSpPr>
          <p:cNvPr id="1594" name="Google Shape;1594;p85"/>
          <p:cNvSpPr txBox="1"/>
          <p:nvPr/>
        </p:nvSpPr>
        <p:spPr>
          <a:xfrm>
            <a:off x="4811348" y="2922734"/>
            <a:ext cx="1606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an odd number (even)</a:t>
            </a:r>
            <a:endParaRPr sz="1800">
              <a:solidFill>
                <a:schemeClr val="dk1"/>
              </a:solidFill>
              <a:latin typeface="Lexend"/>
              <a:ea typeface="Lexend"/>
              <a:cs typeface="Lexend"/>
              <a:sym typeface="Lexend"/>
            </a:endParaRPr>
          </a:p>
        </p:txBody>
      </p:sp>
      <p:sp>
        <p:nvSpPr>
          <p:cNvPr id="1595" name="Google Shape;1595;p85"/>
          <p:cNvSpPr txBox="1"/>
          <p:nvPr/>
        </p:nvSpPr>
        <p:spPr>
          <a:xfrm>
            <a:off x="7453918" y="22428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endParaRPr sz="1800">
              <a:solidFill>
                <a:schemeClr val="dk1"/>
              </a:solidFill>
              <a:latin typeface="Lexend"/>
              <a:ea typeface="Lexend"/>
              <a:cs typeface="Lexend"/>
              <a:sym typeface="Lexend"/>
            </a:endParaRPr>
          </a:p>
        </p:txBody>
      </p:sp>
      <p:sp>
        <p:nvSpPr>
          <p:cNvPr id="1596" name="Google Shape;1596;p85"/>
          <p:cNvSpPr txBox="1"/>
          <p:nvPr/>
        </p:nvSpPr>
        <p:spPr>
          <a:xfrm>
            <a:off x="6310918" y="22428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endParaRPr sz="1800">
              <a:solidFill>
                <a:schemeClr val="dk1"/>
              </a:solidFill>
              <a:latin typeface="Lexend"/>
              <a:ea typeface="Lexend"/>
              <a:cs typeface="Lexend"/>
              <a:sym typeface="Lexend"/>
            </a:endParaRPr>
          </a:p>
        </p:txBody>
      </p:sp>
      <p:sp>
        <p:nvSpPr>
          <p:cNvPr id="1597" name="Google Shape;1597;p85"/>
          <p:cNvSpPr txBox="1"/>
          <p:nvPr/>
        </p:nvSpPr>
        <p:spPr>
          <a:xfrm>
            <a:off x="6310918" y="30810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endParaRPr sz="1800">
              <a:solidFill>
                <a:schemeClr val="dk1"/>
              </a:solidFill>
              <a:latin typeface="Lexend"/>
              <a:ea typeface="Lexend"/>
              <a:cs typeface="Lexend"/>
              <a:sym typeface="Lexend"/>
            </a:endParaRPr>
          </a:p>
        </p:txBody>
      </p:sp>
      <p:sp>
        <p:nvSpPr>
          <p:cNvPr id="1598" name="Google Shape;1598;p85"/>
          <p:cNvSpPr txBox="1"/>
          <p:nvPr/>
        </p:nvSpPr>
        <p:spPr>
          <a:xfrm>
            <a:off x="6844318" y="24714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a:t>
            </a:r>
            <a:endParaRPr sz="1800">
              <a:solidFill>
                <a:schemeClr val="dk1"/>
              </a:solidFill>
              <a:latin typeface="Lexend"/>
              <a:ea typeface="Lexend"/>
              <a:cs typeface="Lexend"/>
              <a:sym typeface="Lexend"/>
            </a:endParaRPr>
          </a:p>
        </p:txBody>
      </p:sp>
      <p:sp>
        <p:nvSpPr>
          <p:cNvPr id="1599" name="Google Shape;1599;p85"/>
          <p:cNvSpPr txBox="1"/>
          <p:nvPr/>
        </p:nvSpPr>
        <p:spPr>
          <a:xfrm>
            <a:off x="7453918" y="30810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endParaRPr sz="1800">
              <a:solidFill>
                <a:schemeClr val="dk1"/>
              </a:solidFill>
              <a:latin typeface="Lexend"/>
              <a:ea typeface="Lexend"/>
              <a:cs typeface="Lexend"/>
              <a:sym typeface="Lexend"/>
            </a:endParaRPr>
          </a:p>
        </p:txBody>
      </p:sp>
      <p:sp>
        <p:nvSpPr>
          <p:cNvPr id="1600" name="Google Shape;1600;p85"/>
          <p:cNvSpPr txBox="1"/>
          <p:nvPr/>
        </p:nvSpPr>
        <p:spPr>
          <a:xfrm>
            <a:off x="7966668" y="222810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endParaRPr sz="1800">
              <a:solidFill>
                <a:schemeClr val="dk1"/>
              </a:solidFill>
              <a:latin typeface="Lexend"/>
              <a:ea typeface="Lexend"/>
              <a:cs typeface="Lexend"/>
              <a:sym typeface="Lexend"/>
            </a:endParaRPr>
          </a:p>
        </p:txBody>
      </p:sp>
      <p:sp>
        <p:nvSpPr>
          <p:cNvPr id="1601" name="Google Shape;1601;p85"/>
          <p:cNvSpPr txBox="1"/>
          <p:nvPr/>
        </p:nvSpPr>
        <p:spPr>
          <a:xfrm>
            <a:off x="7661868" y="2488450"/>
            <a:ext cx="250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endParaRPr sz="1800">
              <a:solidFill>
                <a:schemeClr val="dk1"/>
              </a:solidFill>
              <a:latin typeface="Lexend"/>
              <a:ea typeface="Lexend"/>
              <a:cs typeface="Lexend"/>
              <a:sym typeface="Lexend"/>
            </a:endParaRPr>
          </a:p>
        </p:txBody>
      </p:sp>
      <p:sp>
        <p:nvSpPr>
          <p:cNvPr id="1602" name="Google Shape;1602;p85"/>
          <p:cNvSpPr txBox="1"/>
          <p:nvPr/>
        </p:nvSpPr>
        <p:spPr>
          <a:xfrm>
            <a:off x="7912673" y="3081000"/>
            <a:ext cx="186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endParaRPr sz="1800">
              <a:solidFill>
                <a:schemeClr val="dk1"/>
              </a:solidFill>
              <a:latin typeface="Lexend"/>
              <a:ea typeface="Lexend"/>
              <a:cs typeface="Lexend"/>
              <a:sym typeface="Lexend"/>
            </a:endParaRPr>
          </a:p>
        </p:txBody>
      </p:sp>
      <p:sp>
        <p:nvSpPr>
          <p:cNvPr id="1603" name="Google Shape;1603;p85"/>
          <p:cNvSpPr txBox="1"/>
          <p:nvPr/>
        </p:nvSpPr>
        <p:spPr>
          <a:xfrm>
            <a:off x="7704723" y="3358200"/>
            <a:ext cx="186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a:t>
            </a:r>
            <a:endParaRPr sz="1800">
              <a:solidFill>
                <a:schemeClr val="dk1"/>
              </a:solidFill>
              <a:latin typeface="Lexend"/>
              <a:ea typeface="Lexend"/>
              <a:cs typeface="Lexend"/>
              <a:sym typeface="Lexend"/>
            </a:endParaRPr>
          </a:p>
        </p:txBody>
      </p:sp>
      <p:sp>
        <p:nvSpPr>
          <p:cNvPr id="1604" name="Google Shape;1604;p85"/>
          <p:cNvSpPr txBox="1"/>
          <p:nvPr/>
        </p:nvSpPr>
        <p:spPr>
          <a:xfrm>
            <a:off x="324000" y="1326000"/>
            <a:ext cx="4248000" cy="64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What is the sample space for this trial?</a:t>
            </a:r>
            <a:endParaRPr sz="1800">
              <a:solidFill>
                <a:srgbClr val="000000"/>
              </a:solidFill>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sp>
        <p:nvSpPr>
          <p:cNvPr id="1605" name="Google Shape;1605;p85"/>
          <p:cNvSpPr txBox="1"/>
          <p:nvPr/>
        </p:nvSpPr>
        <p:spPr>
          <a:xfrm flipH="1">
            <a:off x="771539" y="2043150"/>
            <a:ext cx="2817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 2, 3, 4, 5, 6, 7, 8, 9}</a:t>
            </a:r>
            <a:endParaRPr sz="2000">
              <a:solidFill>
                <a:schemeClr val="dk1"/>
              </a:solidFill>
              <a:latin typeface="Kalam"/>
              <a:ea typeface="Kalam"/>
              <a:cs typeface="Kalam"/>
              <a:sym typeface="Kalam"/>
            </a:endParaRPr>
          </a:p>
        </p:txBody>
      </p:sp>
      <p:sp>
        <p:nvSpPr>
          <p:cNvPr id="1606" name="Google Shape;1606;p85"/>
          <p:cNvSpPr txBox="1"/>
          <p:nvPr/>
        </p:nvSpPr>
        <p:spPr>
          <a:xfrm>
            <a:off x="324000" y="2545200"/>
            <a:ext cx="4248000" cy="36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What are the two events?</a:t>
            </a:r>
            <a:endParaRPr sz="1800">
              <a:latin typeface="Lexend"/>
              <a:ea typeface="Lexend"/>
              <a:cs typeface="Lexend"/>
              <a:sym typeface="Lexend"/>
            </a:endParaRPr>
          </a:p>
          <a:p>
            <a:pPr indent="0" lvl="0" marL="0" rtl="0" algn="l">
              <a:lnSpc>
                <a:spcPct val="115000"/>
              </a:lnSpc>
              <a:spcBef>
                <a:spcPts val="1000"/>
              </a:spcBef>
              <a:spcAft>
                <a:spcPts val="0"/>
              </a:spcAft>
              <a:buNone/>
            </a:pPr>
            <a:r>
              <a:t/>
            </a:r>
            <a:endParaRPr sz="1800">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sp>
        <p:nvSpPr>
          <p:cNvPr id="1607" name="Google Shape;1607;p85"/>
          <p:cNvSpPr txBox="1"/>
          <p:nvPr/>
        </p:nvSpPr>
        <p:spPr>
          <a:xfrm flipH="1">
            <a:off x="323875" y="2957550"/>
            <a:ext cx="4412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Event 1 = odd numbers = </a:t>
            </a:r>
            <a:r>
              <a:rPr lang="en-GB" sz="2000">
                <a:solidFill>
                  <a:schemeClr val="dk1"/>
                </a:solidFill>
                <a:latin typeface="Kalam"/>
                <a:ea typeface="Kalam"/>
                <a:cs typeface="Kalam"/>
                <a:sym typeface="Kalam"/>
              </a:rPr>
              <a:t>{1, 3, 5, 7, 9}</a:t>
            </a:r>
            <a:endParaRPr sz="2000">
              <a:solidFill>
                <a:schemeClr val="dk1"/>
              </a:solidFill>
              <a:latin typeface="Kalam"/>
              <a:ea typeface="Kalam"/>
              <a:cs typeface="Kalam"/>
              <a:sym typeface="Kalam"/>
            </a:endParaRPr>
          </a:p>
        </p:txBody>
      </p:sp>
      <p:sp>
        <p:nvSpPr>
          <p:cNvPr id="1608" name="Google Shape;1608;p85"/>
          <p:cNvSpPr txBox="1"/>
          <p:nvPr/>
        </p:nvSpPr>
        <p:spPr>
          <a:xfrm flipH="1">
            <a:off x="323825" y="3414750"/>
            <a:ext cx="43581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Event 2 = square numbers = {1, 4, 9}</a:t>
            </a:r>
            <a:endParaRPr sz="2000">
              <a:solidFill>
                <a:schemeClr val="dk1"/>
              </a:solidFill>
              <a:latin typeface="Kalam"/>
              <a:ea typeface="Kalam"/>
              <a:cs typeface="Kalam"/>
              <a:sym typeface="Kalam"/>
            </a:endParaRPr>
          </a:p>
        </p:txBody>
      </p:sp>
      <p:sp>
        <p:nvSpPr>
          <p:cNvPr id="1609" name="Google Shape;1609;p85"/>
          <p:cNvSpPr txBox="1"/>
          <p:nvPr/>
        </p:nvSpPr>
        <p:spPr>
          <a:xfrm>
            <a:off x="324000" y="3840600"/>
            <a:ext cx="5955600" cy="649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GB" sz="1800">
                <a:latin typeface="Lexend"/>
                <a:ea typeface="Lexend"/>
                <a:cs typeface="Lexend"/>
                <a:sym typeface="Lexend"/>
              </a:rPr>
              <a:t>Which of the outcomes are in both events?</a:t>
            </a:r>
            <a:endParaRPr sz="1800">
              <a:latin typeface="Lexend"/>
              <a:ea typeface="Lexend"/>
              <a:cs typeface="Lexend"/>
              <a:sym typeface="Lexend"/>
            </a:endParaRPr>
          </a:p>
          <a:p>
            <a:pPr indent="0" lvl="0" marL="0" rtl="0" algn="l">
              <a:lnSpc>
                <a:spcPct val="115000"/>
              </a:lnSpc>
              <a:spcBef>
                <a:spcPts val="1000"/>
              </a:spcBef>
              <a:spcAft>
                <a:spcPts val="0"/>
              </a:spcAft>
              <a:buNone/>
            </a:pPr>
            <a:r>
              <a:t/>
            </a:r>
            <a:endParaRPr sz="1800">
              <a:latin typeface="Lexend"/>
              <a:ea typeface="Lexend"/>
              <a:cs typeface="Lexend"/>
              <a:sym typeface="Lexend"/>
            </a:endParaRPr>
          </a:p>
          <a:p>
            <a:pPr indent="0" lvl="0" marL="0" rtl="0" algn="l">
              <a:lnSpc>
                <a:spcPct val="115000"/>
              </a:lnSpc>
              <a:spcBef>
                <a:spcPts val="1000"/>
              </a:spcBef>
              <a:spcAft>
                <a:spcPts val="1000"/>
              </a:spcAft>
              <a:buNone/>
            </a:pPr>
            <a:r>
              <a:t/>
            </a:r>
            <a:endParaRPr sz="1800">
              <a:solidFill>
                <a:srgbClr val="000000"/>
              </a:solidFill>
              <a:latin typeface="Lexend"/>
              <a:ea typeface="Lexend"/>
              <a:cs typeface="Lexend"/>
              <a:sym typeface="Lexend"/>
            </a:endParaRPr>
          </a:p>
        </p:txBody>
      </p:sp>
      <p:sp>
        <p:nvSpPr>
          <p:cNvPr id="1610" name="Google Shape;1610;p85"/>
          <p:cNvSpPr txBox="1"/>
          <p:nvPr/>
        </p:nvSpPr>
        <p:spPr>
          <a:xfrm flipH="1">
            <a:off x="923939" y="4176750"/>
            <a:ext cx="28170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 9}</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4" name="Shape 1614"/>
        <p:cNvGrpSpPr/>
        <p:nvPr/>
      </p:nvGrpSpPr>
      <p:grpSpPr>
        <a:xfrm>
          <a:off x="0" y="0"/>
          <a:ext cx="0" cy="0"/>
          <a:chOff x="0" y="0"/>
          <a:chExt cx="0" cy="0"/>
        </a:xfrm>
      </p:grpSpPr>
      <p:sp>
        <p:nvSpPr>
          <p:cNvPr id="1615" name="Google Shape;1615;p86"/>
          <p:cNvSpPr txBox="1"/>
          <p:nvPr>
            <p:ph idx="1" type="body"/>
          </p:nvPr>
        </p:nvSpPr>
        <p:spPr>
          <a:xfrm>
            <a:off x="324000" y="759300"/>
            <a:ext cx="6802200" cy="69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Use this </a:t>
            </a:r>
            <a:r>
              <a:rPr b="1" lang="en-GB"/>
              <a:t>outcome table </a:t>
            </a:r>
            <a:r>
              <a:rPr lang="en-GB"/>
              <a:t>to write down the sample space.</a:t>
            </a:r>
            <a:endParaRPr/>
          </a:p>
        </p:txBody>
      </p:sp>
      <p:sp>
        <p:nvSpPr>
          <p:cNvPr id="1616" name="Google Shape;1616;p8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cxnSp>
        <p:nvCxnSpPr>
          <p:cNvPr id="1617" name="Google Shape;1617;p86"/>
          <p:cNvCxnSpPr/>
          <p:nvPr/>
        </p:nvCxnSpPr>
        <p:spPr>
          <a:xfrm>
            <a:off x="2666250" y="13529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618" name="Google Shape;1618;p86"/>
          <p:cNvCxnSpPr/>
          <p:nvPr/>
        </p:nvCxnSpPr>
        <p:spPr>
          <a:xfrm>
            <a:off x="3863903" y="1352952"/>
            <a:ext cx="0" cy="2542500"/>
          </a:xfrm>
          <a:prstGeom prst="straightConnector1">
            <a:avLst/>
          </a:prstGeom>
          <a:noFill/>
          <a:ln cap="flat" cmpd="sng" w="38100">
            <a:solidFill>
              <a:schemeClr val="dk1"/>
            </a:solidFill>
            <a:prstDash val="solid"/>
            <a:round/>
            <a:headEnd len="med" w="med" type="none"/>
            <a:tailEnd len="med" w="med" type="none"/>
          </a:ln>
        </p:spPr>
      </p:cxnSp>
      <p:cxnSp>
        <p:nvCxnSpPr>
          <p:cNvPr id="1619" name="Google Shape;1619;p86"/>
          <p:cNvCxnSpPr/>
          <p:nvPr/>
        </p:nvCxnSpPr>
        <p:spPr>
          <a:xfrm rot="10800000">
            <a:off x="1252927" y="2239975"/>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620" name="Google Shape;1620;p86"/>
          <p:cNvCxnSpPr/>
          <p:nvPr/>
        </p:nvCxnSpPr>
        <p:spPr>
          <a:xfrm rot="10800000">
            <a:off x="1252927" y="3075716"/>
            <a:ext cx="3815400" cy="0"/>
          </a:xfrm>
          <a:prstGeom prst="straightConnector1">
            <a:avLst/>
          </a:prstGeom>
          <a:noFill/>
          <a:ln cap="flat" cmpd="sng" w="38100">
            <a:solidFill>
              <a:schemeClr val="dk1"/>
            </a:solidFill>
            <a:prstDash val="solid"/>
            <a:round/>
            <a:headEnd len="med" w="med" type="none"/>
            <a:tailEnd len="med" w="med" type="none"/>
          </a:ln>
        </p:spPr>
      </p:cxnSp>
      <p:cxnSp>
        <p:nvCxnSpPr>
          <p:cNvPr id="1621" name="Google Shape;1621;p86"/>
          <p:cNvCxnSpPr/>
          <p:nvPr/>
        </p:nvCxnSpPr>
        <p:spPr>
          <a:xfrm rot="10800000">
            <a:off x="1252927" y="3900875"/>
            <a:ext cx="3815400" cy="0"/>
          </a:xfrm>
          <a:prstGeom prst="straightConnector1">
            <a:avLst/>
          </a:prstGeom>
          <a:noFill/>
          <a:ln cap="flat" cmpd="sng" w="38100">
            <a:solidFill>
              <a:schemeClr val="dk1"/>
            </a:solidFill>
            <a:prstDash val="solid"/>
            <a:round/>
            <a:headEnd len="med" w="med" type="none"/>
            <a:tailEnd len="med" w="med" type="none"/>
          </a:ln>
        </p:spPr>
      </p:cxnSp>
      <p:sp>
        <p:nvSpPr>
          <p:cNvPr id="1622" name="Google Shape;1622;p86"/>
          <p:cNvSpPr txBox="1"/>
          <p:nvPr/>
        </p:nvSpPr>
        <p:spPr>
          <a:xfrm>
            <a:off x="2850627" y="1561038"/>
            <a:ext cx="9018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factor of 12</a:t>
            </a:r>
            <a:endParaRPr sz="1800">
              <a:solidFill>
                <a:schemeClr val="dk1"/>
              </a:solidFill>
              <a:latin typeface="Lexend"/>
              <a:ea typeface="Lexend"/>
              <a:cs typeface="Lexend"/>
              <a:sym typeface="Lexend"/>
            </a:endParaRPr>
          </a:p>
        </p:txBody>
      </p:sp>
      <p:sp>
        <p:nvSpPr>
          <p:cNvPr id="1623" name="Google Shape;1623;p86"/>
          <p:cNvSpPr txBox="1"/>
          <p:nvPr/>
        </p:nvSpPr>
        <p:spPr>
          <a:xfrm>
            <a:off x="3936836" y="1376225"/>
            <a:ext cx="1030200" cy="831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 factor of 12</a:t>
            </a:r>
            <a:endParaRPr sz="1800">
              <a:solidFill>
                <a:schemeClr val="dk1"/>
              </a:solidFill>
              <a:latin typeface="Lexend"/>
              <a:ea typeface="Lexend"/>
              <a:cs typeface="Lexend"/>
              <a:sym typeface="Lexend"/>
            </a:endParaRPr>
          </a:p>
        </p:txBody>
      </p:sp>
      <p:sp>
        <p:nvSpPr>
          <p:cNvPr id="1624" name="Google Shape;1624;p86"/>
          <p:cNvSpPr txBox="1"/>
          <p:nvPr/>
        </p:nvSpPr>
        <p:spPr>
          <a:xfrm>
            <a:off x="1225050" y="2563288"/>
            <a:ext cx="14838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multiple of 3</a:t>
            </a:r>
            <a:endParaRPr sz="1800">
              <a:solidFill>
                <a:schemeClr val="dk1"/>
              </a:solidFill>
              <a:latin typeface="Lexend"/>
              <a:ea typeface="Lexend"/>
              <a:cs typeface="Lexend"/>
              <a:sym typeface="Lexend"/>
            </a:endParaRPr>
          </a:p>
        </p:txBody>
      </p:sp>
      <p:sp>
        <p:nvSpPr>
          <p:cNvPr id="1625" name="Google Shape;1625;p86"/>
          <p:cNvSpPr txBox="1"/>
          <p:nvPr/>
        </p:nvSpPr>
        <p:spPr>
          <a:xfrm>
            <a:off x="1225050" y="3163800"/>
            <a:ext cx="14412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not a multiple of 3</a:t>
            </a:r>
            <a:endParaRPr sz="1800">
              <a:solidFill>
                <a:schemeClr val="dk1"/>
              </a:solidFill>
              <a:latin typeface="Lexend"/>
              <a:ea typeface="Lexend"/>
              <a:cs typeface="Lexend"/>
              <a:sym typeface="Lexend"/>
            </a:endParaRPr>
          </a:p>
        </p:txBody>
      </p:sp>
      <p:sp>
        <p:nvSpPr>
          <p:cNvPr id="1626" name="Google Shape;1626;p86"/>
          <p:cNvSpPr txBox="1"/>
          <p:nvPr/>
        </p:nvSpPr>
        <p:spPr>
          <a:xfrm flipH="1">
            <a:off x="2800118" y="3138900"/>
            <a:ext cx="170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1</a:t>
            </a:r>
            <a:endParaRPr sz="2000">
              <a:solidFill>
                <a:schemeClr val="dk1"/>
              </a:solidFill>
              <a:latin typeface="Lexend"/>
              <a:ea typeface="Lexend"/>
              <a:cs typeface="Lexend"/>
              <a:sym typeface="Lexend"/>
            </a:endParaRPr>
          </a:p>
        </p:txBody>
      </p:sp>
      <p:sp>
        <p:nvSpPr>
          <p:cNvPr id="1627" name="Google Shape;1627;p86"/>
          <p:cNvSpPr txBox="1"/>
          <p:nvPr/>
        </p:nvSpPr>
        <p:spPr>
          <a:xfrm>
            <a:off x="2760068" y="23648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3</a:t>
            </a:r>
            <a:endParaRPr sz="2000">
              <a:solidFill>
                <a:schemeClr val="dk1"/>
              </a:solidFill>
              <a:latin typeface="Lexend"/>
              <a:ea typeface="Lexend"/>
              <a:cs typeface="Lexend"/>
              <a:sym typeface="Lexend"/>
            </a:endParaRPr>
          </a:p>
        </p:txBody>
      </p:sp>
      <p:sp>
        <p:nvSpPr>
          <p:cNvPr id="1628" name="Google Shape;1628;p86"/>
          <p:cNvSpPr txBox="1"/>
          <p:nvPr/>
        </p:nvSpPr>
        <p:spPr>
          <a:xfrm>
            <a:off x="3139668" y="31389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2</a:t>
            </a:r>
            <a:endParaRPr sz="2000">
              <a:solidFill>
                <a:schemeClr val="dk1"/>
              </a:solidFill>
              <a:latin typeface="Lexend"/>
              <a:ea typeface="Lexend"/>
              <a:cs typeface="Lexend"/>
              <a:sym typeface="Lexend"/>
            </a:endParaRPr>
          </a:p>
        </p:txBody>
      </p:sp>
      <p:sp>
        <p:nvSpPr>
          <p:cNvPr id="1629" name="Google Shape;1629;p86"/>
          <p:cNvSpPr txBox="1"/>
          <p:nvPr/>
        </p:nvSpPr>
        <p:spPr>
          <a:xfrm>
            <a:off x="4060218" y="32121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5</a:t>
            </a:r>
            <a:endParaRPr sz="2000">
              <a:solidFill>
                <a:schemeClr val="dk1"/>
              </a:solidFill>
              <a:latin typeface="Lexend"/>
              <a:ea typeface="Lexend"/>
              <a:cs typeface="Lexend"/>
              <a:sym typeface="Lexend"/>
            </a:endParaRPr>
          </a:p>
        </p:txBody>
      </p:sp>
      <p:sp>
        <p:nvSpPr>
          <p:cNvPr id="1630" name="Google Shape;1630;p86"/>
          <p:cNvSpPr txBox="1"/>
          <p:nvPr/>
        </p:nvSpPr>
        <p:spPr>
          <a:xfrm>
            <a:off x="2800118" y="3519888"/>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4</a:t>
            </a:r>
            <a:endParaRPr sz="2000">
              <a:solidFill>
                <a:schemeClr val="dk1"/>
              </a:solidFill>
              <a:latin typeface="Lexend"/>
              <a:ea typeface="Lexend"/>
              <a:cs typeface="Lexend"/>
              <a:sym typeface="Lexend"/>
            </a:endParaRPr>
          </a:p>
        </p:txBody>
      </p:sp>
      <p:sp>
        <p:nvSpPr>
          <p:cNvPr id="1631" name="Google Shape;1631;p86"/>
          <p:cNvSpPr txBox="1"/>
          <p:nvPr/>
        </p:nvSpPr>
        <p:spPr>
          <a:xfrm>
            <a:off x="3179723" y="2376925"/>
            <a:ext cx="170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6</a:t>
            </a:r>
            <a:endParaRPr sz="2000">
              <a:solidFill>
                <a:schemeClr val="dk1"/>
              </a:solidFill>
              <a:latin typeface="Lexend"/>
              <a:ea typeface="Lexend"/>
              <a:cs typeface="Lexend"/>
              <a:sym typeface="Lexend"/>
            </a:endParaRPr>
          </a:p>
        </p:txBody>
      </p:sp>
      <p:sp>
        <p:nvSpPr>
          <p:cNvPr id="1632" name="Google Shape;1632;p86"/>
          <p:cNvSpPr txBox="1"/>
          <p:nvPr/>
        </p:nvSpPr>
        <p:spPr>
          <a:xfrm>
            <a:off x="4507343" y="31638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7</a:t>
            </a:r>
            <a:endParaRPr sz="2000">
              <a:solidFill>
                <a:schemeClr val="dk1"/>
              </a:solidFill>
              <a:latin typeface="Lexend"/>
              <a:ea typeface="Lexend"/>
              <a:cs typeface="Lexend"/>
              <a:sym typeface="Lexend"/>
            </a:endParaRPr>
          </a:p>
        </p:txBody>
      </p:sp>
      <p:sp>
        <p:nvSpPr>
          <p:cNvPr id="1633" name="Google Shape;1633;p86"/>
          <p:cNvSpPr txBox="1"/>
          <p:nvPr/>
        </p:nvSpPr>
        <p:spPr>
          <a:xfrm>
            <a:off x="4256543" y="3519900"/>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8</a:t>
            </a:r>
            <a:endParaRPr sz="2000">
              <a:solidFill>
                <a:schemeClr val="dk1"/>
              </a:solidFill>
              <a:latin typeface="Lexend"/>
              <a:ea typeface="Lexend"/>
              <a:cs typeface="Lexend"/>
              <a:sym typeface="Lexend"/>
            </a:endParaRPr>
          </a:p>
        </p:txBody>
      </p:sp>
      <p:sp>
        <p:nvSpPr>
          <p:cNvPr id="1634" name="Google Shape;1634;p86"/>
          <p:cNvSpPr txBox="1"/>
          <p:nvPr/>
        </p:nvSpPr>
        <p:spPr>
          <a:xfrm>
            <a:off x="4256543" y="2426725"/>
            <a:ext cx="2508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9</a:t>
            </a:r>
            <a:endParaRPr sz="2000">
              <a:solidFill>
                <a:schemeClr val="dk1"/>
              </a:solidFill>
              <a:latin typeface="Lexend"/>
              <a:ea typeface="Lexend"/>
              <a:cs typeface="Lexend"/>
              <a:sym typeface="Lexend"/>
            </a:endParaRPr>
          </a:p>
        </p:txBody>
      </p:sp>
      <p:sp>
        <p:nvSpPr>
          <p:cNvPr id="1635" name="Google Shape;1635;p86"/>
          <p:cNvSpPr txBox="1"/>
          <p:nvPr/>
        </p:nvSpPr>
        <p:spPr>
          <a:xfrm>
            <a:off x="5670625" y="1852200"/>
            <a:ext cx="3046800" cy="61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Sample space </a:t>
            </a:r>
            <a:br>
              <a:rPr lang="en-GB" sz="2000">
                <a:solidFill>
                  <a:schemeClr val="dk1"/>
                </a:solidFill>
                <a:latin typeface="Kalam"/>
                <a:ea typeface="Kalam"/>
                <a:cs typeface="Kalam"/>
                <a:sym typeface="Kalam"/>
              </a:rPr>
            </a:br>
            <a:r>
              <a:rPr lang="en-GB" sz="2000">
                <a:solidFill>
                  <a:schemeClr val="dk1"/>
                </a:solidFill>
                <a:latin typeface="Kalam"/>
                <a:ea typeface="Kalam"/>
                <a:cs typeface="Kalam"/>
                <a:sym typeface="Kalam"/>
              </a:rPr>
              <a:t>= {1, 2, 3, 4, 5, 6, 7, 8, 9}</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9" name="Shape 1639"/>
        <p:cNvGrpSpPr/>
        <p:nvPr/>
      </p:nvGrpSpPr>
      <p:grpSpPr>
        <a:xfrm>
          <a:off x="0" y="0"/>
          <a:ext cx="0" cy="0"/>
          <a:chOff x="0" y="0"/>
          <a:chExt cx="0" cy="0"/>
        </a:xfrm>
      </p:grpSpPr>
      <p:sp>
        <p:nvSpPr>
          <p:cNvPr id="1640" name="Google Shape;1640;p8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a:t>
            </a:r>
            <a:r>
              <a:rPr lang="en-GB"/>
              <a:t> table from two events</a:t>
            </a:r>
            <a:endParaRPr/>
          </a:p>
        </p:txBody>
      </p:sp>
      <p:sp>
        <p:nvSpPr>
          <p:cNvPr id="1641" name="Google Shape;1641;p87"/>
          <p:cNvSpPr txBox="1"/>
          <p:nvPr>
            <p:ph idx="1" type="body"/>
          </p:nvPr>
        </p:nvSpPr>
        <p:spPr>
          <a:xfrm>
            <a:off x="324000" y="759300"/>
            <a:ext cx="7104600" cy="1068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a:t>
            </a:r>
            <a:r>
              <a:rPr lang="en-GB" sz="1800"/>
              <a:t>) The spinner will be spun. </a:t>
            </a:r>
            <a:br>
              <a:rPr lang="en-GB" sz="1800"/>
            </a:br>
            <a:r>
              <a:rPr lang="en-GB" sz="1800"/>
              <a:t>The two events are even numbers and factors of 14. </a:t>
            </a:r>
            <a:endParaRPr sz="1800"/>
          </a:p>
          <a:p>
            <a:pPr indent="0" lvl="0" marL="0" rtl="0" algn="l">
              <a:spcBef>
                <a:spcPts val="1000"/>
              </a:spcBef>
              <a:spcAft>
                <a:spcPts val="1000"/>
              </a:spcAft>
              <a:buNone/>
            </a:pPr>
            <a:r>
              <a:rPr lang="en-GB" sz="1800"/>
              <a:t>Complete this </a:t>
            </a:r>
            <a:r>
              <a:rPr b="1" lang="en-GB" sz="1800"/>
              <a:t>outcome table </a:t>
            </a:r>
            <a:r>
              <a:rPr lang="en-GB" sz="1800"/>
              <a:t>to show the outcomes for each event. </a:t>
            </a:r>
            <a:endParaRPr sz="1800"/>
          </a:p>
        </p:txBody>
      </p:sp>
      <p:sp>
        <p:nvSpPr>
          <p:cNvPr id="1642" name="Google Shape;1642;p87"/>
          <p:cNvSpPr/>
          <p:nvPr/>
        </p:nvSpPr>
        <p:spPr>
          <a:xfrm>
            <a:off x="7290200" y="772850"/>
            <a:ext cx="1433700" cy="14337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3" name="Google Shape;1643;p87"/>
          <p:cNvSpPr/>
          <p:nvPr/>
        </p:nvSpPr>
        <p:spPr>
          <a:xfrm flipH="1">
            <a:off x="7302617" y="785328"/>
            <a:ext cx="1408800" cy="1408800"/>
          </a:xfrm>
          <a:prstGeom prst="pie">
            <a:avLst>
              <a:gd fmla="val 5387953" name="adj1"/>
              <a:gd fmla="val 10824216"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4" name="Google Shape;1644;p87"/>
          <p:cNvSpPr/>
          <p:nvPr/>
        </p:nvSpPr>
        <p:spPr>
          <a:xfrm>
            <a:off x="7302678" y="785328"/>
            <a:ext cx="1408800" cy="1408800"/>
          </a:xfrm>
          <a:prstGeom prst="pie">
            <a:avLst>
              <a:gd fmla="val 5387953" name="adj1"/>
              <a:gd fmla="val 8080958" name="adj2"/>
            </a:avLst>
          </a:prstGeom>
          <a:solidFill>
            <a:schemeClr val="accent4"/>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5" name="Google Shape;1645;p87"/>
          <p:cNvSpPr txBox="1"/>
          <p:nvPr/>
        </p:nvSpPr>
        <p:spPr>
          <a:xfrm>
            <a:off x="7653698" y="1753841"/>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sp>
        <p:nvSpPr>
          <p:cNvPr id="1646" name="Google Shape;1646;p87"/>
          <p:cNvSpPr/>
          <p:nvPr/>
        </p:nvSpPr>
        <p:spPr>
          <a:xfrm>
            <a:off x="7302678" y="785328"/>
            <a:ext cx="1408800" cy="1408800"/>
          </a:xfrm>
          <a:prstGeom prst="pie">
            <a:avLst>
              <a:gd fmla="val 10799941" name="adj1"/>
              <a:gd fmla="val 13483876" name="adj2"/>
            </a:avLst>
          </a:prstGeom>
          <a:solidFill>
            <a:schemeClr val="accent4"/>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7" name="Google Shape;1647;p87"/>
          <p:cNvSpPr txBox="1"/>
          <p:nvPr/>
        </p:nvSpPr>
        <p:spPr>
          <a:xfrm>
            <a:off x="7352736" y="1042134"/>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648" name="Google Shape;1648;p87"/>
          <p:cNvSpPr/>
          <p:nvPr/>
        </p:nvSpPr>
        <p:spPr>
          <a:xfrm flipH="1">
            <a:off x="7302617" y="785328"/>
            <a:ext cx="1408800" cy="1408800"/>
          </a:xfrm>
          <a:prstGeom prst="pie">
            <a:avLst>
              <a:gd fmla="val 13450827"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9" name="Google Shape;1649;p87"/>
          <p:cNvSpPr txBox="1"/>
          <p:nvPr/>
        </p:nvSpPr>
        <p:spPr>
          <a:xfrm>
            <a:off x="8070146" y="788878"/>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8</a:t>
            </a:r>
            <a:endParaRPr sz="1600">
              <a:solidFill>
                <a:srgbClr val="FFFFFF"/>
              </a:solidFill>
              <a:latin typeface="Lexend"/>
              <a:ea typeface="Lexend"/>
              <a:cs typeface="Lexend"/>
              <a:sym typeface="Lexend"/>
            </a:endParaRPr>
          </a:p>
        </p:txBody>
      </p:sp>
      <p:sp>
        <p:nvSpPr>
          <p:cNvPr id="1650" name="Google Shape;1650;p87"/>
          <p:cNvSpPr/>
          <p:nvPr/>
        </p:nvSpPr>
        <p:spPr>
          <a:xfrm>
            <a:off x="7302678" y="785328"/>
            <a:ext cx="1408800" cy="1408800"/>
          </a:xfrm>
          <a:prstGeom prst="pie">
            <a:avLst>
              <a:gd fmla="val 13499013" name="adj1"/>
              <a:gd fmla="val 16232488"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1" name="Google Shape;1651;p87"/>
          <p:cNvSpPr txBox="1"/>
          <p:nvPr/>
        </p:nvSpPr>
        <p:spPr>
          <a:xfrm>
            <a:off x="7686603" y="784468"/>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652" name="Google Shape;1652;p87"/>
          <p:cNvSpPr/>
          <p:nvPr/>
        </p:nvSpPr>
        <p:spPr>
          <a:xfrm>
            <a:off x="7302678" y="785328"/>
            <a:ext cx="1408800" cy="1408800"/>
          </a:xfrm>
          <a:prstGeom prst="pie">
            <a:avLst>
              <a:gd fmla="val 8080793" name="adj1"/>
              <a:gd fmla="val 10858220"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3" name="Google Shape;1653;p87"/>
          <p:cNvSpPr txBox="1"/>
          <p:nvPr/>
        </p:nvSpPr>
        <p:spPr>
          <a:xfrm>
            <a:off x="7365324" y="1476160"/>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654" name="Google Shape;1654;p87"/>
          <p:cNvSpPr/>
          <p:nvPr/>
        </p:nvSpPr>
        <p:spPr>
          <a:xfrm flipH="1">
            <a:off x="7302617" y="785328"/>
            <a:ext cx="1408800" cy="1408800"/>
          </a:xfrm>
          <a:prstGeom prst="pie">
            <a:avLst>
              <a:gd fmla="val 10765400" name="adj1"/>
              <a:gd fmla="val 13465582" name="adj2"/>
            </a:avLst>
          </a:prstGeom>
          <a:solidFill>
            <a:schemeClr val="accent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5" name="Google Shape;1655;p87"/>
          <p:cNvSpPr txBox="1"/>
          <p:nvPr/>
        </p:nvSpPr>
        <p:spPr>
          <a:xfrm>
            <a:off x="8358021" y="1078056"/>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7</a:t>
            </a:r>
            <a:endParaRPr sz="1600">
              <a:solidFill>
                <a:srgbClr val="FFFFFF"/>
              </a:solidFill>
              <a:latin typeface="Lexend"/>
              <a:ea typeface="Lexend"/>
              <a:cs typeface="Lexend"/>
              <a:sym typeface="Lexend"/>
            </a:endParaRPr>
          </a:p>
        </p:txBody>
      </p:sp>
      <p:sp>
        <p:nvSpPr>
          <p:cNvPr id="1656" name="Google Shape;1656;p87"/>
          <p:cNvSpPr/>
          <p:nvPr/>
        </p:nvSpPr>
        <p:spPr>
          <a:xfrm flipH="1">
            <a:off x="7302617" y="785328"/>
            <a:ext cx="1408800" cy="1408800"/>
          </a:xfrm>
          <a:prstGeom prst="pie">
            <a:avLst>
              <a:gd fmla="val 5387953" name="adj1"/>
              <a:gd fmla="val 8084426" name="adj2"/>
            </a:avLst>
          </a:prstGeom>
          <a:solidFill>
            <a:schemeClr val="accent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57" name="Google Shape;1657;p87"/>
          <p:cNvSpPr txBox="1"/>
          <p:nvPr/>
        </p:nvSpPr>
        <p:spPr>
          <a:xfrm>
            <a:off x="8071887" y="1745182"/>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5</a:t>
            </a:r>
            <a:endParaRPr sz="1600">
              <a:solidFill>
                <a:srgbClr val="FFFFFF"/>
              </a:solidFill>
              <a:latin typeface="Lexend"/>
              <a:ea typeface="Lexend"/>
              <a:cs typeface="Lexend"/>
              <a:sym typeface="Lexend"/>
            </a:endParaRPr>
          </a:p>
        </p:txBody>
      </p:sp>
      <p:sp>
        <p:nvSpPr>
          <p:cNvPr id="1658" name="Google Shape;1658;p87"/>
          <p:cNvSpPr txBox="1"/>
          <p:nvPr/>
        </p:nvSpPr>
        <p:spPr>
          <a:xfrm>
            <a:off x="8331125" y="1466574"/>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6</a:t>
            </a:r>
            <a:endParaRPr sz="1600">
              <a:solidFill>
                <a:srgbClr val="FFFFFF"/>
              </a:solidFill>
              <a:latin typeface="Lexend"/>
              <a:ea typeface="Lexend"/>
              <a:cs typeface="Lexend"/>
              <a:sym typeface="Lexend"/>
            </a:endParaRPr>
          </a:p>
        </p:txBody>
      </p:sp>
      <p:grpSp>
        <p:nvGrpSpPr>
          <p:cNvPr id="1659" name="Google Shape;1659;p87"/>
          <p:cNvGrpSpPr/>
          <p:nvPr/>
        </p:nvGrpSpPr>
        <p:grpSpPr>
          <a:xfrm>
            <a:off x="7965943" y="828225"/>
            <a:ext cx="79383" cy="690577"/>
            <a:chOff x="996050" y="213293"/>
            <a:chExt cx="93900" cy="909732"/>
          </a:xfrm>
        </p:grpSpPr>
        <p:cxnSp>
          <p:nvCxnSpPr>
            <p:cNvPr id="1660" name="Google Shape;1660;p87"/>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661" name="Google Shape;1661;p87"/>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662" name="Google Shape;1662;p87"/>
          <p:cNvCxnSpPr/>
          <p:nvPr/>
        </p:nvCxnSpPr>
        <p:spPr>
          <a:xfrm>
            <a:off x="3060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663" name="Google Shape;1663;p87"/>
          <p:cNvCxnSpPr/>
          <p:nvPr/>
        </p:nvCxnSpPr>
        <p:spPr>
          <a:xfrm>
            <a:off x="4203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664" name="Google Shape;1664;p87"/>
          <p:cNvCxnSpPr/>
          <p:nvPr/>
        </p:nvCxnSpPr>
        <p:spPr>
          <a:xfrm>
            <a:off x="5346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665" name="Google Shape;1665;p87"/>
          <p:cNvCxnSpPr/>
          <p:nvPr/>
        </p:nvCxnSpPr>
        <p:spPr>
          <a:xfrm rot="10800000">
            <a:off x="1684706" y="4320000"/>
            <a:ext cx="3669000" cy="0"/>
          </a:xfrm>
          <a:prstGeom prst="straightConnector1">
            <a:avLst/>
          </a:prstGeom>
          <a:noFill/>
          <a:ln cap="flat" cmpd="sng" w="38100">
            <a:solidFill>
              <a:schemeClr val="dk1"/>
            </a:solidFill>
            <a:prstDash val="solid"/>
            <a:round/>
            <a:headEnd len="med" w="med" type="none"/>
            <a:tailEnd len="med" w="med" type="none"/>
          </a:ln>
        </p:spPr>
      </p:cxnSp>
      <p:cxnSp>
        <p:nvCxnSpPr>
          <p:cNvPr id="1666" name="Google Shape;1666;p87"/>
          <p:cNvCxnSpPr/>
          <p:nvPr/>
        </p:nvCxnSpPr>
        <p:spPr>
          <a:xfrm rot="10800000">
            <a:off x="1694550" y="2944625"/>
            <a:ext cx="3669000" cy="0"/>
          </a:xfrm>
          <a:prstGeom prst="straightConnector1">
            <a:avLst/>
          </a:prstGeom>
          <a:noFill/>
          <a:ln cap="flat" cmpd="sng" w="38100">
            <a:solidFill>
              <a:schemeClr val="dk1"/>
            </a:solidFill>
            <a:prstDash val="solid"/>
            <a:round/>
            <a:headEnd len="med" w="med" type="none"/>
            <a:tailEnd len="med" w="med" type="none"/>
          </a:ln>
        </p:spPr>
      </p:cxnSp>
      <p:cxnSp>
        <p:nvCxnSpPr>
          <p:cNvPr id="1667" name="Google Shape;1667;p87"/>
          <p:cNvCxnSpPr/>
          <p:nvPr/>
        </p:nvCxnSpPr>
        <p:spPr>
          <a:xfrm rot="10800000">
            <a:off x="1694550" y="3640250"/>
            <a:ext cx="3669000" cy="0"/>
          </a:xfrm>
          <a:prstGeom prst="straightConnector1">
            <a:avLst/>
          </a:prstGeom>
          <a:noFill/>
          <a:ln cap="flat" cmpd="sng" w="38100">
            <a:solidFill>
              <a:schemeClr val="dk1"/>
            </a:solidFill>
            <a:prstDash val="solid"/>
            <a:round/>
            <a:headEnd len="med" w="med" type="none"/>
            <a:tailEnd len="med" w="med" type="none"/>
          </a:ln>
        </p:spPr>
      </p:cxnSp>
      <p:sp>
        <p:nvSpPr>
          <p:cNvPr id="1668" name="Google Shape;1668;p87"/>
          <p:cNvSpPr txBox="1"/>
          <p:nvPr>
            <p:ph idx="1" type="body"/>
          </p:nvPr>
        </p:nvSpPr>
        <p:spPr>
          <a:xfrm>
            <a:off x="3161700" y="2350875"/>
            <a:ext cx="11700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r>
              <a:rPr lang="en-GB" sz="1800"/>
              <a:t>ven numbers</a:t>
            </a:r>
            <a:endParaRPr sz="1800"/>
          </a:p>
        </p:txBody>
      </p:sp>
      <p:sp>
        <p:nvSpPr>
          <p:cNvPr id="1669" name="Google Shape;1669;p87"/>
          <p:cNvSpPr txBox="1"/>
          <p:nvPr>
            <p:ph idx="1" type="body"/>
          </p:nvPr>
        </p:nvSpPr>
        <p:spPr>
          <a:xfrm>
            <a:off x="4304700" y="2350875"/>
            <a:ext cx="11700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a:t>
            </a:r>
            <a:r>
              <a:rPr lang="en-GB" sz="1800"/>
              <a:t> </a:t>
            </a:r>
            <a:r>
              <a:rPr lang="en-GB" sz="1800"/>
              <a:t>numbers</a:t>
            </a:r>
            <a:endParaRPr sz="1800"/>
          </a:p>
        </p:txBody>
      </p:sp>
      <p:sp>
        <p:nvSpPr>
          <p:cNvPr id="1670" name="Google Shape;1670;p87"/>
          <p:cNvSpPr txBox="1"/>
          <p:nvPr>
            <p:ph idx="1" type="body"/>
          </p:nvPr>
        </p:nvSpPr>
        <p:spPr>
          <a:xfrm>
            <a:off x="1626375" y="3101038"/>
            <a:ext cx="1433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r>
              <a:rPr lang="en-GB" sz="1800"/>
              <a:t>actors of 14</a:t>
            </a:r>
            <a:endParaRPr sz="1800"/>
          </a:p>
        </p:txBody>
      </p:sp>
      <p:sp>
        <p:nvSpPr>
          <p:cNvPr id="1671" name="Google Shape;1671;p87"/>
          <p:cNvSpPr txBox="1"/>
          <p:nvPr>
            <p:ph idx="1" type="body"/>
          </p:nvPr>
        </p:nvSpPr>
        <p:spPr>
          <a:xfrm>
            <a:off x="1728975" y="3705500"/>
            <a:ext cx="14088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a:t>
            </a:r>
            <a:r>
              <a:rPr lang="en-GB" sz="1800"/>
              <a:t>ot factors of 14</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5" name="Shape 1675"/>
        <p:cNvGrpSpPr/>
        <p:nvPr/>
      </p:nvGrpSpPr>
      <p:grpSpPr>
        <a:xfrm>
          <a:off x="0" y="0"/>
          <a:ext cx="0" cy="0"/>
          <a:chOff x="0" y="0"/>
          <a:chExt cx="0" cy="0"/>
        </a:xfrm>
      </p:grpSpPr>
      <p:sp>
        <p:nvSpPr>
          <p:cNvPr id="1676" name="Google Shape;1676;p8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677" name="Google Shape;1677;p88"/>
          <p:cNvSpPr txBox="1"/>
          <p:nvPr>
            <p:ph idx="1" type="body"/>
          </p:nvPr>
        </p:nvSpPr>
        <p:spPr>
          <a:xfrm>
            <a:off x="324000" y="721900"/>
            <a:ext cx="7104600" cy="96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Sort these drinks into the </a:t>
            </a:r>
            <a:r>
              <a:rPr b="1" lang="en-GB" sz="1800"/>
              <a:t>outcome </a:t>
            </a:r>
            <a:r>
              <a:rPr lang="en-GB" sz="1800"/>
              <a:t>table.  </a:t>
            </a:r>
            <a:endParaRPr sz="1800"/>
          </a:p>
        </p:txBody>
      </p:sp>
      <p:cxnSp>
        <p:nvCxnSpPr>
          <p:cNvPr id="1678" name="Google Shape;1678;p88"/>
          <p:cNvCxnSpPr/>
          <p:nvPr/>
        </p:nvCxnSpPr>
        <p:spPr>
          <a:xfrm>
            <a:off x="3669675" y="25572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679" name="Google Shape;1679;p88"/>
          <p:cNvCxnSpPr/>
          <p:nvPr/>
        </p:nvCxnSpPr>
        <p:spPr>
          <a:xfrm>
            <a:off x="4888875" y="25572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680" name="Google Shape;1680;p88"/>
          <p:cNvCxnSpPr/>
          <p:nvPr/>
        </p:nvCxnSpPr>
        <p:spPr>
          <a:xfrm>
            <a:off x="6094475" y="2541075"/>
            <a:ext cx="0" cy="1952100"/>
          </a:xfrm>
          <a:prstGeom prst="straightConnector1">
            <a:avLst/>
          </a:prstGeom>
          <a:noFill/>
          <a:ln cap="flat" cmpd="sng" w="38100">
            <a:solidFill>
              <a:schemeClr val="dk1"/>
            </a:solidFill>
            <a:prstDash val="solid"/>
            <a:round/>
            <a:headEnd len="med" w="med" type="none"/>
            <a:tailEnd len="med" w="med" type="none"/>
          </a:ln>
        </p:spPr>
      </p:cxnSp>
      <p:cxnSp>
        <p:nvCxnSpPr>
          <p:cNvPr id="1681" name="Google Shape;1681;p88"/>
          <p:cNvCxnSpPr/>
          <p:nvPr/>
        </p:nvCxnSpPr>
        <p:spPr>
          <a:xfrm rot="10800000">
            <a:off x="2370510" y="4472400"/>
            <a:ext cx="3714000" cy="0"/>
          </a:xfrm>
          <a:prstGeom prst="straightConnector1">
            <a:avLst/>
          </a:prstGeom>
          <a:noFill/>
          <a:ln cap="flat" cmpd="sng" w="38100">
            <a:solidFill>
              <a:schemeClr val="dk1"/>
            </a:solidFill>
            <a:prstDash val="solid"/>
            <a:round/>
            <a:headEnd len="med" w="med" type="none"/>
            <a:tailEnd len="med" w="med" type="none"/>
          </a:ln>
        </p:spPr>
      </p:cxnSp>
      <p:cxnSp>
        <p:nvCxnSpPr>
          <p:cNvPr id="1682" name="Google Shape;1682;p88"/>
          <p:cNvCxnSpPr/>
          <p:nvPr/>
        </p:nvCxnSpPr>
        <p:spPr>
          <a:xfrm rot="10800000">
            <a:off x="2380475" y="3097025"/>
            <a:ext cx="3714000" cy="0"/>
          </a:xfrm>
          <a:prstGeom prst="straightConnector1">
            <a:avLst/>
          </a:prstGeom>
          <a:noFill/>
          <a:ln cap="flat" cmpd="sng" w="38100">
            <a:solidFill>
              <a:schemeClr val="dk1"/>
            </a:solidFill>
            <a:prstDash val="solid"/>
            <a:round/>
            <a:headEnd len="med" w="med" type="none"/>
            <a:tailEnd len="med" w="med" type="none"/>
          </a:ln>
        </p:spPr>
      </p:cxnSp>
      <p:cxnSp>
        <p:nvCxnSpPr>
          <p:cNvPr id="1683" name="Google Shape;1683;p88"/>
          <p:cNvCxnSpPr/>
          <p:nvPr/>
        </p:nvCxnSpPr>
        <p:spPr>
          <a:xfrm rot="10800000">
            <a:off x="2380475" y="3792650"/>
            <a:ext cx="3714000" cy="0"/>
          </a:xfrm>
          <a:prstGeom prst="straightConnector1">
            <a:avLst/>
          </a:prstGeom>
          <a:noFill/>
          <a:ln cap="flat" cmpd="sng" w="38100">
            <a:solidFill>
              <a:schemeClr val="dk1"/>
            </a:solidFill>
            <a:prstDash val="solid"/>
            <a:round/>
            <a:headEnd len="med" w="med" type="none"/>
            <a:tailEnd len="med" w="med" type="none"/>
          </a:ln>
        </p:spPr>
      </p:cxnSp>
      <p:sp>
        <p:nvSpPr>
          <p:cNvPr id="1684" name="Google Shape;1684;p88"/>
          <p:cNvSpPr txBox="1"/>
          <p:nvPr>
            <p:ph idx="1" type="body"/>
          </p:nvPr>
        </p:nvSpPr>
        <p:spPr>
          <a:xfrm>
            <a:off x="3745875" y="2693450"/>
            <a:ext cx="11430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handle</a:t>
            </a:r>
            <a:endParaRPr sz="1800"/>
          </a:p>
        </p:txBody>
      </p:sp>
      <p:sp>
        <p:nvSpPr>
          <p:cNvPr id="1685" name="Google Shape;1685;p88"/>
          <p:cNvSpPr txBox="1"/>
          <p:nvPr>
            <p:ph idx="1" type="body"/>
          </p:nvPr>
        </p:nvSpPr>
        <p:spPr>
          <a:xfrm>
            <a:off x="4938723" y="2693449"/>
            <a:ext cx="11700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a:t>
            </a:r>
            <a:r>
              <a:rPr lang="en-GB" sz="1800"/>
              <a:t>o handle</a:t>
            </a:r>
            <a:endParaRPr sz="1800"/>
          </a:p>
        </p:txBody>
      </p:sp>
      <p:sp>
        <p:nvSpPr>
          <p:cNvPr id="1686" name="Google Shape;1686;p88"/>
          <p:cNvSpPr txBox="1"/>
          <p:nvPr>
            <p:ph idx="1" type="body"/>
          </p:nvPr>
        </p:nvSpPr>
        <p:spPr>
          <a:xfrm>
            <a:off x="2441950" y="3287619"/>
            <a:ext cx="1170000" cy="25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straw</a:t>
            </a:r>
            <a:endParaRPr sz="1800"/>
          </a:p>
        </p:txBody>
      </p:sp>
      <p:sp>
        <p:nvSpPr>
          <p:cNvPr id="1687" name="Google Shape;1687;p88"/>
          <p:cNvSpPr txBox="1"/>
          <p:nvPr>
            <p:ph idx="1" type="body"/>
          </p:nvPr>
        </p:nvSpPr>
        <p:spPr>
          <a:xfrm>
            <a:off x="2436275" y="3942622"/>
            <a:ext cx="12216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straw</a:t>
            </a:r>
            <a:endParaRPr sz="1800"/>
          </a:p>
        </p:txBody>
      </p:sp>
      <p:sp>
        <p:nvSpPr>
          <p:cNvPr id="1688" name="Google Shape;1688;p88"/>
          <p:cNvSpPr txBox="1"/>
          <p:nvPr>
            <p:ph idx="1" type="body"/>
          </p:nvPr>
        </p:nvSpPr>
        <p:spPr>
          <a:xfrm>
            <a:off x="1349199"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689" name="Google Shape;1689;p88"/>
          <p:cNvSpPr txBox="1"/>
          <p:nvPr>
            <p:ph idx="1" type="body"/>
          </p:nvPr>
        </p:nvSpPr>
        <p:spPr>
          <a:xfrm>
            <a:off x="2074284"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1690" name="Google Shape;1690;p88"/>
          <p:cNvSpPr txBox="1"/>
          <p:nvPr>
            <p:ph idx="1" type="body"/>
          </p:nvPr>
        </p:nvSpPr>
        <p:spPr>
          <a:xfrm>
            <a:off x="2770288"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1691" name="Google Shape;1691;p88"/>
          <p:cNvSpPr txBox="1"/>
          <p:nvPr>
            <p:ph idx="1" type="body"/>
          </p:nvPr>
        </p:nvSpPr>
        <p:spPr>
          <a:xfrm>
            <a:off x="3475985"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1692" name="Google Shape;1692;p88"/>
          <p:cNvSpPr txBox="1"/>
          <p:nvPr>
            <p:ph idx="1" type="body"/>
          </p:nvPr>
        </p:nvSpPr>
        <p:spPr>
          <a:xfrm>
            <a:off x="4201069"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endParaRPr sz="1800"/>
          </a:p>
        </p:txBody>
      </p:sp>
      <p:sp>
        <p:nvSpPr>
          <p:cNvPr id="1693" name="Google Shape;1693;p88"/>
          <p:cNvSpPr txBox="1"/>
          <p:nvPr>
            <p:ph idx="1" type="body"/>
          </p:nvPr>
        </p:nvSpPr>
        <p:spPr>
          <a:xfrm>
            <a:off x="4939725"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endParaRPr sz="1800"/>
          </a:p>
        </p:txBody>
      </p:sp>
      <p:sp>
        <p:nvSpPr>
          <p:cNvPr id="1694" name="Google Shape;1694;p88"/>
          <p:cNvSpPr txBox="1"/>
          <p:nvPr>
            <p:ph idx="1" type="body"/>
          </p:nvPr>
        </p:nvSpPr>
        <p:spPr>
          <a:xfrm>
            <a:off x="5645422"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a:t>
            </a:r>
            <a:endParaRPr sz="1800"/>
          </a:p>
        </p:txBody>
      </p:sp>
      <p:sp>
        <p:nvSpPr>
          <p:cNvPr id="1695" name="Google Shape;1695;p88"/>
          <p:cNvSpPr txBox="1"/>
          <p:nvPr>
            <p:ph idx="1" type="body"/>
          </p:nvPr>
        </p:nvSpPr>
        <p:spPr>
          <a:xfrm>
            <a:off x="6422853"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t>
            </a:r>
            <a:endParaRPr sz="1800"/>
          </a:p>
        </p:txBody>
      </p:sp>
      <p:sp>
        <p:nvSpPr>
          <p:cNvPr id="1696" name="Google Shape;1696;p88"/>
          <p:cNvSpPr txBox="1"/>
          <p:nvPr>
            <p:ph idx="1" type="body"/>
          </p:nvPr>
        </p:nvSpPr>
        <p:spPr>
          <a:xfrm>
            <a:off x="7157631"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a:t>
            </a:r>
            <a:endParaRPr sz="1800"/>
          </a:p>
        </p:txBody>
      </p:sp>
      <p:pic>
        <p:nvPicPr>
          <p:cNvPr id="1697" name="Google Shape;1697;p88"/>
          <p:cNvPicPr preferRelativeResize="0"/>
          <p:nvPr/>
        </p:nvPicPr>
        <p:blipFill>
          <a:blip r:embed="rId3">
            <a:alphaModFix/>
          </a:blip>
          <a:stretch>
            <a:fillRect/>
          </a:stretch>
        </p:blipFill>
        <p:spPr>
          <a:xfrm>
            <a:off x="1263375" y="1187555"/>
            <a:ext cx="468912" cy="657056"/>
          </a:xfrm>
          <a:prstGeom prst="rect">
            <a:avLst/>
          </a:prstGeom>
          <a:noFill/>
          <a:ln>
            <a:noFill/>
          </a:ln>
        </p:spPr>
      </p:pic>
      <p:pic>
        <p:nvPicPr>
          <p:cNvPr id="1698" name="Google Shape;1698;p88"/>
          <p:cNvPicPr preferRelativeResize="0"/>
          <p:nvPr/>
        </p:nvPicPr>
        <p:blipFill>
          <a:blip r:embed="rId4">
            <a:alphaModFix/>
          </a:blip>
          <a:stretch>
            <a:fillRect/>
          </a:stretch>
        </p:blipFill>
        <p:spPr>
          <a:xfrm>
            <a:off x="5579858" y="1276591"/>
            <a:ext cx="428389" cy="581799"/>
          </a:xfrm>
          <a:prstGeom prst="rect">
            <a:avLst/>
          </a:prstGeom>
          <a:noFill/>
          <a:ln>
            <a:noFill/>
          </a:ln>
        </p:spPr>
      </p:pic>
      <p:pic>
        <p:nvPicPr>
          <p:cNvPr id="1699" name="Google Shape;1699;p88"/>
          <p:cNvPicPr preferRelativeResize="0"/>
          <p:nvPr/>
        </p:nvPicPr>
        <p:blipFill>
          <a:blip r:embed="rId5">
            <a:alphaModFix/>
          </a:blip>
          <a:stretch>
            <a:fillRect/>
          </a:stretch>
        </p:blipFill>
        <p:spPr>
          <a:xfrm>
            <a:off x="3411085" y="1183206"/>
            <a:ext cx="408127" cy="735208"/>
          </a:xfrm>
          <a:prstGeom prst="rect">
            <a:avLst/>
          </a:prstGeom>
          <a:noFill/>
          <a:ln>
            <a:noFill/>
          </a:ln>
        </p:spPr>
      </p:pic>
      <p:pic>
        <p:nvPicPr>
          <p:cNvPr id="1700" name="Google Shape;1700;p88"/>
          <p:cNvPicPr preferRelativeResize="0"/>
          <p:nvPr/>
        </p:nvPicPr>
        <p:blipFill>
          <a:blip r:embed="rId6">
            <a:alphaModFix/>
          </a:blip>
          <a:stretch>
            <a:fillRect/>
          </a:stretch>
        </p:blipFill>
        <p:spPr>
          <a:xfrm>
            <a:off x="6385265" y="1223059"/>
            <a:ext cx="362147" cy="688895"/>
          </a:xfrm>
          <a:prstGeom prst="rect">
            <a:avLst/>
          </a:prstGeom>
          <a:noFill/>
          <a:ln>
            <a:noFill/>
          </a:ln>
        </p:spPr>
      </p:pic>
      <p:pic>
        <p:nvPicPr>
          <p:cNvPr id="1701" name="Google Shape;1701;p88"/>
          <p:cNvPicPr preferRelativeResize="0"/>
          <p:nvPr/>
        </p:nvPicPr>
        <p:blipFill>
          <a:blip r:embed="rId7">
            <a:alphaModFix/>
          </a:blip>
          <a:stretch>
            <a:fillRect/>
          </a:stretch>
        </p:blipFill>
        <p:spPr>
          <a:xfrm>
            <a:off x="4070989" y="1156199"/>
            <a:ext cx="413916" cy="755470"/>
          </a:xfrm>
          <a:prstGeom prst="rect">
            <a:avLst/>
          </a:prstGeom>
          <a:noFill/>
          <a:ln>
            <a:noFill/>
          </a:ln>
        </p:spPr>
      </p:pic>
      <p:pic>
        <p:nvPicPr>
          <p:cNvPr id="1702" name="Google Shape;1702;p88"/>
          <p:cNvPicPr preferRelativeResize="0"/>
          <p:nvPr/>
        </p:nvPicPr>
        <p:blipFill>
          <a:blip r:embed="rId8">
            <a:alphaModFix/>
          </a:blip>
          <a:stretch>
            <a:fillRect/>
          </a:stretch>
        </p:blipFill>
        <p:spPr>
          <a:xfrm>
            <a:off x="7045163" y="1233184"/>
            <a:ext cx="413139" cy="668634"/>
          </a:xfrm>
          <a:prstGeom prst="rect">
            <a:avLst/>
          </a:prstGeom>
          <a:noFill/>
          <a:ln>
            <a:noFill/>
          </a:ln>
        </p:spPr>
      </p:pic>
      <p:grpSp>
        <p:nvGrpSpPr>
          <p:cNvPr id="1703" name="Google Shape;1703;p88"/>
          <p:cNvGrpSpPr/>
          <p:nvPr/>
        </p:nvGrpSpPr>
        <p:grpSpPr>
          <a:xfrm>
            <a:off x="1984114" y="1120943"/>
            <a:ext cx="477596" cy="712090"/>
            <a:chOff x="1984114" y="1120943"/>
            <a:chExt cx="477596" cy="712090"/>
          </a:xfrm>
        </p:grpSpPr>
        <p:pic>
          <p:nvPicPr>
            <p:cNvPr id="1704" name="Google Shape;1704;p88"/>
            <p:cNvPicPr preferRelativeResize="0"/>
            <p:nvPr/>
          </p:nvPicPr>
          <p:blipFill>
            <a:blip r:embed="rId9">
              <a:alphaModFix/>
            </a:blip>
            <a:stretch>
              <a:fillRect/>
            </a:stretch>
          </p:blipFill>
          <p:spPr>
            <a:xfrm>
              <a:off x="1984114" y="1199133"/>
              <a:ext cx="477596" cy="633900"/>
            </a:xfrm>
            <a:prstGeom prst="rect">
              <a:avLst/>
            </a:prstGeom>
            <a:noFill/>
            <a:ln>
              <a:noFill/>
            </a:ln>
          </p:spPr>
        </p:pic>
        <p:pic>
          <p:nvPicPr>
            <p:cNvPr id="1705" name="Google Shape;1705;p88"/>
            <p:cNvPicPr preferRelativeResize="0"/>
            <p:nvPr/>
          </p:nvPicPr>
          <p:blipFill rotWithShape="1">
            <a:blip r:embed="rId7">
              <a:alphaModFix/>
            </a:blip>
            <a:srcRect b="81988" l="0" r="0" t="0"/>
            <a:stretch/>
          </p:blipFill>
          <p:spPr>
            <a:xfrm>
              <a:off x="2043225" y="1120943"/>
              <a:ext cx="413925" cy="136075"/>
            </a:xfrm>
            <a:prstGeom prst="rect">
              <a:avLst/>
            </a:prstGeom>
            <a:noFill/>
            <a:ln>
              <a:noFill/>
            </a:ln>
          </p:spPr>
        </p:pic>
      </p:grpSp>
      <p:grpSp>
        <p:nvGrpSpPr>
          <p:cNvPr id="1706" name="Google Shape;1706;p88"/>
          <p:cNvGrpSpPr/>
          <p:nvPr/>
        </p:nvGrpSpPr>
        <p:grpSpPr>
          <a:xfrm>
            <a:off x="2713519" y="1179374"/>
            <a:ext cx="485123" cy="665232"/>
            <a:chOff x="2713519" y="1179374"/>
            <a:chExt cx="485123" cy="665232"/>
          </a:xfrm>
        </p:grpSpPr>
        <p:pic>
          <p:nvPicPr>
            <p:cNvPr id="1707" name="Google Shape;1707;p88"/>
            <p:cNvPicPr preferRelativeResize="0"/>
            <p:nvPr/>
          </p:nvPicPr>
          <p:blipFill>
            <a:blip r:embed="rId10">
              <a:alphaModFix/>
            </a:blip>
            <a:stretch>
              <a:fillRect/>
            </a:stretch>
          </p:blipFill>
          <p:spPr>
            <a:xfrm>
              <a:off x="2713519" y="1257018"/>
              <a:ext cx="445756" cy="587588"/>
            </a:xfrm>
            <a:prstGeom prst="rect">
              <a:avLst/>
            </a:prstGeom>
            <a:noFill/>
            <a:ln>
              <a:noFill/>
            </a:ln>
          </p:spPr>
        </p:pic>
        <p:pic>
          <p:nvPicPr>
            <p:cNvPr id="1708" name="Google Shape;1708;p88"/>
            <p:cNvPicPr preferRelativeResize="0"/>
            <p:nvPr/>
          </p:nvPicPr>
          <p:blipFill rotWithShape="1">
            <a:blip r:embed="rId7">
              <a:alphaModFix/>
            </a:blip>
            <a:srcRect b="81988" l="0" r="0" t="0"/>
            <a:stretch/>
          </p:blipFill>
          <p:spPr>
            <a:xfrm>
              <a:off x="2784717" y="1179374"/>
              <a:ext cx="413925" cy="136075"/>
            </a:xfrm>
            <a:prstGeom prst="rect">
              <a:avLst/>
            </a:prstGeom>
            <a:noFill/>
            <a:ln>
              <a:noFill/>
            </a:ln>
          </p:spPr>
        </p:pic>
      </p:grpSp>
      <p:grpSp>
        <p:nvGrpSpPr>
          <p:cNvPr id="1709" name="Google Shape;1709;p88"/>
          <p:cNvGrpSpPr/>
          <p:nvPr/>
        </p:nvGrpSpPr>
        <p:grpSpPr>
          <a:xfrm>
            <a:off x="4876452" y="1152087"/>
            <a:ext cx="473678" cy="727261"/>
            <a:chOff x="4876452" y="1152087"/>
            <a:chExt cx="473678" cy="727261"/>
          </a:xfrm>
        </p:grpSpPr>
        <p:pic>
          <p:nvPicPr>
            <p:cNvPr id="1710" name="Google Shape;1710;p88"/>
            <p:cNvPicPr preferRelativeResize="0"/>
            <p:nvPr/>
          </p:nvPicPr>
          <p:blipFill>
            <a:blip r:embed="rId11">
              <a:alphaModFix/>
            </a:blip>
            <a:stretch>
              <a:fillRect/>
            </a:stretch>
          </p:blipFill>
          <p:spPr>
            <a:xfrm>
              <a:off x="4876452" y="1222293"/>
              <a:ext cx="451545" cy="657056"/>
            </a:xfrm>
            <a:prstGeom prst="rect">
              <a:avLst/>
            </a:prstGeom>
            <a:noFill/>
            <a:ln>
              <a:noFill/>
            </a:ln>
          </p:spPr>
        </p:pic>
        <p:pic>
          <p:nvPicPr>
            <p:cNvPr id="1711" name="Google Shape;1711;p88"/>
            <p:cNvPicPr preferRelativeResize="0"/>
            <p:nvPr/>
          </p:nvPicPr>
          <p:blipFill rotWithShape="1">
            <a:blip r:embed="rId7">
              <a:alphaModFix/>
            </a:blip>
            <a:srcRect b="81988" l="0" r="0" t="0"/>
            <a:stretch/>
          </p:blipFill>
          <p:spPr>
            <a:xfrm>
              <a:off x="4936205" y="1152087"/>
              <a:ext cx="413925" cy="136075"/>
            </a:xfrm>
            <a:prstGeom prst="rect">
              <a:avLst/>
            </a:prstGeom>
            <a:noFill/>
            <a:ln>
              <a:noFill/>
            </a:ln>
          </p:spPr>
        </p:pic>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5" name="Shape 1715"/>
        <p:cNvGrpSpPr/>
        <p:nvPr/>
      </p:nvGrpSpPr>
      <p:grpSpPr>
        <a:xfrm>
          <a:off x="0" y="0"/>
          <a:ext cx="0" cy="0"/>
          <a:chOff x="0" y="0"/>
          <a:chExt cx="0" cy="0"/>
        </a:xfrm>
      </p:grpSpPr>
      <p:sp>
        <p:nvSpPr>
          <p:cNvPr id="1716" name="Google Shape;1716;p8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717" name="Google Shape;1717;p89"/>
          <p:cNvSpPr txBox="1"/>
          <p:nvPr>
            <p:ph idx="1" type="body"/>
          </p:nvPr>
        </p:nvSpPr>
        <p:spPr>
          <a:xfrm>
            <a:off x="324000" y="759300"/>
            <a:ext cx="6923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1</a:t>
            </a:r>
            <a:r>
              <a:rPr lang="en-GB" sz="1800"/>
              <a:t>) The spinner will be spun. </a:t>
            </a:r>
            <a:br>
              <a:rPr lang="en-GB" sz="1800"/>
            </a:br>
            <a:r>
              <a:rPr lang="en-GB" sz="1800"/>
              <a:t>The two events are even numbers and factors of 14. </a:t>
            </a:r>
            <a:endParaRPr sz="1800"/>
          </a:p>
          <a:p>
            <a:pPr indent="0" lvl="0" marL="0" rtl="0" algn="l">
              <a:spcBef>
                <a:spcPts val="1000"/>
              </a:spcBef>
              <a:spcAft>
                <a:spcPts val="1000"/>
              </a:spcAft>
              <a:buNone/>
            </a:pPr>
            <a:r>
              <a:rPr lang="en-GB" sz="1800"/>
              <a:t>Complete this </a:t>
            </a:r>
            <a:r>
              <a:rPr b="1" lang="en-GB" sz="1800"/>
              <a:t>outcome table </a:t>
            </a:r>
            <a:r>
              <a:rPr lang="en-GB" sz="1800"/>
              <a:t>to show the outcomes for each event. </a:t>
            </a:r>
            <a:endParaRPr sz="1800"/>
          </a:p>
        </p:txBody>
      </p:sp>
      <p:sp>
        <p:nvSpPr>
          <p:cNvPr id="1718" name="Google Shape;1718;p89"/>
          <p:cNvSpPr/>
          <p:nvPr/>
        </p:nvSpPr>
        <p:spPr>
          <a:xfrm>
            <a:off x="7290200" y="772850"/>
            <a:ext cx="1433700" cy="1433700"/>
          </a:xfrm>
          <a:prstGeom prst="ellipse">
            <a:avLst/>
          </a:prstGeom>
          <a:no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9" name="Google Shape;1719;p89"/>
          <p:cNvSpPr/>
          <p:nvPr/>
        </p:nvSpPr>
        <p:spPr>
          <a:xfrm flipH="1">
            <a:off x="7302617" y="785328"/>
            <a:ext cx="1408800" cy="1408800"/>
          </a:xfrm>
          <a:prstGeom prst="pie">
            <a:avLst>
              <a:gd fmla="val 5387953" name="adj1"/>
              <a:gd fmla="val 10824216"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0" name="Google Shape;1720;p89"/>
          <p:cNvSpPr/>
          <p:nvPr/>
        </p:nvSpPr>
        <p:spPr>
          <a:xfrm>
            <a:off x="7302678" y="785328"/>
            <a:ext cx="1408800" cy="1408800"/>
          </a:xfrm>
          <a:prstGeom prst="pie">
            <a:avLst>
              <a:gd fmla="val 5387953" name="adj1"/>
              <a:gd fmla="val 8080958" name="adj2"/>
            </a:avLst>
          </a:prstGeom>
          <a:solidFill>
            <a:schemeClr val="accent4"/>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1" name="Google Shape;1721;p89"/>
          <p:cNvSpPr txBox="1"/>
          <p:nvPr/>
        </p:nvSpPr>
        <p:spPr>
          <a:xfrm>
            <a:off x="7653698" y="1753841"/>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4</a:t>
            </a:r>
            <a:endParaRPr sz="1600">
              <a:solidFill>
                <a:srgbClr val="FFFFFF"/>
              </a:solidFill>
              <a:latin typeface="Lexend"/>
              <a:ea typeface="Lexend"/>
              <a:cs typeface="Lexend"/>
              <a:sym typeface="Lexend"/>
            </a:endParaRPr>
          </a:p>
        </p:txBody>
      </p:sp>
      <p:sp>
        <p:nvSpPr>
          <p:cNvPr id="1722" name="Google Shape;1722;p89"/>
          <p:cNvSpPr/>
          <p:nvPr/>
        </p:nvSpPr>
        <p:spPr>
          <a:xfrm>
            <a:off x="7302678" y="785328"/>
            <a:ext cx="1408800" cy="1408800"/>
          </a:xfrm>
          <a:prstGeom prst="pie">
            <a:avLst>
              <a:gd fmla="val 10799941" name="adj1"/>
              <a:gd fmla="val 13483876" name="adj2"/>
            </a:avLst>
          </a:prstGeom>
          <a:solidFill>
            <a:schemeClr val="accent4"/>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3" name="Google Shape;1723;p89"/>
          <p:cNvSpPr txBox="1"/>
          <p:nvPr/>
        </p:nvSpPr>
        <p:spPr>
          <a:xfrm>
            <a:off x="7352736" y="1042134"/>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2</a:t>
            </a:r>
            <a:endParaRPr sz="1600">
              <a:solidFill>
                <a:srgbClr val="FFFFFF"/>
              </a:solidFill>
              <a:latin typeface="Lexend"/>
              <a:ea typeface="Lexend"/>
              <a:cs typeface="Lexend"/>
              <a:sym typeface="Lexend"/>
            </a:endParaRPr>
          </a:p>
        </p:txBody>
      </p:sp>
      <p:sp>
        <p:nvSpPr>
          <p:cNvPr id="1724" name="Google Shape;1724;p89"/>
          <p:cNvSpPr/>
          <p:nvPr/>
        </p:nvSpPr>
        <p:spPr>
          <a:xfrm flipH="1">
            <a:off x="7302617" y="785328"/>
            <a:ext cx="1408800" cy="1408800"/>
          </a:xfrm>
          <a:prstGeom prst="pie">
            <a:avLst>
              <a:gd fmla="val 13450827" name="adj1"/>
              <a:gd fmla="val 16200000" name="adj2"/>
            </a:avLst>
          </a:prstGeom>
          <a:solidFill>
            <a:srgbClr val="845AD9"/>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5" name="Google Shape;1725;p89"/>
          <p:cNvSpPr txBox="1"/>
          <p:nvPr/>
        </p:nvSpPr>
        <p:spPr>
          <a:xfrm>
            <a:off x="8070146" y="788878"/>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8</a:t>
            </a:r>
            <a:endParaRPr sz="1600">
              <a:solidFill>
                <a:srgbClr val="FFFFFF"/>
              </a:solidFill>
              <a:latin typeface="Lexend"/>
              <a:ea typeface="Lexend"/>
              <a:cs typeface="Lexend"/>
              <a:sym typeface="Lexend"/>
            </a:endParaRPr>
          </a:p>
        </p:txBody>
      </p:sp>
      <p:sp>
        <p:nvSpPr>
          <p:cNvPr id="1726" name="Google Shape;1726;p89"/>
          <p:cNvSpPr/>
          <p:nvPr/>
        </p:nvSpPr>
        <p:spPr>
          <a:xfrm>
            <a:off x="7302678" y="785328"/>
            <a:ext cx="1408800" cy="1408800"/>
          </a:xfrm>
          <a:prstGeom prst="pie">
            <a:avLst>
              <a:gd fmla="val 13499013" name="adj1"/>
              <a:gd fmla="val 16232488"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7" name="Google Shape;1727;p89"/>
          <p:cNvSpPr txBox="1"/>
          <p:nvPr/>
        </p:nvSpPr>
        <p:spPr>
          <a:xfrm>
            <a:off x="7686603" y="784468"/>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1</a:t>
            </a:r>
            <a:endParaRPr sz="1600">
              <a:solidFill>
                <a:srgbClr val="FFFFFF"/>
              </a:solidFill>
              <a:latin typeface="Lexend"/>
              <a:ea typeface="Lexend"/>
              <a:cs typeface="Lexend"/>
              <a:sym typeface="Lexend"/>
            </a:endParaRPr>
          </a:p>
        </p:txBody>
      </p:sp>
      <p:sp>
        <p:nvSpPr>
          <p:cNvPr id="1728" name="Google Shape;1728;p89"/>
          <p:cNvSpPr/>
          <p:nvPr/>
        </p:nvSpPr>
        <p:spPr>
          <a:xfrm>
            <a:off x="7302678" y="785328"/>
            <a:ext cx="1408800" cy="1408800"/>
          </a:xfrm>
          <a:prstGeom prst="pie">
            <a:avLst>
              <a:gd fmla="val 8080793" name="adj1"/>
              <a:gd fmla="val 10858220" name="adj2"/>
            </a:avLst>
          </a:prstGeom>
          <a:solidFill>
            <a:srgbClr val="037B7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29" name="Google Shape;1729;p89"/>
          <p:cNvSpPr txBox="1"/>
          <p:nvPr/>
        </p:nvSpPr>
        <p:spPr>
          <a:xfrm>
            <a:off x="7365324" y="1476160"/>
            <a:ext cx="483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3</a:t>
            </a:r>
            <a:endParaRPr sz="1600">
              <a:solidFill>
                <a:srgbClr val="FFFFFF"/>
              </a:solidFill>
              <a:latin typeface="Lexend"/>
              <a:ea typeface="Lexend"/>
              <a:cs typeface="Lexend"/>
              <a:sym typeface="Lexend"/>
            </a:endParaRPr>
          </a:p>
        </p:txBody>
      </p:sp>
      <p:sp>
        <p:nvSpPr>
          <p:cNvPr id="1730" name="Google Shape;1730;p89"/>
          <p:cNvSpPr/>
          <p:nvPr/>
        </p:nvSpPr>
        <p:spPr>
          <a:xfrm flipH="1">
            <a:off x="7302617" y="785328"/>
            <a:ext cx="1408800" cy="1408800"/>
          </a:xfrm>
          <a:prstGeom prst="pie">
            <a:avLst>
              <a:gd fmla="val 10765400" name="adj1"/>
              <a:gd fmla="val 13465582" name="adj2"/>
            </a:avLst>
          </a:prstGeom>
          <a:solidFill>
            <a:schemeClr val="accent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1" name="Google Shape;1731;p89"/>
          <p:cNvSpPr txBox="1"/>
          <p:nvPr/>
        </p:nvSpPr>
        <p:spPr>
          <a:xfrm>
            <a:off x="8358021" y="1078056"/>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7</a:t>
            </a:r>
            <a:endParaRPr sz="1600">
              <a:solidFill>
                <a:srgbClr val="FFFFFF"/>
              </a:solidFill>
              <a:latin typeface="Lexend"/>
              <a:ea typeface="Lexend"/>
              <a:cs typeface="Lexend"/>
              <a:sym typeface="Lexend"/>
            </a:endParaRPr>
          </a:p>
        </p:txBody>
      </p:sp>
      <p:sp>
        <p:nvSpPr>
          <p:cNvPr id="1732" name="Google Shape;1732;p89"/>
          <p:cNvSpPr/>
          <p:nvPr/>
        </p:nvSpPr>
        <p:spPr>
          <a:xfrm flipH="1">
            <a:off x="7302617" y="785328"/>
            <a:ext cx="1408800" cy="1408800"/>
          </a:xfrm>
          <a:prstGeom prst="pie">
            <a:avLst>
              <a:gd fmla="val 5387953" name="adj1"/>
              <a:gd fmla="val 8084426" name="adj2"/>
            </a:avLst>
          </a:prstGeom>
          <a:solidFill>
            <a:schemeClr val="accent5"/>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33" name="Google Shape;1733;p89"/>
          <p:cNvSpPr txBox="1"/>
          <p:nvPr/>
        </p:nvSpPr>
        <p:spPr>
          <a:xfrm>
            <a:off x="8071887" y="1745182"/>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5</a:t>
            </a:r>
            <a:endParaRPr sz="1600">
              <a:solidFill>
                <a:srgbClr val="FFFFFF"/>
              </a:solidFill>
              <a:latin typeface="Lexend"/>
              <a:ea typeface="Lexend"/>
              <a:cs typeface="Lexend"/>
              <a:sym typeface="Lexend"/>
            </a:endParaRPr>
          </a:p>
        </p:txBody>
      </p:sp>
      <p:sp>
        <p:nvSpPr>
          <p:cNvPr id="1734" name="Google Shape;1734;p89"/>
          <p:cNvSpPr txBox="1"/>
          <p:nvPr/>
        </p:nvSpPr>
        <p:spPr>
          <a:xfrm>
            <a:off x="8331125" y="1466574"/>
            <a:ext cx="5325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rgbClr val="FFFFFF"/>
                </a:solidFill>
                <a:latin typeface="Lexend"/>
                <a:ea typeface="Lexend"/>
                <a:cs typeface="Lexend"/>
                <a:sym typeface="Lexend"/>
              </a:rPr>
              <a:t>6</a:t>
            </a:r>
            <a:endParaRPr sz="1600">
              <a:solidFill>
                <a:srgbClr val="FFFFFF"/>
              </a:solidFill>
              <a:latin typeface="Lexend"/>
              <a:ea typeface="Lexend"/>
              <a:cs typeface="Lexend"/>
              <a:sym typeface="Lexend"/>
            </a:endParaRPr>
          </a:p>
        </p:txBody>
      </p:sp>
      <p:grpSp>
        <p:nvGrpSpPr>
          <p:cNvPr id="1735" name="Google Shape;1735;p89"/>
          <p:cNvGrpSpPr/>
          <p:nvPr/>
        </p:nvGrpSpPr>
        <p:grpSpPr>
          <a:xfrm>
            <a:off x="7965943" y="828225"/>
            <a:ext cx="79383" cy="690577"/>
            <a:chOff x="996050" y="213293"/>
            <a:chExt cx="93900" cy="909732"/>
          </a:xfrm>
        </p:grpSpPr>
        <p:cxnSp>
          <p:nvCxnSpPr>
            <p:cNvPr id="1736" name="Google Shape;1736;p89"/>
            <p:cNvCxnSpPr/>
            <p:nvPr/>
          </p:nvCxnSpPr>
          <p:spPr>
            <a:xfrm rot="10800000">
              <a:off x="1046672" y="213293"/>
              <a:ext cx="0" cy="851400"/>
            </a:xfrm>
            <a:prstGeom prst="straightConnector1">
              <a:avLst/>
            </a:prstGeom>
            <a:noFill/>
            <a:ln cap="flat" cmpd="sng" w="38100">
              <a:solidFill>
                <a:srgbClr val="FFFFFF"/>
              </a:solidFill>
              <a:prstDash val="solid"/>
              <a:round/>
              <a:headEnd len="med" w="med" type="none"/>
              <a:tailEnd len="med" w="med" type="triangle"/>
            </a:ln>
          </p:spPr>
        </p:cxnSp>
        <p:sp>
          <p:nvSpPr>
            <p:cNvPr id="1737" name="Google Shape;1737;p89"/>
            <p:cNvSpPr/>
            <p:nvPr/>
          </p:nvSpPr>
          <p:spPr>
            <a:xfrm>
              <a:off x="996050" y="1029125"/>
              <a:ext cx="93900" cy="939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cxnSp>
        <p:nvCxnSpPr>
          <p:cNvPr id="1738" name="Google Shape;1738;p89"/>
          <p:cNvCxnSpPr/>
          <p:nvPr/>
        </p:nvCxnSpPr>
        <p:spPr>
          <a:xfrm>
            <a:off x="3060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739" name="Google Shape;1739;p89"/>
          <p:cNvCxnSpPr/>
          <p:nvPr/>
        </p:nvCxnSpPr>
        <p:spPr>
          <a:xfrm>
            <a:off x="4203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740" name="Google Shape;1740;p89"/>
          <p:cNvCxnSpPr/>
          <p:nvPr/>
        </p:nvCxnSpPr>
        <p:spPr>
          <a:xfrm>
            <a:off x="5346075" y="24048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741" name="Google Shape;1741;p89"/>
          <p:cNvCxnSpPr/>
          <p:nvPr/>
        </p:nvCxnSpPr>
        <p:spPr>
          <a:xfrm rot="10800000">
            <a:off x="1684706" y="4320000"/>
            <a:ext cx="3669000" cy="0"/>
          </a:xfrm>
          <a:prstGeom prst="straightConnector1">
            <a:avLst/>
          </a:prstGeom>
          <a:noFill/>
          <a:ln cap="flat" cmpd="sng" w="38100">
            <a:solidFill>
              <a:schemeClr val="dk1"/>
            </a:solidFill>
            <a:prstDash val="solid"/>
            <a:round/>
            <a:headEnd len="med" w="med" type="none"/>
            <a:tailEnd len="med" w="med" type="none"/>
          </a:ln>
        </p:spPr>
      </p:cxnSp>
      <p:cxnSp>
        <p:nvCxnSpPr>
          <p:cNvPr id="1742" name="Google Shape;1742;p89"/>
          <p:cNvCxnSpPr/>
          <p:nvPr/>
        </p:nvCxnSpPr>
        <p:spPr>
          <a:xfrm rot="10800000">
            <a:off x="1694550" y="2944625"/>
            <a:ext cx="3669000" cy="0"/>
          </a:xfrm>
          <a:prstGeom prst="straightConnector1">
            <a:avLst/>
          </a:prstGeom>
          <a:noFill/>
          <a:ln cap="flat" cmpd="sng" w="38100">
            <a:solidFill>
              <a:schemeClr val="dk1"/>
            </a:solidFill>
            <a:prstDash val="solid"/>
            <a:round/>
            <a:headEnd len="med" w="med" type="none"/>
            <a:tailEnd len="med" w="med" type="none"/>
          </a:ln>
        </p:spPr>
      </p:cxnSp>
      <p:cxnSp>
        <p:nvCxnSpPr>
          <p:cNvPr id="1743" name="Google Shape;1743;p89"/>
          <p:cNvCxnSpPr/>
          <p:nvPr/>
        </p:nvCxnSpPr>
        <p:spPr>
          <a:xfrm rot="10800000">
            <a:off x="1694550" y="3640250"/>
            <a:ext cx="3669000" cy="0"/>
          </a:xfrm>
          <a:prstGeom prst="straightConnector1">
            <a:avLst/>
          </a:prstGeom>
          <a:noFill/>
          <a:ln cap="flat" cmpd="sng" w="38100">
            <a:solidFill>
              <a:schemeClr val="dk1"/>
            </a:solidFill>
            <a:prstDash val="solid"/>
            <a:round/>
            <a:headEnd len="med" w="med" type="none"/>
            <a:tailEnd len="med" w="med" type="none"/>
          </a:ln>
        </p:spPr>
      </p:cxnSp>
      <p:sp>
        <p:nvSpPr>
          <p:cNvPr id="1744" name="Google Shape;1744;p89"/>
          <p:cNvSpPr txBox="1"/>
          <p:nvPr>
            <p:ph idx="1" type="body"/>
          </p:nvPr>
        </p:nvSpPr>
        <p:spPr>
          <a:xfrm>
            <a:off x="3161700" y="2350875"/>
            <a:ext cx="11700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even numbers</a:t>
            </a:r>
            <a:endParaRPr sz="1800"/>
          </a:p>
        </p:txBody>
      </p:sp>
      <p:sp>
        <p:nvSpPr>
          <p:cNvPr id="1745" name="Google Shape;1745;p89"/>
          <p:cNvSpPr txBox="1"/>
          <p:nvPr>
            <p:ph idx="1" type="body"/>
          </p:nvPr>
        </p:nvSpPr>
        <p:spPr>
          <a:xfrm>
            <a:off x="4304700" y="2350875"/>
            <a:ext cx="11700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 numbers</a:t>
            </a:r>
            <a:endParaRPr sz="1800"/>
          </a:p>
        </p:txBody>
      </p:sp>
      <p:sp>
        <p:nvSpPr>
          <p:cNvPr id="1746" name="Google Shape;1746;p89"/>
          <p:cNvSpPr txBox="1"/>
          <p:nvPr>
            <p:ph idx="1" type="body"/>
          </p:nvPr>
        </p:nvSpPr>
        <p:spPr>
          <a:xfrm>
            <a:off x="1626375" y="3133650"/>
            <a:ext cx="14337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factors of 14</a:t>
            </a:r>
            <a:endParaRPr sz="1800"/>
          </a:p>
        </p:txBody>
      </p:sp>
      <p:sp>
        <p:nvSpPr>
          <p:cNvPr id="1747" name="Google Shape;1747;p89"/>
          <p:cNvSpPr txBox="1"/>
          <p:nvPr>
            <p:ph idx="1" type="body"/>
          </p:nvPr>
        </p:nvSpPr>
        <p:spPr>
          <a:xfrm>
            <a:off x="1728975" y="3705500"/>
            <a:ext cx="14088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factors of 14</a:t>
            </a:r>
            <a:endParaRPr sz="1800"/>
          </a:p>
        </p:txBody>
      </p:sp>
      <p:sp>
        <p:nvSpPr>
          <p:cNvPr id="1748" name="Google Shape;1748;p89"/>
          <p:cNvSpPr txBox="1"/>
          <p:nvPr>
            <p:ph idx="1" type="body"/>
          </p:nvPr>
        </p:nvSpPr>
        <p:spPr>
          <a:xfrm>
            <a:off x="4304709" y="3705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1749" name="Google Shape;1749;p89"/>
          <p:cNvSpPr txBox="1"/>
          <p:nvPr>
            <p:ph idx="1" type="body"/>
          </p:nvPr>
        </p:nvSpPr>
        <p:spPr>
          <a:xfrm>
            <a:off x="3161709" y="308145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a:t>
            </a:r>
            <a:endParaRPr sz="2000">
              <a:latin typeface="Kalam"/>
              <a:ea typeface="Kalam"/>
              <a:cs typeface="Kalam"/>
              <a:sym typeface="Kalam"/>
            </a:endParaRPr>
          </a:p>
        </p:txBody>
      </p:sp>
      <p:sp>
        <p:nvSpPr>
          <p:cNvPr id="1750" name="Google Shape;1750;p89"/>
          <p:cNvSpPr txBox="1"/>
          <p:nvPr>
            <p:ph idx="1" type="body"/>
          </p:nvPr>
        </p:nvSpPr>
        <p:spPr>
          <a:xfrm>
            <a:off x="4253897" y="3041475"/>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a:t>
            </a:r>
            <a:endParaRPr sz="2000">
              <a:latin typeface="Kalam"/>
              <a:ea typeface="Kalam"/>
              <a:cs typeface="Kalam"/>
              <a:sym typeface="Kalam"/>
            </a:endParaRPr>
          </a:p>
        </p:txBody>
      </p:sp>
      <p:sp>
        <p:nvSpPr>
          <p:cNvPr id="1751" name="Google Shape;1751;p89"/>
          <p:cNvSpPr txBox="1"/>
          <p:nvPr>
            <p:ph idx="1" type="body"/>
          </p:nvPr>
        </p:nvSpPr>
        <p:spPr>
          <a:xfrm>
            <a:off x="3161709" y="3700725"/>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a:t>
            </a:r>
            <a:endParaRPr sz="2000">
              <a:latin typeface="Kalam"/>
              <a:ea typeface="Kalam"/>
              <a:cs typeface="Kalam"/>
              <a:sym typeface="Kalam"/>
            </a:endParaRPr>
          </a:p>
        </p:txBody>
      </p:sp>
      <p:sp>
        <p:nvSpPr>
          <p:cNvPr id="1752" name="Google Shape;1752;p89"/>
          <p:cNvSpPr txBox="1"/>
          <p:nvPr>
            <p:ph idx="1" type="body"/>
          </p:nvPr>
        </p:nvSpPr>
        <p:spPr>
          <a:xfrm>
            <a:off x="4572009" y="3705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a:t>
            </a:r>
            <a:endParaRPr sz="2000">
              <a:latin typeface="Kalam"/>
              <a:ea typeface="Kalam"/>
              <a:cs typeface="Kalam"/>
              <a:sym typeface="Kalam"/>
            </a:endParaRPr>
          </a:p>
        </p:txBody>
      </p:sp>
      <p:sp>
        <p:nvSpPr>
          <p:cNvPr id="1753" name="Google Shape;1753;p89"/>
          <p:cNvSpPr txBox="1"/>
          <p:nvPr>
            <p:ph idx="1" type="body"/>
          </p:nvPr>
        </p:nvSpPr>
        <p:spPr>
          <a:xfrm>
            <a:off x="3410334" y="3705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a:t>
            </a:r>
            <a:endParaRPr sz="2000">
              <a:latin typeface="Kalam"/>
              <a:ea typeface="Kalam"/>
              <a:cs typeface="Kalam"/>
              <a:sym typeface="Kalam"/>
            </a:endParaRPr>
          </a:p>
        </p:txBody>
      </p:sp>
      <p:sp>
        <p:nvSpPr>
          <p:cNvPr id="1754" name="Google Shape;1754;p89"/>
          <p:cNvSpPr txBox="1"/>
          <p:nvPr>
            <p:ph idx="1" type="body"/>
          </p:nvPr>
        </p:nvSpPr>
        <p:spPr>
          <a:xfrm>
            <a:off x="4414852" y="3041475"/>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7</a:t>
            </a:r>
            <a:endParaRPr sz="2000">
              <a:latin typeface="Kalam"/>
              <a:ea typeface="Kalam"/>
              <a:cs typeface="Kalam"/>
              <a:sym typeface="Kalam"/>
            </a:endParaRPr>
          </a:p>
        </p:txBody>
      </p:sp>
      <p:sp>
        <p:nvSpPr>
          <p:cNvPr id="1755" name="Google Shape;1755;p89"/>
          <p:cNvSpPr txBox="1"/>
          <p:nvPr>
            <p:ph idx="1" type="body"/>
          </p:nvPr>
        </p:nvSpPr>
        <p:spPr>
          <a:xfrm>
            <a:off x="3682389" y="3705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8</a:t>
            </a:r>
            <a:endParaRPr sz="2000">
              <a:latin typeface="Kalam"/>
              <a:ea typeface="Kalam"/>
              <a:cs typeface="Kalam"/>
              <a:sym typeface="Kalam"/>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9" name="Shape 1759"/>
        <p:cNvGrpSpPr/>
        <p:nvPr/>
      </p:nvGrpSpPr>
      <p:grpSpPr>
        <a:xfrm>
          <a:off x="0" y="0"/>
          <a:ext cx="0" cy="0"/>
          <a:chOff x="0" y="0"/>
          <a:chExt cx="0" cy="0"/>
        </a:xfrm>
      </p:grpSpPr>
      <p:cxnSp>
        <p:nvCxnSpPr>
          <p:cNvPr id="1760" name="Google Shape;1760;p90"/>
          <p:cNvCxnSpPr/>
          <p:nvPr/>
        </p:nvCxnSpPr>
        <p:spPr>
          <a:xfrm>
            <a:off x="3669675" y="25572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761" name="Google Shape;1761;p90"/>
          <p:cNvCxnSpPr/>
          <p:nvPr/>
        </p:nvCxnSpPr>
        <p:spPr>
          <a:xfrm>
            <a:off x="4888875" y="2557225"/>
            <a:ext cx="0" cy="1918200"/>
          </a:xfrm>
          <a:prstGeom prst="straightConnector1">
            <a:avLst/>
          </a:prstGeom>
          <a:noFill/>
          <a:ln cap="flat" cmpd="sng" w="38100">
            <a:solidFill>
              <a:schemeClr val="dk1"/>
            </a:solidFill>
            <a:prstDash val="solid"/>
            <a:round/>
            <a:headEnd len="med" w="med" type="none"/>
            <a:tailEnd len="med" w="med" type="none"/>
          </a:ln>
        </p:spPr>
      </p:cxnSp>
      <p:cxnSp>
        <p:nvCxnSpPr>
          <p:cNvPr id="1762" name="Google Shape;1762;p90"/>
          <p:cNvCxnSpPr/>
          <p:nvPr/>
        </p:nvCxnSpPr>
        <p:spPr>
          <a:xfrm>
            <a:off x="6094475" y="2541075"/>
            <a:ext cx="0" cy="1952100"/>
          </a:xfrm>
          <a:prstGeom prst="straightConnector1">
            <a:avLst/>
          </a:prstGeom>
          <a:noFill/>
          <a:ln cap="flat" cmpd="sng" w="38100">
            <a:solidFill>
              <a:schemeClr val="dk1"/>
            </a:solidFill>
            <a:prstDash val="solid"/>
            <a:round/>
            <a:headEnd len="med" w="med" type="none"/>
            <a:tailEnd len="med" w="med" type="none"/>
          </a:ln>
        </p:spPr>
      </p:cxnSp>
      <p:cxnSp>
        <p:nvCxnSpPr>
          <p:cNvPr id="1763" name="Google Shape;1763;p90"/>
          <p:cNvCxnSpPr/>
          <p:nvPr/>
        </p:nvCxnSpPr>
        <p:spPr>
          <a:xfrm rot="10800000">
            <a:off x="2370510" y="4472400"/>
            <a:ext cx="3714000" cy="0"/>
          </a:xfrm>
          <a:prstGeom prst="straightConnector1">
            <a:avLst/>
          </a:prstGeom>
          <a:noFill/>
          <a:ln cap="flat" cmpd="sng" w="38100">
            <a:solidFill>
              <a:schemeClr val="dk1"/>
            </a:solidFill>
            <a:prstDash val="solid"/>
            <a:round/>
            <a:headEnd len="med" w="med" type="none"/>
            <a:tailEnd len="med" w="med" type="none"/>
          </a:ln>
        </p:spPr>
      </p:cxnSp>
      <p:cxnSp>
        <p:nvCxnSpPr>
          <p:cNvPr id="1764" name="Google Shape;1764;p90"/>
          <p:cNvCxnSpPr/>
          <p:nvPr/>
        </p:nvCxnSpPr>
        <p:spPr>
          <a:xfrm rot="10800000">
            <a:off x="2380475" y="3097025"/>
            <a:ext cx="3714000" cy="0"/>
          </a:xfrm>
          <a:prstGeom prst="straightConnector1">
            <a:avLst/>
          </a:prstGeom>
          <a:noFill/>
          <a:ln cap="flat" cmpd="sng" w="38100">
            <a:solidFill>
              <a:schemeClr val="dk1"/>
            </a:solidFill>
            <a:prstDash val="solid"/>
            <a:round/>
            <a:headEnd len="med" w="med" type="none"/>
            <a:tailEnd len="med" w="med" type="none"/>
          </a:ln>
        </p:spPr>
      </p:cxnSp>
      <p:cxnSp>
        <p:nvCxnSpPr>
          <p:cNvPr id="1765" name="Google Shape;1765;p90"/>
          <p:cNvCxnSpPr/>
          <p:nvPr/>
        </p:nvCxnSpPr>
        <p:spPr>
          <a:xfrm rot="10800000">
            <a:off x="2380475" y="3792650"/>
            <a:ext cx="3714000" cy="0"/>
          </a:xfrm>
          <a:prstGeom prst="straightConnector1">
            <a:avLst/>
          </a:prstGeom>
          <a:noFill/>
          <a:ln cap="flat" cmpd="sng" w="38100">
            <a:solidFill>
              <a:schemeClr val="dk1"/>
            </a:solidFill>
            <a:prstDash val="solid"/>
            <a:round/>
            <a:headEnd len="med" w="med" type="none"/>
            <a:tailEnd len="med" w="med" type="none"/>
          </a:ln>
        </p:spPr>
      </p:cxnSp>
      <p:sp>
        <p:nvSpPr>
          <p:cNvPr id="1766" name="Google Shape;1766;p90"/>
          <p:cNvSpPr txBox="1"/>
          <p:nvPr>
            <p:ph idx="1" type="body"/>
          </p:nvPr>
        </p:nvSpPr>
        <p:spPr>
          <a:xfrm>
            <a:off x="3745875" y="2693450"/>
            <a:ext cx="11430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handle</a:t>
            </a:r>
            <a:endParaRPr sz="1800"/>
          </a:p>
        </p:txBody>
      </p:sp>
      <p:sp>
        <p:nvSpPr>
          <p:cNvPr id="1767" name="Google Shape;1767;p90"/>
          <p:cNvSpPr txBox="1"/>
          <p:nvPr>
            <p:ph idx="1" type="body"/>
          </p:nvPr>
        </p:nvSpPr>
        <p:spPr>
          <a:xfrm>
            <a:off x="4938723" y="2693449"/>
            <a:ext cx="11700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handle</a:t>
            </a:r>
            <a:endParaRPr sz="1800"/>
          </a:p>
        </p:txBody>
      </p:sp>
      <p:sp>
        <p:nvSpPr>
          <p:cNvPr id="1768" name="Google Shape;1768;p90"/>
          <p:cNvSpPr txBox="1"/>
          <p:nvPr>
            <p:ph idx="1" type="body"/>
          </p:nvPr>
        </p:nvSpPr>
        <p:spPr>
          <a:xfrm>
            <a:off x="2441950" y="3287619"/>
            <a:ext cx="1170000" cy="25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straw</a:t>
            </a:r>
            <a:endParaRPr sz="1800"/>
          </a:p>
        </p:txBody>
      </p:sp>
      <p:sp>
        <p:nvSpPr>
          <p:cNvPr id="1769" name="Google Shape;1769;p90"/>
          <p:cNvSpPr txBox="1"/>
          <p:nvPr>
            <p:ph idx="1" type="body"/>
          </p:nvPr>
        </p:nvSpPr>
        <p:spPr>
          <a:xfrm>
            <a:off x="2436275" y="3942622"/>
            <a:ext cx="12216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straw</a:t>
            </a:r>
            <a:endParaRPr sz="1800"/>
          </a:p>
        </p:txBody>
      </p:sp>
      <p:sp>
        <p:nvSpPr>
          <p:cNvPr id="1770" name="Google Shape;1770;p90"/>
          <p:cNvSpPr txBox="1"/>
          <p:nvPr>
            <p:ph idx="1" type="body"/>
          </p:nvPr>
        </p:nvSpPr>
        <p:spPr>
          <a:xfrm>
            <a:off x="1349199"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t>
            </a:r>
            <a:endParaRPr sz="1800"/>
          </a:p>
        </p:txBody>
      </p:sp>
      <p:sp>
        <p:nvSpPr>
          <p:cNvPr id="1771" name="Google Shape;1771;p90"/>
          <p:cNvSpPr txBox="1"/>
          <p:nvPr>
            <p:ph idx="1" type="body"/>
          </p:nvPr>
        </p:nvSpPr>
        <p:spPr>
          <a:xfrm>
            <a:off x="2074284"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B</a:t>
            </a:r>
            <a:endParaRPr sz="1800"/>
          </a:p>
        </p:txBody>
      </p:sp>
      <p:sp>
        <p:nvSpPr>
          <p:cNvPr id="1772" name="Google Shape;1772;p90"/>
          <p:cNvSpPr txBox="1"/>
          <p:nvPr>
            <p:ph idx="1" type="body"/>
          </p:nvPr>
        </p:nvSpPr>
        <p:spPr>
          <a:xfrm>
            <a:off x="2770288"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C</a:t>
            </a:r>
            <a:endParaRPr sz="1800"/>
          </a:p>
        </p:txBody>
      </p:sp>
      <p:sp>
        <p:nvSpPr>
          <p:cNvPr id="1773" name="Google Shape;1773;p90"/>
          <p:cNvSpPr txBox="1"/>
          <p:nvPr>
            <p:ph idx="1" type="body"/>
          </p:nvPr>
        </p:nvSpPr>
        <p:spPr>
          <a:xfrm>
            <a:off x="3475985"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D</a:t>
            </a:r>
            <a:endParaRPr sz="1800"/>
          </a:p>
        </p:txBody>
      </p:sp>
      <p:sp>
        <p:nvSpPr>
          <p:cNvPr id="1774" name="Google Shape;1774;p90"/>
          <p:cNvSpPr txBox="1"/>
          <p:nvPr>
            <p:ph idx="1" type="body"/>
          </p:nvPr>
        </p:nvSpPr>
        <p:spPr>
          <a:xfrm>
            <a:off x="4201069"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E</a:t>
            </a:r>
            <a:endParaRPr sz="1800"/>
          </a:p>
        </p:txBody>
      </p:sp>
      <p:sp>
        <p:nvSpPr>
          <p:cNvPr id="1775" name="Google Shape;1775;p90"/>
          <p:cNvSpPr txBox="1"/>
          <p:nvPr>
            <p:ph idx="1" type="body"/>
          </p:nvPr>
        </p:nvSpPr>
        <p:spPr>
          <a:xfrm>
            <a:off x="4939725"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F</a:t>
            </a:r>
            <a:endParaRPr sz="1800"/>
          </a:p>
        </p:txBody>
      </p:sp>
      <p:sp>
        <p:nvSpPr>
          <p:cNvPr id="1776" name="Google Shape;1776;p90"/>
          <p:cNvSpPr txBox="1"/>
          <p:nvPr>
            <p:ph idx="1" type="body"/>
          </p:nvPr>
        </p:nvSpPr>
        <p:spPr>
          <a:xfrm>
            <a:off x="5645422"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G</a:t>
            </a:r>
            <a:endParaRPr sz="1800"/>
          </a:p>
        </p:txBody>
      </p:sp>
      <p:sp>
        <p:nvSpPr>
          <p:cNvPr id="1777" name="Google Shape;1777;p90"/>
          <p:cNvSpPr txBox="1"/>
          <p:nvPr>
            <p:ph idx="1" type="body"/>
          </p:nvPr>
        </p:nvSpPr>
        <p:spPr>
          <a:xfrm>
            <a:off x="6422853"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a:t>
            </a:r>
            <a:endParaRPr sz="1800"/>
          </a:p>
        </p:txBody>
      </p:sp>
      <p:sp>
        <p:nvSpPr>
          <p:cNvPr id="1778" name="Google Shape;1778;p90"/>
          <p:cNvSpPr txBox="1"/>
          <p:nvPr>
            <p:ph idx="1" type="body"/>
          </p:nvPr>
        </p:nvSpPr>
        <p:spPr>
          <a:xfrm>
            <a:off x="7157631" y="2045099"/>
            <a:ext cx="2973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a:t>
            </a:r>
            <a:endParaRPr sz="1800"/>
          </a:p>
        </p:txBody>
      </p:sp>
      <p:sp>
        <p:nvSpPr>
          <p:cNvPr id="1779" name="Google Shape;1779;p9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780" name="Google Shape;1780;p90"/>
          <p:cNvSpPr txBox="1"/>
          <p:nvPr>
            <p:ph idx="1" type="body"/>
          </p:nvPr>
        </p:nvSpPr>
        <p:spPr>
          <a:xfrm>
            <a:off x="3763957" y="38862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A</a:t>
            </a:r>
            <a:endParaRPr sz="2000">
              <a:latin typeface="Kalam"/>
              <a:ea typeface="Kalam"/>
              <a:cs typeface="Kalam"/>
              <a:sym typeface="Kalam"/>
            </a:endParaRPr>
          </a:p>
        </p:txBody>
      </p:sp>
      <p:sp>
        <p:nvSpPr>
          <p:cNvPr id="1781" name="Google Shape;1781;p90"/>
          <p:cNvSpPr txBox="1"/>
          <p:nvPr>
            <p:ph idx="1" type="body"/>
          </p:nvPr>
        </p:nvSpPr>
        <p:spPr>
          <a:xfrm>
            <a:off x="3727411" y="3183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B</a:t>
            </a:r>
            <a:endParaRPr sz="2000">
              <a:latin typeface="Kalam"/>
              <a:ea typeface="Kalam"/>
              <a:cs typeface="Kalam"/>
              <a:sym typeface="Kalam"/>
            </a:endParaRPr>
          </a:p>
        </p:txBody>
      </p:sp>
      <p:sp>
        <p:nvSpPr>
          <p:cNvPr id="1782" name="Google Shape;1782;p90"/>
          <p:cNvSpPr txBox="1"/>
          <p:nvPr>
            <p:ph idx="1" type="body"/>
          </p:nvPr>
        </p:nvSpPr>
        <p:spPr>
          <a:xfrm>
            <a:off x="4009834" y="32863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C</a:t>
            </a:r>
            <a:endParaRPr sz="2000">
              <a:latin typeface="Kalam"/>
              <a:ea typeface="Kalam"/>
              <a:cs typeface="Kalam"/>
              <a:sym typeface="Kalam"/>
            </a:endParaRPr>
          </a:p>
        </p:txBody>
      </p:sp>
      <p:sp>
        <p:nvSpPr>
          <p:cNvPr id="1783" name="Google Shape;1783;p90"/>
          <p:cNvSpPr txBox="1"/>
          <p:nvPr>
            <p:ph idx="1" type="body"/>
          </p:nvPr>
        </p:nvSpPr>
        <p:spPr>
          <a:xfrm>
            <a:off x="4976034" y="3183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D</a:t>
            </a:r>
            <a:endParaRPr sz="2000">
              <a:latin typeface="Kalam"/>
              <a:ea typeface="Kalam"/>
              <a:cs typeface="Kalam"/>
              <a:sym typeface="Kalam"/>
            </a:endParaRPr>
          </a:p>
        </p:txBody>
      </p:sp>
      <p:sp>
        <p:nvSpPr>
          <p:cNvPr id="1784" name="Google Shape;1784;p90"/>
          <p:cNvSpPr txBox="1"/>
          <p:nvPr>
            <p:ph idx="1" type="body"/>
          </p:nvPr>
        </p:nvSpPr>
        <p:spPr>
          <a:xfrm>
            <a:off x="5200713" y="3183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E</a:t>
            </a:r>
            <a:endParaRPr sz="2000">
              <a:latin typeface="Kalam"/>
              <a:ea typeface="Kalam"/>
              <a:cs typeface="Kalam"/>
              <a:sym typeface="Kalam"/>
            </a:endParaRPr>
          </a:p>
        </p:txBody>
      </p:sp>
      <p:sp>
        <p:nvSpPr>
          <p:cNvPr id="1785" name="Google Shape;1785;p90"/>
          <p:cNvSpPr txBox="1"/>
          <p:nvPr>
            <p:ph idx="1" type="body"/>
          </p:nvPr>
        </p:nvSpPr>
        <p:spPr>
          <a:xfrm>
            <a:off x="4308137" y="31835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F</a:t>
            </a:r>
            <a:endParaRPr sz="2000">
              <a:latin typeface="Kalam"/>
              <a:ea typeface="Kalam"/>
              <a:cs typeface="Kalam"/>
              <a:sym typeface="Kalam"/>
            </a:endParaRPr>
          </a:p>
        </p:txBody>
      </p:sp>
      <p:sp>
        <p:nvSpPr>
          <p:cNvPr id="1786" name="Google Shape;1786;p90"/>
          <p:cNvSpPr txBox="1"/>
          <p:nvPr>
            <p:ph idx="1" type="body"/>
          </p:nvPr>
        </p:nvSpPr>
        <p:spPr>
          <a:xfrm>
            <a:off x="4929212" y="388620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G</a:t>
            </a:r>
            <a:endParaRPr sz="2000">
              <a:latin typeface="Kalam"/>
              <a:ea typeface="Kalam"/>
              <a:cs typeface="Kalam"/>
              <a:sym typeface="Kalam"/>
            </a:endParaRPr>
          </a:p>
        </p:txBody>
      </p:sp>
      <p:sp>
        <p:nvSpPr>
          <p:cNvPr id="1787" name="Google Shape;1787;p90"/>
          <p:cNvSpPr txBox="1"/>
          <p:nvPr>
            <p:ph idx="1" type="body"/>
          </p:nvPr>
        </p:nvSpPr>
        <p:spPr>
          <a:xfrm>
            <a:off x="5411369" y="3243050"/>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H</a:t>
            </a:r>
            <a:endParaRPr sz="2000">
              <a:latin typeface="Kalam"/>
              <a:ea typeface="Kalam"/>
              <a:cs typeface="Kalam"/>
              <a:sym typeface="Kalam"/>
            </a:endParaRPr>
          </a:p>
        </p:txBody>
      </p:sp>
      <p:sp>
        <p:nvSpPr>
          <p:cNvPr id="1788" name="Google Shape;1788;p90"/>
          <p:cNvSpPr txBox="1"/>
          <p:nvPr>
            <p:ph idx="1" type="body"/>
          </p:nvPr>
        </p:nvSpPr>
        <p:spPr>
          <a:xfrm>
            <a:off x="4492925" y="3358575"/>
            <a:ext cx="224700" cy="317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I</a:t>
            </a:r>
            <a:endParaRPr sz="2000">
              <a:latin typeface="Kalam"/>
              <a:ea typeface="Kalam"/>
              <a:cs typeface="Kalam"/>
              <a:sym typeface="Kalam"/>
            </a:endParaRPr>
          </a:p>
        </p:txBody>
      </p:sp>
      <p:sp>
        <p:nvSpPr>
          <p:cNvPr id="1789" name="Google Shape;1789;p90"/>
          <p:cNvSpPr txBox="1"/>
          <p:nvPr>
            <p:ph idx="1" type="body"/>
          </p:nvPr>
        </p:nvSpPr>
        <p:spPr>
          <a:xfrm>
            <a:off x="324000" y="721900"/>
            <a:ext cx="7104600" cy="96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 Sort these drinks into the </a:t>
            </a:r>
            <a:r>
              <a:rPr b="1" lang="en-GB" sz="1800"/>
              <a:t>outcome </a:t>
            </a:r>
            <a:r>
              <a:rPr lang="en-GB" sz="1800"/>
              <a:t>table.  </a:t>
            </a:r>
            <a:endParaRPr sz="1800"/>
          </a:p>
        </p:txBody>
      </p:sp>
      <p:pic>
        <p:nvPicPr>
          <p:cNvPr id="1790" name="Google Shape;1790;p90"/>
          <p:cNvPicPr preferRelativeResize="0"/>
          <p:nvPr/>
        </p:nvPicPr>
        <p:blipFill>
          <a:blip r:embed="rId3">
            <a:alphaModFix/>
          </a:blip>
          <a:stretch>
            <a:fillRect/>
          </a:stretch>
        </p:blipFill>
        <p:spPr>
          <a:xfrm>
            <a:off x="1263375" y="1187555"/>
            <a:ext cx="468912" cy="657056"/>
          </a:xfrm>
          <a:prstGeom prst="rect">
            <a:avLst/>
          </a:prstGeom>
          <a:noFill/>
          <a:ln>
            <a:noFill/>
          </a:ln>
        </p:spPr>
      </p:pic>
      <p:pic>
        <p:nvPicPr>
          <p:cNvPr id="1791" name="Google Shape;1791;p90"/>
          <p:cNvPicPr preferRelativeResize="0"/>
          <p:nvPr/>
        </p:nvPicPr>
        <p:blipFill>
          <a:blip r:embed="rId4">
            <a:alphaModFix/>
          </a:blip>
          <a:stretch>
            <a:fillRect/>
          </a:stretch>
        </p:blipFill>
        <p:spPr>
          <a:xfrm>
            <a:off x="5579858" y="1276591"/>
            <a:ext cx="428389" cy="581799"/>
          </a:xfrm>
          <a:prstGeom prst="rect">
            <a:avLst/>
          </a:prstGeom>
          <a:noFill/>
          <a:ln>
            <a:noFill/>
          </a:ln>
        </p:spPr>
      </p:pic>
      <p:pic>
        <p:nvPicPr>
          <p:cNvPr id="1792" name="Google Shape;1792;p90"/>
          <p:cNvPicPr preferRelativeResize="0"/>
          <p:nvPr/>
        </p:nvPicPr>
        <p:blipFill>
          <a:blip r:embed="rId5">
            <a:alphaModFix/>
          </a:blip>
          <a:stretch>
            <a:fillRect/>
          </a:stretch>
        </p:blipFill>
        <p:spPr>
          <a:xfrm>
            <a:off x="3411085" y="1183206"/>
            <a:ext cx="408127" cy="735208"/>
          </a:xfrm>
          <a:prstGeom prst="rect">
            <a:avLst/>
          </a:prstGeom>
          <a:noFill/>
          <a:ln>
            <a:noFill/>
          </a:ln>
        </p:spPr>
      </p:pic>
      <p:pic>
        <p:nvPicPr>
          <p:cNvPr id="1793" name="Google Shape;1793;p90"/>
          <p:cNvPicPr preferRelativeResize="0"/>
          <p:nvPr/>
        </p:nvPicPr>
        <p:blipFill>
          <a:blip r:embed="rId6">
            <a:alphaModFix/>
          </a:blip>
          <a:stretch>
            <a:fillRect/>
          </a:stretch>
        </p:blipFill>
        <p:spPr>
          <a:xfrm>
            <a:off x="6385265" y="1223059"/>
            <a:ext cx="362147" cy="688895"/>
          </a:xfrm>
          <a:prstGeom prst="rect">
            <a:avLst/>
          </a:prstGeom>
          <a:noFill/>
          <a:ln>
            <a:noFill/>
          </a:ln>
        </p:spPr>
      </p:pic>
      <p:pic>
        <p:nvPicPr>
          <p:cNvPr id="1794" name="Google Shape;1794;p90"/>
          <p:cNvPicPr preferRelativeResize="0"/>
          <p:nvPr/>
        </p:nvPicPr>
        <p:blipFill>
          <a:blip r:embed="rId7">
            <a:alphaModFix/>
          </a:blip>
          <a:stretch>
            <a:fillRect/>
          </a:stretch>
        </p:blipFill>
        <p:spPr>
          <a:xfrm>
            <a:off x="4070989" y="1156199"/>
            <a:ext cx="413916" cy="755470"/>
          </a:xfrm>
          <a:prstGeom prst="rect">
            <a:avLst/>
          </a:prstGeom>
          <a:noFill/>
          <a:ln>
            <a:noFill/>
          </a:ln>
        </p:spPr>
      </p:pic>
      <p:pic>
        <p:nvPicPr>
          <p:cNvPr id="1795" name="Google Shape;1795;p90"/>
          <p:cNvPicPr preferRelativeResize="0"/>
          <p:nvPr/>
        </p:nvPicPr>
        <p:blipFill>
          <a:blip r:embed="rId8">
            <a:alphaModFix/>
          </a:blip>
          <a:stretch>
            <a:fillRect/>
          </a:stretch>
        </p:blipFill>
        <p:spPr>
          <a:xfrm>
            <a:off x="7045163" y="1233184"/>
            <a:ext cx="413139" cy="668634"/>
          </a:xfrm>
          <a:prstGeom prst="rect">
            <a:avLst/>
          </a:prstGeom>
          <a:noFill/>
          <a:ln>
            <a:noFill/>
          </a:ln>
        </p:spPr>
      </p:pic>
      <p:grpSp>
        <p:nvGrpSpPr>
          <p:cNvPr id="1796" name="Google Shape;1796;p90"/>
          <p:cNvGrpSpPr/>
          <p:nvPr/>
        </p:nvGrpSpPr>
        <p:grpSpPr>
          <a:xfrm>
            <a:off x="1984114" y="1120943"/>
            <a:ext cx="477596" cy="712090"/>
            <a:chOff x="1984114" y="1120943"/>
            <a:chExt cx="477596" cy="712090"/>
          </a:xfrm>
        </p:grpSpPr>
        <p:pic>
          <p:nvPicPr>
            <p:cNvPr id="1797" name="Google Shape;1797;p90"/>
            <p:cNvPicPr preferRelativeResize="0"/>
            <p:nvPr/>
          </p:nvPicPr>
          <p:blipFill>
            <a:blip r:embed="rId9">
              <a:alphaModFix/>
            </a:blip>
            <a:stretch>
              <a:fillRect/>
            </a:stretch>
          </p:blipFill>
          <p:spPr>
            <a:xfrm>
              <a:off x="1984114" y="1199133"/>
              <a:ext cx="477596" cy="633900"/>
            </a:xfrm>
            <a:prstGeom prst="rect">
              <a:avLst/>
            </a:prstGeom>
            <a:noFill/>
            <a:ln>
              <a:noFill/>
            </a:ln>
          </p:spPr>
        </p:pic>
        <p:pic>
          <p:nvPicPr>
            <p:cNvPr id="1798" name="Google Shape;1798;p90"/>
            <p:cNvPicPr preferRelativeResize="0"/>
            <p:nvPr/>
          </p:nvPicPr>
          <p:blipFill rotWithShape="1">
            <a:blip r:embed="rId7">
              <a:alphaModFix/>
            </a:blip>
            <a:srcRect b="81988" l="0" r="0" t="0"/>
            <a:stretch/>
          </p:blipFill>
          <p:spPr>
            <a:xfrm>
              <a:off x="2043225" y="1120943"/>
              <a:ext cx="413925" cy="136075"/>
            </a:xfrm>
            <a:prstGeom prst="rect">
              <a:avLst/>
            </a:prstGeom>
            <a:noFill/>
            <a:ln>
              <a:noFill/>
            </a:ln>
          </p:spPr>
        </p:pic>
      </p:grpSp>
      <p:grpSp>
        <p:nvGrpSpPr>
          <p:cNvPr id="1799" name="Google Shape;1799;p90"/>
          <p:cNvGrpSpPr/>
          <p:nvPr/>
        </p:nvGrpSpPr>
        <p:grpSpPr>
          <a:xfrm>
            <a:off x="2713519" y="1179374"/>
            <a:ext cx="485123" cy="665232"/>
            <a:chOff x="2713519" y="1179374"/>
            <a:chExt cx="485123" cy="665232"/>
          </a:xfrm>
        </p:grpSpPr>
        <p:pic>
          <p:nvPicPr>
            <p:cNvPr id="1800" name="Google Shape;1800;p90"/>
            <p:cNvPicPr preferRelativeResize="0"/>
            <p:nvPr/>
          </p:nvPicPr>
          <p:blipFill>
            <a:blip r:embed="rId10">
              <a:alphaModFix/>
            </a:blip>
            <a:stretch>
              <a:fillRect/>
            </a:stretch>
          </p:blipFill>
          <p:spPr>
            <a:xfrm>
              <a:off x="2713519" y="1257018"/>
              <a:ext cx="445756" cy="587588"/>
            </a:xfrm>
            <a:prstGeom prst="rect">
              <a:avLst/>
            </a:prstGeom>
            <a:noFill/>
            <a:ln>
              <a:noFill/>
            </a:ln>
          </p:spPr>
        </p:pic>
        <p:pic>
          <p:nvPicPr>
            <p:cNvPr id="1801" name="Google Shape;1801;p90"/>
            <p:cNvPicPr preferRelativeResize="0"/>
            <p:nvPr/>
          </p:nvPicPr>
          <p:blipFill rotWithShape="1">
            <a:blip r:embed="rId7">
              <a:alphaModFix/>
            </a:blip>
            <a:srcRect b="81988" l="0" r="0" t="0"/>
            <a:stretch/>
          </p:blipFill>
          <p:spPr>
            <a:xfrm>
              <a:off x="2784717" y="1179374"/>
              <a:ext cx="413925" cy="136075"/>
            </a:xfrm>
            <a:prstGeom prst="rect">
              <a:avLst/>
            </a:prstGeom>
            <a:noFill/>
            <a:ln>
              <a:noFill/>
            </a:ln>
          </p:spPr>
        </p:pic>
      </p:grpSp>
      <p:grpSp>
        <p:nvGrpSpPr>
          <p:cNvPr id="1802" name="Google Shape;1802;p90"/>
          <p:cNvGrpSpPr/>
          <p:nvPr/>
        </p:nvGrpSpPr>
        <p:grpSpPr>
          <a:xfrm>
            <a:off x="4876452" y="1152087"/>
            <a:ext cx="473678" cy="727261"/>
            <a:chOff x="4876452" y="1152087"/>
            <a:chExt cx="473678" cy="727261"/>
          </a:xfrm>
        </p:grpSpPr>
        <p:pic>
          <p:nvPicPr>
            <p:cNvPr id="1803" name="Google Shape;1803;p90"/>
            <p:cNvPicPr preferRelativeResize="0"/>
            <p:nvPr/>
          </p:nvPicPr>
          <p:blipFill>
            <a:blip r:embed="rId11">
              <a:alphaModFix/>
            </a:blip>
            <a:stretch>
              <a:fillRect/>
            </a:stretch>
          </p:blipFill>
          <p:spPr>
            <a:xfrm>
              <a:off x="4876452" y="1222293"/>
              <a:ext cx="451545" cy="657056"/>
            </a:xfrm>
            <a:prstGeom prst="rect">
              <a:avLst/>
            </a:prstGeom>
            <a:noFill/>
            <a:ln>
              <a:noFill/>
            </a:ln>
          </p:spPr>
        </p:pic>
        <p:pic>
          <p:nvPicPr>
            <p:cNvPr id="1804" name="Google Shape;1804;p90"/>
            <p:cNvPicPr preferRelativeResize="0"/>
            <p:nvPr/>
          </p:nvPicPr>
          <p:blipFill rotWithShape="1">
            <a:blip r:embed="rId7">
              <a:alphaModFix/>
            </a:blip>
            <a:srcRect b="81988" l="0" r="0" t="0"/>
            <a:stretch/>
          </p:blipFill>
          <p:spPr>
            <a:xfrm>
              <a:off x="4936205" y="1152087"/>
              <a:ext cx="413925" cy="136075"/>
            </a:xfrm>
            <a:prstGeom prst="rect">
              <a:avLst/>
            </a:prstGeom>
            <a:noFill/>
            <a:ln>
              <a:noFill/>
            </a:ln>
          </p:spPr>
        </p:pic>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8" name="Shape 1808"/>
        <p:cNvGrpSpPr/>
        <p:nvPr/>
      </p:nvGrpSpPr>
      <p:grpSpPr>
        <a:xfrm>
          <a:off x="0" y="0"/>
          <a:ext cx="0" cy="0"/>
          <a:chOff x="0" y="0"/>
          <a:chExt cx="0" cy="0"/>
        </a:xfrm>
      </p:grpSpPr>
      <p:sp>
        <p:nvSpPr>
          <p:cNvPr id="1809" name="Google Shape;1809;p91"/>
          <p:cNvSpPr txBox="1"/>
          <p:nvPr>
            <p:ph type="title"/>
          </p:nvPr>
        </p:nvSpPr>
        <p:spPr>
          <a:xfrm>
            <a:off x="1225200" y="1779713"/>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a two-stage trial</a:t>
            </a:r>
            <a:endParaRPr/>
          </a:p>
        </p:txBody>
      </p:sp>
      <p:sp>
        <p:nvSpPr>
          <p:cNvPr id="1810" name="Google Shape;1810;p9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Outcome table from two events</a:t>
            </a:r>
            <a:endParaRPr/>
          </a:p>
        </p:txBody>
      </p:sp>
      <p:sp>
        <p:nvSpPr>
          <p:cNvPr id="1811" name="Google Shape;1811;p9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Using two-way tables to display outcomes for two events</a:t>
            </a:r>
            <a:endParaRPr/>
          </a:p>
        </p:txBody>
      </p:sp>
      <p:pic>
        <p:nvPicPr>
          <p:cNvPr id="1812" name="Google Shape;1812;p91"/>
          <p:cNvPicPr preferRelativeResize="0"/>
          <p:nvPr/>
        </p:nvPicPr>
        <p:blipFill>
          <a:blip r:embed="rId3">
            <a:alphaModFix/>
          </a:blip>
          <a:stretch>
            <a:fillRect/>
          </a:stretch>
        </p:blipFill>
        <p:spPr>
          <a:xfrm>
            <a:off x="417370" y="3703784"/>
            <a:ext cx="450575" cy="446750"/>
          </a:xfrm>
          <a:prstGeom prst="rect">
            <a:avLst/>
          </a:prstGeom>
          <a:noFill/>
          <a:ln>
            <a:noFill/>
          </a:ln>
        </p:spPr>
      </p:pic>
      <p:sp>
        <p:nvSpPr>
          <p:cNvPr id="1813" name="Google Shape;1813;p9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7" name="Shape 1817"/>
        <p:cNvGrpSpPr/>
        <p:nvPr/>
      </p:nvGrpSpPr>
      <p:grpSpPr>
        <a:xfrm>
          <a:off x="0" y="0"/>
          <a:ext cx="0" cy="0"/>
          <a:chOff x="0" y="0"/>
          <a:chExt cx="0" cy="0"/>
        </a:xfrm>
      </p:grpSpPr>
      <p:sp>
        <p:nvSpPr>
          <p:cNvPr id="1818" name="Google Shape;1818;p92"/>
          <p:cNvSpPr txBox="1"/>
          <p:nvPr>
            <p:ph idx="1" type="body"/>
          </p:nvPr>
        </p:nvSpPr>
        <p:spPr>
          <a:xfrm>
            <a:off x="324000" y="759300"/>
            <a:ext cx="47904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are some party hats from a pack.</a:t>
            </a:r>
            <a:endParaRPr sz="1800"/>
          </a:p>
        </p:txBody>
      </p:sp>
      <p:sp>
        <p:nvSpPr>
          <p:cNvPr id="1819" name="Google Shape;1819;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pic>
        <p:nvPicPr>
          <p:cNvPr id="1820" name="Google Shape;1820;p92"/>
          <p:cNvPicPr preferRelativeResize="0"/>
          <p:nvPr/>
        </p:nvPicPr>
        <p:blipFill rotWithShape="1">
          <a:blip r:embed="rId3">
            <a:alphaModFix/>
          </a:blip>
          <a:srcRect b="47794" l="0" r="85007" t="0"/>
          <a:stretch/>
        </p:blipFill>
        <p:spPr>
          <a:xfrm>
            <a:off x="470027" y="1202663"/>
            <a:ext cx="454756" cy="738393"/>
          </a:xfrm>
          <a:prstGeom prst="rect">
            <a:avLst/>
          </a:prstGeom>
          <a:noFill/>
          <a:ln>
            <a:noFill/>
          </a:ln>
        </p:spPr>
      </p:pic>
      <p:pic>
        <p:nvPicPr>
          <p:cNvPr id="1821" name="Google Shape;1821;p92"/>
          <p:cNvPicPr preferRelativeResize="0"/>
          <p:nvPr/>
        </p:nvPicPr>
        <p:blipFill rotWithShape="1">
          <a:blip r:embed="rId3">
            <a:alphaModFix/>
          </a:blip>
          <a:srcRect b="47794" l="20916" r="64090" t="0"/>
          <a:stretch/>
        </p:blipFill>
        <p:spPr>
          <a:xfrm>
            <a:off x="949627" y="1218376"/>
            <a:ext cx="454756" cy="738393"/>
          </a:xfrm>
          <a:prstGeom prst="rect">
            <a:avLst/>
          </a:prstGeom>
          <a:noFill/>
          <a:ln>
            <a:noFill/>
          </a:ln>
        </p:spPr>
      </p:pic>
      <p:pic>
        <p:nvPicPr>
          <p:cNvPr id="1822" name="Google Shape;1822;p92"/>
          <p:cNvPicPr preferRelativeResize="0"/>
          <p:nvPr/>
        </p:nvPicPr>
        <p:blipFill rotWithShape="1">
          <a:blip r:embed="rId3">
            <a:alphaModFix/>
          </a:blip>
          <a:srcRect b="49699" l="63469" r="21537" t="-1905"/>
          <a:stretch/>
        </p:blipFill>
        <p:spPr>
          <a:xfrm>
            <a:off x="4254303" y="1183081"/>
            <a:ext cx="454756" cy="738393"/>
          </a:xfrm>
          <a:prstGeom prst="rect">
            <a:avLst/>
          </a:prstGeom>
          <a:noFill/>
          <a:ln>
            <a:noFill/>
          </a:ln>
        </p:spPr>
      </p:pic>
      <p:pic>
        <p:nvPicPr>
          <p:cNvPr id="1823" name="Google Shape;1823;p92"/>
          <p:cNvPicPr preferRelativeResize="0"/>
          <p:nvPr/>
        </p:nvPicPr>
        <p:blipFill rotWithShape="1">
          <a:blip r:embed="rId3">
            <a:alphaModFix/>
          </a:blip>
          <a:srcRect b="47794" l="85462" r="-455" t="0"/>
          <a:stretch/>
        </p:blipFill>
        <p:spPr>
          <a:xfrm>
            <a:off x="3311403" y="1218593"/>
            <a:ext cx="454756" cy="738393"/>
          </a:xfrm>
          <a:prstGeom prst="rect">
            <a:avLst/>
          </a:prstGeom>
          <a:noFill/>
          <a:ln>
            <a:noFill/>
          </a:ln>
        </p:spPr>
      </p:pic>
      <p:pic>
        <p:nvPicPr>
          <p:cNvPr id="1824" name="Google Shape;1824;p92"/>
          <p:cNvPicPr preferRelativeResize="0"/>
          <p:nvPr/>
        </p:nvPicPr>
        <p:blipFill rotWithShape="1">
          <a:blip r:embed="rId3">
            <a:alphaModFix/>
          </a:blip>
          <a:srcRect b="-5126" l="-713" r="85720" t="52920"/>
          <a:stretch/>
        </p:blipFill>
        <p:spPr>
          <a:xfrm>
            <a:off x="1896403" y="1229811"/>
            <a:ext cx="454756" cy="738393"/>
          </a:xfrm>
          <a:prstGeom prst="rect">
            <a:avLst/>
          </a:prstGeom>
          <a:noFill/>
          <a:ln>
            <a:noFill/>
          </a:ln>
        </p:spPr>
      </p:pic>
      <p:pic>
        <p:nvPicPr>
          <p:cNvPr id="1825" name="Google Shape;1825;p92"/>
          <p:cNvPicPr preferRelativeResize="0"/>
          <p:nvPr/>
        </p:nvPicPr>
        <p:blipFill rotWithShape="1">
          <a:blip r:embed="rId3">
            <a:alphaModFix/>
          </a:blip>
          <a:srcRect b="-3983" l="21101" r="63905" t="51777"/>
          <a:stretch/>
        </p:blipFill>
        <p:spPr>
          <a:xfrm>
            <a:off x="1441654" y="1206455"/>
            <a:ext cx="454756" cy="738393"/>
          </a:xfrm>
          <a:prstGeom prst="rect">
            <a:avLst/>
          </a:prstGeom>
          <a:noFill/>
          <a:ln>
            <a:noFill/>
          </a:ln>
        </p:spPr>
      </p:pic>
      <p:pic>
        <p:nvPicPr>
          <p:cNvPr id="1826" name="Google Shape;1826;p92"/>
          <p:cNvPicPr preferRelativeResize="0"/>
          <p:nvPr/>
        </p:nvPicPr>
        <p:blipFill rotWithShape="1">
          <a:blip r:embed="rId3">
            <a:alphaModFix/>
          </a:blip>
          <a:srcRect b="-5507" l="42737" r="42269" t="53302"/>
          <a:stretch/>
        </p:blipFill>
        <p:spPr>
          <a:xfrm>
            <a:off x="4726404" y="1223968"/>
            <a:ext cx="454756" cy="738393"/>
          </a:xfrm>
          <a:prstGeom prst="rect">
            <a:avLst/>
          </a:prstGeom>
          <a:noFill/>
          <a:ln>
            <a:noFill/>
          </a:ln>
        </p:spPr>
      </p:pic>
      <p:pic>
        <p:nvPicPr>
          <p:cNvPr id="1827" name="Google Shape;1827;p92"/>
          <p:cNvPicPr preferRelativeResize="0"/>
          <p:nvPr/>
        </p:nvPicPr>
        <p:blipFill rotWithShape="1">
          <a:blip r:embed="rId3">
            <a:alphaModFix/>
          </a:blip>
          <a:srcRect b="-3983" l="85825" r="-818" t="51777"/>
          <a:stretch/>
        </p:blipFill>
        <p:spPr>
          <a:xfrm>
            <a:off x="3782204" y="1200611"/>
            <a:ext cx="454756" cy="738393"/>
          </a:xfrm>
          <a:prstGeom prst="rect">
            <a:avLst/>
          </a:prstGeom>
          <a:noFill/>
          <a:ln>
            <a:noFill/>
          </a:ln>
        </p:spPr>
      </p:pic>
      <p:pic>
        <p:nvPicPr>
          <p:cNvPr id="1828" name="Google Shape;1828;p92"/>
          <p:cNvPicPr preferRelativeResize="0"/>
          <p:nvPr/>
        </p:nvPicPr>
        <p:blipFill rotWithShape="1">
          <a:blip r:embed="rId3">
            <a:alphaModFix/>
          </a:blip>
          <a:srcRect b="-5507" l="64903" r="20104" t="53302"/>
          <a:stretch/>
        </p:blipFill>
        <p:spPr>
          <a:xfrm>
            <a:off x="2838005" y="1218593"/>
            <a:ext cx="454756" cy="738393"/>
          </a:xfrm>
          <a:prstGeom prst="rect">
            <a:avLst/>
          </a:prstGeom>
          <a:noFill/>
          <a:ln>
            <a:noFill/>
          </a:ln>
        </p:spPr>
      </p:pic>
      <p:pic>
        <p:nvPicPr>
          <p:cNvPr id="1829" name="Google Shape;1829;p92"/>
          <p:cNvPicPr preferRelativeResize="0"/>
          <p:nvPr/>
        </p:nvPicPr>
        <p:blipFill rotWithShape="1">
          <a:blip r:embed="rId3">
            <a:alphaModFix/>
          </a:blip>
          <a:srcRect b="52401" l="41227" r="41887" t="7713"/>
          <a:stretch/>
        </p:blipFill>
        <p:spPr>
          <a:xfrm>
            <a:off x="2351150" y="1317005"/>
            <a:ext cx="512100" cy="564000"/>
          </a:xfrm>
          <a:prstGeom prst="triangle">
            <a:avLst>
              <a:gd fmla="val 50000" name="adj"/>
            </a:avLst>
          </a:prstGeom>
          <a:noFill/>
          <a:ln>
            <a:noFill/>
          </a:ln>
        </p:spPr>
      </p:pic>
      <p:sp>
        <p:nvSpPr>
          <p:cNvPr id="1830" name="Google Shape;1830;p92"/>
          <p:cNvSpPr txBox="1"/>
          <p:nvPr>
            <p:ph idx="1" type="body"/>
          </p:nvPr>
        </p:nvSpPr>
        <p:spPr>
          <a:xfrm>
            <a:off x="324000" y="2097950"/>
            <a:ext cx="51747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Some of them can be said to be striped.</a:t>
            </a:r>
            <a:endParaRPr sz="1800"/>
          </a:p>
          <a:p>
            <a:pPr indent="0" lvl="0" marL="0" rtl="0" algn="l">
              <a:spcBef>
                <a:spcPts val="1000"/>
              </a:spcBef>
              <a:spcAft>
                <a:spcPts val="1000"/>
              </a:spcAft>
              <a:buNone/>
            </a:pPr>
            <a:r>
              <a:rPr lang="en-GB" sz="1800"/>
              <a:t>Some of them can be said to have toppers.</a:t>
            </a:r>
            <a:endParaRPr sz="1800"/>
          </a:p>
        </p:txBody>
      </p:sp>
      <p:sp>
        <p:nvSpPr>
          <p:cNvPr id="1831" name="Google Shape;1831;p92"/>
          <p:cNvSpPr txBox="1"/>
          <p:nvPr>
            <p:ph idx="1" type="body"/>
          </p:nvPr>
        </p:nvSpPr>
        <p:spPr>
          <a:xfrm>
            <a:off x="324000" y="2936150"/>
            <a:ext cx="51747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We can sort them into an </a:t>
            </a:r>
            <a:r>
              <a:rPr b="1" lang="en-GB" sz="1800"/>
              <a:t>outcome table</a:t>
            </a:r>
            <a:r>
              <a:rPr lang="en-GB" sz="1800"/>
              <a:t> based on toppers and stripes.</a:t>
            </a:r>
            <a:endParaRPr sz="1800"/>
          </a:p>
        </p:txBody>
      </p:sp>
      <p:grpSp>
        <p:nvGrpSpPr>
          <p:cNvPr id="1832" name="Google Shape;1832;p92"/>
          <p:cNvGrpSpPr/>
          <p:nvPr/>
        </p:nvGrpSpPr>
        <p:grpSpPr>
          <a:xfrm>
            <a:off x="5578500" y="1161600"/>
            <a:ext cx="3261375" cy="2639875"/>
            <a:chOff x="5578500" y="1161600"/>
            <a:chExt cx="3261375" cy="2639875"/>
          </a:xfrm>
        </p:grpSpPr>
        <p:cxnSp>
          <p:nvCxnSpPr>
            <p:cNvPr id="1833" name="Google Shape;1833;p92"/>
            <p:cNvCxnSpPr/>
            <p:nvPr/>
          </p:nvCxnSpPr>
          <p:spPr>
            <a:xfrm>
              <a:off x="6417725" y="1183075"/>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34" name="Google Shape;1834;p92"/>
            <p:cNvCxnSpPr/>
            <p:nvPr/>
          </p:nvCxnSpPr>
          <p:spPr>
            <a:xfrm>
              <a:off x="7618863" y="1183075"/>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35" name="Google Shape;1835;p92"/>
            <p:cNvCxnSpPr/>
            <p:nvPr/>
          </p:nvCxnSpPr>
          <p:spPr>
            <a:xfrm>
              <a:off x="8820000" y="1161600"/>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36" name="Google Shape;1836;p92"/>
            <p:cNvCxnSpPr/>
            <p:nvPr/>
          </p:nvCxnSpPr>
          <p:spPr>
            <a:xfrm rot="10800000">
              <a:off x="5578500" y="1569800"/>
              <a:ext cx="3241500" cy="0"/>
            </a:xfrm>
            <a:prstGeom prst="straightConnector1">
              <a:avLst/>
            </a:prstGeom>
            <a:noFill/>
            <a:ln cap="flat" cmpd="sng" w="38100">
              <a:solidFill>
                <a:schemeClr val="dk1"/>
              </a:solidFill>
              <a:prstDash val="solid"/>
              <a:round/>
              <a:headEnd len="med" w="med" type="none"/>
              <a:tailEnd len="med" w="med" type="none"/>
            </a:ln>
          </p:spPr>
        </p:cxnSp>
        <p:cxnSp>
          <p:nvCxnSpPr>
            <p:cNvPr id="1837" name="Google Shape;1837;p92"/>
            <p:cNvCxnSpPr/>
            <p:nvPr/>
          </p:nvCxnSpPr>
          <p:spPr>
            <a:xfrm rot="10800000">
              <a:off x="5578500" y="2678785"/>
              <a:ext cx="3241500" cy="0"/>
            </a:xfrm>
            <a:prstGeom prst="straightConnector1">
              <a:avLst/>
            </a:prstGeom>
            <a:noFill/>
            <a:ln cap="flat" cmpd="sng" w="38100">
              <a:solidFill>
                <a:schemeClr val="dk1"/>
              </a:solidFill>
              <a:prstDash val="solid"/>
              <a:round/>
              <a:headEnd len="med" w="med" type="none"/>
              <a:tailEnd len="med" w="med" type="none"/>
            </a:ln>
          </p:spPr>
        </p:cxnSp>
        <p:cxnSp>
          <p:nvCxnSpPr>
            <p:cNvPr id="1838" name="Google Shape;1838;p92"/>
            <p:cNvCxnSpPr/>
            <p:nvPr/>
          </p:nvCxnSpPr>
          <p:spPr>
            <a:xfrm rot="10800000">
              <a:off x="5578575" y="3787725"/>
              <a:ext cx="3261300" cy="0"/>
            </a:xfrm>
            <a:prstGeom prst="straightConnector1">
              <a:avLst/>
            </a:prstGeom>
            <a:noFill/>
            <a:ln cap="flat" cmpd="sng" w="38100">
              <a:solidFill>
                <a:schemeClr val="dk1"/>
              </a:solidFill>
              <a:prstDash val="solid"/>
              <a:round/>
              <a:headEnd len="med" w="med" type="none"/>
              <a:tailEnd len="med" w="med" type="none"/>
            </a:ln>
          </p:spPr>
        </p:cxnSp>
      </p:grpSp>
      <p:sp>
        <p:nvSpPr>
          <p:cNvPr id="1839" name="Google Shape;1839;p92"/>
          <p:cNvSpPr txBox="1"/>
          <p:nvPr>
            <p:ph idx="1" type="body"/>
          </p:nvPr>
        </p:nvSpPr>
        <p:spPr>
          <a:xfrm>
            <a:off x="6592150" y="11616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striped</a:t>
            </a:r>
            <a:endParaRPr sz="1800"/>
          </a:p>
        </p:txBody>
      </p:sp>
      <p:sp>
        <p:nvSpPr>
          <p:cNvPr id="1840" name="Google Shape;1840;p92"/>
          <p:cNvSpPr txBox="1"/>
          <p:nvPr>
            <p:ph idx="1" type="body"/>
          </p:nvPr>
        </p:nvSpPr>
        <p:spPr>
          <a:xfrm>
            <a:off x="7793288" y="9345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a:t>
            </a:r>
            <a:r>
              <a:rPr lang="en-GB" sz="1800"/>
              <a:t>ot s</a:t>
            </a:r>
            <a:r>
              <a:rPr lang="en-GB" sz="1800"/>
              <a:t>triped</a:t>
            </a:r>
            <a:endParaRPr sz="1800"/>
          </a:p>
        </p:txBody>
      </p:sp>
      <p:sp>
        <p:nvSpPr>
          <p:cNvPr id="1841" name="Google Shape;1841;p92"/>
          <p:cNvSpPr txBox="1"/>
          <p:nvPr>
            <p:ph idx="1" type="body"/>
          </p:nvPr>
        </p:nvSpPr>
        <p:spPr>
          <a:xfrm>
            <a:off x="5565450" y="18810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topper</a:t>
            </a:r>
            <a:endParaRPr sz="1800"/>
          </a:p>
        </p:txBody>
      </p:sp>
      <p:sp>
        <p:nvSpPr>
          <p:cNvPr id="1842" name="Google Shape;1842;p92"/>
          <p:cNvSpPr txBox="1"/>
          <p:nvPr>
            <p:ph idx="1" type="body"/>
          </p:nvPr>
        </p:nvSpPr>
        <p:spPr>
          <a:xfrm>
            <a:off x="5532063" y="2966721"/>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a:t>
            </a:r>
            <a:r>
              <a:rPr lang="en-GB" sz="1800"/>
              <a:t> </a:t>
            </a:r>
            <a:r>
              <a:rPr lang="en-GB" sz="1800"/>
              <a:t>topper</a:t>
            </a:r>
            <a:endParaRPr sz="1800"/>
          </a:p>
        </p:txBody>
      </p:sp>
      <p:pic>
        <p:nvPicPr>
          <p:cNvPr id="1843" name="Google Shape;1843;p92"/>
          <p:cNvPicPr preferRelativeResize="0"/>
          <p:nvPr/>
        </p:nvPicPr>
        <p:blipFill rotWithShape="1">
          <a:blip r:embed="rId3">
            <a:alphaModFix/>
          </a:blip>
          <a:srcRect b="47794" l="0" r="85007" t="0"/>
          <a:stretch/>
        </p:blipFill>
        <p:spPr>
          <a:xfrm>
            <a:off x="7693702" y="1561788"/>
            <a:ext cx="454756" cy="738393"/>
          </a:xfrm>
          <a:prstGeom prst="rect">
            <a:avLst/>
          </a:prstGeom>
          <a:noFill/>
          <a:ln>
            <a:noFill/>
          </a:ln>
        </p:spPr>
      </p:pic>
      <p:pic>
        <p:nvPicPr>
          <p:cNvPr id="1844" name="Google Shape;1844;p92"/>
          <p:cNvPicPr preferRelativeResize="0"/>
          <p:nvPr/>
        </p:nvPicPr>
        <p:blipFill rotWithShape="1">
          <a:blip r:embed="rId3">
            <a:alphaModFix/>
          </a:blip>
          <a:srcRect b="47794" l="20916" r="64090" t="0"/>
          <a:stretch/>
        </p:blipFill>
        <p:spPr>
          <a:xfrm>
            <a:off x="6417752" y="2627351"/>
            <a:ext cx="454756" cy="738393"/>
          </a:xfrm>
          <a:prstGeom prst="rect">
            <a:avLst/>
          </a:prstGeom>
          <a:noFill/>
          <a:ln>
            <a:noFill/>
          </a:ln>
        </p:spPr>
      </p:pic>
      <p:pic>
        <p:nvPicPr>
          <p:cNvPr id="1845" name="Google Shape;1845;p92"/>
          <p:cNvPicPr preferRelativeResize="0"/>
          <p:nvPr/>
        </p:nvPicPr>
        <p:blipFill rotWithShape="1">
          <a:blip r:embed="rId3">
            <a:alphaModFix/>
          </a:blip>
          <a:srcRect b="-3983" l="21101" r="63905" t="51777"/>
          <a:stretch/>
        </p:blipFill>
        <p:spPr>
          <a:xfrm>
            <a:off x="8217054" y="1561792"/>
            <a:ext cx="454756" cy="738393"/>
          </a:xfrm>
          <a:prstGeom prst="rect">
            <a:avLst/>
          </a:prstGeom>
          <a:noFill/>
          <a:ln>
            <a:noFill/>
          </a:ln>
        </p:spPr>
      </p:pic>
      <p:pic>
        <p:nvPicPr>
          <p:cNvPr id="1846" name="Google Shape;1846;p92"/>
          <p:cNvPicPr preferRelativeResize="0"/>
          <p:nvPr/>
        </p:nvPicPr>
        <p:blipFill rotWithShape="1">
          <a:blip r:embed="rId3">
            <a:alphaModFix/>
          </a:blip>
          <a:srcRect b="-5126" l="-713" r="85720" t="52920"/>
          <a:stretch/>
        </p:blipFill>
        <p:spPr>
          <a:xfrm>
            <a:off x="6471728" y="1561799"/>
            <a:ext cx="454756" cy="738393"/>
          </a:xfrm>
          <a:prstGeom prst="rect">
            <a:avLst/>
          </a:prstGeom>
          <a:noFill/>
          <a:ln>
            <a:noFill/>
          </a:ln>
        </p:spPr>
      </p:pic>
      <p:pic>
        <p:nvPicPr>
          <p:cNvPr id="1847" name="Google Shape;1847;p92"/>
          <p:cNvPicPr preferRelativeResize="0"/>
          <p:nvPr/>
        </p:nvPicPr>
        <p:blipFill rotWithShape="1">
          <a:blip r:embed="rId3">
            <a:alphaModFix/>
          </a:blip>
          <a:srcRect b="52401" l="41227" r="41887" t="7713"/>
          <a:stretch/>
        </p:blipFill>
        <p:spPr>
          <a:xfrm>
            <a:off x="7791550" y="2714555"/>
            <a:ext cx="512100" cy="564000"/>
          </a:xfrm>
          <a:prstGeom prst="triangle">
            <a:avLst>
              <a:gd fmla="val 50000" name="adj"/>
            </a:avLst>
          </a:prstGeom>
          <a:noFill/>
          <a:ln>
            <a:noFill/>
          </a:ln>
        </p:spPr>
      </p:pic>
      <p:pic>
        <p:nvPicPr>
          <p:cNvPr id="1848" name="Google Shape;1848;p92"/>
          <p:cNvPicPr preferRelativeResize="0"/>
          <p:nvPr/>
        </p:nvPicPr>
        <p:blipFill rotWithShape="1">
          <a:blip r:embed="rId3">
            <a:alphaModFix/>
          </a:blip>
          <a:srcRect b="-5507" l="64903" r="20104" t="53302"/>
          <a:stretch/>
        </p:blipFill>
        <p:spPr>
          <a:xfrm>
            <a:off x="6980455" y="1561805"/>
            <a:ext cx="454756" cy="738393"/>
          </a:xfrm>
          <a:prstGeom prst="rect">
            <a:avLst/>
          </a:prstGeom>
          <a:noFill/>
          <a:ln>
            <a:noFill/>
          </a:ln>
        </p:spPr>
      </p:pic>
      <p:pic>
        <p:nvPicPr>
          <p:cNvPr id="1849" name="Google Shape;1849;p92"/>
          <p:cNvPicPr preferRelativeResize="0"/>
          <p:nvPr/>
        </p:nvPicPr>
        <p:blipFill rotWithShape="1">
          <a:blip r:embed="rId3">
            <a:alphaModFix/>
          </a:blip>
          <a:srcRect b="47794" l="85462" r="-455" t="0"/>
          <a:stretch/>
        </p:blipFill>
        <p:spPr>
          <a:xfrm>
            <a:off x="6980453" y="2627355"/>
            <a:ext cx="454756" cy="738393"/>
          </a:xfrm>
          <a:prstGeom prst="rect">
            <a:avLst/>
          </a:prstGeom>
          <a:noFill/>
          <a:ln>
            <a:noFill/>
          </a:ln>
        </p:spPr>
      </p:pic>
      <p:pic>
        <p:nvPicPr>
          <p:cNvPr id="1850" name="Google Shape;1850;p92"/>
          <p:cNvPicPr preferRelativeResize="0"/>
          <p:nvPr/>
        </p:nvPicPr>
        <p:blipFill rotWithShape="1">
          <a:blip r:embed="rId3">
            <a:alphaModFix/>
          </a:blip>
          <a:srcRect b="-3983" l="85825" r="-818" t="51777"/>
          <a:stretch/>
        </p:blipFill>
        <p:spPr>
          <a:xfrm>
            <a:off x="7820229" y="1881011"/>
            <a:ext cx="454756" cy="738393"/>
          </a:xfrm>
          <a:prstGeom prst="rect">
            <a:avLst/>
          </a:prstGeom>
          <a:noFill/>
          <a:ln>
            <a:noFill/>
          </a:ln>
        </p:spPr>
      </p:pic>
      <p:pic>
        <p:nvPicPr>
          <p:cNvPr id="1851" name="Google Shape;1851;p92"/>
          <p:cNvPicPr preferRelativeResize="0"/>
          <p:nvPr/>
        </p:nvPicPr>
        <p:blipFill rotWithShape="1">
          <a:blip r:embed="rId3">
            <a:alphaModFix/>
          </a:blip>
          <a:srcRect b="49699" l="63469" r="21537" t="-1905"/>
          <a:stretch/>
        </p:blipFill>
        <p:spPr>
          <a:xfrm>
            <a:off x="8303653" y="1881006"/>
            <a:ext cx="454756" cy="738393"/>
          </a:xfrm>
          <a:prstGeom prst="rect">
            <a:avLst/>
          </a:prstGeom>
          <a:noFill/>
          <a:ln>
            <a:noFill/>
          </a:ln>
        </p:spPr>
      </p:pic>
      <p:pic>
        <p:nvPicPr>
          <p:cNvPr id="1852" name="Google Shape;1852;p92"/>
          <p:cNvPicPr preferRelativeResize="0"/>
          <p:nvPr/>
        </p:nvPicPr>
        <p:blipFill rotWithShape="1">
          <a:blip r:embed="rId3">
            <a:alphaModFix/>
          </a:blip>
          <a:srcRect b="-5507" l="42737" r="42269" t="53302"/>
          <a:stretch/>
        </p:blipFill>
        <p:spPr>
          <a:xfrm>
            <a:off x="6680279" y="3041618"/>
            <a:ext cx="454756" cy="73839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82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6" name="Shape 1856"/>
        <p:cNvGrpSpPr/>
        <p:nvPr/>
      </p:nvGrpSpPr>
      <p:grpSpPr>
        <a:xfrm>
          <a:off x="0" y="0"/>
          <a:ext cx="0" cy="0"/>
          <a:chOff x="0" y="0"/>
          <a:chExt cx="0" cy="0"/>
        </a:xfrm>
      </p:grpSpPr>
      <p:grpSp>
        <p:nvGrpSpPr>
          <p:cNvPr id="1857" name="Google Shape;1857;p93"/>
          <p:cNvGrpSpPr/>
          <p:nvPr/>
        </p:nvGrpSpPr>
        <p:grpSpPr>
          <a:xfrm>
            <a:off x="526125" y="1140125"/>
            <a:ext cx="3261375" cy="2639875"/>
            <a:chOff x="5578500" y="1161600"/>
            <a:chExt cx="3261375" cy="2639875"/>
          </a:xfrm>
        </p:grpSpPr>
        <p:cxnSp>
          <p:nvCxnSpPr>
            <p:cNvPr id="1858" name="Google Shape;1858;p93"/>
            <p:cNvCxnSpPr/>
            <p:nvPr/>
          </p:nvCxnSpPr>
          <p:spPr>
            <a:xfrm>
              <a:off x="6417725" y="1183075"/>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59" name="Google Shape;1859;p93"/>
            <p:cNvCxnSpPr/>
            <p:nvPr/>
          </p:nvCxnSpPr>
          <p:spPr>
            <a:xfrm>
              <a:off x="7618863" y="1183075"/>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60" name="Google Shape;1860;p93"/>
            <p:cNvCxnSpPr/>
            <p:nvPr/>
          </p:nvCxnSpPr>
          <p:spPr>
            <a:xfrm>
              <a:off x="8820000" y="1161600"/>
              <a:ext cx="0" cy="2618400"/>
            </a:xfrm>
            <a:prstGeom prst="straightConnector1">
              <a:avLst/>
            </a:prstGeom>
            <a:noFill/>
            <a:ln cap="flat" cmpd="sng" w="38100">
              <a:solidFill>
                <a:schemeClr val="dk1"/>
              </a:solidFill>
              <a:prstDash val="solid"/>
              <a:round/>
              <a:headEnd len="med" w="med" type="none"/>
              <a:tailEnd len="med" w="med" type="none"/>
            </a:ln>
          </p:spPr>
        </p:cxnSp>
        <p:cxnSp>
          <p:nvCxnSpPr>
            <p:cNvPr id="1861" name="Google Shape;1861;p93"/>
            <p:cNvCxnSpPr/>
            <p:nvPr/>
          </p:nvCxnSpPr>
          <p:spPr>
            <a:xfrm rot="10800000">
              <a:off x="5578500" y="1569800"/>
              <a:ext cx="3241500" cy="0"/>
            </a:xfrm>
            <a:prstGeom prst="straightConnector1">
              <a:avLst/>
            </a:prstGeom>
            <a:noFill/>
            <a:ln cap="flat" cmpd="sng" w="38100">
              <a:solidFill>
                <a:schemeClr val="dk1"/>
              </a:solidFill>
              <a:prstDash val="solid"/>
              <a:round/>
              <a:headEnd len="med" w="med" type="none"/>
              <a:tailEnd len="med" w="med" type="none"/>
            </a:ln>
          </p:spPr>
        </p:cxnSp>
        <p:cxnSp>
          <p:nvCxnSpPr>
            <p:cNvPr id="1862" name="Google Shape;1862;p93"/>
            <p:cNvCxnSpPr/>
            <p:nvPr/>
          </p:nvCxnSpPr>
          <p:spPr>
            <a:xfrm rot="10800000">
              <a:off x="5578500" y="2678785"/>
              <a:ext cx="3241500" cy="0"/>
            </a:xfrm>
            <a:prstGeom prst="straightConnector1">
              <a:avLst/>
            </a:prstGeom>
            <a:noFill/>
            <a:ln cap="flat" cmpd="sng" w="38100">
              <a:solidFill>
                <a:schemeClr val="dk1"/>
              </a:solidFill>
              <a:prstDash val="solid"/>
              <a:round/>
              <a:headEnd len="med" w="med" type="none"/>
              <a:tailEnd len="med" w="med" type="none"/>
            </a:ln>
          </p:spPr>
        </p:cxnSp>
        <p:cxnSp>
          <p:nvCxnSpPr>
            <p:cNvPr id="1863" name="Google Shape;1863;p93"/>
            <p:cNvCxnSpPr/>
            <p:nvPr/>
          </p:nvCxnSpPr>
          <p:spPr>
            <a:xfrm rot="10800000">
              <a:off x="5578575" y="3787725"/>
              <a:ext cx="3261300" cy="0"/>
            </a:xfrm>
            <a:prstGeom prst="straightConnector1">
              <a:avLst/>
            </a:prstGeom>
            <a:noFill/>
            <a:ln cap="flat" cmpd="sng" w="38100">
              <a:solidFill>
                <a:schemeClr val="dk1"/>
              </a:solidFill>
              <a:prstDash val="solid"/>
              <a:round/>
              <a:headEnd len="med" w="med" type="none"/>
              <a:tailEnd len="med" w="med" type="none"/>
            </a:ln>
          </p:spPr>
        </p:cxnSp>
      </p:grpSp>
      <p:sp>
        <p:nvSpPr>
          <p:cNvPr id="1864" name="Google Shape;1864;p93"/>
          <p:cNvSpPr txBox="1"/>
          <p:nvPr>
            <p:ph idx="1" type="body"/>
          </p:nvPr>
        </p:nvSpPr>
        <p:spPr>
          <a:xfrm>
            <a:off x="1539775" y="114012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striped</a:t>
            </a:r>
            <a:endParaRPr sz="1800"/>
          </a:p>
        </p:txBody>
      </p:sp>
      <p:sp>
        <p:nvSpPr>
          <p:cNvPr id="1865" name="Google Shape;1865;p93"/>
          <p:cNvSpPr txBox="1"/>
          <p:nvPr>
            <p:ph idx="1" type="body"/>
          </p:nvPr>
        </p:nvSpPr>
        <p:spPr>
          <a:xfrm>
            <a:off x="2740913" y="91302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striped</a:t>
            </a:r>
            <a:endParaRPr sz="1800"/>
          </a:p>
        </p:txBody>
      </p:sp>
      <p:sp>
        <p:nvSpPr>
          <p:cNvPr id="1866" name="Google Shape;1866;p93"/>
          <p:cNvSpPr/>
          <p:nvPr/>
        </p:nvSpPr>
        <p:spPr>
          <a:xfrm>
            <a:off x="1382025" y="1540325"/>
            <a:ext cx="1190700" cy="1110000"/>
          </a:xfrm>
          <a:prstGeom prst="roundRect">
            <a:avLst>
              <a:gd fmla="val 16667" name="adj"/>
            </a:avLst>
          </a:prstGeom>
          <a:noFill/>
          <a:ln cap="flat" cmpd="sng" w="3810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7" name="Google Shape;1867;p93"/>
          <p:cNvSpPr txBox="1"/>
          <p:nvPr>
            <p:ph idx="1" type="body"/>
          </p:nvPr>
        </p:nvSpPr>
        <p:spPr>
          <a:xfrm>
            <a:off x="479688" y="2945246"/>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topper</a:t>
            </a:r>
            <a:endParaRPr sz="1800"/>
          </a:p>
        </p:txBody>
      </p:sp>
      <p:pic>
        <p:nvPicPr>
          <p:cNvPr id="1868" name="Google Shape;1868;p93"/>
          <p:cNvPicPr preferRelativeResize="0"/>
          <p:nvPr/>
        </p:nvPicPr>
        <p:blipFill rotWithShape="1">
          <a:blip r:embed="rId3">
            <a:alphaModFix/>
          </a:blip>
          <a:srcRect b="47794" l="0" r="85007" t="0"/>
          <a:stretch/>
        </p:blipFill>
        <p:spPr>
          <a:xfrm>
            <a:off x="2641327" y="1540313"/>
            <a:ext cx="454756" cy="738393"/>
          </a:xfrm>
          <a:prstGeom prst="rect">
            <a:avLst/>
          </a:prstGeom>
          <a:noFill/>
          <a:ln>
            <a:noFill/>
          </a:ln>
        </p:spPr>
      </p:pic>
      <p:pic>
        <p:nvPicPr>
          <p:cNvPr id="1869" name="Google Shape;1869;p93"/>
          <p:cNvPicPr preferRelativeResize="0"/>
          <p:nvPr/>
        </p:nvPicPr>
        <p:blipFill rotWithShape="1">
          <a:blip r:embed="rId3">
            <a:alphaModFix/>
          </a:blip>
          <a:srcRect b="47794" l="20916" r="64090" t="0"/>
          <a:stretch/>
        </p:blipFill>
        <p:spPr>
          <a:xfrm>
            <a:off x="1365377" y="2605876"/>
            <a:ext cx="454756" cy="738393"/>
          </a:xfrm>
          <a:prstGeom prst="rect">
            <a:avLst/>
          </a:prstGeom>
          <a:noFill/>
          <a:ln>
            <a:noFill/>
          </a:ln>
        </p:spPr>
      </p:pic>
      <p:pic>
        <p:nvPicPr>
          <p:cNvPr id="1870" name="Google Shape;1870;p93"/>
          <p:cNvPicPr preferRelativeResize="0"/>
          <p:nvPr/>
        </p:nvPicPr>
        <p:blipFill rotWithShape="1">
          <a:blip r:embed="rId3">
            <a:alphaModFix/>
          </a:blip>
          <a:srcRect b="-3983" l="21101" r="63905" t="51777"/>
          <a:stretch/>
        </p:blipFill>
        <p:spPr>
          <a:xfrm>
            <a:off x="3164679" y="1540317"/>
            <a:ext cx="454756" cy="738393"/>
          </a:xfrm>
          <a:prstGeom prst="rect">
            <a:avLst/>
          </a:prstGeom>
          <a:noFill/>
          <a:ln>
            <a:noFill/>
          </a:ln>
        </p:spPr>
      </p:pic>
      <p:pic>
        <p:nvPicPr>
          <p:cNvPr id="1871" name="Google Shape;1871;p93"/>
          <p:cNvPicPr preferRelativeResize="0"/>
          <p:nvPr/>
        </p:nvPicPr>
        <p:blipFill rotWithShape="1">
          <a:blip r:embed="rId3">
            <a:alphaModFix/>
          </a:blip>
          <a:srcRect b="-5126" l="-713" r="85720" t="52920"/>
          <a:stretch/>
        </p:blipFill>
        <p:spPr>
          <a:xfrm>
            <a:off x="1419353" y="1540324"/>
            <a:ext cx="454756" cy="738393"/>
          </a:xfrm>
          <a:prstGeom prst="rect">
            <a:avLst/>
          </a:prstGeom>
          <a:noFill/>
          <a:ln>
            <a:noFill/>
          </a:ln>
        </p:spPr>
      </p:pic>
      <p:pic>
        <p:nvPicPr>
          <p:cNvPr id="1872" name="Google Shape;1872;p93"/>
          <p:cNvPicPr preferRelativeResize="0"/>
          <p:nvPr/>
        </p:nvPicPr>
        <p:blipFill rotWithShape="1">
          <a:blip r:embed="rId3">
            <a:alphaModFix/>
          </a:blip>
          <a:srcRect b="52401" l="41227" r="41887" t="7713"/>
          <a:stretch/>
        </p:blipFill>
        <p:spPr>
          <a:xfrm>
            <a:off x="2739175" y="2693080"/>
            <a:ext cx="512100" cy="564000"/>
          </a:xfrm>
          <a:prstGeom prst="triangle">
            <a:avLst>
              <a:gd fmla="val 50000" name="adj"/>
            </a:avLst>
          </a:prstGeom>
          <a:noFill/>
          <a:ln>
            <a:noFill/>
          </a:ln>
        </p:spPr>
      </p:pic>
      <p:pic>
        <p:nvPicPr>
          <p:cNvPr id="1873" name="Google Shape;1873;p93"/>
          <p:cNvPicPr preferRelativeResize="0"/>
          <p:nvPr/>
        </p:nvPicPr>
        <p:blipFill rotWithShape="1">
          <a:blip r:embed="rId3">
            <a:alphaModFix/>
          </a:blip>
          <a:srcRect b="-5507" l="64903" r="20104" t="53302"/>
          <a:stretch/>
        </p:blipFill>
        <p:spPr>
          <a:xfrm>
            <a:off x="1928080" y="1540330"/>
            <a:ext cx="454756" cy="738393"/>
          </a:xfrm>
          <a:prstGeom prst="rect">
            <a:avLst/>
          </a:prstGeom>
          <a:noFill/>
          <a:ln>
            <a:noFill/>
          </a:ln>
        </p:spPr>
      </p:pic>
      <p:pic>
        <p:nvPicPr>
          <p:cNvPr id="1874" name="Google Shape;1874;p93"/>
          <p:cNvPicPr preferRelativeResize="0"/>
          <p:nvPr/>
        </p:nvPicPr>
        <p:blipFill rotWithShape="1">
          <a:blip r:embed="rId3">
            <a:alphaModFix/>
          </a:blip>
          <a:srcRect b="47794" l="85462" r="-455" t="0"/>
          <a:stretch/>
        </p:blipFill>
        <p:spPr>
          <a:xfrm>
            <a:off x="1928078" y="2605880"/>
            <a:ext cx="454756" cy="738393"/>
          </a:xfrm>
          <a:prstGeom prst="rect">
            <a:avLst/>
          </a:prstGeom>
          <a:noFill/>
          <a:ln>
            <a:noFill/>
          </a:ln>
        </p:spPr>
      </p:pic>
      <p:pic>
        <p:nvPicPr>
          <p:cNvPr id="1875" name="Google Shape;1875;p93"/>
          <p:cNvPicPr preferRelativeResize="0"/>
          <p:nvPr/>
        </p:nvPicPr>
        <p:blipFill rotWithShape="1">
          <a:blip r:embed="rId3">
            <a:alphaModFix/>
          </a:blip>
          <a:srcRect b="-3983" l="85825" r="-818" t="51777"/>
          <a:stretch/>
        </p:blipFill>
        <p:spPr>
          <a:xfrm>
            <a:off x="2767854" y="1859536"/>
            <a:ext cx="454756" cy="738393"/>
          </a:xfrm>
          <a:prstGeom prst="rect">
            <a:avLst/>
          </a:prstGeom>
          <a:noFill/>
          <a:ln>
            <a:noFill/>
          </a:ln>
        </p:spPr>
      </p:pic>
      <p:pic>
        <p:nvPicPr>
          <p:cNvPr id="1876" name="Google Shape;1876;p93"/>
          <p:cNvPicPr preferRelativeResize="0"/>
          <p:nvPr/>
        </p:nvPicPr>
        <p:blipFill rotWithShape="1">
          <a:blip r:embed="rId3">
            <a:alphaModFix/>
          </a:blip>
          <a:srcRect b="49699" l="63469" r="21537" t="-1905"/>
          <a:stretch/>
        </p:blipFill>
        <p:spPr>
          <a:xfrm>
            <a:off x="3251278" y="1859531"/>
            <a:ext cx="454756" cy="738393"/>
          </a:xfrm>
          <a:prstGeom prst="rect">
            <a:avLst/>
          </a:prstGeom>
          <a:noFill/>
          <a:ln>
            <a:noFill/>
          </a:ln>
        </p:spPr>
      </p:pic>
      <p:pic>
        <p:nvPicPr>
          <p:cNvPr id="1877" name="Google Shape;1877;p93"/>
          <p:cNvPicPr preferRelativeResize="0"/>
          <p:nvPr/>
        </p:nvPicPr>
        <p:blipFill rotWithShape="1">
          <a:blip r:embed="rId3">
            <a:alphaModFix/>
          </a:blip>
          <a:srcRect b="-5507" l="42737" r="42269" t="53302"/>
          <a:stretch/>
        </p:blipFill>
        <p:spPr>
          <a:xfrm>
            <a:off x="1627904" y="3020143"/>
            <a:ext cx="454756" cy="738393"/>
          </a:xfrm>
          <a:prstGeom prst="rect">
            <a:avLst/>
          </a:prstGeom>
          <a:noFill/>
          <a:ln>
            <a:noFill/>
          </a:ln>
        </p:spPr>
      </p:pic>
      <p:sp>
        <p:nvSpPr>
          <p:cNvPr id="1878" name="Google Shape;1878;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1879" name="Google Shape;1879;p93"/>
          <p:cNvSpPr txBox="1"/>
          <p:nvPr>
            <p:ph idx="1" type="body"/>
          </p:nvPr>
        </p:nvSpPr>
        <p:spPr>
          <a:xfrm>
            <a:off x="5158200" y="913025"/>
            <a:ext cx="34803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Rather than have the individual party hats, we can just </a:t>
            </a:r>
            <a:r>
              <a:rPr lang="en-GB" sz="1800"/>
              <a:t>focus</a:t>
            </a:r>
            <a:r>
              <a:rPr lang="en-GB" sz="1800"/>
              <a:t> on the frequency.</a:t>
            </a:r>
            <a:endParaRPr sz="1800"/>
          </a:p>
        </p:txBody>
      </p:sp>
      <p:sp>
        <p:nvSpPr>
          <p:cNvPr id="1880" name="Google Shape;1880;p93"/>
          <p:cNvSpPr txBox="1"/>
          <p:nvPr>
            <p:ph idx="1" type="body"/>
          </p:nvPr>
        </p:nvSpPr>
        <p:spPr>
          <a:xfrm>
            <a:off x="1898018" y="19730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1881" name="Google Shape;1881;p93"/>
          <p:cNvSpPr txBox="1"/>
          <p:nvPr>
            <p:ph idx="1" type="body"/>
          </p:nvPr>
        </p:nvSpPr>
        <p:spPr>
          <a:xfrm>
            <a:off x="5158200" y="2132225"/>
            <a:ext cx="34803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There are two party hats which are both striped and with a topper.</a:t>
            </a:r>
            <a:endParaRPr sz="1800"/>
          </a:p>
          <a:p>
            <a:pPr indent="0" lvl="0" marL="0" rtl="0" algn="l">
              <a:spcBef>
                <a:spcPts val="1000"/>
              </a:spcBef>
              <a:spcAft>
                <a:spcPts val="0"/>
              </a:spcAft>
              <a:buNone/>
            </a:pPr>
            <a:r>
              <a:t/>
            </a:r>
            <a:endParaRPr sz="1800"/>
          </a:p>
          <a:p>
            <a:pPr indent="0" lvl="0" marL="0" rtl="0" algn="l">
              <a:spcBef>
                <a:spcPts val="1000"/>
              </a:spcBef>
              <a:spcAft>
                <a:spcPts val="1000"/>
              </a:spcAft>
              <a:buNone/>
            </a:pPr>
            <a:r>
              <a:t/>
            </a:r>
            <a:endParaRPr sz="1800"/>
          </a:p>
        </p:txBody>
      </p:sp>
      <p:sp>
        <p:nvSpPr>
          <p:cNvPr id="1882" name="Google Shape;1882;p93"/>
          <p:cNvSpPr txBox="1"/>
          <p:nvPr>
            <p:ph idx="1" type="body"/>
          </p:nvPr>
        </p:nvSpPr>
        <p:spPr>
          <a:xfrm>
            <a:off x="526125" y="19332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topper</a:t>
            </a:r>
            <a:endParaRPr sz="1800"/>
          </a:p>
        </p:txBody>
      </p:sp>
      <p:sp>
        <p:nvSpPr>
          <p:cNvPr id="1883" name="Google Shape;1883;p93"/>
          <p:cNvSpPr txBox="1"/>
          <p:nvPr/>
        </p:nvSpPr>
        <p:spPr>
          <a:xfrm>
            <a:off x="5158200" y="3240000"/>
            <a:ext cx="3000000" cy="141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1800">
                <a:solidFill>
                  <a:schemeClr val="dk1"/>
                </a:solidFill>
                <a:latin typeface="Lexend"/>
                <a:ea typeface="Lexend"/>
                <a:cs typeface="Lexend"/>
                <a:sym typeface="Lexend"/>
              </a:rPr>
              <a:t>We can continue counting the frequencies to construct a frequency table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7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7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7" name="Shape 1887"/>
        <p:cNvGrpSpPr/>
        <p:nvPr/>
      </p:nvGrpSpPr>
      <p:grpSpPr>
        <a:xfrm>
          <a:off x="0" y="0"/>
          <a:ext cx="0" cy="0"/>
          <a:chOff x="0" y="0"/>
          <a:chExt cx="0" cy="0"/>
        </a:xfrm>
      </p:grpSpPr>
      <p:grpSp>
        <p:nvGrpSpPr>
          <p:cNvPr id="1888" name="Google Shape;1888;p94"/>
          <p:cNvGrpSpPr/>
          <p:nvPr/>
        </p:nvGrpSpPr>
        <p:grpSpPr>
          <a:xfrm>
            <a:off x="526125" y="1140125"/>
            <a:ext cx="4079700" cy="3315900"/>
            <a:chOff x="5578500" y="1161600"/>
            <a:chExt cx="4079700" cy="3315900"/>
          </a:xfrm>
        </p:grpSpPr>
        <p:cxnSp>
          <p:nvCxnSpPr>
            <p:cNvPr id="1889" name="Google Shape;1889;p94"/>
            <p:cNvCxnSpPr/>
            <p:nvPr/>
          </p:nvCxnSpPr>
          <p:spPr>
            <a:xfrm>
              <a:off x="6417725" y="1188542"/>
              <a:ext cx="0" cy="3285000"/>
            </a:xfrm>
            <a:prstGeom prst="straightConnector1">
              <a:avLst/>
            </a:prstGeom>
            <a:noFill/>
            <a:ln cap="flat" cmpd="sng" w="38100">
              <a:solidFill>
                <a:schemeClr val="dk1"/>
              </a:solidFill>
              <a:prstDash val="solid"/>
              <a:round/>
              <a:headEnd len="med" w="med" type="none"/>
              <a:tailEnd len="med" w="med" type="none"/>
            </a:ln>
          </p:spPr>
        </p:cxnSp>
        <p:cxnSp>
          <p:nvCxnSpPr>
            <p:cNvPr id="1890" name="Google Shape;1890;p94"/>
            <p:cNvCxnSpPr/>
            <p:nvPr/>
          </p:nvCxnSpPr>
          <p:spPr>
            <a:xfrm>
              <a:off x="7618863" y="1188542"/>
              <a:ext cx="0" cy="3285000"/>
            </a:xfrm>
            <a:prstGeom prst="straightConnector1">
              <a:avLst/>
            </a:prstGeom>
            <a:noFill/>
            <a:ln cap="flat" cmpd="sng" w="38100">
              <a:solidFill>
                <a:schemeClr val="dk1"/>
              </a:solidFill>
              <a:prstDash val="solid"/>
              <a:round/>
              <a:headEnd len="med" w="med" type="none"/>
              <a:tailEnd len="med" w="med" type="none"/>
            </a:ln>
          </p:spPr>
        </p:cxnSp>
        <p:cxnSp>
          <p:nvCxnSpPr>
            <p:cNvPr id="1891" name="Google Shape;1891;p94"/>
            <p:cNvCxnSpPr/>
            <p:nvPr/>
          </p:nvCxnSpPr>
          <p:spPr>
            <a:xfrm>
              <a:off x="8820000" y="1161600"/>
              <a:ext cx="0" cy="3315900"/>
            </a:xfrm>
            <a:prstGeom prst="straightConnector1">
              <a:avLst/>
            </a:prstGeom>
            <a:noFill/>
            <a:ln cap="flat" cmpd="sng" w="38100">
              <a:solidFill>
                <a:schemeClr val="dk1"/>
              </a:solidFill>
              <a:prstDash val="solid"/>
              <a:round/>
              <a:headEnd len="med" w="med" type="none"/>
              <a:tailEnd len="med" w="med" type="none"/>
            </a:ln>
          </p:spPr>
        </p:cxnSp>
        <p:cxnSp>
          <p:nvCxnSpPr>
            <p:cNvPr id="1892" name="Google Shape;1892;p94"/>
            <p:cNvCxnSpPr/>
            <p:nvPr/>
          </p:nvCxnSpPr>
          <p:spPr>
            <a:xfrm rot="10800000">
              <a:off x="5578538" y="1569800"/>
              <a:ext cx="4054800" cy="0"/>
            </a:xfrm>
            <a:prstGeom prst="straightConnector1">
              <a:avLst/>
            </a:prstGeom>
            <a:noFill/>
            <a:ln cap="flat" cmpd="sng" w="38100">
              <a:solidFill>
                <a:schemeClr val="dk1"/>
              </a:solidFill>
              <a:prstDash val="solid"/>
              <a:round/>
              <a:headEnd len="med" w="med" type="none"/>
              <a:tailEnd len="med" w="med" type="none"/>
            </a:ln>
          </p:spPr>
        </p:cxnSp>
        <p:cxnSp>
          <p:nvCxnSpPr>
            <p:cNvPr id="1893" name="Google Shape;1893;p94"/>
            <p:cNvCxnSpPr/>
            <p:nvPr/>
          </p:nvCxnSpPr>
          <p:spPr>
            <a:xfrm rot="10800000">
              <a:off x="5578538" y="2678785"/>
              <a:ext cx="4054800" cy="0"/>
            </a:xfrm>
            <a:prstGeom prst="straightConnector1">
              <a:avLst/>
            </a:prstGeom>
            <a:noFill/>
            <a:ln cap="flat" cmpd="sng" w="38100">
              <a:solidFill>
                <a:schemeClr val="dk1"/>
              </a:solidFill>
              <a:prstDash val="solid"/>
              <a:round/>
              <a:headEnd len="med" w="med" type="none"/>
              <a:tailEnd len="med" w="med" type="none"/>
            </a:ln>
          </p:spPr>
        </p:cxnSp>
        <p:cxnSp>
          <p:nvCxnSpPr>
            <p:cNvPr id="1894" name="Google Shape;1894;p94"/>
            <p:cNvCxnSpPr/>
            <p:nvPr/>
          </p:nvCxnSpPr>
          <p:spPr>
            <a:xfrm rot="10800000">
              <a:off x="5578500" y="3787725"/>
              <a:ext cx="4079700" cy="0"/>
            </a:xfrm>
            <a:prstGeom prst="straightConnector1">
              <a:avLst/>
            </a:prstGeom>
            <a:noFill/>
            <a:ln cap="flat" cmpd="sng" w="38100">
              <a:solidFill>
                <a:schemeClr val="dk1"/>
              </a:solidFill>
              <a:prstDash val="solid"/>
              <a:round/>
              <a:headEnd len="med" w="med" type="none"/>
              <a:tailEnd len="med" w="med" type="none"/>
            </a:ln>
          </p:spPr>
        </p:cxnSp>
      </p:grpSp>
      <p:sp>
        <p:nvSpPr>
          <p:cNvPr id="1895" name="Google Shape;1895;p94"/>
          <p:cNvSpPr txBox="1"/>
          <p:nvPr>
            <p:ph idx="1" type="body"/>
          </p:nvPr>
        </p:nvSpPr>
        <p:spPr>
          <a:xfrm>
            <a:off x="1539775" y="1217564"/>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striped</a:t>
            </a:r>
            <a:endParaRPr sz="1800"/>
          </a:p>
        </p:txBody>
      </p:sp>
      <p:sp>
        <p:nvSpPr>
          <p:cNvPr id="1896" name="Google Shape;1896;p94"/>
          <p:cNvSpPr txBox="1"/>
          <p:nvPr>
            <p:ph idx="1" type="body"/>
          </p:nvPr>
        </p:nvSpPr>
        <p:spPr>
          <a:xfrm>
            <a:off x="2740913" y="91302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striped</a:t>
            </a:r>
            <a:endParaRPr sz="1800"/>
          </a:p>
        </p:txBody>
      </p:sp>
      <p:sp>
        <p:nvSpPr>
          <p:cNvPr id="1897" name="Google Shape;1897;p94"/>
          <p:cNvSpPr txBox="1"/>
          <p:nvPr>
            <p:ph idx="1" type="body"/>
          </p:nvPr>
        </p:nvSpPr>
        <p:spPr>
          <a:xfrm>
            <a:off x="526125" y="19332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topper</a:t>
            </a:r>
            <a:endParaRPr sz="1800"/>
          </a:p>
        </p:txBody>
      </p:sp>
      <p:sp>
        <p:nvSpPr>
          <p:cNvPr id="1898" name="Google Shape;1898;p94"/>
          <p:cNvSpPr txBox="1"/>
          <p:nvPr>
            <p:ph idx="1" type="body"/>
          </p:nvPr>
        </p:nvSpPr>
        <p:spPr>
          <a:xfrm>
            <a:off x="479688" y="2945246"/>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topper</a:t>
            </a:r>
            <a:endParaRPr sz="1800"/>
          </a:p>
        </p:txBody>
      </p:sp>
      <p:sp>
        <p:nvSpPr>
          <p:cNvPr id="1899" name="Google Shape;1899;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1900" name="Google Shape;1900;p94"/>
          <p:cNvSpPr txBox="1"/>
          <p:nvPr>
            <p:ph idx="1" type="body"/>
          </p:nvPr>
        </p:nvSpPr>
        <p:spPr>
          <a:xfrm>
            <a:off x="5158200" y="1264150"/>
            <a:ext cx="3480300" cy="3315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If we continue counting in this way, we end up with this frequency table</a:t>
            </a:r>
            <a:endParaRPr sz="1800"/>
          </a:p>
        </p:txBody>
      </p:sp>
      <p:sp>
        <p:nvSpPr>
          <p:cNvPr id="1901" name="Google Shape;1901;p94"/>
          <p:cNvSpPr txBox="1"/>
          <p:nvPr>
            <p:ph idx="1" type="body"/>
          </p:nvPr>
        </p:nvSpPr>
        <p:spPr>
          <a:xfrm>
            <a:off x="1898018" y="19730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1902" name="Google Shape;1902;p94"/>
          <p:cNvSpPr txBox="1"/>
          <p:nvPr>
            <p:ph idx="1" type="body"/>
          </p:nvPr>
        </p:nvSpPr>
        <p:spPr>
          <a:xfrm>
            <a:off x="3099168" y="19730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endParaRPr sz="1800"/>
          </a:p>
        </p:txBody>
      </p:sp>
      <p:sp>
        <p:nvSpPr>
          <p:cNvPr id="1903" name="Google Shape;1903;p94"/>
          <p:cNvSpPr txBox="1"/>
          <p:nvPr>
            <p:ph idx="1" type="body"/>
          </p:nvPr>
        </p:nvSpPr>
        <p:spPr>
          <a:xfrm>
            <a:off x="1898018" y="31234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1904" name="Google Shape;1904;p94"/>
          <p:cNvSpPr txBox="1"/>
          <p:nvPr>
            <p:ph idx="1" type="body"/>
          </p:nvPr>
        </p:nvSpPr>
        <p:spPr>
          <a:xfrm>
            <a:off x="3099168" y="31234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endParaRPr sz="1800"/>
          </a:p>
        </p:txBody>
      </p:sp>
      <p:cxnSp>
        <p:nvCxnSpPr>
          <p:cNvPr id="1905" name="Google Shape;1905;p94"/>
          <p:cNvCxnSpPr/>
          <p:nvPr/>
        </p:nvCxnSpPr>
        <p:spPr>
          <a:xfrm>
            <a:off x="4605825" y="1140125"/>
            <a:ext cx="0" cy="3320400"/>
          </a:xfrm>
          <a:prstGeom prst="straightConnector1">
            <a:avLst/>
          </a:prstGeom>
          <a:noFill/>
          <a:ln cap="flat" cmpd="sng" w="38100">
            <a:solidFill>
              <a:schemeClr val="dk1"/>
            </a:solidFill>
            <a:prstDash val="solid"/>
            <a:round/>
            <a:headEnd len="med" w="med" type="none"/>
            <a:tailEnd len="med" w="med" type="none"/>
          </a:ln>
        </p:spPr>
      </p:cxnSp>
      <p:cxnSp>
        <p:nvCxnSpPr>
          <p:cNvPr id="1906" name="Google Shape;1906;p94"/>
          <p:cNvCxnSpPr/>
          <p:nvPr/>
        </p:nvCxnSpPr>
        <p:spPr>
          <a:xfrm rot="10800000">
            <a:off x="526300" y="4452050"/>
            <a:ext cx="4099200" cy="0"/>
          </a:xfrm>
          <a:prstGeom prst="straightConnector1">
            <a:avLst/>
          </a:prstGeom>
          <a:noFill/>
          <a:ln cap="flat" cmpd="sng" w="38100">
            <a:solidFill>
              <a:schemeClr val="dk1"/>
            </a:solidFill>
            <a:prstDash val="solid"/>
            <a:round/>
            <a:headEnd len="med" w="med" type="none"/>
            <a:tailEnd len="med" w="med" type="none"/>
          </a:ln>
        </p:spPr>
      </p:cxnSp>
      <p:sp>
        <p:nvSpPr>
          <p:cNvPr id="1907" name="Google Shape;1907;p94"/>
          <p:cNvSpPr txBox="1"/>
          <p:nvPr>
            <p:ph idx="1" type="body"/>
          </p:nvPr>
        </p:nvSpPr>
        <p:spPr>
          <a:xfrm>
            <a:off x="1882518" y="395730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1908" name="Google Shape;1908;p94"/>
          <p:cNvSpPr txBox="1"/>
          <p:nvPr>
            <p:ph idx="1" type="body"/>
          </p:nvPr>
        </p:nvSpPr>
        <p:spPr>
          <a:xfrm>
            <a:off x="4128681" y="19336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endParaRPr sz="1800"/>
          </a:p>
        </p:txBody>
      </p:sp>
      <p:sp>
        <p:nvSpPr>
          <p:cNvPr id="1909" name="Google Shape;1909;p94"/>
          <p:cNvSpPr txBox="1"/>
          <p:nvPr>
            <p:ph idx="1" type="body"/>
          </p:nvPr>
        </p:nvSpPr>
        <p:spPr>
          <a:xfrm>
            <a:off x="4095668" y="31234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endParaRPr sz="1800"/>
          </a:p>
        </p:txBody>
      </p:sp>
      <p:sp>
        <p:nvSpPr>
          <p:cNvPr id="1910" name="Google Shape;1910;p94"/>
          <p:cNvSpPr txBox="1"/>
          <p:nvPr>
            <p:ph idx="1" type="body"/>
          </p:nvPr>
        </p:nvSpPr>
        <p:spPr>
          <a:xfrm>
            <a:off x="3099168" y="395730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1911" name="Google Shape;1911;p94"/>
          <p:cNvSpPr txBox="1"/>
          <p:nvPr>
            <p:ph idx="1" type="body"/>
          </p:nvPr>
        </p:nvSpPr>
        <p:spPr>
          <a:xfrm>
            <a:off x="4050974" y="3957300"/>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a:t>
            </a:r>
            <a:endParaRPr sz="1800"/>
          </a:p>
        </p:txBody>
      </p:sp>
      <p:sp>
        <p:nvSpPr>
          <p:cNvPr id="1912" name="Google Shape;1912;p94"/>
          <p:cNvSpPr txBox="1"/>
          <p:nvPr>
            <p:ph idx="1" type="body"/>
          </p:nvPr>
        </p:nvSpPr>
        <p:spPr>
          <a:xfrm>
            <a:off x="3932570" y="12150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13" name="Google Shape;1913;p94"/>
          <p:cNvSpPr txBox="1"/>
          <p:nvPr>
            <p:ph idx="1" type="body"/>
          </p:nvPr>
        </p:nvSpPr>
        <p:spPr>
          <a:xfrm>
            <a:off x="708295" y="39572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7" name="Shape 1917"/>
        <p:cNvGrpSpPr/>
        <p:nvPr/>
      </p:nvGrpSpPr>
      <p:grpSpPr>
        <a:xfrm>
          <a:off x="0" y="0"/>
          <a:ext cx="0" cy="0"/>
          <a:chOff x="0" y="0"/>
          <a:chExt cx="0" cy="0"/>
        </a:xfrm>
      </p:grpSpPr>
      <p:sp>
        <p:nvSpPr>
          <p:cNvPr id="1918" name="Google Shape;1918;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1919" name="Google Shape;1919;p95"/>
          <p:cNvSpPr txBox="1"/>
          <p:nvPr>
            <p:ph idx="1" type="body"/>
          </p:nvPr>
        </p:nvSpPr>
        <p:spPr>
          <a:xfrm>
            <a:off x="324000" y="738975"/>
            <a:ext cx="75375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is running a charity raffle. The tickets are either yellow, blue or pink and each has a 3 digit number on. He decides to consider the two events: that the ticket is yellow (Y), and that the ticket has an odd number.</a:t>
            </a:r>
            <a:endParaRPr sz="1800"/>
          </a:p>
        </p:txBody>
      </p:sp>
      <p:pic>
        <p:nvPicPr>
          <p:cNvPr id="1920" name="Google Shape;1920;p95"/>
          <p:cNvPicPr preferRelativeResize="0"/>
          <p:nvPr/>
        </p:nvPicPr>
        <p:blipFill>
          <a:blip r:embed="rId3">
            <a:alphaModFix/>
          </a:blip>
          <a:stretch>
            <a:fillRect/>
          </a:stretch>
        </p:blipFill>
        <p:spPr>
          <a:xfrm>
            <a:off x="7928159" y="738963"/>
            <a:ext cx="777007" cy="896096"/>
          </a:xfrm>
          <a:prstGeom prst="rect">
            <a:avLst/>
          </a:prstGeom>
          <a:noFill/>
          <a:ln>
            <a:noFill/>
          </a:ln>
        </p:spPr>
      </p:pic>
      <p:grpSp>
        <p:nvGrpSpPr>
          <p:cNvPr id="1921" name="Google Shape;1921;p95"/>
          <p:cNvGrpSpPr/>
          <p:nvPr/>
        </p:nvGrpSpPr>
        <p:grpSpPr>
          <a:xfrm>
            <a:off x="526125" y="2160000"/>
            <a:ext cx="3089100" cy="1987200"/>
            <a:chOff x="5578500" y="1114675"/>
            <a:chExt cx="3089100" cy="1987200"/>
          </a:xfrm>
        </p:grpSpPr>
        <p:cxnSp>
          <p:nvCxnSpPr>
            <p:cNvPr id="1922" name="Google Shape;1922;p95"/>
            <p:cNvCxnSpPr/>
            <p:nvPr/>
          </p:nvCxnSpPr>
          <p:spPr>
            <a:xfrm>
              <a:off x="6536775" y="1130822"/>
              <a:ext cx="0" cy="1968600"/>
            </a:xfrm>
            <a:prstGeom prst="straightConnector1">
              <a:avLst/>
            </a:prstGeom>
            <a:noFill/>
            <a:ln cap="flat" cmpd="sng" w="38100">
              <a:solidFill>
                <a:schemeClr val="dk1"/>
              </a:solidFill>
              <a:prstDash val="solid"/>
              <a:round/>
              <a:headEnd len="med" w="med" type="none"/>
              <a:tailEnd len="med" w="med" type="none"/>
            </a:ln>
          </p:spPr>
        </p:cxnSp>
        <p:cxnSp>
          <p:nvCxnSpPr>
            <p:cNvPr id="1923" name="Google Shape;1923;p95"/>
            <p:cNvCxnSpPr/>
            <p:nvPr/>
          </p:nvCxnSpPr>
          <p:spPr>
            <a:xfrm>
              <a:off x="7221188" y="1130822"/>
              <a:ext cx="0" cy="1968600"/>
            </a:xfrm>
            <a:prstGeom prst="straightConnector1">
              <a:avLst/>
            </a:prstGeom>
            <a:noFill/>
            <a:ln cap="flat" cmpd="sng" w="38100">
              <a:solidFill>
                <a:schemeClr val="dk1"/>
              </a:solidFill>
              <a:prstDash val="solid"/>
              <a:round/>
              <a:headEnd len="med" w="med" type="none"/>
              <a:tailEnd len="med" w="med" type="none"/>
            </a:ln>
          </p:spPr>
        </p:cxnSp>
        <p:cxnSp>
          <p:nvCxnSpPr>
            <p:cNvPr id="1924" name="Google Shape;1924;p95"/>
            <p:cNvCxnSpPr/>
            <p:nvPr/>
          </p:nvCxnSpPr>
          <p:spPr>
            <a:xfrm>
              <a:off x="7905600" y="1114675"/>
              <a:ext cx="0" cy="1987200"/>
            </a:xfrm>
            <a:prstGeom prst="straightConnector1">
              <a:avLst/>
            </a:prstGeom>
            <a:noFill/>
            <a:ln cap="flat" cmpd="sng" w="38100">
              <a:solidFill>
                <a:schemeClr val="dk1"/>
              </a:solidFill>
              <a:prstDash val="solid"/>
              <a:round/>
              <a:headEnd len="med" w="med" type="none"/>
              <a:tailEnd len="med" w="med" type="none"/>
            </a:ln>
          </p:spPr>
        </p:cxnSp>
        <p:cxnSp>
          <p:nvCxnSpPr>
            <p:cNvPr id="1925" name="Google Shape;1925;p95"/>
            <p:cNvCxnSpPr/>
            <p:nvPr/>
          </p:nvCxnSpPr>
          <p:spPr>
            <a:xfrm rot="10800000">
              <a:off x="5578575" y="1569800"/>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26" name="Google Shape;1926;p95"/>
            <p:cNvCxnSpPr/>
            <p:nvPr/>
          </p:nvCxnSpPr>
          <p:spPr>
            <a:xfrm rot="10800000">
              <a:off x="5578575" y="2069185"/>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27" name="Google Shape;1927;p95"/>
            <p:cNvCxnSpPr/>
            <p:nvPr/>
          </p:nvCxnSpPr>
          <p:spPr>
            <a:xfrm rot="10800000">
              <a:off x="5578500" y="2720925"/>
              <a:ext cx="3089100" cy="0"/>
            </a:xfrm>
            <a:prstGeom prst="straightConnector1">
              <a:avLst/>
            </a:prstGeom>
            <a:noFill/>
            <a:ln cap="flat" cmpd="sng" w="38100">
              <a:solidFill>
                <a:schemeClr val="dk1"/>
              </a:solidFill>
              <a:prstDash val="solid"/>
              <a:round/>
              <a:headEnd len="med" w="med" type="none"/>
              <a:tailEnd len="med" w="med" type="none"/>
            </a:ln>
          </p:spPr>
        </p:cxnSp>
      </p:grpSp>
      <p:sp>
        <p:nvSpPr>
          <p:cNvPr id="1928" name="Google Shape;1928;p95"/>
          <p:cNvSpPr txBox="1"/>
          <p:nvPr>
            <p:ph idx="1" type="body"/>
          </p:nvPr>
        </p:nvSpPr>
        <p:spPr>
          <a:xfrm>
            <a:off x="1742118" y="2227478"/>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a:t>
            </a:r>
            <a:endParaRPr sz="1800"/>
          </a:p>
        </p:txBody>
      </p:sp>
      <p:sp>
        <p:nvSpPr>
          <p:cNvPr id="1929" name="Google Shape;1929;p95"/>
          <p:cNvSpPr txBox="1"/>
          <p:nvPr>
            <p:ph idx="1" type="body"/>
          </p:nvPr>
        </p:nvSpPr>
        <p:spPr>
          <a:xfrm>
            <a:off x="2197745" y="2225003"/>
            <a:ext cx="628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Y</a:t>
            </a:r>
            <a:endParaRPr sz="1800"/>
          </a:p>
        </p:txBody>
      </p:sp>
      <p:sp>
        <p:nvSpPr>
          <p:cNvPr id="1930" name="Google Shape;1930;p95"/>
          <p:cNvSpPr txBox="1"/>
          <p:nvPr>
            <p:ph idx="1" type="body"/>
          </p:nvPr>
        </p:nvSpPr>
        <p:spPr>
          <a:xfrm>
            <a:off x="564225" y="27333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a:t>
            </a:r>
            <a:endParaRPr sz="1800"/>
          </a:p>
        </p:txBody>
      </p:sp>
      <p:sp>
        <p:nvSpPr>
          <p:cNvPr id="1931" name="Google Shape;1931;p95"/>
          <p:cNvSpPr txBox="1"/>
          <p:nvPr>
            <p:ph idx="1" type="body"/>
          </p:nvPr>
        </p:nvSpPr>
        <p:spPr>
          <a:xfrm>
            <a:off x="555901" y="3097650"/>
            <a:ext cx="931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odd (even)</a:t>
            </a:r>
            <a:endParaRPr sz="1800"/>
          </a:p>
        </p:txBody>
      </p:sp>
      <p:sp>
        <p:nvSpPr>
          <p:cNvPr id="1932" name="Google Shape;1932;p95"/>
          <p:cNvSpPr txBox="1"/>
          <p:nvPr>
            <p:ph idx="1" type="body"/>
          </p:nvPr>
        </p:nvSpPr>
        <p:spPr>
          <a:xfrm>
            <a:off x="1745618" y="2713057"/>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endParaRPr sz="1800"/>
          </a:p>
        </p:txBody>
      </p:sp>
      <p:sp>
        <p:nvSpPr>
          <p:cNvPr id="1933" name="Google Shape;1933;p95"/>
          <p:cNvSpPr txBox="1"/>
          <p:nvPr>
            <p:ph idx="1" type="body"/>
          </p:nvPr>
        </p:nvSpPr>
        <p:spPr>
          <a:xfrm>
            <a:off x="2384805" y="3294900"/>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a:t>
            </a:r>
            <a:endParaRPr sz="1800"/>
          </a:p>
        </p:txBody>
      </p:sp>
      <p:cxnSp>
        <p:nvCxnSpPr>
          <p:cNvPr id="1934" name="Google Shape;1934;p95"/>
          <p:cNvCxnSpPr/>
          <p:nvPr/>
        </p:nvCxnSpPr>
        <p:spPr>
          <a:xfrm flipH="1">
            <a:off x="3615150" y="2105600"/>
            <a:ext cx="300" cy="2052000"/>
          </a:xfrm>
          <a:prstGeom prst="straightConnector1">
            <a:avLst/>
          </a:prstGeom>
          <a:noFill/>
          <a:ln cap="flat" cmpd="sng" w="38100">
            <a:solidFill>
              <a:schemeClr val="dk1"/>
            </a:solidFill>
            <a:prstDash val="solid"/>
            <a:round/>
            <a:headEnd len="med" w="med" type="none"/>
            <a:tailEnd len="med" w="med" type="none"/>
          </a:ln>
        </p:spPr>
      </p:cxnSp>
      <p:cxnSp>
        <p:nvCxnSpPr>
          <p:cNvPr id="1935" name="Google Shape;1935;p95"/>
          <p:cNvCxnSpPr/>
          <p:nvPr/>
        </p:nvCxnSpPr>
        <p:spPr>
          <a:xfrm rot="10800000">
            <a:off x="526350" y="4147250"/>
            <a:ext cx="3112200" cy="0"/>
          </a:xfrm>
          <a:prstGeom prst="straightConnector1">
            <a:avLst/>
          </a:prstGeom>
          <a:noFill/>
          <a:ln cap="flat" cmpd="sng" w="38100">
            <a:solidFill>
              <a:schemeClr val="dk1"/>
            </a:solidFill>
            <a:prstDash val="solid"/>
            <a:round/>
            <a:headEnd len="med" w="med" type="none"/>
            <a:tailEnd len="med" w="med" type="none"/>
          </a:ln>
        </p:spPr>
      </p:cxnSp>
      <p:sp>
        <p:nvSpPr>
          <p:cNvPr id="1936" name="Google Shape;1936;p95"/>
          <p:cNvSpPr txBox="1"/>
          <p:nvPr>
            <p:ph idx="1" type="body"/>
          </p:nvPr>
        </p:nvSpPr>
        <p:spPr>
          <a:xfrm>
            <a:off x="3109502" y="2732100"/>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937" name="Google Shape;1937;p95"/>
          <p:cNvSpPr txBox="1"/>
          <p:nvPr>
            <p:ph idx="1" type="body"/>
          </p:nvPr>
        </p:nvSpPr>
        <p:spPr>
          <a:xfrm>
            <a:off x="3105081" y="32758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endParaRPr sz="1800"/>
          </a:p>
        </p:txBody>
      </p:sp>
      <p:sp>
        <p:nvSpPr>
          <p:cNvPr id="1938" name="Google Shape;1938;p95"/>
          <p:cNvSpPr txBox="1"/>
          <p:nvPr>
            <p:ph idx="1" type="body"/>
          </p:nvPr>
        </p:nvSpPr>
        <p:spPr>
          <a:xfrm>
            <a:off x="3060375" y="380490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39</a:t>
            </a:r>
            <a:endParaRPr sz="2000">
              <a:latin typeface="Kalam"/>
              <a:ea typeface="Kalam"/>
              <a:cs typeface="Kalam"/>
              <a:sym typeface="Kalam"/>
            </a:endParaRPr>
          </a:p>
        </p:txBody>
      </p:sp>
      <p:sp>
        <p:nvSpPr>
          <p:cNvPr id="1939" name="Google Shape;1939;p95"/>
          <p:cNvSpPr txBox="1"/>
          <p:nvPr>
            <p:ph idx="1" type="body"/>
          </p:nvPr>
        </p:nvSpPr>
        <p:spPr>
          <a:xfrm>
            <a:off x="2928325" y="2225000"/>
            <a:ext cx="687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40" name="Google Shape;1940;p95"/>
          <p:cNvSpPr txBox="1"/>
          <p:nvPr>
            <p:ph idx="1" type="body"/>
          </p:nvPr>
        </p:nvSpPr>
        <p:spPr>
          <a:xfrm>
            <a:off x="708295" y="3804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41" name="Google Shape;1941;p95"/>
          <p:cNvSpPr txBox="1"/>
          <p:nvPr>
            <p:ph idx="1" type="body"/>
          </p:nvPr>
        </p:nvSpPr>
        <p:spPr>
          <a:xfrm>
            <a:off x="3814200" y="1945200"/>
            <a:ext cx="50058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 has partially completed this two-way table. </a:t>
            </a:r>
            <a:endParaRPr sz="1800"/>
          </a:p>
          <a:p>
            <a:pPr indent="0" lvl="0" marL="0" rtl="0" algn="l">
              <a:spcBef>
                <a:spcPts val="1000"/>
              </a:spcBef>
              <a:spcAft>
                <a:spcPts val="1000"/>
              </a:spcAft>
              <a:buNone/>
            </a:pPr>
            <a:r>
              <a:rPr lang="en-GB" sz="1800"/>
              <a:t>Is there enough information to complete it?</a:t>
            </a:r>
            <a:endParaRPr sz="1800"/>
          </a:p>
        </p:txBody>
      </p:sp>
      <p:sp>
        <p:nvSpPr>
          <p:cNvPr id="1942" name="Google Shape;1942;p95"/>
          <p:cNvSpPr txBox="1"/>
          <p:nvPr>
            <p:ph idx="1" type="body"/>
          </p:nvPr>
        </p:nvSpPr>
        <p:spPr>
          <a:xfrm>
            <a:off x="3814200" y="3164400"/>
            <a:ext cx="50058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Yes. The tickets are either ‘odd’ or ‘not odd’, which means the total of ‘odd’ (20) and the total of ‘not odd’ (19) gives the total number of tickets in the raffle (39).</a:t>
            </a:r>
            <a:endParaRPr sz="2000">
              <a:latin typeface="Kalam"/>
              <a:ea typeface="Kalam"/>
              <a:cs typeface="Kalam"/>
              <a:sym typeface="Kalam"/>
            </a:endParaRPr>
          </a:p>
        </p:txBody>
      </p:sp>
      <p:sp>
        <p:nvSpPr>
          <p:cNvPr id="1943" name="Google Shape;1943;p95"/>
          <p:cNvSpPr/>
          <p:nvPr/>
        </p:nvSpPr>
        <p:spPr>
          <a:xfrm>
            <a:off x="2878725" y="3797361"/>
            <a:ext cx="687000" cy="3063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pic>
        <p:nvPicPr>
          <p:cNvPr id="1949" name="Google Shape;1949;p96"/>
          <p:cNvPicPr preferRelativeResize="0"/>
          <p:nvPr/>
        </p:nvPicPr>
        <p:blipFill>
          <a:blip r:embed="rId3">
            <a:alphaModFix/>
          </a:blip>
          <a:stretch>
            <a:fillRect/>
          </a:stretch>
        </p:blipFill>
        <p:spPr>
          <a:xfrm>
            <a:off x="7928159" y="738963"/>
            <a:ext cx="777007" cy="896096"/>
          </a:xfrm>
          <a:prstGeom prst="rect">
            <a:avLst/>
          </a:prstGeom>
          <a:noFill/>
          <a:ln>
            <a:noFill/>
          </a:ln>
        </p:spPr>
      </p:pic>
      <p:grpSp>
        <p:nvGrpSpPr>
          <p:cNvPr id="1950" name="Google Shape;1950;p96"/>
          <p:cNvGrpSpPr/>
          <p:nvPr/>
        </p:nvGrpSpPr>
        <p:grpSpPr>
          <a:xfrm>
            <a:off x="526125" y="1978325"/>
            <a:ext cx="3089100" cy="2169000"/>
            <a:chOff x="5578500" y="933000"/>
            <a:chExt cx="3089100" cy="2169000"/>
          </a:xfrm>
        </p:grpSpPr>
        <p:cxnSp>
          <p:nvCxnSpPr>
            <p:cNvPr id="1951" name="Google Shape;1951;p96"/>
            <p:cNvCxnSpPr/>
            <p:nvPr/>
          </p:nvCxnSpPr>
          <p:spPr>
            <a:xfrm>
              <a:off x="65367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1952" name="Google Shape;1952;p96"/>
            <p:cNvCxnSpPr/>
            <p:nvPr/>
          </p:nvCxnSpPr>
          <p:spPr>
            <a:xfrm>
              <a:off x="7221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1953" name="Google Shape;1953;p96"/>
            <p:cNvCxnSpPr/>
            <p:nvPr/>
          </p:nvCxnSpPr>
          <p:spPr>
            <a:xfrm>
              <a:off x="79056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1954" name="Google Shape;1954;p96"/>
            <p:cNvCxnSpPr/>
            <p:nvPr/>
          </p:nvCxnSpPr>
          <p:spPr>
            <a:xfrm rot="10800000">
              <a:off x="5578575" y="1569800"/>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55" name="Google Shape;1955;p96"/>
            <p:cNvCxnSpPr/>
            <p:nvPr/>
          </p:nvCxnSpPr>
          <p:spPr>
            <a:xfrm rot="10800000">
              <a:off x="5578575" y="2069185"/>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56" name="Google Shape;1956;p96"/>
            <p:cNvCxnSpPr/>
            <p:nvPr/>
          </p:nvCxnSpPr>
          <p:spPr>
            <a:xfrm rot="10800000">
              <a:off x="5578500" y="2720925"/>
              <a:ext cx="3089100" cy="0"/>
            </a:xfrm>
            <a:prstGeom prst="straightConnector1">
              <a:avLst/>
            </a:prstGeom>
            <a:noFill/>
            <a:ln cap="flat" cmpd="sng" w="38100">
              <a:solidFill>
                <a:schemeClr val="dk1"/>
              </a:solidFill>
              <a:prstDash val="solid"/>
              <a:round/>
              <a:headEnd len="med" w="med" type="none"/>
              <a:tailEnd len="med" w="med" type="none"/>
            </a:ln>
          </p:spPr>
        </p:cxnSp>
      </p:grpSp>
      <p:sp>
        <p:nvSpPr>
          <p:cNvPr id="1957" name="Google Shape;1957;p96"/>
          <p:cNvSpPr txBox="1"/>
          <p:nvPr>
            <p:ph idx="1" type="body"/>
          </p:nvPr>
        </p:nvSpPr>
        <p:spPr>
          <a:xfrm>
            <a:off x="1745618" y="2713057"/>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endParaRPr sz="1800"/>
          </a:p>
        </p:txBody>
      </p:sp>
      <p:sp>
        <p:nvSpPr>
          <p:cNvPr id="1958" name="Google Shape;1958;p96"/>
          <p:cNvSpPr txBox="1"/>
          <p:nvPr>
            <p:ph idx="1" type="body"/>
          </p:nvPr>
        </p:nvSpPr>
        <p:spPr>
          <a:xfrm>
            <a:off x="2384803" y="2722575"/>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a:t>
            </a:r>
            <a:endParaRPr>
              <a:latin typeface="Kalam"/>
              <a:ea typeface="Kalam"/>
              <a:cs typeface="Kalam"/>
              <a:sym typeface="Kalam"/>
            </a:endParaRPr>
          </a:p>
        </p:txBody>
      </p:sp>
      <p:sp>
        <p:nvSpPr>
          <p:cNvPr id="1959" name="Google Shape;1959;p96"/>
          <p:cNvSpPr txBox="1"/>
          <p:nvPr>
            <p:ph idx="1" type="body"/>
          </p:nvPr>
        </p:nvSpPr>
        <p:spPr>
          <a:xfrm>
            <a:off x="2384805" y="3294900"/>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a:t>
            </a:r>
            <a:endParaRPr sz="1800"/>
          </a:p>
        </p:txBody>
      </p:sp>
      <p:cxnSp>
        <p:nvCxnSpPr>
          <p:cNvPr id="1960" name="Google Shape;1960;p96"/>
          <p:cNvCxnSpPr/>
          <p:nvPr/>
        </p:nvCxnSpPr>
        <p:spPr>
          <a:xfrm>
            <a:off x="3615225" y="1978325"/>
            <a:ext cx="0" cy="2179200"/>
          </a:xfrm>
          <a:prstGeom prst="straightConnector1">
            <a:avLst/>
          </a:prstGeom>
          <a:noFill/>
          <a:ln cap="flat" cmpd="sng" w="38100">
            <a:solidFill>
              <a:schemeClr val="dk1"/>
            </a:solidFill>
            <a:prstDash val="solid"/>
            <a:round/>
            <a:headEnd len="med" w="med" type="none"/>
            <a:tailEnd len="med" w="med" type="none"/>
          </a:ln>
        </p:spPr>
      </p:cxnSp>
      <p:cxnSp>
        <p:nvCxnSpPr>
          <p:cNvPr id="1961" name="Google Shape;1961;p96"/>
          <p:cNvCxnSpPr/>
          <p:nvPr/>
        </p:nvCxnSpPr>
        <p:spPr>
          <a:xfrm rot="10800000">
            <a:off x="526350" y="4147250"/>
            <a:ext cx="3112200" cy="0"/>
          </a:xfrm>
          <a:prstGeom prst="straightConnector1">
            <a:avLst/>
          </a:prstGeom>
          <a:noFill/>
          <a:ln cap="flat" cmpd="sng" w="38100">
            <a:solidFill>
              <a:schemeClr val="dk1"/>
            </a:solidFill>
            <a:prstDash val="solid"/>
            <a:round/>
            <a:headEnd len="med" w="med" type="none"/>
            <a:tailEnd len="med" w="med" type="none"/>
          </a:ln>
        </p:spPr>
      </p:cxnSp>
      <p:sp>
        <p:nvSpPr>
          <p:cNvPr id="1962" name="Google Shape;1962;p96"/>
          <p:cNvSpPr txBox="1"/>
          <p:nvPr>
            <p:ph idx="1" type="body"/>
          </p:nvPr>
        </p:nvSpPr>
        <p:spPr>
          <a:xfrm>
            <a:off x="3109502" y="2732100"/>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963" name="Google Shape;1963;p96"/>
          <p:cNvSpPr txBox="1"/>
          <p:nvPr>
            <p:ph idx="1" type="body"/>
          </p:nvPr>
        </p:nvSpPr>
        <p:spPr>
          <a:xfrm>
            <a:off x="3105081" y="32758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endParaRPr sz="1800"/>
          </a:p>
        </p:txBody>
      </p:sp>
      <p:sp>
        <p:nvSpPr>
          <p:cNvPr id="1964" name="Google Shape;1964;p96"/>
          <p:cNvSpPr txBox="1"/>
          <p:nvPr>
            <p:ph idx="1" type="body"/>
          </p:nvPr>
        </p:nvSpPr>
        <p:spPr>
          <a:xfrm>
            <a:off x="3060375" y="380490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39</a:t>
            </a:r>
            <a:endParaRPr sz="2000">
              <a:latin typeface="Kalam"/>
              <a:ea typeface="Kalam"/>
              <a:cs typeface="Kalam"/>
              <a:sym typeface="Kalam"/>
            </a:endParaRPr>
          </a:p>
        </p:txBody>
      </p:sp>
      <p:sp>
        <p:nvSpPr>
          <p:cNvPr id="1965" name="Google Shape;1965;p96"/>
          <p:cNvSpPr txBox="1"/>
          <p:nvPr>
            <p:ph idx="1" type="body"/>
          </p:nvPr>
        </p:nvSpPr>
        <p:spPr>
          <a:xfrm>
            <a:off x="2941970" y="22248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66" name="Google Shape;1966;p96"/>
          <p:cNvSpPr txBox="1"/>
          <p:nvPr>
            <p:ph idx="1" type="body"/>
          </p:nvPr>
        </p:nvSpPr>
        <p:spPr>
          <a:xfrm>
            <a:off x="708295" y="3804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67" name="Google Shape;1967;p96"/>
          <p:cNvSpPr txBox="1"/>
          <p:nvPr>
            <p:ph idx="1" type="body"/>
          </p:nvPr>
        </p:nvSpPr>
        <p:spPr>
          <a:xfrm>
            <a:off x="3814200" y="1945200"/>
            <a:ext cx="50058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 has partially completed this two-way table. </a:t>
            </a:r>
            <a:endParaRPr sz="1800"/>
          </a:p>
          <a:p>
            <a:pPr indent="0" lvl="0" marL="0" rtl="0" algn="l">
              <a:spcBef>
                <a:spcPts val="1000"/>
              </a:spcBef>
              <a:spcAft>
                <a:spcPts val="1000"/>
              </a:spcAft>
              <a:buNone/>
            </a:pPr>
            <a:r>
              <a:rPr lang="en-GB" sz="1800"/>
              <a:t>Is there enough information to complete it?</a:t>
            </a:r>
            <a:endParaRPr sz="1800"/>
          </a:p>
        </p:txBody>
      </p:sp>
      <p:sp>
        <p:nvSpPr>
          <p:cNvPr id="1968" name="Google Shape;1968;p96"/>
          <p:cNvSpPr txBox="1"/>
          <p:nvPr>
            <p:ph idx="1" type="body"/>
          </p:nvPr>
        </p:nvSpPr>
        <p:spPr>
          <a:xfrm>
            <a:off x="3814200" y="3164400"/>
            <a:ext cx="50058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Then we know there are a total of 20 ‘odd’ tickets of which 6 are ‘yellow’. So this means 14 ‘odd’ tickets are ‘not yellow’.</a:t>
            </a:r>
            <a:endParaRPr sz="2000">
              <a:latin typeface="Kalam"/>
              <a:ea typeface="Kalam"/>
              <a:cs typeface="Kalam"/>
              <a:sym typeface="Kalam"/>
            </a:endParaRPr>
          </a:p>
        </p:txBody>
      </p:sp>
      <p:sp>
        <p:nvSpPr>
          <p:cNvPr id="1969" name="Google Shape;1969;p96"/>
          <p:cNvSpPr txBox="1"/>
          <p:nvPr>
            <p:ph idx="1" type="body"/>
          </p:nvPr>
        </p:nvSpPr>
        <p:spPr>
          <a:xfrm>
            <a:off x="1742118" y="2227478"/>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a:t>
            </a:r>
            <a:endParaRPr sz="1800"/>
          </a:p>
        </p:txBody>
      </p:sp>
      <p:sp>
        <p:nvSpPr>
          <p:cNvPr id="1970" name="Google Shape;1970;p96"/>
          <p:cNvSpPr txBox="1"/>
          <p:nvPr>
            <p:ph idx="1" type="body"/>
          </p:nvPr>
        </p:nvSpPr>
        <p:spPr>
          <a:xfrm>
            <a:off x="2197745" y="2225003"/>
            <a:ext cx="628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Y</a:t>
            </a:r>
            <a:endParaRPr sz="1800"/>
          </a:p>
        </p:txBody>
      </p:sp>
      <p:sp>
        <p:nvSpPr>
          <p:cNvPr id="1971" name="Google Shape;1971;p96"/>
          <p:cNvSpPr txBox="1"/>
          <p:nvPr>
            <p:ph idx="1" type="body"/>
          </p:nvPr>
        </p:nvSpPr>
        <p:spPr>
          <a:xfrm>
            <a:off x="564225" y="27333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a:t>
            </a:r>
            <a:endParaRPr sz="1800"/>
          </a:p>
        </p:txBody>
      </p:sp>
      <p:sp>
        <p:nvSpPr>
          <p:cNvPr id="1972" name="Google Shape;1972;p96"/>
          <p:cNvSpPr txBox="1"/>
          <p:nvPr>
            <p:ph idx="1" type="body"/>
          </p:nvPr>
        </p:nvSpPr>
        <p:spPr>
          <a:xfrm>
            <a:off x="555901" y="3097650"/>
            <a:ext cx="931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odd (even)</a:t>
            </a:r>
            <a:endParaRPr sz="1800"/>
          </a:p>
        </p:txBody>
      </p:sp>
      <p:sp>
        <p:nvSpPr>
          <p:cNvPr id="1973" name="Google Shape;1973;p96"/>
          <p:cNvSpPr txBox="1"/>
          <p:nvPr>
            <p:ph idx="1" type="body"/>
          </p:nvPr>
        </p:nvSpPr>
        <p:spPr>
          <a:xfrm>
            <a:off x="324000" y="738975"/>
            <a:ext cx="75375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is running a charity raffle. The tickets are either yellow, blue or pink and each has a 3 digit number on. He decides to consider the two events: that the ticket is yellow (Y), and that the ticket has an odd number.</a:t>
            </a:r>
            <a:endParaRPr sz="1800"/>
          </a:p>
        </p:txBody>
      </p:sp>
      <p:sp>
        <p:nvSpPr>
          <p:cNvPr id="1974" name="Google Shape;1974;p96"/>
          <p:cNvSpPr/>
          <p:nvPr/>
        </p:nvSpPr>
        <p:spPr>
          <a:xfrm>
            <a:off x="2158732" y="2672121"/>
            <a:ext cx="687000" cy="3846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8" name="Shape 1978"/>
        <p:cNvGrpSpPr/>
        <p:nvPr/>
      </p:nvGrpSpPr>
      <p:grpSpPr>
        <a:xfrm>
          <a:off x="0" y="0"/>
          <a:ext cx="0" cy="0"/>
          <a:chOff x="0" y="0"/>
          <a:chExt cx="0" cy="0"/>
        </a:xfrm>
      </p:grpSpPr>
      <p:sp>
        <p:nvSpPr>
          <p:cNvPr id="1979" name="Google Shape;1979;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pic>
        <p:nvPicPr>
          <p:cNvPr id="1980" name="Google Shape;1980;p97"/>
          <p:cNvPicPr preferRelativeResize="0"/>
          <p:nvPr/>
        </p:nvPicPr>
        <p:blipFill>
          <a:blip r:embed="rId3">
            <a:alphaModFix/>
          </a:blip>
          <a:stretch>
            <a:fillRect/>
          </a:stretch>
        </p:blipFill>
        <p:spPr>
          <a:xfrm>
            <a:off x="7928159" y="738963"/>
            <a:ext cx="777007" cy="896096"/>
          </a:xfrm>
          <a:prstGeom prst="rect">
            <a:avLst/>
          </a:prstGeom>
          <a:noFill/>
          <a:ln>
            <a:noFill/>
          </a:ln>
        </p:spPr>
      </p:pic>
      <p:grpSp>
        <p:nvGrpSpPr>
          <p:cNvPr id="1981" name="Google Shape;1981;p97"/>
          <p:cNvGrpSpPr/>
          <p:nvPr/>
        </p:nvGrpSpPr>
        <p:grpSpPr>
          <a:xfrm>
            <a:off x="526125" y="1978325"/>
            <a:ext cx="3089100" cy="2169000"/>
            <a:chOff x="5578500" y="933000"/>
            <a:chExt cx="3089100" cy="2169000"/>
          </a:xfrm>
        </p:grpSpPr>
        <p:cxnSp>
          <p:nvCxnSpPr>
            <p:cNvPr id="1982" name="Google Shape;1982;p97"/>
            <p:cNvCxnSpPr/>
            <p:nvPr/>
          </p:nvCxnSpPr>
          <p:spPr>
            <a:xfrm>
              <a:off x="65367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1983" name="Google Shape;1983;p97"/>
            <p:cNvCxnSpPr/>
            <p:nvPr/>
          </p:nvCxnSpPr>
          <p:spPr>
            <a:xfrm>
              <a:off x="7221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1984" name="Google Shape;1984;p97"/>
            <p:cNvCxnSpPr/>
            <p:nvPr/>
          </p:nvCxnSpPr>
          <p:spPr>
            <a:xfrm>
              <a:off x="79056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1985" name="Google Shape;1985;p97"/>
            <p:cNvCxnSpPr/>
            <p:nvPr/>
          </p:nvCxnSpPr>
          <p:spPr>
            <a:xfrm rot="10800000">
              <a:off x="5578575" y="1569800"/>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86" name="Google Shape;1986;p97"/>
            <p:cNvCxnSpPr/>
            <p:nvPr/>
          </p:nvCxnSpPr>
          <p:spPr>
            <a:xfrm rot="10800000">
              <a:off x="5578575" y="2069185"/>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1987" name="Google Shape;1987;p97"/>
            <p:cNvCxnSpPr/>
            <p:nvPr/>
          </p:nvCxnSpPr>
          <p:spPr>
            <a:xfrm rot="10800000">
              <a:off x="5578500" y="2720925"/>
              <a:ext cx="3089100" cy="0"/>
            </a:xfrm>
            <a:prstGeom prst="straightConnector1">
              <a:avLst/>
            </a:prstGeom>
            <a:noFill/>
            <a:ln cap="flat" cmpd="sng" w="38100">
              <a:solidFill>
                <a:schemeClr val="dk1"/>
              </a:solidFill>
              <a:prstDash val="solid"/>
              <a:round/>
              <a:headEnd len="med" w="med" type="none"/>
              <a:tailEnd len="med" w="med" type="none"/>
            </a:ln>
          </p:spPr>
        </p:cxnSp>
      </p:grpSp>
      <p:sp>
        <p:nvSpPr>
          <p:cNvPr id="1988" name="Google Shape;1988;p97"/>
          <p:cNvSpPr txBox="1"/>
          <p:nvPr>
            <p:ph idx="1" type="body"/>
          </p:nvPr>
        </p:nvSpPr>
        <p:spPr>
          <a:xfrm>
            <a:off x="1745618" y="2713057"/>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endParaRPr sz="1800"/>
          </a:p>
        </p:txBody>
      </p:sp>
      <p:sp>
        <p:nvSpPr>
          <p:cNvPr id="1989" name="Google Shape;1989;p97"/>
          <p:cNvSpPr txBox="1"/>
          <p:nvPr>
            <p:ph idx="1" type="body"/>
          </p:nvPr>
        </p:nvSpPr>
        <p:spPr>
          <a:xfrm>
            <a:off x="2384803" y="2722575"/>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a:t>
            </a:r>
            <a:endParaRPr>
              <a:latin typeface="Kalam"/>
              <a:ea typeface="Kalam"/>
              <a:cs typeface="Kalam"/>
              <a:sym typeface="Kalam"/>
            </a:endParaRPr>
          </a:p>
        </p:txBody>
      </p:sp>
      <p:sp>
        <p:nvSpPr>
          <p:cNvPr id="1990" name="Google Shape;1990;p97"/>
          <p:cNvSpPr txBox="1"/>
          <p:nvPr>
            <p:ph idx="1" type="body"/>
          </p:nvPr>
        </p:nvSpPr>
        <p:spPr>
          <a:xfrm>
            <a:off x="1745618" y="32758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a:t>
            </a:r>
            <a:endParaRPr sz="2000">
              <a:latin typeface="Kalam"/>
              <a:ea typeface="Kalam"/>
              <a:cs typeface="Kalam"/>
              <a:sym typeface="Kalam"/>
            </a:endParaRPr>
          </a:p>
        </p:txBody>
      </p:sp>
      <p:sp>
        <p:nvSpPr>
          <p:cNvPr id="1991" name="Google Shape;1991;p97"/>
          <p:cNvSpPr txBox="1"/>
          <p:nvPr>
            <p:ph idx="1" type="body"/>
          </p:nvPr>
        </p:nvSpPr>
        <p:spPr>
          <a:xfrm>
            <a:off x="2384805" y="3294900"/>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a:t>
            </a:r>
            <a:endParaRPr sz="1800"/>
          </a:p>
        </p:txBody>
      </p:sp>
      <p:cxnSp>
        <p:nvCxnSpPr>
          <p:cNvPr id="1992" name="Google Shape;1992;p97"/>
          <p:cNvCxnSpPr/>
          <p:nvPr/>
        </p:nvCxnSpPr>
        <p:spPr>
          <a:xfrm>
            <a:off x="3615225" y="1978325"/>
            <a:ext cx="0" cy="2179200"/>
          </a:xfrm>
          <a:prstGeom prst="straightConnector1">
            <a:avLst/>
          </a:prstGeom>
          <a:noFill/>
          <a:ln cap="flat" cmpd="sng" w="38100">
            <a:solidFill>
              <a:schemeClr val="dk1"/>
            </a:solidFill>
            <a:prstDash val="solid"/>
            <a:round/>
            <a:headEnd len="med" w="med" type="none"/>
            <a:tailEnd len="med" w="med" type="none"/>
          </a:ln>
        </p:spPr>
      </p:cxnSp>
      <p:cxnSp>
        <p:nvCxnSpPr>
          <p:cNvPr id="1993" name="Google Shape;1993;p97"/>
          <p:cNvCxnSpPr/>
          <p:nvPr/>
        </p:nvCxnSpPr>
        <p:spPr>
          <a:xfrm rot="10800000">
            <a:off x="526350" y="4147250"/>
            <a:ext cx="3112200" cy="0"/>
          </a:xfrm>
          <a:prstGeom prst="straightConnector1">
            <a:avLst/>
          </a:prstGeom>
          <a:noFill/>
          <a:ln cap="flat" cmpd="sng" w="38100">
            <a:solidFill>
              <a:schemeClr val="dk1"/>
            </a:solidFill>
            <a:prstDash val="solid"/>
            <a:round/>
            <a:headEnd len="med" w="med" type="none"/>
            <a:tailEnd len="med" w="med" type="none"/>
          </a:ln>
        </p:spPr>
      </p:cxnSp>
      <p:sp>
        <p:nvSpPr>
          <p:cNvPr id="1994" name="Google Shape;1994;p97"/>
          <p:cNvSpPr txBox="1"/>
          <p:nvPr>
            <p:ph idx="1" type="body"/>
          </p:nvPr>
        </p:nvSpPr>
        <p:spPr>
          <a:xfrm>
            <a:off x="3109502" y="2732100"/>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1995" name="Google Shape;1995;p97"/>
          <p:cNvSpPr txBox="1"/>
          <p:nvPr>
            <p:ph idx="1" type="body"/>
          </p:nvPr>
        </p:nvSpPr>
        <p:spPr>
          <a:xfrm>
            <a:off x="3105081" y="32758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endParaRPr sz="1800"/>
          </a:p>
        </p:txBody>
      </p:sp>
      <p:sp>
        <p:nvSpPr>
          <p:cNvPr id="1996" name="Google Shape;1996;p97"/>
          <p:cNvSpPr txBox="1"/>
          <p:nvPr>
            <p:ph idx="1" type="body"/>
          </p:nvPr>
        </p:nvSpPr>
        <p:spPr>
          <a:xfrm>
            <a:off x="3060375" y="380490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39</a:t>
            </a:r>
            <a:endParaRPr sz="2000">
              <a:latin typeface="Kalam"/>
              <a:ea typeface="Kalam"/>
              <a:cs typeface="Kalam"/>
              <a:sym typeface="Kalam"/>
            </a:endParaRPr>
          </a:p>
        </p:txBody>
      </p:sp>
      <p:sp>
        <p:nvSpPr>
          <p:cNvPr id="1997" name="Google Shape;1997;p97"/>
          <p:cNvSpPr txBox="1"/>
          <p:nvPr>
            <p:ph idx="1" type="body"/>
          </p:nvPr>
        </p:nvSpPr>
        <p:spPr>
          <a:xfrm>
            <a:off x="2941970" y="22248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98" name="Google Shape;1998;p97"/>
          <p:cNvSpPr txBox="1"/>
          <p:nvPr>
            <p:ph idx="1" type="body"/>
          </p:nvPr>
        </p:nvSpPr>
        <p:spPr>
          <a:xfrm>
            <a:off x="708295" y="3804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1999" name="Google Shape;1999;p97"/>
          <p:cNvSpPr txBox="1"/>
          <p:nvPr>
            <p:ph idx="1" type="body"/>
          </p:nvPr>
        </p:nvSpPr>
        <p:spPr>
          <a:xfrm>
            <a:off x="3814200" y="1945200"/>
            <a:ext cx="50058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 has partially completed this two-way table. </a:t>
            </a:r>
            <a:endParaRPr sz="1800"/>
          </a:p>
          <a:p>
            <a:pPr indent="0" lvl="0" marL="0" rtl="0" algn="l">
              <a:spcBef>
                <a:spcPts val="1000"/>
              </a:spcBef>
              <a:spcAft>
                <a:spcPts val="1000"/>
              </a:spcAft>
              <a:buNone/>
            </a:pPr>
            <a:r>
              <a:rPr lang="en-GB" sz="1800"/>
              <a:t>Is there enough information to complete it?</a:t>
            </a:r>
            <a:endParaRPr sz="1800"/>
          </a:p>
        </p:txBody>
      </p:sp>
      <p:sp>
        <p:nvSpPr>
          <p:cNvPr id="2000" name="Google Shape;2000;p97"/>
          <p:cNvSpPr txBox="1"/>
          <p:nvPr>
            <p:ph idx="1" type="body"/>
          </p:nvPr>
        </p:nvSpPr>
        <p:spPr>
          <a:xfrm>
            <a:off x="3814200" y="3164400"/>
            <a:ext cx="50058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Similarly, there are 19 ‘not odd’ tickets and 13 are also ‘not yellow’, which means 6 of the ‘not odd’ cards are ‘yellow’.</a:t>
            </a:r>
            <a:endParaRPr sz="2000">
              <a:latin typeface="Kalam"/>
              <a:ea typeface="Kalam"/>
              <a:cs typeface="Kalam"/>
              <a:sym typeface="Kalam"/>
            </a:endParaRPr>
          </a:p>
        </p:txBody>
      </p:sp>
      <p:sp>
        <p:nvSpPr>
          <p:cNvPr id="2001" name="Google Shape;2001;p97"/>
          <p:cNvSpPr txBox="1"/>
          <p:nvPr>
            <p:ph idx="1" type="body"/>
          </p:nvPr>
        </p:nvSpPr>
        <p:spPr>
          <a:xfrm>
            <a:off x="1742118" y="2227478"/>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a:t>
            </a:r>
            <a:endParaRPr sz="1800"/>
          </a:p>
        </p:txBody>
      </p:sp>
      <p:sp>
        <p:nvSpPr>
          <p:cNvPr id="2002" name="Google Shape;2002;p97"/>
          <p:cNvSpPr txBox="1"/>
          <p:nvPr>
            <p:ph idx="1" type="body"/>
          </p:nvPr>
        </p:nvSpPr>
        <p:spPr>
          <a:xfrm>
            <a:off x="2197745" y="2225003"/>
            <a:ext cx="628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Y</a:t>
            </a:r>
            <a:endParaRPr sz="1800"/>
          </a:p>
        </p:txBody>
      </p:sp>
      <p:sp>
        <p:nvSpPr>
          <p:cNvPr id="2003" name="Google Shape;2003;p97"/>
          <p:cNvSpPr txBox="1"/>
          <p:nvPr>
            <p:ph idx="1" type="body"/>
          </p:nvPr>
        </p:nvSpPr>
        <p:spPr>
          <a:xfrm>
            <a:off x="564225" y="27333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a:t>
            </a:r>
            <a:endParaRPr sz="1800"/>
          </a:p>
        </p:txBody>
      </p:sp>
      <p:sp>
        <p:nvSpPr>
          <p:cNvPr id="2004" name="Google Shape;2004;p97"/>
          <p:cNvSpPr txBox="1"/>
          <p:nvPr>
            <p:ph idx="1" type="body"/>
          </p:nvPr>
        </p:nvSpPr>
        <p:spPr>
          <a:xfrm>
            <a:off x="555901" y="3097650"/>
            <a:ext cx="931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odd (even)</a:t>
            </a:r>
            <a:endParaRPr sz="1800"/>
          </a:p>
        </p:txBody>
      </p:sp>
      <p:sp>
        <p:nvSpPr>
          <p:cNvPr id="2005" name="Google Shape;2005;p97"/>
          <p:cNvSpPr txBox="1"/>
          <p:nvPr>
            <p:ph idx="1" type="body"/>
          </p:nvPr>
        </p:nvSpPr>
        <p:spPr>
          <a:xfrm>
            <a:off x="324000" y="738975"/>
            <a:ext cx="75375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Alex is running a charity raffle. The tickets are either yellow, blue or pink and each has a 3 digit number on. He decides to consider the two events: that the ticket is yellow (Y), and that the ticket has an odd number.</a:t>
            </a:r>
            <a:endParaRPr sz="1800"/>
          </a:p>
        </p:txBody>
      </p:sp>
      <p:sp>
        <p:nvSpPr>
          <p:cNvPr id="2006" name="Google Shape;2006;p97"/>
          <p:cNvSpPr/>
          <p:nvPr/>
        </p:nvSpPr>
        <p:spPr>
          <a:xfrm>
            <a:off x="1485532" y="3219821"/>
            <a:ext cx="687000" cy="3846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id="2011" name="Google Shape;2011;p98"/>
          <p:cNvSpPr txBox="1"/>
          <p:nvPr>
            <p:ph idx="1" type="body"/>
          </p:nvPr>
        </p:nvSpPr>
        <p:spPr>
          <a:xfrm>
            <a:off x="324000" y="738975"/>
            <a:ext cx="7537500" cy="722400"/>
          </a:xfrm>
          <a:prstGeom prst="rect">
            <a:avLst/>
          </a:prstGeom>
          <a:solidFill>
            <a:schemeClr val="lt1"/>
          </a:solidFill>
        </p:spPr>
        <p:txBody>
          <a:bodyPr anchorCtr="0" anchor="t" bIns="0" lIns="0" spcFirstLastPara="1" rIns="0" wrap="square" tIns="0">
            <a:noAutofit/>
          </a:bodyPr>
          <a:lstStyle/>
          <a:p>
            <a:pPr indent="0" lvl="0" marL="0" rtl="0" algn="l">
              <a:spcBef>
                <a:spcPts val="0"/>
              </a:spcBef>
              <a:spcAft>
                <a:spcPts val="1000"/>
              </a:spcAft>
              <a:buNone/>
            </a:pPr>
            <a:r>
              <a:rPr lang="en-GB" sz="1800"/>
              <a:t>Alex is running a charity raffle. The tickets are either yellow, blue or pink and each has a 3 digit number on. He decides to consider the two events: that the ticket is yellow (Y), and that the ticket has an odd number.</a:t>
            </a:r>
            <a:endParaRPr sz="1800"/>
          </a:p>
        </p:txBody>
      </p:sp>
      <p:sp>
        <p:nvSpPr>
          <p:cNvPr id="2012" name="Google Shape;2012;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pic>
        <p:nvPicPr>
          <p:cNvPr id="2013" name="Google Shape;2013;p98"/>
          <p:cNvPicPr preferRelativeResize="0"/>
          <p:nvPr/>
        </p:nvPicPr>
        <p:blipFill>
          <a:blip r:embed="rId3">
            <a:alphaModFix/>
          </a:blip>
          <a:stretch>
            <a:fillRect/>
          </a:stretch>
        </p:blipFill>
        <p:spPr>
          <a:xfrm>
            <a:off x="7928159" y="738963"/>
            <a:ext cx="777007" cy="896096"/>
          </a:xfrm>
          <a:prstGeom prst="rect">
            <a:avLst/>
          </a:prstGeom>
          <a:noFill/>
          <a:ln>
            <a:noFill/>
          </a:ln>
        </p:spPr>
      </p:pic>
      <p:grpSp>
        <p:nvGrpSpPr>
          <p:cNvPr id="2014" name="Google Shape;2014;p98"/>
          <p:cNvGrpSpPr/>
          <p:nvPr/>
        </p:nvGrpSpPr>
        <p:grpSpPr>
          <a:xfrm>
            <a:off x="526125" y="1978325"/>
            <a:ext cx="3089100" cy="2169000"/>
            <a:chOff x="5578500" y="933000"/>
            <a:chExt cx="3089100" cy="2169000"/>
          </a:xfrm>
        </p:grpSpPr>
        <p:cxnSp>
          <p:nvCxnSpPr>
            <p:cNvPr id="2015" name="Google Shape;2015;p98"/>
            <p:cNvCxnSpPr/>
            <p:nvPr/>
          </p:nvCxnSpPr>
          <p:spPr>
            <a:xfrm>
              <a:off x="65367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16" name="Google Shape;2016;p98"/>
            <p:cNvCxnSpPr/>
            <p:nvPr/>
          </p:nvCxnSpPr>
          <p:spPr>
            <a:xfrm>
              <a:off x="7221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17" name="Google Shape;2017;p98"/>
            <p:cNvCxnSpPr/>
            <p:nvPr/>
          </p:nvCxnSpPr>
          <p:spPr>
            <a:xfrm>
              <a:off x="79056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018" name="Google Shape;2018;p98"/>
            <p:cNvCxnSpPr/>
            <p:nvPr/>
          </p:nvCxnSpPr>
          <p:spPr>
            <a:xfrm rot="10800000">
              <a:off x="5578575" y="1569800"/>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2019" name="Google Shape;2019;p98"/>
            <p:cNvCxnSpPr/>
            <p:nvPr/>
          </p:nvCxnSpPr>
          <p:spPr>
            <a:xfrm rot="10800000">
              <a:off x="5578575" y="2069185"/>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2020" name="Google Shape;2020;p98"/>
            <p:cNvCxnSpPr/>
            <p:nvPr/>
          </p:nvCxnSpPr>
          <p:spPr>
            <a:xfrm rot="10800000">
              <a:off x="5578500" y="2720925"/>
              <a:ext cx="3089100" cy="0"/>
            </a:xfrm>
            <a:prstGeom prst="straightConnector1">
              <a:avLst/>
            </a:prstGeom>
            <a:noFill/>
            <a:ln cap="flat" cmpd="sng" w="38100">
              <a:solidFill>
                <a:schemeClr val="dk1"/>
              </a:solidFill>
              <a:prstDash val="solid"/>
              <a:round/>
              <a:headEnd len="med" w="med" type="none"/>
              <a:tailEnd len="med" w="med" type="none"/>
            </a:ln>
          </p:spPr>
        </p:cxnSp>
      </p:grpSp>
      <p:sp>
        <p:nvSpPr>
          <p:cNvPr id="2021" name="Google Shape;2021;p98"/>
          <p:cNvSpPr txBox="1"/>
          <p:nvPr>
            <p:ph idx="1" type="body"/>
          </p:nvPr>
        </p:nvSpPr>
        <p:spPr>
          <a:xfrm>
            <a:off x="1745618" y="2713057"/>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a:t>
            </a:r>
            <a:endParaRPr sz="1800"/>
          </a:p>
        </p:txBody>
      </p:sp>
      <p:sp>
        <p:nvSpPr>
          <p:cNvPr id="2022" name="Google Shape;2022;p98"/>
          <p:cNvSpPr txBox="1"/>
          <p:nvPr>
            <p:ph idx="1" type="body"/>
          </p:nvPr>
        </p:nvSpPr>
        <p:spPr>
          <a:xfrm>
            <a:off x="2384803" y="2722575"/>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14</a:t>
            </a:r>
            <a:endParaRPr>
              <a:latin typeface="Kalam"/>
              <a:ea typeface="Kalam"/>
              <a:cs typeface="Kalam"/>
              <a:sym typeface="Kalam"/>
            </a:endParaRPr>
          </a:p>
        </p:txBody>
      </p:sp>
      <p:sp>
        <p:nvSpPr>
          <p:cNvPr id="2023" name="Google Shape;2023;p98"/>
          <p:cNvSpPr txBox="1"/>
          <p:nvPr>
            <p:ph idx="1" type="body"/>
          </p:nvPr>
        </p:nvSpPr>
        <p:spPr>
          <a:xfrm>
            <a:off x="1745618" y="32758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6</a:t>
            </a:r>
            <a:endParaRPr sz="2000">
              <a:latin typeface="Kalam"/>
              <a:ea typeface="Kalam"/>
              <a:cs typeface="Kalam"/>
              <a:sym typeface="Kalam"/>
            </a:endParaRPr>
          </a:p>
        </p:txBody>
      </p:sp>
      <p:sp>
        <p:nvSpPr>
          <p:cNvPr id="2024" name="Google Shape;2024;p98"/>
          <p:cNvSpPr txBox="1"/>
          <p:nvPr>
            <p:ph idx="1" type="body"/>
          </p:nvPr>
        </p:nvSpPr>
        <p:spPr>
          <a:xfrm>
            <a:off x="2384805" y="3294900"/>
            <a:ext cx="256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13</a:t>
            </a:r>
            <a:endParaRPr sz="1800"/>
          </a:p>
        </p:txBody>
      </p:sp>
      <p:cxnSp>
        <p:nvCxnSpPr>
          <p:cNvPr id="2025" name="Google Shape;2025;p98"/>
          <p:cNvCxnSpPr/>
          <p:nvPr/>
        </p:nvCxnSpPr>
        <p:spPr>
          <a:xfrm>
            <a:off x="3615225" y="1978325"/>
            <a:ext cx="0" cy="2179200"/>
          </a:xfrm>
          <a:prstGeom prst="straightConnector1">
            <a:avLst/>
          </a:prstGeom>
          <a:noFill/>
          <a:ln cap="flat" cmpd="sng" w="38100">
            <a:solidFill>
              <a:schemeClr val="dk1"/>
            </a:solidFill>
            <a:prstDash val="solid"/>
            <a:round/>
            <a:headEnd len="med" w="med" type="none"/>
            <a:tailEnd len="med" w="med" type="none"/>
          </a:ln>
        </p:spPr>
      </p:cxnSp>
      <p:cxnSp>
        <p:nvCxnSpPr>
          <p:cNvPr id="2026" name="Google Shape;2026;p98"/>
          <p:cNvCxnSpPr/>
          <p:nvPr/>
        </p:nvCxnSpPr>
        <p:spPr>
          <a:xfrm rot="10800000">
            <a:off x="526350" y="4147250"/>
            <a:ext cx="3112200" cy="0"/>
          </a:xfrm>
          <a:prstGeom prst="straightConnector1">
            <a:avLst/>
          </a:prstGeom>
          <a:noFill/>
          <a:ln cap="flat" cmpd="sng" w="38100">
            <a:solidFill>
              <a:schemeClr val="dk1"/>
            </a:solidFill>
            <a:prstDash val="solid"/>
            <a:round/>
            <a:headEnd len="med" w="med" type="none"/>
            <a:tailEnd len="med" w="med" type="none"/>
          </a:ln>
        </p:spPr>
      </p:cxnSp>
      <p:sp>
        <p:nvSpPr>
          <p:cNvPr id="2027" name="Google Shape;2027;p98"/>
          <p:cNvSpPr txBox="1"/>
          <p:nvPr>
            <p:ph idx="1" type="body"/>
          </p:nvPr>
        </p:nvSpPr>
        <p:spPr>
          <a:xfrm>
            <a:off x="3109502" y="2732100"/>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20</a:t>
            </a:r>
            <a:endParaRPr sz="1800"/>
          </a:p>
        </p:txBody>
      </p:sp>
      <p:sp>
        <p:nvSpPr>
          <p:cNvPr id="2028" name="Google Shape;2028;p98"/>
          <p:cNvSpPr txBox="1"/>
          <p:nvPr>
            <p:ph idx="1" type="body"/>
          </p:nvPr>
        </p:nvSpPr>
        <p:spPr>
          <a:xfrm>
            <a:off x="3105081" y="32758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19</a:t>
            </a:r>
            <a:endParaRPr sz="1800"/>
          </a:p>
        </p:txBody>
      </p:sp>
      <p:sp>
        <p:nvSpPr>
          <p:cNvPr id="2029" name="Google Shape;2029;p98"/>
          <p:cNvSpPr txBox="1"/>
          <p:nvPr>
            <p:ph idx="1" type="body"/>
          </p:nvPr>
        </p:nvSpPr>
        <p:spPr>
          <a:xfrm>
            <a:off x="3060375" y="380490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39</a:t>
            </a:r>
            <a:endParaRPr sz="2000">
              <a:latin typeface="Kalam"/>
              <a:ea typeface="Kalam"/>
              <a:cs typeface="Kalam"/>
              <a:sym typeface="Kalam"/>
            </a:endParaRPr>
          </a:p>
        </p:txBody>
      </p:sp>
      <p:sp>
        <p:nvSpPr>
          <p:cNvPr id="2030" name="Google Shape;2030;p98"/>
          <p:cNvSpPr txBox="1"/>
          <p:nvPr>
            <p:ph idx="1" type="body"/>
          </p:nvPr>
        </p:nvSpPr>
        <p:spPr>
          <a:xfrm>
            <a:off x="2941970" y="22248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031" name="Google Shape;2031;p98"/>
          <p:cNvSpPr txBox="1"/>
          <p:nvPr>
            <p:ph idx="1" type="body"/>
          </p:nvPr>
        </p:nvSpPr>
        <p:spPr>
          <a:xfrm>
            <a:off x="708295" y="3804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032" name="Google Shape;2032;p98"/>
          <p:cNvSpPr txBox="1"/>
          <p:nvPr>
            <p:ph idx="1" type="body"/>
          </p:nvPr>
        </p:nvSpPr>
        <p:spPr>
          <a:xfrm>
            <a:off x="3814200" y="1945200"/>
            <a:ext cx="5005800" cy="42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He has partially completed this two-way table. </a:t>
            </a:r>
            <a:endParaRPr sz="1800"/>
          </a:p>
          <a:p>
            <a:pPr indent="0" lvl="0" marL="0" rtl="0" algn="l">
              <a:spcBef>
                <a:spcPts val="1000"/>
              </a:spcBef>
              <a:spcAft>
                <a:spcPts val="1000"/>
              </a:spcAft>
              <a:buNone/>
            </a:pPr>
            <a:r>
              <a:rPr lang="en-GB" sz="1800"/>
              <a:t>Is there enough information to complete it?</a:t>
            </a:r>
            <a:endParaRPr sz="1800"/>
          </a:p>
        </p:txBody>
      </p:sp>
      <p:sp>
        <p:nvSpPr>
          <p:cNvPr id="2033" name="Google Shape;2033;p98"/>
          <p:cNvSpPr txBox="1"/>
          <p:nvPr>
            <p:ph idx="1" type="body"/>
          </p:nvPr>
        </p:nvSpPr>
        <p:spPr>
          <a:xfrm>
            <a:off x="3814200" y="3041611"/>
            <a:ext cx="50058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Then, the total number of ‘yellow’ tickets can be calculated, and the total number of ‘not yellow’ tickets can be calculated. </a:t>
            </a:r>
            <a:endParaRPr sz="2000">
              <a:latin typeface="Kalam"/>
              <a:ea typeface="Kalam"/>
              <a:cs typeface="Kalam"/>
              <a:sym typeface="Kalam"/>
            </a:endParaRPr>
          </a:p>
        </p:txBody>
      </p:sp>
      <p:sp>
        <p:nvSpPr>
          <p:cNvPr id="2034" name="Google Shape;2034;p98"/>
          <p:cNvSpPr txBox="1"/>
          <p:nvPr>
            <p:ph idx="1" type="body"/>
          </p:nvPr>
        </p:nvSpPr>
        <p:spPr>
          <a:xfrm>
            <a:off x="1745624" y="38092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a:t>
            </a:r>
            <a:endParaRPr sz="2000">
              <a:latin typeface="Kalam"/>
              <a:ea typeface="Kalam"/>
              <a:cs typeface="Kalam"/>
              <a:sym typeface="Kalam"/>
            </a:endParaRPr>
          </a:p>
        </p:txBody>
      </p:sp>
      <p:sp>
        <p:nvSpPr>
          <p:cNvPr id="2035" name="Google Shape;2035;p98"/>
          <p:cNvSpPr txBox="1"/>
          <p:nvPr>
            <p:ph idx="1" type="body"/>
          </p:nvPr>
        </p:nvSpPr>
        <p:spPr>
          <a:xfrm>
            <a:off x="2336200" y="3809250"/>
            <a:ext cx="304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27</a:t>
            </a:r>
            <a:endParaRPr sz="2000">
              <a:latin typeface="Kalam"/>
              <a:ea typeface="Kalam"/>
              <a:cs typeface="Kalam"/>
              <a:sym typeface="Kalam"/>
            </a:endParaRPr>
          </a:p>
        </p:txBody>
      </p:sp>
      <p:sp>
        <p:nvSpPr>
          <p:cNvPr id="2036" name="Google Shape;2036;p98"/>
          <p:cNvSpPr txBox="1"/>
          <p:nvPr>
            <p:ph idx="1" type="body"/>
          </p:nvPr>
        </p:nvSpPr>
        <p:spPr>
          <a:xfrm>
            <a:off x="3690450" y="1968604"/>
            <a:ext cx="5129400" cy="2279100"/>
          </a:xfrm>
          <a:prstGeom prst="rect">
            <a:avLst/>
          </a:prstGeom>
          <a:solidFill>
            <a:schemeClr val="lt1"/>
          </a:solidFill>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1800"/>
              <a:t>The order in which this two-way table was completed could be different.</a:t>
            </a:r>
            <a:endParaRPr sz="1800"/>
          </a:p>
          <a:p>
            <a:pPr indent="0" lvl="0" marL="0" rtl="0" algn="l">
              <a:lnSpc>
                <a:spcPct val="100000"/>
              </a:lnSpc>
              <a:spcBef>
                <a:spcPts val="1000"/>
              </a:spcBef>
              <a:spcAft>
                <a:spcPts val="0"/>
              </a:spcAft>
              <a:buNone/>
            </a:pPr>
            <a:r>
              <a:rPr lang="en-GB" sz="1800"/>
              <a:t>If you know two values in any row or column you can find the third value. </a:t>
            </a:r>
            <a:endParaRPr sz="1800"/>
          </a:p>
          <a:p>
            <a:pPr indent="0" lvl="0" marL="0" rtl="0" algn="l">
              <a:lnSpc>
                <a:spcPct val="100000"/>
              </a:lnSpc>
              <a:spcBef>
                <a:spcPts val="1000"/>
              </a:spcBef>
              <a:spcAft>
                <a:spcPts val="1000"/>
              </a:spcAft>
              <a:buNone/>
            </a:pPr>
            <a:r>
              <a:rPr lang="en-GB" sz="1800"/>
              <a:t>The final value can always act as a self check by calculating it from both the row and column to check they match. </a:t>
            </a:r>
            <a:endParaRPr sz="1800"/>
          </a:p>
        </p:txBody>
      </p:sp>
      <p:sp>
        <p:nvSpPr>
          <p:cNvPr id="2037" name="Google Shape;2037;p98"/>
          <p:cNvSpPr txBox="1"/>
          <p:nvPr>
            <p:ph idx="1" type="body"/>
          </p:nvPr>
        </p:nvSpPr>
        <p:spPr>
          <a:xfrm>
            <a:off x="1742118" y="2227478"/>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a:t>
            </a:r>
            <a:endParaRPr sz="1800"/>
          </a:p>
        </p:txBody>
      </p:sp>
      <p:sp>
        <p:nvSpPr>
          <p:cNvPr id="2038" name="Google Shape;2038;p98"/>
          <p:cNvSpPr txBox="1"/>
          <p:nvPr>
            <p:ph idx="1" type="body"/>
          </p:nvPr>
        </p:nvSpPr>
        <p:spPr>
          <a:xfrm>
            <a:off x="2197745" y="2225003"/>
            <a:ext cx="628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Y</a:t>
            </a:r>
            <a:endParaRPr sz="1800"/>
          </a:p>
        </p:txBody>
      </p:sp>
      <p:sp>
        <p:nvSpPr>
          <p:cNvPr id="2039" name="Google Shape;2039;p98"/>
          <p:cNvSpPr txBox="1"/>
          <p:nvPr>
            <p:ph idx="1" type="body"/>
          </p:nvPr>
        </p:nvSpPr>
        <p:spPr>
          <a:xfrm>
            <a:off x="564225" y="27333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odd</a:t>
            </a:r>
            <a:endParaRPr sz="1800"/>
          </a:p>
        </p:txBody>
      </p:sp>
      <p:sp>
        <p:nvSpPr>
          <p:cNvPr id="2040" name="Google Shape;2040;p98"/>
          <p:cNvSpPr txBox="1"/>
          <p:nvPr>
            <p:ph idx="1" type="body"/>
          </p:nvPr>
        </p:nvSpPr>
        <p:spPr>
          <a:xfrm>
            <a:off x="555901" y="3097650"/>
            <a:ext cx="931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odd (even)</a:t>
            </a:r>
            <a:endParaRPr sz="1800"/>
          </a:p>
        </p:txBody>
      </p:sp>
      <p:sp>
        <p:nvSpPr>
          <p:cNvPr id="2041" name="Google Shape;2041;p98"/>
          <p:cNvSpPr/>
          <p:nvPr/>
        </p:nvSpPr>
        <p:spPr>
          <a:xfrm>
            <a:off x="2150618" y="3786452"/>
            <a:ext cx="687000" cy="3846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2" name="Google Shape;2042;p98"/>
          <p:cNvSpPr/>
          <p:nvPr/>
        </p:nvSpPr>
        <p:spPr>
          <a:xfrm>
            <a:off x="1485518" y="3790577"/>
            <a:ext cx="687000" cy="384600"/>
          </a:xfrm>
          <a:prstGeom prst="roundRect">
            <a:avLst>
              <a:gd fmla="val 16667" name="adj"/>
            </a:avLst>
          </a:prstGeom>
          <a:noFill/>
          <a:ln cap="flat" cmpd="sng" w="3810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3" name="Google Shape;2043;p98"/>
          <p:cNvSpPr txBox="1"/>
          <p:nvPr/>
        </p:nvSpPr>
        <p:spPr>
          <a:xfrm>
            <a:off x="329025" y="4383600"/>
            <a:ext cx="8116200" cy="49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lang="en-GB" sz="2000">
                <a:solidFill>
                  <a:schemeClr val="dk1"/>
                </a:solidFill>
                <a:latin typeface="Kalam"/>
                <a:ea typeface="Kalam"/>
                <a:cs typeface="Kalam"/>
                <a:sym typeface="Kalam"/>
              </a:rPr>
              <a:t>Check they sum to the total total. 12 + 27 = 39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7" name="Shape 2047"/>
        <p:cNvGrpSpPr/>
        <p:nvPr/>
      </p:nvGrpSpPr>
      <p:grpSpPr>
        <a:xfrm>
          <a:off x="0" y="0"/>
          <a:ext cx="0" cy="0"/>
          <a:chOff x="0" y="0"/>
          <a:chExt cx="0" cy="0"/>
        </a:xfrm>
      </p:grpSpPr>
      <p:sp>
        <p:nvSpPr>
          <p:cNvPr id="2048" name="Google Shape;2048;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049" name="Google Shape;2049;p99"/>
          <p:cNvSpPr txBox="1"/>
          <p:nvPr>
            <p:ph idx="1" type="body"/>
          </p:nvPr>
        </p:nvSpPr>
        <p:spPr>
          <a:xfrm>
            <a:off x="324000" y="738963"/>
            <a:ext cx="83145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Here is a partially completed two-way table regarding shoe size and year group in a school. </a:t>
            </a:r>
            <a:br>
              <a:rPr lang="en-GB" sz="1800"/>
            </a:br>
            <a:r>
              <a:rPr lang="en-GB" sz="1800"/>
              <a:t>Which of the entries can be calculated first?</a:t>
            </a:r>
            <a:endParaRPr sz="1800"/>
          </a:p>
        </p:txBody>
      </p:sp>
      <p:sp>
        <p:nvSpPr>
          <p:cNvPr id="2050" name="Google Shape;2050;p99"/>
          <p:cNvSpPr txBox="1"/>
          <p:nvPr>
            <p:ph idx="1" type="body"/>
          </p:nvPr>
        </p:nvSpPr>
        <p:spPr>
          <a:xfrm>
            <a:off x="5145575" y="1653375"/>
            <a:ext cx="36453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number of ‘year 9’ students with ‘not size 7’ feet.</a:t>
            </a:r>
            <a:endParaRPr sz="1800"/>
          </a:p>
        </p:txBody>
      </p:sp>
      <p:grpSp>
        <p:nvGrpSpPr>
          <p:cNvPr id="2051" name="Google Shape;2051;p99"/>
          <p:cNvGrpSpPr/>
          <p:nvPr/>
        </p:nvGrpSpPr>
        <p:grpSpPr>
          <a:xfrm>
            <a:off x="373725" y="1978325"/>
            <a:ext cx="3089100" cy="2169000"/>
            <a:chOff x="5578500" y="933000"/>
            <a:chExt cx="3089100" cy="2169000"/>
          </a:xfrm>
        </p:grpSpPr>
        <p:cxnSp>
          <p:nvCxnSpPr>
            <p:cNvPr id="2052" name="Google Shape;2052;p99"/>
            <p:cNvCxnSpPr/>
            <p:nvPr/>
          </p:nvCxnSpPr>
          <p:spPr>
            <a:xfrm>
              <a:off x="65367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53" name="Google Shape;2053;p99"/>
            <p:cNvCxnSpPr/>
            <p:nvPr/>
          </p:nvCxnSpPr>
          <p:spPr>
            <a:xfrm>
              <a:off x="7221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54" name="Google Shape;2054;p99"/>
            <p:cNvCxnSpPr/>
            <p:nvPr/>
          </p:nvCxnSpPr>
          <p:spPr>
            <a:xfrm>
              <a:off x="79056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055" name="Google Shape;2055;p99"/>
            <p:cNvCxnSpPr/>
            <p:nvPr/>
          </p:nvCxnSpPr>
          <p:spPr>
            <a:xfrm rot="10800000">
              <a:off x="5578575" y="1569800"/>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2056" name="Google Shape;2056;p99"/>
            <p:cNvCxnSpPr/>
            <p:nvPr/>
          </p:nvCxnSpPr>
          <p:spPr>
            <a:xfrm rot="10800000">
              <a:off x="5578575" y="2069185"/>
              <a:ext cx="3070200" cy="0"/>
            </a:xfrm>
            <a:prstGeom prst="straightConnector1">
              <a:avLst/>
            </a:prstGeom>
            <a:noFill/>
            <a:ln cap="flat" cmpd="sng" w="38100">
              <a:solidFill>
                <a:schemeClr val="dk1"/>
              </a:solidFill>
              <a:prstDash val="solid"/>
              <a:round/>
              <a:headEnd len="med" w="med" type="none"/>
              <a:tailEnd len="med" w="med" type="none"/>
            </a:ln>
          </p:spPr>
        </p:cxnSp>
        <p:cxnSp>
          <p:nvCxnSpPr>
            <p:cNvPr id="2057" name="Google Shape;2057;p99"/>
            <p:cNvCxnSpPr/>
            <p:nvPr/>
          </p:nvCxnSpPr>
          <p:spPr>
            <a:xfrm rot="10800000">
              <a:off x="5578500" y="2720925"/>
              <a:ext cx="3089100" cy="0"/>
            </a:xfrm>
            <a:prstGeom prst="straightConnector1">
              <a:avLst/>
            </a:prstGeom>
            <a:noFill/>
            <a:ln cap="flat" cmpd="sng" w="38100">
              <a:solidFill>
                <a:schemeClr val="dk1"/>
              </a:solidFill>
              <a:prstDash val="solid"/>
              <a:round/>
              <a:headEnd len="med" w="med" type="none"/>
              <a:tailEnd len="med" w="med" type="none"/>
            </a:ln>
          </p:spPr>
        </p:cxnSp>
      </p:grpSp>
      <p:sp>
        <p:nvSpPr>
          <p:cNvPr id="2058" name="Google Shape;2058;p99"/>
          <p:cNvSpPr txBox="1"/>
          <p:nvPr>
            <p:ph idx="1" type="body"/>
          </p:nvPr>
        </p:nvSpPr>
        <p:spPr>
          <a:xfrm>
            <a:off x="1463575" y="1979575"/>
            <a:ext cx="4701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a:t>
            </a:r>
            <a:r>
              <a:rPr lang="en-GB" sz="1800"/>
              <a:t>ize 7</a:t>
            </a:r>
            <a:endParaRPr sz="1800"/>
          </a:p>
        </p:txBody>
      </p:sp>
      <p:sp>
        <p:nvSpPr>
          <p:cNvPr id="2059" name="Google Shape;2059;p99"/>
          <p:cNvSpPr txBox="1"/>
          <p:nvPr>
            <p:ph idx="1" type="body"/>
          </p:nvPr>
        </p:nvSpPr>
        <p:spPr>
          <a:xfrm>
            <a:off x="2064647" y="1979825"/>
            <a:ext cx="628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size 7</a:t>
            </a:r>
            <a:endParaRPr sz="1800"/>
          </a:p>
        </p:txBody>
      </p:sp>
      <p:sp>
        <p:nvSpPr>
          <p:cNvPr id="2060" name="Google Shape;2060;p99"/>
          <p:cNvSpPr txBox="1"/>
          <p:nvPr>
            <p:ph idx="1" type="body"/>
          </p:nvPr>
        </p:nvSpPr>
        <p:spPr>
          <a:xfrm>
            <a:off x="411825" y="2733300"/>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y</a:t>
            </a:r>
            <a:r>
              <a:rPr lang="en-GB" sz="1800"/>
              <a:t>ear 9</a:t>
            </a:r>
            <a:endParaRPr sz="1800"/>
          </a:p>
        </p:txBody>
      </p:sp>
      <p:sp>
        <p:nvSpPr>
          <p:cNvPr id="2061" name="Google Shape;2061;p99"/>
          <p:cNvSpPr txBox="1"/>
          <p:nvPr>
            <p:ph idx="1" type="body"/>
          </p:nvPr>
        </p:nvSpPr>
        <p:spPr>
          <a:xfrm>
            <a:off x="403488" y="3097646"/>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year 9</a:t>
            </a:r>
            <a:endParaRPr sz="1800"/>
          </a:p>
        </p:txBody>
      </p:sp>
      <p:sp>
        <p:nvSpPr>
          <p:cNvPr id="2062" name="Google Shape;2062;p99"/>
          <p:cNvSpPr txBox="1"/>
          <p:nvPr>
            <p:ph idx="1" type="body"/>
          </p:nvPr>
        </p:nvSpPr>
        <p:spPr>
          <a:xfrm>
            <a:off x="1517032" y="2713050"/>
            <a:ext cx="3576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64</a:t>
            </a:r>
            <a:endParaRPr sz="1800"/>
          </a:p>
        </p:txBody>
      </p:sp>
      <p:sp>
        <p:nvSpPr>
          <p:cNvPr id="2063" name="Google Shape;2063;p99"/>
          <p:cNvSpPr txBox="1"/>
          <p:nvPr>
            <p:ph idx="1" type="body"/>
          </p:nvPr>
        </p:nvSpPr>
        <p:spPr>
          <a:xfrm>
            <a:off x="2150451" y="3304425"/>
            <a:ext cx="457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552</a:t>
            </a:r>
            <a:endParaRPr sz="1800"/>
          </a:p>
        </p:txBody>
      </p:sp>
      <p:cxnSp>
        <p:nvCxnSpPr>
          <p:cNvPr id="2064" name="Google Shape;2064;p99"/>
          <p:cNvCxnSpPr/>
          <p:nvPr/>
        </p:nvCxnSpPr>
        <p:spPr>
          <a:xfrm>
            <a:off x="3462825" y="1978325"/>
            <a:ext cx="0" cy="2179200"/>
          </a:xfrm>
          <a:prstGeom prst="straightConnector1">
            <a:avLst/>
          </a:prstGeom>
          <a:noFill/>
          <a:ln cap="flat" cmpd="sng" w="38100">
            <a:solidFill>
              <a:schemeClr val="dk1"/>
            </a:solidFill>
            <a:prstDash val="solid"/>
            <a:round/>
            <a:headEnd len="med" w="med" type="none"/>
            <a:tailEnd len="med" w="med" type="none"/>
          </a:ln>
        </p:spPr>
      </p:cxnSp>
      <p:cxnSp>
        <p:nvCxnSpPr>
          <p:cNvPr id="2065" name="Google Shape;2065;p99"/>
          <p:cNvCxnSpPr/>
          <p:nvPr/>
        </p:nvCxnSpPr>
        <p:spPr>
          <a:xfrm rot="10800000">
            <a:off x="373950" y="4147250"/>
            <a:ext cx="3112200" cy="0"/>
          </a:xfrm>
          <a:prstGeom prst="straightConnector1">
            <a:avLst/>
          </a:prstGeom>
          <a:noFill/>
          <a:ln cap="flat" cmpd="sng" w="38100">
            <a:solidFill>
              <a:schemeClr val="dk1"/>
            </a:solidFill>
            <a:prstDash val="solid"/>
            <a:round/>
            <a:headEnd len="med" w="med" type="none"/>
            <a:tailEnd len="med" w="med" type="none"/>
          </a:ln>
        </p:spPr>
      </p:cxnSp>
      <p:sp>
        <p:nvSpPr>
          <p:cNvPr id="2066" name="Google Shape;2066;p99"/>
          <p:cNvSpPr txBox="1"/>
          <p:nvPr>
            <p:ph idx="1" type="body"/>
          </p:nvPr>
        </p:nvSpPr>
        <p:spPr>
          <a:xfrm>
            <a:off x="2886000" y="3294900"/>
            <a:ext cx="457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714</a:t>
            </a:r>
            <a:endParaRPr sz="1800"/>
          </a:p>
        </p:txBody>
      </p:sp>
      <p:sp>
        <p:nvSpPr>
          <p:cNvPr id="2067" name="Google Shape;2067;p99"/>
          <p:cNvSpPr txBox="1"/>
          <p:nvPr>
            <p:ph idx="1" type="body"/>
          </p:nvPr>
        </p:nvSpPr>
        <p:spPr>
          <a:xfrm>
            <a:off x="2150450" y="3804900"/>
            <a:ext cx="457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601</a:t>
            </a:r>
            <a:endParaRPr sz="1800"/>
          </a:p>
        </p:txBody>
      </p:sp>
      <p:sp>
        <p:nvSpPr>
          <p:cNvPr id="2068" name="Google Shape;2068;p99"/>
          <p:cNvSpPr txBox="1"/>
          <p:nvPr>
            <p:ph idx="1" type="body"/>
          </p:nvPr>
        </p:nvSpPr>
        <p:spPr>
          <a:xfrm>
            <a:off x="2789570" y="2281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069" name="Google Shape;2069;p99"/>
          <p:cNvSpPr txBox="1"/>
          <p:nvPr>
            <p:ph idx="1" type="body"/>
          </p:nvPr>
        </p:nvSpPr>
        <p:spPr>
          <a:xfrm>
            <a:off x="555895" y="38048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grpSp>
        <p:nvGrpSpPr>
          <p:cNvPr id="2070" name="Google Shape;2070;p99"/>
          <p:cNvGrpSpPr/>
          <p:nvPr/>
        </p:nvGrpSpPr>
        <p:grpSpPr>
          <a:xfrm>
            <a:off x="4343391" y="1715775"/>
            <a:ext cx="457200" cy="457200"/>
            <a:chOff x="1020916" y="1442088"/>
            <a:chExt cx="457200" cy="457200"/>
          </a:xfrm>
        </p:grpSpPr>
        <p:pic>
          <p:nvPicPr>
            <p:cNvPr id="2071" name="Google Shape;2071;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72" name="Google Shape;2072;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073" name="Google Shape;2073;p99"/>
          <p:cNvGrpSpPr/>
          <p:nvPr/>
        </p:nvGrpSpPr>
        <p:grpSpPr>
          <a:xfrm>
            <a:off x="4343391" y="2547600"/>
            <a:ext cx="457200" cy="457200"/>
            <a:chOff x="1020916" y="1442088"/>
            <a:chExt cx="457200" cy="457200"/>
          </a:xfrm>
        </p:grpSpPr>
        <p:pic>
          <p:nvPicPr>
            <p:cNvPr id="2074" name="Google Shape;2074;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75" name="Google Shape;2075;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076" name="Google Shape;2076;p99"/>
          <p:cNvGrpSpPr/>
          <p:nvPr/>
        </p:nvGrpSpPr>
        <p:grpSpPr>
          <a:xfrm>
            <a:off x="4343391" y="3379425"/>
            <a:ext cx="457200" cy="457200"/>
            <a:chOff x="1020916" y="1442088"/>
            <a:chExt cx="457200" cy="457200"/>
          </a:xfrm>
        </p:grpSpPr>
        <p:pic>
          <p:nvPicPr>
            <p:cNvPr id="2077" name="Google Shape;2077;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78" name="Google Shape;2078;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2079" name="Google Shape;2079;p99"/>
          <p:cNvGrpSpPr/>
          <p:nvPr/>
        </p:nvGrpSpPr>
        <p:grpSpPr>
          <a:xfrm>
            <a:off x="4343391" y="4167600"/>
            <a:ext cx="457200" cy="457200"/>
            <a:chOff x="1020916" y="1442088"/>
            <a:chExt cx="457200" cy="457200"/>
          </a:xfrm>
        </p:grpSpPr>
        <p:pic>
          <p:nvPicPr>
            <p:cNvPr id="2080" name="Google Shape;2080;p9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081" name="Google Shape;2081;p9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082" name="Google Shape;2082;p99"/>
          <p:cNvSpPr txBox="1"/>
          <p:nvPr>
            <p:ph idx="1" type="body"/>
          </p:nvPr>
        </p:nvSpPr>
        <p:spPr>
          <a:xfrm>
            <a:off x="5145575" y="2523300"/>
            <a:ext cx="36453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total number of ‘year 9’ students.</a:t>
            </a:r>
            <a:endParaRPr sz="1800"/>
          </a:p>
        </p:txBody>
      </p:sp>
      <p:sp>
        <p:nvSpPr>
          <p:cNvPr id="2083" name="Google Shape;2083;p99"/>
          <p:cNvSpPr txBox="1"/>
          <p:nvPr>
            <p:ph idx="1" type="body"/>
          </p:nvPr>
        </p:nvSpPr>
        <p:spPr>
          <a:xfrm>
            <a:off x="5145575" y="3393225"/>
            <a:ext cx="36453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number of ‘not year 9’ students who have ‘size 7’ feet.</a:t>
            </a:r>
            <a:endParaRPr sz="1800"/>
          </a:p>
        </p:txBody>
      </p:sp>
      <p:sp>
        <p:nvSpPr>
          <p:cNvPr id="2084" name="Google Shape;2084;p99"/>
          <p:cNvSpPr txBox="1"/>
          <p:nvPr>
            <p:ph idx="1" type="body"/>
          </p:nvPr>
        </p:nvSpPr>
        <p:spPr>
          <a:xfrm>
            <a:off x="5145575" y="4181400"/>
            <a:ext cx="3645300" cy="429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The total number of students.</a:t>
            </a:r>
            <a:endParaRPr sz="1800"/>
          </a:p>
        </p:txBody>
      </p:sp>
      <p:pic>
        <p:nvPicPr>
          <p:cNvPr id="2085" name="Google Shape;2085;p99"/>
          <p:cNvPicPr preferRelativeResize="0"/>
          <p:nvPr/>
        </p:nvPicPr>
        <p:blipFill>
          <a:blip r:embed="rId4">
            <a:alphaModFix/>
          </a:blip>
          <a:stretch>
            <a:fillRect/>
          </a:stretch>
        </p:blipFill>
        <p:spPr>
          <a:xfrm>
            <a:off x="7585083" y="1950450"/>
            <a:ext cx="396000" cy="419100"/>
          </a:xfrm>
          <a:prstGeom prst="rect">
            <a:avLst/>
          </a:prstGeom>
          <a:noFill/>
          <a:ln>
            <a:noFill/>
          </a:ln>
        </p:spPr>
      </p:pic>
      <p:pic>
        <p:nvPicPr>
          <p:cNvPr id="2086" name="Google Shape;2086;p99"/>
          <p:cNvPicPr preferRelativeResize="0"/>
          <p:nvPr/>
        </p:nvPicPr>
        <p:blipFill>
          <a:blip r:embed="rId4">
            <a:alphaModFix/>
          </a:blip>
          <a:stretch>
            <a:fillRect/>
          </a:stretch>
        </p:blipFill>
        <p:spPr>
          <a:xfrm>
            <a:off x="8242508" y="335760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0" name="Shape 2090"/>
        <p:cNvGrpSpPr/>
        <p:nvPr/>
      </p:nvGrpSpPr>
      <p:grpSpPr>
        <a:xfrm>
          <a:off x="0" y="0"/>
          <a:ext cx="0" cy="0"/>
          <a:chOff x="0" y="0"/>
          <a:chExt cx="0" cy="0"/>
        </a:xfrm>
      </p:grpSpPr>
      <p:sp>
        <p:nvSpPr>
          <p:cNvPr id="2091" name="Google Shape;2091;p10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092" name="Google Shape;2092;p100"/>
          <p:cNvSpPr txBox="1"/>
          <p:nvPr>
            <p:ph idx="1" type="body"/>
          </p:nvPr>
        </p:nvSpPr>
        <p:spPr>
          <a:xfrm>
            <a:off x="324000" y="759300"/>
            <a:ext cx="82377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A random sample of people is being selected by allocating an integer from 1 to 50 to each person and then picking based on two rules. </a:t>
            </a:r>
            <a:br>
              <a:rPr lang="en-GB" sz="2000"/>
            </a:br>
            <a:r>
              <a:rPr lang="en-GB" sz="2000"/>
              <a:t>Rule 1 is that the integer is a </a:t>
            </a:r>
            <a:r>
              <a:rPr lang="en-GB" sz="2000">
                <a:solidFill>
                  <a:schemeClr val="accent2"/>
                </a:solidFill>
              </a:rPr>
              <a:t>multiple of 10</a:t>
            </a:r>
            <a:r>
              <a:rPr lang="en-GB" sz="2000"/>
              <a:t> and rule 2 is that the integer is a </a:t>
            </a:r>
            <a:r>
              <a:rPr lang="en-GB" sz="2000">
                <a:solidFill>
                  <a:schemeClr val="accent2"/>
                </a:solidFill>
              </a:rPr>
              <a:t>multiple of 4</a:t>
            </a:r>
            <a:r>
              <a:rPr lang="en-GB" sz="2000"/>
              <a:t>. </a:t>
            </a:r>
            <a:endParaRPr sz="2000"/>
          </a:p>
          <a:p>
            <a:pPr indent="0" lvl="0" marL="0" rtl="0" algn="l">
              <a:spcBef>
                <a:spcPts val="1000"/>
              </a:spcBef>
              <a:spcAft>
                <a:spcPts val="1000"/>
              </a:spcAft>
              <a:buNone/>
            </a:pPr>
            <a:r>
              <a:t/>
            </a:r>
            <a:endParaRPr sz="2000"/>
          </a:p>
        </p:txBody>
      </p:sp>
      <p:grpSp>
        <p:nvGrpSpPr>
          <p:cNvPr id="2093" name="Google Shape;2093;p100"/>
          <p:cNvGrpSpPr/>
          <p:nvPr/>
        </p:nvGrpSpPr>
        <p:grpSpPr>
          <a:xfrm>
            <a:off x="3354303" y="2206925"/>
            <a:ext cx="5296422" cy="2169000"/>
            <a:chOff x="4749078" y="933000"/>
            <a:chExt cx="5296422" cy="2169000"/>
          </a:xfrm>
        </p:grpSpPr>
        <p:cxnSp>
          <p:nvCxnSpPr>
            <p:cNvPr id="2094" name="Google Shape;2094;p100"/>
            <p:cNvCxnSpPr/>
            <p:nvPr/>
          </p:nvCxnSpPr>
          <p:spPr>
            <a:xfrm>
              <a:off x="63843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95" name="Google Shape;2095;p100"/>
            <p:cNvCxnSpPr/>
            <p:nvPr/>
          </p:nvCxnSpPr>
          <p:spPr>
            <a:xfrm>
              <a:off x="7602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096" name="Google Shape;2096;p100"/>
            <p:cNvCxnSpPr/>
            <p:nvPr/>
          </p:nvCxnSpPr>
          <p:spPr>
            <a:xfrm>
              <a:off x="92772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097" name="Google Shape;2097;p100"/>
            <p:cNvCxnSpPr/>
            <p:nvPr/>
          </p:nvCxnSpPr>
          <p:spPr>
            <a:xfrm rot="10800000">
              <a:off x="4776978" y="1569800"/>
              <a:ext cx="5241300" cy="0"/>
            </a:xfrm>
            <a:prstGeom prst="straightConnector1">
              <a:avLst/>
            </a:prstGeom>
            <a:noFill/>
            <a:ln cap="flat" cmpd="sng" w="38100">
              <a:solidFill>
                <a:schemeClr val="dk1"/>
              </a:solidFill>
              <a:prstDash val="solid"/>
              <a:round/>
              <a:headEnd len="med" w="med" type="none"/>
              <a:tailEnd len="med" w="med" type="none"/>
            </a:ln>
          </p:spPr>
        </p:cxnSp>
        <p:cxnSp>
          <p:nvCxnSpPr>
            <p:cNvPr id="2098" name="Google Shape;2098;p100"/>
            <p:cNvCxnSpPr/>
            <p:nvPr/>
          </p:nvCxnSpPr>
          <p:spPr>
            <a:xfrm rot="10800000">
              <a:off x="4749078" y="2069185"/>
              <a:ext cx="5269200" cy="0"/>
            </a:xfrm>
            <a:prstGeom prst="straightConnector1">
              <a:avLst/>
            </a:prstGeom>
            <a:noFill/>
            <a:ln cap="flat" cmpd="sng" w="38100">
              <a:solidFill>
                <a:schemeClr val="dk1"/>
              </a:solidFill>
              <a:prstDash val="solid"/>
              <a:round/>
              <a:headEnd len="med" w="med" type="none"/>
              <a:tailEnd len="med" w="med" type="none"/>
            </a:ln>
          </p:spPr>
        </p:cxnSp>
        <p:cxnSp>
          <p:nvCxnSpPr>
            <p:cNvPr id="2099" name="Google Shape;2099;p100"/>
            <p:cNvCxnSpPr/>
            <p:nvPr/>
          </p:nvCxnSpPr>
          <p:spPr>
            <a:xfrm rot="10800000">
              <a:off x="4776900" y="2720925"/>
              <a:ext cx="5268600" cy="0"/>
            </a:xfrm>
            <a:prstGeom prst="straightConnector1">
              <a:avLst/>
            </a:prstGeom>
            <a:noFill/>
            <a:ln cap="flat" cmpd="sng" w="38100">
              <a:solidFill>
                <a:schemeClr val="dk1"/>
              </a:solidFill>
              <a:prstDash val="solid"/>
              <a:round/>
              <a:headEnd len="med" w="med" type="none"/>
              <a:tailEnd len="med" w="med" type="none"/>
            </a:ln>
          </p:spPr>
        </p:cxnSp>
      </p:grpSp>
      <p:sp>
        <p:nvSpPr>
          <p:cNvPr id="2100" name="Google Shape;2100;p100"/>
          <p:cNvSpPr txBox="1"/>
          <p:nvPr>
            <p:ph idx="4294967295" type="body"/>
          </p:nvPr>
        </p:nvSpPr>
        <p:spPr>
          <a:xfrm>
            <a:off x="5121175" y="2208175"/>
            <a:ext cx="942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multiple of 10</a:t>
            </a:r>
            <a:endParaRPr sz="1800"/>
          </a:p>
        </p:txBody>
      </p:sp>
      <p:sp>
        <p:nvSpPr>
          <p:cNvPr id="2101" name="Google Shape;2101;p100"/>
          <p:cNvSpPr txBox="1"/>
          <p:nvPr>
            <p:ph idx="4294967295" type="body"/>
          </p:nvPr>
        </p:nvSpPr>
        <p:spPr>
          <a:xfrm>
            <a:off x="6246125" y="2208425"/>
            <a:ext cx="1540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a:t>
            </a:r>
            <a:r>
              <a:rPr lang="en-GB" sz="1800"/>
              <a:t>ot a multiple of 10</a:t>
            </a:r>
            <a:endParaRPr sz="1800"/>
          </a:p>
        </p:txBody>
      </p:sp>
      <p:sp>
        <p:nvSpPr>
          <p:cNvPr id="2102" name="Google Shape;2102;p100"/>
          <p:cNvSpPr txBox="1"/>
          <p:nvPr>
            <p:ph idx="4294967295" type="body"/>
          </p:nvPr>
        </p:nvSpPr>
        <p:spPr>
          <a:xfrm>
            <a:off x="3382200" y="2923800"/>
            <a:ext cx="16539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multiple of 4</a:t>
            </a:r>
            <a:endParaRPr sz="1800"/>
          </a:p>
        </p:txBody>
      </p:sp>
      <p:sp>
        <p:nvSpPr>
          <p:cNvPr id="2103" name="Google Shape;2103;p100"/>
          <p:cNvSpPr txBox="1"/>
          <p:nvPr>
            <p:ph idx="4294967295" type="body"/>
          </p:nvPr>
        </p:nvSpPr>
        <p:spPr>
          <a:xfrm>
            <a:off x="3423288" y="3326250"/>
            <a:ext cx="1577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a:t>
            </a:r>
            <a:r>
              <a:rPr lang="en-GB" sz="1800"/>
              <a:t>ot a multiple of 4</a:t>
            </a:r>
            <a:endParaRPr sz="1800"/>
          </a:p>
        </p:txBody>
      </p:sp>
      <p:cxnSp>
        <p:nvCxnSpPr>
          <p:cNvPr id="2104" name="Google Shape;2104;p100"/>
          <p:cNvCxnSpPr/>
          <p:nvPr/>
        </p:nvCxnSpPr>
        <p:spPr>
          <a:xfrm rot="10800000">
            <a:off x="3382200" y="4375850"/>
            <a:ext cx="5268600" cy="0"/>
          </a:xfrm>
          <a:prstGeom prst="straightConnector1">
            <a:avLst/>
          </a:prstGeom>
          <a:noFill/>
          <a:ln cap="flat" cmpd="sng" w="38100">
            <a:solidFill>
              <a:schemeClr val="dk1"/>
            </a:solidFill>
            <a:prstDash val="solid"/>
            <a:round/>
            <a:headEnd len="med" w="med" type="none"/>
            <a:tailEnd len="med" w="med" type="none"/>
          </a:ln>
        </p:spPr>
      </p:cxnSp>
      <p:sp>
        <p:nvSpPr>
          <p:cNvPr id="2105" name="Google Shape;2105;p100"/>
          <p:cNvSpPr txBox="1"/>
          <p:nvPr>
            <p:ph idx="4294967295" type="body"/>
          </p:nvPr>
        </p:nvSpPr>
        <p:spPr>
          <a:xfrm>
            <a:off x="8142552" y="4033500"/>
            <a:ext cx="3081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50</a:t>
            </a:r>
            <a:endParaRPr sz="1800"/>
          </a:p>
        </p:txBody>
      </p:sp>
      <p:sp>
        <p:nvSpPr>
          <p:cNvPr id="2106" name="Google Shape;2106;p100"/>
          <p:cNvSpPr txBox="1"/>
          <p:nvPr>
            <p:ph idx="4294967295" type="body"/>
          </p:nvPr>
        </p:nvSpPr>
        <p:spPr>
          <a:xfrm>
            <a:off x="7971170" y="25104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107" name="Google Shape;2107;p100"/>
          <p:cNvSpPr txBox="1"/>
          <p:nvPr>
            <p:ph idx="4294967295" type="body"/>
          </p:nvPr>
        </p:nvSpPr>
        <p:spPr>
          <a:xfrm>
            <a:off x="4365895" y="40334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cxnSp>
        <p:nvCxnSpPr>
          <p:cNvPr id="2108" name="Google Shape;2108;p100"/>
          <p:cNvCxnSpPr/>
          <p:nvPr/>
        </p:nvCxnSpPr>
        <p:spPr>
          <a:xfrm>
            <a:off x="8644425" y="2201825"/>
            <a:ext cx="0" cy="2179200"/>
          </a:xfrm>
          <a:prstGeom prst="straightConnector1">
            <a:avLst/>
          </a:prstGeom>
          <a:noFill/>
          <a:ln cap="flat" cmpd="sng" w="38100">
            <a:solidFill>
              <a:schemeClr val="dk1"/>
            </a:solidFill>
            <a:prstDash val="solid"/>
            <a:round/>
            <a:headEnd len="med" w="med" type="none"/>
            <a:tailEnd len="med" w="med" type="none"/>
          </a:ln>
        </p:spPr>
      </p:cxnSp>
      <p:sp>
        <p:nvSpPr>
          <p:cNvPr id="2109" name="Google Shape;2109;p100"/>
          <p:cNvSpPr txBox="1"/>
          <p:nvPr>
            <p:ph idx="1" type="body"/>
          </p:nvPr>
        </p:nvSpPr>
        <p:spPr>
          <a:xfrm>
            <a:off x="324000" y="2816800"/>
            <a:ext cx="3099300" cy="69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Complete the two-way table.</a:t>
            </a:r>
            <a:endParaRPr sz="2000"/>
          </a:p>
          <a:p>
            <a:pPr indent="0" lvl="0" marL="0" rtl="0" algn="l">
              <a:spcBef>
                <a:spcPts val="1000"/>
              </a:spcBef>
              <a:spcAft>
                <a:spcPts val="1000"/>
              </a:spcAft>
              <a:buNone/>
            </a:pPr>
            <a:r>
              <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3" name="Shape 2113"/>
        <p:cNvGrpSpPr/>
        <p:nvPr/>
      </p:nvGrpSpPr>
      <p:grpSpPr>
        <a:xfrm>
          <a:off x="0" y="0"/>
          <a:ext cx="0" cy="0"/>
          <a:chOff x="0" y="0"/>
          <a:chExt cx="0" cy="0"/>
        </a:xfrm>
      </p:grpSpPr>
      <p:sp>
        <p:nvSpPr>
          <p:cNvPr id="2114" name="Google Shape;2114;p10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115" name="Google Shape;2115;p101"/>
          <p:cNvSpPr txBox="1"/>
          <p:nvPr>
            <p:ph idx="1" type="body"/>
          </p:nvPr>
        </p:nvSpPr>
        <p:spPr>
          <a:xfrm>
            <a:off x="324000" y="759300"/>
            <a:ext cx="82377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a:t>
            </a:r>
            <a:endParaRPr sz="2000"/>
          </a:p>
          <a:p>
            <a:pPr indent="0" lvl="0" marL="0" rtl="0" algn="l">
              <a:spcBef>
                <a:spcPts val="1000"/>
              </a:spcBef>
              <a:spcAft>
                <a:spcPts val="1000"/>
              </a:spcAft>
              <a:buNone/>
            </a:pPr>
            <a:r>
              <a:t/>
            </a:r>
            <a:endParaRPr sz="2000"/>
          </a:p>
        </p:txBody>
      </p:sp>
      <p:grpSp>
        <p:nvGrpSpPr>
          <p:cNvPr id="2116" name="Google Shape;2116;p101"/>
          <p:cNvGrpSpPr/>
          <p:nvPr/>
        </p:nvGrpSpPr>
        <p:grpSpPr>
          <a:xfrm>
            <a:off x="3757876" y="2566298"/>
            <a:ext cx="4581749" cy="2169000"/>
            <a:chOff x="5076451" y="933000"/>
            <a:chExt cx="4581749" cy="2169000"/>
          </a:xfrm>
        </p:grpSpPr>
        <p:cxnSp>
          <p:nvCxnSpPr>
            <p:cNvPr id="2117" name="Google Shape;2117;p101"/>
            <p:cNvCxnSpPr/>
            <p:nvPr/>
          </p:nvCxnSpPr>
          <p:spPr>
            <a:xfrm>
              <a:off x="63843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118" name="Google Shape;2118;p101"/>
            <p:cNvCxnSpPr/>
            <p:nvPr/>
          </p:nvCxnSpPr>
          <p:spPr>
            <a:xfrm>
              <a:off x="7602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119" name="Google Shape;2119;p101"/>
            <p:cNvCxnSpPr/>
            <p:nvPr/>
          </p:nvCxnSpPr>
          <p:spPr>
            <a:xfrm>
              <a:off x="88962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120" name="Google Shape;2120;p101"/>
            <p:cNvCxnSpPr/>
            <p:nvPr/>
          </p:nvCxnSpPr>
          <p:spPr>
            <a:xfrm rot="10800000">
              <a:off x="5100751" y="1569800"/>
              <a:ext cx="4533900" cy="0"/>
            </a:xfrm>
            <a:prstGeom prst="straightConnector1">
              <a:avLst/>
            </a:prstGeom>
            <a:noFill/>
            <a:ln cap="flat" cmpd="sng" w="38100">
              <a:solidFill>
                <a:schemeClr val="dk1"/>
              </a:solidFill>
              <a:prstDash val="solid"/>
              <a:round/>
              <a:headEnd len="med" w="med" type="none"/>
              <a:tailEnd len="med" w="med" type="none"/>
            </a:ln>
          </p:spPr>
        </p:cxnSp>
        <p:cxnSp>
          <p:nvCxnSpPr>
            <p:cNvPr id="2121" name="Google Shape;2121;p101"/>
            <p:cNvCxnSpPr/>
            <p:nvPr/>
          </p:nvCxnSpPr>
          <p:spPr>
            <a:xfrm rot="10800000">
              <a:off x="5076451" y="2069185"/>
              <a:ext cx="4558200" cy="0"/>
            </a:xfrm>
            <a:prstGeom prst="straightConnector1">
              <a:avLst/>
            </a:prstGeom>
            <a:noFill/>
            <a:ln cap="flat" cmpd="sng" w="38100">
              <a:solidFill>
                <a:schemeClr val="dk1"/>
              </a:solidFill>
              <a:prstDash val="solid"/>
              <a:round/>
              <a:headEnd len="med" w="med" type="none"/>
              <a:tailEnd len="med" w="med" type="none"/>
            </a:ln>
          </p:spPr>
        </p:cxnSp>
        <p:cxnSp>
          <p:nvCxnSpPr>
            <p:cNvPr id="2122" name="Google Shape;2122;p101"/>
            <p:cNvCxnSpPr/>
            <p:nvPr/>
          </p:nvCxnSpPr>
          <p:spPr>
            <a:xfrm rot="10800000">
              <a:off x="5100600" y="2720925"/>
              <a:ext cx="4557600" cy="0"/>
            </a:xfrm>
            <a:prstGeom prst="straightConnector1">
              <a:avLst/>
            </a:prstGeom>
            <a:noFill/>
            <a:ln cap="flat" cmpd="sng" w="38100">
              <a:solidFill>
                <a:schemeClr val="dk1"/>
              </a:solidFill>
              <a:prstDash val="solid"/>
              <a:round/>
              <a:headEnd len="med" w="med" type="none"/>
              <a:tailEnd len="med" w="med" type="none"/>
            </a:ln>
          </p:spPr>
        </p:cxnSp>
      </p:grpSp>
      <p:sp>
        <p:nvSpPr>
          <p:cNvPr id="2123" name="Google Shape;2123;p101"/>
          <p:cNvSpPr txBox="1"/>
          <p:nvPr>
            <p:ph idx="4294967295" type="body"/>
          </p:nvPr>
        </p:nvSpPr>
        <p:spPr>
          <a:xfrm>
            <a:off x="5197375" y="2567548"/>
            <a:ext cx="942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sports club</a:t>
            </a:r>
            <a:endParaRPr sz="1800"/>
          </a:p>
        </p:txBody>
      </p:sp>
      <p:sp>
        <p:nvSpPr>
          <p:cNvPr id="2124" name="Google Shape;2124;p101"/>
          <p:cNvSpPr txBox="1"/>
          <p:nvPr>
            <p:ph idx="4294967295" type="body"/>
          </p:nvPr>
        </p:nvSpPr>
        <p:spPr>
          <a:xfrm>
            <a:off x="6322325" y="2567798"/>
            <a:ext cx="1540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sports club</a:t>
            </a:r>
            <a:endParaRPr sz="1800"/>
          </a:p>
        </p:txBody>
      </p:sp>
      <p:sp>
        <p:nvSpPr>
          <p:cNvPr id="2125" name="Google Shape;2125;p101"/>
          <p:cNvSpPr txBox="1"/>
          <p:nvPr>
            <p:ph idx="4294967295" type="body"/>
          </p:nvPr>
        </p:nvSpPr>
        <p:spPr>
          <a:xfrm>
            <a:off x="3779775" y="3283173"/>
            <a:ext cx="1485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music club</a:t>
            </a:r>
            <a:endParaRPr sz="1800"/>
          </a:p>
        </p:txBody>
      </p:sp>
      <p:sp>
        <p:nvSpPr>
          <p:cNvPr id="2126" name="Google Shape;2126;p101"/>
          <p:cNvSpPr txBox="1"/>
          <p:nvPr>
            <p:ph idx="4294967295" type="body"/>
          </p:nvPr>
        </p:nvSpPr>
        <p:spPr>
          <a:xfrm>
            <a:off x="3804297" y="3713223"/>
            <a:ext cx="11859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music club</a:t>
            </a:r>
            <a:endParaRPr sz="1800"/>
          </a:p>
        </p:txBody>
      </p:sp>
      <p:sp>
        <p:nvSpPr>
          <p:cNvPr id="2127" name="Google Shape;2127;p101"/>
          <p:cNvSpPr txBox="1"/>
          <p:nvPr>
            <p:ph idx="4294967295" type="body"/>
          </p:nvPr>
        </p:nvSpPr>
        <p:spPr>
          <a:xfrm>
            <a:off x="5631818" y="330103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2128" name="Google Shape;2128;p101"/>
          <p:cNvSpPr txBox="1"/>
          <p:nvPr>
            <p:ph idx="4294967295" type="body"/>
          </p:nvPr>
        </p:nvSpPr>
        <p:spPr>
          <a:xfrm>
            <a:off x="6832985" y="3301023"/>
            <a:ext cx="405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endParaRPr sz="1800"/>
          </a:p>
        </p:txBody>
      </p:sp>
      <p:sp>
        <p:nvSpPr>
          <p:cNvPr id="2129" name="Google Shape;2129;p101"/>
          <p:cNvSpPr txBox="1"/>
          <p:nvPr>
            <p:ph idx="4294967295" type="body"/>
          </p:nvPr>
        </p:nvSpPr>
        <p:spPr>
          <a:xfrm>
            <a:off x="5631818" y="3863823"/>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2130" name="Google Shape;2130;p101"/>
          <p:cNvSpPr txBox="1"/>
          <p:nvPr>
            <p:ph idx="4294967295" type="body"/>
          </p:nvPr>
        </p:nvSpPr>
        <p:spPr>
          <a:xfrm>
            <a:off x="6832973" y="38638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endParaRPr sz="1800"/>
          </a:p>
        </p:txBody>
      </p:sp>
      <p:cxnSp>
        <p:nvCxnSpPr>
          <p:cNvPr id="2131" name="Google Shape;2131;p101"/>
          <p:cNvCxnSpPr/>
          <p:nvPr/>
        </p:nvCxnSpPr>
        <p:spPr>
          <a:xfrm rot="10800000">
            <a:off x="3789525" y="4735223"/>
            <a:ext cx="4583100" cy="0"/>
          </a:xfrm>
          <a:prstGeom prst="straightConnector1">
            <a:avLst/>
          </a:prstGeom>
          <a:noFill/>
          <a:ln cap="flat" cmpd="sng" w="38100">
            <a:solidFill>
              <a:schemeClr val="dk1"/>
            </a:solidFill>
            <a:prstDash val="solid"/>
            <a:round/>
            <a:headEnd len="med" w="med" type="none"/>
            <a:tailEnd len="med" w="med" type="none"/>
          </a:ln>
        </p:spPr>
      </p:cxnSp>
      <p:sp>
        <p:nvSpPr>
          <p:cNvPr id="2132" name="Google Shape;2132;p101"/>
          <p:cNvSpPr txBox="1"/>
          <p:nvPr>
            <p:ph idx="4294967295" type="body"/>
          </p:nvPr>
        </p:nvSpPr>
        <p:spPr>
          <a:xfrm>
            <a:off x="5616318" y="4392873"/>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2133" name="Google Shape;2133;p101"/>
          <p:cNvSpPr txBox="1"/>
          <p:nvPr>
            <p:ph idx="4294967295" type="body"/>
          </p:nvPr>
        </p:nvSpPr>
        <p:spPr>
          <a:xfrm>
            <a:off x="7763051" y="33010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endParaRPr sz="1800"/>
          </a:p>
        </p:txBody>
      </p:sp>
      <p:sp>
        <p:nvSpPr>
          <p:cNvPr id="2134" name="Google Shape;2134;p101"/>
          <p:cNvSpPr txBox="1"/>
          <p:nvPr>
            <p:ph idx="4294967295" type="body"/>
          </p:nvPr>
        </p:nvSpPr>
        <p:spPr>
          <a:xfrm>
            <a:off x="7730027" y="38638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2135" name="Google Shape;2135;p101"/>
          <p:cNvSpPr txBox="1"/>
          <p:nvPr>
            <p:ph idx="4294967295" type="body"/>
          </p:nvPr>
        </p:nvSpPr>
        <p:spPr>
          <a:xfrm>
            <a:off x="6832974" y="439287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2136" name="Google Shape;2136;p101"/>
          <p:cNvSpPr txBox="1"/>
          <p:nvPr>
            <p:ph idx="4294967295" type="body"/>
          </p:nvPr>
        </p:nvSpPr>
        <p:spPr>
          <a:xfrm>
            <a:off x="7685352" y="4392873"/>
            <a:ext cx="3081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r>
              <a:rPr lang="en-GB" sz="1800"/>
              <a:t>0</a:t>
            </a:r>
            <a:endParaRPr sz="1800"/>
          </a:p>
        </p:txBody>
      </p:sp>
      <p:sp>
        <p:nvSpPr>
          <p:cNvPr id="2137" name="Google Shape;2137;p101"/>
          <p:cNvSpPr txBox="1"/>
          <p:nvPr>
            <p:ph idx="4294967295" type="body"/>
          </p:nvPr>
        </p:nvSpPr>
        <p:spPr>
          <a:xfrm>
            <a:off x="7666370" y="2869867"/>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138" name="Google Shape;2138;p101"/>
          <p:cNvSpPr txBox="1"/>
          <p:nvPr>
            <p:ph idx="4294967295" type="body"/>
          </p:nvPr>
        </p:nvSpPr>
        <p:spPr>
          <a:xfrm>
            <a:off x="4442095" y="4392867"/>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cxnSp>
        <p:nvCxnSpPr>
          <p:cNvPr id="2139" name="Google Shape;2139;p101"/>
          <p:cNvCxnSpPr/>
          <p:nvPr/>
        </p:nvCxnSpPr>
        <p:spPr>
          <a:xfrm>
            <a:off x="8353268" y="2561198"/>
            <a:ext cx="0" cy="2179200"/>
          </a:xfrm>
          <a:prstGeom prst="straightConnector1">
            <a:avLst/>
          </a:prstGeom>
          <a:noFill/>
          <a:ln cap="flat" cmpd="sng" w="38100">
            <a:solidFill>
              <a:schemeClr val="dk1"/>
            </a:solidFill>
            <a:prstDash val="solid"/>
            <a:round/>
            <a:headEnd len="med" w="med" type="none"/>
            <a:tailEnd len="med" w="med" type="none"/>
          </a:ln>
        </p:spPr>
      </p:cxnSp>
      <p:sp>
        <p:nvSpPr>
          <p:cNvPr id="2140" name="Google Shape;2140;p101"/>
          <p:cNvSpPr txBox="1"/>
          <p:nvPr>
            <p:ph idx="1" type="body"/>
          </p:nvPr>
        </p:nvSpPr>
        <p:spPr>
          <a:xfrm>
            <a:off x="3832500" y="1354105"/>
            <a:ext cx="42741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Circle all the numbers in the table that include Izzy.</a:t>
            </a:r>
            <a:endParaRPr sz="1800"/>
          </a:p>
          <a:p>
            <a:pPr indent="0" lvl="0" marL="0" rtl="0" algn="l">
              <a:spcBef>
                <a:spcPts val="1000"/>
              </a:spcBef>
              <a:spcAft>
                <a:spcPts val="0"/>
              </a:spcAft>
              <a:buNone/>
            </a:pPr>
            <a:r>
              <a:rPr lang="en-GB" sz="1800"/>
              <a:t>b) </a:t>
            </a:r>
            <a:r>
              <a:rPr lang="en-GB" sz="1800"/>
              <a:t>Which clubs does Sofia do, if any?</a:t>
            </a:r>
            <a:endParaRPr sz="1800"/>
          </a:p>
          <a:p>
            <a:pPr indent="0" lvl="0" marL="0" rtl="0" algn="l">
              <a:spcBef>
                <a:spcPts val="1000"/>
              </a:spcBef>
              <a:spcAft>
                <a:spcPts val="1000"/>
              </a:spcAft>
              <a:buNone/>
            </a:pPr>
            <a:r>
              <a:t/>
            </a:r>
            <a:endParaRPr sz="1800"/>
          </a:p>
        </p:txBody>
      </p:sp>
      <p:pic>
        <p:nvPicPr>
          <p:cNvPr id="2141" name="Google Shape;2141;p101"/>
          <p:cNvPicPr preferRelativeResize="0"/>
          <p:nvPr/>
        </p:nvPicPr>
        <p:blipFill>
          <a:blip r:embed="rId3">
            <a:alphaModFix/>
          </a:blip>
          <a:stretch>
            <a:fillRect/>
          </a:stretch>
        </p:blipFill>
        <p:spPr>
          <a:xfrm>
            <a:off x="603859" y="2394726"/>
            <a:ext cx="264309" cy="330518"/>
          </a:xfrm>
          <a:prstGeom prst="rect">
            <a:avLst/>
          </a:prstGeom>
          <a:noFill/>
          <a:ln>
            <a:noFill/>
          </a:ln>
        </p:spPr>
      </p:pic>
      <p:pic>
        <p:nvPicPr>
          <p:cNvPr id="2142" name="Google Shape;2142;p101"/>
          <p:cNvPicPr preferRelativeResize="0"/>
          <p:nvPr/>
        </p:nvPicPr>
        <p:blipFill>
          <a:blip r:embed="rId4">
            <a:alphaModFix/>
          </a:blip>
          <a:stretch>
            <a:fillRect/>
          </a:stretch>
        </p:blipFill>
        <p:spPr>
          <a:xfrm>
            <a:off x="622717" y="789450"/>
            <a:ext cx="226571" cy="427821"/>
          </a:xfrm>
          <a:prstGeom prst="rect">
            <a:avLst/>
          </a:prstGeom>
          <a:noFill/>
          <a:ln>
            <a:noFill/>
          </a:ln>
        </p:spPr>
      </p:pic>
      <p:pic>
        <p:nvPicPr>
          <p:cNvPr id="2143" name="Google Shape;2143;p101"/>
          <p:cNvPicPr preferRelativeResize="0"/>
          <p:nvPr/>
        </p:nvPicPr>
        <p:blipFill>
          <a:blip r:embed="rId5">
            <a:alphaModFix/>
          </a:blip>
          <a:stretch>
            <a:fillRect/>
          </a:stretch>
        </p:blipFill>
        <p:spPr>
          <a:xfrm>
            <a:off x="590935" y="2766456"/>
            <a:ext cx="290166" cy="325715"/>
          </a:xfrm>
          <a:prstGeom prst="rect">
            <a:avLst/>
          </a:prstGeom>
          <a:noFill/>
          <a:ln>
            <a:noFill/>
          </a:ln>
        </p:spPr>
      </p:pic>
      <p:pic>
        <p:nvPicPr>
          <p:cNvPr id="2144" name="Google Shape;2144;p101"/>
          <p:cNvPicPr preferRelativeResize="0"/>
          <p:nvPr/>
        </p:nvPicPr>
        <p:blipFill>
          <a:blip r:embed="rId6">
            <a:alphaModFix/>
          </a:blip>
          <a:stretch>
            <a:fillRect/>
          </a:stretch>
        </p:blipFill>
        <p:spPr>
          <a:xfrm>
            <a:off x="589219" y="3161851"/>
            <a:ext cx="293596" cy="384527"/>
          </a:xfrm>
          <a:prstGeom prst="rect">
            <a:avLst/>
          </a:prstGeom>
          <a:noFill/>
          <a:ln>
            <a:noFill/>
          </a:ln>
        </p:spPr>
      </p:pic>
      <p:pic>
        <p:nvPicPr>
          <p:cNvPr id="2145" name="Google Shape;2145;p101"/>
          <p:cNvPicPr preferRelativeResize="0"/>
          <p:nvPr/>
        </p:nvPicPr>
        <p:blipFill>
          <a:blip r:embed="rId7">
            <a:alphaModFix/>
          </a:blip>
          <a:stretch>
            <a:fillRect/>
          </a:stretch>
        </p:blipFill>
        <p:spPr>
          <a:xfrm>
            <a:off x="639298" y="3568236"/>
            <a:ext cx="256592" cy="369502"/>
          </a:xfrm>
          <a:prstGeom prst="rect">
            <a:avLst/>
          </a:prstGeom>
          <a:noFill/>
          <a:ln>
            <a:noFill/>
          </a:ln>
        </p:spPr>
      </p:pic>
      <p:pic>
        <p:nvPicPr>
          <p:cNvPr id="2146" name="Google Shape;2146;p101"/>
          <p:cNvPicPr preferRelativeResize="0"/>
          <p:nvPr/>
        </p:nvPicPr>
        <p:blipFill>
          <a:blip r:embed="rId8">
            <a:alphaModFix/>
          </a:blip>
          <a:stretch>
            <a:fillRect/>
          </a:stretch>
        </p:blipFill>
        <p:spPr>
          <a:xfrm flipH="1">
            <a:off x="490301" y="1580248"/>
            <a:ext cx="404999" cy="391935"/>
          </a:xfrm>
          <a:prstGeom prst="rect">
            <a:avLst/>
          </a:prstGeom>
          <a:noFill/>
          <a:ln>
            <a:noFill/>
          </a:ln>
        </p:spPr>
      </p:pic>
      <p:pic>
        <p:nvPicPr>
          <p:cNvPr id="2147" name="Google Shape;2147;p101"/>
          <p:cNvPicPr preferRelativeResize="0"/>
          <p:nvPr/>
        </p:nvPicPr>
        <p:blipFill>
          <a:blip r:embed="rId9">
            <a:alphaModFix/>
          </a:blip>
          <a:stretch>
            <a:fillRect/>
          </a:stretch>
        </p:blipFill>
        <p:spPr>
          <a:xfrm flipH="1">
            <a:off x="549531" y="1201809"/>
            <a:ext cx="286544" cy="369495"/>
          </a:xfrm>
          <a:prstGeom prst="rect">
            <a:avLst/>
          </a:prstGeom>
          <a:noFill/>
          <a:ln>
            <a:noFill/>
          </a:ln>
        </p:spPr>
      </p:pic>
      <p:pic>
        <p:nvPicPr>
          <p:cNvPr id="2148" name="Google Shape;2148;p101"/>
          <p:cNvPicPr preferRelativeResize="0"/>
          <p:nvPr/>
        </p:nvPicPr>
        <p:blipFill>
          <a:blip r:embed="rId10">
            <a:alphaModFix/>
          </a:blip>
          <a:stretch>
            <a:fillRect/>
          </a:stretch>
        </p:blipFill>
        <p:spPr>
          <a:xfrm flipH="1">
            <a:off x="603861" y="2006083"/>
            <a:ext cx="264310" cy="325583"/>
          </a:xfrm>
          <a:prstGeom prst="rect">
            <a:avLst/>
          </a:prstGeom>
          <a:noFill/>
          <a:ln>
            <a:noFill/>
          </a:ln>
        </p:spPr>
      </p:pic>
      <p:pic>
        <p:nvPicPr>
          <p:cNvPr id="2149" name="Google Shape;2149;p101"/>
          <p:cNvPicPr preferRelativeResize="0"/>
          <p:nvPr/>
        </p:nvPicPr>
        <p:blipFill>
          <a:blip r:embed="rId11">
            <a:alphaModFix/>
          </a:blip>
          <a:stretch>
            <a:fillRect/>
          </a:stretch>
        </p:blipFill>
        <p:spPr>
          <a:xfrm flipH="1">
            <a:off x="594797" y="3994303"/>
            <a:ext cx="282422" cy="325709"/>
          </a:xfrm>
          <a:prstGeom prst="rect">
            <a:avLst/>
          </a:prstGeom>
          <a:noFill/>
          <a:ln>
            <a:noFill/>
          </a:ln>
        </p:spPr>
      </p:pic>
      <p:pic>
        <p:nvPicPr>
          <p:cNvPr id="2150" name="Google Shape;2150;p101"/>
          <p:cNvPicPr preferRelativeResize="0"/>
          <p:nvPr/>
        </p:nvPicPr>
        <p:blipFill>
          <a:blip r:embed="rId12">
            <a:alphaModFix/>
          </a:blip>
          <a:stretch>
            <a:fillRect/>
          </a:stretch>
        </p:blipFill>
        <p:spPr>
          <a:xfrm flipH="1">
            <a:off x="620792" y="4376547"/>
            <a:ext cx="293599" cy="325707"/>
          </a:xfrm>
          <a:prstGeom prst="rect">
            <a:avLst/>
          </a:prstGeom>
          <a:noFill/>
          <a:ln>
            <a:noFill/>
          </a:ln>
        </p:spPr>
      </p:pic>
      <p:graphicFrame>
        <p:nvGraphicFramePr>
          <p:cNvPr id="2151" name="Google Shape;2151;p101"/>
          <p:cNvGraphicFramePr/>
          <p:nvPr/>
        </p:nvGraphicFramePr>
        <p:xfrm>
          <a:off x="914400" y="789450"/>
          <a:ext cx="3000000" cy="3000000"/>
        </p:xfrm>
        <a:graphic>
          <a:graphicData uri="http://schemas.openxmlformats.org/drawingml/2006/table">
            <a:tbl>
              <a:tblPr>
                <a:noFill/>
                <a:tableStyleId>{982AFBFC-D9C8-48DC-B392-D28179C21DEB}</a:tableStyleId>
              </a:tblPr>
              <a:tblGrid>
                <a:gridCol w="948775"/>
                <a:gridCol w="845250"/>
                <a:gridCol w="865950"/>
              </a:tblGrid>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a:t>
                      </a:r>
                      <a:r>
                        <a:rPr lang="en-GB" sz="1800">
                          <a:latin typeface="Lexend"/>
                          <a:ea typeface="Lexend"/>
                          <a:cs typeface="Lexend"/>
                          <a:sym typeface="Lexend"/>
                        </a:rPr>
                        <a:t>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a:t>
                      </a:r>
                      <a:r>
                        <a:rPr lang="en-GB" sz="1800">
                          <a:latin typeface="Lexend"/>
                          <a:ea typeface="Lexend"/>
                          <a:cs typeface="Lexend"/>
                          <a:sym typeface="Lexend"/>
                        </a:rPr>
                        <a:t>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a:t> </a:t>
                      </a:r>
                      <a:r>
                        <a:rPr lang="en-GB" sz="1900"/>
                        <a:t>?</a:t>
                      </a:r>
                      <a:endParaRPr sz="1900"/>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GB" sz="1900">
                          <a:solidFill>
                            <a:schemeClr val="dk1"/>
                          </a:solidFill>
                        </a:rPr>
                        <a:t>?</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152" name="Google Shape;2152;p101"/>
          <p:cNvSpPr txBox="1"/>
          <p:nvPr>
            <p:ph idx="1" type="body"/>
          </p:nvPr>
        </p:nvSpPr>
        <p:spPr>
          <a:xfrm>
            <a:off x="3798600" y="691084"/>
            <a:ext cx="50214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pupils have been asked </a:t>
            </a:r>
            <a:r>
              <a:rPr lang="en-GB" sz="1800"/>
              <a:t>about</a:t>
            </a:r>
            <a:r>
              <a:rPr lang="en-GB" sz="1800"/>
              <a:t> whether they are members of a sport</a:t>
            </a:r>
            <a:r>
              <a:rPr lang="en-GB" sz="1800"/>
              <a:t>s</a:t>
            </a:r>
            <a:r>
              <a:rPr lang="en-GB" sz="1800"/>
              <a:t> or music club.</a:t>
            </a:r>
            <a:endParaRPr sz="1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6" name="Shape 2156"/>
        <p:cNvGrpSpPr/>
        <p:nvPr/>
      </p:nvGrpSpPr>
      <p:grpSpPr>
        <a:xfrm>
          <a:off x="0" y="0"/>
          <a:ext cx="0" cy="0"/>
          <a:chOff x="0" y="0"/>
          <a:chExt cx="0" cy="0"/>
        </a:xfrm>
      </p:grpSpPr>
      <p:sp>
        <p:nvSpPr>
          <p:cNvPr id="2157" name="Google Shape;2157;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158" name="Google Shape;2158;p102"/>
          <p:cNvSpPr txBox="1"/>
          <p:nvPr>
            <p:ph idx="1" type="body"/>
          </p:nvPr>
        </p:nvSpPr>
        <p:spPr>
          <a:xfrm>
            <a:off x="324000" y="759300"/>
            <a:ext cx="8237700" cy="76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 </a:t>
            </a:r>
            <a:endParaRPr sz="2000"/>
          </a:p>
          <a:p>
            <a:pPr indent="0" lvl="0" marL="0" rtl="0" algn="l">
              <a:spcBef>
                <a:spcPts val="1000"/>
              </a:spcBef>
              <a:spcAft>
                <a:spcPts val="1000"/>
              </a:spcAft>
              <a:buNone/>
            </a:pPr>
            <a:r>
              <a:t/>
            </a:r>
            <a:endParaRPr sz="2000"/>
          </a:p>
        </p:txBody>
      </p:sp>
      <p:sp>
        <p:nvSpPr>
          <p:cNvPr id="2159" name="Google Shape;2159;p102"/>
          <p:cNvSpPr txBox="1"/>
          <p:nvPr>
            <p:ph idx="1" type="body"/>
          </p:nvPr>
        </p:nvSpPr>
        <p:spPr>
          <a:xfrm>
            <a:off x="324000" y="1142100"/>
            <a:ext cx="3081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a:t>
            </a:r>
            <a:endParaRPr sz="2000"/>
          </a:p>
        </p:txBody>
      </p:sp>
      <p:sp>
        <p:nvSpPr>
          <p:cNvPr id="2160" name="Google Shape;2160;p102"/>
          <p:cNvSpPr txBox="1"/>
          <p:nvPr>
            <p:ph idx="1" type="body"/>
          </p:nvPr>
        </p:nvSpPr>
        <p:spPr>
          <a:xfrm>
            <a:off x="631550" y="759300"/>
            <a:ext cx="81885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Fill the missing boxes on each of these two-way tables.</a:t>
            </a:r>
            <a:endParaRPr sz="2000"/>
          </a:p>
        </p:txBody>
      </p:sp>
      <p:sp>
        <p:nvSpPr>
          <p:cNvPr id="2161" name="Google Shape;2161;p102"/>
          <p:cNvSpPr txBox="1"/>
          <p:nvPr>
            <p:ph idx="1" type="body"/>
          </p:nvPr>
        </p:nvSpPr>
        <p:spPr>
          <a:xfrm>
            <a:off x="4397250" y="1142100"/>
            <a:ext cx="3081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b) </a:t>
            </a:r>
            <a:endParaRPr sz="2000"/>
          </a:p>
          <a:p>
            <a:pPr indent="0" lvl="0" marL="0" rtl="0" algn="l">
              <a:spcBef>
                <a:spcPts val="1000"/>
              </a:spcBef>
              <a:spcAft>
                <a:spcPts val="1000"/>
              </a:spcAft>
              <a:buNone/>
            </a:pPr>
            <a:r>
              <a:t/>
            </a:r>
            <a:endParaRPr sz="2000"/>
          </a:p>
        </p:txBody>
      </p:sp>
      <p:graphicFrame>
        <p:nvGraphicFramePr>
          <p:cNvPr id="2162" name="Google Shape;2162;p102"/>
          <p:cNvGraphicFramePr/>
          <p:nvPr/>
        </p:nvGraphicFramePr>
        <p:xfrm>
          <a:off x="304800" y="1143000"/>
          <a:ext cx="3000000" cy="3000000"/>
        </p:xfrm>
        <a:graphic>
          <a:graphicData uri="http://schemas.openxmlformats.org/drawingml/2006/table">
            <a:tbl>
              <a:tblPr>
                <a:noFill/>
                <a:tableStyleId>{982AFBFC-D9C8-48DC-B392-D28179C21DEB}</a:tableStyleId>
              </a:tblPr>
              <a:tblGrid>
                <a:gridCol w="911650"/>
                <a:gridCol w="1189725"/>
                <a:gridCol w="1119600"/>
                <a:gridCol w="680900"/>
              </a:tblGrid>
              <a:tr h="619125">
                <a:tc>
                  <a:txBody>
                    <a:bodyPr/>
                    <a:lstStyle/>
                    <a:p>
                      <a:pPr indent="0" lvl="0" marL="0" rtl="0" algn="l">
                        <a:spcBef>
                          <a:spcPts val="0"/>
                        </a:spcBef>
                        <a:spcAft>
                          <a:spcPts val="0"/>
                        </a:spcAft>
                        <a:buNone/>
                      </a:pPr>
                      <a:r>
                        <a:t/>
                      </a: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1st attempt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2nd attempt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pass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fail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163" name="Google Shape;2163;p102"/>
          <p:cNvGraphicFramePr/>
          <p:nvPr/>
        </p:nvGraphicFramePr>
        <p:xfrm>
          <a:off x="4705350" y="1144000"/>
          <a:ext cx="3000000" cy="3000000"/>
        </p:xfrm>
        <a:graphic>
          <a:graphicData uri="http://schemas.openxmlformats.org/drawingml/2006/table">
            <a:tbl>
              <a:tblPr>
                <a:noFill/>
                <a:tableStyleId>{982AFBFC-D9C8-48DC-B392-D28179C21DEB}</a:tableStyleId>
              </a:tblPr>
              <a:tblGrid>
                <a:gridCol w="952500"/>
                <a:gridCol w="1104900"/>
                <a:gridCol w="1066800"/>
                <a:gridCol w="952500"/>
              </a:tblGrid>
              <a:tr h="333375">
                <a:tc>
                  <a:txBody>
                    <a:bodyPr/>
                    <a:lstStyle/>
                    <a:p>
                      <a:pPr indent="0" lvl="0" marL="0" rtl="0" algn="l">
                        <a:spcBef>
                          <a:spcPts val="0"/>
                        </a:spcBef>
                        <a:spcAft>
                          <a:spcPts val="0"/>
                        </a:spcAft>
                        <a:buNone/>
                      </a:pPr>
                      <a:r>
                        <a:t/>
                      </a:r>
                      <a:endParaRPr/>
                    </a:p>
                  </a:txBody>
                  <a:tcPr marT="19050" marB="19050" marR="28575" marL="28575" anchor="b">
                    <a:lnL cap="flat" cmpd="sng" w="9525">
                      <a:solidFill>
                        <a:srgbClr val="FFFFFF"/>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child</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adult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goggles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no goggles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63</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7" name="Shape 2167"/>
        <p:cNvGrpSpPr/>
        <p:nvPr/>
      </p:nvGrpSpPr>
      <p:grpSpPr>
        <a:xfrm>
          <a:off x="0" y="0"/>
          <a:ext cx="0" cy="0"/>
          <a:chOff x="0" y="0"/>
          <a:chExt cx="0" cy="0"/>
        </a:xfrm>
      </p:grpSpPr>
      <p:sp>
        <p:nvSpPr>
          <p:cNvPr id="2168" name="Google Shape;2168;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169" name="Google Shape;2169;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A random sample of people is being selected by allocating an integer from 1 to 50 to each person and then picking based on two rules. </a:t>
            </a:r>
            <a:br>
              <a:rPr lang="en-GB" sz="2000"/>
            </a:br>
            <a:r>
              <a:rPr lang="en-GB" sz="2000"/>
              <a:t>Rule 1 is that the integer is a </a:t>
            </a:r>
            <a:r>
              <a:rPr lang="en-GB" sz="2000">
                <a:solidFill>
                  <a:schemeClr val="accent2"/>
                </a:solidFill>
              </a:rPr>
              <a:t>multiple of 10</a:t>
            </a:r>
            <a:r>
              <a:rPr lang="en-GB" sz="2000"/>
              <a:t> and rule 2 is that the integer is a </a:t>
            </a:r>
            <a:r>
              <a:rPr lang="en-GB" sz="2000">
                <a:solidFill>
                  <a:schemeClr val="accent2"/>
                </a:solidFill>
              </a:rPr>
              <a:t>multiple of 4</a:t>
            </a:r>
            <a:r>
              <a:rPr lang="en-GB" sz="2000"/>
              <a:t>. </a:t>
            </a:r>
            <a:endParaRPr sz="2000"/>
          </a:p>
          <a:p>
            <a:pPr indent="0" lvl="0" marL="0" rtl="0" algn="l">
              <a:spcBef>
                <a:spcPts val="1000"/>
              </a:spcBef>
              <a:spcAft>
                <a:spcPts val="1000"/>
              </a:spcAft>
              <a:buNone/>
            </a:pPr>
            <a:r>
              <a:t/>
            </a:r>
            <a:endParaRPr sz="2000"/>
          </a:p>
        </p:txBody>
      </p:sp>
      <p:grpSp>
        <p:nvGrpSpPr>
          <p:cNvPr id="2170" name="Google Shape;2170;p103"/>
          <p:cNvGrpSpPr/>
          <p:nvPr/>
        </p:nvGrpSpPr>
        <p:grpSpPr>
          <a:xfrm>
            <a:off x="3354303" y="2206925"/>
            <a:ext cx="5296422" cy="2169000"/>
            <a:chOff x="4749078" y="933000"/>
            <a:chExt cx="5296422" cy="2169000"/>
          </a:xfrm>
        </p:grpSpPr>
        <p:cxnSp>
          <p:nvCxnSpPr>
            <p:cNvPr id="2171" name="Google Shape;2171;p103"/>
            <p:cNvCxnSpPr/>
            <p:nvPr/>
          </p:nvCxnSpPr>
          <p:spPr>
            <a:xfrm>
              <a:off x="63843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172" name="Google Shape;2172;p103"/>
            <p:cNvCxnSpPr/>
            <p:nvPr/>
          </p:nvCxnSpPr>
          <p:spPr>
            <a:xfrm>
              <a:off x="7602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173" name="Google Shape;2173;p103"/>
            <p:cNvCxnSpPr/>
            <p:nvPr/>
          </p:nvCxnSpPr>
          <p:spPr>
            <a:xfrm>
              <a:off x="92772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174" name="Google Shape;2174;p103"/>
            <p:cNvCxnSpPr/>
            <p:nvPr/>
          </p:nvCxnSpPr>
          <p:spPr>
            <a:xfrm rot="10800000">
              <a:off x="4776978" y="1569800"/>
              <a:ext cx="5241300" cy="0"/>
            </a:xfrm>
            <a:prstGeom prst="straightConnector1">
              <a:avLst/>
            </a:prstGeom>
            <a:noFill/>
            <a:ln cap="flat" cmpd="sng" w="38100">
              <a:solidFill>
                <a:schemeClr val="dk1"/>
              </a:solidFill>
              <a:prstDash val="solid"/>
              <a:round/>
              <a:headEnd len="med" w="med" type="none"/>
              <a:tailEnd len="med" w="med" type="none"/>
            </a:ln>
          </p:spPr>
        </p:cxnSp>
        <p:cxnSp>
          <p:nvCxnSpPr>
            <p:cNvPr id="2175" name="Google Shape;2175;p103"/>
            <p:cNvCxnSpPr/>
            <p:nvPr/>
          </p:nvCxnSpPr>
          <p:spPr>
            <a:xfrm rot="10800000">
              <a:off x="4749078" y="2069185"/>
              <a:ext cx="5269200" cy="0"/>
            </a:xfrm>
            <a:prstGeom prst="straightConnector1">
              <a:avLst/>
            </a:prstGeom>
            <a:noFill/>
            <a:ln cap="flat" cmpd="sng" w="38100">
              <a:solidFill>
                <a:schemeClr val="dk1"/>
              </a:solidFill>
              <a:prstDash val="solid"/>
              <a:round/>
              <a:headEnd len="med" w="med" type="none"/>
              <a:tailEnd len="med" w="med" type="none"/>
            </a:ln>
          </p:spPr>
        </p:cxnSp>
        <p:cxnSp>
          <p:nvCxnSpPr>
            <p:cNvPr id="2176" name="Google Shape;2176;p103"/>
            <p:cNvCxnSpPr/>
            <p:nvPr/>
          </p:nvCxnSpPr>
          <p:spPr>
            <a:xfrm rot="10800000">
              <a:off x="4776900" y="2720925"/>
              <a:ext cx="5268600" cy="0"/>
            </a:xfrm>
            <a:prstGeom prst="straightConnector1">
              <a:avLst/>
            </a:prstGeom>
            <a:noFill/>
            <a:ln cap="flat" cmpd="sng" w="38100">
              <a:solidFill>
                <a:schemeClr val="dk1"/>
              </a:solidFill>
              <a:prstDash val="solid"/>
              <a:round/>
              <a:headEnd len="med" w="med" type="none"/>
              <a:tailEnd len="med" w="med" type="none"/>
            </a:ln>
          </p:spPr>
        </p:cxnSp>
      </p:grpSp>
      <p:sp>
        <p:nvSpPr>
          <p:cNvPr id="2177" name="Google Shape;2177;p103"/>
          <p:cNvSpPr txBox="1"/>
          <p:nvPr>
            <p:ph idx="4294967295" type="body"/>
          </p:nvPr>
        </p:nvSpPr>
        <p:spPr>
          <a:xfrm>
            <a:off x="5121175" y="2208175"/>
            <a:ext cx="942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multiple of 10</a:t>
            </a:r>
            <a:endParaRPr sz="1800"/>
          </a:p>
        </p:txBody>
      </p:sp>
      <p:sp>
        <p:nvSpPr>
          <p:cNvPr id="2178" name="Google Shape;2178;p103"/>
          <p:cNvSpPr txBox="1"/>
          <p:nvPr>
            <p:ph idx="4294967295" type="body"/>
          </p:nvPr>
        </p:nvSpPr>
        <p:spPr>
          <a:xfrm>
            <a:off x="6246125" y="2208425"/>
            <a:ext cx="1540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a multiple of 10</a:t>
            </a:r>
            <a:endParaRPr sz="1800"/>
          </a:p>
        </p:txBody>
      </p:sp>
      <p:sp>
        <p:nvSpPr>
          <p:cNvPr id="2179" name="Google Shape;2179;p103"/>
          <p:cNvSpPr txBox="1"/>
          <p:nvPr>
            <p:ph idx="4294967295" type="body"/>
          </p:nvPr>
        </p:nvSpPr>
        <p:spPr>
          <a:xfrm>
            <a:off x="3369600" y="2923800"/>
            <a:ext cx="16665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multiple of 4</a:t>
            </a:r>
            <a:endParaRPr sz="1800"/>
          </a:p>
        </p:txBody>
      </p:sp>
      <p:sp>
        <p:nvSpPr>
          <p:cNvPr id="2180" name="Google Shape;2180;p103"/>
          <p:cNvSpPr txBox="1"/>
          <p:nvPr>
            <p:ph idx="4294967295" type="body"/>
          </p:nvPr>
        </p:nvSpPr>
        <p:spPr>
          <a:xfrm>
            <a:off x="3423288" y="3326250"/>
            <a:ext cx="1577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not a multiple of 4</a:t>
            </a:r>
            <a:endParaRPr sz="1800"/>
          </a:p>
        </p:txBody>
      </p:sp>
      <p:sp>
        <p:nvSpPr>
          <p:cNvPr id="2181" name="Google Shape;2181;p103"/>
          <p:cNvSpPr txBox="1"/>
          <p:nvPr>
            <p:ph idx="4294967295" type="body"/>
          </p:nvPr>
        </p:nvSpPr>
        <p:spPr>
          <a:xfrm>
            <a:off x="5555618" y="2941657"/>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2</a:t>
            </a:r>
            <a:endParaRPr sz="2000">
              <a:latin typeface="Kalam"/>
              <a:ea typeface="Kalam"/>
              <a:cs typeface="Kalam"/>
              <a:sym typeface="Kalam"/>
            </a:endParaRPr>
          </a:p>
        </p:txBody>
      </p:sp>
      <p:sp>
        <p:nvSpPr>
          <p:cNvPr id="2182" name="Google Shape;2182;p103"/>
          <p:cNvSpPr txBox="1"/>
          <p:nvPr>
            <p:ph idx="4294967295" type="body"/>
          </p:nvPr>
        </p:nvSpPr>
        <p:spPr>
          <a:xfrm>
            <a:off x="6985385" y="2941650"/>
            <a:ext cx="405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10</a:t>
            </a:r>
            <a:endParaRPr sz="2000">
              <a:latin typeface="Kalam"/>
              <a:ea typeface="Kalam"/>
              <a:cs typeface="Kalam"/>
              <a:sym typeface="Kalam"/>
            </a:endParaRPr>
          </a:p>
        </p:txBody>
      </p:sp>
      <p:sp>
        <p:nvSpPr>
          <p:cNvPr id="2183" name="Google Shape;2183;p103"/>
          <p:cNvSpPr txBox="1"/>
          <p:nvPr>
            <p:ph idx="4294967295" type="body"/>
          </p:nvPr>
        </p:nvSpPr>
        <p:spPr>
          <a:xfrm>
            <a:off x="5555618" y="350445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a:t>
            </a:r>
            <a:endParaRPr sz="2000">
              <a:latin typeface="Kalam"/>
              <a:ea typeface="Kalam"/>
              <a:cs typeface="Kalam"/>
              <a:sym typeface="Kalam"/>
            </a:endParaRPr>
          </a:p>
        </p:txBody>
      </p:sp>
      <p:sp>
        <p:nvSpPr>
          <p:cNvPr id="2184" name="Google Shape;2184;p103"/>
          <p:cNvSpPr txBox="1"/>
          <p:nvPr>
            <p:ph idx="4294967295" type="body"/>
          </p:nvPr>
        </p:nvSpPr>
        <p:spPr>
          <a:xfrm>
            <a:off x="6985373" y="3504450"/>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35</a:t>
            </a:r>
            <a:endParaRPr sz="2000">
              <a:latin typeface="Kalam"/>
              <a:ea typeface="Kalam"/>
              <a:cs typeface="Kalam"/>
              <a:sym typeface="Kalam"/>
            </a:endParaRPr>
          </a:p>
        </p:txBody>
      </p:sp>
      <p:cxnSp>
        <p:nvCxnSpPr>
          <p:cNvPr id="2185" name="Google Shape;2185;p103"/>
          <p:cNvCxnSpPr/>
          <p:nvPr/>
        </p:nvCxnSpPr>
        <p:spPr>
          <a:xfrm rot="10800000">
            <a:off x="3382200" y="4375850"/>
            <a:ext cx="5268600" cy="0"/>
          </a:xfrm>
          <a:prstGeom prst="straightConnector1">
            <a:avLst/>
          </a:prstGeom>
          <a:noFill/>
          <a:ln cap="flat" cmpd="sng" w="38100">
            <a:solidFill>
              <a:schemeClr val="dk1"/>
            </a:solidFill>
            <a:prstDash val="solid"/>
            <a:round/>
            <a:headEnd len="med" w="med" type="none"/>
            <a:tailEnd len="med" w="med" type="none"/>
          </a:ln>
        </p:spPr>
      </p:cxnSp>
      <p:sp>
        <p:nvSpPr>
          <p:cNvPr id="2186" name="Google Shape;2186;p103"/>
          <p:cNvSpPr txBox="1"/>
          <p:nvPr>
            <p:ph idx="4294967295" type="body"/>
          </p:nvPr>
        </p:nvSpPr>
        <p:spPr>
          <a:xfrm>
            <a:off x="5540118" y="403350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5</a:t>
            </a:r>
            <a:endParaRPr sz="2000">
              <a:latin typeface="Kalam"/>
              <a:ea typeface="Kalam"/>
              <a:cs typeface="Kalam"/>
              <a:sym typeface="Kalam"/>
            </a:endParaRPr>
          </a:p>
        </p:txBody>
      </p:sp>
      <p:sp>
        <p:nvSpPr>
          <p:cNvPr id="2187" name="Google Shape;2187;p103"/>
          <p:cNvSpPr txBox="1"/>
          <p:nvPr>
            <p:ph idx="4294967295" type="body"/>
          </p:nvPr>
        </p:nvSpPr>
        <p:spPr>
          <a:xfrm>
            <a:off x="8220251" y="2941650"/>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12</a:t>
            </a:r>
            <a:endParaRPr sz="2000">
              <a:latin typeface="Kalam"/>
              <a:ea typeface="Kalam"/>
              <a:cs typeface="Kalam"/>
              <a:sym typeface="Kalam"/>
            </a:endParaRPr>
          </a:p>
        </p:txBody>
      </p:sp>
      <p:sp>
        <p:nvSpPr>
          <p:cNvPr id="2188" name="Google Shape;2188;p103"/>
          <p:cNvSpPr txBox="1"/>
          <p:nvPr>
            <p:ph idx="4294967295" type="body"/>
          </p:nvPr>
        </p:nvSpPr>
        <p:spPr>
          <a:xfrm>
            <a:off x="8187227" y="3504450"/>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38</a:t>
            </a:r>
            <a:endParaRPr sz="2000">
              <a:latin typeface="Kalam"/>
              <a:ea typeface="Kalam"/>
              <a:cs typeface="Kalam"/>
              <a:sym typeface="Kalam"/>
            </a:endParaRPr>
          </a:p>
        </p:txBody>
      </p:sp>
      <p:sp>
        <p:nvSpPr>
          <p:cNvPr id="2189" name="Google Shape;2189;p103"/>
          <p:cNvSpPr txBox="1"/>
          <p:nvPr>
            <p:ph idx="4294967295" type="body"/>
          </p:nvPr>
        </p:nvSpPr>
        <p:spPr>
          <a:xfrm>
            <a:off x="6985374" y="4033500"/>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45</a:t>
            </a:r>
            <a:endParaRPr sz="2000">
              <a:latin typeface="Kalam"/>
              <a:ea typeface="Kalam"/>
              <a:cs typeface="Kalam"/>
              <a:sym typeface="Kalam"/>
            </a:endParaRPr>
          </a:p>
        </p:txBody>
      </p:sp>
      <p:sp>
        <p:nvSpPr>
          <p:cNvPr id="2190" name="Google Shape;2190;p103"/>
          <p:cNvSpPr txBox="1"/>
          <p:nvPr>
            <p:ph idx="4294967295" type="body"/>
          </p:nvPr>
        </p:nvSpPr>
        <p:spPr>
          <a:xfrm>
            <a:off x="8142552" y="4033500"/>
            <a:ext cx="3081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50</a:t>
            </a:r>
            <a:endParaRPr sz="1800"/>
          </a:p>
        </p:txBody>
      </p:sp>
      <p:sp>
        <p:nvSpPr>
          <p:cNvPr id="2191" name="Google Shape;2191;p103"/>
          <p:cNvSpPr txBox="1"/>
          <p:nvPr>
            <p:ph idx="4294967295" type="body"/>
          </p:nvPr>
        </p:nvSpPr>
        <p:spPr>
          <a:xfrm>
            <a:off x="7971170" y="25104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192" name="Google Shape;2192;p103"/>
          <p:cNvSpPr txBox="1"/>
          <p:nvPr>
            <p:ph idx="4294967295" type="body"/>
          </p:nvPr>
        </p:nvSpPr>
        <p:spPr>
          <a:xfrm>
            <a:off x="4365895" y="4033495"/>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cxnSp>
        <p:nvCxnSpPr>
          <p:cNvPr id="2193" name="Google Shape;2193;p103"/>
          <p:cNvCxnSpPr/>
          <p:nvPr/>
        </p:nvCxnSpPr>
        <p:spPr>
          <a:xfrm>
            <a:off x="8644425" y="2201825"/>
            <a:ext cx="0" cy="2179200"/>
          </a:xfrm>
          <a:prstGeom prst="straightConnector1">
            <a:avLst/>
          </a:prstGeom>
          <a:noFill/>
          <a:ln cap="flat" cmpd="sng" w="38100">
            <a:solidFill>
              <a:schemeClr val="dk1"/>
            </a:solidFill>
            <a:prstDash val="solid"/>
            <a:round/>
            <a:headEnd len="med" w="med" type="none"/>
            <a:tailEnd len="med" w="med" type="none"/>
          </a:ln>
        </p:spPr>
      </p:cxnSp>
      <p:sp>
        <p:nvSpPr>
          <p:cNvPr id="2194" name="Google Shape;2194;p103"/>
          <p:cNvSpPr txBox="1"/>
          <p:nvPr>
            <p:ph idx="1" type="body"/>
          </p:nvPr>
        </p:nvSpPr>
        <p:spPr>
          <a:xfrm>
            <a:off x="324000" y="2816800"/>
            <a:ext cx="3099300" cy="691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Complete the two-way table.</a:t>
            </a:r>
            <a:endParaRPr sz="2000"/>
          </a:p>
          <a:p>
            <a:pPr indent="0" lvl="0" marL="0" rtl="0" algn="l">
              <a:spcBef>
                <a:spcPts val="1000"/>
              </a:spcBef>
              <a:spcAft>
                <a:spcPts val="1000"/>
              </a:spcAft>
              <a:buNone/>
            </a:pPr>
            <a:r>
              <a:t/>
            </a: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8" name="Shape 2198"/>
        <p:cNvGrpSpPr/>
        <p:nvPr/>
      </p:nvGrpSpPr>
      <p:grpSpPr>
        <a:xfrm>
          <a:off x="0" y="0"/>
          <a:ext cx="0" cy="0"/>
          <a:chOff x="0" y="0"/>
          <a:chExt cx="0" cy="0"/>
        </a:xfrm>
      </p:grpSpPr>
      <p:sp>
        <p:nvSpPr>
          <p:cNvPr id="2199" name="Google Shape;2199;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200" name="Google Shape;2200;p104"/>
          <p:cNvSpPr txBox="1"/>
          <p:nvPr>
            <p:ph idx="1" type="body"/>
          </p:nvPr>
        </p:nvSpPr>
        <p:spPr>
          <a:xfrm>
            <a:off x="324000" y="759300"/>
            <a:ext cx="8237700" cy="1812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2) </a:t>
            </a:r>
            <a:endParaRPr sz="2000"/>
          </a:p>
          <a:p>
            <a:pPr indent="0" lvl="0" marL="0" rtl="0" algn="l">
              <a:spcBef>
                <a:spcPts val="1000"/>
              </a:spcBef>
              <a:spcAft>
                <a:spcPts val="1000"/>
              </a:spcAft>
              <a:buNone/>
            </a:pPr>
            <a:r>
              <a:t/>
            </a:r>
            <a:endParaRPr sz="2000"/>
          </a:p>
        </p:txBody>
      </p:sp>
      <p:grpSp>
        <p:nvGrpSpPr>
          <p:cNvPr id="2201" name="Google Shape;2201;p104"/>
          <p:cNvGrpSpPr/>
          <p:nvPr/>
        </p:nvGrpSpPr>
        <p:grpSpPr>
          <a:xfrm>
            <a:off x="3757876" y="2566298"/>
            <a:ext cx="4581749" cy="2169000"/>
            <a:chOff x="5076451" y="933000"/>
            <a:chExt cx="4581749" cy="2169000"/>
          </a:xfrm>
        </p:grpSpPr>
        <p:cxnSp>
          <p:nvCxnSpPr>
            <p:cNvPr id="2202" name="Google Shape;2202;p104"/>
            <p:cNvCxnSpPr/>
            <p:nvPr/>
          </p:nvCxnSpPr>
          <p:spPr>
            <a:xfrm>
              <a:off x="6384375"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203" name="Google Shape;2203;p104"/>
            <p:cNvCxnSpPr/>
            <p:nvPr/>
          </p:nvCxnSpPr>
          <p:spPr>
            <a:xfrm>
              <a:off x="7602188" y="950623"/>
              <a:ext cx="0" cy="2148600"/>
            </a:xfrm>
            <a:prstGeom prst="straightConnector1">
              <a:avLst/>
            </a:prstGeom>
            <a:noFill/>
            <a:ln cap="flat" cmpd="sng" w="38100">
              <a:solidFill>
                <a:schemeClr val="dk1"/>
              </a:solidFill>
              <a:prstDash val="solid"/>
              <a:round/>
              <a:headEnd len="med" w="med" type="none"/>
              <a:tailEnd len="med" w="med" type="none"/>
            </a:ln>
          </p:spPr>
        </p:cxnSp>
        <p:cxnSp>
          <p:nvCxnSpPr>
            <p:cNvPr id="2204" name="Google Shape;2204;p104"/>
            <p:cNvCxnSpPr/>
            <p:nvPr/>
          </p:nvCxnSpPr>
          <p:spPr>
            <a:xfrm>
              <a:off x="8896200" y="933000"/>
              <a:ext cx="0" cy="2169000"/>
            </a:xfrm>
            <a:prstGeom prst="straightConnector1">
              <a:avLst/>
            </a:prstGeom>
            <a:noFill/>
            <a:ln cap="flat" cmpd="sng" w="38100">
              <a:solidFill>
                <a:schemeClr val="dk1"/>
              </a:solidFill>
              <a:prstDash val="solid"/>
              <a:round/>
              <a:headEnd len="med" w="med" type="none"/>
              <a:tailEnd len="med" w="med" type="none"/>
            </a:ln>
          </p:spPr>
        </p:cxnSp>
        <p:cxnSp>
          <p:nvCxnSpPr>
            <p:cNvPr id="2205" name="Google Shape;2205;p104"/>
            <p:cNvCxnSpPr/>
            <p:nvPr/>
          </p:nvCxnSpPr>
          <p:spPr>
            <a:xfrm rot="10800000">
              <a:off x="5100751" y="1569800"/>
              <a:ext cx="4533900" cy="0"/>
            </a:xfrm>
            <a:prstGeom prst="straightConnector1">
              <a:avLst/>
            </a:prstGeom>
            <a:noFill/>
            <a:ln cap="flat" cmpd="sng" w="38100">
              <a:solidFill>
                <a:schemeClr val="dk1"/>
              </a:solidFill>
              <a:prstDash val="solid"/>
              <a:round/>
              <a:headEnd len="med" w="med" type="none"/>
              <a:tailEnd len="med" w="med" type="none"/>
            </a:ln>
          </p:spPr>
        </p:cxnSp>
        <p:cxnSp>
          <p:nvCxnSpPr>
            <p:cNvPr id="2206" name="Google Shape;2206;p104"/>
            <p:cNvCxnSpPr/>
            <p:nvPr/>
          </p:nvCxnSpPr>
          <p:spPr>
            <a:xfrm rot="10800000">
              <a:off x="5076451" y="2069185"/>
              <a:ext cx="4558200" cy="0"/>
            </a:xfrm>
            <a:prstGeom prst="straightConnector1">
              <a:avLst/>
            </a:prstGeom>
            <a:noFill/>
            <a:ln cap="flat" cmpd="sng" w="38100">
              <a:solidFill>
                <a:schemeClr val="dk1"/>
              </a:solidFill>
              <a:prstDash val="solid"/>
              <a:round/>
              <a:headEnd len="med" w="med" type="none"/>
              <a:tailEnd len="med" w="med" type="none"/>
            </a:ln>
          </p:spPr>
        </p:cxnSp>
        <p:cxnSp>
          <p:nvCxnSpPr>
            <p:cNvPr id="2207" name="Google Shape;2207;p104"/>
            <p:cNvCxnSpPr/>
            <p:nvPr/>
          </p:nvCxnSpPr>
          <p:spPr>
            <a:xfrm rot="10800000">
              <a:off x="5100600" y="2720925"/>
              <a:ext cx="4557600" cy="0"/>
            </a:xfrm>
            <a:prstGeom prst="straightConnector1">
              <a:avLst/>
            </a:prstGeom>
            <a:noFill/>
            <a:ln cap="flat" cmpd="sng" w="38100">
              <a:solidFill>
                <a:schemeClr val="dk1"/>
              </a:solidFill>
              <a:prstDash val="solid"/>
              <a:round/>
              <a:headEnd len="med" w="med" type="none"/>
              <a:tailEnd len="med" w="med" type="none"/>
            </a:ln>
          </p:spPr>
        </p:cxnSp>
      </p:grpSp>
      <p:sp>
        <p:nvSpPr>
          <p:cNvPr id="2208" name="Google Shape;2208;p104"/>
          <p:cNvSpPr txBox="1"/>
          <p:nvPr>
            <p:ph idx="4294967295" type="body"/>
          </p:nvPr>
        </p:nvSpPr>
        <p:spPr>
          <a:xfrm>
            <a:off x="5197375" y="2567548"/>
            <a:ext cx="942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sports club</a:t>
            </a:r>
            <a:endParaRPr sz="1800"/>
          </a:p>
        </p:txBody>
      </p:sp>
      <p:sp>
        <p:nvSpPr>
          <p:cNvPr id="2209" name="Google Shape;2209;p104"/>
          <p:cNvSpPr txBox="1"/>
          <p:nvPr>
            <p:ph idx="4294967295" type="body"/>
          </p:nvPr>
        </p:nvSpPr>
        <p:spPr>
          <a:xfrm>
            <a:off x="6322325" y="2567798"/>
            <a:ext cx="15402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sports club</a:t>
            </a:r>
            <a:endParaRPr sz="1800"/>
          </a:p>
        </p:txBody>
      </p:sp>
      <p:sp>
        <p:nvSpPr>
          <p:cNvPr id="2210" name="Google Shape;2210;p104"/>
          <p:cNvSpPr txBox="1"/>
          <p:nvPr>
            <p:ph idx="4294967295" type="body"/>
          </p:nvPr>
        </p:nvSpPr>
        <p:spPr>
          <a:xfrm>
            <a:off x="3779775" y="3283173"/>
            <a:ext cx="1485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music club</a:t>
            </a:r>
            <a:endParaRPr sz="1800"/>
          </a:p>
        </p:txBody>
      </p:sp>
      <p:sp>
        <p:nvSpPr>
          <p:cNvPr id="2211" name="Google Shape;2211;p104"/>
          <p:cNvSpPr txBox="1"/>
          <p:nvPr>
            <p:ph idx="4294967295" type="body"/>
          </p:nvPr>
        </p:nvSpPr>
        <p:spPr>
          <a:xfrm>
            <a:off x="3804297" y="3713223"/>
            <a:ext cx="11859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no music club</a:t>
            </a:r>
            <a:endParaRPr sz="1800"/>
          </a:p>
        </p:txBody>
      </p:sp>
      <p:sp>
        <p:nvSpPr>
          <p:cNvPr id="2212" name="Google Shape;2212;p104"/>
          <p:cNvSpPr txBox="1"/>
          <p:nvPr>
            <p:ph idx="4294967295" type="body"/>
          </p:nvPr>
        </p:nvSpPr>
        <p:spPr>
          <a:xfrm>
            <a:off x="5631818" y="3301030"/>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2213" name="Google Shape;2213;p104"/>
          <p:cNvSpPr txBox="1"/>
          <p:nvPr>
            <p:ph idx="4294967295" type="body"/>
          </p:nvPr>
        </p:nvSpPr>
        <p:spPr>
          <a:xfrm>
            <a:off x="6832985" y="3301023"/>
            <a:ext cx="4050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4</a:t>
            </a:r>
            <a:endParaRPr sz="1800"/>
          </a:p>
        </p:txBody>
      </p:sp>
      <p:sp>
        <p:nvSpPr>
          <p:cNvPr id="2214" name="Google Shape;2214;p104"/>
          <p:cNvSpPr txBox="1"/>
          <p:nvPr>
            <p:ph idx="4294967295" type="body"/>
          </p:nvPr>
        </p:nvSpPr>
        <p:spPr>
          <a:xfrm>
            <a:off x="5631818" y="3863823"/>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2</a:t>
            </a:r>
            <a:endParaRPr sz="1800"/>
          </a:p>
        </p:txBody>
      </p:sp>
      <p:sp>
        <p:nvSpPr>
          <p:cNvPr id="2215" name="Google Shape;2215;p104"/>
          <p:cNvSpPr txBox="1"/>
          <p:nvPr>
            <p:ph idx="4294967295" type="body"/>
          </p:nvPr>
        </p:nvSpPr>
        <p:spPr>
          <a:xfrm>
            <a:off x="6832973" y="38638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a:t>
            </a:r>
            <a:endParaRPr sz="1800"/>
          </a:p>
        </p:txBody>
      </p:sp>
      <p:cxnSp>
        <p:nvCxnSpPr>
          <p:cNvPr id="2216" name="Google Shape;2216;p104"/>
          <p:cNvCxnSpPr/>
          <p:nvPr/>
        </p:nvCxnSpPr>
        <p:spPr>
          <a:xfrm rot="10800000">
            <a:off x="3789525" y="4735223"/>
            <a:ext cx="4583100" cy="0"/>
          </a:xfrm>
          <a:prstGeom prst="straightConnector1">
            <a:avLst/>
          </a:prstGeom>
          <a:noFill/>
          <a:ln cap="flat" cmpd="sng" w="38100">
            <a:solidFill>
              <a:schemeClr val="dk1"/>
            </a:solidFill>
            <a:prstDash val="solid"/>
            <a:round/>
            <a:headEnd len="med" w="med" type="none"/>
            <a:tailEnd len="med" w="med" type="none"/>
          </a:ln>
        </p:spPr>
      </p:cxnSp>
      <p:sp>
        <p:nvSpPr>
          <p:cNvPr id="2217" name="Google Shape;2217;p104"/>
          <p:cNvSpPr txBox="1"/>
          <p:nvPr>
            <p:ph idx="4294967295" type="body"/>
          </p:nvPr>
        </p:nvSpPr>
        <p:spPr>
          <a:xfrm>
            <a:off x="5616318" y="4392873"/>
            <a:ext cx="1668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2218" name="Google Shape;2218;p104"/>
          <p:cNvSpPr txBox="1"/>
          <p:nvPr>
            <p:ph idx="4294967295" type="body"/>
          </p:nvPr>
        </p:nvSpPr>
        <p:spPr>
          <a:xfrm>
            <a:off x="7763051" y="33010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7</a:t>
            </a:r>
            <a:endParaRPr sz="1800"/>
          </a:p>
        </p:txBody>
      </p:sp>
      <p:sp>
        <p:nvSpPr>
          <p:cNvPr id="2219" name="Google Shape;2219;p104"/>
          <p:cNvSpPr txBox="1"/>
          <p:nvPr>
            <p:ph idx="4294967295" type="body"/>
          </p:nvPr>
        </p:nvSpPr>
        <p:spPr>
          <a:xfrm>
            <a:off x="7730027" y="386382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3</a:t>
            </a:r>
            <a:endParaRPr sz="1800"/>
          </a:p>
        </p:txBody>
      </p:sp>
      <p:sp>
        <p:nvSpPr>
          <p:cNvPr id="2220" name="Google Shape;2220;p104"/>
          <p:cNvSpPr txBox="1"/>
          <p:nvPr>
            <p:ph idx="4294967295" type="body"/>
          </p:nvPr>
        </p:nvSpPr>
        <p:spPr>
          <a:xfrm>
            <a:off x="6832974" y="4392873"/>
            <a:ext cx="3594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5</a:t>
            </a:r>
            <a:endParaRPr sz="1800"/>
          </a:p>
        </p:txBody>
      </p:sp>
      <p:sp>
        <p:nvSpPr>
          <p:cNvPr id="2221" name="Google Shape;2221;p104"/>
          <p:cNvSpPr txBox="1"/>
          <p:nvPr>
            <p:ph idx="4294967295" type="body"/>
          </p:nvPr>
        </p:nvSpPr>
        <p:spPr>
          <a:xfrm>
            <a:off x="7685352" y="4392873"/>
            <a:ext cx="3081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a:t>
            </a:r>
            <a:endParaRPr sz="1800"/>
          </a:p>
        </p:txBody>
      </p:sp>
      <p:sp>
        <p:nvSpPr>
          <p:cNvPr id="2222" name="Google Shape;2222;p104"/>
          <p:cNvSpPr txBox="1"/>
          <p:nvPr>
            <p:ph idx="4294967295" type="body"/>
          </p:nvPr>
        </p:nvSpPr>
        <p:spPr>
          <a:xfrm>
            <a:off x="7666370" y="2869867"/>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sp>
        <p:nvSpPr>
          <p:cNvPr id="2223" name="Google Shape;2223;p104"/>
          <p:cNvSpPr txBox="1"/>
          <p:nvPr>
            <p:ph idx="4294967295" type="body"/>
          </p:nvPr>
        </p:nvSpPr>
        <p:spPr>
          <a:xfrm>
            <a:off x="4442095" y="4392867"/>
            <a:ext cx="852300" cy="30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total</a:t>
            </a:r>
            <a:endParaRPr sz="1800"/>
          </a:p>
        </p:txBody>
      </p:sp>
      <p:cxnSp>
        <p:nvCxnSpPr>
          <p:cNvPr id="2224" name="Google Shape;2224;p104"/>
          <p:cNvCxnSpPr/>
          <p:nvPr/>
        </p:nvCxnSpPr>
        <p:spPr>
          <a:xfrm>
            <a:off x="8353268" y="2561198"/>
            <a:ext cx="0" cy="2179200"/>
          </a:xfrm>
          <a:prstGeom prst="straightConnector1">
            <a:avLst/>
          </a:prstGeom>
          <a:noFill/>
          <a:ln cap="flat" cmpd="sng" w="38100">
            <a:solidFill>
              <a:schemeClr val="dk1"/>
            </a:solidFill>
            <a:prstDash val="solid"/>
            <a:round/>
            <a:headEnd len="med" w="med" type="none"/>
            <a:tailEnd len="med" w="med" type="none"/>
          </a:ln>
        </p:spPr>
      </p:cxnSp>
      <p:sp>
        <p:nvSpPr>
          <p:cNvPr id="2225" name="Google Shape;2225;p104"/>
          <p:cNvSpPr txBox="1"/>
          <p:nvPr>
            <p:ph idx="1" type="body"/>
          </p:nvPr>
        </p:nvSpPr>
        <p:spPr>
          <a:xfrm>
            <a:off x="3832500" y="1354105"/>
            <a:ext cx="42741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800"/>
              <a:t>a) Circle all the numbers in the table that include Izzy.</a:t>
            </a:r>
            <a:endParaRPr sz="1800"/>
          </a:p>
          <a:p>
            <a:pPr indent="0" lvl="0" marL="0" rtl="0" algn="l">
              <a:spcBef>
                <a:spcPts val="1000"/>
              </a:spcBef>
              <a:spcAft>
                <a:spcPts val="0"/>
              </a:spcAft>
              <a:buNone/>
            </a:pPr>
            <a:r>
              <a:rPr lang="en-GB" sz="1800"/>
              <a:t>b) Which clubs does Sofia do, if any?</a:t>
            </a:r>
            <a:endParaRPr sz="1800"/>
          </a:p>
          <a:p>
            <a:pPr indent="0" lvl="0" marL="0" rtl="0" algn="l">
              <a:spcBef>
                <a:spcPts val="1000"/>
              </a:spcBef>
              <a:spcAft>
                <a:spcPts val="1000"/>
              </a:spcAft>
              <a:buNone/>
            </a:pPr>
            <a:r>
              <a:t/>
            </a:r>
            <a:endParaRPr sz="1800"/>
          </a:p>
        </p:txBody>
      </p:sp>
      <p:pic>
        <p:nvPicPr>
          <p:cNvPr id="2226" name="Google Shape;2226;p104"/>
          <p:cNvPicPr preferRelativeResize="0"/>
          <p:nvPr/>
        </p:nvPicPr>
        <p:blipFill>
          <a:blip r:embed="rId3">
            <a:alphaModFix/>
          </a:blip>
          <a:stretch>
            <a:fillRect/>
          </a:stretch>
        </p:blipFill>
        <p:spPr>
          <a:xfrm>
            <a:off x="603859" y="2394726"/>
            <a:ext cx="264309" cy="330518"/>
          </a:xfrm>
          <a:prstGeom prst="rect">
            <a:avLst/>
          </a:prstGeom>
          <a:noFill/>
          <a:ln>
            <a:noFill/>
          </a:ln>
        </p:spPr>
      </p:pic>
      <p:pic>
        <p:nvPicPr>
          <p:cNvPr id="2227" name="Google Shape;2227;p104"/>
          <p:cNvPicPr preferRelativeResize="0"/>
          <p:nvPr/>
        </p:nvPicPr>
        <p:blipFill>
          <a:blip r:embed="rId4">
            <a:alphaModFix/>
          </a:blip>
          <a:stretch>
            <a:fillRect/>
          </a:stretch>
        </p:blipFill>
        <p:spPr>
          <a:xfrm>
            <a:off x="622717" y="789450"/>
            <a:ext cx="226571" cy="427821"/>
          </a:xfrm>
          <a:prstGeom prst="rect">
            <a:avLst/>
          </a:prstGeom>
          <a:noFill/>
          <a:ln>
            <a:noFill/>
          </a:ln>
        </p:spPr>
      </p:pic>
      <p:pic>
        <p:nvPicPr>
          <p:cNvPr id="2228" name="Google Shape;2228;p104"/>
          <p:cNvPicPr preferRelativeResize="0"/>
          <p:nvPr/>
        </p:nvPicPr>
        <p:blipFill>
          <a:blip r:embed="rId5">
            <a:alphaModFix/>
          </a:blip>
          <a:stretch>
            <a:fillRect/>
          </a:stretch>
        </p:blipFill>
        <p:spPr>
          <a:xfrm>
            <a:off x="590935" y="2766456"/>
            <a:ext cx="290166" cy="325715"/>
          </a:xfrm>
          <a:prstGeom prst="rect">
            <a:avLst/>
          </a:prstGeom>
          <a:noFill/>
          <a:ln>
            <a:noFill/>
          </a:ln>
        </p:spPr>
      </p:pic>
      <p:pic>
        <p:nvPicPr>
          <p:cNvPr id="2229" name="Google Shape;2229;p104"/>
          <p:cNvPicPr preferRelativeResize="0"/>
          <p:nvPr/>
        </p:nvPicPr>
        <p:blipFill>
          <a:blip r:embed="rId6">
            <a:alphaModFix/>
          </a:blip>
          <a:stretch>
            <a:fillRect/>
          </a:stretch>
        </p:blipFill>
        <p:spPr>
          <a:xfrm>
            <a:off x="589219" y="3161851"/>
            <a:ext cx="293596" cy="384527"/>
          </a:xfrm>
          <a:prstGeom prst="rect">
            <a:avLst/>
          </a:prstGeom>
          <a:noFill/>
          <a:ln>
            <a:noFill/>
          </a:ln>
        </p:spPr>
      </p:pic>
      <p:pic>
        <p:nvPicPr>
          <p:cNvPr id="2230" name="Google Shape;2230;p104"/>
          <p:cNvPicPr preferRelativeResize="0"/>
          <p:nvPr/>
        </p:nvPicPr>
        <p:blipFill>
          <a:blip r:embed="rId7">
            <a:alphaModFix/>
          </a:blip>
          <a:stretch>
            <a:fillRect/>
          </a:stretch>
        </p:blipFill>
        <p:spPr>
          <a:xfrm>
            <a:off x="639298" y="3568236"/>
            <a:ext cx="256592" cy="369502"/>
          </a:xfrm>
          <a:prstGeom prst="rect">
            <a:avLst/>
          </a:prstGeom>
          <a:noFill/>
          <a:ln>
            <a:noFill/>
          </a:ln>
        </p:spPr>
      </p:pic>
      <p:pic>
        <p:nvPicPr>
          <p:cNvPr id="2231" name="Google Shape;2231;p104"/>
          <p:cNvPicPr preferRelativeResize="0"/>
          <p:nvPr/>
        </p:nvPicPr>
        <p:blipFill>
          <a:blip r:embed="rId8">
            <a:alphaModFix/>
          </a:blip>
          <a:stretch>
            <a:fillRect/>
          </a:stretch>
        </p:blipFill>
        <p:spPr>
          <a:xfrm flipH="1">
            <a:off x="490301" y="1580248"/>
            <a:ext cx="404999" cy="391935"/>
          </a:xfrm>
          <a:prstGeom prst="rect">
            <a:avLst/>
          </a:prstGeom>
          <a:noFill/>
          <a:ln>
            <a:noFill/>
          </a:ln>
        </p:spPr>
      </p:pic>
      <p:pic>
        <p:nvPicPr>
          <p:cNvPr id="2232" name="Google Shape;2232;p104"/>
          <p:cNvPicPr preferRelativeResize="0"/>
          <p:nvPr/>
        </p:nvPicPr>
        <p:blipFill>
          <a:blip r:embed="rId9">
            <a:alphaModFix/>
          </a:blip>
          <a:stretch>
            <a:fillRect/>
          </a:stretch>
        </p:blipFill>
        <p:spPr>
          <a:xfrm flipH="1">
            <a:off x="549531" y="1201809"/>
            <a:ext cx="286544" cy="369495"/>
          </a:xfrm>
          <a:prstGeom prst="rect">
            <a:avLst/>
          </a:prstGeom>
          <a:noFill/>
          <a:ln>
            <a:noFill/>
          </a:ln>
        </p:spPr>
      </p:pic>
      <p:pic>
        <p:nvPicPr>
          <p:cNvPr id="2233" name="Google Shape;2233;p104"/>
          <p:cNvPicPr preferRelativeResize="0"/>
          <p:nvPr/>
        </p:nvPicPr>
        <p:blipFill>
          <a:blip r:embed="rId10">
            <a:alphaModFix/>
          </a:blip>
          <a:stretch>
            <a:fillRect/>
          </a:stretch>
        </p:blipFill>
        <p:spPr>
          <a:xfrm flipH="1">
            <a:off x="603861" y="2006083"/>
            <a:ext cx="264310" cy="325583"/>
          </a:xfrm>
          <a:prstGeom prst="rect">
            <a:avLst/>
          </a:prstGeom>
          <a:noFill/>
          <a:ln>
            <a:noFill/>
          </a:ln>
        </p:spPr>
      </p:pic>
      <p:pic>
        <p:nvPicPr>
          <p:cNvPr id="2234" name="Google Shape;2234;p104"/>
          <p:cNvPicPr preferRelativeResize="0"/>
          <p:nvPr/>
        </p:nvPicPr>
        <p:blipFill>
          <a:blip r:embed="rId11">
            <a:alphaModFix/>
          </a:blip>
          <a:stretch>
            <a:fillRect/>
          </a:stretch>
        </p:blipFill>
        <p:spPr>
          <a:xfrm flipH="1">
            <a:off x="594797" y="3994303"/>
            <a:ext cx="282422" cy="325709"/>
          </a:xfrm>
          <a:prstGeom prst="rect">
            <a:avLst/>
          </a:prstGeom>
          <a:noFill/>
          <a:ln>
            <a:noFill/>
          </a:ln>
        </p:spPr>
      </p:pic>
      <p:pic>
        <p:nvPicPr>
          <p:cNvPr id="2235" name="Google Shape;2235;p104"/>
          <p:cNvPicPr preferRelativeResize="0"/>
          <p:nvPr/>
        </p:nvPicPr>
        <p:blipFill>
          <a:blip r:embed="rId12">
            <a:alphaModFix/>
          </a:blip>
          <a:stretch>
            <a:fillRect/>
          </a:stretch>
        </p:blipFill>
        <p:spPr>
          <a:xfrm flipH="1">
            <a:off x="620792" y="4376547"/>
            <a:ext cx="293599" cy="325707"/>
          </a:xfrm>
          <a:prstGeom prst="rect">
            <a:avLst/>
          </a:prstGeom>
          <a:noFill/>
          <a:ln>
            <a:noFill/>
          </a:ln>
        </p:spPr>
      </p:pic>
      <p:graphicFrame>
        <p:nvGraphicFramePr>
          <p:cNvPr id="2236" name="Google Shape;2236;p104"/>
          <p:cNvGraphicFramePr/>
          <p:nvPr/>
        </p:nvGraphicFramePr>
        <p:xfrm>
          <a:off x="914400" y="789450"/>
          <a:ext cx="3000000" cy="3000000"/>
        </p:xfrm>
        <a:graphic>
          <a:graphicData uri="http://schemas.openxmlformats.org/drawingml/2006/table">
            <a:tbl>
              <a:tblPr>
                <a:noFill/>
                <a:tableStyleId>{982AFBFC-D9C8-48DC-B392-D28179C21DEB}</a:tableStyleId>
              </a:tblPr>
              <a:tblGrid>
                <a:gridCol w="948775"/>
                <a:gridCol w="845250"/>
                <a:gridCol w="865950"/>
              </a:tblGrid>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Aisha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Andeep</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Izzy</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Jacob</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Jun</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Lucas</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Laura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Sam</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Music</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Sport</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395400">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Sofia</a:t>
                      </a:r>
                      <a:endParaRPr sz="1800">
                        <a:latin typeface="Lexend"/>
                        <a:ea typeface="Lexend"/>
                        <a:cs typeface="Lexend"/>
                        <a:sym typeface="Lexend"/>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rPr lang="en-GB"/>
                        <a:t> </a:t>
                      </a:r>
                      <a:r>
                        <a:rPr lang="en-GB" sz="1900">
                          <a:latin typeface="Kalam"/>
                          <a:ea typeface="Kalam"/>
                          <a:cs typeface="Kalam"/>
                          <a:sym typeface="Kalam"/>
                        </a:rPr>
                        <a:t>Music</a:t>
                      </a:r>
                      <a:endParaRPr sz="1900">
                        <a:latin typeface="Kalam"/>
                        <a:ea typeface="Kalam"/>
                        <a:cs typeface="Kalam"/>
                        <a:sym typeface="Kalam"/>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rtl="0" algn="ctr">
                        <a:spcBef>
                          <a:spcPts val="0"/>
                        </a:spcBef>
                        <a:spcAft>
                          <a:spcPts val="0"/>
                        </a:spcAft>
                        <a:buNone/>
                      </a:pPr>
                      <a:r>
                        <a:t/>
                      </a:r>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2237" name="Google Shape;2237;p104"/>
          <p:cNvSpPr txBox="1"/>
          <p:nvPr>
            <p:ph idx="1" type="body"/>
          </p:nvPr>
        </p:nvSpPr>
        <p:spPr>
          <a:xfrm>
            <a:off x="3798600" y="691084"/>
            <a:ext cx="50214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10 pupils have been asked about whether they are members of a sports or music club.</a:t>
            </a:r>
            <a:endParaRPr sz="1800"/>
          </a:p>
        </p:txBody>
      </p:sp>
      <p:sp>
        <p:nvSpPr>
          <p:cNvPr id="2238" name="Google Shape;2238;p104"/>
          <p:cNvSpPr/>
          <p:nvPr/>
        </p:nvSpPr>
        <p:spPr>
          <a:xfrm>
            <a:off x="6657911" y="3783720"/>
            <a:ext cx="477600" cy="495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39" name="Google Shape;2239;p104"/>
          <p:cNvSpPr/>
          <p:nvPr/>
        </p:nvSpPr>
        <p:spPr>
          <a:xfrm>
            <a:off x="6657911" y="4291745"/>
            <a:ext cx="477600" cy="495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40" name="Google Shape;2240;p104"/>
          <p:cNvSpPr/>
          <p:nvPr/>
        </p:nvSpPr>
        <p:spPr>
          <a:xfrm>
            <a:off x="7581799" y="3752445"/>
            <a:ext cx="477600" cy="495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41" name="Google Shape;2241;p104"/>
          <p:cNvSpPr/>
          <p:nvPr/>
        </p:nvSpPr>
        <p:spPr>
          <a:xfrm>
            <a:off x="7581799" y="4285845"/>
            <a:ext cx="477600" cy="495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5" name="Shape 2245"/>
        <p:cNvGrpSpPr/>
        <p:nvPr/>
      </p:nvGrpSpPr>
      <p:grpSpPr>
        <a:xfrm>
          <a:off x="0" y="0"/>
          <a:ext cx="0" cy="0"/>
          <a:chOff x="0" y="0"/>
          <a:chExt cx="0" cy="0"/>
        </a:xfrm>
      </p:grpSpPr>
      <p:sp>
        <p:nvSpPr>
          <p:cNvPr id="2246" name="Google Shape;2246;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Frequency in a two-way table</a:t>
            </a:r>
            <a:endParaRPr/>
          </a:p>
        </p:txBody>
      </p:sp>
      <p:sp>
        <p:nvSpPr>
          <p:cNvPr id="2247" name="Google Shape;2247;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3) </a:t>
            </a:r>
            <a:endParaRPr sz="2000"/>
          </a:p>
          <a:p>
            <a:pPr indent="0" lvl="0" marL="0" rtl="0" algn="l">
              <a:spcBef>
                <a:spcPts val="1000"/>
              </a:spcBef>
              <a:spcAft>
                <a:spcPts val="1000"/>
              </a:spcAft>
              <a:buNone/>
            </a:pPr>
            <a:r>
              <a:t/>
            </a:r>
            <a:endParaRPr sz="2000"/>
          </a:p>
        </p:txBody>
      </p:sp>
      <p:sp>
        <p:nvSpPr>
          <p:cNvPr id="2248" name="Google Shape;2248;p105"/>
          <p:cNvSpPr txBox="1"/>
          <p:nvPr>
            <p:ph idx="1" type="body"/>
          </p:nvPr>
        </p:nvSpPr>
        <p:spPr>
          <a:xfrm>
            <a:off x="324000" y="1142100"/>
            <a:ext cx="3081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a:t>
            </a:r>
            <a:endParaRPr sz="2000"/>
          </a:p>
        </p:txBody>
      </p:sp>
      <p:sp>
        <p:nvSpPr>
          <p:cNvPr id="2249" name="Google Shape;2249;p105"/>
          <p:cNvSpPr txBox="1"/>
          <p:nvPr>
            <p:ph idx="1" type="body"/>
          </p:nvPr>
        </p:nvSpPr>
        <p:spPr>
          <a:xfrm>
            <a:off x="631550" y="759300"/>
            <a:ext cx="8188500" cy="382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Fill the missing boxes on each of these two-way tables.</a:t>
            </a:r>
            <a:endParaRPr sz="2000"/>
          </a:p>
        </p:txBody>
      </p:sp>
      <p:sp>
        <p:nvSpPr>
          <p:cNvPr id="2250" name="Google Shape;2250;p105"/>
          <p:cNvSpPr txBox="1"/>
          <p:nvPr>
            <p:ph idx="1" type="body"/>
          </p:nvPr>
        </p:nvSpPr>
        <p:spPr>
          <a:xfrm>
            <a:off x="4397250" y="1142100"/>
            <a:ext cx="3081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b) </a:t>
            </a:r>
            <a:endParaRPr sz="2000"/>
          </a:p>
          <a:p>
            <a:pPr indent="0" lvl="0" marL="0" rtl="0" algn="l">
              <a:spcBef>
                <a:spcPts val="1000"/>
              </a:spcBef>
              <a:spcAft>
                <a:spcPts val="1000"/>
              </a:spcAft>
              <a:buNone/>
            </a:pPr>
            <a:r>
              <a:t/>
            </a:r>
            <a:endParaRPr sz="2000"/>
          </a:p>
        </p:txBody>
      </p:sp>
      <p:graphicFrame>
        <p:nvGraphicFramePr>
          <p:cNvPr id="2251" name="Google Shape;2251;p105"/>
          <p:cNvGraphicFramePr/>
          <p:nvPr/>
        </p:nvGraphicFramePr>
        <p:xfrm>
          <a:off x="304800" y="1158525"/>
          <a:ext cx="3000000" cy="3000000"/>
        </p:xfrm>
        <a:graphic>
          <a:graphicData uri="http://schemas.openxmlformats.org/drawingml/2006/table">
            <a:tbl>
              <a:tblPr>
                <a:noFill/>
                <a:tableStyleId>{982AFBFC-D9C8-48DC-B392-D28179C21DEB}</a:tableStyleId>
              </a:tblPr>
              <a:tblGrid>
                <a:gridCol w="911650"/>
                <a:gridCol w="1189725"/>
                <a:gridCol w="1119600"/>
                <a:gridCol w="680900"/>
              </a:tblGrid>
              <a:tr h="619125">
                <a:tc>
                  <a:txBody>
                    <a:bodyPr/>
                    <a:lstStyle/>
                    <a:p>
                      <a:pPr indent="0" lvl="0" marL="0" rtl="0" algn="l">
                        <a:spcBef>
                          <a:spcPts val="0"/>
                        </a:spcBef>
                        <a:spcAft>
                          <a:spcPts val="0"/>
                        </a:spcAft>
                        <a:buNone/>
                      </a:pPr>
                      <a:r>
                        <a:t/>
                      </a:r>
                      <a:endParaRPr/>
                    </a:p>
                  </a:txBody>
                  <a:tcPr marT="19050" marB="19050" marR="28575" marL="28575" anchor="b">
                    <a:lnL cap="flat" cmpd="sng" w="9525">
                      <a:solidFill>
                        <a:srgbClr val="EBEDFE"/>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1st attempt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2nd attempt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pass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12</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10</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22</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fail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16</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22</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28</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16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44</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graphicFrame>
        <p:nvGraphicFramePr>
          <p:cNvPr id="2252" name="Google Shape;2252;p105"/>
          <p:cNvGraphicFramePr/>
          <p:nvPr/>
        </p:nvGraphicFramePr>
        <p:xfrm>
          <a:off x="4705350" y="1191375"/>
          <a:ext cx="3000000" cy="3000000"/>
        </p:xfrm>
        <a:graphic>
          <a:graphicData uri="http://schemas.openxmlformats.org/drawingml/2006/table">
            <a:tbl>
              <a:tblPr>
                <a:noFill/>
                <a:tableStyleId>{982AFBFC-D9C8-48DC-B392-D28179C21DEB}</a:tableStyleId>
              </a:tblPr>
              <a:tblGrid>
                <a:gridCol w="952500"/>
                <a:gridCol w="1104900"/>
                <a:gridCol w="1066800"/>
                <a:gridCol w="952500"/>
              </a:tblGrid>
              <a:tr h="333375">
                <a:tc>
                  <a:txBody>
                    <a:bodyPr/>
                    <a:lstStyle/>
                    <a:p>
                      <a:pPr indent="0" lvl="0" marL="0" rtl="0" algn="l">
                        <a:spcBef>
                          <a:spcPts val="0"/>
                        </a:spcBef>
                        <a:spcAft>
                          <a:spcPts val="0"/>
                        </a:spcAft>
                        <a:buNone/>
                      </a:pPr>
                      <a:r>
                        <a:t/>
                      </a:r>
                      <a:endParaRPr/>
                    </a:p>
                  </a:txBody>
                  <a:tcPr marT="19050" marB="19050" marR="28575" marL="28575" anchor="b">
                    <a:lnL cap="flat" cmpd="sng" w="9525">
                      <a:solidFill>
                        <a:srgbClr val="EBEDFE"/>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child</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adult</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EBEDFE"/>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goggles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18</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5</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23</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no goggles</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9</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31</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40</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33375">
                <a:tc>
                  <a:txBody>
                    <a:bodyPr/>
                    <a:lstStyle/>
                    <a:p>
                      <a:pPr indent="0" lvl="0" marL="0" rtl="0" algn="l">
                        <a:lnSpc>
                          <a:spcPct val="115000"/>
                        </a:lnSpc>
                        <a:spcBef>
                          <a:spcPts val="0"/>
                        </a:spcBef>
                        <a:spcAft>
                          <a:spcPts val="0"/>
                        </a:spcAft>
                        <a:buNone/>
                      </a:pPr>
                      <a:r>
                        <a:rPr lang="en-GB" sz="1800">
                          <a:latin typeface="Lexend"/>
                          <a:ea typeface="Lexend"/>
                          <a:cs typeface="Lexend"/>
                          <a:sym typeface="Lexend"/>
                        </a:rPr>
                        <a:t>total</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2000">
                          <a:latin typeface="Kalam"/>
                          <a:ea typeface="Kalam"/>
                          <a:cs typeface="Kalam"/>
                          <a:sym typeface="Kalam"/>
                        </a:rPr>
                        <a:t>27</a:t>
                      </a:r>
                      <a:endParaRPr sz="2000">
                        <a:latin typeface="Kalam"/>
                        <a:ea typeface="Kalam"/>
                        <a:cs typeface="Kalam"/>
                        <a:sym typeface="Kalam"/>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36</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GB" sz="1800">
                          <a:latin typeface="Lexend"/>
                          <a:ea typeface="Lexend"/>
                          <a:cs typeface="Lexend"/>
                          <a:sym typeface="Lexend"/>
                        </a:rPr>
                        <a:t>63</a:t>
                      </a:r>
                      <a:endParaRPr sz="1800">
                        <a:latin typeface="Lexend"/>
                        <a:ea typeface="Lexend"/>
                        <a:cs typeface="Lexend"/>
                        <a:sym typeface="Lexend"/>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6" name="Shape 2256"/>
        <p:cNvGrpSpPr/>
        <p:nvPr/>
      </p:nvGrpSpPr>
      <p:grpSpPr>
        <a:xfrm>
          <a:off x="0" y="0"/>
          <a:ext cx="0" cy="0"/>
          <a:chOff x="0" y="0"/>
          <a:chExt cx="0" cy="0"/>
        </a:xfrm>
      </p:grpSpPr>
      <p:sp>
        <p:nvSpPr>
          <p:cNvPr id="2257" name="Google Shape;2257;p10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Outcomes can be listed in an </a:t>
            </a:r>
            <a:r>
              <a:rPr b="1" lang="en-GB" sz="2000"/>
              <a:t>outcome table</a:t>
            </a:r>
            <a:r>
              <a:rPr lang="en-GB" sz="2000"/>
              <a:t>.</a:t>
            </a:r>
            <a:endParaRPr sz="2000"/>
          </a:p>
          <a:p>
            <a:pPr indent="0" lvl="0" marL="0" rtl="0" algn="l">
              <a:spcBef>
                <a:spcPts val="1000"/>
              </a:spcBef>
              <a:spcAft>
                <a:spcPts val="0"/>
              </a:spcAft>
              <a:buNone/>
            </a:pPr>
            <a:r>
              <a:rPr lang="en-GB" sz="2000"/>
              <a:t>For a two-stage trial, one stage is the columns the other the rows. The sample space is the outcomes shown within the grid. It is a systematic way to construct a sample space.</a:t>
            </a:r>
            <a:endParaRPr sz="2000"/>
          </a:p>
          <a:p>
            <a:pPr indent="0" lvl="0" marL="0" rtl="0" algn="l">
              <a:spcBef>
                <a:spcPts val="1000"/>
              </a:spcBef>
              <a:spcAft>
                <a:spcPts val="0"/>
              </a:spcAft>
              <a:buNone/>
            </a:pPr>
            <a:r>
              <a:rPr lang="en-GB" sz="2000"/>
              <a:t>For two events from a trial, the sample space can be categorised by the events.</a:t>
            </a:r>
            <a:endParaRPr sz="2000"/>
          </a:p>
          <a:p>
            <a:pPr indent="0" lvl="0" marL="0" rtl="0" algn="l">
              <a:spcBef>
                <a:spcPts val="1000"/>
              </a:spcBef>
              <a:spcAft>
                <a:spcPts val="1000"/>
              </a:spcAft>
              <a:buNone/>
            </a:pPr>
            <a:r>
              <a:rPr lang="en-GB" sz="2000"/>
              <a:t>When frequencies are shown in a two way table it is possible to find missing values using totals for columns and rows.</a:t>
            </a:r>
            <a:endParaRPr sz="2000"/>
          </a:p>
        </p:txBody>
      </p:sp>
      <p:sp>
        <p:nvSpPr>
          <p:cNvPr id="2258" name="Google Shape;2258;p106"/>
          <p:cNvSpPr txBox="1"/>
          <p:nvPr>
            <p:ph type="title"/>
          </p:nvPr>
        </p:nvSpPr>
        <p:spPr>
          <a:xfrm>
            <a:off x="1684800" y="43825"/>
            <a:ext cx="5741400" cy="694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Using two-way tables to display outcomes for two events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2" name="Shape 2262"/>
        <p:cNvGrpSpPr/>
        <p:nvPr/>
      </p:nvGrpSpPr>
      <p:grpSpPr>
        <a:xfrm>
          <a:off x="0" y="0"/>
          <a:ext cx="0" cy="0"/>
          <a:chOff x="0" y="0"/>
          <a:chExt cx="0" cy="0"/>
        </a:xfrm>
      </p:grpSpPr>
      <p:sp>
        <p:nvSpPr>
          <p:cNvPr id="2263" name="Google Shape;2263;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264" name="Google Shape;2264;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