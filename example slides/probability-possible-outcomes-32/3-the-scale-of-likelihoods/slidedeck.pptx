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/>
  <p:notesSz cx="6858000" cy="9144000"/>
  <p:embeddedFontLst>
    <p:embeddedFont>
      <p:font typeface="Lexend" panose="00000000000000000000"/>
      <p:regular r:id="rId44"/>
    </p:embeddedFont>
    <p:embeddedFont>
      <p:font typeface="Lexend Medium" panose="00000000000000000000"/>
      <p:regular r:id="rId45"/>
    </p:embeddedFont>
    <p:embeddedFont>
      <p:font typeface="Kalam" panose="02000000000000000000"/>
      <p:regular r:id="rId46"/>
    </p:embeddedFont>
    <p:embeddedFont>
      <p:font typeface="Lexend Light" panose="00000000000000000000"/>
      <p:regular r:id="rId47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tags" Target="tags/tag1.xml" /><Relationship Id="rId44" Type="http://schemas.openxmlformats.org/officeDocument/2006/relationships/font" Target="fonts/font1.fntdata" /><Relationship Id="rId45" Type="http://schemas.openxmlformats.org/officeDocument/2006/relationships/font" Target="fonts/font2.fntdata" /><Relationship Id="rId46" Type="http://schemas.openxmlformats.org/officeDocument/2006/relationships/font" Target="fonts/font3.fntdata" /><Relationship Id="rId47" Type="http://schemas.openxmlformats.org/officeDocument/2006/relationships/font" Target="fonts/font4.fntdata" /><Relationship Id="rId48" Type="http://schemas.openxmlformats.org/officeDocument/2006/relationships/presProps" Target="presProps.xml" /><Relationship Id="rId49" Type="http://schemas.openxmlformats.org/officeDocument/2006/relationships/viewProps" Target="viewProps.xml" /><Relationship Id="rId5" Type="http://schemas.openxmlformats.org/officeDocument/2006/relationships/slide" Target="slides/slide3.xml" /><Relationship Id="rId50" Type="http://schemas.openxmlformats.org/officeDocument/2006/relationships/theme" Target="theme/theme1.xml" /><Relationship Id="rId51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1efb5cde2a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efb5cde2a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1efb5cde2a3_0_7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efb5cde2a3_0_7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1efb5cde2a3_0_15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fb5cde2a3_0_15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b50e88d6ee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50e88d6ee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2" name="Shape 792"/>
        <p:cNvGrpSpPr/>
        <p:nvPr/>
      </p:nvGrpSpPr>
      <p:grpSpPr>
        <a:xfrm>
          <a:off x="0" y="0"/>
          <a:ext cx="0" cy="0"/>
        </a:xfrm>
      </p:grpSpPr>
      <p:sp>
        <p:nvSpPr>
          <p:cNvPr id="793" name="Google Shape;793;g2b50e88d6ee_0_7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b50e88d6ee_0_7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g2b50e88d6ee_0_1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b50e88d6ee_0_1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sp>
        <p:nvSpPr>
          <p:cNvPr id="835" name="Google Shape;835;g2b50e88d6ee_0_2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b50e88d6ee_0_2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g2b50e88d6ee_0_2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b50e88d6ee_0_2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2" name="Shape 912"/>
        <p:cNvGrpSpPr/>
        <p:nvPr/>
      </p:nvGrpSpPr>
      <p:grpSpPr>
        <a:xfrm>
          <a:off x="0" y="0"/>
          <a:ext cx="0" cy="0"/>
        </a:xfrm>
      </p:grpSpPr>
      <p:sp>
        <p:nvSpPr>
          <p:cNvPr id="913" name="Google Shape;913;g2b50e88d6ee_0_3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b50e88d6ee_0_3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sp>
        <p:nvSpPr>
          <p:cNvPr id="967" name="Google Shape;967;g2b5306e807f_0_2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b5306e807f_0_2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8" name="Shape 998"/>
        <p:cNvGrpSpPr/>
        <p:nvPr/>
      </p:nvGrpSpPr>
      <p:grpSpPr>
        <a:xfrm>
          <a:off x="0" y="0"/>
          <a:ext cx="0" cy="0"/>
        </a:xfrm>
      </p:grpSpPr>
      <p:sp>
        <p:nvSpPr>
          <p:cNvPr id="999" name="Google Shape;999;g2b5306e807f_0_3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b5306e807f_0_3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6" name="Shape 1026"/>
        <p:cNvGrpSpPr/>
        <p:nvPr/>
      </p:nvGrpSpPr>
      <p:grpSpPr>
        <a:xfrm>
          <a:off x="0" y="0"/>
          <a:ext cx="0" cy="0"/>
        </a:xfrm>
      </p:grpSpPr>
      <p:sp>
        <p:nvSpPr>
          <p:cNvPr id="1027" name="Google Shape;1027;g2b50e88d6ee_0_7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b50e88d6ee_0_7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5" name="Shape 1055"/>
        <p:cNvGrpSpPr/>
        <p:nvPr/>
      </p:nvGrpSpPr>
      <p:grpSpPr>
        <a:xfrm>
          <a:off x="0" y="0"/>
          <a:ext cx="0" cy="0"/>
        </a:xfrm>
      </p:grpSpPr>
      <p:sp>
        <p:nvSpPr>
          <p:cNvPr id="1056" name="Google Shape;1056;g2b50e88d6ee_0_8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b50e88d6ee_0_8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3" name="Shape 1083"/>
        <p:cNvGrpSpPr/>
        <p:nvPr/>
      </p:nvGrpSpPr>
      <p:grpSpPr>
        <a:xfrm>
          <a:off x="0" y="0"/>
          <a:ext cx="0" cy="0"/>
        </a:xfrm>
      </p:grpSpPr>
      <p:sp>
        <p:nvSpPr>
          <p:cNvPr id="1084" name="Google Shape;1084;g2b50e88d6ee_0_9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b50e88d6ee_0_9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8" name="Shape 1118"/>
        <p:cNvGrpSpPr/>
        <p:nvPr/>
      </p:nvGrpSpPr>
      <p:grpSpPr>
        <a:xfrm>
          <a:off x="0" y="0"/>
          <a:ext cx="0" cy="0"/>
        </a:xfrm>
      </p:grpSpPr>
      <p:sp>
        <p:nvSpPr>
          <p:cNvPr id="1119" name="Google Shape;1119;g2b50e88d6ee_0_9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b50e88d6ee_0_9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g2b50e88d6ee_0_10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b50e88d6ee_0_10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6" name="Shape 1186"/>
        <p:cNvGrpSpPr/>
        <p:nvPr/>
      </p:nvGrpSpPr>
      <p:grpSpPr>
        <a:xfrm>
          <a:off x="0" y="0"/>
          <a:ext cx="0" cy="0"/>
        </a:xfrm>
      </p:grpSpPr>
      <p:sp>
        <p:nvSpPr>
          <p:cNvPr id="1187" name="Google Shape;1187;g2b5306e807f_0_1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b5306e807f_0_1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8" name="Shape 1208"/>
        <p:cNvGrpSpPr/>
        <p:nvPr/>
      </p:nvGrpSpPr>
      <p:grpSpPr>
        <a:xfrm>
          <a:off x="0" y="0"/>
          <a:ext cx="0" cy="0"/>
        </a:xfrm>
      </p:grpSpPr>
      <p:sp>
        <p:nvSpPr>
          <p:cNvPr id="1209" name="Google Shape;1209;g2b5306e807f_0_1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b5306e807f_0_1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g2b569ee7fcc_0_1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b569ee7fcc_0_1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4" name="Shape 1364"/>
        <p:cNvGrpSpPr/>
        <p:nvPr/>
      </p:nvGrpSpPr>
      <p:grpSpPr>
        <a:xfrm>
          <a:off x="0" y="0"/>
          <a:ext cx="0" cy="0"/>
        </a:xfrm>
      </p:grpSpPr>
      <p:sp>
        <p:nvSpPr>
          <p:cNvPr id="1365" name="Google Shape;1365;g2b569ee7fcc_0_6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b569ee7fcc_0_6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8" name="Shape 1398"/>
        <p:cNvGrpSpPr/>
        <p:nvPr/>
      </p:nvGrpSpPr>
      <p:grpSpPr>
        <a:xfrm>
          <a:off x="0" y="0"/>
          <a:ext cx="0" cy="0"/>
        </a:xfrm>
      </p:grpSpPr>
      <p:sp>
        <p:nvSpPr>
          <p:cNvPr id="1399" name="Google Shape;1399;g2b569ee7fcc_0_3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b569ee7fcc_0_3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sp>
        <p:nvSpPr>
          <p:cNvPr id="1542" name="Google Shape;1542;g2b569ee7fcc_0_6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b569ee7fcc_0_6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0" name="Shape 1580"/>
        <p:cNvGrpSpPr/>
        <p:nvPr/>
      </p:nvGrpSpPr>
      <p:grpSpPr>
        <a:xfrm>
          <a:off x="0" y="0"/>
          <a:ext cx="0" cy="0"/>
        </a:xfrm>
      </p:grpSpPr>
      <p:sp>
        <p:nvSpPr>
          <p:cNvPr id="1581" name="Google Shape;1581;g2b5306e807f_0_2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2b5306e807f_0_2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8" name="Shape 1588"/>
        <p:cNvGrpSpPr/>
        <p:nvPr/>
      </p:nvGrpSpPr>
      <p:grpSpPr>
        <a:xfrm>
          <a:off x="0" y="0"/>
          <a:ext cx="0" cy="0"/>
        </a:xfrm>
      </p:grpSpPr>
      <p:sp>
        <p:nvSpPr>
          <p:cNvPr id="1589" name="Google Shape;1589;g2b50e88d6ee_0_5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b50e88d6ee_0_5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0" name="Shape 1650"/>
        <p:cNvGrpSpPr/>
        <p:nvPr/>
      </p:nvGrpSpPr>
      <p:grpSpPr>
        <a:xfrm>
          <a:off x="0" y="0"/>
          <a:ext cx="0" cy="0"/>
        </a:xfrm>
      </p:grpSpPr>
      <p:sp>
        <p:nvSpPr>
          <p:cNvPr id="1651" name="Google Shape;1651;g2b50e88d6ee_0_6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b50e88d6ee_0_6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6" name="Shape 1736"/>
        <p:cNvGrpSpPr/>
        <p:nvPr/>
      </p:nvGrpSpPr>
      <p:grpSpPr>
        <a:xfrm>
          <a:off x="0" y="0"/>
          <a:ext cx="0" cy="0"/>
        </a:xfrm>
      </p:grpSpPr>
      <p:sp>
        <p:nvSpPr>
          <p:cNvPr id="1737" name="Google Shape;1737;g2b50e88d6ee_3_3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b50e88d6ee_3_3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9" name="Shape 1779"/>
        <p:cNvGrpSpPr/>
        <p:nvPr/>
      </p:nvGrpSpPr>
      <p:grpSpPr>
        <a:xfrm>
          <a:off x="0" y="0"/>
          <a:ext cx="0" cy="0"/>
        </a:xfrm>
      </p:grpSpPr>
      <p:sp>
        <p:nvSpPr>
          <p:cNvPr id="1780" name="Google Shape;1780;g2b5306e807f_0_3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2b5306e807f_0_3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8" name="Shape 1808"/>
        <p:cNvGrpSpPr/>
        <p:nvPr/>
      </p:nvGrpSpPr>
      <p:grpSpPr>
        <a:xfrm>
          <a:off x="0" y="0"/>
          <a:ext cx="0" cy="0"/>
        </a:xfrm>
      </p:grpSpPr>
      <p:sp>
        <p:nvSpPr>
          <p:cNvPr id="1809" name="Google Shape;1809;g2b50e88d6ee_3_2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2b50e88d6ee_3_2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9" name="Shape 1839"/>
        <p:cNvGrpSpPr/>
        <p:nvPr/>
      </p:nvGrpSpPr>
      <p:grpSpPr>
        <a:xfrm>
          <a:off x="0" y="0"/>
          <a:ext cx="0" cy="0"/>
        </a:xfrm>
      </p:grpSpPr>
      <p:sp>
        <p:nvSpPr>
          <p:cNvPr id="1840" name="Google Shape;1840;g2b50e88d6ee_3_3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2b50e88d6ee_3_3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8" name="Shape 1868"/>
        <p:cNvGrpSpPr/>
        <p:nvPr/>
      </p:nvGrpSpPr>
      <p:grpSpPr>
        <a:xfrm>
          <a:off x="0" y="0"/>
          <a:ext cx="0" cy="0"/>
        </a:xfrm>
      </p:grpSpPr>
      <p:sp>
        <p:nvSpPr>
          <p:cNvPr id="1869" name="Google Shape;1869;g2b5306e807f_0_1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b5306e807f_0_1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7" name="Shape 1897"/>
        <p:cNvGrpSpPr/>
        <p:nvPr/>
      </p:nvGrpSpPr>
      <p:grpSpPr>
        <a:xfrm>
          <a:off x="0" y="0"/>
          <a:ext cx="0" cy="0"/>
        </a:xfrm>
      </p:grpSpPr>
      <p:sp>
        <p:nvSpPr>
          <p:cNvPr id="1898" name="Google Shape;1898;g2b5306e807f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b5306e807f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2" name="Shape 1922"/>
        <p:cNvGrpSpPr/>
        <p:nvPr/>
      </p:nvGrpSpPr>
      <p:grpSpPr>
        <a:xfrm>
          <a:off x="0" y="0"/>
          <a:ext cx="0" cy="0"/>
        </a:xfrm>
      </p:grpSpPr>
      <p:sp>
        <p:nvSpPr>
          <p:cNvPr id="1923" name="Google Shape;1923;g2b5306e807f_0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b5306e807f_0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7" name="Shape 1947"/>
        <p:cNvGrpSpPr/>
        <p:nvPr/>
      </p:nvGrpSpPr>
      <p:grpSpPr>
        <a:xfrm>
          <a:off x="0" y="0"/>
          <a:ext cx="0" cy="0"/>
        </a:xfrm>
      </p:grpSpPr>
      <p:sp>
        <p:nvSpPr>
          <p:cNvPr id="1948" name="Google Shape;1948;g2b5306e807f_0_2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2b5306e807f_0_2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1" name="Shape 2001"/>
        <p:cNvGrpSpPr/>
        <p:nvPr/>
      </p:nvGrpSpPr>
      <p:grpSpPr>
        <a:xfrm>
          <a:off x="0" y="0"/>
          <a:ext cx="0" cy="0"/>
        </a:xfrm>
      </p:grpSpPr>
      <p:sp>
        <p:nvSpPr>
          <p:cNvPr id="2002" name="Google Shape;2002;g2b569ee7fcc_0_7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b569ee7fcc_0_7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3" name="Shape 2063"/>
        <p:cNvGrpSpPr/>
        <p:nvPr/>
      </p:nvGrpSpPr>
      <p:grpSpPr>
        <a:xfrm>
          <a:off x="0" y="0"/>
          <a:ext cx="0" cy="0"/>
        </a:xfrm>
      </p:grpSpPr>
      <p:sp>
        <p:nvSpPr>
          <p:cNvPr id="2064" name="Google Shape;2064;g2b569ee7fcc_0_8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2b569ee7fcc_0_8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2" name="Shape 2122"/>
        <p:cNvGrpSpPr/>
        <p:nvPr/>
      </p:nvGrpSpPr>
      <p:grpSpPr>
        <a:xfrm>
          <a:off x="0" y="0"/>
          <a:ext cx="0" cy="0"/>
        </a:xfrm>
      </p:grpSpPr>
      <p:sp>
        <p:nvSpPr>
          <p:cNvPr id="2123" name="Google Shape;2123;g2b569ee7fcc_0_9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b569ee7fcc_0_9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8" name="Shape 2188"/>
        <p:cNvGrpSpPr/>
        <p:nvPr/>
      </p:nvGrpSpPr>
      <p:grpSpPr>
        <a:xfrm>
          <a:off x="0" y="0"/>
          <a:ext cx="0" cy="0"/>
        </a:xfrm>
      </p:grpSpPr>
      <p:sp>
        <p:nvSpPr>
          <p:cNvPr id="2189" name="Google Shape;218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4" name="Shape 2194"/>
        <p:cNvGrpSpPr/>
        <p:nvPr/>
      </p:nvGrpSpPr>
      <p:grpSpPr>
        <a:xfrm>
          <a:off x="0" y="0"/>
          <a:ext cx="0" cy="0"/>
        </a:xfrm>
      </p:grpSpPr>
      <p:sp>
        <p:nvSpPr>
          <p:cNvPr id="2195" name="Google Shape;219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3.png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50.png" /><Relationship Id="rId8" Type="http://schemas.openxmlformats.org/officeDocument/2006/relationships/image" Target="../media/image51.png" /><Relationship Id="rId9" Type="http://schemas.openxmlformats.org/officeDocument/2006/relationships/image" Target="../media/image52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4.png" /><Relationship Id="rId11" Type="http://schemas.openxmlformats.org/officeDocument/2006/relationships/image" Target="../media/image55.png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51.png" /><Relationship Id="rId8" Type="http://schemas.openxmlformats.org/officeDocument/2006/relationships/image" Target="../media/image52.png" /><Relationship Id="rId9" Type="http://schemas.openxmlformats.org/officeDocument/2006/relationships/image" Target="../media/image4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4.png" /><Relationship Id="rId11" Type="http://schemas.openxmlformats.org/officeDocument/2006/relationships/image" Target="../media/image56.png" /><Relationship Id="rId12" Type="http://schemas.openxmlformats.org/officeDocument/2006/relationships/image" Target="../media/image53.png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51.png" /><Relationship Id="rId8" Type="http://schemas.openxmlformats.org/officeDocument/2006/relationships/image" Target="../media/image52.png" /><Relationship Id="rId9" Type="http://schemas.openxmlformats.org/officeDocument/2006/relationships/image" Target="../media/image4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46.png" /><Relationship Id="rId11" Type="http://schemas.openxmlformats.org/officeDocument/2006/relationships/image" Target="../media/image54.png" /><Relationship Id="rId12" Type="http://schemas.openxmlformats.org/officeDocument/2006/relationships/image" Target="../media/image56.png" /><Relationship Id="rId13" Type="http://schemas.openxmlformats.org/officeDocument/2006/relationships/image" Target="../media/image53.png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7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50.png" /><Relationship Id="rId8" Type="http://schemas.openxmlformats.org/officeDocument/2006/relationships/image" Target="../media/image51.png" /><Relationship Id="rId9" Type="http://schemas.openxmlformats.org/officeDocument/2006/relationships/image" Target="../media/image52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46.png" /><Relationship Id="rId11" Type="http://schemas.openxmlformats.org/officeDocument/2006/relationships/image" Target="../media/image54.png" /><Relationship Id="rId12" Type="http://schemas.openxmlformats.org/officeDocument/2006/relationships/image" Target="../media/image56.png" /><Relationship Id="rId13" Type="http://schemas.openxmlformats.org/officeDocument/2006/relationships/image" Target="../media/image57.png" /><Relationship Id="rId14" Type="http://schemas.openxmlformats.org/officeDocument/2006/relationships/image" Target="../media/image53.png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8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50.png" /><Relationship Id="rId8" Type="http://schemas.openxmlformats.org/officeDocument/2006/relationships/image" Target="../media/image51.png" /><Relationship Id="rId9" Type="http://schemas.openxmlformats.org/officeDocument/2006/relationships/image" Target="../media/image52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9.png" /><Relationship Id="rId4" Type="http://schemas.openxmlformats.org/officeDocument/2006/relationships/image" Target="../media/image45.png" /><Relationship Id="rId5" Type="http://schemas.openxmlformats.org/officeDocument/2006/relationships/image" Target="../media/image54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9.png" /><Relationship Id="rId4" Type="http://schemas.openxmlformats.org/officeDocument/2006/relationships/image" Target="../media/image45.png" /><Relationship Id="rId5" Type="http://schemas.openxmlformats.org/officeDocument/2006/relationships/image" Target="../media/image54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10" Type="http://schemas.openxmlformats.org/officeDocument/2006/relationships/image" Target="../media/image53.png" /><Relationship Id="rId11" Type="http://schemas.openxmlformats.org/officeDocument/2006/relationships/image" Target="../media/image61.png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7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50.png" /><Relationship Id="rId8" Type="http://schemas.openxmlformats.org/officeDocument/2006/relationships/image" Target="../media/image51.png" /><Relationship Id="rId9" Type="http://schemas.openxmlformats.org/officeDocument/2006/relationships/image" Target="../media/image52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4.png" /><Relationship Id="rId4" Type="http://schemas.openxmlformats.org/officeDocument/2006/relationships/image" Target="../media/image62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9.png" /><Relationship Id="rId4" Type="http://schemas.openxmlformats.org/officeDocument/2006/relationships/image" Target="../media/image6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7.png" /><Relationship Id="rId4" Type="http://schemas.openxmlformats.org/officeDocument/2006/relationships/image" Target="../media/image61.png" /><Relationship Id="rId5" Type="http://schemas.openxmlformats.org/officeDocument/2006/relationships/image" Target="../media/image46.png" /><Relationship Id="rId6" Type="http://schemas.openxmlformats.org/officeDocument/2006/relationships/image" Target="../media/image53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57.png" /><Relationship Id="rId4" Type="http://schemas.openxmlformats.org/officeDocument/2006/relationships/image" Target="../media/image61.png" /><Relationship Id="rId5" Type="http://schemas.openxmlformats.org/officeDocument/2006/relationships/image" Target="../media/image46.png" /><Relationship Id="rId6" Type="http://schemas.openxmlformats.org/officeDocument/2006/relationships/image" Target="../media/image53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3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53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59.png" /><Relationship Id="rId4" Type="http://schemas.openxmlformats.org/officeDocument/2006/relationships/image" Target="../media/image45.png" /><Relationship Id="rId5" Type="http://schemas.openxmlformats.org/officeDocument/2006/relationships/image" Target="../media/image54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59.png" /><Relationship Id="rId4" Type="http://schemas.openxmlformats.org/officeDocument/2006/relationships/image" Target="../media/image45.png" /><Relationship Id="rId5" Type="http://schemas.openxmlformats.org/officeDocument/2006/relationships/image" Target="../media/image54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show the likelihood of an outcome on a scale.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2"/>
          </p:nvPr>
        </p:nvSpPr>
        <p:spPr>
          <a:xfrm>
            <a:off x="324000" y="2173438"/>
            <a:ext cx="8496000" cy="82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 outcome has </a:t>
            </a:r>
            <a:r>
              <a:rPr lang="en-GB" sz="1800" b="1"/>
              <a:t>even chance</a:t>
            </a:r>
            <a:r>
              <a:rPr lang="en-GB" sz="1800"/>
              <a:t> if its likelihood of happening is the same as its likelihood of not happening.</a:t>
            </a:r>
            <a:endParaRPr sz="1800" b="0"/>
          </a:p>
        </p:txBody>
      </p:sp>
      <p:sp>
        <p:nvSpPr>
          <p:cNvPr id="770" name="Google Shape;770;p66"/>
          <p:cNvSpPr txBox="1"/>
          <p:nvPr>
            <p:ph type="subTitle" idx="1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 outcome is </a:t>
            </a:r>
            <a:r>
              <a:rPr lang="en-GB" sz="1800" b="1"/>
              <a:t>impossible</a:t>
            </a:r>
            <a:r>
              <a:rPr lang="en-GB" sz="1800"/>
              <a:t> if there is no possibility that it can happen.</a:t>
            </a:r>
            <a:endParaRPr sz="1800"/>
          </a:p>
        </p:txBody>
      </p:sp>
      <p:sp>
        <p:nvSpPr>
          <p:cNvPr id="771" name="Google Shape;771;p66"/>
          <p:cNvSpPr txBox="1"/>
          <p:nvPr>
            <p:ph type="subTitle" idx="2"/>
          </p:nvPr>
        </p:nvSpPr>
        <p:spPr>
          <a:xfrm>
            <a:off x="324000" y="1611144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 outcome is </a:t>
            </a:r>
            <a:r>
              <a:rPr lang="en-GB" sz="1800" b="1"/>
              <a:t>certain</a:t>
            </a:r>
            <a:r>
              <a:rPr lang="en-GB" sz="1800"/>
              <a:t> if it is guaranteed to happen.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body" idx="1"/>
          </p:nvPr>
        </p:nvSpPr>
        <p:spPr>
          <a:xfrm>
            <a:off x="324000" y="759300"/>
            <a:ext cx="8496000" cy="7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likelihood of different events can be compared and represented on a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scale of likelihoods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786" name="Google Shape;786;p68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7" name="Google Shape;787;p68"/>
          <p:cNvCxnSpPr/>
          <p:nvPr/>
        </p:nvCxnSpPr>
        <p:spPr>
          <a:xfrm flipH="1">
            <a:off x="992256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8" name="Google Shape;788;p68"/>
          <p:cNvCxnSpPr/>
          <p:nvPr/>
        </p:nvCxnSpPr>
        <p:spPr>
          <a:xfrm flipH="1">
            <a:off x="8168274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9" name="Google Shape;789;p68"/>
          <p:cNvSpPr txBox="1"/>
          <p:nvPr>
            <p:ph type="body" idx="1"/>
          </p:nvPr>
        </p:nvSpPr>
        <p:spPr>
          <a:xfrm>
            <a:off x="324000" y="1510425"/>
            <a:ext cx="8496000" cy="10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Events that are </a:t>
            </a:r>
            <a:r>
              <a:rPr lang="en-GB" sz="2000">
                <a:solidFill>
                  <a:schemeClr val="accent4"/>
                </a:solidFill>
              </a:rPr>
              <a:t>more 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to happen go further to the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right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on the scale and events that are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less 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to happen go further to the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left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on the scale.</a:t>
            </a:r>
            <a:endParaRPr sz="2000"/>
          </a:p>
        </p:txBody>
      </p:sp>
      <p:sp>
        <p:nvSpPr>
          <p:cNvPr id="790" name="Google Shape;790;p68"/>
          <p:cNvSpPr txBox="1"/>
          <p:nvPr/>
        </p:nvSpPr>
        <p:spPr>
          <a:xfrm>
            <a:off x="1783341" y="4448625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>
            <p:ph type="body" idx="1"/>
          </p:nvPr>
        </p:nvSpPr>
        <p:spPr>
          <a:xfrm>
            <a:off x="324000" y="2588100"/>
            <a:ext cx="8237700" cy="10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the likelihood of different spinners landing on ‘</a:t>
            </a:r>
            <a:r>
              <a:rPr lang="en-GB" sz="2000">
                <a:solidFill>
                  <a:schemeClr val="accent4"/>
                </a:solidFill>
              </a:rPr>
              <a:t>win</a:t>
            </a:r>
            <a:r>
              <a:rPr lang="en-GB" sz="2000"/>
              <a:t>’ can be represented on a scale of likelihoods.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5" name="Shape 795"/>
        <p:cNvGrpSpPr/>
        <p:nvPr/>
      </p:nvGrpSpPr>
      <p:grpSpPr>
        <a:xfrm>
          <a:off x="0" y="0"/>
          <a:ext cx="0" cy="0"/>
        </a:xfrm>
      </p:grpSpPr>
      <p:sp>
        <p:nvSpPr>
          <p:cNvPr id="796" name="Google Shape;796;p69"/>
          <p:cNvSpPr txBox="1"/>
          <p:nvPr>
            <p:ph type="body" idx="1"/>
          </p:nvPr>
        </p:nvSpPr>
        <p:spPr>
          <a:xfrm>
            <a:off x="324000" y="759300"/>
            <a:ext cx="84960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outcome is </a:t>
            </a:r>
            <a:r>
              <a:rPr lang="en-GB" sz="2000" b="1"/>
              <a:t>impossible</a:t>
            </a:r>
            <a:r>
              <a:rPr lang="en-GB" sz="2000"/>
              <a:t> if there is no possibility that it can happen.</a:t>
            </a:r>
            <a:endParaRPr sz="2000"/>
          </a:p>
        </p:txBody>
      </p:sp>
      <p:sp>
        <p:nvSpPr>
          <p:cNvPr id="797" name="Google Shape;79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798" name="Google Shape;798;p69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9" name="Google Shape;799;p69"/>
          <p:cNvCxnSpPr/>
          <p:nvPr/>
        </p:nvCxnSpPr>
        <p:spPr>
          <a:xfrm flipH="1">
            <a:off x="992256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0" name="Google Shape;800;p69"/>
          <p:cNvCxnSpPr/>
          <p:nvPr/>
        </p:nvCxnSpPr>
        <p:spPr>
          <a:xfrm flipH="1">
            <a:off x="8168274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69"/>
          <p:cNvSpPr txBox="1"/>
          <p:nvPr/>
        </p:nvSpPr>
        <p:spPr>
          <a:xfrm>
            <a:off x="247800" y="40912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03" name="Google Shape;803;p69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4" name="Google Shape;804;p69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805" name="Google Shape;805;p6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06" name="Google Shape;806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07" name="Google Shape;807;p69"/>
          <p:cNvSpPr txBox="1"/>
          <p:nvPr>
            <p:ph type="body" idx="1"/>
          </p:nvPr>
        </p:nvSpPr>
        <p:spPr>
          <a:xfrm>
            <a:off x="324000" y="15213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it is </a:t>
            </a:r>
            <a:r>
              <a:rPr lang="en-GB" sz="2000" b="1"/>
              <a:t>impossible</a:t>
            </a:r>
            <a:r>
              <a:rPr lang="en-GB" sz="2000"/>
              <a:t> for this spinner to land on ‘win’.</a:t>
            </a:r>
            <a:endParaRPr sz="2000"/>
          </a:p>
        </p:txBody>
      </p:sp>
      <p:sp>
        <p:nvSpPr>
          <p:cNvPr id="808" name="Google Shape;808;p69"/>
          <p:cNvSpPr/>
          <p:nvPr/>
        </p:nvSpPr>
        <p:spPr>
          <a:xfrm>
            <a:off x="409197" y="2194175"/>
            <a:ext cx="1157700" cy="1299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 txBox="1"/>
          <p:nvPr/>
        </p:nvSpPr>
        <p:spPr>
          <a:xfrm>
            <a:off x="1783341" y="4448625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3" name="Shape 813"/>
        <p:cNvGrpSpPr/>
        <p:nvPr/>
      </p:nvGrpSpPr>
      <p:grpSpPr>
        <a:xfrm>
          <a:off x="0" y="0"/>
          <a:ext cx="0" cy="0"/>
        </a:xfrm>
      </p:grpSpPr>
      <p:sp>
        <p:nvSpPr>
          <p:cNvPr id="814" name="Google Shape;814;p70"/>
          <p:cNvSpPr txBox="1"/>
          <p:nvPr>
            <p:ph type="body" idx="1"/>
          </p:nvPr>
        </p:nvSpPr>
        <p:spPr>
          <a:xfrm>
            <a:off x="324000" y="7593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outcome is </a:t>
            </a:r>
            <a:r>
              <a:rPr lang="en-GB" sz="2000" b="1"/>
              <a:t>certain</a:t>
            </a:r>
            <a:r>
              <a:rPr lang="en-GB" sz="2000"/>
              <a:t> if it is guaranteed to happen.</a:t>
            </a:r>
            <a:endParaRPr sz="2000"/>
          </a:p>
        </p:txBody>
      </p:sp>
      <p:sp>
        <p:nvSpPr>
          <p:cNvPr id="815" name="Google Shape;81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816" name="Google Shape;816;p70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7" name="Google Shape;817;p70"/>
          <p:cNvCxnSpPr/>
          <p:nvPr/>
        </p:nvCxnSpPr>
        <p:spPr>
          <a:xfrm flipH="1">
            <a:off x="992256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8" name="Google Shape;818;p70"/>
          <p:cNvCxnSpPr/>
          <p:nvPr/>
        </p:nvCxnSpPr>
        <p:spPr>
          <a:xfrm flipH="1">
            <a:off x="8168274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9" name="Google Shape;819;p70"/>
          <p:cNvSpPr txBox="1"/>
          <p:nvPr/>
        </p:nvSpPr>
        <p:spPr>
          <a:xfrm>
            <a:off x="7596925" y="40912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/>
        </p:nvSpPr>
        <p:spPr>
          <a:xfrm>
            <a:off x="247800" y="40912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2" name="Google Shape;822;p70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3" name="Google Shape;823;p70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824" name="Google Shape;824;p7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25" name="Google Shape;825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26" name="Google Shape;826;p70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7" name="Google Shape;827;p70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8" name="Google Shape;828;p70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829" name="Google Shape;829;p7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30" name="Google Shape;830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31" name="Google Shape;831;p70"/>
          <p:cNvSpPr txBox="1"/>
          <p:nvPr>
            <p:ph type="body" idx="1"/>
          </p:nvPr>
        </p:nvSpPr>
        <p:spPr>
          <a:xfrm>
            <a:off x="324000" y="12165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it is </a:t>
            </a:r>
            <a:r>
              <a:rPr lang="en-GB" sz="2000" b="1"/>
              <a:t>certain</a:t>
            </a:r>
            <a:r>
              <a:rPr lang="en-GB" sz="2000"/>
              <a:t> that this spinner will land on ‘win’.</a:t>
            </a:r>
            <a:endParaRPr sz="2000"/>
          </a:p>
        </p:txBody>
      </p:sp>
      <p:sp>
        <p:nvSpPr>
          <p:cNvPr id="832" name="Google Shape;832;p70"/>
          <p:cNvSpPr/>
          <p:nvPr/>
        </p:nvSpPr>
        <p:spPr>
          <a:xfrm>
            <a:off x="7577350" y="2194175"/>
            <a:ext cx="1157700" cy="1299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1783341" y="4448625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7" name="Shape 837"/>
        <p:cNvGrpSpPr/>
        <p:nvPr/>
      </p:nvGrpSpPr>
      <p:grpSpPr>
        <a:xfrm>
          <a:off x="0" y="0"/>
          <a:ext cx="0" cy="0"/>
        </a:xfrm>
      </p:grpSpPr>
      <p:sp>
        <p:nvSpPr>
          <p:cNvPr id="838" name="Google Shape;838;p71"/>
          <p:cNvSpPr txBox="1"/>
          <p:nvPr>
            <p:ph type="body" idx="1"/>
          </p:nvPr>
        </p:nvSpPr>
        <p:spPr>
          <a:xfrm>
            <a:off x="324000" y="759300"/>
            <a:ext cx="8237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outcome has </a:t>
            </a:r>
            <a:r>
              <a:rPr lang="en-GB" sz="2000" b="1"/>
              <a:t>even chance</a:t>
            </a:r>
            <a:r>
              <a:rPr lang="en-GB" sz="2000"/>
              <a:t> if its likelihood of happening is the same as its likelihood of not happening.</a:t>
            </a:r>
            <a:endParaRPr sz="2000"/>
          </a:p>
        </p:txBody>
      </p:sp>
      <p:sp>
        <p:nvSpPr>
          <p:cNvPr id="839" name="Google Shape;83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840" name="Google Shape;840;p71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1" name="Google Shape;841;p71"/>
          <p:cNvCxnSpPr/>
          <p:nvPr/>
        </p:nvCxnSpPr>
        <p:spPr>
          <a:xfrm flipH="1">
            <a:off x="992256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71"/>
          <p:cNvCxnSpPr/>
          <p:nvPr/>
        </p:nvCxnSpPr>
        <p:spPr>
          <a:xfrm flipH="1">
            <a:off x="8168274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71"/>
          <p:cNvCxnSpPr/>
          <p:nvPr/>
        </p:nvCxnSpPr>
        <p:spPr>
          <a:xfrm flipH="1">
            <a:off x="4580265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4" name="Google Shape;844;p71"/>
          <p:cNvSpPr txBox="1"/>
          <p:nvPr/>
        </p:nvSpPr>
        <p:spPr>
          <a:xfrm>
            <a:off x="7596925" y="40912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247800" y="40912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 txBox="1"/>
          <p:nvPr/>
        </p:nvSpPr>
        <p:spPr>
          <a:xfrm>
            <a:off x="3697637" y="40912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8" name="Google Shape;848;p71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9" name="Google Shape;849;p71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0" name="Google Shape;850;p71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2" name="Google Shape;852;p71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853" name="Google Shape;853;p7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4" name="Google Shape;854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55" name="Google Shape;855;p71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6" name="Google Shape;856;p71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7" name="Google Shape;857;p71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858" name="Google Shape;858;p7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9" name="Google Shape;859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60" name="Google Shape;860;p71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1" name="Google Shape;861;p71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2" name="Google Shape;862;p71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863" name="Google Shape;863;p7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64" name="Google Shape;864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65" name="Google Shape;865;p71"/>
          <p:cNvSpPr txBox="1"/>
          <p:nvPr>
            <p:ph type="body" idx="1"/>
          </p:nvPr>
        </p:nvSpPr>
        <p:spPr>
          <a:xfrm>
            <a:off x="324000" y="15975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there is an </a:t>
            </a:r>
            <a:r>
              <a:rPr lang="en-GB" sz="2000" b="1"/>
              <a:t>even chance</a:t>
            </a:r>
            <a:r>
              <a:rPr lang="en-GB" sz="2000"/>
              <a:t> that this spinner will land on ‘win’.</a:t>
            </a:r>
            <a:endParaRPr sz="2000"/>
          </a:p>
        </p:txBody>
      </p:sp>
      <p:sp>
        <p:nvSpPr>
          <p:cNvPr id="866" name="Google Shape;866;p71"/>
          <p:cNvSpPr/>
          <p:nvPr/>
        </p:nvSpPr>
        <p:spPr>
          <a:xfrm>
            <a:off x="3884687" y="2194173"/>
            <a:ext cx="1356900" cy="1299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1"/>
          <p:cNvSpPr txBox="1"/>
          <p:nvPr/>
        </p:nvSpPr>
        <p:spPr>
          <a:xfrm>
            <a:off x="1783341" y="4448625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p72"/>
          <p:cNvSpPr txBox="1"/>
          <p:nvPr>
            <p:ph type="body" idx="1"/>
          </p:nvPr>
        </p:nvSpPr>
        <p:spPr>
          <a:xfrm>
            <a:off x="324000" y="759300"/>
            <a:ext cx="82377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outcome that has a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greater chance</a:t>
            </a:r>
            <a:r>
              <a:rPr lang="en-GB" sz="2000"/>
              <a:t> of</a:t>
            </a:r>
            <a:r>
              <a:rPr lang="en-GB" sz="2000">
                <a:solidFill>
                  <a:schemeClr val="accent4"/>
                </a:solidFill>
              </a:rPr>
              <a:t> happening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than not happening can be described as being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likely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73" name="Google Shape;87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874" name="Google Shape;874;p72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5" name="Google Shape;875;p72"/>
          <p:cNvCxnSpPr/>
          <p:nvPr/>
        </p:nvCxnSpPr>
        <p:spPr>
          <a:xfrm flipH="1">
            <a:off x="992256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72"/>
          <p:cNvCxnSpPr/>
          <p:nvPr/>
        </p:nvCxnSpPr>
        <p:spPr>
          <a:xfrm flipH="1">
            <a:off x="8168274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72"/>
          <p:cNvCxnSpPr/>
          <p:nvPr/>
        </p:nvCxnSpPr>
        <p:spPr>
          <a:xfrm flipH="1">
            <a:off x="4580265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72"/>
          <p:cNvCxnSpPr/>
          <p:nvPr/>
        </p:nvCxnSpPr>
        <p:spPr>
          <a:xfrm>
            <a:off x="4685210" y="3997325"/>
            <a:ext cx="33855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79" name="Google Shape;879;p72"/>
          <p:cNvSpPr txBox="1"/>
          <p:nvPr/>
        </p:nvSpPr>
        <p:spPr>
          <a:xfrm>
            <a:off x="7596925" y="40912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2"/>
          <p:cNvSpPr txBox="1"/>
          <p:nvPr/>
        </p:nvSpPr>
        <p:spPr>
          <a:xfrm>
            <a:off x="247800" y="40912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6186382" y="3921125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 txBox="1"/>
          <p:nvPr/>
        </p:nvSpPr>
        <p:spPr>
          <a:xfrm>
            <a:off x="3697637" y="40912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2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4" name="Google Shape;884;p72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5" name="Google Shape;885;p72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6" name="Google Shape;886;p72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2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8" name="Google Shape;888;p72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889" name="Google Shape;889;p7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90" name="Google Shape;890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91" name="Google Shape;891;p72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2" name="Google Shape;892;p72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3" name="Google Shape;893;p72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894" name="Google Shape;894;p7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95" name="Google Shape;895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96" name="Google Shape;896;p72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7" name="Google Shape;897;p72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8" name="Google Shape;898;p72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899" name="Google Shape;899;p7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0" name="Google Shape;900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01" name="Google Shape;901;p72"/>
          <p:cNvSpPr/>
          <p:nvPr/>
        </p:nvSpPr>
        <p:spPr>
          <a:xfrm>
            <a:off x="5846876" y="2300527"/>
            <a:ext cx="1086000" cy="1086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2" name="Google Shape;902;p72"/>
          <p:cNvSpPr/>
          <p:nvPr/>
        </p:nvSpPr>
        <p:spPr>
          <a:xfrm flipH="1">
            <a:off x="5856109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3" name="Google Shape;903;p72"/>
          <p:cNvSpPr/>
          <p:nvPr/>
        </p:nvSpPr>
        <p:spPr>
          <a:xfrm>
            <a:off x="5856328" y="2309980"/>
            <a:ext cx="1067400" cy="1067400"/>
          </a:xfrm>
          <a:prstGeom prst="pie">
            <a:avLst>
              <a:gd name="adj1" fmla="val 5387953"/>
              <a:gd name="adj2" fmla="val 1834406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4" name="Google Shape;904;p72"/>
          <p:cNvSpPr txBox="1"/>
          <p:nvPr/>
        </p:nvSpPr>
        <p:spPr>
          <a:xfrm>
            <a:off x="58453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2"/>
          <p:cNvSpPr txBox="1"/>
          <p:nvPr/>
        </p:nvSpPr>
        <p:spPr>
          <a:xfrm>
            <a:off x="63913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6" name="Google Shape;906;p72"/>
          <p:cNvGrpSpPr/>
          <p:nvPr/>
        </p:nvGrpSpPr>
        <p:grpSpPr>
          <a:xfrm>
            <a:off x="6358753" y="2359814"/>
            <a:ext cx="60134" cy="523187"/>
            <a:chOff x="996050" y="213293"/>
            <a:chExt cx="93900" cy="909732"/>
          </a:xfrm>
        </p:grpSpPr>
        <p:cxnSp>
          <p:nvCxnSpPr>
            <p:cNvPr id="907" name="Google Shape;907;p7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8" name="Google Shape;908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09" name="Google Shape;909;p72"/>
          <p:cNvSpPr txBox="1"/>
          <p:nvPr>
            <p:ph type="body" idx="1"/>
          </p:nvPr>
        </p:nvSpPr>
        <p:spPr>
          <a:xfrm>
            <a:off x="324000" y="15975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it is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that this spinner will land on ‘win’.</a:t>
            </a:r>
            <a:endParaRPr sz="2000"/>
          </a:p>
        </p:txBody>
      </p:sp>
      <p:sp>
        <p:nvSpPr>
          <p:cNvPr id="910" name="Google Shape;910;p72"/>
          <p:cNvSpPr/>
          <p:nvPr/>
        </p:nvSpPr>
        <p:spPr>
          <a:xfrm>
            <a:off x="5713487" y="2194173"/>
            <a:ext cx="1356900" cy="1299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2"/>
          <p:cNvSpPr txBox="1"/>
          <p:nvPr/>
        </p:nvSpPr>
        <p:spPr>
          <a:xfrm>
            <a:off x="1783341" y="4448625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5" name="Shape 915"/>
        <p:cNvGrpSpPr/>
        <p:nvPr/>
      </p:nvGrpSpPr>
      <p:grpSpPr>
        <a:xfrm>
          <a:off x="0" y="0"/>
          <a:ext cx="0" cy="0"/>
        </a:xfrm>
      </p:grpSpPr>
      <p:sp>
        <p:nvSpPr>
          <p:cNvPr id="916" name="Google Shape;916;p73"/>
          <p:cNvSpPr txBox="1"/>
          <p:nvPr>
            <p:ph type="body" idx="1"/>
          </p:nvPr>
        </p:nvSpPr>
        <p:spPr>
          <a:xfrm>
            <a:off x="324000" y="759300"/>
            <a:ext cx="84960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outcome that has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less chance</a:t>
            </a:r>
            <a:r>
              <a:rPr lang="en-GB" sz="2000"/>
              <a:t> of</a:t>
            </a:r>
            <a:r>
              <a:rPr lang="en-GB" sz="2000">
                <a:solidFill>
                  <a:schemeClr val="accent4"/>
                </a:solidFill>
              </a:rPr>
              <a:t> happening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than not happening can be described as being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unlikely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17" name="Google Shape;91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918" name="Google Shape;918;p73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9" name="Google Shape;919;p73"/>
          <p:cNvCxnSpPr/>
          <p:nvPr/>
        </p:nvCxnSpPr>
        <p:spPr>
          <a:xfrm flipH="1">
            <a:off x="992256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0" name="Google Shape;920;p73"/>
          <p:cNvCxnSpPr/>
          <p:nvPr/>
        </p:nvCxnSpPr>
        <p:spPr>
          <a:xfrm flipH="1">
            <a:off x="8168274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1" name="Google Shape;921;p73"/>
          <p:cNvCxnSpPr/>
          <p:nvPr/>
        </p:nvCxnSpPr>
        <p:spPr>
          <a:xfrm flipH="1">
            <a:off x="4580265" y="35052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2" name="Google Shape;922;p73"/>
          <p:cNvCxnSpPr/>
          <p:nvPr/>
        </p:nvCxnSpPr>
        <p:spPr>
          <a:xfrm>
            <a:off x="1102047" y="3997325"/>
            <a:ext cx="33855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23" name="Google Shape;923;p73"/>
          <p:cNvCxnSpPr/>
          <p:nvPr/>
        </p:nvCxnSpPr>
        <p:spPr>
          <a:xfrm>
            <a:off x="4685210" y="3997325"/>
            <a:ext cx="33855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24" name="Google Shape;924;p73"/>
          <p:cNvSpPr txBox="1"/>
          <p:nvPr/>
        </p:nvSpPr>
        <p:spPr>
          <a:xfrm>
            <a:off x="7596925" y="40912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3"/>
          <p:cNvSpPr txBox="1"/>
          <p:nvPr/>
        </p:nvSpPr>
        <p:spPr>
          <a:xfrm>
            <a:off x="247800" y="40912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3"/>
          <p:cNvSpPr txBox="1"/>
          <p:nvPr/>
        </p:nvSpPr>
        <p:spPr>
          <a:xfrm>
            <a:off x="2265248" y="3921125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3"/>
          <p:cNvSpPr txBox="1"/>
          <p:nvPr/>
        </p:nvSpPr>
        <p:spPr>
          <a:xfrm>
            <a:off x="6186382" y="3921125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>
            <a:off x="3697637" y="40912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3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0" name="Google Shape;930;p73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1" name="Google Shape;931;p73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2" name="Google Shape;932;p73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3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4" name="Google Shape;934;p73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935" name="Google Shape;935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36" name="Google Shape;936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37" name="Google Shape;937;p73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8" name="Google Shape;938;p73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9" name="Google Shape;939;p73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940" name="Google Shape;940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41" name="Google Shape;941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42" name="Google Shape;942;p73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3" name="Google Shape;943;p73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73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945" name="Google Shape;945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46" name="Google Shape;946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47" name="Google Shape;947;p73"/>
          <p:cNvSpPr/>
          <p:nvPr/>
        </p:nvSpPr>
        <p:spPr>
          <a:xfrm>
            <a:off x="2265476" y="2300527"/>
            <a:ext cx="1086000" cy="1086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8" name="Google Shape;948;p73"/>
          <p:cNvSpPr/>
          <p:nvPr/>
        </p:nvSpPr>
        <p:spPr>
          <a:xfrm flipH="1">
            <a:off x="2274709" y="2309980"/>
            <a:ext cx="1067400" cy="1067400"/>
          </a:xfrm>
          <a:prstGeom prst="pie">
            <a:avLst>
              <a:gd name="adj1" fmla="val 5387953"/>
              <a:gd name="adj2" fmla="val 1796517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9" name="Google Shape;949;p73"/>
          <p:cNvSpPr/>
          <p:nvPr/>
        </p:nvSpPr>
        <p:spPr>
          <a:xfrm>
            <a:off x="2274928" y="2309980"/>
            <a:ext cx="1067400" cy="1067400"/>
          </a:xfrm>
          <a:prstGeom prst="pie">
            <a:avLst>
              <a:gd name="adj1" fmla="val 5387953"/>
              <a:gd name="adj2" fmla="val 14401998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0" name="Google Shape;950;p73"/>
          <p:cNvSpPr txBox="1"/>
          <p:nvPr/>
        </p:nvSpPr>
        <p:spPr>
          <a:xfrm>
            <a:off x="22639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3"/>
          <p:cNvSpPr txBox="1"/>
          <p:nvPr/>
        </p:nvSpPr>
        <p:spPr>
          <a:xfrm>
            <a:off x="28099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2" name="Google Shape;952;p73"/>
          <p:cNvGrpSpPr/>
          <p:nvPr/>
        </p:nvGrpSpPr>
        <p:grpSpPr>
          <a:xfrm>
            <a:off x="2777353" y="2359814"/>
            <a:ext cx="60134" cy="523187"/>
            <a:chOff x="996050" y="213293"/>
            <a:chExt cx="93900" cy="909732"/>
          </a:xfrm>
        </p:grpSpPr>
        <p:cxnSp>
          <p:nvCxnSpPr>
            <p:cNvPr id="953" name="Google Shape;953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54" name="Google Shape;954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55" name="Google Shape;955;p73"/>
          <p:cNvSpPr/>
          <p:nvPr/>
        </p:nvSpPr>
        <p:spPr>
          <a:xfrm>
            <a:off x="5846876" y="2300527"/>
            <a:ext cx="1086000" cy="1086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6" name="Google Shape;956;p73"/>
          <p:cNvSpPr/>
          <p:nvPr/>
        </p:nvSpPr>
        <p:spPr>
          <a:xfrm flipH="1">
            <a:off x="5856109" y="2309980"/>
            <a:ext cx="1067400" cy="10674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7" name="Google Shape;957;p73"/>
          <p:cNvSpPr/>
          <p:nvPr/>
        </p:nvSpPr>
        <p:spPr>
          <a:xfrm>
            <a:off x="5856328" y="2309980"/>
            <a:ext cx="1067400" cy="1067400"/>
          </a:xfrm>
          <a:prstGeom prst="pie">
            <a:avLst>
              <a:gd name="adj1" fmla="val 5387953"/>
              <a:gd name="adj2" fmla="val 1834406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8" name="Google Shape;958;p73"/>
          <p:cNvSpPr txBox="1"/>
          <p:nvPr/>
        </p:nvSpPr>
        <p:spPr>
          <a:xfrm>
            <a:off x="58453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3"/>
          <p:cNvSpPr txBox="1"/>
          <p:nvPr/>
        </p:nvSpPr>
        <p:spPr>
          <a:xfrm>
            <a:off x="63913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0" name="Google Shape;960;p73"/>
          <p:cNvGrpSpPr/>
          <p:nvPr/>
        </p:nvGrpSpPr>
        <p:grpSpPr>
          <a:xfrm>
            <a:off x="6358753" y="2359814"/>
            <a:ext cx="60134" cy="523187"/>
            <a:chOff x="996050" y="213293"/>
            <a:chExt cx="93900" cy="909732"/>
          </a:xfrm>
        </p:grpSpPr>
        <p:cxnSp>
          <p:nvCxnSpPr>
            <p:cNvPr id="961" name="Google Shape;961;p7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62" name="Google Shape;962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63" name="Google Shape;963;p73"/>
          <p:cNvSpPr txBox="1"/>
          <p:nvPr>
            <p:ph type="body" idx="1"/>
          </p:nvPr>
        </p:nvSpPr>
        <p:spPr>
          <a:xfrm>
            <a:off x="324000" y="15975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it is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unlikely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that this spinner will land on ‘win’.</a:t>
            </a:r>
            <a:endParaRPr sz="2000"/>
          </a:p>
        </p:txBody>
      </p:sp>
      <p:sp>
        <p:nvSpPr>
          <p:cNvPr id="964" name="Google Shape;964;p73"/>
          <p:cNvSpPr/>
          <p:nvPr/>
        </p:nvSpPr>
        <p:spPr>
          <a:xfrm>
            <a:off x="2115048" y="2194173"/>
            <a:ext cx="1356900" cy="1299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3"/>
          <p:cNvSpPr txBox="1"/>
          <p:nvPr/>
        </p:nvSpPr>
        <p:spPr>
          <a:xfrm>
            <a:off x="1783341" y="4448625"/>
            <a:ext cx="557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9" name="Shape 969"/>
        <p:cNvGrpSpPr/>
        <p:nvPr/>
      </p:nvGrpSpPr>
      <p:grpSpPr>
        <a:xfrm>
          <a:off x="0" y="0"/>
          <a:ext cx="0" cy="0"/>
        </a:xfrm>
      </p:grpSpPr>
      <p:pic>
        <p:nvPicPr>
          <p:cNvPr id="970" name="Google Shape;970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>
            <a:off x="584999" y="1503825"/>
            <a:ext cx="4134851" cy="14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4"/>
          <p:cNvSpPr txBox="1"/>
          <p:nvPr>
            <p:ph type="body" idx="1"/>
          </p:nvPr>
        </p:nvSpPr>
        <p:spPr>
          <a:xfrm>
            <a:off x="324000" y="759300"/>
            <a:ext cx="73341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is thinking about where the likelihood that this spinner lands on ‘</a:t>
            </a:r>
            <a:r>
              <a:rPr lang="en-GB" sz="2000">
                <a:solidFill>
                  <a:schemeClr val="accent4"/>
                </a:solidFill>
              </a:rPr>
              <a:t>A</a:t>
            </a:r>
            <a:r>
              <a:rPr lang="en-GB" sz="2000"/>
              <a:t>’ would go on the scale.</a:t>
            </a:r>
            <a:endParaRPr sz="2000"/>
          </a:p>
        </p:txBody>
      </p:sp>
      <p:sp>
        <p:nvSpPr>
          <p:cNvPr id="972" name="Google Shape;97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973" name="Google Shape;973;p74"/>
          <p:cNvCxnSpPr/>
          <p:nvPr/>
        </p:nvCxnSpPr>
        <p:spPr>
          <a:xfrm>
            <a:off x="992233" y="3682288"/>
            <a:ext cx="718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4" name="Google Shape;974;p74"/>
          <p:cNvCxnSpPr/>
          <p:nvPr/>
        </p:nvCxnSpPr>
        <p:spPr>
          <a:xfrm flipH="1">
            <a:off x="992256" y="33528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5" name="Google Shape;975;p74"/>
          <p:cNvCxnSpPr/>
          <p:nvPr/>
        </p:nvCxnSpPr>
        <p:spPr>
          <a:xfrm flipH="1">
            <a:off x="8168274" y="33528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6" name="Google Shape;976;p74"/>
          <p:cNvCxnSpPr/>
          <p:nvPr/>
        </p:nvCxnSpPr>
        <p:spPr>
          <a:xfrm flipH="1">
            <a:off x="4580265" y="33528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74"/>
          <p:cNvCxnSpPr/>
          <p:nvPr/>
        </p:nvCxnSpPr>
        <p:spPr>
          <a:xfrm>
            <a:off x="1102047" y="3844925"/>
            <a:ext cx="33855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78" name="Google Shape;978;p74"/>
          <p:cNvCxnSpPr/>
          <p:nvPr/>
        </p:nvCxnSpPr>
        <p:spPr>
          <a:xfrm>
            <a:off x="4685210" y="3844925"/>
            <a:ext cx="33855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79" name="Google Shape;979;p74"/>
          <p:cNvSpPr txBox="1"/>
          <p:nvPr/>
        </p:nvSpPr>
        <p:spPr>
          <a:xfrm>
            <a:off x="7596925" y="39388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4"/>
          <p:cNvSpPr txBox="1"/>
          <p:nvPr/>
        </p:nvSpPr>
        <p:spPr>
          <a:xfrm>
            <a:off x="247800" y="39388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4"/>
          <p:cNvSpPr txBox="1"/>
          <p:nvPr/>
        </p:nvSpPr>
        <p:spPr>
          <a:xfrm>
            <a:off x="2265248" y="3768725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4"/>
          <p:cNvSpPr txBox="1"/>
          <p:nvPr/>
        </p:nvSpPr>
        <p:spPr>
          <a:xfrm>
            <a:off x="6186382" y="3768725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4"/>
          <p:cNvSpPr txBox="1"/>
          <p:nvPr/>
        </p:nvSpPr>
        <p:spPr>
          <a:xfrm>
            <a:off x="3697637" y="39388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4"/>
          <p:cNvSpPr txBox="1"/>
          <p:nvPr>
            <p:ph type="body" idx="1"/>
          </p:nvPr>
        </p:nvSpPr>
        <p:spPr>
          <a:xfrm>
            <a:off x="343844" y="4512950"/>
            <a:ext cx="50616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is incorrect. Why is he incorrect?</a:t>
            </a:r>
            <a:endParaRPr sz="2000"/>
          </a:p>
        </p:txBody>
      </p:sp>
      <p:sp>
        <p:nvSpPr>
          <p:cNvPr id="985" name="Google Shape;985;p74"/>
          <p:cNvSpPr/>
          <p:nvPr/>
        </p:nvSpPr>
        <p:spPr>
          <a:xfrm>
            <a:off x="6963481" y="1055732"/>
            <a:ext cx="1434900" cy="1434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6" name="Google Shape;986;p74"/>
          <p:cNvSpPr/>
          <p:nvPr/>
        </p:nvSpPr>
        <p:spPr>
          <a:xfrm rot="7199751">
            <a:off x="6975907" y="1068269"/>
            <a:ext cx="1410177" cy="141017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74"/>
          <p:cNvSpPr/>
          <p:nvPr/>
        </p:nvSpPr>
        <p:spPr>
          <a:xfrm rot="-7211911">
            <a:off x="6976093" y="1068503"/>
            <a:ext cx="1409947" cy="140994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8" name="Google Shape;988;p74"/>
          <p:cNvSpPr/>
          <p:nvPr/>
        </p:nvSpPr>
        <p:spPr>
          <a:xfrm>
            <a:off x="6976069" y="1068371"/>
            <a:ext cx="1410000" cy="14100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9" name="Google Shape;989;p74"/>
          <p:cNvSpPr txBox="1"/>
          <p:nvPr/>
        </p:nvSpPr>
        <p:spPr>
          <a:xfrm>
            <a:off x="7837829" y="1401537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4"/>
          <p:cNvSpPr txBox="1"/>
          <p:nvPr/>
        </p:nvSpPr>
        <p:spPr>
          <a:xfrm>
            <a:off x="7579923" y="1917350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4"/>
          <p:cNvSpPr txBox="1"/>
          <p:nvPr/>
        </p:nvSpPr>
        <p:spPr>
          <a:xfrm>
            <a:off x="7193064" y="1401537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2" name="Google Shape;992;p74"/>
          <p:cNvGrpSpPr/>
          <p:nvPr/>
        </p:nvGrpSpPr>
        <p:grpSpPr>
          <a:xfrm>
            <a:off x="7639767" y="1127439"/>
            <a:ext cx="79449" cy="691214"/>
            <a:chOff x="996050" y="213293"/>
            <a:chExt cx="93900" cy="909732"/>
          </a:xfrm>
        </p:grpSpPr>
        <p:cxnSp>
          <p:nvCxnSpPr>
            <p:cNvPr id="993" name="Google Shape;993;p7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94" name="Google Shape;994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995" name="Google Shape;99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01" y="2615808"/>
            <a:ext cx="533100" cy="598411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74"/>
          <p:cNvSpPr txBox="1"/>
          <p:nvPr>
            <p:ph type="body" idx="1"/>
          </p:nvPr>
        </p:nvSpPr>
        <p:spPr>
          <a:xfrm>
            <a:off x="919175" y="1656463"/>
            <a:ext cx="3724200" cy="9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it is </a:t>
            </a:r>
            <a:r>
              <a:rPr lang="en-GB" sz="1800" b="1"/>
              <a:t>even chance</a:t>
            </a:r>
            <a:r>
              <a:rPr lang="en-GB" sz="1800"/>
              <a:t> because the spinner has an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4"/>
                </a:solidFill>
              </a:rPr>
              <a:t>equal chance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of landing on each letter.</a:t>
            </a:r>
            <a:endParaRPr sz="1800"/>
          </a:p>
        </p:txBody>
      </p:sp>
      <p:sp>
        <p:nvSpPr>
          <p:cNvPr id="997" name="Google Shape;997;p74"/>
          <p:cNvSpPr txBox="1"/>
          <p:nvPr/>
        </p:nvSpPr>
        <p:spPr>
          <a:xfrm>
            <a:off x="4398910" y="28984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1" name="Shape 1001"/>
        <p:cNvGrpSpPr/>
        <p:nvPr/>
      </p:nvGrpSpPr>
      <p:grpSpPr>
        <a:xfrm>
          <a:off x="0" y="0"/>
          <a:ext cx="0" cy="0"/>
        </a:xfrm>
      </p:grpSpPr>
      <p:sp>
        <p:nvSpPr>
          <p:cNvPr id="1002" name="Google Shape;1002;p75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Equal chance is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not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the same as </a:t>
            </a:r>
            <a:r>
              <a:rPr lang="en-GB" sz="2000" b="1"/>
              <a:t>even chance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03" name="Google Shape;100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004" name="Google Shape;1004;p75"/>
          <p:cNvSpPr/>
          <p:nvPr/>
        </p:nvSpPr>
        <p:spPr>
          <a:xfrm>
            <a:off x="2590836" y="3302044"/>
            <a:ext cx="1434900" cy="1434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5" name="Google Shape;1005;p75"/>
          <p:cNvSpPr/>
          <p:nvPr/>
        </p:nvSpPr>
        <p:spPr>
          <a:xfrm rot="7199751">
            <a:off x="2603261" y="3314581"/>
            <a:ext cx="1410177" cy="141017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" name="Google Shape;1006;p75"/>
          <p:cNvSpPr/>
          <p:nvPr/>
        </p:nvSpPr>
        <p:spPr>
          <a:xfrm rot="-7211911">
            <a:off x="2603447" y="3314816"/>
            <a:ext cx="1409947" cy="140994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7" name="Google Shape;1007;p75"/>
          <p:cNvSpPr/>
          <p:nvPr/>
        </p:nvSpPr>
        <p:spPr>
          <a:xfrm>
            <a:off x="2603423" y="3314683"/>
            <a:ext cx="1410000" cy="14100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8" name="Google Shape;1008;p75"/>
          <p:cNvSpPr txBox="1"/>
          <p:nvPr/>
        </p:nvSpPr>
        <p:spPr>
          <a:xfrm>
            <a:off x="3465184" y="3647850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5"/>
          <p:cNvSpPr txBox="1"/>
          <p:nvPr/>
        </p:nvSpPr>
        <p:spPr>
          <a:xfrm>
            <a:off x="3207277" y="4163662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5"/>
          <p:cNvSpPr txBox="1"/>
          <p:nvPr/>
        </p:nvSpPr>
        <p:spPr>
          <a:xfrm>
            <a:off x="2820418" y="3647850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1" name="Google Shape;1011;p75"/>
          <p:cNvGrpSpPr/>
          <p:nvPr/>
        </p:nvGrpSpPr>
        <p:grpSpPr>
          <a:xfrm>
            <a:off x="3267121" y="3373751"/>
            <a:ext cx="79449" cy="691214"/>
            <a:chOff x="996050" y="213293"/>
            <a:chExt cx="93900" cy="909732"/>
          </a:xfrm>
        </p:grpSpPr>
        <p:cxnSp>
          <p:nvCxnSpPr>
            <p:cNvPr id="1012" name="Google Shape;1012;p7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13" name="Google Shape;1013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75"/>
          <p:cNvSpPr/>
          <p:nvPr/>
        </p:nvSpPr>
        <p:spPr>
          <a:xfrm>
            <a:off x="2590836" y="3305219"/>
            <a:ext cx="1434900" cy="1434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5" name="Google Shape;1015;p75"/>
          <p:cNvSpPr/>
          <p:nvPr/>
        </p:nvSpPr>
        <p:spPr>
          <a:xfrm rot="7199751">
            <a:off x="5117861" y="3317756"/>
            <a:ext cx="1410177" cy="141017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6" name="Google Shape;1016;p75"/>
          <p:cNvSpPr/>
          <p:nvPr/>
        </p:nvSpPr>
        <p:spPr>
          <a:xfrm rot="-7211911">
            <a:off x="5118047" y="3317991"/>
            <a:ext cx="1409947" cy="1409947"/>
          </a:xfrm>
          <a:prstGeom prst="pie">
            <a:avLst>
              <a:gd name="adj1" fmla="val 9034165"/>
              <a:gd name="adj2" fmla="val 1871428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7" name="Google Shape;1017;p75"/>
          <p:cNvSpPr txBox="1"/>
          <p:nvPr/>
        </p:nvSpPr>
        <p:spPr>
          <a:xfrm>
            <a:off x="5979784" y="3651025"/>
            <a:ext cx="53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5"/>
          <p:cNvSpPr txBox="1"/>
          <p:nvPr/>
        </p:nvSpPr>
        <p:spPr>
          <a:xfrm>
            <a:off x="5184279" y="3938238"/>
            <a:ext cx="80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9" name="Google Shape;1019;p75"/>
          <p:cNvGrpSpPr/>
          <p:nvPr/>
        </p:nvGrpSpPr>
        <p:grpSpPr>
          <a:xfrm>
            <a:off x="5781721" y="3376926"/>
            <a:ext cx="79449" cy="691214"/>
            <a:chOff x="996050" y="213293"/>
            <a:chExt cx="93900" cy="909732"/>
          </a:xfrm>
        </p:grpSpPr>
        <p:cxnSp>
          <p:nvCxnSpPr>
            <p:cNvPr id="1020" name="Google Shape;1020;p7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21" name="Google Shape;1021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2" name="Google Shape;1022;p75"/>
          <p:cNvSpPr txBox="1"/>
          <p:nvPr>
            <p:ph type="body" idx="1"/>
          </p:nvPr>
        </p:nvSpPr>
        <p:spPr>
          <a:xfrm>
            <a:off x="324000" y="1168900"/>
            <a:ext cx="84960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There is an </a:t>
            </a:r>
            <a:r>
              <a:rPr lang="en-GB" sz="2000">
                <a:solidFill>
                  <a:schemeClr val="accent4"/>
                </a:solidFill>
              </a:rPr>
              <a:t>equal chance</a:t>
            </a:r>
            <a:r>
              <a:rPr lang="en-GB" sz="2000"/>
              <a:t> that the spinner lands on each letter because the sectors are all the same size.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023" name="Google Shape;1023;p75"/>
          <p:cNvSpPr txBox="1"/>
          <p:nvPr>
            <p:ph type="body" idx="1"/>
          </p:nvPr>
        </p:nvSpPr>
        <p:spPr>
          <a:xfrm>
            <a:off x="324000" y="1916600"/>
            <a:ext cx="84960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But the likelihood that the spinner </a:t>
            </a:r>
            <a:r>
              <a:rPr lang="en-GB" sz="2000">
                <a:solidFill>
                  <a:schemeClr val="accent4"/>
                </a:solidFill>
              </a:rPr>
              <a:t>lands on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‘A’</a:t>
            </a:r>
            <a:r>
              <a:rPr lang="en-GB" sz="2000"/>
              <a:t> is </a:t>
            </a:r>
            <a:r>
              <a:rPr lang="en-GB" sz="2000">
                <a:solidFill>
                  <a:schemeClr val="accent4"/>
                </a:solidFill>
              </a:rPr>
              <a:t>less than</a:t>
            </a:r>
            <a:r>
              <a:rPr lang="en-GB" sz="2000"/>
              <a:t> the chance that it does </a:t>
            </a:r>
            <a:r>
              <a:rPr lang="en-GB" sz="2000">
                <a:solidFill>
                  <a:schemeClr val="accent4"/>
                </a:solidFill>
              </a:rPr>
              <a:t>not land on ‘A’</a:t>
            </a:r>
            <a:r>
              <a:rPr lang="en-GB" sz="2000"/>
              <a:t>. 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024" name="Google Shape;1024;p75"/>
          <p:cNvSpPr txBox="1"/>
          <p:nvPr>
            <p:ph type="body" idx="1"/>
          </p:nvPr>
        </p:nvSpPr>
        <p:spPr>
          <a:xfrm>
            <a:off x="324000" y="2664300"/>
            <a:ext cx="8496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likelihood it lands on ‘A’ is less than an even chance, so it is </a:t>
            </a:r>
            <a:r>
              <a:rPr lang="en-GB" sz="2000">
                <a:solidFill>
                  <a:schemeClr val="accent4"/>
                </a:solidFill>
              </a:rPr>
              <a:t>unlikely</a:t>
            </a:r>
            <a:r>
              <a:rPr lang="en-GB" sz="2000"/>
              <a:t>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025" name="Google Shape;1025;p75"/>
          <p:cNvSpPr/>
          <p:nvPr/>
        </p:nvSpPr>
        <p:spPr>
          <a:xfrm>
            <a:off x="4356600" y="3828400"/>
            <a:ext cx="496800" cy="38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9" name="Shape 1029"/>
        <p:cNvGrpSpPr/>
        <p:nvPr/>
      </p:nvGrpSpPr>
      <p:grpSpPr>
        <a:xfrm>
          <a:off x="0" y="0"/>
          <a:ext cx="0" cy="0"/>
        </a:xfrm>
      </p:grpSpPr>
      <p:sp>
        <p:nvSpPr>
          <p:cNvPr id="1030" name="Google Shape;1030;p76"/>
          <p:cNvSpPr txBox="1"/>
          <p:nvPr>
            <p:ph type="body" idx="1"/>
          </p:nvPr>
        </p:nvSpPr>
        <p:spPr>
          <a:xfrm>
            <a:off x="324000" y="759300"/>
            <a:ext cx="8496000" cy="7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Andeep, Izzy, Jun, Laura and Sam are playing a game that involves rolling a regular six-sided dice to determine if you can move.</a:t>
            </a:r>
            <a:endParaRPr sz="2000"/>
          </a:p>
        </p:txBody>
      </p:sp>
      <p:sp>
        <p:nvSpPr>
          <p:cNvPr id="1031" name="Google Shape;103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cxnSp>
        <p:nvCxnSpPr>
          <p:cNvPr id="1032" name="Google Shape;1032;p76"/>
          <p:cNvCxnSpPr/>
          <p:nvPr/>
        </p:nvCxnSpPr>
        <p:spPr>
          <a:xfrm>
            <a:off x="1260861" y="4192072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3" name="Google Shape;1033;p76"/>
          <p:cNvCxnSpPr/>
          <p:nvPr/>
        </p:nvCxnSpPr>
        <p:spPr>
          <a:xfrm flipH="1">
            <a:off x="1260883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4" name="Google Shape;1034;p76"/>
          <p:cNvCxnSpPr/>
          <p:nvPr/>
        </p:nvCxnSpPr>
        <p:spPr>
          <a:xfrm flipH="1">
            <a:off x="8088215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76"/>
          <p:cNvCxnSpPr/>
          <p:nvPr/>
        </p:nvCxnSpPr>
        <p:spPr>
          <a:xfrm flipH="1">
            <a:off x="4674549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6" name="Google Shape;1036;p76"/>
          <p:cNvCxnSpPr/>
          <p:nvPr/>
        </p:nvCxnSpPr>
        <p:spPr>
          <a:xfrm>
            <a:off x="1365339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37" name="Google Shape;1037;p76"/>
          <p:cNvCxnSpPr/>
          <p:nvPr/>
        </p:nvCxnSpPr>
        <p:spPr>
          <a:xfrm>
            <a:off x="4774394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38" name="Google Shape;1038;p76"/>
          <p:cNvSpPr txBox="1"/>
          <p:nvPr/>
        </p:nvSpPr>
        <p:spPr>
          <a:xfrm>
            <a:off x="7544628" y="4448634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6"/>
          <p:cNvSpPr txBox="1"/>
          <p:nvPr/>
        </p:nvSpPr>
        <p:spPr>
          <a:xfrm>
            <a:off x="552600" y="4448634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6"/>
          <p:cNvSpPr txBox="1"/>
          <p:nvPr/>
        </p:nvSpPr>
        <p:spPr>
          <a:xfrm>
            <a:off x="2472019" y="4278509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6"/>
          <p:cNvSpPr txBox="1"/>
          <p:nvPr/>
        </p:nvSpPr>
        <p:spPr>
          <a:xfrm>
            <a:off x="6202624" y="4278509"/>
            <a:ext cx="7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6"/>
          <p:cNvSpPr txBox="1"/>
          <p:nvPr/>
        </p:nvSpPr>
        <p:spPr>
          <a:xfrm>
            <a:off x="3834808" y="4448634"/>
            <a:ext cx="167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6"/>
          <p:cNvSpPr txBox="1"/>
          <p:nvPr>
            <p:ph type="body" idx="1"/>
          </p:nvPr>
        </p:nvSpPr>
        <p:spPr>
          <a:xfrm>
            <a:off x="1009800" y="2598491"/>
            <a:ext cx="69096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 can move his piece if he rolls an odd number.</a:t>
            </a:r>
            <a:endParaRPr sz="2000"/>
          </a:p>
        </p:txBody>
      </p:sp>
      <p:pic>
        <p:nvPicPr>
          <p:cNvPr id="1044" name="Google Shape;104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3206" y="2438991"/>
            <a:ext cx="401675" cy="5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5275" y="1933364"/>
            <a:ext cx="428104" cy="415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76"/>
          <p:cNvPicPr preferRelativeResize="0"/>
          <p:nvPr/>
        </p:nvPicPr>
        <p:blipFill>
          <a:blip r:embed="rId5">
            <a:alphaModFix/>
          </a:blip>
          <a:srcRect b="2162"/>
          <a:stretch>
            <a:fillRect/>
          </a:stretch>
        </p:blipFill>
        <p:spPr>
          <a:xfrm>
            <a:off x="3741343" y="1933360"/>
            <a:ext cx="428105" cy="41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9449" y="1940788"/>
            <a:ext cx="407602" cy="40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155" y="1942850"/>
            <a:ext cx="40377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6771" y="1942850"/>
            <a:ext cx="39925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0528" y="1942850"/>
            <a:ext cx="396241" cy="40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22313" y="3307125"/>
            <a:ext cx="401675" cy="5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50981" y="1606903"/>
            <a:ext cx="291550" cy="308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28541" y="1606903"/>
            <a:ext cx="291550" cy="308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06100" y="1606903"/>
            <a:ext cx="291550" cy="308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8" name="Shape 1058"/>
        <p:cNvGrpSpPr/>
        <p:nvPr/>
      </p:nvGrpSpPr>
      <p:grpSpPr>
        <a:xfrm>
          <a:off x="0" y="0"/>
          <a:ext cx="0" cy="0"/>
        </a:xfrm>
      </p:grpSpPr>
      <p:sp>
        <p:nvSpPr>
          <p:cNvPr id="1059" name="Google Shape;105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060" name="Google Shape;1060;p77"/>
          <p:cNvSpPr txBox="1"/>
          <p:nvPr>
            <p:ph type="body" idx="1"/>
          </p:nvPr>
        </p:nvSpPr>
        <p:spPr>
          <a:xfrm>
            <a:off x="324000" y="759300"/>
            <a:ext cx="8496000" cy="7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Andeep, Izzy, Jun, Laura and Sam are playing a game that involves rolling a regular six-sided dice to determine if you can move.</a:t>
            </a:r>
            <a:endParaRPr sz="2000"/>
          </a:p>
        </p:txBody>
      </p:sp>
      <p:cxnSp>
        <p:nvCxnSpPr>
          <p:cNvPr id="1061" name="Google Shape;1061;p77"/>
          <p:cNvCxnSpPr/>
          <p:nvPr/>
        </p:nvCxnSpPr>
        <p:spPr>
          <a:xfrm>
            <a:off x="1260861" y="4192072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2" name="Google Shape;1062;p77"/>
          <p:cNvCxnSpPr/>
          <p:nvPr/>
        </p:nvCxnSpPr>
        <p:spPr>
          <a:xfrm flipH="1">
            <a:off x="1260883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3" name="Google Shape;1063;p77"/>
          <p:cNvCxnSpPr/>
          <p:nvPr/>
        </p:nvCxnSpPr>
        <p:spPr>
          <a:xfrm flipH="1">
            <a:off x="8088215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4" name="Google Shape;1064;p77"/>
          <p:cNvCxnSpPr/>
          <p:nvPr/>
        </p:nvCxnSpPr>
        <p:spPr>
          <a:xfrm flipH="1">
            <a:off x="4674549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5" name="Google Shape;1065;p77"/>
          <p:cNvCxnSpPr/>
          <p:nvPr/>
        </p:nvCxnSpPr>
        <p:spPr>
          <a:xfrm>
            <a:off x="1365339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66" name="Google Shape;1066;p77"/>
          <p:cNvCxnSpPr/>
          <p:nvPr/>
        </p:nvCxnSpPr>
        <p:spPr>
          <a:xfrm>
            <a:off x="4774394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7" name="Google Shape;1067;p77"/>
          <p:cNvSpPr txBox="1"/>
          <p:nvPr/>
        </p:nvSpPr>
        <p:spPr>
          <a:xfrm>
            <a:off x="7544628" y="4448634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7"/>
          <p:cNvSpPr txBox="1"/>
          <p:nvPr/>
        </p:nvSpPr>
        <p:spPr>
          <a:xfrm>
            <a:off x="552600" y="4448634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7"/>
          <p:cNvSpPr txBox="1"/>
          <p:nvPr/>
        </p:nvSpPr>
        <p:spPr>
          <a:xfrm>
            <a:off x="2472019" y="4278509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7"/>
          <p:cNvSpPr txBox="1"/>
          <p:nvPr/>
        </p:nvSpPr>
        <p:spPr>
          <a:xfrm>
            <a:off x="6202624" y="4278509"/>
            <a:ext cx="7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7"/>
          <p:cNvSpPr txBox="1"/>
          <p:nvPr/>
        </p:nvSpPr>
        <p:spPr>
          <a:xfrm>
            <a:off x="3834808" y="4448634"/>
            <a:ext cx="167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7"/>
          <p:cNvSpPr txBox="1"/>
          <p:nvPr>
            <p:ph type="body" idx="1"/>
          </p:nvPr>
        </p:nvSpPr>
        <p:spPr>
          <a:xfrm>
            <a:off x="1009800" y="2598500"/>
            <a:ext cx="50226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Izzy can move her piece if she rolls a 7</a:t>
            </a:r>
            <a:endParaRPr sz="2000"/>
          </a:p>
        </p:txBody>
      </p:sp>
      <p:pic>
        <p:nvPicPr>
          <p:cNvPr id="1073" name="Google Shape;107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5275" y="1933364"/>
            <a:ext cx="428104" cy="415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77"/>
          <p:cNvPicPr preferRelativeResize="0"/>
          <p:nvPr/>
        </p:nvPicPr>
        <p:blipFill>
          <a:blip r:embed="rId4">
            <a:alphaModFix/>
          </a:blip>
          <a:srcRect b="2162"/>
          <a:stretch>
            <a:fillRect/>
          </a:stretch>
        </p:blipFill>
        <p:spPr>
          <a:xfrm>
            <a:off x="3741343" y="1933360"/>
            <a:ext cx="428105" cy="41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9449" y="1940788"/>
            <a:ext cx="407602" cy="40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0155" y="1942850"/>
            <a:ext cx="40377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6771" y="1942850"/>
            <a:ext cx="39925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70528" y="1942850"/>
            <a:ext cx="396241" cy="40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4422313" y="3307125"/>
            <a:ext cx="401675" cy="5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338007" y="2374928"/>
            <a:ext cx="593400" cy="57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940566" y="3240006"/>
            <a:ext cx="593400" cy="5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7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32388" y="1931279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6" name="Shape 1086"/>
        <p:cNvGrpSpPr/>
        <p:nvPr/>
      </p:nvGrpSpPr>
      <p:grpSpPr>
        <a:xfrm>
          <a:off x="0" y="0"/>
          <a:ext cx="0" cy="0"/>
        </a:xfrm>
      </p:grpSpPr>
      <p:sp>
        <p:nvSpPr>
          <p:cNvPr id="1087" name="Google Shape;108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088" name="Google Shape;1088;p78"/>
          <p:cNvSpPr txBox="1"/>
          <p:nvPr>
            <p:ph type="body" idx="1"/>
          </p:nvPr>
        </p:nvSpPr>
        <p:spPr>
          <a:xfrm>
            <a:off x="324000" y="759300"/>
            <a:ext cx="8496000" cy="7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Andeep, Izzy, Jun, Laura and Sam are playing a game that involves rolling a regular six-sided dice to determine if you can move.</a:t>
            </a:r>
            <a:endParaRPr sz="2000"/>
          </a:p>
        </p:txBody>
      </p:sp>
      <p:cxnSp>
        <p:nvCxnSpPr>
          <p:cNvPr id="1089" name="Google Shape;1089;p78"/>
          <p:cNvCxnSpPr/>
          <p:nvPr/>
        </p:nvCxnSpPr>
        <p:spPr>
          <a:xfrm>
            <a:off x="1260861" y="4192072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0" name="Google Shape;1090;p78"/>
          <p:cNvCxnSpPr/>
          <p:nvPr/>
        </p:nvCxnSpPr>
        <p:spPr>
          <a:xfrm flipH="1">
            <a:off x="1260883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1" name="Google Shape;1091;p78"/>
          <p:cNvCxnSpPr/>
          <p:nvPr/>
        </p:nvCxnSpPr>
        <p:spPr>
          <a:xfrm flipH="1">
            <a:off x="8088215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2" name="Google Shape;1092;p78"/>
          <p:cNvCxnSpPr/>
          <p:nvPr/>
        </p:nvCxnSpPr>
        <p:spPr>
          <a:xfrm flipH="1">
            <a:off x="4674549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3" name="Google Shape;1093;p78"/>
          <p:cNvCxnSpPr/>
          <p:nvPr/>
        </p:nvCxnSpPr>
        <p:spPr>
          <a:xfrm>
            <a:off x="1365339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94" name="Google Shape;1094;p78"/>
          <p:cNvCxnSpPr/>
          <p:nvPr/>
        </p:nvCxnSpPr>
        <p:spPr>
          <a:xfrm>
            <a:off x="4774394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95" name="Google Shape;1095;p78"/>
          <p:cNvSpPr txBox="1"/>
          <p:nvPr/>
        </p:nvSpPr>
        <p:spPr>
          <a:xfrm>
            <a:off x="7544628" y="4448634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8"/>
          <p:cNvSpPr txBox="1"/>
          <p:nvPr/>
        </p:nvSpPr>
        <p:spPr>
          <a:xfrm>
            <a:off x="552600" y="4448634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8"/>
          <p:cNvSpPr txBox="1"/>
          <p:nvPr/>
        </p:nvSpPr>
        <p:spPr>
          <a:xfrm>
            <a:off x="2472019" y="4278509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8"/>
          <p:cNvSpPr txBox="1"/>
          <p:nvPr/>
        </p:nvSpPr>
        <p:spPr>
          <a:xfrm>
            <a:off x="6202624" y="4278509"/>
            <a:ext cx="7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8"/>
          <p:cNvSpPr txBox="1"/>
          <p:nvPr/>
        </p:nvSpPr>
        <p:spPr>
          <a:xfrm>
            <a:off x="3834808" y="4448634"/>
            <a:ext cx="167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8"/>
          <p:cNvSpPr txBox="1"/>
          <p:nvPr>
            <p:ph type="body" idx="1"/>
          </p:nvPr>
        </p:nvSpPr>
        <p:spPr>
          <a:xfrm>
            <a:off x="1009800" y="2598500"/>
            <a:ext cx="5502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Jun can move his piece if he rolls an integer.</a:t>
            </a:r>
            <a:endParaRPr sz="2000"/>
          </a:p>
        </p:txBody>
      </p:sp>
      <p:pic>
        <p:nvPicPr>
          <p:cNvPr id="1101" name="Google Shape;110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5275" y="1933364"/>
            <a:ext cx="428104" cy="415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78"/>
          <p:cNvPicPr preferRelativeResize="0"/>
          <p:nvPr/>
        </p:nvPicPr>
        <p:blipFill>
          <a:blip r:embed="rId4">
            <a:alphaModFix/>
          </a:blip>
          <a:srcRect b="2162"/>
          <a:stretch>
            <a:fillRect/>
          </a:stretch>
        </p:blipFill>
        <p:spPr>
          <a:xfrm>
            <a:off x="3741343" y="1933360"/>
            <a:ext cx="428105" cy="41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9449" y="1940788"/>
            <a:ext cx="407602" cy="40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0155" y="1942850"/>
            <a:ext cx="40377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6771" y="1942850"/>
            <a:ext cx="39925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70528" y="1942850"/>
            <a:ext cx="396241" cy="40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4422313" y="3307125"/>
            <a:ext cx="401675" cy="5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940566" y="3240006"/>
            <a:ext cx="593400" cy="5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9872" y="2440312"/>
            <a:ext cx="407600" cy="509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45063" y="3311250"/>
            <a:ext cx="407600" cy="509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78"/>
          <p:cNvGrpSpPr/>
          <p:nvPr/>
        </p:nvGrpSpPr>
        <p:grpSpPr>
          <a:xfrm>
            <a:off x="3350981" y="1606903"/>
            <a:ext cx="2503869" cy="308557"/>
            <a:chOff x="3350981" y="1606903"/>
            <a:chExt cx="2503869" cy="308557"/>
          </a:xfrm>
        </p:grpSpPr>
        <p:pic>
          <p:nvPicPr>
            <p:cNvPr id="1112" name="Google Shape;1112;p7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35098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7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22854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4" name="Google Shape;1114;p7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106100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5" name="Google Shape;1115;p7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80818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" name="Google Shape;1116;p7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68574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7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563300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1" name="Shape 1121"/>
        <p:cNvGrpSpPr/>
        <p:nvPr/>
      </p:nvGrpSpPr>
      <p:grpSpPr>
        <a:xfrm>
          <a:off x="0" y="0"/>
          <a:ext cx="0" cy="0"/>
        </a:xfrm>
      </p:grpSpPr>
      <p:pic>
        <p:nvPicPr>
          <p:cNvPr id="1122" name="Google Shape;112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27" y="2464313"/>
            <a:ext cx="46841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124" name="Google Shape;1124;p79"/>
          <p:cNvSpPr txBox="1"/>
          <p:nvPr>
            <p:ph type="body" idx="1"/>
          </p:nvPr>
        </p:nvSpPr>
        <p:spPr>
          <a:xfrm>
            <a:off x="324000" y="759300"/>
            <a:ext cx="8496000" cy="7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Andeep, Izzy, Jun, Laura and Sam are playing a game that involves rolling a regular six-sided dice to determine if you can move.</a:t>
            </a:r>
            <a:endParaRPr sz="2000"/>
          </a:p>
        </p:txBody>
      </p:sp>
      <p:cxnSp>
        <p:nvCxnSpPr>
          <p:cNvPr id="1125" name="Google Shape;1125;p79"/>
          <p:cNvCxnSpPr/>
          <p:nvPr/>
        </p:nvCxnSpPr>
        <p:spPr>
          <a:xfrm>
            <a:off x="1260861" y="4192072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79"/>
          <p:cNvCxnSpPr/>
          <p:nvPr/>
        </p:nvCxnSpPr>
        <p:spPr>
          <a:xfrm flipH="1">
            <a:off x="1260883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7" name="Google Shape;1127;p79"/>
          <p:cNvCxnSpPr/>
          <p:nvPr/>
        </p:nvCxnSpPr>
        <p:spPr>
          <a:xfrm flipH="1">
            <a:off x="8088215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79"/>
          <p:cNvCxnSpPr/>
          <p:nvPr/>
        </p:nvCxnSpPr>
        <p:spPr>
          <a:xfrm flipH="1">
            <a:off x="4674549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79"/>
          <p:cNvCxnSpPr/>
          <p:nvPr/>
        </p:nvCxnSpPr>
        <p:spPr>
          <a:xfrm>
            <a:off x="1365339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30" name="Google Shape;1130;p79"/>
          <p:cNvCxnSpPr/>
          <p:nvPr/>
        </p:nvCxnSpPr>
        <p:spPr>
          <a:xfrm>
            <a:off x="4774394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1" name="Google Shape;1131;p79"/>
          <p:cNvSpPr txBox="1"/>
          <p:nvPr/>
        </p:nvSpPr>
        <p:spPr>
          <a:xfrm>
            <a:off x="7544628" y="4448634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9"/>
          <p:cNvSpPr txBox="1"/>
          <p:nvPr/>
        </p:nvSpPr>
        <p:spPr>
          <a:xfrm>
            <a:off x="552600" y="4448634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9"/>
          <p:cNvSpPr txBox="1"/>
          <p:nvPr/>
        </p:nvSpPr>
        <p:spPr>
          <a:xfrm>
            <a:off x="2472019" y="4278509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9"/>
          <p:cNvSpPr txBox="1"/>
          <p:nvPr/>
        </p:nvSpPr>
        <p:spPr>
          <a:xfrm>
            <a:off x="6202624" y="4278509"/>
            <a:ext cx="7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9"/>
          <p:cNvSpPr txBox="1"/>
          <p:nvPr/>
        </p:nvSpPr>
        <p:spPr>
          <a:xfrm>
            <a:off x="3834808" y="4448634"/>
            <a:ext cx="167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9"/>
          <p:cNvSpPr txBox="1"/>
          <p:nvPr>
            <p:ph type="body" idx="1"/>
          </p:nvPr>
        </p:nvSpPr>
        <p:spPr>
          <a:xfrm>
            <a:off x="1009800" y="2598500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Laura can move her piece if she rolls a multiple of 3</a:t>
            </a:r>
            <a:endParaRPr sz="2000"/>
          </a:p>
        </p:txBody>
      </p:sp>
      <p:pic>
        <p:nvPicPr>
          <p:cNvPr id="1137" name="Google Shape;113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5275" y="1933364"/>
            <a:ext cx="428104" cy="415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79"/>
          <p:cNvPicPr preferRelativeResize="0"/>
          <p:nvPr/>
        </p:nvPicPr>
        <p:blipFill>
          <a:blip r:embed="rId5">
            <a:alphaModFix/>
          </a:blip>
          <a:srcRect b="2162"/>
          <a:stretch>
            <a:fillRect/>
          </a:stretch>
        </p:blipFill>
        <p:spPr>
          <a:xfrm>
            <a:off x="3741343" y="1933360"/>
            <a:ext cx="428105" cy="41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9449" y="1940788"/>
            <a:ext cx="407602" cy="40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155" y="1942850"/>
            <a:ext cx="40377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6771" y="1942850"/>
            <a:ext cx="39925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0528" y="1942850"/>
            <a:ext cx="396241" cy="40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422313" y="3307125"/>
            <a:ext cx="401675" cy="5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7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940566" y="3240006"/>
            <a:ext cx="593400" cy="5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7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845063" y="3311250"/>
            <a:ext cx="407600" cy="509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6" name="Google Shape;1146;p79"/>
          <p:cNvGrpSpPr/>
          <p:nvPr/>
        </p:nvGrpSpPr>
        <p:grpSpPr>
          <a:xfrm>
            <a:off x="4228541" y="1606903"/>
            <a:ext cx="1626310" cy="308557"/>
            <a:chOff x="4228541" y="1606903"/>
            <a:chExt cx="1626310" cy="308557"/>
          </a:xfrm>
        </p:grpSpPr>
        <p:pic>
          <p:nvPicPr>
            <p:cNvPr id="1147" name="Google Shape;1147;p79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22854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8" name="Google Shape;1148;p79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5563300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9" name="Google Shape;114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5181" y="3324038"/>
            <a:ext cx="468413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pic>
        <p:nvPicPr>
          <p:cNvPr id="1154" name="Google Shape;115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74" y="2449700"/>
            <a:ext cx="353976" cy="509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156" name="Google Shape;1156;p80"/>
          <p:cNvSpPr txBox="1"/>
          <p:nvPr>
            <p:ph type="body" idx="1"/>
          </p:nvPr>
        </p:nvSpPr>
        <p:spPr>
          <a:xfrm>
            <a:off x="324000" y="759300"/>
            <a:ext cx="8496000" cy="7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Andeep, Izzy, Jun, Laura and Sam are playing a game that involves rolling a regular six-sided dice to determine if you can move.</a:t>
            </a:r>
            <a:endParaRPr sz="2000"/>
          </a:p>
        </p:txBody>
      </p:sp>
      <p:cxnSp>
        <p:nvCxnSpPr>
          <p:cNvPr id="1157" name="Google Shape;1157;p80"/>
          <p:cNvCxnSpPr/>
          <p:nvPr/>
        </p:nvCxnSpPr>
        <p:spPr>
          <a:xfrm>
            <a:off x="1260861" y="4192072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8" name="Google Shape;1158;p80"/>
          <p:cNvCxnSpPr/>
          <p:nvPr/>
        </p:nvCxnSpPr>
        <p:spPr>
          <a:xfrm flipH="1">
            <a:off x="1260883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9" name="Google Shape;1159;p80"/>
          <p:cNvCxnSpPr/>
          <p:nvPr/>
        </p:nvCxnSpPr>
        <p:spPr>
          <a:xfrm flipH="1">
            <a:off x="8088215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160;p80"/>
          <p:cNvCxnSpPr/>
          <p:nvPr/>
        </p:nvCxnSpPr>
        <p:spPr>
          <a:xfrm flipH="1">
            <a:off x="4674549" y="3862609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161;p80"/>
          <p:cNvCxnSpPr/>
          <p:nvPr/>
        </p:nvCxnSpPr>
        <p:spPr>
          <a:xfrm>
            <a:off x="1365339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62" name="Google Shape;1162;p80"/>
          <p:cNvCxnSpPr/>
          <p:nvPr/>
        </p:nvCxnSpPr>
        <p:spPr>
          <a:xfrm>
            <a:off x="4774394" y="4354709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63" name="Google Shape;1163;p80"/>
          <p:cNvSpPr txBox="1"/>
          <p:nvPr/>
        </p:nvSpPr>
        <p:spPr>
          <a:xfrm>
            <a:off x="7544628" y="4448634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0"/>
          <p:cNvSpPr txBox="1"/>
          <p:nvPr/>
        </p:nvSpPr>
        <p:spPr>
          <a:xfrm>
            <a:off x="552600" y="4448634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0"/>
          <p:cNvSpPr txBox="1"/>
          <p:nvPr/>
        </p:nvSpPr>
        <p:spPr>
          <a:xfrm>
            <a:off x="2472019" y="4278509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0"/>
          <p:cNvSpPr txBox="1"/>
          <p:nvPr/>
        </p:nvSpPr>
        <p:spPr>
          <a:xfrm>
            <a:off x="6202624" y="4278509"/>
            <a:ext cx="7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0"/>
          <p:cNvSpPr txBox="1"/>
          <p:nvPr/>
        </p:nvSpPr>
        <p:spPr>
          <a:xfrm>
            <a:off x="3834808" y="4448634"/>
            <a:ext cx="167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0"/>
          <p:cNvSpPr txBox="1"/>
          <p:nvPr>
            <p:ph type="body" idx="1"/>
          </p:nvPr>
        </p:nvSpPr>
        <p:spPr>
          <a:xfrm>
            <a:off x="1009800" y="2598500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Sam can move her piece if she rolls a factor of 6</a:t>
            </a:r>
            <a:endParaRPr sz="2000"/>
          </a:p>
        </p:txBody>
      </p:sp>
      <p:pic>
        <p:nvPicPr>
          <p:cNvPr id="1169" name="Google Shape;116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5275" y="1933364"/>
            <a:ext cx="428104" cy="415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80"/>
          <p:cNvPicPr preferRelativeResize="0"/>
          <p:nvPr/>
        </p:nvPicPr>
        <p:blipFill>
          <a:blip r:embed="rId5">
            <a:alphaModFix/>
          </a:blip>
          <a:srcRect b="2162"/>
          <a:stretch>
            <a:fillRect/>
          </a:stretch>
        </p:blipFill>
        <p:spPr>
          <a:xfrm>
            <a:off x="3741343" y="1933360"/>
            <a:ext cx="428105" cy="41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9449" y="1940788"/>
            <a:ext cx="407602" cy="40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0155" y="1942850"/>
            <a:ext cx="40377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6771" y="1942850"/>
            <a:ext cx="399252" cy="4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0528" y="1942850"/>
            <a:ext cx="396241" cy="40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422313" y="3307125"/>
            <a:ext cx="401675" cy="5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8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940566" y="3240006"/>
            <a:ext cx="593400" cy="5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8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845063" y="3311250"/>
            <a:ext cx="407600" cy="509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8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885181" y="3324038"/>
            <a:ext cx="46841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199" y="3339325"/>
            <a:ext cx="353976" cy="509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0" name="Google Shape;1180;p80"/>
          <p:cNvGrpSpPr/>
          <p:nvPr/>
        </p:nvGrpSpPr>
        <p:grpSpPr>
          <a:xfrm>
            <a:off x="3400263" y="1606903"/>
            <a:ext cx="2454588" cy="308557"/>
            <a:chOff x="3400263" y="1606903"/>
            <a:chExt cx="2454588" cy="308557"/>
          </a:xfrm>
        </p:grpSpPr>
        <p:grpSp>
          <p:nvGrpSpPr>
            <p:cNvPr id="1181" name="Google Shape;1181;p80"/>
            <p:cNvGrpSpPr/>
            <p:nvPr/>
          </p:nvGrpSpPr>
          <p:grpSpPr>
            <a:xfrm>
              <a:off x="4228541" y="1606903"/>
              <a:ext cx="1626310" cy="308557"/>
              <a:chOff x="4228541" y="1606903"/>
              <a:chExt cx="1626310" cy="308557"/>
            </a:xfrm>
          </p:grpSpPr>
          <p:pic>
            <p:nvPicPr>
              <p:cNvPr id="1182" name="Google Shape;1182;p80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4228541" y="1606903"/>
                <a:ext cx="291550" cy="308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3" name="Google Shape;1183;p80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5563300" y="1606903"/>
                <a:ext cx="291550" cy="308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84" name="Google Shape;1184;p8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84754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8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400263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9" name="Shape 1189"/>
        <p:cNvGrpSpPr/>
        <p:nvPr/>
      </p:nvGrpSpPr>
      <p:grpSpPr>
        <a:xfrm>
          <a:off x="0" y="0"/>
          <a:ext cx="0" cy="0"/>
        </a:xfrm>
      </p:grpSpPr>
      <p:sp>
        <p:nvSpPr>
          <p:cNvPr id="1190" name="Google Shape;1190;p81"/>
          <p:cNvSpPr txBox="1"/>
          <p:nvPr>
            <p:ph type="subTitle" idx="2"/>
          </p:nvPr>
        </p:nvSpPr>
        <p:spPr>
          <a:xfrm>
            <a:off x="324000" y="1080000"/>
            <a:ext cx="71922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There is an </a:t>
            </a:r>
            <a:r>
              <a:rPr lang="en-GB" b="1"/>
              <a:t>even chance</a:t>
            </a:r>
            <a:r>
              <a:rPr lang="en-GB"/>
              <a:t> that the spinner lands on 1.</a:t>
            </a:r>
            <a:endParaRPr/>
          </a:p>
        </p:txBody>
      </p:sp>
      <p:sp>
        <p:nvSpPr>
          <p:cNvPr id="1191" name="Google Shape;119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192" name="Google Shape;1192;p81"/>
          <p:cNvSpPr txBox="1"/>
          <p:nvPr>
            <p:ph type="subTitle" idx="1"/>
          </p:nvPr>
        </p:nvSpPr>
        <p:spPr>
          <a:xfrm>
            <a:off x="980575" y="3102807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spinner is less likely to land on 1 than it is to land on a number that is not 1.</a:t>
            </a:r>
            <a:endParaRPr/>
          </a:p>
        </p:txBody>
      </p:sp>
      <p:sp>
        <p:nvSpPr>
          <p:cNvPr id="1193" name="Google Shape;1193;p81"/>
          <p:cNvSpPr txBox="1"/>
          <p:nvPr>
            <p:ph type="subTitle" idx="3"/>
          </p:nvPr>
        </p:nvSpPr>
        <p:spPr>
          <a:xfrm>
            <a:off x="980575" y="3947039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spinner is equally likely to land on each number.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194" name="Google Shape;1194;p81"/>
          <p:cNvSpPr/>
          <p:nvPr/>
        </p:nvSpPr>
        <p:spPr>
          <a:xfrm>
            <a:off x="7099559" y="1491197"/>
            <a:ext cx="1574700" cy="1574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5" name="Google Shape;1195;p81"/>
          <p:cNvSpPr/>
          <p:nvPr/>
        </p:nvSpPr>
        <p:spPr>
          <a:xfrm flipH="1">
            <a:off x="7113309" y="1504901"/>
            <a:ext cx="1547100" cy="1547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6" name="Google Shape;1196;p81"/>
          <p:cNvSpPr/>
          <p:nvPr/>
        </p:nvSpPr>
        <p:spPr>
          <a:xfrm>
            <a:off x="7113264" y="1504901"/>
            <a:ext cx="1547100" cy="15471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7" name="Google Shape;1197;p81"/>
          <p:cNvSpPr txBox="1"/>
          <p:nvPr/>
        </p:nvSpPr>
        <p:spPr>
          <a:xfrm>
            <a:off x="7451222" y="2365845"/>
            <a:ext cx="53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1"/>
          <p:cNvSpPr/>
          <p:nvPr/>
        </p:nvSpPr>
        <p:spPr>
          <a:xfrm>
            <a:off x="7113264" y="1504901"/>
            <a:ext cx="1547100" cy="15471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9" name="Google Shape;1199;p81"/>
          <p:cNvSpPr txBox="1"/>
          <p:nvPr/>
        </p:nvSpPr>
        <p:spPr>
          <a:xfrm>
            <a:off x="7451222" y="1729135"/>
            <a:ext cx="53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1"/>
          <p:cNvSpPr/>
          <p:nvPr/>
        </p:nvSpPr>
        <p:spPr>
          <a:xfrm flipH="1">
            <a:off x="7113309" y="1504901"/>
            <a:ext cx="1547100" cy="1547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1" name="Google Shape;1201;p81"/>
          <p:cNvSpPr txBox="1"/>
          <p:nvPr/>
        </p:nvSpPr>
        <p:spPr>
          <a:xfrm>
            <a:off x="7988174" y="1729135"/>
            <a:ext cx="58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1"/>
          <p:cNvSpPr txBox="1"/>
          <p:nvPr/>
        </p:nvSpPr>
        <p:spPr>
          <a:xfrm>
            <a:off x="7988174" y="2365845"/>
            <a:ext cx="58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3" name="Google Shape;1203;p81"/>
          <p:cNvGrpSpPr/>
          <p:nvPr/>
        </p:nvGrpSpPr>
        <p:grpSpPr>
          <a:xfrm>
            <a:off x="7841734" y="1552017"/>
            <a:ext cx="87186" cy="758443"/>
            <a:chOff x="996050" y="213293"/>
            <a:chExt cx="93900" cy="909732"/>
          </a:xfrm>
        </p:grpSpPr>
        <p:cxnSp>
          <p:nvCxnSpPr>
            <p:cNvPr id="1204" name="Google Shape;1204;p8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5" name="Google Shape;1205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1206" name="Google Shape;120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183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883" y="3486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1" name="Shape 1211"/>
        <p:cNvGrpSpPr/>
        <p:nvPr/>
      </p:nvGrpSpPr>
      <p:grpSpPr>
        <a:xfrm>
          <a:off x="0" y="0"/>
          <a:ext cx="0" cy="0"/>
        </a:xfrm>
      </p:grpSpPr>
      <p:sp>
        <p:nvSpPr>
          <p:cNvPr id="1212" name="Google Shape;1212;p82"/>
          <p:cNvSpPr txBox="1"/>
          <p:nvPr>
            <p:ph type="subTitle" idx="2"/>
          </p:nvPr>
        </p:nvSpPr>
        <p:spPr>
          <a:xfrm>
            <a:off x="324000" y="1080000"/>
            <a:ext cx="7236300" cy="64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There is an </a:t>
            </a:r>
            <a:r>
              <a:rPr lang="en-GB" b="1"/>
              <a:t>even chance</a:t>
            </a:r>
            <a:r>
              <a:rPr lang="en-GB"/>
              <a:t> that the spinner lands on an </a:t>
            </a:r>
            <a:r>
              <a:rPr lang="en-GB">
                <a:solidFill>
                  <a:schemeClr val="accent4"/>
                </a:solidFill>
              </a:rPr>
              <a:t>odd</a:t>
            </a:r>
            <a:r>
              <a:rPr lang="en-GB"/>
              <a:t> number.</a:t>
            </a:r>
            <a:endParaRPr/>
          </a:p>
        </p:txBody>
      </p:sp>
      <p:sp>
        <p:nvSpPr>
          <p:cNvPr id="1213" name="Google Shape;121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214" name="Google Shape;1214;p82"/>
          <p:cNvSpPr txBox="1"/>
          <p:nvPr>
            <p:ph type="subTitle" idx="1"/>
          </p:nvPr>
        </p:nvSpPr>
        <p:spPr>
          <a:xfrm>
            <a:off x="980575" y="3102807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spinner is equally likely to land on an odd number as it is to land on a number that is not odd.</a:t>
            </a:r>
            <a:endParaRPr/>
          </a:p>
        </p:txBody>
      </p:sp>
      <p:sp>
        <p:nvSpPr>
          <p:cNvPr id="1215" name="Google Shape;1215;p82"/>
          <p:cNvSpPr txBox="1"/>
          <p:nvPr>
            <p:ph type="subTitle" idx="3"/>
          </p:nvPr>
        </p:nvSpPr>
        <p:spPr>
          <a:xfrm>
            <a:off x="980575" y="3947039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that are equally likely never have an </a:t>
            </a:r>
            <a:r>
              <a:rPr lang="en-GB" b="1"/>
              <a:t>even chance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16" name="Google Shape;1216;p82"/>
          <p:cNvSpPr/>
          <p:nvPr/>
        </p:nvSpPr>
        <p:spPr>
          <a:xfrm>
            <a:off x="7099559" y="1491197"/>
            <a:ext cx="1574700" cy="1574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7" name="Google Shape;1217;p82"/>
          <p:cNvSpPr/>
          <p:nvPr/>
        </p:nvSpPr>
        <p:spPr>
          <a:xfrm flipH="1">
            <a:off x="7113309" y="1504901"/>
            <a:ext cx="1547100" cy="1547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8" name="Google Shape;1218;p82"/>
          <p:cNvSpPr/>
          <p:nvPr/>
        </p:nvSpPr>
        <p:spPr>
          <a:xfrm>
            <a:off x="7113264" y="1504901"/>
            <a:ext cx="1547100" cy="15471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9" name="Google Shape;1219;p82"/>
          <p:cNvSpPr txBox="1"/>
          <p:nvPr/>
        </p:nvSpPr>
        <p:spPr>
          <a:xfrm>
            <a:off x="7451222" y="2365845"/>
            <a:ext cx="53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2"/>
          <p:cNvSpPr/>
          <p:nvPr/>
        </p:nvSpPr>
        <p:spPr>
          <a:xfrm>
            <a:off x="7113264" y="1504901"/>
            <a:ext cx="1547100" cy="15471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1" name="Google Shape;1221;p82"/>
          <p:cNvSpPr txBox="1"/>
          <p:nvPr/>
        </p:nvSpPr>
        <p:spPr>
          <a:xfrm>
            <a:off x="7451222" y="1729135"/>
            <a:ext cx="53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2"/>
          <p:cNvSpPr/>
          <p:nvPr/>
        </p:nvSpPr>
        <p:spPr>
          <a:xfrm flipH="1">
            <a:off x="7113309" y="1504901"/>
            <a:ext cx="1547100" cy="1547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3" name="Google Shape;1223;p82"/>
          <p:cNvSpPr txBox="1"/>
          <p:nvPr/>
        </p:nvSpPr>
        <p:spPr>
          <a:xfrm>
            <a:off x="7988174" y="1729135"/>
            <a:ext cx="58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2"/>
          <p:cNvSpPr txBox="1"/>
          <p:nvPr/>
        </p:nvSpPr>
        <p:spPr>
          <a:xfrm>
            <a:off x="7988174" y="2365845"/>
            <a:ext cx="58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5" name="Google Shape;1225;p82"/>
          <p:cNvGrpSpPr/>
          <p:nvPr/>
        </p:nvGrpSpPr>
        <p:grpSpPr>
          <a:xfrm>
            <a:off x="7841734" y="1552017"/>
            <a:ext cx="87186" cy="758443"/>
            <a:chOff x="996050" y="213293"/>
            <a:chExt cx="93900" cy="909732"/>
          </a:xfrm>
        </p:grpSpPr>
        <p:cxnSp>
          <p:nvCxnSpPr>
            <p:cNvPr id="1226" name="Google Shape;1226;p8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27" name="Google Shape;1227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1228" name="Google Shape;122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158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1083" y="3486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sp>
        <p:nvSpPr>
          <p:cNvPr id="1234" name="Google Shape;1234;p83"/>
          <p:cNvSpPr/>
          <p:nvPr/>
        </p:nvSpPr>
        <p:spPr>
          <a:xfrm>
            <a:off x="614957" y="1421293"/>
            <a:ext cx="1281300" cy="1281300"/>
          </a:xfrm>
          <a:prstGeom prst="ellipse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5" name="Google Shape;1235;p83"/>
          <p:cNvSpPr/>
          <p:nvPr/>
        </p:nvSpPr>
        <p:spPr>
          <a:xfrm>
            <a:off x="4982872" y="3257420"/>
            <a:ext cx="1281300" cy="1281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6" name="Google Shape;1236;p83"/>
          <p:cNvSpPr txBox="1"/>
          <p:nvPr>
            <p:ph type="body" idx="1"/>
          </p:nvPr>
        </p:nvSpPr>
        <p:spPr>
          <a:xfrm>
            <a:off x="324000" y="759300"/>
            <a:ext cx="8496000" cy="63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For each spinner, write down whether the likelihood of it landing on ‘win’ is </a:t>
            </a:r>
            <a:r>
              <a:rPr lang="en-GB" sz="1800" b="1"/>
              <a:t>impossible</a:t>
            </a:r>
            <a:r>
              <a:rPr lang="en-GB" sz="1800"/>
              <a:t>, unlikely, </a:t>
            </a:r>
            <a:r>
              <a:rPr lang="en-GB" sz="1800" b="1"/>
              <a:t>even chance</a:t>
            </a:r>
            <a:r>
              <a:rPr lang="en-GB" sz="1800"/>
              <a:t>, likely or </a:t>
            </a:r>
            <a:r>
              <a:rPr lang="en-GB" sz="1800" b="1"/>
              <a:t>certain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237" name="Google Shape;1237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238" name="Google Shape;1238;p83"/>
          <p:cNvSpPr/>
          <p:nvPr/>
        </p:nvSpPr>
        <p:spPr>
          <a:xfrm>
            <a:off x="3073515" y="3273054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9" name="Google Shape;1239;p83"/>
          <p:cNvSpPr/>
          <p:nvPr/>
        </p:nvSpPr>
        <p:spPr>
          <a:xfrm rot="3055084">
            <a:off x="3084709" y="3284222"/>
            <a:ext cx="1259138" cy="125913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0" name="Google Shape;1240;p83"/>
          <p:cNvSpPr txBox="1"/>
          <p:nvPr/>
        </p:nvSpPr>
        <p:spPr>
          <a:xfrm>
            <a:off x="3703320" y="3294249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3"/>
          <p:cNvSpPr/>
          <p:nvPr/>
        </p:nvSpPr>
        <p:spPr>
          <a:xfrm rot="6174827">
            <a:off x="3084756" y="3284344"/>
            <a:ext cx="1259147" cy="1259147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2" name="Google Shape;1242;p83"/>
          <p:cNvSpPr/>
          <p:nvPr/>
        </p:nvSpPr>
        <p:spPr>
          <a:xfrm rot="9204998">
            <a:off x="3084868" y="3284290"/>
            <a:ext cx="1258996" cy="1258996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3" name="Google Shape;1243;p83"/>
          <p:cNvSpPr/>
          <p:nvPr/>
        </p:nvSpPr>
        <p:spPr>
          <a:xfrm rot="-9366992">
            <a:off x="3085039" y="3284416"/>
            <a:ext cx="1258898" cy="125889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4" name="Google Shape;1244;p83"/>
          <p:cNvSpPr/>
          <p:nvPr/>
        </p:nvSpPr>
        <p:spPr>
          <a:xfrm rot="-6355261">
            <a:off x="3084800" y="3284529"/>
            <a:ext cx="1258786" cy="1258786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5" name="Google Shape;1245;p83"/>
          <p:cNvSpPr/>
          <p:nvPr/>
        </p:nvSpPr>
        <p:spPr>
          <a:xfrm rot="-3302694">
            <a:off x="3084868" y="3284635"/>
            <a:ext cx="1258783" cy="1258783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6" name="Google Shape;1246;p83"/>
          <p:cNvSpPr/>
          <p:nvPr/>
        </p:nvSpPr>
        <p:spPr>
          <a:xfrm rot="-190972">
            <a:off x="3084791" y="3284690"/>
            <a:ext cx="1258942" cy="1258942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7" name="Google Shape;1247;p83"/>
          <p:cNvSpPr txBox="1"/>
          <p:nvPr/>
        </p:nvSpPr>
        <p:spPr>
          <a:xfrm>
            <a:off x="3796651" y="3966069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3"/>
          <p:cNvSpPr txBox="1"/>
          <p:nvPr/>
        </p:nvSpPr>
        <p:spPr>
          <a:xfrm>
            <a:off x="3095379" y="3991819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3"/>
          <p:cNvSpPr txBox="1"/>
          <p:nvPr/>
        </p:nvSpPr>
        <p:spPr>
          <a:xfrm>
            <a:off x="3211662" y="3293134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3"/>
          <p:cNvSpPr txBox="1"/>
          <p:nvPr/>
        </p:nvSpPr>
        <p:spPr>
          <a:xfrm>
            <a:off x="3047677" y="3624834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3"/>
          <p:cNvSpPr txBox="1"/>
          <p:nvPr/>
        </p:nvSpPr>
        <p:spPr>
          <a:xfrm>
            <a:off x="3834057" y="3635722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3"/>
          <p:cNvSpPr txBox="1"/>
          <p:nvPr/>
        </p:nvSpPr>
        <p:spPr>
          <a:xfrm>
            <a:off x="3455923" y="4199399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3" name="Google Shape;1253;p83"/>
          <p:cNvGrpSpPr/>
          <p:nvPr/>
        </p:nvGrpSpPr>
        <p:grpSpPr>
          <a:xfrm>
            <a:off x="3677387" y="3315268"/>
            <a:ext cx="70941" cy="617162"/>
            <a:chOff x="996050" y="213293"/>
            <a:chExt cx="93900" cy="909732"/>
          </a:xfrm>
        </p:grpSpPr>
        <p:cxnSp>
          <p:nvCxnSpPr>
            <p:cNvPr id="1254" name="Google Shape;1254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55" name="Google Shape;1255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56" name="Google Shape;1256;p83"/>
          <p:cNvSpPr/>
          <p:nvPr/>
        </p:nvSpPr>
        <p:spPr>
          <a:xfrm>
            <a:off x="1162701" y="3273054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7" name="Google Shape;1257;p83"/>
          <p:cNvSpPr/>
          <p:nvPr/>
        </p:nvSpPr>
        <p:spPr>
          <a:xfrm rot="8650220">
            <a:off x="1173724" y="3284094"/>
            <a:ext cx="1259188" cy="125918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8" name="Google Shape;1258;p83"/>
          <p:cNvSpPr/>
          <p:nvPr/>
        </p:nvSpPr>
        <p:spPr>
          <a:xfrm rot="-8629262">
            <a:off x="1174021" y="3284506"/>
            <a:ext cx="1258832" cy="125883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9" name="Google Shape;1259;p83"/>
          <p:cNvSpPr/>
          <p:nvPr/>
        </p:nvSpPr>
        <p:spPr>
          <a:xfrm rot="-4310225">
            <a:off x="1174006" y="3284446"/>
            <a:ext cx="1258822" cy="125882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0" name="Google Shape;1260;p83"/>
          <p:cNvSpPr/>
          <p:nvPr/>
        </p:nvSpPr>
        <p:spPr>
          <a:xfrm>
            <a:off x="1174066" y="3284521"/>
            <a:ext cx="1258800" cy="12588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1" name="Google Shape;1261;p83"/>
          <p:cNvSpPr txBox="1"/>
          <p:nvPr/>
        </p:nvSpPr>
        <p:spPr>
          <a:xfrm>
            <a:off x="1535571" y="4204598"/>
            <a:ext cx="68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3"/>
          <p:cNvSpPr/>
          <p:nvPr/>
        </p:nvSpPr>
        <p:spPr>
          <a:xfrm rot="4312037">
            <a:off x="1174117" y="3284245"/>
            <a:ext cx="1258920" cy="1258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3" name="Google Shape;1263;p83"/>
          <p:cNvSpPr txBox="1"/>
          <p:nvPr/>
        </p:nvSpPr>
        <p:spPr>
          <a:xfrm>
            <a:off x="1250081" y="3383008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3"/>
          <p:cNvSpPr txBox="1"/>
          <p:nvPr/>
        </p:nvSpPr>
        <p:spPr>
          <a:xfrm>
            <a:off x="1814297" y="3391338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3"/>
          <p:cNvSpPr txBox="1"/>
          <p:nvPr/>
        </p:nvSpPr>
        <p:spPr>
          <a:xfrm>
            <a:off x="1867201" y="379348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3"/>
          <p:cNvSpPr txBox="1"/>
          <p:nvPr/>
        </p:nvSpPr>
        <p:spPr>
          <a:xfrm>
            <a:off x="1151048" y="3805290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7" name="Google Shape;1267;p83"/>
          <p:cNvGrpSpPr/>
          <p:nvPr/>
        </p:nvGrpSpPr>
        <p:grpSpPr>
          <a:xfrm>
            <a:off x="1766573" y="3315268"/>
            <a:ext cx="70941" cy="617162"/>
            <a:chOff x="996050" y="213293"/>
            <a:chExt cx="93900" cy="909732"/>
          </a:xfrm>
        </p:grpSpPr>
        <p:cxnSp>
          <p:nvCxnSpPr>
            <p:cNvPr id="1268" name="Google Shape;1268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69" name="Google Shape;1269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70" name="Google Shape;1270;p83"/>
          <p:cNvSpPr/>
          <p:nvPr/>
        </p:nvSpPr>
        <p:spPr>
          <a:xfrm rot="-3572524">
            <a:off x="4993961" y="3268720"/>
            <a:ext cx="1258814" cy="1258814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1" name="Google Shape;1271;p83"/>
          <p:cNvSpPr txBox="1"/>
          <p:nvPr/>
        </p:nvSpPr>
        <p:spPr>
          <a:xfrm>
            <a:off x="5094775" y="328004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3"/>
          <p:cNvSpPr/>
          <p:nvPr/>
        </p:nvSpPr>
        <p:spPr>
          <a:xfrm flipH="1">
            <a:off x="4993964" y="3268573"/>
            <a:ext cx="1259100" cy="12591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3" name="Google Shape;1273;p83"/>
          <p:cNvSpPr/>
          <p:nvPr/>
        </p:nvSpPr>
        <p:spPr>
          <a:xfrm rot="3616222" flipH="1">
            <a:off x="4994209" y="3268656"/>
            <a:ext cx="1258903" cy="1258903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4" name="Google Shape;1274;p83"/>
          <p:cNvSpPr/>
          <p:nvPr/>
        </p:nvSpPr>
        <p:spPr>
          <a:xfrm rot="7179309" flipH="1">
            <a:off x="4993777" y="3268269"/>
            <a:ext cx="1259351" cy="1259351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5" name="Google Shape;1275;p83"/>
          <p:cNvSpPr txBox="1"/>
          <p:nvPr/>
        </p:nvSpPr>
        <p:spPr>
          <a:xfrm>
            <a:off x="5619507" y="3312606"/>
            <a:ext cx="68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3"/>
          <p:cNvSpPr txBox="1"/>
          <p:nvPr/>
        </p:nvSpPr>
        <p:spPr>
          <a:xfrm>
            <a:off x="5568999" y="4082446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3"/>
          <p:cNvSpPr/>
          <p:nvPr/>
        </p:nvSpPr>
        <p:spPr>
          <a:xfrm rot="-7167623">
            <a:off x="4994051" y="3268676"/>
            <a:ext cx="1258993" cy="125899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8" name="Google Shape;1278;p83"/>
          <p:cNvSpPr/>
          <p:nvPr/>
        </p:nvSpPr>
        <p:spPr>
          <a:xfrm rot="10800000">
            <a:off x="4994165" y="3268865"/>
            <a:ext cx="1258800" cy="1258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9" name="Google Shape;1279;p83"/>
          <p:cNvSpPr txBox="1"/>
          <p:nvPr/>
        </p:nvSpPr>
        <p:spPr>
          <a:xfrm>
            <a:off x="5737274" y="369344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3"/>
          <p:cNvSpPr txBox="1"/>
          <p:nvPr/>
        </p:nvSpPr>
        <p:spPr>
          <a:xfrm>
            <a:off x="5131375" y="4087421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83"/>
          <p:cNvSpPr txBox="1"/>
          <p:nvPr/>
        </p:nvSpPr>
        <p:spPr>
          <a:xfrm>
            <a:off x="4941949" y="3726571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2" name="Google Shape;1282;p83"/>
          <p:cNvGrpSpPr/>
          <p:nvPr/>
        </p:nvGrpSpPr>
        <p:grpSpPr>
          <a:xfrm>
            <a:off x="5586744" y="3306903"/>
            <a:ext cx="70941" cy="617162"/>
            <a:chOff x="996050" y="213293"/>
            <a:chExt cx="93900" cy="909732"/>
          </a:xfrm>
        </p:grpSpPr>
        <p:cxnSp>
          <p:nvCxnSpPr>
            <p:cNvPr id="1283" name="Google Shape;1283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84" name="Google Shape;1284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85" name="Google Shape;1285;p83"/>
          <p:cNvSpPr/>
          <p:nvPr/>
        </p:nvSpPr>
        <p:spPr>
          <a:xfrm rot="3616222" flipH="1">
            <a:off x="625915" y="1432529"/>
            <a:ext cx="1258903" cy="1258903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6" name="Google Shape;1286;p83"/>
          <p:cNvSpPr txBox="1"/>
          <p:nvPr/>
        </p:nvSpPr>
        <p:spPr>
          <a:xfrm>
            <a:off x="760611" y="1526240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3"/>
          <p:cNvSpPr/>
          <p:nvPr/>
        </p:nvSpPr>
        <p:spPr>
          <a:xfrm flipH="1">
            <a:off x="620470" y="1432445"/>
            <a:ext cx="1259100" cy="1259100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8" name="Google Shape;1288;p83"/>
          <p:cNvSpPr/>
          <p:nvPr/>
        </p:nvSpPr>
        <p:spPr>
          <a:xfrm rot="7179309" flipH="1">
            <a:off x="620284" y="1437340"/>
            <a:ext cx="1259351" cy="1259351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9" name="Google Shape;1289;p83"/>
          <p:cNvSpPr/>
          <p:nvPr/>
        </p:nvSpPr>
        <p:spPr>
          <a:xfrm rot="-7167623">
            <a:off x="620557" y="1432549"/>
            <a:ext cx="1258993" cy="125899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0" name="Google Shape;1290;p83"/>
          <p:cNvSpPr/>
          <p:nvPr/>
        </p:nvSpPr>
        <p:spPr>
          <a:xfrm rot="10800000">
            <a:off x="620672" y="1432737"/>
            <a:ext cx="1258800" cy="1258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1" name="Google Shape;1291;p83"/>
          <p:cNvSpPr txBox="1"/>
          <p:nvPr/>
        </p:nvSpPr>
        <p:spPr>
          <a:xfrm>
            <a:off x="554269" y="1846861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3"/>
          <p:cNvSpPr txBox="1"/>
          <p:nvPr/>
        </p:nvSpPr>
        <p:spPr>
          <a:xfrm>
            <a:off x="743269" y="2251301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3" name="Google Shape;1293;p83"/>
          <p:cNvGrpSpPr/>
          <p:nvPr/>
        </p:nvGrpSpPr>
        <p:grpSpPr>
          <a:xfrm>
            <a:off x="1213250" y="1470776"/>
            <a:ext cx="70941" cy="617162"/>
            <a:chOff x="996050" y="213293"/>
            <a:chExt cx="93900" cy="909732"/>
          </a:xfrm>
        </p:grpSpPr>
        <p:cxnSp>
          <p:nvCxnSpPr>
            <p:cNvPr id="1294" name="Google Shape;1294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5" name="Google Shape;1295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96" name="Google Shape;1296;p83"/>
          <p:cNvSpPr/>
          <p:nvPr/>
        </p:nvSpPr>
        <p:spPr>
          <a:xfrm>
            <a:off x="2308700" y="1446113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7" name="Google Shape;1297;p83"/>
          <p:cNvSpPr/>
          <p:nvPr/>
        </p:nvSpPr>
        <p:spPr>
          <a:xfrm flipH="1">
            <a:off x="2319792" y="1457265"/>
            <a:ext cx="1259100" cy="1259100"/>
          </a:xfrm>
          <a:prstGeom prst="pie">
            <a:avLst>
              <a:gd name="adj1" fmla="val 5387953"/>
              <a:gd name="adj2" fmla="val 5914623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8" name="Google Shape;1298;p83"/>
          <p:cNvSpPr/>
          <p:nvPr/>
        </p:nvSpPr>
        <p:spPr>
          <a:xfrm>
            <a:off x="2319853" y="1457265"/>
            <a:ext cx="1259100" cy="1259100"/>
          </a:xfrm>
          <a:prstGeom prst="pie">
            <a:avLst>
              <a:gd name="adj1" fmla="val 5387953"/>
              <a:gd name="adj2" fmla="val 4867295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9" name="Google Shape;1299;p83"/>
          <p:cNvSpPr txBox="1"/>
          <p:nvPr/>
        </p:nvSpPr>
        <p:spPr>
          <a:xfrm>
            <a:off x="2422154" y="1927593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3"/>
          <p:cNvSpPr txBox="1"/>
          <p:nvPr/>
        </p:nvSpPr>
        <p:spPr>
          <a:xfrm>
            <a:off x="3074072" y="2625437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1" name="Google Shape;1301;p83"/>
          <p:cNvGrpSpPr/>
          <p:nvPr/>
        </p:nvGrpSpPr>
        <p:grpSpPr>
          <a:xfrm>
            <a:off x="2912572" y="1516040"/>
            <a:ext cx="70941" cy="617162"/>
            <a:chOff x="996050" y="213293"/>
            <a:chExt cx="93900" cy="909732"/>
          </a:xfrm>
        </p:grpSpPr>
        <p:cxnSp>
          <p:nvCxnSpPr>
            <p:cNvPr id="1302" name="Google Shape;1302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03" name="Google Shape;1303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04" name="Google Shape;1304;p83"/>
          <p:cNvSpPr/>
          <p:nvPr/>
        </p:nvSpPr>
        <p:spPr>
          <a:xfrm>
            <a:off x="5661705" y="1446113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5" name="Google Shape;1305;p83"/>
          <p:cNvSpPr/>
          <p:nvPr/>
        </p:nvSpPr>
        <p:spPr>
          <a:xfrm flipH="1">
            <a:off x="5672797" y="1457265"/>
            <a:ext cx="1259100" cy="1259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6" name="Google Shape;1306;p83"/>
          <p:cNvSpPr/>
          <p:nvPr/>
        </p:nvSpPr>
        <p:spPr>
          <a:xfrm>
            <a:off x="5672857" y="1457265"/>
            <a:ext cx="1259100" cy="12591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7" name="Google Shape;1307;p83"/>
          <p:cNvSpPr txBox="1"/>
          <p:nvPr/>
        </p:nvSpPr>
        <p:spPr>
          <a:xfrm>
            <a:off x="5759536" y="2157898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3"/>
          <p:cNvSpPr/>
          <p:nvPr/>
        </p:nvSpPr>
        <p:spPr>
          <a:xfrm>
            <a:off x="5672857" y="1457265"/>
            <a:ext cx="1259100" cy="12591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9" name="Google Shape;1309;p83"/>
          <p:cNvSpPr txBox="1"/>
          <p:nvPr/>
        </p:nvSpPr>
        <p:spPr>
          <a:xfrm>
            <a:off x="5759523" y="1639746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3"/>
          <p:cNvSpPr/>
          <p:nvPr/>
        </p:nvSpPr>
        <p:spPr>
          <a:xfrm flipH="1">
            <a:off x="5672797" y="1457265"/>
            <a:ext cx="1259100" cy="1259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1" name="Google Shape;1311;p83"/>
          <p:cNvSpPr txBox="1"/>
          <p:nvPr/>
        </p:nvSpPr>
        <p:spPr>
          <a:xfrm>
            <a:off x="6311624" y="163974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3"/>
          <p:cNvSpPr txBox="1"/>
          <p:nvPr/>
        </p:nvSpPr>
        <p:spPr>
          <a:xfrm>
            <a:off x="6311625" y="215789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3" name="Google Shape;1313;p83"/>
          <p:cNvGrpSpPr/>
          <p:nvPr/>
        </p:nvGrpSpPr>
        <p:grpSpPr>
          <a:xfrm>
            <a:off x="6265577" y="1495596"/>
            <a:ext cx="70941" cy="617162"/>
            <a:chOff x="996050" y="213293"/>
            <a:chExt cx="93900" cy="909732"/>
          </a:xfrm>
        </p:grpSpPr>
        <p:cxnSp>
          <p:nvCxnSpPr>
            <p:cNvPr id="1314" name="Google Shape;1314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15" name="Google Shape;1315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16" name="Google Shape;1316;p83"/>
          <p:cNvSpPr/>
          <p:nvPr/>
        </p:nvSpPr>
        <p:spPr>
          <a:xfrm>
            <a:off x="6895169" y="3282241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7" name="Google Shape;1317;p83"/>
          <p:cNvSpPr/>
          <p:nvPr/>
        </p:nvSpPr>
        <p:spPr>
          <a:xfrm flipH="1">
            <a:off x="6906261" y="3293393"/>
            <a:ext cx="1259100" cy="1259100"/>
          </a:xfrm>
          <a:prstGeom prst="pie">
            <a:avLst>
              <a:gd name="adj1" fmla="val 8122935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8" name="Google Shape;1318;p83"/>
          <p:cNvSpPr txBox="1"/>
          <p:nvPr/>
        </p:nvSpPr>
        <p:spPr>
          <a:xfrm>
            <a:off x="7661198" y="3834208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3"/>
          <p:cNvSpPr/>
          <p:nvPr/>
        </p:nvSpPr>
        <p:spPr>
          <a:xfrm>
            <a:off x="6906321" y="3293393"/>
            <a:ext cx="1259100" cy="12591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0" name="Google Shape;1320;p83"/>
          <p:cNvSpPr/>
          <p:nvPr/>
        </p:nvSpPr>
        <p:spPr>
          <a:xfrm flipH="1">
            <a:off x="6906261" y="3293393"/>
            <a:ext cx="1259100" cy="1259100"/>
          </a:xfrm>
          <a:prstGeom prst="pie">
            <a:avLst>
              <a:gd name="adj1" fmla="val 10838302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1" name="Google Shape;1321;p83"/>
          <p:cNvSpPr txBox="1"/>
          <p:nvPr/>
        </p:nvSpPr>
        <p:spPr>
          <a:xfrm>
            <a:off x="7542139" y="3436433"/>
            <a:ext cx="77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3"/>
          <p:cNvSpPr/>
          <p:nvPr/>
        </p:nvSpPr>
        <p:spPr>
          <a:xfrm>
            <a:off x="6906321" y="3293393"/>
            <a:ext cx="1259100" cy="12591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3" name="Google Shape;1323;p83"/>
          <p:cNvSpPr txBox="1"/>
          <p:nvPr/>
        </p:nvSpPr>
        <p:spPr>
          <a:xfrm>
            <a:off x="7066074" y="3273996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3"/>
          <p:cNvSpPr/>
          <p:nvPr/>
        </p:nvSpPr>
        <p:spPr>
          <a:xfrm>
            <a:off x="6906321" y="3293393"/>
            <a:ext cx="1259100" cy="12591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5" name="Google Shape;1325;p83"/>
          <p:cNvSpPr txBox="1"/>
          <p:nvPr/>
        </p:nvSpPr>
        <p:spPr>
          <a:xfrm>
            <a:off x="6860875" y="385349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3"/>
          <p:cNvSpPr/>
          <p:nvPr/>
        </p:nvSpPr>
        <p:spPr>
          <a:xfrm flipH="1">
            <a:off x="6906261" y="3293393"/>
            <a:ext cx="1259100" cy="1259100"/>
          </a:xfrm>
          <a:prstGeom prst="pie">
            <a:avLst>
              <a:gd name="adj1" fmla="val 2722096"/>
              <a:gd name="adj2" fmla="val 808442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7" name="Google Shape;1327;p83"/>
          <p:cNvSpPr txBox="1"/>
          <p:nvPr/>
        </p:nvSpPr>
        <p:spPr>
          <a:xfrm>
            <a:off x="7263171" y="4122276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8" name="Google Shape;1328;p83"/>
          <p:cNvGrpSpPr/>
          <p:nvPr/>
        </p:nvGrpSpPr>
        <p:grpSpPr>
          <a:xfrm>
            <a:off x="7499034" y="3293385"/>
            <a:ext cx="70941" cy="650003"/>
            <a:chOff x="996050" y="213293"/>
            <a:chExt cx="93900" cy="909732"/>
          </a:xfrm>
        </p:grpSpPr>
        <p:cxnSp>
          <p:nvCxnSpPr>
            <p:cNvPr id="1329" name="Google Shape;1329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30" name="Google Shape;1330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31" name="Google Shape;1331;p83"/>
          <p:cNvSpPr txBox="1"/>
          <p:nvPr/>
        </p:nvSpPr>
        <p:spPr>
          <a:xfrm>
            <a:off x="6871842" y="357737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3"/>
          <p:cNvSpPr/>
          <p:nvPr/>
        </p:nvSpPr>
        <p:spPr>
          <a:xfrm>
            <a:off x="7365644" y="1430988"/>
            <a:ext cx="1259100" cy="1259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3" name="Google Shape;1333;p83"/>
          <p:cNvSpPr/>
          <p:nvPr/>
        </p:nvSpPr>
        <p:spPr>
          <a:xfrm flipH="1">
            <a:off x="7376813" y="1441949"/>
            <a:ext cx="1237200" cy="12372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4" name="Google Shape;1334;p83"/>
          <p:cNvSpPr/>
          <p:nvPr/>
        </p:nvSpPr>
        <p:spPr>
          <a:xfrm>
            <a:off x="7376605" y="1441949"/>
            <a:ext cx="1237200" cy="1237200"/>
          </a:xfrm>
          <a:prstGeom prst="pie">
            <a:avLst>
              <a:gd name="adj1" fmla="val 5387953"/>
              <a:gd name="adj2" fmla="val 161926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5" name="Google Shape;1335;p83"/>
          <p:cNvSpPr txBox="1"/>
          <p:nvPr/>
        </p:nvSpPr>
        <p:spPr>
          <a:xfrm>
            <a:off x="7448498" y="1797722"/>
            <a:ext cx="66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3"/>
          <p:cNvSpPr/>
          <p:nvPr/>
        </p:nvSpPr>
        <p:spPr>
          <a:xfrm flipH="1">
            <a:off x="7376813" y="1441949"/>
            <a:ext cx="1237200" cy="12372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7" name="Google Shape;1337;p83"/>
          <p:cNvSpPr txBox="1"/>
          <p:nvPr/>
        </p:nvSpPr>
        <p:spPr>
          <a:xfrm>
            <a:off x="7985008" y="1638947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3"/>
          <p:cNvSpPr txBox="1"/>
          <p:nvPr/>
        </p:nvSpPr>
        <p:spPr>
          <a:xfrm>
            <a:off x="7981250" y="2110582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9" name="Google Shape;1339;p83"/>
          <p:cNvGrpSpPr/>
          <p:nvPr/>
        </p:nvGrpSpPr>
        <p:grpSpPr>
          <a:xfrm>
            <a:off x="7959221" y="1479610"/>
            <a:ext cx="69730" cy="606518"/>
            <a:chOff x="996050" y="213293"/>
            <a:chExt cx="93900" cy="909732"/>
          </a:xfrm>
        </p:grpSpPr>
        <p:cxnSp>
          <p:nvCxnSpPr>
            <p:cNvPr id="1340" name="Google Shape;1340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1" name="Google Shape;1341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42" name="Google Shape;1342;p83"/>
          <p:cNvSpPr/>
          <p:nvPr/>
        </p:nvSpPr>
        <p:spPr>
          <a:xfrm>
            <a:off x="3940432" y="1446113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3" name="Google Shape;1343;p83"/>
          <p:cNvSpPr/>
          <p:nvPr/>
        </p:nvSpPr>
        <p:spPr>
          <a:xfrm flipH="1">
            <a:off x="3951524" y="1457265"/>
            <a:ext cx="1259100" cy="1259100"/>
          </a:xfrm>
          <a:prstGeom prst="pie">
            <a:avLst>
              <a:gd name="adj1" fmla="val 5387953"/>
              <a:gd name="adj2" fmla="val 495462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4" name="Google Shape;1344;p83"/>
          <p:cNvSpPr/>
          <p:nvPr/>
        </p:nvSpPr>
        <p:spPr>
          <a:xfrm>
            <a:off x="3951584" y="1457265"/>
            <a:ext cx="1259100" cy="1259100"/>
          </a:xfrm>
          <a:prstGeom prst="pie">
            <a:avLst>
              <a:gd name="adj1" fmla="val 5387953"/>
              <a:gd name="adj2" fmla="val 5854871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5" name="Google Shape;1345;p83"/>
          <p:cNvSpPr txBox="1"/>
          <p:nvPr/>
        </p:nvSpPr>
        <p:spPr>
          <a:xfrm>
            <a:off x="3980681" y="2617936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3"/>
          <p:cNvSpPr txBox="1"/>
          <p:nvPr/>
        </p:nvSpPr>
        <p:spPr>
          <a:xfrm>
            <a:off x="4637080" y="1747582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7" name="Google Shape;1347;p83"/>
          <p:cNvGrpSpPr/>
          <p:nvPr/>
        </p:nvGrpSpPr>
        <p:grpSpPr>
          <a:xfrm>
            <a:off x="4544304" y="1516040"/>
            <a:ext cx="70941" cy="617162"/>
            <a:chOff x="996050" y="213293"/>
            <a:chExt cx="93900" cy="909732"/>
          </a:xfrm>
        </p:grpSpPr>
        <p:cxnSp>
          <p:nvCxnSpPr>
            <p:cNvPr id="1348" name="Google Shape;1348;p8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9" name="Google Shape;1349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1350" name="Google Shape;1350;p83"/>
          <p:cNvCxnSpPr/>
          <p:nvPr/>
        </p:nvCxnSpPr>
        <p:spPr>
          <a:xfrm rot="10800000" flipH="1">
            <a:off x="4410532" y="2661433"/>
            <a:ext cx="129000" cy="1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1" name="Google Shape;1351;p83"/>
          <p:cNvSpPr txBox="1"/>
          <p:nvPr/>
        </p:nvSpPr>
        <p:spPr>
          <a:xfrm>
            <a:off x="1217758" y="1527574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3"/>
          <p:cNvSpPr txBox="1"/>
          <p:nvPr/>
        </p:nvSpPr>
        <p:spPr>
          <a:xfrm>
            <a:off x="1359528" y="1846861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3"/>
          <p:cNvSpPr txBox="1"/>
          <p:nvPr/>
        </p:nvSpPr>
        <p:spPr>
          <a:xfrm>
            <a:off x="1200699" y="2228532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4" name="Google Shape;1354;p83"/>
          <p:cNvCxnSpPr/>
          <p:nvPr/>
        </p:nvCxnSpPr>
        <p:spPr>
          <a:xfrm rot="10800000">
            <a:off x="2992575" y="2661071"/>
            <a:ext cx="145200" cy="15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5" name="Google Shape;1355;p83"/>
          <p:cNvSpPr txBox="1"/>
          <p:nvPr/>
        </p:nvSpPr>
        <p:spPr>
          <a:xfrm>
            <a:off x="398501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3"/>
          <p:cNvSpPr txBox="1"/>
          <p:nvPr/>
        </p:nvSpPr>
        <p:spPr>
          <a:xfrm>
            <a:off x="2078348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3"/>
          <p:cNvSpPr txBox="1"/>
          <p:nvPr/>
        </p:nvSpPr>
        <p:spPr>
          <a:xfrm>
            <a:off x="3758195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3"/>
          <p:cNvSpPr txBox="1"/>
          <p:nvPr/>
        </p:nvSpPr>
        <p:spPr>
          <a:xfrm>
            <a:off x="5438042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3"/>
          <p:cNvSpPr txBox="1"/>
          <p:nvPr/>
        </p:nvSpPr>
        <p:spPr>
          <a:xfrm>
            <a:off x="7117889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3"/>
          <p:cNvSpPr txBox="1"/>
          <p:nvPr/>
        </p:nvSpPr>
        <p:spPr>
          <a:xfrm>
            <a:off x="898961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3"/>
          <p:cNvSpPr txBox="1"/>
          <p:nvPr/>
        </p:nvSpPr>
        <p:spPr>
          <a:xfrm>
            <a:off x="2806410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3"/>
          <p:cNvSpPr txBox="1"/>
          <p:nvPr/>
        </p:nvSpPr>
        <p:spPr>
          <a:xfrm>
            <a:off x="4713858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3"/>
          <p:cNvSpPr txBox="1"/>
          <p:nvPr/>
        </p:nvSpPr>
        <p:spPr>
          <a:xfrm>
            <a:off x="6621307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7" name="Shape 1367"/>
        <p:cNvGrpSpPr/>
        <p:nvPr/>
      </p:nvGrpSpPr>
      <p:grpSpPr>
        <a:xfrm>
          <a:off x="0" y="0"/>
          <a:ext cx="0" cy="0"/>
        </a:xfrm>
      </p:grpSpPr>
      <p:sp>
        <p:nvSpPr>
          <p:cNvPr id="1368" name="Google Shape;1368;p84"/>
          <p:cNvSpPr txBox="1"/>
          <p:nvPr>
            <p:ph type="body" idx="1"/>
          </p:nvPr>
        </p:nvSpPr>
        <p:spPr>
          <a:xfrm>
            <a:off x="324000" y="759300"/>
            <a:ext cx="8496000" cy="122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Aisha, Izzy, Jacob, Lucas and Sofia are playing a game that involves rolling a regular six-sided dice to determine if you can move.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information below shows what each person needs to roll in order to move their piece forward.</a:t>
            </a:r>
            <a:endParaRPr sz="1800"/>
          </a:p>
        </p:txBody>
      </p:sp>
      <p:sp>
        <p:nvSpPr>
          <p:cNvPr id="1369" name="Google Shape;1369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370" name="Google Shape;1370;p84"/>
          <p:cNvSpPr txBox="1"/>
          <p:nvPr>
            <p:ph type="body" idx="1"/>
          </p:nvPr>
        </p:nvSpPr>
        <p:spPr>
          <a:xfrm>
            <a:off x="324025" y="3274625"/>
            <a:ext cx="8496000" cy="57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Represent the likelihood of each person moving their piece on the scale of likelihoods by writing the first letter of their name in the correct space.</a:t>
            </a:r>
            <a:endParaRPr sz="1800"/>
          </a:p>
        </p:txBody>
      </p:sp>
      <p:grpSp>
        <p:nvGrpSpPr>
          <p:cNvPr id="1371" name="Google Shape;1371;p84"/>
          <p:cNvGrpSpPr/>
          <p:nvPr/>
        </p:nvGrpSpPr>
        <p:grpSpPr>
          <a:xfrm>
            <a:off x="1260850" y="4161208"/>
            <a:ext cx="6838200" cy="382829"/>
            <a:chOff x="1260861" y="3941077"/>
            <a:chExt cx="6838200" cy="658800"/>
          </a:xfrm>
        </p:grpSpPr>
        <p:cxnSp>
          <p:nvCxnSpPr>
            <p:cNvPr id="1372" name="Google Shape;1372;p84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3" name="Google Shape;1373;p84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4" name="Google Shape;1374;p84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5" name="Google Shape;1375;p84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6" name="Google Shape;1376;p84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77" name="Google Shape;1377;p84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378" name="Google Shape;1378;p84"/>
          <p:cNvSpPr txBox="1"/>
          <p:nvPr/>
        </p:nvSpPr>
        <p:spPr>
          <a:xfrm>
            <a:off x="7544628" y="4463602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4"/>
          <p:cNvSpPr txBox="1"/>
          <p:nvPr/>
        </p:nvSpPr>
        <p:spPr>
          <a:xfrm>
            <a:off x="552600" y="4463602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4"/>
          <p:cNvSpPr txBox="1"/>
          <p:nvPr/>
        </p:nvSpPr>
        <p:spPr>
          <a:xfrm>
            <a:off x="2472019" y="435697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4"/>
          <p:cNvSpPr txBox="1"/>
          <p:nvPr/>
        </p:nvSpPr>
        <p:spPr>
          <a:xfrm>
            <a:off x="6126424" y="435697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4"/>
          <p:cNvSpPr txBox="1"/>
          <p:nvPr/>
        </p:nvSpPr>
        <p:spPr>
          <a:xfrm>
            <a:off x="3834808" y="4463602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3" name="Google Shape;138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53" y="2060525"/>
            <a:ext cx="306196" cy="57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9538" y="2149467"/>
            <a:ext cx="428029" cy="48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186051" y="2083800"/>
            <a:ext cx="561301" cy="54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019154" y="2160001"/>
            <a:ext cx="389887" cy="48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680843" y="2149484"/>
            <a:ext cx="433093" cy="48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84"/>
          <p:cNvSpPr txBox="1"/>
          <p:nvPr>
            <p:ph type="body" idx="1"/>
          </p:nvPr>
        </p:nvSpPr>
        <p:spPr>
          <a:xfrm>
            <a:off x="561752" y="2625600"/>
            <a:ext cx="6990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Aisha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89" name="Google Shape;1389;p84"/>
          <p:cNvSpPr txBox="1"/>
          <p:nvPr>
            <p:ph type="body" idx="1"/>
          </p:nvPr>
        </p:nvSpPr>
        <p:spPr>
          <a:xfrm>
            <a:off x="2210925" y="2625605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Izzy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0" name="Google Shape;1390;p84"/>
          <p:cNvSpPr txBox="1"/>
          <p:nvPr>
            <p:ph type="body" idx="1"/>
          </p:nvPr>
        </p:nvSpPr>
        <p:spPr>
          <a:xfrm>
            <a:off x="3998927" y="2625600"/>
            <a:ext cx="7920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Jacob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1" name="Google Shape;1391;p84"/>
          <p:cNvSpPr txBox="1"/>
          <p:nvPr>
            <p:ph type="body" idx="1"/>
          </p:nvPr>
        </p:nvSpPr>
        <p:spPr>
          <a:xfrm>
            <a:off x="5680746" y="2625605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Sofia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2" name="Google Shape;1392;p84"/>
          <p:cNvSpPr txBox="1"/>
          <p:nvPr>
            <p:ph type="body" idx="1"/>
          </p:nvPr>
        </p:nvSpPr>
        <p:spPr>
          <a:xfrm>
            <a:off x="7267354" y="2625600"/>
            <a:ext cx="7920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3" name="Google Shape;1393;p84"/>
          <p:cNvSpPr txBox="1"/>
          <p:nvPr>
            <p:ph type="body" idx="1"/>
          </p:nvPr>
        </p:nvSpPr>
        <p:spPr>
          <a:xfrm>
            <a:off x="561750" y="2854200"/>
            <a:ext cx="14379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factor of 24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4" name="Google Shape;1394;p84"/>
          <p:cNvSpPr txBox="1"/>
          <p:nvPr>
            <p:ph type="body" idx="1"/>
          </p:nvPr>
        </p:nvSpPr>
        <p:spPr>
          <a:xfrm>
            <a:off x="2210923" y="2854200"/>
            <a:ext cx="15267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multiple of 1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5" name="Google Shape;1395;p84"/>
          <p:cNvSpPr txBox="1"/>
          <p:nvPr>
            <p:ph type="body" idx="1"/>
          </p:nvPr>
        </p:nvSpPr>
        <p:spPr>
          <a:xfrm>
            <a:off x="3998899" y="2854200"/>
            <a:ext cx="13938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factor of 25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6" name="Google Shape;1396;p84"/>
          <p:cNvSpPr txBox="1"/>
          <p:nvPr>
            <p:ph type="body" idx="1"/>
          </p:nvPr>
        </p:nvSpPr>
        <p:spPr>
          <a:xfrm>
            <a:off x="5680749" y="2854200"/>
            <a:ext cx="15267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non-integer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397" name="Google Shape;1397;p84"/>
          <p:cNvSpPr txBox="1"/>
          <p:nvPr>
            <p:ph type="body" idx="1"/>
          </p:nvPr>
        </p:nvSpPr>
        <p:spPr>
          <a:xfrm>
            <a:off x="7231600" y="2854200"/>
            <a:ext cx="1595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prime number</a:t>
            </a:r>
            <a:endParaRPr sz="1800">
              <a:solidFill>
                <a:srgbClr val="282828"/>
              </a:solidFill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1" name="Shape 1401"/>
        <p:cNvGrpSpPr/>
        <p:nvPr/>
      </p:nvGrpSpPr>
      <p:grpSpPr>
        <a:xfrm>
          <a:off x="0" y="0"/>
          <a:ext cx="0" cy="0"/>
        </a:xfrm>
      </p:grpSpPr>
      <p:sp>
        <p:nvSpPr>
          <p:cNvPr id="1402" name="Google Shape;1402;p85"/>
          <p:cNvSpPr/>
          <p:nvPr/>
        </p:nvSpPr>
        <p:spPr>
          <a:xfrm>
            <a:off x="614957" y="1421293"/>
            <a:ext cx="1281300" cy="1281300"/>
          </a:xfrm>
          <a:prstGeom prst="ellipse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3" name="Google Shape;1403;p85"/>
          <p:cNvSpPr/>
          <p:nvPr/>
        </p:nvSpPr>
        <p:spPr>
          <a:xfrm>
            <a:off x="4982872" y="3257420"/>
            <a:ext cx="1281300" cy="1281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4" name="Google Shape;1404;p85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For each spinner, write down whether the likelihood of it landing on ‘win’ is </a:t>
            </a:r>
            <a:r>
              <a:rPr lang="en-GB" sz="1800" b="1"/>
              <a:t>impossible</a:t>
            </a:r>
            <a:r>
              <a:rPr lang="en-GB" sz="1800"/>
              <a:t>, unlikely, </a:t>
            </a:r>
            <a:r>
              <a:rPr lang="en-GB" sz="1800" b="1"/>
              <a:t>even chance</a:t>
            </a:r>
            <a:r>
              <a:rPr lang="en-GB" sz="1800"/>
              <a:t>, likely or </a:t>
            </a:r>
            <a:r>
              <a:rPr lang="en-GB" sz="1800" b="1"/>
              <a:t>certain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405" name="Google Shape;1405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406" name="Google Shape;1406;p85"/>
          <p:cNvSpPr/>
          <p:nvPr/>
        </p:nvSpPr>
        <p:spPr>
          <a:xfrm>
            <a:off x="3073515" y="3273054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7" name="Google Shape;1407;p85"/>
          <p:cNvSpPr/>
          <p:nvPr/>
        </p:nvSpPr>
        <p:spPr>
          <a:xfrm rot="3055084">
            <a:off x="3084709" y="3284222"/>
            <a:ext cx="1259138" cy="125913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8" name="Google Shape;1408;p85"/>
          <p:cNvSpPr txBox="1"/>
          <p:nvPr/>
        </p:nvSpPr>
        <p:spPr>
          <a:xfrm>
            <a:off x="3703320" y="3294249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5"/>
          <p:cNvSpPr/>
          <p:nvPr/>
        </p:nvSpPr>
        <p:spPr>
          <a:xfrm rot="6174827">
            <a:off x="3084756" y="3284344"/>
            <a:ext cx="1259147" cy="1259147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0" name="Google Shape;1410;p85"/>
          <p:cNvSpPr/>
          <p:nvPr/>
        </p:nvSpPr>
        <p:spPr>
          <a:xfrm rot="9204998">
            <a:off x="3084868" y="3284290"/>
            <a:ext cx="1258996" cy="1258996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1" name="Google Shape;1411;p85"/>
          <p:cNvSpPr/>
          <p:nvPr/>
        </p:nvSpPr>
        <p:spPr>
          <a:xfrm rot="-9366992">
            <a:off x="3085039" y="3284416"/>
            <a:ext cx="1258898" cy="125889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2" name="Google Shape;1412;p85"/>
          <p:cNvSpPr/>
          <p:nvPr/>
        </p:nvSpPr>
        <p:spPr>
          <a:xfrm rot="-6355261">
            <a:off x="3084800" y="3284529"/>
            <a:ext cx="1258786" cy="1258786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85"/>
          <p:cNvSpPr/>
          <p:nvPr/>
        </p:nvSpPr>
        <p:spPr>
          <a:xfrm rot="-3302694">
            <a:off x="3084868" y="3284635"/>
            <a:ext cx="1258783" cy="1258783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4" name="Google Shape;1414;p85"/>
          <p:cNvSpPr/>
          <p:nvPr/>
        </p:nvSpPr>
        <p:spPr>
          <a:xfrm rot="-190972">
            <a:off x="3084791" y="3284690"/>
            <a:ext cx="1258942" cy="1258942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5" name="Google Shape;1415;p85"/>
          <p:cNvSpPr txBox="1"/>
          <p:nvPr/>
        </p:nvSpPr>
        <p:spPr>
          <a:xfrm>
            <a:off x="3796651" y="3966069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5"/>
          <p:cNvSpPr txBox="1"/>
          <p:nvPr/>
        </p:nvSpPr>
        <p:spPr>
          <a:xfrm>
            <a:off x="3095379" y="3991819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5"/>
          <p:cNvSpPr txBox="1"/>
          <p:nvPr/>
        </p:nvSpPr>
        <p:spPr>
          <a:xfrm>
            <a:off x="3211662" y="3293134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5"/>
          <p:cNvSpPr txBox="1"/>
          <p:nvPr/>
        </p:nvSpPr>
        <p:spPr>
          <a:xfrm>
            <a:off x="3047677" y="3624834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5"/>
          <p:cNvSpPr txBox="1"/>
          <p:nvPr/>
        </p:nvSpPr>
        <p:spPr>
          <a:xfrm>
            <a:off x="3834057" y="3635722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5"/>
          <p:cNvSpPr txBox="1"/>
          <p:nvPr/>
        </p:nvSpPr>
        <p:spPr>
          <a:xfrm>
            <a:off x="3455923" y="4199399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1" name="Google Shape;1421;p85"/>
          <p:cNvGrpSpPr/>
          <p:nvPr/>
        </p:nvGrpSpPr>
        <p:grpSpPr>
          <a:xfrm>
            <a:off x="3677387" y="3315268"/>
            <a:ext cx="70941" cy="617162"/>
            <a:chOff x="996050" y="213293"/>
            <a:chExt cx="93900" cy="909732"/>
          </a:xfrm>
        </p:grpSpPr>
        <p:cxnSp>
          <p:nvCxnSpPr>
            <p:cNvPr id="1422" name="Google Shape;1422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23" name="Google Shape;1423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24" name="Google Shape;1424;p85"/>
          <p:cNvSpPr/>
          <p:nvPr/>
        </p:nvSpPr>
        <p:spPr>
          <a:xfrm>
            <a:off x="1162701" y="3273054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5" name="Google Shape;1425;p85"/>
          <p:cNvSpPr/>
          <p:nvPr/>
        </p:nvSpPr>
        <p:spPr>
          <a:xfrm rot="8650220">
            <a:off x="1173724" y="3284094"/>
            <a:ext cx="1259188" cy="125918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6" name="Google Shape;1426;p85"/>
          <p:cNvSpPr/>
          <p:nvPr/>
        </p:nvSpPr>
        <p:spPr>
          <a:xfrm rot="-8629262">
            <a:off x="1174021" y="3284506"/>
            <a:ext cx="1258832" cy="125883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7" name="Google Shape;1427;p85"/>
          <p:cNvSpPr/>
          <p:nvPr/>
        </p:nvSpPr>
        <p:spPr>
          <a:xfrm rot="-4310225">
            <a:off x="1174006" y="3284446"/>
            <a:ext cx="1258822" cy="125882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8" name="Google Shape;1428;p85"/>
          <p:cNvSpPr/>
          <p:nvPr/>
        </p:nvSpPr>
        <p:spPr>
          <a:xfrm>
            <a:off x="1174066" y="3284521"/>
            <a:ext cx="1258800" cy="12588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85"/>
          <p:cNvSpPr txBox="1"/>
          <p:nvPr/>
        </p:nvSpPr>
        <p:spPr>
          <a:xfrm>
            <a:off x="1535571" y="4204598"/>
            <a:ext cx="68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5"/>
          <p:cNvSpPr/>
          <p:nvPr/>
        </p:nvSpPr>
        <p:spPr>
          <a:xfrm rot="4312037">
            <a:off x="1174117" y="3284245"/>
            <a:ext cx="1258920" cy="1258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1" name="Google Shape;1431;p85"/>
          <p:cNvSpPr txBox="1"/>
          <p:nvPr/>
        </p:nvSpPr>
        <p:spPr>
          <a:xfrm>
            <a:off x="1250081" y="3383008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5"/>
          <p:cNvSpPr txBox="1"/>
          <p:nvPr/>
        </p:nvSpPr>
        <p:spPr>
          <a:xfrm>
            <a:off x="1814297" y="3391338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5"/>
          <p:cNvSpPr txBox="1"/>
          <p:nvPr/>
        </p:nvSpPr>
        <p:spPr>
          <a:xfrm>
            <a:off x="1867201" y="379348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5"/>
          <p:cNvSpPr txBox="1"/>
          <p:nvPr/>
        </p:nvSpPr>
        <p:spPr>
          <a:xfrm>
            <a:off x="1151048" y="3805290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5" name="Google Shape;1435;p85"/>
          <p:cNvGrpSpPr/>
          <p:nvPr/>
        </p:nvGrpSpPr>
        <p:grpSpPr>
          <a:xfrm>
            <a:off x="1766573" y="3315268"/>
            <a:ext cx="70941" cy="617162"/>
            <a:chOff x="996050" y="213293"/>
            <a:chExt cx="93900" cy="909732"/>
          </a:xfrm>
        </p:grpSpPr>
        <p:cxnSp>
          <p:nvCxnSpPr>
            <p:cNvPr id="1436" name="Google Shape;1436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37" name="Google Shape;1437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85"/>
          <p:cNvSpPr/>
          <p:nvPr/>
        </p:nvSpPr>
        <p:spPr>
          <a:xfrm rot="-3572524">
            <a:off x="4993961" y="3268720"/>
            <a:ext cx="1258814" cy="1258814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9" name="Google Shape;1439;p85"/>
          <p:cNvSpPr txBox="1"/>
          <p:nvPr/>
        </p:nvSpPr>
        <p:spPr>
          <a:xfrm>
            <a:off x="5094775" y="328004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5"/>
          <p:cNvSpPr/>
          <p:nvPr/>
        </p:nvSpPr>
        <p:spPr>
          <a:xfrm flipH="1">
            <a:off x="4993964" y="3268573"/>
            <a:ext cx="1259100" cy="12591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1" name="Google Shape;1441;p85"/>
          <p:cNvSpPr/>
          <p:nvPr/>
        </p:nvSpPr>
        <p:spPr>
          <a:xfrm rot="3616222" flipH="1">
            <a:off x="4994209" y="3268656"/>
            <a:ext cx="1258903" cy="1258903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2" name="Google Shape;1442;p85"/>
          <p:cNvSpPr/>
          <p:nvPr/>
        </p:nvSpPr>
        <p:spPr>
          <a:xfrm rot="7179309" flipH="1">
            <a:off x="4993777" y="3268269"/>
            <a:ext cx="1259351" cy="1259351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3" name="Google Shape;1443;p85"/>
          <p:cNvSpPr txBox="1"/>
          <p:nvPr/>
        </p:nvSpPr>
        <p:spPr>
          <a:xfrm>
            <a:off x="5619507" y="3312606"/>
            <a:ext cx="68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5"/>
          <p:cNvSpPr txBox="1"/>
          <p:nvPr/>
        </p:nvSpPr>
        <p:spPr>
          <a:xfrm>
            <a:off x="5568999" y="4082446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5"/>
          <p:cNvSpPr/>
          <p:nvPr/>
        </p:nvSpPr>
        <p:spPr>
          <a:xfrm rot="-7167623">
            <a:off x="4994051" y="3268676"/>
            <a:ext cx="1258993" cy="125899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6" name="Google Shape;1446;p85"/>
          <p:cNvSpPr/>
          <p:nvPr/>
        </p:nvSpPr>
        <p:spPr>
          <a:xfrm rot="10800000">
            <a:off x="4994165" y="3268865"/>
            <a:ext cx="1258800" cy="1258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7" name="Google Shape;1447;p85"/>
          <p:cNvSpPr txBox="1"/>
          <p:nvPr/>
        </p:nvSpPr>
        <p:spPr>
          <a:xfrm>
            <a:off x="5737274" y="369344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5"/>
          <p:cNvSpPr txBox="1"/>
          <p:nvPr/>
        </p:nvSpPr>
        <p:spPr>
          <a:xfrm>
            <a:off x="5131375" y="4087421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5"/>
          <p:cNvSpPr txBox="1"/>
          <p:nvPr/>
        </p:nvSpPr>
        <p:spPr>
          <a:xfrm>
            <a:off x="4941949" y="3726571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0" name="Google Shape;1450;p85"/>
          <p:cNvGrpSpPr/>
          <p:nvPr/>
        </p:nvGrpSpPr>
        <p:grpSpPr>
          <a:xfrm>
            <a:off x="5586744" y="3306903"/>
            <a:ext cx="70941" cy="617162"/>
            <a:chOff x="996050" y="213293"/>
            <a:chExt cx="93900" cy="909732"/>
          </a:xfrm>
        </p:grpSpPr>
        <p:cxnSp>
          <p:nvCxnSpPr>
            <p:cNvPr id="1451" name="Google Shape;1451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52" name="Google Shape;1452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53" name="Google Shape;1453;p85"/>
          <p:cNvSpPr/>
          <p:nvPr/>
        </p:nvSpPr>
        <p:spPr>
          <a:xfrm rot="3616222" flipH="1">
            <a:off x="625915" y="1432529"/>
            <a:ext cx="1258903" cy="1258903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4" name="Google Shape;1454;p85"/>
          <p:cNvSpPr txBox="1"/>
          <p:nvPr/>
        </p:nvSpPr>
        <p:spPr>
          <a:xfrm>
            <a:off x="760611" y="1526240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5"/>
          <p:cNvSpPr/>
          <p:nvPr/>
        </p:nvSpPr>
        <p:spPr>
          <a:xfrm flipH="1">
            <a:off x="620470" y="1432445"/>
            <a:ext cx="1259100" cy="1259100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6" name="Google Shape;1456;p85"/>
          <p:cNvSpPr/>
          <p:nvPr/>
        </p:nvSpPr>
        <p:spPr>
          <a:xfrm rot="7179309" flipH="1">
            <a:off x="620284" y="1437340"/>
            <a:ext cx="1259351" cy="1259351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7" name="Google Shape;1457;p85"/>
          <p:cNvSpPr/>
          <p:nvPr/>
        </p:nvSpPr>
        <p:spPr>
          <a:xfrm rot="-7167623">
            <a:off x="620557" y="1432549"/>
            <a:ext cx="1258993" cy="125899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8" name="Google Shape;1458;p85"/>
          <p:cNvSpPr/>
          <p:nvPr/>
        </p:nvSpPr>
        <p:spPr>
          <a:xfrm rot="10800000">
            <a:off x="620672" y="1432737"/>
            <a:ext cx="1258800" cy="1258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9" name="Google Shape;1459;p85"/>
          <p:cNvSpPr txBox="1"/>
          <p:nvPr/>
        </p:nvSpPr>
        <p:spPr>
          <a:xfrm>
            <a:off x="554269" y="1846861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5"/>
          <p:cNvSpPr txBox="1"/>
          <p:nvPr/>
        </p:nvSpPr>
        <p:spPr>
          <a:xfrm>
            <a:off x="743269" y="2251301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1" name="Google Shape;1461;p85"/>
          <p:cNvGrpSpPr/>
          <p:nvPr/>
        </p:nvGrpSpPr>
        <p:grpSpPr>
          <a:xfrm>
            <a:off x="1213250" y="1470776"/>
            <a:ext cx="70941" cy="617162"/>
            <a:chOff x="996050" y="213293"/>
            <a:chExt cx="93900" cy="909732"/>
          </a:xfrm>
        </p:grpSpPr>
        <p:cxnSp>
          <p:nvCxnSpPr>
            <p:cNvPr id="1462" name="Google Shape;1462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63" name="Google Shape;1463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64" name="Google Shape;1464;p85"/>
          <p:cNvSpPr/>
          <p:nvPr/>
        </p:nvSpPr>
        <p:spPr>
          <a:xfrm>
            <a:off x="2308700" y="1446113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5" name="Google Shape;1465;p85"/>
          <p:cNvSpPr/>
          <p:nvPr/>
        </p:nvSpPr>
        <p:spPr>
          <a:xfrm flipH="1">
            <a:off x="2319792" y="1457265"/>
            <a:ext cx="1259100" cy="1259100"/>
          </a:xfrm>
          <a:prstGeom prst="pie">
            <a:avLst>
              <a:gd name="adj1" fmla="val 5387953"/>
              <a:gd name="adj2" fmla="val 5914623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6" name="Google Shape;1466;p85"/>
          <p:cNvSpPr/>
          <p:nvPr/>
        </p:nvSpPr>
        <p:spPr>
          <a:xfrm>
            <a:off x="2319853" y="1457265"/>
            <a:ext cx="1259100" cy="1259100"/>
          </a:xfrm>
          <a:prstGeom prst="pie">
            <a:avLst>
              <a:gd name="adj1" fmla="val 5387953"/>
              <a:gd name="adj2" fmla="val 4867295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7" name="Google Shape;1467;p85"/>
          <p:cNvSpPr txBox="1"/>
          <p:nvPr/>
        </p:nvSpPr>
        <p:spPr>
          <a:xfrm>
            <a:off x="2422154" y="1927593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5"/>
          <p:cNvSpPr txBox="1"/>
          <p:nvPr/>
        </p:nvSpPr>
        <p:spPr>
          <a:xfrm>
            <a:off x="3074072" y="2625437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9" name="Google Shape;1469;p85"/>
          <p:cNvGrpSpPr/>
          <p:nvPr/>
        </p:nvGrpSpPr>
        <p:grpSpPr>
          <a:xfrm>
            <a:off x="2912572" y="1516040"/>
            <a:ext cx="70941" cy="617162"/>
            <a:chOff x="996050" y="213293"/>
            <a:chExt cx="93900" cy="909732"/>
          </a:xfrm>
        </p:grpSpPr>
        <p:cxnSp>
          <p:nvCxnSpPr>
            <p:cNvPr id="1470" name="Google Shape;1470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1" name="Google Shape;1471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72" name="Google Shape;1472;p85"/>
          <p:cNvSpPr/>
          <p:nvPr/>
        </p:nvSpPr>
        <p:spPr>
          <a:xfrm>
            <a:off x="5661705" y="1446113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3" name="Google Shape;1473;p85"/>
          <p:cNvSpPr/>
          <p:nvPr/>
        </p:nvSpPr>
        <p:spPr>
          <a:xfrm flipH="1">
            <a:off x="5672797" y="1457265"/>
            <a:ext cx="1259100" cy="1259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4" name="Google Shape;1474;p85"/>
          <p:cNvSpPr/>
          <p:nvPr/>
        </p:nvSpPr>
        <p:spPr>
          <a:xfrm>
            <a:off x="5672857" y="1457265"/>
            <a:ext cx="1259100" cy="12591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5" name="Google Shape;1475;p85"/>
          <p:cNvSpPr txBox="1"/>
          <p:nvPr/>
        </p:nvSpPr>
        <p:spPr>
          <a:xfrm>
            <a:off x="5759536" y="2157898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85"/>
          <p:cNvSpPr/>
          <p:nvPr/>
        </p:nvSpPr>
        <p:spPr>
          <a:xfrm>
            <a:off x="5672857" y="1457265"/>
            <a:ext cx="1259100" cy="12591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7" name="Google Shape;1477;p85"/>
          <p:cNvSpPr txBox="1"/>
          <p:nvPr/>
        </p:nvSpPr>
        <p:spPr>
          <a:xfrm>
            <a:off x="5759523" y="1639746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85"/>
          <p:cNvSpPr/>
          <p:nvPr/>
        </p:nvSpPr>
        <p:spPr>
          <a:xfrm flipH="1">
            <a:off x="5672797" y="1457265"/>
            <a:ext cx="1259100" cy="1259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9" name="Google Shape;1479;p85"/>
          <p:cNvSpPr txBox="1"/>
          <p:nvPr/>
        </p:nvSpPr>
        <p:spPr>
          <a:xfrm>
            <a:off x="6311624" y="163974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85"/>
          <p:cNvSpPr txBox="1"/>
          <p:nvPr/>
        </p:nvSpPr>
        <p:spPr>
          <a:xfrm>
            <a:off x="6311625" y="215789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1" name="Google Shape;1481;p85"/>
          <p:cNvGrpSpPr/>
          <p:nvPr/>
        </p:nvGrpSpPr>
        <p:grpSpPr>
          <a:xfrm>
            <a:off x="6265577" y="1495596"/>
            <a:ext cx="70941" cy="617162"/>
            <a:chOff x="996050" y="213293"/>
            <a:chExt cx="93900" cy="909732"/>
          </a:xfrm>
        </p:grpSpPr>
        <p:cxnSp>
          <p:nvCxnSpPr>
            <p:cNvPr id="1482" name="Google Shape;1482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83" name="Google Shape;1483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84" name="Google Shape;1484;p85"/>
          <p:cNvSpPr/>
          <p:nvPr/>
        </p:nvSpPr>
        <p:spPr>
          <a:xfrm>
            <a:off x="6895169" y="3282241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5" name="Google Shape;1485;p85"/>
          <p:cNvSpPr/>
          <p:nvPr/>
        </p:nvSpPr>
        <p:spPr>
          <a:xfrm flipH="1">
            <a:off x="6906261" y="3293393"/>
            <a:ext cx="1259100" cy="1259100"/>
          </a:xfrm>
          <a:prstGeom prst="pie">
            <a:avLst>
              <a:gd name="adj1" fmla="val 8122935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6" name="Google Shape;1486;p85"/>
          <p:cNvSpPr txBox="1"/>
          <p:nvPr/>
        </p:nvSpPr>
        <p:spPr>
          <a:xfrm>
            <a:off x="7661198" y="3834208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85"/>
          <p:cNvSpPr/>
          <p:nvPr/>
        </p:nvSpPr>
        <p:spPr>
          <a:xfrm>
            <a:off x="6906321" y="3293393"/>
            <a:ext cx="1259100" cy="12591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8" name="Google Shape;1488;p85"/>
          <p:cNvSpPr/>
          <p:nvPr/>
        </p:nvSpPr>
        <p:spPr>
          <a:xfrm flipH="1">
            <a:off x="6906261" y="3293393"/>
            <a:ext cx="1259100" cy="1259100"/>
          </a:xfrm>
          <a:prstGeom prst="pie">
            <a:avLst>
              <a:gd name="adj1" fmla="val 10838302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9" name="Google Shape;1489;p85"/>
          <p:cNvSpPr txBox="1"/>
          <p:nvPr/>
        </p:nvSpPr>
        <p:spPr>
          <a:xfrm>
            <a:off x="7542139" y="3436433"/>
            <a:ext cx="77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5"/>
          <p:cNvSpPr/>
          <p:nvPr/>
        </p:nvSpPr>
        <p:spPr>
          <a:xfrm>
            <a:off x="6906321" y="3293393"/>
            <a:ext cx="1259100" cy="12591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1" name="Google Shape;1491;p85"/>
          <p:cNvSpPr txBox="1"/>
          <p:nvPr/>
        </p:nvSpPr>
        <p:spPr>
          <a:xfrm>
            <a:off x="7066074" y="3273996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85"/>
          <p:cNvSpPr/>
          <p:nvPr/>
        </p:nvSpPr>
        <p:spPr>
          <a:xfrm>
            <a:off x="6906321" y="3293393"/>
            <a:ext cx="1259100" cy="12591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3" name="Google Shape;1493;p85"/>
          <p:cNvSpPr txBox="1"/>
          <p:nvPr/>
        </p:nvSpPr>
        <p:spPr>
          <a:xfrm>
            <a:off x="6860875" y="3853496"/>
            <a:ext cx="60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5"/>
          <p:cNvSpPr/>
          <p:nvPr/>
        </p:nvSpPr>
        <p:spPr>
          <a:xfrm flipH="1">
            <a:off x="6906261" y="3293393"/>
            <a:ext cx="1259100" cy="1259100"/>
          </a:xfrm>
          <a:prstGeom prst="pie">
            <a:avLst>
              <a:gd name="adj1" fmla="val 2722096"/>
              <a:gd name="adj2" fmla="val 808442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5" name="Google Shape;1495;p85"/>
          <p:cNvSpPr txBox="1"/>
          <p:nvPr/>
        </p:nvSpPr>
        <p:spPr>
          <a:xfrm>
            <a:off x="7263171" y="4122276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6" name="Google Shape;1496;p85"/>
          <p:cNvGrpSpPr/>
          <p:nvPr/>
        </p:nvGrpSpPr>
        <p:grpSpPr>
          <a:xfrm>
            <a:off x="7499034" y="3293385"/>
            <a:ext cx="70941" cy="650003"/>
            <a:chOff x="996050" y="213293"/>
            <a:chExt cx="93900" cy="909732"/>
          </a:xfrm>
        </p:grpSpPr>
        <p:cxnSp>
          <p:nvCxnSpPr>
            <p:cNvPr id="1497" name="Google Shape;1497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98" name="Google Shape;1498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85"/>
          <p:cNvSpPr txBox="1"/>
          <p:nvPr/>
        </p:nvSpPr>
        <p:spPr>
          <a:xfrm>
            <a:off x="6871842" y="357737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5"/>
          <p:cNvSpPr/>
          <p:nvPr/>
        </p:nvSpPr>
        <p:spPr>
          <a:xfrm>
            <a:off x="7365644" y="1430988"/>
            <a:ext cx="1259100" cy="1259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1" name="Google Shape;1501;p85"/>
          <p:cNvSpPr/>
          <p:nvPr/>
        </p:nvSpPr>
        <p:spPr>
          <a:xfrm flipH="1">
            <a:off x="7376813" y="1441949"/>
            <a:ext cx="1237200" cy="12372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2" name="Google Shape;1502;p85"/>
          <p:cNvSpPr/>
          <p:nvPr/>
        </p:nvSpPr>
        <p:spPr>
          <a:xfrm>
            <a:off x="7376605" y="1441949"/>
            <a:ext cx="1237200" cy="1237200"/>
          </a:xfrm>
          <a:prstGeom prst="pie">
            <a:avLst>
              <a:gd name="adj1" fmla="val 5387953"/>
              <a:gd name="adj2" fmla="val 161926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3" name="Google Shape;1503;p85"/>
          <p:cNvSpPr txBox="1"/>
          <p:nvPr/>
        </p:nvSpPr>
        <p:spPr>
          <a:xfrm>
            <a:off x="7448498" y="1797722"/>
            <a:ext cx="66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5"/>
          <p:cNvSpPr/>
          <p:nvPr/>
        </p:nvSpPr>
        <p:spPr>
          <a:xfrm flipH="1">
            <a:off x="7376813" y="1441949"/>
            <a:ext cx="1237200" cy="12372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5" name="Google Shape;1505;p85"/>
          <p:cNvSpPr txBox="1"/>
          <p:nvPr/>
        </p:nvSpPr>
        <p:spPr>
          <a:xfrm>
            <a:off x="7985008" y="1638947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5"/>
          <p:cNvSpPr txBox="1"/>
          <p:nvPr/>
        </p:nvSpPr>
        <p:spPr>
          <a:xfrm>
            <a:off x="7981250" y="2110582"/>
            <a:ext cx="73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7" name="Google Shape;1507;p85"/>
          <p:cNvGrpSpPr/>
          <p:nvPr/>
        </p:nvGrpSpPr>
        <p:grpSpPr>
          <a:xfrm>
            <a:off x="7959221" y="1479610"/>
            <a:ext cx="69730" cy="606518"/>
            <a:chOff x="996050" y="213293"/>
            <a:chExt cx="93900" cy="909732"/>
          </a:xfrm>
        </p:grpSpPr>
        <p:cxnSp>
          <p:nvCxnSpPr>
            <p:cNvPr id="1508" name="Google Shape;1508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09" name="Google Shape;1509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510" name="Google Shape;1510;p85"/>
          <p:cNvSpPr/>
          <p:nvPr/>
        </p:nvSpPr>
        <p:spPr>
          <a:xfrm>
            <a:off x="3940432" y="1446113"/>
            <a:ext cx="1281300" cy="1281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1" name="Google Shape;1511;p85"/>
          <p:cNvSpPr/>
          <p:nvPr/>
        </p:nvSpPr>
        <p:spPr>
          <a:xfrm flipH="1">
            <a:off x="3951524" y="1457265"/>
            <a:ext cx="1259100" cy="1259100"/>
          </a:xfrm>
          <a:prstGeom prst="pie">
            <a:avLst>
              <a:gd name="adj1" fmla="val 5387953"/>
              <a:gd name="adj2" fmla="val 495462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2" name="Google Shape;1512;p85"/>
          <p:cNvSpPr/>
          <p:nvPr/>
        </p:nvSpPr>
        <p:spPr>
          <a:xfrm>
            <a:off x="3951584" y="1457265"/>
            <a:ext cx="1259100" cy="1259100"/>
          </a:xfrm>
          <a:prstGeom prst="pie">
            <a:avLst>
              <a:gd name="adj1" fmla="val 5387953"/>
              <a:gd name="adj2" fmla="val 5854871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3" name="Google Shape;1513;p85"/>
          <p:cNvSpPr txBox="1"/>
          <p:nvPr/>
        </p:nvSpPr>
        <p:spPr>
          <a:xfrm>
            <a:off x="3980681" y="2617936"/>
            <a:ext cx="55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85"/>
          <p:cNvSpPr txBox="1"/>
          <p:nvPr/>
        </p:nvSpPr>
        <p:spPr>
          <a:xfrm>
            <a:off x="4637080" y="1747582"/>
            <a:ext cx="646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5" name="Google Shape;1515;p85"/>
          <p:cNvGrpSpPr/>
          <p:nvPr/>
        </p:nvGrpSpPr>
        <p:grpSpPr>
          <a:xfrm>
            <a:off x="4544304" y="1516040"/>
            <a:ext cx="70941" cy="617162"/>
            <a:chOff x="996050" y="213293"/>
            <a:chExt cx="93900" cy="909732"/>
          </a:xfrm>
        </p:grpSpPr>
        <p:cxnSp>
          <p:nvCxnSpPr>
            <p:cNvPr id="1516" name="Google Shape;1516;p8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17" name="Google Shape;1517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1518" name="Google Shape;1518;p85"/>
          <p:cNvCxnSpPr/>
          <p:nvPr/>
        </p:nvCxnSpPr>
        <p:spPr>
          <a:xfrm rot="10800000" flipH="1">
            <a:off x="4410532" y="2661433"/>
            <a:ext cx="129000" cy="1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9" name="Google Shape;1519;p85"/>
          <p:cNvSpPr txBox="1"/>
          <p:nvPr/>
        </p:nvSpPr>
        <p:spPr>
          <a:xfrm>
            <a:off x="1217758" y="1527574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85"/>
          <p:cNvSpPr txBox="1"/>
          <p:nvPr/>
        </p:nvSpPr>
        <p:spPr>
          <a:xfrm>
            <a:off x="1359528" y="1846861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85"/>
          <p:cNvSpPr txBox="1"/>
          <p:nvPr/>
        </p:nvSpPr>
        <p:spPr>
          <a:xfrm>
            <a:off x="1200699" y="2228532"/>
            <a:ext cx="5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2" name="Google Shape;1522;p85"/>
          <p:cNvCxnSpPr/>
          <p:nvPr/>
        </p:nvCxnSpPr>
        <p:spPr>
          <a:xfrm rot="10800000">
            <a:off x="2992575" y="2661071"/>
            <a:ext cx="145200" cy="15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3" name="Google Shape;1523;p85"/>
          <p:cNvSpPr txBox="1"/>
          <p:nvPr/>
        </p:nvSpPr>
        <p:spPr>
          <a:xfrm>
            <a:off x="398501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85"/>
          <p:cNvSpPr txBox="1"/>
          <p:nvPr/>
        </p:nvSpPr>
        <p:spPr>
          <a:xfrm>
            <a:off x="2078348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85"/>
          <p:cNvSpPr txBox="1"/>
          <p:nvPr/>
        </p:nvSpPr>
        <p:spPr>
          <a:xfrm>
            <a:off x="3758195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85"/>
          <p:cNvSpPr txBox="1"/>
          <p:nvPr/>
        </p:nvSpPr>
        <p:spPr>
          <a:xfrm>
            <a:off x="5438042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5"/>
          <p:cNvSpPr txBox="1"/>
          <p:nvPr/>
        </p:nvSpPr>
        <p:spPr>
          <a:xfrm>
            <a:off x="7117889" y="1252450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85"/>
          <p:cNvSpPr txBox="1"/>
          <p:nvPr/>
        </p:nvSpPr>
        <p:spPr>
          <a:xfrm>
            <a:off x="898961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5"/>
          <p:cNvSpPr txBox="1"/>
          <p:nvPr/>
        </p:nvSpPr>
        <p:spPr>
          <a:xfrm>
            <a:off x="2806410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85"/>
          <p:cNvSpPr txBox="1"/>
          <p:nvPr/>
        </p:nvSpPr>
        <p:spPr>
          <a:xfrm>
            <a:off x="4713858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5"/>
          <p:cNvSpPr txBox="1"/>
          <p:nvPr/>
        </p:nvSpPr>
        <p:spPr>
          <a:xfrm>
            <a:off x="6621307" y="3161783"/>
            <a:ext cx="3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5"/>
          <p:cNvSpPr txBox="1"/>
          <p:nvPr/>
        </p:nvSpPr>
        <p:spPr>
          <a:xfrm>
            <a:off x="800824" y="2662397"/>
            <a:ext cx="95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certain</a:t>
            </a:r>
            <a:endParaRPr sz="18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3" name="Google Shape;1533;p85"/>
          <p:cNvSpPr txBox="1"/>
          <p:nvPr/>
        </p:nvSpPr>
        <p:spPr>
          <a:xfrm>
            <a:off x="2324825" y="2662396"/>
            <a:ext cx="77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4" name="Google Shape;1534;p85"/>
          <p:cNvSpPr txBox="1"/>
          <p:nvPr/>
        </p:nvSpPr>
        <p:spPr>
          <a:xfrm>
            <a:off x="4539050" y="2662396"/>
            <a:ext cx="95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5" name="Google Shape;1535;p85"/>
          <p:cNvSpPr txBox="1"/>
          <p:nvPr/>
        </p:nvSpPr>
        <p:spPr>
          <a:xfrm>
            <a:off x="5773450" y="2662400"/>
            <a:ext cx="128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impossible</a:t>
            </a:r>
            <a:endParaRPr sz="18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85"/>
          <p:cNvSpPr txBox="1"/>
          <p:nvPr/>
        </p:nvSpPr>
        <p:spPr>
          <a:xfrm>
            <a:off x="7359226" y="2638350"/>
            <a:ext cx="150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 chance</a:t>
            </a:r>
            <a:endParaRPr sz="18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85"/>
          <p:cNvSpPr txBox="1"/>
          <p:nvPr/>
        </p:nvSpPr>
        <p:spPr>
          <a:xfrm>
            <a:off x="7117900" y="4457521"/>
            <a:ext cx="11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85"/>
          <p:cNvSpPr txBox="1"/>
          <p:nvPr/>
        </p:nvSpPr>
        <p:spPr>
          <a:xfrm>
            <a:off x="4925624" y="4457525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 chance</a:t>
            </a:r>
            <a:endParaRPr sz="18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85"/>
          <p:cNvSpPr txBox="1"/>
          <p:nvPr/>
        </p:nvSpPr>
        <p:spPr>
          <a:xfrm>
            <a:off x="3396310" y="4457521"/>
            <a:ext cx="90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85"/>
          <p:cNvSpPr txBox="1"/>
          <p:nvPr/>
        </p:nvSpPr>
        <p:spPr>
          <a:xfrm>
            <a:off x="1359526" y="4457521"/>
            <a:ext cx="112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4" name="Shape 1544"/>
        <p:cNvGrpSpPr/>
        <p:nvPr/>
      </p:nvGrpSpPr>
      <p:grpSpPr>
        <a:xfrm>
          <a:off x="0" y="0"/>
          <a:ext cx="0" cy="0"/>
        </a:xfrm>
      </p:grpSpPr>
      <p:sp>
        <p:nvSpPr>
          <p:cNvPr id="1545" name="Google Shape;1545;p86"/>
          <p:cNvSpPr txBox="1"/>
          <p:nvPr>
            <p:ph type="body" idx="1"/>
          </p:nvPr>
        </p:nvSpPr>
        <p:spPr>
          <a:xfrm>
            <a:off x="324000" y="759300"/>
            <a:ext cx="8496000" cy="130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Aisha, Izzy, Jacob, Lucas and Sofia are playing a game that involves rolling a regular six-sided dice to determine if you can move.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information below shows what each person needs to roll in order to move their piece forward.</a:t>
            </a:r>
            <a:endParaRPr sz="1800"/>
          </a:p>
        </p:txBody>
      </p:sp>
      <p:sp>
        <p:nvSpPr>
          <p:cNvPr id="1546" name="Google Shape;1546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547" name="Google Shape;1547;p86"/>
          <p:cNvSpPr txBox="1"/>
          <p:nvPr>
            <p:ph type="body" idx="1"/>
          </p:nvPr>
        </p:nvSpPr>
        <p:spPr>
          <a:xfrm>
            <a:off x="324025" y="3274625"/>
            <a:ext cx="8496000" cy="57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Represent the likelihood of each person moving their piece on the scale of likelihoods by writing the first letter of their name in the correct space.</a:t>
            </a:r>
            <a:endParaRPr sz="1800"/>
          </a:p>
        </p:txBody>
      </p:sp>
      <p:grpSp>
        <p:nvGrpSpPr>
          <p:cNvPr id="1548" name="Google Shape;1548;p86"/>
          <p:cNvGrpSpPr/>
          <p:nvPr/>
        </p:nvGrpSpPr>
        <p:grpSpPr>
          <a:xfrm>
            <a:off x="1260850" y="4161208"/>
            <a:ext cx="6838200" cy="382829"/>
            <a:chOff x="1260861" y="3941077"/>
            <a:chExt cx="6838200" cy="658800"/>
          </a:xfrm>
        </p:grpSpPr>
        <p:cxnSp>
          <p:nvCxnSpPr>
            <p:cNvPr id="1549" name="Google Shape;1549;p86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0" name="Google Shape;1550;p86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" name="Google Shape;1551;p86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" name="Google Shape;1552;p86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86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54" name="Google Shape;1554;p86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555" name="Google Shape;1555;p86"/>
          <p:cNvSpPr txBox="1"/>
          <p:nvPr/>
        </p:nvSpPr>
        <p:spPr>
          <a:xfrm>
            <a:off x="7544628" y="4463602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86"/>
          <p:cNvSpPr txBox="1"/>
          <p:nvPr/>
        </p:nvSpPr>
        <p:spPr>
          <a:xfrm>
            <a:off x="552600" y="4463602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86"/>
          <p:cNvSpPr txBox="1"/>
          <p:nvPr/>
        </p:nvSpPr>
        <p:spPr>
          <a:xfrm>
            <a:off x="2472019" y="435697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86"/>
          <p:cNvSpPr txBox="1"/>
          <p:nvPr/>
        </p:nvSpPr>
        <p:spPr>
          <a:xfrm>
            <a:off x="6126424" y="435697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86"/>
          <p:cNvSpPr txBox="1"/>
          <p:nvPr/>
        </p:nvSpPr>
        <p:spPr>
          <a:xfrm>
            <a:off x="3834808" y="4463602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86"/>
          <p:cNvSpPr txBox="1"/>
          <p:nvPr>
            <p:ph type="body" idx="4294967295"/>
          </p:nvPr>
        </p:nvSpPr>
        <p:spPr>
          <a:xfrm>
            <a:off x="8050021" y="38762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86"/>
          <p:cNvSpPr txBox="1"/>
          <p:nvPr>
            <p:ph type="body" idx="4294967295"/>
          </p:nvPr>
        </p:nvSpPr>
        <p:spPr>
          <a:xfrm>
            <a:off x="4592157" y="38762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86"/>
          <p:cNvSpPr txBox="1"/>
          <p:nvPr>
            <p:ph type="body" idx="4294967295"/>
          </p:nvPr>
        </p:nvSpPr>
        <p:spPr>
          <a:xfrm>
            <a:off x="1191251" y="38762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86"/>
          <p:cNvSpPr txBox="1"/>
          <p:nvPr>
            <p:ph type="body" idx="4294967295"/>
          </p:nvPr>
        </p:nvSpPr>
        <p:spPr>
          <a:xfrm>
            <a:off x="2715251" y="38762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J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4" name="Google Shape;1564;p86"/>
          <p:cNvSpPr txBox="1"/>
          <p:nvPr>
            <p:ph type="body" idx="4294967295"/>
          </p:nvPr>
        </p:nvSpPr>
        <p:spPr>
          <a:xfrm>
            <a:off x="6601451" y="38762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65" name="Google Shape;156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53" y="2060525"/>
            <a:ext cx="306196" cy="57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9538" y="2149467"/>
            <a:ext cx="428029" cy="48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186051" y="2083800"/>
            <a:ext cx="561301" cy="54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019154" y="2160001"/>
            <a:ext cx="389887" cy="48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680843" y="2149484"/>
            <a:ext cx="433093" cy="48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86"/>
          <p:cNvSpPr txBox="1"/>
          <p:nvPr>
            <p:ph type="body" idx="1"/>
          </p:nvPr>
        </p:nvSpPr>
        <p:spPr>
          <a:xfrm>
            <a:off x="561752" y="2625600"/>
            <a:ext cx="6990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Aisha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1" name="Google Shape;1571;p86"/>
          <p:cNvSpPr txBox="1"/>
          <p:nvPr>
            <p:ph type="body" idx="1"/>
          </p:nvPr>
        </p:nvSpPr>
        <p:spPr>
          <a:xfrm>
            <a:off x="2210925" y="2625605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Izzy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2" name="Google Shape;1572;p86"/>
          <p:cNvSpPr txBox="1"/>
          <p:nvPr>
            <p:ph type="body" idx="1"/>
          </p:nvPr>
        </p:nvSpPr>
        <p:spPr>
          <a:xfrm>
            <a:off x="3998927" y="2625600"/>
            <a:ext cx="7920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Jacob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3" name="Google Shape;1573;p86"/>
          <p:cNvSpPr txBox="1"/>
          <p:nvPr>
            <p:ph type="body" idx="1"/>
          </p:nvPr>
        </p:nvSpPr>
        <p:spPr>
          <a:xfrm>
            <a:off x="5680746" y="2625605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Sofia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4" name="Google Shape;1574;p86"/>
          <p:cNvSpPr txBox="1"/>
          <p:nvPr>
            <p:ph type="body" idx="1"/>
          </p:nvPr>
        </p:nvSpPr>
        <p:spPr>
          <a:xfrm>
            <a:off x="7267354" y="2625600"/>
            <a:ext cx="7920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5" name="Google Shape;1575;p86"/>
          <p:cNvSpPr txBox="1"/>
          <p:nvPr>
            <p:ph type="body" idx="1"/>
          </p:nvPr>
        </p:nvSpPr>
        <p:spPr>
          <a:xfrm>
            <a:off x="561750" y="2854200"/>
            <a:ext cx="14379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factor of 24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6" name="Google Shape;1576;p86"/>
          <p:cNvSpPr txBox="1"/>
          <p:nvPr>
            <p:ph type="body" idx="1"/>
          </p:nvPr>
        </p:nvSpPr>
        <p:spPr>
          <a:xfrm>
            <a:off x="2210923" y="2854200"/>
            <a:ext cx="15267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multiple of 1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7" name="Google Shape;1577;p86"/>
          <p:cNvSpPr txBox="1"/>
          <p:nvPr>
            <p:ph type="body" idx="1"/>
          </p:nvPr>
        </p:nvSpPr>
        <p:spPr>
          <a:xfrm>
            <a:off x="3998899" y="2854200"/>
            <a:ext cx="13938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factor of 25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8" name="Google Shape;1578;p86"/>
          <p:cNvSpPr txBox="1"/>
          <p:nvPr>
            <p:ph type="body" idx="1"/>
          </p:nvPr>
        </p:nvSpPr>
        <p:spPr>
          <a:xfrm>
            <a:off x="5680749" y="2854200"/>
            <a:ext cx="15267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non-integer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79" name="Google Shape;1579;p86"/>
          <p:cNvSpPr txBox="1"/>
          <p:nvPr>
            <p:ph type="body" idx="1"/>
          </p:nvPr>
        </p:nvSpPr>
        <p:spPr>
          <a:xfrm>
            <a:off x="7231600" y="2854200"/>
            <a:ext cx="1595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prime number</a:t>
            </a:r>
            <a:endParaRPr sz="1800">
              <a:solidFill>
                <a:srgbClr val="282828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3" name="Shape 1583"/>
        <p:cNvGrpSpPr/>
        <p:nvPr/>
      </p:nvGrpSpPr>
      <p:grpSpPr>
        <a:xfrm>
          <a:off x="0" y="0"/>
          <a:ext cx="0" cy="0"/>
        </a:xfrm>
      </p:grpSpPr>
      <p:sp>
        <p:nvSpPr>
          <p:cNvPr id="1584" name="Google Shape;1584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Introducing the scale of likelihoods</a:t>
            </a:r>
            <a:endParaRPr/>
          </a:p>
        </p:txBody>
      </p:sp>
      <p:sp>
        <p:nvSpPr>
          <p:cNvPr id="1585" name="Google Shape;1585;p8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sp>
        <p:nvSpPr>
          <p:cNvPr id="1586" name="Google Shape;1586;p8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  <p:pic>
        <p:nvPicPr>
          <p:cNvPr id="1587" name="Google Shape;158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1" name="Shape 1591"/>
        <p:cNvGrpSpPr/>
        <p:nvPr/>
      </p:nvGrpSpPr>
      <p:grpSpPr>
        <a:xfrm>
          <a:off x="0" y="0"/>
          <a:ext cx="0" cy="0"/>
        </a:xfrm>
      </p:grpSpPr>
      <p:sp>
        <p:nvSpPr>
          <p:cNvPr id="1592" name="Google Shape;1592;p8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there are multiple events that are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to happen, one event can be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more 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than another.</a:t>
            </a:r>
            <a:endParaRPr sz="2000"/>
          </a:p>
        </p:txBody>
      </p:sp>
      <p:sp>
        <p:nvSpPr>
          <p:cNvPr id="1593" name="Google Shape;15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cxnSp>
        <p:nvCxnSpPr>
          <p:cNvPr id="1594" name="Google Shape;1594;p88"/>
          <p:cNvCxnSpPr/>
          <p:nvPr/>
        </p:nvCxnSpPr>
        <p:spPr>
          <a:xfrm>
            <a:off x="801650" y="3758488"/>
            <a:ext cx="760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5" name="Google Shape;1595;p88"/>
          <p:cNvCxnSpPr/>
          <p:nvPr/>
        </p:nvCxnSpPr>
        <p:spPr>
          <a:xfrm flipH="1">
            <a:off x="801674" y="34290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88"/>
          <p:cNvCxnSpPr/>
          <p:nvPr/>
        </p:nvCxnSpPr>
        <p:spPr>
          <a:xfrm flipH="1">
            <a:off x="8393507" y="34290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7" name="Google Shape;1597;p88"/>
          <p:cNvCxnSpPr/>
          <p:nvPr/>
        </p:nvCxnSpPr>
        <p:spPr>
          <a:xfrm flipH="1">
            <a:off x="4597590" y="34290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8" name="Google Shape;1598;p88"/>
          <p:cNvCxnSpPr/>
          <p:nvPr/>
        </p:nvCxnSpPr>
        <p:spPr>
          <a:xfrm>
            <a:off x="849975" y="3921125"/>
            <a:ext cx="37137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99" name="Google Shape;1599;p88"/>
          <p:cNvCxnSpPr/>
          <p:nvPr/>
        </p:nvCxnSpPr>
        <p:spPr>
          <a:xfrm>
            <a:off x="4664025" y="3921125"/>
            <a:ext cx="36759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0" name="Google Shape;1600;p88"/>
          <p:cNvSpPr txBox="1"/>
          <p:nvPr/>
        </p:nvSpPr>
        <p:spPr>
          <a:xfrm>
            <a:off x="7901725" y="40150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88"/>
          <p:cNvSpPr txBox="1"/>
          <p:nvPr/>
        </p:nvSpPr>
        <p:spPr>
          <a:xfrm>
            <a:off x="236822" y="40150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88"/>
          <p:cNvSpPr txBox="1"/>
          <p:nvPr/>
        </p:nvSpPr>
        <p:spPr>
          <a:xfrm>
            <a:off x="2148429" y="3844925"/>
            <a:ext cx="12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88"/>
          <p:cNvSpPr txBox="1"/>
          <p:nvPr/>
        </p:nvSpPr>
        <p:spPr>
          <a:xfrm>
            <a:off x="6296775" y="3844925"/>
            <a:ext cx="88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88"/>
          <p:cNvSpPr txBox="1"/>
          <p:nvPr/>
        </p:nvSpPr>
        <p:spPr>
          <a:xfrm>
            <a:off x="3773837" y="40150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88"/>
          <p:cNvSpPr/>
          <p:nvPr/>
        </p:nvSpPr>
        <p:spPr>
          <a:xfrm>
            <a:off x="4161154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6" name="Google Shape;1606;p88"/>
          <p:cNvSpPr/>
          <p:nvPr/>
        </p:nvSpPr>
        <p:spPr>
          <a:xfrm flipH="1">
            <a:off x="4168854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7" name="Google Shape;1607;p88"/>
          <p:cNvSpPr/>
          <p:nvPr/>
        </p:nvSpPr>
        <p:spPr>
          <a:xfrm>
            <a:off x="4168771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8" name="Google Shape;1608;p88"/>
          <p:cNvSpPr txBox="1"/>
          <p:nvPr/>
        </p:nvSpPr>
        <p:spPr>
          <a:xfrm>
            <a:off x="4184566" y="2734654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8"/>
          <p:cNvSpPr txBox="1"/>
          <p:nvPr/>
        </p:nvSpPr>
        <p:spPr>
          <a:xfrm>
            <a:off x="4652164" y="2720124"/>
            <a:ext cx="65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0" name="Google Shape;1610;p88"/>
          <p:cNvGrpSpPr/>
          <p:nvPr/>
        </p:nvGrpSpPr>
        <p:grpSpPr>
          <a:xfrm>
            <a:off x="4573597" y="2540349"/>
            <a:ext cx="48452" cy="421570"/>
            <a:chOff x="996050" y="213293"/>
            <a:chExt cx="93900" cy="909732"/>
          </a:xfrm>
        </p:grpSpPr>
        <p:cxnSp>
          <p:nvCxnSpPr>
            <p:cNvPr id="1611" name="Google Shape;1611;p8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12" name="Google Shape;1612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13" name="Google Shape;1613;p88"/>
          <p:cNvSpPr/>
          <p:nvPr/>
        </p:nvSpPr>
        <p:spPr>
          <a:xfrm>
            <a:off x="340767" y="2492575"/>
            <a:ext cx="875400" cy="8757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4" name="Google Shape;1614;p88"/>
          <p:cNvSpPr txBox="1"/>
          <p:nvPr/>
        </p:nvSpPr>
        <p:spPr>
          <a:xfrm>
            <a:off x="622849" y="2900500"/>
            <a:ext cx="28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5" name="Google Shape;1615;p88"/>
          <p:cNvGrpSpPr/>
          <p:nvPr/>
        </p:nvGrpSpPr>
        <p:grpSpPr>
          <a:xfrm>
            <a:off x="753210" y="2540349"/>
            <a:ext cx="48452" cy="421570"/>
            <a:chOff x="996050" y="213293"/>
            <a:chExt cx="93900" cy="909732"/>
          </a:xfrm>
        </p:grpSpPr>
        <p:cxnSp>
          <p:nvCxnSpPr>
            <p:cNvPr id="1616" name="Google Shape;1616;p8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17" name="Google Shape;1617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18" name="Google Shape;1618;p88"/>
          <p:cNvSpPr/>
          <p:nvPr/>
        </p:nvSpPr>
        <p:spPr>
          <a:xfrm>
            <a:off x="7944634" y="2492575"/>
            <a:ext cx="875400" cy="8757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9" name="Google Shape;1619;p88"/>
          <p:cNvSpPr txBox="1"/>
          <p:nvPr/>
        </p:nvSpPr>
        <p:spPr>
          <a:xfrm>
            <a:off x="8204408" y="2917014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0" name="Google Shape;1620;p88"/>
          <p:cNvGrpSpPr/>
          <p:nvPr/>
        </p:nvGrpSpPr>
        <p:grpSpPr>
          <a:xfrm>
            <a:off x="8357076" y="2540349"/>
            <a:ext cx="48452" cy="421570"/>
            <a:chOff x="996050" y="213293"/>
            <a:chExt cx="93900" cy="909732"/>
          </a:xfrm>
        </p:grpSpPr>
        <p:cxnSp>
          <p:nvCxnSpPr>
            <p:cNvPr id="1621" name="Google Shape;1621;p8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22" name="Google Shape;1622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23" name="Google Shape;1623;p88"/>
          <p:cNvSpPr/>
          <p:nvPr/>
        </p:nvSpPr>
        <p:spPr>
          <a:xfrm>
            <a:off x="5106489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4" name="Google Shape;1624;p88"/>
          <p:cNvSpPr/>
          <p:nvPr/>
        </p:nvSpPr>
        <p:spPr>
          <a:xfrm flipH="1">
            <a:off x="5114189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5" name="Google Shape;1625;p88"/>
          <p:cNvSpPr/>
          <p:nvPr/>
        </p:nvSpPr>
        <p:spPr>
          <a:xfrm>
            <a:off x="5114106" y="2500191"/>
            <a:ext cx="859800" cy="859800"/>
          </a:xfrm>
          <a:prstGeom prst="pie">
            <a:avLst>
              <a:gd name="adj1" fmla="val 5387953"/>
              <a:gd name="adj2" fmla="val 1834406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6" name="Google Shape;1626;p88"/>
          <p:cNvSpPr txBox="1"/>
          <p:nvPr/>
        </p:nvSpPr>
        <p:spPr>
          <a:xfrm>
            <a:off x="5165559" y="2651028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88"/>
          <p:cNvSpPr txBox="1"/>
          <p:nvPr/>
        </p:nvSpPr>
        <p:spPr>
          <a:xfrm>
            <a:off x="5613199" y="2781794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8" name="Google Shape;1628;p88"/>
          <p:cNvGrpSpPr/>
          <p:nvPr/>
        </p:nvGrpSpPr>
        <p:grpSpPr>
          <a:xfrm>
            <a:off x="5518932" y="2540349"/>
            <a:ext cx="48452" cy="421570"/>
            <a:chOff x="996050" y="213293"/>
            <a:chExt cx="93900" cy="909732"/>
          </a:xfrm>
        </p:grpSpPr>
        <p:cxnSp>
          <p:nvCxnSpPr>
            <p:cNvPr id="1629" name="Google Shape;1629;p8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30" name="Google Shape;1630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31" name="Google Shape;1631;p88"/>
          <p:cNvSpPr txBox="1"/>
          <p:nvPr>
            <p:ph type="body" idx="1"/>
          </p:nvPr>
        </p:nvSpPr>
        <p:spPr>
          <a:xfrm>
            <a:off x="324000" y="1521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these three spinners are all </a:t>
            </a:r>
            <a:r>
              <a:rPr lang="en-GB" sz="2000">
                <a:solidFill>
                  <a:schemeClr val="accent5"/>
                </a:solidFill>
              </a:rPr>
              <a:t>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to land on ‘W’, but some are </a:t>
            </a:r>
            <a:r>
              <a:rPr lang="en-GB" sz="2000">
                <a:solidFill>
                  <a:schemeClr val="accent5"/>
                </a:solidFill>
              </a:rPr>
              <a:t>more 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than others.</a:t>
            </a:r>
            <a:endParaRPr sz="2000"/>
          </a:p>
        </p:txBody>
      </p:sp>
      <p:sp>
        <p:nvSpPr>
          <p:cNvPr id="1632" name="Google Shape;1632;p88"/>
          <p:cNvSpPr/>
          <p:nvPr/>
        </p:nvSpPr>
        <p:spPr>
          <a:xfrm>
            <a:off x="6062585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3" name="Google Shape;1633;p88"/>
          <p:cNvSpPr/>
          <p:nvPr/>
        </p:nvSpPr>
        <p:spPr>
          <a:xfrm flipH="1">
            <a:off x="6070285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4" name="Google Shape;1634;p88"/>
          <p:cNvSpPr/>
          <p:nvPr/>
        </p:nvSpPr>
        <p:spPr>
          <a:xfrm>
            <a:off x="6070202" y="2500191"/>
            <a:ext cx="859800" cy="859800"/>
          </a:xfrm>
          <a:prstGeom prst="pie">
            <a:avLst>
              <a:gd name="adj1" fmla="val 5387953"/>
              <a:gd name="adj2" fmla="val 2567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5" name="Google Shape;1635;p88"/>
          <p:cNvSpPr txBox="1"/>
          <p:nvPr/>
        </p:nvSpPr>
        <p:spPr>
          <a:xfrm>
            <a:off x="6124154" y="2573503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88"/>
          <p:cNvSpPr txBox="1"/>
          <p:nvPr/>
        </p:nvSpPr>
        <p:spPr>
          <a:xfrm>
            <a:off x="6525496" y="2888459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7" name="Google Shape;1637;p88"/>
          <p:cNvGrpSpPr/>
          <p:nvPr/>
        </p:nvGrpSpPr>
        <p:grpSpPr>
          <a:xfrm>
            <a:off x="6475028" y="2540349"/>
            <a:ext cx="48452" cy="421570"/>
            <a:chOff x="996050" y="213293"/>
            <a:chExt cx="93900" cy="909732"/>
          </a:xfrm>
        </p:grpSpPr>
        <p:cxnSp>
          <p:nvCxnSpPr>
            <p:cNvPr id="1638" name="Google Shape;1638;p8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39" name="Google Shape;1639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40" name="Google Shape;1640;p88"/>
          <p:cNvSpPr/>
          <p:nvPr/>
        </p:nvSpPr>
        <p:spPr>
          <a:xfrm>
            <a:off x="7002927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1" name="Google Shape;1641;p88"/>
          <p:cNvSpPr/>
          <p:nvPr/>
        </p:nvSpPr>
        <p:spPr>
          <a:xfrm flipH="1">
            <a:off x="7010626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2" name="Google Shape;1642;p88"/>
          <p:cNvSpPr/>
          <p:nvPr/>
        </p:nvSpPr>
        <p:spPr>
          <a:xfrm>
            <a:off x="7010543" y="2500191"/>
            <a:ext cx="859800" cy="859800"/>
          </a:xfrm>
          <a:prstGeom prst="pie">
            <a:avLst>
              <a:gd name="adj1" fmla="val 5387953"/>
              <a:gd name="adj2" fmla="val 167717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3" name="Google Shape;1643;p88"/>
          <p:cNvSpPr txBox="1"/>
          <p:nvPr/>
        </p:nvSpPr>
        <p:spPr>
          <a:xfrm>
            <a:off x="7075323" y="2531787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8"/>
          <p:cNvSpPr txBox="1"/>
          <p:nvPr/>
        </p:nvSpPr>
        <p:spPr>
          <a:xfrm>
            <a:off x="7440825" y="2950940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5" name="Google Shape;1645;p88"/>
          <p:cNvGrpSpPr/>
          <p:nvPr/>
        </p:nvGrpSpPr>
        <p:grpSpPr>
          <a:xfrm>
            <a:off x="7415370" y="2540349"/>
            <a:ext cx="48452" cy="421570"/>
            <a:chOff x="996050" y="213293"/>
            <a:chExt cx="93900" cy="909732"/>
          </a:xfrm>
        </p:grpSpPr>
        <p:cxnSp>
          <p:nvCxnSpPr>
            <p:cNvPr id="1646" name="Google Shape;1646;p8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47" name="Google Shape;1647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48" name="Google Shape;1648;p88"/>
          <p:cNvSpPr/>
          <p:nvPr/>
        </p:nvSpPr>
        <p:spPr>
          <a:xfrm>
            <a:off x="5069100" y="2360175"/>
            <a:ext cx="2843700" cy="1116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88"/>
          <p:cNvSpPr txBox="1"/>
          <p:nvPr/>
        </p:nvSpPr>
        <p:spPr>
          <a:xfrm>
            <a:off x="1565650" y="4448634"/>
            <a:ext cx="60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 (W)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3" name="Shape 1653"/>
        <p:cNvGrpSpPr/>
        <p:nvPr/>
      </p:nvGrpSpPr>
      <p:grpSpPr>
        <a:xfrm>
          <a:off x="0" y="0"/>
          <a:ext cx="0" cy="0"/>
        </a:xfrm>
      </p:grpSpPr>
      <p:sp>
        <p:nvSpPr>
          <p:cNvPr id="1654" name="Google Shape;1654;p8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there are multiple events that are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unlikely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to happen, one event can still be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more likely</a:t>
            </a:r>
            <a:r>
              <a:rPr lang="en-GB" sz="2000"/>
              <a:t> than another.</a:t>
            </a:r>
            <a:endParaRPr sz="2000"/>
          </a:p>
        </p:txBody>
      </p:sp>
      <p:sp>
        <p:nvSpPr>
          <p:cNvPr id="1655" name="Google Shape;1655;p89"/>
          <p:cNvSpPr/>
          <p:nvPr/>
        </p:nvSpPr>
        <p:spPr>
          <a:xfrm flipH="1">
            <a:off x="1283876" y="2500191"/>
            <a:ext cx="859800" cy="859800"/>
          </a:xfrm>
          <a:prstGeom prst="pie">
            <a:avLst>
              <a:gd name="adj1" fmla="val 5387953"/>
              <a:gd name="adj2" fmla="val 1995729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56" name="Google Shape;165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cxnSp>
        <p:nvCxnSpPr>
          <p:cNvPr id="1657" name="Google Shape;1657;p89"/>
          <p:cNvCxnSpPr/>
          <p:nvPr/>
        </p:nvCxnSpPr>
        <p:spPr>
          <a:xfrm>
            <a:off x="801650" y="3758488"/>
            <a:ext cx="760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8" name="Google Shape;1658;p89"/>
          <p:cNvCxnSpPr/>
          <p:nvPr/>
        </p:nvCxnSpPr>
        <p:spPr>
          <a:xfrm flipH="1">
            <a:off x="801674" y="34290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9" name="Google Shape;1659;p89"/>
          <p:cNvCxnSpPr/>
          <p:nvPr/>
        </p:nvCxnSpPr>
        <p:spPr>
          <a:xfrm flipH="1">
            <a:off x="8393507" y="34290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0" name="Google Shape;1660;p89"/>
          <p:cNvCxnSpPr/>
          <p:nvPr/>
        </p:nvCxnSpPr>
        <p:spPr>
          <a:xfrm flipH="1">
            <a:off x="4597590" y="3429025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1" name="Google Shape;1661;p89"/>
          <p:cNvCxnSpPr/>
          <p:nvPr/>
        </p:nvCxnSpPr>
        <p:spPr>
          <a:xfrm>
            <a:off x="849975" y="3921125"/>
            <a:ext cx="37137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62" name="Google Shape;1662;p89"/>
          <p:cNvCxnSpPr/>
          <p:nvPr/>
        </p:nvCxnSpPr>
        <p:spPr>
          <a:xfrm>
            <a:off x="4664025" y="3921125"/>
            <a:ext cx="36759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63" name="Google Shape;1663;p89"/>
          <p:cNvSpPr txBox="1"/>
          <p:nvPr/>
        </p:nvSpPr>
        <p:spPr>
          <a:xfrm>
            <a:off x="7901725" y="40150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9"/>
          <p:cNvSpPr txBox="1"/>
          <p:nvPr/>
        </p:nvSpPr>
        <p:spPr>
          <a:xfrm>
            <a:off x="236822" y="40150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9"/>
          <p:cNvSpPr txBox="1"/>
          <p:nvPr/>
        </p:nvSpPr>
        <p:spPr>
          <a:xfrm>
            <a:off x="2148429" y="3844925"/>
            <a:ext cx="12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9"/>
          <p:cNvSpPr txBox="1"/>
          <p:nvPr/>
        </p:nvSpPr>
        <p:spPr>
          <a:xfrm>
            <a:off x="6296775" y="3844925"/>
            <a:ext cx="88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9"/>
          <p:cNvSpPr txBox="1"/>
          <p:nvPr/>
        </p:nvSpPr>
        <p:spPr>
          <a:xfrm>
            <a:off x="3773837" y="40150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9"/>
          <p:cNvSpPr/>
          <p:nvPr/>
        </p:nvSpPr>
        <p:spPr>
          <a:xfrm>
            <a:off x="4161154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69" name="Google Shape;1669;p89"/>
          <p:cNvSpPr/>
          <p:nvPr/>
        </p:nvSpPr>
        <p:spPr>
          <a:xfrm flipH="1">
            <a:off x="4168854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0" name="Google Shape;1670;p89"/>
          <p:cNvSpPr/>
          <p:nvPr/>
        </p:nvSpPr>
        <p:spPr>
          <a:xfrm>
            <a:off x="4168771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1" name="Google Shape;1671;p89"/>
          <p:cNvSpPr txBox="1"/>
          <p:nvPr/>
        </p:nvSpPr>
        <p:spPr>
          <a:xfrm>
            <a:off x="4184566" y="2734654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89"/>
          <p:cNvSpPr txBox="1"/>
          <p:nvPr/>
        </p:nvSpPr>
        <p:spPr>
          <a:xfrm>
            <a:off x="4652164" y="2720124"/>
            <a:ext cx="65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3" name="Google Shape;1673;p89"/>
          <p:cNvGrpSpPr/>
          <p:nvPr/>
        </p:nvGrpSpPr>
        <p:grpSpPr>
          <a:xfrm>
            <a:off x="4573597" y="2540349"/>
            <a:ext cx="48452" cy="421570"/>
            <a:chOff x="996050" y="213293"/>
            <a:chExt cx="93900" cy="909732"/>
          </a:xfrm>
        </p:grpSpPr>
        <p:cxnSp>
          <p:nvCxnSpPr>
            <p:cNvPr id="1674" name="Google Shape;1674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75" name="Google Shape;1675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76" name="Google Shape;1676;p89"/>
          <p:cNvSpPr/>
          <p:nvPr/>
        </p:nvSpPr>
        <p:spPr>
          <a:xfrm>
            <a:off x="340767" y="2492575"/>
            <a:ext cx="875400" cy="8757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7" name="Google Shape;1677;p89"/>
          <p:cNvSpPr txBox="1"/>
          <p:nvPr/>
        </p:nvSpPr>
        <p:spPr>
          <a:xfrm>
            <a:off x="622849" y="2900500"/>
            <a:ext cx="28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8" name="Google Shape;1678;p89"/>
          <p:cNvGrpSpPr/>
          <p:nvPr/>
        </p:nvGrpSpPr>
        <p:grpSpPr>
          <a:xfrm>
            <a:off x="753210" y="2540349"/>
            <a:ext cx="48452" cy="421570"/>
            <a:chOff x="996050" y="213293"/>
            <a:chExt cx="93900" cy="909732"/>
          </a:xfrm>
        </p:grpSpPr>
        <p:cxnSp>
          <p:nvCxnSpPr>
            <p:cNvPr id="1679" name="Google Shape;1679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80" name="Google Shape;1680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81" name="Google Shape;1681;p89"/>
          <p:cNvSpPr/>
          <p:nvPr/>
        </p:nvSpPr>
        <p:spPr>
          <a:xfrm>
            <a:off x="7944634" y="2492575"/>
            <a:ext cx="875400" cy="8757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2" name="Google Shape;1682;p89"/>
          <p:cNvSpPr txBox="1"/>
          <p:nvPr/>
        </p:nvSpPr>
        <p:spPr>
          <a:xfrm>
            <a:off x="8204408" y="2917014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3" name="Google Shape;1683;p89"/>
          <p:cNvGrpSpPr/>
          <p:nvPr/>
        </p:nvGrpSpPr>
        <p:grpSpPr>
          <a:xfrm>
            <a:off x="8357076" y="2540349"/>
            <a:ext cx="48452" cy="421570"/>
            <a:chOff x="996050" y="213293"/>
            <a:chExt cx="93900" cy="909732"/>
          </a:xfrm>
        </p:grpSpPr>
        <p:cxnSp>
          <p:nvCxnSpPr>
            <p:cNvPr id="1684" name="Google Shape;1684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85" name="Google Shape;1685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86" name="Google Shape;1686;p89"/>
          <p:cNvSpPr/>
          <p:nvPr/>
        </p:nvSpPr>
        <p:spPr>
          <a:xfrm>
            <a:off x="3173654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7" name="Google Shape;1687;p89"/>
          <p:cNvSpPr/>
          <p:nvPr/>
        </p:nvSpPr>
        <p:spPr>
          <a:xfrm flipH="1">
            <a:off x="3181353" y="2500191"/>
            <a:ext cx="859800" cy="859800"/>
          </a:xfrm>
          <a:prstGeom prst="pie">
            <a:avLst>
              <a:gd name="adj1" fmla="val 5387953"/>
              <a:gd name="adj2" fmla="val 1796517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8" name="Google Shape;1688;p89"/>
          <p:cNvSpPr/>
          <p:nvPr/>
        </p:nvSpPr>
        <p:spPr>
          <a:xfrm>
            <a:off x="3181270" y="2500191"/>
            <a:ext cx="859800" cy="859800"/>
          </a:xfrm>
          <a:prstGeom prst="pie">
            <a:avLst>
              <a:gd name="adj1" fmla="val 5387953"/>
              <a:gd name="adj2" fmla="val 14401998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9" name="Google Shape;1689;p89"/>
          <p:cNvSpPr txBox="1"/>
          <p:nvPr/>
        </p:nvSpPr>
        <p:spPr>
          <a:xfrm>
            <a:off x="3208130" y="2796324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89"/>
          <p:cNvSpPr txBox="1"/>
          <p:nvPr/>
        </p:nvSpPr>
        <p:spPr>
          <a:xfrm>
            <a:off x="3670007" y="2662006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1" name="Google Shape;1691;p89"/>
          <p:cNvGrpSpPr/>
          <p:nvPr/>
        </p:nvGrpSpPr>
        <p:grpSpPr>
          <a:xfrm>
            <a:off x="3586097" y="2540349"/>
            <a:ext cx="48452" cy="421570"/>
            <a:chOff x="996050" y="213293"/>
            <a:chExt cx="93900" cy="909732"/>
          </a:xfrm>
        </p:grpSpPr>
        <p:cxnSp>
          <p:nvCxnSpPr>
            <p:cNvPr id="1692" name="Google Shape;1692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93" name="Google Shape;1693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94" name="Google Shape;1694;p89"/>
          <p:cNvSpPr/>
          <p:nvPr/>
        </p:nvSpPr>
        <p:spPr>
          <a:xfrm>
            <a:off x="5106489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5" name="Google Shape;1695;p89"/>
          <p:cNvSpPr/>
          <p:nvPr/>
        </p:nvSpPr>
        <p:spPr>
          <a:xfrm flipH="1">
            <a:off x="5114189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6" name="Google Shape;1696;p89"/>
          <p:cNvSpPr/>
          <p:nvPr/>
        </p:nvSpPr>
        <p:spPr>
          <a:xfrm>
            <a:off x="5114106" y="2500191"/>
            <a:ext cx="859800" cy="859800"/>
          </a:xfrm>
          <a:prstGeom prst="pie">
            <a:avLst>
              <a:gd name="adj1" fmla="val 5387953"/>
              <a:gd name="adj2" fmla="val 1834406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7" name="Google Shape;1697;p89"/>
          <p:cNvSpPr txBox="1"/>
          <p:nvPr/>
        </p:nvSpPr>
        <p:spPr>
          <a:xfrm>
            <a:off x="5165559" y="2651028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89"/>
          <p:cNvSpPr txBox="1"/>
          <p:nvPr/>
        </p:nvSpPr>
        <p:spPr>
          <a:xfrm>
            <a:off x="5613199" y="2781794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9" name="Google Shape;1699;p89"/>
          <p:cNvGrpSpPr/>
          <p:nvPr/>
        </p:nvGrpSpPr>
        <p:grpSpPr>
          <a:xfrm>
            <a:off x="5518932" y="2540349"/>
            <a:ext cx="48452" cy="421570"/>
            <a:chOff x="996050" y="213293"/>
            <a:chExt cx="93900" cy="909732"/>
          </a:xfrm>
        </p:grpSpPr>
        <p:cxnSp>
          <p:nvCxnSpPr>
            <p:cNvPr id="1700" name="Google Shape;1700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01" name="Google Shape;1701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02" name="Google Shape;1702;p89"/>
          <p:cNvSpPr txBox="1"/>
          <p:nvPr>
            <p:ph type="body" idx="1"/>
          </p:nvPr>
        </p:nvSpPr>
        <p:spPr>
          <a:xfrm>
            <a:off x="324000" y="1521300"/>
            <a:ext cx="82377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these three spinners are all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unlikely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to land on ‘W’, but some are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more likely </a:t>
            </a:r>
            <a:r>
              <a:rPr lang="en-GB" sz="2000"/>
              <a:t>than others.</a:t>
            </a:r>
            <a:endParaRPr sz="2000"/>
          </a:p>
        </p:txBody>
      </p:sp>
      <p:sp>
        <p:nvSpPr>
          <p:cNvPr id="1703" name="Google Shape;1703;p89"/>
          <p:cNvSpPr/>
          <p:nvPr/>
        </p:nvSpPr>
        <p:spPr>
          <a:xfrm>
            <a:off x="6062585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4" name="Google Shape;1704;p89"/>
          <p:cNvSpPr/>
          <p:nvPr/>
        </p:nvSpPr>
        <p:spPr>
          <a:xfrm flipH="1">
            <a:off x="6070285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5" name="Google Shape;1705;p89"/>
          <p:cNvSpPr/>
          <p:nvPr/>
        </p:nvSpPr>
        <p:spPr>
          <a:xfrm>
            <a:off x="6070202" y="2500191"/>
            <a:ext cx="859800" cy="859800"/>
          </a:xfrm>
          <a:prstGeom prst="pie">
            <a:avLst>
              <a:gd name="adj1" fmla="val 5387953"/>
              <a:gd name="adj2" fmla="val 2567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6" name="Google Shape;1706;p89"/>
          <p:cNvSpPr txBox="1"/>
          <p:nvPr/>
        </p:nvSpPr>
        <p:spPr>
          <a:xfrm>
            <a:off x="6124154" y="2573503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89"/>
          <p:cNvSpPr txBox="1"/>
          <p:nvPr/>
        </p:nvSpPr>
        <p:spPr>
          <a:xfrm>
            <a:off x="6525496" y="2888459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8" name="Google Shape;1708;p89"/>
          <p:cNvGrpSpPr/>
          <p:nvPr/>
        </p:nvGrpSpPr>
        <p:grpSpPr>
          <a:xfrm>
            <a:off x="6475028" y="2540349"/>
            <a:ext cx="48452" cy="421570"/>
            <a:chOff x="996050" y="213293"/>
            <a:chExt cx="93900" cy="909732"/>
          </a:xfrm>
        </p:grpSpPr>
        <p:cxnSp>
          <p:nvCxnSpPr>
            <p:cNvPr id="1709" name="Google Shape;1709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10" name="Google Shape;1710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11" name="Google Shape;1711;p89"/>
          <p:cNvSpPr/>
          <p:nvPr/>
        </p:nvSpPr>
        <p:spPr>
          <a:xfrm>
            <a:off x="7002927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2" name="Google Shape;1712;p89"/>
          <p:cNvSpPr/>
          <p:nvPr/>
        </p:nvSpPr>
        <p:spPr>
          <a:xfrm flipH="1">
            <a:off x="7010626" y="2500191"/>
            <a:ext cx="859800" cy="859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3" name="Google Shape;1713;p89"/>
          <p:cNvSpPr/>
          <p:nvPr/>
        </p:nvSpPr>
        <p:spPr>
          <a:xfrm>
            <a:off x="7010543" y="2500191"/>
            <a:ext cx="859800" cy="859800"/>
          </a:xfrm>
          <a:prstGeom prst="pie">
            <a:avLst>
              <a:gd name="adj1" fmla="val 5387953"/>
              <a:gd name="adj2" fmla="val 167717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4" name="Google Shape;1714;p89"/>
          <p:cNvSpPr txBox="1"/>
          <p:nvPr/>
        </p:nvSpPr>
        <p:spPr>
          <a:xfrm>
            <a:off x="7075323" y="2531787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89"/>
          <p:cNvSpPr txBox="1"/>
          <p:nvPr/>
        </p:nvSpPr>
        <p:spPr>
          <a:xfrm>
            <a:off x="7440825" y="2950940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6" name="Google Shape;1716;p89"/>
          <p:cNvGrpSpPr/>
          <p:nvPr/>
        </p:nvGrpSpPr>
        <p:grpSpPr>
          <a:xfrm>
            <a:off x="7415370" y="2540349"/>
            <a:ext cx="48452" cy="421570"/>
            <a:chOff x="996050" y="213293"/>
            <a:chExt cx="93900" cy="909732"/>
          </a:xfrm>
        </p:grpSpPr>
        <p:cxnSp>
          <p:nvCxnSpPr>
            <p:cNvPr id="1717" name="Google Shape;1717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18" name="Google Shape;1718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89"/>
          <p:cNvSpPr/>
          <p:nvPr/>
        </p:nvSpPr>
        <p:spPr>
          <a:xfrm>
            <a:off x="2209770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0" name="Google Shape;1720;p89"/>
          <p:cNvSpPr/>
          <p:nvPr/>
        </p:nvSpPr>
        <p:spPr>
          <a:xfrm flipH="1">
            <a:off x="2217470" y="2500191"/>
            <a:ext cx="859800" cy="859800"/>
          </a:xfrm>
          <a:prstGeom prst="pie">
            <a:avLst>
              <a:gd name="adj1" fmla="val 5387953"/>
              <a:gd name="adj2" fmla="val 349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1" name="Google Shape;1721;p89"/>
          <p:cNvSpPr/>
          <p:nvPr/>
        </p:nvSpPr>
        <p:spPr>
          <a:xfrm>
            <a:off x="2217387" y="2500191"/>
            <a:ext cx="859800" cy="859800"/>
          </a:xfrm>
          <a:prstGeom prst="pie">
            <a:avLst>
              <a:gd name="adj1" fmla="val 5387953"/>
              <a:gd name="adj2" fmla="val 1076510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2" name="Google Shape;1722;p89"/>
          <p:cNvSpPr txBox="1"/>
          <p:nvPr/>
        </p:nvSpPr>
        <p:spPr>
          <a:xfrm>
            <a:off x="2257941" y="2887864"/>
            <a:ext cx="57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9"/>
          <p:cNvSpPr txBox="1"/>
          <p:nvPr/>
        </p:nvSpPr>
        <p:spPr>
          <a:xfrm>
            <a:off x="2687891" y="2578541"/>
            <a:ext cx="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4" name="Google Shape;1724;p89"/>
          <p:cNvGrpSpPr/>
          <p:nvPr/>
        </p:nvGrpSpPr>
        <p:grpSpPr>
          <a:xfrm>
            <a:off x="2622213" y="2540349"/>
            <a:ext cx="48452" cy="421570"/>
            <a:chOff x="996050" y="213293"/>
            <a:chExt cx="93900" cy="909732"/>
          </a:xfrm>
        </p:grpSpPr>
        <p:cxnSp>
          <p:nvCxnSpPr>
            <p:cNvPr id="1725" name="Google Shape;1725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26" name="Google Shape;1726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27" name="Google Shape;1727;p89"/>
          <p:cNvSpPr/>
          <p:nvPr/>
        </p:nvSpPr>
        <p:spPr>
          <a:xfrm>
            <a:off x="1276177" y="2492575"/>
            <a:ext cx="875400" cy="875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8" name="Google Shape;1728;p89"/>
          <p:cNvSpPr/>
          <p:nvPr/>
        </p:nvSpPr>
        <p:spPr>
          <a:xfrm>
            <a:off x="1283793" y="2500191"/>
            <a:ext cx="859800" cy="859800"/>
          </a:xfrm>
          <a:prstGeom prst="pie">
            <a:avLst>
              <a:gd name="adj1" fmla="val 5387953"/>
              <a:gd name="adj2" fmla="val 87872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9" name="Google Shape;1729;p89"/>
          <p:cNvSpPr txBox="1"/>
          <p:nvPr/>
        </p:nvSpPr>
        <p:spPr>
          <a:xfrm>
            <a:off x="1391189" y="2965224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89"/>
          <p:cNvSpPr txBox="1"/>
          <p:nvPr/>
        </p:nvSpPr>
        <p:spPr>
          <a:xfrm>
            <a:off x="1728947" y="2516697"/>
            <a:ext cx="28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1" name="Google Shape;1731;p89"/>
          <p:cNvGrpSpPr/>
          <p:nvPr/>
        </p:nvGrpSpPr>
        <p:grpSpPr>
          <a:xfrm>
            <a:off x="1688620" y="2540349"/>
            <a:ext cx="48452" cy="421570"/>
            <a:chOff x="996050" y="213293"/>
            <a:chExt cx="93900" cy="909732"/>
          </a:xfrm>
        </p:grpSpPr>
        <p:cxnSp>
          <p:nvCxnSpPr>
            <p:cNvPr id="1732" name="Google Shape;1732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33" name="Google Shape;1733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34" name="Google Shape;1734;p89"/>
          <p:cNvSpPr txBox="1"/>
          <p:nvPr/>
        </p:nvSpPr>
        <p:spPr>
          <a:xfrm>
            <a:off x="1565650" y="4448634"/>
            <a:ext cx="607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scale of likelihood for spinners landing on ‘win’ (W)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89"/>
          <p:cNvSpPr/>
          <p:nvPr/>
        </p:nvSpPr>
        <p:spPr>
          <a:xfrm>
            <a:off x="1235435" y="2360175"/>
            <a:ext cx="2843700" cy="1116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9" name="Shape 1739"/>
        <p:cNvGrpSpPr/>
        <p:nvPr/>
      </p:nvGrpSpPr>
      <p:grpSpPr>
        <a:xfrm>
          <a:off x="0" y="0"/>
          <a:ext cx="0" cy="0"/>
        </a:xfrm>
      </p:grpSpPr>
      <p:pic>
        <p:nvPicPr>
          <p:cNvPr id="1740" name="Google Shape;174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04" y="1391395"/>
            <a:ext cx="398693" cy="52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sp>
        <p:nvSpPr>
          <p:cNvPr id="1742" name="Google Shape;1742;p90"/>
          <p:cNvSpPr txBox="1"/>
          <p:nvPr>
            <p:ph type="body" idx="1"/>
          </p:nvPr>
        </p:nvSpPr>
        <p:spPr>
          <a:xfrm>
            <a:off x="324000" y="759300"/>
            <a:ext cx="82377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Laura and Sofia are playing a game that involves rolling a dice to determine if you can move your piece forward.</a:t>
            </a:r>
            <a:endParaRPr sz="1800"/>
          </a:p>
        </p:txBody>
      </p:sp>
      <p:cxnSp>
        <p:nvCxnSpPr>
          <p:cNvPr id="1743" name="Google Shape;1743;p90"/>
          <p:cNvCxnSpPr/>
          <p:nvPr/>
        </p:nvCxnSpPr>
        <p:spPr>
          <a:xfrm>
            <a:off x="1260861" y="38269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4" name="Google Shape;1744;p90"/>
          <p:cNvCxnSpPr/>
          <p:nvPr/>
        </p:nvCxnSpPr>
        <p:spPr>
          <a:xfrm flipH="1">
            <a:off x="1260883" y="34974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5" name="Google Shape;1745;p90"/>
          <p:cNvCxnSpPr/>
          <p:nvPr/>
        </p:nvCxnSpPr>
        <p:spPr>
          <a:xfrm flipH="1">
            <a:off x="8088215" y="34974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6" name="Google Shape;1746;p90"/>
          <p:cNvCxnSpPr/>
          <p:nvPr/>
        </p:nvCxnSpPr>
        <p:spPr>
          <a:xfrm flipH="1">
            <a:off x="4674549" y="34974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7" name="Google Shape;1747;p90"/>
          <p:cNvCxnSpPr/>
          <p:nvPr/>
        </p:nvCxnSpPr>
        <p:spPr>
          <a:xfrm>
            <a:off x="1365339" y="39895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48" name="Google Shape;1748;p90"/>
          <p:cNvCxnSpPr/>
          <p:nvPr/>
        </p:nvCxnSpPr>
        <p:spPr>
          <a:xfrm>
            <a:off x="4774394" y="39895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49" name="Google Shape;1749;p90"/>
          <p:cNvSpPr txBox="1"/>
          <p:nvPr/>
        </p:nvSpPr>
        <p:spPr>
          <a:xfrm>
            <a:off x="7544628" y="40200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0"/>
          <p:cNvSpPr txBox="1"/>
          <p:nvPr/>
        </p:nvSpPr>
        <p:spPr>
          <a:xfrm>
            <a:off x="552600" y="40200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0"/>
          <p:cNvSpPr txBox="1"/>
          <p:nvPr/>
        </p:nvSpPr>
        <p:spPr>
          <a:xfrm>
            <a:off x="2472019" y="39133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0"/>
          <p:cNvSpPr txBox="1"/>
          <p:nvPr/>
        </p:nvSpPr>
        <p:spPr>
          <a:xfrm>
            <a:off x="6202624" y="39133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0"/>
          <p:cNvSpPr txBox="1"/>
          <p:nvPr/>
        </p:nvSpPr>
        <p:spPr>
          <a:xfrm>
            <a:off x="3834808" y="40200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0"/>
          <p:cNvSpPr txBox="1"/>
          <p:nvPr>
            <p:ph type="body" idx="1"/>
          </p:nvPr>
        </p:nvSpPr>
        <p:spPr>
          <a:xfrm>
            <a:off x="857400" y="1481087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Laura can move her piece if she rolls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multiple of 3</a:t>
            </a:r>
            <a:r>
              <a:rPr lang="en-GB" sz="1800"/>
              <a:t>.</a:t>
            </a:r>
            <a:endParaRPr sz="1800"/>
          </a:p>
        </p:txBody>
      </p:sp>
      <p:grpSp>
        <p:nvGrpSpPr>
          <p:cNvPr id="1755" name="Google Shape;1755;p90"/>
          <p:cNvGrpSpPr/>
          <p:nvPr/>
        </p:nvGrpSpPr>
        <p:grpSpPr>
          <a:xfrm>
            <a:off x="6762589" y="1429407"/>
            <a:ext cx="1915274" cy="308352"/>
            <a:chOff x="6762589" y="1480020"/>
            <a:chExt cx="1915274" cy="308352"/>
          </a:xfrm>
        </p:grpSpPr>
        <p:pic>
          <p:nvPicPr>
            <p:cNvPr id="1756" name="Google Shape;1756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62589" y="1480023"/>
              <a:ext cx="317621" cy="30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7" name="Google Shape;1757;p90"/>
            <p:cNvPicPr preferRelativeResize="0"/>
            <p:nvPr/>
          </p:nvPicPr>
          <p:blipFill>
            <a:blip r:embed="rId5">
              <a:alphaModFix/>
            </a:blip>
            <a:srcRect b="2162"/>
            <a:stretch>
              <a:fillRect/>
            </a:stretch>
          </p:blipFill>
          <p:spPr>
            <a:xfrm>
              <a:off x="7100957" y="1480020"/>
              <a:ext cx="317621" cy="308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8" name="Google Shape;1758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18579" y="1485531"/>
              <a:ext cx="302410" cy="297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9" name="Google Shape;1759;p9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38131" y="1487061"/>
              <a:ext cx="299570" cy="297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0" name="Google Shape;1760;p9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69486" y="1487061"/>
              <a:ext cx="296217" cy="297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1" name="Google Shape;1761;p9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383882" y="1487061"/>
              <a:ext cx="293981" cy="2973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2" name="Google Shape;1762;p90"/>
          <p:cNvGrpSpPr/>
          <p:nvPr/>
        </p:nvGrpSpPr>
        <p:grpSpPr>
          <a:xfrm>
            <a:off x="7462317" y="1187176"/>
            <a:ext cx="1206559" cy="228918"/>
            <a:chOff x="4228541" y="1606903"/>
            <a:chExt cx="1626310" cy="308557"/>
          </a:xfrm>
        </p:grpSpPr>
        <p:pic>
          <p:nvPicPr>
            <p:cNvPr id="1763" name="Google Shape;1763;p9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228541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4" name="Google Shape;1764;p9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563300" y="1606903"/>
              <a:ext cx="291550" cy="3085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5" name="Google Shape;1765;p90"/>
          <p:cNvSpPr txBox="1"/>
          <p:nvPr>
            <p:ph type="body" idx="1"/>
          </p:nvPr>
        </p:nvSpPr>
        <p:spPr>
          <a:xfrm>
            <a:off x="857400" y="2065100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Sofia can move her piece if she rolls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multiple of 4</a:t>
            </a:r>
            <a:r>
              <a:rPr lang="en-GB" sz="1800"/>
              <a:t>.</a:t>
            </a:r>
            <a:endParaRPr sz="1800"/>
          </a:p>
        </p:txBody>
      </p:sp>
      <p:grpSp>
        <p:nvGrpSpPr>
          <p:cNvPr id="1766" name="Google Shape;1766;p90"/>
          <p:cNvGrpSpPr/>
          <p:nvPr/>
        </p:nvGrpSpPr>
        <p:grpSpPr>
          <a:xfrm>
            <a:off x="6762589" y="2019258"/>
            <a:ext cx="1915274" cy="308352"/>
            <a:chOff x="6762589" y="2171658"/>
            <a:chExt cx="1915274" cy="308352"/>
          </a:xfrm>
        </p:grpSpPr>
        <p:pic>
          <p:nvPicPr>
            <p:cNvPr id="1767" name="Google Shape;1767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62589" y="2171661"/>
              <a:ext cx="317621" cy="30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8" name="Google Shape;1768;p90"/>
            <p:cNvPicPr preferRelativeResize="0"/>
            <p:nvPr/>
          </p:nvPicPr>
          <p:blipFill>
            <a:blip r:embed="rId5">
              <a:alphaModFix/>
            </a:blip>
            <a:srcRect b="2162"/>
            <a:stretch>
              <a:fillRect/>
            </a:stretch>
          </p:blipFill>
          <p:spPr>
            <a:xfrm>
              <a:off x="7100957" y="2171658"/>
              <a:ext cx="317621" cy="308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9" name="Google Shape;1769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18579" y="2177169"/>
              <a:ext cx="302410" cy="297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0" name="Google Shape;1770;p9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38131" y="2178699"/>
              <a:ext cx="299570" cy="297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1" name="Google Shape;1771;p9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69486" y="2178699"/>
              <a:ext cx="296217" cy="297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2" name="Google Shape;1772;p9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383882" y="2178699"/>
              <a:ext cx="293981" cy="2973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73" name="Google Shape;1773;p9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89946" y="1800392"/>
            <a:ext cx="216298" cy="228913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p90"/>
          <p:cNvSpPr txBox="1"/>
          <p:nvPr>
            <p:ph type="body" idx="1"/>
          </p:nvPr>
        </p:nvSpPr>
        <p:spPr>
          <a:xfrm>
            <a:off x="324000" y="2575166"/>
            <a:ext cx="82377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For both players, their likelihood of moving is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unlikely</a:t>
            </a:r>
            <a:r>
              <a:rPr lang="en-GB" sz="1800"/>
              <a:t>. </a:t>
            </a:r>
            <a:br>
              <a:rPr lang="en-GB" sz="1800">
                <a:solidFill>
                  <a:srgbClr val="282828"/>
                </a:solidFill>
              </a:rPr>
            </a:br>
            <a:r>
              <a:rPr lang="en-GB" sz="1800"/>
              <a:t>In which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order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would their likelihoods go on the scale?</a:t>
            </a:r>
            <a:endParaRPr sz="1800"/>
          </a:p>
        </p:txBody>
      </p:sp>
      <p:pic>
        <p:nvPicPr>
          <p:cNvPr id="1775" name="Google Shape;1775;p9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336285" y="1943281"/>
            <a:ext cx="398701" cy="44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7429" y="3267445"/>
            <a:ext cx="398693" cy="52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9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2158542" y="3307356"/>
            <a:ext cx="398701" cy="4423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90"/>
          <p:cNvSpPr txBox="1"/>
          <p:nvPr>
            <p:ph type="body" idx="1"/>
          </p:nvPr>
        </p:nvSpPr>
        <p:spPr>
          <a:xfrm>
            <a:off x="324000" y="4550320"/>
            <a:ext cx="8237700" cy="30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Note that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other outcomes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for the dice roll are possible.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2" name="Shape 1782"/>
        <p:cNvGrpSpPr/>
        <p:nvPr/>
      </p:nvGrpSpPr>
      <p:grpSpPr>
        <a:xfrm>
          <a:off x="0" y="0"/>
          <a:ext cx="0" cy="0"/>
        </a:xfrm>
      </p:grpSpPr>
      <p:pic>
        <p:nvPicPr>
          <p:cNvPr id="1783" name="Google Shape;1783;p91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rot="10800000">
            <a:off x="5961877" y="1330224"/>
            <a:ext cx="2835748" cy="18227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sp>
        <p:nvSpPr>
          <p:cNvPr id="1785" name="Google Shape;1785;p91"/>
          <p:cNvSpPr txBox="1"/>
          <p:nvPr>
            <p:ph type="body" idx="1"/>
          </p:nvPr>
        </p:nvSpPr>
        <p:spPr>
          <a:xfrm>
            <a:off x="324000" y="759300"/>
            <a:ext cx="82377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Aisha and Jacob are about to play each other in a tennis match.</a:t>
            </a:r>
            <a:endParaRPr sz="1800"/>
          </a:p>
        </p:txBody>
      </p:sp>
      <p:sp>
        <p:nvSpPr>
          <p:cNvPr id="1786" name="Google Shape;1786;p91"/>
          <p:cNvSpPr txBox="1"/>
          <p:nvPr/>
        </p:nvSpPr>
        <p:spPr>
          <a:xfrm>
            <a:off x="283948" y="1475326"/>
            <a:ext cx="342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{Aisha wins,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wins} </a:t>
            </a:r>
            <a:endParaRPr sz="1800"/>
          </a:p>
        </p:txBody>
      </p:sp>
      <p:sp>
        <p:nvSpPr>
          <p:cNvPr id="1787" name="Google Shape;1787;p91"/>
          <p:cNvSpPr txBox="1"/>
          <p:nvPr>
            <p:ph type="body" idx="1"/>
          </p:nvPr>
        </p:nvSpPr>
        <p:spPr>
          <a:xfrm>
            <a:off x="324000" y="2506443"/>
            <a:ext cx="55995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is considering where the likelihood of each person winning would go on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scale of likelihoods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788" name="Google Shape;178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2750" y="880099"/>
            <a:ext cx="467093" cy="5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91"/>
          <p:cNvSpPr txBox="1"/>
          <p:nvPr>
            <p:ph type="body" idx="1"/>
          </p:nvPr>
        </p:nvSpPr>
        <p:spPr>
          <a:xfrm>
            <a:off x="6007425" y="1722338"/>
            <a:ext cx="2628300" cy="12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think that they both could be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likely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to win but Aisha is more likely to win than Jacob.</a:t>
            </a:r>
            <a:endParaRPr sz="1800"/>
          </a:p>
        </p:txBody>
      </p:sp>
      <p:pic>
        <p:nvPicPr>
          <p:cNvPr id="1790" name="Google Shape;1790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716" y="1847267"/>
            <a:ext cx="285261" cy="5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220193" y="1850707"/>
            <a:ext cx="387242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91"/>
          <p:cNvSpPr txBox="1"/>
          <p:nvPr/>
        </p:nvSpPr>
        <p:spPr>
          <a:xfrm>
            <a:off x="8151099" y="1300757"/>
            <a:ext cx="63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3" name="Google Shape;1793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8416" y="3220270"/>
            <a:ext cx="285261" cy="5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935968" y="3225496"/>
            <a:ext cx="387242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91"/>
          <p:cNvSpPr txBox="1"/>
          <p:nvPr>
            <p:ph type="body" idx="1"/>
          </p:nvPr>
        </p:nvSpPr>
        <p:spPr>
          <a:xfrm>
            <a:off x="330054" y="4553568"/>
            <a:ext cx="3465600" cy="40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Why must Alex be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incorrect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796" name="Google Shape;1796;p91"/>
          <p:cNvSpPr txBox="1"/>
          <p:nvPr>
            <p:ph type="body" idx="1"/>
          </p:nvPr>
        </p:nvSpPr>
        <p:spPr>
          <a:xfrm>
            <a:off x="324000" y="1140300"/>
            <a:ext cx="82377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only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possible outcomes are either Aisha wins or Jacob wins.</a:t>
            </a:r>
            <a:endParaRPr sz="1800"/>
          </a:p>
        </p:txBody>
      </p:sp>
      <p:cxnSp>
        <p:nvCxnSpPr>
          <p:cNvPr id="1797" name="Google Shape;1797;p91"/>
          <p:cNvCxnSpPr/>
          <p:nvPr/>
        </p:nvCxnSpPr>
        <p:spPr>
          <a:xfrm>
            <a:off x="1260861" y="38269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8" name="Google Shape;1798;p91"/>
          <p:cNvCxnSpPr/>
          <p:nvPr/>
        </p:nvCxnSpPr>
        <p:spPr>
          <a:xfrm flipH="1">
            <a:off x="1260883" y="34974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9" name="Google Shape;1799;p91"/>
          <p:cNvCxnSpPr/>
          <p:nvPr/>
        </p:nvCxnSpPr>
        <p:spPr>
          <a:xfrm flipH="1">
            <a:off x="8088215" y="34974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0" name="Google Shape;1800;p91"/>
          <p:cNvCxnSpPr/>
          <p:nvPr/>
        </p:nvCxnSpPr>
        <p:spPr>
          <a:xfrm flipH="1">
            <a:off x="4674549" y="34974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1" name="Google Shape;1801;p91"/>
          <p:cNvCxnSpPr/>
          <p:nvPr/>
        </p:nvCxnSpPr>
        <p:spPr>
          <a:xfrm>
            <a:off x="1365339" y="39895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2" name="Google Shape;1802;p91"/>
          <p:cNvCxnSpPr/>
          <p:nvPr/>
        </p:nvCxnSpPr>
        <p:spPr>
          <a:xfrm>
            <a:off x="4774394" y="39895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3" name="Google Shape;1803;p91"/>
          <p:cNvSpPr txBox="1"/>
          <p:nvPr/>
        </p:nvSpPr>
        <p:spPr>
          <a:xfrm>
            <a:off x="7544628" y="40200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1"/>
          <p:cNvSpPr txBox="1"/>
          <p:nvPr/>
        </p:nvSpPr>
        <p:spPr>
          <a:xfrm>
            <a:off x="552600" y="40200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91"/>
          <p:cNvSpPr txBox="1"/>
          <p:nvPr/>
        </p:nvSpPr>
        <p:spPr>
          <a:xfrm>
            <a:off x="2472019" y="39133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91"/>
          <p:cNvSpPr txBox="1"/>
          <p:nvPr/>
        </p:nvSpPr>
        <p:spPr>
          <a:xfrm>
            <a:off x="6202624" y="39133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1"/>
          <p:cNvSpPr txBox="1"/>
          <p:nvPr/>
        </p:nvSpPr>
        <p:spPr>
          <a:xfrm>
            <a:off x="3834808" y="40200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1" name="Shape 1811"/>
        <p:cNvGrpSpPr/>
        <p:nvPr/>
      </p:nvGrpSpPr>
      <p:grpSpPr>
        <a:xfrm>
          <a:off x="0" y="0"/>
          <a:ext cx="0" cy="0"/>
        </a:xfrm>
      </p:grpSpPr>
      <p:sp>
        <p:nvSpPr>
          <p:cNvPr id="1812" name="Google Shape;181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sp>
        <p:nvSpPr>
          <p:cNvPr id="1813" name="Google Shape;1813;p92"/>
          <p:cNvSpPr txBox="1"/>
          <p:nvPr>
            <p:ph type="body" idx="1"/>
          </p:nvPr>
        </p:nvSpPr>
        <p:spPr>
          <a:xfrm>
            <a:off x="324000" y="759300"/>
            <a:ext cx="8496000" cy="1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In this scenario, there are only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5"/>
                </a:solidFill>
              </a:rPr>
              <a:t>two possible outcomes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which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5"/>
                </a:solidFill>
              </a:rPr>
              <a:t>can not both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5"/>
                </a:solidFill>
              </a:rPr>
              <a:t>happen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in the same trial. This means that when one outcome happens, it causes the other outcome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5"/>
                </a:solidFill>
              </a:rPr>
              <a:t>not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to happen.</a:t>
            </a:r>
            <a:endParaRPr sz="1900"/>
          </a:p>
        </p:txBody>
      </p:sp>
      <p:cxnSp>
        <p:nvCxnSpPr>
          <p:cNvPr id="1814" name="Google Shape;1814;p92"/>
          <p:cNvCxnSpPr/>
          <p:nvPr/>
        </p:nvCxnSpPr>
        <p:spPr>
          <a:xfrm>
            <a:off x="1260861" y="42841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5" name="Google Shape;1815;p92"/>
          <p:cNvCxnSpPr/>
          <p:nvPr/>
        </p:nvCxnSpPr>
        <p:spPr>
          <a:xfrm flipH="1">
            <a:off x="1260883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6" name="Google Shape;1816;p92"/>
          <p:cNvCxnSpPr/>
          <p:nvPr/>
        </p:nvCxnSpPr>
        <p:spPr>
          <a:xfrm flipH="1">
            <a:off x="8088215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7" name="Google Shape;1817;p92"/>
          <p:cNvCxnSpPr/>
          <p:nvPr/>
        </p:nvCxnSpPr>
        <p:spPr>
          <a:xfrm flipH="1">
            <a:off x="4674549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8" name="Google Shape;1818;p92"/>
          <p:cNvCxnSpPr/>
          <p:nvPr/>
        </p:nvCxnSpPr>
        <p:spPr>
          <a:xfrm>
            <a:off x="1365339" y="44467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9" name="Google Shape;1819;p92"/>
          <p:cNvCxnSpPr/>
          <p:nvPr/>
        </p:nvCxnSpPr>
        <p:spPr>
          <a:xfrm>
            <a:off x="4774394" y="44467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20" name="Google Shape;1820;p92"/>
          <p:cNvSpPr txBox="1"/>
          <p:nvPr/>
        </p:nvSpPr>
        <p:spPr>
          <a:xfrm>
            <a:off x="7544628" y="44772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92"/>
          <p:cNvSpPr txBox="1"/>
          <p:nvPr/>
        </p:nvSpPr>
        <p:spPr>
          <a:xfrm>
            <a:off x="552600" y="44772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92"/>
          <p:cNvSpPr txBox="1"/>
          <p:nvPr/>
        </p:nvSpPr>
        <p:spPr>
          <a:xfrm>
            <a:off x="2472019" y="43705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2"/>
          <p:cNvSpPr txBox="1"/>
          <p:nvPr/>
        </p:nvSpPr>
        <p:spPr>
          <a:xfrm>
            <a:off x="6126424" y="43705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2"/>
          <p:cNvSpPr txBox="1"/>
          <p:nvPr/>
        </p:nvSpPr>
        <p:spPr>
          <a:xfrm>
            <a:off x="3834808" y="44772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5" name="Google Shape;1825;p92"/>
          <p:cNvGrpSpPr/>
          <p:nvPr/>
        </p:nvGrpSpPr>
        <p:grpSpPr>
          <a:xfrm>
            <a:off x="4126380" y="3644516"/>
            <a:ext cx="1040149" cy="553198"/>
            <a:chOff x="4126380" y="3644516"/>
            <a:chExt cx="1040149" cy="553198"/>
          </a:xfrm>
        </p:grpSpPr>
        <p:pic>
          <p:nvPicPr>
            <p:cNvPr id="1826" name="Google Shape;182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12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7" name="Google Shape;1827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126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8" name="Google Shape;1828;p92"/>
          <p:cNvSpPr txBox="1"/>
          <p:nvPr>
            <p:ph type="body" idx="1"/>
          </p:nvPr>
        </p:nvSpPr>
        <p:spPr>
          <a:xfrm>
            <a:off x="324000" y="2511900"/>
            <a:ext cx="8496000" cy="36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5"/>
                </a:solidFill>
              </a:rPr>
              <a:t>more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likely it is that Aisha wins, the</a:t>
            </a:r>
            <a:r>
              <a:rPr lang="en-GB" sz="1900">
                <a:solidFill>
                  <a:schemeClr val="accent5"/>
                </a:solidFill>
              </a:rPr>
              <a:t> less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likely it is that Jacob wins.</a:t>
            </a:r>
            <a:endParaRPr sz="1900"/>
          </a:p>
        </p:txBody>
      </p:sp>
      <p:grpSp>
        <p:nvGrpSpPr>
          <p:cNvPr id="1829" name="Google Shape;1829;p92"/>
          <p:cNvGrpSpPr/>
          <p:nvPr/>
        </p:nvGrpSpPr>
        <p:grpSpPr>
          <a:xfrm>
            <a:off x="3364380" y="3644516"/>
            <a:ext cx="2564149" cy="553198"/>
            <a:chOff x="3364380" y="3644516"/>
            <a:chExt cx="2564149" cy="553198"/>
          </a:xfrm>
        </p:grpSpPr>
        <p:pic>
          <p:nvPicPr>
            <p:cNvPr id="1830" name="Google Shape;183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432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1" name="Google Shape;183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3364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2" name="Google Shape;1832;p92"/>
          <p:cNvGrpSpPr/>
          <p:nvPr/>
        </p:nvGrpSpPr>
        <p:grpSpPr>
          <a:xfrm>
            <a:off x="2602380" y="3644516"/>
            <a:ext cx="4088149" cy="553198"/>
            <a:chOff x="2602380" y="3644516"/>
            <a:chExt cx="4088149" cy="553198"/>
          </a:xfrm>
        </p:grpSpPr>
        <p:pic>
          <p:nvPicPr>
            <p:cNvPr id="1833" name="Google Shape;183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052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4" name="Google Shape;183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602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5" name="Google Shape;1835;p92"/>
          <p:cNvGrpSpPr/>
          <p:nvPr/>
        </p:nvGrpSpPr>
        <p:grpSpPr>
          <a:xfrm>
            <a:off x="1840380" y="3644516"/>
            <a:ext cx="5688349" cy="553198"/>
            <a:chOff x="1840380" y="3644516"/>
            <a:chExt cx="5688349" cy="553198"/>
          </a:xfrm>
        </p:grpSpPr>
        <p:pic>
          <p:nvPicPr>
            <p:cNvPr id="1836" name="Google Shape;183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4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7" name="Google Shape;1837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840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8" name="Google Shape;1838;p92"/>
          <p:cNvSpPr txBox="1"/>
          <p:nvPr/>
        </p:nvSpPr>
        <p:spPr>
          <a:xfrm>
            <a:off x="239381" y="1893252"/>
            <a:ext cx="3424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{Aisha wins,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Jacob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wins} </a:t>
            </a:r>
            <a:endParaRPr sz="13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2" name="Shape 1842"/>
        <p:cNvGrpSpPr/>
        <p:nvPr/>
      </p:nvGrpSpPr>
      <p:grpSpPr>
        <a:xfrm>
          <a:off x="0" y="0"/>
          <a:ext cx="0" cy="0"/>
        </a:xfrm>
      </p:grpSpPr>
      <p:pic>
        <p:nvPicPr>
          <p:cNvPr id="1843" name="Google Shape;184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04" y="2000995"/>
            <a:ext cx="398693" cy="52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93"/>
          <p:cNvSpPr txBox="1"/>
          <p:nvPr>
            <p:ph type="body" idx="1"/>
          </p:nvPr>
        </p:nvSpPr>
        <p:spPr>
          <a:xfrm>
            <a:off x="324000" y="759300"/>
            <a:ext cx="82377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Andeep, Laura and Sofia are playing a game that involves rolling a dice to determine if you can move your piece forward.</a:t>
            </a:r>
            <a:endParaRPr sz="1800"/>
          </a:p>
        </p:txBody>
      </p:sp>
      <p:sp>
        <p:nvSpPr>
          <p:cNvPr id="1845" name="Google Shape;1845;p93"/>
          <p:cNvSpPr txBox="1"/>
          <p:nvPr>
            <p:ph type="body" idx="1"/>
          </p:nvPr>
        </p:nvSpPr>
        <p:spPr>
          <a:xfrm>
            <a:off x="857400" y="1519047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Andeep can move his piece if he rolls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number less than 6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846" name="Google Shape;1846;p93"/>
          <p:cNvSpPr txBox="1"/>
          <p:nvPr>
            <p:ph type="body" idx="1"/>
          </p:nvPr>
        </p:nvSpPr>
        <p:spPr>
          <a:xfrm>
            <a:off x="857400" y="2065100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Laura can move her piece if she rolls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factor of 6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847" name="Google Shape;184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cxnSp>
        <p:nvCxnSpPr>
          <p:cNvPr id="1848" name="Google Shape;1848;p93"/>
          <p:cNvCxnSpPr/>
          <p:nvPr/>
        </p:nvCxnSpPr>
        <p:spPr>
          <a:xfrm>
            <a:off x="1260861" y="42841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9" name="Google Shape;1849;p93"/>
          <p:cNvCxnSpPr/>
          <p:nvPr/>
        </p:nvCxnSpPr>
        <p:spPr>
          <a:xfrm flipH="1">
            <a:off x="1260883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0" name="Google Shape;1850;p93"/>
          <p:cNvCxnSpPr/>
          <p:nvPr/>
        </p:nvCxnSpPr>
        <p:spPr>
          <a:xfrm flipH="1">
            <a:off x="8088215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1" name="Google Shape;1851;p93"/>
          <p:cNvCxnSpPr/>
          <p:nvPr/>
        </p:nvCxnSpPr>
        <p:spPr>
          <a:xfrm flipH="1">
            <a:off x="4674549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2" name="Google Shape;1852;p93"/>
          <p:cNvCxnSpPr/>
          <p:nvPr/>
        </p:nvCxnSpPr>
        <p:spPr>
          <a:xfrm>
            <a:off x="1365339" y="44467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3" name="Google Shape;1853;p93"/>
          <p:cNvCxnSpPr/>
          <p:nvPr/>
        </p:nvCxnSpPr>
        <p:spPr>
          <a:xfrm>
            <a:off x="4774394" y="44467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4" name="Google Shape;1854;p93"/>
          <p:cNvSpPr txBox="1"/>
          <p:nvPr/>
        </p:nvSpPr>
        <p:spPr>
          <a:xfrm>
            <a:off x="7544628" y="44772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93"/>
          <p:cNvSpPr txBox="1"/>
          <p:nvPr/>
        </p:nvSpPr>
        <p:spPr>
          <a:xfrm>
            <a:off x="552600" y="44772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93"/>
          <p:cNvSpPr txBox="1"/>
          <p:nvPr/>
        </p:nvSpPr>
        <p:spPr>
          <a:xfrm>
            <a:off x="2472019" y="43705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93"/>
          <p:cNvSpPr txBox="1"/>
          <p:nvPr/>
        </p:nvSpPr>
        <p:spPr>
          <a:xfrm>
            <a:off x="6126424" y="43705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93"/>
          <p:cNvSpPr txBox="1"/>
          <p:nvPr/>
        </p:nvSpPr>
        <p:spPr>
          <a:xfrm>
            <a:off x="3834808" y="44772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93"/>
          <p:cNvSpPr txBox="1"/>
          <p:nvPr>
            <p:ph type="body" idx="1"/>
          </p:nvPr>
        </p:nvSpPr>
        <p:spPr>
          <a:xfrm>
            <a:off x="5711190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860" name="Google Shape;1860;p93"/>
          <p:cNvSpPr txBox="1"/>
          <p:nvPr>
            <p:ph type="body" idx="1"/>
          </p:nvPr>
        </p:nvSpPr>
        <p:spPr>
          <a:xfrm>
            <a:off x="4572501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861" name="Google Shape;1861;p93"/>
          <p:cNvSpPr txBox="1"/>
          <p:nvPr>
            <p:ph type="body" idx="1"/>
          </p:nvPr>
        </p:nvSpPr>
        <p:spPr>
          <a:xfrm>
            <a:off x="7988567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862" name="Google Shape;1862;p93"/>
          <p:cNvSpPr txBox="1"/>
          <p:nvPr>
            <p:ph type="body" idx="1"/>
          </p:nvPr>
        </p:nvSpPr>
        <p:spPr>
          <a:xfrm>
            <a:off x="6849879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863" name="Google Shape;1863;p93"/>
          <p:cNvSpPr txBox="1"/>
          <p:nvPr>
            <p:ph type="body" idx="1"/>
          </p:nvPr>
        </p:nvSpPr>
        <p:spPr>
          <a:xfrm>
            <a:off x="857400" y="2643067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Sofia can move her piece if she rolls an </a:t>
            </a:r>
            <a:r>
              <a:rPr lang="en-GB" sz="1800">
                <a:solidFill>
                  <a:schemeClr val="accent5"/>
                </a:solidFill>
              </a:rPr>
              <a:t>odd number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chemeClr val="accent5"/>
              </a:solidFill>
            </a:endParaRPr>
          </a:p>
        </p:txBody>
      </p:sp>
      <p:pic>
        <p:nvPicPr>
          <p:cNvPr id="1864" name="Google Shape;186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6285" y="2521248"/>
            <a:ext cx="398701" cy="44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5" name="Google Shape;186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9748" y="1403890"/>
            <a:ext cx="398701" cy="514114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93"/>
          <p:cNvSpPr txBox="1"/>
          <p:nvPr>
            <p:ph type="body" idx="1"/>
          </p:nvPr>
        </p:nvSpPr>
        <p:spPr>
          <a:xfrm>
            <a:off x="324000" y="3121500"/>
            <a:ext cx="82377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letter represents the likelihood that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Andeep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moves his piece?</a:t>
            </a:r>
            <a:endParaRPr sz="1800"/>
          </a:p>
        </p:txBody>
      </p:sp>
      <p:pic>
        <p:nvPicPr>
          <p:cNvPr id="1867" name="Google Shape;1867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9754" y="3646692"/>
            <a:ext cx="270575" cy="286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1" name="Shape 1871"/>
        <p:cNvGrpSpPr/>
        <p:nvPr/>
      </p:nvGrpSpPr>
      <p:grpSpPr>
        <a:xfrm>
          <a:off x="0" y="0"/>
          <a:ext cx="0" cy="0"/>
        </a:xfrm>
      </p:grpSpPr>
      <p:pic>
        <p:nvPicPr>
          <p:cNvPr id="1872" name="Google Shape;187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04" y="2000995"/>
            <a:ext cx="398693" cy="52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3" name="Google Shape;1873;p94"/>
          <p:cNvSpPr txBox="1"/>
          <p:nvPr>
            <p:ph type="body" idx="1"/>
          </p:nvPr>
        </p:nvSpPr>
        <p:spPr>
          <a:xfrm>
            <a:off x="324000" y="759300"/>
            <a:ext cx="8237700" cy="65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Andeep, Laura and Sofia are playing a game that involves rolling a dice to determine if you can move your piece forward.</a:t>
            </a:r>
            <a:endParaRPr sz="1800"/>
          </a:p>
        </p:txBody>
      </p:sp>
      <p:sp>
        <p:nvSpPr>
          <p:cNvPr id="1874" name="Google Shape;1874;p94"/>
          <p:cNvSpPr txBox="1"/>
          <p:nvPr>
            <p:ph type="body" idx="1"/>
          </p:nvPr>
        </p:nvSpPr>
        <p:spPr>
          <a:xfrm>
            <a:off x="857400" y="1519047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Andeep can move his piece if he rolls a </a:t>
            </a:r>
            <a:r>
              <a:rPr lang="en-GB" sz="1800">
                <a:solidFill>
                  <a:schemeClr val="accent5"/>
                </a:solidFill>
              </a:rPr>
              <a:t>number less than 6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875" name="Google Shape;1875;p94"/>
          <p:cNvSpPr txBox="1"/>
          <p:nvPr>
            <p:ph type="body" idx="1"/>
          </p:nvPr>
        </p:nvSpPr>
        <p:spPr>
          <a:xfrm>
            <a:off x="857400" y="2065100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Laura can move her piece if she rolls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factor of 6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876" name="Google Shape;187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cxnSp>
        <p:nvCxnSpPr>
          <p:cNvPr id="1877" name="Google Shape;1877;p94"/>
          <p:cNvCxnSpPr/>
          <p:nvPr/>
        </p:nvCxnSpPr>
        <p:spPr>
          <a:xfrm>
            <a:off x="1260861" y="42841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8" name="Google Shape;1878;p94"/>
          <p:cNvCxnSpPr/>
          <p:nvPr/>
        </p:nvCxnSpPr>
        <p:spPr>
          <a:xfrm flipH="1">
            <a:off x="1260883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9" name="Google Shape;1879;p94"/>
          <p:cNvCxnSpPr/>
          <p:nvPr/>
        </p:nvCxnSpPr>
        <p:spPr>
          <a:xfrm flipH="1">
            <a:off x="8088215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0" name="Google Shape;1880;p94"/>
          <p:cNvCxnSpPr/>
          <p:nvPr/>
        </p:nvCxnSpPr>
        <p:spPr>
          <a:xfrm flipH="1">
            <a:off x="4674549" y="39546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1" name="Google Shape;1881;p94"/>
          <p:cNvCxnSpPr/>
          <p:nvPr/>
        </p:nvCxnSpPr>
        <p:spPr>
          <a:xfrm>
            <a:off x="1365339" y="44467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2" name="Google Shape;1882;p94"/>
          <p:cNvCxnSpPr/>
          <p:nvPr/>
        </p:nvCxnSpPr>
        <p:spPr>
          <a:xfrm>
            <a:off x="4774394" y="44467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83" name="Google Shape;1883;p94"/>
          <p:cNvSpPr txBox="1"/>
          <p:nvPr/>
        </p:nvSpPr>
        <p:spPr>
          <a:xfrm>
            <a:off x="7544628" y="44772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94"/>
          <p:cNvSpPr txBox="1"/>
          <p:nvPr/>
        </p:nvSpPr>
        <p:spPr>
          <a:xfrm>
            <a:off x="552600" y="44772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94"/>
          <p:cNvSpPr txBox="1"/>
          <p:nvPr/>
        </p:nvSpPr>
        <p:spPr>
          <a:xfrm>
            <a:off x="2472019" y="43705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94"/>
          <p:cNvSpPr txBox="1"/>
          <p:nvPr/>
        </p:nvSpPr>
        <p:spPr>
          <a:xfrm>
            <a:off x="6126424" y="43705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4"/>
          <p:cNvSpPr txBox="1"/>
          <p:nvPr/>
        </p:nvSpPr>
        <p:spPr>
          <a:xfrm>
            <a:off x="3834808" y="44772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4"/>
          <p:cNvSpPr txBox="1"/>
          <p:nvPr>
            <p:ph type="body" idx="1"/>
          </p:nvPr>
        </p:nvSpPr>
        <p:spPr>
          <a:xfrm>
            <a:off x="5711190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889" name="Google Shape;1889;p94"/>
          <p:cNvSpPr txBox="1"/>
          <p:nvPr>
            <p:ph type="body" idx="1"/>
          </p:nvPr>
        </p:nvSpPr>
        <p:spPr>
          <a:xfrm>
            <a:off x="4572501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890" name="Google Shape;1890;p94"/>
          <p:cNvSpPr txBox="1"/>
          <p:nvPr>
            <p:ph type="body" idx="1"/>
          </p:nvPr>
        </p:nvSpPr>
        <p:spPr>
          <a:xfrm>
            <a:off x="7988567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891" name="Google Shape;1891;p94"/>
          <p:cNvSpPr txBox="1"/>
          <p:nvPr>
            <p:ph type="body" idx="1"/>
          </p:nvPr>
        </p:nvSpPr>
        <p:spPr>
          <a:xfrm>
            <a:off x="6849879" y="36383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892" name="Google Shape;1892;p94"/>
          <p:cNvSpPr txBox="1"/>
          <p:nvPr>
            <p:ph type="body" idx="1"/>
          </p:nvPr>
        </p:nvSpPr>
        <p:spPr>
          <a:xfrm>
            <a:off x="857400" y="2643067"/>
            <a:ext cx="6633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Sofia can move her piece if she rolls an </a:t>
            </a:r>
            <a:r>
              <a:rPr lang="en-GB" sz="1800">
                <a:solidFill>
                  <a:schemeClr val="accent5"/>
                </a:solidFill>
              </a:rPr>
              <a:t>odd number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chemeClr val="accent5"/>
              </a:solidFill>
            </a:endParaRPr>
          </a:p>
        </p:txBody>
      </p:sp>
      <p:pic>
        <p:nvPicPr>
          <p:cNvPr id="1893" name="Google Shape;189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6285" y="2521248"/>
            <a:ext cx="398701" cy="44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9748" y="1403890"/>
            <a:ext cx="398701" cy="514114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94"/>
          <p:cNvSpPr txBox="1"/>
          <p:nvPr>
            <p:ph type="body" idx="1"/>
          </p:nvPr>
        </p:nvSpPr>
        <p:spPr>
          <a:xfrm>
            <a:off x="324000" y="3121500"/>
            <a:ext cx="82377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letter represents the likelihood that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Laura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moves her piece?</a:t>
            </a:r>
            <a:endParaRPr sz="1800"/>
          </a:p>
        </p:txBody>
      </p:sp>
      <p:pic>
        <p:nvPicPr>
          <p:cNvPr id="1896" name="Google Shape;1896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4101" y="3646692"/>
            <a:ext cx="270575" cy="286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0" name="Shape 1900"/>
        <p:cNvGrpSpPr/>
        <p:nvPr/>
      </p:nvGrpSpPr>
      <p:grpSpPr>
        <a:xfrm>
          <a:off x="0" y="0"/>
          <a:ext cx="0" cy="0"/>
        </a:xfrm>
      </p:grpSpPr>
      <p:sp>
        <p:nvSpPr>
          <p:cNvPr id="1901" name="Google Shape;1901;p95"/>
          <p:cNvSpPr txBox="1"/>
          <p:nvPr>
            <p:ph type="body" idx="1"/>
          </p:nvPr>
        </p:nvSpPr>
        <p:spPr>
          <a:xfrm>
            <a:off x="324000" y="759300"/>
            <a:ext cx="8496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spinner contains only </a:t>
            </a:r>
            <a:r>
              <a:rPr lang="en-GB" sz="2000">
                <a:solidFill>
                  <a:schemeClr val="accent5"/>
                </a:solidFill>
              </a:rPr>
              <a:t>two</a:t>
            </a:r>
            <a:r>
              <a:rPr lang="en-GB" sz="2000"/>
              <a:t> outcomes: </a:t>
            </a:r>
            <a:r>
              <a:rPr lang="en-GB" sz="2000" i="1"/>
              <a:t>ξ</a:t>
            </a:r>
            <a:r>
              <a:rPr lang="en-GB" sz="2000"/>
              <a:t> = {win, lose} </a:t>
            </a:r>
            <a:endParaRPr sz="2000"/>
          </a:p>
        </p:txBody>
      </p:sp>
      <p:sp>
        <p:nvSpPr>
          <p:cNvPr id="1902" name="Google Shape;190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cxnSp>
        <p:nvCxnSpPr>
          <p:cNvPr id="1903" name="Google Shape;1903;p95"/>
          <p:cNvCxnSpPr/>
          <p:nvPr/>
        </p:nvCxnSpPr>
        <p:spPr>
          <a:xfrm>
            <a:off x="1260861" y="40555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4" name="Google Shape;1904;p95"/>
          <p:cNvCxnSpPr/>
          <p:nvPr/>
        </p:nvCxnSpPr>
        <p:spPr>
          <a:xfrm flipH="1">
            <a:off x="1260883" y="37260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5" name="Google Shape;1905;p95"/>
          <p:cNvCxnSpPr/>
          <p:nvPr/>
        </p:nvCxnSpPr>
        <p:spPr>
          <a:xfrm flipH="1">
            <a:off x="8088215" y="37260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6" name="Google Shape;1906;p95"/>
          <p:cNvCxnSpPr/>
          <p:nvPr/>
        </p:nvCxnSpPr>
        <p:spPr>
          <a:xfrm flipH="1">
            <a:off x="4674549" y="37260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7" name="Google Shape;1907;p95"/>
          <p:cNvCxnSpPr/>
          <p:nvPr/>
        </p:nvCxnSpPr>
        <p:spPr>
          <a:xfrm>
            <a:off x="1365339" y="42181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8" name="Google Shape;1908;p95"/>
          <p:cNvCxnSpPr/>
          <p:nvPr/>
        </p:nvCxnSpPr>
        <p:spPr>
          <a:xfrm>
            <a:off x="4774394" y="42181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9" name="Google Shape;1909;p95"/>
          <p:cNvSpPr txBox="1"/>
          <p:nvPr/>
        </p:nvSpPr>
        <p:spPr>
          <a:xfrm>
            <a:off x="7544628" y="42486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95"/>
          <p:cNvSpPr txBox="1"/>
          <p:nvPr/>
        </p:nvSpPr>
        <p:spPr>
          <a:xfrm>
            <a:off x="552600" y="42486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95"/>
          <p:cNvSpPr txBox="1"/>
          <p:nvPr/>
        </p:nvSpPr>
        <p:spPr>
          <a:xfrm>
            <a:off x="2472019" y="41419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95"/>
          <p:cNvSpPr txBox="1"/>
          <p:nvPr/>
        </p:nvSpPr>
        <p:spPr>
          <a:xfrm>
            <a:off x="6126424" y="41419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95"/>
          <p:cNvSpPr txBox="1"/>
          <p:nvPr/>
        </p:nvSpPr>
        <p:spPr>
          <a:xfrm>
            <a:off x="3834808" y="42486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95"/>
          <p:cNvSpPr txBox="1"/>
          <p:nvPr>
            <p:ph type="body" idx="1"/>
          </p:nvPr>
        </p:nvSpPr>
        <p:spPr>
          <a:xfrm>
            <a:off x="324000" y="1292703"/>
            <a:ext cx="8496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likelihood that the spinner lands on ‘</a:t>
            </a:r>
            <a:r>
              <a:rPr lang="en-GB" sz="2000">
                <a:solidFill>
                  <a:schemeClr val="accent5"/>
                </a:solidFill>
              </a:rPr>
              <a:t>win</a:t>
            </a:r>
            <a:r>
              <a:rPr lang="en-GB" sz="2000"/>
              <a:t>’ is represented on the scale of likelihoods.</a:t>
            </a:r>
            <a:endParaRPr sz="2000"/>
          </a:p>
        </p:txBody>
      </p:sp>
      <p:sp>
        <p:nvSpPr>
          <p:cNvPr id="1915" name="Google Shape;1915;p95"/>
          <p:cNvSpPr txBox="1"/>
          <p:nvPr>
            <p:ph type="body" idx="1"/>
          </p:nvPr>
        </p:nvSpPr>
        <p:spPr>
          <a:xfrm>
            <a:off x="324000" y="2190546"/>
            <a:ext cx="8496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Which letter</a:t>
            </a:r>
            <a:r>
              <a:rPr lang="en-GB" sz="2000"/>
              <a:t> represents the likelihood that the spinner lands on ‘lose’?</a:t>
            </a:r>
            <a:endParaRPr sz="2000"/>
          </a:p>
        </p:txBody>
      </p:sp>
      <p:sp>
        <p:nvSpPr>
          <p:cNvPr id="1916" name="Google Shape;1916;p95"/>
          <p:cNvSpPr txBox="1"/>
          <p:nvPr>
            <p:ph type="body" idx="1"/>
          </p:nvPr>
        </p:nvSpPr>
        <p:spPr>
          <a:xfrm>
            <a:off x="1638380" y="3562143"/>
            <a:ext cx="5613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win</a:t>
            </a:r>
            <a:endParaRPr/>
          </a:p>
        </p:txBody>
      </p:sp>
      <p:sp>
        <p:nvSpPr>
          <p:cNvPr id="1917" name="Google Shape;1917;p95"/>
          <p:cNvSpPr txBox="1"/>
          <p:nvPr>
            <p:ph type="body" idx="1"/>
          </p:nvPr>
        </p:nvSpPr>
        <p:spPr>
          <a:xfrm>
            <a:off x="5067661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918" name="Google Shape;1918;p95"/>
          <p:cNvSpPr txBox="1"/>
          <p:nvPr>
            <p:ph type="body" idx="1"/>
          </p:nvPr>
        </p:nvSpPr>
        <p:spPr>
          <a:xfrm>
            <a:off x="4051755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919" name="Google Shape;1919;p95"/>
          <p:cNvSpPr txBox="1"/>
          <p:nvPr>
            <p:ph type="body" idx="1"/>
          </p:nvPr>
        </p:nvSpPr>
        <p:spPr>
          <a:xfrm>
            <a:off x="7455167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920" name="Google Shape;1920;p95"/>
          <p:cNvSpPr txBox="1"/>
          <p:nvPr>
            <p:ph type="body" idx="1"/>
          </p:nvPr>
        </p:nvSpPr>
        <p:spPr>
          <a:xfrm>
            <a:off x="6305841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pic>
        <p:nvPicPr>
          <p:cNvPr id="1921" name="Google Shape;192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0754" y="3265692"/>
            <a:ext cx="270575" cy="286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5" name="Shape 1925"/>
        <p:cNvGrpSpPr/>
        <p:nvPr/>
      </p:nvGrpSpPr>
      <p:grpSpPr>
        <a:xfrm>
          <a:off x="0" y="0"/>
          <a:ext cx="0" cy="0"/>
        </a:xfrm>
      </p:grpSpPr>
      <p:sp>
        <p:nvSpPr>
          <p:cNvPr id="1926" name="Google Shape;1926;p96"/>
          <p:cNvSpPr txBox="1"/>
          <p:nvPr>
            <p:ph type="body" idx="1"/>
          </p:nvPr>
        </p:nvSpPr>
        <p:spPr>
          <a:xfrm>
            <a:off x="324000" y="759300"/>
            <a:ext cx="84960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spinner contains only </a:t>
            </a:r>
            <a:r>
              <a:rPr lang="en-GB" sz="2000">
                <a:solidFill>
                  <a:schemeClr val="accent5"/>
                </a:solidFill>
              </a:rPr>
              <a:t>two</a:t>
            </a:r>
            <a:r>
              <a:rPr lang="en-GB" sz="2000"/>
              <a:t> outcomes: </a:t>
            </a:r>
            <a:r>
              <a:rPr lang="en-GB" sz="2000" i="1"/>
              <a:t>ξ</a:t>
            </a:r>
            <a:r>
              <a:rPr lang="en-GB" sz="2000"/>
              <a:t> = {win, lose} </a:t>
            </a:r>
            <a:endParaRPr sz="2000"/>
          </a:p>
        </p:txBody>
      </p:sp>
      <p:sp>
        <p:nvSpPr>
          <p:cNvPr id="1927" name="Google Shape;192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the likelihood of events on the scale</a:t>
            </a:r>
            <a:endParaRPr/>
          </a:p>
        </p:txBody>
      </p:sp>
      <p:cxnSp>
        <p:nvCxnSpPr>
          <p:cNvPr id="1928" name="Google Shape;1928;p96"/>
          <p:cNvCxnSpPr/>
          <p:nvPr/>
        </p:nvCxnSpPr>
        <p:spPr>
          <a:xfrm>
            <a:off x="1260861" y="4055547"/>
            <a:ext cx="6838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9" name="Google Shape;1929;p96"/>
          <p:cNvCxnSpPr/>
          <p:nvPr/>
        </p:nvCxnSpPr>
        <p:spPr>
          <a:xfrm flipH="1">
            <a:off x="1260883" y="37260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96"/>
          <p:cNvCxnSpPr/>
          <p:nvPr/>
        </p:nvCxnSpPr>
        <p:spPr>
          <a:xfrm flipH="1">
            <a:off x="8088215" y="37260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1" name="Google Shape;1931;p96"/>
          <p:cNvCxnSpPr/>
          <p:nvPr/>
        </p:nvCxnSpPr>
        <p:spPr>
          <a:xfrm flipH="1">
            <a:off x="4674549" y="3726084"/>
            <a:ext cx="0" cy="6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2" name="Google Shape;1932;p96"/>
          <p:cNvCxnSpPr/>
          <p:nvPr/>
        </p:nvCxnSpPr>
        <p:spPr>
          <a:xfrm>
            <a:off x="1365339" y="42181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3" name="Google Shape;1933;p96"/>
          <p:cNvCxnSpPr/>
          <p:nvPr/>
        </p:nvCxnSpPr>
        <p:spPr>
          <a:xfrm>
            <a:off x="4774394" y="4218184"/>
            <a:ext cx="32211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4" name="Google Shape;1934;p96"/>
          <p:cNvSpPr txBox="1"/>
          <p:nvPr/>
        </p:nvSpPr>
        <p:spPr>
          <a:xfrm>
            <a:off x="7544628" y="4248609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96"/>
          <p:cNvSpPr txBox="1"/>
          <p:nvPr/>
        </p:nvSpPr>
        <p:spPr>
          <a:xfrm>
            <a:off x="552600" y="4248609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96"/>
          <p:cNvSpPr txBox="1"/>
          <p:nvPr/>
        </p:nvSpPr>
        <p:spPr>
          <a:xfrm>
            <a:off x="2472019" y="414198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96"/>
          <p:cNvSpPr txBox="1"/>
          <p:nvPr/>
        </p:nvSpPr>
        <p:spPr>
          <a:xfrm>
            <a:off x="6126424" y="414198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96"/>
          <p:cNvSpPr txBox="1"/>
          <p:nvPr/>
        </p:nvSpPr>
        <p:spPr>
          <a:xfrm>
            <a:off x="3834808" y="4248609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96"/>
          <p:cNvSpPr txBox="1"/>
          <p:nvPr>
            <p:ph type="body" idx="1"/>
          </p:nvPr>
        </p:nvSpPr>
        <p:spPr>
          <a:xfrm>
            <a:off x="324000" y="1292703"/>
            <a:ext cx="8496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likelihood that the spinner lands on ‘</a:t>
            </a:r>
            <a:r>
              <a:rPr lang="en-GB" sz="2000">
                <a:solidFill>
                  <a:schemeClr val="accent5"/>
                </a:solidFill>
              </a:rPr>
              <a:t>win</a:t>
            </a:r>
            <a:r>
              <a:rPr lang="en-GB" sz="2000"/>
              <a:t>’ is represented on the scale of likelihoods.</a:t>
            </a:r>
            <a:endParaRPr sz="2000"/>
          </a:p>
        </p:txBody>
      </p:sp>
      <p:sp>
        <p:nvSpPr>
          <p:cNvPr id="1940" name="Google Shape;1940;p96"/>
          <p:cNvSpPr txBox="1"/>
          <p:nvPr>
            <p:ph type="body" idx="1"/>
          </p:nvPr>
        </p:nvSpPr>
        <p:spPr>
          <a:xfrm>
            <a:off x="324000" y="2190546"/>
            <a:ext cx="8496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Which letter</a:t>
            </a:r>
            <a:r>
              <a:rPr lang="en-GB" sz="2000"/>
              <a:t> represents the likelihood that the spinner lands on ‘lose’?</a:t>
            </a:r>
            <a:endParaRPr sz="2000"/>
          </a:p>
        </p:txBody>
      </p:sp>
      <p:sp>
        <p:nvSpPr>
          <p:cNvPr id="1941" name="Google Shape;1941;p96"/>
          <p:cNvSpPr txBox="1"/>
          <p:nvPr>
            <p:ph type="body" idx="1"/>
          </p:nvPr>
        </p:nvSpPr>
        <p:spPr>
          <a:xfrm>
            <a:off x="2628980" y="3562143"/>
            <a:ext cx="5613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win</a:t>
            </a:r>
            <a:endParaRPr/>
          </a:p>
        </p:txBody>
      </p:sp>
      <p:sp>
        <p:nvSpPr>
          <p:cNvPr id="1942" name="Google Shape;1942;p96"/>
          <p:cNvSpPr txBox="1"/>
          <p:nvPr>
            <p:ph type="body" idx="1"/>
          </p:nvPr>
        </p:nvSpPr>
        <p:spPr>
          <a:xfrm>
            <a:off x="5067661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943" name="Google Shape;1943;p96"/>
          <p:cNvSpPr txBox="1"/>
          <p:nvPr>
            <p:ph type="body" idx="1"/>
          </p:nvPr>
        </p:nvSpPr>
        <p:spPr>
          <a:xfrm>
            <a:off x="4051755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944" name="Google Shape;1944;p96"/>
          <p:cNvSpPr txBox="1"/>
          <p:nvPr>
            <p:ph type="body" idx="1"/>
          </p:nvPr>
        </p:nvSpPr>
        <p:spPr>
          <a:xfrm>
            <a:off x="7455167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945" name="Google Shape;1945;p96"/>
          <p:cNvSpPr txBox="1"/>
          <p:nvPr>
            <p:ph type="body" idx="1"/>
          </p:nvPr>
        </p:nvSpPr>
        <p:spPr>
          <a:xfrm>
            <a:off x="6305841" y="356215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pic>
        <p:nvPicPr>
          <p:cNvPr id="1946" name="Google Shape;194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754" y="3265692"/>
            <a:ext cx="270575" cy="286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0" name="Shape 1950"/>
        <p:cNvGrpSpPr/>
        <p:nvPr/>
      </p:nvGrpSpPr>
      <p:grpSpPr>
        <a:xfrm>
          <a:off x="0" y="0"/>
          <a:ext cx="0" cy="0"/>
        </a:xfrm>
      </p:grpSpPr>
      <p:sp>
        <p:nvSpPr>
          <p:cNvPr id="1951" name="Google Shape;1951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sale </a:t>
            </a:r>
            <a:endParaRPr/>
          </a:p>
        </p:txBody>
      </p:sp>
      <p:sp>
        <p:nvSpPr>
          <p:cNvPr id="1952" name="Google Shape;1952;p97"/>
          <p:cNvSpPr txBox="1"/>
          <p:nvPr>
            <p:ph type="body" idx="1"/>
          </p:nvPr>
        </p:nvSpPr>
        <p:spPr>
          <a:xfrm>
            <a:off x="324000" y="640450"/>
            <a:ext cx="8496000" cy="13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A game that involves drawing a card from the deck below to determine who moves.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</a:t>
            </a:r>
            <a:br>
              <a:rPr lang="en-GB" sz="1800"/>
            </a:b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information shows what a card needs to contain to allow each person to move.</a:t>
            </a:r>
            <a:endParaRPr sz="1800"/>
          </a:p>
        </p:txBody>
      </p:sp>
      <p:sp>
        <p:nvSpPr>
          <p:cNvPr id="1953" name="Google Shape;1953;p97"/>
          <p:cNvSpPr txBox="1"/>
          <p:nvPr>
            <p:ph type="body" idx="1"/>
          </p:nvPr>
        </p:nvSpPr>
        <p:spPr>
          <a:xfrm>
            <a:off x="324000" y="3503225"/>
            <a:ext cx="8496000" cy="57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Represent the likelihood of each person moving their piece on the scale of likelihoods by writing the first letter of their name in the correct space.</a:t>
            </a:r>
            <a:endParaRPr sz="1800"/>
          </a:p>
        </p:txBody>
      </p:sp>
      <p:grpSp>
        <p:nvGrpSpPr>
          <p:cNvPr id="1954" name="Google Shape;1954;p97"/>
          <p:cNvGrpSpPr/>
          <p:nvPr/>
        </p:nvGrpSpPr>
        <p:grpSpPr>
          <a:xfrm>
            <a:off x="1260850" y="4161208"/>
            <a:ext cx="6838200" cy="382829"/>
            <a:chOff x="1260861" y="3941077"/>
            <a:chExt cx="6838200" cy="658800"/>
          </a:xfrm>
        </p:grpSpPr>
        <p:cxnSp>
          <p:nvCxnSpPr>
            <p:cNvPr id="1955" name="Google Shape;1955;p97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6" name="Google Shape;1956;p97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7" name="Google Shape;1957;p97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8" name="Google Shape;1958;p97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9" name="Google Shape;1959;p97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60" name="Google Shape;1960;p97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961" name="Google Shape;1961;p97"/>
          <p:cNvSpPr txBox="1"/>
          <p:nvPr/>
        </p:nvSpPr>
        <p:spPr>
          <a:xfrm>
            <a:off x="7544628" y="4463602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97"/>
          <p:cNvSpPr txBox="1"/>
          <p:nvPr/>
        </p:nvSpPr>
        <p:spPr>
          <a:xfrm>
            <a:off x="552600" y="4463602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97"/>
          <p:cNvSpPr txBox="1"/>
          <p:nvPr/>
        </p:nvSpPr>
        <p:spPr>
          <a:xfrm>
            <a:off x="2472019" y="435697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97"/>
          <p:cNvSpPr txBox="1"/>
          <p:nvPr/>
        </p:nvSpPr>
        <p:spPr>
          <a:xfrm>
            <a:off x="6126424" y="435697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97"/>
          <p:cNvSpPr txBox="1"/>
          <p:nvPr/>
        </p:nvSpPr>
        <p:spPr>
          <a:xfrm>
            <a:off x="3834808" y="4463602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6" name="Google Shape;196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53" y="2337231"/>
            <a:ext cx="306196" cy="57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9538" y="2426173"/>
            <a:ext cx="428029" cy="48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" name="Google Shape;196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109851" y="2360506"/>
            <a:ext cx="561301" cy="54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942954" y="2436707"/>
            <a:ext cx="389887" cy="48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604643" y="2426190"/>
            <a:ext cx="433093" cy="48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97"/>
          <p:cNvSpPr txBox="1"/>
          <p:nvPr>
            <p:ph type="body" idx="1"/>
          </p:nvPr>
        </p:nvSpPr>
        <p:spPr>
          <a:xfrm>
            <a:off x="409339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2" name="Google Shape;1972;p97"/>
          <p:cNvSpPr txBox="1"/>
          <p:nvPr>
            <p:ph type="body" idx="1"/>
          </p:nvPr>
        </p:nvSpPr>
        <p:spPr>
          <a:xfrm>
            <a:off x="2134725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3" name="Google Shape;1973;p97"/>
          <p:cNvSpPr txBox="1"/>
          <p:nvPr>
            <p:ph type="body" idx="1"/>
          </p:nvPr>
        </p:nvSpPr>
        <p:spPr>
          <a:xfrm>
            <a:off x="3922715" y="2902306"/>
            <a:ext cx="6735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4" name="Google Shape;1974;p97"/>
          <p:cNvSpPr txBox="1"/>
          <p:nvPr>
            <p:ph type="body" idx="1"/>
          </p:nvPr>
        </p:nvSpPr>
        <p:spPr>
          <a:xfrm>
            <a:off x="5604546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5" name="Google Shape;1975;p97"/>
          <p:cNvSpPr txBox="1"/>
          <p:nvPr>
            <p:ph type="body" idx="1"/>
          </p:nvPr>
        </p:nvSpPr>
        <p:spPr>
          <a:xfrm>
            <a:off x="7267339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Lucas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6" name="Google Shape;1976;p97"/>
          <p:cNvSpPr txBox="1"/>
          <p:nvPr>
            <p:ph type="body" idx="1"/>
          </p:nvPr>
        </p:nvSpPr>
        <p:spPr>
          <a:xfrm>
            <a:off x="409349" y="3130900"/>
            <a:ext cx="7392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vowel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7" name="Google Shape;1977;p97"/>
          <p:cNvSpPr txBox="1"/>
          <p:nvPr>
            <p:ph type="body" idx="1"/>
          </p:nvPr>
        </p:nvSpPr>
        <p:spPr>
          <a:xfrm>
            <a:off x="2134734" y="3130906"/>
            <a:ext cx="1283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consonant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8" name="Google Shape;1978;p97"/>
          <p:cNvSpPr txBox="1"/>
          <p:nvPr>
            <p:ph type="body" idx="1"/>
          </p:nvPr>
        </p:nvSpPr>
        <p:spPr>
          <a:xfrm>
            <a:off x="3922700" y="3130900"/>
            <a:ext cx="1493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number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79" name="Google Shape;1979;p97"/>
          <p:cNvSpPr txBox="1"/>
          <p:nvPr>
            <p:ph type="body" idx="1"/>
          </p:nvPr>
        </p:nvSpPr>
        <p:spPr>
          <a:xfrm>
            <a:off x="5604555" y="3130906"/>
            <a:ext cx="1283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factor of 24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80" name="Google Shape;1980;p97"/>
          <p:cNvSpPr txBox="1"/>
          <p:nvPr>
            <p:ph type="body" idx="1"/>
          </p:nvPr>
        </p:nvSpPr>
        <p:spPr>
          <a:xfrm>
            <a:off x="7267350" y="3130906"/>
            <a:ext cx="15267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square number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81" name="Google Shape;1981;p97"/>
          <p:cNvSpPr/>
          <p:nvPr/>
        </p:nvSpPr>
        <p:spPr>
          <a:xfrm>
            <a:off x="12470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97"/>
          <p:cNvSpPr/>
          <p:nvPr/>
        </p:nvSpPr>
        <p:spPr>
          <a:xfrm>
            <a:off x="18566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7"/>
          <p:cNvSpPr/>
          <p:nvPr/>
        </p:nvSpPr>
        <p:spPr>
          <a:xfrm>
            <a:off x="24662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7"/>
          <p:cNvSpPr/>
          <p:nvPr/>
        </p:nvSpPr>
        <p:spPr>
          <a:xfrm>
            <a:off x="30758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7"/>
          <p:cNvSpPr/>
          <p:nvPr/>
        </p:nvSpPr>
        <p:spPr>
          <a:xfrm>
            <a:off x="36854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7"/>
          <p:cNvSpPr/>
          <p:nvPr/>
        </p:nvSpPr>
        <p:spPr>
          <a:xfrm>
            <a:off x="42950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7"/>
          <p:cNvSpPr/>
          <p:nvPr/>
        </p:nvSpPr>
        <p:spPr>
          <a:xfrm>
            <a:off x="49046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7"/>
          <p:cNvSpPr/>
          <p:nvPr/>
        </p:nvSpPr>
        <p:spPr>
          <a:xfrm>
            <a:off x="55142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7"/>
          <p:cNvSpPr/>
          <p:nvPr/>
        </p:nvSpPr>
        <p:spPr>
          <a:xfrm>
            <a:off x="61238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7"/>
          <p:cNvSpPr/>
          <p:nvPr/>
        </p:nvSpPr>
        <p:spPr>
          <a:xfrm>
            <a:off x="67334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7"/>
          <p:cNvSpPr txBox="1"/>
          <p:nvPr>
            <p:ph type="body" idx="1"/>
          </p:nvPr>
        </p:nvSpPr>
        <p:spPr>
          <a:xfrm>
            <a:off x="12961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A1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2" name="Google Shape;1992;p97"/>
          <p:cNvSpPr txBox="1"/>
          <p:nvPr>
            <p:ph type="body" idx="1"/>
          </p:nvPr>
        </p:nvSpPr>
        <p:spPr>
          <a:xfrm>
            <a:off x="19057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B2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3" name="Google Shape;1993;p97"/>
          <p:cNvSpPr txBox="1"/>
          <p:nvPr>
            <p:ph type="body" idx="1"/>
          </p:nvPr>
        </p:nvSpPr>
        <p:spPr>
          <a:xfrm>
            <a:off x="25153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C3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4" name="Google Shape;1994;p97"/>
          <p:cNvSpPr txBox="1"/>
          <p:nvPr>
            <p:ph type="body" idx="1"/>
          </p:nvPr>
        </p:nvSpPr>
        <p:spPr>
          <a:xfrm>
            <a:off x="31249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D4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5" name="Google Shape;1995;p97"/>
          <p:cNvSpPr txBox="1"/>
          <p:nvPr>
            <p:ph type="body" idx="1"/>
          </p:nvPr>
        </p:nvSpPr>
        <p:spPr>
          <a:xfrm>
            <a:off x="37345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E5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6" name="Google Shape;1996;p97"/>
          <p:cNvSpPr txBox="1"/>
          <p:nvPr>
            <p:ph type="body" idx="1"/>
          </p:nvPr>
        </p:nvSpPr>
        <p:spPr>
          <a:xfrm>
            <a:off x="43441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F6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7" name="Google Shape;1997;p97"/>
          <p:cNvSpPr txBox="1"/>
          <p:nvPr>
            <p:ph type="body" idx="1"/>
          </p:nvPr>
        </p:nvSpPr>
        <p:spPr>
          <a:xfrm>
            <a:off x="49537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G7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8" name="Google Shape;1998;p97"/>
          <p:cNvSpPr txBox="1"/>
          <p:nvPr>
            <p:ph type="body" idx="1"/>
          </p:nvPr>
        </p:nvSpPr>
        <p:spPr>
          <a:xfrm>
            <a:off x="55633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H8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999" name="Google Shape;1999;p97"/>
          <p:cNvSpPr txBox="1"/>
          <p:nvPr>
            <p:ph type="body" idx="1"/>
          </p:nvPr>
        </p:nvSpPr>
        <p:spPr>
          <a:xfrm>
            <a:off x="61729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I9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00" name="Google Shape;2000;p97"/>
          <p:cNvSpPr txBox="1"/>
          <p:nvPr>
            <p:ph type="body" idx="1"/>
          </p:nvPr>
        </p:nvSpPr>
        <p:spPr>
          <a:xfrm>
            <a:off x="6747224" y="1333125"/>
            <a:ext cx="3900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J10</a:t>
            </a:r>
            <a:endParaRPr sz="1600">
              <a:solidFill>
                <a:srgbClr val="282828"/>
              </a:solidFill>
            </a:endParaRPr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4" name="Shape 2004"/>
        <p:cNvGrpSpPr/>
        <p:nvPr/>
      </p:nvGrpSpPr>
      <p:grpSpPr>
        <a:xfrm>
          <a:off x="0" y="0"/>
          <a:ext cx="0" cy="0"/>
        </a:xfrm>
      </p:grpSpPr>
      <p:sp>
        <p:nvSpPr>
          <p:cNvPr id="2005" name="Google Shape;2005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sale </a:t>
            </a:r>
            <a:endParaRPr/>
          </a:p>
        </p:txBody>
      </p:sp>
      <p:sp>
        <p:nvSpPr>
          <p:cNvPr id="2006" name="Google Shape;2006;p98"/>
          <p:cNvSpPr txBox="1"/>
          <p:nvPr>
            <p:ph type="body" idx="1"/>
          </p:nvPr>
        </p:nvSpPr>
        <p:spPr>
          <a:xfrm>
            <a:off x="324000" y="667575"/>
            <a:ext cx="8496000" cy="9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A set of spinners each only contain two possible outcomes: ‘win’ or ‘lose’. The likelihood for each spinner landing on ‘win’ (W) is shown on the scales below. Mark the position that represents the likelihood of losing (L) on each spinner.</a:t>
            </a:r>
            <a:endParaRPr sz="1800"/>
          </a:p>
        </p:txBody>
      </p:sp>
      <p:sp>
        <p:nvSpPr>
          <p:cNvPr id="2007" name="Google Shape;2007;p98"/>
          <p:cNvSpPr txBox="1"/>
          <p:nvPr/>
        </p:nvSpPr>
        <p:spPr>
          <a:xfrm>
            <a:off x="7544625" y="1984971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98"/>
          <p:cNvSpPr txBox="1"/>
          <p:nvPr/>
        </p:nvSpPr>
        <p:spPr>
          <a:xfrm>
            <a:off x="552600" y="1984971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98"/>
          <p:cNvSpPr txBox="1"/>
          <p:nvPr/>
        </p:nvSpPr>
        <p:spPr>
          <a:xfrm>
            <a:off x="2472018" y="1941013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8"/>
          <p:cNvSpPr txBox="1"/>
          <p:nvPr/>
        </p:nvSpPr>
        <p:spPr>
          <a:xfrm>
            <a:off x="6126422" y="1941013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98"/>
          <p:cNvSpPr txBox="1"/>
          <p:nvPr/>
        </p:nvSpPr>
        <p:spPr>
          <a:xfrm>
            <a:off x="3834807" y="1984971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2" name="Google Shape;2012;p98"/>
          <p:cNvGrpSpPr/>
          <p:nvPr/>
        </p:nvGrpSpPr>
        <p:grpSpPr>
          <a:xfrm>
            <a:off x="1260850" y="1854459"/>
            <a:ext cx="6838200" cy="238354"/>
            <a:chOff x="1260861" y="3941077"/>
            <a:chExt cx="6838200" cy="658800"/>
          </a:xfrm>
        </p:grpSpPr>
        <p:cxnSp>
          <p:nvCxnSpPr>
            <p:cNvPr id="2013" name="Google Shape;2013;p98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4" name="Google Shape;2014;p98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5" name="Google Shape;2015;p98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6" name="Google Shape;2016;p98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7" name="Google Shape;2017;p98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18" name="Google Shape;2018;p98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019" name="Google Shape;2019;p98"/>
          <p:cNvSpPr txBox="1"/>
          <p:nvPr>
            <p:ph type="body" idx="4294967295"/>
          </p:nvPr>
        </p:nvSpPr>
        <p:spPr>
          <a:xfrm>
            <a:off x="7362824" y="1722517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020" name="Google Shape;2020;p98"/>
          <p:cNvSpPr txBox="1"/>
          <p:nvPr/>
        </p:nvSpPr>
        <p:spPr>
          <a:xfrm>
            <a:off x="7544625" y="283181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98"/>
          <p:cNvSpPr txBox="1"/>
          <p:nvPr/>
        </p:nvSpPr>
        <p:spPr>
          <a:xfrm>
            <a:off x="552600" y="2819972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98"/>
          <p:cNvSpPr txBox="1"/>
          <p:nvPr/>
        </p:nvSpPr>
        <p:spPr>
          <a:xfrm>
            <a:off x="2472018" y="2787856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98"/>
          <p:cNvSpPr txBox="1"/>
          <p:nvPr/>
        </p:nvSpPr>
        <p:spPr>
          <a:xfrm>
            <a:off x="6126422" y="2787856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98"/>
          <p:cNvSpPr txBox="1"/>
          <p:nvPr/>
        </p:nvSpPr>
        <p:spPr>
          <a:xfrm>
            <a:off x="3834807" y="2831814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5" name="Google Shape;2025;p98"/>
          <p:cNvGrpSpPr/>
          <p:nvPr/>
        </p:nvGrpSpPr>
        <p:grpSpPr>
          <a:xfrm>
            <a:off x="1260850" y="2701302"/>
            <a:ext cx="6838200" cy="238354"/>
            <a:chOff x="1260861" y="3941077"/>
            <a:chExt cx="6838200" cy="658800"/>
          </a:xfrm>
        </p:grpSpPr>
        <p:cxnSp>
          <p:nvCxnSpPr>
            <p:cNvPr id="2026" name="Google Shape;2026;p98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7" name="Google Shape;2027;p98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8" name="Google Shape;2028;p98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9" name="Google Shape;2029;p98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0" name="Google Shape;2030;p98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31" name="Google Shape;2031;p98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032" name="Google Shape;2032;p98"/>
          <p:cNvSpPr txBox="1"/>
          <p:nvPr/>
        </p:nvSpPr>
        <p:spPr>
          <a:xfrm>
            <a:off x="7544625" y="3648862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8"/>
          <p:cNvSpPr txBox="1"/>
          <p:nvPr/>
        </p:nvSpPr>
        <p:spPr>
          <a:xfrm>
            <a:off x="552600" y="3654974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98"/>
          <p:cNvSpPr txBox="1"/>
          <p:nvPr/>
        </p:nvSpPr>
        <p:spPr>
          <a:xfrm>
            <a:off x="2472018" y="360490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8"/>
          <p:cNvSpPr txBox="1"/>
          <p:nvPr/>
        </p:nvSpPr>
        <p:spPr>
          <a:xfrm>
            <a:off x="6126422" y="360490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8"/>
          <p:cNvSpPr txBox="1"/>
          <p:nvPr/>
        </p:nvSpPr>
        <p:spPr>
          <a:xfrm>
            <a:off x="3834807" y="3648862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7" name="Google Shape;2037;p98"/>
          <p:cNvGrpSpPr/>
          <p:nvPr/>
        </p:nvGrpSpPr>
        <p:grpSpPr>
          <a:xfrm>
            <a:off x="1260850" y="3518350"/>
            <a:ext cx="6838200" cy="238354"/>
            <a:chOff x="1260861" y="3941077"/>
            <a:chExt cx="6838200" cy="658800"/>
          </a:xfrm>
        </p:grpSpPr>
        <p:cxnSp>
          <p:nvCxnSpPr>
            <p:cNvPr id="2038" name="Google Shape;2038;p98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9" name="Google Shape;2039;p98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0" name="Google Shape;2040;p98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1" name="Google Shape;2041;p98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2" name="Google Shape;2042;p98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43" name="Google Shape;2043;p98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044" name="Google Shape;2044;p98"/>
          <p:cNvSpPr txBox="1"/>
          <p:nvPr/>
        </p:nvSpPr>
        <p:spPr>
          <a:xfrm>
            <a:off x="7544625" y="4489975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8"/>
          <p:cNvSpPr txBox="1"/>
          <p:nvPr/>
        </p:nvSpPr>
        <p:spPr>
          <a:xfrm>
            <a:off x="552600" y="44899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98"/>
          <p:cNvSpPr txBox="1"/>
          <p:nvPr/>
        </p:nvSpPr>
        <p:spPr>
          <a:xfrm>
            <a:off x="2472018" y="444601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98"/>
          <p:cNvSpPr txBox="1"/>
          <p:nvPr/>
        </p:nvSpPr>
        <p:spPr>
          <a:xfrm>
            <a:off x="6126422" y="444601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98"/>
          <p:cNvSpPr txBox="1"/>
          <p:nvPr/>
        </p:nvSpPr>
        <p:spPr>
          <a:xfrm>
            <a:off x="3834807" y="4489975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9" name="Google Shape;2049;p98"/>
          <p:cNvGrpSpPr/>
          <p:nvPr/>
        </p:nvGrpSpPr>
        <p:grpSpPr>
          <a:xfrm>
            <a:off x="1260850" y="4359463"/>
            <a:ext cx="6838200" cy="238354"/>
            <a:chOff x="1260861" y="3941077"/>
            <a:chExt cx="6838200" cy="658800"/>
          </a:xfrm>
        </p:grpSpPr>
        <p:cxnSp>
          <p:nvCxnSpPr>
            <p:cNvPr id="2050" name="Google Shape;2050;p98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1" name="Google Shape;2051;p98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2" name="Google Shape;2052;p98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3" name="Google Shape;2053;p98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4" name="Google Shape;2054;p98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55" name="Google Shape;2055;p98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056" name="Google Shape;2056;p98"/>
          <p:cNvSpPr txBox="1"/>
          <p:nvPr>
            <p:ph type="body" idx="1"/>
          </p:nvPr>
        </p:nvSpPr>
        <p:spPr>
          <a:xfrm>
            <a:off x="324000" y="1770300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57" name="Google Shape;2057;p98"/>
          <p:cNvSpPr txBox="1"/>
          <p:nvPr>
            <p:ph type="body" idx="1"/>
          </p:nvPr>
        </p:nvSpPr>
        <p:spPr>
          <a:xfrm>
            <a:off x="324000" y="2474292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58" name="Google Shape;2058;p98"/>
          <p:cNvSpPr txBox="1"/>
          <p:nvPr>
            <p:ph type="body" idx="1"/>
          </p:nvPr>
        </p:nvSpPr>
        <p:spPr>
          <a:xfrm>
            <a:off x="324000" y="3330684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59" name="Google Shape;2059;p98"/>
          <p:cNvSpPr txBox="1"/>
          <p:nvPr>
            <p:ph type="body" idx="1"/>
          </p:nvPr>
        </p:nvSpPr>
        <p:spPr>
          <a:xfrm>
            <a:off x="324000" y="4187077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60" name="Google Shape;2060;p98"/>
          <p:cNvSpPr txBox="1"/>
          <p:nvPr>
            <p:ph type="body" idx="4294967295"/>
          </p:nvPr>
        </p:nvSpPr>
        <p:spPr>
          <a:xfrm>
            <a:off x="5686423" y="2567212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061" name="Google Shape;2061;p98"/>
          <p:cNvSpPr txBox="1"/>
          <p:nvPr>
            <p:ph type="body" idx="4294967295"/>
          </p:nvPr>
        </p:nvSpPr>
        <p:spPr>
          <a:xfrm>
            <a:off x="4265840" y="3386976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062" name="Google Shape;2062;p98"/>
          <p:cNvSpPr txBox="1"/>
          <p:nvPr>
            <p:ph type="body" idx="4294967295"/>
          </p:nvPr>
        </p:nvSpPr>
        <p:spPr>
          <a:xfrm>
            <a:off x="4557031" y="4163348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66" name="Shape 2066"/>
        <p:cNvGrpSpPr/>
        <p:nvPr/>
      </p:nvGrpSpPr>
      <p:grpSpPr>
        <a:xfrm>
          <a:off x="0" y="0"/>
          <a:ext cx="0" cy="0"/>
        </a:xfrm>
      </p:grpSpPr>
      <p:sp>
        <p:nvSpPr>
          <p:cNvPr id="2067" name="Google Shape;206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sale </a:t>
            </a:r>
            <a:endParaRPr/>
          </a:p>
        </p:txBody>
      </p:sp>
      <p:sp>
        <p:nvSpPr>
          <p:cNvPr id="2068" name="Google Shape;2068;p99"/>
          <p:cNvSpPr txBox="1"/>
          <p:nvPr>
            <p:ph type="body" idx="1"/>
          </p:nvPr>
        </p:nvSpPr>
        <p:spPr>
          <a:xfrm>
            <a:off x="324000" y="3392250"/>
            <a:ext cx="8496000" cy="57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Represent the likelihood of each person moving their piece on the scale of likelihoods by writing the first letter of their name in the correct space.</a:t>
            </a:r>
            <a:endParaRPr sz="1800"/>
          </a:p>
        </p:txBody>
      </p:sp>
      <p:grpSp>
        <p:nvGrpSpPr>
          <p:cNvPr id="2069" name="Google Shape;2069;p99"/>
          <p:cNvGrpSpPr/>
          <p:nvPr/>
        </p:nvGrpSpPr>
        <p:grpSpPr>
          <a:xfrm>
            <a:off x="1260850" y="4161208"/>
            <a:ext cx="6838200" cy="382829"/>
            <a:chOff x="1260861" y="3941077"/>
            <a:chExt cx="6838200" cy="658800"/>
          </a:xfrm>
        </p:grpSpPr>
        <p:cxnSp>
          <p:nvCxnSpPr>
            <p:cNvPr id="2070" name="Google Shape;2070;p99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1" name="Google Shape;2071;p99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2" name="Google Shape;2072;p99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3" name="Google Shape;2073;p99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4" name="Google Shape;2074;p99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75" name="Google Shape;2075;p99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076" name="Google Shape;2076;p99"/>
          <p:cNvSpPr txBox="1"/>
          <p:nvPr/>
        </p:nvSpPr>
        <p:spPr>
          <a:xfrm>
            <a:off x="7544628" y="4463602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99"/>
          <p:cNvSpPr txBox="1"/>
          <p:nvPr/>
        </p:nvSpPr>
        <p:spPr>
          <a:xfrm>
            <a:off x="552600" y="4463602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99"/>
          <p:cNvSpPr txBox="1"/>
          <p:nvPr/>
        </p:nvSpPr>
        <p:spPr>
          <a:xfrm>
            <a:off x="2472019" y="435697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99"/>
          <p:cNvSpPr txBox="1"/>
          <p:nvPr/>
        </p:nvSpPr>
        <p:spPr>
          <a:xfrm>
            <a:off x="6126424" y="435697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99"/>
          <p:cNvSpPr txBox="1"/>
          <p:nvPr/>
        </p:nvSpPr>
        <p:spPr>
          <a:xfrm>
            <a:off x="3834808" y="4463602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99"/>
          <p:cNvSpPr txBox="1"/>
          <p:nvPr>
            <p:ph type="body" idx="4294967295"/>
          </p:nvPr>
        </p:nvSpPr>
        <p:spPr>
          <a:xfrm>
            <a:off x="7291121" y="3992580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2" name="Google Shape;2082;p99"/>
          <p:cNvSpPr txBox="1"/>
          <p:nvPr>
            <p:ph type="body" idx="4294967295"/>
          </p:nvPr>
        </p:nvSpPr>
        <p:spPr>
          <a:xfrm>
            <a:off x="2839557" y="40286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3" name="Google Shape;2083;p99"/>
          <p:cNvSpPr txBox="1"/>
          <p:nvPr>
            <p:ph type="body" idx="4294967295"/>
          </p:nvPr>
        </p:nvSpPr>
        <p:spPr>
          <a:xfrm>
            <a:off x="5534651" y="40286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4" name="Google Shape;2084;p99"/>
          <p:cNvSpPr txBox="1"/>
          <p:nvPr>
            <p:ph type="body" idx="4294967295"/>
          </p:nvPr>
        </p:nvSpPr>
        <p:spPr>
          <a:xfrm>
            <a:off x="3782051" y="4028605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J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5" name="Google Shape;2085;p99"/>
          <p:cNvSpPr txBox="1"/>
          <p:nvPr>
            <p:ph type="body" idx="4294967295"/>
          </p:nvPr>
        </p:nvSpPr>
        <p:spPr>
          <a:xfrm>
            <a:off x="1861451" y="3992567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6" name="Google Shape;2086;p99"/>
          <p:cNvSpPr txBox="1"/>
          <p:nvPr>
            <p:ph type="body" idx="1"/>
          </p:nvPr>
        </p:nvSpPr>
        <p:spPr>
          <a:xfrm>
            <a:off x="324000" y="640450"/>
            <a:ext cx="8496000" cy="13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A game that involves drawing a card from the deck below to determine who moves.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</a:t>
            </a:r>
            <a:br>
              <a:rPr lang="en-GB" sz="1800"/>
            </a:b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information shows what a card needs to contain to allow each person to move.</a:t>
            </a:r>
            <a:endParaRPr sz="1800"/>
          </a:p>
        </p:txBody>
      </p:sp>
      <p:pic>
        <p:nvPicPr>
          <p:cNvPr id="2087" name="Google Shape;208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53" y="2337231"/>
            <a:ext cx="306196" cy="57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8" name="Google Shape;2088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9538" y="2426173"/>
            <a:ext cx="428029" cy="48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109851" y="2360506"/>
            <a:ext cx="561301" cy="54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942954" y="2436707"/>
            <a:ext cx="389887" cy="48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1" name="Google Shape;2091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604643" y="2426190"/>
            <a:ext cx="433093" cy="48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99"/>
          <p:cNvSpPr txBox="1"/>
          <p:nvPr>
            <p:ph type="body" idx="1"/>
          </p:nvPr>
        </p:nvSpPr>
        <p:spPr>
          <a:xfrm>
            <a:off x="409339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3" name="Google Shape;2093;p99"/>
          <p:cNvSpPr txBox="1"/>
          <p:nvPr>
            <p:ph type="body" idx="1"/>
          </p:nvPr>
        </p:nvSpPr>
        <p:spPr>
          <a:xfrm>
            <a:off x="2134725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4" name="Google Shape;2094;p99"/>
          <p:cNvSpPr txBox="1"/>
          <p:nvPr>
            <p:ph type="body" idx="1"/>
          </p:nvPr>
        </p:nvSpPr>
        <p:spPr>
          <a:xfrm>
            <a:off x="3922715" y="2902306"/>
            <a:ext cx="6735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5" name="Google Shape;2095;p99"/>
          <p:cNvSpPr txBox="1"/>
          <p:nvPr>
            <p:ph type="body" idx="1"/>
          </p:nvPr>
        </p:nvSpPr>
        <p:spPr>
          <a:xfrm>
            <a:off x="5604546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6" name="Google Shape;2096;p99"/>
          <p:cNvSpPr txBox="1"/>
          <p:nvPr>
            <p:ph type="body" idx="1"/>
          </p:nvPr>
        </p:nvSpPr>
        <p:spPr>
          <a:xfrm>
            <a:off x="7267339" y="2902311"/>
            <a:ext cx="5973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Lucas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7" name="Google Shape;2097;p99"/>
          <p:cNvSpPr txBox="1"/>
          <p:nvPr>
            <p:ph type="body" idx="1"/>
          </p:nvPr>
        </p:nvSpPr>
        <p:spPr>
          <a:xfrm>
            <a:off x="409349" y="3130900"/>
            <a:ext cx="7392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vowel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8" name="Google Shape;2098;p99"/>
          <p:cNvSpPr txBox="1"/>
          <p:nvPr>
            <p:ph type="body" idx="1"/>
          </p:nvPr>
        </p:nvSpPr>
        <p:spPr>
          <a:xfrm>
            <a:off x="2134734" y="3130906"/>
            <a:ext cx="1283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consonant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099" name="Google Shape;2099;p99"/>
          <p:cNvSpPr txBox="1"/>
          <p:nvPr>
            <p:ph type="body" idx="1"/>
          </p:nvPr>
        </p:nvSpPr>
        <p:spPr>
          <a:xfrm>
            <a:off x="3922700" y="3130900"/>
            <a:ext cx="1493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prime number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00" name="Google Shape;2100;p99"/>
          <p:cNvSpPr txBox="1"/>
          <p:nvPr>
            <p:ph type="body" idx="1"/>
          </p:nvPr>
        </p:nvSpPr>
        <p:spPr>
          <a:xfrm>
            <a:off x="5604555" y="3130906"/>
            <a:ext cx="12831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factor of 24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01" name="Google Shape;2101;p99"/>
          <p:cNvSpPr txBox="1"/>
          <p:nvPr>
            <p:ph type="body" idx="1"/>
          </p:nvPr>
        </p:nvSpPr>
        <p:spPr>
          <a:xfrm>
            <a:off x="7267350" y="3130906"/>
            <a:ext cx="1526700" cy="2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square number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02" name="Google Shape;2102;p99"/>
          <p:cNvSpPr/>
          <p:nvPr/>
        </p:nvSpPr>
        <p:spPr>
          <a:xfrm>
            <a:off x="12470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99"/>
          <p:cNvSpPr/>
          <p:nvPr/>
        </p:nvSpPr>
        <p:spPr>
          <a:xfrm>
            <a:off x="18566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99"/>
          <p:cNvSpPr/>
          <p:nvPr/>
        </p:nvSpPr>
        <p:spPr>
          <a:xfrm>
            <a:off x="24662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99"/>
          <p:cNvSpPr/>
          <p:nvPr/>
        </p:nvSpPr>
        <p:spPr>
          <a:xfrm>
            <a:off x="30758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99"/>
          <p:cNvSpPr/>
          <p:nvPr/>
        </p:nvSpPr>
        <p:spPr>
          <a:xfrm>
            <a:off x="36854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99"/>
          <p:cNvSpPr/>
          <p:nvPr/>
        </p:nvSpPr>
        <p:spPr>
          <a:xfrm>
            <a:off x="42950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99"/>
          <p:cNvSpPr/>
          <p:nvPr/>
        </p:nvSpPr>
        <p:spPr>
          <a:xfrm>
            <a:off x="49046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99"/>
          <p:cNvSpPr/>
          <p:nvPr/>
        </p:nvSpPr>
        <p:spPr>
          <a:xfrm>
            <a:off x="55142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99"/>
          <p:cNvSpPr/>
          <p:nvPr/>
        </p:nvSpPr>
        <p:spPr>
          <a:xfrm>
            <a:off x="61238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99"/>
          <p:cNvSpPr/>
          <p:nvPr/>
        </p:nvSpPr>
        <p:spPr>
          <a:xfrm>
            <a:off x="6733450" y="1203425"/>
            <a:ext cx="390000" cy="543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99"/>
          <p:cNvSpPr txBox="1"/>
          <p:nvPr>
            <p:ph type="body" idx="1"/>
          </p:nvPr>
        </p:nvSpPr>
        <p:spPr>
          <a:xfrm>
            <a:off x="12961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A1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3" name="Google Shape;2113;p99"/>
          <p:cNvSpPr txBox="1"/>
          <p:nvPr>
            <p:ph type="body" idx="1"/>
          </p:nvPr>
        </p:nvSpPr>
        <p:spPr>
          <a:xfrm>
            <a:off x="19057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B2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4" name="Google Shape;2114;p99"/>
          <p:cNvSpPr txBox="1"/>
          <p:nvPr>
            <p:ph type="body" idx="1"/>
          </p:nvPr>
        </p:nvSpPr>
        <p:spPr>
          <a:xfrm>
            <a:off x="25153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C3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5" name="Google Shape;2115;p99"/>
          <p:cNvSpPr txBox="1"/>
          <p:nvPr>
            <p:ph type="body" idx="1"/>
          </p:nvPr>
        </p:nvSpPr>
        <p:spPr>
          <a:xfrm>
            <a:off x="31249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D4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6" name="Google Shape;2116;p99"/>
          <p:cNvSpPr txBox="1"/>
          <p:nvPr>
            <p:ph type="body" idx="1"/>
          </p:nvPr>
        </p:nvSpPr>
        <p:spPr>
          <a:xfrm>
            <a:off x="37345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E5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7" name="Google Shape;2117;p99"/>
          <p:cNvSpPr txBox="1"/>
          <p:nvPr>
            <p:ph type="body" idx="1"/>
          </p:nvPr>
        </p:nvSpPr>
        <p:spPr>
          <a:xfrm>
            <a:off x="43441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F6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8" name="Google Shape;2118;p99"/>
          <p:cNvSpPr txBox="1"/>
          <p:nvPr>
            <p:ph type="body" idx="1"/>
          </p:nvPr>
        </p:nvSpPr>
        <p:spPr>
          <a:xfrm>
            <a:off x="49537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G7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19" name="Google Shape;2119;p99"/>
          <p:cNvSpPr txBox="1"/>
          <p:nvPr>
            <p:ph type="body" idx="1"/>
          </p:nvPr>
        </p:nvSpPr>
        <p:spPr>
          <a:xfrm>
            <a:off x="55633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H8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20" name="Google Shape;2120;p99"/>
          <p:cNvSpPr txBox="1"/>
          <p:nvPr>
            <p:ph type="body" idx="1"/>
          </p:nvPr>
        </p:nvSpPr>
        <p:spPr>
          <a:xfrm>
            <a:off x="6172993" y="1333121"/>
            <a:ext cx="3063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I9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21" name="Google Shape;2121;p99"/>
          <p:cNvSpPr txBox="1"/>
          <p:nvPr>
            <p:ph type="body" idx="1"/>
          </p:nvPr>
        </p:nvSpPr>
        <p:spPr>
          <a:xfrm>
            <a:off x="6747224" y="1333125"/>
            <a:ext cx="3900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J10</a:t>
            </a:r>
            <a:endParaRPr sz="1600">
              <a:solidFill>
                <a:srgbClr val="282828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5" name="Shape 2125"/>
        <p:cNvGrpSpPr/>
        <p:nvPr/>
      </p:nvGrpSpPr>
      <p:grpSpPr>
        <a:xfrm>
          <a:off x="0" y="0"/>
          <a:ext cx="0" cy="0"/>
        </a:xfrm>
      </p:grpSpPr>
      <p:sp>
        <p:nvSpPr>
          <p:cNvPr id="2126" name="Google Shape;2126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the likelihood of events on the sale </a:t>
            </a:r>
            <a:endParaRPr/>
          </a:p>
        </p:txBody>
      </p:sp>
      <p:sp>
        <p:nvSpPr>
          <p:cNvPr id="2127" name="Google Shape;2127;p100"/>
          <p:cNvSpPr txBox="1"/>
          <p:nvPr>
            <p:ph type="body" idx="1"/>
          </p:nvPr>
        </p:nvSpPr>
        <p:spPr>
          <a:xfrm>
            <a:off x="324000" y="759300"/>
            <a:ext cx="8496000" cy="8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A set of spinners each only contain two possible outcomes: ‘win’ or ‘lose’. The likelihood for each spinner landing on ‘win’ (W) is shown on the scales below. Mark the position that represents the likelihood of losing (L) on each spinner.</a:t>
            </a:r>
            <a:endParaRPr sz="1800"/>
          </a:p>
        </p:txBody>
      </p:sp>
      <p:sp>
        <p:nvSpPr>
          <p:cNvPr id="2128" name="Google Shape;2128;p100"/>
          <p:cNvSpPr txBox="1"/>
          <p:nvPr/>
        </p:nvSpPr>
        <p:spPr>
          <a:xfrm>
            <a:off x="7544625" y="1984971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00"/>
          <p:cNvSpPr txBox="1"/>
          <p:nvPr/>
        </p:nvSpPr>
        <p:spPr>
          <a:xfrm>
            <a:off x="552600" y="1984971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00"/>
          <p:cNvSpPr txBox="1"/>
          <p:nvPr/>
        </p:nvSpPr>
        <p:spPr>
          <a:xfrm>
            <a:off x="2472018" y="1941013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00"/>
          <p:cNvSpPr txBox="1"/>
          <p:nvPr/>
        </p:nvSpPr>
        <p:spPr>
          <a:xfrm>
            <a:off x="6126422" y="1941013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00"/>
          <p:cNvSpPr txBox="1"/>
          <p:nvPr/>
        </p:nvSpPr>
        <p:spPr>
          <a:xfrm>
            <a:off x="3834807" y="1984971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3" name="Google Shape;2133;p100"/>
          <p:cNvGrpSpPr/>
          <p:nvPr/>
        </p:nvGrpSpPr>
        <p:grpSpPr>
          <a:xfrm>
            <a:off x="1260850" y="1854459"/>
            <a:ext cx="6838200" cy="238354"/>
            <a:chOff x="1260861" y="3941077"/>
            <a:chExt cx="6838200" cy="658800"/>
          </a:xfrm>
        </p:grpSpPr>
        <p:cxnSp>
          <p:nvCxnSpPr>
            <p:cNvPr id="2134" name="Google Shape;2134;p10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5" name="Google Shape;2135;p10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6" name="Google Shape;2136;p10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7" name="Google Shape;2137;p10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8" name="Google Shape;2138;p100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39" name="Google Shape;2139;p100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140" name="Google Shape;2140;p100"/>
          <p:cNvSpPr txBox="1"/>
          <p:nvPr>
            <p:ph type="body" idx="4294967295"/>
          </p:nvPr>
        </p:nvSpPr>
        <p:spPr>
          <a:xfrm>
            <a:off x="1814957" y="1723493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1" name="Google Shape;2141;p100"/>
          <p:cNvSpPr txBox="1"/>
          <p:nvPr>
            <p:ph type="body" idx="4294967295"/>
          </p:nvPr>
        </p:nvSpPr>
        <p:spPr>
          <a:xfrm>
            <a:off x="7362824" y="1722517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142" name="Google Shape;2142;p100"/>
          <p:cNvSpPr txBox="1"/>
          <p:nvPr/>
        </p:nvSpPr>
        <p:spPr>
          <a:xfrm>
            <a:off x="7544625" y="283181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100"/>
          <p:cNvSpPr txBox="1"/>
          <p:nvPr/>
        </p:nvSpPr>
        <p:spPr>
          <a:xfrm>
            <a:off x="552600" y="2819972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100"/>
          <p:cNvSpPr txBox="1"/>
          <p:nvPr/>
        </p:nvSpPr>
        <p:spPr>
          <a:xfrm>
            <a:off x="2472018" y="2787856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00"/>
          <p:cNvSpPr txBox="1"/>
          <p:nvPr/>
        </p:nvSpPr>
        <p:spPr>
          <a:xfrm>
            <a:off x="6126422" y="2787856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00"/>
          <p:cNvSpPr txBox="1"/>
          <p:nvPr/>
        </p:nvSpPr>
        <p:spPr>
          <a:xfrm>
            <a:off x="3834807" y="2831814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7" name="Google Shape;2147;p100"/>
          <p:cNvGrpSpPr/>
          <p:nvPr/>
        </p:nvGrpSpPr>
        <p:grpSpPr>
          <a:xfrm>
            <a:off x="1260850" y="2701302"/>
            <a:ext cx="6838200" cy="238354"/>
            <a:chOff x="1260861" y="3941077"/>
            <a:chExt cx="6838200" cy="658800"/>
          </a:xfrm>
        </p:grpSpPr>
        <p:cxnSp>
          <p:nvCxnSpPr>
            <p:cNvPr id="2148" name="Google Shape;2148;p10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9" name="Google Shape;2149;p10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0" name="Google Shape;2150;p10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1" name="Google Shape;2151;p10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2" name="Google Shape;2152;p100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53" name="Google Shape;2153;p100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154" name="Google Shape;2154;p100"/>
          <p:cNvSpPr txBox="1"/>
          <p:nvPr/>
        </p:nvSpPr>
        <p:spPr>
          <a:xfrm>
            <a:off x="7544625" y="3648862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00"/>
          <p:cNvSpPr txBox="1"/>
          <p:nvPr/>
        </p:nvSpPr>
        <p:spPr>
          <a:xfrm>
            <a:off x="552600" y="3654974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00"/>
          <p:cNvSpPr txBox="1"/>
          <p:nvPr/>
        </p:nvSpPr>
        <p:spPr>
          <a:xfrm>
            <a:off x="2472018" y="3604904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00"/>
          <p:cNvSpPr txBox="1"/>
          <p:nvPr/>
        </p:nvSpPr>
        <p:spPr>
          <a:xfrm>
            <a:off x="6126422" y="360490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00"/>
          <p:cNvSpPr txBox="1"/>
          <p:nvPr/>
        </p:nvSpPr>
        <p:spPr>
          <a:xfrm>
            <a:off x="3834807" y="3648862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9" name="Google Shape;2159;p100"/>
          <p:cNvGrpSpPr/>
          <p:nvPr/>
        </p:nvGrpSpPr>
        <p:grpSpPr>
          <a:xfrm>
            <a:off x="1260850" y="3518350"/>
            <a:ext cx="6838200" cy="238354"/>
            <a:chOff x="1260861" y="3941077"/>
            <a:chExt cx="6838200" cy="658800"/>
          </a:xfrm>
        </p:grpSpPr>
        <p:cxnSp>
          <p:nvCxnSpPr>
            <p:cNvPr id="2160" name="Google Shape;2160;p10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1" name="Google Shape;2161;p10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2" name="Google Shape;2162;p10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3" name="Google Shape;2163;p10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4" name="Google Shape;2164;p100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65" name="Google Shape;2165;p100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166" name="Google Shape;2166;p100"/>
          <p:cNvSpPr txBox="1"/>
          <p:nvPr/>
        </p:nvSpPr>
        <p:spPr>
          <a:xfrm>
            <a:off x="7544625" y="4489975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00"/>
          <p:cNvSpPr txBox="1"/>
          <p:nvPr/>
        </p:nvSpPr>
        <p:spPr>
          <a:xfrm>
            <a:off x="552600" y="44899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00"/>
          <p:cNvSpPr txBox="1"/>
          <p:nvPr/>
        </p:nvSpPr>
        <p:spPr>
          <a:xfrm>
            <a:off x="2472018" y="444601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00"/>
          <p:cNvSpPr txBox="1"/>
          <p:nvPr/>
        </p:nvSpPr>
        <p:spPr>
          <a:xfrm>
            <a:off x="6126422" y="444601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00"/>
          <p:cNvSpPr txBox="1"/>
          <p:nvPr/>
        </p:nvSpPr>
        <p:spPr>
          <a:xfrm>
            <a:off x="3834807" y="4489975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1" name="Google Shape;2171;p100"/>
          <p:cNvGrpSpPr/>
          <p:nvPr/>
        </p:nvGrpSpPr>
        <p:grpSpPr>
          <a:xfrm>
            <a:off x="1260850" y="4359463"/>
            <a:ext cx="6838200" cy="238354"/>
            <a:chOff x="1260861" y="3941077"/>
            <a:chExt cx="6838200" cy="658800"/>
          </a:xfrm>
        </p:grpSpPr>
        <p:cxnSp>
          <p:nvCxnSpPr>
            <p:cNvPr id="2172" name="Google Shape;2172;p10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3" name="Google Shape;2173;p10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4" name="Google Shape;2174;p10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5" name="Google Shape;2175;p10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6" name="Google Shape;2176;p100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77" name="Google Shape;2177;p100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178" name="Google Shape;2178;p100"/>
          <p:cNvSpPr txBox="1"/>
          <p:nvPr>
            <p:ph type="body" idx="1"/>
          </p:nvPr>
        </p:nvSpPr>
        <p:spPr>
          <a:xfrm>
            <a:off x="324000" y="1922700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79" name="Google Shape;2179;p100"/>
          <p:cNvSpPr txBox="1"/>
          <p:nvPr>
            <p:ph type="body" idx="1"/>
          </p:nvPr>
        </p:nvSpPr>
        <p:spPr>
          <a:xfrm>
            <a:off x="324000" y="2474292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80" name="Google Shape;2180;p100"/>
          <p:cNvSpPr txBox="1"/>
          <p:nvPr>
            <p:ph type="body" idx="1"/>
          </p:nvPr>
        </p:nvSpPr>
        <p:spPr>
          <a:xfrm>
            <a:off x="324000" y="3330684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81" name="Google Shape;2181;p100"/>
          <p:cNvSpPr txBox="1"/>
          <p:nvPr>
            <p:ph type="body" idx="1"/>
          </p:nvPr>
        </p:nvSpPr>
        <p:spPr>
          <a:xfrm>
            <a:off x="324000" y="4187077"/>
            <a:ext cx="253500" cy="2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2182" name="Google Shape;2182;p100"/>
          <p:cNvSpPr txBox="1"/>
          <p:nvPr>
            <p:ph type="body" idx="4294967295"/>
          </p:nvPr>
        </p:nvSpPr>
        <p:spPr>
          <a:xfrm>
            <a:off x="5686423" y="2567212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183" name="Google Shape;2183;p100"/>
          <p:cNvSpPr txBox="1"/>
          <p:nvPr>
            <p:ph type="body" idx="4294967295"/>
          </p:nvPr>
        </p:nvSpPr>
        <p:spPr>
          <a:xfrm>
            <a:off x="4265840" y="3386976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184" name="Google Shape;2184;p100"/>
          <p:cNvSpPr txBox="1"/>
          <p:nvPr>
            <p:ph type="body" idx="4294967295"/>
          </p:nvPr>
        </p:nvSpPr>
        <p:spPr>
          <a:xfrm>
            <a:off x="4557031" y="4163348"/>
            <a:ext cx="2535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W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185" name="Google Shape;2185;p100"/>
          <p:cNvSpPr txBox="1"/>
          <p:nvPr>
            <p:ph type="body" idx="4294967295"/>
          </p:nvPr>
        </p:nvSpPr>
        <p:spPr>
          <a:xfrm>
            <a:off x="3540343" y="2561693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6" name="Google Shape;2186;p100"/>
          <p:cNvSpPr txBox="1"/>
          <p:nvPr>
            <p:ph type="body" idx="4294967295"/>
          </p:nvPr>
        </p:nvSpPr>
        <p:spPr>
          <a:xfrm>
            <a:off x="4911943" y="3399893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7" name="Google Shape;2187;p100"/>
          <p:cNvSpPr txBox="1"/>
          <p:nvPr>
            <p:ph type="body" idx="4294967295"/>
          </p:nvPr>
        </p:nvSpPr>
        <p:spPr>
          <a:xfrm>
            <a:off x="4607143" y="3989082"/>
            <a:ext cx="253500" cy="3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1" name="Shape 2191"/>
        <p:cNvGrpSpPr/>
        <p:nvPr/>
      </p:nvGrpSpPr>
      <p:grpSpPr>
        <a:xfrm>
          <a:off x="0" y="0"/>
          <a:ext cx="0" cy="0"/>
        </a:xfrm>
      </p:grpSpPr>
      <p:sp>
        <p:nvSpPr>
          <p:cNvPr id="2192" name="Google Shape;2192;p101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likelihood of events can be represented on a scale.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An </a:t>
            </a:r>
            <a:r>
              <a:rPr lang="en-GB" sz="2000" b="1"/>
              <a:t>impossible</a:t>
            </a:r>
            <a:r>
              <a:rPr lang="en-GB" sz="2000"/>
              <a:t> event has no possibility of happening.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 </a:t>
            </a:r>
            <a:r>
              <a:rPr lang="en-GB" sz="2000" b="1"/>
              <a:t>certain</a:t>
            </a:r>
            <a:r>
              <a:rPr lang="en-GB" sz="2000"/>
              <a:t> event is guaranteed to happen.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An event has </a:t>
            </a:r>
            <a:r>
              <a:rPr lang="en-GB" sz="2000" b="1"/>
              <a:t>even chance</a:t>
            </a:r>
            <a:r>
              <a:rPr lang="en-GB" sz="2000"/>
              <a:t> if its likelihood of happening is the same as its likelihood of not happening.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Multiple events can be equally likely to happen without having an</a:t>
            </a:r>
            <a:r>
              <a:rPr lang="en-GB" sz="2000" b="1"/>
              <a:t> even chance</a:t>
            </a:r>
            <a:r>
              <a:rPr lang="en-GB" sz="2000"/>
              <a:t>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GB" sz="2000"/>
              <a:t>Some events can be more likely to happen than others.</a:t>
            </a:r>
            <a:endParaRPr sz="2000"/>
          </a:p>
        </p:txBody>
      </p:sp>
      <p:sp>
        <p:nvSpPr>
          <p:cNvPr id="2193" name="Google Shape;2193;p10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7" name="Shape 2197"/>
        <p:cNvGrpSpPr/>
        <p:nvPr/>
      </p:nvGrpSpPr>
      <p:grpSpPr>
        <a:xfrm>
          <a:off x="0" y="0"/>
          <a:ext cx="0" cy="0"/>
        </a:xfrm>
      </p:grpSpPr>
      <p:sp>
        <p:nvSpPr>
          <p:cNvPr id="2198" name="Google Shape;2198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99" name="Google Shape;219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583</Paragraphs>
  <Slides>40</Slides>
  <Notes>40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baseType="lpstr" size="48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The scale of likelihoods</vt:lpstr>
      <vt:lpstr>PowerPoint Presentation</vt:lpstr>
      <vt:lpstr>PowerPoint Presentation</vt:lpstr>
      <vt:lpstr>PowerPoint Presentation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Introducing the scale of likelihoods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scale</vt:lpstr>
      <vt:lpstr>Comparing the likelihood of events on the sale </vt:lpstr>
      <vt:lpstr>Comparing the likelihood of events on the sale </vt:lpstr>
      <vt:lpstr>Comparing the likelihood of events on the sale </vt:lpstr>
      <vt:lpstr>Comparing the likelihood of events on the sale </vt:lpstr>
      <vt:lpstr>The scale of likelihoods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2024-02-26T15:36:02.631</cp:lastPrinted>
  <dcterms:created xsi:type="dcterms:W3CDTF">2024-02-26T15:36:02Z</dcterms:created>
  <dcterms:modified xsi:type="dcterms:W3CDTF">2024-02-26T15:36:19Z</dcterms:modified>
</cp:coreProperties>
</file>