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b5acc6a3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5acc6a3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5acc6a314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b5acc6a314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b5acc6a314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b5acc6a314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b5acc6a314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b5acc6a314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b5acc6a314_0_1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b5acc6a314_0_1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b5acc6a314_0_1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b5acc6a314_0_1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b5acc6a314_0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b5acc6a314_0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2b5acc6a314_0_1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2b5acc6a314_0_1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2b5acc6a314_0_1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2b5acc6a314_0_1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b5acc6a314_0_1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b5acc6a314_0_1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b5acc6a314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b5acc6a314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2b5acc6a314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2b5acc6a314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b5acc6a314_0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b5acc6a314_0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b5acc6a314_0_1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b5acc6a314_0_1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b5acc6a314_0_18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b5acc6a314_0_1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b5acc6a314_0_1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b5acc6a314_0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2b5acc6a314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2b5acc6a314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b6846632af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b6846632af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b6846632af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b6846632af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g2b6846632af_2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2" name="Google Shape;1512;g2b6846632af_2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b6846632af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b6846632af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b6846632af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b6846632af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2b5acc6a314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2b5acc6a314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2b5acc6a314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2b5acc6a314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b5acc6a314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b5acc6a314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2b5acc6a314_0_1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2b5acc6a314_0_1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b5acc6a314_0_1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b5acc6a314_0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b5acc6a314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2b5acc6a314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2b5acc6a314_0_1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2b5acc6a314_0_1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g2b5acc6a314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7" name="Google Shape;1797;g2b5acc6a314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g2b5acc6a314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2" name="Google Shape;1822;g2b5acc6a314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68a6441f6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68a6441f6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g2b6846632af_2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9" name="Google Shape;1869;g2b6846632af_2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g2b6846632af_2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8" name="Google Shape;1898;g2b6846632af_2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3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g2b6846632af_2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5" name="Google Shape;1935;g2b6846632af_2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g2b6846632af_2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2" name="Google Shape;1962;g2b6846632af_2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6" name="Google Shape;199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55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5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55.png"/><Relationship Id="rId4" Type="http://schemas.openxmlformats.org/officeDocument/2006/relationships/image" Target="../media/image32.png"/><Relationship Id="rId11" Type="http://schemas.openxmlformats.org/officeDocument/2006/relationships/image" Target="../media/image20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6" name="Google Shape;746;p62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0" name="Google Shape;750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Probability: possible outcomes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systematically find all the possible outcomes for two events by using a Venn diagram.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>
            <p:ph idx="2" type="subTitle"/>
          </p:nvPr>
        </p:nvSpPr>
        <p:spPr>
          <a:xfrm>
            <a:off x="324000" y="826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Venn diagrams</a:t>
            </a:r>
            <a:r>
              <a:rPr lang="en-GB" sz="1800"/>
              <a:t> are a representation used to model statistical/probability questions. Commonly circles are used to represent events.  </a:t>
            </a:r>
            <a:endParaRPr b="1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00" y="205987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785" name="Google Shape;785;p68"/>
          <p:cNvSpPr txBox="1"/>
          <p:nvPr/>
        </p:nvSpPr>
        <p:spPr>
          <a:xfrm>
            <a:off x="324000" y="759300"/>
            <a:ext cx="579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this spinner is spun the possible outcomes are {1, 2, 3, 4, 5}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W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call this the samp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le space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6" name="Google Shape;786;p68"/>
          <p:cNvGrpSpPr/>
          <p:nvPr/>
        </p:nvGrpSpPr>
        <p:grpSpPr>
          <a:xfrm>
            <a:off x="7126221" y="456684"/>
            <a:ext cx="1897576" cy="1897576"/>
            <a:chOff x="6440626" y="456693"/>
            <a:chExt cx="2328600" cy="2328600"/>
          </a:xfrm>
        </p:grpSpPr>
        <p:sp>
          <p:nvSpPr>
            <p:cNvPr id="787" name="Google Shape;787;p68"/>
            <p:cNvSpPr/>
            <p:nvPr/>
          </p:nvSpPr>
          <p:spPr>
            <a:xfrm>
              <a:off x="6756800" y="772850"/>
              <a:ext cx="1695900" cy="1695900"/>
            </a:xfrm>
            <a:prstGeom prst="ellips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8"/>
            <p:cNvSpPr/>
            <p:nvPr/>
          </p:nvSpPr>
          <p:spPr>
            <a:xfrm rot="8649824">
              <a:off x="6771695" y="787761"/>
              <a:ext cx="1666351" cy="1666351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037B7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8"/>
            <p:cNvSpPr/>
            <p:nvPr/>
          </p:nvSpPr>
          <p:spPr>
            <a:xfrm rot="-8629029">
              <a:off x="6771796" y="787863"/>
              <a:ext cx="1666260" cy="166626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D02AA7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8"/>
            <p:cNvSpPr/>
            <p:nvPr/>
          </p:nvSpPr>
          <p:spPr>
            <a:xfrm rot="-4309758">
              <a:off x="6771841" y="788027"/>
              <a:ext cx="1666190" cy="166619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374CF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8"/>
            <p:cNvSpPr/>
            <p:nvPr/>
          </p:nvSpPr>
          <p:spPr>
            <a:xfrm>
              <a:off x="6771841" y="788027"/>
              <a:ext cx="1666200" cy="1666200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BEF2BD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8"/>
            <p:cNvSpPr txBox="1"/>
            <p:nvPr/>
          </p:nvSpPr>
          <p:spPr>
            <a:xfrm>
              <a:off x="7458075" y="1943525"/>
              <a:ext cx="630000" cy="5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3" name="Google Shape;793;p68"/>
            <p:cNvSpPr/>
            <p:nvPr/>
          </p:nvSpPr>
          <p:spPr>
            <a:xfrm rot="4312496">
              <a:off x="6771674" y="787606"/>
              <a:ext cx="1666387" cy="1666387"/>
            </a:xfrm>
            <a:prstGeom prst="pie">
              <a:avLst>
                <a:gd fmla="val 11928607" name="adj1"/>
                <a:gd fmla="val 16225322" name="adj2"/>
              </a:avLst>
            </a:prstGeom>
            <a:solidFill>
              <a:srgbClr val="845AD9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8"/>
            <p:cNvSpPr txBox="1"/>
            <p:nvPr/>
          </p:nvSpPr>
          <p:spPr>
            <a:xfrm>
              <a:off x="7135575" y="952925"/>
              <a:ext cx="630000" cy="5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8"/>
            <p:cNvSpPr txBox="1"/>
            <p:nvPr/>
          </p:nvSpPr>
          <p:spPr>
            <a:xfrm>
              <a:off x="7790126" y="952932"/>
              <a:ext cx="630000" cy="5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8"/>
            <p:cNvSpPr txBox="1"/>
            <p:nvPr/>
          </p:nvSpPr>
          <p:spPr>
            <a:xfrm>
              <a:off x="7866326" y="1562532"/>
              <a:ext cx="630000" cy="5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8"/>
            <p:cNvSpPr txBox="1"/>
            <p:nvPr/>
          </p:nvSpPr>
          <p:spPr>
            <a:xfrm>
              <a:off x="6906975" y="1562532"/>
              <a:ext cx="571500" cy="5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798" name="Google Shape;798;p68"/>
            <p:cNvGrpSpPr/>
            <p:nvPr/>
          </p:nvGrpSpPr>
          <p:grpSpPr>
            <a:xfrm>
              <a:off x="7556109" y="828742"/>
              <a:ext cx="93900" cy="816939"/>
              <a:chOff x="996050" y="213293"/>
              <a:chExt cx="93900" cy="909732"/>
            </a:xfrm>
          </p:grpSpPr>
          <p:cxnSp>
            <p:nvCxnSpPr>
              <p:cNvPr id="799" name="Google Shape;799;p68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00" name="Google Shape;800;p68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01" name="Google Shape;801;p68"/>
          <p:cNvSpPr txBox="1"/>
          <p:nvPr/>
        </p:nvSpPr>
        <p:spPr>
          <a:xfrm>
            <a:off x="324000" y="1459200"/>
            <a:ext cx="4335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outcome table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can be set up to categorise the possible outcomes.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2" name="Google Shape;802;p68"/>
          <p:cNvCxnSpPr/>
          <p:nvPr/>
        </p:nvCxnSpPr>
        <p:spPr>
          <a:xfrm>
            <a:off x="1751850" y="21911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68"/>
          <p:cNvCxnSpPr/>
          <p:nvPr/>
        </p:nvCxnSpPr>
        <p:spPr>
          <a:xfrm>
            <a:off x="2949503" y="21911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68"/>
          <p:cNvCxnSpPr/>
          <p:nvPr/>
        </p:nvCxnSpPr>
        <p:spPr>
          <a:xfrm>
            <a:off x="4153925" y="2174202"/>
            <a:ext cx="0" cy="257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68"/>
          <p:cNvCxnSpPr/>
          <p:nvPr/>
        </p:nvCxnSpPr>
        <p:spPr>
          <a:xfrm rot="10800000">
            <a:off x="338527" y="30781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6" name="Google Shape;806;p68"/>
          <p:cNvCxnSpPr/>
          <p:nvPr/>
        </p:nvCxnSpPr>
        <p:spPr>
          <a:xfrm rot="10800000">
            <a:off x="338527" y="3913916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68"/>
          <p:cNvCxnSpPr/>
          <p:nvPr/>
        </p:nvCxnSpPr>
        <p:spPr>
          <a:xfrm rot="10800000">
            <a:off x="338527" y="47390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68"/>
          <p:cNvSpPr txBox="1"/>
          <p:nvPr/>
        </p:nvSpPr>
        <p:spPr>
          <a:xfrm>
            <a:off x="1936227" y="2170638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68"/>
          <p:cNvSpPr txBox="1"/>
          <p:nvPr/>
        </p:nvSpPr>
        <p:spPr>
          <a:xfrm>
            <a:off x="3098625" y="2138225"/>
            <a:ext cx="94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prime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8"/>
          <p:cNvSpPr txBox="1"/>
          <p:nvPr/>
        </p:nvSpPr>
        <p:spPr>
          <a:xfrm>
            <a:off x="345150" y="3174438"/>
            <a:ext cx="140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 number (O)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8"/>
          <p:cNvSpPr txBox="1"/>
          <p:nvPr/>
        </p:nvSpPr>
        <p:spPr>
          <a:xfrm>
            <a:off x="398023" y="4041296"/>
            <a:ext cx="16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an odd number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8"/>
          <p:cNvSpPr txBox="1"/>
          <p:nvPr/>
        </p:nvSpPr>
        <p:spPr>
          <a:xfrm>
            <a:off x="3110518" y="323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/>
        </p:nvSpPr>
        <p:spPr>
          <a:xfrm>
            <a:off x="1967518" y="323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4" name="Google Shape;814;p68"/>
          <p:cNvSpPr txBox="1"/>
          <p:nvPr/>
        </p:nvSpPr>
        <p:spPr>
          <a:xfrm>
            <a:off x="1967518" y="4071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68"/>
          <p:cNvSpPr txBox="1"/>
          <p:nvPr/>
        </p:nvSpPr>
        <p:spPr>
          <a:xfrm>
            <a:off x="2500918" y="3462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68"/>
          <p:cNvSpPr txBox="1"/>
          <p:nvPr/>
        </p:nvSpPr>
        <p:spPr>
          <a:xfrm>
            <a:off x="3110518" y="4071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68"/>
          <p:cNvSpPr txBox="1"/>
          <p:nvPr/>
        </p:nvSpPr>
        <p:spPr>
          <a:xfrm>
            <a:off x="4693213" y="1450275"/>
            <a:ext cx="2398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 an outcome tree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8" name="Google Shape;818;p68"/>
          <p:cNvCxnSpPr/>
          <p:nvPr/>
        </p:nvCxnSpPr>
        <p:spPr>
          <a:xfrm flipH="1" rot="10800000">
            <a:off x="4728425" y="27224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68"/>
          <p:cNvCxnSpPr/>
          <p:nvPr/>
        </p:nvCxnSpPr>
        <p:spPr>
          <a:xfrm>
            <a:off x="4728425" y="33246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68"/>
          <p:cNvCxnSpPr/>
          <p:nvPr/>
        </p:nvCxnSpPr>
        <p:spPr>
          <a:xfrm flipH="1" rot="10800000">
            <a:off x="6028200" y="23429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68"/>
          <p:cNvCxnSpPr/>
          <p:nvPr/>
        </p:nvCxnSpPr>
        <p:spPr>
          <a:xfrm>
            <a:off x="6028200" y="26488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68"/>
          <p:cNvSpPr txBox="1"/>
          <p:nvPr/>
        </p:nvSpPr>
        <p:spPr>
          <a:xfrm>
            <a:off x="5545802" y="2547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8"/>
          <p:cNvSpPr txBox="1"/>
          <p:nvPr/>
        </p:nvSpPr>
        <p:spPr>
          <a:xfrm>
            <a:off x="5545802" y="38033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68"/>
          <p:cNvSpPr txBox="1"/>
          <p:nvPr/>
        </p:nvSpPr>
        <p:spPr>
          <a:xfrm>
            <a:off x="7192689" y="21484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68"/>
          <p:cNvSpPr txBox="1"/>
          <p:nvPr/>
        </p:nvSpPr>
        <p:spPr>
          <a:xfrm>
            <a:off x="7192705" y="2796600"/>
            <a:ext cx="34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8"/>
          <p:cNvSpPr txBox="1"/>
          <p:nvPr/>
        </p:nvSpPr>
        <p:spPr>
          <a:xfrm>
            <a:off x="7192689" y="34272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8"/>
          <p:cNvSpPr txBox="1"/>
          <p:nvPr/>
        </p:nvSpPr>
        <p:spPr>
          <a:xfrm>
            <a:off x="7192704" y="4151650"/>
            <a:ext cx="34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8"/>
          <p:cNvSpPr txBox="1"/>
          <p:nvPr/>
        </p:nvSpPr>
        <p:spPr>
          <a:xfrm>
            <a:off x="5393401" y="2776200"/>
            <a:ext cx="7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8"/>
          <p:cNvSpPr txBox="1"/>
          <p:nvPr/>
        </p:nvSpPr>
        <p:spPr>
          <a:xfrm>
            <a:off x="5414500" y="4061300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68"/>
          <p:cNvSpPr txBox="1"/>
          <p:nvPr/>
        </p:nvSpPr>
        <p:spPr>
          <a:xfrm>
            <a:off x="7537975" y="2148425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68"/>
          <p:cNvSpPr txBox="1"/>
          <p:nvPr/>
        </p:nvSpPr>
        <p:spPr>
          <a:xfrm>
            <a:off x="7620175" y="27965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68"/>
          <p:cNvSpPr txBox="1"/>
          <p:nvPr/>
        </p:nvSpPr>
        <p:spPr>
          <a:xfrm>
            <a:off x="7577800" y="3427263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68"/>
          <p:cNvSpPr txBox="1"/>
          <p:nvPr/>
        </p:nvSpPr>
        <p:spPr>
          <a:xfrm>
            <a:off x="7577800" y="415163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4" name="Google Shape;834;p68"/>
          <p:cNvCxnSpPr/>
          <p:nvPr/>
        </p:nvCxnSpPr>
        <p:spPr>
          <a:xfrm flipH="1" rot="10800000">
            <a:off x="6028200" y="3638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68"/>
          <p:cNvCxnSpPr/>
          <p:nvPr/>
        </p:nvCxnSpPr>
        <p:spPr>
          <a:xfrm>
            <a:off x="6028200" y="3944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0" name="Google Shape;840;p69"/>
          <p:cNvCxnSpPr/>
          <p:nvPr/>
        </p:nvCxnSpPr>
        <p:spPr>
          <a:xfrm rot="10800000">
            <a:off x="4681927" y="23923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69"/>
          <p:cNvCxnSpPr/>
          <p:nvPr/>
        </p:nvCxnSpPr>
        <p:spPr>
          <a:xfrm rot="10800000">
            <a:off x="4681927" y="3228116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69"/>
          <p:cNvCxnSpPr/>
          <p:nvPr/>
        </p:nvCxnSpPr>
        <p:spPr>
          <a:xfrm rot="10800000">
            <a:off x="4681927" y="40532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69"/>
          <p:cNvCxnSpPr/>
          <p:nvPr/>
        </p:nvCxnSpPr>
        <p:spPr>
          <a:xfrm>
            <a:off x="7292903" y="15053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69"/>
          <p:cNvCxnSpPr/>
          <p:nvPr/>
        </p:nvCxnSpPr>
        <p:spPr>
          <a:xfrm>
            <a:off x="8497325" y="1488402"/>
            <a:ext cx="0" cy="257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69"/>
          <p:cNvCxnSpPr/>
          <p:nvPr/>
        </p:nvCxnSpPr>
        <p:spPr>
          <a:xfrm>
            <a:off x="6095250" y="15053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69"/>
          <p:cNvSpPr/>
          <p:nvPr/>
        </p:nvSpPr>
        <p:spPr>
          <a:xfrm>
            <a:off x="6091588" y="2392375"/>
            <a:ext cx="2402100" cy="1655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69"/>
          <p:cNvSpPr/>
          <p:nvPr/>
        </p:nvSpPr>
        <p:spPr>
          <a:xfrm>
            <a:off x="6095250" y="2392375"/>
            <a:ext cx="1197600" cy="1655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69"/>
          <p:cNvSpPr/>
          <p:nvPr/>
        </p:nvSpPr>
        <p:spPr>
          <a:xfrm>
            <a:off x="6095250" y="2392375"/>
            <a:ext cx="2402100" cy="81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850" name="Google Shape;850;p69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Another representation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69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 = {2, 3, 5}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69"/>
          <p:cNvSpPr txBox="1"/>
          <p:nvPr/>
        </p:nvSpPr>
        <p:spPr>
          <a:xfrm>
            <a:off x="6279627" y="1484838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69"/>
          <p:cNvSpPr txBox="1"/>
          <p:nvPr/>
        </p:nvSpPr>
        <p:spPr>
          <a:xfrm>
            <a:off x="7442025" y="1452425"/>
            <a:ext cx="94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prime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69"/>
          <p:cNvSpPr txBox="1"/>
          <p:nvPr/>
        </p:nvSpPr>
        <p:spPr>
          <a:xfrm>
            <a:off x="4687412" y="2533200"/>
            <a:ext cx="13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odd number (O)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9"/>
          <p:cNvSpPr txBox="1"/>
          <p:nvPr/>
        </p:nvSpPr>
        <p:spPr>
          <a:xfrm>
            <a:off x="4741423" y="3355496"/>
            <a:ext cx="160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an odd number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69"/>
          <p:cNvSpPr txBox="1"/>
          <p:nvPr/>
        </p:nvSpPr>
        <p:spPr>
          <a:xfrm>
            <a:off x="7453918" y="2547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69"/>
          <p:cNvSpPr txBox="1"/>
          <p:nvPr/>
        </p:nvSpPr>
        <p:spPr>
          <a:xfrm>
            <a:off x="6310918" y="2547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>
            <a:off x="6310918" y="3385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69"/>
          <p:cNvSpPr txBox="1"/>
          <p:nvPr/>
        </p:nvSpPr>
        <p:spPr>
          <a:xfrm>
            <a:off x="6844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69"/>
          <p:cNvSpPr txBox="1"/>
          <p:nvPr/>
        </p:nvSpPr>
        <p:spPr>
          <a:xfrm>
            <a:off x="7453918" y="3385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69"/>
          <p:cNvSpPr txBox="1"/>
          <p:nvPr/>
        </p:nvSpPr>
        <p:spPr>
          <a:xfrm>
            <a:off x="324000" y="1875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{1, 3, 5}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69"/>
          <p:cNvSpPr/>
          <p:nvPr/>
        </p:nvSpPr>
        <p:spPr>
          <a:xfrm>
            <a:off x="606050" y="2661300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69"/>
          <p:cNvSpPr txBox="1"/>
          <p:nvPr/>
        </p:nvSpPr>
        <p:spPr>
          <a:xfrm>
            <a:off x="400200" y="2341650"/>
            <a:ext cx="183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9"/>
          <p:cNvSpPr/>
          <p:nvPr/>
        </p:nvSpPr>
        <p:spPr>
          <a:xfrm>
            <a:off x="985525" y="2886318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69"/>
          <p:cNvSpPr txBox="1"/>
          <p:nvPr/>
        </p:nvSpPr>
        <p:spPr>
          <a:xfrm>
            <a:off x="1039900" y="28378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69"/>
          <p:cNvSpPr/>
          <p:nvPr/>
        </p:nvSpPr>
        <p:spPr>
          <a:xfrm>
            <a:off x="1976125" y="2886318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69"/>
          <p:cNvSpPr txBox="1"/>
          <p:nvPr/>
        </p:nvSpPr>
        <p:spPr>
          <a:xfrm>
            <a:off x="3369600" y="2837852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69"/>
          <p:cNvSpPr txBox="1"/>
          <p:nvPr/>
        </p:nvSpPr>
        <p:spPr>
          <a:xfrm>
            <a:off x="3016056" y="3360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69"/>
          <p:cNvSpPr txBox="1"/>
          <p:nvPr/>
        </p:nvSpPr>
        <p:spPr>
          <a:xfrm>
            <a:off x="2112318" y="36927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69"/>
          <p:cNvSpPr txBox="1"/>
          <p:nvPr/>
        </p:nvSpPr>
        <p:spPr>
          <a:xfrm>
            <a:off x="1290693" y="3385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69"/>
          <p:cNvSpPr txBox="1"/>
          <p:nvPr/>
        </p:nvSpPr>
        <p:spPr>
          <a:xfrm>
            <a:off x="2280543" y="33603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9"/>
          <p:cNvSpPr txBox="1"/>
          <p:nvPr/>
        </p:nvSpPr>
        <p:spPr>
          <a:xfrm>
            <a:off x="3582318" y="42496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69"/>
          <p:cNvSpPr/>
          <p:nvPr/>
        </p:nvSpPr>
        <p:spPr>
          <a:xfrm>
            <a:off x="6095250" y="2404275"/>
            <a:ext cx="1197600" cy="81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4" name="Google Shape;874;p69"/>
          <p:cNvGrpSpPr/>
          <p:nvPr/>
        </p:nvGrpSpPr>
        <p:grpSpPr>
          <a:xfrm>
            <a:off x="986113" y="2885988"/>
            <a:ext cx="2595900" cy="1606225"/>
            <a:chOff x="986113" y="2885988"/>
            <a:chExt cx="2595900" cy="1606225"/>
          </a:xfrm>
        </p:grpSpPr>
        <p:sp>
          <p:nvSpPr>
            <p:cNvPr id="875" name="Google Shape;875;p69"/>
            <p:cNvSpPr/>
            <p:nvPr/>
          </p:nvSpPr>
          <p:spPr>
            <a:xfrm>
              <a:off x="1976413" y="2886613"/>
              <a:ext cx="1605600" cy="1605600"/>
            </a:xfrm>
            <a:prstGeom prst="arc">
              <a:avLst>
                <a:gd fmla="val 7670166" name="adj1"/>
                <a:gd fmla="val 13918865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76" name="Google Shape;876;p69"/>
            <p:cNvSpPr/>
            <p:nvPr/>
          </p:nvSpPr>
          <p:spPr>
            <a:xfrm flipH="1">
              <a:off x="986113" y="2885988"/>
              <a:ext cx="1605600" cy="1605600"/>
            </a:xfrm>
            <a:prstGeom prst="arc">
              <a:avLst>
                <a:gd fmla="val 7670166" name="adj1"/>
                <a:gd fmla="val 13918865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7" name="Google Shape;877;p69"/>
          <p:cNvSpPr/>
          <p:nvPr/>
        </p:nvSpPr>
        <p:spPr>
          <a:xfrm>
            <a:off x="606050" y="266192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69"/>
          <p:cNvSpPr/>
          <p:nvPr/>
        </p:nvSpPr>
        <p:spPr>
          <a:xfrm>
            <a:off x="7292850" y="3222825"/>
            <a:ext cx="1197600" cy="818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69"/>
          <p:cNvSpPr/>
          <p:nvPr/>
        </p:nvSpPr>
        <p:spPr>
          <a:xfrm>
            <a:off x="3544454" y="4211150"/>
            <a:ext cx="243600" cy="36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69"/>
          <p:cNvSpPr/>
          <p:nvPr/>
        </p:nvSpPr>
        <p:spPr>
          <a:xfrm>
            <a:off x="985525" y="2886318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/>
          <p:nvPr/>
        </p:nvSpPr>
        <p:spPr>
          <a:xfrm>
            <a:off x="1976125" y="2886318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0"/>
          <p:cNvSpPr txBox="1"/>
          <p:nvPr/>
        </p:nvSpPr>
        <p:spPr>
          <a:xfrm>
            <a:off x="4576950" y="1305825"/>
            <a:ext cx="3632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                                             }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 txBox="1"/>
          <p:nvPr/>
        </p:nvSpPr>
        <p:spPr>
          <a:xfrm>
            <a:off x="5067209" y="1305825"/>
            <a:ext cx="283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1, 2, 3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4, 5, 6, 7, 8, 9, 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8" name="Google Shape;888;p70"/>
          <p:cNvSpPr txBox="1"/>
          <p:nvPr>
            <p:ph idx="1" type="body"/>
          </p:nvPr>
        </p:nvSpPr>
        <p:spPr>
          <a:xfrm>
            <a:off x="324000" y="759300"/>
            <a:ext cx="3996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{even number}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{factor of 20}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Complete the sample space for this </a:t>
            </a:r>
            <a:r>
              <a:rPr b="1" lang="en-GB" sz="1800"/>
              <a:t>Venn diagram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89" name="Google Shape;88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890" name="Google Shape;890;p70"/>
          <p:cNvSpPr/>
          <p:nvPr/>
        </p:nvSpPr>
        <p:spPr>
          <a:xfrm>
            <a:off x="4554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0"/>
          <p:cNvSpPr/>
          <p:nvPr/>
        </p:nvSpPr>
        <p:spPr>
          <a:xfrm>
            <a:off x="4933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 txBox="1"/>
          <p:nvPr/>
        </p:nvSpPr>
        <p:spPr>
          <a:xfrm>
            <a:off x="4988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0"/>
          <p:cNvSpPr/>
          <p:nvPr/>
        </p:nvSpPr>
        <p:spPr>
          <a:xfrm>
            <a:off x="5924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0"/>
          <p:cNvSpPr txBox="1"/>
          <p:nvPr/>
        </p:nvSpPr>
        <p:spPr>
          <a:xfrm>
            <a:off x="7291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5" name="Google Shape;895;p70"/>
          <p:cNvCxnSpPr/>
          <p:nvPr/>
        </p:nvCxnSpPr>
        <p:spPr>
          <a:xfrm>
            <a:off x="5073950" y="1627125"/>
            <a:ext cx="2822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6" name="Google Shape;896;p70"/>
          <p:cNvSpPr txBox="1"/>
          <p:nvPr/>
        </p:nvSpPr>
        <p:spPr>
          <a:xfrm>
            <a:off x="6601981" y="21098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70"/>
          <p:cNvSpPr txBox="1"/>
          <p:nvPr/>
        </p:nvSpPr>
        <p:spPr>
          <a:xfrm>
            <a:off x="6117656" y="22777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0"/>
          <p:cNvSpPr txBox="1"/>
          <p:nvPr/>
        </p:nvSpPr>
        <p:spPr>
          <a:xfrm>
            <a:off x="7542006" y="3401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9" name="Google Shape;899;p70"/>
          <p:cNvSpPr txBox="1"/>
          <p:nvPr/>
        </p:nvSpPr>
        <p:spPr>
          <a:xfrm>
            <a:off x="6256806" y="263108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0"/>
          <p:cNvSpPr txBox="1"/>
          <p:nvPr/>
        </p:nvSpPr>
        <p:spPr>
          <a:xfrm>
            <a:off x="7116931" y="2838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0"/>
          <p:cNvSpPr txBox="1"/>
          <p:nvPr/>
        </p:nvSpPr>
        <p:spPr>
          <a:xfrm>
            <a:off x="5286881" y="23375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0"/>
          <p:cNvSpPr txBox="1"/>
          <p:nvPr/>
        </p:nvSpPr>
        <p:spPr>
          <a:xfrm>
            <a:off x="4737256" y="3456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0"/>
          <p:cNvSpPr txBox="1"/>
          <p:nvPr/>
        </p:nvSpPr>
        <p:spPr>
          <a:xfrm>
            <a:off x="5286881" y="29210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70"/>
          <p:cNvSpPr txBox="1"/>
          <p:nvPr/>
        </p:nvSpPr>
        <p:spPr>
          <a:xfrm>
            <a:off x="6164120" y="3502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0"/>
          <p:cNvSpPr txBox="1"/>
          <p:nvPr/>
        </p:nvSpPr>
        <p:spPr>
          <a:xfrm>
            <a:off x="6082136" y="3006415"/>
            <a:ext cx="352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911" name="Google Shape;911;p71"/>
          <p:cNvSpPr txBox="1"/>
          <p:nvPr/>
        </p:nvSpPr>
        <p:spPr>
          <a:xfrm>
            <a:off x="324000" y="732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{square number}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1"/>
          <p:cNvSpPr txBox="1"/>
          <p:nvPr/>
        </p:nvSpPr>
        <p:spPr>
          <a:xfrm>
            <a:off x="324000" y="1494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1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1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1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1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1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1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1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1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1"/>
          <p:cNvSpPr txBox="1"/>
          <p:nvPr/>
        </p:nvSpPr>
        <p:spPr>
          <a:xfrm>
            <a:off x="7092293" y="186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1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1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1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1"/>
          <p:cNvSpPr txBox="1"/>
          <p:nvPr/>
        </p:nvSpPr>
        <p:spPr>
          <a:xfrm>
            <a:off x="7295878" y="2579125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6" name="Google Shape;926;p71"/>
          <p:cNvCxnSpPr/>
          <p:nvPr/>
        </p:nvCxnSpPr>
        <p:spPr>
          <a:xfrm flipH="1" rot="10800000">
            <a:off x="385025" y="28748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71"/>
          <p:cNvCxnSpPr/>
          <p:nvPr/>
        </p:nvCxnSpPr>
        <p:spPr>
          <a:xfrm>
            <a:off x="385025" y="3477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8" name="Google Shape;928;p71"/>
          <p:cNvCxnSpPr/>
          <p:nvPr/>
        </p:nvCxnSpPr>
        <p:spPr>
          <a:xfrm flipH="1" rot="10800000">
            <a:off x="1913400" y="2495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71"/>
          <p:cNvCxnSpPr/>
          <p:nvPr/>
        </p:nvCxnSpPr>
        <p:spPr>
          <a:xfrm>
            <a:off x="1913400" y="2801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71"/>
          <p:cNvSpPr txBox="1"/>
          <p:nvPr/>
        </p:nvSpPr>
        <p:spPr>
          <a:xfrm>
            <a:off x="1354802" y="2700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1"/>
          <p:cNvSpPr txBox="1"/>
          <p:nvPr/>
        </p:nvSpPr>
        <p:spPr>
          <a:xfrm>
            <a:off x="1202400" y="39557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1"/>
          <p:cNvSpPr txBox="1"/>
          <p:nvPr/>
        </p:nvSpPr>
        <p:spPr>
          <a:xfrm>
            <a:off x="3077889" y="2300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3" name="Google Shape;933;p71"/>
          <p:cNvSpPr txBox="1"/>
          <p:nvPr/>
        </p:nvSpPr>
        <p:spPr>
          <a:xfrm>
            <a:off x="3077898" y="28728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1"/>
          <p:cNvSpPr txBox="1"/>
          <p:nvPr/>
        </p:nvSpPr>
        <p:spPr>
          <a:xfrm>
            <a:off x="1126201" y="3004800"/>
            <a:ext cx="7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1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2, 3, 5, 6, 7, 8, 10, 11, 12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6" name="Google Shape;936;p71"/>
          <p:cNvSpPr txBox="1"/>
          <p:nvPr/>
        </p:nvSpPr>
        <p:spPr>
          <a:xfrm>
            <a:off x="3651775" y="2300825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1"/>
          <p:cNvSpPr txBox="1"/>
          <p:nvPr/>
        </p:nvSpPr>
        <p:spPr>
          <a:xfrm>
            <a:off x="3733975" y="29489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1"/>
          <p:cNvSpPr txBox="1"/>
          <p:nvPr/>
        </p:nvSpPr>
        <p:spPr>
          <a:xfrm>
            <a:off x="3691600" y="35796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2, 3, 6, 12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1"/>
          <p:cNvSpPr txBox="1"/>
          <p:nvPr/>
        </p:nvSpPr>
        <p:spPr>
          <a:xfrm>
            <a:off x="3691600" y="43040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40" name="Google Shape;940;p71"/>
          <p:cNvCxnSpPr/>
          <p:nvPr/>
        </p:nvCxnSpPr>
        <p:spPr>
          <a:xfrm flipH="1" rot="10800000">
            <a:off x="1913400" y="37907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71"/>
          <p:cNvCxnSpPr/>
          <p:nvPr/>
        </p:nvCxnSpPr>
        <p:spPr>
          <a:xfrm>
            <a:off x="1913400" y="40966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2" name="Google Shape;942;p71"/>
          <p:cNvSpPr txBox="1"/>
          <p:nvPr/>
        </p:nvSpPr>
        <p:spPr>
          <a:xfrm>
            <a:off x="3001689" y="3596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1"/>
          <p:cNvSpPr txBox="1"/>
          <p:nvPr/>
        </p:nvSpPr>
        <p:spPr>
          <a:xfrm>
            <a:off x="3001698" y="41682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1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1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1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1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71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954" name="Google Shape;954;p72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2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2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2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2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2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2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2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2"/>
          <p:cNvSpPr txBox="1"/>
          <p:nvPr/>
        </p:nvSpPr>
        <p:spPr>
          <a:xfrm>
            <a:off x="7092293" y="186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2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2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2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2"/>
          <p:cNvSpPr txBox="1"/>
          <p:nvPr/>
        </p:nvSpPr>
        <p:spPr>
          <a:xfrm>
            <a:off x="7295878" y="2579125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7" name="Google Shape;967;p72"/>
          <p:cNvCxnSpPr/>
          <p:nvPr/>
        </p:nvCxnSpPr>
        <p:spPr>
          <a:xfrm flipH="1" rot="10800000">
            <a:off x="385025" y="28748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72"/>
          <p:cNvCxnSpPr/>
          <p:nvPr/>
        </p:nvCxnSpPr>
        <p:spPr>
          <a:xfrm>
            <a:off x="385025" y="3477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" name="Google Shape;969;p72"/>
          <p:cNvCxnSpPr/>
          <p:nvPr/>
        </p:nvCxnSpPr>
        <p:spPr>
          <a:xfrm flipH="1" rot="10800000">
            <a:off x="1913400" y="2495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0" name="Google Shape;970;p72"/>
          <p:cNvCxnSpPr/>
          <p:nvPr/>
        </p:nvCxnSpPr>
        <p:spPr>
          <a:xfrm>
            <a:off x="1913400" y="2801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72"/>
          <p:cNvSpPr txBox="1"/>
          <p:nvPr/>
        </p:nvSpPr>
        <p:spPr>
          <a:xfrm>
            <a:off x="1354802" y="2700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2"/>
          <p:cNvSpPr txBox="1"/>
          <p:nvPr/>
        </p:nvSpPr>
        <p:spPr>
          <a:xfrm>
            <a:off x="1202400" y="39557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2"/>
          <p:cNvSpPr txBox="1"/>
          <p:nvPr/>
        </p:nvSpPr>
        <p:spPr>
          <a:xfrm>
            <a:off x="3077889" y="2300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2"/>
          <p:cNvSpPr txBox="1"/>
          <p:nvPr/>
        </p:nvSpPr>
        <p:spPr>
          <a:xfrm>
            <a:off x="3077898" y="28728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2"/>
          <p:cNvSpPr txBox="1"/>
          <p:nvPr/>
        </p:nvSpPr>
        <p:spPr>
          <a:xfrm>
            <a:off x="1126201" y="3004800"/>
            <a:ext cx="7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2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2, 3, 5, 6, 7, 8, 10, 11, 12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2"/>
          <p:cNvSpPr txBox="1"/>
          <p:nvPr/>
        </p:nvSpPr>
        <p:spPr>
          <a:xfrm>
            <a:off x="3651775" y="2300825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2"/>
          <p:cNvSpPr txBox="1"/>
          <p:nvPr/>
        </p:nvSpPr>
        <p:spPr>
          <a:xfrm>
            <a:off x="3733975" y="29489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2"/>
          <p:cNvSpPr txBox="1"/>
          <p:nvPr/>
        </p:nvSpPr>
        <p:spPr>
          <a:xfrm>
            <a:off x="3691600" y="35796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2, 3, 6, 12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2"/>
          <p:cNvSpPr txBox="1"/>
          <p:nvPr/>
        </p:nvSpPr>
        <p:spPr>
          <a:xfrm>
            <a:off x="3691600" y="43040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81" name="Google Shape;981;p72"/>
          <p:cNvCxnSpPr/>
          <p:nvPr/>
        </p:nvCxnSpPr>
        <p:spPr>
          <a:xfrm flipH="1" rot="10800000">
            <a:off x="1913400" y="37907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72"/>
          <p:cNvCxnSpPr/>
          <p:nvPr/>
        </p:nvCxnSpPr>
        <p:spPr>
          <a:xfrm>
            <a:off x="1913400" y="40966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3" name="Google Shape;983;p72"/>
          <p:cNvSpPr txBox="1"/>
          <p:nvPr/>
        </p:nvSpPr>
        <p:spPr>
          <a:xfrm>
            <a:off x="3001689" y="3596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2"/>
          <p:cNvSpPr txBox="1"/>
          <p:nvPr/>
        </p:nvSpPr>
        <p:spPr>
          <a:xfrm>
            <a:off x="3001698" y="41682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2"/>
          <p:cNvSpPr/>
          <p:nvPr/>
        </p:nvSpPr>
        <p:spPr>
          <a:xfrm>
            <a:off x="1080800" y="3001500"/>
            <a:ext cx="7380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2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2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2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2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2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2"/>
          <p:cNvSpPr txBox="1"/>
          <p:nvPr/>
        </p:nvSpPr>
        <p:spPr>
          <a:xfrm>
            <a:off x="324000" y="732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{square number}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2"/>
          <p:cNvSpPr txBox="1"/>
          <p:nvPr/>
        </p:nvSpPr>
        <p:spPr>
          <a:xfrm>
            <a:off x="324000" y="1494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998" name="Google Shape;998;p73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73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3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3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3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3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3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3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3"/>
          <p:cNvSpPr txBox="1"/>
          <p:nvPr/>
        </p:nvSpPr>
        <p:spPr>
          <a:xfrm>
            <a:off x="7092293" y="186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3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73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73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73"/>
          <p:cNvSpPr txBox="1"/>
          <p:nvPr/>
        </p:nvSpPr>
        <p:spPr>
          <a:xfrm>
            <a:off x="7295878" y="2579125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1" name="Google Shape;1011;p73"/>
          <p:cNvCxnSpPr/>
          <p:nvPr/>
        </p:nvCxnSpPr>
        <p:spPr>
          <a:xfrm flipH="1" rot="10800000">
            <a:off x="385025" y="28748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73"/>
          <p:cNvCxnSpPr/>
          <p:nvPr/>
        </p:nvCxnSpPr>
        <p:spPr>
          <a:xfrm>
            <a:off x="385025" y="3477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3" name="Google Shape;1013;p73"/>
          <p:cNvCxnSpPr/>
          <p:nvPr/>
        </p:nvCxnSpPr>
        <p:spPr>
          <a:xfrm flipH="1" rot="10800000">
            <a:off x="1913400" y="2495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4" name="Google Shape;1014;p73"/>
          <p:cNvCxnSpPr/>
          <p:nvPr/>
        </p:nvCxnSpPr>
        <p:spPr>
          <a:xfrm>
            <a:off x="1913400" y="2801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5" name="Google Shape;1015;p73"/>
          <p:cNvSpPr txBox="1"/>
          <p:nvPr/>
        </p:nvSpPr>
        <p:spPr>
          <a:xfrm>
            <a:off x="1354802" y="2700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6" name="Google Shape;1016;p73"/>
          <p:cNvSpPr txBox="1"/>
          <p:nvPr/>
        </p:nvSpPr>
        <p:spPr>
          <a:xfrm>
            <a:off x="1202400" y="39557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7" name="Google Shape;1017;p73"/>
          <p:cNvSpPr txBox="1"/>
          <p:nvPr/>
        </p:nvSpPr>
        <p:spPr>
          <a:xfrm>
            <a:off x="3077889" y="2300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8" name="Google Shape;1018;p73"/>
          <p:cNvSpPr txBox="1"/>
          <p:nvPr/>
        </p:nvSpPr>
        <p:spPr>
          <a:xfrm>
            <a:off x="3077898" y="28728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3"/>
          <p:cNvSpPr txBox="1"/>
          <p:nvPr/>
        </p:nvSpPr>
        <p:spPr>
          <a:xfrm>
            <a:off x="1126201" y="3004800"/>
            <a:ext cx="7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3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2, 3, 5, 6, 7, 8, 10, 11, 12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3"/>
          <p:cNvSpPr txBox="1"/>
          <p:nvPr/>
        </p:nvSpPr>
        <p:spPr>
          <a:xfrm>
            <a:off x="3651775" y="2300825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3"/>
          <p:cNvSpPr txBox="1"/>
          <p:nvPr/>
        </p:nvSpPr>
        <p:spPr>
          <a:xfrm>
            <a:off x="3733975" y="29489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3"/>
          <p:cNvSpPr txBox="1"/>
          <p:nvPr/>
        </p:nvSpPr>
        <p:spPr>
          <a:xfrm>
            <a:off x="3691600" y="35796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2, 3, 6, 12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3"/>
          <p:cNvSpPr txBox="1"/>
          <p:nvPr/>
        </p:nvSpPr>
        <p:spPr>
          <a:xfrm>
            <a:off x="3691600" y="43040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25" name="Google Shape;1025;p73"/>
          <p:cNvCxnSpPr/>
          <p:nvPr/>
        </p:nvCxnSpPr>
        <p:spPr>
          <a:xfrm flipH="1" rot="10800000">
            <a:off x="1913400" y="37907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73"/>
          <p:cNvCxnSpPr/>
          <p:nvPr/>
        </p:nvCxnSpPr>
        <p:spPr>
          <a:xfrm>
            <a:off x="1913400" y="40966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73"/>
          <p:cNvSpPr txBox="1"/>
          <p:nvPr/>
        </p:nvSpPr>
        <p:spPr>
          <a:xfrm>
            <a:off x="3001689" y="3596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3"/>
          <p:cNvSpPr txBox="1"/>
          <p:nvPr/>
        </p:nvSpPr>
        <p:spPr>
          <a:xfrm>
            <a:off x="3001698" y="41682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3"/>
          <p:cNvSpPr/>
          <p:nvPr/>
        </p:nvSpPr>
        <p:spPr>
          <a:xfrm>
            <a:off x="3616400" y="2307675"/>
            <a:ext cx="4794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73"/>
          <p:cNvSpPr/>
          <p:nvPr/>
        </p:nvSpPr>
        <p:spPr>
          <a:xfrm>
            <a:off x="3651775" y="3590325"/>
            <a:ext cx="11106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73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73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73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3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73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3"/>
          <p:cNvSpPr txBox="1"/>
          <p:nvPr/>
        </p:nvSpPr>
        <p:spPr>
          <a:xfrm>
            <a:off x="324000" y="732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{square number}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3"/>
          <p:cNvSpPr txBox="1"/>
          <p:nvPr/>
        </p:nvSpPr>
        <p:spPr>
          <a:xfrm>
            <a:off x="324000" y="1494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043" name="Google Shape;1043;p74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4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4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4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4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4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4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4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4"/>
          <p:cNvSpPr txBox="1"/>
          <p:nvPr/>
        </p:nvSpPr>
        <p:spPr>
          <a:xfrm>
            <a:off x="7092293" y="186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4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4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74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4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74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4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4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4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4"/>
          <p:cNvSpPr txBox="1"/>
          <p:nvPr/>
        </p:nvSpPr>
        <p:spPr>
          <a:xfrm>
            <a:off x="7295878" y="2579125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1" name="Google Shape;1061;p74"/>
          <p:cNvCxnSpPr/>
          <p:nvPr/>
        </p:nvCxnSpPr>
        <p:spPr>
          <a:xfrm flipH="1" rot="10800000">
            <a:off x="385025" y="28748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2" name="Google Shape;1062;p74"/>
          <p:cNvCxnSpPr/>
          <p:nvPr/>
        </p:nvCxnSpPr>
        <p:spPr>
          <a:xfrm>
            <a:off x="385025" y="3477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3" name="Google Shape;1063;p74"/>
          <p:cNvCxnSpPr/>
          <p:nvPr/>
        </p:nvCxnSpPr>
        <p:spPr>
          <a:xfrm flipH="1" rot="10800000">
            <a:off x="1913400" y="2495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4" name="Google Shape;1064;p74"/>
          <p:cNvCxnSpPr/>
          <p:nvPr/>
        </p:nvCxnSpPr>
        <p:spPr>
          <a:xfrm>
            <a:off x="1913400" y="2801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5" name="Google Shape;1065;p74"/>
          <p:cNvSpPr txBox="1"/>
          <p:nvPr/>
        </p:nvSpPr>
        <p:spPr>
          <a:xfrm>
            <a:off x="1354802" y="2700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4"/>
          <p:cNvSpPr txBox="1"/>
          <p:nvPr/>
        </p:nvSpPr>
        <p:spPr>
          <a:xfrm>
            <a:off x="1202400" y="39557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4"/>
          <p:cNvSpPr txBox="1"/>
          <p:nvPr/>
        </p:nvSpPr>
        <p:spPr>
          <a:xfrm>
            <a:off x="3077889" y="2300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4"/>
          <p:cNvSpPr txBox="1"/>
          <p:nvPr/>
        </p:nvSpPr>
        <p:spPr>
          <a:xfrm>
            <a:off x="3077898" y="28728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4"/>
          <p:cNvSpPr txBox="1"/>
          <p:nvPr/>
        </p:nvSpPr>
        <p:spPr>
          <a:xfrm>
            <a:off x="1126201" y="3004800"/>
            <a:ext cx="7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4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2, 3, 5, 6, 7, 8, 10, 11, 12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4"/>
          <p:cNvSpPr txBox="1"/>
          <p:nvPr/>
        </p:nvSpPr>
        <p:spPr>
          <a:xfrm>
            <a:off x="3651775" y="2300825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4"/>
          <p:cNvSpPr txBox="1"/>
          <p:nvPr/>
        </p:nvSpPr>
        <p:spPr>
          <a:xfrm>
            <a:off x="3733975" y="29489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4"/>
          <p:cNvSpPr txBox="1"/>
          <p:nvPr/>
        </p:nvSpPr>
        <p:spPr>
          <a:xfrm>
            <a:off x="3691600" y="35796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2, 3, 6, 12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4"/>
          <p:cNvSpPr/>
          <p:nvPr/>
        </p:nvSpPr>
        <p:spPr>
          <a:xfrm>
            <a:off x="7960700" y="1737800"/>
            <a:ext cx="345900" cy="1743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4"/>
          <p:cNvSpPr txBox="1"/>
          <p:nvPr/>
        </p:nvSpPr>
        <p:spPr>
          <a:xfrm>
            <a:off x="3691600" y="43040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6" name="Google Shape;1076;p74"/>
          <p:cNvCxnSpPr/>
          <p:nvPr/>
        </p:nvCxnSpPr>
        <p:spPr>
          <a:xfrm flipH="1" rot="10800000">
            <a:off x="1913400" y="37907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74"/>
          <p:cNvCxnSpPr/>
          <p:nvPr/>
        </p:nvCxnSpPr>
        <p:spPr>
          <a:xfrm>
            <a:off x="1913400" y="40966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8" name="Google Shape;1078;p74"/>
          <p:cNvSpPr txBox="1"/>
          <p:nvPr/>
        </p:nvSpPr>
        <p:spPr>
          <a:xfrm>
            <a:off x="3001689" y="3596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4"/>
          <p:cNvSpPr txBox="1"/>
          <p:nvPr/>
        </p:nvSpPr>
        <p:spPr>
          <a:xfrm>
            <a:off x="3001698" y="41682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4"/>
          <p:cNvSpPr/>
          <p:nvPr/>
        </p:nvSpPr>
        <p:spPr>
          <a:xfrm>
            <a:off x="3651400" y="4306650"/>
            <a:ext cx="14268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4"/>
          <p:cNvSpPr txBox="1"/>
          <p:nvPr/>
        </p:nvSpPr>
        <p:spPr>
          <a:xfrm>
            <a:off x="324000" y="732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{square number}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4"/>
          <p:cNvSpPr txBox="1"/>
          <p:nvPr/>
        </p:nvSpPr>
        <p:spPr>
          <a:xfrm>
            <a:off x="324000" y="1494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088" name="Google Shape;1088;p75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5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5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75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75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5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75"/>
          <p:cNvSpPr txBox="1"/>
          <p:nvPr/>
        </p:nvSpPr>
        <p:spPr>
          <a:xfrm>
            <a:off x="6512406" y="1957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5"/>
          <p:cNvSpPr txBox="1"/>
          <p:nvPr/>
        </p:nvSpPr>
        <p:spPr>
          <a:xfrm>
            <a:off x="7425293" y="2170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75"/>
          <p:cNvSpPr txBox="1"/>
          <p:nvPr/>
        </p:nvSpPr>
        <p:spPr>
          <a:xfrm>
            <a:off x="7092293" y="186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75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75"/>
          <p:cNvSpPr txBox="1"/>
          <p:nvPr/>
        </p:nvSpPr>
        <p:spPr>
          <a:xfrm>
            <a:off x="6526844" y="241935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75"/>
          <p:cNvSpPr txBox="1"/>
          <p:nvPr/>
        </p:nvSpPr>
        <p:spPr>
          <a:xfrm>
            <a:off x="6982981" y="2758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75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75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75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75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75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5"/>
          <p:cNvSpPr txBox="1"/>
          <p:nvPr/>
        </p:nvSpPr>
        <p:spPr>
          <a:xfrm>
            <a:off x="7295878" y="2579125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6" name="Google Shape;1106;p75"/>
          <p:cNvCxnSpPr/>
          <p:nvPr/>
        </p:nvCxnSpPr>
        <p:spPr>
          <a:xfrm flipH="1" rot="10800000">
            <a:off x="385025" y="28748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7" name="Google Shape;1107;p75"/>
          <p:cNvCxnSpPr/>
          <p:nvPr/>
        </p:nvCxnSpPr>
        <p:spPr>
          <a:xfrm>
            <a:off x="385025" y="3477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8" name="Google Shape;1108;p75"/>
          <p:cNvCxnSpPr/>
          <p:nvPr/>
        </p:nvCxnSpPr>
        <p:spPr>
          <a:xfrm flipH="1" rot="10800000">
            <a:off x="1913400" y="2495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9" name="Google Shape;1109;p75"/>
          <p:cNvCxnSpPr/>
          <p:nvPr/>
        </p:nvCxnSpPr>
        <p:spPr>
          <a:xfrm>
            <a:off x="1913400" y="2801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75"/>
          <p:cNvSpPr txBox="1"/>
          <p:nvPr/>
        </p:nvSpPr>
        <p:spPr>
          <a:xfrm>
            <a:off x="1354802" y="2700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75"/>
          <p:cNvSpPr txBox="1"/>
          <p:nvPr/>
        </p:nvSpPr>
        <p:spPr>
          <a:xfrm>
            <a:off x="1202400" y="39557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2" name="Google Shape;1112;p75"/>
          <p:cNvSpPr txBox="1"/>
          <p:nvPr/>
        </p:nvSpPr>
        <p:spPr>
          <a:xfrm>
            <a:off x="3077889" y="2300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5"/>
          <p:cNvSpPr txBox="1"/>
          <p:nvPr/>
        </p:nvSpPr>
        <p:spPr>
          <a:xfrm>
            <a:off x="3077898" y="28728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5"/>
          <p:cNvSpPr txBox="1"/>
          <p:nvPr/>
        </p:nvSpPr>
        <p:spPr>
          <a:xfrm>
            <a:off x="1126201" y="3004800"/>
            <a:ext cx="79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75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2, 3, 5, 6, 7, 8, 10, 11, 12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5"/>
          <p:cNvSpPr txBox="1"/>
          <p:nvPr/>
        </p:nvSpPr>
        <p:spPr>
          <a:xfrm>
            <a:off x="3651775" y="2300825"/>
            <a:ext cx="479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75"/>
          <p:cNvSpPr txBox="1"/>
          <p:nvPr/>
        </p:nvSpPr>
        <p:spPr>
          <a:xfrm>
            <a:off x="3733975" y="29489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75"/>
          <p:cNvSpPr txBox="1"/>
          <p:nvPr/>
        </p:nvSpPr>
        <p:spPr>
          <a:xfrm>
            <a:off x="3691600" y="35796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2, 3, 6, 12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5"/>
          <p:cNvSpPr/>
          <p:nvPr/>
        </p:nvSpPr>
        <p:spPr>
          <a:xfrm>
            <a:off x="5605300" y="2025300"/>
            <a:ext cx="345900" cy="30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5"/>
          <p:cNvSpPr txBox="1"/>
          <p:nvPr/>
        </p:nvSpPr>
        <p:spPr>
          <a:xfrm>
            <a:off x="3691600" y="43040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1" name="Google Shape;1121;p75"/>
          <p:cNvCxnSpPr/>
          <p:nvPr/>
        </p:nvCxnSpPr>
        <p:spPr>
          <a:xfrm flipH="1" rot="10800000">
            <a:off x="1913400" y="37907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2" name="Google Shape;1122;p75"/>
          <p:cNvCxnSpPr/>
          <p:nvPr/>
        </p:nvCxnSpPr>
        <p:spPr>
          <a:xfrm>
            <a:off x="1913400" y="40966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3" name="Google Shape;1123;p75"/>
          <p:cNvSpPr txBox="1"/>
          <p:nvPr/>
        </p:nvSpPr>
        <p:spPr>
          <a:xfrm>
            <a:off x="3001689" y="3596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5"/>
          <p:cNvSpPr txBox="1"/>
          <p:nvPr/>
        </p:nvSpPr>
        <p:spPr>
          <a:xfrm>
            <a:off x="3001698" y="41682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75"/>
          <p:cNvSpPr/>
          <p:nvPr/>
        </p:nvSpPr>
        <p:spPr>
          <a:xfrm>
            <a:off x="3671500" y="2940250"/>
            <a:ext cx="250800" cy="27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5"/>
          <p:cNvSpPr txBox="1"/>
          <p:nvPr/>
        </p:nvSpPr>
        <p:spPr>
          <a:xfrm>
            <a:off x="324000" y="732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{square number}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75"/>
          <p:cNvSpPr txBox="1"/>
          <p:nvPr/>
        </p:nvSpPr>
        <p:spPr>
          <a:xfrm>
            <a:off x="324000" y="1494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6"/>
          <p:cNvSpPr txBox="1"/>
          <p:nvPr>
            <p:ph idx="1" type="body"/>
          </p:nvPr>
        </p:nvSpPr>
        <p:spPr>
          <a:xfrm>
            <a:off x="324000" y="759300"/>
            <a:ext cx="823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Use the outcome tree to complete the </a:t>
            </a:r>
            <a:r>
              <a:rPr b="1" lang="en-GB" sz="1800"/>
              <a:t>Venn diagram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33" name="Google Shape;113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134" name="Google Shape;1134;p76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{multiple of 3}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76"/>
          <p:cNvSpPr txBox="1"/>
          <p:nvPr/>
        </p:nvSpPr>
        <p:spPr>
          <a:xfrm>
            <a:off x="324000" y="18757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12}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36" name="Google Shape;1136;p76"/>
          <p:cNvCxnSpPr/>
          <p:nvPr/>
        </p:nvCxnSpPr>
        <p:spPr>
          <a:xfrm flipH="1" rot="10800000">
            <a:off x="385025" y="28748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76"/>
          <p:cNvCxnSpPr/>
          <p:nvPr/>
        </p:nvCxnSpPr>
        <p:spPr>
          <a:xfrm>
            <a:off x="385025" y="3477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8" name="Google Shape;1138;p76"/>
          <p:cNvCxnSpPr/>
          <p:nvPr/>
        </p:nvCxnSpPr>
        <p:spPr>
          <a:xfrm flipH="1" rot="10800000">
            <a:off x="1913400" y="24953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" name="Google Shape;1139;p76"/>
          <p:cNvCxnSpPr/>
          <p:nvPr/>
        </p:nvCxnSpPr>
        <p:spPr>
          <a:xfrm>
            <a:off x="1913400" y="28012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76"/>
          <p:cNvSpPr txBox="1"/>
          <p:nvPr/>
        </p:nvSpPr>
        <p:spPr>
          <a:xfrm>
            <a:off x="1354802" y="27000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76"/>
          <p:cNvSpPr txBox="1"/>
          <p:nvPr/>
        </p:nvSpPr>
        <p:spPr>
          <a:xfrm>
            <a:off x="1202400" y="39557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2" name="Google Shape;1142;p76"/>
          <p:cNvSpPr txBox="1"/>
          <p:nvPr/>
        </p:nvSpPr>
        <p:spPr>
          <a:xfrm>
            <a:off x="3077889" y="23008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76"/>
          <p:cNvSpPr txBox="1"/>
          <p:nvPr/>
        </p:nvSpPr>
        <p:spPr>
          <a:xfrm>
            <a:off x="3077898" y="28728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76"/>
          <p:cNvSpPr txBox="1"/>
          <p:nvPr/>
        </p:nvSpPr>
        <p:spPr>
          <a:xfrm>
            <a:off x="1126200" y="3004800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3, 6, 9, 12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76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1, 2, 4, 5, 7, 8, 10, 11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76"/>
          <p:cNvSpPr txBox="1"/>
          <p:nvPr/>
        </p:nvSpPr>
        <p:spPr>
          <a:xfrm>
            <a:off x="3651775" y="2300825"/>
            <a:ext cx="83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3, 6, 12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76"/>
          <p:cNvSpPr txBox="1"/>
          <p:nvPr/>
        </p:nvSpPr>
        <p:spPr>
          <a:xfrm>
            <a:off x="3733975" y="2948988"/>
            <a:ext cx="31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76"/>
          <p:cNvSpPr txBox="1"/>
          <p:nvPr/>
        </p:nvSpPr>
        <p:spPr>
          <a:xfrm>
            <a:off x="3691600" y="35796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76"/>
          <p:cNvSpPr txBox="1"/>
          <p:nvPr/>
        </p:nvSpPr>
        <p:spPr>
          <a:xfrm>
            <a:off x="3691600" y="43040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5, 7, 8, 10, 11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0" name="Google Shape;1150;p76"/>
          <p:cNvCxnSpPr/>
          <p:nvPr/>
        </p:nvCxnSpPr>
        <p:spPr>
          <a:xfrm flipH="1" rot="10800000">
            <a:off x="1913400" y="37907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1" name="Google Shape;1151;p76"/>
          <p:cNvCxnSpPr/>
          <p:nvPr/>
        </p:nvCxnSpPr>
        <p:spPr>
          <a:xfrm>
            <a:off x="1913400" y="40966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2" name="Google Shape;1152;p76"/>
          <p:cNvSpPr txBox="1"/>
          <p:nvPr/>
        </p:nvSpPr>
        <p:spPr>
          <a:xfrm>
            <a:off x="3001689" y="3596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76"/>
          <p:cNvSpPr txBox="1"/>
          <p:nvPr/>
        </p:nvSpPr>
        <p:spPr>
          <a:xfrm>
            <a:off x="3001698" y="41682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76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76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10, 11, 12}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76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76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76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76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76"/>
          <p:cNvSpPr txBox="1"/>
          <p:nvPr/>
        </p:nvSpPr>
        <p:spPr>
          <a:xfrm>
            <a:off x="7208406" y="2699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76"/>
          <p:cNvSpPr txBox="1"/>
          <p:nvPr/>
        </p:nvSpPr>
        <p:spPr>
          <a:xfrm>
            <a:off x="6526843" y="19508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76"/>
          <p:cNvSpPr txBox="1"/>
          <p:nvPr/>
        </p:nvSpPr>
        <p:spPr>
          <a:xfrm>
            <a:off x="7092293" y="186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76"/>
          <p:cNvSpPr txBox="1"/>
          <p:nvPr/>
        </p:nvSpPr>
        <p:spPr>
          <a:xfrm>
            <a:off x="8104400" y="1733300"/>
            <a:ext cx="202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76"/>
          <p:cNvSpPr txBox="1"/>
          <p:nvPr/>
        </p:nvSpPr>
        <p:spPr>
          <a:xfrm>
            <a:off x="7315619" y="21835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76"/>
          <p:cNvSpPr txBox="1"/>
          <p:nvPr/>
        </p:nvSpPr>
        <p:spPr>
          <a:xfrm>
            <a:off x="6526856" y="23008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76"/>
          <p:cNvSpPr txBox="1"/>
          <p:nvPr/>
        </p:nvSpPr>
        <p:spPr>
          <a:xfrm>
            <a:off x="8080093" y="2470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76"/>
          <p:cNvSpPr txBox="1"/>
          <p:nvPr/>
        </p:nvSpPr>
        <p:spPr>
          <a:xfrm>
            <a:off x="8104393" y="21072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76"/>
          <p:cNvSpPr txBox="1"/>
          <p:nvPr/>
        </p:nvSpPr>
        <p:spPr>
          <a:xfrm>
            <a:off x="8016775" y="283985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76"/>
          <p:cNvSpPr txBox="1"/>
          <p:nvPr/>
        </p:nvSpPr>
        <p:spPr>
          <a:xfrm>
            <a:off x="5695844" y="20311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76"/>
          <p:cNvSpPr txBox="1"/>
          <p:nvPr/>
        </p:nvSpPr>
        <p:spPr>
          <a:xfrm>
            <a:off x="8016778" y="3208700"/>
            <a:ext cx="34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76"/>
          <p:cNvSpPr txBox="1"/>
          <p:nvPr/>
        </p:nvSpPr>
        <p:spPr>
          <a:xfrm>
            <a:off x="6479303" y="2650800"/>
            <a:ext cx="34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177" name="Google Shape;1177;p77"/>
          <p:cNvSpPr txBox="1"/>
          <p:nvPr/>
        </p:nvSpPr>
        <p:spPr>
          <a:xfrm>
            <a:off x="324000" y="759300"/>
            <a:ext cx="84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going to be used to represent the sample space of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spinner.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77"/>
          <p:cNvSpPr txBox="1"/>
          <p:nvPr/>
        </p:nvSpPr>
        <p:spPr>
          <a:xfrm>
            <a:off x="324000" y="17995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{factors of 3}  and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77"/>
          <p:cNvSpPr txBox="1"/>
          <p:nvPr/>
        </p:nvSpPr>
        <p:spPr>
          <a:xfrm>
            <a:off x="324000" y="21043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{multiples of 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77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77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77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77"/>
          <p:cNvSpPr txBox="1"/>
          <p:nvPr/>
        </p:nvSpPr>
        <p:spPr>
          <a:xfrm>
            <a:off x="5695850" y="20311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77"/>
          <p:cNvSpPr txBox="1"/>
          <p:nvPr/>
        </p:nvSpPr>
        <p:spPr>
          <a:xfrm>
            <a:off x="297150" y="2984538"/>
            <a:ext cx="474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common outcomes are there between event A and event B?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77"/>
          <p:cNvSpPr txBox="1"/>
          <p:nvPr/>
        </p:nvSpPr>
        <p:spPr>
          <a:xfrm>
            <a:off x="737375" y="3626100"/>
            <a:ext cx="325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no common outcomes as the intersection is empty.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6" name="Google Shape;1186;p77"/>
          <p:cNvSpPr txBox="1"/>
          <p:nvPr/>
        </p:nvSpPr>
        <p:spPr>
          <a:xfrm>
            <a:off x="324000" y="1494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two events 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77"/>
          <p:cNvSpPr/>
          <p:nvPr/>
        </p:nvSpPr>
        <p:spPr>
          <a:xfrm>
            <a:off x="3195712" y="1321211"/>
            <a:ext cx="1179000" cy="1179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77"/>
          <p:cNvSpPr txBox="1"/>
          <p:nvPr/>
        </p:nvSpPr>
        <p:spPr>
          <a:xfrm>
            <a:off x="3353089" y="1976149"/>
            <a:ext cx="39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77"/>
          <p:cNvSpPr/>
          <p:nvPr/>
        </p:nvSpPr>
        <p:spPr>
          <a:xfrm rot="3055103">
            <a:off x="3206201" y="1331419"/>
            <a:ext cx="1158263" cy="115826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77"/>
          <p:cNvSpPr txBox="1"/>
          <p:nvPr/>
        </p:nvSpPr>
        <p:spPr>
          <a:xfrm>
            <a:off x="3353089" y="1499379"/>
            <a:ext cx="397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7"/>
          <p:cNvSpPr txBox="1"/>
          <p:nvPr/>
        </p:nvSpPr>
        <p:spPr>
          <a:xfrm>
            <a:off x="3821692" y="1369495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77"/>
          <p:cNvSpPr txBox="1"/>
          <p:nvPr/>
        </p:nvSpPr>
        <p:spPr>
          <a:xfrm>
            <a:off x="3861112" y="1976149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77"/>
          <p:cNvSpPr/>
          <p:nvPr/>
        </p:nvSpPr>
        <p:spPr>
          <a:xfrm rot="6174806">
            <a:off x="3206178" y="1331617"/>
            <a:ext cx="1158500" cy="1158500"/>
          </a:xfrm>
          <a:prstGeom prst="pie">
            <a:avLst>
              <a:gd fmla="val 13145506" name="adj1"/>
              <a:gd fmla="val 16225322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77"/>
          <p:cNvSpPr/>
          <p:nvPr/>
        </p:nvSpPr>
        <p:spPr>
          <a:xfrm rot="9204902">
            <a:off x="3206265" y="1331637"/>
            <a:ext cx="1158373" cy="1158373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accent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77"/>
          <p:cNvSpPr/>
          <p:nvPr/>
        </p:nvSpPr>
        <p:spPr>
          <a:xfrm rot="-9367403">
            <a:off x="3206180" y="1331625"/>
            <a:ext cx="1158440" cy="1158440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accent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77"/>
          <p:cNvSpPr/>
          <p:nvPr/>
        </p:nvSpPr>
        <p:spPr>
          <a:xfrm rot="-6355134">
            <a:off x="3206116" y="1331729"/>
            <a:ext cx="1158321" cy="1158321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77"/>
          <p:cNvSpPr/>
          <p:nvPr/>
        </p:nvSpPr>
        <p:spPr>
          <a:xfrm rot="-3302521">
            <a:off x="3206145" y="1331972"/>
            <a:ext cx="1158165" cy="1158165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77"/>
          <p:cNvSpPr/>
          <p:nvPr/>
        </p:nvSpPr>
        <p:spPr>
          <a:xfrm rot="-190642">
            <a:off x="3206032" y="1331980"/>
            <a:ext cx="1158281" cy="1158281"/>
          </a:xfrm>
          <a:prstGeom prst="pie">
            <a:avLst>
              <a:gd fmla="val 13196772" name="adj1"/>
              <a:gd fmla="val 16426072" name="adj2"/>
            </a:avLst>
          </a:prstGeom>
          <a:solidFill>
            <a:schemeClr val="accen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77"/>
          <p:cNvSpPr txBox="1"/>
          <p:nvPr/>
        </p:nvSpPr>
        <p:spPr>
          <a:xfrm>
            <a:off x="3937312" y="1958891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77"/>
          <p:cNvSpPr txBox="1"/>
          <p:nvPr/>
        </p:nvSpPr>
        <p:spPr>
          <a:xfrm>
            <a:off x="3346846" y="1956608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77"/>
          <p:cNvSpPr txBox="1"/>
          <p:nvPr/>
        </p:nvSpPr>
        <p:spPr>
          <a:xfrm>
            <a:off x="3485622" y="1374149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77"/>
          <p:cNvSpPr txBox="1"/>
          <p:nvPr/>
        </p:nvSpPr>
        <p:spPr>
          <a:xfrm>
            <a:off x="3248931" y="1634866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77"/>
          <p:cNvSpPr txBox="1"/>
          <p:nvPr/>
        </p:nvSpPr>
        <p:spPr>
          <a:xfrm>
            <a:off x="3990576" y="1620617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77"/>
          <p:cNvSpPr txBox="1"/>
          <p:nvPr/>
        </p:nvSpPr>
        <p:spPr>
          <a:xfrm>
            <a:off x="3619754" y="2097387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5" name="Google Shape;1205;p77"/>
          <p:cNvGrpSpPr/>
          <p:nvPr/>
        </p:nvGrpSpPr>
        <p:grpSpPr>
          <a:xfrm>
            <a:off x="3751391" y="1360069"/>
            <a:ext cx="65279" cy="567946"/>
            <a:chOff x="996050" y="213293"/>
            <a:chExt cx="93900" cy="909732"/>
          </a:xfrm>
        </p:grpSpPr>
        <p:cxnSp>
          <p:nvCxnSpPr>
            <p:cNvPr id="1206" name="Google Shape;1206;p77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07" name="Google Shape;1207;p77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8" name="Google Shape;1208;p77"/>
          <p:cNvSpPr txBox="1"/>
          <p:nvPr/>
        </p:nvSpPr>
        <p:spPr>
          <a:xfrm>
            <a:off x="5774400" y="256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77"/>
          <p:cNvSpPr txBox="1"/>
          <p:nvPr/>
        </p:nvSpPr>
        <p:spPr>
          <a:xfrm>
            <a:off x="7146000" y="20280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77"/>
          <p:cNvSpPr txBox="1"/>
          <p:nvPr/>
        </p:nvSpPr>
        <p:spPr>
          <a:xfrm>
            <a:off x="7190000" y="2687975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77"/>
          <p:cNvSpPr txBox="1"/>
          <p:nvPr/>
        </p:nvSpPr>
        <p:spPr>
          <a:xfrm>
            <a:off x="7536000" y="23626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2" name="Google Shape;1212;p77"/>
          <p:cNvSpPr txBox="1"/>
          <p:nvPr/>
        </p:nvSpPr>
        <p:spPr>
          <a:xfrm>
            <a:off x="7923000" y="310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7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77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77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7"/>
          <p:cNvSpPr txBox="1"/>
          <p:nvPr/>
        </p:nvSpPr>
        <p:spPr>
          <a:xfrm>
            <a:off x="5045550" y="31681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222" name="Google Shape;1222;p78"/>
          <p:cNvSpPr txBox="1"/>
          <p:nvPr/>
        </p:nvSpPr>
        <p:spPr>
          <a:xfrm>
            <a:off x="324000" y="759300"/>
            <a:ext cx="84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going to be used to represent the sample space of this spinner.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78"/>
          <p:cNvSpPr txBox="1"/>
          <p:nvPr/>
        </p:nvSpPr>
        <p:spPr>
          <a:xfrm>
            <a:off x="324000" y="17995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{factors of 3}  and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78"/>
          <p:cNvSpPr txBox="1"/>
          <p:nvPr/>
        </p:nvSpPr>
        <p:spPr>
          <a:xfrm>
            <a:off x="324000" y="21043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{multiples of 2}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78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78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78"/>
          <p:cNvSpPr/>
          <p:nvPr/>
        </p:nvSpPr>
        <p:spPr>
          <a:xfrm>
            <a:off x="50098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78"/>
          <p:cNvSpPr txBox="1"/>
          <p:nvPr/>
        </p:nvSpPr>
        <p:spPr>
          <a:xfrm>
            <a:off x="51404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78"/>
          <p:cNvSpPr/>
          <p:nvPr/>
        </p:nvSpPr>
        <p:spPr>
          <a:xfrm>
            <a:off x="6686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78"/>
          <p:cNvSpPr txBox="1"/>
          <p:nvPr/>
        </p:nvSpPr>
        <p:spPr>
          <a:xfrm>
            <a:off x="79770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8"/>
          <p:cNvSpPr txBox="1"/>
          <p:nvPr/>
        </p:nvSpPr>
        <p:spPr>
          <a:xfrm>
            <a:off x="5695850" y="20311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8"/>
          <p:cNvSpPr txBox="1"/>
          <p:nvPr/>
        </p:nvSpPr>
        <p:spPr>
          <a:xfrm>
            <a:off x="297150" y="2984538"/>
            <a:ext cx="474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common outcomes are there between event A and event B?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78"/>
          <p:cNvSpPr txBox="1"/>
          <p:nvPr/>
        </p:nvSpPr>
        <p:spPr>
          <a:xfrm>
            <a:off x="324000" y="1494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two events 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78"/>
          <p:cNvSpPr/>
          <p:nvPr/>
        </p:nvSpPr>
        <p:spPr>
          <a:xfrm>
            <a:off x="3195712" y="1321211"/>
            <a:ext cx="1179000" cy="1179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78"/>
          <p:cNvSpPr txBox="1"/>
          <p:nvPr/>
        </p:nvSpPr>
        <p:spPr>
          <a:xfrm>
            <a:off x="3353089" y="1976149"/>
            <a:ext cx="397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78"/>
          <p:cNvSpPr/>
          <p:nvPr/>
        </p:nvSpPr>
        <p:spPr>
          <a:xfrm rot="3055103">
            <a:off x="3206201" y="1331419"/>
            <a:ext cx="1158263" cy="1158263"/>
          </a:xfrm>
          <a:prstGeom prst="pie">
            <a:avLst>
              <a:gd fmla="val 13196772" name="adj1"/>
              <a:gd fmla="val 16225322" name="adj2"/>
            </a:avLst>
          </a:prstGeom>
          <a:solidFill>
            <a:srgbClr val="037B7D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78"/>
          <p:cNvSpPr txBox="1"/>
          <p:nvPr/>
        </p:nvSpPr>
        <p:spPr>
          <a:xfrm>
            <a:off x="3353089" y="1499379"/>
            <a:ext cx="397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win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78"/>
          <p:cNvSpPr txBox="1"/>
          <p:nvPr/>
        </p:nvSpPr>
        <p:spPr>
          <a:xfrm>
            <a:off x="3821692" y="1369495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78"/>
          <p:cNvSpPr txBox="1"/>
          <p:nvPr/>
        </p:nvSpPr>
        <p:spPr>
          <a:xfrm>
            <a:off x="3861112" y="1976149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78"/>
          <p:cNvSpPr/>
          <p:nvPr/>
        </p:nvSpPr>
        <p:spPr>
          <a:xfrm rot="6174806">
            <a:off x="3206178" y="1331617"/>
            <a:ext cx="1158500" cy="1158500"/>
          </a:xfrm>
          <a:prstGeom prst="pie">
            <a:avLst>
              <a:gd fmla="val 13145506" name="adj1"/>
              <a:gd fmla="val 16225322" name="adj2"/>
            </a:avLst>
          </a:prstGeom>
          <a:solidFill>
            <a:schemeClr val="accen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78"/>
          <p:cNvSpPr/>
          <p:nvPr/>
        </p:nvSpPr>
        <p:spPr>
          <a:xfrm rot="9204902">
            <a:off x="3206265" y="1331637"/>
            <a:ext cx="1158373" cy="1158373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accent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78"/>
          <p:cNvSpPr/>
          <p:nvPr/>
        </p:nvSpPr>
        <p:spPr>
          <a:xfrm rot="-9367403">
            <a:off x="3206180" y="1331625"/>
            <a:ext cx="1158440" cy="1158440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accent6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78"/>
          <p:cNvSpPr/>
          <p:nvPr/>
        </p:nvSpPr>
        <p:spPr>
          <a:xfrm rot="-6355134">
            <a:off x="3206116" y="1331729"/>
            <a:ext cx="1158321" cy="1158321"/>
          </a:xfrm>
          <a:prstGeom prst="pie">
            <a:avLst>
              <a:gd fmla="val 13196772" name="adj1"/>
              <a:gd fmla="val 16225322" name="adj2"/>
            </a:avLst>
          </a:prstGeom>
          <a:solidFill>
            <a:schemeClr val="lt2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78"/>
          <p:cNvSpPr/>
          <p:nvPr/>
        </p:nvSpPr>
        <p:spPr>
          <a:xfrm rot="-3302521">
            <a:off x="3206145" y="1331972"/>
            <a:ext cx="1158165" cy="1158165"/>
          </a:xfrm>
          <a:prstGeom prst="pie">
            <a:avLst>
              <a:gd fmla="val 13196772" name="adj1"/>
              <a:gd fmla="val 16289109" name="adj2"/>
            </a:avLst>
          </a:prstGeom>
          <a:solidFill>
            <a:srgbClr val="845AD9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5" name="Google Shape;1245;p78"/>
          <p:cNvSpPr/>
          <p:nvPr/>
        </p:nvSpPr>
        <p:spPr>
          <a:xfrm rot="-190642">
            <a:off x="3206032" y="1331980"/>
            <a:ext cx="1158281" cy="1158281"/>
          </a:xfrm>
          <a:prstGeom prst="pie">
            <a:avLst>
              <a:gd fmla="val 13196772" name="adj1"/>
              <a:gd fmla="val 16426072" name="adj2"/>
            </a:avLst>
          </a:prstGeom>
          <a:solidFill>
            <a:schemeClr val="accen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78"/>
          <p:cNvSpPr txBox="1"/>
          <p:nvPr/>
        </p:nvSpPr>
        <p:spPr>
          <a:xfrm>
            <a:off x="3937312" y="1958891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7" name="Google Shape;1247;p78"/>
          <p:cNvSpPr txBox="1"/>
          <p:nvPr/>
        </p:nvSpPr>
        <p:spPr>
          <a:xfrm>
            <a:off x="3346846" y="1956608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78"/>
          <p:cNvSpPr txBox="1"/>
          <p:nvPr/>
        </p:nvSpPr>
        <p:spPr>
          <a:xfrm>
            <a:off x="3485622" y="1374149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78"/>
          <p:cNvSpPr txBox="1"/>
          <p:nvPr/>
        </p:nvSpPr>
        <p:spPr>
          <a:xfrm>
            <a:off x="3248931" y="1634866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78"/>
          <p:cNvSpPr txBox="1"/>
          <p:nvPr/>
        </p:nvSpPr>
        <p:spPr>
          <a:xfrm>
            <a:off x="3990576" y="1620617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78"/>
          <p:cNvSpPr txBox="1"/>
          <p:nvPr/>
        </p:nvSpPr>
        <p:spPr>
          <a:xfrm>
            <a:off x="3619754" y="2097387"/>
            <a:ext cx="43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2" name="Google Shape;1252;p78"/>
          <p:cNvGrpSpPr/>
          <p:nvPr/>
        </p:nvGrpSpPr>
        <p:grpSpPr>
          <a:xfrm>
            <a:off x="3751391" y="1360069"/>
            <a:ext cx="65279" cy="567946"/>
            <a:chOff x="996050" y="213293"/>
            <a:chExt cx="93900" cy="909732"/>
          </a:xfrm>
        </p:grpSpPr>
        <p:cxnSp>
          <p:nvCxnSpPr>
            <p:cNvPr id="1253" name="Google Shape;1253;p78"/>
            <p:cNvCxnSpPr/>
            <p:nvPr/>
          </p:nvCxnSpPr>
          <p:spPr>
            <a:xfrm rot="10800000">
              <a:off x="1046672" y="213293"/>
              <a:ext cx="0" cy="851400"/>
            </a:xfrm>
            <a:prstGeom prst="straightConnector1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54" name="Google Shape;1254;p78"/>
            <p:cNvSpPr/>
            <p:nvPr/>
          </p:nvSpPr>
          <p:spPr>
            <a:xfrm>
              <a:off x="996050" y="1029125"/>
              <a:ext cx="93900" cy="93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5" name="Google Shape;1255;p78"/>
          <p:cNvSpPr txBox="1"/>
          <p:nvPr/>
        </p:nvSpPr>
        <p:spPr>
          <a:xfrm>
            <a:off x="5774400" y="256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78"/>
          <p:cNvSpPr txBox="1"/>
          <p:nvPr/>
        </p:nvSpPr>
        <p:spPr>
          <a:xfrm>
            <a:off x="7146000" y="20280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7" name="Google Shape;1257;p78"/>
          <p:cNvSpPr txBox="1"/>
          <p:nvPr/>
        </p:nvSpPr>
        <p:spPr>
          <a:xfrm>
            <a:off x="7190000" y="2687975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8" name="Google Shape;1258;p78"/>
          <p:cNvSpPr txBox="1"/>
          <p:nvPr/>
        </p:nvSpPr>
        <p:spPr>
          <a:xfrm>
            <a:off x="7536000" y="23626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78"/>
          <p:cNvSpPr txBox="1"/>
          <p:nvPr/>
        </p:nvSpPr>
        <p:spPr>
          <a:xfrm>
            <a:off x="8075400" y="310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78"/>
          <p:cNvSpPr txBox="1"/>
          <p:nvPr/>
        </p:nvSpPr>
        <p:spPr>
          <a:xfrm>
            <a:off x="5353375" y="3963925"/>
            <a:ext cx="31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circles could therefore be drawn like this.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1" name="Google Shape;1261;p78"/>
          <p:cNvCxnSpPr/>
          <p:nvPr/>
        </p:nvCxnSpPr>
        <p:spPr>
          <a:xfrm rot="10800000">
            <a:off x="6768125" y="3594150"/>
            <a:ext cx="7800" cy="37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2" name="Google Shape;1262;p78"/>
          <p:cNvSpPr txBox="1"/>
          <p:nvPr/>
        </p:nvSpPr>
        <p:spPr>
          <a:xfrm>
            <a:off x="5045550" y="31681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78"/>
          <p:cNvSpPr txBox="1"/>
          <p:nvPr/>
        </p:nvSpPr>
        <p:spPr>
          <a:xfrm>
            <a:off x="737375" y="3626100"/>
            <a:ext cx="325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no common outcomes as the intersection is empty.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79"/>
          <p:cNvSpPr/>
          <p:nvPr/>
        </p:nvSpPr>
        <p:spPr>
          <a:xfrm>
            <a:off x="63052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79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79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272" name="Google Shape;1272;p79"/>
          <p:cNvSpPr txBox="1"/>
          <p:nvPr/>
        </p:nvSpPr>
        <p:spPr>
          <a:xfrm>
            <a:off x="324000" y="759300"/>
            <a:ext cx="84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going to be used to represent the sample space of this spinner.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79"/>
          <p:cNvSpPr txBox="1"/>
          <p:nvPr/>
        </p:nvSpPr>
        <p:spPr>
          <a:xfrm>
            <a:off x="324000" y="1799500"/>
            <a:ext cx="193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{even}  and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79"/>
          <p:cNvSpPr txBox="1"/>
          <p:nvPr/>
        </p:nvSpPr>
        <p:spPr>
          <a:xfrm>
            <a:off x="324000" y="2104300"/>
            <a:ext cx="241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{multiples of 4}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79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79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79"/>
          <p:cNvSpPr txBox="1"/>
          <p:nvPr/>
        </p:nvSpPr>
        <p:spPr>
          <a:xfrm>
            <a:off x="7672200" y="16496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79"/>
          <p:cNvSpPr txBox="1"/>
          <p:nvPr/>
        </p:nvSpPr>
        <p:spPr>
          <a:xfrm>
            <a:off x="5168950" y="310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79"/>
          <p:cNvSpPr txBox="1"/>
          <p:nvPr/>
        </p:nvSpPr>
        <p:spPr>
          <a:xfrm>
            <a:off x="297150" y="2984550"/>
            <a:ext cx="413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of the outcomes are only in event B?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79"/>
          <p:cNvSpPr txBox="1"/>
          <p:nvPr/>
        </p:nvSpPr>
        <p:spPr>
          <a:xfrm>
            <a:off x="737375" y="3626100"/>
            <a:ext cx="435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ll of the outcomes of event B are also outcomes of event A so there are no outcomes only in event B.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1" name="Google Shape;1281;p79"/>
          <p:cNvSpPr txBox="1"/>
          <p:nvPr/>
        </p:nvSpPr>
        <p:spPr>
          <a:xfrm>
            <a:off x="324000" y="1494700"/>
            <a:ext cx="268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two events 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79"/>
          <p:cNvSpPr txBox="1"/>
          <p:nvPr/>
        </p:nvSpPr>
        <p:spPr>
          <a:xfrm>
            <a:off x="6545975" y="318865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79"/>
          <p:cNvSpPr txBox="1"/>
          <p:nvPr/>
        </p:nvSpPr>
        <p:spPr>
          <a:xfrm>
            <a:off x="5764925" y="1928025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79"/>
          <p:cNvSpPr txBox="1"/>
          <p:nvPr/>
        </p:nvSpPr>
        <p:spPr>
          <a:xfrm>
            <a:off x="6508550" y="21196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79"/>
          <p:cNvSpPr txBox="1"/>
          <p:nvPr/>
        </p:nvSpPr>
        <p:spPr>
          <a:xfrm>
            <a:off x="5832350" y="256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79"/>
          <p:cNvSpPr txBox="1"/>
          <p:nvPr/>
        </p:nvSpPr>
        <p:spPr>
          <a:xfrm>
            <a:off x="7923000" y="310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7" name="Google Shape;1287;p79"/>
          <p:cNvSpPr txBox="1"/>
          <p:nvPr/>
        </p:nvSpPr>
        <p:spPr>
          <a:xfrm>
            <a:off x="8075400" y="2687975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79"/>
          <p:cNvSpPr txBox="1"/>
          <p:nvPr/>
        </p:nvSpPr>
        <p:spPr>
          <a:xfrm>
            <a:off x="6552200" y="256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89" name="Google Shape;1289;p79"/>
          <p:cNvGrpSpPr/>
          <p:nvPr/>
        </p:nvGrpSpPr>
        <p:grpSpPr>
          <a:xfrm>
            <a:off x="2988000" y="1105200"/>
            <a:ext cx="1629000" cy="1630699"/>
            <a:chOff x="3052866" y="1152101"/>
            <a:chExt cx="1629000" cy="1630699"/>
          </a:xfrm>
        </p:grpSpPr>
        <p:sp>
          <p:nvSpPr>
            <p:cNvPr id="1290" name="Google Shape;1290;p79"/>
            <p:cNvSpPr txBox="1"/>
            <p:nvPr/>
          </p:nvSpPr>
          <p:spPr>
            <a:xfrm>
              <a:off x="3353089" y="1976149"/>
              <a:ext cx="39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1" name="Google Shape;1291;p79"/>
            <p:cNvSpPr txBox="1"/>
            <p:nvPr/>
          </p:nvSpPr>
          <p:spPr>
            <a:xfrm>
              <a:off x="3353089" y="1499379"/>
              <a:ext cx="397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92" name="Google Shape;1292;p79"/>
            <p:cNvGrpSpPr/>
            <p:nvPr/>
          </p:nvGrpSpPr>
          <p:grpSpPr>
            <a:xfrm>
              <a:off x="3751391" y="1360069"/>
              <a:ext cx="65279" cy="567946"/>
              <a:chOff x="996050" y="213293"/>
              <a:chExt cx="93900" cy="909732"/>
            </a:xfrm>
          </p:grpSpPr>
          <p:cxnSp>
            <p:nvCxnSpPr>
              <p:cNvPr id="1293" name="Google Shape;1293;p79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94" name="Google Shape;1294;p79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5" name="Google Shape;1295;p79"/>
            <p:cNvGrpSpPr/>
            <p:nvPr/>
          </p:nvGrpSpPr>
          <p:grpSpPr>
            <a:xfrm>
              <a:off x="3052866" y="1152101"/>
              <a:ext cx="1629000" cy="1630699"/>
              <a:chOff x="3052866" y="1152101"/>
              <a:chExt cx="1629000" cy="1630699"/>
            </a:xfrm>
          </p:grpSpPr>
          <p:sp>
            <p:nvSpPr>
              <p:cNvPr id="1296" name="Google Shape;1296;p79"/>
              <p:cNvSpPr/>
              <p:nvPr/>
            </p:nvSpPr>
            <p:spPr>
              <a:xfrm rot="-190642">
                <a:off x="3289660" y="1389274"/>
                <a:ext cx="1158281" cy="1177201"/>
              </a:xfrm>
              <a:prstGeom prst="pie">
                <a:avLst>
                  <a:gd fmla="val 13746248" name="adj1"/>
                  <a:gd fmla="val 16374702" name="adj2"/>
                </a:avLst>
              </a:pr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79"/>
              <p:cNvSpPr/>
              <p:nvPr/>
            </p:nvSpPr>
            <p:spPr>
              <a:xfrm rot="-3302521">
                <a:off x="3287318" y="1397318"/>
                <a:ext cx="1158165" cy="1158165"/>
              </a:xfrm>
              <a:prstGeom prst="pie">
                <a:avLst>
                  <a:gd fmla="val 14107449" name="adj1"/>
                  <a:gd fmla="val 16830193" name="adj2"/>
                </a:avLst>
              </a:prstGeom>
              <a:solidFill>
                <a:srgbClr val="845AD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79"/>
              <p:cNvSpPr/>
              <p:nvPr/>
            </p:nvSpPr>
            <p:spPr>
              <a:xfrm rot="-6355134">
                <a:off x="3290240" y="1393040"/>
                <a:ext cx="1158321" cy="1158321"/>
              </a:xfrm>
              <a:prstGeom prst="pie">
                <a:avLst>
                  <a:gd fmla="val 14472816" name="adj1"/>
                  <a:gd fmla="val 17158300" name="adj2"/>
                </a:avLst>
              </a:pr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79"/>
              <p:cNvSpPr/>
              <p:nvPr/>
            </p:nvSpPr>
            <p:spPr>
              <a:xfrm rot="-9367403">
                <a:off x="3288080" y="1390880"/>
                <a:ext cx="1158440" cy="1158440"/>
              </a:xfrm>
              <a:prstGeom prst="pie">
                <a:avLst>
                  <a:gd fmla="val 14762398" name="adj1"/>
                  <a:gd fmla="val 17482518" name="adj2"/>
                </a:avLst>
              </a:pr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79"/>
              <p:cNvSpPr/>
              <p:nvPr/>
            </p:nvSpPr>
            <p:spPr>
              <a:xfrm rot="9204902">
                <a:off x="3290364" y="1393164"/>
                <a:ext cx="1158373" cy="1158373"/>
              </a:xfrm>
              <a:prstGeom prst="pie">
                <a:avLst>
                  <a:gd fmla="val 15105642" name="adj1"/>
                  <a:gd fmla="val 17802654" name="adj2"/>
                </a:avLst>
              </a:pr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79"/>
              <p:cNvSpPr/>
              <p:nvPr/>
            </p:nvSpPr>
            <p:spPr>
              <a:xfrm rot="6174806">
                <a:off x="3291825" y="1390574"/>
                <a:ext cx="1158500" cy="1155082"/>
              </a:xfrm>
              <a:prstGeom prst="pie">
                <a:avLst>
                  <a:gd fmla="val 15467257" name="adj1"/>
                  <a:gd fmla="val 18168522" name="adj2"/>
                </a:avLst>
              </a:pr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79"/>
              <p:cNvSpPr/>
              <p:nvPr/>
            </p:nvSpPr>
            <p:spPr>
              <a:xfrm rot="3059552">
                <a:off x="3288263" y="1387498"/>
                <a:ext cx="1158206" cy="1158206"/>
              </a:xfrm>
              <a:prstGeom prst="pie">
                <a:avLst>
                  <a:gd fmla="val 15871036" name="adj1"/>
                  <a:gd fmla="val 18578265" name="adj2"/>
                </a:avLst>
              </a:prstGeom>
              <a:solidFill>
                <a:srgbClr val="037B7D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79"/>
              <p:cNvSpPr/>
              <p:nvPr/>
            </p:nvSpPr>
            <p:spPr>
              <a:xfrm rot="3059552">
                <a:off x="3288263" y="1387498"/>
                <a:ext cx="1158206" cy="1158206"/>
              </a:xfrm>
              <a:prstGeom prst="pie">
                <a:avLst>
                  <a:gd fmla="val 13147739" name="adj1"/>
                  <a:gd fmla="val 15865375" name="adj2"/>
                </a:avLst>
              </a:prstGeom>
              <a:solidFill>
                <a:srgbClr val="71EEFD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04" name="Google Shape;1304;p79"/>
            <p:cNvSpPr/>
            <p:nvPr/>
          </p:nvSpPr>
          <p:spPr>
            <a:xfrm>
              <a:off x="3836526" y="19412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05" name="Google Shape;1305;p79"/>
            <p:cNvGrpSpPr/>
            <p:nvPr/>
          </p:nvGrpSpPr>
          <p:grpSpPr>
            <a:xfrm>
              <a:off x="3380200" y="1447827"/>
              <a:ext cx="968560" cy="1041457"/>
              <a:chOff x="3380200" y="2743227"/>
              <a:chExt cx="968560" cy="1041457"/>
            </a:xfrm>
          </p:grpSpPr>
          <p:sp>
            <p:nvSpPr>
              <p:cNvPr id="1306" name="Google Shape;1306;p79"/>
              <p:cNvSpPr txBox="1"/>
              <p:nvPr/>
            </p:nvSpPr>
            <p:spPr>
              <a:xfrm flipH="1">
                <a:off x="3897193" y="274322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7" name="Google Shape;1307;p79"/>
              <p:cNvSpPr txBox="1"/>
              <p:nvPr/>
            </p:nvSpPr>
            <p:spPr>
              <a:xfrm flipH="1">
                <a:off x="4067960" y="294715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8" name="Google Shape;1308;p79"/>
              <p:cNvSpPr txBox="1"/>
              <p:nvPr/>
            </p:nvSpPr>
            <p:spPr>
              <a:xfrm flipH="1">
                <a:off x="4067960" y="32421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09" name="Google Shape;1309;p79"/>
              <p:cNvSpPr txBox="1"/>
              <p:nvPr/>
            </p:nvSpPr>
            <p:spPr>
              <a:xfrm flipH="1">
                <a:off x="3864748" y="34639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0" name="Google Shape;1310;p79"/>
              <p:cNvSpPr txBox="1"/>
              <p:nvPr/>
            </p:nvSpPr>
            <p:spPr>
              <a:xfrm>
                <a:off x="3550968" y="274322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1" name="Google Shape;1311;p79"/>
              <p:cNvSpPr txBox="1"/>
              <p:nvPr/>
            </p:nvSpPr>
            <p:spPr>
              <a:xfrm>
                <a:off x="3380200" y="294715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2" name="Google Shape;1312;p79"/>
              <p:cNvSpPr txBox="1"/>
              <p:nvPr/>
            </p:nvSpPr>
            <p:spPr>
              <a:xfrm>
                <a:off x="3380200" y="32421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3" name="Google Shape;1313;p79"/>
              <p:cNvSpPr txBox="1"/>
              <p:nvPr/>
            </p:nvSpPr>
            <p:spPr>
              <a:xfrm>
                <a:off x="3583413" y="34639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14" name="Google Shape;1314;p79"/>
            <p:cNvGrpSpPr/>
            <p:nvPr/>
          </p:nvGrpSpPr>
          <p:grpSpPr>
            <a:xfrm>
              <a:off x="3827645" y="1406493"/>
              <a:ext cx="65279" cy="597694"/>
              <a:chOff x="996050" y="213293"/>
              <a:chExt cx="93900" cy="909732"/>
            </a:xfrm>
          </p:grpSpPr>
          <p:cxnSp>
            <p:nvCxnSpPr>
              <p:cNvPr id="1315" name="Google Shape;1315;p79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6" name="Google Shape;1316;p79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0"/>
          <p:cNvSpPr/>
          <p:nvPr/>
        </p:nvSpPr>
        <p:spPr>
          <a:xfrm>
            <a:off x="5314675" y="16980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80"/>
          <p:cNvSpPr/>
          <p:nvPr/>
        </p:nvSpPr>
        <p:spPr>
          <a:xfrm>
            <a:off x="4935200" y="14730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0"/>
          <p:cNvSpPr/>
          <p:nvPr/>
        </p:nvSpPr>
        <p:spPr>
          <a:xfrm>
            <a:off x="6084966" y="2097548"/>
            <a:ext cx="796200" cy="79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325" name="Google Shape;1325;p80"/>
          <p:cNvSpPr txBox="1"/>
          <p:nvPr/>
        </p:nvSpPr>
        <p:spPr>
          <a:xfrm>
            <a:off x="324000" y="759300"/>
            <a:ext cx="849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going to be used to represent the sample space of this spinner.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80"/>
          <p:cNvSpPr txBox="1"/>
          <p:nvPr/>
        </p:nvSpPr>
        <p:spPr>
          <a:xfrm>
            <a:off x="324000" y="1799500"/>
            <a:ext cx="20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{even}  and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0"/>
          <p:cNvSpPr txBox="1"/>
          <p:nvPr/>
        </p:nvSpPr>
        <p:spPr>
          <a:xfrm>
            <a:off x="324000" y="2104300"/>
            <a:ext cx="2269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{multiples of 4}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80"/>
          <p:cNvSpPr txBox="1"/>
          <p:nvPr/>
        </p:nvSpPr>
        <p:spPr>
          <a:xfrm>
            <a:off x="4935200" y="1128263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80"/>
          <p:cNvSpPr txBox="1"/>
          <p:nvPr/>
        </p:nvSpPr>
        <p:spPr>
          <a:xfrm>
            <a:off x="5369050" y="1649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80"/>
          <p:cNvSpPr txBox="1"/>
          <p:nvPr/>
        </p:nvSpPr>
        <p:spPr>
          <a:xfrm>
            <a:off x="6256800" y="18522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0"/>
          <p:cNvSpPr txBox="1"/>
          <p:nvPr/>
        </p:nvSpPr>
        <p:spPr>
          <a:xfrm>
            <a:off x="5168950" y="310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0"/>
          <p:cNvSpPr txBox="1"/>
          <p:nvPr/>
        </p:nvSpPr>
        <p:spPr>
          <a:xfrm>
            <a:off x="297150" y="2984550"/>
            <a:ext cx="4131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many of the outcomes are only in event B?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0"/>
          <p:cNvSpPr txBox="1"/>
          <p:nvPr/>
        </p:nvSpPr>
        <p:spPr>
          <a:xfrm>
            <a:off x="324000" y="1494700"/>
            <a:ext cx="2563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two events are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0"/>
          <p:cNvSpPr txBox="1"/>
          <p:nvPr/>
        </p:nvSpPr>
        <p:spPr>
          <a:xfrm>
            <a:off x="6545975" y="318865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80"/>
          <p:cNvSpPr txBox="1"/>
          <p:nvPr/>
        </p:nvSpPr>
        <p:spPr>
          <a:xfrm>
            <a:off x="5764925" y="1928025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80"/>
          <p:cNvSpPr txBox="1"/>
          <p:nvPr/>
        </p:nvSpPr>
        <p:spPr>
          <a:xfrm>
            <a:off x="6508550" y="21196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80"/>
          <p:cNvSpPr txBox="1"/>
          <p:nvPr/>
        </p:nvSpPr>
        <p:spPr>
          <a:xfrm>
            <a:off x="5832350" y="256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0"/>
          <p:cNvSpPr txBox="1"/>
          <p:nvPr/>
        </p:nvSpPr>
        <p:spPr>
          <a:xfrm>
            <a:off x="7923000" y="310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0"/>
          <p:cNvSpPr txBox="1"/>
          <p:nvPr/>
        </p:nvSpPr>
        <p:spPr>
          <a:xfrm>
            <a:off x="8075400" y="2687975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0"/>
          <p:cNvSpPr txBox="1"/>
          <p:nvPr/>
        </p:nvSpPr>
        <p:spPr>
          <a:xfrm>
            <a:off x="6552200" y="2561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80"/>
          <p:cNvSpPr txBox="1"/>
          <p:nvPr/>
        </p:nvSpPr>
        <p:spPr>
          <a:xfrm>
            <a:off x="5353375" y="3963925"/>
            <a:ext cx="314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circles could therefore be drawn like this.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2" name="Google Shape;1342;p80"/>
          <p:cNvCxnSpPr/>
          <p:nvPr/>
        </p:nvCxnSpPr>
        <p:spPr>
          <a:xfrm rot="10800000">
            <a:off x="6768125" y="3594150"/>
            <a:ext cx="7800" cy="37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80"/>
          <p:cNvSpPr txBox="1"/>
          <p:nvPr/>
        </p:nvSpPr>
        <p:spPr>
          <a:xfrm>
            <a:off x="737375" y="3626100"/>
            <a:ext cx="4359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of the outcomes of event B are also outcomes of event A so there are no outcomes only in event B.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44" name="Google Shape;1344;p80"/>
          <p:cNvGrpSpPr/>
          <p:nvPr/>
        </p:nvGrpSpPr>
        <p:grpSpPr>
          <a:xfrm>
            <a:off x="2988000" y="1105200"/>
            <a:ext cx="1629000" cy="1630699"/>
            <a:chOff x="3052866" y="1152101"/>
            <a:chExt cx="1629000" cy="1630699"/>
          </a:xfrm>
        </p:grpSpPr>
        <p:sp>
          <p:nvSpPr>
            <p:cNvPr id="1345" name="Google Shape;1345;p80"/>
            <p:cNvSpPr txBox="1"/>
            <p:nvPr/>
          </p:nvSpPr>
          <p:spPr>
            <a:xfrm>
              <a:off x="3353089" y="1976149"/>
              <a:ext cx="3975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6" name="Google Shape;1346;p80"/>
            <p:cNvSpPr txBox="1"/>
            <p:nvPr/>
          </p:nvSpPr>
          <p:spPr>
            <a:xfrm>
              <a:off x="3353089" y="1499379"/>
              <a:ext cx="3975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win</a:t>
              </a:r>
              <a:endParaRPr sz="1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47" name="Google Shape;1347;p80"/>
            <p:cNvGrpSpPr/>
            <p:nvPr/>
          </p:nvGrpSpPr>
          <p:grpSpPr>
            <a:xfrm>
              <a:off x="3751391" y="1360069"/>
              <a:ext cx="65279" cy="567946"/>
              <a:chOff x="996050" y="213293"/>
              <a:chExt cx="93900" cy="909732"/>
            </a:xfrm>
          </p:grpSpPr>
          <p:cxnSp>
            <p:nvCxnSpPr>
              <p:cNvPr id="1348" name="Google Shape;1348;p8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49" name="Google Shape;1349;p8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0" name="Google Shape;1350;p80"/>
            <p:cNvGrpSpPr/>
            <p:nvPr/>
          </p:nvGrpSpPr>
          <p:grpSpPr>
            <a:xfrm>
              <a:off x="3052866" y="1152101"/>
              <a:ext cx="1629000" cy="1630699"/>
              <a:chOff x="3052866" y="1152101"/>
              <a:chExt cx="1629000" cy="1630699"/>
            </a:xfrm>
          </p:grpSpPr>
          <p:sp>
            <p:nvSpPr>
              <p:cNvPr id="1351" name="Google Shape;1351;p80"/>
              <p:cNvSpPr/>
              <p:nvPr/>
            </p:nvSpPr>
            <p:spPr>
              <a:xfrm rot="-190642">
                <a:off x="3289660" y="1389274"/>
                <a:ext cx="1158281" cy="1177201"/>
              </a:xfrm>
              <a:prstGeom prst="pie">
                <a:avLst>
                  <a:gd fmla="val 13746248" name="adj1"/>
                  <a:gd fmla="val 16374702" name="adj2"/>
                </a:avLst>
              </a:pr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80"/>
              <p:cNvSpPr/>
              <p:nvPr/>
            </p:nvSpPr>
            <p:spPr>
              <a:xfrm rot="-3302521">
                <a:off x="3287318" y="1397318"/>
                <a:ext cx="1158165" cy="1158165"/>
              </a:xfrm>
              <a:prstGeom prst="pie">
                <a:avLst>
                  <a:gd fmla="val 14107449" name="adj1"/>
                  <a:gd fmla="val 16830193" name="adj2"/>
                </a:avLst>
              </a:prstGeom>
              <a:solidFill>
                <a:srgbClr val="845AD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80"/>
              <p:cNvSpPr/>
              <p:nvPr/>
            </p:nvSpPr>
            <p:spPr>
              <a:xfrm rot="-6355134">
                <a:off x="3290240" y="1393040"/>
                <a:ext cx="1158321" cy="1158321"/>
              </a:xfrm>
              <a:prstGeom prst="pie">
                <a:avLst>
                  <a:gd fmla="val 14472816" name="adj1"/>
                  <a:gd fmla="val 17158300" name="adj2"/>
                </a:avLst>
              </a:pr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80"/>
              <p:cNvSpPr/>
              <p:nvPr/>
            </p:nvSpPr>
            <p:spPr>
              <a:xfrm rot="-9367403">
                <a:off x="3288080" y="1390880"/>
                <a:ext cx="1158440" cy="1158440"/>
              </a:xfrm>
              <a:prstGeom prst="pie">
                <a:avLst>
                  <a:gd fmla="val 14762398" name="adj1"/>
                  <a:gd fmla="val 17482518" name="adj2"/>
                </a:avLst>
              </a:pr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80"/>
              <p:cNvSpPr/>
              <p:nvPr/>
            </p:nvSpPr>
            <p:spPr>
              <a:xfrm rot="9204902">
                <a:off x="3290364" y="1393164"/>
                <a:ext cx="1158373" cy="1158373"/>
              </a:xfrm>
              <a:prstGeom prst="pie">
                <a:avLst>
                  <a:gd fmla="val 15105642" name="adj1"/>
                  <a:gd fmla="val 17802654" name="adj2"/>
                </a:avLst>
              </a:pr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80"/>
              <p:cNvSpPr/>
              <p:nvPr/>
            </p:nvSpPr>
            <p:spPr>
              <a:xfrm rot="6174806">
                <a:off x="3291825" y="1390574"/>
                <a:ext cx="1158500" cy="1155082"/>
              </a:xfrm>
              <a:prstGeom prst="pie">
                <a:avLst>
                  <a:gd fmla="val 15467257" name="adj1"/>
                  <a:gd fmla="val 18168522" name="adj2"/>
                </a:avLst>
              </a:pr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80"/>
              <p:cNvSpPr/>
              <p:nvPr/>
            </p:nvSpPr>
            <p:spPr>
              <a:xfrm rot="3059552">
                <a:off x="3288263" y="1387498"/>
                <a:ext cx="1158206" cy="1158206"/>
              </a:xfrm>
              <a:prstGeom prst="pie">
                <a:avLst>
                  <a:gd fmla="val 15871036" name="adj1"/>
                  <a:gd fmla="val 18578265" name="adj2"/>
                </a:avLst>
              </a:prstGeom>
              <a:solidFill>
                <a:srgbClr val="037B7D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80"/>
              <p:cNvSpPr/>
              <p:nvPr/>
            </p:nvSpPr>
            <p:spPr>
              <a:xfrm rot="3059552">
                <a:off x="3288263" y="1387498"/>
                <a:ext cx="1158206" cy="1158206"/>
              </a:xfrm>
              <a:prstGeom prst="pie">
                <a:avLst>
                  <a:gd fmla="val 13147739" name="adj1"/>
                  <a:gd fmla="val 15865375" name="adj2"/>
                </a:avLst>
              </a:prstGeom>
              <a:solidFill>
                <a:srgbClr val="71EEFD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9" name="Google Shape;1359;p80"/>
            <p:cNvSpPr/>
            <p:nvPr/>
          </p:nvSpPr>
          <p:spPr>
            <a:xfrm>
              <a:off x="3836526" y="1941242"/>
              <a:ext cx="65100" cy="58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0" name="Google Shape;1360;p80"/>
            <p:cNvGrpSpPr/>
            <p:nvPr/>
          </p:nvGrpSpPr>
          <p:grpSpPr>
            <a:xfrm>
              <a:off x="3380200" y="1447827"/>
              <a:ext cx="968560" cy="1041457"/>
              <a:chOff x="3380200" y="2743227"/>
              <a:chExt cx="968560" cy="1041457"/>
            </a:xfrm>
          </p:grpSpPr>
          <p:sp>
            <p:nvSpPr>
              <p:cNvPr id="1361" name="Google Shape;1361;p80"/>
              <p:cNvSpPr txBox="1"/>
              <p:nvPr/>
            </p:nvSpPr>
            <p:spPr>
              <a:xfrm flipH="1">
                <a:off x="3897193" y="274322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8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2" name="Google Shape;1362;p80"/>
              <p:cNvSpPr txBox="1"/>
              <p:nvPr/>
            </p:nvSpPr>
            <p:spPr>
              <a:xfrm flipH="1">
                <a:off x="4067960" y="294715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7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3" name="Google Shape;1363;p80"/>
              <p:cNvSpPr txBox="1"/>
              <p:nvPr/>
            </p:nvSpPr>
            <p:spPr>
              <a:xfrm flipH="1">
                <a:off x="4067960" y="32421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6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4" name="Google Shape;1364;p80"/>
              <p:cNvSpPr txBox="1"/>
              <p:nvPr/>
            </p:nvSpPr>
            <p:spPr>
              <a:xfrm flipH="1">
                <a:off x="3864748" y="34639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5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5" name="Google Shape;1365;p80"/>
              <p:cNvSpPr txBox="1"/>
              <p:nvPr/>
            </p:nvSpPr>
            <p:spPr>
              <a:xfrm>
                <a:off x="3550968" y="274322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1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6" name="Google Shape;1366;p80"/>
              <p:cNvSpPr txBox="1"/>
              <p:nvPr/>
            </p:nvSpPr>
            <p:spPr>
              <a:xfrm>
                <a:off x="3380200" y="2947157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2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7" name="Google Shape;1367;p80"/>
              <p:cNvSpPr txBox="1"/>
              <p:nvPr/>
            </p:nvSpPr>
            <p:spPr>
              <a:xfrm>
                <a:off x="3380200" y="3242199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latin typeface="Lexend"/>
                    <a:ea typeface="Lexend"/>
                    <a:cs typeface="Lexend"/>
                    <a:sym typeface="Lexend"/>
                  </a:rPr>
                  <a:t>3</a:t>
                </a:r>
                <a:endParaRPr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68" name="Google Shape;1368;p80"/>
              <p:cNvSpPr txBox="1"/>
              <p:nvPr/>
            </p:nvSpPr>
            <p:spPr>
              <a:xfrm>
                <a:off x="3583413" y="3463984"/>
                <a:ext cx="280800" cy="32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chemeClr val="lt1"/>
                    </a:solidFill>
                    <a:latin typeface="Lexend"/>
                    <a:ea typeface="Lexend"/>
                    <a:cs typeface="Lexend"/>
                    <a:sym typeface="Lexend"/>
                  </a:rPr>
                  <a:t>4</a:t>
                </a:r>
                <a:endParaRPr sz="1600">
                  <a:solidFill>
                    <a:schemeClr val="lt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69" name="Google Shape;1369;p80"/>
            <p:cNvGrpSpPr/>
            <p:nvPr/>
          </p:nvGrpSpPr>
          <p:grpSpPr>
            <a:xfrm>
              <a:off x="3827645" y="1406493"/>
              <a:ext cx="65279" cy="597694"/>
              <a:chOff x="996050" y="213293"/>
              <a:chExt cx="93900" cy="909732"/>
            </a:xfrm>
          </p:grpSpPr>
          <p:cxnSp>
            <p:nvCxnSpPr>
              <p:cNvPr id="1370" name="Google Shape;1370;p80"/>
              <p:cNvCxnSpPr/>
              <p:nvPr/>
            </p:nvCxnSpPr>
            <p:spPr>
              <a:xfrm rot="10800000">
                <a:off x="1046672" y="213293"/>
                <a:ext cx="0" cy="8514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71" name="Google Shape;1371;p80"/>
              <p:cNvSpPr/>
              <p:nvPr/>
            </p:nvSpPr>
            <p:spPr>
              <a:xfrm>
                <a:off x="996050" y="1029125"/>
                <a:ext cx="93900" cy="939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81"/>
          <p:cNvSpPr txBox="1"/>
          <p:nvPr>
            <p:ph idx="1" type="body"/>
          </p:nvPr>
        </p:nvSpPr>
        <p:spPr>
          <a:xfrm>
            <a:off x="324000" y="759300"/>
            <a:ext cx="823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</a:t>
            </a:r>
            <a:r>
              <a:rPr b="1" lang="en-GB" sz="1800"/>
              <a:t>Venn diagrams</a:t>
            </a:r>
            <a:r>
              <a:rPr lang="en-GB" sz="1800"/>
              <a:t> would be correct to use for a trial of rolling a fair six-sided dice, where A = {multiple of 2} and B = {odd number}?</a:t>
            </a:r>
            <a:endParaRPr sz="1800"/>
          </a:p>
        </p:txBody>
      </p:sp>
      <p:sp>
        <p:nvSpPr>
          <p:cNvPr id="1377" name="Google Shape;137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378" name="Google Shape;1378;p81"/>
          <p:cNvSpPr txBox="1"/>
          <p:nvPr/>
        </p:nvSpPr>
        <p:spPr>
          <a:xfrm>
            <a:off x="446425" y="4166100"/>
            <a:ext cx="266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intersection would be empty.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79" name="Google Shape;1379;p81"/>
          <p:cNvGrpSpPr/>
          <p:nvPr/>
        </p:nvGrpSpPr>
        <p:grpSpPr>
          <a:xfrm>
            <a:off x="567750" y="2106350"/>
            <a:ext cx="2222400" cy="1401800"/>
            <a:chOff x="720150" y="2106350"/>
            <a:chExt cx="2222400" cy="1401800"/>
          </a:xfrm>
        </p:grpSpPr>
        <p:sp>
          <p:nvSpPr>
            <p:cNvPr id="1380" name="Google Shape;1380;p81"/>
            <p:cNvSpPr/>
            <p:nvPr/>
          </p:nvSpPr>
          <p:spPr>
            <a:xfrm>
              <a:off x="890550" y="2160550"/>
              <a:ext cx="2052000" cy="13476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1" name="Google Shape;1381;p81"/>
            <p:cNvSpPr/>
            <p:nvPr/>
          </p:nvSpPr>
          <p:spPr>
            <a:xfrm>
              <a:off x="1068675" y="2328250"/>
              <a:ext cx="1012200" cy="1012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2" name="Google Shape;1382;p81"/>
            <p:cNvSpPr/>
            <p:nvPr/>
          </p:nvSpPr>
          <p:spPr>
            <a:xfrm>
              <a:off x="1724425" y="2328250"/>
              <a:ext cx="1012200" cy="10122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1"/>
            <p:cNvSpPr txBox="1"/>
            <p:nvPr/>
          </p:nvSpPr>
          <p:spPr>
            <a:xfrm>
              <a:off x="1024725" y="2222668"/>
              <a:ext cx="250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4" name="Google Shape;1384;p81"/>
            <p:cNvSpPr txBox="1"/>
            <p:nvPr/>
          </p:nvSpPr>
          <p:spPr>
            <a:xfrm>
              <a:off x="2586525" y="2222668"/>
              <a:ext cx="250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5" name="Google Shape;1385;p81"/>
            <p:cNvSpPr txBox="1"/>
            <p:nvPr/>
          </p:nvSpPr>
          <p:spPr>
            <a:xfrm>
              <a:off x="720150" y="2106350"/>
              <a:ext cx="17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/>
            </a:p>
          </p:txBody>
        </p:sp>
      </p:grpSp>
      <p:grpSp>
        <p:nvGrpSpPr>
          <p:cNvPr id="1386" name="Google Shape;1386;p81"/>
          <p:cNvGrpSpPr/>
          <p:nvPr/>
        </p:nvGrpSpPr>
        <p:grpSpPr>
          <a:xfrm>
            <a:off x="3457425" y="2106350"/>
            <a:ext cx="2234250" cy="1401800"/>
            <a:chOff x="3615750" y="2106350"/>
            <a:chExt cx="2234250" cy="1401800"/>
          </a:xfrm>
        </p:grpSpPr>
        <p:sp>
          <p:nvSpPr>
            <p:cNvPr id="1387" name="Google Shape;1387;p81"/>
            <p:cNvSpPr/>
            <p:nvPr/>
          </p:nvSpPr>
          <p:spPr>
            <a:xfrm>
              <a:off x="3798000" y="2160550"/>
              <a:ext cx="2052000" cy="13476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8" name="Google Shape;1388;p81"/>
            <p:cNvSpPr/>
            <p:nvPr/>
          </p:nvSpPr>
          <p:spPr>
            <a:xfrm>
              <a:off x="3878850" y="2258850"/>
              <a:ext cx="882300" cy="882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1"/>
            <p:cNvSpPr/>
            <p:nvPr/>
          </p:nvSpPr>
          <p:spPr>
            <a:xfrm>
              <a:off x="4844525" y="2484100"/>
              <a:ext cx="882300" cy="882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0" name="Google Shape;1390;p81"/>
            <p:cNvSpPr txBox="1"/>
            <p:nvPr/>
          </p:nvSpPr>
          <p:spPr>
            <a:xfrm>
              <a:off x="3838550" y="2160543"/>
              <a:ext cx="250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1" name="Google Shape;1391;p81"/>
            <p:cNvSpPr txBox="1"/>
            <p:nvPr/>
          </p:nvSpPr>
          <p:spPr>
            <a:xfrm>
              <a:off x="5534738" y="2328243"/>
              <a:ext cx="250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81"/>
            <p:cNvSpPr txBox="1"/>
            <p:nvPr/>
          </p:nvSpPr>
          <p:spPr>
            <a:xfrm>
              <a:off x="3615750" y="2106350"/>
              <a:ext cx="17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/>
            </a:p>
          </p:txBody>
        </p:sp>
      </p:grpSp>
      <p:grpSp>
        <p:nvGrpSpPr>
          <p:cNvPr id="1393" name="Google Shape;1393;p81"/>
          <p:cNvGrpSpPr/>
          <p:nvPr/>
        </p:nvGrpSpPr>
        <p:grpSpPr>
          <a:xfrm>
            <a:off x="6358950" y="2106350"/>
            <a:ext cx="2252175" cy="1401800"/>
            <a:chOff x="6358950" y="2106350"/>
            <a:chExt cx="2252175" cy="1401800"/>
          </a:xfrm>
        </p:grpSpPr>
        <p:sp>
          <p:nvSpPr>
            <p:cNvPr id="1394" name="Google Shape;1394;p81"/>
            <p:cNvSpPr/>
            <p:nvPr/>
          </p:nvSpPr>
          <p:spPr>
            <a:xfrm>
              <a:off x="6559125" y="2160550"/>
              <a:ext cx="2052000" cy="1347600"/>
            </a:xfrm>
            <a:prstGeom prst="rect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81"/>
            <p:cNvSpPr/>
            <p:nvPr/>
          </p:nvSpPr>
          <p:spPr>
            <a:xfrm>
              <a:off x="7266625" y="2280550"/>
              <a:ext cx="1107600" cy="11076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81"/>
            <p:cNvSpPr/>
            <p:nvPr/>
          </p:nvSpPr>
          <p:spPr>
            <a:xfrm>
              <a:off x="7419800" y="2435850"/>
              <a:ext cx="528300" cy="5283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7" name="Google Shape;1397;p81"/>
            <p:cNvSpPr txBox="1"/>
            <p:nvPr/>
          </p:nvSpPr>
          <p:spPr>
            <a:xfrm>
              <a:off x="7514688" y="2417843"/>
              <a:ext cx="250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81"/>
            <p:cNvSpPr txBox="1"/>
            <p:nvPr/>
          </p:nvSpPr>
          <p:spPr>
            <a:xfrm>
              <a:off x="8209188" y="2222668"/>
              <a:ext cx="250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9" name="Google Shape;1399;p81"/>
            <p:cNvSpPr txBox="1"/>
            <p:nvPr/>
          </p:nvSpPr>
          <p:spPr>
            <a:xfrm>
              <a:off x="6358950" y="2106350"/>
              <a:ext cx="170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ξ</a:t>
              </a:r>
              <a:endParaRPr/>
            </a:p>
          </p:txBody>
        </p:sp>
      </p:grpSp>
      <p:grpSp>
        <p:nvGrpSpPr>
          <p:cNvPr id="1400" name="Google Shape;1400;p81"/>
          <p:cNvGrpSpPr/>
          <p:nvPr/>
        </p:nvGrpSpPr>
        <p:grpSpPr>
          <a:xfrm>
            <a:off x="1456191" y="3612100"/>
            <a:ext cx="457200" cy="457200"/>
            <a:chOff x="1020916" y="1442088"/>
            <a:chExt cx="457200" cy="457200"/>
          </a:xfrm>
        </p:grpSpPr>
        <p:pic>
          <p:nvPicPr>
            <p:cNvPr id="1401" name="Google Shape;1401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2" name="Google Shape;1402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3" name="Google Shape;1403;p81"/>
          <p:cNvGrpSpPr/>
          <p:nvPr/>
        </p:nvGrpSpPr>
        <p:grpSpPr>
          <a:xfrm>
            <a:off x="4345941" y="3612100"/>
            <a:ext cx="457200" cy="457200"/>
            <a:chOff x="1020916" y="1442088"/>
            <a:chExt cx="457200" cy="457200"/>
          </a:xfrm>
        </p:grpSpPr>
        <p:pic>
          <p:nvPicPr>
            <p:cNvPr id="1404" name="Google Shape;1404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5" name="Google Shape;140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06" name="Google Shape;1406;p81"/>
          <p:cNvGrpSpPr/>
          <p:nvPr/>
        </p:nvGrpSpPr>
        <p:grpSpPr>
          <a:xfrm>
            <a:off x="7256428" y="3551400"/>
            <a:ext cx="457200" cy="457200"/>
            <a:chOff x="1020916" y="1442088"/>
            <a:chExt cx="457200" cy="457200"/>
          </a:xfrm>
        </p:grpSpPr>
        <p:pic>
          <p:nvPicPr>
            <p:cNvPr id="1407" name="Google Shape;1407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8" name="Google Shape;140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409" name="Google Shape;1409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0458" y="36275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458" y="36311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81"/>
          <p:cNvSpPr txBox="1"/>
          <p:nvPr/>
        </p:nvSpPr>
        <p:spPr>
          <a:xfrm>
            <a:off x="5921375" y="4051850"/>
            <a:ext cx="2568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no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multiples of 2 that are also odd.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17" name="Google Shape;1417;p8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Here is an outcome tree for two events.</a:t>
            </a:r>
            <a:br>
              <a:rPr lang="en-GB" sz="1800"/>
            </a:br>
            <a:r>
              <a:rPr lang="en-GB" sz="1800"/>
              <a:t>Draw a </a:t>
            </a:r>
            <a:r>
              <a:rPr b="1" lang="en-GB" sz="1800"/>
              <a:t>Venn diagram</a:t>
            </a:r>
            <a:r>
              <a:rPr lang="en-GB" sz="1800"/>
              <a:t> to show the same information.</a:t>
            </a:r>
            <a:endParaRPr sz="1800"/>
          </a:p>
        </p:txBody>
      </p:sp>
      <p:sp>
        <p:nvSpPr>
          <p:cNvPr id="1418" name="Google Shape;1418;p82"/>
          <p:cNvSpPr txBox="1"/>
          <p:nvPr/>
        </p:nvSpPr>
        <p:spPr>
          <a:xfrm>
            <a:off x="324000" y="13423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{multiple of 3}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2"/>
          <p:cNvSpPr txBox="1"/>
          <p:nvPr/>
        </p:nvSpPr>
        <p:spPr>
          <a:xfrm>
            <a:off x="324000" y="21043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15}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0" name="Google Shape;1420;p82"/>
          <p:cNvCxnSpPr/>
          <p:nvPr/>
        </p:nvCxnSpPr>
        <p:spPr>
          <a:xfrm flipH="1" rot="10800000">
            <a:off x="385025" y="2951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82"/>
          <p:cNvCxnSpPr/>
          <p:nvPr/>
        </p:nvCxnSpPr>
        <p:spPr>
          <a:xfrm>
            <a:off x="385025" y="35532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82"/>
          <p:cNvCxnSpPr/>
          <p:nvPr/>
        </p:nvCxnSpPr>
        <p:spPr>
          <a:xfrm flipH="1" rot="10800000">
            <a:off x="1913400" y="25715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82"/>
          <p:cNvCxnSpPr/>
          <p:nvPr/>
        </p:nvCxnSpPr>
        <p:spPr>
          <a:xfrm>
            <a:off x="1913400" y="28774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4" name="Google Shape;1424;p82"/>
          <p:cNvSpPr txBox="1"/>
          <p:nvPr/>
        </p:nvSpPr>
        <p:spPr>
          <a:xfrm>
            <a:off x="1354802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2"/>
          <p:cNvSpPr txBox="1"/>
          <p:nvPr/>
        </p:nvSpPr>
        <p:spPr>
          <a:xfrm>
            <a:off x="1202400" y="40319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6" name="Google Shape;1426;p82"/>
          <p:cNvSpPr txBox="1"/>
          <p:nvPr/>
        </p:nvSpPr>
        <p:spPr>
          <a:xfrm>
            <a:off x="3077889" y="23770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82"/>
          <p:cNvSpPr txBox="1"/>
          <p:nvPr/>
        </p:nvSpPr>
        <p:spPr>
          <a:xfrm>
            <a:off x="3077898" y="29490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82"/>
          <p:cNvSpPr txBox="1"/>
          <p:nvPr/>
        </p:nvSpPr>
        <p:spPr>
          <a:xfrm>
            <a:off x="1126200" y="3081000"/>
            <a:ext cx="14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82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1, 2, 4, 5, 7, 8, 10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82"/>
          <p:cNvSpPr txBox="1"/>
          <p:nvPr/>
        </p:nvSpPr>
        <p:spPr>
          <a:xfrm>
            <a:off x="3637500" y="2377025"/>
            <a:ext cx="83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82"/>
          <p:cNvSpPr txBox="1"/>
          <p:nvPr/>
        </p:nvSpPr>
        <p:spPr>
          <a:xfrm>
            <a:off x="3637500" y="3016450"/>
            <a:ext cx="23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82"/>
          <p:cNvSpPr txBox="1"/>
          <p:nvPr/>
        </p:nvSpPr>
        <p:spPr>
          <a:xfrm>
            <a:off x="3637500" y="36558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3" name="Google Shape;1433;p82"/>
          <p:cNvSpPr txBox="1"/>
          <p:nvPr/>
        </p:nvSpPr>
        <p:spPr>
          <a:xfrm>
            <a:off x="3637500" y="43802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2, 4, 7, 8, 10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4" name="Google Shape;1434;p82"/>
          <p:cNvCxnSpPr/>
          <p:nvPr/>
        </p:nvCxnSpPr>
        <p:spPr>
          <a:xfrm flipH="1" rot="10800000">
            <a:off x="1913400" y="38669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82"/>
          <p:cNvCxnSpPr/>
          <p:nvPr/>
        </p:nvCxnSpPr>
        <p:spPr>
          <a:xfrm>
            <a:off x="1913400" y="41728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82"/>
          <p:cNvSpPr txBox="1"/>
          <p:nvPr/>
        </p:nvSpPr>
        <p:spPr>
          <a:xfrm>
            <a:off x="3001689" y="36724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82"/>
          <p:cNvSpPr txBox="1"/>
          <p:nvPr/>
        </p:nvSpPr>
        <p:spPr>
          <a:xfrm>
            <a:off x="3001698" y="42444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43" name="Google Shape;1443;p83"/>
          <p:cNvSpPr txBox="1"/>
          <p:nvPr>
            <p:ph idx="1" type="body"/>
          </p:nvPr>
        </p:nvSpPr>
        <p:spPr>
          <a:xfrm>
            <a:off x="324000" y="759300"/>
            <a:ext cx="8237700" cy="7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Here is an outcome table for two events.</a:t>
            </a:r>
            <a:br>
              <a:rPr lang="en-GB" sz="1800"/>
            </a:br>
            <a:r>
              <a:rPr lang="en-GB" sz="1800"/>
              <a:t>Draw a </a:t>
            </a:r>
            <a:r>
              <a:rPr b="1" lang="en-GB" sz="1800"/>
              <a:t>Venn diagram</a:t>
            </a:r>
            <a:r>
              <a:rPr lang="en-GB" sz="1800"/>
              <a:t> to show the same information.</a:t>
            </a:r>
            <a:endParaRPr sz="1800"/>
          </a:p>
        </p:txBody>
      </p:sp>
      <p:cxnSp>
        <p:nvCxnSpPr>
          <p:cNvPr id="1444" name="Google Shape;1444;p83"/>
          <p:cNvCxnSpPr/>
          <p:nvPr/>
        </p:nvCxnSpPr>
        <p:spPr>
          <a:xfrm>
            <a:off x="2056650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83"/>
          <p:cNvCxnSpPr/>
          <p:nvPr/>
        </p:nvCxnSpPr>
        <p:spPr>
          <a:xfrm>
            <a:off x="3254303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83"/>
          <p:cNvCxnSpPr/>
          <p:nvPr/>
        </p:nvCxnSpPr>
        <p:spPr>
          <a:xfrm>
            <a:off x="4458725" y="1717002"/>
            <a:ext cx="0" cy="257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83"/>
          <p:cNvCxnSpPr/>
          <p:nvPr/>
        </p:nvCxnSpPr>
        <p:spPr>
          <a:xfrm rot="10800000">
            <a:off x="643327" y="26209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8" name="Google Shape;1448;p83"/>
          <p:cNvCxnSpPr/>
          <p:nvPr/>
        </p:nvCxnSpPr>
        <p:spPr>
          <a:xfrm rot="10800000">
            <a:off x="643327" y="3456716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9" name="Google Shape;1449;p83"/>
          <p:cNvCxnSpPr/>
          <p:nvPr/>
        </p:nvCxnSpPr>
        <p:spPr>
          <a:xfrm rot="10800000">
            <a:off x="643327" y="42818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0" name="Google Shape;1450;p83"/>
          <p:cNvSpPr txBox="1"/>
          <p:nvPr/>
        </p:nvSpPr>
        <p:spPr>
          <a:xfrm>
            <a:off x="2241027" y="1713438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3"/>
          <p:cNvSpPr txBox="1"/>
          <p:nvPr/>
        </p:nvSpPr>
        <p:spPr>
          <a:xfrm>
            <a:off x="3403425" y="1681025"/>
            <a:ext cx="94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prime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3"/>
          <p:cNvSpPr txBox="1"/>
          <p:nvPr/>
        </p:nvSpPr>
        <p:spPr>
          <a:xfrm>
            <a:off x="810767" y="2728150"/>
            <a:ext cx="10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30 (F)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3"/>
          <p:cNvSpPr txBox="1"/>
          <p:nvPr/>
        </p:nvSpPr>
        <p:spPr>
          <a:xfrm>
            <a:off x="702825" y="3584100"/>
            <a:ext cx="135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factor of 30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3"/>
          <p:cNvSpPr txBox="1"/>
          <p:nvPr/>
        </p:nvSpPr>
        <p:spPr>
          <a:xfrm>
            <a:off x="3415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3"/>
          <p:cNvSpPr txBox="1"/>
          <p:nvPr/>
        </p:nvSpPr>
        <p:spPr>
          <a:xfrm>
            <a:off x="2272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6" name="Google Shape;1456;p83"/>
          <p:cNvSpPr txBox="1"/>
          <p:nvPr/>
        </p:nvSpPr>
        <p:spPr>
          <a:xfrm>
            <a:off x="2272318" y="3614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7" name="Google Shape;1457;p83"/>
          <p:cNvSpPr txBox="1"/>
          <p:nvPr/>
        </p:nvSpPr>
        <p:spPr>
          <a:xfrm>
            <a:off x="2805718" y="3004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8" name="Google Shape;1458;p83"/>
          <p:cNvSpPr txBox="1"/>
          <p:nvPr/>
        </p:nvSpPr>
        <p:spPr>
          <a:xfrm>
            <a:off x="3415318" y="3614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3"/>
          <p:cNvSpPr txBox="1"/>
          <p:nvPr/>
        </p:nvSpPr>
        <p:spPr>
          <a:xfrm>
            <a:off x="2500918" y="2928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83"/>
          <p:cNvSpPr txBox="1"/>
          <p:nvPr/>
        </p:nvSpPr>
        <p:spPr>
          <a:xfrm>
            <a:off x="375686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83"/>
          <p:cNvSpPr txBox="1"/>
          <p:nvPr/>
        </p:nvSpPr>
        <p:spPr>
          <a:xfrm>
            <a:off x="3731106" y="305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83"/>
          <p:cNvSpPr txBox="1"/>
          <p:nvPr/>
        </p:nvSpPr>
        <p:spPr>
          <a:xfrm>
            <a:off x="2738718" y="360523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3"/>
          <p:cNvSpPr txBox="1"/>
          <p:nvPr/>
        </p:nvSpPr>
        <p:spPr>
          <a:xfrm>
            <a:off x="2530068" y="394355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4" name="Google Shape;1464;p83"/>
          <p:cNvSpPr txBox="1"/>
          <p:nvPr/>
        </p:nvSpPr>
        <p:spPr>
          <a:xfrm>
            <a:off x="3671518" y="37630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83"/>
          <p:cNvSpPr txBox="1"/>
          <p:nvPr/>
        </p:nvSpPr>
        <p:spPr>
          <a:xfrm>
            <a:off x="3937018" y="358285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3"/>
          <p:cNvSpPr txBox="1"/>
          <p:nvPr/>
        </p:nvSpPr>
        <p:spPr>
          <a:xfrm>
            <a:off x="4046877" y="2845925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3"/>
          <p:cNvSpPr txBox="1"/>
          <p:nvPr/>
        </p:nvSpPr>
        <p:spPr>
          <a:xfrm>
            <a:off x="3415327" y="394813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83"/>
          <p:cNvSpPr txBox="1"/>
          <p:nvPr/>
        </p:nvSpPr>
        <p:spPr>
          <a:xfrm>
            <a:off x="3981902" y="387166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84"/>
          <p:cNvSpPr/>
          <p:nvPr/>
        </p:nvSpPr>
        <p:spPr>
          <a:xfrm>
            <a:off x="4935200" y="2006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84"/>
          <p:cNvSpPr/>
          <p:nvPr/>
        </p:nvSpPr>
        <p:spPr>
          <a:xfrm>
            <a:off x="53146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84"/>
          <p:cNvSpPr/>
          <p:nvPr/>
        </p:nvSpPr>
        <p:spPr>
          <a:xfrm>
            <a:off x="63052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477" name="Google Shape;1477;p84"/>
          <p:cNvSpPr txBox="1"/>
          <p:nvPr>
            <p:ph idx="1" type="body"/>
          </p:nvPr>
        </p:nvSpPr>
        <p:spPr>
          <a:xfrm>
            <a:off x="324000" y="759300"/>
            <a:ext cx="8237700" cy="72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Here is a partially complete outcome table and </a:t>
            </a:r>
            <a:r>
              <a:rPr b="1" lang="en-GB" sz="1800"/>
              <a:t>Venn diagram</a:t>
            </a:r>
            <a:r>
              <a:rPr lang="en-GB" sz="1800"/>
              <a:t>.</a:t>
            </a:r>
            <a:r>
              <a:rPr b="1" baseline="30000" lang="en-GB" sz="1800"/>
              <a:t> </a:t>
            </a:r>
            <a:br>
              <a:rPr lang="en-GB" sz="1800"/>
            </a:br>
            <a:r>
              <a:rPr lang="en-GB" sz="1800"/>
              <a:t>Complete both diagrams.</a:t>
            </a:r>
            <a:endParaRPr sz="1800"/>
          </a:p>
        </p:txBody>
      </p:sp>
      <p:cxnSp>
        <p:nvCxnSpPr>
          <p:cNvPr id="1478" name="Google Shape;1478;p84"/>
          <p:cNvCxnSpPr/>
          <p:nvPr/>
        </p:nvCxnSpPr>
        <p:spPr>
          <a:xfrm>
            <a:off x="2056650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9" name="Google Shape;1479;p84"/>
          <p:cNvCxnSpPr/>
          <p:nvPr/>
        </p:nvCxnSpPr>
        <p:spPr>
          <a:xfrm>
            <a:off x="3254303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0" name="Google Shape;1480;p84"/>
          <p:cNvCxnSpPr/>
          <p:nvPr/>
        </p:nvCxnSpPr>
        <p:spPr>
          <a:xfrm>
            <a:off x="4458725" y="1717002"/>
            <a:ext cx="0" cy="257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1" name="Google Shape;1481;p84"/>
          <p:cNvCxnSpPr/>
          <p:nvPr/>
        </p:nvCxnSpPr>
        <p:spPr>
          <a:xfrm rot="10800000">
            <a:off x="643327" y="26209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2" name="Google Shape;1482;p84"/>
          <p:cNvCxnSpPr/>
          <p:nvPr/>
        </p:nvCxnSpPr>
        <p:spPr>
          <a:xfrm rot="10800000">
            <a:off x="643327" y="3456716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84"/>
          <p:cNvCxnSpPr/>
          <p:nvPr/>
        </p:nvCxnSpPr>
        <p:spPr>
          <a:xfrm rot="10800000">
            <a:off x="643327" y="42818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4" name="Google Shape;1484;p84"/>
          <p:cNvSpPr txBox="1"/>
          <p:nvPr/>
        </p:nvSpPr>
        <p:spPr>
          <a:xfrm>
            <a:off x="2241027" y="2270146"/>
            <a:ext cx="90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84"/>
          <p:cNvSpPr txBox="1"/>
          <p:nvPr/>
        </p:nvSpPr>
        <p:spPr>
          <a:xfrm>
            <a:off x="3369600" y="1452425"/>
            <a:ext cx="97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84"/>
          <p:cNvSpPr txBox="1"/>
          <p:nvPr/>
        </p:nvSpPr>
        <p:spPr>
          <a:xfrm>
            <a:off x="810767" y="2728150"/>
            <a:ext cx="10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actor of 18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(B)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84"/>
          <p:cNvSpPr txBox="1"/>
          <p:nvPr/>
        </p:nvSpPr>
        <p:spPr>
          <a:xfrm>
            <a:off x="702825" y="3584100"/>
            <a:ext cx="135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factor of 18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84"/>
          <p:cNvSpPr txBox="1"/>
          <p:nvPr/>
        </p:nvSpPr>
        <p:spPr>
          <a:xfrm>
            <a:off x="2272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84"/>
          <p:cNvSpPr txBox="1"/>
          <p:nvPr/>
        </p:nvSpPr>
        <p:spPr>
          <a:xfrm>
            <a:off x="2805718" y="3004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84"/>
          <p:cNvSpPr txBox="1"/>
          <p:nvPr/>
        </p:nvSpPr>
        <p:spPr>
          <a:xfrm>
            <a:off x="3337506" y="35747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84"/>
          <p:cNvSpPr txBox="1"/>
          <p:nvPr/>
        </p:nvSpPr>
        <p:spPr>
          <a:xfrm>
            <a:off x="3720293" y="3898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84"/>
          <p:cNvSpPr txBox="1"/>
          <p:nvPr/>
        </p:nvSpPr>
        <p:spPr>
          <a:xfrm>
            <a:off x="3325606" y="3898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84"/>
          <p:cNvSpPr txBox="1"/>
          <p:nvPr/>
        </p:nvSpPr>
        <p:spPr>
          <a:xfrm>
            <a:off x="3763677" y="357696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4"/>
          <p:cNvSpPr txBox="1"/>
          <p:nvPr/>
        </p:nvSpPr>
        <p:spPr>
          <a:xfrm>
            <a:off x="4114977" y="392158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4"/>
          <p:cNvSpPr txBox="1"/>
          <p:nvPr/>
        </p:nvSpPr>
        <p:spPr>
          <a:xfrm>
            <a:off x="4935200" y="1669432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3, 5, 7, 9, 11, 13, 15, 17, 19}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4"/>
          <p:cNvSpPr txBox="1"/>
          <p:nvPr/>
        </p:nvSpPr>
        <p:spPr>
          <a:xfrm>
            <a:off x="5369050" y="2183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84"/>
          <p:cNvSpPr txBox="1"/>
          <p:nvPr/>
        </p:nvSpPr>
        <p:spPr>
          <a:xfrm>
            <a:off x="7672200" y="2183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8" name="Google Shape;1498;p84"/>
          <p:cNvSpPr txBox="1"/>
          <p:nvPr/>
        </p:nvSpPr>
        <p:spPr>
          <a:xfrm>
            <a:off x="7298400" y="2942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9" name="Google Shape;1499;p84"/>
          <p:cNvSpPr txBox="1"/>
          <p:nvPr/>
        </p:nvSpPr>
        <p:spPr>
          <a:xfrm>
            <a:off x="7923000" y="36348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84"/>
          <p:cNvSpPr txBox="1"/>
          <p:nvPr/>
        </p:nvSpPr>
        <p:spPr>
          <a:xfrm>
            <a:off x="5045550" y="37015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1" name="Google Shape;1501;p84"/>
          <p:cNvCxnSpPr/>
          <p:nvPr/>
        </p:nvCxnSpPr>
        <p:spPr>
          <a:xfrm>
            <a:off x="2193175" y="1930050"/>
            <a:ext cx="92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84"/>
          <p:cNvCxnSpPr/>
          <p:nvPr/>
        </p:nvCxnSpPr>
        <p:spPr>
          <a:xfrm>
            <a:off x="2193175" y="2202175"/>
            <a:ext cx="92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84"/>
          <p:cNvSpPr txBox="1"/>
          <p:nvPr/>
        </p:nvSpPr>
        <p:spPr>
          <a:xfrm>
            <a:off x="3560268" y="35769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84"/>
          <p:cNvSpPr txBox="1"/>
          <p:nvPr/>
        </p:nvSpPr>
        <p:spPr>
          <a:xfrm>
            <a:off x="4095352" y="357696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84"/>
          <p:cNvSpPr txBox="1"/>
          <p:nvPr/>
        </p:nvSpPr>
        <p:spPr>
          <a:xfrm>
            <a:off x="4982564" y="245418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6" name="Google Shape;1506;p84"/>
          <p:cNvSpPr txBox="1"/>
          <p:nvPr/>
        </p:nvSpPr>
        <p:spPr>
          <a:xfrm>
            <a:off x="8045602" y="219831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84"/>
          <p:cNvSpPr txBox="1"/>
          <p:nvPr/>
        </p:nvSpPr>
        <p:spPr>
          <a:xfrm>
            <a:off x="8082056" y="305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4"/>
          <p:cNvSpPr txBox="1"/>
          <p:nvPr/>
        </p:nvSpPr>
        <p:spPr>
          <a:xfrm>
            <a:off x="4991156" y="32083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4"/>
          <p:cNvSpPr txBox="1"/>
          <p:nvPr/>
        </p:nvSpPr>
        <p:spPr>
          <a:xfrm>
            <a:off x="6480127" y="372253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515" name="Google Shape;1515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Here is an outcome tree for two events.</a:t>
            </a:r>
            <a:br>
              <a:rPr lang="en-GB" sz="1800"/>
            </a:br>
            <a:r>
              <a:rPr lang="en-GB" sz="1800"/>
              <a:t>Draw a </a:t>
            </a:r>
            <a:r>
              <a:rPr b="1" lang="en-GB" sz="1800"/>
              <a:t>Venn diagram</a:t>
            </a:r>
            <a:r>
              <a:rPr lang="en-GB" sz="1800"/>
              <a:t> to show the same information.</a:t>
            </a:r>
            <a:endParaRPr sz="1800"/>
          </a:p>
        </p:txBody>
      </p:sp>
      <p:sp>
        <p:nvSpPr>
          <p:cNvPr id="1516" name="Google Shape;1516;p85"/>
          <p:cNvSpPr txBox="1"/>
          <p:nvPr/>
        </p:nvSpPr>
        <p:spPr>
          <a:xfrm>
            <a:off x="324000" y="13423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two events 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= {multiple of 3}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5"/>
          <p:cNvSpPr txBox="1"/>
          <p:nvPr/>
        </p:nvSpPr>
        <p:spPr>
          <a:xfrm>
            <a:off x="324000" y="21043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 = {factor of 15}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8" name="Google Shape;1518;p85"/>
          <p:cNvCxnSpPr/>
          <p:nvPr/>
        </p:nvCxnSpPr>
        <p:spPr>
          <a:xfrm flipH="1" rot="10800000">
            <a:off x="385025" y="29510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85"/>
          <p:cNvCxnSpPr/>
          <p:nvPr/>
        </p:nvCxnSpPr>
        <p:spPr>
          <a:xfrm>
            <a:off x="385025" y="3553200"/>
            <a:ext cx="738000" cy="606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0" name="Google Shape;1520;p85"/>
          <p:cNvCxnSpPr/>
          <p:nvPr/>
        </p:nvCxnSpPr>
        <p:spPr>
          <a:xfrm flipH="1" rot="10800000">
            <a:off x="1913400" y="25715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1" name="Google Shape;1521;p85"/>
          <p:cNvCxnSpPr/>
          <p:nvPr/>
        </p:nvCxnSpPr>
        <p:spPr>
          <a:xfrm>
            <a:off x="1913400" y="28774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2" name="Google Shape;1522;p85"/>
          <p:cNvSpPr txBox="1"/>
          <p:nvPr/>
        </p:nvSpPr>
        <p:spPr>
          <a:xfrm>
            <a:off x="1354802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85"/>
          <p:cNvSpPr txBox="1"/>
          <p:nvPr/>
        </p:nvSpPr>
        <p:spPr>
          <a:xfrm>
            <a:off x="1202400" y="4031900"/>
            <a:ext cx="63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85"/>
          <p:cNvSpPr txBox="1"/>
          <p:nvPr/>
        </p:nvSpPr>
        <p:spPr>
          <a:xfrm>
            <a:off x="3077889" y="23770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85"/>
          <p:cNvSpPr txBox="1"/>
          <p:nvPr/>
        </p:nvSpPr>
        <p:spPr>
          <a:xfrm>
            <a:off x="3077898" y="29490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85"/>
          <p:cNvSpPr txBox="1"/>
          <p:nvPr/>
        </p:nvSpPr>
        <p:spPr>
          <a:xfrm>
            <a:off x="1126200" y="3081000"/>
            <a:ext cx="146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85"/>
          <p:cNvSpPr txBox="1"/>
          <p:nvPr/>
        </p:nvSpPr>
        <p:spPr>
          <a:xfrm>
            <a:off x="881586" y="4255700"/>
            <a:ext cx="138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1, 2, 4, 5, 7, 8, 10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8" name="Google Shape;1528;p85"/>
          <p:cNvSpPr txBox="1"/>
          <p:nvPr/>
        </p:nvSpPr>
        <p:spPr>
          <a:xfrm>
            <a:off x="3637500" y="2377025"/>
            <a:ext cx="83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5"/>
          <p:cNvSpPr txBox="1"/>
          <p:nvPr/>
        </p:nvSpPr>
        <p:spPr>
          <a:xfrm>
            <a:off x="3637500" y="3016450"/>
            <a:ext cx="237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6, 9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85"/>
          <p:cNvSpPr txBox="1"/>
          <p:nvPr/>
        </p:nvSpPr>
        <p:spPr>
          <a:xfrm>
            <a:off x="3637500" y="3655875"/>
            <a:ext cx="103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5"/>
          <p:cNvSpPr txBox="1"/>
          <p:nvPr/>
        </p:nvSpPr>
        <p:spPr>
          <a:xfrm>
            <a:off x="3637500" y="4380250"/>
            <a:ext cx="1386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2, 4, 7, 8, 10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2" name="Google Shape;1532;p85"/>
          <p:cNvCxnSpPr/>
          <p:nvPr/>
        </p:nvCxnSpPr>
        <p:spPr>
          <a:xfrm flipH="1" rot="10800000">
            <a:off x="1913400" y="3866990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85"/>
          <p:cNvCxnSpPr/>
          <p:nvPr/>
        </p:nvCxnSpPr>
        <p:spPr>
          <a:xfrm>
            <a:off x="1913400" y="4172861"/>
            <a:ext cx="1030200" cy="307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4" name="Google Shape;1534;p85"/>
          <p:cNvSpPr txBox="1"/>
          <p:nvPr/>
        </p:nvSpPr>
        <p:spPr>
          <a:xfrm>
            <a:off x="3001689" y="36724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5"/>
          <p:cNvSpPr txBox="1"/>
          <p:nvPr/>
        </p:nvSpPr>
        <p:spPr>
          <a:xfrm>
            <a:off x="3001698" y="4244400"/>
            <a:ext cx="52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not 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85"/>
          <p:cNvSpPr/>
          <p:nvPr/>
        </p:nvSpPr>
        <p:spPr>
          <a:xfrm>
            <a:off x="4935200" y="2006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85"/>
          <p:cNvSpPr/>
          <p:nvPr/>
        </p:nvSpPr>
        <p:spPr>
          <a:xfrm>
            <a:off x="53146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85"/>
          <p:cNvSpPr/>
          <p:nvPr/>
        </p:nvSpPr>
        <p:spPr>
          <a:xfrm>
            <a:off x="63052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85"/>
          <p:cNvSpPr txBox="1"/>
          <p:nvPr/>
        </p:nvSpPr>
        <p:spPr>
          <a:xfrm>
            <a:off x="4935200" y="1669432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ξ = {1, 2, 3, 4, 5, 6, 7, 8, 9, 10}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85"/>
          <p:cNvSpPr txBox="1"/>
          <p:nvPr/>
        </p:nvSpPr>
        <p:spPr>
          <a:xfrm>
            <a:off x="5369050" y="2183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85"/>
          <p:cNvSpPr txBox="1"/>
          <p:nvPr/>
        </p:nvSpPr>
        <p:spPr>
          <a:xfrm>
            <a:off x="7672200" y="2183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85"/>
          <p:cNvSpPr txBox="1"/>
          <p:nvPr/>
        </p:nvSpPr>
        <p:spPr>
          <a:xfrm>
            <a:off x="6536400" y="2942400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3" name="Google Shape;1543;p85"/>
          <p:cNvSpPr txBox="1"/>
          <p:nvPr/>
        </p:nvSpPr>
        <p:spPr>
          <a:xfrm>
            <a:off x="7309225" y="3065700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4" name="Google Shape;1544;p85"/>
          <p:cNvSpPr txBox="1"/>
          <p:nvPr/>
        </p:nvSpPr>
        <p:spPr>
          <a:xfrm>
            <a:off x="5045550" y="3701500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5" name="Google Shape;1545;p85"/>
          <p:cNvSpPr txBox="1"/>
          <p:nvPr/>
        </p:nvSpPr>
        <p:spPr>
          <a:xfrm>
            <a:off x="4982564" y="24541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6" name="Google Shape;1546;p85"/>
          <p:cNvSpPr txBox="1"/>
          <p:nvPr/>
        </p:nvSpPr>
        <p:spPr>
          <a:xfrm>
            <a:off x="7135502" y="25460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7" name="Google Shape;1547;p85"/>
          <p:cNvSpPr txBox="1"/>
          <p:nvPr/>
        </p:nvSpPr>
        <p:spPr>
          <a:xfrm>
            <a:off x="8082056" y="3053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8" name="Google Shape;1548;p85"/>
          <p:cNvSpPr txBox="1"/>
          <p:nvPr/>
        </p:nvSpPr>
        <p:spPr>
          <a:xfrm>
            <a:off x="4991156" y="32083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9" name="Google Shape;1549;p85"/>
          <p:cNvSpPr txBox="1"/>
          <p:nvPr/>
        </p:nvSpPr>
        <p:spPr>
          <a:xfrm>
            <a:off x="6480127" y="372253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0" name="Google Shape;1550;p85"/>
          <p:cNvSpPr txBox="1"/>
          <p:nvPr/>
        </p:nvSpPr>
        <p:spPr>
          <a:xfrm>
            <a:off x="5956989" y="26651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1" name="Google Shape;1551;p85"/>
          <p:cNvSpPr txBox="1"/>
          <p:nvPr/>
        </p:nvSpPr>
        <p:spPr>
          <a:xfrm>
            <a:off x="5582447" y="30861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557" name="Google Shape;1557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Here is an outcome table for two events.</a:t>
            </a:r>
            <a:br>
              <a:rPr lang="en-GB" sz="1800"/>
            </a:br>
            <a:r>
              <a:rPr lang="en-GB" sz="1800"/>
              <a:t>Draw a </a:t>
            </a:r>
            <a:r>
              <a:rPr b="1" lang="en-GB" sz="1800"/>
              <a:t>Venn diagram</a:t>
            </a:r>
            <a:r>
              <a:rPr lang="en-GB" sz="1800"/>
              <a:t> to show the same information.</a:t>
            </a:r>
            <a:endParaRPr sz="1800"/>
          </a:p>
        </p:txBody>
      </p:sp>
      <p:cxnSp>
        <p:nvCxnSpPr>
          <p:cNvPr id="1558" name="Google Shape;1558;p86"/>
          <p:cNvCxnSpPr/>
          <p:nvPr/>
        </p:nvCxnSpPr>
        <p:spPr>
          <a:xfrm>
            <a:off x="2056650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9" name="Google Shape;1559;p86"/>
          <p:cNvCxnSpPr/>
          <p:nvPr/>
        </p:nvCxnSpPr>
        <p:spPr>
          <a:xfrm>
            <a:off x="3254303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86"/>
          <p:cNvCxnSpPr/>
          <p:nvPr/>
        </p:nvCxnSpPr>
        <p:spPr>
          <a:xfrm>
            <a:off x="4458725" y="1717002"/>
            <a:ext cx="0" cy="257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1" name="Google Shape;1561;p86"/>
          <p:cNvCxnSpPr/>
          <p:nvPr/>
        </p:nvCxnSpPr>
        <p:spPr>
          <a:xfrm rot="10800000">
            <a:off x="643327" y="26209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2" name="Google Shape;1562;p86"/>
          <p:cNvCxnSpPr/>
          <p:nvPr/>
        </p:nvCxnSpPr>
        <p:spPr>
          <a:xfrm rot="10800000">
            <a:off x="643327" y="3456716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3" name="Google Shape;1563;p86"/>
          <p:cNvCxnSpPr/>
          <p:nvPr/>
        </p:nvCxnSpPr>
        <p:spPr>
          <a:xfrm rot="10800000">
            <a:off x="643327" y="42818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4" name="Google Shape;1564;p86"/>
          <p:cNvSpPr txBox="1"/>
          <p:nvPr/>
        </p:nvSpPr>
        <p:spPr>
          <a:xfrm>
            <a:off x="2241027" y="1713438"/>
            <a:ext cx="901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 number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86"/>
          <p:cNvSpPr txBox="1"/>
          <p:nvPr/>
        </p:nvSpPr>
        <p:spPr>
          <a:xfrm>
            <a:off x="3403425" y="1681025"/>
            <a:ext cx="943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prime (P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86"/>
          <p:cNvSpPr txBox="1"/>
          <p:nvPr/>
        </p:nvSpPr>
        <p:spPr>
          <a:xfrm>
            <a:off x="810767" y="2728150"/>
            <a:ext cx="10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30 (F)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86"/>
          <p:cNvSpPr txBox="1"/>
          <p:nvPr/>
        </p:nvSpPr>
        <p:spPr>
          <a:xfrm>
            <a:off x="702825" y="3584100"/>
            <a:ext cx="135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factor of 30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(F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6"/>
          <p:cNvSpPr txBox="1"/>
          <p:nvPr/>
        </p:nvSpPr>
        <p:spPr>
          <a:xfrm>
            <a:off x="3415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6"/>
          <p:cNvSpPr txBox="1"/>
          <p:nvPr/>
        </p:nvSpPr>
        <p:spPr>
          <a:xfrm>
            <a:off x="2272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6"/>
          <p:cNvSpPr txBox="1"/>
          <p:nvPr/>
        </p:nvSpPr>
        <p:spPr>
          <a:xfrm>
            <a:off x="2272318" y="3614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6"/>
          <p:cNvSpPr txBox="1"/>
          <p:nvPr/>
        </p:nvSpPr>
        <p:spPr>
          <a:xfrm>
            <a:off x="2805718" y="3004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6"/>
          <p:cNvSpPr txBox="1"/>
          <p:nvPr/>
        </p:nvSpPr>
        <p:spPr>
          <a:xfrm>
            <a:off x="3415318" y="3614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6"/>
          <p:cNvSpPr txBox="1"/>
          <p:nvPr/>
        </p:nvSpPr>
        <p:spPr>
          <a:xfrm>
            <a:off x="2500918" y="29286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6"/>
          <p:cNvSpPr txBox="1"/>
          <p:nvPr/>
        </p:nvSpPr>
        <p:spPr>
          <a:xfrm>
            <a:off x="375686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6"/>
          <p:cNvSpPr txBox="1"/>
          <p:nvPr/>
        </p:nvSpPr>
        <p:spPr>
          <a:xfrm>
            <a:off x="3731106" y="305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6"/>
          <p:cNvSpPr txBox="1"/>
          <p:nvPr/>
        </p:nvSpPr>
        <p:spPr>
          <a:xfrm>
            <a:off x="2738718" y="360523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7" name="Google Shape;1577;p86"/>
          <p:cNvSpPr txBox="1"/>
          <p:nvPr/>
        </p:nvSpPr>
        <p:spPr>
          <a:xfrm>
            <a:off x="2530068" y="394355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86"/>
          <p:cNvSpPr txBox="1"/>
          <p:nvPr/>
        </p:nvSpPr>
        <p:spPr>
          <a:xfrm>
            <a:off x="3671518" y="37630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9" name="Google Shape;1579;p86"/>
          <p:cNvSpPr txBox="1"/>
          <p:nvPr/>
        </p:nvSpPr>
        <p:spPr>
          <a:xfrm>
            <a:off x="3937018" y="358285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86"/>
          <p:cNvSpPr txBox="1"/>
          <p:nvPr/>
        </p:nvSpPr>
        <p:spPr>
          <a:xfrm>
            <a:off x="4046877" y="2845925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86"/>
          <p:cNvSpPr txBox="1"/>
          <p:nvPr/>
        </p:nvSpPr>
        <p:spPr>
          <a:xfrm>
            <a:off x="3415327" y="394813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86"/>
          <p:cNvSpPr txBox="1"/>
          <p:nvPr/>
        </p:nvSpPr>
        <p:spPr>
          <a:xfrm>
            <a:off x="3981902" y="387166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86"/>
          <p:cNvSpPr/>
          <p:nvPr/>
        </p:nvSpPr>
        <p:spPr>
          <a:xfrm>
            <a:off x="4935200" y="2006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4" name="Google Shape;1584;p86"/>
          <p:cNvSpPr/>
          <p:nvPr/>
        </p:nvSpPr>
        <p:spPr>
          <a:xfrm>
            <a:off x="53146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5" name="Google Shape;1585;p86"/>
          <p:cNvSpPr/>
          <p:nvPr/>
        </p:nvSpPr>
        <p:spPr>
          <a:xfrm>
            <a:off x="63052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6" name="Google Shape;1586;p86"/>
          <p:cNvSpPr txBox="1"/>
          <p:nvPr/>
        </p:nvSpPr>
        <p:spPr>
          <a:xfrm>
            <a:off x="4935200" y="1327280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ξ = {1, 2, 3, 4, 5, 6, 7, 8, 9, 10, 11, 12, 13, 14, 15}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7" name="Google Shape;1587;p86"/>
          <p:cNvSpPr txBox="1"/>
          <p:nvPr/>
        </p:nvSpPr>
        <p:spPr>
          <a:xfrm>
            <a:off x="5369050" y="2183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8" name="Google Shape;1588;p86"/>
          <p:cNvSpPr txBox="1"/>
          <p:nvPr/>
        </p:nvSpPr>
        <p:spPr>
          <a:xfrm>
            <a:off x="7672200" y="2183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9" name="Google Shape;1589;p86"/>
          <p:cNvSpPr txBox="1"/>
          <p:nvPr/>
        </p:nvSpPr>
        <p:spPr>
          <a:xfrm>
            <a:off x="6536400" y="2942400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0" name="Google Shape;1590;p86"/>
          <p:cNvSpPr txBox="1"/>
          <p:nvPr/>
        </p:nvSpPr>
        <p:spPr>
          <a:xfrm>
            <a:off x="7309225" y="30657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1" name="Google Shape;1591;p86"/>
          <p:cNvSpPr txBox="1"/>
          <p:nvPr/>
        </p:nvSpPr>
        <p:spPr>
          <a:xfrm>
            <a:off x="5045550" y="3701500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2" name="Google Shape;1592;p86"/>
          <p:cNvSpPr txBox="1"/>
          <p:nvPr/>
        </p:nvSpPr>
        <p:spPr>
          <a:xfrm>
            <a:off x="4982564" y="24541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3" name="Google Shape;1593;p86"/>
          <p:cNvSpPr txBox="1"/>
          <p:nvPr/>
        </p:nvSpPr>
        <p:spPr>
          <a:xfrm>
            <a:off x="6965489" y="23921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4" name="Google Shape;1594;p86"/>
          <p:cNvSpPr txBox="1"/>
          <p:nvPr/>
        </p:nvSpPr>
        <p:spPr>
          <a:xfrm>
            <a:off x="8082056" y="30534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86"/>
          <p:cNvSpPr txBox="1"/>
          <p:nvPr/>
        </p:nvSpPr>
        <p:spPr>
          <a:xfrm>
            <a:off x="4991156" y="32083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6" name="Google Shape;1596;p86"/>
          <p:cNvSpPr txBox="1"/>
          <p:nvPr/>
        </p:nvSpPr>
        <p:spPr>
          <a:xfrm>
            <a:off x="6480127" y="372253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7" name="Google Shape;1597;p86"/>
          <p:cNvSpPr txBox="1"/>
          <p:nvPr/>
        </p:nvSpPr>
        <p:spPr>
          <a:xfrm>
            <a:off x="5956989" y="26651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8" name="Google Shape;1598;p86"/>
          <p:cNvSpPr txBox="1"/>
          <p:nvPr/>
        </p:nvSpPr>
        <p:spPr>
          <a:xfrm>
            <a:off x="5582447" y="30861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9" name="Google Shape;1599;p86"/>
          <p:cNvSpPr txBox="1"/>
          <p:nvPr/>
        </p:nvSpPr>
        <p:spPr>
          <a:xfrm>
            <a:off x="6536400" y="3208375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0" name="Google Shape;1600;p86"/>
          <p:cNvSpPr txBox="1"/>
          <p:nvPr/>
        </p:nvSpPr>
        <p:spPr>
          <a:xfrm>
            <a:off x="6536400" y="2620975"/>
            <a:ext cx="20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1" name="Google Shape;1601;p86"/>
          <p:cNvSpPr txBox="1"/>
          <p:nvPr/>
        </p:nvSpPr>
        <p:spPr>
          <a:xfrm>
            <a:off x="7333800" y="2539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2" name="Google Shape;1602;p86"/>
          <p:cNvSpPr txBox="1"/>
          <p:nvPr/>
        </p:nvSpPr>
        <p:spPr>
          <a:xfrm>
            <a:off x="7523800" y="2760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03" name="Google Shape;1603;p86"/>
          <p:cNvSpPr txBox="1"/>
          <p:nvPr/>
        </p:nvSpPr>
        <p:spPr>
          <a:xfrm>
            <a:off x="5963447" y="33909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87"/>
          <p:cNvSpPr/>
          <p:nvPr/>
        </p:nvSpPr>
        <p:spPr>
          <a:xfrm>
            <a:off x="4935200" y="2006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87"/>
          <p:cNvSpPr/>
          <p:nvPr/>
        </p:nvSpPr>
        <p:spPr>
          <a:xfrm>
            <a:off x="53146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87"/>
          <p:cNvSpPr/>
          <p:nvPr/>
        </p:nvSpPr>
        <p:spPr>
          <a:xfrm>
            <a:off x="6305275" y="2231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612" name="Google Shape;1612;p87"/>
          <p:cNvSpPr txBox="1"/>
          <p:nvPr>
            <p:ph idx="1" type="body"/>
          </p:nvPr>
        </p:nvSpPr>
        <p:spPr>
          <a:xfrm>
            <a:off x="324000" y="759300"/>
            <a:ext cx="8237700" cy="5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Here is a partially complete outcome table and </a:t>
            </a:r>
            <a:r>
              <a:rPr b="1" lang="en-GB" sz="1800"/>
              <a:t>Venn diagram</a:t>
            </a:r>
            <a:r>
              <a:rPr lang="en-GB" sz="1800"/>
              <a:t>.</a:t>
            </a:r>
            <a:r>
              <a:rPr b="1" baseline="30000" lang="en-GB" sz="1800"/>
              <a:t> </a:t>
            </a:r>
            <a:br>
              <a:rPr lang="en-GB" sz="1800"/>
            </a:br>
            <a:r>
              <a:rPr lang="en-GB" sz="1800"/>
              <a:t>Complete both diagrams.</a:t>
            </a:r>
            <a:endParaRPr sz="1800"/>
          </a:p>
        </p:txBody>
      </p:sp>
      <p:cxnSp>
        <p:nvCxnSpPr>
          <p:cNvPr id="1613" name="Google Shape;1613;p87"/>
          <p:cNvCxnSpPr/>
          <p:nvPr/>
        </p:nvCxnSpPr>
        <p:spPr>
          <a:xfrm>
            <a:off x="2056650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87"/>
          <p:cNvCxnSpPr/>
          <p:nvPr/>
        </p:nvCxnSpPr>
        <p:spPr>
          <a:xfrm>
            <a:off x="3254303" y="1733952"/>
            <a:ext cx="0" cy="25425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5" name="Google Shape;1615;p87"/>
          <p:cNvCxnSpPr/>
          <p:nvPr/>
        </p:nvCxnSpPr>
        <p:spPr>
          <a:xfrm>
            <a:off x="4458725" y="1717002"/>
            <a:ext cx="0" cy="25764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87"/>
          <p:cNvCxnSpPr/>
          <p:nvPr/>
        </p:nvCxnSpPr>
        <p:spPr>
          <a:xfrm rot="10800000">
            <a:off x="643327" y="26209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7" name="Google Shape;1617;p87"/>
          <p:cNvCxnSpPr/>
          <p:nvPr/>
        </p:nvCxnSpPr>
        <p:spPr>
          <a:xfrm rot="10800000">
            <a:off x="643327" y="3456716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87"/>
          <p:cNvCxnSpPr/>
          <p:nvPr/>
        </p:nvCxnSpPr>
        <p:spPr>
          <a:xfrm rot="10800000">
            <a:off x="643327" y="4281875"/>
            <a:ext cx="3815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87"/>
          <p:cNvSpPr txBox="1"/>
          <p:nvPr/>
        </p:nvSpPr>
        <p:spPr>
          <a:xfrm>
            <a:off x="2241027" y="2270146"/>
            <a:ext cx="90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0" name="Google Shape;1620;p87"/>
          <p:cNvSpPr txBox="1"/>
          <p:nvPr/>
        </p:nvSpPr>
        <p:spPr>
          <a:xfrm>
            <a:off x="3369600" y="1452425"/>
            <a:ext cx="977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1" name="Google Shape;1621;p87"/>
          <p:cNvSpPr txBox="1"/>
          <p:nvPr/>
        </p:nvSpPr>
        <p:spPr>
          <a:xfrm>
            <a:off x="810767" y="2728150"/>
            <a:ext cx="103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factor of 18 (B)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2" name="Google Shape;1622;p87"/>
          <p:cNvSpPr txBox="1"/>
          <p:nvPr/>
        </p:nvSpPr>
        <p:spPr>
          <a:xfrm>
            <a:off x="702825" y="3584100"/>
            <a:ext cx="135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factor of 18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(B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′)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3" name="Google Shape;1623;p87"/>
          <p:cNvSpPr txBox="1"/>
          <p:nvPr/>
        </p:nvSpPr>
        <p:spPr>
          <a:xfrm>
            <a:off x="2272318" y="27762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4" name="Google Shape;1624;p87"/>
          <p:cNvSpPr txBox="1"/>
          <p:nvPr/>
        </p:nvSpPr>
        <p:spPr>
          <a:xfrm>
            <a:off x="2805718" y="30048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5" name="Google Shape;1625;p87"/>
          <p:cNvSpPr txBox="1"/>
          <p:nvPr/>
        </p:nvSpPr>
        <p:spPr>
          <a:xfrm>
            <a:off x="3337506" y="35747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6" name="Google Shape;1626;p87"/>
          <p:cNvSpPr txBox="1"/>
          <p:nvPr/>
        </p:nvSpPr>
        <p:spPr>
          <a:xfrm>
            <a:off x="3720293" y="3898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7" name="Google Shape;1627;p87"/>
          <p:cNvSpPr txBox="1"/>
          <p:nvPr/>
        </p:nvSpPr>
        <p:spPr>
          <a:xfrm>
            <a:off x="3325606" y="389822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8" name="Google Shape;1628;p87"/>
          <p:cNvSpPr txBox="1"/>
          <p:nvPr/>
        </p:nvSpPr>
        <p:spPr>
          <a:xfrm>
            <a:off x="3763677" y="357696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87"/>
          <p:cNvSpPr txBox="1"/>
          <p:nvPr/>
        </p:nvSpPr>
        <p:spPr>
          <a:xfrm>
            <a:off x="4114977" y="392158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0" name="Google Shape;1630;p87"/>
          <p:cNvSpPr txBox="1"/>
          <p:nvPr/>
        </p:nvSpPr>
        <p:spPr>
          <a:xfrm>
            <a:off x="4935200" y="1669432"/>
            <a:ext cx="383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3, 5, 7, 9, 11, 13, 15, 17, 19}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87"/>
          <p:cNvSpPr txBox="1"/>
          <p:nvPr/>
        </p:nvSpPr>
        <p:spPr>
          <a:xfrm>
            <a:off x="5369050" y="2183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87"/>
          <p:cNvSpPr txBox="1"/>
          <p:nvPr/>
        </p:nvSpPr>
        <p:spPr>
          <a:xfrm>
            <a:off x="7672200" y="2183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87"/>
          <p:cNvSpPr txBox="1"/>
          <p:nvPr/>
        </p:nvSpPr>
        <p:spPr>
          <a:xfrm>
            <a:off x="7298400" y="29424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87"/>
          <p:cNvSpPr txBox="1"/>
          <p:nvPr/>
        </p:nvSpPr>
        <p:spPr>
          <a:xfrm>
            <a:off x="7923000" y="36348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87"/>
          <p:cNvSpPr txBox="1"/>
          <p:nvPr/>
        </p:nvSpPr>
        <p:spPr>
          <a:xfrm>
            <a:off x="5045550" y="3701500"/>
            <a:ext cx="20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87"/>
          <p:cNvSpPr txBox="1"/>
          <p:nvPr/>
        </p:nvSpPr>
        <p:spPr>
          <a:xfrm>
            <a:off x="3560268" y="35769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87"/>
          <p:cNvSpPr txBox="1"/>
          <p:nvPr/>
        </p:nvSpPr>
        <p:spPr>
          <a:xfrm>
            <a:off x="4095352" y="357696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87"/>
          <p:cNvSpPr txBox="1"/>
          <p:nvPr/>
        </p:nvSpPr>
        <p:spPr>
          <a:xfrm>
            <a:off x="4982564" y="245418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87"/>
          <p:cNvSpPr txBox="1"/>
          <p:nvPr/>
        </p:nvSpPr>
        <p:spPr>
          <a:xfrm>
            <a:off x="8045602" y="2198313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87"/>
          <p:cNvSpPr txBox="1"/>
          <p:nvPr/>
        </p:nvSpPr>
        <p:spPr>
          <a:xfrm>
            <a:off x="8082056" y="3053400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87"/>
          <p:cNvSpPr txBox="1"/>
          <p:nvPr/>
        </p:nvSpPr>
        <p:spPr>
          <a:xfrm>
            <a:off x="4991156" y="3208375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7"/>
          <p:cNvSpPr txBox="1"/>
          <p:nvPr/>
        </p:nvSpPr>
        <p:spPr>
          <a:xfrm>
            <a:off x="6480127" y="3722538"/>
            <a:ext cx="32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87"/>
          <p:cNvSpPr txBox="1"/>
          <p:nvPr/>
        </p:nvSpPr>
        <p:spPr>
          <a:xfrm>
            <a:off x="2225833" y="1702946"/>
            <a:ext cx="1030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quare number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4" name="Google Shape;1644;p87"/>
          <p:cNvSpPr txBox="1"/>
          <p:nvPr/>
        </p:nvSpPr>
        <p:spPr>
          <a:xfrm>
            <a:off x="6490389" y="2665188"/>
            <a:ext cx="32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5" name="Google Shape;1645;p87"/>
          <p:cNvSpPr txBox="1"/>
          <p:nvPr/>
        </p:nvSpPr>
        <p:spPr>
          <a:xfrm>
            <a:off x="6573047" y="3086100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6" name="Google Shape;1646;p87"/>
          <p:cNvSpPr txBox="1"/>
          <p:nvPr/>
        </p:nvSpPr>
        <p:spPr>
          <a:xfrm>
            <a:off x="3731109" y="285477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Venn diagrams</a:t>
            </a:r>
            <a:endParaRPr/>
          </a:p>
        </p:txBody>
      </p:sp>
      <p:sp>
        <p:nvSpPr>
          <p:cNvPr id="1652" name="Google Shape;1652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653" name="Google Shape;1653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  <p:pic>
        <p:nvPicPr>
          <p:cNvPr id="1654" name="Google Shape;165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05" y="299614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</a:t>
            </a:r>
            <a:r>
              <a:rPr lang="en-GB"/>
              <a:t>Venn diagrams</a:t>
            </a:r>
            <a:endParaRPr/>
          </a:p>
        </p:txBody>
      </p:sp>
      <p:sp>
        <p:nvSpPr>
          <p:cNvPr id="1660" name="Google Shape;1660;p89"/>
          <p:cNvSpPr txBox="1"/>
          <p:nvPr/>
        </p:nvSpPr>
        <p:spPr>
          <a:xfrm>
            <a:off x="324000" y="759300"/>
            <a:ext cx="697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a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for the two events P and O, where: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89"/>
          <p:cNvSpPr txBox="1"/>
          <p:nvPr/>
        </p:nvSpPr>
        <p:spPr>
          <a:xfrm>
            <a:off x="324000" y="1113700"/>
            <a:ext cx="371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P = {2, 3, 5}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89"/>
          <p:cNvSpPr txBox="1"/>
          <p:nvPr/>
        </p:nvSpPr>
        <p:spPr>
          <a:xfrm>
            <a:off x="324000" y="1418500"/>
            <a:ext cx="357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 = {1, 3, 5}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89"/>
          <p:cNvSpPr/>
          <p:nvPr/>
        </p:nvSpPr>
        <p:spPr>
          <a:xfrm>
            <a:off x="4554200" y="16254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9"/>
          <p:cNvSpPr txBox="1"/>
          <p:nvPr/>
        </p:nvSpPr>
        <p:spPr>
          <a:xfrm>
            <a:off x="4576950" y="1305825"/>
            <a:ext cx="183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9"/>
          <p:cNvSpPr/>
          <p:nvPr/>
        </p:nvSpPr>
        <p:spPr>
          <a:xfrm>
            <a:off x="49336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9"/>
          <p:cNvSpPr txBox="1"/>
          <p:nvPr/>
        </p:nvSpPr>
        <p:spPr>
          <a:xfrm>
            <a:off x="4988050" y="18020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9"/>
          <p:cNvSpPr/>
          <p:nvPr/>
        </p:nvSpPr>
        <p:spPr>
          <a:xfrm>
            <a:off x="5924275" y="18504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9"/>
          <p:cNvSpPr txBox="1"/>
          <p:nvPr/>
        </p:nvSpPr>
        <p:spPr>
          <a:xfrm>
            <a:off x="7291200" y="18020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89"/>
          <p:cNvSpPr txBox="1"/>
          <p:nvPr/>
        </p:nvSpPr>
        <p:spPr>
          <a:xfrm>
            <a:off x="6964206" y="2324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0" name="Google Shape;1670;p89"/>
          <p:cNvSpPr txBox="1"/>
          <p:nvPr/>
        </p:nvSpPr>
        <p:spPr>
          <a:xfrm>
            <a:off x="6060468" y="2656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1" name="Google Shape;1671;p89"/>
          <p:cNvSpPr txBox="1"/>
          <p:nvPr/>
        </p:nvSpPr>
        <p:spPr>
          <a:xfrm>
            <a:off x="5238843" y="23499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2" name="Google Shape;1672;p89"/>
          <p:cNvSpPr/>
          <p:nvPr/>
        </p:nvSpPr>
        <p:spPr>
          <a:xfrm>
            <a:off x="7361651" y="3065919"/>
            <a:ext cx="526500" cy="526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3" name="Google Shape;1673;p89"/>
          <p:cNvSpPr txBox="1"/>
          <p:nvPr/>
        </p:nvSpPr>
        <p:spPr>
          <a:xfrm>
            <a:off x="6228693" y="23244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4" name="Google Shape;1674;p89"/>
          <p:cNvSpPr txBox="1"/>
          <p:nvPr/>
        </p:nvSpPr>
        <p:spPr>
          <a:xfrm>
            <a:off x="7530469" y="3198306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5" name="Google Shape;1675;p89"/>
          <p:cNvSpPr/>
          <p:nvPr/>
        </p:nvSpPr>
        <p:spPr>
          <a:xfrm>
            <a:off x="5049025" y="2225325"/>
            <a:ext cx="526500" cy="526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6" name="Google Shape;1676;p89"/>
          <p:cNvCxnSpPr>
            <a:stCxn id="1675" idx="2"/>
          </p:cNvCxnSpPr>
          <p:nvPr/>
        </p:nvCxnSpPr>
        <p:spPr>
          <a:xfrm flipH="1">
            <a:off x="3771325" y="2488575"/>
            <a:ext cx="1277700" cy="66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7" name="Google Shape;1677;p89"/>
          <p:cNvSpPr txBox="1"/>
          <p:nvPr/>
        </p:nvSpPr>
        <p:spPr>
          <a:xfrm>
            <a:off x="1812075" y="2417850"/>
            <a:ext cx="1837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{2} is only prime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8" name="Google Shape;1678;p89"/>
          <p:cNvSpPr txBox="1"/>
          <p:nvPr/>
        </p:nvSpPr>
        <p:spPr>
          <a:xfrm>
            <a:off x="5524150" y="3977375"/>
            <a:ext cx="278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{4} is not prime nor odd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9" name="Google Shape;1679;p89"/>
          <p:cNvCxnSpPr>
            <a:stCxn id="1672" idx="3"/>
          </p:cNvCxnSpPr>
          <p:nvPr/>
        </p:nvCxnSpPr>
        <p:spPr>
          <a:xfrm flipH="1">
            <a:off x="7016955" y="3515315"/>
            <a:ext cx="421800" cy="410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0" name="Google Shape;1680;p89"/>
          <p:cNvSpPr/>
          <p:nvPr/>
        </p:nvSpPr>
        <p:spPr>
          <a:xfrm>
            <a:off x="6006625" y="2274974"/>
            <a:ext cx="472800" cy="759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89"/>
          <p:cNvSpPr txBox="1"/>
          <p:nvPr/>
        </p:nvSpPr>
        <p:spPr>
          <a:xfrm>
            <a:off x="1962900" y="3934950"/>
            <a:ext cx="328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{3, 5} are both prime and odd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2" name="Google Shape;1682;p89"/>
          <p:cNvCxnSpPr>
            <a:stCxn id="1680" idx="3"/>
          </p:cNvCxnSpPr>
          <p:nvPr/>
        </p:nvCxnSpPr>
        <p:spPr>
          <a:xfrm flipH="1">
            <a:off x="3771265" y="2923590"/>
            <a:ext cx="2304600" cy="92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90"/>
          <p:cNvSpPr txBox="1"/>
          <p:nvPr>
            <p:ph idx="1" type="body"/>
          </p:nvPr>
        </p:nvSpPr>
        <p:spPr>
          <a:xfrm>
            <a:off x="324000" y="759300"/>
            <a:ext cx="4601100" cy="12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{factors of 10}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{even numbers}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outcomes are both in event A and event B?</a:t>
            </a:r>
            <a:endParaRPr sz="1800"/>
          </a:p>
        </p:txBody>
      </p:sp>
      <p:sp>
        <p:nvSpPr>
          <p:cNvPr id="1688" name="Google Shape;168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</a:t>
            </a:r>
            <a:r>
              <a:rPr lang="en-GB"/>
              <a:t>Venn diagrams</a:t>
            </a:r>
            <a:endParaRPr/>
          </a:p>
        </p:txBody>
      </p:sp>
      <p:sp>
        <p:nvSpPr>
          <p:cNvPr id="1689" name="Google Shape;1689;p90"/>
          <p:cNvSpPr/>
          <p:nvPr/>
        </p:nvSpPr>
        <p:spPr>
          <a:xfrm>
            <a:off x="5087600" y="1320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90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90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90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90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90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90"/>
          <p:cNvSpPr txBox="1"/>
          <p:nvPr/>
        </p:nvSpPr>
        <p:spPr>
          <a:xfrm>
            <a:off x="588685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90"/>
          <p:cNvSpPr txBox="1"/>
          <p:nvPr/>
        </p:nvSpPr>
        <p:spPr>
          <a:xfrm>
            <a:off x="6664806" y="1826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0"/>
          <p:cNvSpPr txBox="1"/>
          <p:nvPr/>
        </p:nvSpPr>
        <p:spPr>
          <a:xfrm>
            <a:off x="8075406" y="293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0"/>
          <p:cNvSpPr txBox="1"/>
          <p:nvPr/>
        </p:nvSpPr>
        <p:spPr>
          <a:xfrm>
            <a:off x="7244706" y="1716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9" name="Google Shape;1699;p90"/>
          <p:cNvSpPr txBox="1"/>
          <p:nvPr/>
        </p:nvSpPr>
        <p:spPr>
          <a:xfrm>
            <a:off x="6010956" y="2256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0" name="Google Shape;1700;p90"/>
          <p:cNvSpPr txBox="1"/>
          <p:nvPr/>
        </p:nvSpPr>
        <p:spPr>
          <a:xfrm>
            <a:off x="7634706" y="2128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1" name="Google Shape;1701;p90"/>
          <p:cNvSpPr txBox="1"/>
          <p:nvPr/>
        </p:nvSpPr>
        <p:spPr>
          <a:xfrm>
            <a:off x="5357406" y="2993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0"/>
          <p:cNvSpPr txBox="1"/>
          <p:nvPr/>
        </p:nvSpPr>
        <p:spPr>
          <a:xfrm>
            <a:off x="7244706" y="2533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3" name="Google Shape;1703;p90"/>
          <p:cNvSpPr txBox="1"/>
          <p:nvPr/>
        </p:nvSpPr>
        <p:spPr>
          <a:xfrm>
            <a:off x="8210231" y="25777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4" name="Google Shape;1704;p90"/>
          <p:cNvSpPr txBox="1"/>
          <p:nvPr/>
        </p:nvSpPr>
        <p:spPr>
          <a:xfrm>
            <a:off x="6627823" y="24055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5" name="Google Shape;1705;p90"/>
          <p:cNvSpPr txBox="1"/>
          <p:nvPr>
            <p:ph idx="1" type="body"/>
          </p:nvPr>
        </p:nvSpPr>
        <p:spPr>
          <a:xfrm>
            <a:off x="2647175" y="2298600"/>
            <a:ext cx="860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10}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91"/>
          <p:cNvSpPr txBox="1"/>
          <p:nvPr>
            <p:ph idx="1" type="body"/>
          </p:nvPr>
        </p:nvSpPr>
        <p:spPr>
          <a:xfrm>
            <a:off x="324000" y="759300"/>
            <a:ext cx="4512000" cy="13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{factors of 10}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{even numbers}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outcomes are neither in event A or event B?</a:t>
            </a:r>
            <a:endParaRPr sz="1800"/>
          </a:p>
        </p:txBody>
      </p:sp>
      <p:sp>
        <p:nvSpPr>
          <p:cNvPr id="1711" name="Google Shape;1711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</a:t>
            </a:r>
            <a:r>
              <a:rPr lang="en-GB"/>
              <a:t>Venn diagrams</a:t>
            </a:r>
            <a:endParaRPr/>
          </a:p>
        </p:txBody>
      </p:sp>
      <p:sp>
        <p:nvSpPr>
          <p:cNvPr id="1712" name="Google Shape;1712;p91"/>
          <p:cNvSpPr/>
          <p:nvPr/>
        </p:nvSpPr>
        <p:spPr>
          <a:xfrm>
            <a:off x="5087600" y="1320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3" name="Google Shape;1713;p91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91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91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91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91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91"/>
          <p:cNvSpPr txBox="1"/>
          <p:nvPr/>
        </p:nvSpPr>
        <p:spPr>
          <a:xfrm>
            <a:off x="588685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91"/>
          <p:cNvSpPr txBox="1"/>
          <p:nvPr/>
        </p:nvSpPr>
        <p:spPr>
          <a:xfrm>
            <a:off x="6664806" y="1826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91"/>
          <p:cNvSpPr txBox="1"/>
          <p:nvPr/>
        </p:nvSpPr>
        <p:spPr>
          <a:xfrm>
            <a:off x="8075406" y="293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91"/>
          <p:cNvSpPr txBox="1"/>
          <p:nvPr/>
        </p:nvSpPr>
        <p:spPr>
          <a:xfrm>
            <a:off x="7244706" y="1716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91"/>
          <p:cNvSpPr txBox="1"/>
          <p:nvPr/>
        </p:nvSpPr>
        <p:spPr>
          <a:xfrm>
            <a:off x="6010956" y="2256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91"/>
          <p:cNvSpPr txBox="1"/>
          <p:nvPr/>
        </p:nvSpPr>
        <p:spPr>
          <a:xfrm>
            <a:off x="7634706" y="2128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91"/>
          <p:cNvSpPr txBox="1"/>
          <p:nvPr/>
        </p:nvSpPr>
        <p:spPr>
          <a:xfrm>
            <a:off x="5357406" y="2993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91"/>
          <p:cNvSpPr txBox="1"/>
          <p:nvPr/>
        </p:nvSpPr>
        <p:spPr>
          <a:xfrm>
            <a:off x="7244706" y="2533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6" name="Google Shape;1726;p91"/>
          <p:cNvSpPr txBox="1"/>
          <p:nvPr/>
        </p:nvSpPr>
        <p:spPr>
          <a:xfrm>
            <a:off x="8210231" y="25777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7" name="Google Shape;1727;p91"/>
          <p:cNvSpPr txBox="1"/>
          <p:nvPr/>
        </p:nvSpPr>
        <p:spPr>
          <a:xfrm>
            <a:off x="6627823" y="24055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8" name="Google Shape;1728;p91"/>
          <p:cNvSpPr txBox="1"/>
          <p:nvPr>
            <p:ph idx="1" type="body"/>
          </p:nvPr>
        </p:nvSpPr>
        <p:spPr>
          <a:xfrm>
            <a:off x="2647175" y="2298600"/>
            <a:ext cx="953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{3, 7, 9}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92"/>
          <p:cNvSpPr txBox="1"/>
          <p:nvPr>
            <p:ph idx="1" type="body"/>
          </p:nvPr>
        </p:nvSpPr>
        <p:spPr>
          <a:xfrm>
            <a:off x="324000" y="759300"/>
            <a:ext cx="4639800" cy="14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Event A = {factors of 10}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Event B = {even numbers}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outcomes are either in event A or event B?</a:t>
            </a:r>
            <a:endParaRPr sz="1800"/>
          </a:p>
        </p:txBody>
      </p:sp>
      <p:sp>
        <p:nvSpPr>
          <p:cNvPr id="1734" name="Google Shape;173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</a:t>
            </a:r>
            <a:r>
              <a:rPr lang="en-GB"/>
              <a:t>Venn diagrams</a:t>
            </a:r>
            <a:endParaRPr/>
          </a:p>
        </p:txBody>
      </p:sp>
      <p:sp>
        <p:nvSpPr>
          <p:cNvPr id="1735" name="Google Shape;1735;p92"/>
          <p:cNvSpPr/>
          <p:nvPr/>
        </p:nvSpPr>
        <p:spPr>
          <a:xfrm>
            <a:off x="5087600" y="1320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6" name="Google Shape;1736;p92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6, 7, 8, 9, 10}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7" name="Google Shape;1737;p92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8" name="Google Shape;1738;p92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9" name="Google Shape;1739;p92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2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1" name="Google Shape;1741;p92"/>
          <p:cNvSpPr txBox="1"/>
          <p:nvPr/>
        </p:nvSpPr>
        <p:spPr>
          <a:xfrm>
            <a:off x="5886856" y="17581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92"/>
          <p:cNvSpPr txBox="1"/>
          <p:nvPr/>
        </p:nvSpPr>
        <p:spPr>
          <a:xfrm>
            <a:off x="6664806" y="18262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2"/>
          <p:cNvSpPr txBox="1"/>
          <p:nvPr/>
        </p:nvSpPr>
        <p:spPr>
          <a:xfrm>
            <a:off x="8075406" y="2935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2"/>
          <p:cNvSpPr txBox="1"/>
          <p:nvPr/>
        </p:nvSpPr>
        <p:spPr>
          <a:xfrm>
            <a:off x="7244706" y="1716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5" name="Google Shape;1745;p92"/>
          <p:cNvSpPr txBox="1"/>
          <p:nvPr/>
        </p:nvSpPr>
        <p:spPr>
          <a:xfrm>
            <a:off x="6010956" y="22565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92"/>
          <p:cNvSpPr txBox="1"/>
          <p:nvPr/>
        </p:nvSpPr>
        <p:spPr>
          <a:xfrm>
            <a:off x="7634706" y="2128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7" name="Google Shape;1747;p92"/>
          <p:cNvSpPr txBox="1"/>
          <p:nvPr/>
        </p:nvSpPr>
        <p:spPr>
          <a:xfrm>
            <a:off x="5357406" y="29935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92"/>
          <p:cNvSpPr txBox="1"/>
          <p:nvPr/>
        </p:nvSpPr>
        <p:spPr>
          <a:xfrm>
            <a:off x="7244706" y="2533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9" name="Google Shape;1749;p92"/>
          <p:cNvSpPr txBox="1"/>
          <p:nvPr/>
        </p:nvSpPr>
        <p:spPr>
          <a:xfrm>
            <a:off x="8210231" y="25777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2"/>
          <p:cNvSpPr txBox="1"/>
          <p:nvPr/>
        </p:nvSpPr>
        <p:spPr>
          <a:xfrm>
            <a:off x="6627823" y="2405550"/>
            <a:ext cx="33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2"/>
          <p:cNvSpPr txBox="1"/>
          <p:nvPr>
            <p:ph idx="1" type="body"/>
          </p:nvPr>
        </p:nvSpPr>
        <p:spPr>
          <a:xfrm>
            <a:off x="1906425" y="2354850"/>
            <a:ext cx="24237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4, 5, 6, 8, 10}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93"/>
          <p:cNvSpPr txBox="1"/>
          <p:nvPr>
            <p:ph idx="1" type="body"/>
          </p:nvPr>
        </p:nvSpPr>
        <p:spPr>
          <a:xfrm>
            <a:off x="324000" y="759300"/>
            <a:ext cx="4616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Venn diagram</a:t>
            </a:r>
            <a:r>
              <a:rPr lang="en-GB" sz="1800"/>
              <a:t> has been completed for two events, A and B.</a:t>
            </a:r>
            <a:endParaRPr sz="1800"/>
          </a:p>
        </p:txBody>
      </p:sp>
      <p:sp>
        <p:nvSpPr>
          <p:cNvPr id="1757" name="Google Shape;175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758" name="Google Shape;1758;p93"/>
          <p:cNvSpPr/>
          <p:nvPr/>
        </p:nvSpPr>
        <p:spPr>
          <a:xfrm>
            <a:off x="5087600" y="1320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3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3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1" name="Google Shape;1761;p93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2" name="Google Shape;1762;p93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93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93"/>
          <p:cNvSpPr txBox="1"/>
          <p:nvPr/>
        </p:nvSpPr>
        <p:spPr>
          <a:xfrm>
            <a:off x="8075406" y="3031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3"/>
          <p:cNvSpPr txBox="1"/>
          <p:nvPr/>
        </p:nvSpPr>
        <p:spPr>
          <a:xfrm>
            <a:off x="6706506" y="2081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93"/>
          <p:cNvSpPr txBox="1"/>
          <p:nvPr/>
        </p:nvSpPr>
        <p:spPr>
          <a:xfrm>
            <a:off x="6006006" y="24331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93"/>
          <p:cNvSpPr txBox="1"/>
          <p:nvPr/>
        </p:nvSpPr>
        <p:spPr>
          <a:xfrm>
            <a:off x="7368606" y="1770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93"/>
          <p:cNvSpPr txBox="1"/>
          <p:nvPr/>
        </p:nvSpPr>
        <p:spPr>
          <a:xfrm>
            <a:off x="5910306" y="1931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93"/>
          <p:cNvSpPr txBox="1"/>
          <p:nvPr/>
        </p:nvSpPr>
        <p:spPr>
          <a:xfrm>
            <a:off x="7459206" y="2210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93"/>
          <p:cNvSpPr txBox="1"/>
          <p:nvPr/>
        </p:nvSpPr>
        <p:spPr>
          <a:xfrm>
            <a:off x="324000" y="16400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see from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Venn diagram 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 there are 3 outcomes in event 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there are 3 outcomes in event 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there is 1 common outcome in event A and event 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there is 1 outcome that is not in event A or event 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94"/>
          <p:cNvSpPr txBox="1"/>
          <p:nvPr>
            <p:ph idx="1" type="body"/>
          </p:nvPr>
        </p:nvSpPr>
        <p:spPr>
          <a:xfrm>
            <a:off x="324000" y="759300"/>
            <a:ext cx="4616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Venn diagram</a:t>
            </a:r>
            <a:r>
              <a:rPr lang="en-GB" sz="1800"/>
              <a:t> has been completed for two events, A and B.</a:t>
            </a:r>
            <a:endParaRPr sz="1800"/>
          </a:p>
        </p:txBody>
      </p:sp>
      <p:sp>
        <p:nvSpPr>
          <p:cNvPr id="1776" name="Google Shape;177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777" name="Google Shape;1777;p94"/>
          <p:cNvSpPr/>
          <p:nvPr/>
        </p:nvSpPr>
        <p:spPr>
          <a:xfrm>
            <a:off x="5087600" y="13206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94"/>
          <p:cNvSpPr txBox="1"/>
          <p:nvPr/>
        </p:nvSpPr>
        <p:spPr>
          <a:xfrm>
            <a:off x="5110350" y="10010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{1, 2, 3, 4, 5, 6}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94"/>
          <p:cNvSpPr/>
          <p:nvPr/>
        </p:nvSpPr>
        <p:spPr>
          <a:xfrm>
            <a:off x="54670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94"/>
          <p:cNvSpPr txBox="1"/>
          <p:nvPr/>
        </p:nvSpPr>
        <p:spPr>
          <a:xfrm>
            <a:off x="5521450" y="1497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94"/>
          <p:cNvSpPr/>
          <p:nvPr/>
        </p:nvSpPr>
        <p:spPr>
          <a:xfrm>
            <a:off x="6457675" y="15456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2" name="Google Shape;1782;p94"/>
          <p:cNvSpPr txBox="1"/>
          <p:nvPr/>
        </p:nvSpPr>
        <p:spPr>
          <a:xfrm>
            <a:off x="7824600" y="14972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3" name="Google Shape;1783;p94"/>
          <p:cNvSpPr txBox="1"/>
          <p:nvPr/>
        </p:nvSpPr>
        <p:spPr>
          <a:xfrm>
            <a:off x="8075406" y="3031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4" name="Google Shape;1784;p94"/>
          <p:cNvSpPr txBox="1"/>
          <p:nvPr/>
        </p:nvSpPr>
        <p:spPr>
          <a:xfrm>
            <a:off x="6706506" y="2081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5" name="Google Shape;1785;p94"/>
          <p:cNvSpPr txBox="1"/>
          <p:nvPr/>
        </p:nvSpPr>
        <p:spPr>
          <a:xfrm>
            <a:off x="6006006" y="24331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6" name="Google Shape;1786;p94"/>
          <p:cNvSpPr txBox="1"/>
          <p:nvPr/>
        </p:nvSpPr>
        <p:spPr>
          <a:xfrm>
            <a:off x="7368606" y="17707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7" name="Google Shape;1787;p94"/>
          <p:cNvSpPr txBox="1"/>
          <p:nvPr/>
        </p:nvSpPr>
        <p:spPr>
          <a:xfrm>
            <a:off x="5910306" y="1931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8" name="Google Shape;1788;p94"/>
          <p:cNvSpPr txBox="1"/>
          <p:nvPr/>
        </p:nvSpPr>
        <p:spPr>
          <a:xfrm>
            <a:off x="7459206" y="2210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9" name="Google Shape;1789;p94"/>
          <p:cNvSpPr txBox="1"/>
          <p:nvPr/>
        </p:nvSpPr>
        <p:spPr>
          <a:xfrm>
            <a:off x="324000" y="16400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the outcomes that are in event 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0" name="Google Shape;1790;p94"/>
          <p:cNvSpPr txBox="1"/>
          <p:nvPr/>
        </p:nvSpPr>
        <p:spPr>
          <a:xfrm>
            <a:off x="324000" y="2006100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= {2, 3, 5}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1" name="Google Shape;1791;p94"/>
          <p:cNvSpPr txBox="1"/>
          <p:nvPr/>
        </p:nvSpPr>
        <p:spPr>
          <a:xfrm>
            <a:off x="324000" y="24020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the outcomes that are in event 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2" name="Google Shape;1792;p94"/>
          <p:cNvSpPr txBox="1"/>
          <p:nvPr/>
        </p:nvSpPr>
        <p:spPr>
          <a:xfrm>
            <a:off x="324000" y="2768100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= {2, 4, 6}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3" name="Google Shape;1793;p94"/>
          <p:cNvSpPr txBox="1"/>
          <p:nvPr/>
        </p:nvSpPr>
        <p:spPr>
          <a:xfrm>
            <a:off x="324000" y="3240275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List the outcomes that are in both event A and event B.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4"/>
          <p:cNvSpPr txBox="1"/>
          <p:nvPr/>
        </p:nvSpPr>
        <p:spPr>
          <a:xfrm>
            <a:off x="324000" y="3911100"/>
            <a:ext cx="424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{2}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9" name="Google Shape;1799;p95"/>
          <p:cNvSpPr txBox="1"/>
          <p:nvPr>
            <p:ph idx="1" type="body"/>
          </p:nvPr>
        </p:nvSpPr>
        <p:spPr>
          <a:xfrm>
            <a:off x="324000" y="759300"/>
            <a:ext cx="20922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Fill the blanks.</a:t>
            </a:r>
            <a:endParaRPr sz="1800"/>
          </a:p>
        </p:txBody>
      </p:sp>
      <p:sp>
        <p:nvSpPr>
          <p:cNvPr id="1800" name="Google Shape;180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01" name="Google Shape;1801;p95"/>
          <p:cNvSpPr txBox="1"/>
          <p:nvPr>
            <p:ph idx="1" type="body"/>
          </p:nvPr>
        </p:nvSpPr>
        <p:spPr>
          <a:xfrm>
            <a:off x="313775" y="1153800"/>
            <a:ext cx="4836000" cy="3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Venn diagram </a:t>
            </a:r>
            <a:r>
              <a:rPr lang="en-GB" sz="1800"/>
              <a:t>shows that there are: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     outcomes in event 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     outcomes in event A and 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      outcomes not in event A or event B</a:t>
            </a:r>
            <a:endParaRPr sz="1800"/>
          </a:p>
        </p:txBody>
      </p:sp>
      <p:cxnSp>
        <p:nvCxnSpPr>
          <p:cNvPr id="1802" name="Google Shape;1802;p95"/>
          <p:cNvCxnSpPr/>
          <p:nvPr/>
        </p:nvCxnSpPr>
        <p:spPr>
          <a:xfrm>
            <a:off x="634975" y="2160000"/>
            <a:ext cx="48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3" name="Google Shape;1803;p95"/>
          <p:cNvCxnSpPr/>
          <p:nvPr/>
        </p:nvCxnSpPr>
        <p:spPr>
          <a:xfrm>
            <a:off x="634975" y="2451800"/>
            <a:ext cx="48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4" name="Google Shape;1804;p95"/>
          <p:cNvCxnSpPr/>
          <p:nvPr/>
        </p:nvCxnSpPr>
        <p:spPr>
          <a:xfrm>
            <a:off x="634975" y="1832275"/>
            <a:ext cx="487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5" name="Google Shape;1805;p95"/>
          <p:cNvSpPr/>
          <p:nvPr/>
        </p:nvSpPr>
        <p:spPr>
          <a:xfrm>
            <a:off x="2653695" y="2946650"/>
            <a:ext cx="3051000" cy="1517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6" name="Google Shape;1806;p95"/>
          <p:cNvSpPr/>
          <p:nvPr/>
        </p:nvSpPr>
        <p:spPr>
          <a:xfrm>
            <a:off x="2942675" y="3179450"/>
            <a:ext cx="1559700" cy="1052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7" name="Google Shape;1807;p95"/>
          <p:cNvSpPr/>
          <p:nvPr/>
        </p:nvSpPr>
        <p:spPr>
          <a:xfrm>
            <a:off x="3838475" y="3179450"/>
            <a:ext cx="1559700" cy="10521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5"/>
          <p:cNvSpPr txBox="1"/>
          <p:nvPr/>
        </p:nvSpPr>
        <p:spPr>
          <a:xfrm>
            <a:off x="2887200" y="30860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95"/>
          <p:cNvSpPr txBox="1"/>
          <p:nvPr/>
        </p:nvSpPr>
        <p:spPr>
          <a:xfrm>
            <a:off x="5255700" y="30860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0" name="Google Shape;1810;p95"/>
          <p:cNvSpPr txBox="1"/>
          <p:nvPr/>
        </p:nvSpPr>
        <p:spPr>
          <a:xfrm>
            <a:off x="3362843" y="33407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95"/>
          <p:cNvSpPr txBox="1"/>
          <p:nvPr/>
        </p:nvSpPr>
        <p:spPr>
          <a:xfrm>
            <a:off x="4071456" y="36710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95"/>
          <p:cNvSpPr txBox="1"/>
          <p:nvPr/>
        </p:nvSpPr>
        <p:spPr>
          <a:xfrm>
            <a:off x="4044149" y="3393900"/>
            <a:ext cx="30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5"/>
          <p:cNvSpPr txBox="1"/>
          <p:nvPr/>
        </p:nvSpPr>
        <p:spPr>
          <a:xfrm>
            <a:off x="4677231" y="329456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4" name="Google Shape;1814;p95"/>
          <p:cNvSpPr txBox="1"/>
          <p:nvPr/>
        </p:nvSpPr>
        <p:spPr>
          <a:xfrm>
            <a:off x="5319606" y="40571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5" name="Google Shape;1815;p95"/>
          <p:cNvSpPr txBox="1"/>
          <p:nvPr/>
        </p:nvSpPr>
        <p:spPr>
          <a:xfrm>
            <a:off x="2761806" y="41414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5"/>
          <p:cNvSpPr txBox="1"/>
          <p:nvPr/>
        </p:nvSpPr>
        <p:spPr>
          <a:xfrm>
            <a:off x="2416200" y="2946650"/>
            <a:ext cx="1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/>
          </a:p>
        </p:txBody>
      </p:sp>
      <p:sp>
        <p:nvSpPr>
          <p:cNvPr id="1817" name="Google Shape;1817;p95"/>
          <p:cNvSpPr txBox="1"/>
          <p:nvPr/>
        </p:nvSpPr>
        <p:spPr>
          <a:xfrm>
            <a:off x="753475" y="15603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8" name="Google Shape;1818;p95"/>
          <p:cNvSpPr txBox="1"/>
          <p:nvPr/>
        </p:nvSpPr>
        <p:spPr>
          <a:xfrm>
            <a:off x="753475" y="18802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9" name="Google Shape;1819;p95"/>
          <p:cNvSpPr txBox="1"/>
          <p:nvPr/>
        </p:nvSpPr>
        <p:spPr>
          <a:xfrm>
            <a:off x="753475" y="22001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25" name="Google Shape;1825;p96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Use this </a:t>
            </a:r>
            <a:r>
              <a:rPr b="1" lang="en-GB" sz="1800"/>
              <a:t>Venn diagram</a:t>
            </a:r>
            <a:r>
              <a:rPr lang="en-GB" sz="1800"/>
              <a:t> to answer the following questions: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6" name="Google Shape;1826;p96"/>
          <p:cNvSpPr txBox="1"/>
          <p:nvPr>
            <p:ph idx="1" type="body"/>
          </p:nvPr>
        </p:nvSpPr>
        <p:spPr>
          <a:xfrm>
            <a:off x="324000" y="11884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List the outcomes that are in event 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7" name="Google Shape;1827;p96"/>
          <p:cNvSpPr txBox="1"/>
          <p:nvPr>
            <p:ph idx="1" type="body"/>
          </p:nvPr>
        </p:nvSpPr>
        <p:spPr>
          <a:xfrm>
            <a:off x="324000" y="1850602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List the outcomes that are in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8" name="Google Shape;1828;p96"/>
          <p:cNvSpPr txBox="1"/>
          <p:nvPr>
            <p:ph idx="1" type="body"/>
          </p:nvPr>
        </p:nvSpPr>
        <p:spPr>
          <a:xfrm>
            <a:off x="324000" y="25008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List the outcomes that are in both event A and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29" name="Google Shape;1829;p96"/>
          <p:cNvSpPr txBox="1"/>
          <p:nvPr>
            <p:ph idx="1" type="body"/>
          </p:nvPr>
        </p:nvSpPr>
        <p:spPr>
          <a:xfrm>
            <a:off x="324000" y="3316188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List the outcomes that are in event A but not in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0" name="Google Shape;1830;p96"/>
          <p:cNvSpPr txBox="1"/>
          <p:nvPr>
            <p:ph idx="1" type="body"/>
          </p:nvPr>
        </p:nvSpPr>
        <p:spPr>
          <a:xfrm>
            <a:off x="324000" y="40798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e) List the outcomes that are not in either event A nor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31" name="Google Shape;1831;p96"/>
          <p:cNvSpPr/>
          <p:nvPr/>
        </p:nvSpPr>
        <p:spPr>
          <a:xfrm>
            <a:off x="5316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6"/>
          <p:cNvSpPr txBox="1"/>
          <p:nvPr/>
        </p:nvSpPr>
        <p:spPr>
          <a:xfrm>
            <a:off x="5338950" y="11534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{integer values from 1 to 15 inclusive}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6"/>
          <p:cNvSpPr/>
          <p:nvPr/>
        </p:nvSpPr>
        <p:spPr>
          <a:xfrm>
            <a:off x="5695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96"/>
          <p:cNvSpPr txBox="1"/>
          <p:nvPr/>
        </p:nvSpPr>
        <p:spPr>
          <a:xfrm>
            <a:off x="5750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96"/>
          <p:cNvSpPr/>
          <p:nvPr/>
        </p:nvSpPr>
        <p:spPr>
          <a:xfrm>
            <a:off x="6686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96"/>
          <p:cNvSpPr txBox="1"/>
          <p:nvPr/>
        </p:nvSpPr>
        <p:spPr>
          <a:xfrm>
            <a:off x="8053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6"/>
          <p:cNvSpPr txBox="1"/>
          <p:nvPr/>
        </p:nvSpPr>
        <p:spPr>
          <a:xfrm>
            <a:off x="8303998" y="34889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96"/>
          <p:cNvSpPr txBox="1"/>
          <p:nvPr/>
        </p:nvSpPr>
        <p:spPr>
          <a:xfrm>
            <a:off x="6935106" y="253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96"/>
          <p:cNvSpPr txBox="1"/>
          <p:nvPr/>
        </p:nvSpPr>
        <p:spPr>
          <a:xfrm>
            <a:off x="6234606" y="2890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0" name="Google Shape;1840;p96"/>
          <p:cNvSpPr txBox="1"/>
          <p:nvPr/>
        </p:nvSpPr>
        <p:spPr>
          <a:xfrm>
            <a:off x="7597206" y="2227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1" name="Google Shape;1841;p96"/>
          <p:cNvSpPr txBox="1"/>
          <p:nvPr/>
        </p:nvSpPr>
        <p:spPr>
          <a:xfrm>
            <a:off x="6900906" y="28457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96"/>
          <p:cNvSpPr txBox="1"/>
          <p:nvPr/>
        </p:nvSpPr>
        <p:spPr>
          <a:xfrm>
            <a:off x="7687806" y="266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96"/>
          <p:cNvSpPr txBox="1"/>
          <p:nvPr/>
        </p:nvSpPr>
        <p:spPr>
          <a:xfrm>
            <a:off x="5499256" y="348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96"/>
          <p:cNvSpPr txBox="1"/>
          <p:nvPr/>
        </p:nvSpPr>
        <p:spPr>
          <a:xfrm>
            <a:off x="6858906" y="348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5" name="Google Shape;1845;p96"/>
          <p:cNvSpPr txBox="1"/>
          <p:nvPr/>
        </p:nvSpPr>
        <p:spPr>
          <a:xfrm>
            <a:off x="5983806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6" name="Google Shape;1846;p96"/>
          <p:cNvSpPr txBox="1"/>
          <p:nvPr/>
        </p:nvSpPr>
        <p:spPr>
          <a:xfrm>
            <a:off x="6435481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96"/>
          <p:cNvSpPr txBox="1"/>
          <p:nvPr/>
        </p:nvSpPr>
        <p:spPr>
          <a:xfrm>
            <a:off x="7333798" y="30390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96"/>
          <p:cNvSpPr txBox="1"/>
          <p:nvPr/>
        </p:nvSpPr>
        <p:spPr>
          <a:xfrm>
            <a:off x="7766706" y="303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9" name="Google Shape;1849;p96"/>
          <p:cNvSpPr txBox="1"/>
          <p:nvPr/>
        </p:nvSpPr>
        <p:spPr>
          <a:xfrm>
            <a:off x="6435481" y="3211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0" name="Google Shape;1850;p96"/>
          <p:cNvSpPr txBox="1"/>
          <p:nvPr/>
        </p:nvSpPr>
        <p:spPr>
          <a:xfrm>
            <a:off x="5782931" y="2755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1" name="Google Shape;1851;p96"/>
          <p:cNvSpPr txBox="1"/>
          <p:nvPr/>
        </p:nvSpPr>
        <p:spPr>
          <a:xfrm>
            <a:off x="6887156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57" name="Google Shape;1857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a) Use the following information to complete the </a:t>
            </a:r>
            <a:r>
              <a:rPr b="1" lang="en-GB" sz="1800"/>
              <a:t>Venn diagram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58" name="Google Shape;1858;p97"/>
          <p:cNvSpPr txBox="1"/>
          <p:nvPr>
            <p:ph idx="1" type="body"/>
          </p:nvPr>
        </p:nvSpPr>
        <p:spPr>
          <a:xfrm>
            <a:off x="324000" y="1003800"/>
            <a:ext cx="4905000" cy="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possible outcomes from the trial are the integers from 1 to 10 inclusive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there are five possible outcomes for event 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{6} is the only outcome of both events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{2, 5, 8} are not outcomes of event A nor event 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outcomes that are only in event B are prime</a:t>
            </a:r>
            <a:endParaRPr sz="1800"/>
          </a:p>
        </p:txBody>
      </p:sp>
      <p:sp>
        <p:nvSpPr>
          <p:cNvPr id="1859" name="Google Shape;1859;p97"/>
          <p:cNvSpPr/>
          <p:nvPr/>
        </p:nvSpPr>
        <p:spPr>
          <a:xfrm>
            <a:off x="5316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97"/>
          <p:cNvSpPr txBox="1"/>
          <p:nvPr/>
        </p:nvSpPr>
        <p:spPr>
          <a:xfrm>
            <a:off x="5338950" y="1458225"/>
            <a:ext cx="348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97"/>
          <p:cNvSpPr/>
          <p:nvPr/>
        </p:nvSpPr>
        <p:spPr>
          <a:xfrm>
            <a:off x="5695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97"/>
          <p:cNvSpPr txBox="1"/>
          <p:nvPr/>
        </p:nvSpPr>
        <p:spPr>
          <a:xfrm>
            <a:off x="5750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97"/>
          <p:cNvSpPr/>
          <p:nvPr/>
        </p:nvSpPr>
        <p:spPr>
          <a:xfrm>
            <a:off x="6686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7"/>
          <p:cNvSpPr txBox="1"/>
          <p:nvPr/>
        </p:nvSpPr>
        <p:spPr>
          <a:xfrm>
            <a:off x="8053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97"/>
          <p:cNvSpPr txBox="1"/>
          <p:nvPr>
            <p:ph idx="1" type="body"/>
          </p:nvPr>
        </p:nvSpPr>
        <p:spPr>
          <a:xfrm>
            <a:off x="324000" y="3807300"/>
            <a:ext cx="357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List the outcomes of event 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6" name="Google Shape;1866;p97"/>
          <p:cNvSpPr txBox="1"/>
          <p:nvPr>
            <p:ph idx="1" type="body"/>
          </p:nvPr>
        </p:nvSpPr>
        <p:spPr>
          <a:xfrm>
            <a:off x="324000" y="4264500"/>
            <a:ext cx="600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List all the outcomes for event A or event B or both.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98"/>
          <p:cNvSpPr txBox="1"/>
          <p:nvPr>
            <p:ph idx="1" type="body"/>
          </p:nvPr>
        </p:nvSpPr>
        <p:spPr>
          <a:xfrm>
            <a:off x="324000" y="3927450"/>
            <a:ext cx="781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e) Explain why your answers to parts b, c and d do not sum to part 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2" name="Google Shape;1872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873" name="Google Shape;1873;p98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</a:t>
            </a:r>
            <a:r>
              <a:rPr lang="en-GB" sz="1800"/>
              <a:t>) Use this </a:t>
            </a:r>
            <a:r>
              <a:rPr b="1" lang="en-GB" sz="1800"/>
              <a:t>Venn diagram</a:t>
            </a:r>
            <a:r>
              <a:rPr lang="en-GB" sz="1800"/>
              <a:t> to answer the following questions: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4" name="Google Shape;1874;p98"/>
          <p:cNvSpPr txBox="1"/>
          <p:nvPr>
            <p:ph idx="1" type="body"/>
          </p:nvPr>
        </p:nvSpPr>
        <p:spPr>
          <a:xfrm>
            <a:off x="324000" y="11884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How many outcomes are in the sample space?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5" name="Google Shape;1875;p98"/>
          <p:cNvSpPr txBox="1"/>
          <p:nvPr>
            <p:ph idx="1" type="body"/>
          </p:nvPr>
        </p:nvSpPr>
        <p:spPr>
          <a:xfrm>
            <a:off x="324000" y="1926802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How many outcomes are in event A?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6" name="Google Shape;1876;p98"/>
          <p:cNvSpPr txBox="1"/>
          <p:nvPr>
            <p:ph idx="1" type="body"/>
          </p:nvPr>
        </p:nvSpPr>
        <p:spPr>
          <a:xfrm>
            <a:off x="324000" y="25008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How many outcomes are in event B?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7" name="Google Shape;1877;p98"/>
          <p:cNvSpPr txBox="1"/>
          <p:nvPr>
            <p:ph idx="1" type="body"/>
          </p:nvPr>
        </p:nvSpPr>
        <p:spPr>
          <a:xfrm>
            <a:off x="324000" y="3163788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How many outcomes are not in event A or event B?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78" name="Google Shape;1878;p98"/>
          <p:cNvSpPr/>
          <p:nvPr/>
        </p:nvSpPr>
        <p:spPr>
          <a:xfrm>
            <a:off x="5316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98"/>
          <p:cNvSpPr txBox="1"/>
          <p:nvPr/>
        </p:nvSpPr>
        <p:spPr>
          <a:xfrm>
            <a:off x="5166525" y="1763825"/>
            <a:ext cx="1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98"/>
          <p:cNvSpPr/>
          <p:nvPr/>
        </p:nvSpPr>
        <p:spPr>
          <a:xfrm>
            <a:off x="5695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98"/>
          <p:cNvSpPr txBox="1"/>
          <p:nvPr/>
        </p:nvSpPr>
        <p:spPr>
          <a:xfrm>
            <a:off x="5750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2" name="Google Shape;1882;p98"/>
          <p:cNvSpPr/>
          <p:nvPr/>
        </p:nvSpPr>
        <p:spPr>
          <a:xfrm>
            <a:off x="6686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3" name="Google Shape;1883;p98"/>
          <p:cNvSpPr txBox="1"/>
          <p:nvPr/>
        </p:nvSpPr>
        <p:spPr>
          <a:xfrm>
            <a:off x="8053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98"/>
          <p:cNvSpPr txBox="1"/>
          <p:nvPr/>
        </p:nvSpPr>
        <p:spPr>
          <a:xfrm>
            <a:off x="8303998" y="34889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5" name="Google Shape;1885;p98"/>
          <p:cNvSpPr txBox="1"/>
          <p:nvPr/>
        </p:nvSpPr>
        <p:spPr>
          <a:xfrm>
            <a:off x="6858899" y="28438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6" name="Google Shape;1886;p98"/>
          <p:cNvSpPr txBox="1"/>
          <p:nvPr/>
        </p:nvSpPr>
        <p:spPr>
          <a:xfrm>
            <a:off x="6234606" y="2890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7" name="Google Shape;1887;p98"/>
          <p:cNvSpPr txBox="1"/>
          <p:nvPr/>
        </p:nvSpPr>
        <p:spPr>
          <a:xfrm>
            <a:off x="7535398" y="23626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8" name="Google Shape;1888;p98"/>
          <p:cNvSpPr txBox="1"/>
          <p:nvPr/>
        </p:nvSpPr>
        <p:spPr>
          <a:xfrm>
            <a:off x="5499256" y="348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9" name="Google Shape;1889;p98"/>
          <p:cNvSpPr txBox="1"/>
          <p:nvPr/>
        </p:nvSpPr>
        <p:spPr>
          <a:xfrm>
            <a:off x="6858897" y="3488900"/>
            <a:ext cx="37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0" name="Google Shape;1890;p98"/>
          <p:cNvSpPr txBox="1"/>
          <p:nvPr/>
        </p:nvSpPr>
        <p:spPr>
          <a:xfrm>
            <a:off x="5983798" y="2262225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1" name="Google Shape;1891;p98"/>
          <p:cNvSpPr txBox="1"/>
          <p:nvPr/>
        </p:nvSpPr>
        <p:spPr>
          <a:xfrm>
            <a:off x="6435481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2" name="Google Shape;1892;p98"/>
          <p:cNvSpPr txBox="1"/>
          <p:nvPr/>
        </p:nvSpPr>
        <p:spPr>
          <a:xfrm>
            <a:off x="7333798" y="30390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3" name="Google Shape;1893;p98"/>
          <p:cNvSpPr txBox="1"/>
          <p:nvPr/>
        </p:nvSpPr>
        <p:spPr>
          <a:xfrm>
            <a:off x="7766697" y="2810400"/>
            <a:ext cx="37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4" name="Google Shape;1894;p98"/>
          <p:cNvSpPr txBox="1"/>
          <p:nvPr/>
        </p:nvSpPr>
        <p:spPr>
          <a:xfrm>
            <a:off x="5782931" y="2755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5" name="Google Shape;1895;p98"/>
          <p:cNvSpPr txBox="1"/>
          <p:nvPr/>
        </p:nvSpPr>
        <p:spPr>
          <a:xfrm>
            <a:off x="6887156" y="24146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901" name="Google Shape;1901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Use this </a:t>
            </a:r>
            <a:r>
              <a:rPr b="1" lang="en-GB" sz="1800"/>
              <a:t>Venn diagram</a:t>
            </a:r>
            <a:r>
              <a:rPr lang="en-GB" sz="1800"/>
              <a:t> to answer the following questions: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2" name="Google Shape;1902;p99"/>
          <p:cNvSpPr txBox="1"/>
          <p:nvPr>
            <p:ph idx="1" type="body"/>
          </p:nvPr>
        </p:nvSpPr>
        <p:spPr>
          <a:xfrm>
            <a:off x="324000" y="11884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List the outcomes that are in event 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3" name="Google Shape;1903;p99"/>
          <p:cNvSpPr txBox="1"/>
          <p:nvPr>
            <p:ph idx="1" type="body"/>
          </p:nvPr>
        </p:nvSpPr>
        <p:spPr>
          <a:xfrm>
            <a:off x="324000" y="1850602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List the outcomes that are in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4" name="Google Shape;1904;p99"/>
          <p:cNvSpPr txBox="1"/>
          <p:nvPr>
            <p:ph idx="1" type="body"/>
          </p:nvPr>
        </p:nvSpPr>
        <p:spPr>
          <a:xfrm>
            <a:off x="324000" y="25008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List the outcomes that are in both event A and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5" name="Google Shape;1905;p99"/>
          <p:cNvSpPr txBox="1"/>
          <p:nvPr>
            <p:ph idx="1" type="body"/>
          </p:nvPr>
        </p:nvSpPr>
        <p:spPr>
          <a:xfrm>
            <a:off x="324000" y="3316188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List the outcomes that are in event A but not in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6" name="Google Shape;1906;p99"/>
          <p:cNvSpPr txBox="1"/>
          <p:nvPr>
            <p:ph idx="1" type="body"/>
          </p:nvPr>
        </p:nvSpPr>
        <p:spPr>
          <a:xfrm>
            <a:off x="324000" y="407985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e) List the outcomes that are not in either event A nor event B.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07" name="Google Shape;1907;p99"/>
          <p:cNvSpPr/>
          <p:nvPr/>
        </p:nvSpPr>
        <p:spPr>
          <a:xfrm>
            <a:off x="5316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99"/>
          <p:cNvSpPr txBox="1"/>
          <p:nvPr/>
        </p:nvSpPr>
        <p:spPr>
          <a:xfrm>
            <a:off x="5338950" y="1153425"/>
            <a:ext cx="329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= {integer values from 1 to 15 inclusive}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9" name="Google Shape;1909;p99"/>
          <p:cNvSpPr/>
          <p:nvPr/>
        </p:nvSpPr>
        <p:spPr>
          <a:xfrm>
            <a:off x="5695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0" name="Google Shape;1910;p99"/>
          <p:cNvSpPr txBox="1"/>
          <p:nvPr/>
        </p:nvSpPr>
        <p:spPr>
          <a:xfrm>
            <a:off x="5750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1" name="Google Shape;1911;p99"/>
          <p:cNvSpPr/>
          <p:nvPr/>
        </p:nvSpPr>
        <p:spPr>
          <a:xfrm>
            <a:off x="6686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2" name="Google Shape;1912;p99"/>
          <p:cNvSpPr txBox="1"/>
          <p:nvPr/>
        </p:nvSpPr>
        <p:spPr>
          <a:xfrm>
            <a:off x="8053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3" name="Google Shape;1913;p99"/>
          <p:cNvSpPr txBox="1"/>
          <p:nvPr/>
        </p:nvSpPr>
        <p:spPr>
          <a:xfrm>
            <a:off x="8303998" y="34889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99"/>
          <p:cNvSpPr txBox="1"/>
          <p:nvPr/>
        </p:nvSpPr>
        <p:spPr>
          <a:xfrm>
            <a:off x="6935106" y="253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99"/>
          <p:cNvSpPr txBox="1"/>
          <p:nvPr/>
        </p:nvSpPr>
        <p:spPr>
          <a:xfrm>
            <a:off x="6234606" y="2890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99"/>
          <p:cNvSpPr txBox="1"/>
          <p:nvPr/>
        </p:nvSpPr>
        <p:spPr>
          <a:xfrm>
            <a:off x="7597206" y="2227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7" name="Google Shape;1917;p99"/>
          <p:cNvSpPr txBox="1"/>
          <p:nvPr/>
        </p:nvSpPr>
        <p:spPr>
          <a:xfrm>
            <a:off x="6900906" y="28457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99"/>
          <p:cNvSpPr txBox="1"/>
          <p:nvPr/>
        </p:nvSpPr>
        <p:spPr>
          <a:xfrm>
            <a:off x="7687806" y="26673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99"/>
          <p:cNvSpPr txBox="1"/>
          <p:nvPr/>
        </p:nvSpPr>
        <p:spPr>
          <a:xfrm>
            <a:off x="5499256" y="348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99"/>
          <p:cNvSpPr txBox="1"/>
          <p:nvPr/>
        </p:nvSpPr>
        <p:spPr>
          <a:xfrm>
            <a:off x="6858906" y="348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1" name="Google Shape;1921;p99"/>
          <p:cNvSpPr txBox="1"/>
          <p:nvPr/>
        </p:nvSpPr>
        <p:spPr>
          <a:xfrm>
            <a:off x="5983806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2" name="Google Shape;1922;p99"/>
          <p:cNvSpPr txBox="1"/>
          <p:nvPr/>
        </p:nvSpPr>
        <p:spPr>
          <a:xfrm>
            <a:off x="6435481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3" name="Google Shape;1923;p99"/>
          <p:cNvSpPr txBox="1"/>
          <p:nvPr/>
        </p:nvSpPr>
        <p:spPr>
          <a:xfrm>
            <a:off x="7333798" y="30390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4" name="Google Shape;1924;p99"/>
          <p:cNvSpPr txBox="1"/>
          <p:nvPr/>
        </p:nvSpPr>
        <p:spPr>
          <a:xfrm>
            <a:off x="7766706" y="30389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5" name="Google Shape;1925;p99"/>
          <p:cNvSpPr txBox="1"/>
          <p:nvPr/>
        </p:nvSpPr>
        <p:spPr>
          <a:xfrm>
            <a:off x="6435481" y="32116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6" name="Google Shape;1926;p99"/>
          <p:cNvSpPr txBox="1"/>
          <p:nvPr/>
        </p:nvSpPr>
        <p:spPr>
          <a:xfrm>
            <a:off x="5782931" y="2755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7" name="Google Shape;1927;p99"/>
          <p:cNvSpPr txBox="1"/>
          <p:nvPr/>
        </p:nvSpPr>
        <p:spPr>
          <a:xfrm>
            <a:off x="6887156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8" name="Google Shape;1928;p99"/>
          <p:cNvSpPr txBox="1"/>
          <p:nvPr/>
        </p:nvSpPr>
        <p:spPr>
          <a:xfrm>
            <a:off x="1161912" y="1502825"/>
            <a:ext cx="27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2, 3, 7, 8, 12, 13, 15}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9" name="Google Shape;1929;p99"/>
          <p:cNvSpPr txBox="1"/>
          <p:nvPr/>
        </p:nvSpPr>
        <p:spPr>
          <a:xfrm>
            <a:off x="1154143" y="2151273"/>
            <a:ext cx="27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4, 5, 8, 9, 14, 15}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0" name="Google Shape;1930;p99"/>
          <p:cNvSpPr txBox="1"/>
          <p:nvPr/>
        </p:nvSpPr>
        <p:spPr>
          <a:xfrm>
            <a:off x="2822774" y="2844850"/>
            <a:ext cx="1194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{2, 8, 15}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1" name="Google Shape;1931;p99"/>
          <p:cNvSpPr txBox="1"/>
          <p:nvPr/>
        </p:nvSpPr>
        <p:spPr>
          <a:xfrm>
            <a:off x="2519462" y="3704475"/>
            <a:ext cx="2746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3, 7, 12, 13}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2" name="Google Shape;1932;p99"/>
          <p:cNvSpPr txBox="1"/>
          <p:nvPr/>
        </p:nvSpPr>
        <p:spPr>
          <a:xfrm>
            <a:off x="3524107" y="4398425"/>
            <a:ext cx="126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{6, 10, 11}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938" name="Google Shape;1938;p100"/>
          <p:cNvSpPr txBox="1"/>
          <p:nvPr>
            <p:ph idx="1" type="body"/>
          </p:nvPr>
        </p:nvSpPr>
        <p:spPr>
          <a:xfrm>
            <a:off x="324000" y="683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a) Use the following information to complete the </a:t>
            </a:r>
            <a:r>
              <a:rPr b="1" lang="en-GB" sz="1800"/>
              <a:t>Venn diagram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39" name="Google Shape;1939;p100"/>
          <p:cNvSpPr txBox="1"/>
          <p:nvPr>
            <p:ph idx="1" type="body"/>
          </p:nvPr>
        </p:nvSpPr>
        <p:spPr>
          <a:xfrm>
            <a:off x="324000" y="1003800"/>
            <a:ext cx="4905000" cy="42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 possible outcomes from the trial are the integers from 1 to 10 inclusive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there are five possible outcomes for event 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{6} is the only outcome of both events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{2, 5, 8} are not outcomes of event A nor event B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t</a:t>
            </a:r>
            <a:r>
              <a:rPr lang="en-GB" sz="1800"/>
              <a:t>he outcomes that are only in event B are prime</a:t>
            </a:r>
            <a:endParaRPr sz="1800"/>
          </a:p>
        </p:txBody>
      </p:sp>
      <p:sp>
        <p:nvSpPr>
          <p:cNvPr id="1940" name="Google Shape;1940;p100"/>
          <p:cNvSpPr/>
          <p:nvPr/>
        </p:nvSpPr>
        <p:spPr>
          <a:xfrm>
            <a:off x="5316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1" name="Google Shape;1941;p100"/>
          <p:cNvSpPr txBox="1"/>
          <p:nvPr/>
        </p:nvSpPr>
        <p:spPr>
          <a:xfrm>
            <a:off x="5338950" y="1458225"/>
            <a:ext cx="348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{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1, 2, 3, 4, 5, 6, 7, 8, 9, 10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}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2" name="Google Shape;1942;p100"/>
          <p:cNvSpPr/>
          <p:nvPr/>
        </p:nvSpPr>
        <p:spPr>
          <a:xfrm>
            <a:off x="5695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00"/>
          <p:cNvSpPr txBox="1"/>
          <p:nvPr/>
        </p:nvSpPr>
        <p:spPr>
          <a:xfrm>
            <a:off x="5750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00"/>
          <p:cNvSpPr/>
          <p:nvPr/>
        </p:nvSpPr>
        <p:spPr>
          <a:xfrm>
            <a:off x="6686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5" name="Google Shape;1945;p100"/>
          <p:cNvSpPr txBox="1"/>
          <p:nvPr/>
        </p:nvSpPr>
        <p:spPr>
          <a:xfrm>
            <a:off x="8053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6" name="Google Shape;1946;p100"/>
          <p:cNvSpPr txBox="1"/>
          <p:nvPr/>
        </p:nvSpPr>
        <p:spPr>
          <a:xfrm>
            <a:off x="6485398" y="3240000"/>
            <a:ext cx="32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7" name="Google Shape;1947;p100"/>
          <p:cNvSpPr txBox="1"/>
          <p:nvPr/>
        </p:nvSpPr>
        <p:spPr>
          <a:xfrm>
            <a:off x="8334606" y="33895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8" name="Google Shape;1948;p100"/>
          <p:cNvSpPr txBox="1"/>
          <p:nvPr/>
        </p:nvSpPr>
        <p:spPr>
          <a:xfrm>
            <a:off x="7530006" y="228074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9" name="Google Shape;1949;p100"/>
          <p:cNvSpPr txBox="1"/>
          <p:nvPr/>
        </p:nvSpPr>
        <p:spPr>
          <a:xfrm>
            <a:off x="6301806" y="26851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0" name="Google Shape;1950;p100"/>
          <p:cNvSpPr txBox="1"/>
          <p:nvPr/>
        </p:nvSpPr>
        <p:spPr>
          <a:xfrm>
            <a:off x="5444881" y="34721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1" name="Google Shape;1951;p100"/>
          <p:cNvSpPr txBox="1"/>
          <p:nvPr/>
        </p:nvSpPr>
        <p:spPr>
          <a:xfrm>
            <a:off x="6131406" y="22622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2" name="Google Shape;1952;p100"/>
          <p:cNvSpPr txBox="1"/>
          <p:nvPr/>
        </p:nvSpPr>
        <p:spPr>
          <a:xfrm>
            <a:off x="6907856" y="26673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3" name="Google Shape;1953;p100"/>
          <p:cNvSpPr txBox="1"/>
          <p:nvPr/>
        </p:nvSpPr>
        <p:spPr>
          <a:xfrm>
            <a:off x="5881206" y="27435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4" name="Google Shape;1954;p100"/>
          <p:cNvSpPr txBox="1"/>
          <p:nvPr/>
        </p:nvSpPr>
        <p:spPr>
          <a:xfrm>
            <a:off x="6874443" y="3472193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5" name="Google Shape;1955;p100"/>
          <p:cNvSpPr txBox="1"/>
          <p:nvPr/>
        </p:nvSpPr>
        <p:spPr>
          <a:xfrm>
            <a:off x="7687931" y="28316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6" name="Google Shape;1956;p100"/>
          <p:cNvSpPr txBox="1"/>
          <p:nvPr>
            <p:ph idx="1" type="body"/>
          </p:nvPr>
        </p:nvSpPr>
        <p:spPr>
          <a:xfrm>
            <a:off x="324000" y="3807300"/>
            <a:ext cx="357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List the outcomes of event 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57" name="Google Shape;1957;p100"/>
          <p:cNvSpPr txBox="1"/>
          <p:nvPr>
            <p:ph idx="1" type="body"/>
          </p:nvPr>
        </p:nvSpPr>
        <p:spPr>
          <a:xfrm>
            <a:off x="324000" y="4264500"/>
            <a:ext cx="600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List all the outcomes for event A or event B or both.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58" name="Google Shape;1958;p100"/>
          <p:cNvSpPr txBox="1"/>
          <p:nvPr/>
        </p:nvSpPr>
        <p:spPr>
          <a:xfrm>
            <a:off x="1390505" y="4017425"/>
            <a:ext cx="172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{1, 4, 6, 9, 10}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9" name="Google Shape;1959;p100"/>
          <p:cNvSpPr txBox="1"/>
          <p:nvPr/>
        </p:nvSpPr>
        <p:spPr>
          <a:xfrm>
            <a:off x="1619096" y="4490164"/>
            <a:ext cx="316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{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1, 3, 4, 6, 7, 9, 10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}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Outcomes from Venn diagrams</a:t>
            </a:r>
            <a:endParaRPr/>
          </a:p>
        </p:txBody>
      </p:sp>
      <p:sp>
        <p:nvSpPr>
          <p:cNvPr id="1965" name="Google Shape;1965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Use this </a:t>
            </a:r>
            <a:r>
              <a:rPr b="1" lang="en-GB" sz="1800"/>
              <a:t>Venn diagram</a:t>
            </a:r>
            <a:r>
              <a:rPr lang="en-GB" sz="1800"/>
              <a:t> to answer the following questions: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6" name="Google Shape;1966;p101"/>
          <p:cNvSpPr txBox="1"/>
          <p:nvPr>
            <p:ph idx="1" type="body"/>
          </p:nvPr>
        </p:nvSpPr>
        <p:spPr>
          <a:xfrm>
            <a:off x="324000" y="11884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How many outcomes are in the sample space?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7" name="Google Shape;1967;p101"/>
          <p:cNvSpPr txBox="1"/>
          <p:nvPr>
            <p:ph idx="1" type="body"/>
          </p:nvPr>
        </p:nvSpPr>
        <p:spPr>
          <a:xfrm>
            <a:off x="324000" y="1926802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How many outcomes are in event A?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8" name="Google Shape;1968;p101"/>
          <p:cNvSpPr txBox="1"/>
          <p:nvPr>
            <p:ph idx="1" type="body"/>
          </p:nvPr>
        </p:nvSpPr>
        <p:spPr>
          <a:xfrm>
            <a:off x="324000" y="2500800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How many outcomes are in event B?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69" name="Google Shape;1969;p101"/>
          <p:cNvSpPr txBox="1"/>
          <p:nvPr>
            <p:ph idx="1" type="body"/>
          </p:nvPr>
        </p:nvSpPr>
        <p:spPr>
          <a:xfrm>
            <a:off x="324000" y="3163788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How many outcomes are not in event A or event B?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0" name="Google Shape;1970;p101"/>
          <p:cNvSpPr txBox="1"/>
          <p:nvPr>
            <p:ph idx="1" type="body"/>
          </p:nvPr>
        </p:nvSpPr>
        <p:spPr>
          <a:xfrm>
            <a:off x="324000" y="3927450"/>
            <a:ext cx="781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e) Explain why your answers to parts b, c and d do not sum to part a.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71" name="Google Shape;1971;p101"/>
          <p:cNvSpPr/>
          <p:nvPr/>
        </p:nvSpPr>
        <p:spPr>
          <a:xfrm>
            <a:off x="5316200" y="1777875"/>
            <a:ext cx="3434100" cy="2055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01"/>
          <p:cNvSpPr txBox="1"/>
          <p:nvPr/>
        </p:nvSpPr>
        <p:spPr>
          <a:xfrm>
            <a:off x="5166525" y="1763825"/>
            <a:ext cx="1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ξ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01"/>
          <p:cNvSpPr/>
          <p:nvPr/>
        </p:nvSpPr>
        <p:spPr>
          <a:xfrm>
            <a:off x="56956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01"/>
          <p:cNvSpPr txBox="1"/>
          <p:nvPr/>
        </p:nvSpPr>
        <p:spPr>
          <a:xfrm>
            <a:off x="5750050" y="1954418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01"/>
          <p:cNvSpPr/>
          <p:nvPr/>
        </p:nvSpPr>
        <p:spPr>
          <a:xfrm>
            <a:off x="6686275" y="2002893"/>
            <a:ext cx="1606200" cy="1606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01"/>
          <p:cNvSpPr txBox="1"/>
          <p:nvPr/>
        </p:nvSpPr>
        <p:spPr>
          <a:xfrm>
            <a:off x="8053200" y="1954425"/>
            <a:ext cx="25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01"/>
          <p:cNvSpPr txBox="1"/>
          <p:nvPr/>
        </p:nvSpPr>
        <p:spPr>
          <a:xfrm>
            <a:off x="8303998" y="34889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01"/>
          <p:cNvSpPr txBox="1"/>
          <p:nvPr/>
        </p:nvSpPr>
        <p:spPr>
          <a:xfrm>
            <a:off x="6858899" y="28438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9" name="Google Shape;1979;p101"/>
          <p:cNvSpPr txBox="1"/>
          <p:nvPr/>
        </p:nvSpPr>
        <p:spPr>
          <a:xfrm>
            <a:off x="6234606" y="289034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31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0" name="Google Shape;1980;p101"/>
          <p:cNvSpPr txBox="1"/>
          <p:nvPr/>
        </p:nvSpPr>
        <p:spPr>
          <a:xfrm>
            <a:off x="7535398" y="23626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01"/>
          <p:cNvSpPr txBox="1"/>
          <p:nvPr/>
        </p:nvSpPr>
        <p:spPr>
          <a:xfrm>
            <a:off x="5499256" y="3488893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18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2" name="Google Shape;1982;p101"/>
          <p:cNvSpPr txBox="1"/>
          <p:nvPr/>
        </p:nvSpPr>
        <p:spPr>
          <a:xfrm>
            <a:off x="6858897" y="3488900"/>
            <a:ext cx="37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3" name="Google Shape;1983;p101"/>
          <p:cNvSpPr txBox="1"/>
          <p:nvPr/>
        </p:nvSpPr>
        <p:spPr>
          <a:xfrm>
            <a:off x="5983798" y="2262225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01"/>
          <p:cNvSpPr txBox="1"/>
          <p:nvPr/>
        </p:nvSpPr>
        <p:spPr>
          <a:xfrm>
            <a:off x="6435481" y="22622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01"/>
          <p:cNvSpPr txBox="1"/>
          <p:nvPr/>
        </p:nvSpPr>
        <p:spPr>
          <a:xfrm>
            <a:off x="7333798" y="3039000"/>
            <a:ext cx="325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01"/>
          <p:cNvSpPr txBox="1"/>
          <p:nvPr/>
        </p:nvSpPr>
        <p:spPr>
          <a:xfrm>
            <a:off x="7766697" y="2810400"/>
            <a:ext cx="37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59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7" name="Google Shape;1987;p101"/>
          <p:cNvSpPr txBox="1"/>
          <p:nvPr/>
        </p:nvSpPr>
        <p:spPr>
          <a:xfrm>
            <a:off x="5782931" y="27554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8" name="Google Shape;1988;p101"/>
          <p:cNvSpPr txBox="1"/>
          <p:nvPr/>
        </p:nvSpPr>
        <p:spPr>
          <a:xfrm>
            <a:off x="6887156" y="2414618"/>
            <a:ext cx="2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01"/>
          <p:cNvSpPr txBox="1"/>
          <p:nvPr/>
        </p:nvSpPr>
        <p:spPr>
          <a:xfrm>
            <a:off x="2228705" y="1502825"/>
            <a:ext cx="172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 outcomes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0" name="Google Shape;1990;p101"/>
          <p:cNvSpPr txBox="1"/>
          <p:nvPr/>
        </p:nvSpPr>
        <p:spPr>
          <a:xfrm>
            <a:off x="2228705" y="2188625"/>
            <a:ext cx="172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outcomes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1" name="Google Shape;1991;p101"/>
          <p:cNvSpPr txBox="1"/>
          <p:nvPr/>
        </p:nvSpPr>
        <p:spPr>
          <a:xfrm>
            <a:off x="2228705" y="2798225"/>
            <a:ext cx="172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outcomes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2" name="Google Shape;1992;p101"/>
          <p:cNvSpPr txBox="1"/>
          <p:nvPr/>
        </p:nvSpPr>
        <p:spPr>
          <a:xfrm>
            <a:off x="2228705" y="3560225"/>
            <a:ext cx="172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outcomes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3" name="Google Shape;1993;p101"/>
          <p:cNvSpPr txBox="1"/>
          <p:nvPr/>
        </p:nvSpPr>
        <p:spPr>
          <a:xfrm>
            <a:off x="590503" y="4246025"/>
            <a:ext cx="7319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two outcomes that exist in both event A and event B so are counted twice in the sum.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10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Venn diagrams </a:t>
            </a:r>
            <a:r>
              <a:rPr lang="en-GB"/>
              <a:t>can show the outcomes for two events.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Outcome tables and outcome trees can be used to generate a </a:t>
            </a:r>
            <a:r>
              <a:rPr b="1" lang="en-GB"/>
              <a:t>Venn diagram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/>
              <a:t>Venn diagrams </a:t>
            </a:r>
            <a:r>
              <a:rPr lang="en-GB"/>
              <a:t>can be used to generate outcome tables and outcome trees.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/>
              <a:t> </a:t>
            </a:r>
            <a:endParaRPr/>
          </a:p>
        </p:txBody>
      </p:sp>
      <p:sp>
        <p:nvSpPr>
          <p:cNvPr id="1999" name="Google Shape;1999;p102"/>
          <p:cNvSpPr txBox="1"/>
          <p:nvPr>
            <p:ph type="title"/>
          </p:nvPr>
        </p:nvSpPr>
        <p:spPr>
          <a:xfrm>
            <a:off x="1684800" y="43825"/>
            <a:ext cx="5741400" cy="655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Venn diagram to display outcomes for two events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005" name="Google Shape;2005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