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0" Type="http://schemas.openxmlformats.org/officeDocument/2006/relationships/slide" Target="slides/slide4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1efb5cde0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1efb5cde0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1efb5cde0f5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1efb5cde0f5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b579469bb5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b579469bb5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b579469b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2b579469b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2b579469bb5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2b579469bb5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2b579469bb5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2b579469bb5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b579469bb5_1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b579469bb5_1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2b579469bb5_1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2b579469bb5_1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b579469bb5_1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2b579469bb5_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b579469bb5_1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b579469bb5_1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b579469bb5_2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b579469bb5_2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2b579469bb5_2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2b579469bb5_2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2b579469bb5_1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2b579469bb5_1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2b579469bb5_2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2b579469bb5_2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2b579469bb5_2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2b579469bb5_2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b579469bb5_2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b579469bb5_2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2b865711b3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2b865711b3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2b5cbfcef67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2b5cbfcef67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2b6f05c76ca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2b6f05c76ca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2b865711b3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2b865711b3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2b6f05c76ca_1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2b6f05c76ca_1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2b6f05c76ca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2b6f05c76ca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2b865711b3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2b865711b3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2b6f05c76ca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2b6f05c76ca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2b6f05c76ca_1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2b6f05c76ca_1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2b579469bb5_2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2b579469bb5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2b579469bb5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2b579469bb5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2b579469bb5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2b579469bb5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b579469bb5_2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2b579469bb5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2b5cbfcef67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2b5cbfcef67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2b67c3b0847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2" name="Google Shape;1572;g2b67c3b0847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2b67c3b0847_0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2b67c3b0847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g2b67c3b0847_0_1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9" name="Google Shape;1639;g2b67c3b0847_0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2b5cbfcef67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7" name="Google Shape;1647;g2b5cbfcef67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2b67c3b0847_0_9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6" name="Google Shape;1686;g2b67c3b0847_0_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2b5cbfcef67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2b5cbfcef67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g2b5cbfcef67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5" name="Google Shape;1735;g2b5cbfcef67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g2b5cbfcef6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5" name="Google Shape;1745;g2b5cbfcef6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g2b5cbfcef67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5" name="Google Shape;1755;g2b5cbfcef67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2b894036e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2b894036e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g2b6f05c76ca_1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9" name="Google Shape;1789;g2b6f05c76ca_1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g2b6f05c76ca_1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8" name="Google Shape;1818;g2b6f05c76ca_1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g1efb5cde0f5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7" name="Google Shape;1827;g1efb5cde0f5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g2b7813daa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3" name="Google Shape;1833;g2b7813daa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5.png"/><Relationship Id="rId4" Type="http://schemas.openxmlformats.org/officeDocument/2006/relationships/image" Target="../media/image52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Relationship Id="rId7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2.png"/><Relationship Id="rId4" Type="http://schemas.openxmlformats.org/officeDocument/2006/relationships/image" Target="../media/image19.png"/><Relationship Id="rId9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23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2.png"/><Relationship Id="rId4" Type="http://schemas.openxmlformats.org/officeDocument/2006/relationships/image" Target="../media/image33.png"/><Relationship Id="rId11" Type="http://schemas.openxmlformats.org/officeDocument/2006/relationships/image" Target="../media/image18.png"/><Relationship Id="rId10" Type="http://schemas.openxmlformats.org/officeDocument/2006/relationships/image" Target="../media/image37.png"/><Relationship Id="rId9" Type="http://schemas.openxmlformats.org/officeDocument/2006/relationships/image" Target="../media/image29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0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 1">
  <p:cSld name="TITLE_AND_TWO_COLUMNS_1_1_5_1_3_1_1_2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Google Shape;75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3" name="Google Shape;753;p63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4" name="Google Shape;754;p6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55" name="Google Shape;75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6.png"/><Relationship Id="rId4" Type="http://schemas.openxmlformats.org/officeDocument/2006/relationships/image" Target="../media/image59.png"/><Relationship Id="rId5" Type="http://schemas.openxmlformats.org/officeDocument/2006/relationships/image" Target="../media/image63.png"/><Relationship Id="rId6" Type="http://schemas.openxmlformats.org/officeDocument/2006/relationships/image" Target="../media/image5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6.png"/><Relationship Id="rId4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6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5.png"/><Relationship Id="rId4" Type="http://schemas.openxmlformats.org/officeDocument/2006/relationships/image" Target="../media/image60.png"/><Relationship Id="rId5" Type="http://schemas.openxmlformats.org/officeDocument/2006/relationships/image" Target="../media/image66.png"/><Relationship Id="rId6" Type="http://schemas.openxmlformats.org/officeDocument/2006/relationships/image" Target="../media/image59.png"/><Relationship Id="rId7" Type="http://schemas.openxmlformats.org/officeDocument/2006/relationships/image" Target="../media/image64.png"/><Relationship Id="rId8" Type="http://schemas.openxmlformats.org/officeDocument/2006/relationships/image" Target="../media/image6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Relationship Id="rId5" Type="http://schemas.openxmlformats.org/officeDocument/2006/relationships/image" Target="../media/image67.png"/><Relationship Id="rId6" Type="http://schemas.openxmlformats.org/officeDocument/2006/relationships/image" Target="../media/image66.png"/><Relationship Id="rId7" Type="http://schemas.openxmlformats.org/officeDocument/2006/relationships/image" Target="../media/image64.png"/><Relationship Id="rId8" Type="http://schemas.openxmlformats.org/officeDocument/2006/relationships/image" Target="../media/image6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8.png"/><Relationship Id="rId4" Type="http://schemas.openxmlformats.org/officeDocument/2006/relationships/image" Target="../media/image61.png"/><Relationship Id="rId9" Type="http://schemas.openxmlformats.org/officeDocument/2006/relationships/hyperlink" Target="https://www.desmos.com/calculator/ykq9jeeubj" TargetMode="External"/><Relationship Id="rId5" Type="http://schemas.openxmlformats.org/officeDocument/2006/relationships/image" Target="../media/image66.png"/><Relationship Id="rId6" Type="http://schemas.openxmlformats.org/officeDocument/2006/relationships/image" Target="../media/image59.png"/><Relationship Id="rId7" Type="http://schemas.openxmlformats.org/officeDocument/2006/relationships/image" Target="../media/image64.png"/><Relationship Id="rId8" Type="http://schemas.openxmlformats.org/officeDocument/2006/relationships/image" Target="../media/image6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64.png"/><Relationship Id="rId6" Type="http://schemas.openxmlformats.org/officeDocument/2006/relationships/image" Target="../media/image6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9.png"/><Relationship Id="rId4" Type="http://schemas.openxmlformats.org/officeDocument/2006/relationships/image" Target="../media/image56.png"/><Relationship Id="rId5" Type="http://schemas.openxmlformats.org/officeDocument/2006/relationships/image" Target="../media/image68.png"/><Relationship Id="rId6" Type="http://schemas.openxmlformats.org/officeDocument/2006/relationships/image" Target="../media/image64.png"/><Relationship Id="rId7" Type="http://schemas.openxmlformats.org/officeDocument/2006/relationships/image" Target="../media/image6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9.png"/><Relationship Id="rId4" Type="http://schemas.openxmlformats.org/officeDocument/2006/relationships/image" Target="../media/image74.png"/><Relationship Id="rId5" Type="http://schemas.openxmlformats.org/officeDocument/2006/relationships/image" Target="../media/image7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9.png"/><Relationship Id="rId4" Type="http://schemas.openxmlformats.org/officeDocument/2006/relationships/image" Target="../media/image74.png"/><Relationship Id="rId5" Type="http://schemas.openxmlformats.org/officeDocument/2006/relationships/image" Target="../media/image78.png"/><Relationship Id="rId6" Type="http://schemas.openxmlformats.org/officeDocument/2006/relationships/hyperlink" Target="https://www.desmos.com/calculator/lu4glebgap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desmos.com/calculator/f7yl1gqrcm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4.png"/><Relationship Id="rId4" Type="http://schemas.openxmlformats.org/officeDocument/2006/relationships/image" Target="../media/image7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desmos.com/calculator/lu4glebgap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desmos.com/calculator/f7yl1gqrcm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6.png"/><Relationship Id="rId4" Type="http://schemas.openxmlformats.org/officeDocument/2006/relationships/image" Target="../media/image77.png"/><Relationship Id="rId5" Type="http://schemas.openxmlformats.org/officeDocument/2006/relationships/image" Target="../media/image8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1.png"/><Relationship Id="rId4" Type="http://schemas.openxmlformats.org/officeDocument/2006/relationships/image" Target="../media/image56.png"/><Relationship Id="rId5" Type="http://schemas.openxmlformats.org/officeDocument/2006/relationships/image" Target="../media/image77.png"/><Relationship Id="rId6" Type="http://schemas.openxmlformats.org/officeDocument/2006/relationships/image" Target="../media/image8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6.png"/><Relationship Id="rId4" Type="http://schemas.openxmlformats.org/officeDocument/2006/relationships/image" Target="../media/image56.png"/><Relationship Id="rId5" Type="http://schemas.openxmlformats.org/officeDocument/2006/relationships/image" Target="../media/image77.png"/><Relationship Id="rId6" Type="http://schemas.openxmlformats.org/officeDocument/2006/relationships/image" Target="../media/image8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5.png"/><Relationship Id="rId4" Type="http://schemas.openxmlformats.org/officeDocument/2006/relationships/image" Target="../media/image66.png"/><Relationship Id="rId5" Type="http://schemas.openxmlformats.org/officeDocument/2006/relationships/image" Target="../media/image77.png"/><Relationship Id="rId6" Type="http://schemas.openxmlformats.org/officeDocument/2006/relationships/image" Target="../media/image80.png"/><Relationship Id="rId7" Type="http://schemas.openxmlformats.org/officeDocument/2006/relationships/image" Target="../media/image5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4.png"/><Relationship Id="rId4" Type="http://schemas.openxmlformats.org/officeDocument/2006/relationships/hyperlink" Target="https://www.desmos.com/calculator/wbej3kp7gk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7.png"/><Relationship Id="rId4" Type="http://schemas.openxmlformats.org/officeDocument/2006/relationships/hyperlink" Target="https://www.desmos.com/calculator/xmdgq2hqel" TargetMode="External"/><Relationship Id="rId5" Type="http://schemas.openxmlformats.org/officeDocument/2006/relationships/image" Target="../media/image9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hyperlink" Target="https://www.desmos.com/calculator/bqkjt658pi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desmos.com/calculator/ykq9jeeubj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desmos.com/calculator/ykq9jeeubj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Experiments to determine how likely an outcome is</a:t>
            </a:r>
            <a:endParaRPr/>
          </a:p>
        </p:txBody>
      </p:sp>
      <p:sp>
        <p:nvSpPr>
          <p:cNvPr id="762" name="Google Shape;762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Probability: possible outcomes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5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determine the likelihood of an outcome by designing and carrying out an experiment.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/>
          <p:nvPr>
            <p:ph idx="1" type="subTitle"/>
          </p:nvPr>
        </p:nvSpPr>
        <p:spPr>
          <a:xfrm>
            <a:off x="324000" y="1080000"/>
            <a:ext cx="8496000" cy="69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 </a:t>
            </a:r>
            <a:r>
              <a:rPr b="1" lang="en-GB"/>
              <a:t>experiment</a:t>
            </a:r>
            <a:r>
              <a:rPr lang="en-GB"/>
              <a:t> is a repetition of a trial multiple times in order to observe how often each outcome occurs.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</a:t>
            </a:r>
            <a:r>
              <a:rPr lang="en-GB"/>
              <a:t>experiments</a:t>
            </a:r>
            <a:endParaRPr/>
          </a:p>
        </p:txBody>
      </p:sp>
      <p:sp>
        <p:nvSpPr>
          <p:cNvPr id="783" name="Google Shape;783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Considering the number of trials required</a:t>
            </a:r>
            <a:endParaRPr/>
          </a:p>
        </p:txBody>
      </p:sp>
      <p:sp>
        <p:nvSpPr>
          <p:cNvPr id="784" name="Google Shape;784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Experiments to determine how likely an outcome is</a:t>
            </a:r>
            <a:endParaRPr/>
          </a:p>
        </p:txBody>
      </p:sp>
      <p:pic>
        <p:nvPicPr>
          <p:cNvPr id="785" name="Google Shape;78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7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9"/>
          <p:cNvSpPr txBox="1"/>
          <p:nvPr>
            <p:ph idx="1" type="body"/>
          </p:nvPr>
        </p:nvSpPr>
        <p:spPr>
          <a:xfrm>
            <a:off x="324000" y="759300"/>
            <a:ext cx="84960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flipping a fair coin, there are two possible outcomes: the coin lands showing ‘</a:t>
            </a:r>
            <a:r>
              <a:rPr lang="en-GB" sz="2000">
                <a:solidFill>
                  <a:schemeClr val="accent4"/>
                </a:solidFill>
              </a:rPr>
              <a:t>heads</a:t>
            </a:r>
            <a:r>
              <a:rPr lang="en-GB" sz="2000"/>
              <a:t>’ or the coin lands showing ‘</a:t>
            </a:r>
            <a:r>
              <a:rPr lang="en-GB" sz="2000">
                <a:solidFill>
                  <a:schemeClr val="accent4"/>
                </a:solidFill>
              </a:rPr>
              <a:t>tails</a:t>
            </a:r>
            <a:r>
              <a:rPr lang="en-GB" sz="2000"/>
              <a:t>’.</a:t>
            </a:r>
            <a:endParaRPr sz="2000"/>
          </a:p>
        </p:txBody>
      </p:sp>
      <p:sp>
        <p:nvSpPr>
          <p:cNvPr id="791" name="Google Shape;79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sp>
        <p:nvSpPr>
          <p:cNvPr id="792" name="Google Shape;792;p69"/>
          <p:cNvSpPr txBox="1"/>
          <p:nvPr/>
        </p:nvSpPr>
        <p:spPr>
          <a:xfrm>
            <a:off x="3025444" y="1656711"/>
            <a:ext cx="43278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trial: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flipping a coin once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{heads, tails}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9"/>
          <p:cNvSpPr txBox="1"/>
          <p:nvPr>
            <p:ph idx="1" type="body"/>
          </p:nvPr>
        </p:nvSpPr>
        <p:spPr>
          <a:xfrm>
            <a:off x="324000" y="2664300"/>
            <a:ext cx="82377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Each outcome is </a:t>
            </a:r>
            <a:r>
              <a:rPr lang="en-GB" sz="2000">
                <a:solidFill>
                  <a:schemeClr val="accent4"/>
                </a:solidFill>
              </a:rPr>
              <a:t>equally likely</a:t>
            </a:r>
            <a:r>
              <a:rPr lang="en-GB" sz="2000"/>
              <a:t> to happen.</a:t>
            </a:r>
            <a:endParaRPr sz="2000"/>
          </a:p>
        </p:txBody>
      </p:sp>
      <p:pic>
        <p:nvPicPr>
          <p:cNvPr id="794" name="Google Shape;79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700" y="1505999"/>
            <a:ext cx="1003506" cy="10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9"/>
          <p:cNvSpPr txBox="1"/>
          <p:nvPr>
            <p:ph idx="1" type="body"/>
          </p:nvPr>
        </p:nvSpPr>
        <p:spPr>
          <a:xfrm>
            <a:off x="324000" y="3075411"/>
            <a:ext cx="8496000" cy="8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Because these are the </a:t>
            </a:r>
            <a:r>
              <a:rPr lang="en-GB" sz="2000">
                <a:solidFill>
                  <a:schemeClr val="accent4"/>
                </a:solidFill>
              </a:rPr>
              <a:t>only two possible outcomes</a:t>
            </a:r>
            <a:r>
              <a:rPr lang="en-GB" sz="2000"/>
              <a:t>, the likelihood of each outcome is an </a:t>
            </a:r>
            <a:r>
              <a:rPr lang="en-GB" sz="2000">
                <a:solidFill>
                  <a:schemeClr val="accent4"/>
                </a:solidFill>
              </a:rPr>
              <a:t>even chance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796" name="Google Shape;796;p69"/>
          <p:cNvSpPr txBox="1"/>
          <p:nvPr/>
        </p:nvSpPr>
        <p:spPr>
          <a:xfrm>
            <a:off x="7544625" y="4489975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9"/>
          <p:cNvSpPr txBox="1"/>
          <p:nvPr/>
        </p:nvSpPr>
        <p:spPr>
          <a:xfrm>
            <a:off x="552600" y="4489975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9"/>
          <p:cNvSpPr txBox="1"/>
          <p:nvPr/>
        </p:nvSpPr>
        <p:spPr>
          <a:xfrm>
            <a:off x="2472018" y="4446017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9"/>
          <p:cNvSpPr txBox="1"/>
          <p:nvPr/>
        </p:nvSpPr>
        <p:spPr>
          <a:xfrm>
            <a:off x="6126422" y="4446017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/>
        </p:nvSpPr>
        <p:spPr>
          <a:xfrm>
            <a:off x="3834807" y="4489975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1" name="Google Shape;801;p69"/>
          <p:cNvGrpSpPr/>
          <p:nvPr/>
        </p:nvGrpSpPr>
        <p:grpSpPr>
          <a:xfrm>
            <a:off x="1260850" y="4313374"/>
            <a:ext cx="6838200" cy="238354"/>
            <a:chOff x="1260861" y="3941077"/>
            <a:chExt cx="6838200" cy="658800"/>
          </a:xfrm>
        </p:grpSpPr>
        <p:cxnSp>
          <p:nvCxnSpPr>
            <p:cNvPr id="802" name="Google Shape;802;p69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" name="Google Shape;803;p69"/>
            <p:cNvCxnSpPr/>
            <p:nvPr/>
          </p:nvCxnSpPr>
          <p:spPr>
            <a:xfrm>
              <a:off x="1260883" y="3941077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4" name="Google Shape;804;p69"/>
            <p:cNvCxnSpPr/>
            <p:nvPr/>
          </p:nvCxnSpPr>
          <p:spPr>
            <a:xfrm>
              <a:off x="8088215" y="3941077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5" name="Google Shape;805;p69"/>
            <p:cNvCxnSpPr/>
            <p:nvPr/>
          </p:nvCxnSpPr>
          <p:spPr>
            <a:xfrm>
              <a:off x="4674549" y="3941077"/>
              <a:ext cx="0" cy="6588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6" name="Google Shape;806;p69"/>
            <p:cNvCxnSpPr/>
            <p:nvPr/>
          </p:nvCxnSpPr>
          <p:spPr>
            <a:xfrm>
              <a:off x="1365339" y="4581796"/>
              <a:ext cx="3221100" cy="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07" name="Google Shape;807;p69"/>
            <p:cNvCxnSpPr/>
            <p:nvPr/>
          </p:nvCxnSpPr>
          <p:spPr>
            <a:xfrm>
              <a:off x="4774394" y="4581796"/>
              <a:ext cx="3221100" cy="0"/>
            </a:xfrm>
            <a:prstGeom prst="straightConnector1">
              <a:avLst/>
            </a:prstGeom>
            <a:noFill/>
            <a:ln cap="flat" cmpd="sng" w="38100">
              <a:solidFill>
                <a:srgbClr val="59595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808" name="Google Shape;808;p69"/>
          <p:cNvSpPr txBox="1"/>
          <p:nvPr/>
        </p:nvSpPr>
        <p:spPr>
          <a:xfrm>
            <a:off x="4322097" y="3696572"/>
            <a:ext cx="792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heads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tails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3" name="Google Shape;813;p70"/>
          <p:cNvGrpSpPr/>
          <p:nvPr/>
        </p:nvGrpSpPr>
        <p:grpSpPr>
          <a:xfrm>
            <a:off x="3673864" y="3731281"/>
            <a:ext cx="937200" cy="449520"/>
            <a:chOff x="4209500" y="2068525"/>
            <a:chExt cx="937200" cy="612508"/>
          </a:xfrm>
        </p:grpSpPr>
        <p:sp>
          <p:nvSpPr>
            <p:cNvPr id="814" name="Google Shape;814;p70"/>
            <p:cNvSpPr/>
            <p:nvPr/>
          </p:nvSpPr>
          <p:spPr>
            <a:xfrm>
              <a:off x="4270950" y="2068525"/>
              <a:ext cx="798900" cy="536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5" name="Google Shape;815;p70"/>
            <p:cNvSpPr/>
            <p:nvPr/>
          </p:nvSpPr>
          <p:spPr>
            <a:xfrm>
              <a:off x="4209500" y="2244533"/>
              <a:ext cx="937200" cy="436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6" name="Google Shape;816;p70"/>
          <p:cNvGrpSpPr/>
          <p:nvPr/>
        </p:nvGrpSpPr>
        <p:grpSpPr>
          <a:xfrm flipH="1" rot="10800000">
            <a:off x="4717619" y="3373325"/>
            <a:ext cx="937200" cy="449520"/>
            <a:chOff x="4209500" y="2068525"/>
            <a:chExt cx="937200" cy="612508"/>
          </a:xfrm>
        </p:grpSpPr>
        <p:sp>
          <p:nvSpPr>
            <p:cNvPr id="817" name="Google Shape;817;p70"/>
            <p:cNvSpPr/>
            <p:nvPr/>
          </p:nvSpPr>
          <p:spPr>
            <a:xfrm>
              <a:off x="4270950" y="2068525"/>
              <a:ext cx="798900" cy="536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8" name="Google Shape;818;p70"/>
            <p:cNvSpPr/>
            <p:nvPr/>
          </p:nvSpPr>
          <p:spPr>
            <a:xfrm>
              <a:off x="4209500" y="2244533"/>
              <a:ext cx="937200" cy="436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19" name="Google Shape;819;p70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927448" y="1200520"/>
            <a:ext cx="3351977" cy="2163301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0"/>
          <p:cNvSpPr txBox="1"/>
          <p:nvPr/>
        </p:nvSpPr>
        <p:spPr>
          <a:xfrm>
            <a:off x="3246976" y="3310050"/>
            <a:ext cx="26595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trial: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spinning a frisbee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         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1" name="Google Shape;821;p70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763075" y="1070550"/>
            <a:ext cx="3759498" cy="2315701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0"/>
          <p:cNvSpPr txBox="1"/>
          <p:nvPr>
            <p:ph idx="1" type="body"/>
          </p:nvPr>
        </p:nvSpPr>
        <p:spPr>
          <a:xfrm>
            <a:off x="324000" y="759300"/>
            <a:ext cx="8496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Jacob and Sofia are playing with a frisbee.</a:t>
            </a:r>
            <a:endParaRPr sz="2000"/>
          </a:p>
        </p:txBody>
      </p:sp>
      <p:sp>
        <p:nvSpPr>
          <p:cNvPr id="823" name="Google Shape;82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sp>
        <p:nvSpPr>
          <p:cNvPr id="824" name="Google Shape;824;p70"/>
          <p:cNvSpPr txBox="1"/>
          <p:nvPr>
            <p:ph idx="1" type="body"/>
          </p:nvPr>
        </p:nvSpPr>
        <p:spPr>
          <a:xfrm>
            <a:off x="1136400" y="1236336"/>
            <a:ext cx="3183600" cy="91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I flip this frisbee in the air, there are </a:t>
            </a:r>
            <a:r>
              <a:rPr lang="en-GB" sz="1800">
                <a:solidFill>
                  <a:schemeClr val="accent4"/>
                </a:solidFill>
              </a:rPr>
              <a:t>two</a:t>
            </a:r>
            <a:r>
              <a:rPr lang="en-GB" sz="1800"/>
              <a:t> possible ways that it could land.</a:t>
            </a:r>
            <a:endParaRPr sz="1800"/>
          </a:p>
        </p:txBody>
      </p:sp>
      <p:sp>
        <p:nvSpPr>
          <p:cNvPr id="825" name="Google Shape;825;p70"/>
          <p:cNvSpPr txBox="1"/>
          <p:nvPr>
            <p:ph idx="1" type="body"/>
          </p:nvPr>
        </p:nvSpPr>
        <p:spPr>
          <a:xfrm>
            <a:off x="1136400" y="2264732"/>
            <a:ext cx="3265200" cy="6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Do you think the two outcomes are </a:t>
            </a:r>
            <a:r>
              <a:rPr lang="en-GB" sz="1800">
                <a:solidFill>
                  <a:schemeClr val="accent4"/>
                </a:solidFill>
              </a:rPr>
              <a:t>equally likely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826" name="Google Shape;826;p70"/>
          <p:cNvSpPr txBox="1"/>
          <p:nvPr>
            <p:ph idx="1" type="body"/>
          </p:nvPr>
        </p:nvSpPr>
        <p:spPr>
          <a:xfrm>
            <a:off x="5115743" y="1345800"/>
            <a:ext cx="2853600" cy="158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shape of the frisbee means that its two sides are different. So, it could be </a:t>
            </a:r>
            <a:r>
              <a:rPr lang="en-GB" sz="1800">
                <a:solidFill>
                  <a:schemeClr val="accent4"/>
                </a:solidFill>
              </a:rPr>
              <a:t>more likely</a:t>
            </a:r>
            <a:r>
              <a:rPr lang="en-GB" sz="1800"/>
              <a:t> to land one way than the other.</a:t>
            </a:r>
            <a:endParaRPr sz="1800"/>
          </a:p>
        </p:txBody>
      </p:sp>
      <p:sp>
        <p:nvSpPr>
          <p:cNvPr id="827" name="Google Shape;827;p70"/>
          <p:cNvSpPr txBox="1"/>
          <p:nvPr/>
        </p:nvSpPr>
        <p:spPr>
          <a:xfrm>
            <a:off x="2225811" y="4224450"/>
            <a:ext cx="4693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could they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investigate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whether one outcome is more likely than the other?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8" name="Google Shape;82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242720">
            <a:off x="841881" y="4488313"/>
            <a:ext cx="588575" cy="350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200" y="2952750"/>
            <a:ext cx="569737" cy="186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30741" y="3031290"/>
            <a:ext cx="487016" cy="1759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5" name="Google Shape;835;p71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413975" y="815657"/>
            <a:ext cx="4005100" cy="2621075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1"/>
          <p:cNvSpPr txBox="1"/>
          <p:nvPr>
            <p:ph idx="1" type="body"/>
          </p:nvPr>
        </p:nvSpPr>
        <p:spPr>
          <a:xfrm>
            <a:off x="4544675" y="942775"/>
            <a:ext cx="3577200" cy="20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could flip the frisbee in the air </a:t>
            </a:r>
            <a:r>
              <a:rPr lang="en-GB" sz="1800">
                <a:solidFill>
                  <a:schemeClr val="accent4"/>
                </a:solidFill>
              </a:rPr>
              <a:t>several times</a:t>
            </a:r>
            <a:r>
              <a:rPr lang="en-GB" sz="1800"/>
              <a:t> and see which outcome occurs the most.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That could give us an indication whether one outcome is more likely than the other.</a:t>
            </a:r>
            <a:endParaRPr sz="1800"/>
          </a:p>
        </p:txBody>
      </p:sp>
      <p:sp>
        <p:nvSpPr>
          <p:cNvPr id="837" name="Google Shape;837;p71"/>
          <p:cNvSpPr txBox="1"/>
          <p:nvPr/>
        </p:nvSpPr>
        <p:spPr>
          <a:xfrm>
            <a:off x="3235850" y="4250193"/>
            <a:ext cx="9372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1"/>
          <p:cNvSpPr txBox="1"/>
          <p:nvPr/>
        </p:nvSpPr>
        <p:spPr>
          <a:xfrm>
            <a:off x="3246976" y="3310050"/>
            <a:ext cx="26595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trial: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spinning a frisbee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{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9" name="Google Shape;839;p71"/>
          <p:cNvGrpSpPr/>
          <p:nvPr/>
        </p:nvGrpSpPr>
        <p:grpSpPr>
          <a:xfrm>
            <a:off x="4195422" y="4340881"/>
            <a:ext cx="937200" cy="449520"/>
            <a:chOff x="4209500" y="2068525"/>
            <a:chExt cx="937200" cy="612508"/>
          </a:xfrm>
        </p:grpSpPr>
        <p:sp>
          <p:nvSpPr>
            <p:cNvPr id="840" name="Google Shape;840;p71"/>
            <p:cNvSpPr/>
            <p:nvPr/>
          </p:nvSpPr>
          <p:spPr>
            <a:xfrm>
              <a:off x="4270950" y="2068525"/>
              <a:ext cx="798900" cy="536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1" name="Google Shape;841;p71"/>
            <p:cNvSpPr/>
            <p:nvPr/>
          </p:nvSpPr>
          <p:spPr>
            <a:xfrm>
              <a:off x="4209500" y="2244533"/>
              <a:ext cx="937200" cy="436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42" name="Google Shape;842;p71"/>
          <p:cNvGrpSpPr/>
          <p:nvPr/>
        </p:nvGrpSpPr>
        <p:grpSpPr>
          <a:xfrm flipH="1" rot="10800000">
            <a:off x="6203004" y="4059125"/>
            <a:ext cx="937200" cy="449520"/>
            <a:chOff x="4209500" y="2068525"/>
            <a:chExt cx="937200" cy="612508"/>
          </a:xfrm>
        </p:grpSpPr>
        <p:sp>
          <p:nvSpPr>
            <p:cNvPr id="843" name="Google Shape;843;p71"/>
            <p:cNvSpPr/>
            <p:nvPr/>
          </p:nvSpPr>
          <p:spPr>
            <a:xfrm>
              <a:off x="4270950" y="2068525"/>
              <a:ext cx="798900" cy="536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4" name="Google Shape;844;p71"/>
            <p:cNvSpPr/>
            <p:nvPr/>
          </p:nvSpPr>
          <p:spPr>
            <a:xfrm>
              <a:off x="4209500" y="2244533"/>
              <a:ext cx="937200" cy="436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45" name="Google Shape;845;p71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458275" y="841950"/>
            <a:ext cx="3759498" cy="1869926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pic>
        <p:nvPicPr>
          <p:cNvPr id="847" name="Google Shape;847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242720">
            <a:off x="841881" y="4488313"/>
            <a:ext cx="588575" cy="350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0741" y="3031290"/>
            <a:ext cx="487016" cy="1759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200" y="2952750"/>
            <a:ext cx="569737" cy="1869926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1"/>
          <p:cNvSpPr txBox="1"/>
          <p:nvPr>
            <p:ph idx="1" type="body"/>
          </p:nvPr>
        </p:nvSpPr>
        <p:spPr>
          <a:xfrm>
            <a:off x="750380" y="1007725"/>
            <a:ext cx="3433500" cy="13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To make it easier to talk about the outcomes, we could call one outcome ‘</a:t>
            </a:r>
            <a:r>
              <a:rPr lang="en-GB" sz="1800">
                <a:solidFill>
                  <a:schemeClr val="accent4"/>
                </a:solidFill>
              </a:rPr>
              <a:t>heads</a:t>
            </a:r>
            <a:r>
              <a:rPr lang="en-GB" sz="1800"/>
              <a:t>’ and the other outcome ‘</a:t>
            </a:r>
            <a:r>
              <a:rPr lang="en-GB" sz="1800">
                <a:solidFill>
                  <a:schemeClr val="accent4"/>
                </a:solidFill>
              </a:rPr>
              <a:t>tails</a:t>
            </a:r>
            <a:r>
              <a:rPr lang="en-GB" sz="1800"/>
              <a:t>’.</a:t>
            </a:r>
            <a:endParaRPr sz="1800"/>
          </a:p>
        </p:txBody>
      </p:sp>
      <p:sp>
        <p:nvSpPr>
          <p:cNvPr id="851" name="Google Shape;851;p71"/>
          <p:cNvSpPr txBox="1"/>
          <p:nvPr/>
        </p:nvSpPr>
        <p:spPr>
          <a:xfrm>
            <a:off x="5508978" y="4250193"/>
            <a:ext cx="9372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 =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6" name="Google Shape;856;p72"/>
          <p:cNvGrpSpPr/>
          <p:nvPr/>
        </p:nvGrpSpPr>
        <p:grpSpPr>
          <a:xfrm>
            <a:off x="930266" y="1541409"/>
            <a:ext cx="2888263" cy="2213434"/>
            <a:chOff x="2601000" y="1321985"/>
            <a:chExt cx="3912575" cy="2998014"/>
          </a:xfrm>
        </p:grpSpPr>
        <p:pic>
          <p:nvPicPr>
            <p:cNvPr id="857" name="Google Shape;857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01000" y="1818124"/>
              <a:ext cx="3912575" cy="25018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58" name="Google Shape;858;p72"/>
            <p:cNvCxnSpPr/>
            <p:nvPr/>
          </p:nvCxnSpPr>
          <p:spPr>
            <a:xfrm>
              <a:off x="2619375" y="4286250"/>
              <a:ext cx="3855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9" name="Google Shape;859;p72"/>
            <p:cNvCxnSpPr/>
            <p:nvPr/>
          </p:nvCxnSpPr>
          <p:spPr>
            <a:xfrm rot="10800000">
              <a:off x="2690675" y="1321985"/>
              <a:ext cx="0" cy="297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60" name="Google Shape;860;p72"/>
          <p:cNvSpPr txBox="1"/>
          <p:nvPr>
            <p:ph idx="1" type="body"/>
          </p:nvPr>
        </p:nvSpPr>
        <p:spPr>
          <a:xfrm>
            <a:off x="1495120" y="3763415"/>
            <a:ext cx="7095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heads</a:t>
            </a:r>
            <a:endParaRPr sz="1600"/>
          </a:p>
        </p:txBody>
      </p:sp>
      <p:sp>
        <p:nvSpPr>
          <p:cNvPr id="861" name="Google Shape;861;p72"/>
          <p:cNvSpPr txBox="1"/>
          <p:nvPr>
            <p:ph idx="1" type="body"/>
          </p:nvPr>
        </p:nvSpPr>
        <p:spPr>
          <a:xfrm>
            <a:off x="2794820" y="3763415"/>
            <a:ext cx="4461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tails</a:t>
            </a:r>
            <a:endParaRPr sz="1600"/>
          </a:p>
        </p:txBody>
      </p:sp>
      <p:sp>
        <p:nvSpPr>
          <p:cNvPr id="862" name="Google Shape;862;p72"/>
          <p:cNvSpPr txBox="1"/>
          <p:nvPr>
            <p:ph idx="1" type="body"/>
          </p:nvPr>
        </p:nvSpPr>
        <p:spPr>
          <a:xfrm>
            <a:off x="797165" y="3606195"/>
            <a:ext cx="1854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863" name="Google Shape;863;p72"/>
          <p:cNvSpPr txBox="1"/>
          <p:nvPr>
            <p:ph idx="1" type="body"/>
          </p:nvPr>
        </p:nvSpPr>
        <p:spPr>
          <a:xfrm>
            <a:off x="797174" y="3030903"/>
            <a:ext cx="1854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864" name="Google Shape;864;p72"/>
          <p:cNvSpPr txBox="1"/>
          <p:nvPr>
            <p:ph idx="1" type="body"/>
          </p:nvPr>
        </p:nvSpPr>
        <p:spPr>
          <a:xfrm>
            <a:off x="797165" y="2437972"/>
            <a:ext cx="1854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865" name="Google Shape;865;p72"/>
          <p:cNvSpPr txBox="1"/>
          <p:nvPr>
            <p:ph idx="1" type="body"/>
          </p:nvPr>
        </p:nvSpPr>
        <p:spPr>
          <a:xfrm>
            <a:off x="797165" y="1809797"/>
            <a:ext cx="1854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866" name="Google Shape;866;p72"/>
          <p:cNvSpPr txBox="1"/>
          <p:nvPr>
            <p:ph idx="1" type="body"/>
          </p:nvPr>
        </p:nvSpPr>
        <p:spPr>
          <a:xfrm rot="-5400000">
            <a:off x="-27094" y="2713287"/>
            <a:ext cx="11484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frequency</a:t>
            </a:r>
            <a:endParaRPr sz="1600"/>
          </a:p>
        </p:txBody>
      </p:sp>
      <p:pic>
        <p:nvPicPr>
          <p:cNvPr id="867" name="Google Shape;86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059399" y="2797344"/>
            <a:ext cx="2726649" cy="1416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694652" y="1260600"/>
            <a:ext cx="4615823" cy="1507525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2"/>
          <p:cNvSpPr txBox="1"/>
          <p:nvPr>
            <p:ph idx="1" type="body"/>
          </p:nvPr>
        </p:nvSpPr>
        <p:spPr>
          <a:xfrm>
            <a:off x="324000" y="759300"/>
            <a:ext cx="8496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They flip the frisbee in the air </a:t>
            </a:r>
            <a:r>
              <a:rPr lang="en-GB" sz="2000">
                <a:solidFill>
                  <a:schemeClr val="accent4"/>
                </a:solidFill>
              </a:rPr>
              <a:t>10 times</a:t>
            </a:r>
            <a:r>
              <a:rPr lang="en-GB" sz="2000"/>
              <a:t> and record the results.</a:t>
            </a:r>
            <a:endParaRPr sz="2000"/>
          </a:p>
        </p:txBody>
      </p:sp>
      <p:sp>
        <p:nvSpPr>
          <p:cNvPr id="870" name="Google Shape;87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pic>
        <p:nvPicPr>
          <p:cNvPr id="871" name="Google Shape;871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">
            <a:off x="8114356" y="794939"/>
            <a:ext cx="588575" cy="350944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72"/>
          <p:cNvSpPr txBox="1"/>
          <p:nvPr>
            <p:ph idx="1" type="body"/>
          </p:nvPr>
        </p:nvSpPr>
        <p:spPr>
          <a:xfrm>
            <a:off x="3787831" y="1333702"/>
            <a:ext cx="4483500" cy="109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results were </a:t>
            </a:r>
            <a:r>
              <a:rPr lang="en-GB" sz="1800">
                <a:solidFill>
                  <a:schemeClr val="accent4"/>
                </a:solidFill>
              </a:rPr>
              <a:t>4 heads</a:t>
            </a:r>
            <a:r>
              <a:rPr lang="en-GB" sz="1800"/>
              <a:t> and </a:t>
            </a:r>
            <a:r>
              <a:rPr lang="en-GB" sz="1800">
                <a:solidFill>
                  <a:schemeClr val="accent4"/>
                </a:solidFill>
              </a:rPr>
              <a:t>6 tails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So could we conclude that the frisbee is </a:t>
            </a:r>
            <a:r>
              <a:rPr lang="en-GB" sz="1800">
                <a:solidFill>
                  <a:schemeClr val="accent4"/>
                </a:solidFill>
              </a:rPr>
              <a:t>more likely</a:t>
            </a:r>
            <a:r>
              <a:rPr lang="en-GB" sz="1800"/>
              <a:t> to land on </a:t>
            </a:r>
            <a:r>
              <a:rPr lang="en-GB" sz="1800">
                <a:solidFill>
                  <a:schemeClr val="accent4"/>
                </a:solidFill>
              </a:rPr>
              <a:t>tails</a:t>
            </a:r>
            <a:r>
              <a:rPr lang="en-GB" sz="1800"/>
              <a:t> than heads?</a:t>
            </a:r>
            <a:endParaRPr sz="1800"/>
          </a:p>
        </p:txBody>
      </p:sp>
      <p:sp>
        <p:nvSpPr>
          <p:cNvPr id="873" name="Google Shape;873;p72"/>
          <p:cNvSpPr txBox="1"/>
          <p:nvPr>
            <p:ph idx="1" type="body"/>
          </p:nvPr>
        </p:nvSpPr>
        <p:spPr>
          <a:xfrm>
            <a:off x="5198575" y="2924925"/>
            <a:ext cx="24903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Hmm, possibly. But this experiment hasn’t really convinced me.</a:t>
            </a:r>
            <a:endParaRPr sz="1800"/>
          </a:p>
        </p:txBody>
      </p:sp>
      <p:sp>
        <p:nvSpPr>
          <p:cNvPr id="874" name="Google Shape;874;p72"/>
          <p:cNvSpPr txBox="1"/>
          <p:nvPr>
            <p:ph idx="1" type="body"/>
          </p:nvPr>
        </p:nvSpPr>
        <p:spPr>
          <a:xfrm>
            <a:off x="336000" y="4499050"/>
            <a:ext cx="74502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could they be </a:t>
            </a:r>
            <a:r>
              <a:rPr lang="en-GB" sz="2000">
                <a:solidFill>
                  <a:schemeClr val="accent4"/>
                </a:solidFill>
              </a:rPr>
              <a:t>more confident</a:t>
            </a:r>
            <a:r>
              <a:rPr lang="en-GB" sz="2000"/>
              <a:t> about their conclusion?</a:t>
            </a:r>
            <a:endParaRPr sz="2000"/>
          </a:p>
        </p:txBody>
      </p:sp>
      <p:pic>
        <p:nvPicPr>
          <p:cNvPr id="875" name="Google Shape;875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50800" y="2454465"/>
            <a:ext cx="609788" cy="75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7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14037" y="3625522"/>
            <a:ext cx="677364" cy="751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443249" y="2709350"/>
            <a:ext cx="3356001" cy="1256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">
            <a:off x="8114356" y="794939"/>
            <a:ext cx="588575" cy="350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7592" y="1907346"/>
            <a:ext cx="2888249" cy="18468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4" name="Google Shape;884;p73"/>
          <p:cNvGrpSpPr/>
          <p:nvPr/>
        </p:nvGrpSpPr>
        <p:grpSpPr>
          <a:xfrm>
            <a:off x="943831" y="1541409"/>
            <a:ext cx="2845761" cy="2199174"/>
            <a:chOff x="2619375" y="1321985"/>
            <a:chExt cx="3855000" cy="2978700"/>
          </a:xfrm>
        </p:grpSpPr>
        <p:cxnSp>
          <p:nvCxnSpPr>
            <p:cNvPr id="885" name="Google Shape;885;p73"/>
            <p:cNvCxnSpPr/>
            <p:nvPr/>
          </p:nvCxnSpPr>
          <p:spPr>
            <a:xfrm>
              <a:off x="2619375" y="4286250"/>
              <a:ext cx="3855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6" name="Google Shape;886;p73"/>
            <p:cNvCxnSpPr/>
            <p:nvPr/>
          </p:nvCxnSpPr>
          <p:spPr>
            <a:xfrm rot="10800000">
              <a:off x="2690675" y="1321985"/>
              <a:ext cx="0" cy="297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87" name="Google Shape;887;p73"/>
          <p:cNvSpPr txBox="1"/>
          <p:nvPr>
            <p:ph idx="1" type="body"/>
          </p:nvPr>
        </p:nvSpPr>
        <p:spPr>
          <a:xfrm>
            <a:off x="1495120" y="3763415"/>
            <a:ext cx="7095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heads</a:t>
            </a:r>
            <a:endParaRPr sz="1600"/>
          </a:p>
        </p:txBody>
      </p:sp>
      <p:sp>
        <p:nvSpPr>
          <p:cNvPr id="888" name="Google Shape;888;p73"/>
          <p:cNvSpPr txBox="1"/>
          <p:nvPr>
            <p:ph idx="1" type="body"/>
          </p:nvPr>
        </p:nvSpPr>
        <p:spPr>
          <a:xfrm>
            <a:off x="2794820" y="3763415"/>
            <a:ext cx="4461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tails</a:t>
            </a:r>
            <a:endParaRPr sz="1600"/>
          </a:p>
        </p:txBody>
      </p:sp>
      <p:sp>
        <p:nvSpPr>
          <p:cNvPr id="889" name="Google Shape;889;p73"/>
          <p:cNvSpPr txBox="1"/>
          <p:nvPr>
            <p:ph idx="1" type="body"/>
          </p:nvPr>
        </p:nvSpPr>
        <p:spPr>
          <a:xfrm>
            <a:off x="797165" y="3606195"/>
            <a:ext cx="1854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890" name="Google Shape;890;p73"/>
          <p:cNvSpPr txBox="1"/>
          <p:nvPr>
            <p:ph idx="1" type="body"/>
          </p:nvPr>
        </p:nvSpPr>
        <p:spPr>
          <a:xfrm>
            <a:off x="797174" y="3030903"/>
            <a:ext cx="1854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891" name="Google Shape;891;p73"/>
          <p:cNvSpPr txBox="1"/>
          <p:nvPr>
            <p:ph idx="1" type="body"/>
          </p:nvPr>
        </p:nvSpPr>
        <p:spPr>
          <a:xfrm>
            <a:off x="721879" y="2437975"/>
            <a:ext cx="2607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892" name="Google Shape;892;p73"/>
          <p:cNvSpPr txBox="1"/>
          <p:nvPr>
            <p:ph idx="1" type="body"/>
          </p:nvPr>
        </p:nvSpPr>
        <p:spPr>
          <a:xfrm>
            <a:off x="721879" y="1809800"/>
            <a:ext cx="2607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893" name="Google Shape;893;p73"/>
          <p:cNvSpPr txBox="1"/>
          <p:nvPr>
            <p:ph idx="1" type="body"/>
          </p:nvPr>
        </p:nvSpPr>
        <p:spPr>
          <a:xfrm rot="-5400000">
            <a:off x="-27094" y="2713287"/>
            <a:ext cx="11484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frequency</a:t>
            </a:r>
            <a:endParaRPr sz="1600"/>
          </a:p>
        </p:txBody>
      </p:sp>
      <p:pic>
        <p:nvPicPr>
          <p:cNvPr id="894" name="Google Shape;894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069727" y="1108200"/>
            <a:ext cx="5422106" cy="15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73"/>
          <p:cNvSpPr txBox="1"/>
          <p:nvPr>
            <p:ph idx="1" type="body"/>
          </p:nvPr>
        </p:nvSpPr>
        <p:spPr>
          <a:xfrm>
            <a:off x="324000" y="759300"/>
            <a:ext cx="8496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They flip the frisbee in the air </a:t>
            </a:r>
            <a:r>
              <a:rPr lang="en-GB" sz="2000">
                <a:solidFill>
                  <a:schemeClr val="accent4"/>
                </a:solidFill>
              </a:rPr>
              <a:t>20 times</a:t>
            </a:r>
            <a:r>
              <a:rPr lang="en-GB" sz="2000"/>
              <a:t> and record the results.</a:t>
            </a:r>
            <a:endParaRPr sz="2000"/>
          </a:p>
        </p:txBody>
      </p:sp>
      <p:sp>
        <p:nvSpPr>
          <p:cNvPr id="896" name="Google Shape;89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sp>
        <p:nvSpPr>
          <p:cNvPr id="897" name="Google Shape;897;p73"/>
          <p:cNvSpPr txBox="1"/>
          <p:nvPr>
            <p:ph idx="1" type="body"/>
          </p:nvPr>
        </p:nvSpPr>
        <p:spPr>
          <a:xfrm>
            <a:off x="3097012" y="1181300"/>
            <a:ext cx="5517900" cy="12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</a:t>
            </a:r>
            <a:r>
              <a:rPr lang="en-GB" sz="1800"/>
              <a:t>his time there were </a:t>
            </a:r>
            <a:r>
              <a:rPr lang="en-GB" sz="1800">
                <a:solidFill>
                  <a:schemeClr val="accent4"/>
                </a:solidFill>
              </a:rPr>
              <a:t>13 heads</a:t>
            </a:r>
            <a:r>
              <a:rPr lang="en-GB" sz="1800"/>
              <a:t> and </a:t>
            </a:r>
            <a:r>
              <a:rPr lang="en-GB" sz="1800">
                <a:solidFill>
                  <a:schemeClr val="accent4"/>
                </a:solidFill>
              </a:rPr>
              <a:t>7 tails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That would suggest a </a:t>
            </a:r>
            <a:r>
              <a:rPr lang="en-GB" sz="1800">
                <a:solidFill>
                  <a:schemeClr val="accent4"/>
                </a:solidFill>
              </a:rPr>
              <a:t>different </a:t>
            </a:r>
            <a:r>
              <a:rPr lang="en-GB" sz="1800">
                <a:solidFill>
                  <a:schemeClr val="accent4"/>
                </a:solidFill>
              </a:rPr>
              <a:t>conclusion</a:t>
            </a:r>
            <a:r>
              <a:rPr lang="en-GB" sz="1800"/>
              <a:t>: the frisbee is more likely to land on heads than tails.</a:t>
            </a:r>
            <a:endParaRPr sz="1800"/>
          </a:p>
        </p:txBody>
      </p:sp>
      <p:sp>
        <p:nvSpPr>
          <p:cNvPr id="898" name="Google Shape;898;p73"/>
          <p:cNvSpPr txBox="1"/>
          <p:nvPr>
            <p:ph idx="1" type="body"/>
          </p:nvPr>
        </p:nvSpPr>
        <p:spPr>
          <a:xfrm>
            <a:off x="4566550" y="2772525"/>
            <a:ext cx="3197100" cy="12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These results seem a little more trustworthy. But I’m still not fully convinced.</a:t>
            </a:r>
            <a:endParaRPr sz="1800"/>
          </a:p>
        </p:txBody>
      </p:sp>
      <p:sp>
        <p:nvSpPr>
          <p:cNvPr id="899" name="Google Shape;899;p73"/>
          <p:cNvSpPr txBox="1"/>
          <p:nvPr>
            <p:ph idx="1" type="body"/>
          </p:nvPr>
        </p:nvSpPr>
        <p:spPr>
          <a:xfrm>
            <a:off x="336000" y="4499050"/>
            <a:ext cx="78852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could they be </a:t>
            </a:r>
            <a:r>
              <a:rPr lang="en-GB" sz="2000">
                <a:solidFill>
                  <a:schemeClr val="accent4"/>
                </a:solidFill>
              </a:rPr>
              <a:t>even more confident</a:t>
            </a:r>
            <a:r>
              <a:rPr lang="en-GB" sz="2000"/>
              <a:t> about their conclusion?</a:t>
            </a:r>
            <a:endParaRPr sz="2000"/>
          </a:p>
        </p:txBody>
      </p:sp>
      <p:pic>
        <p:nvPicPr>
          <p:cNvPr id="900" name="Google Shape;900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50800" y="2454465"/>
            <a:ext cx="609788" cy="75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7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14037" y="3625522"/>
            <a:ext cx="677364" cy="751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Google Shape;90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225" y="1955146"/>
            <a:ext cx="2888250" cy="1794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269498" y="2703475"/>
            <a:ext cx="3494502" cy="1573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8" name="Google Shape;908;p74"/>
          <p:cNvGrpSpPr/>
          <p:nvPr/>
        </p:nvGrpSpPr>
        <p:grpSpPr>
          <a:xfrm>
            <a:off x="943831" y="1541409"/>
            <a:ext cx="2845761" cy="2199174"/>
            <a:chOff x="2619375" y="1321985"/>
            <a:chExt cx="3855000" cy="2978700"/>
          </a:xfrm>
        </p:grpSpPr>
        <p:cxnSp>
          <p:nvCxnSpPr>
            <p:cNvPr id="909" name="Google Shape;909;p74"/>
            <p:cNvCxnSpPr/>
            <p:nvPr/>
          </p:nvCxnSpPr>
          <p:spPr>
            <a:xfrm>
              <a:off x="2619375" y="4286250"/>
              <a:ext cx="3855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0" name="Google Shape;910;p74"/>
            <p:cNvCxnSpPr/>
            <p:nvPr/>
          </p:nvCxnSpPr>
          <p:spPr>
            <a:xfrm rot="10800000">
              <a:off x="2690675" y="1321985"/>
              <a:ext cx="0" cy="297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11" name="Google Shape;911;p74"/>
          <p:cNvSpPr txBox="1"/>
          <p:nvPr>
            <p:ph idx="1" type="body"/>
          </p:nvPr>
        </p:nvSpPr>
        <p:spPr>
          <a:xfrm>
            <a:off x="1495120" y="3763415"/>
            <a:ext cx="7095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heads</a:t>
            </a:r>
            <a:endParaRPr sz="1600"/>
          </a:p>
        </p:txBody>
      </p:sp>
      <p:sp>
        <p:nvSpPr>
          <p:cNvPr id="912" name="Google Shape;912;p74"/>
          <p:cNvSpPr txBox="1"/>
          <p:nvPr>
            <p:ph idx="1" type="body"/>
          </p:nvPr>
        </p:nvSpPr>
        <p:spPr>
          <a:xfrm>
            <a:off x="2794820" y="3763415"/>
            <a:ext cx="4461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tails</a:t>
            </a:r>
            <a:endParaRPr sz="1600"/>
          </a:p>
        </p:txBody>
      </p:sp>
      <p:sp>
        <p:nvSpPr>
          <p:cNvPr id="913" name="Google Shape;913;p74"/>
          <p:cNvSpPr txBox="1"/>
          <p:nvPr>
            <p:ph idx="1" type="body"/>
          </p:nvPr>
        </p:nvSpPr>
        <p:spPr>
          <a:xfrm>
            <a:off x="797165" y="3606195"/>
            <a:ext cx="1854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914" name="Google Shape;914;p74"/>
          <p:cNvSpPr txBox="1"/>
          <p:nvPr>
            <p:ph idx="1" type="body"/>
          </p:nvPr>
        </p:nvSpPr>
        <p:spPr>
          <a:xfrm>
            <a:off x="590700" y="3008749"/>
            <a:ext cx="3918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100</a:t>
            </a:r>
            <a:endParaRPr sz="1600"/>
          </a:p>
        </p:txBody>
      </p:sp>
      <p:sp>
        <p:nvSpPr>
          <p:cNvPr id="915" name="Google Shape;915;p74"/>
          <p:cNvSpPr txBox="1"/>
          <p:nvPr>
            <p:ph idx="1" type="body"/>
          </p:nvPr>
        </p:nvSpPr>
        <p:spPr>
          <a:xfrm rot="-5400000">
            <a:off x="-158925" y="2713287"/>
            <a:ext cx="11484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frequency</a:t>
            </a:r>
            <a:endParaRPr sz="1600"/>
          </a:p>
        </p:txBody>
      </p:sp>
      <p:pic>
        <p:nvPicPr>
          <p:cNvPr id="916" name="Google Shape;916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716575" y="1184400"/>
            <a:ext cx="4670100" cy="1573250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4"/>
          <p:cNvSpPr txBox="1"/>
          <p:nvPr>
            <p:ph idx="1" type="body"/>
          </p:nvPr>
        </p:nvSpPr>
        <p:spPr>
          <a:xfrm>
            <a:off x="324000" y="759300"/>
            <a:ext cx="84960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They flip the frisbee in the air </a:t>
            </a:r>
            <a:r>
              <a:rPr lang="en-GB" sz="2000">
                <a:solidFill>
                  <a:schemeClr val="accent4"/>
                </a:solidFill>
              </a:rPr>
              <a:t>500 times</a:t>
            </a:r>
            <a:r>
              <a:rPr lang="en-GB" sz="2000"/>
              <a:t> and record the results.</a:t>
            </a:r>
            <a:endParaRPr sz="2000"/>
          </a:p>
        </p:txBody>
      </p:sp>
      <p:sp>
        <p:nvSpPr>
          <p:cNvPr id="918" name="Google Shape;91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pic>
        <p:nvPicPr>
          <p:cNvPr id="919" name="Google Shape;919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">
            <a:off x="8114356" y="794939"/>
            <a:ext cx="588575" cy="350944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74"/>
          <p:cNvSpPr txBox="1"/>
          <p:nvPr>
            <p:ph idx="1" type="body"/>
          </p:nvPr>
        </p:nvSpPr>
        <p:spPr>
          <a:xfrm>
            <a:off x="3865800" y="1257500"/>
            <a:ext cx="4602600" cy="109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results were </a:t>
            </a:r>
            <a:r>
              <a:rPr lang="en-GB" sz="1800">
                <a:solidFill>
                  <a:schemeClr val="accent4"/>
                </a:solidFill>
              </a:rPr>
              <a:t>281 heads</a:t>
            </a:r>
            <a:r>
              <a:rPr lang="en-GB" sz="1800"/>
              <a:t> and </a:t>
            </a:r>
            <a:r>
              <a:rPr lang="en-GB" sz="1800">
                <a:solidFill>
                  <a:schemeClr val="accent4"/>
                </a:solidFill>
              </a:rPr>
              <a:t>219 tails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Could we conclude that the frisbee is more likely to land on heads than tails?</a:t>
            </a:r>
            <a:endParaRPr sz="1800"/>
          </a:p>
        </p:txBody>
      </p:sp>
      <p:sp>
        <p:nvSpPr>
          <p:cNvPr id="921" name="Google Shape;921;p74"/>
          <p:cNvSpPr txBox="1"/>
          <p:nvPr>
            <p:ph idx="1" type="body"/>
          </p:nvPr>
        </p:nvSpPr>
        <p:spPr>
          <a:xfrm>
            <a:off x="4392975" y="2772525"/>
            <a:ext cx="3257700" cy="12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don’t know for absolute certain, but these results could be convincing enough to make that conclusion.</a:t>
            </a:r>
            <a:endParaRPr sz="1800"/>
          </a:p>
        </p:txBody>
      </p:sp>
      <p:pic>
        <p:nvPicPr>
          <p:cNvPr id="922" name="Google Shape;922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50800" y="2454465"/>
            <a:ext cx="609788" cy="75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7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14037" y="3625522"/>
            <a:ext cx="677364" cy="751436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74"/>
          <p:cNvSpPr txBox="1"/>
          <p:nvPr>
            <p:ph idx="1" type="body"/>
          </p:nvPr>
        </p:nvSpPr>
        <p:spPr>
          <a:xfrm>
            <a:off x="336000" y="4565531"/>
            <a:ext cx="81324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Use the link for a Desmos simulation and click ‘run’: </a:t>
            </a:r>
            <a:r>
              <a:rPr lang="en-GB" sz="1700" u="sng">
                <a:solidFill>
                  <a:schemeClr val="hlink"/>
                </a:solidFill>
                <a:hlinkClick r:id="rId9"/>
              </a:rPr>
              <a:t>Frisbee flip simulation</a:t>
            </a:r>
            <a:r>
              <a:rPr lang="en-GB" sz="1700"/>
              <a:t>🖇</a:t>
            </a:r>
            <a:endParaRPr sz="1700"/>
          </a:p>
        </p:txBody>
      </p:sp>
      <p:sp>
        <p:nvSpPr>
          <p:cNvPr id="925" name="Google Shape;925;p74"/>
          <p:cNvSpPr txBox="1"/>
          <p:nvPr>
            <p:ph idx="1" type="body"/>
          </p:nvPr>
        </p:nvSpPr>
        <p:spPr>
          <a:xfrm>
            <a:off x="590700" y="2421300"/>
            <a:ext cx="3918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200</a:t>
            </a:r>
            <a:endParaRPr sz="1600"/>
          </a:p>
        </p:txBody>
      </p:sp>
      <p:sp>
        <p:nvSpPr>
          <p:cNvPr id="926" name="Google Shape;926;p74"/>
          <p:cNvSpPr txBox="1"/>
          <p:nvPr>
            <p:ph idx="1" type="body"/>
          </p:nvPr>
        </p:nvSpPr>
        <p:spPr>
          <a:xfrm>
            <a:off x="590700" y="1855646"/>
            <a:ext cx="3918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r>
              <a:rPr lang="en-GB" sz="1600"/>
              <a:t>00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75"/>
          <p:cNvSpPr txBox="1"/>
          <p:nvPr>
            <p:ph idx="1" type="body"/>
          </p:nvPr>
        </p:nvSpPr>
        <p:spPr>
          <a:xfrm>
            <a:off x="324000" y="759300"/>
            <a:ext cx="8237700" cy="7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An </a:t>
            </a:r>
            <a:r>
              <a:rPr b="1" lang="en-GB" sz="2000"/>
              <a:t>experiment</a:t>
            </a:r>
            <a:r>
              <a:rPr lang="en-GB" sz="2000"/>
              <a:t> is a repetition of a trial multiple times in order to observe how often each outcome occurs.</a:t>
            </a:r>
            <a:endParaRPr sz="2400"/>
          </a:p>
        </p:txBody>
      </p:sp>
      <p:sp>
        <p:nvSpPr>
          <p:cNvPr id="932" name="Google Shape;932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Planning and conducting experiments</a:t>
            </a:r>
            <a:endParaRPr/>
          </a:p>
        </p:txBody>
      </p:sp>
      <p:sp>
        <p:nvSpPr>
          <p:cNvPr id="933" name="Google Shape;933;p75"/>
          <p:cNvSpPr txBox="1"/>
          <p:nvPr>
            <p:ph idx="1" type="body"/>
          </p:nvPr>
        </p:nvSpPr>
        <p:spPr>
          <a:xfrm>
            <a:off x="324000" y="1673700"/>
            <a:ext cx="8496000" cy="10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one outcome has a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4"/>
                </a:solidFill>
              </a:rPr>
              <a:t>greater frequency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than the others, it could suggest that that outcome could have a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4"/>
                </a:solidFill>
              </a:rPr>
              <a:t>greater likelihood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than the others of </a:t>
            </a:r>
            <a:r>
              <a:rPr lang="en-GB" sz="2000"/>
              <a:t>occurring</a:t>
            </a:r>
            <a:r>
              <a:rPr lang="en-GB" sz="2000"/>
              <a:t> again in the future.</a:t>
            </a:r>
            <a:endParaRPr sz="2400"/>
          </a:p>
        </p:txBody>
      </p:sp>
      <p:sp>
        <p:nvSpPr>
          <p:cNvPr id="934" name="Google Shape;934;p75"/>
          <p:cNvSpPr txBox="1"/>
          <p:nvPr>
            <p:ph idx="1" type="body"/>
          </p:nvPr>
        </p:nvSpPr>
        <p:spPr>
          <a:xfrm>
            <a:off x="324000" y="3959700"/>
            <a:ext cx="8496000" cy="84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4"/>
                </a:solidFill>
              </a:rPr>
              <a:t>more trials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an </a:t>
            </a:r>
            <a:r>
              <a:rPr b="1" lang="en-GB" sz="2000"/>
              <a:t>experiment</a:t>
            </a:r>
            <a:r>
              <a:rPr lang="en-GB" sz="2000"/>
              <a:t> contains,</a:t>
            </a:r>
            <a:r>
              <a:rPr lang="en-GB" sz="2000"/>
              <a:t> the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4"/>
                </a:solidFill>
              </a:rPr>
              <a:t>more confident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we can be about any conclusions made based on its results.</a:t>
            </a:r>
            <a:r>
              <a:rPr lang="en-GB" sz="2000">
                <a:solidFill>
                  <a:srgbClr val="282828"/>
                </a:solidFill>
              </a:rPr>
              <a:t> </a:t>
            </a:r>
            <a:endParaRPr sz="2400"/>
          </a:p>
        </p:txBody>
      </p:sp>
      <p:sp>
        <p:nvSpPr>
          <p:cNvPr id="935" name="Google Shape;935;p75"/>
          <p:cNvSpPr txBox="1"/>
          <p:nvPr>
            <p:ph idx="1" type="body"/>
          </p:nvPr>
        </p:nvSpPr>
        <p:spPr>
          <a:xfrm>
            <a:off x="324000" y="2969100"/>
            <a:ext cx="8496000" cy="73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might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4"/>
                </a:solidFill>
              </a:rPr>
              <a:t>not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be able to be absolutely certain that our conclusions from an </a:t>
            </a:r>
            <a:r>
              <a:rPr b="1" lang="en-GB" sz="2000"/>
              <a:t>experiment</a:t>
            </a:r>
            <a:r>
              <a:rPr lang="en-GB" sz="2000"/>
              <a:t> are true. 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0" name="Google Shape;94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225" y="1997584"/>
            <a:ext cx="2888250" cy="18428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1" name="Google Shape;941;p76"/>
          <p:cNvGrpSpPr/>
          <p:nvPr/>
        </p:nvGrpSpPr>
        <p:grpSpPr>
          <a:xfrm rot="10800000">
            <a:off x="4830860" y="1849783"/>
            <a:ext cx="2888347" cy="613426"/>
            <a:chOff x="402775" y="77554"/>
            <a:chExt cx="3996052" cy="848680"/>
          </a:xfrm>
        </p:grpSpPr>
        <p:grpSp>
          <p:nvGrpSpPr>
            <p:cNvPr id="942" name="Google Shape;942;p76"/>
            <p:cNvGrpSpPr/>
            <p:nvPr/>
          </p:nvGrpSpPr>
          <p:grpSpPr>
            <a:xfrm>
              <a:off x="402775" y="77554"/>
              <a:ext cx="3996052" cy="848680"/>
              <a:chOff x="402775" y="77554"/>
              <a:chExt cx="3996052" cy="848680"/>
            </a:xfrm>
          </p:grpSpPr>
          <p:pic>
            <p:nvPicPr>
              <p:cNvPr id="943" name="Google Shape;943;p76"/>
              <p:cNvPicPr preferRelativeResize="0"/>
              <p:nvPr/>
            </p:nvPicPr>
            <p:blipFill rotWithShape="1">
              <a:blip r:embed="rId4">
                <a:alphaModFix/>
              </a:blip>
              <a:srcRect b="30536" l="0" r="0" t="0"/>
              <a:stretch/>
            </p:blipFill>
            <p:spPr>
              <a:xfrm>
                <a:off x="402775" y="77554"/>
                <a:ext cx="3996052" cy="642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44" name="Google Shape;944;p7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76845"/>
              <a:stretch/>
            </p:blipFill>
            <p:spPr>
              <a:xfrm>
                <a:off x="402775" y="712084"/>
                <a:ext cx="3996052" cy="214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5" name="Google Shape;945;p76"/>
              <p:cNvSpPr/>
              <p:nvPr/>
            </p:nvSpPr>
            <p:spPr>
              <a:xfrm>
                <a:off x="476672" y="709050"/>
                <a:ext cx="468552" cy="7675"/>
              </a:xfrm>
              <a:custGeom>
                <a:rect b="b" l="l" r="r" t="t"/>
                <a:pathLst>
                  <a:path extrusionOk="0" h="307" w="2656">
                    <a:moveTo>
                      <a:pt x="0" y="307"/>
                    </a:moveTo>
                    <a:cubicBezTo>
                      <a:pt x="443" y="256"/>
                      <a:pt x="2213" y="51"/>
                      <a:pt x="2656" y="0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946" name="Google Shape;946;p76"/>
            <p:cNvSpPr/>
            <p:nvPr/>
          </p:nvSpPr>
          <p:spPr>
            <a:xfrm>
              <a:off x="1107425" y="709050"/>
              <a:ext cx="66400" cy="7675"/>
            </a:xfrm>
            <a:custGeom>
              <a:rect b="b" l="l" r="r" t="t"/>
              <a:pathLst>
                <a:path extrusionOk="0" h="307" w="2656">
                  <a:moveTo>
                    <a:pt x="0" y="307"/>
                  </a:moveTo>
                  <a:cubicBezTo>
                    <a:pt x="443" y="256"/>
                    <a:pt x="2213" y="51"/>
                    <a:pt x="2656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947" name="Google Shape;947;p76"/>
          <p:cNvGrpSpPr/>
          <p:nvPr/>
        </p:nvGrpSpPr>
        <p:grpSpPr>
          <a:xfrm>
            <a:off x="943831" y="1617609"/>
            <a:ext cx="2845761" cy="2199174"/>
            <a:chOff x="2619375" y="1321985"/>
            <a:chExt cx="3855000" cy="2978700"/>
          </a:xfrm>
        </p:grpSpPr>
        <p:cxnSp>
          <p:nvCxnSpPr>
            <p:cNvPr id="948" name="Google Shape;948;p76"/>
            <p:cNvCxnSpPr/>
            <p:nvPr/>
          </p:nvCxnSpPr>
          <p:spPr>
            <a:xfrm>
              <a:off x="2619375" y="4286250"/>
              <a:ext cx="3855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9" name="Google Shape;949;p76"/>
            <p:cNvCxnSpPr/>
            <p:nvPr/>
          </p:nvCxnSpPr>
          <p:spPr>
            <a:xfrm rot="10800000">
              <a:off x="2690675" y="1321985"/>
              <a:ext cx="0" cy="297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50" name="Google Shape;950;p76"/>
          <p:cNvSpPr txBox="1"/>
          <p:nvPr>
            <p:ph idx="1" type="body"/>
          </p:nvPr>
        </p:nvSpPr>
        <p:spPr>
          <a:xfrm>
            <a:off x="1495120" y="3839615"/>
            <a:ext cx="7095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heads</a:t>
            </a:r>
            <a:endParaRPr sz="1600"/>
          </a:p>
        </p:txBody>
      </p:sp>
      <p:sp>
        <p:nvSpPr>
          <p:cNvPr id="951" name="Google Shape;951;p76"/>
          <p:cNvSpPr txBox="1"/>
          <p:nvPr>
            <p:ph idx="1" type="body"/>
          </p:nvPr>
        </p:nvSpPr>
        <p:spPr>
          <a:xfrm>
            <a:off x="2794820" y="3839615"/>
            <a:ext cx="4461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tails</a:t>
            </a:r>
            <a:endParaRPr sz="1600"/>
          </a:p>
        </p:txBody>
      </p:sp>
      <p:sp>
        <p:nvSpPr>
          <p:cNvPr id="952" name="Google Shape;952;p76"/>
          <p:cNvSpPr txBox="1"/>
          <p:nvPr>
            <p:ph idx="1" type="body"/>
          </p:nvPr>
        </p:nvSpPr>
        <p:spPr>
          <a:xfrm>
            <a:off x="797165" y="3682395"/>
            <a:ext cx="1854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953" name="Google Shape;953;p76"/>
          <p:cNvSpPr txBox="1"/>
          <p:nvPr>
            <p:ph idx="1" type="body"/>
          </p:nvPr>
        </p:nvSpPr>
        <p:spPr>
          <a:xfrm>
            <a:off x="590700" y="3084949"/>
            <a:ext cx="3918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100</a:t>
            </a:r>
            <a:endParaRPr sz="1600"/>
          </a:p>
        </p:txBody>
      </p:sp>
      <p:sp>
        <p:nvSpPr>
          <p:cNvPr id="954" name="Google Shape;954;p76"/>
          <p:cNvSpPr txBox="1"/>
          <p:nvPr>
            <p:ph idx="1" type="body"/>
          </p:nvPr>
        </p:nvSpPr>
        <p:spPr>
          <a:xfrm rot="-5400000">
            <a:off x="-158925" y="2789487"/>
            <a:ext cx="11484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frequency</a:t>
            </a:r>
            <a:endParaRPr sz="1600"/>
          </a:p>
        </p:txBody>
      </p:sp>
      <p:sp>
        <p:nvSpPr>
          <p:cNvPr id="955" name="Google Shape;955;p76"/>
          <p:cNvSpPr txBox="1"/>
          <p:nvPr>
            <p:ph idx="1" type="body"/>
          </p:nvPr>
        </p:nvSpPr>
        <p:spPr>
          <a:xfrm>
            <a:off x="324000" y="759300"/>
            <a:ext cx="7135200" cy="6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Jacob and Sofia represent the conclusion from their frisbee  </a:t>
            </a:r>
            <a:r>
              <a:rPr b="1" lang="en-GB" sz="1900"/>
              <a:t>experiment</a:t>
            </a:r>
            <a:r>
              <a:rPr lang="en-GB" sz="1900"/>
              <a:t> on a scale of likelihoods.</a:t>
            </a:r>
            <a:endParaRPr sz="1900"/>
          </a:p>
        </p:txBody>
      </p:sp>
      <p:sp>
        <p:nvSpPr>
          <p:cNvPr id="956" name="Google Shape;95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sp>
        <p:nvSpPr>
          <p:cNvPr id="957" name="Google Shape;957;p76"/>
          <p:cNvSpPr txBox="1"/>
          <p:nvPr>
            <p:ph idx="1" type="body"/>
          </p:nvPr>
        </p:nvSpPr>
        <p:spPr>
          <a:xfrm>
            <a:off x="590700" y="2497500"/>
            <a:ext cx="3918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200</a:t>
            </a:r>
            <a:endParaRPr sz="1600"/>
          </a:p>
        </p:txBody>
      </p:sp>
      <p:sp>
        <p:nvSpPr>
          <p:cNvPr id="958" name="Google Shape;958;p76"/>
          <p:cNvSpPr txBox="1"/>
          <p:nvPr>
            <p:ph idx="1" type="body"/>
          </p:nvPr>
        </p:nvSpPr>
        <p:spPr>
          <a:xfrm>
            <a:off x="590700" y="1910051"/>
            <a:ext cx="3918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300</a:t>
            </a:r>
            <a:endParaRPr sz="1600"/>
          </a:p>
        </p:txBody>
      </p:sp>
      <p:sp>
        <p:nvSpPr>
          <p:cNvPr id="959" name="Google Shape;959;p76"/>
          <p:cNvSpPr txBox="1"/>
          <p:nvPr>
            <p:ph idx="1" type="body"/>
          </p:nvPr>
        </p:nvSpPr>
        <p:spPr>
          <a:xfrm>
            <a:off x="1302675" y="1644825"/>
            <a:ext cx="23016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number</a:t>
            </a:r>
            <a:r>
              <a:rPr lang="en-GB" sz="1600"/>
              <a:t> of trials = 500</a:t>
            </a:r>
            <a:endParaRPr sz="1600"/>
          </a:p>
        </p:txBody>
      </p:sp>
      <p:sp>
        <p:nvSpPr>
          <p:cNvPr id="960" name="Google Shape;960;p76"/>
          <p:cNvSpPr txBox="1"/>
          <p:nvPr/>
        </p:nvSpPr>
        <p:spPr>
          <a:xfrm>
            <a:off x="7446631" y="4489975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6"/>
          <p:cNvSpPr txBox="1"/>
          <p:nvPr/>
        </p:nvSpPr>
        <p:spPr>
          <a:xfrm>
            <a:off x="454605" y="4489975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6"/>
          <p:cNvSpPr txBox="1"/>
          <p:nvPr/>
        </p:nvSpPr>
        <p:spPr>
          <a:xfrm>
            <a:off x="2374024" y="4446017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6"/>
          <p:cNvSpPr txBox="1"/>
          <p:nvPr/>
        </p:nvSpPr>
        <p:spPr>
          <a:xfrm>
            <a:off x="6028427" y="4446017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6"/>
          <p:cNvSpPr txBox="1"/>
          <p:nvPr/>
        </p:nvSpPr>
        <p:spPr>
          <a:xfrm>
            <a:off x="3736812" y="4489975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5" name="Google Shape;965;p76"/>
          <p:cNvGrpSpPr/>
          <p:nvPr/>
        </p:nvGrpSpPr>
        <p:grpSpPr>
          <a:xfrm>
            <a:off x="1162856" y="4319587"/>
            <a:ext cx="6838200" cy="238354"/>
            <a:chOff x="1260861" y="3941077"/>
            <a:chExt cx="6838200" cy="658800"/>
          </a:xfrm>
        </p:grpSpPr>
        <p:cxnSp>
          <p:nvCxnSpPr>
            <p:cNvPr id="966" name="Google Shape;966;p76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7" name="Google Shape;967;p76"/>
            <p:cNvCxnSpPr/>
            <p:nvPr/>
          </p:nvCxnSpPr>
          <p:spPr>
            <a:xfrm>
              <a:off x="1260883" y="3941077"/>
              <a:ext cx="0" cy="65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8" name="Google Shape;968;p76"/>
            <p:cNvCxnSpPr/>
            <p:nvPr/>
          </p:nvCxnSpPr>
          <p:spPr>
            <a:xfrm>
              <a:off x="8088215" y="3941077"/>
              <a:ext cx="0" cy="65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9" name="Google Shape;969;p76"/>
            <p:cNvCxnSpPr/>
            <p:nvPr/>
          </p:nvCxnSpPr>
          <p:spPr>
            <a:xfrm>
              <a:off x="4674549" y="3941077"/>
              <a:ext cx="0" cy="65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0" name="Google Shape;970;p76"/>
            <p:cNvCxnSpPr/>
            <p:nvPr/>
          </p:nvCxnSpPr>
          <p:spPr>
            <a:xfrm>
              <a:off x="1365339" y="4553655"/>
              <a:ext cx="3221100" cy="0"/>
            </a:xfrm>
            <a:prstGeom prst="straightConnector1">
              <a:avLst/>
            </a:prstGeom>
            <a:noFill/>
            <a:ln cap="flat" cmpd="sng" w="28575">
              <a:solidFill>
                <a:srgbClr val="59595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71" name="Google Shape;971;p76"/>
            <p:cNvCxnSpPr/>
            <p:nvPr/>
          </p:nvCxnSpPr>
          <p:spPr>
            <a:xfrm>
              <a:off x="4774394" y="4553655"/>
              <a:ext cx="3221100" cy="0"/>
            </a:xfrm>
            <a:prstGeom prst="straightConnector1">
              <a:avLst/>
            </a:prstGeom>
            <a:noFill/>
            <a:ln cap="flat" cmpd="sng" w="28575">
              <a:solidFill>
                <a:srgbClr val="59595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72" name="Google Shape;972;p76"/>
          <p:cNvSpPr txBox="1"/>
          <p:nvPr>
            <p:ph idx="1" type="body"/>
          </p:nvPr>
        </p:nvSpPr>
        <p:spPr>
          <a:xfrm>
            <a:off x="590700" y="2192700"/>
            <a:ext cx="3918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250</a:t>
            </a:r>
            <a:endParaRPr sz="1600"/>
          </a:p>
        </p:txBody>
      </p:sp>
      <p:sp>
        <p:nvSpPr>
          <p:cNvPr id="973" name="Google Shape;973;p76"/>
          <p:cNvSpPr txBox="1"/>
          <p:nvPr>
            <p:ph idx="1" type="body"/>
          </p:nvPr>
        </p:nvSpPr>
        <p:spPr>
          <a:xfrm>
            <a:off x="590700" y="2783827"/>
            <a:ext cx="3918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r>
              <a:rPr lang="en-GB" sz="1600"/>
              <a:t>50</a:t>
            </a:r>
            <a:endParaRPr sz="1600"/>
          </a:p>
        </p:txBody>
      </p:sp>
      <p:sp>
        <p:nvSpPr>
          <p:cNvPr id="974" name="Google Shape;974;p76"/>
          <p:cNvSpPr txBox="1"/>
          <p:nvPr>
            <p:ph idx="1" type="body"/>
          </p:nvPr>
        </p:nvSpPr>
        <p:spPr>
          <a:xfrm>
            <a:off x="692936" y="3393425"/>
            <a:ext cx="2607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50</a:t>
            </a:r>
            <a:endParaRPr sz="1600"/>
          </a:p>
        </p:txBody>
      </p:sp>
      <p:cxnSp>
        <p:nvCxnSpPr>
          <p:cNvPr id="975" name="Google Shape;975;p76"/>
          <p:cNvCxnSpPr/>
          <p:nvPr/>
        </p:nvCxnSpPr>
        <p:spPr>
          <a:xfrm>
            <a:off x="951697" y="3518981"/>
            <a:ext cx="5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6" name="Google Shape;976;p76"/>
          <p:cNvCxnSpPr/>
          <p:nvPr/>
        </p:nvCxnSpPr>
        <p:spPr>
          <a:xfrm>
            <a:off x="951697" y="3218235"/>
            <a:ext cx="5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7" name="Google Shape;977;p76"/>
          <p:cNvCxnSpPr/>
          <p:nvPr/>
        </p:nvCxnSpPr>
        <p:spPr>
          <a:xfrm>
            <a:off x="951697" y="2920528"/>
            <a:ext cx="5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8" name="Google Shape;978;p76"/>
          <p:cNvCxnSpPr/>
          <p:nvPr/>
        </p:nvCxnSpPr>
        <p:spPr>
          <a:xfrm>
            <a:off x="951697" y="2622821"/>
            <a:ext cx="5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9" name="Google Shape;979;p76"/>
          <p:cNvCxnSpPr/>
          <p:nvPr/>
        </p:nvCxnSpPr>
        <p:spPr>
          <a:xfrm>
            <a:off x="951697" y="2325114"/>
            <a:ext cx="5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76"/>
          <p:cNvCxnSpPr/>
          <p:nvPr/>
        </p:nvCxnSpPr>
        <p:spPr>
          <a:xfrm>
            <a:off x="951697" y="2027407"/>
            <a:ext cx="5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1" name="Google Shape;981;p76"/>
          <p:cNvSpPr txBox="1"/>
          <p:nvPr>
            <p:ph idx="1" type="body"/>
          </p:nvPr>
        </p:nvSpPr>
        <p:spPr>
          <a:xfrm>
            <a:off x="4724400" y="2908625"/>
            <a:ext cx="37254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Why must at least one cross be in the wrong position?</a:t>
            </a:r>
            <a:endParaRPr sz="2000"/>
          </a:p>
        </p:txBody>
      </p:sp>
      <p:sp>
        <p:nvSpPr>
          <p:cNvPr id="982" name="Google Shape;982;p76"/>
          <p:cNvSpPr txBox="1"/>
          <p:nvPr>
            <p:ph idx="1" type="body"/>
          </p:nvPr>
        </p:nvSpPr>
        <p:spPr>
          <a:xfrm>
            <a:off x="4953000" y="2070425"/>
            <a:ext cx="28077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That doesn’t look right.</a:t>
            </a:r>
            <a:endParaRPr sz="1800"/>
          </a:p>
        </p:txBody>
      </p:sp>
      <p:sp>
        <p:nvSpPr>
          <p:cNvPr id="983" name="Google Shape;983;p76"/>
          <p:cNvSpPr txBox="1"/>
          <p:nvPr/>
        </p:nvSpPr>
        <p:spPr>
          <a:xfrm>
            <a:off x="5370300" y="3978050"/>
            <a:ext cx="7095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6"/>
          <p:cNvSpPr txBox="1"/>
          <p:nvPr/>
        </p:nvSpPr>
        <p:spPr>
          <a:xfrm>
            <a:off x="4684500" y="3978050"/>
            <a:ext cx="5787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6"/>
          <p:cNvSpPr/>
          <p:nvPr/>
        </p:nvSpPr>
        <p:spPr>
          <a:xfrm>
            <a:off x="4804002" y="4207525"/>
            <a:ext cx="238500" cy="238500"/>
          </a:xfrm>
          <a:prstGeom prst="mathMultiply">
            <a:avLst>
              <a:gd fmla="val 23520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6"/>
          <p:cNvSpPr/>
          <p:nvPr/>
        </p:nvSpPr>
        <p:spPr>
          <a:xfrm>
            <a:off x="5584475" y="4207525"/>
            <a:ext cx="238500" cy="238500"/>
          </a:xfrm>
          <a:prstGeom prst="mathMultiply">
            <a:avLst>
              <a:gd fmla="val 23520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7" name="Google Shape;987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17200" y="1047590"/>
            <a:ext cx="609788" cy="75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29937" y="1733259"/>
            <a:ext cx="677364" cy="751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" name="Google Shape;99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4498527" y="1718725"/>
            <a:ext cx="3145298" cy="94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77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 rot="10800000">
            <a:off x="6162086" y="2496100"/>
            <a:ext cx="2712351" cy="16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4225" y="1997584"/>
            <a:ext cx="2888250" cy="18428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6" name="Google Shape;996;p77"/>
          <p:cNvGrpSpPr/>
          <p:nvPr/>
        </p:nvGrpSpPr>
        <p:grpSpPr>
          <a:xfrm>
            <a:off x="943831" y="1617609"/>
            <a:ext cx="2845761" cy="2199174"/>
            <a:chOff x="2619375" y="1321985"/>
            <a:chExt cx="3855000" cy="2978700"/>
          </a:xfrm>
        </p:grpSpPr>
        <p:cxnSp>
          <p:nvCxnSpPr>
            <p:cNvPr id="997" name="Google Shape;997;p77"/>
            <p:cNvCxnSpPr/>
            <p:nvPr/>
          </p:nvCxnSpPr>
          <p:spPr>
            <a:xfrm>
              <a:off x="2619375" y="4286250"/>
              <a:ext cx="3855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8" name="Google Shape;998;p77"/>
            <p:cNvCxnSpPr/>
            <p:nvPr/>
          </p:nvCxnSpPr>
          <p:spPr>
            <a:xfrm rot="10800000">
              <a:off x="2690675" y="1321985"/>
              <a:ext cx="0" cy="297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99" name="Google Shape;999;p77"/>
          <p:cNvSpPr txBox="1"/>
          <p:nvPr>
            <p:ph idx="1" type="body"/>
          </p:nvPr>
        </p:nvSpPr>
        <p:spPr>
          <a:xfrm>
            <a:off x="1495120" y="3839615"/>
            <a:ext cx="7095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heads</a:t>
            </a:r>
            <a:endParaRPr sz="1600"/>
          </a:p>
        </p:txBody>
      </p:sp>
      <p:sp>
        <p:nvSpPr>
          <p:cNvPr id="1000" name="Google Shape;1000;p77"/>
          <p:cNvSpPr txBox="1"/>
          <p:nvPr>
            <p:ph idx="1" type="body"/>
          </p:nvPr>
        </p:nvSpPr>
        <p:spPr>
          <a:xfrm>
            <a:off x="2794820" y="3839615"/>
            <a:ext cx="4461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tails</a:t>
            </a:r>
            <a:endParaRPr sz="1600"/>
          </a:p>
        </p:txBody>
      </p:sp>
      <p:sp>
        <p:nvSpPr>
          <p:cNvPr id="1001" name="Google Shape;1001;p77"/>
          <p:cNvSpPr txBox="1"/>
          <p:nvPr>
            <p:ph idx="1" type="body"/>
          </p:nvPr>
        </p:nvSpPr>
        <p:spPr>
          <a:xfrm>
            <a:off x="797165" y="3682395"/>
            <a:ext cx="1854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002" name="Google Shape;1002;p77"/>
          <p:cNvSpPr txBox="1"/>
          <p:nvPr>
            <p:ph idx="1" type="body"/>
          </p:nvPr>
        </p:nvSpPr>
        <p:spPr>
          <a:xfrm>
            <a:off x="590700" y="3084949"/>
            <a:ext cx="3918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100</a:t>
            </a:r>
            <a:endParaRPr sz="1600"/>
          </a:p>
        </p:txBody>
      </p:sp>
      <p:sp>
        <p:nvSpPr>
          <p:cNvPr id="1003" name="Google Shape;1003;p77"/>
          <p:cNvSpPr txBox="1"/>
          <p:nvPr>
            <p:ph idx="1" type="body"/>
          </p:nvPr>
        </p:nvSpPr>
        <p:spPr>
          <a:xfrm rot="-5400000">
            <a:off x="-158925" y="2789487"/>
            <a:ext cx="11484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frequency</a:t>
            </a:r>
            <a:endParaRPr sz="1600"/>
          </a:p>
        </p:txBody>
      </p:sp>
      <p:sp>
        <p:nvSpPr>
          <p:cNvPr id="1004" name="Google Shape;1004;p77"/>
          <p:cNvSpPr txBox="1"/>
          <p:nvPr>
            <p:ph idx="1" type="body"/>
          </p:nvPr>
        </p:nvSpPr>
        <p:spPr>
          <a:xfrm>
            <a:off x="324000" y="759300"/>
            <a:ext cx="66546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Fewer than </a:t>
            </a:r>
            <a:r>
              <a:rPr lang="en-GB" sz="1900">
                <a:solidFill>
                  <a:schemeClr val="accent4"/>
                </a:solidFill>
              </a:rPr>
              <a:t>half</a:t>
            </a:r>
            <a:r>
              <a:rPr lang="en-GB" sz="1900"/>
              <a:t> of the trials resulted in ‘tails’. </a:t>
            </a:r>
            <a:endParaRPr sz="2100"/>
          </a:p>
        </p:txBody>
      </p:sp>
      <p:sp>
        <p:nvSpPr>
          <p:cNvPr id="1005" name="Google Shape;1005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pic>
        <p:nvPicPr>
          <p:cNvPr id="1006" name="Google Shape;1006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17200" y="1047590"/>
            <a:ext cx="609788" cy="75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" name="Google Shape;1007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29937" y="1733259"/>
            <a:ext cx="677364" cy="751436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77"/>
          <p:cNvSpPr txBox="1"/>
          <p:nvPr>
            <p:ph idx="1" type="body"/>
          </p:nvPr>
        </p:nvSpPr>
        <p:spPr>
          <a:xfrm>
            <a:off x="590700" y="2497500"/>
            <a:ext cx="3918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200</a:t>
            </a:r>
            <a:endParaRPr sz="1600"/>
          </a:p>
        </p:txBody>
      </p:sp>
      <p:sp>
        <p:nvSpPr>
          <p:cNvPr id="1009" name="Google Shape;1009;p77"/>
          <p:cNvSpPr txBox="1"/>
          <p:nvPr>
            <p:ph idx="1" type="body"/>
          </p:nvPr>
        </p:nvSpPr>
        <p:spPr>
          <a:xfrm>
            <a:off x="590700" y="1910051"/>
            <a:ext cx="3918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300</a:t>
            </a:r>
            <a:endParaRPr sz="1600"/>
          </a:p>
        </p:txBody>
      </p:sp>
      <p:sp>
        <p:nvSpPr>
          <p:cNvPr id="1010" name="Google Shape;1010;p77"/>
          <p:cNvSpPr txBox="1"/>
          <p:nvPr/>
        </p:nvSpPr>
        <p:spPr>
          <a:xfrm>
            <a:off x="7446631" y="4489975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7"/>
          <p:cNvSpPr txBox="1"/>
          <p:nvPr/>
        </p:nvSpPr>
        <p:spPr>
          <a:xfrm>
            <a:off x="454605" y="4489975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7"/>
          <p:cNvSpPr txBox="1"/>
          <p:nvPr/>
        </p:nvSpPr>
        <p:spPr>
          <a:xfrm>
            <a:off x="2374024" y="4446017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7"/>
          <p:cNvSpPr txBox="1"/>
          <p:nvPr/>
        </p:nvSpPr>
        <p:spPr>
          <a:xfrm>
            <a:off x="6028427" y="4446017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77"/>
          <p:cNvSpPr txBox="1"/>
          <p:nvPr/>
        </p:nvSpPr>
        <p:spPr>
          <a:xfrm>
            <a:off x="3736812" y="4489975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5" name="Google Shape;1015;p77"/>
          <p:cNvGrpSpPr/>
          <p:nvPr/>
        </p:nvGrpSpPr>
        <p:grpSpPr>
          <a:xfrm>
            <a:off x="1162856" y="4319587"/>
            <a:ext cx="6838200" cy="238354"/>
            <a:chOff x="1260861" y="3941077"/>
            <a:chExt cx="6838200" cy="658800"/>
          </a:xfrm>
        </p:grpSpPr>
        <p:cxnSp>
          <p:nvCxnSpPr>
            <p:cNvPr id="1016" name="Google Shape;1016;p77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7" name="Google Shape;1017;p77"/>
            <p:cNvCxnSpPr/>
            <p:nvPr/>
          </p:nvCxnSpPr>
          <p:spPr>
            <a:xfrm>
              <a:off x="1260883" y="3941077"/>
              <a:ext cx="0" cy="65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8" name="Google Shape;1018;p77"/>
            <p:cNvCxnSpPr/>
            <p:nvPr/>
          </p:nvCxnSpPr>
          <p:spPr>
            <a:xfrm>
              <a:off x="8088215" y="3941077"/>
              <a:ext cx="0" cy="65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9" name="Google Shape;1019;p77"/>
            <p:cNvCxnSpPr/>
            <p:nvPr/>
          </p:nvCxnSpPr>
          <p:spPr>
            <a:xfrm>
              <a:off x="4674549" y="3941077"/>
              <a:ext cx="0" cy="65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0" name="Google Shape;1020;p77"/>
            <p:cNvCxnSpPr/>
            <p:nvPr/>
          </p:nvCxnSpPr>
          <p:spPr>
            <a:xfrm>
              <a:off x="1365339" y="4553655"/>
              <a:ext cx="3221100" cy="0"/>
            </a:xfrm>
            <a:prstGeom prst="straightConnector1">
              <a:avLst/>
            </a:prstGeom>
            <a:noFill/>
            <a:ln cap="flat" cmpd="sng" w="28575">
              <a:solidFill>
                <a:srgbClr val="59595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21" name="Google Shape;1021;p77"/>
            <p:cNvCxnSpPr/>
            <p:nvPr/>
          </p:nvCxnSpPr>
          <p:spPr>
            <a:xfrm>
              <a:off x="4774394" y="4553655"/>
              <a:ext cx="3221100" cy="0"/>
            </a:xfrm>
            <a:prstGeom prst="straightConnector1">
              <a:avLst/>
            </a:prstGeom>
            <a:noFill/>
            <a:ln cap="flat" cmpd="sng" w="28575">
              <a:solidFill>
                <a:srgbClr val="59595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022" name="Google Shape;1022;p77"/>
          <p:cNvSpPr txBox="1"/>
          <p:nvPr/>
        </p:nvSpPr>
        <p:spPr>
          <a:xfrm>
            <a:off x="5370300" y="3978050"/>
            <a:ext cx="7095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7"/>
          <p:cNvSpPr txBox="1"/>
          <p:nvPr/>
        </p:nvSpPr>
        <p:spPr>
          <a:xfrm>
            <a:off x="4684500" y="3978050"/>
            <a:ext cx="5787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7"/>
          <p:cNvSpPr/>
          <p:nvPr/>
        </p:nvSpPr>
        <p:spPr>
          <a:xfrm>
            <a:off x="4804002" y="4207525"/>
            <a:ext cx="238500" cy="238500"/>
          </a:xfrm>
          <a:prstGeom prst="mathMultiply">
            <a:avLst>
              <a:gd fmla="val 23520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7"/>
          <p:cNvSpPr/>
          <p:nvPr/>
        </p:nvSpPr>
        <p:spPr>
          <a:xfrm>
            <a:off x="5584475" y="4207525"/>
            <a:ext cx="238500" cy="238500"/>
          </a:xfrm>
          <a:prstGeom prst="mathMultiply">
            <a:avLst>
              <a:gd fmla="val 23520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7"/>
          <p:cNvSpPr txBox="1"/>
          <p:nvPr>
            <p:ph idx="1" type="body"/>
          </p:nvPr>
        </p:nvSpPr>
        <p:spPr>
          <a:xfrm>
            <a:off x="590700" y="2192700"/>
            <a:ext cx="3918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250</a:t>
            </a:r>
            <a:endParaRPr sz="1600"/>
          </a:p>
        </p:txBody>
      </p:sp>
      <p:sp>
        <p:nvSpPr>
          <p:cNvPr id="1027" name="Google Shape;1027;p77"/>
          <p:cNvSpPr txBox="1"/>
          <p:nvPr>
            <p:ph idx="1" type="body"/>
          </p:nvPr>
        </p:nvSpPr>
        <p:spPr>
          <a:xfrm>
            <a:off x="590700" y="2783827"/>
            <a:ext cx="3918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150</a:t>
            </a:r>
            <a:endParaRPr sz="1600"/>
          </a:p>
        </p:txBody>
      </p:sp>
      <p:sp>
        <p:nvSpPr>
          <p:cNvPr id="1028" name="Google Shape;1028;p77"/>
          <p:cNvSpPr txBox="1"/>
          <p:nvPr>
            <p:ph idx="1" type="body"/>
          </p:nvPr>
        </p:nvSpPr>
        <p:spPr>
          <a:xfrm>
            <a:off x="692936" y="3393425"/>
            <a:ext cx="260700" cy="2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50</a:t>
            </a:r>
            <a:endParaRPr sz="1600"/>
          </a:p>
        </p:txBody>
      </p:sp>
      <p:cxnSp>
        <p:nvCxnSpPr>
          <p:cNvPr id="1029" name="Google Shape;1029;p77"/>
          <p:cNvCxnSpPr/>
          <p:nvPr/>
        </p:nvCxnSpPr>
        <p:spPr>
          <a:xfrm>
            <a:off x="951697" y="3518981"/>
            <a:ext cx="5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77"/>
          <p:cNvCxnSpPr/>
          <p:nvPr/>
        </p:nvCxnSpPr>
        <p:spPr>
          <a:xfrm>
            <a:off x="951697" y="3218235"/>
            <a:ext cx="5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1" name="Google Shape;1031;p77"/>
          <p:cNvCxnSpPr/>
          <p:nvPr/>
        </p:nvCxnSpPr>
        <p:spPr>
          <a:xfrm>
            <a:off x="951697" y="2920528"/>
            <a:ext cx="5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2" name="Google Shape;1032;p77"/>
          <p:cNvCxnSpPr/>
          <p:nvPr/>
        </p:nvCxnSpPr>
        <p:spPr>
          <a:xfrm>
            <a:off x="951697" y="2622821"/>
            <a:ext cx="5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3" name="Google Shape;1033;p77"/>
          <p:cNvCxnSpPr/>
          <p:nvPr/>
        </p:nvCxnSpPr>
        <p:spPr>
          <a:xfrm>
            <a:off x="951697" y="2325114"/>
            <a:ext cx="5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" name="Google Shape;1034;p77"/>
          <p:cNvCxnSpPr/>
          <p:nvPr/>
        </p:nvCxnSpPr>
        <p:spPr>
          <a:xfrm>
            <a:off x="951697" y="2027407"/>
            <a:ext cx="5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5" name="Google Shape;1035;p77"/>
          <p:cNvSpPr txBox="1"/>
          <p:nvPr>
            <p:ph idx="1" type="body"/>
          </p:nvPr>
        </p:nvSpPr>
        <p:spPr>
          <a:xfrm>
            <a:off x="6267839" y="2851861"/>
            <a:ext cx="2453400" cy="130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</a:t>
            </a:r>
            <a:r>
              <a:rPr lang="en-GB" sz="1800">
                <a:solidFill>
                  <a:schemeClr val="accent4"/>
                </a:solidFill>
              </a:rPr>
              <a:t>more likely</a:t>
            </a:r>
            <a:r>
              <a:rPr lang="en-GB" sz="1800"/>
              <a:t> the frisbee is to land ‘heads’, the </a:t>
            </a:r>
            <a:r>
              <a:rPr lang="en-GB" sz="1800">
                <a:solidFill>
                  <a:schemeClr val="accent4"/>
                </a:solidFill>
              </a:rPr>
              <a:t>less likely </a:t>
            </a:r>
            <a:r>
              <a:rPr lang="en-GB" sz="1800"/>
              <a:t>it is to land ‘tails’.</a:t>
            </a:r>
            <a:endParaRPr sz="1800"/>
          </a:p>
        </p:txBody>
      </p:sp>
      <p:cxnSp>
        <p:nvCxnSpPr>
          <p:cNvPr id="1036" name="Google Shape;1036;p77"/>
          <p:cNvCxnSpPr/>
          <p:nvPr/>
        </p:nvCxnSpPr>
        <p:spPr>
          <a:xfrm>
            <a:off x="982575" y="2321400"/>
            <a:ext cx="2453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37" name="Google Shape;1037;p77"/>
          <p:cNvSpPr txBox="1"/>
          <p:nvPr/>
        </p:nvSpPr>
        <p:spPr>
          <a:xfrm>
            <a:off x="3541500" y="3978050"/>
            <a:ext cx="5787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77"/>
          <p:cNvSpPr/>
          <p:nvPr/>
        </p:nvSpPr>
        <p:spPr>
          <a:xfrm>
            <a:off x="3661002" y="4207525"/>
            <a:ext cx="238500" cy="238500"/>
          </a:xfrm>
          <a:prstGeom prst="mathMultiply">
            <a:avLst>
              <a:gd fmla="val 23520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7"/>
          <p:cNvSpPr txBox="1"/>
          <p:nvPr>
            <p:ph idx="1" type="body"/>
          </p:nvPr>
        </p:nvSpPr>
        <p:spPr>
          <a:xfrm>
            <a:off x="4685525" y="2033100"/>
            <a:ext cx="2888100" cy="67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That means</a:t>
            </a:r>
            <a:r>
              <a:rPr lang="en-GB" sz="1800"/>
              <a:t> ‘tails’ has </a:t>
            </a:r>
            <a:r>
              <a:rPr lang="en-GB" sz="1800">
                <a:solidFill>
                  <a:schemeClr val="accent4"/>
                </a:solidFill>
              </a:rPr>
              <a:t>less than</a:t>
            </a:r>
            <a:r>
              <a:rPr lang="en-GB" sz="1800"/>
              <a:t> an </a:t>
            </a:r>
            <a:r>
              <a:rPr lang="en-GB" sz="1800">
                <a:solidFill>
                  <a:schemeClr val="accent4"/>
                </a:solidFill>
              </a:rPr>
              <a:t>even chance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040" name="Google Shape;1040;p77"/>
          <p:cNvSpPr txBox="1"/>
          <p:nvPr>
            <p:ph idx="1" type="body"/>
          </p:nvPr>
        </p:nvSpPr>
        <p:spPr>
          <a:xfrm>
            <a:off x="1302675" y="1644825"/>
            <a:ext cx="23016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number of trials = 500</a:t>
            </a:r>
            <a:endParaRPr sz="1600"/>
          </a:p>
        </p:txBody>
      </p:sp>
      <p:sp>
        <p:nvSpPr>
          <p:cNvPr id="1041" name="Google Shape;1041;p77"/>
          <p:cNvSpPr txBox="1"/>
          <p:nvPr>
            <p:ph idx="1" type="body"/>
          </p:nvPr>
        </p:nvSpPr>
        <p:spPr>
          <a:xfrm>
            <a:off x="324000" y="1083550"/>
            <a:ext cx="72936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Therefore</a:t>
            </a:r>
            <a:r>
              <a:rPr lang="en-GB" sz="1900"/>
              <a:t>,</a:t>
            </a:r>
            <a:r>
              <a:rPr lang="en-GB" sz="1900"/>
              <a:t> ‘tails’ goes </a:t>
            </a:r>
            <a:r>
              <a:rPr lang="en-GB" sz="1900">
                <a:solidFill>
                  <a:schemeClr val="accent4"/>
                </a:solidFill>
              </a:rPr>
              <a:t>before</a:t>
            </a:r>
            <a:r>
              <a:rPr lang="en-GB" sz="1900"/>
              <a:t> the </a:t>
            </a:r>
            <a:r>
              <a:rPr lang="en-GB" sz="1900">
                <a:solidFill>
                  <a:schemeClr val="accent4"/>
                </a:solidFill>
              </a:rPr>
              <a:t>halfway</a:t>
            </a:r>
            <a:r>
              <a:rPr lang="en-GB" sz="1900"/>
              <a:t> point of the scale. 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8"/>
          <p:cNvSpPr txBox="1"/>
          <p:nvPr>
            <p:ph idx="1" type="body"/>
          </p:nvPr>
        </p:nvSpPr>
        <p:spPr>
          <a:xfrm>
            <a:off x="324000" y="759300"/>
            <a:ext cx="8237700" cy="7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toy building brick that is thrown into the air could land in one of four possible ways.</a:t>
            </a:r>
            <a:endParaRPr sz="2000"/>
          </a:p>
        </p:txBody>
      </p:sp>
      <p:grpSp>
        <p:nvGrpSpPr>
          <p:cNvPr id="1047" name="Google Shape;1047;p78"/>
          <p:cNvGrpSpPr/>
          <p:nvPr/>
        </p:nvGrpSpPr>
        <p:grpSpPr>
          <a:xfrm>
            <a:off x="3163185" y="2474842"/>
            <a:ext cx="580360" cy="410747"/>
            <a:chOff x="1752637" y="1416235"/>
            <a:chExt cx="801602" cy="567330"/>
          </a:xfrm>
        </p:grpSpPr>
        <p:sp>
          <p:nvSpPr>
            <p:cNvPr id="1048" name="Google Shape;1048;p78"/>
            <p:cNvSpPr/>
            <p:nvPr/>
          </p:nvSpPr>
          <p:spPr>
            <a:xfrm>
              <a:off x="2035839" y="1416235"/>
              <a:ext cx="518400" cy="309000"/>
            </a:xfrm>
            <a:prstGeom prst="can">
              <a:avLst>
                <a:gd fmla="val 403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9" name="Google Shape;1049;p78"/>
            <p:cNvSpPr/>
            <p:nvPr/>
          </p:nvSpPr>
          <p:spPr>
            <a:xfrm>
              <a:off x="1752637" y="1646065"/>
              <a:ext cx="565800" cy="337500"/>
            </a:xfrm>
            <a:prstGeom prst="can">
              <a:avLst>
                <a:gd fmla="val 403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0" name="Google Shape;1050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grpSp>
        <p:nvGrpSpPr>
          <p:cNvPr id="1051" name="Google Shape;1051;p78"/>
          <p:cNvGrpSpPr/>
          <p:nvPr/>
        </p:nvGrpSpPr>
        <p:grpSpPr>
          <a:xfrm>
            <a:off x="619692" y="1965385"/>
            <a:ext cx="943655" cy="808764"/>
            <a:chOff x="1828325" y="1905000"/>
            <a:chExt cx="1407600" cy="1206750"/>
          </a:xfrm>
        </p:grpSpPr>
        <p:sp>
          <p:nvSpPr>
            <p:cNvPr id="1052" name="Google Shape;1052;p78"/>
            <p:cNvSpPr/>
            <p:nvPr/>
          </p:nvSpPr>
          <p:spPr>
            <a:xfrm>
              <a:off x="1828325" y="2031750"/>
              <a:ext cx="1407600" cy="1080000"/>
            </a:xfrm>
            <a:prstGeom prst="cube">
              <a:avLst>
                <a:gd fmla="val 511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3" name="Google Shape;1053;p78"/>
            <p:cNvSpPr/>
            <p:nvPr/>
          </p:nvSpPr>
          <p:spPr>
            <a:xfrm>
              <a:off x="2436675" y="1905000"/>
              <a:ext cx="559800" cy="333900"/>
            </a:xfrm>
            <a:prstGeom prst="can">
              <a:avLst>
                <a:gd fmla="val 403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4" name="Google Shape;1054;p78"/>
            <p:cNvSpPr/>
            <p:nvPr/>
          </p:nvSpPr>
          <p:spPr>
            <a:xfrm>
              <a:off x="2130842" y="2153250"/>
              <a:ext cx="611100" cy="364500"/>
            </a:xfrm>
            <a:prstGeom prst="can">
              <a:avLst>
                <a:gd fmla="val 403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5" name="Google Shape;1055;p78"/>
          <p:cNvGrpSpPr/>
          <p:nvPr/>
        </p:nvGrpSpPr>
        <p:grpSpPr>
          <a:xfrm>
            <a:off x="5282914" y="1941120"/>
            <a:ext cx="745843" cy="808853"/>
            <a:chOff x="5369297" y="1230126"/>
            <a:chExt cx="1030169" cy="1117200"/>
          </a:xfrm>
        </p:grpSpPr>
        <p:sp>
          <p:nvSpPr>
            <p:cNvPr id="1056" name="Google Shape;1056;p78"/>
            <p:cNvSpPr/>
            <p:nvPr/>
          </p:nvSpPr>
          <p:spPr>
            <a:xfrm>
              <a:off x="5369297" y="1230126"/>
              <a:ext cx="837900" cy="1117200"/>
            </a:xfrm>
            <a:prstGeom prst="cube">
              <a:avLst>
                <a:gd fmla="val 49113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57" name="Google Shape;1057;p78"/>
            <p:cNvGrpSpPr/>
            <p:nvPr/>
          </p:nvGrpSpPr>
          <p:grpSpPr>
            <a:xfrm flipH="1" rot="5400000">
              <a:off x="5715037" y="1492435"/>
              <a:ext cx="801576" cy="567284"/>
              <a:chOff x="5638837" y="1263835"/>
              <a:chExt cx="801576" cy="567284"/>
            </a:xfrm>
          </p:grpSpPr>
          <p:sp>
            <p:nvSpPr>
              <p:cNvPr id="1058" name="Google Shape;1058;p78"/>
              <p:cNvSpPr/>
              <p:nvPr/>
            </p:nvSpPr>
            <p:spPr>
              <a:xfrm>
                <a:off x="5922039" y="1263835"/>
                <a:ext cx="518375" cy="309125"/>
              </a:xfrm>
              <a:prstGeom prst="can">
                <a:avLst>
                  <a:gd fmla="val 403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59" name="Google Shape;1059;p78"/>
              <p:cNvSpPr/>
              <p:nvPr/>
            </p:nvSpPr>
            <p:spPr>
              <a:xfrm>
                <a:off x="5638837" y="1493665"/>
                <a:ext cx="565879" cy="337454"/>
              </a:xfrm>
              <a:prstGeom prst="can">
                <a:avLst>
                  <a:gd fmla="val 403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060" name="Google Shape;1060;p78"/>
          <p:cNvGrpSpPr/>
          <p:nvPr/>
        </p:nvGrpSpPr>
        <p:grpSpPr>
          <a:xfrm>
            <a:off x="7458667" y="1928157"/>
            <a:ext cx="511723" cy="874664"/>
            <a:chOff x="6752450" y="1106973"/>
            <a:chExt cx="706800" cy="1208100"/>
          </a:xfrm>
        </p:grpSpPr>
        <p:sp>
          <p:nvSpPr>
            <p:cNvPr id="1061" name="Google Shape;1061;p78"/>
            <p:cNvSpPr/>
            <p:nvPr/>
          </p:nvSpPr>
          <p:spPr>
            <a:xfrm>
              <a:off x="6752450" y="1106973"/>
              <a:ext cx="706800" cy="1208100"/>
            </a:xfrm>
            <a:prstGeom prst="cube">
              <a:avLst>
                <a:gd fmla="val 18987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2" name="Google Shape;1062;p78"/>
            <p:cNvSpPr/>
            <p:nvPr/>
          </p:nvSpPr>
          <p:spPr>
            <a:xfrm>
              <a:off x="6847462" y="1329972"/>
              <a:ext cx="395400" cy="395400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3" name="Google Shape;1063;p78"/>
            <p:cNvSpPr/>
            <p:nvPr/>
          </p:nvSpPr>
          <p:spPr>
            <a:xfrm>
              <a:off x="6808303" y="1355840"/>
              <a:ext cx="395400" cy="395400"/>
            </a:xfrm>
            <a:prstGeom prst="ellipse">
              <a:avLst/>
            </a:prstGeom>
            <a:solidFill>
              <a:srgbClr val="B59CE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4" name="Google Shape;1064;p78"/>
            <p:cNvSpPr/>
            <p:nvPr/>
          </p:nvSpPr>
          <p:spPr>
            <a:xfrm>
              <a:off x="6847462" y="1824301"/>
              <a:ext cx="395400" cy="395400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5" name="Google Shape;1065;p78"/>
            <p:cNvSpPr/>
            <p:nvPr/>
          </p:nvSpPr>
          <p:spPr>
            <a:xfrm>
              <a:off x="6803632" y="1850168"/>
              <a:ext cx="395400" cy="395400"/>
            </a:xfrm>
            <a:prstGeom prst="ellipse">
              <a:avLst/>
            </a:prstGeom>
            <a:solidFill>
              <a:srgbClr val="B59CE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66" name="Google Shape;1066;p78"/>
          <p:cNvSpPr/>
          <p:nvPr/>
        </p:nvSpPr>
        <p:spPr>
          <a:xfrm>
            <a:off x="2939028" y="2084592"/>
            <a:ext cx="943800" cy="723900"/>
          </a:xfrm>
          <a:prstGeom prst="cube">
            <a:avLst>
              <a:gd fmla="val 51105" name="adj"/>
            </a:avLst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8"/>
          <p:cNvSpPr/>
          <p:nvPr/>
        </p:nvSpPr>
        <p:spPr>
          <a:xfrm rot="-167672">
            <a:off x="3125862" y="2272122"/>
            <a:ext cx="455341" cy="128854"/>
          </a:xfrm>
          <a:prstGeom prst="ellipse">
            <a:avLst/>
          </a:prstGeom>
          <a:solidFill>
            <a:srgbClr val="6A48A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78"/>
          <p:cNvSpPr/>
          <p:nvPr/>
        </p:nvSpPr>
        <p:spPr>
          <a:xfrm rot="-167672">
            <a:off x="3272598" y="2115664"/>
            <a:ext cx="455341" cy="128854"/>
          </a:xfrm>
          <a:prstGeom prst="ellipse">
            <a:avLst/>
          </a:prstGeom>
          <a:solidFill>
            <a:srgbClr val="6A48A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78"/>
          <p:cNvSpPr txBox="1"/>
          <p:nvPr>
            <p:ph idx="1" type="body"/>
          </p:nvPr>
        </p:nvSpPr>
        <p:spPr>
          <a:xfrm>
            <a:off x="662111" y="1536495"/>
            <a:ext cx="2832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070" name="Google Shape;1070;p78"/>
          <p:cNvSpPr txBox="1"/>
          <p:nvPr>
            <p:ph idx="1" type="body"/>
          </p:nvPr>
        </p:nvSpPr>
        <p:spPr>
          <a:xfrm>
            <a:off x="2925984" y="1536495"/>
            <a:ext cx="2832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 sz="2000"/>
          </a:p>
        </p:txBody>
      </p:sp>
      <p:sp>
        <p:nvSpPr>
          <p:cNvPr id="1071" name="Google Shape;1071;p78"/>
          <p:cNvSpPr txBox="1"/>
          <p:nvPr>
            <p:ph idx="1" type="body"/>
          </p:nvPr>
        </p:nvSpPr>
        <p:spPr>
          <a:xfrm>
            <a:off x="5189857" y="1536495"/>
            <a:ext cx="2832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endParaRPr sz="2000"/>
          </a:p>
        </p:txBody>
      </p:sp>
      <p:sp>
        <p:nvSpPr>
          <p:cNvPr id="1072" name="Google Shape;1072;p78"/>
          <p:cNvSpPr txBox="1"/>
          <p:nvPr>
            <p:ph idx="1" type="body"/>
          </p:nvPr>
        </p:nvSpPr>
        <p:spPr>
          <a:xfrm>
            <a:off x="7453730" y="1536495"/>
            <a:ext cx="2832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endParaRPr sz="2000"/>
          </a:p>
        </p:txBody>
      </p:sp>
      <p:sp>
        <p:nvSpPr>
          <p:cNvPr id="1073" name="Google Shape;1073;p78"/>
          <p:cNvSpPr txBox="1"/>
          <p:nvPr>
            <p:ph idx="1" type="body"/>
          </p:nvPr>
        </p:nvSpPr>
        <p:spPr>
          <a:xfrm>
            <a:off x="565075" y="2926997"/>
            <a:ext cx="16464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connectors up</a:t>
            </a:r>
            <a:endParaRPr sz="1800"/>
          </a:p>
        </p:txBody>
      </p:sp>
      <p:sp>
        <p:nvSpPr>
          <p:cNvPr id="1074" name="Google Shape;1074;p78"/>
          <p:cNvSpPr txBox="1"/>
          <p:nvPr>
            <p:ph idx="1" type="body"/>
          </p:nvPr>
        </p:nvSpPr>
        <p:spPr>
          <a:xfrm>
            <a:off x="2897816" y="2926997"/>
            <a:ext cx="19311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connectors down</a:t>
            </a:r>
            <a:endParaRPr sz="1800"/>
          </a:p>
        </p:txBody>
      </p:sp>
      <p:sp>
        <p:nvSpPr>
          <p:cNvPr id="1075" name="Google Shape;1075;p78"/>
          <p:cNvSpPr txBox="1"/>
          <p:nvPr>
            <p:ph idx="1" type="body"/>
          </p:nvPr>
        </p:nvSpPr>
        <p:spPr>
          <a:xfrm>
            <a:off x="5208000" y="2926997"/>
            <a:ext cx="11601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long face</a:t>
            </a:r>
            <a:endParaRPr sz="1800"/>
          </a:p>
        </p:txBody>
      </p:sp>
      <p:sp>
        <p:nvSpPr>
          <p:cNvPr id="1076" name="Google Shape;1076;p78"/>
          <p:cNvSpPr txBox="1"/>
          <p:nvPr>
            <p:ph idx="1" type="body"/>
          </p:nvPr>
        </p:nvSpPr>
        <p:spPr>
          <a:xfrm>
            <a:off x="7457078" y="2926997"/>
            <a:ext cx="13836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</a:t>
            </a:r>
            <a:r>
              <a:rPr lang="en-GB" sz="1800"/>
              <a:t>hort</a:t>
            </a:r>
            <a:r>
              <a:rPr lang="en-GB" sz="1800"/>
              <a:t> face</a:t>
            </a:r>
            <a:endParaRPr sz="1800"/>
          </a:p>
        </p:txBody>
      </p:sp>
      <p:sp>
        <p:nvSpPr>
          <p:cNvPr id="1077" name="Google Shape;1077;p78"/>
          <p:cNvSpPr txBox="1"/>
          <p:nvPr>
            <p:ph idx="1" type="body"/>
          </p:nvPr>
        </p:nvSpPr>
        <p:spPr>
          <a:xfrm>
            <a:off x="324000" y="3578700"/>
            <a:ext cx="8496000" cy="4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How could you investigate which outcomes are more likely than others?</a:t>
            </a:r>
            <a:endParaRPr sz="1900"/>
          </a:p>
        </p:txBody>
      </p:sp>
      <p:sp>
        <p:nvSpPr>
          <p:cNvPr id="1078" name="Google Shape;1078;p78"/>
          <p:cNvSpPr txBox="1"/>
          <p:nvPr>
            <p:ph idx="1" type="body"/>
          </p:nvPr>
        </p:nvSpPr>
        <p:spPr>
          <a:xfrm>
            <a:off x="324000" y="4100050"/>
            <a:ext cx="8496000" cy="3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Conduct an experiment by throwing the toy brick into the air multiple times.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79"/>
          <p:cNvSpPr txBox="1"/>
          <p:nvPr>
            <p:ph idx="1" type="body"/>
          </p:nvPr>
        </p:nvSpPr>
        <p:spPr>
          <a:xfrm>
            <a:off x="324000" y="759300"/>
            <a:ext cx="8237700" cy="7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 experiment consists of throwing a toy brick in the air 100 times.</a:t>
            </a:r>
            <a:br>
              <a:rPr lang="en-GB" sz="2000"/>
            </a:br>
            <a:r>
              <a:rPr lang="en-GB" sz="2000"/>
              <a:t>The results are shown in the bar chart.</a:t>
            </a:r>
            <a:endParaRPr sz="2000"/>
          </a:p>
        </p:txBody>
      </p:sp>
      <p:sp>
        <p:nvSpPr>
          <p:cNvPr id="1084" name="Google Shape;1084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grpSp>
        <p:nvGrpSpPr>
          <p:cNvPr id="1085" name="Google Shape;1085;p79"/>
          <p:cNvGrpSpPr/>
          <p:nvPr/>
        </p:nvGrpSpPr>
        <p:grpSpPr>
          <a:xfrm>
            <a:off x="872147" y="4422016"/>
            <a:ext cx="351478" cy="301325"/>
            <a:chOff x="1828325" y="1905000"/>
            <a:chExt cx="1407600" cy="1206750"/>
          </a:xfrm>
        </p:grpSpPr>
        <p:sp>
          <p:nvSpPr>
            <p:cNvPr id="1086" name="Google Shape;1086;p79"/>
            <p:cNvSpPr/>
            <p:nvPr/>
          </p:nvSpPr>
          <p:spPr>
            <a:xfrm>
              <a:off x="1828325" y="2031750"/>
              <a:ext cx="1407600" cy="1080000"/>
            </a:xfrm>
            <a:prstGeom prst="cube">
              <a:avLst>
                <a:gd fmla="val 511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7" name="Google Shape;1087;p79"/>
            <p:cNvSpPr/>
            <p:nvPr/>
          </p:nvSpPr>
          <p:spPr>
            <a:xfrm>
              <a:off x="2436675" y="1905000"/>
              <a:ext cx="559800" cy="333900"/>
            </a:xfrm>
            <a:prstGeom prst="can">
              <a:avLst>
                <a:gd fmla="val 403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8" name="Google Shape;1088;p79"/>
            <p:cNvSpPr/>
            <p:nvPr/>
          </p:nvSpPr>
          <p:spPr>
            <a:xfrm>
              <a:off x="2130842" y="2153250"/>
              <a:ext cx="611100" cy="364500"/>
            </a:xfrm>
            <a:prstGeom prst="can">
              <a:avLst>
                <a:gd fmla="val 403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9" name="Google Shape;1089;p79"/>
          <p:cNvGrpSpPr/>
          <p:nvPr/>
        </p:nvGrpSpPr>
        <p:grpSpPr>
          <a:xfrm>
            <a:off x="2610016" y="4462032"/>
            <a:ext cx="277940" cy="301421"/>
            <a:chOff x="5369297" y="1230126"/>
            <a:chExt cx="1030169" cy="1117200"/>
          </a:xfrm>
        </p:grpSpPr>
        <p:sp>
          <p:nvSpPr>
            <p:cNvPr id="1090" name="Google Shape;1090;p79"/>
            <p:cNvSpPr/>
            <p:nvPr/>
          </p:nvSpPr>
          <p:spPr>
            <a:xfrm>
              <a:off x="5369297" y="1230126"/>
              <a:ext cx="837900" cy="1117200"/>
            </a:xfrm>
            <a:prstGeom prst="cube">
              <a:avLst>
                <a:gd fmla="val 49113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91" name="Google Shape;1091;p79"/>
            <p:cNvGrpSpPr/>
            <p:nvPr/>
          </p:nvGrpSpPr>
          <p:grpSpPr>
            <a:xfrm flipH="1" rot="5400000">
              <a:off x="5715001" y="1492400"/>
              <a:ext cx="801602" cy="567330"/>
              <a:chOff x="5638837" y="1263835"/>
              <a:chExt cx="801602" cy="567330"/>
            </a:xfrm>
          </p:grpSpPr>
          <p:sp>
            <p:nvSpPr>
              <p:cNvPr id="1092" name="Google Shape;1092;p79"/>
              <p:cNvSpPr/>
              <p:nvPr/>
            </p:nvSpPr>
            <p:spPr>
              <a:xfrm>
                <a:off x="5922039" y="1263835"/>
                <a:ext cx="518400" cy="309000"/>
              </a:xfrm>
              <a:prstGeom prst="can">
                <a:avLst>
                  <a:gd fmla="val 403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93" name="Google Shape;1093;p79"/>
              <p:cNvSpPr/>
              <p:nvPr/>
            </p:nvSpPr>
            <p:spPr>
              <a:xfrm>
                <a:off x="5638837" y="1493665"/>
                <a:ext cx="565800" cy="337500"/>
              </a:xfrm>
              <a:prstGeom prst="can">
                <a:avLst>
                  <a:gd fmla="val 403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094" name="Google Shape;1094;p79"/>
          <p:cNvGrpSpPr/>
          <p:nvPr/>
        </p:nvGrpSpPr>
        <p:grpSpPr>
          <a:xfrm>
            <a:off x="3420744" y="4443231"/>
            <a:ext cx="190695" cy="325945"/>
            <a:chOff x="6752450" y="1106973"/>
            <a:chExt cx="706800" cy="1208100"/>
          </a:xfrm>
        </p:grpSpPr>
        <p:sp>
          <p:nvSpPr>
            <p:cNvPr id="1095" name="Google Shape;1095;p79"/>
            <p:cNvSpPr/>
            <p:nvPr/>
          </p:nvSpPr>
          <p:spPr>
            <a:xfrm>
              <a:off x="6752450" y="1106973"/>
              <a:ext cx="706800" cy="1208100"/>
            </a:xfrm>
            <a:prstGeom prst="cube">
              <a:avLst>
                <a:gd fmla="val 18987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6" name="Google Shape;1096;p79"/>
            <p:cNvSpPr/>
            <p:nvPr/>
          </p:nvSpPr>
          <p:spPr>
            <a:xfrm>
              <a:off x="6847462" y="1329972"/>
              <a:ext cx="395400" cy="395400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7" name="Google Shape;1097;p79"/>
            <p:cNvSpPr/>
            <p:nvPr/>
          </p:nvSpPr>
          <p:spPr>
            <a:xfrm>
              <a:off x="6808303" y="1355840"/>
              <a:ext cx="395400" cy="395400"/>
            </a:xfrm>
            <a:prstGeom prst="ellipse">
              <a:avLst/>
            </a:prstGeom>
            <a:solidFill>
              <a:srgbClr val="B59CE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8" name="Google Shape;1098;p79"/>
            <p:cNvSpPr/>
            <p:nvPr/>
          </p:nvSpPr>
          <p:spPr>
            <a:xfrm>
              <a:off x="6847462" y="1824301"/>
              <a:ext cx="395400" cy="395400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9" name="Google Shape;1099;p79"/>
            <p:cNvSpPr/>
            <p:nvPr/>
          </p:nvSpPr>
          <p:spPr>
            <a:xfrm>
              <a:off x="6803632" y="1850168"/>
              <a:ext cx="395400" cy="395400"/>
            </a:xfrm>
            <a:prstGeom prst="ellipse">
              <a:avLst/>
            </a:prstGeom>
            <a:solidFill>
              <a:srgbClr val="B59CE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0" name="Google Shape;1100;p79"/>
          <p:cNvGrpSpPr/>
          <p:nvPr/>
        </p:nvGrpSpPr>
        <p:grpSpPr>
          <a:xfrm>
            <a:off x="1736469" y="4466439"/>
            <a:ext cx="351600" cy="298537"/>
            <a:chOff x="1736469" y="4428339"/>
            <a:chExt cx="351600" cy="298537"/>
          </a:xfrm>
        </p:grpSpPr>
        <p:grpSp>
          <p:nvGrpSpPr>
            <p:cNvPr id="1101" name="Google Shape;1101;p79"/>
            <p:cNvGrpSpPr/>
            <p:nvPr/>
          </p:nvGrpSpPr>
          <p:grpSpPr>
            <a:xfrm>
              <a:off x="1736469" y="4428339"/>
              <a:ext cx="351600" cy="298537"/>
              <a:chOff x="1736469" y="4428339"/>
              <a:chExt cx="351600" cy="298537"/>
            </a:xfrm>
          </p:grpSpPr>
          <p:grpSp>
            <p:nvGrpSpPr>
              <p:cNvPr id="1102" name="Google Shape;1102;p79"/>
              <p:cNvGrpSpPr/>
              <p:nvPr/>
            </p:nvGrpSpPr>
            <p:grpSpPr>
              <a:xfrm>
                <a:off x="1820065" y="4573811"/>
                <a:ext cx="216272" cy="153066"/>
                <a:chOff x="1752637" y="1416235"/>
                <a:chExt cx="801602" cy="567330"/>
              </a:xfrm>
            </p:grpSpPr>
            <p:sp>
              <p:nvSpPr>
                <p:cNvPr id="1103" name="Google Shape;1103;p79"/>
                <p:cNvSpPr/>
                <p:nvPr/>
              </p:nvSpPr>
              <p:spPr>
                <a:xfrm>
                  <a:off x="2035839" y="1416235"/>
                  <a:ext cx="518400" cy="309000"/>
                </a:xfrm>
                <a:prstGeom prst="can">
                  <a:avLst>
                    <a:gd fmla="val 40305" name="adj"/>
                  </a:avLst>
                </a:prstGeom>
                <a:solidFill>
                  <a:schemeClr val="accent4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104" name="Google Shape;1104;p79"/>
                <p:cNvSpPr/>
                <p:nvPr/>
              </p:nvSpPr>
              <p:spPr>
                <a:xfrm>
                  <a:off x="1752637" y="1646065"/>
                  <a:ext cx="565800" cy="337500"/>
                </a:xfrm>
                <a:prstGeom prst="can">
                  <a:avLst>
                    <a:gd fmla="val 40305" name="adj"/>
                  </a:avLst>
                </a:prstGeom>
                <a:solidFill>
                  <a:schemeClr val="accent4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1105" name="Google Shape;1105;p79"/>
              <p:cNvSpPr/>
              <p:nvPr/>
            </p:nvSpPr>
            <p:spPr>
              <a:xfrm>
                <a:off x="1736469" y="4428339"/>
                <a:ext cx="351600" cy="269700"/>
              </a:xfrm>
              <a:prstGeom prst="cube">
                <a:avLst>
                  <a:gd fmla="val 511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6" name="Google Shape;1106;p79"/>
              <p:cNvSpPr/>
              <p:nvPr/>
            </p:nvSpPr>
            <p:spPr>
              <a:xfrm rot="-164157">
                <a:off x="1806113" y="4498293"/>
                <a:ext cx="169693" cy="48060"/>
              </a:xfrm>
              <a:prstGeom prst="ellipse">
                <a:avLst/>
              </a:prstGeom>
              <a:solidFill>
                <a:srgbClr val="6A48AE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07" name="Google Shape;1107;p79"/>
            <p:cNvSpPr/>
            <p:nvPr/>
          </p:nvSpPr>
          <p:spPr>
            <a:xfrm rot="-164157">
              <a:off x="1860785" y="4440000"/>
              <a:ext cx="169693" cy="48060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08" name="Google Shape;1108;p79"/>
          <p:cNvSpPr txBox="1"/>
          <p:nvPr>
            <p:ph idx="1" type="body"/>
          </p:nvPr>
        </p:nvSpPr>
        <p:spPr>
          <a:xfrm>
            <a:off x="985477" y="4132735"/>
            <a:ext cx="2358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109" name="Google Shape;1109;p79"/>
          <p:cNvSpPr txBox="1"/>
          <p:nvPr>
            <p:ph idx="1" type="body"/>
          </p:nvPr>
        </p:nvSpPr>
        <p:spPr>
          <a:xfrm>
            <a:off x="1863337" y="4146583"/>
            <a:ext cx="2358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 sz="2000"/>
          </a:p>
        </p:txBody>
      </p:sp>
      <p:sp>
        <p:nvSpPr>
          <p:cNvPr id="1110" name="Google Shape;1110;p79"/>
          <p:cNvSpPr txBox="1"/>
          <p:nvPr>
            <p:ph idx="1" type="body"/>
          </p:nvPr>
        </p:nvSpPr>
        <p:spPr>
          <a:xfrm>
            <a:off x="4438800" y="1717326"/>
            <a:ext cx="4413300" cy="19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toy brick is about to be thrown in the air again.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Based on these results, which outcome would be the most likely to happen?</a:t>
            </a:r>
            <a:endParaRPr sz="2000"/>
          </a:p>
        </p:txBody>
      </p:sp>
      <p:sp>
        <p:nvSpPr>
          <p:cNvPr id="1111" name="Google Shape;1111;p79"/>
          <p:cNvSpPr txBox="1"/>
          <p:nvPr>
            <p:ph idx="1" type="body"/>
          </p:nvPr>
        </p:nvSpPr>
        <p:spPr>
          <a:xfrm>
            <a:off x="2669553" y="4146583"/>
            <a:ext cx="2358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endParaRPr sz="2000"/>
          </a:p>
        </p:txBody>
      </p:sp>
      <p:sp>
        <p:nvSpPr>
          <p:cNvPr id="1112" name="Google Shape;1112;p79"/>
          <p:cNvSpPr txBox="1"/>
          <p:nvPr>
            <p:ph idx="1" type="body"/>
          </p:nvPr>
        </p:nvSpPr>
        <p:spPr>
          <a:xfrm>
            <a:off x="3430494" y="4146583"/>
            <a:ext cx="2358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endParaRPr sz="2000"/>
          </a:p>
        </p:txBody>
      </p:sp>
      <p:pic>
        <p:nvPicPr>
          <p:cNvPr id="1113" name="Google Shape;1113;p79"/>
          <p:cNvPicPr preferRelativeResize="0"/>
          <p:nvPr/>
        </p:nvPicPr>
        <p:blipFill rotWithShape="1">
          <a:blip r:embed="rId3">
            <a:alphaModFix/>
          </a:blip>
          <a:srcRect b="0" l="0" r="0" t="4461"/>
          <a:stretch/>
        </p:blipFill>
        <p:spPr>
          <a:xfrm>
            <a:off x="712150" y="1744313"/>
            <a:ext cx="3099250" cy="24385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4" name="Google Shape;1114;p79"/>
          <p:cNvCxnSpPr/>
          <p:nvPr/>
        </p:nvCxnSpPr>
        <p:spPr>
          <a:xfrm>
            <a:off x="719825" y="4180825"/>
            <a:ext cx="335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5" name="Google Shape;1115;p79"/>
          <p:cNvCxnSpPr/>
          <p:nvPr/>
        </p:nvCxnSpPr>
        <p:spPr>
          <a:xfrm rot="10800000">
            <a:off x="719825" y="1534050"/>
            <a:ext cx="0" cy="2657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6" name="Google Shape;1116;p79"/>
          <p:cNvSpPr txBox="1"/>
          <p:nvPr>
            <p:ph idx="1" type="body"/>
          </p:nvPr>
        </p:nvSpPr>
        <p:spPr>
          <a:xfrm rot="-5400000">
            <a:off x="-244484" y="2699467"/>
            <a:ext cx="14721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frequency</a:t>
            </a:r>
            <a:endParaRPr sz="2000"/>
          </a:p>
        </p:txBody>
      </p:sp>
      <p:sp>
        <p:nvSpPr>
          <p:cNvPr id="1117" name="Google Shape;1117;p79"/>
          <p:cNvSpPr txBox="1"/>
          <p:nvPr>
            <p:ph idx="1" type="body"/>
          </p:nvPr>
        </p:nvSpPr>
        <p:spPr>
          <a:xfrm>
            <a:off x="5029650" y="3871450"/>
            <a:ext cx="2832300" cy="48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 - connectors down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80"/>
          <p:cNvSpPr txBox="1"/>
          <p:nvPr>
            <p:ph idx="1" type="subTitle"/>
          </p:nvPr>
        </p:nvSpPr>
        <p:spPr>
          <a:xfrm>
            <a:off x="980575" y="3196125"/>
            <a:ext cx="62799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event with the </a:t>
            </a:r>
            <a:r>
              <a:rPr lang="en-GB" sz="2000">
                <a:solidFill>
                  <a:schemeClr val="accent4"/>
                </a:solidFill>
              </a:rPr>
              <a:t>highest frequency</a:t>
            </a:r>
            <a:r>
              <a:rPr lang="en-GB" sz="2000"/>
              <a:t> is the </a:t>
            </a:r>
            <a:br>
              <a:rPr lang="en-GB" sz="2000"/>
            </a:br>
            <a:r>
              <a:rPr lang="en-GB" sz="2000">
                <a:solidFill>
                  <a:schemeClr val="accent4"/>
                </a:solidFill>
              </a:rPr>
              <a:t>most likely</a:t>
            </a:r>
            <a:r>
              <a:rPr lang="en-GB" sz="2000"/>
              <a:t>, so it has greater than an even chance.</a:t>
            </a:r>
            <a:endParaRPr sz="2000"/>
          </a:p>
        </p:txBody>
      </p:sp>
      <p:sp>
        <p:nvSpPr>
          <p:cNvPr id="1123" name="Google Shape;1123;p80"/>
          <p:cNvSpPr txBox="1"/>
          <p:nvPr>
            <p:ph idx="2" type="subTitle"/>
          </p:nvPr>
        </p:nvSpPr>
        <p:spPr>
          <a:xfrm>
            <a:off x="324000" y="1080000"/>
            <a:ext cx="5085600" cy="79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None of the events have a likelihood that is more than even chance.</a:t>
            </a:r>
            <a:endParaRPr/>
          </a:p>
        </p:txBody>
      </p:sp>
      <p:sp>
        <p:nvSpPr>
          <p:cNvPr id="1124" name="Google Shape;1124;p80"/>
          <p:cNvSpPr txBox="1"/>
          <p:nvPr>
            <p:ph idx="3" type="subTitle"/>
          </p:nvPr>
        </p:nvSpPr>
        <p:spPr>
          <a:xfrm>
            <a:off x="980575" y="4040353"/>
            <a:ext cx="63267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None of the events have a frequency greater than </a:t>
            </a:r>
            <a:r>
              <a:rPr lang="en-GB" sz="2000">
                <a:solidFill>
                  <a:schemeClr val="accent4"/>
                </a:solidFill>
              </a:rPr>
              <a:t>half the number of trials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125" name="Google Shape;1125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Planning and conducting experiments</a:t>
            </a:r>
            <a:endParaRPr/>
          </a:p>
        </p:txBody>
      </p:sp>
      <p:grpSp>
        <p:nvGrpSpPr>
          <p:cNvPr id="1126" name="Google Shape;1126;p80"/>
          <p:cNvGrpSpPr/>
          <p:nvPr/>
        </p:nvGrpSpPr>
        <p:grpSpPr>
          <a:xfrm>
            <a:off x="6872392" y="2918730"/>
            <a:ext cx="213814" cy="183305"/>
            <a:chOff x="1828325" y="1905000"/>
            <a:chExt cx="1407600" cy="1206750"/>
          </a:xfrm>
        </p:grpSpPr>
        <p:sp>
          <p:nvSpPr>
            <p:cNvPr id="1127" name="Google Shape;1127;p80"/>
            <p:cNvSpPr/>
            <p:nvPr/>
          </p:nvSpPr>
          <p:spPr>
            <a:xfrm>
              <a:off x="1828325" y="2031750"/>
              <a:ext cx="1407600" cy="1080000"/>
            </a:xfrm>
            <a:prstGeom prst="cube">
              <a:avLst>
                <a:gd fmla="val 511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8" name="Google Shape;1128;p80"/>
            <p:cNvSpPr/>
            <p:nvPr/>
          </p:nvSpPr>
          <p:spPr>
            <a:xfrm>
              <a:off x="2436675" y="1905000"/>
              <a:ext cx="559800" cy="333900"/>
            </a:xfrm>
            <a:prstGeom prst="can">
              <a:avLst>
                <a:gd fmla="val 403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9" name="Google Shape;1129;p80"/>
            <p:cNvSpPr/>
            <p:nvPr/>
          </p:nvSpPr>
          <p:spPr>
            <a:xfrm>
              <a:off x="2130842" y="2153250"/>
              <a:ext cx="611100" cy="364500"/>
            </a:xfrm>
            <a:prstGeom prst="can">
              <a:avLst>
                <a:gd fmla="val 403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80"/>
          <p:cNvGrpSpPr/>
          <p:nvPr/>
        </p:nvGrpSpPr>
        <p:grpSpPr>
          <a:xfrm>
            <a:off x="7930217" y="2943220"/>
            <a:ext cx="169154" cy="183444"/>
            <a:chOff x="5369297" y="1230126"/>
            <a:chExt cx="1030169" cy="1117200"/>
          </a:xfrm>
        </p:grpSpPr>
        <p:sp>
          <p:nvSpPr>
            <p:cNvPr id="1131" name="Google Shape;1131;p80"/>
            <p:cNvSpPr/>
            <p:nvPr/>
          </p:nvSpPr>
          <p:spPr>
            <a:xfrm>
              <a:off x="5369297" y="1230126"/>
              <a:ext cx="837900" cy="1117200"/>
            </a:xfrm>
            <a:prstGeom prst="cube">
              <a:avLst>
                <a:gd fmla="val 49113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32" name="Google Shape;1132;p80"/>
            <p:cNvGrpSpPr/>
            <p:nvPr/>
          </p:nvGrpSpPr>
          <p:grpSpPr>
            <a:xfrm flipH="1" rot="5400000">
              <a:off x="5715001" y="1492400"/>
              <a:ext cx="801602" cy="567330"/>
              <a:chOff x="5638837" y="1263835"/>
              <a:chExt cx="801602" cy="567330"/>
            </a:xfrm>
          </p:grpSpPr>
          <p:sp>
            <p:nvSpPr>
              <p:cNvPr id="1133" name="Google Shape;1133;p80"/>
              <p:cNvSpPr/>
              <p:nvPr/>
            </p:nvSpPr>
            <p:spPr>
              <a:xfrm>
                <a:off x="5922039" y="1263835"/>
                <a:ext cx="518400" cy="309000"/>
              </a:xfrm>
              <a:prstGeom prst="can">
                <a:avLst>
                  <a:gd fmla="val 403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34" name="Google Shape;1134;p80"/>
              <p:cNvSpPr/>
              <p:nvPr/>
            </p:nvSpPr>
            <p:spPr>
              <a:xfrm>
                <a:off x="5638837" y="1493665"/>
                <a:ext cx="565800" cy="337500"/>
              </a:xfrm>
              <a:prstGeom prst="can">
                <a:avLst>
                  <a:gd fmla="val 403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135" name="Google Shape;1135;p80"/>
          <p:cNvGrpSpPr/>
          <p:nvPr/>
        </p:nvGrpSpPr>
        <p:grpSpPr>
          <a:xfrm>
            <a:off x="8423646" y="2931778"/>
            <a:ext cx="116057" cy="198370"/>
            <a:chOff x="6752450" y="1106973"/>
            <a:chExt cx="706800" cy="1208100"/>
          </a:xfrm>
        </p:grpSpPr>
        <p:sp>
          <p:nvSpPr>
            <p:cNvPr id="1136" name="Google Shape;1136;p80"/>
            <p:cNvSpPr/>
            <p:nvPr/>
          </p:nvSpPr>
          <p:spPr>
            <a:xfrm>
              <a:off x="6752450" y="1106973"/>
              <a:ext cx="706800" cy="1208100"/>
            </a:xfrm>
            <a:prstGeom prst="cube">
              <a:avLst>
                <a:gd fmla="val 18987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7" name="Google Shape;1137;p80"/>
            <p:cNvSpPr/>
            <p:nvPr/>
          </p:nvSpPr>
          <p:spPr>
            <a:xfrm>
              <a:off x="6847462" y="1329972"/>
              <a:ext cx="395400" cy="395400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8" name="Google Shape;1138;p80"/>
            <p:cNvSpPr/>
            <p:nvPr/>
          </p:nvSpPr>
          <p:spPr>
            <a:xfrm>
              <a:off x="6808303" y="1355840"/>
              <a:ext cx="395400" cy="395400"/>
            </a:xfrm>
            <a:prstGeom prst="ellipse">
              <a:avLst/>
            </a:prstGeom>
            <a:solidFill>
              <a:srgbClr val="B59CE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9" name="Google Shape;1139;p80"/>
            <p:cNvSpPr/>
            <p:nvPr/>
          </p:nvSpPr>
          <p:spPr>
            <a:xfrm>
              <a:off x="6847462" y="1824301"/>
              <a:ext cx="395400" cy="395400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0" name="Google Shape;1140;p80"/>
            <p:cNvSpPr/>
            <p:nvPr/>
          </p:nvSpPr>
          <p:spPr>
            <a:xfrm>
              <a:off x="6803632" y="1850168"/>
              <a:ext cx="395400" cy="395400"/>
            </a:xfrm>
            <a:prstGeom prst="ellipse">
              <a:avLst/>
            </a:prstGeom>
            <a:solidFill>
              <a:srgbClr val="B59CE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1" name="Google Shape;1141;p80"/>
          <p:cNvGrpSpPr/>
          <p:nvPr/>
        </p:nvGrpSpPr>
        <p:grpSpPr>
          <a:xfrm>
            <a:off x="7398522" y="2945727"/>
            <a:ext cx="213984" cy="181690"/>
            <a:chOff x="1736469" y="4428339"/>
            <a:chExt cx="351600" cy="298537"/>
          </a:xfrm>
        </p:grpSpPr>
        <p:grpSp>
          <p:nvGrpSpPr>
            <p:cNvPr id="1142" name="Google Shape;1142;p80"/>
            <p:cNvGrpSpPr/>
            <p:nvPr/>
          </p:nvGrpSpPr>
          <p:grpSpPr>
            <a:xfrm>
              <a:off x="1736469" y="4428339"/>
              <a:ext cx="351600" cy="298537"/>
              <a:chOff x="1736469" y="4428339"/>
              <a:chExt cx="351600" cy="298537"/>
            </a:xfrm>
          </p:grpSpPr>
          <p:grpSp>
            <p:nvGrpSpPr>
              <p:cNvPr id="1143" name="Google Shape;1143;p80"/>
              <p:cNvGrpSpPr/>
              <p:nvPr/>
            </p:nvGrpSpPr>
            <p:grpSpPr>
              <a:xfrm>
                <a:off x="1820065" y="4573811"/>
                <a:ext cx="216272" cy="153066"/>
                <a:chOff x="1752637" y="1416235"/>
                <a:chExt cx="801602" cy="567330"/>
              </a:xfrm>
            </p:grpSpPr>
            <p:sp>
              <p:nvSpPr>
                <p:cNvPr id="1144" name="Google Shape;1144;p80"/>
                <p:cNvSpPr/>
                <p:nvPr/>
              </p:nvSpPr>
              <p:spPr>
                <a:xfrm>
                  <a:off x="2035839" y="1416235"/>
                  <a:ext cx="518400" cy="309000"/>
                </a:xfrm>
                <a:prstGeom prst="can">
                  <a:avLst>
                    <a:gd fmla="val 40305" name="adj"/>
                  </a:avLst>
                </a:prstGeom>
                <a:solidFill>
                  <a:schemeClr val="accent4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145" name="Google Shape;1145;p80"/>
                <p:cNvSpPr/>
                <p:nvPr/>
              </p:nvSpPr>
              <p:spPr>
                <a:xfrm>
                  <a:off x="1752637" y="1646065"/>
                  <a:ext cx="565800" cy="337500"/>
                </a:xfrm>
                <a:prstGeom prst="can">
                  <a:avLst>
                    <a:gd fmla="val 40305" name="adj"/>
                  </a:avLst>
                </a:prstGeom>
                <a:solidFill>
                  <a:schemeClr val="accent4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1146" name="Google Shape;1146;p80"/>
              <p:cNvSpPr/>
              <p:nvPr/>
            </p:nvSpPr>
            <p:spPr>
              <a:xfrm>
                <a:off x="1736469" y="4428339"/>
                <a:ext cx="351600" cy="269700"/>
              </a:xfrm>
              <a:prstGeom prst="cube">
                <a:avLst>
                  <a:gd fmla="val 511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47" name="Google Shape;1147;p80"/>
              <p:cNvSpPr/>
              <p:nvPr/>
            </p:nvSpPr>
            <p:spPr>
              <a:xfrm rot="-164157">
                <a:off x="1806113" y="4498293"/>
                <a:ext cx="169693" cy="48060"/>
              </a:xfrm>
              <a:prstGeom prst="ellipse">
                <a:avLst/>
              </a:prstGeom>
              <a:solidFill>
                <a:srgbClr val="6A48AE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48" name="Google Shape;1148;p80"/>
            <p:cNvSpPr/>
            <p:nvPr/>
          </p:nvSpPr>
          <p:spPr>
            <a:xfrm rot="-164157">
              <a:off x="1860785" y="4440000"/>
              <a:ext cx="169693" cy="48060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49" name="Google Shape;1149;p80"/>
          <p:cNvPicPr preferRelativeResize="0"/>
          <p:nvPr/>
        </p:nvPicPr>
        <p:blipFill rotWithShape="1">
          <a:blip r:embed="rId3">
            <a:alphaModFix/>
          </a:blip>
          <a:srcRect b="0" l="0" r="0" t="4461"/>
          <a:stretch/>
        </p:blipFill>
        <p:spPr>
          <a:xfrm>
            <a:off x="6775150" y="1387500"/>
            <a:ext cx="1886350" cy="1462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0" name="Google Shape;1150;p80"/>
          <p:cNvCxnSpPr/>
          <p:nvPr/>
        </p:nvCxnSpPr>
        <p:spPr>
          <a:xfrm>
            <a:off x="6779827" y="2848280"/>
            <a:ext cx="2040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1" name="Google Shape;1151;p80"/>
          <p:cNvCxnSpPr/>
          <p:nvPr/>
        </p:nvCxnSpPr>
        <p:spPr>
          <a:xfrm rot="10800000">
            <a:off x="6779827" y="1148829"/>
            <a:ext cx="0" cy="170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2" name="Google Shape;1152;p80"/>
          <p:cNvCxnSpPr/>
          <p:nvPr/>
        </p:nvCxnSpPr>
        <p:spPr>
          <a:xfrm rot="10800000">
            <a:off x="6721248" y="2843043"/>
            <a:ext cx="69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3" name="Google Shape;1153;p80"/>
          <p:cNvCxnSpPr/>
          <p:nvPr/>
        </p:nvCxnSpPr>
        <p:spPr>
          <a:xfrm rot="10800000">
            <a:off x="6721248" y="2483753"/>
            <a:ext cx="69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4" name="Google Shape;1154;p80"/>
          <p:cNvCxnSpPr/>
          <p:nvPr/>
        </p:nvCxnSpPr>
        <p:spPr>
          <a:xfrm rot="10800000">
            <a:off x="6721248" y="2118338"/>
            <a:ext cx="69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5" name="Google Shape;1155;p80"/>
          <p:cNvCxnSpPr/>
          <p:nvPr/>
        </p:nvCxnSpPr>
        <p:spPr>
          <a:xfrm rot="10800000">
            <a:off x="6721248" y="1752923"/>
            <a:ext cx="69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6" name="Google Shape;1156;p80"/>
          <p:cNvCxnSpPr/>
          <p:nvPr/>
        </p:nvCxnSpPr>
        <p:spPr>
          <a:xfrm rot="10800000">
            <a:off x="6721248" y="1387508"/>
            <a:ext cx="69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7" name="Google Shape;1157;p80"/>
          <p:cNvSpPr txBox="1"/>
          <p:nvPr>
            <p:ph idx="4294967295" type="body"/>
          </p:nvPr>
        </p:nvSpPr>
        <p:spPr>
          <a:xfrm>
            <a:off x="6456845" y="1255194"/>
            <a:ext cx="344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158" name="Google Shape;1158;p80"/>
          <p:cNvSpPr txBox="1"/>
          <p:nvPr>
            <p:ph idx="4294967295" type="body"/>
          </p:nvPr>
        </p:nvSpPr>
        <p:spPr>
          <a:xfrm>
            <a:off x="6474917" y="1620510"/>
            <a:ext cx="289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</a:t>
            </a:r>
            <a:endParaRPr sz="1600"/>
          </a:p>
        </p:txBody>
      </p:sp>
      <p:sp>
        <p:nvSpPr>
          <p:cNvPr id="1159" name="Google Shape;1159;p80"/>
          <p:cNvSpPr txBox="1"/>
          <p:nvPr>
            <p:ph idx="4294967295" type="body"/>
          </p:nvPr>
        </p:nvSpPr>
        <p:spPr>
          <a:xfrm>
            <a:off x="6466025" y="1987236"/>
            <a:ext cx="289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160" name="Google Shape;1160;p80"/>
          <p:cNvSpPr txBox="1"/>
          <p:nvPr>
            <p:ph idx="4294967295" type="body"/>
          </p:nvPr>
        </p:nvSpPr>
        <p:spPr>
          <a:xfrm>
            <a:off x="6472150" y="2361373"/>
            <a:ext cx="289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161" name="Google Shape;1161;p80"/>
          <p:cNvSpPr txBox="1"/>
          <p:nvPr>
            <p:ph idx="4294967295" type="body"/>
          </p:nvPr>
        </p:nvSpPr>
        <p:spPr>
          <a:xfrm>
            <a:off x="6572981" y="2721582"/>
            <a:ext cx="1878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162" name="Google Shape;1162;p80"/>
          <p:cNvSpPr txBox="1"/>
          <p:nvPr>
            <p:ph idx="4294967295" type="body"/>
          </p:nvPr>
        </p:nvSpPr>
        <p:spPr>
          <a:xfrm>
            <a:off x="6582926" y="889875"/>
            <a:ext cx="2214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n</a:t>
            </a:r>
            <a:r>
              <a:rPr lang="en-GB" sz="1600"/>
              <a:t>umber of trials = 100</a:t>
            </a:r>
            <a:endParaRPr sz="1600"/>
          </a:p>
        </p:txBody>
      </p:sp>
      <p:pic>
        <p:nvPicPr>
          <p:cNvPr id="1163" name="Google Shape;1163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5908" y="43520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4983" y="19817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sp>
        <p:nvSpPr>
          <p:cNvPr id="1170" name="Google Shape;1170;p81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markings on the scale represent the likelihoods of each event.</a:t>
            </a:r>
            <a:endParaRPr sz="2000"/>
          </a:p>
        </p:txBody>
      </p:sp>
      <p:sp>
        <p:nvSpPr>
          <p:cNvPr id="1171" name="Google Shape;1171;p81"/>
          <p:cNvSpPr txBox="1"/>
          <p:nvPr>
            <p:ph idx="1" type="body"/>
          </p:nvPr>
        </p:nvSpPr>
        <p:spPr>
          <a:xfrm>
            <a:off x="385375" y="2704625"/>
            <a:ext cx="3934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Which event is this? </a:t>
            </a:r>
            <a:endParaRPr sz="2000"/>
          </a:p>
        </p:txBody>
      </p:sp>
      <p:sp>
        <p:nvSpPr>
          <p:cNvPr id="1172" name="Google Shape;1172;p81"/>
          <p:cNvSpPr txBox="1"/>
          <p:nvPr/>
        </p:nvSpPr>
        <p:spPr>
          <a:xfrm>
            <a:off x="7446631" y="4185175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81"/>
          <p:cNvSpPr txBox="1"/>
          <p:nvPr/>
        </p:nvSpPr>
        <p:spPr>
          <a:xfrm>
            <a:off x="454605" y="4185175"/>
            <a:ext cx="143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81"/>
          <p:cNvSpPr txBox="1"/>
          <p:nvPr/>
        </p:nvSpPr>
        <p:spPr>
          <a:xfrm>
            <a:off x="2374024" y="4141217"/>
            <a:ext cx="109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81"/>
          <p:cNvSpPr txBox="1"/>
          <p:nvPr/>
        </p:nvSpPr>
        <p:spPr>
          <a:xfrm>
            <a:off x="6028427" y="4141217"/>
            <a:ext cx="79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81"/>
          <p:cNvSpPr txBox="1"/>
          <p:nvPr/>
        </p:nvSpPr>
        <p:spPr>
          <a:xfrm>
            <a:off x="3736812" y="4185175"/>
            <a:ext cx="167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7" name="Google Shape;1177;p81"/>
          <p:cNvGrpSpPr/>
          <p:nvPr/>
        </p:nvGrpSpPr>
        <p:grpSpPr>
          <a:xfrm>
            <a:off x="1162856" y="4014787"/>
            <a:ext cx="6838200" cy="238354"/>
            <a:chOff x="1260861" y="3941077"/>
            <a:chExt cx="6838200" cy="658800"/>
          </a:xfrm>
        </p:grpSpPr>
        <p:cxnSp>
          <p:nvCxnSpPr>
            <p:cNvPr id="1178" name="Google Shape;1178;p81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9" name="Google Shape;1179;p81"/>
            <p:cNvCxnSpPr/>
            <p:nvPr/>
          </p:nvCxnSpPr>
          <p:spPr>
            <a:xfrm>
              <a:off x="1260883" y="3941077"/>
              <a:ext cx="0" cy="65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0" name="Google Shape;1180;p81"/>
            <p:cNvCxnSpPr/>
            <p:nvPr/>
          </p:nvCxnSpPr>
          <p:spPr>
            <a:xfrm>
              <a:off x="8088215" y="3941077"/>
              <a:ext cx="0" cy="65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1" name="Google Shape;1181;p81"/>
            <p:cNvCxnSpPr/>
            <p:nvPr/>
          </p:nvCxnSpPr>
          <p:spPr>
            <a:xfrm>
              <a:off x="4674549" y="3941077"/>
              <a:ext cx="0" cy="65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2" name="Google Shape;1182;p81"/>
            <p:cNvCxnSpPr/>
            <p:nvPr/>
          </p:nvCxnSpPr>
          <p:spPr>
            <a:xfrm>
              <a:off x="1365339" y="4553655"/>
              <a:ext cx="3221100" cy="0"/>
            </a:xfrm>
            <a:prstGeom prst="straightConnector1">
              <a:avLst/>
            </a:prstGeom>
            <a:noFill/>
            <a:ln cap="flat" cmpd="sng" w="28575">
              <a:solidFill>
                <a:srgbClr val="59595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83" name="Google Shape;1183;p81"/>
            <p:cNvCxnSpPr/>
            <p:nvPr/>
          </p:nvCxnSpPr>
          <p:spPr>
            <a:xfrm>
              <a:off x="4774394" y="4553655"/>
              <a:ext cx="3221100" cy="0"/>
            </a:xfrm>
            <a:prstGeom prst="straightConnector1">
              <a:avLst/>
            </a:prstGeom>
            <a:noFill/>
            <a:ln cap="flat" cmpd="sng" w="28575">
              <a:solidFill>
                <a:srgbClr val="59595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184" name="Google Shape;1184;p81"/>
          <p:cNvSpPr/>
          <p:nvPr/>
        </p:nvSpPr>
        <p:spPr>
          <a:xfrm>
            <a:off x="1718287" y="3902725"/>
            <a:ext cx="238500" cy="238500"/>
          </a:xfrm>
          <a:prstGeom prst="mathMultiply">
            <a:avLst>
              <a:gd fmla="val 23520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81"/>
          <p:cNvSpPr/>
          <p:nvPr/>
        </p:nvSpPr>
        <p:spPr>
          <a:xfrm>
            <a:off x="2175487" y="3902725"/>
            <a:ext cx="238500" cy="238500"/>
          </a:xfrm>
          <a:prstGeom prst="mathMultiply">
            <a:avLst>
              <a:gd fmla="val 23520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81"/>
          <p:cNvSpPr/>
          <p:nvPr/>
        </p:nvSpPr>
        <p:spPr>
          <a:xfrm>
            <a:off x="3013687" y="3902725"/>
            <a:ext cx="238500" cy="238500"/>
          </a:xfrm>
          <a:prstGeom prst="mathMultiply">
            <a:avLst>
              <a:gd fmla="val 23520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81"/>
          <p:cNvSpPr/>
          <p:nvPr/>
        </p:nvSpPr>
        <p:spPr>
          <a:xfrm>
            <a:off x="3623287" y="3902725"/>
            <a:ext cx="238500" cy="238500"/>
          </a:xfrm>
          <a:prstGeom prst="mathMultiply">
            <a:avLst>
              <a:gd fmla="val 23520" name="adj1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8" name="Google Shape;1188;p81"/>
          <p:cNvCxnSpPr>
            <a:stCxn id="1189" idx="1"/>
            <a:endCxn id="1171" idx="2"/>
          </p:cNvCxnSpPr>
          <p:nvPr/>
        </p:nvCxnSpPr>
        <p:spPr>
          <a:xfrm rot="10800000">
            <a:off x="2352765" y="3025415"/>
            <a:ext cx="673200" cy="86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9" name="Google Shape;1189;p81"/>
          <p:cNvSpPr/>
          <p:nvPr/>
        </p:nvSpPr>
        <p:spPr>
          <a:xfrm>
            <a:off x="2979000" y="3846050"/>
            <a:ext cx="320700" cy="3207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81"/>
          <p:cNvSpPr txBox="1"/>
          <p:nvPr>
            <p:ph idx="1" type="body"/>
          </p:nvPr>
        </p:nvSpPr>
        <p:spPr>
          <a:xfrm>
            <a:off x="3137975" y="2706985"/>
            <a:ext cx="2832300" cy="48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- long face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91" name="Google Shape;1191;p81"/>
          <p:cNvGrpSpPr/>
          <p:nvPr/>
        </p:nvGrpSpPr>
        <p:grpSpPr>
          <a:xfrm>
            <a:off x="6707599" y="3547753"/>
            <a:ext cx="231972" cy="198872"/>
            <a:chOff x="1828325" y="1905000"/>
            <a:chExt cx="1407600" cy="1206750"/>
          </a:xfrm>
        </p:grpSpPr>
        <p:sp>
          <p:nvSpPr>
            <p:cNvPr id="1192" name="Google Shape;1192;p81"/>
            <p:cNvSpPr/>
            <p:nvPr/>
          </p:nvSpPr>
          <p:spPr>
            <a:xfrm>
              <a:off x="1828325" y="2031750"/>
              <a:ext cx="1407600" cy="1080000"/>
            </a:xfrm>
            <a:prstGeom prst="cube">
              <a:avLst>
                <a:gd fmla="val 511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3" name="Google Shape;1193;p81"/>
            <p:cNvSpPr/>
            <p:nvPr/>
          </p:nvSpPr>
          <p:spPr>
            <a:xfrm>
              <a:off x="2436675" y="1905000"/>
              <a:ext cx="559800" cy="333900"/>
            </a:xfrm>
            <a:prstGeom prst="can">
              <a:avLst>
                <a:gd fmla="val 403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4" name="Google Shape;1194;p81"/>
            <p:cNvSpPr/>
            <p:nvPr/>
          </p:nvSpPr>
          <p:spPr>
            <a:xfrm>
              <a:off x="2130842" y="2153250"/>
              <a:ext cx="611100" cy="364500"/>
            </a:xfrm>
            <a:prstGeom prst="can">
              <a:avLst>
                <a:gd fmla="val 403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5" name="Google Shape;1195;p81"/>
          <p:cNvGrpSpPr/>
          <p:nvPr/>
        </p:nvGrpSpPr>
        <p:grpSpPr>
          <a:xfrm>
            <a:off x="7854893" y="3574237"/>
            <a:ext cx="183473" cy="198973"/>
            <a:chOff x="5369297" y="1230126"/>
            <a:chExt cx="1030169" cy="1117200"/>
          </a:xfrm>
        </p:grpSpPr>
        <p:sp>
          <p:nvSpPr>
            <p:cNvPr id="1196" name="Google Shape;1196;p81"/>
            <p:cNvSpPr/>
            <p:nvPr/>
          </p:nvSpPr>
          <p:spPr>
            <a:xfrm>
              <a:off x="5369297" y="1230126"/>
              <a:ext cx="837900" cy="1117200"/>
            </a:xfrm>
            <a:prstGeom prst="cube">
              <a:avLst>
                <a:gd fmla="val 49113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97" name="Google Shape;1197;p81"/>
            <p:cNvGrpSpPr/>
            <p:nvPr/>
          </p:nvGrpSpPr>
          <p:grpSpPr>
            <a:xfrm flipH="1" rot="5400000">
              <a:off x="5715001" y="1492400"/>
              <a:ext cx="801602" cy="567330"/>
              <a:chOff x="5638837" y="1263835"/>
              <a:chExt cx="801602" cy="567330"/>
            </a:xfrm>
          </p:grpSpPr>
          <p:sp>
            <p:nvSpPr>
              <p:cNvPr id="1198" name="Google Shape;1198;p81"/>
              <p:cNvSpPr/>
              <p:nvPr/>
            </p:nvSpPr>
            <p:spPr>
              <a:xfrm>
                <a:off x="5922039" y="1263835"/>
                <a:ext cx="518400" cy="309000"/>
              </a:xfrm>
              <a:prstGeom prst="can">
                <a:avLst>
                  <a:gd fmla="val 403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99" name="Google Shape;1199;p81"/>
              <p:cNvSpPr/>
              <p:nvPr/>
            </p:nvSpPr>
            <p:spPr>
              <a:xfrm>
                <a:off x="5638837" y="1493665"/>
                <a:ext cx="565800" cy="337500"/>
              </a:xfrm>
              <a:prstGeom prst="can">
                <a:avLst>
                  <a:gd fmla="val 403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200" name="Google Shape;1200;p81"/>
          <p:cNvGrpSpPr/>
          <p:nvPr/>
        </p:nvGrpSpPr>
        <p:grpSpPr>
          <a:xfrm>
            <a:off x="8390091" y="3561826"/>
            <a:ext cx="125881" cy="215163"/>
            <a:chOff x="6752450" y="1106973"/>
            <a:chExt cx="706800" cy="1208100"/>
          </a:xfrm>
        </p:grpSpPr>
        <p:sp>
          <p:nvSpPr>
            <p:cNvPr id="1201" name="Google Shape;1201;p81"/>
            <p:cNvSpPr/>
            <p:nvPr/>
          </p:nvSpPr>
          <p:spPr>
            <a:xfrm>
              <a:off x="6752450" y="1106973"/>
              <a:ext cx="706800" cy="1208100"/>
            </a:xfrm>
            <a:prstGeom prst="cube">
              <a:avLst>
                <a:gd fmla="val 18987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2" name="Google Shape;1202;p81"/>
            <p:cNvSpPr/>
            <p:nvPr/>
          </p:nvSpPr>
          <p:spPr>
            <a:xfrm>
              <a:off x="6847462" y="1329972"/>
              <a:ext cx="395400" cy="395400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3" name="Google Shape;1203;p81"/>
            <p:cNvSpPr/>
            <p:nvPr/>
          </p:nvSpPr>
          <p:spPr>
            <a:xfrm>
              <a:off x="6808303" y="1355840"/>
              <a:ext cx="395400" cy="395400"/>
            </a:xfrm>
            <a:prstGeom prst="ellipse">
              <a:avLst/>
            </a:prstGeom>
            <a:solidFill>
              <a:srgbClr val="B59CE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4" name="Google Shape;1204;p81"/>
            <p:cNvSpPr/>
            <p:nvPr/>
          </p:nvSpPr>
          <p:spPr>
            <a:xfrm>
              <a:off x="6847462" y="1824301"/>
              <a:ext cx="395400" cy="395400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5" name="Google Shape;1205;p81"/>
            <p:cNvSpPr/>
            <p:nvPr/>
          </p:nvSpPr>
          <p:spPr>
            <a:xfrm>
              <a:off x="6803632" y="1850168"/>
              <a:ext cx="395400" cy="395400"/>
            </a:xfrm>
            <a:prstGeom prst="ellipse">
              <a:avLst/>
            </a:prstGeom>
            <a:solidFill>
              <a:srgbClr val="B59CE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6" name="Google Shape;1206;p81"/>
          <p:cNvGrpSpPr/>
          <p:nvPr/>
        </p:nvGrpSpPr>
        <p:grpSpPr>
          <a:xfrm>
            <a:off x="7278159" y="3576875"/>
            <a:ext cx="232091" cy="197065"/>
            <a:chOff x="1736469" y="4428339"/>
            <a:chExt cx="351600" cy="298537"/>
          </a:xfrm>
        </p:grpSpPr>
        <p:grpSp>
          <p:nvGrpSpPr>
            <p:cNvPr id="1207" name="Google Shape;1207;p81"/>
            <p:cNvGrpSpPr/>
            <p:nvPr/>
          </p:nvGrpSpPr>
          <p:grpSpPr>
            <a:xfrm>
              <a:off x="1736469" y="4428339"/>
              <a:ext cx="351600" cy="298537"/>
              <a:chOff x="1736469" y="4428339"/>
              <a:chExt cx="351600" cy="298537"/>
            </a:xfrm>
          </p:grpSpPr>
          <p:grpSp>
            <p:nvGrpSpPr>
              <p:cNvPr id="1208" name="Google Shape;1208;p81"/>
              <p:cNvGrpSpPr/>
              <p:nvPr/>
            </p:nvGrpSpPr>
            <p:grpSpPr>
              <a:xfrm>
                <a:off x="1820065" y="4573811"/>
                <a:ext cx="216272" cy="153066"/>
                <a:chOff x="1752637" y="1416235"/>
                <a:chExt cx="801602" cy="567330"/>
              </a:xfrm>
            </p:grpSpPr>
            <p:sp>
              <p:nvSpPr>
                <p:cNvPr id="1209" name="Google Shape;1209;p81"/>
                <p:cNvSpPr/>
                <p:nvPr/>
              </p:nvSpPr>
              <p:spPr>
                <a:xfrm>
                  <a:off x="2035839" y="1416235"/>
                  <a:ext cx="518400" cy="309000"/>
                </a:xfrm>
                <a:prstGeom prst="can">
                  <a:avLst>
                    <a:gd fmla="val 40305" name="adj"/>
                  </a:avLst>
                </a:prstGeom>
                <a:solidFill>
                  <a:schemeClr val="accent4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210" name="Google Shape;1210;p81"/>
                <p:cNvSpPr/>
                <p:nvPr/>
              </p:nvSpPr>
              <p:spPr>
                <a:xfrm>
                  <a:off x="1752637" y="1646065"/>
                  <a:ext cx="565800" cy="337500"/>
                </a:xfrm>
                <a:prstGeom prst="can">
                  <a:avLst>
                    <a:gd fmla="val 40305" name="adj"/>
                  </a:avLst>
                </a:prstGeom>
                <a:solidFill>
                  <a:schemeClr val="accent4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1211" name="Google Shape;1211;p81"/>
              <p:cNvSpPr/>
              <p:nvPr/>
            </p:nvSpPr>
            <p:spPr>
              <a:xfrm>
                <a:off x="1736469" y="4428339"/>
                <a:ext cx="351600" cy="269700"/>
              </a:xfrm>
              <a:prstGeom prst="cube">
                <a:avLst>
                  <a:gd fmla="val 511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12" name="Google Shape;1212;p81"/>
              <p:cNvSpPr/>
              <p:nvPr/>
            </p:nvSpPr>
            <p:spPr>
              <a:xfrm rot="-164157">
                <a:off x="1806113" y="4498293"/>
                <a:ext cx="169693" cy="48060"/>
              </a:xfrm>
              <a:prstGeom prst="ellipse">
                <a:avLst/>
              </a:prstGeom>
              <a:solidFill>
                <a:srgbClr val="6A48AE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213" name="Google Shape;1213;p81"/>
            <p:cNvSpPr/>
            <p:nvPr/>
          </p:nvSpPr>
          <p:spPr>
            <a:xfrm rot="-164157">
              <a:off x="1860785" y="4440000"/>
              <a:ext cx="169693" cy="48060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14" name="Google Shape;1214;p81"/>
          <p:cNvPicPr preferRelativeResize="0"/>
          <p:nvPr/>
        </p:nvPicPr>
        <p:blipFill rotWithShape="1">
          <a:blip r:embed="rId3">
            <a:alphaModFix/>
          </a:blip>
          <a:srcRect b="0" l="0" r="0" t="4461"/>
          <a:stretch/>
        </p:blipFill>
        <p:spPr>
          <a:xfrm>
            <a:off x="6602050" y="1734425"/>
            <a:ext cx="2046025" cy="1585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5" name="Google Shape;1215;p81"/>
          <p:cNvCxnSpPr/>
          <p:nvPr/>
        </p:nvCxnSpPr>
        <p:spPr>
          <a:xfrm>
            <a:off x="6607121" y="3318860"/>
            <a:ext cx="2213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6" name="Google Shape;1216;p81"/>
          <p:cNvCxnSpPr/>
          <p:nvPr/>
        </p:nvCxnSpPr>
        <p:spPr>
          <a:xfrm rot="10800000">
            <a:off x="6607121" y="1475672"/>
            <a:ext cx="0" cy="1850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7" name="Google Shape;1217;p81"/>
          <p:cNvCxnSpPr/>
          <p:nvPr/>
        </p:nvCxnSpPr>
        <p:spPr>
          <a:xfrm rot="10800000">
            <a:off x="6543501" y="3313179"/>
            <a:ext cx="7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8" name="Google Shape;1218;p81"/>
          <p:cNvCxnSpPr/>
          <p:nvPr/>
        </p:nvCxnSpPr>
        <p:spPr>
          <a:xfrm rot="10800000">
            <a:off x="6543501" y="2923476"/>
            <a:ext cx="7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9" name="Google Shape;1219;p81"/>
          <p:cNvCxnSpPr/>
          <p:nvPr/>
        </p:nvCxnSpPr>
        <p:spPr>
          <a:xfrm rot="10800000">
            <a:off x="6543501" y="2527128"/>
            <a:ext cx="7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0" name="Google Shape;1220;p81"/>
          <p:cNvCxnSpPr/>
          <p:nvPr/>
        </p:nvCxnSpPr>
        <p:spPr>
          <a:xfrm rot="10800000">
            <a:off x="6543501" y="2130780"/>
            <a:ext cx="7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1" name="Google Shape;1221;p81"/>
          <p:cNvCxnSpPr/>
          <p:nvPr/>
        </p:nvCxnSpPr>
        <p:spPr>
          <a:xfrm rot="10800000">
            <a:off x="6543501" y="1734433"/>
            <a:ext cx="7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2" name="Google Shape;1222;p81"/>
          <p:cNvSpPr txBox="1"/>
          <p:nvPr>
            <p:ph idx="1" type="body"/>
          </p:nvPr>
        </p:nvSpPr>
        <p:spPr>
          <a:xfrm>
            <a:off x="6256800" y="1590918"/>
            <a:ext cx="373800" cy="20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223" name="Google Shape;1223;p81"/>
          <p:cNvSpPr txBox="1"/>
          <p:nvPr>
            <p:ph idx="1" type="body"/>
          </p:nvPr>
        </p:nvSpPr>
        <p:spPr>
          <a:xfrm>
            <a:off x="6276403" y="1987158"/>
            <a:ext cx="314100" cy="20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</a:t>
            </a:r>
            <a:endParaRPr sz="1600"/>
          </a:p>
        </p:txBody>
      </p:sp>
      <p:sp>
        <p:nvSpPr>
          <p:cNvPr id="1224" name="Google Shape;1224;p81"/>
          <p:cNvSpPr txBox="1"/>
          <p:nvPr>
            <p:ph idx="1" type="body"/>
          </p:nvPr>
        </p:nvSpPr>
        <p:spPr>
          <a:xfrm>
            <a:off x="6266757" y="2384928"/>
            <a:ext cx="314100" cy="20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225" name="Google Shape;1225;p81"/>
          <p:cNvSpPr txBox="1"/>
          <p:nvPr>
            <p:ph idx="1" type="body"/>
          </p:nvPr>
        </p:nvSpPr>
        <p:spPr>
          <a:xfrm>
            <a:off x="6273401" y="2790735"/>
            <a:ext cx="314100" cy="20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226" name="Google Shape;1226;p81"/>
          <p:cNvSpPr txBox="1"/>
          <p:nvPr>
            <p:ph idx="1" type="body"/>
          </p:nvPr>
        </p:nvSpPr>
        <p:spPr>
          <a:xfrm>
            <a:off x="6382767" y="3181437"/>
            <a:ext cx="203700" cy="20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227" name="Google Shape;1227;p81"/>
          <p:cNvSpPr txBox="1"/>
          <p:nvPr>
            <p:ph idx="1" type="body"/>
          </p:nvPr>
        </p:nvSpPr>
        <p:spPr>
          <a:xfrm>
            <a:off x="6393554" y="1194675"/>
            <a:ext cx="2402400" cy="20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number of trials = 100</a:t>
            </a:r>
            <a:endParaRPr sz="1600"/>
          </a:p>
        </p:txBody>
      </p:sp>
      <p:sp>
        <p:nvSpPr>
          <p:cNvPr id="1228" name="Google Shape;1228;p81"/>
          <p:cNvSpPr txBox="1"/>
          <p:nvPr>
            <p:ph idx="1" type="body"/>
          </p:nvPr>
        </p:nvSpPr>
        <p:spPr>
          <a:xfrm>
            <a:off x="6779699" y="3304496"/>
            <a:ext cx="314100" cy="20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229" name="Google Shape;1229;p81"/>
          <p:cNvSpPr txBox="1"/>
          <p:nvPr>
            <p:ph idx="1" type="body"/>
          </p:nvPr>
        </p:nvSpPr>
        <p:spPr>
          <a:xfrm>
            <a:off x="7313099" y="3304496"/>
            <a:ext cx="314100" cy="20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230" name="Google Shape;1230;p81"/>
          <p:cNvSpPr txBox="1"/>
          <p:nvPr>
            <p:ph idx="1" type="body"/>
          </p:nvPr>
        </p:nvSpPr>
        <p:spPr>
          <a:xfrm>
            <a:off x="7846499" y="3304496"/>
            <a:ext cx="314100" cy="20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231" name="Google Shape;1231;p81"/>
          <p:cNvSpPr txBox="1"/>
          <p:nvPr>
            <p:ph idx="1" type="body"/>
          </p:nvPr>
        </p:nvSpPr>
        <p:spPr>
          <a:xfrm>
            <a:off x="8379899" y="3304496"/>
            <a:ext cx="314100" cy="20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6" name="Google Shape;1236;p82"/>
          <p:cNvPicPr preferRelativeResize="0"/>
          <p:nvPr/>
        </p:nvPicPr>
        <p:blipFill rotWithShape="1">
          <a:blip r:embed="rId3">
            <a:alphaModFix/>
          </a:blip>
          <a:srcRect b="0" l="7158" r="0" t="11316"/>
          <a:stretch/>
        </p:blipFill>
        <p:spPr>
          <a:xfrm>
            <a:off x="6382741" y="3040548"/>
            <a:ext cx="1211953" cy="1284286"/>
          </a:xfrm>
          <a:prstGeom prst="rect">
            <a:avLst/>
          </a:prstGeom>
          <a:noFill/>
          <a:ln>
            <a:noFill/>
          </a:ln>
        </p:spPr>
      </p:pic>
      <p:sp>
        <p:nvSpPr>
          <p:cNvPr id="1237" name="Google Shape;1237;p82"/>
          <p:cNvSpPr txBox="1"/>
          <p:nvPr>
            <p:ph idx="1" type="body"/>
          </p:nvPr>
        </p:nvSpPr>
        <p:spPr>
          <a:xfrm>
            <a:off x="324000" y="759300"/>
            <a:ext cx="8484900" cy="5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A dropped cone could land in one of two ways: ‘base down’ or ‘curve down’.</a:t>
            </a:r>
            <a:endParaRPr sz="1800"/>
          </a:p>
        </p:txBody>
      </p:sp>
      <p:sp>
        <p:nvSpPr>
          <p:cNvPr id="1238" name="Google Shape;1238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pic>
        <p:nvPicPr>
          <p:cNvPr id="1239" name="Google Shape;1239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2600" y="1005371"/>
            <a:ext cx="386576" cy="7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3591" y="1257370"/>
            <a:ext cx="865910" cy="471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82"/>
          <p:cNvSpPr txBox="1"/>
          <p:nvPr>
            <p:ph idx="1" type="body"/>
          </p:nvPr>
        </p:nvSpPr>
        <p:spPr>
          <a:xfrm>
            <a:off x="315675" y="1389400"/>
            <a:ext cx="4508400" cy="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Plan an </a:t>
            </a:r>
            <a:r>
              <a:rPr b="1" lang="en-GB" sz="1800"/>
              <a:t>experiment</a:t>
            </a:r>
            <a:r>
              <a:rPr lang="en-GB" sz="1800"/>
              <a:t> to investigate which outcome is most likely to happen.</a:t>
            </a:r>
            <a:endParaRPr sz="1800"/>
          </a:p>
        </p:txBody>
      </p:sp>
      <p:sp>
        <p:nvSpPr>
          <p:cNvPr id="1242" name="Google Shape;1242;p82"/>
          <p:cNvSpPr txBox="1"/>
          <p:nvPr>
            <p:ph idx="1" type="body"/>
          </p:nvPr>
        </p:nvSpPr>
        <p:spPr>
          <a:xfrm>
            <a:off x="315675" y="2791200"/>
            <a:ext cx="5075400" cy="12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The bar chart shows the results from an </a:t>
            </a:r>
            <a:r>
              <a:rPr b="1" lang="en-GB" sz="1800"/>
              <a:t>experiment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cone is about to be dropped again. </a:t>
            </a:r>
            <a:br>
              <a:rPr lang="en-GB" sz="1800"/>
            </a:br>
            <a:r>
              <a:rPr lang="en-GB" sz="1800"/>
              <a:t>In which position is it most likely to land?</a:t>
            </a:r>
            <a:endParaRPr sz="1800"/>
          </a:p>
        </p:txBody>
      </p:sp>
      <p:sp>
        <p:nvSpPr>
          <p:cNvPr id="1243" name="Google Shape;1243;p82"/>
          <p:cNvSpPr txBox="1"/>
          <p:nvPr>
            <p:ph idx="1" type="body"/>
          </p:nvPr>
        </p:nvSpPr>
        <p:spPr>
          <a:xfrm>
            <a:off x="4957675" y="1697800"/>
            <a:ext cx="1437600" cy="3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 - base down </a:t>
            </a:r>
            <a:endParaRPr sz="1600"/>
          </a:p>
        </p:txBody>
      </p:sp>
      <p:sp>
        <p:nvSpPr>
          <p:cNvPr id="1244" name="Google Shape;1244;p82"/>
          <p:cNvSpPr txBox="1"/>
          <p:nvPr>
            <p:ph idx="1" type="body"/>
          </p:nvPr>
        </p:nvSpPr>
        <p:spPr>
          <a:xfrm>
            <a:off x="6762900" y="1697800"/>
            <a:ext cx="1542900" cy="3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 - curve down </a:t>
            </a:r>
            <a:endParaRPr sz="1600"/>
          </a:p>
        </p:txBody>
      </p:sp>
      <p:cxnSp>
        <p:nvCxnSpPr>
          <p:cNvPr id="1245" name="Google Shape;1245;p82"/>
          <p:cNvCxnSpPr/>
          <p:nvPr/>
        </p:nvCxnSpPr>
        <p:spPr>
          <a:xfrm>
            <a:off x="6352212" y="4264125"/>
            <a:ext cx="133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6" name="Google Shape;1246;p82"/>
          <p:cNvCxnSpPr/>
          <p:nvPr/>
        </p:nvCxnSpPr>
        <p:spPr>
          <a:xfrm rot="10800000">
            <a:off x="6352212" y="2845910"/>
            <a:ext cx="0" cy="142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7" name="Google Shape;1247;p82"/>
          <p:cNvCxnSpPr/>
          <p:nvPr/>
        </p:nvCxnSpPr>
        <p:spPr>
          <a:xfrm rot="10800000">
            <a:off x="6301892" y="4261145"/>
            <a:ext cx="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8" name="Google Shape;1248;p82"/>
          <p:cNvCxnSpPr/>
          <p:nvPr/>
        </p:nvCxnSpPr>
        <p:spPr>
          <a:xfrm rot="10800000">
            <a:off x="6301892" y="3880696"/>
            <a:ext cx="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9" name="Google Shape;1249;p82"/>
          <p:cNvCxnSpPr/>
          <p:nvPr/>
        </p:nvCxnSpPr>
        <p:spPr>
          <a:xfrm rot="10800000">
            <a:off x="6301892" y="3043598"/>
            <a:ext cx="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0" name="Google Shape;1250;p82"/>
          <p:cNvSpPr txBox="1"/>
          <p:nvPr>
            <p:ph idx="4294967295" type="body"/>
          </p:nvPr>
        </p:nvSpPr>
        <p:spPr>
          <a:xfrm>
            <a:off x="6175928" y="4149352"/>
            <a:ext cx="933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251" name="Google Shape;1251;p82"/>
          <p:cNvSpPr txBox="1"/>
          <p:nvPr>
            <p:ph idx="4294967295" type="body"/>
          </p:nvPr>
        </p:nvSpPr>
        <p:spPr>
          <a:xfrm>
            <a:off x="6681793" y="4250965"/>
            <a:ext cx="160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252" name="Google Shape;1252;p82"/>
          <p:cNvSpPr txBox="1"/>
          <p:nvPr>
            <p:ph idx="4294967295" type="body"/>
          </p:nvPr>
        </p:nvSpPr>
        <p:spPr>
          <a:xfrm>
            <a:off x="7140501" y="4250965"/>
            <a:ext cx="160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253" name="Google Shape;1253;p82"/>
          <p:cNvSpPr txBox="1"/>
          <p:nvPr>
            <p:ph idx="4294967295" type="body"/>
          </p:nvPr>
        </p:nvSpPr>
        <p:spPr>
          <a:xfrm rot="-5400000">
            <a:off x="5443750" y="3570678"/>
            <a:ext cx="10464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frequency</a:t>
            </a:r>
            <a:endParaRPr sz="1600"/>
          </a:p>
        </p:txBody>
      </p:sp>
      <p:cxnSp>
        <p:nvCxnSpPr>
          <p:cNvPr id="1254" name="Google Shape;1254;p82"/>
          <p:cNvCxnSpPr/>
          <p:nvPr/>
        </p:nvCxnSpPr>
        <p:spPr>
          <a:xfrm rot="10800000">
            <a:off x="6301892" y="3424047"/>
            <a:ext cx="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5" name="Google Shape;1255;p82"/>
          <p:cNvSpPr txBox="1"/>
          <p:nvPr>
            <p:ph idx="4294967295" type="body"/>
          </p:nvPr>
        </p:nvSpPr>
        <p:spPr>
          <a:xfrm>
            <a:off x="6170736" y="2911154"/>
            <a:ext cx="112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256" name="Google Shape;1256;p82"/>
          <p:cNvSpPr txBox="1"/>
          <p:nvPr>
            <p:ph idx="4294967295" type="body"/>
          </p:nvPr>
        </p:nvSpPr>
        <p:spPr>
          <a:xfrm>
            <a:off x="6162854" y="3287304"/>
            <a:ext cx="112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257" name="Google Shape;1257;p82"/>
          <p:cNvSpPr txBox="1"/>
          <p:nvPr>
            <p:ph idx="4294967295" type="body"/>
          </p:nvPr>
        </p:nvSpPr>
        <p:spPr>
          <a:xfrm>
            <a:off x="6171456" y="3754385"/>
            <a:ext cx="112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2" name="Google Shape;1262;p83"/>
          <p:cNvPicPr preferRelativeResize="0"/>
          <p:nvPr/>
        </p:nvPicPr>
        <p:blipFill rotWithShape="1">
          <a:blip r:embed="rId3">
            <a:alphaModFix/>
          </a:blip>
          <a:srcRect b="0" l="7158" r="0" t="11316"/>
          <a:stretch/>
        </p:blipFill>
        <p:spPr>
          <a:xfrm>
            <a:off x="7449541" y="2202348"/>
            <a:ext cx="1211953" cy="1284286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83"/>
          <p:cNvSpPr txBox="1"/>
          <p:nvPr>
            <p:ph idx="1" type="body"/>
          </p:nvPr>
        </p:nvSpPr>
        <p:spPr>
          <a:xfrm>
            <a:off x="324000" y="759300"/>
            <a:ext cx="8484900" cy="59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</a:t>
            </a:r>
            <a:r>
              <a:rPr lang="en-GB" sz="1800"/>
              <a:t>) A dropped cone could land </a:t>
            </a:r>
            <a:r>
              <a:rPr lang="en-GB" sz="1800"/>
              <a:t>in</a:t>
            </a:r>
            <a:r>
              <a:rPr lang="en-GB" sz="1800"/>
              <a:t> one of two </a:t>
            </a:r>
            <a:r>
              <a:rPr lang="en-GB" sz="1800"/>
              <a:t>ways</a:t>
            </a:r>
            <a:r>
              <a:rPr lang="en-GB" sz="1800"/>
              <a:t>: </a:t>
            </a:r>
            <a:r>
              <a:rPr lang="en-GB" sz="1800"/>
              <a:t>‘</a:t>
            </a:r>
            <a:r>
              <a:rPr lang="en-GB" sz="1800"/>
              <a:t>bas</a:t>
            </a:r>
            <a:r>
              <a:rPr lang="en-GB" sz="1800"/>
              <a:t>e down’</a:t>
            </a:r>
            <a:r>
              <a:rPr lang="en-GB" sz="1800"/>
              <a:t> or ‘curve down’.</a:t>
            </a:r>
            <a:endParaRPr sz="1800"/>
          </a:p>
        </p:txBody>
      </p:sp>
      <p:sp>
        <p:nvSpPr>
          <p:cNvPr id="1264" name="Google Shape;1264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pic>
        <p:nvPicPr>
          <p:cNvPr id="1265" name="Google Shape;1265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2600" y="1005371"/>
            <a:ext cx="386576" cy="7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6" name="Google Shape;1266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3591" y="1257370"/>
            <a:ext cx="865910" cy="471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83"/>
          <p:cNvSpPr txBox="1"/>
          <p:nvPr>
            <p:ph idx="1" type="body"/>
          </p:nvPr>
        </p:nvSpPr>
        <p:spPr>
          <a:xfrm>
            <a:off x="324000" y="2312125"/>
            <a:ext cx="5932800" cy="23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</a:t>
            </a:r>
            <a:r>
              <a:rPr lang="en-GB" sz="1800"/>
              <a:t>Use the link to access a simulation of this experiment: </a:t>
            </a:r>
            <a:r>
              <a:rPr lang="en-GB" sz="1800" u="sng">
                <a:solidFill>
                  <a:schemeClr val="hlink"/>
                </a:solidFill>
                <a:hlinkClick r:id="rId6"/>
              </a:rPr>
              <a:t>Cone simulation</a:t>
            </a:r>
            <a:r>
              <a:rPr lang="en-GB" sz="1800"/>
              <a:t>🖇</a:t>
            </a:r>
            <a:br>
              <a:rPr lang="en-GB" sz="1800"/>
            </a:br>
            <a:r>
              <a:rPr lang="en-GB" sz="1800"/>
              <a:t>Press the ‘run’ button to begin the simulation and the ‘reset’ button to start again.</a:t>
            </a:r>
            <a:br>
              <a:rPr lang="en-GB" sz="1800"/>
            </a:br>
            <a:r>
              <a:rPr lang="en-GB" sz="1800"/>
              <a:t> Try this </a:t>
            </a:r>
            <a:r>
              <a:rPr lang="en-GB" sz="1800">
                <a:solidFill>
                  <a:schemeClr val="accent4"/>
                </a:solidFill>
              </a:rPr>
              <a:t>multiple times</a:t>
            </a:r>
            <a:r>
              <a:rPr lang="en-GB" sz="1800"/>
              <a:t> with a </a:t>
            </a:r>
            <a:r>
              <a:rPr lang="en-GB" sz="1800">
                <a:solidFill>
                  <a:schemeClr val="accent4"/>
                </a:solidFill>
              </a:rPr>
              <a:t>large number of trials</a:t>
            </a:r>
            <a:r>
              <a:rPr lang="en-GB" sz="1800"/>
              <a:t> each time.</a:t>
            </a:r>
            <a:br>
              <a:rPr lang="en-GB" sz="1800"/>
            </a:br>
            <a:r>
              <a:rPr lang="en-GB" sz="1800"/>
              <a:t> How do the results affect your answers to part (b)?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68" name="Google Shape;1268;p83"/>
          <p:cNvSpPr txBox="1"/>
          <p:nvPr>
            <p:ph idx="1" type="body"/>
          </p:nvPr>
        </p:nvSpPr>
        <p:spPr>
          <a:xfrm>
            <a:off x="4957675" y="1697800"/>
            <a:ext cx="1437600" cy="3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 - </a:t>
            </a:r>
            <a:r>
              <a:rPr lang="en-GB" sz="1600"/>
              <a:t>base down </a:t>
            </a:r>
            <a:endParaRPr sz="1600"/>
          </a:p>
        </p:txBody>
      </p:sp>
      <p:sp>
        <p:nvSpPr>
          <p:cNvPr id="1269" name="Google Shape;1269;p83"/>
          <p:cNvSpPr txBox="1"/>
          <p:nvPr>
            <p:ph idx="1" type="body"/>
          </p:nvPr>
        </p:nvSpPr>
        <p:spPr>
          <a:xfrm>
            <a:off x="6762900" y="1697800"/>
            <a:ext cx="1542900" cy="3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 - curve</a:t>
            </a:r>
            <a:r>
              <a:rPr lang="en-GB" sz="1600"/>
              <a:t> down </a:t>
            </a:r>
            <a:endParaRPr sz="1600"/>
          </a:p>
        </p:txBody>
      </p:sp>
      <p:cxnSp>
        <p:nvCxnSpPr>
          <p:cNvPr id="1270" name="Google Shape;1270;p83"/>
          <p:cNvCxnSpPr/>
          <p:nvPr/>
        </p:nvCxnSpPr>
        <p:spPr>
          <a:xfrm>
            <a:off x="7419012" y="3425925"/>
            <a:ext cx="133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1" name="Google Shape;1271;p83"/>
          <p:cNvCxnSpPr/>
          <p:nvPr/>
        </p:nvCxnSpPr>
        <p:spPr>
          <a:xfrm rot="10800000">
            <a:off x="7419012" y="2007710"/>
            <a:ext cx="0" cy="142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2" name="Google Shape;1272;p83"/>
          <p:cNvCxnSpPr/>
          <p:nvPr/>
        </p:nvCxnSpPr>
        <p:spPr>
          <a:xfrm rot="10800000">
            <a:off x="7368692" y="3422945"/>
            <a:ext cx="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3" name="Google Shape;1273;p83"/>
          <p:cNvCxnSpPr/>
          <p:nvPr/>
        </p:nvCxnSpPr>
        <p:spPr>
          <a:xfrm rot="10800000">
            <a:off x="7368692" y="3042496"/>
            <a:ext cx="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4" name="Google Shape;1274;p83"/>
          <p:cNvCxnSpPr/>
          <p:nvPr/>
        </p:nvCxnSpPr>
        <p:spPr>
          <a:xfrm rot="10800000">
            <a:off x="7368692" y="2281598"/>
            <a:ext cx="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5" name="Google Shape;1275;p83"/>
          <p:cNvSpPr txBox="1"/>
          <p:nvPr>
            <p:ph idx="4294967295" type="body"/>
          </p:nvPr>
        </p:nvSpPr>
        <p:spPr>
          <a:xfrm>
            <a:off x="7242728" y="3311152"/>
            <a:ext cx="933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276" name="Google Shape;1276;p83"/>
          <p:cNvSpPr txBox="1"/>
          <p:nvPr>
            <p:ph idx="4294967295" type="body"/>
          </p:nvPr>
        </p:nvSpPr>
        <p:spPr>
          <a:xfrm>
            <a:off x="7748593" y="3412765"/>
            <a:ext cx="160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277" name="Google Shape;1277;p83"/>
          <p:cNvSpPr txBox="1"/>
          <p:nvPr>
            <p:ph idx="4294967295" type="body"/>
          </p:nvPr>
        </p:nvSpPr>
        <p:spPr>
          <a:xfrm>
            <a:off x="8207301" y="3412765"/>
            <a:ext cx="160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278" name="Google Shape;1278;p83"/>
          <p:cNvSpPr txBox="1"/>
          <p:nvPr>
            <p:ph idx="4294967295" type="body"/>
          </p:nvPr>
        </p:nvSpPr>
        <p:spPr>
          <a:xfrm rot="-5400000">
            <a:off x="6510550" y="2732478"/>
            <a:ext cx="10464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frequency</a:t>
            </a:r>
            <a:endParaRPr sz="1600"/>
          </a:p>
        </p:txBody>
      </p:sp>
      <p:cxnSp>
        <p:nvCxnSpPr>
          <p:cNvPr id="1279" name="Google Shape;1279;p83"/>
          <p:cNvCxnSpPr/>
          <p:nvPr/>
        </p:nvCxnSpPr>
        <p:spPr>
          <a:xfrm rot="10800000">
            <a:off x="7368692" y="2662047"/>
            <a:ext cx="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0" name="Google Shape;1280;p83"/>
          <p:cNvSpPr txBox="1"/>
          <p:nvPr>
            <p:ph idx="4294967295" type="body"/>
          </p:nvPr>
        </p:nvSpPr>
        <p:spPr>
          <a:xfrm>
            <a:off x="7237536" y="2149154"/>
            <a:ext cx="112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281" name="Google Shape;1281;p83"/>
          <p:cNvSpPr txBox="1"/>
          <p:nvPr>
            <p:ph idx="4294967295" type="body"/>
          </p:nvPr>
        </p:nvSpPr>
        <p:spPr>
          <a:xfrm>
            <a:off x="7229654" y="2525304"/>
            <a:ext cx="112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282" name="Google Shape;1282;p83"/>
          <p:cNvSpPr txBox="1"/>
          <p:nvPr>
            <p:ph idx="4294967295" type="body"/>
          </p:nvPr>
        </p:nvSpPr>
        <p:spPr>
          <a:xfrm>
            <a:off x="7238256" y="2916185"/>
            <a:ext cx="112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7" name="Google Shape;128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9200" y="2112346"/>
            <a:ext cx="2120575" cy="13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84"/>
          <p:cNvSpPr txBox="1"/>
          <p:nvPr>
            <p:ph idx="1" type="body"/>
          </p:nvPr>
        </p:nvSpPr>
        <p:spPr>
          <a:xfrm>
            <a:off x="324000" y="759300"/>
            <a:ext cx="8484900" cy="6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A toy brick that is thrown into the air could land in one of four possible ways.</a:t>
            </a:r>
            <a:br>
              <a:rPr lang="en-GB" sz="1800"/>
            </a:br>
            <a:r>
              <a:rPr lang="en-GB" sz="1800"/>
              <a:t>In an </a:t>
            </a:r>
            <a:r>
              <a:rPr b="1" lang="en-GB" sz="1800"/>
              <a:t>experiment</a:t>
            </a:r>
            <a:r>
              <a:rPr lang="en-GB" sz="1800"/>
              <a:t>, the toy brick is thrown 20 times and produces the following results.</a:t>
            </a:r>
            <a:endParaRPr sz="1600"/>
          </a:p>
        </p:txBody>
      </p:sp>
      <p:sp>
        <p:nvSpPr>
          <p:cNvPr id="1289" name="Google Shape;1289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sp>
        <p:nvSpPr>
          <p:cNvPr id="1290" name="Google Shape;1290;p84"/>
          <p:cNvSpPr txBox="1"/>
          <p:nvPr>
            <p:ph idx="1" type="body"/>
          </p:nvPr>
        </p:nvSpPr>
        <p:spPr>
          <a:xfrm>
            <a:off x="324000" y="3660525"/>
            <a:ext cx="8484900" cy="9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The toy brick is about to be thrown again. Draw a scale of likelihoods and use the results from the </a:t>
            </a:r>
            <a:r>
              <a:rPr b="1" lang="en-GB" sz="1800"/>
              <a:t>experiment</a:t>
            </a:r>
            <a:r>
              <a:rPr lang="en-GB" sz="1800"/>
              <a:t> to show the likelihood of each outcome on the scale.</a:t>
            </a:r>
            <a:endParaRPr sz="1800"/>
          </a:p>
        </p:txBody>
      </p:sp>
      <p:grpSp>
        <p:nvGrpSpPr>
          <p:cNvPr id="1291" name="Google Shape;1291;p84"/>
          <p:cNvGrpSpPr/>
          <p:nvPr/>
        </p:nvGrpSpPr>
        <p:grpSpPr>
          <a:xfrm>
            <a:off x="621684" y="2157783"/>
            <a:ext cx="532214" cy="456151"/>
            <a:chOff x="1828325" y="1905000"/>
            <a:chExt cx="1407600" cy="1206750"/>
          </a:xfrm>
        </p:grpSpPr>
        <p:sp>
          <p:nvSpPr>
            <p:cNvPr id="1292" name="Google Shape;1292;p84"/>
            <p:cNvSpPr/>
            <p:nvPr/>
          </p:nvSpPr>
          <p:spPr>
            <a:xfrm>
              <a:off x="1828325" y="2031750"/>
              <a:ext cx="1407600" cy="1080000"/>
            </a:xfrm>
            <a:prstGeom prst="cube">
              <a:avLst>
                <a:gd fmla="val 511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3" name="Google Shape;1293;p84"/>
            <p:cNvSpPr/>
            <p:nvPr/>
          </p:nvSpPr>
          <p:spPr>
            <a:xfrm>
              <a:off x="2436675" y="1905000"/>
              <a:ext cx="559800" cy="333900"/>
            </a:xfrm>
            <a:prstGeom prst="can">
              <a:avLst>
                <a:gd fmla="val 403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4" name="Google Shape;1294;p84"/>
            <p:cNvSpPr/>
            <p:nvPr/>
          </p:nvSpPr>
          <p:spPr>
            <a:xfrm>
              <a:off x="2130842" y="2153250"/>
              <a:ext cx="611100" cy="364500"/>
            </a:xfrm>
            <a:prstGeom prst="can">
              <a:avLst>
                <a:gd fmla="val 403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5" name="Google Shape;1295;p84"/>
          <p:cNvGrpSpPr/>
          <p:nvPr/>
        </p:nvGrpSpPr>
        <p:grpSpPr>
          <a:xfrm>
            <a:off x="601222" y="2927935"/>
            <a:ext cx="420721" cy="456264"/>
            <a:chOff x="5369297" y="1230126"/>
            <a:chExt cx="1030169" cy="1117200"/>
          </a:xfrm>
        </p:grpSpPr>
        <p:sp>
          <p:nvSpPr>
            <p:cNvPr id="1296" name="Google Shape;1296;p84"/>
            <p:cNvSpPr/>
            <p:nvPr/>
          </p:nvSpPr>
          <p:spPr>
            <a:xfrm>
              <a:off x="5369297" y="1230126"/>
              <a:ext cx="837900" cy="1117200"/>
            </a:xfrm>
            <a:prstGeom prst="cube">
              <a:avLst>
                <a:gd fmla="val 49113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97" name="Google Shape;1297;p84"/>
            <p:cNvGrpSpPr/>
            <p:nvPr/>
          </p:nvGrpSpPr>
          <p:grpSpPr>
            <a:xfrm flipH="1" rot="5400000">
              <a:off x="5715001" y="1492400"/>
              <a:ext cx="801602" cy="567330"/>
              <a:chOff x="5638837" y="1263835"/>
              <a:chExt cx="801602" cy="567330"/>
            </a:xfrm>
          </p:grpSpPr>
          <p:sp>
            <p:nvSpPr>
              <p:cNvPr id="1298" name="Google Shape;1298;p84"/>
              <p:cNvSpPr/>
              <p:nvPr/>
            </p:nvSpPr>
            <p:spPr>
              <a:xfrm>
                <a:off x="5922039" y="1263835"/>
                <a:ext cx="518400" cy="309000"/>
              </a:xfrm>
              <a:prstGeom prst="can">
                <a:avLst>
                  <a:gd fmla="val 403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99" name="Google Shape;1299;p84"/>
              <p:cNvSpPr/>
              <p:nvPr/>
            </p:nvSpPr>
            <p:spPr>
              <a:xfrm>
                <a:off x="5638837" y="1493665"/>
                <a:ext cx="565800" cy="337500"/>
              </a:xfrm>
              <a:prstGeom prst="can">
                <a:avLst>
                  <a:gd fmla="val 403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00" name="Google Shape;1300;p84"/>
          <p:cNvGrpSpPr/>
          <p:nvPr/>
        </p:nvGrpSpPr>
        <p:grpSpPr>
          <a:xfrm>
            <a:off x="2974790" y="2830867"/>
            <a:ext cx="326330" cy="557780"/>
            <a:chOff x="6752450" y="1106973"/>
            <a:chExt cx="706800" cy="1208100"/>
          </a:xfrm>
        </p:grpSpPr>
        <p:sp>
          <p:nvSpPr>
            <p:cNvPr id="1301" name="Google Shape;1301;p84"/>
            <p:cNvSpPr/>
            <p:nvPr/>
          </p:nvSpPr>
          <p:spPr>
            <a:xfrm>
              <a:off x="6752450" y="1106973"/>
              <a:ext cx="706800" cy="1208100"/>
            </a:xfrm>
            <a:prstGeom prst="cube">
              <a:avLst>
                <a:gd fmla="val 18987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2" name="Google Shape;1302;p84"/>
            <p:cNvSpPr/>
            <p:nvPr/>
          </p:nvSpPr>
          <p:spPr>
            <a:xfrm>
              <a:off x="6847462" y="1329972"/>
              <a:ext cx="395400" cy="395400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3" name="Google Shape;1303;p84"/>
            <p:cNvSpPr/>
            <p:nvPr/>
          </p:nvSpPr>
          <p:spPr>
            <a:xfrm>
              <a:off x="6808303" y="1355840"/>
              <a:ext cx="395400" cy="395400"/>
            </a:xfrm>
            <a:prstGeom prst="ellipse">
              <a:avLst/>
            </a:prstGeom>
            <a:solidFill>
              <a:srgbClr val="B59CE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4" name="Google Shape;1304;p84"/>
            <p:cNvSpPr/>
            <p:nvPr/>
          </p:nvSpPr>
          <p:spPr>
            <a:xfrm>
              <a:off x="6847462" y="1824301"/>
              <a:ext cx="395400" cy="395400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5" name="Google Shape;1305;p84"/>
            <p:cNvSpPr/>
            <p:nvPr/>
          </p:nvSpPr>
          <p:spPr>
            <a:xfrm>
              <a:off x="6803632" y="1850168"/>
              <a:ext cx="395400" cy="395400"/>
            </a:xfrm>
            <a:prstGeom prst="ellipse">
              <a:avLst/>
            </a:prstGeom>
            <a:solidFill>
              <a:srgbClr val="B59CE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6" name="Google Shape;1306;p84"/>
          <p:cNvGrpSpPr/>
          <p:nvPr/>
        </p:nvGrpSpPr>
        <p:grpSpPr>
          <a:xfrm>
            <a:off x="2901140" y="2166771"/>
            <a:ext cx="532500" cy="451850"/>
            <a:chOff x="1929979" y="1539288"/>
            <a:chExt cx="532500" cy="451850"/>
          </a:xfrm>
        </p:grpSpPr>
        <p:grpSp>
          <p:nvGrpSpPr>
            <p:cNvPr id="1307" name="Google Shape;1307;p84"/>
            <p:cNvGrpSpPr/>
            <p:nvPr/>
          </p:nvGrpSpPr>
          <p:grpSpPr>
            <a:xfrm>
              <a:off x="2056463" y="1759440"/>
              <a:ext cx="327374" cy="231697"/>
              <a:chOff x="1752637" y="1416235"/>
              <a:chExt cx="801602" cy="567330"/>
            </a:xfrm>
          </p:grpSpPr>
          <p:sp>
            <p:nvSpPr>
              <p:cNvPr id="1308" name="Google Shape;1308;p84"/>
              <p:cNvSpPr/>
              <p:nvPr/>
            </p:nvSpPr>
            <p:spPr>
              <a:xfrm>
                <a:off x="2035839" y="1416235"/>
                <a:ext cx="518400" cy="309000"/>
              </a:xfrm>
              <a:prstGeom prst="can">
                <a:avLst>
                  <a:gd fmla="val 403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09" name="Google Shape;1309;p84"/>
              <p:cNvSpPr/>
              <p:nvPr/>
            </p:nvSpPr>
            <p:spPr>
              <a:xfrm>
                <a:off x="1752637" y="1646065"/>
                <a:ext cx="565800" cy="337500"/>
              </a:xfrm>
              <a:prstGeom prst="can">
                <a:avLst>
                  <a:gd fmla="val 403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310" name="Google Shape;1310;p84"/>
            <p:cNvSpPr/>
            <p:nvPr/>
          </p:nvSpPr>
          <p:spPr>
            <a:xfrm>
              <a:off x="1929979" y="1539288"/>
              <a:ext cx="532500" cy="408300"/>
            </a:xfrm>
            <a:prstGeom prst="cube">
              <a:avLst>
                <a:gd fmla="val 511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1" name="Google Shape;1311;p84"/>
            <p:cNvSpPr/>
            <p:nvPr/>
          </p:nvSpPr>
          <p:spPr>
            <a:xfrm rot="-168736">
              <a:off x="2035384" y="1645026"/>
              <a:ext cx="256809" cy="72689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2" name="Google Shape;1312;p84"/>
            <p:cNvSpPr/>
            <p:nvPr/>
          </p:nvSpPr>
          <p:spPr>
            <a:xfrm rot="-168736">
              <a:off x="2118151" y="1556774"/>
              <a:ext cx="256809" cy="72689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13" name="Google Shape;1313;p84"/>
          <p:cNvSpPr txBox="1"/>
          <p:nvPr>
            <p:ph idx="4294967295" type="body"/>
          </p:nvPr>
        </p:nvSpPr>
        <p:spPr>
          <a:xfrm>
            <a:off x="1230100" y="2234425"/>
            <a:ext cx="7041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 - up</a:t>
            </a:r>
            <a:endParaRPr sz="1600"/>
          </a:p>
        </p:txBody>
      </p:sp>
      <p:sp>
        <p:nvSpPr>
          <p:cNvPr id="1314" name="Google Shape;1314;p84"/>
          <p:cNvSpPr txBox="1"/>
          <p:nvPr>
            <p:ph idx="4294967295" type="body"/>
          </p:nvPr>
        </p:nvSpPr>
        <p:spPr>
          <a:xfrm>
            <a:off x="3515589" y="2229926"/>
            <a:ext cx="9945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 - down</a:t>
            </a:r>
            <a:endParaRPr sz="1600"/>
          </a:p>
        </p:txBody>
      </p:sp>
      <p:sp>
        <p:nvSpPr>
          <p:cNvPr id="1315" name="Google Shape;1315;p84"/>
          <p:cNvSpPr txBox="1"/>
          <p:nvPr>
            <p:ph idx="4294967295" type="body"/>
          </p:nvPr>
        </p:nvSpPr>
        <p:spPr>
          <a:xfrm>
            <a:off x="1226161" y="3003200"/>
            <a:ext cx="13836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 - long face</a:t>
            </a:r>
            <a:endParaRPr sz="1600"/>
          </a:p>
        </p:txBody>
      </p:sp>
      <p:sp>
        <p:nvSpPr>
          <p:cNvPr id="1316" name="Google Shape;1316;p84"/>
          <p:cNvSpPr txBox="1"/>
          <p:nvPr>
            <p:ph idx="4294967295" type="body"/>
          </p:nvPr>
        </p:nvSpPr>
        <p:spPr>
          <a:xfrm>
            <a:off x="3502843" y="2993478"/>
            <a:ext cx="13836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 - short face</a:t>
            </a:r>
            <a:endParaRPr sz="1600"/>
          </a:p>
        </p:txBody>
      </p:sp>
      <p:cxnSp>
        <p:nvCxnSpPr>
          <p:cNvPr id="1317" name="Google Shape;1317;p84"/>
          <p:cNvCxnSpPr/>
          <p:nvPr/>
        </p:nvCxnSpPr>
        <p:spPr>
          <a:xfrm>
            <a:off x="6047444" y="3317609"/>
            <a:ext cx="232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8" name="Google Shape;1318;p84"/>
          <p:cNvCxnSpPr/>
          <p:nvPr/>
        </p:nvCxnSpPr>
        <p:spPr>
          <a:xfrm rot="10800000">
            <a:off x="6047444" y="1985394"/>
            <a:ext cx="0" cy="1337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9" name="Google Shape;1319;p84"/>
          <p:cNvCxnSpPr/>
          <p:nvPr/>
        </p:nvCxnSpPr>
        <p:spPr>
          <a:xfrm rot="10800000">
            <a:off x="5974774" y="3313289"/>
            <a:ext cx="8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0" name="Google Shape;1320;p84"/>
          <p:cNvCxnSpPr/>
          <p:nvPr/>
        </p:nvCxnSpPr>
        <p:spPr>
          <a:xfrm rot="10800000">
            <a:off x="5974774" y="3044973"/>
            <a:ext cx="8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1" name="Google Shape;1321;p84"/>
          <p:cNvCxnSpPr/>
          <p:nvPr/>
        </p:nvCxnSpPr>
        <p:spPr>
          <a:xfrm rot="10800000">
            <a:off x="5974774" y="2240024"/>
            <a:ext cx="8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2" name="Google Shape;1322;p84"/>
          <p:cNvSpPr txBox="1"/>
          <p:nvPr>
            <p:ph idx="4294967295" type="body"/>
          </p:nvPr>
        </p:nvSpPr>
        <p:spPr>
          <a:xfrm>
            <a:off x="5839078" y="2116860"/>
            <a:ext cx="1629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323" name="Google Shape;1323;p84"/>
          <p:cNvSpPr txBox="1"/>
          <p:nvPr>
            <p:ph idx="4294967295" type="body"/>
          </p:nvPr>
        </p:nvSpPr>
        <p:spPr>
          <a:xfrm>
            <a:off x="5839325" y="3185546"/>
            <a:ext cx="1353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324" name="Google Shape;1324;p84"/>
          <p:cNvSpPr txBox="1"/>
          <p:nvPr>
            <p:ph idx="4294967295" type="body"/>
          </p:nvPr>
        </p:nvSpPr>
        <p:spPr>
          <a:xfrm>
            <a:off x="6372725" y="3298535"/>
            <a:ext cx="2328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325" name="Google Shape;1325;p84"/>
          <p:cNvSpPr txBox="1"/>
          <p:nvPr>
            <p:ph idx="4294967295" type="body"/>
          </p:nvPr>
        </p:nvSpPr>
        <p:spPr>
          <a:xfrm>
            <a:off x="6846277" y="3298535"/>
            <a:ext cx="2328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326" name="Google Shape;1326;p84"/>
          <p:cNvSpPr txBox="1"/>
          <p:nvPr>
            <p:ph idx="4294967295" type="body"/>
          </p:nvPr>
        </p:nvSpPr>
        <p:spPr>
          <a:xfrm>
            <a:off x="7303477" y="3298535"/>
            <a:ext cx="2328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327" name="Google Shape;1327;p84"/>
          <p:cNvSpPr txBox="1"/>
          <p:nvPr>
            <p:ph idx="4294967295" type="body"/>
          </p:nvPr>
        </p:nvSpPr>
        <p:spPr>
          <a:xfrm>
            <a:off x="7800553" y="3298535"/>
            <a:ext cx="2328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328" name="Google Shape;1328;p84"/>
          <p:cNvSpPr txBox="1"/>
          <p:nvPr>
            <p:ph idx="4294967295" type="body"/>
          </p:nvPr>
        </p:nvSpPr>
        <p:spPr>
          <a:xfrm rot="-5400000">
            <a:off x="5019157" y="2612746"/>
            <a:ext cx="9945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frequency</a:t>
            </a:r>
            <a:endParaRPr sz="1600"/>
          </a:p>
        </p:txBody>
      </p:sp>
      <p:cxnSp>
        <p:nvCxnSpPr>
          <p:cNvPr id="1329" name="Google Shape;1329;p84"/>
          <p:cNvCxnSpPr/>
          <p:nvPr/>
        </p:nvCxnSpPr>
        <p:spPr>
          <a:xfrm rot="10800000">
            <a:off x="5974774" y="2508340"/>
            <a:ext cx="8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84"/>
          <p:cNvCxnSpPr/>
          <p:nvPr/>
        </p:nvCxnSpPr>
        <p:spPr>
          <a:xfrm rot="10800000">
            <a:off x="5974774" y="2776656"/>
            <a:ext cx="8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1" name="Google Shape;1331;p84"/>
          <p:cNvSpPr txBox="1"/>
          <p:nvPr>
            <p:ph idx="4294967295" type="body"/>
          </p:nvPr>
        </p:nvSpPr>
        <p:spPr>
          <a:xfrm>
            <a:off x="5839078" y="2377593"/>
            <a:ext cx="1629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332" name="Google Shape;1332;p84"/>
          <p:cNvSpPr txBox="1"/>
          <p:nvPr>
            <p:ph idx="4294967295" type="body"/>
          </p:nvPr>
        </p:nvSpPr>
        <p:spPr>
          <a:xfrm>
            <a:off x="5839078" y="2642915"/>
            <a:ext cx="1629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333" name="Google Shape;1333;p84"/>
          <p:cNvSpPr txBox="1"/>
          <p:nvPr>
            <p:ph idx="4294967295" type="body"/>
          </p:nvPr>
        </p:nvSpPr>
        <p:spPr>
          <a:xfrm>
            <a:off x="5839078" y="2912829"/>
            <a:ext cx="1629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sp>
        <p:nvSpPr>
          <p:cNvPr id="1339" name="Google Shape;1339;p85"/>
          <p:cNvSpPr txBox="1"/>
          <p:nvPr>
            <p:ph idx="1" type="body"/>
          </p:nvPr>
        </p:nvSpPr>
        <p:spPr>
          <a:xfrm>
            <a:off x="329550" y="810000"/>
            <a:ext cx="8484900" cy="20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Use the link to access a simulation of this experiment: </a:t>
            </a:r>
            <a:r>
              <a:rPr lang="en-GB" sz="1800" u="sng">
                <a:solidFill>
                  <a:schemeClr val="hlink"/>
                </a:solidFill>
                <a:hlinkClick r:id="rId3"/>
              </a:rPr>
              <a:t>Toy brick simulation</a:t>
            </a:r>
            <a:r>
              <a:rPr lang="en-GB" sz="1800"/>
              <a:t>🖇</a:t>
            </a:r>
            <a:br>
              <a:rPr lang="en-GB" sz="1800"/>
            </a:br>
            <a:r>
              <a:rPr lang="en-GB" sz="1800"/>
              <a:t>Press the ‘run’ button to begin the simulation and the ‘reset’ button to start again.</a:t>
            </a:r>
            <a:br>
              <a:rPr lang="en-GB" sz="1800"/>
            </a:br>
            <a:r>
              <a:rPr lang="en-GB" sz="1800"/>
              <a:t>Try this </a:t>
            </a:r>
            <a:r>
              <a:rPr lang="en-GB" sz="1800">
                <a:solidFill>
                  <a:schemeClr val="accent4"/>
                </a:solidFill>
              </a:rPr>
              <a:t>multiple times</a:t>
            </a:r>
            <a:r>
              <a:rPr lang="en-GB" sz="1800"/>
              <a:t> with a </a:t>
            </a:r>
            <a:r>
              <a:rPr lang="en-GB" sz="1800">
                <a:solidFill>
                  <a:schemeClr val="accent4"/>
                </a:solidFill>
              </a:rPr>
              <a:t>large number of trials</a:t>
            </a:r>
            <a:r>
              <a:rPr lang="en-GB" sz="1800"/>
              <a:t> each time.</a:t>
            </a:r>
            <a:br>
              <a:rPr lang="en-GB" sz="1800"/>
            </a:br>
            <a:r>
              <a:rPr lang="en-GB" sz="1800"/>
              <a:t>How do the results affect your answers to part (a)?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86"/>
          <p:cNvSpPr txBox="1"/>
          <p:nvPr>
            <p:ph idx="1" type="body"/>
          </p:nvPr>
        </p:nvSpPr>
        <p:spPr>
          <a:xfrm>
            <a:off x="324000" y="759300"/>
            <a:ext cx="8496000" cy="59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A dropped cone could land in one of two ways: ‘base down’ or ‘curve down’.</a:t>
            </a:r>
            <a:endParaRPr sz="1800"/>
          </a:p>
        </p:txBody>
      </p:sp>
      <p:sp>
        <p:nvSpPr>
          <p:cNvPr id="1345" name="Google Shape;1345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pic>
        <p:nvPicPr>
          <p:cNvPr id="1346" name="Google Shape;134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600" y="1005371"/>
            <a:ext cx="386576" cy="7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3591" y="1257370"/>
            <a:ext cx="865910" cy="4718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86"/>
          <p:cNvSpPr txBox="1"/>
          <p:nvPr>
            <p:ph idx="1" type="body"/>
          </p:nvPr>
        </p:nvSpPr>
        <p:spPr>
          <a:xfrm>
            <a:off x="324000" y="1471525"/>
            <a:ext cx="4500000" cy="6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Plan an </a:t>
            </a:r>
            <a:r>
              <a:rPr b="1" lang="en-GB" sz="1800"/>
              <a:t>experiment</a:t>
            </a:r>
            <a:r>
              <a:rPr lang="en-GB" sz="1800"/>
              <a:t> to investigate </a:t>
            </a:r>
            <a:br>
              <a:rPr lang="en-GB" sz="1800"/>
            </a:br>
            <a:r>
              <a:rPr lang="en-GB" sz="1800"/>
              <a:t> which outcome is most likely to happen.</a:t>
            </a:r>
            <a:endParaRPr sz="1800"/>
          </a:p>
        </p:txBody>
      </p:sp>
      <p:sp>
        <p:nvSpPr>
          <p:cNvPr id="1349" name="Google Shape;1349;p86"/>
          <p:cNvSpPr txBox="1"/>
          <p:nvPr>
            <p:ph idx="1" type="body"/>
          </p:nvPr>
        </p:nvSpPr>
        <p:spPr>
          <a:xfrm>
            <a:off x="4957675" y="1697800"/>
            <a:ext cx="1437600" cy="3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 - base down </a:t>
            </a:r>
            <a:endParaRPr sz="1600"/>
          </a:p>
        </p:txBody>
      </p:sp>
      <p:sp>
        <p:nvSpPr>
          <p:cNvPr id="1350" name="Google Shape;1350;p86"/>
          <p:cNvSpPr txBox="1"/>
          <p:nvPr>
            <p:ph idx="1" type="body"/>
          </p:nvPr>
        </p:nvSpPr>
        <p:spPr>
          <a:xfrm>
            <a:off x="6762900" y="1697800"/>
            <a:ext cx="1542900" cy="3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 - curve down </a:t>
            </a:r>
            <a:endParaRPr sz="1600"/>
          </a:p>
        </p:txBody>
      </p:sp>
      <p:sp>
        <p:nvSpPr>
          <p:cNvPr id="1351" name="Google Shape;1351;p86"/>
          <p:cNvSpPr txBox="1"/>
          <p:nvPr>
            <p:ph idx="1" type="body"/>
          </p:nvPr>
        </p:nvSpPr>
        <p:spPr>
          <a:xfrm>
            <a:off x="349650" y="2222450"/>
            <a:ext cx="8064600" cy="26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Example answers -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‘Drop a cone 50 times.’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‘Drop a cone onto the floor from the same height 200 times. Record the number of times it lands in each position.’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Number of trials may vary. A larger number of trials is encouraged but you may also consider practical limitations for an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experiment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6" name="Google Shape;1356;p87"/>
          <p:cNvPicPr preferRelativeResize="0"/>
          <p:nvPr/>
        </p:nvPicPr>
        <p:blipFill rotWithShape="1">
          <a:blip r:embed="rId3">
            <a:alphaModFix/>
          </a:blip>
          <a:srcRect b="0" l="7158" r="0" t="11316"/>
          <a:stretch/>
        </p:blipFill>
        <p:spPr>
          <a:xfrm>
            <a:off x="6611341" y="1287948"/>
            <a:ext cx="1211953" cy="1284286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sp>
        <p:nvSpPr>
          <p:cNvPr id="1358" name="Google Shape;1358;p87"/>
          <p:cNvSpPr txBox="1"/>
          <p:nvPr>
            <p:ph idx="1" type="body"/>
          </p:nvPr>
        </p:nvSpPr>
        <p:spPr>
          <a:xfrm>
            <a:off x="320950" y="1150100"/>
            <a:ext cx="5458800" cy="12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The bar chart shows the results from an </a:t>
            </a:r>
            <a:r>
              <a:rPr b="1" lang="en-GB" sz="1800"/>
              <a:t>experiment</a:t>
            </a:r>
            <a:r>
              <a:rPr lang="en-GB" sz="1800"/>
              <a:t>.</a:t>
            </a:r>
            <a:br>
              <a:rPr lang="en-GB" sz="1800"/>
            </a:br>
            <a:r>
              <a:rPr lang="en-GB" sz="1800"/>
              <a:t>T</a:t>
            </a:r>
            <a:r>
              <a:rPr lang="en-GB" sz="1800"/>
              <a:t>he cone is about to be dropped again. </a:t>
            </a:r>
            <a:br>
              <a:rPr lang="en-GB" sz="1800"/>
            </a:br>
            <a:r>
              <a:rPr lang="en-GB" sz="1800"/>
              <a:t>In which position is it most likely to land?</a:t>
            </a:r>
            <a:endParaRPr sz="1800"/>
          </a:p>
        </p:txBody>
      </p:sp>
      <p:cxnSp>
        <p:nvCxnSpPr>
          <p:cNvPr id="1359" name="Google Shape;1359;p87"/>
          <p:cNvCxnSpPr/>
          <p:nvPr/>
        </p:nvCxnSpPr>
        <p:spPr>
          <a:xfrm>
            <a:off x="6580812" y="2511525"/>
            <a:ext cx="133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0" name="Google Shape;1360;p87"/>
          <p:cNvCxnSpPr/>
          <p:nvPr/>
        </p:nvCxnSpPr>
        <p:spPr>
          <a:xfrm rot="10800000">
            <a:off x="6580812" y="1093310"/>
            <a:ext cx="0" cy="142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1" name="Google Shape;1361;p87"/>
          <p:cNvCxnSpPr/>
          <p:nvPr/>
        </p:nvCxnSpPr>
        <p:spPr>
          <a:xfrm rot="10800000">
            <a:off x="6530492" y="2508545"/>
            <a:ext cx="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2" name="Google Shape;1362;p87"/>
          <p:cNvCxnSpPr/>
          <p:nvPr/>
        </p:nvCxnSpPr>
        <p:spPr>
          <a:xfrm rot="10800000">
            <a:off x="6530492" y="2128096"/>
            <a:ext cx="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3" name="Google Shape;1363;p87"/>
          <p:cNvCxnSpPr/>
          <p:nvPr/>
        </p:nvCxnSpPr>
        <p:spPr>
          <a:xfrm rot="10800000">
            <a:off x="6530492" y="1367198"/>
            <a:ext cx="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4" name="Google Shape;1364;p87"/>
          <p:cNvSpPr txBox="1"/>
          <p:nvPr>
            <p:ph idx="4294967295" type="body"/>
          </p:nvPr>
        </p:nvSpPr>
        <p:spPr>
          <a:xfrm>
            <a:off x="6404528" y="2396752"/>
            <a:ext cx="933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365" name="Google Shape;1365;p87"/>
          <p:cNvSpPr txBox="1"/>
          <p:nvPr>
            <p:ph idx="4294967295" type="body"/>
          </p:nvPr>
        </p:nvSpPr>
        <p:spPr>
          <a:xfrm>
            <a:off x="6910393" y="2498365"/>
            <a:ext cx="160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366" name="Google Shape;1366;p87"/>
          <p:cNvSpPr txBox="1"/>
          <p:nvPr>
            <p:ph idx="4294967295" type="body"/>
          </p:nvPr>
        </p:nvSpPr>
        <p:spPr>
          <a:xfrm>
            <a:off x="7369101" y="2498365"/>
            <a:ext cx="160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367" name="Google Shape;1367;p87"/>
          <p:cNvSpPr txBox="1"/>
          <p:nvPr>
            <p:ph idx="4294967295" type="body"/>
          </p:nvPr>
        </p:nvSpPr>
        <p:spPr>
          <a:xfrm rot="-5400000">
            <a:off x="5672350" y="1818078"/>
            <a:ext cx="10464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frequency</a:t>
            </a:r>
            <a:endParaRPr sz="1600"/>
          </a:p>
        </p:txBody>
      </p:sp>
      <p:cxnSp>
        <p:nvCxnSpPr>
          <p:cNvPr id="1368" name="Google Shape;1368;p87"/>
          <p:cNvCxnSpPr/>
          <p:nvPr/>
        </p:nvCxnSpPr>
        <p:spPr>
          <a:xfrm rot="10800000">
            <a:off x="6530492" y="1747647"/>
            <a:ext cx="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9" name="Google Shape;1369;p87"/>
          <p:cNvSpPr txBox="1"/>
          <p:nvPr>
            <p:ph idx="4294967295" type="body"/>
          </p:nvPr>
        </p:nvSpPr>
        <p:spPr>
          <a:xfrm>
            <a:off x="6399336" y="1234754"/>
            <a:ext cx="112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370" name="Google Shape;1370;p87"/>
          <p:cNvSpPr txBox="1"/>
          <p:nvPr>
            <p:ph idx="4294967295" type="body"/>
          </p:nvPr>
        </p:nvSpPr>
        <p:spPr>
          <a:xfrm>
            <a:off x="6391454" y="1610904"/>
            <a:ext cx="112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371" name="Google Shape;1371;p87"/>
          <p:cNvSpPr txBox="1"/>
          <p:nvPr>
            <p:ph idx="4294967295" type="body"/>
          </p:nvPr>
        </p:nvSpPr>
        <p:spPr>
          <a:xfrm>
            <a:off x="6400056" y="2001785"/>
            <a:ext cx="112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1372" name="Google Shape;1372;p87"/>
          <p:cNvSpPr txBox="1"/>
          <p:nvPr>
            <p:ph idx="1" type="body"/>
          </p:nvPr>
        </p:nvSpPr>
        <p:spPr>
          <a:xfrm>
            <a:off x="324000" y="2638588"/>
            <a:ext cx="15795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 - base down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sp>
        <p:nvSpPr>
          <p:cNvPr id="1378" name="Google Shape;1378;p88"/>
          <p:cNvSpPr txBox="1"/>
          <p:nvPr>
            <p:ph idx="1" type="body"/>
          </p:nvPr>
        </p:nvSpPr>
        <p:spPr>
          <a:xfrm>
            <a:off x="319800" y="771375"/>
            <a:ext cx="8504400" cy="180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Use the link to access a simulation of this experiment: </a:t>
            </a:r>
            <a:r>
              <a:rPr lang="en-GB" sz="1800" u="sng">
                <a:solidFill>
                  <a:schemeClr val="hlink"/>
                </a:solidFill>
                <a:hlinkClick r:id="rId3"/>
              </a:rPr>
              <a:t>Cone simulation</a:t>
            </a:r>
            <a:r>
              <a:rPr lang="en-GB" sz="1800"/>
              <a:t>🖇</a:t>
            </a:r>
            <a:br>
              <a:rPr lang="en-GB" sz="1800"/>
            </a:br>
            <a:r>
              <a:rPr lang="en-GB" sz="1800"/>
              <a:t>Press the ‘run’ button to begin the simulation and the ‘reset’ button to start again.</a:t>
            </a:r>
            <a:br>
              <a:rPr lang="en-GB" sz="1800"/>
            </a:br>
            <a:r>
              <a:rPr lang="en-GB" sz="1800"/>
              <a:t>Try this </a:t>
            </a:r>
            <a:r>
              <a:rPr lang="en-GB" sz="1800">
                <a:solidFill>
                  <a:schemeClr val="accent4"/>
                </a:solidFill>
              </a:rPr>
              <a:t>multiple times</a:t>
            </a:r>
            <a:r>
              <a:rPr lang="en-GB" sz="1800"/>
              <a:t> with a </a:t>
            </a:r>
            <a:r>
              <a:rPr lang="en-GB" sz="1800">
                <a:solidFill>
                  <a:schemeClr val="accent4"/>
                </a:solidFill>
              </a:rPr>
              <a:t>large number of trials</a:t>
            </a:r>
            <a:r>
              <a:rPr lang="en-GB" sz="1800"/>
              <a:t> each time.</a:t>
            </a:r>
            <a:br>
              <a:rPr lang="en-GB" sz="1800"/>
            </a:br>
            <a:r>
              <a:rPr lang="en-GB" sz="1800"/>
              <a:t>How do the results affect your answers to part (b)?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79" name="Google Shape;1379;p88"/>
          <p:cNvSpPr txBox="1"/>
          <p:nvPr>
            <p:ph idx="1" type="body"/>
          </p:nvPr>
        </p:nvSpPr>
        <p:spPr>
          <a:xfrm>
            <a:off x="324000" y="2624994"/>
            <a:ext cx="8199600" cy="6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 ‘When using a large number of trials, the cone lands curve down more often than base down. So curve down appears to be the more likely outcome.’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0" name="Google Shape;1380;p88"/>
          <p:cNvSpPr txBox="1"/>
          <p:nvPr>
            <p:ph idx="1" type="body"/>
          </p:nvPr>
        </p:nvSpPr>
        <p:spPr>
          <a:xfrm>
            <a:off x="319806" y="3446103"/>
            <a:ext cx="68553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Answers may vary depending on results from the simulation.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5" name="Google Shape;138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9200" y="1807546"/>
            <a:ext cx="2120575" cy="13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6" name="Google Shape;1386;p89"/>
          <p:cNvSpPr txBox="1"/>
          <p:nvPr>
            <p:ph idx="1" type="body"/>
          </p:nvPr>
        </p:nvSpPr>
        <p:spPr>
          <a:xfrm>
            <a:off x="324000" y="759300"/>
            <a:ext cx="84849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A toy brick that is thrown into the air could land in one of four possible ways.</a:t>
            </a:r>
            <a:br>
              <a:rPr lang="en-GB" sz="1800"/>
            </a:br>
            <a:r>
              <a:rPr lang="en-GB" sz="1800"/>
              <a:t>In an </a:t>
            </a:r>
            <a:r>
              <a:rPr b="1" lang="en-GB" sz="1800"/>
              <a:t>experiment</a:t>
            </a:r>
            <a:r>
              <a:rPr lang="en-GB" sz="1800"/>
              <a:t>, the toy brick is thrown 20 times and produces the following results.</a:t>
            </a:r>
            <a:endParaRPr sz="1800"/>
          </a:p>
        </p:txBody>
      </p:sp>
      <p:sp>
        <p:nvSpPr>
          <p:cNvPr id="1387" name="Google Shape;1387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sp>
        <p:nvSpPr>
          <p:cNvPr id="1388" name="Google Shape;1388;p89"/>
          <p:cNvSpPr txBox="1"/>
          <p:nvPr>
            <p:ph idx="1" type="body"/>
          </p:nvPr>
        </p:nvSpPr>
        <p:spPr>
          <a:xfrm>
            <a:off x="324000" y="3273900"/>
            <a:ext cx="8484900" cy="8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The toy brick is about to be thrown again. Draw a scale of likelihoods and use the  results from the </a:t>
            </a:r>
            <a:r>
              <a:rPr b="1" lang="en-GB" sz="1800"/>
              <a:t>experiment</a:t>
            </a:r>
            <a:r>
              <a:rPr lang="en-GB" sz="1800"/>
              <a:t> to show the likelihood of each outcome on the scale.</a:t>
            </a:r>
            <a:endParaRPr sz="1800"/>
          </a:p>
        </p:txBody>
      </p:sp>
      <p:grpSp>
        <p:nvGrpSpPr>
          <p:cNvPr id="1389" name="Google Shape;1389;p89"/>
          <p:cNvGrpSpPr/>
          <p:nvPr/>
        </p:nvGrpSpPr>
        <p:grpSpPr>
          <a:xfrm>
            <a:off x="621684" y="2005383"/>
            <a:ext cx="532214" cy="456151"/>
            <a:chOff x="1828325" y="1905000"/>
            <a:chExt cx="1407600" cy="1206750"/>
          </a:xfrm>
        </p:grpSpPr>
        <p:sp>
          <p:nvSpPr>
            <p:cNvPr id="1390" name="Google Shape;1390;p89"/>
            <p:cNvSpPr/>
            <p:nvPr/>
          </p:nvSpPr>
          <p:spPr>
            <a:xfrm>
              <a:off x="1828325" y="2031750"/>
              <a:ext cx="1407600" cy="1080000"/>
            </a:xfrm>
            <a:prstGeom prst="cube">
              <a:avLst>
                <a:gd fmla="val 511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1" name="Google Shape;1391;p89"/>
            <p:cNvSpPr/>
            <p:nvPr/>
          </p:nvSpPr>
          <p:spPr>
            <a:xfrm>
              <a:off x="2436675" y="1905000"/>
              <a:ext cx="559800" cy="333900"/>
            </a:xfrm>
            <a:prstGeom prst="can">
              <a:avLst>
                <a:gd fmla="val 403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2" name="Google Shape;1392;p89"/>
            <p:cNvSpPr/>
            <p:nvPr/>
          </p:nvSpPr>
          <p:spPr>
            <a:xfrm>
              <a:off x="2130842" y="2153250"/>
              <a:ext cx="611100" cy="364500"/>
            </a:xfrm>
            <a:prstGeom prst="can">
              <a:avLst>
                <a:gd fmla="val 403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3" name="Google Shape;1393;p89"/>
          <p:cNvGrpSpPr/>
          <p:nvPr/>
        </p:nvGrpSpPr>
        <p:grpSpPr>
          <a:xfrm>
            <a:off x="601222" y="2775535"/>
            <a:ext cx="420721" cy="456264"/>
            <a:chOff x="5369297" y="1230126"/>
            <a:chExt cx="1030169" cy="1117200"/>
          </a:xfrm>
        </p:grpSpPr>
        <p:sp>
          <p:nvSpPr>
            <p:cNvPr id="1394" name="Google Shape;1394;p89"/>
            <p:cNvSpPr/>
            <p:nvPr/>
          </p:nvSpPr>
          <p:spPr>
            <a:xfrm>
              <a:off x="5369297" y="1230126"/>
              <a:ext cx="837900" cy="1117200"/>
            </a:xfrm>
            <a:prstGeom prst="cube">
              <a:avLst>
                <a:gd fmla="val 49113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95" name="Google Shape;1395;p89"/>
            <p:cNvGrpSpPr/>
            <p:nvPr/>
          </p:nvGrpSpPr>
          <p:grpSpPr>
            <a:xfrm flipH="1" rot="5400000">
              <a:off x="5715001" y="1492400"/>
              <a:ext cx="801602" cy="567330"/>
              <a:chOff x="5638837" y="1263835"/>
              <a:chExt cx="801602" cy="567330"/>
            </a:xfrm>
          </p:grpSpPr>
          <p:sp>
            <p:nvSpPr>
              <p:cNvPr id="1396" name="Google Shape;1396;p89"/>
              <p:cNvSpPr/>
              <p:nvPr/>
            </p:nvSpPr>
            <p:spPr>
              <a:xfrm>
                <a:off x="5922039" y="1263835"/>
                <a:ext cx="518400" cy="309000"/>
              </a:xfrm>
              <a:prstGeom prst="can">
                <a:avLst>
                  <a:gd fmla="val 403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97" name="Google Shape;1397;p89"/>
              <p:cNvSpPr/>
              <p:nvPr/>
            </p:nvSpPr>
            <p:spPr>
              <a:xfrm>
                <a:off x="5638837" y="1493665"/>
                <a:ext cx="565800" cy="337500"/>
              </a:xfrm>
              <a:prstGeom prst="can">
                <a:avLst>
                  <a:gd fmla="val 403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98" name="Google Shape;1398;p89"/>
          <p:cNvGrpSpPr/>
          <p:nvPr/>
        </p:nvGrpSpPr>
        <p:grpSpPr>
          <a:xfrm>
            <a:off x="2974790" y="2678467"/>
            <a:ext cx="326330" cy="557780"/>
            <a:chOff x="6752450" y="1106973"/>
            <a:chExt cx="706800" cy="1208100"/>
          </a:xfrm>
        </p:grpSpPr>
        <p:sp>
          <p:nvSpPr>
            <p:cNvPr id="1399" name="Google Shape;1399;p89"/>
            <p:cNvSpPr/>
            <p:nvPr/>
          </p:nvSpPr>
          <p:spPr>
            <a:xfrm>
              <a:off x="6752450" y="1106973"/>
              <a:ext cx="706800" cy="1208100"/>
            </a:xfrm>
            <a:prstGeom prst="cube">
              <a:avLst>
                <a:gd fmla="val 18987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0" name="Google Shape;1400;p89"/>
            <p:cNvSpPr/>
            <p:nvPr/>
          </p:nvSpPr>
          <p:spPr>
            <a:xfrm>
              <a:off x="6847462" y="1329972"/>
              <a:ext cx="395400" cy="395400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1" name="Google Shape;1401;p89"/>
            <p:cNvSpPr/>
            <p:nvPr/>
          </p:nvSpPr>
          <p:spPr>
            <a:xfrm>
              <a:off x="6808303" y="1355840"/>
              <a:ext cx="395400" cy="395400"/>
            </a:xfrm>
            <a:prstGeom prst="ellipse">
              <a:avLst/>
            </a:prstGeom>
            <a:solidFill>
              <a:srgbClr val="B59CE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2" name="Google Shape;1402;p89"/>
            <p:cNvSpPr/>
            <p:nvPr/>
          </p:nvSpPr>
          <p:spPr>
            <a:xfrm>
              <a:off x="6847462" y="1824301"/>
              <a:ext cx="395400" cy="395400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3" name="Google Shape;1403;p89"/>
            <p:cNvSpPr/>
            <p:nvPr/>
          </p:nvSpPr>
          <p:spPr>
            <a:xfrm>
              <a:off x="6803632" y="1850168"/>
              <a:ext cx="395400" cy="395400"/>
            </a:xfrm>
            <a:prstGeom prst="ellipse">
              <a:avLst/>
            </a:prstGeom>
            <a:solidFill>
              <a:srgbClr val="B59CE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4" name="Google Shape;1404;p89"/>
          <p:cNvGrpSpPr/>
          <p:nvPr/>
        </p:nvGrpSpPr>
        <p:grpSpPr>
          <a:xfrm>
            <a:off x="2901140" y="2014371"/>
            <a:ext cx="532500" cy="451850"/>
            <a:chOff x="1929979" y="1539288"/>
            <a:chExt cx="532500" cy="451850"/>
          </a:xfrm>
        </p:grpSpPr>
        <p:grpSp>
          <p:nvGrpSpPr>
            <p:cNvPr id="1405" name="Google Shape;1405;p89"/>
            <p:cNvGrpSpPr/>
            <p:nvPr/>
          </p:nvGrpSpPr>
          <p:grpSpPr>
            <a:xfrm>
              <a:off x="2056463" y="1759440"/>
              <a:ext cx="327374" cy="231697"/>
              <a:chOff x="1752637" y="1416235"/>
              <a:chExt cx="801602" cy="567330"/>
            </a:xfrm>
          </p:grpSpPr>
          <p:sp>
            <p:nvSpPr>
              <p:cNvPr id="1406" name="Google Shape;1406;p89"/>
              <p:cNvSpPr/>
              <p:nvPr/>
            </p:nvSpPr>
            <p:spPr>
              <a:xfrm>
                <a:off x="2035839" y="1416235"/>
                <a:ext cx="518400" cy="309000"/>
              </a:xfrm>
              <a:prstGeom prst="can">
                <a:avLst>
                  <a:gd fmla="val 403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07" name="Google Shape;1407;p89"/>
              <p:cNvSpPr/>
              <p:nvPr/>
            </p:nvSpPr>
            <p:spPr>
              <a:xfrm>
                <a:off x="1752637" y="1646065"/>
                <a:ext cx="565800" cy="337500"/>
              </a:xfrm>
              <a:prstGeom prst="can">
                <a:avLst>
                  <a:gd fmla="val 40305" name="adj"/>
                </a:avLst>
              </a:pr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408" name="Google Shape;1408;p89"/>
            <p:cNvSpPr/>
            <p:nvPr/>
          </p:nvSpPr>
          <p:spPr>
            <a:xfrm>
              <a:off x="1929979" y="1539288"/>
              <a:ext cx="532500" cy="408300"/>
            </a:xfrm>
            <a:prstGeom prst="cube">
              <a:avLst>
                <a:gd fmla="val 51105" name="adj"/>
              </a:avLst>
            </a:pr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9" name="Google Shape;1409;p89"/>
            <p:cNvSpPr/>
            <p:nvPr/>
          </p:nvSpPr>
          <p:spPr>
            <a:xfrm rot="-168736">
              <a:off x="2035384" y="1645026"/>
              <a:ext cx="256809" cy="72689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0" name="Google Shape;1410;p89"/>
            <p:cNvSpPr/>
            <p:nvPr/>
          </p:nvSpPr>
          <p:spPr>
            <a:xfrm rot="-168736">
              <a:off x="2118151" y="1556774"/>
              <a:ext cx="256809" cy="72689"/>
            </a:xfrm>
            <a:prstGeom prst="ellipse">
              <a:avLst/>
            </a:prstGeom>
            <a:solidFill>
              <a:srgbClr val="6A48A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11" name="Google Shape;1411;p89"/>
          <p:cNvSpPr txBox="1"/>
          <p:nvPr>
            <p:ph idx="4294967295" type="body"/>
          </p:nvPr>
        </p:nvSpPr>
        <p:spPr>
          <a:xfrm>
            <a:off x="1230100" y="2082025"/>
            <a:ext cx="7041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 - up</a:t>
            </a:r>
            <a:endParaRPr sz="1600"/>
          </a:p>
        </p:txBody>
      </p:sp>
      <p:sp>
        <p:nvSpPr>
          <p:cNvPr id="1412" name="Google Shape;1412;p89"/>
          <p:cNvSpPr txBox="1"/>
          <p:nvPr>
            <p:ph idx="4294967295" type="body"/>
          </p:nvPr>
        </p:nvSpPr>
        <p:spPr>
          <a:xfrm>
            <a:off x="3515589" y="2077526"/>
            <a:ext cx="9945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 - down</a:t>
            </a:r>
            <a:endParaRPr sz="1600"/>
          </a:p>
        </p:txBody>
      </p:sp>
      <p:sp>
        <p:nvSpPr>
          <p:cNvPr id="1413" name="Google Shape;1413;p89"/>
          <p:cNvSpPr txBox="1"/>
          <p:nvPr>
            <p:ph idx="4294967295" type="body"/>
          </p:nvPr>
        </p:nvSpPr>
        <p:spPr>
          <a:xfrm>
            <a:off x="1226161" y="2850800"/>
            <a:ext cx="13836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 - long face</a:t>
            </a:r>
            <a:endParaRPr sz="1600"/>
          </a:p>
        </p:txBody>
      </p:sp>
      <p:sp>
        <p:nvSpPr>
          <p:cNvPr id="1414" name="Google Shape;1414;p89"/>
          <p:cNvSpPr txBox="1"/>
          <p:nvPr>
            <p:ph idx="4294967295" type="body"/>
          </p:nvPr>
        </p:nvSpPr>
        <p:spPr>
          <a:xfrm>
            <a:off x="3502843" y="2841078"/>
            <a:ext cx="13836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 - short face</a:t>
            </a:r>
            <a:endParaRPr sz="1600"/>
          </a:p>
        </p:txBody>
      </p:sp>
      <p:cxnSp>
        <p:nvCxnSpPr>
          <p:cNvPr id="1415" name="Google Shape;1415;p89"/>
          <p:cNvCxnSpPr/>
          <p:nvPr/>
        </p:nvCxnSpPr>
        <p:spPr>
          <a:xfrm>
            <a:off x="6047444" y="3012809"/>
            <a:ext cx="232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6" name="Google Shape;1416;p89"/>
          <p:cNvCxnSpPr/>
          <p:nvPr/>
        </p:nvCxnSpPr>
        <p:spPr>
          <a:xfrm rot="10800000">
            <a:off x="6047444" y="1680594"/>
            <a:ext cx="0" cy="1337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7" name="Google Shape;1417;p89"/>
          <p:cNvCxnSpPr/>
          <p:nvPr/>
        </p:nvCxnSpPr>
        <p:spPr>
          <a:xfrm rot="10800000">
            <a:off x="5974774" y="3008489"/>
            <a:ext cx="8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8" name="Google Shape;1418;p89"/>
          <p:cNvCxnSpPr/>
          <p:nvPr/>
        </p:nvCxnSpPr>
        <p:spPr>
          <a:xfrm rot="10800000">
            <a:off x="5974774" y="2740173"/>
            <a:ext cx="8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9" name="Google Shape;1419;p89"/>
          <p:cNvCxnSpPr/>
          <p:nvPr/>
        </p:nvCxnSpPr>
        <p:spPr>
          <a:xfrm rot="10800000">
            <a:off x="5974774" y="1935224"/>
            <a:ext cx="8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0" name="Google Shape;1420;p89"/>
          <p:cNvSpPr txBox="1"/>
          <p:nvPr>
            <p:ph idx="4294967295" type="body"/>
          </p:nvPr>
        </p:nvSpPr>
        <p:spPr>
          <a:xfrm>
            <a:off x="5839078" y="1812060"/>
            <a:ext cx="1629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421" name="Google Shape;1421;p89"/>
          <p:cNvSpPr txBox="1"/>
          <p:nvPr>
            <p:ph idx="4294967295" type="body"/>
          </p:nvPr>
        </p:nvSpPr>
        <p:spPr>
          <a:xfrm>
            <a:off x="5839325" y="2880746"/>
            <a:ext cx="1353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422" name="Google Shape;1422;p89"/>
          <p:cNvSpPr txBox="1"/>
          <p:nvPr>
            <p:ph idx="4294967295" type="body"/>
          </p:nvPr>
        </p:nvSpPr>
        <p:spPr>
          <a:xfrm>
            <a:off x="6372725" y="2993735"/>
            <a:ext cx="2328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423" name="Google Shape;1423;p89"/>
          <p:cNvSpPr txBox="1"/>
          <p:nvPr>
            <p:ph idx="4294967295" type="body"/>
          </p:nvPr>
        </p:nvSpPr>
        <p:spPr>
          <a:xfrm>
            <a:off x="6846277" y="2993735"/>
            <a:ext cx="2328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424" name="Google Shape;1424;p89"/>
          <p:cNvSpPr txBox="1"/>
          <p:nvPr>
            <p:ph idx="4294967295" type="body"/>
          </p:nvPr>
        </p:nvSpPr>
        <p:spPr>
          <a:xfrm>
            <a:off x="7303477" y="2993735"/>
            <a:ext cx="2328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425" name="Google Shape;1425;p89"/>
          <p:cNvSpPr txBox="1"/>
          <p:nvPr>
            <p:ph idx="4294967295" type="body"/>
          </p:nvPr>
        </p:nvSpPr>
        <p:spPr>
          <a:xfrm>
            <a:off x="7800553" y="2993735"/>
            <a:ext cx="2328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426" name="Google Shape;1426;p89"/>
          <p:cNvSpPr txBox="1"/>
          <p:nvPr>
            <p:ph idx="4294967295" type="body"/>
          </p:nvPr>
        </p:nvSpPr>
        <p:spPr>
          <a:xfrm rot="-5400000">
            <a:off x="5019157" y="2307946"/>
            <a:ext cx="9945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frequency</a:t>
            </a:r>
            <a:endParaRPr sz="1600"/>
          </a:p>
        </p:txBody>
      </p:sp>
      <p:cxnSp>
        <p:nvCxnSpPr>
          <p:cNvPr id="1427" name="Google Shape;1427;p89"/>
          <p:cNvCxnSpPr/>
          <p:nvPr/>
        </p:nvCxnSpPr>
        <p:spPr>
          <a:xfrm rot="10800000">
            <a:off x="5974774" y="2203540"/>
            <a:ext cx="8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8" name="Google Shape;1428;p89"/>
          <p:cNvCxnSpPr/>
          <p:nvPr/>
        </p:nvCxnSpPr>
        <p:spPr>
          <a:xfrm rot="10800000">
            <a:off x="5974774" y="2471856"/>
            <a:ext cx="8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9" name="Google Shape;1429;p89"/>
          <p:cNvSpPr txBox="1"/>
          <p:nvPr>
            <p:ph idx="4294967295" type="body"/>
          </p:nvPr>
        </p:nvSpPr>
        <p:spPr>
          <a:xfrm>
            <a:off x="5839078" y="2072793"/>
            <a:ext cx="1629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430" name="Google Shape;1430;p89"/>
          <p:cNvSpPr txBox="1"/>
          <p:nvPr>
            <p:ph idx="4294967295" type="body"/>
          </p:nvPr>
        </p:nvSpPr>
        <p:spPr>
          <a:xfrm>
            <a:off x="5839078" y="2338115"/>
            <a:ext cx="1629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431" name="Google Shape;1431;p89"/>
          <p:cNvSpPr txBox="1"/>
          <p:nvPr>
            <p:ph idx="4294967295" type="body"/>
          </p:nvPr>
        </p:nvSpPr>
        <p:spPr>
          <a:xfrm>
            <a:off x="5839078" y="2608029"/>
            <a:ext cx="1629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1432" name="Google Shape;1432;p89"/>
          <p:cNvSpPr txBox="1"/>
          <p:nvPr/>
        </p:nvSpPr>
        <p:spPr>
          <a:xfrm>
            <a:off x="7446631" y="4413775"/>
            <a:ext cx="10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certain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3" name="Google Shape;1433;p89"/>
          <p:cNvSpPr txBox="1"/>
          <p:nvPr/>
        </p:nvSpPr>
        <p:spPr>
          <a:xfrm>
            <a:off x="454605" y="4413775"/>
            <a:ext cx="143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impossible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4" name="Google Shape;1434;p89"/>
          <p:cNvSpPr txBox="1"/>
          <p:nvPr/>
        </p:nvSpPr>
        <p:spPr>
          <a:xfrm>
            <a:off x="2374024" y="4369817"/>
            <a:ext cx="109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unlikely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5" name="Google Shape;1435;p89"/>
          <p:cNvSpPr txBox="1"/>
          <p:nvPr/>
        </p:nvSpPr>
        <p:spPr>
          <a:xfrm>
            <a:off x="6028427" y="4369817"/>
            <a:ext cx="79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likely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6" name="Google Shape;1436;p89"/>
          <p:cNvSpPr txBox="1"/>
          <p:nvPr/>
        </p:nvSpPr>
        <p:spPr>
          <a:xfrm>
            <a:off x="3879483" y="4413775"/>
            <a:ext cx="138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even chance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437" name="Google Shape;1437;p89"/>
          <p:cNvGrpSpPr/>
          <p:nvPr/>
        </p:nvGrpSpPr>
        <p:grpSpPr>
          <a:xfrm>
            <a:off x="1162856" y="4243387"/>
            <a:ext cx="6838200" cy="238354"/>
            <a:chOff x="1260861" y="3941077"/>
            <a:chExt cx="6838200" cy="658800"/>
          </a:xfrm>
        </p:grpSpPr>
        <p:cxnSp>
          <p:nvCxnSpPr>
            <p:cNvPr id="1438" name="Google Shape;1438;p89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9" name="Google Shape;1439;p89"/>
            <p:cNvCxnSpPr/>
            <p:nvPr/>
          </p:nvCxnSpPr>
          <p:spPr>
            <a:xfrm>
              <a:off x="1260883" y="3941077"/>
              <a:ext cx="0" cy="65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0" name="Google Shape;1440;p89"/>
            <p:cNvCxnSpPr/>
            <p:nvPr/>
          </p:nvCxnSpPr>
          <p:spPr>
            <a:xfrm>
              <a:off x="8088215" y="3941077"/>
              <a:ext cx="0" cy="65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1" name="Google Shape;1441;p89"/>
            <p:cNvCxnSpPr/>
            <p:nvPr/>
          </p:nvCxnSpPr>
          <p:spPr>
            <a:xfrm>
              <a:off x="4674549" y="3941077"/>
              <a:ext cx="0" cy="65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2" name="Google Shape;1442;p89"/>
            <p:cNvCxnSpPr/>
            <p:nvPr/>
          </p:nvCxnSpPr>
          <p:spPr>
            <a:xfrm>
              <a:off x="1365339" y="4553655"/>
              <a:ext cx="3221100" cy="0"/>
            </a:xfrm>
            <a:prstGeom prst="straightConnector1">
              <a:avLst/>
            </a:prstGeom>
            <a:noFill/>
            <a:ln cap="flat" cmpd="sng" w="28575">
              <a:solidFill>
                <a:srgbClr val="59595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443" name="Google Shape;1443;p89"/>
            <p:cNvCxnSpPr/>
            <p:nvPr/>
          </p:nvCxnSpPr>
          <p:spPr>
            <a:xfrm>
              <a:off x="4774394" y="4553655"/>
              <a:ext cx="3221100" cy="0"/>
            </a:xfrm>
            <a:prstGeom prst="straightConnector1">
              <a:avLst/>
            </a:prstGeom>
            <a:noFill/>
            <a:ln cap="flat" cmpd="sng" w="28575">
              <a:solidFill>
                <a:srgbClr val="59595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444" name="Google Shape;1444;p89"/>
          <p:cNvSpPr txBox="1"/>
          <p:nvPr/>
        </p:nvSpPr>
        <p:spPr>
          <a:xfrm>
            <a:off x="3573029" y="3933600"/>
            <a:ext cx="32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5" name="Google Shape;1445;p89"/>
          <p:cNvSpPr txBox="1"/>
          <p:nvPr/>
        </p:nvSpPr>
        <p:spPr>
          <a:xfrm>
            <a:off x="1668029" y="3933600"/>
            <a:ext cx="32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D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6" name="Google Shape;1446;p89"/>
          <p:cNvSpPr txBox="1"/>
          <p:nvPr/>
        </p:nvSpPr>
        <p:spPr>
          <a:xfrm>
            <a:off x="2049029" y="3933600"/>
            <a:ext cx="32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7" name="Google Shape;1447;p89"/>
          <p:cNvSpPr txBox="1"/>
          <p:nvPr/>
        </p:nvSpPr>
        <p:spPr>
          <a:xfrm>
            <a:off x="2582429" y="3933600"/>
            <a:ext cx="32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experiments</a:t>
            </a:r>
            <a:endParaRPr/>
          </a:p>
        </p:txBody>
      </p:sp>
      <p:sp>
        <p:nvSpPr>
          <p:cNvPr id="1453" name="Google Shape;1453;p90"/>
          <p:cNvSpPr txBox="1"/>
          <p:nvPr>
            <p:ph idx="1" type="body"/>
          </p:nvPr>
        </p:nvSpPr>
        <p:spPr>
          <a:xfrm>
            <a:off x="315675" y="850101"/>
            <a:ext cx="8484900" cy="196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Use the link to access a simulation of this experiment: </a:t>
            </a:r>
            <a:r>
              <a:rPr lang="en-GB" sz="1800" u="sng">
                <a:solidFill>
                  <a:schemeClr val="hlink"/>
                </a:solidFill>
                <a:hlinkClick r:id="rId3"/>
              </a:rPr>
              <a:t>Toy brick simulation</a:t>
            </a:r>
            <a:r>
              <a:rPr lang="en-GB" sz="1800"/>
              <a:t>🖇</a:t>
            </a:r>
            <a:br>
              <a:rPr lang="en-GB" sz="1800"/>
            </a:br>
            <a:r>
              <a:rPr lang="en-GB" sz="1800"/>
              <a:t>Press the ‘run’ button to begin the simulation and the ‘reset’ button to </a:t>
            </a:r>
            <a:r>
              <a:rPr lang="en-GB" sz="1800"/>
              <a:t>start again</a:t>
            </a:r>
            <a:r>
              <a:rPr lang="en-GB" sz="1800"/>
              <a:t>.</a:t>
            </a:r>
            <a:br>
              <a:rPr lang="en-GB" sz="1800"/>
            </a:br>
            <a:r>
              <a:rPr lang="en-GB" sz="1800"/>
              <a:t>Try this </a:t>
            </a:r>
            <a:r>
              <a:rPr lang="en-GB" sz="1800">
                <a:solidFill>
                  <a:schemeClr val="accent4"/>
                </a:solidFill>
              </a:rPr>
              <a:t>multiple times</a:t>
            </a:r>
            <a:r>
              <a:rPr lang="en-GB" sz="1800"/>
              <a:t> with a </a:t>
            </a:r>
            <a:r>
              <a:rPr lang="en-GB" sz="1800">
                <a:solidFill>
                  <a:schemeClr val="accent4"/>
                </a:solidFill>
              </a:rPr>
              <a:t>large number of trials</a:t>
            </a:r>
            <a:r>
              <a:rPr lang="en-GB" sz="1800"/>
              <a:t> each time.</a:t>
            </a:r>
            <a:br>
              <a:rPr lang="en-GB" sz="1800"/>
            </a:br>
            <a:r>
              <a:rPr lang="en-GB" sz="1800"/>
              <a:t>How do the results affect your answers to part (a)?</a:t>
            </a:r>
            <a:endParaRPr sz="1800"/>
          </a:p>
        </p:txBody>
      </p:sp>
      <p:sp>
        <p:nvSpPr>
          <p:cNvPr id="1454" name="Google Shape;1454;p90"/>
          <p:cNvSpPr txBox="1"/>
          <p:nvPr>
            <p:ph idx="1" type="body"/>
          </p:nvPr>
        </p:nvSpPr>
        <p:spPr>
          <a:xfrm>
            <a:off x="315675" y="2912403"/>
            <a:ext cx="8199600" cy="9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 ‘When using a large number of trials (e.g. 1000) outcome C happens the most often, so appears to have the greatest likelihood. Outcome A happens the least often, so appears to have the least likelihood.’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5" name="Google Shape;1455;p90"/>
          <p:cNvSpPr txBox="1"/>
          <p:nvPr>
            <p:ph idx="1" type="body"/>
          </p:nvPr>
        </p:nvSpPr>
        <p:spPr>
          <a:xfrm>
            <a:off x="324006" y="4153053"/>
            <a:ext cx="68553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Answers may vary depending on results from the simulation.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9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Planning and conducting </a:t>
            </a:r>
            <a:r>
              <a:rPr b="1" lang="en-GB"/>
              <a:t>experiments</a:t>
            </a:r>
            <a:endParaRPr b="1"/>
          </a:p>
        </p:txBody>
      </p:sp>
      <p:sp>
        <p:nvSpPr>
          <p:cNvPr id="1461" name="Google Shape;1461;p9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Considering the number of trials required</a:t>
            </a:r>
            <a:endParaRPr b="1"/>
          </a:p>
        </p:txBody>
      </p:sp>
      <p:sp>
        <p:nvSpPr>
          <p:cNvPr id="1462" name="Google Shape;1462;p9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Experiments to determine how likely an outcome is</a:t>
            </a:r>
            <a:endParaRPr/>
          </a:p>
        </p:txBody>
      </p:sp>
      <p:pic>
        <p:nvPicPr>
          <p:cNvPr id="1463" name="Google Shape;146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750" y="298030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8" name="Google Shape;1468;p92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588450" y="1485050"/>
            <a:ext cx="3661476" cy="2443874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92"/>
          <p:cNvSpPr txBox="1"/>
          <p:nvPr>
            <p:ph idx="1" type="body"/>
          </p:nvPr>
        </p:nvSpPr>
        <p:spPr>
          <a:xfrm>
            <a:off x="324000" y="759300"/>
            <a:ext cx="82377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Laura and Andeep are playing a game that involves rolling a six-sided dice.</a:t>
            </a:r>
            <a:endParaRPr sz="2400"/>
          </a:p>
        </p:txBody>
      </p:sp>
      <p:sp>
        <p:nvSpPr>
          <p:cNvPr id="1470" name="Google Shape;1470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Considering the number of trials required</a:t>
            </a:r>
            <a:endParaRPr/>
          </a:p>
        </p:txBody>
      </p:sp>
      <p:pic>
        <p:nvPicPr>
          <p:cNvPr id="1471" name="Google Shape;1471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4668" y="3596810"/>
            <a:ext cx="546730" cy="704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2" name="Google Shape;1472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773" y="3614399"/>
            <a:ext cx="560185" cy="7336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3" name="Google Shape;1473;p92"/>
          <p:cNvSpPr txBox="1"/>
          <p:nvPr>
            <p:ph idx="1" type="body"/>
          </p:nvPr>
        </p:nvSpPr>
        <p:spPr>
          <a:xfrm>
            <a:off x="948275" y="1707925"/>
            <a:ext cx="3219300" cy="104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don’t think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/>
              <a:t>this dice is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fair</a:t>
            </a:r>
            <a:r>
              <a:rPr lang="en-GB" sz="1800"/>
              <a:t>. It keeps landing on some numbers more than others.</a:t>
            </a:r>
            <a:endParaRPr sz="1800"/>
          </a:p>
        </p:txBody>
      </p:sp>
      <p:pic>
        <p:nvPicPr>
          <p:cNvPr id="1474" name="Google Shape;1474;p92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5084252" y="2128600"/>
            <a:ext cx="3350523" cy="1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92"/>
          <p:cNvSpPr txBox="1"/>
          <p:nvPr>
            <p:ph idx="1" type="body"/>
          </p:nvPr>
        </p:nvSpPr>
        <p:spPr>
          <a:xfrm>
            <a:off x="5215475" y="2321200"/>
            <a:ext cx="3219300" cy="104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We could investigate whether the dice is fair by running an </a:t>
            </a:r>
            <a:r>
              <a:rPr b="1" lang="en-GB" sz="1800"/>
              <a:t>experiment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476" name="Google Shape;1476;p92"/>
          <p:cNvSpPr txBox="1"/>
          <p:nvPr>
            <p:ph idx="1" type="body"/>
          </p:nvPr>
        </p:nvSpPr>
        <p:spPr>
          <a:xfrm>
            <a:off x="362878" y="4514900"/>
            <a:ext cx="7885200" cy="38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How many times should they roll the dice during their </a:t>
            </a:r>
            <a:r>
              <a:rPr b="1" lang="en-GB" sz="1900"/>
              <a:t>experiment</a:t>
            </a:r>
            <a:r>
              <a:rPr lang="en-GB" sz="1900"/>
              <a:t>?</a:t>
            </a:r>
            <a:endParaRPr sz="1900"/>
          </a:p>
        </p:txBody>
      </p:sp>
      <p:sp>
        <p:nvSpPr>
          <p:cNvPr id="1477" name="Google Shape;1477;p92"/>
          <p:cNvSpPr txBox="1"/>
          <p:nvPr>
            <p:ph idx="1" type="body"/>
          </p:nvPr>
        </p:nvSpPr>
        <p:spPr>
          <a:xfrm>
            <a:off x="948275" y="2774725"/>
            <a:ext cx="32193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Perhaps is not weighted equally throughout the dice.</a:t>
            </a:r>
            <a:endParaRPr sz="1800"/>
          </a:p>
        </p:txBody>
      </p:sp>
      <p:sp>
        <p:nvSpPr>
          <p:cNvPr id="1478" name="Google Shape;1478;p92"/>
          <p:cNvSpPr/>
          <p:nvPr/>
        </p:nvSpPr>
        <p:spPr>
          <a:xfrm>
            <a:off x="7702600" y="1155403"/>
            <a:ext cx="995400" cy="936600"/>
          </a:xfrm>
          <a:prstGeom prst="cube">
            <a:avLst>
              <a:gd fmla="val 25000" name="adj"/>
            </a:avLst>
          </a:prstGeom>
          <a:solidFill>
            <a:srgbClr val="EEEEEE"/>
          </a:solidFill>
          <a:ln cap="flat" cmpd="sng" w="285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92"/>
          <p:cNvSpPr/>
          <p:nvPr/>
        </p:nvSpPr>
        <p:spPr>
          <a:xfrm rot="-5400000">
            <a:off x="8467977" y="1838625"/>
            <a:ext cx="128100" cy="456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92"/>
          <p:cNvSpPr/>
          <p:nvPr/>
        </p:nvSpPr>
        <p:spPr>
          <a:xfrm rot="-5400000">
            <a:off x="8514739" y="1620524"/>
            <a:ext cx="128100" cy="456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92"/>
          <p:cNvSpPr/>
          <p:nvPr/>
        </p:nvSpPr>
        <p:spPr>
          <a:xfrm rot="-5400000">
            <a:off x="8567322" y="1406832"/>
            <a:ext cx="128100" cy="456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92"/>
          <p:cNvSpPr/>
          <p:nvPr/>
        </p:nvSpPr>
        <p:spPr>
          <a:xfrm rot="-5400000">
            <a:off x="7842103" y="1909131"/>
            <a:ext cx="100200" cy="106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92"/>
          <p:cNvSpPr/>
          <p:nvPr/>
        </p:nvSpPr>
        <p:spPr>
          <a:xfrm rot="-5400000">
            <a:off x="8219110" y="1453227"/>
            <a:ext cx="100200" cy="106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92"/>
          <p:cNvSpPr/>
          <p:nvPr/>
        </p:nvSpPr>
        <p:spPr>
          <a:xfrm rot="-5400000">
            <a:off x="7842103" y="1453096"/>
            <a:ext cx="99900" cy="106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92"/>
          <p:cNvSpPr/>
          <p:nvPr/>
        </p:nvSpPr>
        <p:spPr>
          <a:xfrm rot="-5400000">
            <a:off x="8218927" y="1909131"/>
            <a:ext cx="100200" cy="106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92"/>
          <p:cNvSpPr/>
          <p:nvPr/>
        </p:nvSpPr>
        <p:spPr>
          <a:xfrm rot="-5400000">
            <a:off x="7842103" y="1679197"/>
            <a:ext cx="100200" cy="106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92"/>
          <p:cNvSpPr/>
          <p:nvPr/>
        </p:nvSpPr>
        <p:spPr>
          <a:xfrm rot="-5400000">
            <a:off x="8218927" y="1679197"/>
            <a:ext cx="100200" cy="106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92"/>
          <p:cNvSpPr/>
          <p:nvPr/>
        </p:nvSpPr>
        <p:spPr>
          <a:xfrm rot="-5400000">
            <a:off x="8269098" y="1244175"/>
            <a:ext cx="69900" cy="109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92"/>
          <p:cNvSpPr/>
          <p:nvPr/>
        </p:nvSpPr>
        <p:spPr>
          <a:xfrm rot="-5400000">
            <a:off x="7998884" y="1169320"/>
            <a:ext cx="67200" cy="1095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4" name="Google Shape;149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9871" y="2614965"/>
            <a:ext cx="2236576" cy="1668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5" name="Google Shape;1495;p93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617500" y="1216575"/>
            <a:ext cx="3804252" cy="1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6" name="Google Shape;1496;p93"/>
          <p:cNvSpPr txBox="1"/>
          <p:nvPr>
            <p:ph idx="1" type="body"/>
          </p:nvPr>
        </p:nvSpPr>
        <p:spPr>
          <a:xfrm>
            <a:off x="324000" y="759300"/>
            <a:ext cx="8237700" cy="5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They carry out an </a:t>
            </a:r>
            <a:r>
              <a:rPr b="1" lang="en-GB" sz="2000"/>
              <a:t>experiment</a:t>
            </a:r>
            <a:r>
              <a:rPr lang="en-GB" sz="2000"/>
              <a:t> by rolling the dice 120 times.</a:t>
            </a:r>
            <a:endParaRPr sz="2400"/>
          </a:p>
        </p:txBody>
      </p:sp>
      <p:sp>
        <p:nvSpPr>
          <p:cNvPr id="1497" name="Google Shape;149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Considering the number of trials required</a:t>
            </a:r>
            <a:endParaRPr/>
          </a:p>
        </p:txBody>
      </p:sp>
      <p:pic>
        <p:nvPicPr>
          <p:cNvPr id="1498" name="Google Shape;1498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4668" y="2682410"/>
            <a:ext cx="546730" cy="704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9" name="Google Shape;1499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1773" y="2623799"/>
            <a:ext cx="560185" cy="7336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0" name="Google Shape;1500;p93"/>
          <p:cNvSpPr txBox="1"/>
          <p:nvPr>
            <p:ph idx="1" type="body"/>
          </p:nvPr>
        </p:nvSpPr>
        <p:spPr>
          <a:xfrm>
            <a:off x="948275" y="1403125"/>
            <a:ext cx="3384900" cy="10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 told you that the dice wasn’t fair. The frequency for 5 is higher than the others.</a:t>
            </a:r>
            <a:endParaRPr sz="1800"/>
          </a:p>
        </p:txBody>
      </p:sp>
      <p:pic>
        <p:nvPicPr>
          <p:cNvPr id="1501" name="Google Shape;1501;p93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 flipH="1">
            <a:off x="4845797" y="1174324"/>
            <a:ext cx="3610772" cy="16441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2" name="Google Shape;1502;p93"/>
          <p:cNvSpPr txBox="1"/>
          <p:nvPr>
            <p:ph idx="1" type="body"/>
          </p:nvPr>
        </p:nvSpPr>
        <p:spPr>
          <a:xfrm>
            <a:off x="4986875" y="1254400"/>
            <a:ext cx="3298500" cy="13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But even when events have an equal chance of happening, </a:t>
            </a:r>
            <a:r>
              <a:rPr lang="en-GB" sz="1800">
                <a:solidFill>
                  <a:schemeClr val="accent5"/>
                </a:solidFill>
              </a:rPr>
              <a:t>one event can happen more than another</a:t>
            </a:r>
            <a:r>
              <a:rPr lang="en-GB" sz="1800"/>
              <a:t>.</a:t>
            </a:r>
            <a:r>
              <a:rPr lang="en-GB" sz="1800">
                <a:solidFill>
                  <a:srgbClr val="282828"/>
                </a:solidFill>
              </a:rPr>
              <a:t> </a:t>
            </a:r>
            <a:endParaRPr sz="1800">
              <a:solidFill>
                <a:srgbClr val="282828"/>
              </a:solidFill>
            </a:endParaRPr>
          </a:p>
        </p:txBody>
      </p:sp>
      <p:cxnSp>
        <p:nvCxnSpPr>
          <p:cNvPr id="1503" name="Google Shape;1503;p93"/>
          <p:cNvCxnSpPr/>
          <p:nvPr/>
        </p:nvCxnSpPr>
        <p:spPr>
          <a:xfrm rot="10800000">
            <a:off x="3494400" y="2499150"/>
            <a:ext cx="0" cy="1787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4" name="Google Shape;1504;p93"/>
          <p:cNvCxnSpPr/>
          <p:nvPr/>
        </p:nvCxnSpPr>
        <p:spPr>
          <a:xfrm>
            <a:off x="3472606" y="4277650"/>
            <a:ext cx="2491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5" name="Google Shape;1505;p93"/>
          <p:cNvSpPr txBox="1"/>
          <p:nvPr>
            <p:ph idx="1" type="body"/>
          </p:nvPr>
        </p:nvSpPr>
        <p:spPr>
          <a:xfrm>
            <a:off x="3775816" y="4277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</a:t>
            </a:r>
            <a:endParaRPr sz="1600"/>
          </a:p>
        </p:txBody>
      </p:sp>
      <p:sp>
        <p:nvSpPr>
          <p:cNvPr id="1506" name="Google Shape;1506;p93"/>
          <p:cNvSpPr txBox="1"/>
          <p:nvPr>
            <p:ph idx="1" type="body"/>
          </p:nvPr>
        </p:nvSpPr>
        <p:spPr>
          <a:xfrm>
            <a:off x="4095145" y="4277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1507" name="Google Shape;1507;p93"/>
          <p:cNvSpPr txBox="1"/>
          <p:nvPr>
            <p:ph idx="1" type="body"/>
          </p:nvPr>
        </p:nvSpPr>
        <p:spPr>
          <a:xfrm>
            <a:off x="4421740" y="4277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1508" name="Google Shape;1508;p93"/>
          <p:cNvSpPr txBox="1"/>
          <p:nvPr>
            <p:ph idx="1" type="body"/>
          </p:nvPr>
        </p:nvSpPr>
        <p:spPr>
          <a:xfrm>
            <a:off x="4741069" y="4277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509" name="Google Shape;1509;p93"/>
          <p:cNvSpPr txBox="1"/>
          <p:nvPr>
            <p:ph idx="1" type="body"/>
          </p:nvPr>
        </p:nvSpPr>
        <p:spPr>
          <a:xfrm>
            <a:off x="5060399" y="4277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510" name="Google Shape;1510;p93"/>
          <p:cNvSpPr txBox="1"/>
          <p:nvPr>
            <p:ph idx="1" type="body"/>
          </p:nvPr>
        </p:nvSpPr>
        <p:spPr>
          <a:xfrm>
            <a:off x="5379729" y="4277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511" name="Google Shape;1511;p93"/>
          <p:cNvSpPr txBox="1"/>
          <p:nvPr>
            <p:ph idx="1" type="body"/>
          </p:nvPr>
        </p:nvSpPr>
        <p:spPr>
          <a:xfrm>
            <a:off x="3318616" y="41252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512" name="Google Shape;1512;p93"/>
          <p:cNvSpPr txBox="1"/>
          <p:nvPr>
            <p:ph idx="1" type="body"/>
          </p:nvPr>
        </p:nvSpPr>
        <p:spPr>
          <a:xfrm>
            <a:off x="3242416" y="3670468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513" name="Google Shape;1513;p93"/>
          <p:cNvSpPr txBox="1"/>
          <p:nvPr>
            <p:ph idx="1" type="body"/>
          </p:nvPr>
        </p:nvSpPr>
        <p:spPr>
          <a:xfrm>
            <a:off x="3242416" y="3215685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514" name="Google Shape;1514;p93"/>
          <p:cNvSpPr txBox="1"/>
          <p:nvPr>
            <p:ph idx="1" type="body"/>
          </p:nvPr>
        </p:nvSpPr>
        <p:spPr>
          <a:xfrm>
            <a:off x="3242416" y="2760903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30</a:t>
            </a:r>
            <a:endParaRPr sz="1600"/>
          </a:p>
        </p:txBody>
      </p:sp>
      <p:sp>
        <p:nvSpPr>
          <p:cNvPr id="1515" name="Google Shape;1515;p93"/>
          <p:cNvSpPr txBox="1"/>
          <p:nvPr>
            <p:ph idx="1" type="body"/>
          </p:nvPr>
        </p:nvSpPr>
        <p:spPr>
          <a:xfrm>
            <a:off x="3942777" y="4506250"/>
            <a:ext cx="16368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number rolled</a:t>
            </a:r>
            <a:endParaRPr sz="1600"/>
          </a:p>
        </p:txBody>
      </p:sp>
      <p:sp>
        <p:nvSpPr>
          <p:cNvPr id="1516" name="Google Shape;1516;p93"/>
          <p:cNvSpPr txBox="1"/>
          <p:nvPr>
            <p:ph idx="1" type="body"/>
          </p:nvPr>
        </p:nvSpPr>
        <p:spPr>
          <a:xfrm rot="-5400000">
            <a:off x="2468047" y="3309625"/>
            <a:ext cx="11163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frequency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1" name="Google Shape;1521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9075" y="2784060"/>
            <a:ext cx="2176749" cy="1496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2" name="Google Shape;1522;p94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617500" y="1061506"/>
            <a:ext cx="3102100" cy="17350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3" name="Google Shape;1523;p94"/>
          <p:cNvSpPr txBox="1"/>
          <p:nvPr>
            <p:ph idx="1" type="body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They carry out the </a:t>
            </a:r>
            <a:r>
              <a:rPr b="1" lang="en-GB" sz="2000"/>
              <a:t>experiment</a:t>
            </a:r>
            <a:r>
              <a:rPr lang="en-GB" sz="2000"/>
              <a:t> again by rolling the dice 120 times.</a:t>
            </a:r>
            <a:endParaRPr sz="2400"/>
          </a:p>
        </p:txBody>
      </p:sp>
      <p:sp>
        <p:nvSpPr>
          <p:cNvPr id="1524" name="Google Shape;152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Considering the number of trials required</a:t>
            </a:r>
            <a:endParaRPr/>
          </a:p>
        </p:txBody>
      </p:sp>
      <p:pic>
        <p:nvPicPr>
          <p:cNvPr id="1525" name="Google Shape;1525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4668" y="2682410"/>
            <a:ext cx="546730" cy="704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6" name="Google Shape;1526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1773" y="2623799"/>
            <a:ext cx="560185" cy="733674"/>
          </a:xfrm>
          <a:prstGeom prst="rect">
            <a:avLst/>
          </a:prstGeom>
          <a:noFill/>
          <a:ln>
            <a:noFill/>
          </a:ln>
        </p:spPr>
      </p:pic>
      <p:sp>
        <p:nvSpPr>
          <p:cNvPr id="1527" name="Google Shape;1527;p94"/>
          <p:cNvSpPr txBox="1"/>
          <p:nvPr>
            <p:ph idx="1" type="body"/>
          </p:nvPr>
        </p:nvSpPr>
        <p:spPr>
          <a:xfrm>
            <a:off x="948275" y="1174525"/>
            <a:ext cx="2807700" cy="127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Hmm, the results look quite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different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/>
              <a:t>this time. Now I’m not sure whether the dice is fair.</a:t>
            </a:r>
            <a:endParaRPr sz="1800"/>
          </a:p>
        </p:txBody>
      </p:sp>
      <p:pic>
        <p:nvPicPr>
          <p:cNvPr id="1528" name="Google Shape;1528;p94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 flipH="1">
            <a:off x="4264452" y="1083350"/>
            <a:ext cx="4192123" cy="17350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9" name="Google Shape;1529;p94"/>
          <p:cNvSpPr txBox="1"/>
          <p:nvPr>
            <p:ph idx="1" type="body"/>
          </p:nvPr>
        </p:nvSpPr>
        <p:spPr>
          <a:xfrm>
            <a:off x="4489825" y="1178200"/>
            <a:ext cx="3643200" cy="13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Maybe 120 trials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isn’t enough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/>
              <a:t>to make a reliable conclusion.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 wonder what would happen if we ran a lot </a:t>
            </a:r>
            <a:r>
              <a:rPr lang="en-GB" sz="1800">
                <a:solidFill>
                  <a:schemeClr val="accent5"/>
                </a:solidFill>
              </a:rPr>
              <a:t>more trials</a:t>
            </a:r>
            <a:r>
              <a:rPr lang="en-GB" sz="1800"/>
              <a:t>.</a:t>
            </a:r>
            <a:r>
              <a:rPr lang="en-GB" sz="1800">
                <a:solidFill>
                  <a:srgbClr val="282828"/>
                </a:solidFill>
              </a:rPr>
              <a:t> </a:t>
            </a:r>
            <a:endParaRPr sz="1800">
              <a:solidFill>
                <a:srgbClr val="282828"/>
              </a:solidFill>
            </a:endParaRPr>
          </a:p>
        </p:txBody>
      </p:sp>
      <p:cxnSp>
        <p:nvCxnSpPr>
          <p:cNvPr id="1530" name="Google Shape;1530;p94"/>
          <p:cNvCxnSpPr/>
          <p:nvPr/>
        </p:nvCxnSpPr>
        <p:spPr>
          <a:xfrm rot="10800000">
            <a:off x="3494400" y="2499150"/>
            <a:ext cx="0" cy="1787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1" name="Google Shape;1531;p94"/>
          <p:cNvCxnSpPr/>
          <p:nvPr/>
        </p:nvCxnSpPr>
        <p:spPr>
          <a:xfrm>
            <a:off x="3472606" y="4277650"/>
            <a:ext cx="2491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2" name="Google Shape;1532;p94"/>
          <p:cNvSpPr txBox="1"/>
          <p:nvPr>
            <p:ph idx="1" type="body"/>
          </p:nvPr>
        </p:nvSpPr>
        <p:spPr>
          <a:xfrm>
            <a:off x="3775816" y="4277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1</a:t>
            </a:r>
            <a:endParaRPr sz="1600"/>
          </a:p>
        </p:txBody>
      </p:sp>
      <p:sp>
        <p:nvSpPr>
          <p:cNvPr id="1533" name="Google Shape;1533;p94"/>
          <p:cNvSpPr txBox="1"/>
          <p:nvPr>
            <p:ph idx="1" type="body"/>
          </p:nvPr>
        </p:nvSpPr>
        <p:spPr>
          <a:xfrm>
            <a:off x="4095145" y="4277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2</a:t>
            </a:r>
            <a:endParaRPr sz="1600"/>
          </a:p>
        </p:txBody>
      </p:sp>
      <p:sp>
        <p:nvSpPr>
          <p:cNvPr id="1534" name="Google Shape;1534;p94"/>
          <p:cNvSpPr txBox="1"/>
          <p:nvPr>
            <p:ph idx="1" type="body"/>
          </p:nvPr>
        </p:nvSpPr>
        <p:spPr>
          <a:xfrm>
            <a:off x="4421740" y="4277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3</a:t>
            </a:r>
            <a:endParaRPr sz="1600"/>
          </a:p>
        </p:txBody>
      </p:sp>
      <p:sp>
        <p:nvSpPr>
          <p:cNvPr id="1535" name="Google Shape;1535;p94"/>
          <p:cNvSpPr txBox="1"/>
          <p:nvPr>
            <p:ph idx="1" type="body"/>
          </p:nvPr>
        </p:nvSpPr>
        <p:spPr>
          <a:xfrm>
            <a:off x="4741069" y="4277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4</a:t>
            </a:r>
            <a:endParaRPr sz="1600"/>
          </a:p>
        </p:txBody>
      </p:sp>
      <p:sp>
        <p:nvSpPr>
          <p:cNvPr id="1536" name="Google Shape;1536;p94"/>
          <p:cNvSpPr txBox="1"/>
          <p:nvPr>
            <p:ph idx="1" type="body"/>
          </p:nvPr>
        </p:nvSpPr>
        <p:spPr>
          <a:xfrm>
            <a:off x="5060399" y="4277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5</a:t>
            </a:r>
            <a:endParaRPr sz="1600"/>
          </a:p>
        </p:txBody>
      </p:sp>
      <p:sp>
        <p:nvSpPr>
          <p:cNvPr id="1537" name="Google Shape;1537;p94"/>
          <p:cNvSpPr txBox="1"/>
          <p:nvPr>
            <p:ph idx="1" type="body"/>
          </p:nvPr>
        </p:nvSpPr>
        <p:spPr>
          <a:xfrm>
            <a:off x="5379729" y="4277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6</a:t>
            </a:r>
            <a:endParaRPr sz="1600"/>
          </a:p>
        </p:txBody>
      </p:sp>
      <p:sp>
        <p:nvSpPr>
          <p:cNvPr id="1538" name="Google Shape;1538;p94"/>
          <p:cNvSpPr txBox="1"/>
          <p:nvPr>
            <p:ph idx="1" type="body"/>
          </p:nvPr>
        </p:nvSpPr>
        <p:spPr>
          <a:xfrm>
            <a:off x="3942777" y="4506250"/>
            <a:ext cx="16368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number rolled</a:t>
            </a:r>
            <a:endParaRPr sz="1600"/>
          </a:p>
        </p:txBody>
      </p:sp>
      <p:sp>
        <p:nvSpPr>
          <p:cNvPr id="1539" name="Google Shape;1539;p94"/>
          <p:cNvSpPr txBox="1"/>
          <p:nvPr>
            <p:ph idx="1" type="body"/>
          </p:nvPr>
        </p:nvSpPr>
        <p:spPr>
          <a:xfrm rot="-5400000">
            <a:off x="2468047" y="3309625"/>
            <a:ext cx="11163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frequency</a:t>
            </a:r>
            <a:endParaRPr sz="1600"/>
          </a:p>
        </p:txBody>
      </p:sp>
      <p:sp>
        <p:nvSpPr>
          <p:cNvPr id="1540" name="Google Shape;1540;p94"/>
          <p:cNvSpPr txBox="1"/>
          <p:nvPr>
            <p:ph idx="1" type="body"/>
          </p:nvPr>
        </p:nvSpPr>
        <p:spPr>
          <a:xfrm>
            <a:off x="3318616" y="41252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0</a:t>
            </a:r>
            <a:endParaRPr sz="1600"/>
          </a:p>
        </p:txBody>
      </p:sp>
      <p:sp>
        <p:nvSpPr>
          <p:cNvPr id="1541" name="Google Shape;1541;p94"/>
          <p:cNvSpPr txBox="1"/>
          <p:nvPr>
            <p:ph idx="1" type="body"/>
          </p:nvPr>
        </p:nvSpPr>
        <p:spPr>
          <a:xfrm>
            <a:off x="3242416" y="3670468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10</a:t>
            </a:r>
            <a:endParaRPr sz="1600"/>
          </a:p>
        </p:txBody>
      </p:sp>
      <p:sp>
        <p:nvSpPr>
          <p:cNvPr id="1542" name="Google Shape;1542;p94"/>
          <p:cNvSpPr txBox="1"/>
          <p:nvPr>
            <p:ph idx="1" type="body"/>
          </p:nvPr>
        </p:nvSpPr>
        <p:spPr>
          <a:xfrm>
            <a:off x="3242416" y="3215685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20</a:t>
            </a:r>
            <a:endParaRPr sz="1600"/>
          </a:p>
        </p:txBody>
      </p:sp>
      <p:sp>
        <p:nvSpPr>
          <p:cNvPr id="1543" name="Google Shape;1543;p94"/>
          <p:cNvSpPr txBox="1"/>
          <p:nvPr>
            <p:ph idx="1" type="body"/>
          </p:nvPr>
        </p:nvSpPr>
        <p:spPr>
          <a:xfrm>
            <a:off x="3242416" y="2760903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30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8" name="Google Shape;154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3875" y="2834725"/>
            <a:ext cx="2176826" cy="15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9" name="Google Shape;1549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675" y="1496806"/>
            <a:ext cx="4903624" cy="134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0" name="Google Shape;1550;p95"/>
          <p:cNvSpPr txBox="1"/>
          <p:nvPr>
            <p:ph idx="1" type="body"/>
          </p:nvPr>
        </p:nvSpPr>
        <p:spPr>
          <a:xfrm>
            <a:off x="324000" y="759300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They carry out the </a:t>
            </a:r>
            <a:r>
              <a:rPr b="1" lang="en-GB" sz="2000"/>
              <a:t>experiment</a:t>
            </a:r>
            <a:r>
              <a:rPr lang="en-GB" sz="2000"/>
              <a:t> again but this time </a:t>
            </a:r>
            <a:r>
              <a:rPr lang="en-GB" sz="2000"/>
              <a:t>roll the dice 1200 times (with help from lots of friends)</a:t>
            </a:r>
            <a:r>
              <a:rPr lang="en-GB" sz="2000"/>
              <a:t>.</a:t>
            </a:r>
            <a:endParaRPr sz="2400"/>
          </a:p>
        </p:txBody>
      </p:sp>
      <p:sp>
        <p:nvSpPr>
          <p:cNvPr id="1551" name="Google Shape;1551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Considering the number of trials required</a:t>
            </a:r>
            <a:endParaRPr/>
          </a:p>
        </p:txBody>
      </p:sp>
      <p:pic>
        <p:nvPicPr>
          <p:cNvPr id="1552" name="Google Shape;1552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4668" y="3139610"/>
            <a:ext cx="546730" cy="704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3" name="Google Shape;1553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1773" y="3080999"/>
            <a:ext cx="560185" cy="7336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4" name="Google Shape;1554;p95"/>
          <p:cNvSpPr txBox="1"/>
          <p:nvPr>
            <p:ph idx="1" type="body"/>
          </p:nvPr>
        </p:nvSpPr>
        <p:spPr>
          <a:xfrm>
            <a:off x="643475" y="1555525"/>
            <a:ext cx="4656600" cy="127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more trials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/>
              <a:t>we run in an </a:t>
            </a:r>
            <a:r>
              <a:rPr b="1" lang="en-GB" sz="1800"/>
              <a:t>experiment</a:t>
            </a:r>
            <a:r>
              <a:rPr lang="en-GB" sz="1800"/>
              <a:t>, the more it looks like the numbers on the dice are equally likely.</a:t>
            </a:r>
            <a:endParaRPr sz="1800"/>
          </a:p>
        </p:txBody>
      </p:sp>
      <p:pic>
        <p:nvPicPr>
          <p:cNvPr id="1555" name="Google Shape;1555;p95"/>
          <p:cNvPicPr preferRelativeResize="0"/>
          <p:nvPr/>
        </p:nvPicPr>
        <p:blipFill rotWithShape="1">
          <a:blip r:embed="rId7">
            <a:alphaModFix/>
          </a:blip>
          <a:srcRect b="4760" l="40550" r="0" t="13015"/>
          <a:stretch/>
        </p:blipFill>
        <p:spPr>
          <a:xfrm flipH="1">
            <a:off x="5435074" y="1692950"/>
            <a:ext cx="3402501" cy="1408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56" name="Google Shape;1556;p95"/>
          <p:cNvSpPr txBox="1"/>
          <p:nvPr>
            <p:ph idx="1" type="body"/>
          </p:nvPr>
        </p:nvSpPr>
        <p:spPr>
          <a:xfrm>
            <a:off x="5639175" y="1799750"/>
            <a:ext cx="28653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 wonder why using more trials meant that the dice looked more fair.</a:t>
            </a:r>
            <a:endParaRPr sz="1800"/>
          </a:p>
        </p:txBody>
      </p:sp>
      <p:cxnSp>
        <p:nvCxnSpPr>
          <p:cNvPr id="1557" name="Google Shape;1557;p95"/>
          <p:cNvCxnSpPr/>
          <p:nvPr/>
        </p:nvCxnSpPr>
        <p:spPr>
          <a:xfrm rot="10800000">
            <a:off x="3494400" y="2575350"/>
            <a:ext cx="0" cy="1787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8" name="Google Shape;1558;p95"/>
          <p:cNvCxnSpPr/>
          <p:nvPr/>
        </p:nvCxnSpPr>
        <p:spPr>
          <a:xfrm>
            <a:off x="3472606" y="4353850"/>
            <a:ext cx="2491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9" name="Google Shape;1559;p95"/>
          <p:cNvSpPr txBox="1"/>
          <p:nvPr>
            <p:ph idx="1" type="body"/>
          </p:nvPr>
        </p:nvSpPr>
        <p:spPr>
          <a:xfrm>
            <a:off x="3775816" y="43538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1</a:t>
            </a:r>
            <a:endParaRPr sz="1600"/>
          </a:p>
        </p:txBody>
      </p:sp>
      <p:sp>
        <p:nvSpPr>
          <p:cNvPr id="1560" name="Google Shape;1560;p95"/>
          <p:cNvSpPr txBox="1"/>
          <p:nvPr>
            <p:ph idx="1" type="body"/>
          </p:nvPr>
        </p:nvSpPr>
        <p:spPr>
          <a:xfrm>
            <a:off x="4095145" y="43538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2</a:t>
            </a:r>
            <a:endParaRPr sz="1600"/>
          </a:p>
        </p:txBody>
      </p:sp>
      <p:sp>
        <p:nvSpPr>
          <p:cNvPr id="1561" name="Google Shape;1561;p95"/>
          <p:cNvSpPr txBox="1"/>
          <p:nvPr>
            <p:ph idx="1" type="body"/>
          </p:nvPr>
        </p:nvSpPr>
        <p:spPr>
          <a:xfrm>
            <a:off x="4421740" y="43538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3</a:t>
            </a:r>
            <a:endParaRPr sz="1600"/>
          </a:p>
        </p:txBody>
      </p:sp>
      <p:sp>
        <p:nvSpPr>
          <p:cNvPr id="1562" name="Google Shape;1562;p95"/>
          <p:cNvSpPr txBox="1"/>
          <p:nvPr>
            <p:ph idx="1" type="body"/>
          </p:nvPr>
        </p:nvSpPr>
        <p:spPr>
          <a:xfrm>
            <a:off x="4741069" y="43538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4</a:t>
            </a:r>
            <a:endParaRPr sz="1600"/>
          </a:p>
        </p:txBody>
      </p:sp>
      <p:sp>
        <p:nvSpPr>
          <p:cNvPr id="1563" name="Google Shape;1563;p95"/>
          <p:cNvSpPr txBox="1"/>
          <p:nvPr>
            <p:ph idx="1" type="body"/>
          </p:nvPr>
        </p:nvSpPr>
        <p:spPr>
          <a:xfrm>
            <a:off x="5060399" y="43538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5</a:t>
            </a:r>
            <a:endParaRPr sz="1600"/>
          </a:p>
        </p:txBody>
      </p:sp>
      <p:sp>
        <p:nvSpPr>
          <p:cNvPr id="1564" name="Google Shape;1564;p95"/>
          <p:cNvSpPr txBox="1"/>
          <p:nvPr>
            <p:ph idx="1" type="body"/>
          </p:nvPr>
        </p:nvSpPr>
        <p:spPr>
          <a:xfrm>
            <a:off x="5379729" y="43538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6</a:t>
            </a:r>
            <a:endParaRPr sz="1600"/>
          </a:p>
        </p:txBody>
      </p:sp>
      <p:sp>
        <p:nvSpPr>
          <p:cNvPr id="1565" name="Google Shape;1565;p95"/>
          <p:cNvSpPr txBox="1"/>
          <p:nvPr>
            <p:ph idx="1" type="body"/>
          </p:nvPr>
        </p:nvSpPr>
        <p:spPr>
          <a:xfrm>
            <a:off x="3318616" y="42014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0</a:t>
            </a:r>
            <a:endParaRPr sz="1600"/>
          </a:p>
        </p:txBody>
      </p:sp>
      <p:sp>
        <p:nvSpPr>
          <p:cNvPr id="1566" name="Google Shape;1566;p95"/>
          <p:cNvSpPr txBox="1"/>
          <p:nvPr>
            <p:ph idx="1" type="body"/>
          </p:nvPr>
        </p:nvSpPr>
        <p:spPr>
          <a:xfrm>
            <a:off x="3102755" y="3537447"/>
            <a:ext cx="384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100</a:t>
            </a:r>
            <a:endParaRPr sz="1600"/>
          </a:p>
        </p:txBody>
      </p:sp>
      <p:sp>
        <p:nvSpPr>
          <p:cNvPr id="1567" name="Google Shape;1567;p95"/>
          <p:cNvSpPr txBox="1"/>
          <p:nvPr>
            <p:ph idx="1" type="body"/>
          </p:nvPr>
        </p:nvSpPr>
        <p:spPr>
          <a:xfrm>
            <a:off x="3095287" y="2873444"/>
            <a:ext cx="384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200</a:t>
            </a:r>
            <a:endParaRPr sz="1600"/>
          </a:p>
        </p:txBody>
      </p:sp>
      <p:sp>
        <p:nvSpPr>
          <p:cNvPr id="1568" name="Google Shape;1568;p95"/>
          <p:cNvSpPr txBox="1"/>
          <p:nvPr>
            <p:ph idx="1" type="body"/>
          </p:nvPr>
        </p:nvSpPr>
        <p:spPr>
          <a:xfrm>
            <a:off x="3942777" y="4582450"/>
            <a:ext cx="16368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number rolled</a:t>
            </a:r>
            <a:endParaRPr sz="1600"/>
          </a:p>
        </p:txBody>
      </p:sp>
      <p:sp>
        <p:nvSpPr>
          <p:cNvPr id="1569" name="Google Shape;1569;p95"/>
          <p:cNvSpPr txBox="1"/>
          <p:nvPr>
            <p:ph idx="1" type="body"/>
          </p:nvPr>
        </p:nvSpPr>
        <p:spPr>
          <a:xfrm rot="-5400000">
            <a:off x="2391847" y="3385825"/>
            <a:ext cx="11163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frequency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4" name="Google Shape;157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6295" y="1945999"/>
            <a:ext cx="1615211" cy="195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5" name="Google Shape;1575;p96"/>
          <p:cNvSpPr txBox="1"/>
          <p:nvPr>
            <p:ph idx="1" type="body"/>
          </p:nvPr>
        </p:nvSpPr>
        <p:spPr>
          <a:xfrm>
            <a:off x="324000" y="759300"/>
            <a:ext cx="8496000" cy="106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Even when events are equally likely, they do not necessarily occur an equal number of times during an </a:t>
            </a:r>
            <a:r>
              <a:rPr b="1" lang="en-GB" sz="2000"/>
              <a:t>experiment</a:t>
            </a:r>
            <a:r>
              <a:rPr lang="en-GB" sz="2000"/>
              <a:t>. One event may occur more often than another by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5"/>
                </a:solidFill>
              </a:rPr>
              <a:t>chance</a:t>
            </a:r>
            <a:r>
              <a:rPr lang="en-GB" sz="2000"/>
              <a:t>.</a:t>
            </a:r>
            <a:endParaRPr sz="1900"/>
          </a:p>
        </p:txBody>
      </p:sp>
      <p:sp>
        <p:nvSpPr>
          <p:cNvPr id="1576" name="Google Shape;1576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Considering the number of trials required</a:t>
            </a:r>
            <a:endParaRPr/>
          </a:p>
        </p:txBody>
      </p:sp>
      <p:sp>
        <p:nvSpPr>
          <p:cNvPr id="1577" name="Google Shape;1577;p96"/>
          <p:cNvSpPr txBox="1"/>
          <p:nvPr/>
        </p:nvSpPr>
        <p:spPr>
          <a:xfrm>
            <a:off x="5661776" y="3727975"/>
            <a:ext cx="94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96"/>
          <p:cNvSpPr txBox="1"/>
          <p:nvPr/>
        </p:nvSpPr>
        <p:spPr>
          <a:xfrm>
            <a:off x="302200" y="3727975"/>
            <a:ext cx="128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96"/>
          <p:cNvSpPr txBox="1"/>
          <p:nvPr/>
        </p:nvSpPr>
        <p:spPr>
          <a:xfrm>
            <a:off x="1773489" y="3684025"/>
            <a:ext cx="94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96"/>
          <p:cNvSpPr txBox="1"/>
          <p:nvPr/>
        </p:nvSpPr>
        <p:spPr>
          <a:xfrm>
            <a:off x="4574687" y="3684025"/>
            <a:ext cx="74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1" name="Google Shape;1581;p96"/>
          <p:cNvSpPr txBox="1"/>
          <p:nvPr/>
        </p:nvSpPr>
        <p:spPr>
          <a:xfrm>
            <a:off x="2818093" y="3727975"/>
            <a:ext cx="143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82" name="Google Shape;1582;p96"/>
          <p:cNvGrpSpPr/>
          <p:nvPr/>
        </p:nvGrpSpPr>
        <p:grpSpPr>
          <a:xfrm>
            <a:off x="845186" y="3557565"/>
            <a:ext cx="5242164" cy="238354"/>
            <a:chOff x="1260861" y="3941077"/>
            <a:chExt cx="6838200" cy="658800"/>
          </a:xfrm>
        </p:grpSpPr>
        <p:cxnSp>
          <p:nvCxnSpPr>
            <p:cNvPr id="1583" name="Google Shape;1583;p96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4" name="Google Shape;1584;p96"/>
            <p:cNvCxnSpPr/>
            <p:nvPr/>
          </p:nvCxnSpPr>
          <p:spPr>
            <a:xfrm>
              <a:off x="1260883" y="3941077"/>
              <a:ext cx="0" cy="65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96"/>
            <p:cNvCxnSpPr/>
            <p:nvPr/>
          </p:nvCxnSpPr>
          <p:spPr>
            <a:xfrm>
              <a:off x="8088215" y="3941077"/>
              <a:ext cx="0" cy="65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96"/>
            <p:cNvCxnSpPr/>
            <p:nvPr/>
          </p:nvCxnSpPr>
          <p:spPr>
            <a:xfrm>
              <a:off x="4674549" y="3941077"/>
              <a:ext cx="0" cy="65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7" name="Google Shape;1587;p96"/>
            <p:cNvCxnSpPr/>
            <p:nvPr/>
          </p:nvCxnSpPr>
          <p:spPr>
            <a:xfrm>
              <a:off x="1365339" y="4553655"/>
              <a:ext cx="3221100" cy="0"/>
            </a:xfrm>
            <a:prstGeom prst="straightConnector1">
              <a:avLst/>
            </a:prstGeom>
            <a:noFill/>
            <a:ln cap="flat" cmpd="sng" w="28575">
              <a:solidFill>
                <a:srgbClr val="59595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88" name="Google Shape;1588;p96"/>
            <p:cNvCxnSpPr/>
            <p:nvPr/>
          </p:nvCxnSpPr>
          <p:spPr>
            <a:xfrm>
              <a:off x="4774394" y="4553655"/>
              <a:ext cx="3221100" cy="0"/>
            </a:xfrm>
            <a:prstGeom prst="straightConnector1">
              <a:avLst/>
            </a:prstGeom>
            <a:noFill/>
            <a:ln cap="flat" cmpd="sng" w="28575">
              <a:solidFill>
                <a:srgbClr val="59595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589" name="Google Shape;1589;p96"/>
          <p:cNvSpPr txBox="1"/>
          <p:nvPr/>
        </p:nvSpPr>
        <p:spPr>
          <a:xfrm>
            <a:off x="3363671" y="3005675"/>
            <a:ext cx="1944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22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96"/>
          <p:cNvSpPr txBox="1"/>
          <p:nvPr/>
        </p:nvSpPr>
        <p:spPr>
          <a:xfrm>
            <a:off x="3381509" y="3263325"/>
            <a:ext cx="1944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22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1" name="Google Shape;1591;p96"/>
          <p:cNvCxnSpPr/>
          <p:nvPr/>
        </p:nvCxnSpPr>
        <p:spPr>
          <a:xfrm rot="10800000">
            <a:off x="7048360" y="1801350"/>
            <a:ext cx="0" cy="210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2" name="Google Shape;1592;p96"/>
          <p:cNvCxnSpPr/>
          <p:nvPr/>
        </p:nvCxnSpPr>
        <p:spPr>
          <a:xfrm>
            <a:off x="7031125" y="3896650"/>
            <a:ext cx="1762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3" name="Google Shape;1593;p96"/>
          <p:cNvSpPr txBox="1"/>
          <p:nvPr>
            <p:ph idx="1" type="body"/>
          </p:nvPr>
        </p:nvSpPr>
        <p:spPr>
          <a:xfrm>
            <a:off x="7331953" y="3896650"/>
            <a:ext cx="8766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heads</a:t>
            </a:r>
            <a:endParaRPr sz="1600"/>
          </a:p>
        </p:txBody>
      </p:sp>
      <p:sp>
        <p:nvSpPr>
          <p:cNvPr id="1594" name="Google Shape;1594;p96"/>
          <p:cNvSpPr txBox="1"/>
          <p:nvPr>
            <p:ph idx="1" type="body"/>
          </p:nvPr>
        </p:nvSpPr>
        <p:spPr>
          <a:xfrm>
            <a:off x="8040736" y="3896650"/>
            <a:ext cx="6885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tails</a:t>
            </a:r>
            <a:endParaRPr sz="1600"/>
          </a:p>
        </p:txBody>
      </p:sp>
      <p:sp>
        <p:nvSpPr>
          <p:cNvPr id="1595" name="Google Shape;1595;p96"/>
          <p:cNvSpPr txBox="1"/>
          <p:nvPr>
            <p:ph idx="1" type="body"/>
          </p:nvPr>
        </p:nvSpPr>
        <p:spPr>
          <a:xfrm>
            <a:off x="6848467" y="3744250"/>
            <a:ext cx="2823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282828"/>
                </a:solidFill>
              </a:rPr>
              <a:t>0</a:t>
            </a:r>
            <a:endParaRPr sz="1600"/>
          </a:p>
        </p:txBody>
      </p:sp>
      <p:sp>
        <p:nvSpPr>
          <p:cNvPr id="1596" name="Google Shape;1596;p96"/>
          <p:cNvSpPr txBox="1"/>
          <p:nvPr>
            <p:ph idx="1" type="body"/>
          </p:nvPr>
        </p:nvSpPr>
        <p:spPr>
          <a:xfrm>
            <a:off x="6767600" y="1937250"/>
            <a:ext cx="3576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60</a:t>
            </a:r>
            <a:endParaRPr sz="1600"/>
          </a:p>
        </p:txBody>
      </p:sp>
      <p:sp>
        <p:nvSpPr>
          <p:cNvPr id="1597" name="Google Shape;1597;p96"/>
          <p:cNvSpPr txBox="1"/>
          <p:nvPr>
            <p:ph idx="1" type="body"/>
          </p:nvPr>
        </p:nvSpPr>
        <p:spPr>
          <a:xfrm>
            <a:off x="6767600" y="2539583"/>
            <a:ext cx="3576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598" name="Google Shape;1598;p96"/>
          <p:cNvSpPr txBox="1"/>
          <p:nvPr>
            <p:ph idx="1" type="body"/>
          </p:nvPr>
        </p:nvSpPr>
        <p:spPr>
          <a:xfrm>
            <a:off x="6767600" y="3141917"/>
            <a:ext cx="3576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599" name="Google Shape;1599;p96"/>
          <p:cNvSpPr txBox="1"/>
          <p:nvPr>
            <p:ph idx="1" type="body"/>
          </p:nvPr>
        </p:nvSpPr>
        <p:spPr>
          <a:xfrm>
            <a:off x="302200" y="1942375"/>
            <a:ext cx="5954700" cy="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E.g. When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flipping a fair coin</a:t>
            </a:r>
            <a:r>
              <a:rPr lang="en-GB" sz="1800"/>
              <a:t>, the two outcomes (‘heads’ and ‘tails’) are equally likely. </a:t>
            </a:r>
            <a:endParaRPr/>
          </a:p>
        </p:txBody>
      </p:sp>
      <p:sp>
        <p:nvSpPr>
          <p:cNvPr id="1600" name="Google Shape;1600;p96"/>
          <p:cNvSpPr txBox="1"/>
          <p:nvPr>
            <p:ph idx="1" type="body"/>
          </p:nvPr>
        </p:nvSpPr>
        <p:spPr>
          <a:xfrm>
            <a:off x="302200" y="4225853"/>
            <a:ext cx="7885200" cy="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Use the</a:t>
            </a:r>
            <a:r>
              <a:rPr lang="en-GB" sz="1600"/>
              <a:t> link for simulation results:</a:t>
            </a:r>
            <a:r>
              <a:rPr lang="en-GB" sz="2000"/>
              <a:t>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Fair coin simulations with 100 trials</a:t>
            </a:r>
            <a:r>
              <a:rPr lang="en-GB" sz="1600"/>
              <a:t>🖇</a:t>
            </a:r>
            <a:br>
              <a:rPr lang="en-GB" sz="1600"/>
            </a:br>
            <a:r>
              <a:rPr lang="en-GB" sz="1600"/>
              <a:t>Move the slider to see results from different simulated </a:t>
            </a:r>
            <a:r>
              <a:rPr b="1" lang="en-GB" sz="1600"/>
              <a:t>experiments</a:t>
            </a:r>
            <a:r>
              <a:rPr lang="en-GB" sz="1600"/>
              <a:t>.</a:t>
            </a:r>
            <a:endParaRPr sz="2100"/>
          </a:p>
        </p:txBody>
      </p:sp>
      <p:sp>
        <p:nvSpPr>
          <p:cNvPr id="1601" name="Google Shape;1601;p96"/>
          <p:cNvSpPr txBox="1"/>
          <p:nvPr>
            <p:ph idx="1" type="body"/>
          </p:nvPr>
        </p:nvSpPr>
        <p:spPr>
          <a:xfrm rot="-5400000">
            <a:off x="5966722" y="2608525"/>
            <a:ext cx="12840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frequency</a:t>
            </a:r>
            <a:endParaRPr sz="1600"/>
          </a:p>
        </p:txBody>
      </p:sp>
      <p:sp>
        <p:nvSpPr>
          <p:cNvPr id="1602" name="Google Shape;1602;p96"/>
          <p:cNvSpPr txBox="1"/>
          <p:nvPr>
            <p:ph idx="1" type="body"/>
          </p:nvPr>
        </p:nvSpPr>
        <p:spPr>
          <a:xfrm>
            <a:off x="7426600" y="1567375"/>
            <a:ext cx="107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100 trials</a:t>
            </a:r>
            <a:endParaRPr/>
          </a:p>
        </p:txBody>
      </p:sp>
      <p:sp>
        <p:nvSpPr>
          <p:cNvPr id="1603" name="Google Shape;1603;p96"/>
          <p:cNvSpPr txBox="1"/>
          <p:nvPr>
            <p:ph idx="1" type="body"/>
          </p:nvPr>
        </p:nvSpPr>
        <p:spPr>
          <a:xfrm>
            <a:off x="302200" y="2704375"/>
            <a:ext cx="59547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But you can still get more ‘heads’ than ‘tails’.</a:t>
            </a:r>
            <a:r>
              <a:rPr lang="en-GB" sz="1800">
                <a:solidFill>
                  <a:srgbClr val="282828"/>
                </a:solidFill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8" name="Google Shape;1608;p97"/>
          <p:cNvPicPr preferRelativeResize="0"/>
          <p:nvPr/>
        </p:nvPicPr>
        <p:blipFill rotWithShape="1">
          <a:blip r:embed="rId3">
            <a:alphaModFix/>
          </a:blip>
          <a:srcRect b="0" l="2912" r="0" t="0"/>
          <a:stretch/>
        </p:blipFill>
        <p:spPr>
          <a:xfrm flipH="1">
            <a:off x="7126125" y="2321675"/>
            <a:ext cx="1568100" cy="195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9" name="Google Shape;1609;p97"/>
          <p:cNvSpPr txBox="1"/>
          <p:nvPr>
            <p:ph idx="1" type="body"/>
          </p:nvPr>
        </p:nvSpPr>
        <p:spPr>
          <a:xfrm>
            <a:off x="324000" y="759300"/>
            <a:ext cx="8496000" cy="106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Even when one event is more likely to happen than another, the event that is less likely to happen may occur more often during an </a:t>
            </a:r>
            <a:r>
              <a:rPr b="1" lang="en-GB" sz="1900"/>
              <a:t>experiment</a:t>
            </a:r>
            <a:r>
              <a:rPr lang="en-GB" sz="1900"/>
              <a:t>.</a:t>
            </a:r>
            <a:endParaRPr/>
          </a:p>
        </p:txBody>
      </p:sp>
      <p:sp>
        <p:nvSpPr>
          <p:cNvPr id="1610" name="Google Shape;1610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Considering the number of trials required</a:t>
            </a:r>
            <a:endParaRPr/>
          </a:p>
        </p:txBody>
      </p:sp>
      <p:sp>
        <p:nvSpPr>
          <p:cNvPr id="1611" name="Google Shape;1611;p97"/>
          <p:cNvSpPr txBox="1"/>
          <p:nvPr/>
        </p:nvSpPr>
        <p:spPr>
          <a:xfrm>
            <a:off x="5585576" y="3880375"/>
            <a:ext cx="94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2" name="Google Shape;1612;p97"/>
          <p:cNvSpPr txBox="1"/>
          <p:nvPr/>
        </p:nvSpPr>
        <p:spPr>
          <a:xfrm>
            <a:off x="226000" y="3880375"/>
            <a:ext cx="128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3" name="Google Shape;1613;p97"/>
          <p:cNvSpPr txBox="1"/>
          <p:nvPr/>
        </p:nvSpPr>
        <p:spPr>
          <a:xfrm>
            <a:off x="1697289" y="3836425"/>
            <a:ext cx="94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4" name="Google Shape;1614;p97"/>
          <p:cNvSpPr txBox="1"/>
          <p:nvPr/>
        </p:nvSpPr>
        <p:spPr>
          <a:xfrm>
            <a:off x="4498487" y="3836425"/>
            <a:ext cx="74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97"/>
          <p:cNvSpPr txBox="1"/>
          <p:nvPr/>
        </p:nvSpPr>
        <p:spPr>
          <a:xfrm>
            <a:off x="2741893" y="3880375"/>
            <a:ext cx="143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16" name="Google Shape;1616;p97"/>
          <p:cNvGrpSpPr/>
          <p:nvPr/>
        </p:nvGrpSpPr>
        <p:grpSpPr>
          <a:xfrm>
            <a:off x="768986" y="3709965"/>
            <a:ext cx="5242164" cy="238354"/>
            <a:chOff x="1260861" y="3941077"/>
            <a:chExt cx="6838200" cy="658800"/>
          </a:xfrm>
        </p:grpSpPr>
        <p:cxnSp>
          <p:nvCxnSpPr>
            <p:cNvPr id="1617" name="Google Shape;1617;p97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8" name="Google Shape;1618;p97"/>
            <p:cNvCxnSpPr/>
            <p:nvPr/>
          </p:nvCxnSpPr>
          <p:spPr>
            <a:xfrm>
              <a:off x="1260883" y="3941077"/>
              <a:ext cx="0" cy="65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9" name="Google Shape;1619;p97"/>
            <p:cNvCxnSpPr/>
            <p:nvPr/>
          </p:nvCxnSpPr>
          <p:spPr>
            <a:xfrm>
              <a:off x="8088215" y="3941077"/>
              <a:ext cx="0" cy="65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0" name="Google Shape;1620;p97"/>
            <p:cNvCxnSpPr/>
            <p:nvPr/>
          </p:nvCxnSpPr>
          <p:spPr>
            <a:xfrm>
              <a:off x="4674549" y="3941077"/>
              <a:ext cx="0" cy="658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1" name="Google Shape;1621;p97"/>
            <p:cNvCxnSpPr/>
            <p:nvPr/>
          </p:nvCxnSpPr>
          <p:spPr>
            <a:xfrm>
              <a:off x="1365339" y="4553655"/>
              <a:ext cx="3221100" cy="0"/>
            </a:xfrm>
            <a:prstGeom prst="straightConnector1">
              <a:avLst/>
            </a:prstGeom>
            <a:noFill/>
            <a:ln cap="flat" cmpd="sng" w="28575">
              <a:solidFill>
                <a:srgbClr val="59595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22" name="Google Shape;1622;p97"/>
            <p:cNvCxnSpPr/>
            <p:nvPr/>
          </p:nvCxnSpPr>
          <p:spPr>
            <a:xfrm>
              <a:off x="4774394" y="4553655"/>
              <a:ext cx="3221100" cy="0"/>
            </a:xfrm>
            <a:prstGeom prst="straightConnector1">
              <a:avLst/>
            </a:prstGeom>
            <a:noFill/>
            <a:ln cap="flat" cmpd="sng" w="28575">
              <a:solidFill>
                <a:srgbClr val="59595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23" name="Google Shape;1623;p97"/>
          <p:cNvSpPr txBox="1"/>
          <p:nvPr/>
        </p:nvSpPr>
        <p:spPr>
          <a:xfrm>
            <a:off x="3643943" y="3495579"/>
            <a:ext cx="1944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22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4" name="Google Shape;1624;p97"/>
          <p:cNvSpPr txBox="1"/>
          <p:nvPr/>
        </p:nvSpPr>
        <p:spPr>
          <a:xfrm>
            <a:off x="2942193" y="3491925"/>
            <a:ext cx="1944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2200">
              <a:solidFill>
                <a:srgbClr val="037B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5" name="Google Shape;1625;p97"/>
          <p:cNvCxnSpPr/>
          <p:nvPr/>
        </p:nvCxnSpPr>
        <p:spPr>
          <a:xfrm rot="10800000">
            <a:off x="7048360" y="2182350"/>
            <a:ext cx="0" cy="210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6" name="Google Shape;1626;p97"/>
          <p:cNvCxnSpPr/>
          <p:nvPr/>
        </p:nvCxnSpPr>
        <p:spPr>
          <a:xfrm>
            <a:off x="7031125" y="4277650"/>
            <a:ext cx="1762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7" name="Google Shape;1627;p97"/>
          <p:cNvSpPr txBox="1"/>
          <p:nvPr>
            <p:ph idx="1" type="body"/>
          </p:nvPr>
        </p:nvSpPr>
        <p:spPr>
          <a:xfrm>
            <a:off x="7331953" y="4277650"/>
            <a:ext cx="8766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heads</a:t>
            </a:r>
            <a:endParaRPr sz="1600"/>
          </a:p>
        </p:txBody>
      </p:sp>
      <p:sp>
        <p:nvSpPr>
          <p:cNvPr id="1628" name="Google Shape;1628;p97"/>
          <p:cNvSpPr txBox="1"/>
          <p:nvPr>
            <p:ph idx="1" type="body"/>
          </p:nvPr>
        </p:nvSpPr>
        <p:spPr>
          <a:xfrm>
            <a:off x="8040736" y="4277650"/>
            <a:ext cx="6885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tails</a:t>
            </a:r>
            <a:endParaRPr sz="1600"/>
          </a:p>
        </p:txBody>
      </p:sp>
      <p:sp>
        <p:nvSpPr>
          <p:cNvPr id="1629" name="Google Shape;1629;p97"/>
          <p:cNvSpPr txBox="1"/>
          <p:nvPr>
            <p:ph idx="1" type="body"/>
          </p:nvPr>
        </p:nvSpPr>
        <p:spPr>
          <a:xfrm>
            <a:off x="6848467" y="4125250"/>
            <a:ext cx="2823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630" name="Google Shape;1630;p97"/>
          <p:cNvSpPr txBox="1"/>
          <p:nvPr>
            <p:ph idx="1" type="body"/>
          </p:nvPr>
        </p:nvSpPr>
        <p:spPr>
          <a:xfrm>
            <a:off x="6767600" y="2318250"/>
            <a:ext cx="3576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60</a:t>
            </a:r>
            <a:endParaRPr sz="1600"/>
          </a:p>
        </p:txBody>
      </p:sp>
      <p:sp>
        <p:nvSpPr>
          <p:cNvPr id="1631" name="Google Shape;1631;p97"/>
          <p:cNvSpPr txBox="1"/>
          <p:nvPr>
            <p:ph idx="1" type="body"/>
          </p:nvPr>
        </p:nvSpPr>
        <p:spPr>
          <a:xfrm>
            <a:off x="6767600" y="2920583"/>
            <a:ext cx="3576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40</a:t>
            </a:r>
            <a:endParaRPr sz="1600"/>
          </a:p>
        </p:txBody>
      </p:sp>
      <p:sp>
        <p:nvSpPr>
          <p:cNvPr id="1632" name="Google Shape;1632;p97"/>
          <p:cNvSpPr txBox="1"/>
          <p:nvPr>
            <p:ph idx="1" type="body"/>
          </p:nvPr>
        </p:nvSpPr>
        <p:spPr>
          <a:xfrm>
            <a:off x="6767600" y="3522917"/>
            <a:ext cx="3576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633" name="Google Shape;1633;p97"/>
          <p:cNvSpPr txBox="1"/>
          <p:nvPr>
            <p:ph idx="1" type="body"/>
          </p:nvPr>
        </p:nvSpPr>
        <p:spPr>
          <a:xfrm>
            <a:off x="302200" y="1942375"/>
            <a:ext cx="5549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E.g. When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flipping a frisbee</a:t>
            </a:r>
            <a:r>
              <a:rPr lang="en-GB" sz="1800"/>
              <a:t>, you may be slightly more likely to get ‘heads’ than ‘tails’. </a:t>
            </a:r>
            <a:endParaRPr/>
          </a:p>
        </p:txBody>
      </p:sp>
      <p:sp>
        <p:nvSpPr>
          <p:cNvPr id="1634" name="Google Shape;1634;p97"/>
          <p:cNvSpPr txBox="1"/>
          <p:nvPr>
            <p:ph idx="1" type="body"/>
          </p:nvPr>
        </p:nvSpPr>
        <p:spPr>
          <a:xfrm rot="-5400000">
            <a:off x="5966722" y="2989525"/>
            <a:ext cx="12840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frequency</a:t>
            </a:r>
            <a:endParaRPr sz="1600"/>
          </a:p>
        </p:txBody>
      </p:sp>
      <p:sp>
        <p:nvSpPr>
          <p:cNvPr id="1635" name="Google Shape;1635;p97"/>
          <p:cNvSpPr txBox="1"/>
          <p:nvPr>
            <p:ph idx="1" type="body"/>
          </p:nvPr>
        </p:nvSpPr>
        <p:spPr>
          <a:xfrm>
            <a:off x="7350400" y="1872175"/>
            <a:ext cx="107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100 trials</a:t>
            </a:r>
            <a:endParaRPr/>
          </a:p>
        </p:txBody>
      </p:sp>
      <p:sp>
        <p:nvSpPr>
          <p:cNvPr id="1636" name="Google Shape;1636;p97"/>
          <p:cNvSpPr txBox="1"/>
          <p:nvPr>
            <p:ph idx="1" type="body"/>
          </p:nvPr>
        </p:nvSpPr>
        <p:spPr>
          <a:xfrm>
            <a:off x="302200" y="2704375"/>
            <a:ext cx="5549700" cy="3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But you can still get more ‘tails’ than ‘heads’.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98"/>
          <p:cNvSpPr txBox="1"/>
          <p:nvPr>
            <p:ph idx="1" type="body"/>
          </p:nvPr>
        </p:nvSpPr>
        <p:spPr>
          <a:xfrm>
            <a:off x="324000" y="759300"/>
            <a:ext cx="8496000" cy="115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An </a:t>
            </a:r>
            <a:r>
              <a:rPr lang="en-GB" sz="2000"/>
              <a:t>unlikely event can happen more often than a likely event, simply by chance. This tends to happen more often in </a:t>
            </a:r>
            <a:r>
              <a:rPr b="1" lang="en-GB" sz="2000"/>
              <a:t>experiments</a:t>
            </a:r>
            <a:r>
              <a:rPr lang="en-GB" sz="2000"/>
              <a:t> that have a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5"/>
                </a:solidFill>
              </a:rPr>
              <a:t>small number of trials</a:t>
            </a:r>
            <a:r>
              <a:rPr lang="en-GB" sz="2000"/>
              <a:t>.</a:t>
            </a:r>
            <a:r>
              <a:rPr lang="en-GB" sz="2000">
                <a:solidFill>
                  <a:srgbClr val="282828"/>
                </a:solidFill>
              </a:rPr>
              <a:t> </a:t>
            </a:r>
            <a:endParaRPr sz="2400"/>
          </a:p>
        </p:txBody>
      </p:sp>
      <p:sp>
        <p:nvSpPr>
          <p:cNvPr id="1642" name="Google Shape;1642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Considering the number of trials required</a:t>
            </a:r>
            <a:endParaRPr/>
          </a:p>
        </p:txBody>
      </p:sp>
      <p:sp>
        <p:nvSpPr>
          <p:cNvPr id="1643" name="Google Shape;1643;p98"/>
          <p:cNvSpPr txBox="1"/>
          <p:nvPr>
            <p:ph idx="1" type="body"/>
          </p:nvPr>
        </p:nvSpPr>
        <p:spPr>
          <a:xfrm>
            <a:off x="324000" y="2054700"/>
            <a:ext cx="8496000" cy="75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more trials an </a:t>
            </a:r>
            <a:r>
              <a:rPr b="1" lang="en-GB" sz="2000"/>
              <a:t>experiment</a:t>
            </a:r>
            <a:r>
              <a:rPr lang="en-GB" sz="2000"/>
              <a:t> contains, the more likely we are to observe an accurate picture of the likelihoods for each event.</a:t>
            </a:r>
            <a:endParaRPr sz="2400"/>
          </a:p>
        </p:txBody>
      </p:sp>
      <p:sp>
        <p:nvSpPr>
          <p:cNvPr id="1644" name="Google Shape;1644;p98"/>
          <p:cNvSpPr txBox="1"/>
          <p:nvPr>
            <p:ph idx="1" type="body"/>
          </p:nvPr>
        </p:nvSpPr>
        <p:spPr>
          <a:xfrm>
            <a:off x="324000" y="3033800"/>
            <a:ext cx="8496000" cy="106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more trials an </a:t>
            </a:r>
            <a:r>
              <a:rPr b="1" lang="en-GB" sz="2000"/>
              <a:t>experiment</a:t>
            </a:r>
            <a:r>
              <a:rPr lang="en-GB" sz="2000"/>
              <a:t> contains, the more confident we can be with conclusions drawn from the experiment about whether one outcome is more likely than another. 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9" name="Google Shape;1649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224" y="1661136"/>
            <a:ext cx="2200316" cy="147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0" name="Google Shape;1650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Considering the number of trials required</a:t>
            </a:r>
            <a:endParaRPr/>
          </a:p>
        </p:txBody>
      </p:sp>
      <p:sp>
        <p:nvSpPr>
          <p:cNvPr id="1651" name="Google Shape;1651;p99"/>
          <p:cNvSpPr txBox="1"/>
          <p:nvPr>
            <p:ph idx="1" type="body"/>
          </p:nvPr>
        </p:nvSpPr>
        <p:spPr>
          <a:xfrm>
            <a:off x="324000" y="759300"/>
            <a:ext cx="8496000" cy="7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Experiments</a:t>
            </a:r>
            <a:r>
              <a:rPr lang="en-GB" sz="2000"/>
              <a:t> with a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>
                <a:solidFill>
                  <a:schemeClr val="accent5"/>
                </a:solidFill>
              </a:rPr>
              <a:t>small number of trials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/>
              <a:t>can produce vastly different results.</a:t>
            </a:r>
            <a:endParaRPr sz="2400"/>
          </a:p>
        </p:txBody>
      </p:sp>
      <p:sp>
        <p:nvSpPr>
          <p:cNvPr id="1652" name="Google Shape;1652;p99"/>
          <p:cNvSpPr txBox="1"/>
          <p:nvPr>
            <p:ph idx="1" type="body"/>
          </p:nvPr>
        </p:nvSpPr>
        <p:spPr>
          <a:xfrm>
            <a:off x="324000" y="3409529"/>
            <a:ext cx="8496000" cy="16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Use the link to see some simulations of </a:t>
            </a:r>
            <a:r>
              <a:rPr b="1" lang="en-GB" sz="1800"/>
              <a:t>experiments </a:t>
            </a:r>
            <a:r>
              <a:rPr lang="en-GB" sz="1800"/>
              <a:t>where a fair dice is rolled 60 times. </a:t>
            </a:r>
            <a:r>
              <a:rPr lang="en-GB" sz="1800"/>
              <a:t>Move the slider to see the results from each experiment.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28282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Notice how the results vary greatly from one </a:t>
            </a:r>
            <a:r>
              <a:rPr b="1" lang="en-GB" sz="1800"/>
              <a:t>experiment</a:t>
            </a:r>
            <a:r>
              <a:rPr lang="en-GB" sz="1800"/>
              <a:t> to the next.</a:t>
            </a:r>
            <a:endParaRPr sz="1800"/>
          </a:p>
        </p:txBody>
      </p:sp>
      <p:sp>
        <p:nvSpPr>
          <p:cNvPr id="1653" name="Google Shape;1653;p99"/>
          <p:cNvSpPr txBox="1"/>
          <p:nvPr>
            <p:ph idx="1" type="body"/>
          </p:nvPr>
        </p:nvSpPr>
        <p:spPr>
          <a:xfrm>
            <a:off x="347877" y="4035650"/>
            <a:ext cx="1885200" cy="26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u="sng">
                <a:solidFill>
                  <a:schemeClr val="hlink"/>
                </a:solidFill>
                <a:hlinkClick r:id="rId4"/>
              </a:rPr>
              <a:t>dice - 60 trials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/>
              <a:t>🖇</a:t>
            </a:r>
            <a:r>
              <a:rPr lang="en-GB" sz="1800">
                <a:solidFill>
                  <a:srgbClr val="282828"/>
                </a:solidFill>
              </a:rPr>
              <a:t> </a:t>
            </a:r>
            <a:endParaRPr sz="1800"/>
          </a:p>
        </p:txBody>
      </p:sp>
      <p:pic>
        <p:nvPicPr>
          <p:cNvPr id="1654" name="Google Shape;1654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6275" y="1891100"/>
            <a:ext cx="2208802" cy="1252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5" name="Google Shape;1655;p99"/>
          <p:cNvCxnSpPr/>
          <p:nvPr/>
        </p:nvCxnSpPr>
        <p:spPr>
          <a:xfrm rot="10800000">
            <a:off x="1474322" y="1454550"/>
            <a:ext cx="0" cy="1688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6" name="Google Shape;1656;p99"/>
          <p:cNvCxnSpPr/>
          <p:nvPr/>
        </p:nvCxnSpPr>
        <p:spPr>
          <a:xfrm>
            <a:off x="1452528" y="3134650"/>
            <a:ext cx="2491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7" name="Google Shape;1657;p99"/>
          <p:cNvSpPr txBox="1"/>
          <p:nvPr>
            <p:ph idx="1" type="body"/>
          </p:nvPr>
        </p:nvSpPr>
        <p:spPr>
          <a:xfrm>
            <a:off x="1755738" y="3134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</a:t>
            </a:r>
            <a:endParaRPr sz="1600"/>
          </a:p>
        </p:txBody>
      </p:sp>
      <p:sp>
        <p:nvSpPr>
          <p:cNvPr id="1658" name="Google Shape;1658;p99"/>
          <p:cNvSpPr txBox="1"/>
          <p:nvPr>
            <p:ph idx="1" type="body"/>
          </p:nvPr>
        </p:nvSpPr>
        <p:spPr>
          <a:xfrm>
            <a:off x="2075068" y="3134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1659" name="Google Shape;1659;p99"/>
          <p:cNvSpPr txBox="1"/>
          <p:nvPr>
            <p:ph idx="1" type="body"/>
          </p:nvPr>
        </p:nvSpPr>
        <p:spPr>
          <a:xfrm>
            <a:off x="2401662" y="3134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1660" name="Google Shape;1660;p99"/>
          <p:cNvSpPr txBox="1"/>
          <p:nvPr>
            <p:ph idx="1" type="body"/>
          </p:nvPr>
        </p:nvSpPr>
        <p:spPr>
          <a:xfrm>
            <a:off x="2720992" y="3134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661" name="Google Shape;1661;p99"/>
          <p:cNvSpPr txBox="1"/>
          <p:nvPr>
            <p:ph idx="1" type="body"/>
          </p:nvPr>
        </p:nvSpPr>
        <p:spPr>
          <a:xfrm>
            <a:off x="3070159" y="3134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662" name="Google Shape;1662;p99"/>
          <p:cNvSpPr txBox="1"/>
          <p:nvPr>
            <p:ph idx="1" type="body"/>
          </p:nvPr>
        </p:nvSpPr>
        <p:spPr>
          <a:xfrm>
            <a:off x="3416272" y="3134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663" name="Google Shape;1663;p99"/>
          <p:cNvSpPr txBox="1"/>
          <p:nvPr>
            <p:ph idx="1" type="body"/>
          </p:nvPr>
        </p:nvSpPr>
        <p:spPr>
          <a:xfrm rot="-5400000">
            <a:off x="371769" y="2166625"/>
            <a:ext cx="11163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frequency</a:t>
            </a:r>
            <a:endParaRPr sz="1600"/>
          </a:p>
        </p:txBody>
      </p:sp>
      <p:cxnSp>
        <p:nvCxnSpPr>
          <p:cNvPr id="1664" name="Google Shape;1664;p99"/>
          <p:cNvCxnSpPr/>
          <p:nvPr/>
        </p:nvCxnSpPr>
        <p:spPr>
          <a:xfrm rot="10800000">
            <a:off x="5491109" y="1461750"/>
            <a:ext cx="0" cy="168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5" name="Google Shape;1665;p99"/>
          <p:cNvCxnSpPr/>
          <p:nvPr/>
        </p:nvCxnSpPr>
        <p:spPr>
          <a:xfrm>
            <a:off x="5469315" y="3134650"/>
            <a:ext cx="2491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6" name="Google Shape;1666;p99"/>
          <p:cNvSpPr txBox="1"/>
          <p:nvPr>
            <p:ph idx="1" type="body"/>
          </p:nvPr>
        </p:nvSpPr>
        <p:spPr>
          <a:xfrm>
            <a:off x="5772525" y="3134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</a:t>
            </a:r>
            <a:endParaRPr sz="1600"/>
          </a:p>
        </p:txBody>
      </p:sp>
      <p:sp>
        <p:nvSpPr>
          <p:cNvPr id="1667" name="Google Shape;1667;p99"/>
          <p:cNvSpPr txBox="1"/>
          <p:nvPr>
            <p:ph idx="1" type="body"/>
          </p:nvPr>
        </p:nvSpPr>
        <p:spPr>
          <a:xfrm>
            <a:off x="6091855" y="3134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1668" name="Google Shape;1668;p99"/>
          <p:cNvSpPr txBox="1"/>
          <p:nvPr>
            <p:ph idx="1" type="body"/>
          </p:nvPr>
        </p:nvSpPr>
        <p:spPr>
          <a:xfrm>
            <a:off x="6418449" y="3134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1669" name="Google Shape;1669;p99"/>
          <p:cNvSpPr txBox="1"/>
          <p:nvPr>
            <p:ph idx="1" type="body"/>
          </p:nvPr>
        </p:nvSpPr>
        <p:spPr>
          <a:xfrm>
            <a:off x="6737779" y="3134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670" name="Google Shape;1670;p99"/>
          <p:cNvSpPr txBox="1"/>
          <p:nvPr>
            <p:ph idx="1" type="body"/>
          </p:nvPr>
        </p:nvSpPr>
        <p:spPr>
          <a:xfrm>
            <a:off x="7086946" y="3134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671" name="Google Shape;1671;p99"/>
          <p:cNvSpPr txBox="1"/>
          <p:nvPr>
            <p:ph idx="1" type="body"/>
          </p:nvPr>
        </p:nvSpPr>
        <p:spPr>
          <a:xfrm>
            <a:off x="7433059" y="3134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672" name="Google Shape;1672;p99"/>
          <p:cNvSpPr txBox="1"/>
          <p:nvPr>
            <p:ph idx="1" type="body"/>
          </p:nvPr>
        </p:nvSpPr>
        <p:spPr>
          <a:xfrm>
            <a:off x="5278970" y="29822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673" name="Google Shape;1673;p99"/>
          <p:cNvSpPr txBox="1"/>
          <p:nvPr>
            <p:ph idx="1" type="body"/>
          </p:nvPr>
        </p:nvSpPr>
        <p:spPr>
          <a:xfrm>
            <a:off x="5210115" y="2249317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674" name="Google Shape;1674;p99"/>
          <p:cNvSpPr txBox="1"/>
          <p:nvPr>
            <p:ph idx="1" type="body"/>
          </p:nvPr>
        </p:nvSpPr>
        <p:spPr>
          <a:xfrm>
            <a:off x="5202644" y="18828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1675" name="Google Shape;1675;p99"/>
          <p:cNvSpPr txBox="1"/>
          <p:nvPr>
            <p:ph idx="1" type="body"/>
          </p:nvPr>
        </p:nvSpPr>
        <p:spPr>
          <a:xfrm rot="-5400000">
            <a:off x="4388556" y="2166625"/>
            <a:ext cx="11163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frequency</a:t>
            </a:r>
            <a:endParaRPr sz="1600"/>
          </a:p>
        </p:txBody>
      </p:sp>
      <p:sp>
        <p:nvSpPr>
          <p:cNvPr id="1676" name="Google Shape;1676;p99"/>
          <p:cNvSpPr txBox="1"/>
          <p:nvPr>
            <p:ph idx="1" type="body"/>
          </p:nvPr>
        </p:nvSpPr>
        <p:spPr>
          <a:xfrm>
            <a:off x="5286315" y="2615783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677" name="Google Shape;1677;p99"/>
          <p:cNvSpPr txBox="1"/>
          <p:nvPr>
            <p:ph idx="1" type="body"/>
          </p:nvPr>
        </p:nvSpPr>
        <p:spPr>
          <a:xfrm>
            <a:off x="5202644" y="15018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678" name="Google Shape;1678;p99"/>
          <p:cNvSpPr txBox="1"/>
          <p:nvPr>
            <p:ph idx="1" type="body"/>
          </p:nvPr>
        </p:nvSpPr>
        <p:spPr>
          <a:xfrm>
            <a:off x="1240370" y="29822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679" name="Google Shape;1679;p99"/>
          <p:cNvSpPr txBox="1"/>
          <p:nvPr>
            <p:ph idx="1" type="body"/>
          </p:nvPr>
        </p:nvSpPr>
        <p:spPr>
          <a:xfrm>
            <a:off x="1171515" y="2249317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680" name="Google Shape;1680;p99"/>
          <p:cNvSpPr txBox="1"/>
          <p:nvPr>
            <p:ph idx="1" type="body"/>
          </p:nvPr>
        </p:nvSpPr>
        <p:spPr>
          <a:xfrm>
            <a:off x="1164044" y="18828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15</a:t>
            </a:r>
            <a:endParaRPr sz="1600"/>
          </a:p>
        </p:txBody>
      </p:sp>
      <p:sp>
        <p:nvSpPr>
          <p:cNvPr id="1681" name="Google Shape;1681;p99"/>
          <p:cNvSpPr txBox="1"/>
          <p:nvPr>
            <p:ph idx="1" type="body"/>
          </p:nvPr>
        </p:nvSpPr>
        <p:spPr>
          <a:xfrm>
            <a:off x="1247715" y="2615783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682" name="Google Shape;1682;p99"/>
          <p:cNvSpPr txBox="1"/>
          <p:nvPr>
            <p:ph idx="1" type="body"/>
          </p:nvPr>
        </p:nvSpPr>
        <p:spPr>
          <a:xfrm>
            <a:off x="1164044" y="15018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20</a:t>
            </a:r>
            <a:endParaRPr sz="1600"/>
          </a:p>
        </p:txBody>
      </p:sp>
      <p:sp>
        <p:nvSpPr>
          <p:cNvPr id="1683" name="Google Shape;1683;p99"/>
          <p:cNvSpPr txBox="1"/>
          <p:nvPr>
            <p:ph idx="1" type="body"/>
          </p:nvPr>
        </p:nvSpPr>
        <p:spPr>
          <a:xfrm>
            <a:off x="2400839" y="1102978"/>
            <a:ext cx="41178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</a:t>
            </a:r>
            <a:r>
              <a:rPr lang="en-GB" sz="2000"/>
              <a:t>.g. rolling a dice 60 times.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8" name="Google Shape;1688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5158" y="1496508"/>
            <a:ext cx="2293661" cy="179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9" name="Google Shape;1689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9880" y="1511250"/>
            <a:ext cx="2200608" cy="176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0" name="Google Shape;1690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Considering the number of trials required</a:t>
            </a:r>
            <a:endParaRPr/>
          </a:p>
        </p:txBody>
      </p:sp>
      <p:sp>
        <p:nvSpPr>
          <p:cNvPr id="1691" name="Google Shape;1691;p100"/>
          <p:cNvSpPr txBox="1"/>
          <p:nvPr>
            <p:ph idx="1" type="body"/>
          </p:nvPr>
        </p:nvSpPr>
        <p:spPr>
          <a:xfrm>
            <a:off x="324000" y="759300"/>
            <a:ext cx="8496000" cy="7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/>
              <a:t>Experiments</a:t>
            </a:r>
            <a:r>
              <a:rPr lang="en-GB" sz="1800"/>
              <a:t> with a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large number of trials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/>
              <a:t>are more likely to produce more consistent results.</a:t>
            </a:r>
            <a:endParaRPr sz="1800"/>
          </a:p>
        </p:txBody>
      </p:sp>
      <p:sp>
        <p:nvSpPr>
          <p:cNvPr id="1692" name="Google Shape;1692;p100"/>
          <p:cNvSpPr txBox="1"/>
          <p:nvPr>
            <p:ph idx="1" type="body"/>
          </p:nvPr>
        </p:nvSpPr>
        <p:spPr>
          <a:xfrm>
            <a:off x="324000" y="3602952"/>
            <a:ext cx="8496000" cy="14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Use the link to see some simulations of </a:t>
            </a:r>
            <a:r>
              <a:rPr b="1" lang="en-GB" sz="1800"/>
              <a:t>experiments </a:t>
            </a:r>
            <a:r>
              <a:rPr lang="en-GB" sz="1800"/>
              <a:t>where a fair dice is rolled 6000 times. Move the slider to see the results from each experiment.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Notice how the results appear less varied between </a:t>
            </a:r>
            <a:r>
              <a:rPr b="1" lang="en-GB" sz="1800"/>
              <a:t>experiments</a:t>
            </a:r>
            <a:r>
              <a:rPr lang="en-GB" sz="1800"/>
              <a:t>.</a:t>
            </a:r>
            <a:endParaRPr/>
          </a:p>
        </p:txBody>
      </p:sp>
      <p:sp>
        <p:nvSpPr>
          <p:cNvPr id="1693" name="Google Shape;1693;p100"/>
          <p:cNvSpPr txBox="1"/>
          <p:nvPr>
            <p:ph idx="1" type="body"/>
          </p:nvPr>
        </p:nvSpPr>
        <p:spPr>
          <a:xfrm>
            <a:off x="324000" y="4216450"/>
            <a:ext cx="3261900" cy="26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u="sng">
                <a:solidFill>
                  <a:schemeClr val="hlink"/>
                </a:solidFill>
                <a:hlinkClick r:id="rId5"/>
              </a:rPr>
              <a:t>dice - 6000 trials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/>
              <a:t>🖇</a:t>
            </a:r>
            <a:r>
              <a:rPr lang="en-GB" sz="1800">
                <a:solidFill>
                  <a:srgbClr val="282828"/>
                </a:solidFill>
              </a:rPr>
              <a:t> </a:t>
            </a:r>
            <a:endParaRPr sz="1800"/>
          </a:p>
        </p:txBody>
      </p:sp>
      <p:cxnSp>
        <p:nvCxnSpPr>
          <p:cNvPr id="1694" name="Google Shape;1694;p100"/>
          <p:cNvCxnSpPr/>
          <p:nvPr/>
        </p:nvCxnSpPr>
        <p:spPr>
          <a:xfrm rot="10800000">
            <a:off x="1474322" y="1390350"/>
            <a:ext cx="0" cy="1905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5" name="Google Shape;1695;p100"/>
          <p:cNvCxnSpPr/>
          <p:nvPr/>
        </p:nvCxnSpPr>
        <p:spPr>
          <a:xfrm>
            <a:off x="1452528" y="3287050"/>
            <a:ext cx="2491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6" name="Google Shape;1696;p100"/>
          <p:cNvSpPr txBox="1"/>
          <p:nvPr>
            <p:ph idx="1" type="body"/>
          </p:nvPr>
        </p:nvSpPr>
        <p:spPr>
          <a:xfrm>
            <a:off x="1755738" y="32870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</a:t>
            </a:r>
            <a:endParaRPr sz="1600"/>
          </a:p>
        </p:txBody>
      </p:sp>
      <p:sp>
        <p:nvSpPr>
          <p:cNvPr id="1697" name="Google Shape;1697;p100"/>
          <p:cNvSpPr txBox="1"/>
          <p:nvPr>
            <p:ph idx="1" type="body"/>
          </p:nvPr>
        </p:nvSpPr>
        <p:spPr>
          <a:xfrm>
            <a:off x="2075068" y="32870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1698" name="Google Shape;1698;p100"/>
          <p:cNvSpPr txBox="1"/>
          <p:nvPr>
            <p:ph idx="1" type="body"/>
          </p:nvPr>
        </p:nvSpPr>
        <p:spPr>
          <a:xfrm>
            <a:off x="2401662" y="32870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1699" name="Google Shape;1699;p100"/>
          <p:cNvSpPr txBox="1"/>
          <p:nvPr>
            <p:ph idx="1" type="body"/>
          </p:nvPr>
        </p:nvSpPr>
        <p:spPr>
          <a:xfrm>
            <a:off x="2720992" y="32870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700" name="Google Shape;1700;p100"/>
          <p:cNvSpPr txBox="1"/>
          <p:nvPr>
            <p:ph idx="1" type="body"/>
          </p:nvPr>
        </p:nvSpPr>
        <p:spPr>
          <a:xfrm>
            <a:off x="3070159" y="32870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701" name="Google Shape;1701;p100"/>
          <p:cNvSpPr txBox="1"/>
          <p:nvPr>
            <p:ph idx="1" type="body"/>
          </p:nvPr>
        </p:nvSpPr>
        <p:spPr>
          <a:xfrm>
            <a:off x="3416272" y="32870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702" name="Google Shape;1702;p100"/>
          <p:cNvSpPr txBox="1"/>
          <p:nvPr>
            <p:ph idx="1" type="body"/>
          </p:nvPr>
        </p:nvSpPr>
        <p:spPr>
          <a:xfrm rot="-5400000">
            <a:off x="219369" y="2319025"/>
            <a:ext cx="11163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frequency</a:t>
            </a:r>
            <a:endParaRPr sz="1600"/>
          </a:p>
        </p:txBody>
      </p:sp>
      <p:cxnSp>
        <p:nvCxnSpPr>
          <p:cNvPr id="1703" name="Google Shape;1703;p100"/>
          <p:cNvCxnSpPr/>
          <p:nvPr/>
        </p:nvCxnSpPr>
        <p:spPr>
          <a:xfrm rot="10800000">
            <a:off x="5719709" y="1389150"/>
            <a:ext cx="0" cy="190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4" name="Google Shape;1704;p100"/>
          <p:cNvCxnSpPr/>
          <p:nvPr/>
        </p:nvCxnSpPr>
        <p:spPr>
          <a:xfrm>
            <a:off x="5697915" y="3287050"/>
            <a:ext cx="2491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5" name="Google Shape;1705;p100"/>
          <p:cNvSpPr txBox="1"/>
          <p:nvPr>
            <p:ph idx="1" type="body"/>
          </p:nvPr>
        </p:nvSpPr>
        <p:spPr>
          <a:xfrm>
            <a:off x="6001125" y="32870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</a:t>
            </a:r>
            <a:endParaRPr sz="1600"/>
          </a:p>
        </p:txBody>
      </p:sp>
      <p:sp>
        <p:nvSpPr>
          <p:cNvPr id="1706" name="Google Shape;1706;p100"/>
          <p:cNvSpPr txBox="1"/>
          <p:nvPr>
            <p:ph idx="1" type="body"/>
          </p:nvPr>
        </p:nvSpPr>
        <p:spPr>
          <a:xfrm>
            <a:off x="6320455" y="32870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1707" name="Google Shape;1707;p100"/>
          <p:cNvSpPr txBox="1"/>
          <p:nvPr>
            <p:ph idx="1" type="body"/>
          </p:nvPr>
        </p:nvSpPr>
        <p:spPr>
          <a:xfrm>
            <a:off x="6647049" y="32870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1708" name="Google Shape;1708;p100"/>
          <p:cNvSpPr txBox="1"/>
          <p:nvPr>
            <p:ph idx="1" type="body"/>
          </p:nvPr>
        </p:nvSpPr>
        <p:spPr>
          <a:xfrm>
            <a:off x="6966379" y="32870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709" name="Google Shape;1709;p100"/>
          <p:cNvSpPr txBox="1"/>
          <p:nvPr>
            <p:ph idx="1" type="body"/>
          </p:nvPr>
        </p:nvSpPr>
        <p:spPr>
          <a:xfrm>
            <a:off x="7315546" y="32870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710" name="Google Shape;1710;p100"/>
          <p:cNvSpPr txBox="1"/>
          <p:nvPr>
            <p:ph idx="1" type="body"/>
          </p:nvPr>
        </p:nvSpPr>
        <p:spPr>
          <a:xfrm>
            <a:off x="7661659" y="32870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711" name="Google Shape;1711;p100"/>
          <p:cNvSpPr txBox="1"/>
          <p:nvPr>
            <p:ph idx="1" type="body"/>
          </p:nvPr>
        </p:nvSpPr>
        <p:spPr>
          <a:xfrm rot="-5400000">
            <a:off x="4388556" y="2319025"/>
            <a:ext cx="11163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frequency</a:t>
            </a:r>
            <a:endParaRPr sz="1600"/>
          </a:p>
        </p:txBody>
      </p:sp>
      <p:sp>
        <p:nvSpPr>
          <p:cNvPr id="1712" name="Google Shape;1712;p100"/>
          <p:cNvSpPr txBox="1"/>
          <p:nvPr>
            <p:ph idx="1" type="body"/>
          </p:nvPr>
        </p:nvSpPr>
        <p:spPr>
          <a:xfrm>
            <a:off x="1302028" y="3134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713" name="Google Shape;1713;p100"/>
          <p:cNvSpPr txBox="1"/>
          <p:nvPr>
            <p:ph idx="1" type="body"/>
          </p:nvPr>
        </p:nvSpPr>
        <p:spPr>
          <a:xfrm>
            <a:off x="1039536" y="2322844"/>
            <a:ext cx="5223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500</a:t>
            </a:r>
            <a:endParaRPr sz="1600"/>
          </a:p>
        </p:txBody>
      </p:sp>
      <p:sp>
        <p:nvSpPr>
          <p:cNvPr id="1714" name="Google Shape;1714;p100"/>
          <p:cNvSpPr txBox="1"/>
          <p:nvPr>
            <p:ph idx="1" type="body"/>
          </p:nvPr>
        </p:nvSpPr>
        <p:spPr>
          <a:xfrm>
            <a:off x="1046557" y="1916941"/>
            <a:ext cx="5223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750</a:t>
            </a:r>
            <a:endParaRPr sz="1600"/>
          </a:p>
        </p:txBody>
      </p:sp>
      <p:sp>
        <p:nvSpPr>
          <p:cNvPr id="1715" name="Google Shape;1715;p100"/>
          <p:cNvSpPr txBox="1"/>
          <p:nvPr>
            <p:ph idx="1" type="body"/>
          </p:nvPr>
        </p:nvSpPr>
        <p:spPr>
          <a:xfrm>
            <a:off x="1065068" y="2728747"/>
            <a:ext cx="4821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250</a:t>
            </a:r>
            <a:endParaRPr sz="1600"/>
          </a:p>
        </p:txBody>
      </p:sp>
      <p:sp>
        <p:nvSpPr>
          <p:cNvPr id="1716" name="Google Shape;1716;p100"/>
          <p:cNvSpPr txBox="1"/>
          <p:nvPr>
            <p:ph idx="1" type="body"/>
          </p:nvPr>
        </p:nvSpPr>
        <p:spPr>
          <a:xfrm>
            <a:off x="934187" y="1511038"/>
            <a:ext cx="5223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</a:t>
            </a:r>
            <a:r>
              <a:rPr lang="en-GB" sz="1600"/>
              <a:t>000</a:t>
            </a:r>
            <a:endParaRPr sz="1600"/>
          </a:p>
        </p:txBody>
      </p:sp>
      <p:sp>
        <p:nvSpPr>
          <p:cNvPr id="1717" name="Google Shape;1717;p100"/>
          <p:cNvSpPr txBox="1"/>
          <p:nvPr>
            <p:ph idx="1" type="body"/>
          </p:nvPr>
        </p:nvSpPr>
        <p:spPr>
          <a:xfrm>
            <a:off x="5493028" y="3134650"/>
            <a:ext cx="2379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718" name="Google Shape;1718;p100"/>
          <p:cNvSpPr txBox="1"/>
          <p:nvPr>
            <p:ph idx="1" type="body"/>
          </p:nvPr>
        </p:nvSpPr>
        <p:spPr>
          <a:xfrm>
            <a:off x="5230536" y="2322844"/>
            <a:ext cx="5223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500</a:t>
            </a:r>
            <a:endParaRPr sz="1600"/>
          </a:p>
        </p:txBody>
      </p:sp>
      <p:sp>
        <p:nvSpPr>
          <p:cNvPr id="1719" name="Google Shape;1719;p100"/>
          <p:cNvSpPr txBox="1"/>
          <p:nvPr>
            <p:ph idx="1" type="body"/>
          </p:nvPr>
        </p:nvSpPr>
        <p:spPr>
          <a:xfrm>
            <a:off x="5237557" y="1916941"/>
            <a:ext cx="5223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750</a:t>
            </a:r>
            <a:endParaRPr sz="1600"/>
          </a:p>
        </p:txBody>
      </p:sp>
      <p:sp>
        <p:nvSpPr>
          <p:cNvPr id="1720" name="Google Shape;1720;p100"/>
          <p:cNvSpPr txBox="1"/>
          <p:nvPr>
            <p:ph idx="1" type="body"/>
          </p:nvPr>
        </p:nvSpPr>
        <p:spPr>
          <a:xfrm>
            <a:off x="5256068" y="2728747"/>
            <a:ext cx="4821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250</a:t>
            </a:r>
            <a:endParaRPr sz="1600"/>
          </a:p>
        </p:txBody>
      </p:sp>
      <p:sp>
        <p:nvSpPr>
          <p:cNvPr id="1721" name="Google Shape;1721;p100"/>
          <p:cNvSpPr txBox="1"/>
          <p:nvPr>
            <p:ph idx="1" type="body"/>
          </p:nvPr>
        </p:nvSpPr>
        <p:spPr>
          <a:xfrm>
            <a:off x="5125187" y="1511038"/>
            <a:ext cx="5223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1000</a:t>
            </a:r>
            <a:endParaRPr sz="1600"/>
          </a:p>
        </p:txBody>
      </p:sp>
      <p:sp>
        <p:nvSpPr>
          <p:cNvPr id="1722" name="Google Shape;1722;p100"/>
          <p:cNvSpPr txBox="1"/>
          <p:nvPr>
            <p:ph idx="1" type="body"/>
          </p:nvPr>
        </p:nvSpPr>
        <p:spPr>
          <a:xfrm>
            <a:off x="2401650" y="1080003"/>
            <a:ext cx="4117800" cy="3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E.g. rolling a dice 6000 times.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101"/>
          <p:cNvSpPr txBox="1"/>
          <p:nvPr>
            <p:ph idx="1" type="subTitle"/>
          </p:nvPr>
        </p:nvSpPr>
        <p:spPr>
          <a:xfrm>
            <a:off x="324000" y="1080000"/>
            <a:ext cx="8496000" cy="67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event A is more likely than event B, then A will </a:t>
            </a:r>
            <a:r>
              <a:rPr lang="en-GB" sz="2000">
                <a:solidFill>
                  <a:schemeClr val="accent5"/>
                </a:solidFill>
              </a:rPr>
              <a:t>always</a:t>
            </a:r>
            <a:r>
              <a:rPr lang="en-GB" sz="2000"/>
              <a:t> happen more often than B during an </a:t>
            </a:r>
            <a:r>
              <a:rPr b="1" lang="en-GB" sz="2000"/>
              <a:t>experiment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728" name="Google Shape;1728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Considering the number of trials required</a:t>
            </a:r>
            <a:endParaRPr/>
          </a:p>
        </p:txBody>
      </p:sp>
      <p:sp>
        <p:nvSpPr>
          <p:cNvPr id="1729" name="Google Shape;1729;p101"/>
          <p:cNvSpPr txBox="1"/>
          <p:nvPr>
            <p:ph idx="2" type="subTitle"/>
          </p:nvPr>
        </p:nvSpPr>
        <p:spPr>
          <a:xfrm>
            <a:off x="980575" y="3196125"/>
            <a:ext cx="78852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 event that has a lower likelihood may still happen more often by chance.</a:t>
            </a:r>
            <a:endParaRPr sz="2000"/>
          </a:p>
        </p:txBody>
      </p:sp>
      <p:sp>
        <p:nvSpPr>
          <p:cNvPr id="1730" name="Google Shape;1730;p10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one event is more likely than another then it means that it will always happen more often.</a:t>
            </a:r>
            <a:endParaRPr sz="2000"/>
          </a:p>
        </p:txBody>
      </p:sp>
      <p:pic>
        <p:nvPicPr>
          <p:cNvPr id="1731" name="Google Shape;1731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733" y="19033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2" name="Google Shape;1732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9658" y="3420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102"/>
          <p:cNvSpPr txBox="1"/>
          <p:nvPr>
            <p:ph idx="1" type="subTitle"/>
          </p:nvPr>
        </p:nvSpPr>
        <p:spPr>
          <a:xfrm>
            <a:off x="324000" y="1080000"/>
            <a:ext cx="8496000" cy="67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event A has a greater frequency than event B during an </a:t>
            </a:r>
            <a:r>
              <a:rPr b="1" lang="en-GB" sz="2000"/>
              <a:t>experiment</a:t>
            </a:r>
            <a:r>
              <a:rPr lang="en-GB" sz="2000"/>
              <a:t>, you can be certain that A is more likely than B. </a:t>
            </a:r>
            <a:endParaRPr sz="2000"/>
          </a:p>
        </p:txBody>
      </p:sp>
      <p:sp>
        <p:nvSpPr>
          <p:cNvPr id="1738" name="Google Shape;1738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Considering the number of trials required</a:t>
            </a:r>
            <a:endParaRPr/>
          </a:p>
        </p:txBody>
      </p:sp>
      <p:sp>
        <p:nvSpPr>
          <p:cNvPr id="1739" name="Google Shape;1739;p102"/>
          <p:cNvSpPr txBox="1"/>
          <p:nvPr>
            <p:ph idx="2" type="subTitle"/>
          </p:nvPr>
        </p:nvSpPr>
        <p:spPr>
          <a:xfrm>
            <a:off x="980575" y="3196125"/>
            <a:ext cx="78852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 event that has </a:t>
            </a:r>
            <a:r>
              <a:rPr lang="en-GB" sz="2000"/>
              <a:t>a lower likelihood </a:t>
            </a:r>
            <a:r>
              <a:rPr lang="en-GB" sz="2000"/>
              <a:t>may still happen more often by chance.</a:t>
            </a:r>
            <a:endParaRPr sz="2000"/>
          </a:p>
        </p:txBody>
      </p:sp>
      <p:sp>
        <p:nvSpPr>
          <p:cNvPr id="1740" name="Google Shape;1740;p10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b="1" lang="en-GB" sz="2000"/>
              <a:t>experiment</a:t>
            </a:r>
            <a:r>
              <a:rPr lang="en-GB" sz="2000"/>
              <a:t> proves that event A is more likely to happen again than event B.</a:t>
            </a:r>
            <a:endParaRPr sz="2000"/>
          </a:p>
        </p:txBody>
      </p:sp>
      <p:pic>
        <p:nvPicPr>
          <p:cNvPr id="1741" name="Google Shape;1741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733" y="19033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2" name="Google Shape;1742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9658" y="3420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103"/>
          <p:cNvSpPr txBox="1"/>
          <p:nvPr>
            <p:ph type="title"/>
          </p:nvPr>
        </p:nvSpPr>
        <p:spPr>
          <a:xfrm>
            <a:off x="324000" y="748782"/>
            <a:ext cx="8179200" cy="71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could an </a:t>
            </a:r>
            <a:r>
              <a:rPr b="1" lang="en-GB"/>
              <a:t>experiment</a:t>
            </a:r>
            <a:r>
              <a:rPr lang="en-GB"/>
              <a:t> be improved to create a more reliable set of results? </a:t>
            </a:r>
            <a:endParaRPr/>
          </a:p>
        </p:txBody>
      </p:sp>
      <p:sp>
        <p:nvSpPr>
          <p:cNvPr id="1748" name="Google Shape;1748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Planning and conducting experiments</a:t>
            </a:r>
            <a:endParaRPr/>
          </a:p>
        </p:txBody>
      </p:sp>
      <p:sp>
        <p:nvSpPr>
          <p:cNvPr id="1749" name="Google Shape;1749;p103"/>
          <p:cNvSpPr txBox="1"/>
          <p:nvPr>
            <p:ph idx="1" type="subTitle"/>
          </p:nvPr>
        </p:nvSpPr>
        <p:spPr>
          <a:xfrm>
            <a:off x="1034425" y="1837775"/>
            <a:ext cx="7785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Conduct an </a:t>
            </a:r>
            <a:r>
              <a:rPr b="1" lang="en-GB"/>
              <a:t>experiment</a:t>
            </a:r>
            <a:r>
              <a:rPr lang="en-GB"/>
              <a:t> with a </a:t>
            </a:r>
            <a:r>
              <a:rPr lang="en-GB">
                <a:solidFill>
                  <a:schemeClr val="accent5"/>
                </a:solidFill>
              </a:rPr>
              <a:t>greater </a:t>
            </a:r>
            <a:r>
              <a:rPr lang="en-GB"/>
              <a:t>number of trials.</a:t>
            </a:r>
            <a:endParaRPr/>
          </a:p>
        </p:txBody>
      </p:sp>
      <p:sp>
        <p:nvSpPr>
          <p:cNvPr id="1750" name="Google Shape;1750;p103"/>
          <p:cNvSpPr txBox="1"/>
          <p:nvPr>
            <p:ph idx="3" type="subTitle"/>
          </p:nvPr>
        </p:nvSpPr>
        <p:spPr>
          <a:xfrm>
            <a:off x="1034425" y="2794252"/>
            <a:ext cx="7785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Conduct an </a:t>
            </a:r>
            <a:r>
              <a:rPr b="1" lang="en-GB"/>
              <a:t>experiment</a:t>
            </a:r>
            <a:r>
              <a:rPr lang="en-GB"/>
              <a:t> with a </a:t>
            </a:r>
            <a:r>
              <a:rPr lang="en-GB">
                <a:solidFill>
                  <a:schemeClr val="accent5"/>
                </a:solidFill>
              </a:rPr>
              <a:t>smaller</a:t>
            </a:r>
            <a:r>
              <a:rPr lang="en-GB"/>
              <a:t> number of trials.</a:t>
            </a:r>
            <a:endParaRPr/>
          </a:p>
        </p:txBody>
      </p:sp>
      <p:sp>
        <p:nvSpPr>
          <p:cNvPr id="1751" name="Google Shape;1751;p103"/>
          <p:cNvSpPr txBox="1"/>
          <p:nvPr>
            <p:ph idx="4" type="subTitle"/>
          </p:nvPr>
        </p:nvSpPr>
        <p:spPr>
          <a:xfrm>
            <a:off x="1034425" y="3766975"/>
            <a:ext cx="7742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</a:t>
            </a:r>
            <a:r>
              <a:rPr lang="en-GB"/>
              <a:t> </a:t>
            </a:r>
            <a:r>
              <a:rPr b="1" lang="en-GB"/>
              <a:t>e</a:t>
            </a:r>
            <a:r>
              <a:rPr b="1" lang="en-GB"/>
              <a:t>xperiment </a:t>
            </a:r>
            <a:r>
              <a:rPr lang="en-GB"/>
              <a:t>can </a:t>
            </a:r>
            <a:r>
              <a:rPr lang="en-GB">
                <a:solidFill>
                  <a:schemeClr val="accent5"/>
                </a:solidFill>
              </a:rPr>
              <a:t>never</a:t>
            </a:r>
            <a:r>
              <a:rPr lang="en-GB"/>
              <a:t> be improved.</a:t>
            </a:r>
            <a:endParaRPr/>
          </a:p>
        </p:txBody>
      </p:sp>
      <p:pic>
        <p:nvPicPr>
          <p:cNvPr id="1752" name="Google Shape;1752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0533" y="20087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7" name="Google Shape;1757;p104"/>
          <p:cNvGrpSpPr/>
          <p:nvPr/>
        </p:nvGrpSpPr>
        <p:grpSpPr>
          <a:xfrm>
            <a:off x="6451828" y="2767516"/>
            <a:ext cx="640295" cy="307112"/>
            <a:chOff x="4209500" y="2068525"/>
            <a:chExt cx="937200" cy="612508"/>
          </a:xfrm>
        </p:grpSpPr>
        <p:sp>
          <p:nvSpPr>
            <p:cNvPr id="1758" name="Google Shape;1758;p104"/>
            <p:cNvSpPr/>
            <p:nvPr/>
          </p:nvSpPr>
          <p:spPr>
            <a:xfrm>
              <a:off x="4270950" y="2068525"/>
              <a:ext cx="798900" cy="536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9" name="Google Shape;1759;p104"/>
            <p:cNvSpPr/>
            <p:nvPr/>
          </p:nvSpPr>
          <p:spPr>
            <a:xfrm>
              <a:off x="4209500" y="2244533"/>
              <a:ext cx="937200" cy="436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0" name="Google Shape;1760;p104"/>
          <p:cNvGrpSpPr/>
          <p:nvPr/>
        </p:nvGrpSpPr>
        <p:grpSpPr>
          <a:xfrm flipH="1" rot="10800000">
            <a:off x="7196829" y="2522974"/>
            <a:ext cx="640295" cy="307112"/>
            <a:chOff x="4209500" y="2068525"/>
            <a:chExt cx="937200" cy="612508"/>
          </a:xfrm>
        </p:grpSpPr>
        <p:sp>
          <p:nvSpPr>
            <p:cNvPr id="1761" name="Google Shape;1761;p104"/>
            <p:cNvSpPr/>
            <p:nvPr/>
          </p:nvSpPr>
          <p:spPr>
            <a:xfrm>
              <a:off x="4270950" y="2068525"/>
              <a:ext cx="798900" cy="536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2" name="Google Shape;1762;p104"/>
            <p:cNvSpPr/>
            <p:nvPr/>
          </p:nvSpPr>
          <p:spPr>
            <a:xfrm>
              <a:off x="4209500" y="2244533"/>
              <a:ext cx="937200" cy="436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63" name="Google Shape;1763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8850" y="1276187"/>
            <a:ext cx="2058825" cy="13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4" name="Google Shape;1764;p104"/>
          <p:cNvSpPr txBox="1"/>
          <p:nvPr>
            <p:ph idx="1" type="body"/>
          </p:nvPr>
        </p:nvSpPr>
        <p:spPr>
          <a:xfrm>
            <a:off x="324000" y="759300"/>
            <a:ext cx="8496000" cy="2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A class investigates which outcome is most likely when a frisbee is flipped.</a:t>
            </a:r>
            <a:endParaRPr sz="1800"/>
          </a:p>
        </p:txBody>
      </p:sp>
      <p:sp>
        <p:nvSpPr>
          <p:cNvPr id="1765" name="Google Shape;1765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Considering the </a:t>
            </a:r>
            <a:r>
              <a:rPr lang="en-GB"/>
              <a:t>number</a:t>
            </a:r>
            <a:r>
              <a:rPr lang="en-GB"/>
              <a:t> of trials required</a:t>
            </a:r>
            <a:endParaRPr/>
          </a:p>
        </p:txBody>
      </p:sp>
      <p:sp>
        <p:nvSpPr>
          <p:cNvPr id="1766" name="Google Shape;1766;p104"/>
          <p:cNvSpPr txBox="1"/>
          <p:nvPr>
            <p:ph idx="1" type="body"/>
          </p:nvPr>
        </p:nvSpPr>
        <p:spPr>
          <a:xfrm>
            <a:off x="324000" y="1216500"/>
            <a:ext cx="4992600" cy="133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</a:t>
            </a:r>
            <a:r>
              <a:rPr lang="en-GB" sz="1800"/>
              <a:t>) An </a:t>
            </a:r>
            <a:r>
              <a:rPr b="1" lang="en-GB" sz="1800"/>
              <a:t>experiment</a:t>
            </a:r>
            <a:r>
              <a:rPr lang="en-GB" sz="1800"/>
              <a:t> is conducted with 10 trials.</a:t>
            </a:r>
            <a:br>
              <a:rPr lang="en-GB" sz="1800"/>
            </a:br>
            <a:r>
              <a:rPr lang="en-GB" sz="1800"/>
              <a:t>The bar chart shows the results.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Does one outcome appear more likely to happen than the other? If so, which one?</a:t>
            </a:r>
            <a:endParaRPr sz="1800"/>
          </a:p>
        </p:txBody>
      </p:sp>
      <p:cxnSp>
        <p:nvCxnSpPr>
          <p:cNvPr id="1767" name="Google Shape;1767;p104"/>
          <p:cNvCxnSpPr/>
          <p:nvPr/>
        </p:nvCxnSpPr>
        <p:spPr>
          <a:xfrm>
            <a:off x="6123644" y="2479409"/>
            <a:ext cx="232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8" name="Google Shape;1768;p104"/>
          <p:cNvCxnSpPr/>
          <p:nvPr/>
        </p:nvCxnSpPr>
        <p:spPr>
          <a:xfrm rot="10800000">
            <a:off x="6123644" y="1078794"/>
            <a:ext cx="0" cy="140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9" name="Google Shape;1769;p104"/>
          <p:cNvCxnSpPr/>
          <p:nvPr/>
        </p:nvCxnSpPr>
        <p:spPr>
          <a:xfrm rot="10800000">
            <a:off x="6050974" y="2475089"/>
            <a:ext cx="8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0" name="Google Shape;1770;p104"/>
          <p:cNvCxnSpPr/>
          <p:nvPr/>
        </p:nvCxnSpPr>
        <p:spPr>
          <a:xfrm rot="10800000">
            <a:off x="6050974" y="2109167"/>
            <a:ext cx="8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1" name="Google Shape;1771;p104"/>
          <p:cNvCxnSpPr/>
          <p:nvPr/>
        </p:nvCxnSpPr>
        <p:spPr>
          <a:xfrm rot="10800000">
            <a:off x="6050974" y="1377322"/>
            <a:ext cx="8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2" name="Google Shape;1772;p104"/>
          <p:cNvSpPr txBox="1"/>
          <p:nvPr>
            <p:ph idx="4294967295" type="body"/>
          </p:nvPr>
        </p:nvSpPr>
        <p:spPr>
          <a:xfrm>
            <a:off x="5915278" y="1254158"/>
            <a:ext cx="1629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773" name="Google Shape;1773;p104"/>
          <p:cNvSpPr txBox="1"/>
          <p:nvPr>
            <p:ph idx="4294967295" type="body"/>
          </p:nvPr>
        </p:nvSpPr>
        <p:spPr>
          <a:xfrm>
            <a:off x="5915525" y="2347346"/>
            <a:ext cx="1353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774" name="Google Shape;1774;p104"/>
          <p:cNvSpPr txBox="1"/>
          <p:nvPr>
            <p:ph idx="4294967295" type="body"/>
          </p:nvPr>
        </p:nvSpPr>
        <p:spPr>
          <a:xfrm>
            <a:off x="6448925" y="2460325"/>
            <a:ext cx="6687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heads</a:t>
            </a:r>
            <a:endParaRPr sz="1600"/>
          </a:p>
        </p:txBody>
      </p:sp>
      <p:sp>
        <p:nvSpPr>
          <p:cNvPr id="1775" name="Google Shape;1775;p104"/>
          <p:cNvSpPr txBox="1"/>
          <p:nvPr>
            <p:ph idx="4294967295" type="body"/>
          </p:nvPr>
        </p:nvSpPr>
        <p:spPr>
          <a:xfrm>
            <a:off x="7303473" y="2460325"/>
            <a:ext cx="5127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tails</a:t>
            </a:r>
            <a:endParaRPr sz="1600"/>
          </a:p>
        </p:txBody>
      </p:sp>
      <p:sp>
        <p:nvSpPr>
          <p:cNvPr id="1776" name="Google Shape;1776;p104"/>
          <p:cNvSpPr txBox="1"/>
          <p:nvPr>
            <p:ph idx="4294967295" type="body"/>
          </p:nvPr>
        </p:nvSpPr>
        <p:spPr>
          <a:xfrm rot="-5400000">
            <a:off x="5095357" y="1774546"/>
            <a:ext cx="9945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frequency</a:t>
            </a:r>
            <a:endParaRPr sz="1600"/>
          </a:p>
        </p:txBody>
      </p:sp>
      <p:cxnSp>
        <p:nvCxnSpPr>
          <p:cNvPr id="1777" name="Google Shape;1777;p104"/>
          <p:cNvCxnSpPr/>
          <p:nvPr/>
        </p:nvCxnSpPr>
        <p:spPr>
          <a:xfrm rot="10800000">
            <a:off x="6050974" y="1743244"/>
            <a:ext cx="8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8" name="Google Shape;1778;p104"/>
          <p:cNvSpPr txBox="1"/>
          <p:nvPr>
            <p:ph idx="4294967295" type="body"/>
          </p:nvPr>
        </p:nvSpPr>
        <p:spPr>
          <a:xfrm>
            <a:off x="5915278" y="1615593"/>
            <a:ext cx="1629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779" name="Google Shape;1779;p104"/>
          <p:cNvSpPr txBox="1"/>
          <p:nvPr>
            <p:ph idx="4294967295" type="body"/>
          </p:nvPr>
        </p:nvSpPr>
        <p:spPr>
          <a:xfrm>
            <a:off x="5915278" y="1970864"/>
            <a:ext cx="1629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Considering the number of trials required</a:t>
            </a:r>
            <a:endParaRPr/>
          </a:p>
        </p:txBody>
      </p:sp>
      <p:sp>
        <p:nvSpPr>
          <p:cNvPr id="1785" name="Google Shape;1785;p105"/>
          <p:cNvSpPr txBox="1"/>
          <p:nvPr>
            <p:ph idx="1" type="body"/>
          </p:nvPr>
        </p:nvSpPr>
        <p:spPr>
          <a:xfrm>
            <a:off x="324000" y="810008"/>
            <a:ext cx="8496000" cy="15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Use the link to access a simulation of this experiment: </a:t>
            </a:r>
            <a:r>
              <a:rPr lang="en-GB" sz="1800" u="sng">
                <a:solidFill>
                  <a:schemeClr val="hlink"/>
                </a:solidFill>
                <a:hlinkClick r:id="rId3"/>
              </a:rPr>
              <a:t>Frisbee flip simulation</a:t>
            </a:r>
            <a:r>
              <a:rPr lang="en-GB" sz="1800"/>
              <a:t>🖇</a:t>
            </a:r>
            <a:br>
              <a:rPr lang="en-GB" sz="1800"/>
            </a:br>
            <a:r>
              <a:rPr lang="en-GB" sz="1800"/>
              <a:t>The box that says ‘count’ shows the number of trials completed.</a:t>
            </a:r>
            <a:br>
              <a:rPr lang="en-GB" sz="1800"/>
            </a:br>
            <a:r>
              <a:rPr lang="en-GB" sz="1800"/>
              <a:t>Press the ‘run’ button to begin the simulation and let it run for at least 500 trials.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do the results from this </a:t>
            </a:r>
            <a:r>
              <a:rPr b="1" lang="en-GB" sz="1800"/>
              <a:t>experiment</a:t>
            </a:r>
            <a:r>
              <a:rPr lang="en-GB" sz="1800"/>
              <a:t> differ to those in part (a)?</a:t>
            </a:r>
            <a:endParaRPr sz="1800"/>
          </a:p>
        </p:txBody>
      </p:sp>
      <p:sp>
        <p:nvSpPr>
          <p:cNvPr id="1786" name="Google Shape;1786;p105"/>
          <p:cNvSpPr txBox="1"/>
          <p:nvPr>
            <p:ph idx="1" type="body"/>
          </p:nvPr>
        </p:nvSpPr>
        <p:spPr>
          <a:xfrm>
            <a:off x="357625" y="3331253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Which </a:t>
            </a:r>
            <a:r>
              <a:rPr b="1" lang="en-GB" sz="1800"/>
              <a:t>experiment’s </a:t>
            </a:r>
            <a:r>
              <a:rPr lang="en-GB" sz="1800"/>
              <a:t>results seem more reliable? Justify your answer.</a:t>
            </a:r>
            <a:endParaRPr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1" name="Google Shape;1791;p106"/>
          <p:cNvGrpSpPr/>
          <p:nvPr/>
        </p:nvGrpSpPr>
        <p:grpSpPr>
          <a:xfrm>
            <a:off x="6451828" y="2767516"/>
            <a:ext cx="640295" cy="307112"/>
            <a:chOff x="4209500" y="2068525"/>
            <a:chExt cx="937200" cy="612508"/>
          </a:xfrm>
        </p:grpSpPr>
        <p:sp>
          <p:nvSpPr>
            <p:cNvPr id="1792" name="Google Shape;1792;p106"/>
            <p:cNvSpPr/>
            <p:nvPr/>
          </p:nvSpPr>
          <p:spPr>
            <a:xfrm>
              <a:off x="4270950" y="2068525"/>
              <a:ext cx="798900" cy="5364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3" name="Google Shape;1793;p106"/>
            <p:cNvSpPr/>
            <p:nvPr/>
          </p:nvSpPr>
          <p:spPr>
            <a:xfrm>
              <a:off x="4209500" y="2244533"/>
              <a:ext cx="937200" cy="436500"/>
            </a:xfrm>
            <a:prstGeom prst="rect">
              <a:avLst/>
            </a:prstGeom>
            <a:solidFill>
              <a:srgbClr val="E6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94" name="Google Shape;1794;p106"/>
          <p:cNvGrpSpPr/>
          <p:nvPr/>
        </p:nvGrpSpPr>
        <p:grpSpPr>
          <a:xfrm flipH="1" rot="10800000">
            <a:off x="7196829" y="2522974"/>
            <a:ext cx="640295" cy="307112"/>
            <a:chOff x="4209500" y="2068525"/>
            <a:chExt cx="937200" cy="612508"/>
          </a:xfrm>
        </p:grpSpPr>
        <p:sp>
          <p:nvSpPr>
            <p:cNvPr id="1795" name="Google Shape;1795;p106"/>
            <p:cNvSpPr/>
            <p:nvPr/>
          </p:nvSpPr>
          <p:spPr>
            <a:xfrm>
              <a:off x="4270950" y="2068525"/>
              <a:ext cx="798900" cy="536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6" name="Google Shape;1796;p106"/>
            <p:cNvSpPr/>
            <p:nvPr/>
          </p:nvSpPr>
          <p:spPr>
            <a:xfrm>
              <a:off x="4209500" y="2244533"/>
              <a:ext cx="937200" cy="436500"/>
            </a:xfrm>
            <a:prstGeom prst="rect">
              <a:avLst/>
            </a:prstGeom>
            <a:solidFill>
              <a:srgbClr val="E6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97" name="Google Shape;1797;p106"/>
          <p:cNvPicPr preferRelativeResize="0"/>
          <p:nvPr/>
        </p:nvPicPr>
        <p:blipFill rotWithShape="1">
          <a:blip r:embed="rId3">
            <a:alphaModFix/>
          </a:blip>
          <a:srcRect b="9641" l="0" r="0" t="0"/>
          <a:stretch/>
        </p:blipFill>
        <p:spPr>
          <a:xfrm>
            <a:off x="6118850" y="1276176"/>
            <a:ext cx="2058825" cy="120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8" name="Google Shape;1798;p106"/>
          <p:cNvSpPr txBox="1"/>
          <p:nvPr>
            <p:ph idx="1" type="body"/>
          </p:nvPr>
        </p:nvSpPr>
        <p:spPr>
          <a:xfrm>
            <a:off x="324000" y="759300"/>
            <a:ext cx="84960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A class investigates which outcome is most likely when a frisbee is flipped.</a:t>
            </a:r>
            <a:endParaRPr sz="1800"/>
          </a:p>
        </p:txBody>
      </p:sp>
      <p:sp>
        <p:nvSpPr>
          <p:cNvPr id="1799" name="Google Shape;1799;p10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Considering the number of trials required</a:t>
            </a:r>
            <a:endParaRPr/>
          </a:p>
        </p:txBody>
      </p:sp>
      <p:sp>
        <p:nvSpPr>
          <p:cNvPr id="1800" name="Google Shape;1800;p106"/>
          <p:cNvSpPr txBox="1"/>
          <p:nvPr>
            <p:ph idx="1" type="body"/>
          </p:nvPr>
        </p:nvSpPr>
        <p:spPr>
          <a:xfrm>
            <a:off x="324000" y="1216500"/>
            <a:ext cx="4992600" cy="133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An </a:t>
            </a:r>
            <a:r>
              <a:rPr b="1" lang="en-GB" sz="1800"/>
              <a:t>experiment</a:t>
            </a:r>
            <a:r>
              <a:rPr lang="en-GB" sz="1800"/>
              <a:t> is conducted with 10 trials.</a:t>
            </a:r>
            <a:br>
              <a:rPr lang="en-GB" sz="1800"/>
            </a:br>
            <a:r>
              <a:rPr lang="en-GB" sz="1800"/>
              <a:t>The bar chart shows the results.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Does one outcome appear more likely to happen than the other? If so, which one?</a:t>
            </a:r>
            <a:endParaRPr sz="1800"/>
          </a:p>
        </p:txBody>
      </p:sp>
      <p:cxnSp>
        <p:nvCxnSpPr>
          <p:cNvPr id="1801" name="Google Shape;1801;p106"/>
          <p:cNvCxnSpPr/>
          <p:nvPr/>
        </p:nvCxnSpPr>
        <p:spPr>
          <a:xfrm>
            <a:off x="6123644" y="2479409"/>
            <a:ext cx="232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2" name="Google Shape;1802;p106"/>
          <p:cNvCxnSpPr/>
          <p:nvPr/>
        </p:nvCxnSpPr>
        <p:spPr>
          <a:xfrm rot="10800000">
            <a:off x="6123644" y="1078794"/>
            <a:ext cx="0" cy="140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3" name="Google Shape;1803;p106"/>
          <p:cNvCxnSpPr/>
          <p:nvPr/>
        </p:nvCxnSpPr>
        <p:spPr>
          <a:xfrm rot="10800000">
            <a:off x="6050974" y="2475089"/>
            <a:ext cx="8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4" name="Google Shape;1804;p106"/>
          <p:cNvCxnSpPr/>
          <p:nvPr/>
        </p:nvCxnSpPr>
        <p:spPr>
          <a:xfrm rot="10800000">
            <a:off x="6050974" y="2109167"/>
            <a:ext cx="8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5" name="Google Shape;1805;p106"/>
          <p:cNvCxnSpPr/>
          <p:nvPr/>
        </p:nvCxnSpPr>
        <p:spPr>
          <a:xfrm rot="10800000">
            <a:off x="6050974" y="1377322"/>
            <a:ext cx="8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6" name="Google Shape;1806;p106"/>
          <p:cNvSpPr txBox="1"/>
          <p:nvPr>
            <p:ph idx="4294967295" type="body"/>
          </p:nvPr>
        </p:nvSpPr>
        <p:spPr>
          <a:xfrm>
            <a:off x="5915278" y="1254158"/>
            <a:ext cx="1629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807" name="Google Shape;1807;p106"/>
          <p:cNvSpPr txBox="1"/>
          <p:nvPr>
            <p:ph idx="4294967295" type="body"/>
          </p:nvPr>
        </p:nvSpPr>
        <p:spPr>
          <a:xfrm>
            <a:off x="5915525" y="2347346"/>
            <a:ext cx="1353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</a:t>
            </a:r>
            <a:endParaRPr sz="1600"/>
          </a:p>
        </p:txBody>
      </p:sp>
      <p:sp>
        <p:nvSpPr>
          <p:cNvPr id="1808" name="Google Shape;1808;p106"/>
          <p:cNvSpPr txBox="1"/>
          <p:nvPr>
            <p:ph idx="4294967295" type="body"/>
          </p:nvPr>
        </p:nvSpPr>
        <p:spPr>
          <a:xfrm>
            <a:off x="6448925" y="2460325"/>
            <a:ext cx="6687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heads</a:t>
            </a:r>
            <a:endParaRPr sz="1600"/>
          </a:p>
        </p:txBody>
      </p:sp>
      <p:sp>
        <p:nvSpPr>
          <p:cNvPr id="1809" name="Google Shape;1809;p106"/>
          <p:cNvSpPr txBox="1"/>
          <p:nvPr>
            <p:ph idx="4294967295" type="body"/>
          </p:nvPr>
        </p:nvSpPr>
        <p:spPr>
          <a:xfrm>
            <a:off x="7303473" y="2460325"/>
            <a:ext cx="5127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tails</a:t>
            </a:r>
            <a:endParaRPr sz="1600"/>
          </a:p>
        </p:txBody>
      </p:sp>
      <p:sp>
        <p:nvSpPr>
          <p:cNvPr id="1810" name="Google Shape;1810;p106"/>
          <p:cNvSpPr txBox="1"/>
          <p:nvPr>
            <p:ph idx="4294967295" type="body"/>
          </p:nvPr>
        </p:nvSpPr>
        <p:spPr>
          <a:xfrm rot="-5400000">
            <a:off x="5095357" y="1774546"/>
            <a:ext cx="9945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frequency</a:t>
            </a:r>
            <a:endParaRPr sz="1600"/>
          </a:p>
        </p:txBody>
      </p:sp>
      <p:cxnSp>
        <p:nvCxnSpPr>
          <p:cNvPr id="1811" name="Google Shape;1811;p106"/>
          <p:cNvCxnSpPr/>
          <p:nvPr/>
        </p:nvCxnSpPr>
        <p:spPr>
          <a:xfrm rot="10800000">
            <a:off x="6050974" y="1743244"/>
            <a:ext cx="86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2" name="Google Shape;1812;p106"/>
          <p:cNvSpPr txBox="1"/>
          <p:nvPr>
            <p:ph idx="4294967295" type="body"/>
          </p:nvPr>
        </p:nvSpPr>
        <p:spPr>
          <a:xfrm>
            <a:off x="5915278" y="1615593"/>
            <a:ext cx="1629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813" name="Google Shape;1813;p106"/>
          <p:cNvSpPr txBox="1"/>
          <p:nvPr>
            <p:ph idx="4294967295" type="body"/>
          </p:nvPr>
        </p:nvSpPr>
        <p:spPr>
          <a:xfrm>
            <a:off x="5915278" y="1970864"/>
            <a:ext cx="1629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1814" name="Google Shape;1814;p106"/>
          <p:cNvSpPr txBox="1"/>
          <p:nvPr/>
        </p:nvSpPr>
        <p:spPr>
          <a:xfrm>
            <a:off x="448850" y="2562000"/>
            <a:ext cx="404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outcomes appear equally likely.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5" name="Google Shape;1815;p106"/>
          <p:cNvSpPr txBox="1"/>
          <p:nvPr>
            <p:ph idx="1" type="body"/>
          </p:nvPr>
        </p:nvSpPr>
        <p:spPr>
          <a:xfrm>
            <a:off x="534556" y="5674978"/>
            <a:ext cx="68553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Answers may vary depending on results from the simulation.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10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Considering the number of trials required</a:t>
            </a:r>
            <a:endParaRPr/>
          </a:p>
        </p:txBody>
      </p:sp>
      <p:sp>
        <p:nvSpPr>
          <p:cNvPr id="1821" name="Google Shape;1821;p107"/>
          <p:cNvSpPr txBox="1"/>
          <p:nvPr>
            <p:ph idx="1" type="body"/>
          </p:nvPr>
        </p:nvSpPr>
        <p:spPr>
          <a:xfrm>
            <a:off x="324000" y="788448"/>
            <a:ext cx="8496000" cy="19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Use the link to access a simulation of this experiment: </a:t>
            </a:r>
            <a:r>
              <a:rPr lang="en-GB" sz="1800" u="sng">
                <a:solidFill>
                  <a:schemeClr val="hlink"/>
                </a:solidFill>
                <a:hlinkClick r:id="rId3"/>
              </a:rPr>
              <a:t>Frisbee flip simulation</a:t>
            </a:r>
            <a:r>
              <a:rPr lang="en-GB" sz="1800"/>
              <a:t>🖇</a:t>
            </a:r>
            <a:br>
              <a:rPr lang="en-GB" sz="1800"/>
            </a:br>
            <a:r>
              <a:rPr lang="en-GB" sz="1800"/>
              <a:t>The box that says ‘count’ shows the number of trials completed.</a:t>
            </a:r>
            <a:br>
              <a:rPr lang="en-GB" sz="1800"/>
            </a:br>
            <a:r>
              <a:rPr lang="en-GB" sz="1800"/>
              <a:t>Press the ‘run’ button to begin the simulation and let it run for at least 500 trials.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How do the results from this </a:t>
            </a:r>
            <a:r>
              <a:rPr b="1" lang="en-GB" sz="1800"/>
              <a:t>experiment</a:t>
            </a:r>
            <a:r>
              <a:rPr lang="en-GB" sz="1800"/>
              <a:t> differ to those in part (a)?</a:t>
            </a:r>
            <a:endParaRPr sz="1800"/>
          </a:p>
        </p:txBody>
      </p:sp>
      <p:sp>
        <p:nvSpPr>
          <p:cNvPr id="1822" name="Google Shape;1822;p107"/>
          <p:cNvSpPr txBox="1"/>
          <p:nvPr>
            <p:ph idx="1" type="body"/>
          </p:nvPr>
        </p:nvSpPr>
        <p:spPr>
          <a:xfrm>
            <a:off x="324000" y="3617578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Which </a:t>
            </a:r>
            <a:r>
              <a:rPr b="1" lang="en-GB" sz="1800"/>
              <a:t>experiment’s </a:t>
            </a:r>
            <a:r>
              <a:rPr lang="en-GB" sz="1800"/>
              <a:t>results seem more reliable? Justify your answer.</a:t>
            </a:r>
            <a:endParaRPr sz="1800"/>
          </a:p>
        </p:txBody>
      </p:sp>
      <p:sp>
        <p:nvSpPr>
          <p:cNvPr id="1823" name="Google Shape;1823;p107"/>
          <p:cNvSpPr txBox="1"/>
          <p:nvPr>
            <p:ph idx="1" type="body"/>
          </p:nvPr>
        </p:nvSpPr>
        <p:spPr>
          <a:xfrm>
            <a:off x="324000" y="2700000"/>
            <a:ext cx="8496000" cy="6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‘When using a large number of trials, heads happens slightly more often than tails. This could suggest that heads is slightly more likely than tails.’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4" name="Google Shape;1824;p107"/>
          <p:cNvSpPr txBox="1"/>
          <p:nvPr>
            <p:ph idx="1" type="body"/>
          </p:nvPr>
        </p:nvSpPr>
        <p:spPr>
          <a:xfrm>
            <a:off x="324000" y="4072050"/>
            <a:ext cx="8283000" cy="6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results from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experiment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 part (b) are more reliable because it uses a much greater number of trials.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10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 </a:t>
            </a:r>
            <a:r>
              <a:rPr b="1" lang="en-GB"/>
              <a:t>experiment</a:t>
            </a:r>
            <a:r>
              <a:rPr lang="en-GB"/>
              <a:t> can be designed to investigate whether one event is more likely than another.</a:t>
            </a:r>
            <a:br>
              <a:rPr lang="en-GB"/>
            </a:br>
            <a:endParaRPr sz="10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An </a:t>
            </a:r>
            <a:r>
              <a:rPr b="1" lang="en-GB"/>
              <a:t>experiment</a:t>
            </a:r>
            <a:r>
              <a:rPr lang="en-GB"/>
              <a:t> is a repetition of a trial multiple times in order to observe how often each outcome occurs.</a:t>
            </a:r>
            <a:br>
              <a:rPr lang="en-GB"/>
            </a:br>
            <a:endParaRPr sz="10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results from an </a:t>
            </a:r>
            <a:r>
              <a:rPr b="1" lang="en-GB"/>
              <a:t>experiment</a:t>
            </a:r>
            <a:r>
              <a:rPr lang="en-GB"/>
              <a:t> can be used to determine the likelihood of each event.</a:t>
            </a:r>
            <a:br>
              <a:rPr lang="en-GB"/>
            </a:br>
            <a:endParaRPr sz="10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 large number of trials may be needed in an </a:t>
            </a:r>
            <a:r>
              <a:rPr b="1" lang="en-GB"/>
              <a:t>experiment</a:t>
            </a:r>
            <a:r>
              <a:rPr lang="en-GB"/>
              <a:t> to produce reliable results.</a:t>
            </a:r>
            <a:endParaRPr/>
          </a:p>
        </p:txBody>
      </p:sp>
      <p:sp>
        <p:nvSpPr>
          <p:cNvPr id="1830" name="Google Shape;1830;p108"/>
          <p:cNvSpPr txBox="1"/>
          <p:nvPr>
            <p:ph type="title"/>
          </p:nvPr>
        </p:nvSpPr>
        <p:spPr>
          <a:xfrm>
            <a:off x="1684800" y="51100"/>
            <a:ext cx="5103300" cy="67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Experiments to determine how likely an outcome is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10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836" name="Google Shape;1836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