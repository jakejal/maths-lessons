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2" name="Shape 232"/>
        <p:cNvGrpSpPr/>
        <p:nvPr/>
      </p:nvGrpSpPr>
      <p:grpSpPr>
        <a:xfrm>
          <a:off x="0" y="0"/>
          <a:ext cx="0" cy="0"/>
        </a:xfrm>
      </p:grpSpPr>
      <p:sp>
        <p:nvSpPr>
          <p:cNvPr id="233" name="Google Shape;233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hyperlink" Target="https://www.desmos.com/calculator/lu4glebgap" TargetMode="External" /><Relationship Id="rId7" Type="http://schemas.openxmlformats.org/officeDocument/2006/relationships/image" Target="../media/image8.png" /><Relationship Id="rId8" Type="http://schemas.openxmlformats.org/officeDocument/2006/relationships/hyperlink" Target="https://www.desmos.com/calculator/f7yl1gqrcm" TargetMode="Externa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9.png" /><Relationship Id="rId4" Type="http://schemas.openxmlformats.org/officeDocument/2006/relationships/hyperlink" Target="https://www.desmos.com/calculator/ykq9jeeubj" TargetMode="Externa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Experiments to determine how likely an outcome is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" name="Google Shape;162;p20"/>
          <p:cNvSpPr txBox="1"/>
          <p:nvPr/>
        </p:nvSpPr>
        <p:spPr>
          <a:xfrm>
            <a:off x="474756" y="1684542"/>
            <a:ext cx="6617400" cy="1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dropped cone could land in one of two ways: ‘base down’ or ‘curve down’.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7999" y="1258850"/>
            <a:ext cx="64416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Planning and conducting experiments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4" name="Google Shape;16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0612" y="1882210"/>
            <a:ext cx="310535" cy="5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0453" y="2084640"/>
            <a:ext cx="695582" cy="3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468077" y="2113020"/>
            <a:ext cx="3689400" cy="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Plan an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experiment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investigate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which outcome is most likely to happen.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196974" y="2438435"/>
            <a:ext cx="1154700" cy="2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- base down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5647106" y="2438435"/>
            <a:ext cx="1239300" cy="2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- curve down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9" name="Google Shape;169;p20"/>
          <p:cNvPicPr preferRelativeResize="0"/>
          <p:nvPr/>
        </p:nvPicPr>
        <p:blipFill>
          <a:blip r:embed="rId5">
            <a:alphaModFix/>
          </a:blip>
          <a:srcRect l="7158" t="11316"/>
          <a:stretch>
            <a:fillRect/>
          </a:stretch>
        </p:blipFill>
        <p:spPr>
          <a:xfrm>
            <a:off x="5411116" y="3226984"/>
            <a:ext cx="951564" cy="100835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468075" y="4509998"/>
            <a:ext cx="6534000" cy="9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Use the link to access a simulation of this experiment: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Cone simulation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Press the ‘run’ button to begin the simulation and the ‘reset’ button to start again.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Try this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multiple times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with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large number of trials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each time.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How do the results affect your answers to part (b)?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68075" y="3301500"/>
            <a:ext cx="4286100" cy="7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bar chart shows the results from an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experiment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The cone is about to be dropped again.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In which position is it most likely to land?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2" name="Google Shape;172;p20"/>
          <p:cNvCxnSpPr/>
          <p:nvPr/>
        </p:nvCxnSpPr>
        <p:spPr>
          <a:xfrm>
            <a:off x="5387146" y="4187675"/>
            <a:ext cx="10455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3" name="Google Shape;173;p20"/>
          <p:cNvCxnSpPr/>
          <p:nvPr/>
        </p:nvCxnSpPr>
        <p:spPr>
          <a:xfrm rot="10800000" flipH="1">
            <a:off x="5387146" y="3074046"/>
            <a:ext cx="0" cy="1116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4" name="Google Shape;174;p20"/>
          <p:cNvCxnSpPr/>
          <p:nvPr/>
        </p:nvCxnSpPr>
        <p:spPr>
          <a:xfrm rot="10800000">
            <a:off x="5347646" y="4185335"/>
            <a:ext cx="47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" name="Google Shape;175;p20"/>
          <p:cNvCxnSpPr/>
          <p:nvPr/>
        </p:nvCxnSpPr>
        <p:spPr>
          <a:xfrm rot="10800000">
            <a:off x="5347646" y="3886626"/>
            <a:ext cx="47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" name="Google Shape;176;p20"/>
          <p:cNvCxnSpPr/>
          <p:nvPr/>
        </p:nvCxnSpPr>
        <p:spPr>
          <a:xfrm rot="10800000">
            <a:off x="5347646" y="3365407"/>
            <a:ext cx="47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7" name="Google Shape;177;p20"/>
          <p:cNvSpPr txBox="1"/>
          <p:nvPr/>
        </p:nvSpPr>
        <p:spPr>
          <a:xfrm>
            <a:off x="5248737" y="4097561"/>
            <a:ext cx="73200" cy="1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5645917" y="4177342"/>
            <a:ext cx="126000" cy="1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6006071" y="4177342"/>
            <a:ext cx="126000" cy="1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 rot="-5400000">
            <a:off x="4673847" y="3643116"/>
            <a:ext cx="821700" cy="1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" name="Google Shape;181;p20"/>
          <p:cNvCxnSpPr/>
          <p:nvPr/>
        </p:nvCxnSpPr>
        <p:spPr>
          <a:xfrm rot="10800000">
            <a:off x="5347646" y="3587916"/>
            <a:ext cx="47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2" name="Google Shape;182;p20"/>
          <p:cNvSpPr txBox="1"/>
          <p:nvPr/>
        </p:nvSpPr>
        <p:spPr>
          <a:xfrm>
            <a:off x="5244661" y="3261418"/>
            <a:ext cx="88200" cy="1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5238472" y="3480553"/>
            <a:ext cx="88200" cy="1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5245226" y="3787453"/>
            <a:ext cx="88200" cy="1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5" name="Google Shape;185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15062" y="6367144"/>
            <a:ext cx="1650500" cy="101184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474555" y="5864700"/>
            <a:ext cx="6603900" cy="5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toy brick that is thrown into the air could land in one of four possible ways.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In an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experiment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the toy brick is thrown 20 times and produces the following results.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74555" y="7432246"/>
            <a:ext cx="6603900" cy="5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 toy brick is about to be thrown again. Draw a scale of likelihoods and use the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results from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experiment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show the likelihood of each outcome on the scale.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74550" y="8478093"/>
            <a:ext cx="6603900" cy="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Use the link to access a simulation of this experiment: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Toy brick simulation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Press the ‘run’ button to begin the simulation and the ‘reset’ button to start again.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Try this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multiple times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with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large number of trials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each time.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How do the results affect your answers to part (a)?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9" name="Google Shape;189;p20"/>
          <p:cNvGrpSpPr/>
          <p:nvPr/>
        </p:nvGrpSpPr>
        <p:grpSpPr>
          <a:xfrm>
            <a:off x="706277" y="6402494"/>
            <a:ext cx="414257" cy="355026"/>
            <a:chOff x="1828325" y="1905000"/>
            <a:chExt cx="1407600" cy="1206750"/>
          </a:xfrm>
        </p:grpSpPr>
        <p:sp>
          <p:nvSpPr>
            <p:cNvPr id="190" name="Google Shape;190;p20"/>
            <p:cNvSpPr/>
            <p:nvPr/>
          </p:nvSpPr>
          <p:spPr>
            <a:xfrm>
              <a:off x="1828325" y="2031750"/>
              <a:ext cx="1407600" cy="1080000"/>
            </a:xfrm>
            <a:prstGeom prst="cube">
              <a:avLst>
                <a:gd name="adj" fmla="val 51105"/>
              </a:avLst>
            </a:prstGeom>
            <a:solidFill>
              <a:srgbClr val="9999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" name="Google Shape;191;p20"/>
            <p:cNvSpPr/>
            <p:nvPr/>
          </p:nvSpPr>
          <p:spPr>
            <a:xfrm>
              <a:off x="2436675" y="1905000"/>
              <a:ext cx="559800" cy="333900"/>
            </a:xfrm>
            <a:prstGeom prst="can">
              <a:avLst>
                <a:gd name="adj" fmla="val 40305"/>
              </a:avLst>
            </a:prstGeom>
            <a:solidFill>
              <a:srgbClr val="9999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2130842" y="2153250"/>
              <a:ext cx="611100" cy="364500"/>
            </a:xfrm>
            <a:prstGeom prst="can">
              <a:avLst>
                <a:gd name="adj" fmla="val 40305"/>
              </a:avLst>
            </a:prstGeom>
            <a:solidFill>
              <a:srgbClr val="9999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3" name="Google Shape;193;p20"/>
          <p:cNvGrpSpPr/>
          <p:nvPr/>
        </p:nvGrpSpPr>
        <p:grpSpPr>
          <a:xfrm>
            <a:off x="690493" y="7001977"/>
            <a:ext cx="327491" cy="355158"/>
            <a:chOff x="5369297" y="1230126"/>
            <a:chExt cx="1030169" cy="1117200"/>
          </a:xfrm>
        </p:grpSpPr>
        <p:sp>
          <p:nvSpPr>
            <p:cNvPr id="194" name="Google Shape;194;p20"/>
            <p:cNvSpPr/>
            <p:nvPr/>
          </p:nvSpPr>
          <p:spPr>
            <a:xfrm>
              <a:off x="5369297" y="1230126"/>
              <a:ext cx="837900" cy="1117200"/>
            </a:xfrm>
            <a:prstGeom prst="cube">
              <a:avLst>
                <a:gd name="adj" fmla="val 49113"/>
              </a:avLst>
            </a:prstGeom>
            <a:solidFill>
              <a:srgbClr val="9999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5" name="Google Shape;195;p20"/>
            <p:cNvGrpSpPr/>
            <p:nvPr/>
          </p:nvGrpSpPr>
          <p:grpSpPr>
            <a:xfrm rot="5400000" flipH="1">
              <a:off x="5715001" y="1492400"/>
              <a:ext cx="801602" cy="567330"/>
              <a:chOff x="5638837" y="1263835"/>
              <a:chExt cx="801602" cy="567330"/>
            </a:xfrm>
          </p:grpSpPr>
          <p:sp>
            <p:nvSpPr>
              <p:cNvPr id="196" name="Google Shape;196;p20"/>
              <p:cNvSpPr/>
              <p:nvPr/>
            </p:nvSpPr>
            <p:spPr>
              <a:xfrm>
                <a:off x="5922039" y="1263835"/>
                <a:ext cx="518400" cy="309000"/>
              </a:xfrm>
              <a:prstGeom prst="can">
                <a:avLst>
                  <a:gd name="adj" fmla="val 40305"/>
                </a:avLst>
              </a:prstGeom>
              <a:solidFill>
                <a:srgbClr val="999999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7" name="Google Shape;197;p20"/>
              <p:cNvSpPr/>
              <p:nvPr/>
            </p:nvSpPr>
            <p:spPr>
              <a:xfrm>
                <a:off x="5638837" y="1493665"/>
                <a:ext cx="565800" cy="337500"/>
              </a:xfrm>
              <a:prstGeom prst="can">
                <a:avLst>
                  <a:gd name="adj" fmla="val 40305"/>
                </a:avLst>
              </a:prstGeom>
              <a:solidFill>
                <a:srgbClr val="999999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98" name="Google Shape;198;p20"/>
          <p:cNvGrpSpPr/>
          <p:nvPr/>
        </p:nvGrpSpPr>
        <p:grpSpPr>
          <a:xfrm>
            <a:off x="2538050" y="6926439"/>
            <a:ext cx="254024" cy="434191"/>
            <a:chOff x="6752450" y="1106973"/>
            <a:chExt cx="706800" cy="1208100"/>
          </a:xfrm>
        </p:grpSpPr>
        <p:sp>
          <p:nvSpPr>
            <p:cNvPr id="199" name="Google Shape;199;p20"/>
            <p:cNvSpPr/>
            <p:nvPr/>
          </p:nvSpPr>
          <p:spPr>
            <a:xfrm>
              <a:off x="6752450" y="1106973"/>
              <a:ext cx="706800" cy="1208100"/>
            </a:xfrm>
            <a:prstGeom prst="cube">
              <a:avLst>
                <a:gd name="adj" fmla="val 18987"/>
              </a:avLst>
            </a:prstGeom>
            <a:solidFill>
              <a:srgbClr val="9999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0" name="Google Shape;200;p20"/>
            <p:cNvSpPr/>
            <p:nvPr/>
          </p:nvSpPr>
          <p:spPr>
            <a:xfrm>
              <a:off x="6847462" y="1329972"/>
              <a:ext cx="395400" cy="395400"/>
            </a:xfrm>
            <a:prstGeom prst="ellipse">
              <a:avLst/>
            </a:prstGeom>
            <a:solidFill>
              <a:srgbClr val="9999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1" name="Google Shape;201;p20"/>
            <p:cNvSpPr/>
            <p:nvPr/>
          </p:nvSpPr>
          <p:spPr>
            <a:xfrm>
              <a:off x="6808303" y="1355840"/>
              <a:ext cx="395400" cy="395400"/>
            </a:xfrm>
            <a:prstGeom prst="ellipse">
              <a:avLst/>
            </a:prstGeom>
            <a:solidFill>
              <a:srgbClr val="9999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6847462" y="1824301"/>
              <a:ext cx="395400" cy="395400"/>
            </a:xfrm>
            <a:prstGeom prst="ellipse">
              <a:avLst/>
            </a:prstGeom>
            <a:solidFill>
              <a:srgbClr val="9999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" name="Google Shape;203;p20"/>
            <p:cNvSpPr/>
            <p:nvPr/>
          </p:nvSpPr>
          <p:spPr>
            <a:xfrm>
              <a:off x="6803632" y="1850168"/>
              <a:ext cx="395400" cy="395400"/>
            </a:xfrm>
            <a:prstGeom prst="ellipse">
              <a:avLst/>
            </a:prstGeom>
            <a:solidFill>
              <a:srgbClr val="9999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4" name="Google Shape;204;p20"/>
          <p:cNvGrpSpPr/>
          <p:nvPr/>
        </p:nvGrpSpPr>
        <p:grpSpPr>
          <a:xfrm>
            <a:off x="2480360" y="6409464"/>
            <a:ext cx="414445" cy="351675"/>
            <a:chOff x="1929979" y="1539288"/>
            <a:chExt cx="532500" cy="451850"/>
          </a:xfrm>
        </p:grpSpPr>
        <p:grpSp>
          <p:nvGrpSpPr>
            <p:cNvPr id="205" name="Google Shape;205;p20"/>
            <p:cNvGrpSpPr/>
            <p:nvPr/>
          </p:nvGrpSpPr>
          <p:grpSpPr>
            <a:xfrm>
              <a:off x="2056463" y="1759440"/>
              <a:ext cx="327374" cy="231697"/>
              <a:chOff x="1752637" y="1416235"/>
              <a:chExt cx="801602" cy="567330"/>
            </a:xfrm>
          </p:grpSpPr>
          <p:sp>
            <p:nvSpPr>
              <p:cNvPr id="206" name="Google Shape;206;p20"/>
              <p:cNvSpPr/>
              <p:nvPr/>
            </p:nvSpPr>
            <p:spPr>
              <a:xfrm>
                <a:off x="2035839" y="1416235"/>
                <a:ext cx="518400" cy="309000"/>
              </a:xfrm>
              <a:prstGeom prst="can">
                <a:avLst>
                  <a:gd name="adj" fmla="val 40305"/>
                </a:avLst>
              </a:prstGeom>
              <a:solidFill>
                <a:srgbClr val="999999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7" name="Google Shape;207;p20"/>
              <p:cNvSpPr/>
              <p:nvPr/>
            </p:nvSpPr>
            <p:spPr>
              <a:xfrm>
                <a:off x="1752637" y="1646065"/>
                <a:ext cx="565800" cy="337500"/>
              </a:xfrm>
              <a:prstGeom prst="can">
                <a:avLst>
                  <a:gd name="adj" fmla="val 40305"/>
                </a:avLst>
              </a:prstGeom>
              <a:solidFill>
                <a:srgbClr val="999999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08" name="Google Shape;208;p20"/>
            <p:cNvSpPr/>
            <p:nvPr/>
          </p:nvSpPr>
          <p:spPr>
            <a:xfrm>
              <a:off x="1929979" y="1539288"/>
              <a:ext cx="532500" cy="408300"/>
            </a:xfrm>
            <a:prstGeom prst="cube">
              <a:avLst>
                <a:gd name="adj" fmla="val 51105"/>
              </a:avLst>
            </a:prstGeom>
            <a:solidFill>
              <a:srgbClr val="9999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" name="Google Shape;209;p20"/>
            <p:cNvSpPr/>
            <p:nvPr/>
          </p:nvSpPr>
          <p:spPr>
            <a:xfrm rot="-168736">
              <a:off x="2035384" y="1645026"/>
              <a:ext cx="256809" cy="72689"/>
            </a:xfrm>
            <a:prstGeom prst="ellipse">
              <a:avLst/>
            </a:prstGeom>
            <a:solidFill>
              <a:srgbClr val="9999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" name="Google Shape;210;p20"/>
            <p:cNvSpPr/>
            <p:nvPr/>
          </p:nvSpPr>
          <p:spPr>
            <a:xfrm rot="-168736">
              <a:off x="2118151" y="1556774"/>
              <a:ext cx="256809" cy="72689"/>
            </a:xfrm>
            <a:prstGeom prst="ellipse">
              <a:avLst/>
            </a:prstGeom>
            <a:solidFill>
              <a:srgbClr val="9999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1" name="Google Shape;211;p20"/>
          <p:cNvSpPr txBox="1"/>
          <p:nvPr/>
        </p:nvSpPr>
        <p:spPr>
          <a:xfrm>
            <a:off x="1179796" y="6462161"/>
            <a:ext cx="5481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- up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2958652" y="6458659"/>
            <a:ext cx="7740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- down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1176730" y="7060519"/>
            <a:ext cx="10770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 - long face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2948731" y="7052952"/>
            <a:ext cx="10770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 - short face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5" name="Google Shape;215;p20"/>
          <p:cNvCxnSpPr/>
          <p:nvPr/>
        </p:nvCxnSpPr>
        <p:spPr>
          <a:xfrm>
            <a:off x="4929261" y="7305231"/>
            <a:ext cx="18069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6" name="Google Shape;216;p20"/>
          <p:cNvCxnSpPr/>
          <p:nvPr/>
        </p:nvCxnSpPr>
        <p:spPr>
          <a:xfrm rot="10800000" flipH="1">
            <a:off x="4929261" y="6268201"/>
            <a:ext cx="0" cy="1041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7" name="Google Shape;217;p20"/>
          <p:cNvCxnSpPr/>
          <p:nvPr/>
        </p:nvCxnSpPr>
        <p:spPr>
          <a:xfrm rot="10800000">
            <a:off x="4872681" y="7301869"/>
            <a:ext cx="67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" name="Google Shape;218;p20"/>
          <p:cNvCxnSpPr/>
          <p:nvPr/>
        </p:nvCxnSpPr>
        <p:spPr>
          <a:xfrm rot="10800000">
            <a:off x="4872681" y="7093032"/>
            <a:ext cx="67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" name="Google Shape;219;p20"/>
          <p:cNvCxnSpPr/>
          <p:nvPr/>
        </p:nvCxnSpPr>
        <p:spPr>
          <a:xfrm rot="10800000">
            <a:off x="4872681" y="6466519"/>
            <a:ext cx="67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0" name="Google Shape;220;p20"/>
          <p:cNvSpPr txBox="1"/>
          <p:nvPr/>
        </p:nvSpPr>
        <p:spPr>
          <a:xfrm>
            <a:off x="4767085" y="6370657"/>
            <a:ext cx="126900" cy="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4767277" y="7202444"/>
            <a:ext cx="105300" cy="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5182436" y="7290386"/>
            <a:ext cx="181200" cy="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5551014" y="7290386"/>
            <a:ext cx="181200" cy="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5906865" y="7290386"/>
            <a:ext cx="181200" cy="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6293752" y="7290386"/>
            <a:ext cx="181200" cy="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 rot="-5400000">
            <a:off x="4128870" y="6756713"/>
            <a:ext cx="774000" cy="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7" name="Google Shape;227;p20"/>
          <p:cNvCxnSpPr/>
          <p:nvPr/>
        </p:nvCxnSpPr>
        <p:spPr>
          <a:xfrm rot="10800000">
            <a:off x="4872681" y="6675356"/>
            <a:ext cx="67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" name="Google Shape;228;p20"/>
          <p:cNvCxnSpPr/>
          <p:nvPr/>
        </p:nvCxnSpPr>
        <p:spPr>
          <a:xfrm rot="10800000">
            <a:off x="4872681" y="6884194"/>
            <a:ext cx="67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9" name="Google Shape;229;p20"/>
          <p:cNvSpPr txBox="1"/>
          <p:nvPr/>
        </p:nvSpPr>
        <p:spPr>
          <a:xfrm>
            <a:off x="4767085" y="6573592"/>
            <a:ext cx="126900" cy="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4767085" y="6780100"/>
            <a:ext cx="126900" cy="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4767085" y="6990180"/>
            <a:ext cx="126900" cy="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5" name="Shape 235"/>
        <p:cNvGrpSpPr/>
        <p:nvPr/>
      </p:nvGrpSpPr>
      <p:grpSpPr>
        <a:xfrm>
          <a:off x="0" y="0"/>
          <a:ext cx="0" cy="0"/>
        </a:xfrm>
      </p:grpSpPr>
      <p:sp>
        <p:nvSpPr>
          <p:cNvPr id="236" name="Google Shape;236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37" name="Google Shape;237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Experiments to determine how likely an outcome is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grpSp>
        <p:nvGrpSpPr>
          <p:cNvPr id="240" name="Google Shape;240;p21"/>
          <p:cNvGrpSpPr/>
          <p:nvPr/>
        </p:nvGrpSpPr>
        <p:grpSpPr>
          <a:xfrm>
            <a:off x="5248017" y="3001909"/>
            <a:ext cx="498590" cy="239123"/>
            <a:chOff x="4209500" y="2068525"/>
            <a:chExt cx="937200" cy="612508"/>
          </a:xfrm>
        </p:grpSpPr>
        <p:sp>
          <p:nvSpPr>
            <p:cNvPr id="241" name="Google Shape;241;p21"/>
            <p:cNvSpPr/>
            <p:nvPr/>
          </p:nvSpPr>
          <p:spPr>
            <a:xfrm>
              <a:off x="4270950" y="2068525"/>
              <a:ext cx="798900" cy="536400"/>
            </a:xfrm>
            <a:prstGeom prst="roundRect">
              <a:avLst>
                <a:gd name="adj" fmla="val 16667"/>
              </a:avLst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2" name="Google Shape;242;p21"/>
            <p:cNvSpPr/>
            <p:nvPr/>
          </p:nvSpPr>
          <p:spPr>
            <a:xfrm>
              <a:off x="4209500" y="2244533"/>
              <a:ext cx="937200" cy="436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1"/>
          <p:cNvGrpSpPr/>
          <p:nvPr/>
        </p:nvGrpSpPr>
        <p:grpSpPr>
          <a:xfrm rot="10800000" flipH="1">
            <a:off x="5828128" y="2811614"/>
            <a:ext cx="498590" cy="239123"/>
            <a:chOff x="4209500" y="2068525"/>
            <a:chExt cx="937200" cy="612508"/>
          </a:xfrm>
        </p:grpSpPr>
        <p:sp>
          <p:nvSpPr>
            <p:cNvPr id="244" name="Google Shape;244;p21"/>
            <p:cNvSpPr/>
            <p:nvPr/>
          </p:nvSpPr>
          <p:spPr>
            <a:xfrm>
              <a:off x="4270950" y="2068525"/>
              <a:ext cx="798900" cy="536400"/>
            </a:xfrm>
            <a:prstGeom prst="roundRect">
              <a:avLst>
                <a:gd name="adj" fmla="val 16667"/>
              </a:avLst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" name="Google Shape;245;p21"/>
            <p:cNvSpPr/>
            <p:nvPr/>
          </p:nvSpPr>
          <p:spPr>
            <a:xfrm>
              <a:off x="4209500" y="2244533"/>
              <a:ext cx="937200" cy="436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46" name="Google Shape;24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8689" y="1840707"/>
            <a:ext cx="1603150" cy="104163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 txBox="1"/>
          <p:nvPr/>
        </p:nvSpPr>
        <p:spPr>
          <a:xfrm>
            <a:off x="476400" y="1438221"/>
            <a:ext cx="6615600" cy="2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class investigates which outcome is most likely when a frisbee is flipped.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466825" y="877850"/>
            <a:ext cx="62472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Considering the number of trials required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476400" y="1794230"/>
            <a:ext cx="38877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An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experiment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conducted with 10 trials.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The bar chart shows the results.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Does one outcome appear more likely to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happen than the other? If so, which one?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476400" y="4079170"/>
            <a:ext cx="6615600" cy="12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Use the link to access a simulation of this experiment: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Frisbee flip simulation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box that says ‘count’ shows the number of trials completed.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Press the ‘run’ button to begin the simulation and let it run for at least 500 trials.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How do the results from this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experiment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differ to those in part (a)?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476400" y="6433299"/>
            <a:ext cx="66156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Which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experiment’s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results seem more reliable? Justify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2" name="Google Shape;252;p21"/>
          <p:cNvCxnSpPr/>
          <p:nvPr/>
        </p:nvCxnSpPr>
        <p:spPr>
          <a:xfrm>
            <a:off x="4992422" y="2777622"/>
            <a:ext cx="18078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3" name="Google Shape;253;p21"/>
          <p:cNvCxnSpPr/>
          <p:nvPr/>
        </p:nvCxnSpPr>
        <p:spPr>
          <a:xfrm rot="10800000" flipH="1">
            <a:off x="4992422" y="1686893"/>
            <a:ext cx="0" cy="1095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4" name="Google Shape;254;p21"/>
          <p:cNvCxnSpPr/>
          <p:nvPr/>
        </p:nvCxnSpPr>
        <p:spPr>
          <a:xfrm rot="10800000">
            <a:off x="4935847" y="2774258"/>
            <a:ext cx="67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5" name="Google Shape;255;p21"/>
          <p:cNvCxnSpPr/>
          <p:nvPr/>
        </p:nvCxnSpPr>
        <p:spPr>
          <a:xfrm rot="10800000">
            <a:off x="4935847" y="2489324"/>
            <a:ext cx="67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6" name="Google Shape;256;p21"/>
          <p:cNvCxnSpPr/>
          <p:nvPr/>
        </p:nvCxnSpPr>
        <p:spPr>
          <a:xfrm rot="10800000">
            <a:off x="4935847" y="1919458"/>
            <a:ext cx="67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7" name="Google Shape;257;p21"/>
          <p:cNvSpPr txBox="1"/>
          <p:nvPr/>
        </p:nvSpPr>
        <p:spPr>
          <a:xfrm>
            <a:off x="4830173" y="1823554"/>
            <a:ext cx="126900" cy="1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4830366" y="2674788"/>
            <a:ext cx="105300" cy="1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5245710" y="2762762"/>
            <a:ext cx="520800" cy="1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heads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5911122" y="2762762"/>
            <a:ext cx="399300" cy="1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tails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 rot="-5400000">
            <a:off x="4191812" y="2228766"/>
            <a:ext cx="774300" cy="1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2" name="Google Shape;262;p21"/>
          <p:cNvCxnSpPr/>
          <p:nvPr/>
        </p:nvCxnSpPr>
        <p:spPr>
          <a:xfrm rot="10800000">
            <a:off x="4935847" y="2204391"/>
            <a:ext cx="67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3" name="Google Shape;263;p21"/>
          <p:cNvSpPr txBox="1"/>
          <p:nvPr/>
        </p:nvSpPr>
        <p:spPr>
          <a:xfrm>
            <a:off x="4830173" y="2104992"/>
            <a:ext cx="126900" cy="1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4830173" y="2381632"/>
            <a:ext cx="126900" cy="1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51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Experiments to determine how likely an outcome is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2024-02-26T15:34:28.773</cp:lastPrinted>
  <dcterms:created xsi:type="dcterms:W3CDTF">2024-02-26T15:34:28Z</dcterms:created>
  <dcterms:modified xsi:type="dcterms:W3CDTF">2024-02-26T15:34:39Z</dcterms:modified>
</cp:coreProperties>
</file>