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b4fbb3c9b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b4fbb3c9b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b4fbb3c9b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b4fbb3c9b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b4fbb3c9b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b4fbb3c9b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b4fbb3c9b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b4fbb3c9b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b4fbb3c9b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b4fbb3c9b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b4fbb3c9b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b4fbb3c9b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2b4fbb3c9ba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2b4fbb3c9ba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b4fbb3c9ba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b4fbb3c9ba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2b4fbb3c9ba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2b4fbb3c9ba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2b4fbb3c9ba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2b4fbb3c9ba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2b4fbb3c9ba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2b4fbb3c9ba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2b4fbb3c9ba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2b4fbb3c9ba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2b4fbb3c9ba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2b4fbb3c9ba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2b4fbb3c9ba_0_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2b4fbb3c9ba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2b4fbb3c9ba_0_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2b4fbb3c9ba_0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2b4fbb3c9ba_0_1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2b4fbb3c9ba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2b4fbb3c9ba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2b4fbb3c9ba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2b4fbb3c9ba_0_1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2b4fbb3c9ba_0_1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2b4fbb3c9ba_0_1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g2b4fbb3c9ba_0_1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2b4fbb3c9ba_0_2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2b4fbb3c9ba_0_2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g2b4fbb3c9ba_0_2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0" name="Google Shape;1650;g2b4fbb3c9ba_0_2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2b71a23b112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2b71a23b112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2b71a23b112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2b71a23b112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g2b4fbb3c9ba_0_2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5" name="Google Shape;1815;g2b4fbb3c9ba_0_2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g2b4fbb3c9ba_0_2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0" name="Google Shape;1870;g2b4fbb3c9ba_0_2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2b4fbb3c9ba_0_2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5" name="Google Shape;1925;g2b4fbb3c9ba_0_2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2b4fbb3c9ba_0_2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1" name="Google Shape;1951;g2b4fbb3c9ba_0_2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2b4fbb3c9ba_0_2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2b4fbb3c9ba_0_2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g2b4fbb3c9ba_0_2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3" name="Google Shape;2033;g2b4fbb3c9ba_0_2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g2b4fbb3c9ba_0_2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g2b4fbb3c9ba_0_2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2b4fbb3c9ba_0_2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2b4fbb3c9ba_0_2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2b4fbb3c9ba_0_2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2b4fbb3c9ba_0_2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g2b4fbb3c9ba_0_2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6" name="Google Shape;2186;g2b4fbb3c9ba_0_2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2b4fbb3c9ba_0_2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2b4fbb3c9ba_0_2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g2b4fbb3c9ba_0_2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8" name="Google Shape;2278;g2b4fbb3c9ba_0_2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4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g2b7de3beec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6" name="Google Shape;2306;g2b7de3beec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4" name="Shape 2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" name="Google Shape;2355;g2b6ee804f2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6" name="Google Shape;2356;g2b6ee804f2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g2b4fbb3c9ba_0_2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2" name="Google Shape;2362;g2b4fbb3c9ba_0_2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6.png"/><Relationship Id="rId4" Type="http://schemas.openxmlformats.org/officeDocument/2006/relationships/image" Target="../media/image68.png"/><Relationship Id="rId5" Type="http://schemas.openxmlformats.org/officeDocument/2006/relationships/image" Target="../media/image33.png"/><Relationship Id="rId6" Type="http://schemas.openxmlformats.org/officeDocument/2006/relationships/image" Target="../media/image29.png"/><Relationship Id="rId7" Type="http://schemas.openxmlformats.org/officeDocument/2006/relationships/image" Target="../media/image2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8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Relationship Id="rId5" Type="http://schemas.openxmlformats.org/officeDocument/2006/relationships/image" Target="../media/image16.png"/><Relationship Id="rId6" Type="http://schemas.openxmlformats.org/officeDocument/2006/relationships/image" Target="../media/image28.png"/><Relationship Id="rId7" Type="http://schemas.openxmlformats.org/officeDocument/2006/relationships/image" Target="../media/image33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8.png"/><Relationship Id="rId4" Type="http://schemas.openxmlformats.org/officeDocument/2006/relationships/image" Target="../media/image32.png"/><Relationship Id="rId11" Type="http://schemas.openxmlformats.org/officeDocument/2006/relationships/image" Target="../media/image24.png"/><Relationship Id="rId10" Type="http://schemas.openxmlformats.org/officeDocument/2006/relationships/image" Target="../media/image35.png"/><Relationship Id="rId9" Type="http://schemas.openxmlformats.org/officeDocument/2006/relationships/image" Target="../media/image29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28.png"/><Relationship Id="rId8" Type="http://schemas.openxmlformats.org/officeDocument/2006/relationships/image" Target="../media/image3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6.png"/><Relationship Id="rId4" Type="http://schemas.openxmlformats.org/officeDocument/2006/relationships/image" Target="../media/image5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png"/><Relationship Id="rId4" Type="http://schemas.openxmlformats.org/officeDocument/2006/relationships/image" Target="../media/image5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1.png"/><Relationship Id="rId4" Type="http://schemas.openxmlformats.org/officeDocument/2006/relationships/image" Target="../media/image65.png"/><Relationship Id="rId9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57.png"/><Relationship Id="rId7" Type="http://schemas.openxmlformats.org/officeDocument/2006/relationships/image" Target="../media/image60.png"/><Relationship Id="rId8" Type="http://schemas.openxmlformats.org/officeDocument/2006/relationships/image" Target="../media/image63.png"/><Relationship Id="rId11" Type="http://schemas.openxmlformats.org/officeDocument/2006/relationships/image" Target="../media/image64.png"/><Relationship Id="rId10" Type="http://schemas.openxmlformats.org/officeDocument/2006/relationships/image" Target="../media/image62.png"/><Relationship Id="rId12" Type="http://schemas.openxmlformats.org/officeDocument/2006/relationships/image" Target="../media/image6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5.png"/><Relationship Id="rId4" Type="http://schemas.openxmlformats.org/officeDocument/2006/relationships/image" Target="../media/image58.png"/><Relationship Id="rId9" Type="http://schemas.openxmlformats.org/officeDocument/2006/relationships/image" Target="../media/image62.png"/><Relationship Id="rId5" Type="http://schemas.openxmlformats.org/officeDocument/2006/relationships/image" Target="../media/image57.png"/><Relationship Id="rId6" Type="http://schemas.openxmlformats.org/officeDocument/2006/relationships/image" Target="../media/image60.png"/><Relationship Id="rId7" Type="http://schemas.openxmlformats.org/officeDocument/2006/relationships/image" Target="../media/image63.png"/><Relationship Id="rId8" Type="http://schemas.openxmlformats.org/officeDocument/2006/relationships/image" Target="../media/image59.png"/><Relationship Id="rId11" Type="http://schemas.openxmlformats.org/officeDocument/2006/relationships/image" Target="../media/image66.png"/><Relationship Id="rId10" Type="http://schemas.openxmlformats.org/officeDocument/2006/relationships/image" Target="../media/image6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an outcome tree to display outcomes for two events</a:t>
            </a:r>
            <a:endParaRPr/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possible outcomes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systematically find all the possible outcomes for two events by using an </a:t>
            </a:r>
            <a:r>
              <a:rPr b="1" lang="en-GB"/>
              <a:t>outcome tree</a:t>
            </a:r>
            <a:r>
              <a:rPr lang="en-GB"/>
              <a:t> diagram.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"/>
          <p:cNvSpPr txBox="1"/>
          <p:nvPr>
            <p:ph idx="2" type="subTitle"/>
          </p:nvPr>
        </p:nvSpPr>
        <p:spPr>
          <a:xfrm>
            <a:off x="324000" y="83640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highlight>
                  <a:srgbClr val="FFFFFF"/>
                </a:highlight>
              </a:rPr>
              <a:t>Tree diagrams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 are a representation used to model statistical/probability questions. Branches represent different possible events or outcomes.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/>
            </a:br>
            <a:r>
              <a:rPr lang="en-GB">
                <a:solidFill>
                  <a:schemeClr val="dk1"/>
                </a:solidFill>
              </a:rPr>
              <a:t>Each branch of an </a:t>
            </a:r>
            <a:r>
              <a:rPr b="1" lang="en-GB">
                <a:solidFill>
                  <a:schemeClr val="dk1"/>
                </a:solidFill>
              </a:rPr>
              <a:t>outcome tree</a:t>
            </a:r>
            <a:r>
              <a:rPr lang="en-GB">
                <a:solidFill>
                  <a:schemeClr val="dk1"/>
                </a:solidFill>
              </a:rPr>
              <a:t> shows a possible outcome from an event or from a stage of a trial. The full </a:t>
            </a:r>
            <a:r>
              <a:rPr b="1" lang="en-GB">
                <a:solidFill>
                  <a:schemeClr val="dk1"/>
                </a:solidFill>
              </a:rPr>
              <a:t>outcome tree</a:t>
            </a:r>
            <a:r>
              <a:rPr lang="en-GB">
                <a:solidFill>
                  <a:schemeClr val="dk1"/>
                </a:solidFill>
              </a:rPr>
              <a:t> shows all possible outcomes.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 </a:t>
            </a:r>
            <a:r>
              <a:rPr b="1" lang="en-GB">
                <a:solidFill>
                  <a:schemeClr val="dk1"/>
                </a:solidFill>
              </a:rPr>
              <a:t>sample space</a:t>
            </a:r>
            <a:r>
              <a:rPr lang="en-GB">
                <a:solidFill>
                  <a:schemeClr val="dk1"/>
                </a:solidFill>
              </a:rPr>
              <a:t> is all the possible outcomes of a trial. A </a:t>
            </a:r>
            <a:r>
              <a:rPr b="1" lang="en-GB">
                <a:solidFill>
                  <a:schemeClr val="dk1"/>
                </a:solidFill>
              </a:rPr>
              <a:t>sample space</a:t>
            </a:r>
            <a:r>
              <a:rPr lang="en-GB">
                <a:solidFill>
                  <a:schemeClr val="dk1"/>
                </a:solidFill>
              </a:rPr>
              <a:t> diagram is a systematic way of producing a </a:t>
            </a:r>
            <a:r>
              <a:rPr b="1" lang="en-GB">
                <a:solidFill>
                  <a:schemeClr val="dk1"/>
                </a:solidFill>
              </a:rPr>
              <a:t>sample space</a:t>
            </a:r>
            <a:r>
              <a:rPr lang="en-GB">
                <a:solidFill>
                  <a:schemeClr val="dk1"/>
                </a:solidFill>
              </a:rPr>
              <a:t>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two-stage trials</a:t>
            </a:r>
            <a:endParaRPr/>
          </a:p>
        </p:txBody>
      </p:sp>
      <p:sp>
        <p:nvSpPr>
          <p:cNvPr id="768" name="Google Shape;768;p6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sp>
        <p:nvSpPr>
          <p:cNvPr id="769" name="Google Shape;769;p6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an </a:t>
            </a:r>
            <a:r>
              <a:rPr b="1" lang="en-GB"/>
              <a:t>outcome tree</a:t>
            </a:r>
            <a:r>
              <a:rPr lang="en-GB"/>
              <a:t> to display outcomes for two events</a:t>
            </a:r>
            <a:endParaRPr/>
          </a:p>
        </p:txBody>
      </p:sp>
      <p:pic>
        <p:nvPicPr>
          <p:cNvPr id="770" name="Google Shape;77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03" y="205759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two-stage trials</a:t>
            </a:r>
            <a:endParaRPr/>
          </a:p>
        </p:txBody>
      </p:sp>
      <p:grpSp>
        <p:nvGrpSpPr>
          <p:cNvPr id="776" name="Google Shape;776;p67"/>
          <p:cNvGrpSpPr/>
          <p:nvPr/>
        </p:nvGrpSpPr>
        <p:grpSpPr>
          <a:xfrm>
            <a:off x="1834305" y="1449960"/>
            <a:ext cx="1868100" cy="1868100"/>
            <a:chOff x="1834305" y="1145160"/>
            <a:chExt cx="1868100" cy="1868100"/>
          </a:xfrm>
        </p:grpSpPr>
        <p:sp>
          <p:nvSpPr>
            <p:cNvPr id="777" name="Google Shape;777;p67"/>
            <p:cNvSpPr/>
            <p:nvPr/>
          </p:nvSpPr>
          <p:spPr>
            <a:xfrm>
              <a:off x="2073134" y="1383981"/>
              <a:ext cx="1390200" cy="13902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67"/>
            <p:cNvSpPr/>
            <p:nvPr/>
          </p:nvSpPr>
          <p:spPr>
            <a:xfrm rot="7199955">
              <a:off x="2085197" y="1396083"/>
              <a:ext cx="1366231" cy="1366231"/>
            </a:xfrm>
            <a:prstGeom prst="pie">
              <a:avLst>
                <a:gd fmla="val 9034165" name="adj1"/>
                <a:gd fmla="val 16225322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67"/>
            <p:cNvSpPr/>
            <p:nvPr/>
          </p:nvSpPr>
          <p:spPr>
            <a:xfrm rot="-7212126">
              <a:off x="2085225" y="1396079"/>
              <a:ext cx="1366261" cy="1366261"/>
            </a:xfrm>
            <a:prstGeom prst="pie">
              <a:avLst>
                <a:gd fmla="val 9034165" name="adj1"/>
                <a:gd fmla="val 16225322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67"/>
            <p:cNvSpPr/>
            <p:nvPr/>
          </p:nvSpPr>
          <p:spPr>
            <a:xfrm>
              <a:off x="2085330" y="1396227"/>
              <a:ext cx="1366200" cy="1366200"/>
            </a:xfrm>
            <a:prstGeom prst="pie">
              <a:avLst>
                <a:gd fmla="val 9034165" name="adj1"/>
                <a:gd fmla="val 16225322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67"/>
            <p:cNvSpPr txBox="1"/>
            <p:nvPr/>
          </p:nvSpPr>
          <p:spPr>
            <a:xfrm>
              <a:off x="2920255" y="1719018"/>
              <a:ext cx="516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2" name="Google Shape;782;p67"/>
            <p:cNvSpPr txBox="1"/>
            <p:nvPr/>
          </p:nvSpPr>
          <p:spPr>
            <a:xfrm>
              <a:off x="2670380" y="2218769"/>
              <a:ext cx="516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3" name="Google Shape;783;p67"/>
            <p:cNvSpPr txBox="1"/>
            <p:nvPr/>
          </p:nvSpPr>
          <p:spPr>
            <a:xfrm>
              <a:off x="2295568" y="1719018"/>
              <a:ext cx="516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784" name="Google Shape;784;p67"/>
            <p:cNvGrpSpPr/>
            <p:nvPr/>
          </p:nvGrpSpPr>
          <p:grpSpPr>
            <a:xfrm>
              <a:off x="2728408" y="1453468"/>
              <a:ext cx="76979" cy="669745"/>
              <a:chOff x="996050" y="213293"/>
              <a:chExt cx="93900" cy="909732"/>
            </a:xfrm>
          </p:grpSpPr>
          <p:cxnSp>
            <p:nvCxnSpPr>
              <p:cNvPr id="785" name="Google Shape;785;p67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86" name="Google Shape;786;p67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87" name="Google Shape;787;p67"/>
          <p:cNvGrpSpPr/>
          <p:nvPr/>
        </p:nvGrpSpPr>
        <p:grpSpPr>
          <a:xfrm>
            <a:off x="324009" y="1688781"/>
            <a:ext cx="1426190" cy="1390200"/>
            <a:chOff x="324009" y="1383981"/>
            <a:chExt cx="1426190" cy="1390200"/>
          </a:xfrm>
        </p:grpSpPr>
        <p:sp>
          <p:nvSpPr>
            <p:cNvPr id="788" name="Google Shape;788;p67"/>
            <p:cNvSpPr/>
            <p:nvPr/>
          </p:nvSpPr>
          <p:spPr>
            <a:xfrm>
              <a:off x="324009" y="1383981"/>
              <a:ext cx="1390200" cy="13902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7"/>
            <p:cNvSpPr/>
            <p:nvPr/>
          </p:nvSpPr>
          <p:spPr>
            <a:xfrm flipH="1">
              <a:off x="336048" y="1396082"/>
              <a:ext cx="1366200" cy="1366200"/>
            </a:xfrm>
            <a:prstGeom prst="pie">
              <a:avLst>
                <a:gd fmla="val 5387953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67"/>
            <p:cNvSpPr/>
            <p:nvPr/>
          </p:nvSpPr>
          <p:spPr>
            <a:xfrm>
              <a:off x="336110" y="1396082"/>
              <a:ext cx="1366200" cy="1366200"/>
            </a:xfrm>
            <a:prstGeom prst="pie">
              <a:avLst>
                <a:gd fmla="val 5387953" name="adj1"/>
                <a:gd fmla="val 16200000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7"/>
            <p:cNvSpPr txBox="1"/>
            <p:nvPr/>
          </p:nvSpPr>
          <p:spPr>
            <a:xfrm>
              <a:off x="572060" y="1906425"/>
              <a:ext cx="468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2" name="Google Shape;792;p67"/>
            <p:cNvSpPr txBox="1"/>
            <p:nvPr/>
          </p:nvSpPr>
          <p:spPr>
            <a:xfrm>
              <a:off x="1233599" y="1906425"/>
              <a:ext cx="516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793" name="Google Shape;793;p67"/>
            <p:cNvGrpSpPr/>
            <p:nvPr/>
          </p:nvGrpSpPr>
          <p:grpSpPr>
            <a:xfrm>
              <a:off x="979282" y="1459876"/>
              <a:ext cx="76979" cy="669745"/>
              <a:chOff x="996050" y="213293"/>
              <a:chExt cx="93900" cy="909732"/>
            </a:xfrm>
          </p:grpSpPr>
          <p:cxnSp>
            <p:nvCxnSpPr>
              <p:cNvPr id="794" name="Google Shape;794;p67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95" name="Google Shape;795;p67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96" name="Google Shape;796;p67"/>
          <p:cNvSpPr txBox="1"/>
          <p:nvPr/>
        </p:nvSpPr>
        <p:spPr>
          <a:xfrm>
            <a:off x="356700" y="3192025"/>
            <a:ext cx="13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7"/>
          <p:cNvSpPr txBox="1"/>
          <p:nvPr/>
        </p:nvSpPr>
        <p:spPr>
          <a:xfrm>
            <a:off x="1650725" y="3918475"/>
            <a:ext cx="80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AA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AB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AC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8" name="Google Shape;798;p67"/>
          <p:cNvSpPr txBox="1"/>
          <p:nvPr/>
        </p:nvSpPr>
        <p:spPr>
          <a:xfrm>
            <a:off x="2088013" y="3192025"/>
            <a:ext cx="13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7"/>
          <p:cNvSpPr txBox="1"/>
          <p:nvPr/>
        </p:nvSpPr>
        <p:spPr>
          <a:xfrm>
            <a:off x="356700" y="4195525"/>
            <a:ext cx="1328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outcomes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0" name="Google Shape;800;p67"/>
          <p:cNvSpPr txBox="1"/>
          <p:nvPr/>
        </p:nvSpPr>
        <p:spPr>
          <a:xfrm>
            <a:off x="2448875" y="3918475"/>
            <a:ext cx="80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BA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BB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BC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01" name="Google Shape;801;p67"/>
          <p:cNvGrpSpPr/>
          <p:nvPr/>
        </p:nvGrpSpPr>
        <p:grpSpPr>
          <a:xfrm>
            <a:off x="5836048" y="677079"/>
            <a:ext cx="2942826" cy="2089889"/>
            <a:chOff x="4153875" y="738775"/>
            <a:chExt cx="2942826" cy="2089889"/>
          </a:xfrm>
        </p:grpSpPr>
        <p:grpSp>
          <p:nvGrpSpPr>
            <p:cNvPr id="802" name="Google Shape;802;p67"/>
            <p:cNvGrpSpPr/>
            <p:nvPr/>
          </p:nvGrpSpPr>
          <p:grpSpPr>
            <a:xfrm>
              <a:off x="4153875" y="738775"/>
              <a:ext cx="2492252" cy="1695301"/>
              <a:chOff x="4153875" y="738775"/>
              <a:chExt cx="2492252" cy="1695301"/>
            </a:xfrm>
          </p:grpSpPr>
          <p:pic>
            <p:nvPicPr>
              <p:cNvPr id="803" name="Google Shape;803;p67"/>
              <p:cNvPicPr preferRelativeResize="0"/>
              <p:nvPr/>
            </p:nvPicPr>
            <p:blipFill rotWithShape="1">
              <a:blip r:embed="rId3">
                <a:alphaModFix/>
              </a:blip>
              <a:srcRect b="43690" l="0" r="57905" t="0"/>
              <a:stretch/>
            </p:blipFill>
            <p:spPr>
              <a:xfrm>
                <a:off x="4153875" y="738775"/>
                <a:ext cx="2492252" cy="16953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4" name="Google Shape;804;p67"/>
              <p:cNvSpPr txBox="1"/>
              <p:nvPr/>
            </p:nvSpPr>
            <p:spPr>
              <a:xfrm>
                <a:off x="4215422" y="768700"/>
                <a:ext cx="2257800" cy="138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I wish there was a way of making sure I’ve listed all the outcomes from this trial.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id="805" name="Google Shape;805;p6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32276" y="2091577"/>
              <a:ext cx="664425" cy="7370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6" name="Google Shape;806;p67"/>
          <p:cNvGrpSpPr/>
          <p:nvPr/>
        </p:nvGrpSpPr>
        <p:grpSpPr>
          <a:xfrm>
            <a:off x="4954950" y="2330575"/>
            <a:ext cx="2836884" cy="2183475"/>
            <a:chOff x="4954950" y="2482975"/>
            <a:chExt cx="2836884" cy="2183475"/>
          </a:xfrm>
        </p:grpSpPr>
        <p:pic>
          <p:nvPicPr>
            <p:cNvPr id="807" name="Google Shape;807;p6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7193695" y="3918475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8" name="Google Shape;808;p67"/>
            <p:cNvGrpSpPr/>
            <p:nvPr/>
          </p:nvGrpSpPr>
          <p:grpSpPr>
            <a:xfrm>
              <a:off x="4954950" y="2482975"/>
              <a:ext cx="2492252" cy="1695301"/>
              <a:chOff x="4153875" y="738775"/>
              <a:chExt cx="2492252" cy="1695301"/>
            </a:xfrm>
          </p:grpSpPr>
          <p:pic>
            <p:nvPicPr>
              <p:cNvPr id="809" name="Google Shape;809;p67"/>
              <p:cNvPicPr preferRelativeResize="0"/>
              <p:nvPr/>
            </p:nvPicPr>
            <p:blipFill rotWithShape="1">
              <a:blip r:embed="rId3">
                <a:alphaModFix/>
              </a:blip>
              <a:srcRect b="43690" l="0" r="57905" t="0"/>
              <a:stretch/>
            </p:blipFill>
            <p:spPr>
              <a:xfrm>
                <a:off x="4153875" y="738775"/>
                <a:ext cx="2492252" cy="16953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0" name="Google Shape;810;p67"/>
              <p:cNvSpPr txBox="1"/>
              <p:nvPr/>
            </p:nvSpPr>
            <p:spPr>
              <a:xfrm>
                <a:off x="4215422" y="768700"/>
                <a:ext cx="2257800" cy="138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I know you can use a two-way table, but I wish there was a way of breaking it down more.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811" name="Google Shape;811;p67"/>
          <p:cNvSpPr txBox="1"/>
          <p:nvPr/>
        </p:nvSpPr>
        <p:spPr>
          <a:xfrm>
            <a:off x="324000" y="664625"/>
            <a:ext cx="3479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Spinners 1 and 2 will both be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List all the possible outcomes.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67"/>
          <p:cNvSpPr txBox="1"/>
          <p:nvPr/>
        </p:nvSpPr>
        <p:spPr>
          <a:xfrm>
            <a:off x="7121100" y="4529400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7"/>
          <p:cNvSpPr txBox="1"/>
          <p:nvPr/>
        </p:nvSpPr>
        <p:spPr>
          <a:xfrm>
            <a:off x="8073600" y="2766975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two-stage trials</a:t>
            </a:r>
            <a:endParaRPr/>
          </a:p>
        </p:txBody>
      </p:sp>
      <p:sp>
        <p:nvSpPr>
          <p:cNvPr id="819" name="Google Shape;819;p68"/>
          <p:cNvSpPr/>
          <p:nvPr/>
        </p:nvSpPr>
        <p:spPr>
          <a:xfrm>
            <a:off x="389852" y="2847186"/>
            <a:ext cx="1390200" cy="1390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68"/>
          <p:cNvSpPr txBox="1"/>
          <p:nvPr/>
        </p:nvSpPr>
        <p:spPr>
          <a:xfrm>
            <a:off x="2103725" y="728925"/>
            <a:ext cx="6469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helps show the outcomes of a trial.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treat an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as a timeline of possible outcomes.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68"/>
          <p:cNvSpPr/>
          <p:nvPr/>
        </p:nvSpPr>
        <p:spPr>
          <a:xfrm rot="7199955">
            <a:off x="401915" y="2859288"/>
            <a:ext cx="1366231" cy="1366231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68"/>
          <p:cNvSpPr/>
          <p:nvPr/>
        </p:nvSpPr>
        <p:spPr>
          <a:xfrm rot="-7212126">
            <a:off x="401942" y="2859284"/>
            <a:ext cx="1366261" cy="1366261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68"/>
          <p:cNvSpPr/>
          <p:nvPr/>
        </p:nvSpPr>
        <p:spPr>
          <a:xfrm>
            <a:off x="402047" y="2859432"/>
            <a:ext cx="1366200" cy="1366200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68"/>
          <p:cNvSpPr txBox="1"/>
          <p:nvPr/>
        </p:nvSpPr>
        <p:spPr>
          <a:xfrm>
            <a:off x="1236973" y="3182223"/>
            <a:ext cx="51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68"/>
          <p:cNvSpPr txBox="1"/>
          <p:nvPr/>
        </p:nvSpPr>
        <p:spPr>
          <a:xfrm>
            <a:off x="987098" y="3681973"/>
            <a:ext cx="51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68"/>
          <p:cNvSpPr txBox="1"/>
          <p:nvPr/>
        </p:nvSpPr>
        <p:spPr>
          <a:xfrm>
            <a:off x="612285" y="3182223"/>
            <a:ext cx="51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7" name="Google Shape;827;p68"/>
          <p:cNvGrpSpPr/>
          <p:nvPr/>
        </p:nvGrpSpPr>
        <p:grpSpPr>
          <a:xfrm>
            <a:off x="1045125" y="2916673"/>
            <a:ext cx="76979" cy="669745"/>
            <a:chOff x="996050" y="213293"/>
            <a:chExt cx="93900" cy="909732"/>
          </a:xfrm>
        </p:grpSpPr>
        <p:cxnSp>
          <p:nvCxnSpPr>
            <p:cNvPr id="828" name="Google Shape;828;p68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29" name="Google Shape;829;p6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0" name="Google Shape;830;p68"/>
          <p:cNvSpPr/>
          <p:nvPr/>
        </p:nvSpPr>
        <p:spPr>
          <a:xfrm>
            <a:off x="364980" y="787308"/>
            <a:ext cx="1390200" cy="1390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68"/>
          <p:cNvSpPr/>
          <p:nvPr/>
        </p:nvSpPr>
        <p:spPr>
          <a:xfrm flipH="1">
            <a:off x="377019" y="799408"/>
            <a:ext cx="1366200" cy="13662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68"/>
          <p:cNvSpPr/>
          <p:nvPr/>
        </p:nvSpPr>
        <p:spPr>
          <a:xfrm>
            <a:off x="377080" y="799408"/>
            <a:ext cx="1366200" cy="13662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68"/>
          <p:cNvSpPr txBox="1"/>
          <p:nvPr/>
        </p:nvSpPr>
        <p:spPr>
          <a:xfrm>
            <a:off x="613030" y="1309752"/>
            <a:ext cx="46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68"/>
          <p:cNvSpPr txBox="1"/>
          <p:nvPr/>
        </p:nvSpPr>
        <p:spPr>
          <a:xfrm>
            <a:off x="1274569" y="1309752"/>
            <a:ext cx="51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5" name="Google Shape;835;p68"/>
          <p:cNvGrpSpPr/>
          <p:nvPr/>
        </p:nvGrpSpPr>
        <p:grpSpPr>
          <a:xfrm>
            <a:off x="1020253" y="863203"/>
            <a:ext cx="76979" cy="669745"/>
            <a:chOff x="996050" y="213293"/>
            <a:chExt cx="93900" cy="909732"/>
          </a:xfrm>
        </p:grpSpPr>
        <p:cxnSp>
          <p:nvCxnSpPr>
            <p:cNvPr id="836" name="Google Shape;836;p68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7" name="Google Shape;837;p6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8" name="Google Shape;838;p68"/>
          <p:cNvSpPr txBox="1"/>
          <p:nvPr/>
        </p:nvSpPr>
        <p:spPr>
          <a:xfrm>
            <a:off x="397671" y="2290552"/>
            <a:ext cx="13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68"/>
          <p:cNvSpPr txBox="1"/>
          <p:nvPr/>
        </p:nvSpPr>
        <p:spPr>
          <a:xfrm>
            <a:off x="425230" y="4350430"/>
            <a:ext cx="13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68"/>
          <p:cNvSpPr/>
          <p:nvPr/>
        </p:nvSpPr>
        <p:spPr>
          <a:xfrm>
            <a:off x="2840525" y="2879810"/>
            <a:ext cx="277200" cy="277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1" name="Google Shape;841;p68"/>
          <p:cNvCxnSpPr>
            <a:stCxn id="840" idx="7"/>
          </p:cNvCxnSpPr>
          <p:nvPr/>
        </p:nvCxnSpPr>
        <p:spPr>
          <a:xfrm flipH="1" rot="10800000">
            <a:off x="3077130" y="2228605"/>
            <a:ext cx="1175100" cy="69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68"/>
          <p:cNvCxnSpPr/>
          <p:nvPr/>
        </p:nvCxnSpPr>
        <p:spPr>
          <a:xfrm>
            <a:off x="3077130" y="3113629"/>
            <a:ext cx="1175100" cy="69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3" name="Google Shape;843;p68"/>
          <p:cNvSpPr txBox="1"/>
          <p:nvPr/>
        </p:nvSpPr>
        <p:spPr>
          <a:xfrm>
            <a:off x="4293415" y="2078975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68"/>
          <p:cNvSpPr txBox="1"/>
          <p:nvPr/>
        </p:nvSpPr>
        <p:spPr>
          <a:xfrm>
            <a:off x="4293415" y="3655200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5" name="Google Shape;845;p68"/>
          <p:cNvGrpSpPr/>
          <p:nvPr/>
        </p:nvGrpSpPr>
        <p:grpSpPr>
          <a:xfrm>
            <a:off x="4560530" y="1572430"/>
            <a:ext cx="1400985" cy="583601"/>
            <a:chOff x="4865330" y="1572430"/>
            <a:chExt cx="1400985" cy="583601"/>
          </a:xfrm>
        </p:grpSpPr>
        <p:cxnSp>
          <p:nvCxnSpPr>
            <p:cNvPr id="846" name="Google Shape;846;p68"/>
            <p:cNvCxnSpPr/>
            <p:nvPr/>
          </p:nvCxnSpPr>
          <p:spPr>
            <a:xfrm flipH="1" rot="10800000">
              <a:off x="4865330" y="1713531"/>
              <a:ext cx="1175100" cy="442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47" name="Google Shape;847;p68"/>
            <p:cNvSpPr txBox="1"/>
            <p:nvPr/>
          </p:nvSpPr>
          <p:spPr>
            <a:xfrm>
              <a:off x="6040415" y="1572430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48" name="Google Shape;848;p68"/>
          <p:cNvGrpSpPr/>
          <p:nvPr/>
        </p:nvGrpSpPr>
        <p:grpSpPr>
          <a:xfrm>
            <a:off x="4560525" y="2079255"/>
            <a:ext cx="1400990" cy="277200"/>
            <a:chOff x="4865325" y="1926855"/>
            <a:chExt cx="1400990" cy="277200"/>
          </a:xfrm>
        </p:grpSpPr>
        <p:cxnSp>
          <p:nvCxnSpPr>
            <p:cNvPr id="849" name="Google Shape;849;p68"/>
            <p:cNvCxnSpPr/>
            <p:nvPr/>
          </p:nvCxnSpPr>
          <p:spPr>
            <a:xfrm>
              <a:off x="4865325" y="2065440"/>
              <a:ext cx="118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0" name="Google Shape;850;p68"/>
            <p:cNvSpPr txBox="1"/>
            <p:nvPr/>
          </p:nvSpPr>
          <p:spPr>
            <a:xfrm>
              <a:off x="6040415" y="1926855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1" name="Google Shape;851;p68"/>
          <p:cNvGrpSpPr/>
          <p:nvPr/>
        </p:nvGrpSpPr>
        <p:grpSpPr>
          <a:xfrm>
            <a:off x="4560530" y="2279655"/>
            <a:ext cx="1400985" cy="574806"/>
            <a:chOff x="4865330" y="2127255"/>
            <a:chExt cx="1400985" cy="574806"/>
          </a:xfrm>
        </p:grpSpPr>
        <p:cxnSp>
          <p:nvCxnSpPr>
            <p:cNvPr id="852" name="Google Shape;852;p68"/>
            <p:cNvCxnSpPr/>
            <p:nvPr/>
          </p:nvCxnSpPr>
          <p:spPr>
            <a:xfrm>
              <a:off x="4865330" y="2127255"/>
              <a:ext cx="1175100" cy="442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3" name="Google Shape;853;p68"/>
            <p:cNvSpPr txBox="1"/>
            <p:nvPr/>
          </p:nvSpPr>
          <p:spPr>
            <a:xfrm>
              <a:off x="6040415" y="2424862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4" name="Google Shape;854;p68"/>
          <p:cNvGrpSpPr/>
          <p:nvPr/>
        </p:nvGrpSpPr>
        <p:grpSpPr>
          <a:xfrm>
            <a:off x="4560530" y="3152792"/>
            <a:ext cx="1400985" cy="583601"/>
            <a:chOff x="4865330" y="1572430"/>
            <a:chExt cx="1400985" cy="583601"/>
          </a:xfrm>
        </p:grpSpPr>
        <p:cxnSp>
          <p:nvCxnSpPr>
            <p:cNvPr id="855" name="Google Shape;855;p68"/>
            <p:cNvCxnSpPr/>
            <p:nvPr/>
          </p:nvCxnSpPr>
          <p:spPr>
            <a:xfrm flipH="1" rot="10800000">
              <a:off x="4865330" y="1713531"/>
              <a:ext cx="1175100" cy="442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6" name="Google Shape;856;p68"/>
            <p:cNvSpPr txBox="1"/>
            <p:nvPr/>
          </p:nvSpPr>
          <p:spPr>
            <a:xfrm>
              <a:off x="6040415" y="1572430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7" name="Google Shape;857;p68"/>
          <p:cNvGrpSpPr/>
          <p:nvPr/>
        </p:nvGrpSpPr>
        <p:grpSpPr>
          <a:xfrm>
            <a:off x="4560525" y="3659617"/>
            <a:ext cx="1400990" cy="277200"/>
            <a:chOff x="4865325" y="1926855"/>
            <a:chExt cx="1400990" cy="277200"/>
          </a:xfrm>
        </p:grpSpPr>
        <p:cxnSp>
          <p:nvCxnSpPr>
            <p:cNvPr id="858" name="Google Shape;858;p68"/>
            <p:cNvCxnSpPr/>
            <p:nvPr/>
          </p:nvCxnSpPr>
          <p:spPr>
            <a:xfrm>
              <a:off x="4865325" y="2065440"/>
              <a:ext cx="118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9" name="Google Shape;859;p68"/>
            <p:cNvSpPr txBox="1"/>
            <p:nvPr/>
          </p:nvSpPr>
          <p:spPr>
            <a:xfrm>
              <a:off x="6040415" y="1926855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0" name="Google Shape;860;p68"/>
          <p:cNvGrpSpPr/>
          <p:nvPr/>
        </p:nvGrpSpPr>
        <p:grpSpPr>
          <a:xfrm>
            <a:off x="4560530" y="3860018"/>
            <a:ext cx="1400985" cy="574806"/>
            <a:chOff x="4865330" y="2127255"/>
            <a:chExt cx="1400985" cy="574806"/>
          </a:xfrm>
        </p:grpSpPr>
        <p:cxnSp>
          <p:nvCxnSpPr>
            <p:cNvPr id="861" name="Google Shape;861;p68"/>
            <p:cNvCxnSpPr/>
            <p:nvPr/>
          </p:nvCxnSpPr>
          <p:spPr>
            <a:xfrm>
              <a:off x="4865330" y="2127255"/>
              <a:ext cx="1175100" cy="442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2" name="Google Shape;862;p68"/>
            <p:cNvSpPr txBox="1"/>
            <p:nvPr/>
          </p:nvSpPr>
          <p:spPr>
            <a:xfrm>
              <a:off x="6040415" y="2424862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3" name="Google Shape;863;p68"/>
          <p:cNvSpPr txBox="1"/>
          <p:nvPr/>
        </p:nvSpPr>
        <p:spPr>
          <a:xfrm>
            <a:off x="2137500" y="3243975"/>
            <a:ext cx="123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Starting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point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two-stage trials</a:t>
            </a:r>
            <a:endParaRPr/>
          </a:p>
        </p:txBody>
      </p:sp>
      <p:sp>
        <p:nvSpPr>
          <p:cNvPr id="869" name="Google Shape;869;p69"/>
          <p:cNvSpPr/>
          <p:nvPr/>
        </p:nvSpPr>
        <p:spPr>
          <a:xfrm>
            <a:off x="389852" y="2847186"/>
            <a:ext cx="1390200" cy="1390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69"/>
          <p:cNvSpPr/>
          <p:nvPr/>
        </p:nvSpPr>
        <p:spPr>
          <a:xfrm rot="7199955">
            <a:off x="401915" y="2859288"/>
            <a:ext cx="1366231" cy="1366231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69"/>
          <p:cNvSpPr/>
          <p:nvPr/>
        </p:nvSpPr>
        <p:spPr>
          <a:xfrm rot="-7212126">
            <a:off x="401942" y="2859284"/>
            <a:ext cx="1366261" cy="1366261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69"/>
          <p:cNvSpPr/>
          <p:nvPr/>
        </p:nvSpPr>
        <p:spPr>
          <a:xfrm>
            <a:off x="402047" y="2859432"/>
            <a:ext cx="1366200" cy="1366200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69"/>
          <p:cNvSpPr txBox="1"/>
          <p:nvPr/>
        </p:nvSpPr>
        <p:spPr>
          <a:xfrm>
            <a:off x="1236973" y="3182223"/>
            <a:ext cx="51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69"/>
          <p:cNvSpPr txBox="1"/>
          <p:nvPr/>
        </p:nvSpPr>
        <p:spPr>
          <a:xfrm>
            <a:off x="987098" y="3681973"/>
            <a:ext cx="51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69"/>
          <p:cNvSpPr txBox="1"/>
          <p:nvPr/>
        </p:nvSpPr>
        <p:spPr>
          <a:xfrm>
            <a:off x="612285" y="3182223"/>
            <a:ext cx="51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6" name="Google Shape;876;p69"/>
          <p:cNvGrpSpPr/>
          <p:nvPr/>
        </p:nvGrpSpPr>
        <p:grpSpPr>
          <a:xfrm>
            <a:off x="1045125" y="2916673"/>
            <a:ext cx="76979" cy="669745"/>
            <a:chOff x="996050" y="213293"/>
            <a:chExt cx="93900" cy="909732"/>
          </a:xfrm>
        </p:grpSpPr>
        <p:cxnSp>
          <p:nvCxnSpPr>
            <p:cNvPr id="877" name="Google Shape;877;p6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78" name="Google Shape;878;p6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9" name="Google Shape;879;p69"/>
          <p:cNvSpPr/>
          <p:nvPr/>
        </p:nvSpPr>
        <p:spPr>
          <a:xfrm>
            <a:off x="392534" y="774381"/>
            <a:ext cx="1390200" cy="1390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69"/>
          <p:cNvSpPr/>
          <p:nvPr/>
        </p:nvSpPr>
        <p:spPr>
          <a:xfrm flipH="1">
            <a:off x="404573" y="786482"/>
            <a:ext cx="1366200" cy="13662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69"/>
          <p:cNvSpPr/>
          <p:nvPr/>
        </p:nvSpPr>
        <p:spPr>
          <a:xfrm>
            <a:off x="404635" y="786482"/>
            <a:ext cx="1366200" cy="13662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69"/>
          <p:cNvSpPr txBox="1"/>
          <p:nvPr/>
        </p:nvSpPr>
        <p:spPr>
          <a:xfrm>
            <a:off x="640585" y="1296825"/>
            <a:ext cx="46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69"/>
          <p:cNvSpPr txBox="1"/>
          <p:nvPr/>
        </p:nvSpPr>
        <p:spPr>
          <a:xfrm>
            <a:off x="1302124" y="1296825"/>
            <a:ext cx="51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4" name="Google Shape;884;p69"/>
          <p:cNvGrpSpPr/>
          <p:nvPr/>
        </p:nvGrpSpPr>
        <p:grpSpPr>
          <a:xfrm>
            <a:off x="1047808" y="850276"/>
            <a:ext cx="76979" cy="669745"/>
            <a:chOff x="996050" y="213293"/>
            <a:chExt cx="93900" cy="909732"/>
          </a:xfrm>
        </p:grpSpPr>
        <p:cxnSp>
          <p:nvCxnSpPr>
            <p:cNvPr id="885" name="Google Shape;885;p69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86" name="Google Shape;886;p6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7" name="Google Shape;887;p69"/>
          <p:cNvSpPr txBox="1"/>
          <p:nvPr/>
        </p:nvSpPr>
        <p:spPr>
          <a:xfrm>
            <a:off x="425225" y="2277625"/>
            <a:ext cx="13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69"/>
          <p:cNvSpPr txBox="1"/>
          <p:nvPr/>
        </p:nvSpPr>
        <p:spPr>
          <a:xfrm>
            <a:off x="425230" y="4350430"/>
            <a:ext cx="13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69"/>
          <p:cNvSpPr/>
          <p:nvPr/>
        </p:nvSpPr>
        <p:spPr>
          <a:xfrm>
            <a:off x="2840525" y="2879810"/>
            <a:ext cx="277200" cy="277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0" name="Google Shape;890;p69"/>
          <p:cNvCxnSpPr>
            <a:stCxn id="889" idx="7"/>
          </p:cNvCxnSpPr>
          <p:nvPr/>
        </p:nvCxnSpPr>
        <p:spPr>
          <a:xfrm flipH="1" rot="10800000">
            <a:off x="3077130" y="2228605"/>
            <a:ext cx="1175100" cy="69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69"/>
          <p:cNvCxnSpPr/>
          <p:nvPr/>
        </p:nvCxnSpPr>
        <p:spPr>
          <a:xfrm>
            <a:off x="3077130" y="3113629"/>
            <a:ext cx="1175100" cy="69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2" name="Google Shape;892;p69"/>
          <p:cNvSpPr txBox="1"/>
          <p:nvPr/>
        </p:nvSpPr>
        <p:spPr>
          <a:xfrm>
            <a:off x="4293415" y="2078975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69"/>
          <p:cNvSpPr txBox="1"/>
          <p:nvPr/>
        </p:nvSpPr>
        <p:spPr>
          <a:xfrm>
            <a:off x="4293415" y="3655200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4" name="Google Shape;894;p69"/>
          <p:cNvGrpSpPr/>
          <p:nvPr/>
        </p:nvGrpSpPr>
        <p:grpSpPr>
          <a:xfrm>
            <a:off x="4560530" y="1572430"/>
            <a:ext cx="1400985" cy="583601"/>
            <a:chOff x="4865330" y="1572430"/>
            <a:chExt cx="1400985" cy="583601"/>
          </a:xfrm>
        </p:grpSpPr>
        <p:cxnSp>
          <p:nvCxnSpPr>
            <p:cNvPr id="895" name="Google Shape;895;p69"/>
            <p:cNvCxnSpPr/>
            <p:nvPr/>
          </p:nvCxnSpPr>
          <p:spPr>
            <a:xfrm flipH="1" rot="10800000">
              <a:off x="4865330" y="1713531"/>
              <a:ext cx="1175100" cy="442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6" name="Google Shape;896;p69"/>
            <p:cNvSpPr txBox="1"/>
            <p:nvPr/>
          </p:nvSpPr>
          <p:spPr>
            <a:xfrm>
              <a:off x="6040415" y="1572430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7" name="Google Shape;897;p69"/>
          <p:cNvGrpSpPr/>
          <p:nvPr/>
        </p:nvGrpSpPr>
        <p:grpSpPr>
          <a:xfrm>
            <a:off x="4560525" y="2079255"/>
            <a:ext cx="1400990" cy="277200"/>
            <a:chOff x="4865325" y="1926855"/>
            <a:chExt cx="1400990" cy="277200"/>
          </a:xfrm>
        </p:grpSpPr>
        <p:cxnSp>
          <p:nvCxnSpPr>
            <p:cNvPr id="898" name="Google Shape;898;p69"/>
            <p:cNvCxnSpPr/>
            <p:nvPr/>
          </p:nvCxnSpPr>
          <p:spPr>
            <a:xfrm>
              <a:off x="4865325" y="2065440"/>
              <a:ext cx="118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9" name="Google Shape;899;p69"/>
            <p:cNvSpPr txBox="1"/>
            <p:nvPr/>
          </p:nvSpPr>
          <p:spPr>
            <a:xfrm>
              <a:off x="6040415" y="1926855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0" name="Google Shape;900;p69"/>
          <p:cNvGrpSpPr/>
          <p:nvPr/>
        </p:nvGrpSpPr>
        <p:grpSpPr>
          <a:xfrm>
            <a:off x="4560530" y="2279655"/>
            <a:ext cx="1400985" cy="574806"/>
            <a:chOff x="4865330" y="2127255"/>
            <a:chExt cx="1400985" cy="574806"/>
          </a:xfrm>
        </p:grpSpPr>
        <p:cxnSp>
          <p:nvCxnSpPr>
            <p:cNvPr id="901" name="Google Shape;901;p69"/>
            <p:cNvCxnSpPr/>
            <p:nvPr/>
          </p:nvCxnSpPr>
          <p:spPr>
            <a:xfrm>
              <a:off x="4865330" y="2127255"/>
              <a:ext cx="1175100" cy="442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2" name="Google Shape;902;p69"/>
            <p:cNvSpPr txBox="1"/>
            <p:nvPr/>
          </p:nvSpPr>
          <p:spPr>
            <a:xfrm>
              <a:off x="6040415" y="2424862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3" name="Google Shape;903;p69"/>
          <p:cNvGrpSpPr/>
          <p:nvPr/>
        </p:nvGrpSpPr>
        <p:grpSpPr>
          <a:xfrm>
            <a:off x="4560530" y="3152792"/>
            <a:ext cx="1400985" cy="583601"/>
            <a:chOff x="4865330" y="1572430"/>
            <a:chExt cx="1400985" cy="583601"/>
          </a:xfrm>
        </p:grpSpPr>
        <p:cxnSp>
          <p:nvCxnSpPr>
            <p:cNvPr id="904" name="Google Shape;904;p69"/>
            <p:cNvCxnSpPr/>
            <p:nvPr/>
          </p:nvCxnSpPr>
          <p:spPr>
            <a:xfrm flipH="1" rot="10800000">
              <a:off x="4865330" y="1713531"/>
              <a:ext cx="1175100" cy="442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5" name="Google Shape;905;p69"/>
            <p:cNvSpPr txBox="1"/>
            <p:nvPr/>
          </p:nvSpPr>
          <p:spPr>
            <a:xfrm>
              <a:off x="6040415" y="1572430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6" name="Google Shape;906;p69"/>
          <p:cNvGrpSpPr/>
          <p:nvPr/>
        </p:nvGrpSpPr>
        <p:grpSpPr>
          <a:xfrm>
            <a:off x="4560525" y="3659617"/>
            <a:ext cx="1400990" cy="277200"/>
            <a:chOff x="4865325" y="1926855"/>
            <a:chExt cx="1400990" cy="277200"/>
          </a:xfrm>
        </p:grpSpPr>
        <p:cxnSp>
          <p:nvCxnSpPr>
            <p:cNvPr id="907" name="Google Shape;907;p69"/>
            <p:cNvCxnSpPr/>
            <p:nvPr/>
          </p:nvCxnSpPr>
          <p:spPr>
            <a:xfrm>
              <a:off x="4865325" y="2065440"/>
              <a:ext cx="118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8" name="Google Shape;908;p69"/>
            <p:cNvSpPr txBox="1"/>
            <p:nvPr/>
          </p:nvSpPr>
          <p:spPr>
            <a:xfrm>
              <a:off x="6040415" y="1926855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9" name="Google Shape;909;p69"/>
          <p:cNvGrpSpPr/>
          <p:nvPr/>
        </p:nvGrpSpPr>
        <p:grpSpPr>
          <a:xfrm>
            <a:off x="4560530" y="3860018"/>
            <a:ext cx="1400985" cy="574806"/>
            <a:chOff x="4865330" y="2127255"/>
            <a:chExt cx="1400985" cy="574806"/>
          </a:xfrm>
        </p:grpSpPr>
        <p:cxnSp>
          <p:nvCxnSpPr>
            <p:cNvPr id="910" name="Google Shape;910;p69"/>
            <p:cNvCxnSpPr/>
            <p:nvPr/>
          </p:nvCxnSpPr>
          <p:spPr>
            <a:xfrm>
              <a:off x="4865330" y="2127255"/>
              <a:ext cx="1175100" cy="442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11" name="Google Shape;911;p69"/>
            <p:cNvSpPr txBox="1"/>
            <p:nvPr/>
          </p:nvSpPr>
          <p:spPr>
            <a:xfrm>
              <a:off x="6040415" y="2424862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2" name="Google Shape;912;p69"/>
          <p:cNvGrpSpPr/>
          <p:nvPr/>
        </p:nvGrpSpPr>
        <p:grpSpPr>
          <a:xfrm>
            <a:off x="2865025" y="1342950"/>
            <a:ext cx="1866300" cy="2810975"/>
            <a:chOff x="3169825" y="1342950"/>
            <a:chExt cx="1866300" cy="2810975"/>
          </a:xfrm>
        </p:grpSpPr>
        <p:sp>
          <p:nvSpPr>
            <p:cNvPr id="913" name="Google Shape;913;p69"/>
            <p:cNvSpPr/>
            <p:nvPr/>
          </p:nvSpPr>
          <p:spPr>
            <a:xfrm>
              <a:off x="3381925" y="1882925"/>
              <a:ext cx="1442100" cy="2271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4" name="Google Shape;914;p69"/>
            <p:cNvSpPr txBox="1"/>
            <p:nvPr/>
          </p:nvSpPr>
          <p:spPr>
            <a:xfrm>
              <a:off x="3169825" y="1342950"/>
              <a:ext cx="1866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outcomes from spinner 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5" name="Google Shape;915;p69"/>
          <p:cNvGrpSpPr/>
          <p:nvPr/>
        </p:nvGrpSpPr>
        <p:grpSpPr>
          <a:xfrm>
            <a:off x="4327875" y="971163"/>
            <a:ext cx="1866300" cy="3525388"/>
            <a:chOff x="4632675" y="971163"/>
            <a:chExt cx="1866300" cy="3525388"/>
          </a:xfrm>
        </p:grpSpPr>
        <p:sp>
          <p:nvSpPr>
            <p:cNvPr id="916" name="Google Shape;916;p69"/>
            <p:cNvSpPr/>
            <p:nvPr/>
          </p:nvSpPr>
          <p:spPr>
            <a:xfrm>
              <a:off x="4844775" y="1540350"/>
              <a:ext cx="1442100" cy="2956200"/>
            </a:xfrm>
            <a:prstGeom prst="roundRect">
              <a:avLst>
                <a:gd fmla="val 14358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7" name="Google Shape;917;p69"/>
            <p:cNvSpPr txBox="1"/>
            <p:nvPr/>
          </p:nvSpPr>
          <p:spPr>
            <a:xfrm>
              <a:off x="4632675" y="971163"/>
              <a:ext cx="1866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outcomes from spinner 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8" name="Google Shape;918;p69"/>
          <p:cNvGrpSpPr/>
          <p:nvPr/>
        </p:nvGrpSpPr>
        <p:grpSpPr>
          <a:xfrm>
            <a:off x="4539975" y="1541900"/>
            <a:ext cx="3894850" cy="1349700"/>
            <a:chOff x="4844775" y="1541900"/>
            <a:chExt cx="3894850" cy="1349700"/>
          </a:xfrm>
        </p:grpSpPr>
        <p:sp>
          <p:nvSpPr>
            <p:cNvPr id="919" name="Google Shape;919;p69"/>
            <p:cNvSpPr txBox="1"/>
            <p:nvPr/>
          </p:nvSpPr>
          <p:spPr>
            <a:xfrm>
              <a:off x="6307525" y="1802200"/>
              <a:ext cx="24321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outcomes from spinner 2 after spinner 1 landed on 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0" name="Google Shape;920;p69"/>
            <p:cNvSpPr/>
            <p:nvPr/>
          </p:nvSpPr>
          <p:spPr>
            <a:xfrm>
              <a:off x="4844775" y="1541900"/>
              <a:ext cx="1442100" cy="1349700"/>
            </a:xfrm>
            <a:prstGeom prst="roundRect">
              <a:avLst>
                <a:gd fmla="val 15257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1" name="Google Shape;921;p69"/>
          <p:cNvGrpSpPr/>
          <p:nvPr/>
        </p:nvGrpSpPr>
        <p:grpSpPr>
          <a:xfrm>
            <a:off x="4539975" y="3146703"/>
            <a:ext cx="3975250" cy="1349700"/>
            <a:chOff x="4844775" y="1541900"/>
            <a:chExt cx="3975250" cy="1349700"/>
          </a:xfrm>
        </p:grpSpPr>
        <p:sp>
          <p:nvSpPr>
            <p:cNvPr id="922" name="Google Shape;922;p69"/>
            <p:cNvSpPr txBox="1"/>
            <p:nvPr/>
          </p:nvSpPr>
          <p:spPr>
            <a:xfrm>
              <a:off x="6307525" y="1802200"/>
              <a:ext cx="25125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outcomes from spinner 2 after  spinner 1 landed on 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3" name="Google Shape;923;p69"/>
            <p:cNvSpPr/>
            <p:nvPr/>
          </p:nvSpPr>
          <p:spPr>
            <a:xfrm>
              <a:off x="4844775" y="1541900"/>
              <a:ext cx="1442100" cy="1349700"/>
            </a:xfrm>
            <a:prstGeom prst="roundRect">
              <a:avLst>
                <a:gd fmla="val 15257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two-stage trials</a:t>
            </a:r>
            <a:endParaRPr/>
          </a:p>
        </p:txBody>
      </p:sp>
      <p:sp>
        <p:nvSpPr>
          <p:cNvPr id="929" name="Google Shape;929;p70"/>
          <p:cNvSpPr/>
          <p:nvPr/>
        </p:nvSpPr>
        <p:spPr>
          <a:xfrm>
            <a:off x="389852" y="2847186"/>
            <a:ext cx="1390200" cy="1390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70"/>
          <p:cNvSpPr/>
          <p:nvPr/>
        </p:nvSpPr>
        <p:spPr>
          <a:xfrm rot="7199955">
            <a:off x="401915" y="2859288"/>
            <a:ext cx="1366231" cy="1366231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70"/>
          <p:cNvSpPr/>
          <p:nvPr/>
        </p:nvSpPr>
        <p:spPr>
          <a:xfrm rot="-7212126">
            <a:off x="401942" y="2859284"/>
            <a:ext cx="1366261" cy="1366261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70"/>
          <p:cNvSpPr/>
          <p:nvPr/>
        </p:nvSpPr>
        <p:spPr>
          <a:xfrm>
            <a:off x="402047" y="2859432"/>
            <a:ext cx="1366200" cy="1366200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70"/>
          <p:cNvSpPr txBox="1"/>
          <p:nvPr/>
        </p:nvSpPr>
        <p:spPr>
          <a:xfrm>
            <a:off x="1236973" y="3182223"/>
            <a:ext cx="51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0"/>
          <p:cNvSpPr txBox="1"/>
          <p:nvPr/>
        </p:nvSpPr>
        <p:spPr>
          <a:xfrm>
            <a:off x="987098" y="3681973"/>
            <a:ext cx="51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0"/>
          <p:cNvSpPr txBox="1"/>
          <p:nvPr/>
        </p:nvSpPr>
        <p:spPr>
          <a:xfrm>
            <a:off x="612285" y="3182223"/>
            <a:ext cx="51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6" name="Google Shape;936;p70"/>
          <p:cNvGrpSpPr/>
          <p:nvPr/>
        </p:nvGrpSpPr>
        <p:grpSpPr>
          <a:xfrm>
            <a:off x="1045125" y="2916673"/>
            <a:ext cx="76979" cy="669745"/>
            <a:chOff x="996050" y="213293"/>
            <a:chExt cx="93900" cy="909732"/>
          </a:xfrm>
        </p:grpSpPr>
        <p:cxnSp>
          <p:nvCxnSpPr>
            <p:cNvPr id="937" name="Google Shape;937;p7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38" name="Google Shape;938;p7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9" name="Google Shape;939;p70"/>
          <p:cNvSpPr/>
          <p:nvPr/>
        </p:nvSpPr>
        <p:spPr>
          <a:xfrm>
            <a:off x="392534" y="774381"/>
            <a:ext cx="1390200" cy="1390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70"/>
          <p:cNvSpPr/>
          <p:nvPr/>
        </p:nvSpPr>
        <p:spPr>
          <a:xfrm flipH="1">
            <a:off x="404573" y="786482"/>
            <a:ext cx="1366200" cy="13662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70"/>
          <p:cNvSpPr/>
          <p:nvPr/>
        </p:nvSpPr>
        <p:spPr>
          <a:xfrm>
            <a:off x="404635" y="786482"/>
            <a:ext cx="1366200" cy="13662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70"/>
          <p:cNvSpPr txBox="1"/>
          <p:nvPr/>
        </p:nvSpPr>
        <p:spPr>
          <a:xfrm>
            <a:off x="640585" y="1296825"/>
            <a:ext cx="46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0"/>
          <p:cNvSpPr txBox="1"/>
          <p:nvPr/>
        </p:nvSpPr>
        <p:spPr>
          <a:xfrm>
            <a:off x="1302124" y="1296825"/>
            <a:ext cx="51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4" name="Google Shape;944;p70"/>
          <p:cNvGrpSpPr/>
          <p:nvPr/>
        </p:nvGrpSpPr>
        <p:grpSpPr>
          <a:xfrm>
            <a:off x="1047808" y="850276"/>
            <a:ext cx="76979" cy="669745"/>
            <a:chOff x="996050" y="213293"/>
            <a:chExt cx="93900" cy="909732"/>
          </a:xfrm>
        </p:grpSpPr>
        <p:cxnSp>
          <p:nvCxnSpPr>
            <p:cNvPr id="945" name="Google Shape;945;p70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46" name="Google Shape;946;p7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7" name="Google Shape;947;p70"/>
          <p:cNvSpPr txBox="1"/>
          <p:nvPr/>
        </p:nvSpPr>
        <p:spPr>
          <a:xfrm>
            <a:off x="425225" y="2277625"/>
            <a:ext cx="13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0"/>
          <p:cNvSpPr txBox="1"/>
          <p:nvPr/>
        </p:nvSpPr>
        <p:spPr>
          <a:xfrm>
            <a:off x="425230" y="4350430"/>
            <a:ext cx="13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0"/>
          <p:cNvSpPr/>
          <p:nvPr/>
        </p:nvSpPr>
        <p:spPr>
          <a:xfrm>
            <a:off x="2840525" y="2879810"/>
            <a:ext cx="277200" cy="277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0" name="Google Shape;950;p70"/>
          <p:cNvCxnSpPr>
            <a:stCxn id="949" idx="7"/>
          </p:cNvCxnSpPr>
          <p:nvPr/>
        </p:nvCxnSpPr>
        <p:spPr>
          <a:xfrm flipH="1" rot="10800000">
            <a:off x="3077130" y="2228605"/>
            <a:ext cx="1175100" cy="69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70"/>
          <p:cNvCxnSpPr/>
          <p:nvPr/>
        </p:nvCxnSpPr>
        <p:spPr>
          <a:xfrm>
            <a:off x="3077130" y="3113629"/>
            <a:ext cx="1175100" cy="69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2" name="Google Shape;952;p70"/>
          <p:cNvSpPr txBox="1"/>
          <p:nvPr/>
        </p:nvSpPr>
        <p:spPr>
          <a:xfrm>
            <a:off x="4293415" y="2078975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0"/>
          <p:cNvSpPr txBox="1"/>
          <p:nvPr/>
        </p:nvSpPr>
        <p:spPr>
          <a:xfrm>
            <a:off x="4293415" y="3655200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4" name="Google Shape;954;p70"/>
          <p:cNvGrpSpPr/>
          <p:nvPr/>
        </p:nvGrpSpPr>
        <p:grpSpPr>
          <a:xfrm>
            <a:off x="4560530" y="1572430"/>
            <a:ext cx="1400985" cy="583601"/>
            <a:chOff x="4865330" y="1572430"/>
            <a:chExt cx="1400985" cy="583601"/>
          </a:xfrm>
        </p:grpSpPr>
        <p:cxnSp>
          <p:nvCxnSpPr>
            <p:cNvPr id="955" name="Google Shape;955;p70"/>
            <p:cNvCxnSpPr/>
            <p:nvPr/>
          </p:nvCxnSpPr>
          <p:spPr>
            <a:xfrm flipH="1" rot="10800000">
              <a:off x="4865330" y="1713531"/>
              <a:ext cx="1175100" cy="442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56" name="Google Shape;956;p70"/>
            <p:cNvSpPr txBox="1"/>
            <p:nvPr/>
          </p:nvSpPr>
          <p:spPr>
            <a:xfrm>
              <a:off x="6040415" y="1572430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7" name="Google Shape;957;p70"/>
          <p:cNvGrpSpPr/>
          <p:nvPr/>
        </p:nvGrpSpPr>
        <p:grpSpPr>
          <a:xfrm>
            <a:off x="4560525" y="2079255"/>
            <a:ext cx="1400990" cy="277200"/>
            <a:chOff x="4865325" y="1926855"/>
            <a:chExt cx="1400990" cy="277200"/>
          </a:xfrm>
        </p:grpSpPr>
        <p:cxnSp>
          <p:nvCxnSpPr>
            <p:cNvPr id="958" name="Google Shape;958;p70"/>
            <p:cNvCxnSpPr/>
            <p:nvPr/>
          </p:nvCxnSpPr>
          <p:spPr>
            <a:xfrm>
              <a:off x="4865325" y="2065440"/>
              <a:ext cx="118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59" name="Google Shape;959;p70"/>
            <p:cNvSpPr txBox="1"/>
            <p:nvPr/>
          </p:nvSpPr>
          <p:spPr>
            <a:xfrm>
              <a:off x="6040415" y="1926855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0" name="Google Shape;960;p70"/>
          <p:cNvGrpSpPr/>
          <p:nvPr/>
        </p:nvGrpSpPr>
        <p:grpSpPr>
          <a:xfrm>
            <a:off x="4560530" y="2279655"/>
            <a:ext cx="1400985" cy="574806"/>
            <a:chOff x="4865330" y="2127255"/>
            <a:chExt cx="1400985" cy="574806"/>
          </a:xfrm>
        </p:grpSpPr>
        <p:cxnSp>
          <p:nvCxnSpPr>
            <p:cNvPr id="961" name="Google Shape;961;p70"/>
            <p:cNvCxnSpPr/>
            <p:nvPr/>
          </p:nvCxnSpPr>
          <p:spPr>
            <a:xfrm>
              <a:off x="4865330" y="2127255"/>
              <a:ext cx="1175100" cy="442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62" name="Google Shape;962;p70"/>
            <p:cNvSpPr txBox="1"/>
            <p:nvPr/>
          </p:nvSpPr>
          <p:spPr>
            <a:xfrm>
              <a:off x="6040415" y="2424862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3" name="Google Shape;963;p70"/>
          <p:cNvGrpSpPr/>
          <p:nvPr/>
        </p:nvGrpSpPr>
        <p:grpSpPr>
          <a:xfrm>
            <a:off x="4560530" y="3152792"/>
            <a:ext cx="1400985" cy="583601"/>
            <a:chOff x="4865330" y="1572430"/>
            <a:chExt cx="1400985" cy="583601"/>
          </a:xfrm>
        </p:grpSpPr>
        <p:cxnSp>
          <p:nvCxnSpPr>
            <p:cNvPr id="964" name="Google Shape;964;p70"/>
            <p:cNvCxnSpPr/>
            <p:nvPr/>
          </p:nvCxnSpPr>
          <p:spPr>
            <a:xfrm flipH="1" rot="10800000">
              <a:off x="4865330" y="1713531"/>
              <a:ext cx="1175100" cy="442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65" name="Google Shape;965;p70"/>
            <p:cNvSpPr txBox="1"/>
            <p:nvPr/>
          </p:nvSpPr>
          <p:spPr>
            <a:xfrm>
              <a:off x="6040415" y="1572430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6" name="Google Shape;966;p70"/>
          <p:cNvGrpSpPr/>
          <p:nvPr/>
        </p:nvGrpSpPr>
        <p:grpSpPr>
          <a:xfrm>
            <a:off x="4560525" y="3659617"/>
            <a:ext cx="1400990" cy="277200"/>
            <a:chOff x="4865325" y="1926855"/>
            <a:chExt cx="1400990" cy="277200"/>
          </a:xfrm>
        </p:grpSpPr>
        <p:cxnSp>
          <p:nvCxnSpPr>
            <p:cNvPr id="967" name="Google Shape;967;p70"/>
            <p:cNvCxnSpPr/>
            <p:nvPr/>
          </p:nvCxnSpPr>
          <p:spPr>
            <a:xfrm>
              <a:off x="4865325" y="2065440"/>
              <a:ext cx="1181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68" name="Google Shape;968;p70"/>
            <p:cNvSpPr txBox="1"/>
            <p:nvPr/>
          </p:nvSpPr>
          <p:spPr>
            <a:xfrm>
              <a:off x="6040415" y="1926855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9" name="Google Shape;969;p70"/>
          <p:cNvGrpSpPr/>
          <p:nvPr/>
        </p:nvGrpSpPr>
        <p:grpSpPr>
          <a:xfrm>
            <a:off x="4560530" y="3860018"/>
            <a:ext cx="1400985" cy="574806"/>
            <a:chOff x="4865330" y="2127255"/>
            <a:chExt cx="1400985" cy="574806"/>
          </a:xfrm>
        </p:grpSpPr>
        <p:cxnSp>
          <p:nvCxnSpPr>
            <p:cNvPr id="970" name="Google Shape;970;p70"/>
            <p:cNvCxnSpPr/>
            <p:nvPr/>
          </p:nvCxnSpPr>
          <p:spPr>
            <a:xfrm>
              <a:off x="4865330" y="2127255"/>
              <a:ext cx="1175100" cy="442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71" name="Google Shape;971;p70"/>
            <p:cNvSpPr txBox="1"/>
            <p:nvPr/>
          </p:nvSpPr>
          <p:spPr>
            <a:xfrm>
              <a:off x="6040415" y="2424862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72" name="Google Shape;97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184295" y="2165875"/>
            <a:ext cx="598139" cy="747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3" name="Google Shape;973;p70"/>
          <p:cNvGrpSpPr/>
          <p:nvPr/>
        </p:nvGrpSpPr>
        <p:grpSpPr>
          <a:xfrm>
            <a:off x="6256777" y="920634"/>
            <a:ext cx="2180716" cy="1390217"/>
            <a:chOff x="4153889" y="738782"/>
            <a:chExt cx="2492247" cy="1450863"/>
          </a:xfrm>
        </p:grpSpPr>
        <p:pic>
          <p:nvPicPr>
            <p:cNvPr id="974" name="Google Shape;974;p70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4153889" y="738782"/>
              <a:ext cx="2492247" cy="14508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5" name="Google Shape;975;p70"/>
            <p:cNvSpPr txBox="1"/>
            <p:nvPr/>
          </p:nvSpPr>
          <p:spPr>
            <a:xfrm>
              <a:off x="4215422" y="758448"/>
              <a:ext cx="2257800" cy="115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This is a cool set of scenarios showing what could happen!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6" name="Google Shape;976;p70"/>
          <p:cNvGrpSpPr/>
          <p:nvPr/>
        </p:nvGrpSpPr>
        <p:grpSpPr>
          <a:xfrm flipH="1" rot="10800000">
            <a:off x="6374935" y="2808725"/>
            <a:ext cx="2063086" cy="1403370"/>
            <a:chOff x="4153875" y="738775"/>
            <a:chExt cx="2492252" cy="1695301"/>
          </a:xfrm>
        </p:grpSpPr>
        <p:pic>
          <p:nvPicPr>
            <p:cNvPr id="977" name="Google Shape;977;p70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4153875" y="738775"/>
              <a:ext cx="2492252" cy="1695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8" name="Google Shape;978;p70"/>
            <p:cNvSpPr txBox="1"/>
            <p:nvPr/>
          </p:nvSpPr>
          <p:spPr>
            <a:xfrm rot="10800000">
              <a:off x="4215422" y="777605"/>
              <a:ext cx="2257800" cy="13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But where does it show the outcomes of the whole trial?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9" name="Google Shape;979;p70"/>
          <p:cNvSpPr txBox="1"/>
          <p:nvPr/>
        </p:nvSpPr>
        <p:spPr>
          <a:xfrm>
            <a:off x="8304872" y="2920400"/>
            <a:ext cx="5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two-stage trials</a:t>
            </a:r>
            <a:endParaRPr/>
          </a:p>
        </p:txBody>
      </p:sp>
      <p:sp>
        <p:nvSpPr>
          <p:cNvPr id="985" name="Google Shape;985;p71"/>
          <p:cNvSpPr/>
          <p:nvPr/>
        </p:nvSpPr>
        <p:spPr>
          <a:xfrm>
            <a:off x="389852" y="2847186"/>
            <a:ext cx="1390200" cy="13902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71"/>
          <p:cNvSpPr/>
          <p:nvPr/>
        </p:nvSpPr>
        <p:spPr>
          <a:xfrm rot="7199955">
            <a:off x="401915" y="2859288"/>
            <a:ext cx="1366231" cy="1366231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71"/>
          <p:cNvSpPr/>
          <p:nvPr/>
        </p:nvSpPr>
        <p:spPr>
          <a:xfrm rot="-7212126">
            <a:off x="401942" y="2859284"/>
            <a:ext cx="1366261" cy="1366261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71"/>
          <p:cNvSpPr/>
          <p:nvPr/>
        </p:nvSpPr>
        <p:spPr>
          <a:xfrm>
            <a:off x="402047" y="2859432"/>
            <a:ext cx="1366200" cy="1366200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71"/>
          <p:cNvSpPr txBox="1"/>
          <p:nvPr/>
        </p:nvSpPr>
        <p:spPr>
          <a:xfrm>
            <a:off x="1236973" y="3182223"/>
            <a:ext cx="51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1"/>
          <p:cNvSpPr txBox="1"/>
          <p:nvPr/>
        </p:nvSpPr>
        <p:spPr>
          <a:xfrm>
            <a:off x="987098" y="3681973"/>
            <a:ext cx="51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1"/>
          <p:cNvSpPr txBox="1"/>
          <p:nvPr/>
        </p:nvSpPr>
        <p:spPr>
          <a:xfrm>
            <a:off x="612285" y="3182223"/>
            <a:ext cx="51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2" name="Google Shape;992;p71"/>
          <p:cNvGrpSpPr/>
          <p:nvPr/>
        </p:nvGrpSpPr>
        <p:grpSpPr>
          <a:xfrm>
            <a:off x="1045125" y="2916673"/>
            <a:ext cx="76979" cy="669745"/>
            <a:chOff x="996050" y="213293"/>
            <a:chExt cx="93900" cy="909732"/>
          </a:xfrm>
        </p:grpSpPr>
        <p:cxnSp>
          <p:nvCxnSpPr>
            <p:cNvPr id="993" name="Google Shape;993;p7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94" name="Google Shape;994;p7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5" name="Google Shape;995;p71"/>
          <p:cNvSpPr/>
          <p:nvPr/>
        </p:nvSpPr>
        <p:spPr>
          <a:xfrm>
            <a:off x="392534" y="774381"/>
            <a:ext cx="1390200" cy="1390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71"/>
          <p:cNvSpPr/>
          <p:nvPr/>
        </p:nvSpPr>
        <p:spPr>
          <a:xfrm flipH="1">
            <a:off x="404573" y="786482"/>
            <a:ext cx="1366200" cy="13662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71"/>
          <p:cNvSpPr/>
          <p:nvPr/>
        </p:nvSpPr>
        <p:spPr>
          <a:xfrm>
            <a:off x="404635" y="786482"/>
            <a:ext cx="1366200" cy="13662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71"/>
          <p:cNvSpPr txBox="1"/>
          <p:nvPr/>
        </p:nvSpPr>
        <p:spPr>
          <a:xfrm>
            <a:off x="640585" y="1296825"/>
            <a:ext cx="46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71"/>
          <p:cNvSpPr txBox="1"/>
          <p:nvPr/>
        </p:nvSpPr>
        <p:spPr>
          <a:xfrm>
            <a:off x="1302124" y="1296825"/>
            <a:ext cx="51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0" name="Google Shape;1000;p71"/>
          <p:cNvGrpSpPr/>
          <p:nvPr/>
        </p:nvGrpSpPr>
        <p:grpSpPr>
          <a:xfrm>
            <a:off x="1047808" y="850276"/>
            <a:ext cx="76979" cy="669745"/>
            <a:chOff x="996050" y="213293"/>
            <a:chExt cx="93900" cy="909732"/>
          </a:xfrm>
        </p:grpSpPr>
        <p:cxnSp>
          <p:nvCxnSpPr>
            <p:cNvPr id="1001" name="Google Shape;1001;p7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02" name="Google Shape;1002;p7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3" name="Google Shape;1003;p71"/>
          <p:cNvSpPr txBox="1"/>
          <p:nvPr/>
        </p:nvSpPr>
        <p:spPr>
          <a:xfrm>
            <a:off x="425225" y="2277625"/>
            <a:ext cx="13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71"/>
          <p:cNvSpPr txBox="1"/>
          <p:nvPr/>
        </p:nvSpPr>
        <p:spPr>
          <a:xfrm>
            <a:off x="425230" y="4350430"/>
            <a:ext cx="136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1"/>
          <p:cNvSpPr/>
          <p:nvPr/>
        </p:nvSpPr>
        <p:spPr>
          <a:xfrm>
            <a:off x="2840525" y="2879810"/>
            <a:ext cx="277200" cy="277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06" name="Google Shape;1006;p71"/>
          <p:cNvCxnSpPr>
            <a:stCxn id="1005" idx="7"/>
          </p:cNvCxnSpPr>
          <p:nvPr/>
        </p:nvCxnSpPr>
        <p:spPr>
          <a:xfrm flipH="1" rot="10800000">
            <a:off x="3077130" y="2228605"/>
            <a:ext cx="1175100" cy="69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7" name="Google Shape;1007;p71"/>
          <p:cNvCxnSpPr/>
          <p:nvPr/>
        </p:nvCxnSpPr>
        <p:spPr>
          <a:xfrm>
            <a:off x="3077130" y="3113629"/>
            <a:ext cx="1175100" cy="69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8" name="Google Shape;1008;p71"/>
          <p:cNvSpPr txBox="1"/>
          <p:nvPr/>
        </p:nvSpPr>
        <p:spPr>
          <a:xfrm>
            <a:off x="4293415" y="2078975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1"/>
          <p:cNvSpPr txBox="1"/>
          <p:nvPr/>
        </p:nvSpPr>
        <p:spPr>
          <a:xfrm>
            <a:off x="4293415" y="3655200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0" name="Google Shape;1010;p71"/>
          <p:cNvCxnSpPr/>
          <p:nvPr/>
        </p:nvCxnSpPr>
        <p:spPr>
          <a:xfrm flipH="1" rot="10800000">
            <a:off x="4560530" y="1713531"/>
            <a:ext cx="1175100" cy="442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1" name="Google Shape;1011;p71"/>
          <p:cNvSpPr txBox="1"/>
          <p:nvPr/>
        </p:nvSpPr>
        <p:spPr>
          <a:xfrm>
            <a:off x="5735615" y="1572430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2" name="Google Shape;1012;p71"/>
          <p:cNvCxnSpPr/>
          <p:nvPr/>
        </p:nvCxnSpPr>
        <p:spPr>
          <a:xfrm>
            <a:off x="4560525" y="2217840"/>
            <a:ext cx="118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3" name="Google Shape;1013;p71"/>
          <p:cNvSpPr txBox="1"/>
          <p:nvPr/>
        </p:nvSpPr>
        <p:spPr>
          <a:xfrm>
            <a:off x="5735615" y="2079255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4" name="Google Shape;1014;p71"/>
          <p:cNvCxnSpPr/>
          <p:nvPr/>
        </p:nvCxnSpPr>
        <p:spPr>
          <a:xfrm>
            <a:off x="4560530" y="2279655"/>
            <a:ext cx="1175100" cy="442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5" name="Google Shape;1015;p71"/>
          <p:cNvSpPr txBox="1"/>
          <p:nvPr/>
        </p:nvSpPr>
        <p:spPr>
          <a:xfrm>
            <a:off x="5735615" y="2577262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6" name="Google Shape;1016;p71"/>
          <p:cNvCxnSpPr/>
          <p:nvPr/>
        </p:nvCxnSpPr>
        <p:spPr>
          <a:xfrm flipH="1" rot="10800000">
            <a:off x="4560530" y="3293893"/>
            <a:ext cx="1175100" cy="442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7" name="Google Shape;1017;p71"/>
          <p:cNvSpPr txBox="1"/>
          <p:nvPr/>
        </p:nvSpPr>
        <p:spPr>
          <a:xfrm>
            <a:off x="5735615" y="3152792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8" name="Google Shape;1018;p71"/>
          <p:cNvCxnSpPr/>
          <p:nvPr/>
        </p:nvCxnSpPr>
        <p:spPr>
          <a:xfrm>
            <a:off x="4560525" y="3798203"/>
            <a:ext cx="1181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9" name="Google Shape;1019;p71"/>
          <p:cNvSpPr txBox="1"/>
          <p:nvPr/>
        </p:nvSpPr>
        <p:spPr>
          <a:xfrm>
            <a:off x="5735615" y="3659617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1"/>
          <p:cNvSpPr txBox="1"/>
          <p:nvPr/>
        </p:nvSpPr>
        <p:spPr>
          <a:xfrm>
            <a:off x="2103725" y="664625"/>
            <a:ext cx="671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we traverse each possible path, we’ll end up seeing all possible outcomes of this trial.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1" name="Google Shape;1021;p71"/>
          <p:cNvCxnSpPr/>
          <p:nvPr/>
        </p:nvCxnSpPr>
        <p:spPr>
          <a:xfrm>
            <a:off x="4560530" y="3860018"/>
            <a:ext cx="1175100" cy="442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2" name="Google Shape;1022;p71"/>
          <p:cNvSpPr txBox="1"/>
          <p:nvPr/>
        </p:nvSpPr>
        <p:spPr>
          <a:xfrm>
            <a:off x="5735615" y="4157624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1"/>
          <p:cNvSpPr txBox="1"/>
          <p:nvPr/>
        </p:nvSpPr>
        <p:spPr>
          <a:xfrm>
            <a:off x="6617400" y="1572425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1"/>
          <p:cNvSpPr txBox="1"/>
          <p:nvPr/>
        </p:nvSpPr>
        <p:spPr>
          <a:xfrm>
            <a:off x="6388800" y="1256975"/>
            <a:ext cx="126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5" name="Google Shape;1025;p71"/>
          <p:cNvCxnSpPr/>
          <p:nvPr/>
        </p:nvCxnSpPr>
        <p:spPr>
          <a:xfrm flipH="1" rot="10800000">
            <a:off x="3077130" y="2228781"/>
            <a:ext cx="1175100" cy="6918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71"/>
          <p:cNvCxnSpPr/>
          <p:nvPr/>
        </p:nvCxnSpPr>
        <p:spPr>
          <a:xfrm flipH="1" rot="10800000">
            <a:off x="4560530" y="1713707"/>
            <a:ext cx="1175100" cy="4425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27" name="Google Shape;1027;p71"/>
          <p:cNvCxnSpPr/>
          <p:nvPr/>
        </p:nvCxnSpPr>
        <p:spPr>
          <a:xfrm>
            <a:off x="4560525" y="2218017"/>
            <a:ext cx="1181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71"/>
          <p:cNvCxnSpPr/>
          <p:nvPr/>
        </p:nvCxnSpPr>
        <p:spPr>
          <a:xfrm>
            <a:off x="4560530" y="2279832"/>
            <a:ext cx="1175100" cy="4425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29" name="Google Shape;1029;p71"/>
          <p:cNvSpPr txBox="1"/>
          <p:nvPr/>
        </p:nvSpPr>
        <p:spPr>
          <a:xfrm>
            <a:off x="6843300" y="1572425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1"/>
          <p:cNvSpPr txBox="1"/>
          <p:nvPr/>
        </p:nvSpPr>
        <p:spPr>
          <a:xfrm>
            <a:off x="6617400" y="2078975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71"/>
          <p:cNvSpPr txBox="1"/>
          <p:nvPr/>
        </p:nvSpPr>
        <p:spPr>
          <a:xfrm>
            <a:off x="6843300" y="2078975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1"/>
          <p:cNvSpPr txBox="1"/>
          <p:nvPr/>
        </p:nvSpPr>
        <p:spPr>
          <a:xfrm>
            <a:off x="6617400" y="2585525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1"/>
          <p:cNvSpPr txBox="1"/>
          <p:nvPr/>
        </p:nvSpPr>
        <p:spPr>
          <a:xfrm>
            <a:off x="6843300" y="2585525"/>
            <a:ext cx="22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4" name="Google Shape;1034;p71"/>
          <p:cNvGrpSpPr/>
          <p:nvPr/>
        </p:nvGrpSpPr>
        <p:grpSpPr>
          <a:xfrm>
            <a:off x="3077130" y="3113805"/>
            <a:ext cx="2658500" cy="691800"/>
            <a:chOff x="3077130" y="3113805"/>
            <a:chExt cx="2658500" cy="691800"/>
          </a:xfrm>
        </p:grpSpPr>
        <p:cxnSp>
          <p:nvCxnSpPr>
            <p:cNvPr id="1035" name="Google Shape;1035;p71"/>
            <p:cNvCxnSpPr/>
            <p:nvPr/>
          </p:nvCxnSpPr>
          <p:spPr>
            <a:xfrm>
              <a:off x="3077130" y="3113805"/>
              <a:ext cx="1175100" cy="69180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36" name="Google Shape;1036;p71"/>
            <p:cNvCxnSpPr/>
            <p:nvPr/>
          </p:nvCxnSpPr>
          <p:spPr>
            <a:xfrm flipH="1" rot="10800000">
              <a:off x="4560530" y="3294070"/>
              <a:ext cx="1175100" cy="44250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7" name="Google Shape;1037;p71"/>
          <p:cNvGrpSpPr/>
          <p:nvPr/>
        </p:nvGrpSpPr>
        <p:grpSpPr>
          <a:xfrm>
            <a:off x="6617400" y="3148650"/>
            <a:ext cx="451800" cy="277200"/>
            <a:chOff x="6617400" y="3148650"/>
            <a:chExt cx="451800" cy="277200"/>
          </a:xfrm>
        </p:grpSpPr>
        <p:sp>
          <p:nvSpPr>
            <p:cNvPr id="1038" name="Google Shape;1038;p71"/>
            <p:cNvSpPr txBox="1"/>
            <p:nvPr/>
          </p:nvSpPr>
          <p:spPr>
            <a:xfrm>
              <a:off x="6617400" y="3148650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9" name="Google Shape;1039;p71"/>
            <p:cNvSpPr txBox="1"/>
            <p:nvPr/>
          </p:nvSpPr>
          <p:spPr>
            <a:xfrm>
              <a:off x="6843300" y="3148650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0" name="Google Shape;1040;p71"/>
          <p:cNvGrpSpPr/>
          <p:nvPr/>
        </p:nvGrpSpPr>
        <p:grpSpPr>
          <a:xfrm>
            <a:off x="6617400" y="3655200"/>
            <a:ext cx="451800" cy="277200"/>
            <a:chOff x="6617400" y="3655200"/>
            <a:chExt cx="451800" cy="277200"/>
          </a:xfrm>
        </p:grpSpPr>
        <p:sp>
          <p:nvSpPr>
            <p:cNvPr id="1041" name="Google Shape;1041;p71"/>
            <p:cNvSpPr txBox="1"/>
            <p:nvPr/>
          </p:nvSpPr>
          <p:spPr>
            <a:xfrm>
              <a:off x="6617400" y="3655200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2" name="Google Shape;1042;p71"/>
            <p:cNvSpPr txBox="1"/>
            <p:nvPr/>
          </p:nvSpPr>
          <p:spPr>
            <a:xfrm>
              <a:off x="6843300" y="3655200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3" name="Google Shape;1043;p71"/>
          <p:cNvGrpSpPr/>
          <p:nvPr/>
        </p:nvGrpSpPr>
        <p:grpSpPr>
          <a:xfrm>
            <a:off x="6617400" y="4161750"/>
            <a:ext cx="451800" cy="277200"/>
            <a:chOff x="6617400" y="4161750"/>
            <a:chExt cx="451800" cy="277200"/>
          </a:xfrm>
        </p:grpSpPr>
        <p:sp>
          <p:nvSpPr>
            <p:cNvPr id="1044" name="Google Shape;1044;p71"/>
            <p:cNvSpPr txBox="1"/>
            <p:nvPr/>
          </p:nvSpPr>
          <p:spPr>
            <a:xfrm>
              <a:off x="6617400" y="4161750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5" name="Google Shape;1045;p71"/>
            <p:cNvSpPr txBox="1"/>
            <p:nvPr/>
          </p:nvSpPr>
          <p:spPr>
            <a:xfrm>
              <a:off x="6843300" y="4161750"/>
              <a:ext cx="225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6" name="Google Shape;1046;p71"/>
          <p:cNvGrpSpPr/>
          <p:nvPr/>
        </p:nvGrpSpPr>
        <p:grpSpPr>
          <a:xfrm>
            <a:off x="3077130" y="3113630"/>
            <a:ext cx="2665095" cy="691800"/>
            <a:chOff x="3077130" y="3113630"/>
            <a:chExt cx="2665095" cy="691800"/>
          </a:xfrm>
        </p:grpSpPr>
        <p:cxnSp>
          <p:nvCxnSpPr>
            <p:cNvPr id="1047" name="Google Shape;1047;p71"/>
            <p:cNvCxnSpPr/>
            <p:nvPr/>
          </p:nvCxnSpPr>
          <p:spPr>
            <a:xfrm>
              <a:off x="4560525" y="3798379"/>
              <a:ext cx="11817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48" name="Google Shape;1048;p71"/>
            <p:cNvCxnSpPr/>
            <p:nvPr/>
          </p:nvCxnSpPr>
          <p:spPr>
            <a:xfrm>
              <a:off x="3077130" y="3113630"/>
              <a:ext cx="1175100" cy="69180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49" name="Google Shape;1049;p71"/>
          <p:cNvGrpSpPr/>
          <p:nvPr/>
        </p:nvGrpSpPr>
        <p:grpSpPr>
          <a:xfrm>
            <a:off x="3077130" y="3113630"/>
            <a:ext cx="2658500" cy="1189064"/>
            <a:chOff x="3077130" y="3113630"/>
            <a:chExt cx="2658500" cy="1189064"/>
          </a:xfrm>
        </p:grpSpPr>
        <p:cxnSp>
          <p:nvCxnSpPr>
            <p:cNvPr id="1050" name="Google Shape;1050;p71"/>
            <p:cNvCxnSpPr/>
            <p:nvPr/>
          </p:nvCxnSpPr>
          <p:spPr>
            <a:xfrm>
              <a:off x="4560530" y="3860194"/>
              <a:ext cx="1175100" cy="44250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51" name="Google Shape;1051;p71"/>
            <p:cNvCxnSpPr/>
            <p:nvPr/>
          </p:nvCxnSpPr>
          <p:spPr>
            <a:xfrm>
              <a:off x="3077130" y="3113630"/>
              <a:ext cx="1175100" cy="69180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052" name="Google Shape;1052;p71"/>
          <p:cNvSpPr/>
          <p:nvPr/>
        </p:nvSpPr>
        <p:spPr>
          <a:xfrm>
            <a:off x="6442975" y="1569250"/>
            <a:ext cx="800700" cy="289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71"/>
          <p:cNvSpPr txBox="1"/>
          <p:nvPr/>
        </p:nvSpPr>
        <p:spPr>
          <a:xfrm>
            <a:off x="7300225" y="1865925"/>
            <a:ext cx="15201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it shows all the possible outcomes of this trial.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71"/>
          <p:cNvSpPr txBox="1"/>
          <p:nvPr/>
        </p:nvSpPr>
        <p:spPr>
          <a:xfrm>
            <a:off x="6442975" y="952175"/>
            <a:ext cx="85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72"/>
          <p:cNvSpPr txBox="1"/>
          <p:nvPr/>
        </p:nvSpPr>
        <p:spPr>
          <a:xfrm>
            <a:off x="6505950" y="2524973"/>
            <a:ext cx="2161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1 landed on B, spinner 2 landed on lose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72"/>
          <p:cNvSpPr txBox="1"/>
          <p:nvPr/>
        </p:nvSpPr>
        <p:spPr>
          <a:xfrm>
            <a:off x="3803847" y="3679300"/>
            <a:ext cx="2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72"/>
          <p:cNvSpPr txBox="1"/>
          <p:nvPr/>
        </p:nvSpPr>
        <p:spPr>
          <a:xfrm>
            <a:off x="3760447" y="4323300"/>
            <a:ext cx="2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72"/>
          <p:cNvSpPr txBox="1"/>
          <p:nvPr/>
        </p:nvSpPr>
        <p:spPr>
          <a:xfrm>
            <a:off x="2103725" y="664625"/>
            <a:ext cx="313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does the highlighted pair of branches represent?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two-stage trials</a:t>
            </a:r>
            <a:endParaRPr/>
          </a:p>
        </p:txBody>
      </p:sp>
      <p:sp>
        <p:nvSpPr>
          <p:cNvPr id="1064" name="Google Shape;1064;p72"/>
          <p:cNvSpPr/>
          <p:nvPr/>
        </p:nvSpPr>
        <p:spPr>
          <a:xfrm>
            <a:off x="2383325" y="3209535"/>
            <a:ext cx="277200" cy="277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5" name="Google Shape;1065;p72"/>
          <p:cNvGrpSpPr/>
          <p:nvPr/>
        </p:nvGrpSpPr>
        <p:grpSpPr>
          <a:xfrm>
            <a:off x="324010" y="724901"/>
            <a:ext cx="1486626" cy="1838712"/>
            <a:chOff x="324000" y="724875"/>
            <a:chExt cx="1695900" cy="2097550"/>
          </a:xfrm>
        </p:grpSpPr>
        <p:sp>
          <p:nvSpPr>
            <p:cNvPr id="1066" name="Google Shape;1066;p72"/>
            <p:cNvSpPr/>
            <p:nvPr/>
          </p:nvSpPr>
          <p:spPr>
            <a:xfrm>
              <a:off x="324000" y="724875"/>
              <a:ext cx="1695900" cy="16959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72"/>
            <p:cNvSpPr/>
            <p:nvPr/>
          </p:nvSpPr>
          <p:spPr>
            <a:xfrm flipH="1">
              <a:off x="338689" y="739636"/>
              <a:ext cx="1666500" cy="1666500"/>
            </a:xfrm>
            <a:prstGeom prst="pie">
              <a:avLst>
                <a:gd fmla="val 5387953" name="adj1"/>
                <a:gd fmla="val 10824216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72"/>
            <p:cNvSpPr/>
            <p:nvPr/>
          </p:nvSpPr>
          <p:spPr>
            <a:xfrm>
              <a:off x="338761" y="739636"/>
              <a:ext cx="1666500" cy="1666500"/>
            </a:xfrm>
            <a:prstGeom prst="pie">
              <a:avLst>
                <a:gd fmla="val 5387953" name="adj1"/>
                <a:gd fmla="val 1085822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72"/>
            <p:cNvSpPr/>
            <p:nvPr/>
          </p:nvSpPr>
          <p:spPr>
            <a:xfrm>
              <a:off x="338761" y="739636"/>
              <a:ext cx="1666500" cy="1666500"/>
            </a:xfrm>
            <a:prstGeom prst="pie">
              <a:avLst>
                <a:gd fmla="val 10799941" name="adj1"/>
                <a:gd fmla="val 16225322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72"/>
            <p:cNvSpPr/>
            <p:nvPr/>
          </p:nvSpPr>
          <p:spPr>
            <a:xfrm flipH="1">
              <a:off x="338689" y="739636"/>
              <a:ext cx="1666500" cy="1666500"/>
            </a:xfrm>
            <a:prstGeom prst="pie">
              <a:avLst>
                <a:gd fmla="val 10825856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72"/>
            <p:cNvSpPr txBox="1"/>
            <p:nvPr/>
          </p:nvSpPr>
          <p:spPr>
            <a:xfrm>
              <a:off x="1172300" y="10142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72" name="Google Shape;1072;p72"/>
            <p:cNvGrpSpPr/>
            <p:nvPr/>
          </p:nvGrpSpPr>
          <p:grpSpPr>
            <a:xfrm>
              <a:off x="1123309" y="790388"/>
              <a:ext cx="93900" cy="816939"/>
              <a:chOff x="996050" y="213293"/>
              <a:chExt cx="93900" cy="909732"/>
            </a:xfrm>
          </p:grpSpPr>
          <p:cxnSp>
            <p:nvCxnSpPr>
              <p:cNvPr id="1073" name="Google Shape;1073;p72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74" name="Google Shape;1074;p72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75" name="Google Shape;1075;p72"/>
            <p:cNvSpPr txBox="1"/>
            <p:nvPr/>
          </p:nvSpPr>
          <p:spPr>
            <a:xfrm>
              <a:off x="542300" y="10142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6" name="Google Shape;1076;p72"/>
            <p:cNvSpPr txBox="1"/>
            <p:nvPr/>
          </p:nvSpPr>
          <p:spPr>
            <a:xfrm>
              <a:off x="1172300" y="16418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7" name="Google Shape;1077;p72"/>
            <p:cNvSpPr txBox="1"/>
            <p:nvPr/>
          </p:nvSpPr>
          <p:spPr>
            <a:xfrm>
              <a:off x="542300" y="16418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8" name="Google Shape;1078;p72"/>
            <p:cNvSpPr txBox="1"/>
            <p:nvPr/>
          </p:nvSpPr>
          <p:spPr>
            <a:xfrm>
              <a:off x="494318" y="2506225"/>
              <a:ext cx="13608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spinner 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9" name="Google Shape;1079;p72"/>
          <p:cNvGrpSpPr/>
          <p:nvPr/>
        </p:nvGrpSpPr>
        <p:grpSpPr>
          <a:xfrm>
            <a:off x="2619925" y="2191846"/>
            <a:ext cx="1175100" cy="2309416"/>
            <a:chOff x="3077130" y="2101130"/>
            <a:chExt cx="1175100" cy="1576824"/>
          </a:xfrm>
        </p:grpSpPr>
        <p:cxnSp>
          <p:nvCxnSpPr>
            <p:cNvPr id="1080" name="Google Shape;1080;p72"/>
            <p:cNvCxnSpPr/>
            <p:nvPr/>
          </p:nvCxnSpPr>
          <p:spPr>
            <a:xfrm flipH="1" rot="10800000">
              <a:off x="3077130" y="2101130"/>
              <a:ext cx="1175100" cy="69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1" name="Google Shape;1081;p72"/>
            <p:cNvCxnSpPr/>
            <p:nvPr/>
          </p:nvCxnSpPr>
          <p:spPr>
            <a:xfrm>
              <a:off x="3077130" y="2986154"/>
              <a:ext cx="1175100" cy="69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82" name="Google Shape;1082;p72"/>
          <p:cNvCxnSpPr/>
          <p:nvPr/>
        </p:nvCxnSpPr>
        <p:spPr>
          <a:xfrm flipH="1" rot="10800000">
            <a:off x="2660525" y="2864077"/>
            <a:ext cx="1175100" cy="42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3" name="Google Shape;1083;p72"/>
          <p:cNvCxnSpPr/>
          <p:nvPr/>
        </p:nvCxnSpPr>
        <p:spPr>
          <a:xfrm>
            <a:off x="2660525" y="3405969"/>
            <a:ext cx="1175100" cy="42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4" name="Google Shape;1084;p72"/>
          <p:cNvSpPr txBox="1"/>
          <p:nvPr/>
        </p:nvSpPr>
        <p:spPr>
          <a:xfrm>
            <a:off x="3798090" y="2051111"/>
            <a:ext cx="40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72"/>
          <p:cNvSpPr txBox="1"/>
          <p:nvPr/>
        </p:nvSpPr>
        <p:spPr>
          <a:xfrm>
            <a:off x="3832796" y="2726392"/>
            <a:ext cx="40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72"/>
          <p:cNvSpPr/>
          <p:nvPr/>
        </p:nvSpPr>
        <p:spPr>
          <a:xfrm>
            <a:off x="324010" y="2977383"/>
            <a:ext cx="1486500" cy="14865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72"/>
          <p:cNvSpPr/>
          <p:nvPr/>
        </p:nvSpPr>
        <p:spPr>
          <a:xfrm>
            <a:off x="336949" y="2990322"/>
            <a:ext cx="1461000" cy="1461000"/>
          </a:xfrm>
          <a:prstGeom prst="pie">
            <a:avLst>
              <a:gd fmla="val 5380542" name="adj1"/>
              <a:gd fmla="val 16225322" name="adj2"/>
            </a:avLst>
          </a:prstGeom>
          <a:solidFill>
            <a:srgbClr val="D9D9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8" name="Google Shape;1088;p72"/>
          <p:cNvSpPr/>
          <p:nvPr/>
        </p:nvSpPr>
        <p:spPr>
          <a:xfrm flipH="1">
            <a:off x="336740" y="2990322"/>
            <a:ext cx="1461000" cy="1461000"/>
          </a:xfrm>
          <a:prstGeom prst="pie">
            <a:avLst>
              <a:gd fmla="val 5418672" name="adj1"/>
              <a:gd fmla="val 16200000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72"/>
          <p:cNvSpPr txBox="1"/>
          <p:nvPr/>
        </p:nvSpPr>
        <p:spPr>
          <a:xfrm>
            <a:off x="1067624" y="3462125"/>
            <a:ext cx="7308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0" name="Google Shape;1090;p72"/>
          <p:cNvGrpSpPr/>
          <p:nvPr/>
        </p:nvGrpSpPr>
        <p:grpSpPr>
          <a:xfrm>
            <a:off x="1024684" y="3034815"/>
            <a:ext cx="82313" cy="716141"/>
            <a:chOff x="996050" y="213293"/>
            <a:chExt cx="93900" cy="909732"/>
          </a:xfrm>
        </p:grpSpPr>
        <p:cxnSp>
          <p:nvCxnSpPr>
            <p:cNvPr id="1091" name="Google Shape;1091;p7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92" name="Google Shape;1092;p7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3" name="Google Shape;1093;p72"/>
          <p:cNvSpPr txBox="1"/>
          <p:nvPr/>
        </p:nvSpPr>
        <p:spPr>
          <a:xfrm>
            <a:off x="336951" y="3462125"/>
            <a:ext cx="7308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72"/>
          <p:cNvSpPr txBox="1"/>
          <p:nvPr/>
        </p:nvSpPr>
        <p:spPr>
          <a:xfrm>
            <a:off x="473311" y="4538915"/>
            <a:ext cx="119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5" name="Google Shape;1095;p72"/>
          <p:cNvCxnSpPr/>
          <p:nvPr/>
        </p:nvCxnSpPr>
        <p:spPr>
          <a:xfrm flipH="1" rot="10800000">
            <a:off x="4062571" y="2020591"/>
            <a:ext cx="1175100" cy="155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" name="Google Shape;1096;p72"/>
          <p:cNvCxnSpPr/>
          <p:nvPr/>
        </p:nvCxnSpPr>
        <p:spPr>
          <a:xfrm>
            <a:off x="4062571" y="2219012"/>
            <a:ext cx="1175100" cy="155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7" name="Google Shape;1097;p72"/>
          <p:cNvSpPr txBox="1"/>
          <p:nvPr/>
        </p:nvSpPr>
        <p:spPr>
          <a:xfrm>
            <a:off x="5268559" y="2233071"/>
            <a:ext cx="60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72"/>
          <p:cNvSpPr txBox="1"/>
          <p:nvPr/>
        </p:nvSpPr>
        <p:spPr>
          <a:xfrm>
            <a:off x="5268559" y="1882796"/>
            <a:ext cx="60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9" name="Google Shape;1099;p72"/>
          <p:cNvCxnSpPr/>
          <p:nvPr/>
        </p:nvCxnSpPr>
        <p:spPr>
          <a:xfrm flipH="1" rot="10800000">
            <a:off x="4062571" y="2689054"/>
            <a:ext cx="1175100" cy="155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0" name="Google Shape;1100;p72"/>
          <p:cNvCxnSpPr/>
          <p:nvPr/>
        </p:nvCxnSpPr>
        <p:spPr>
          <a:xfrm>
            <a:off x="4062571" y="2887475"/>
            <a:ext cx="1175100" cy="155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1" name="Google Shape;1101;p72"/>
          <p:cNvSpPr txBox="1"/>
          <p:nvPr/>
        </p:nvSpPr>
        <p:spPr>
          <a:xfrm>
            <a:off x="5268559" y="2901534"/>
            <a:ext cx="60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72"/>
          <p:cNvSpPr txBox="1"/>
          <p:nvPr/>
        </p:nvSpPr>
        <p:spPr>
          <a:xfrm>
            <a:off x="5268559" y="2551259"/>
            <a:ext cx="60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3" name="Google Shape;1103;p72"/>
          <p:cNvCxnSpPr/>
          <p:nvPr/>
        </p:nvCxnSpPr>
        <p:spPr>
          <a:xfrm flipH="1" rot="10800000">
            <a:off x="2660525" y="2863057"/>
            <a:ext cx="1175100" cy="4236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04" name="Google Shape;1104;p72"/>
          <p:cNvCxnSpPr/>
          <p:nvPr/>
        </p:nvCxnSpPr>
        <p:spPr>
          <a:xfrm>
            <a:off x="4062571" y="2886454"/>
            <a:ext cx="1175100" cy="155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105" name="Google Shape;1105;p72"/>
          <p:cNvGrpSpPr/>
          <p:nvPr/>
        </p:nvGrpSpPr>
        <p:grpSpPr>
          <a:xfrm>
            <a:off x="6159399" y="750752"/>
            <a:ext cx="242727" cy="242727"/>
            <a:chOff x="1020916" y="1442088"/>
            <a:chExt cx="457200" cy="457200"/>
          </a:xfrm>
        </p:grpSpPr>
        <p:pic>
          <p:nvPicPr>
            <p:cNvPr id="1106" name="Google Shape;1106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7" name="Google Shape;1107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8" name="Google Shape;1108;p72"/>
          <p:cNvSpPr txBox="1"/>
          <p:nvPr/>
        </p:nvSpPr>
        <p:spPr>
          <a:xfrm>
            <a:off x="6505950" y="733523"/>
            <a:ext cx="216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B lost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9" name="Google Shape;1109;p72"/>
          <p:cNvGrpSpPr/>
          <p:nvPr/>
        </p:nvGrpSpPr>
        <p:grpSpPr>
          <a:xfrm>
            <a:off x="6159399" y="1255602"/>
            <a:ext cx="242727" cy="242727"/>
            <a:chOff x="1020916" y="1442088"/>
            <a:chExt cx="457200" cy="457200"/>
          </a:xfrm>
        </p:grpSpPr>
        <p:pic>
          <p:nvPicPr>
            <p:cNvPr id="1110" name="Google Shape;1110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1" name="Google Shape;1111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12" name="Google Shape;1112;p72"/>
          <p:cNvSpPr txBox="1"/>
          <p:nvPr/>
        </p:nvSpPr>
        <p:spPr>
          <a:xfrm>
            <a:off x="6505950" y="1238373"/>
            <a:ext cx="216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1 lost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3" name="Google Shape;1113;p72"/>
          <p:cNvGrpSpPr/>
          <p:nvPr/>
        </p:nvGrpSpPr>
        <p:grpSpPr>
          <a:xfrm>
            <a:off x="6159399" y="1760452"/>
            <a:ext cx="242727" cy="242727"/>
            <a:chOff x="1020916" y="1442088"/>
            <a:chExt cx="457200" cy="457200"/>
          </a:xfrm>
        </p:grpSpPr>
        <p:pic>
          <p:nvPicPr>
            <p:cNvPr id="1114" name="Google Shape;1114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5" name="Google Shape;1115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16" name="Google Shape;1116;p72"/>
          <p:cNvSpPr txBox="1"/>
          <p:nvPr/>
        </p:nvSpPr>
        <p:spPr>
          <a:xfrm>
            <a:off x="6505950" y="1743223"/>
            <a:ext cx="216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1 landed on B and lose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7" name="Google Shape;1117;p72"/>
          <p:cNvGrpSpPr/>
          <p:nvPr/>
        </p:nvGrpSpPr>
        <p:grpSpPr>
          <a:xfrm>
            <a:off x="6159399" y="2542202"/>
            <a:ext cx="242727" cy="242727"/>
            <a:chOff x="1020916" y="1442088"/>
            <a:chExt cx="457200" cy="457200"/>
          </a:xfrm>
        </p:grpSpPr>
        <p:pic>
          <p:nvPicPr>
            <p:cNvPr id="1118" name="Google Shape;1118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9" name="Google Shape;1119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20" name="Google Shape;1120;p72"/>
          <p:cNvSpPr txBox="1"/>
          <p:nvPr/>
        </p:nvSpPr>
        <p:spPr>
          <a:xfrm>
            <a:off x="6505950" y="3583923"/>
            <a:ext cx="2161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1 landed on B because spinner 2 landed on lose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1" name="Google Shape;1121;p72"/>
          <p:cNvGrpSpPr/>
          <p:nvPr/>
        </p:nvGrpSpPr>
        <p:grpSpPr>
          <a:xfrm>
            <a:off x="6159399" y="3601152"/>
            <a:ext cx="242727" cy="242727"/>
            <a:chOff x="1020916" y="1442088"/>
            <a:chExt cx="457200" cy="457200"/>
          </a:xfrm>
        </p:grpSpPr>
        <p:pic>
          <p:nvPicPr>
            <p:cNvPr id="1122" name="Google Shape;1122;p7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3" name="Google Shape;1123;p7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24" name="Google Shape;1124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2771" y="280678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73"/>
          <p:cNvSpPr txBox="1"/>
          <p:nvPr/>
        </p:nvSpPr>
        <p:spPr>
          <a:xfrm>
            <a:off x="3774950" y="664625"/>
            <a:ext cx="256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Spinners 1 and 2 will be spun once each.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73"/>
          <p:cNvSpPr txBox="1"/>
          <p:nvPr/>
        </p:nvSpPr>
        <p:spPr>
          <a:xfrm>
            <a:off x="324000" y="664625"/>
            <a:ext cx="3133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This spinner will be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Complete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this single-stage trial.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7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two-stage trials</a:t>
            </a:r>
            <a:endParaRPr/>
          </a:p>
        </p:txBody>
      </p:sp>
      <p:cxnSp>
        <p:nvCxnSpPr>
          <p:cNvPr id="1132" name="Google Shape;1132;p73"/>
          <p:cNvCxnSpPr/>
          <p:nvPr/>
        </p:nvCxnSpPr>
        <p:spPr>
          <a:xfrm>
            <a:off x="3616291" y="540000"/>
            <a:ext cx="0" cy="4285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33" name="Google Shape;1133;p73"/>
          <p:cNvGrpSpPr/>
          <p:nvPr/>
        </p:nvGrpSpPr>
        <p:grpSpPr>
          <a:xfrm>
            <a:off x="152183" y="1652190"/>
            <a:ext cx="1547400" cy="1547400"/>
            <a:chOff x="324176" y="1873177"/>
            <a:chExt cx="1547400" cy="1547400"/>
          </a:xfrm>
        </p:grpSpPr>
        <p:sp>
          <p:nvSpPr>
            <p:cNvPr id="1134" name="Google Shape;1134;p73"/>
            <p:cNvSpPr/>
            <p:nvPr/>
          </p:nvSpPr>
          <p:spPr>
            <a:xfrm>
              <a:off x="533846" y="2082809"/>
              <a:ext cx="1128000" cy="11280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5" name="Google Shape;1135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3201" y="2080996"/>
              <a:ext cx="1108500" cy="1108500"/>
            </a:xfrm>
            <a:prstGeom prst="pie">
              <a:avLst>
                <a:gd fmla="val 3321768" name="adj1"/>
                <a:gd fmla="val 7600233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36" name="Google Shape;1136;p73"/>
            <p:cNvSpPr/>
            <p:nvPr/>
          </p:nvSpPr>
          <p:spPr>
            <a:xfrm rot="8649783">
              <a:off x="543715" y="2092717"/>
              <a:ext cx="1108320" cy="1108320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9E9E9E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73"/>
            <p:cNvSpPr/>
            <p:nvPr/>
          </p:nvSpPr>
          <p:spPr>
            <a:xfrm rot="-4309794">
              <a:off x="543857" y="2092830"/>
              <a:ext cx="1108264" cy="1108264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73"/>
            <p:cNvSpPr/>
            <p:nvPr/>
          </p:nvSpPr>
          <p:spPr>
            <a:xfrm>
              <a:off x="543850" y="2092903"/>
              <a:ext cx="1108200" cy="1108200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73"/>
            <p:cNvSpPr/>
            <p:nvPr/>
          </p:nvSpPr>
          <p:spPr>
            <a:xfrm rot="4312737">
              <a:off x="543727" y="2092593"/>
              <a:ext cx="1108268" cy="1108268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EEEEEE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73"/>
            <p:cNvSpPr txBox="1"/>
            <p:nvPr/>
          </p:nvSpPr>
          <p:spPr>
            <a:xfrm>
              <a:off x="1099350" y="2138475"/>
              <a:ext cx="4671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41" name="Google Shape;1141;p73"/>
            <p:cNvGrpSpPr/>
            <p:nvPr/>
          </p:nvGrpSpPr>
          <p:grpSpPr>
            <a:xfrm>
              <a:off x="1065467" y="2119992"/>
              <a:ext cx="62453" cy="543383"/>
              <a:chOff x="996050" y="213293"/>
              <a:chExt cx="93900" cy="909732"/>
            </a:xfrm>
          </p:grpSpPr>
          <p:cxnSp>
            <p:nvCxnSpPr>
              <p:cNvPr id="1142" name="Google Shape;1142;p73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143" name="Google Shape;1143;p73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44" name="Google Shape;1144;p73"/>
            <p:cNvSpPr/>
            <p:nvPr/>
          </p:nvSpPr>
          <p:spPr>
            <a:xfrm>
              <a:off x="980826" y="2874537"/>
              <a:ext cx="210300" cy="198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73"/>
            <p:cNvSpPr txBox="1"/>
            <p:nvPr/>
          </p:nvSpPr>
          <p:spPr>
            <a:xfrm>
              <a:off x="1173113" y="2498920"/>
              <a:ext cx="4671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6" name="Google Shape;1146;p73"/>
            <p:cNvSpPr txBox="1"/>
            <p:nvPr/>
          </p:nvSpPr>
          <p:spPr>
            <a:xfrm flipH="1">
              <a:off x="628788" y="2138475"/>
              <a:ext cx="4671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7" name="Google Shape;1147;p73"/>
            <p:cNvSpPr txBox="1"/>
            <p:nvPr/>
          </p:nvSpPr>
          <p:spPr>
            <a:xfrm flipH="1">
              <a:off x="555025" y="2498920"/>
              <a:ext cx="4671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8" name="Google Shape;1148;p73"/>
            <p:cNvSpPr txBox="1"/>
            <p:nvPr/>
          </p:nvSpPr>
          <p:spPr>
            <a:xfrm>
              <a:off x="980821" y="2910488"/>
              <a:ext cx="210300" cy="12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9" name="Google Shape;1149;p73"/>
          <p:cNvGrpSpPr/>
          <p:nvPr/>
        </p:nvGrpSpPr>
        <p:grpSpPr>
          <a:xfrm>
            <a:off x="1401283" y="2252866"/>
            <a:ext cx="1657506" cy="2393732"/>
            <a:chOff x="390126" y="2329066"/>
            <a:chExt cx="1657506" cy="2393732"/>
          </a:xfrm>
        </p:grpSpPr>
        <p:grpSp>
          <p:nvGrpSpPr>
            <p:cNvPr id="1150" name="Google Shape;1150;p73"/>
            <p:cNvGrpSpPr/>
            <p:nvPr/>
          </p:nvGrpSpPr>
          <p:grpSpPr>
            <a:xfrm>
              <a:off x="390126" y="2468097"/>
              <a:ext cx="1501276" cy="2117301"/>
              <a:chOff x="2030775" y="2475081"/>
              <a:chExt cx="1501276" cy="2309195"/>
            </a:xfrm>
          </p:grpSpPr>
          <p:sp>
            <p:nvSpPr>
              <p:cNvPr id="1151" name="Google Shape;1151;p73"/>
              <p:cNvSpPr/>
              <p:nvPr/>
            </p:nvSpPr>
            <p:spPr>
              <a:xfrm>
                <a:off x="2030775" y="3492660"/>
                <a:ext cx="277200" cy="2772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152" name="Google Shape;1152;p73"/>
              <p:cNvCxnSpPr/>
              <p:nvPr/>
            </p:nvCxnSpPr>
            <p:spPr>
              <a:xfrm flipH="1" rot="10800000">
                <a:off x="2267375" y="2475081"/>
                <a:ext cx="1175100" cy="1013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3" name="Google Shape;1153;p73"/>
              <p:cNvCxnSpPr/>
              <p:nvPr/>
            </p:nvCxnSpPr>
            <p:spPr>
              <a:xfrm>
                <a:off x="2267375" y="3771176"/>
                <a:ext cx="1175100" cy="1013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4" name="Google Shape;1154;p73"/>
              <p:cNvCxnSpPr/>
              <p:nvPr/>
            </p:nvCxnSpPr>
            <p:spPr>
              <a:xfrm flipH="1" rot="10800000">
                <a:off x="2307975" y="3147202"/>
                <a:ext cx="1175100" cy="423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5" name="Google Shape;1155;p73"/>
              <p:cNvCxnSpPr/>
              <p:nvPr/>
            </p:nvCxnSpPr>
            <p:spPr>
              <a:xfrm>
                <a:off x="2307975" y="3689094"/>
                <a:ext cx="1175100" cy="423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6" name="Google Shape;1156;p73"/>
              <p:cNvCxnSpPr/>
              <p:nvPr/>
            </p:nvCxnSpPr>
            <p:spPr>
              <a:xfrm>
                <a:off x="2322451" y="3631252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157" name="Google Shape;1157;p73"/>
            <p:cNvSpPr txBox="1"/>
            <p:nvPr/>
          </p:nvSpPr>
          <p:spPr>
            <a:xfrm>
              <a:off x="1803667" y="2329066"/>
              <a:ext cx="224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8" name="Google Shape;1158;p73"/>
            <p:cNvSpPr txBox="1"/>
            <p:nvPr/>
          </p:nvSpPr>
          <p:spPr>
            <a:xfrm>
              <a:off x="1823232" y="4445598"/>
              <a:ext cx="224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59" name="Google Shape;115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1060" y="692800"/>
            <a:ext cx="794100" cy="794100"/>
          </a:xfrm>
          <a:prstGeom prst="pie">
            <a:avLst>
              <a:gd fmla="val 9084661" name="adj1"/>
              <a:gd fmla="val 1624909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0" name="Google Shape;1160;p73"/>
          <p:cNvSpPr/>
          <p:nvPr/>
        </p:nvSpPr>
        <p:spPr>
          <a:xfrm>
            <a:off x="7851578" y="678031"/>
            <a:ext cx="826200" cy="8262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73"/>
          <p:cNvSpPr/>
          <p:nvPr/>
        </p:nvSpPr>
        <p:spPr>
          <a:xfrm rot="7199660">
            <a:off x="7858733" y="685263"/>
            <a:ext cx="811939" cy="811939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73"/>
          <p:cNvSpPr/>
          <p:nvPr/>
        </p:nvSpPr>
        <p:spPr>
          <a:xfrm rot="-7211637">
            <a:off x="7858871" y="685348"/>
            <a:ext cx="811845" cy="811845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73"/>
          <p:cNvSpPr txBox="1"/>
          <p:nvPr/>
        </p:nvSpPr>
        <p:spPr>
          <a:xfrm>
            <a:off x="8320025" y="776199"/>
            <a:ext cx="3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73"/>
          <p:cNvSpPr txBox="1"/>
          <p:nvPr/>
        </p:nvSpPr>
        <p:spPr>
          <a:xfrm>
            <a:off x="8111863" y="1121126"/>
            <a:ext cx="3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5" name="Google Shape;1165;p73"/>
          <p:cNvCxnSpPr/>
          <p:nvPr/>
        </p:nvCxnSpPr>
        <p:spPr>
          <a:xfrm rot="10800000">
            <a:off x="8265653" y="719180"/>
            <a:ext cx="0" cy="372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6" name="Google Shape;1166;p73"/>
          <p:cNvSpPr/>
          <p:nvPr/>
        </p:nvSpPr>
        <p:spPr>
          <a:xfrm>
            <a:off x="8240990" y="1076220"/>
            <a:ext cx="45600" cy="41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73"/>
          <p:cNvSpPr/>
          <p:nvPr/>
        </p:nvSpPr>
        <p:spPr>
          <a:xfrm>
            <a:off x="6533983" y="672039"/>
            <a:ext cx="826200" cy="82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73"/>
          <p:cNvSpPr/>
          <p:nvPr/>
        </p:nvSpPr>
        <p:spPr>
          <a:xfrm flipH="1">
            <a:off x="6541235" y="679230"/>
            <a:ext cx="811800" cy="8118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73"/>
          <p:cNvSpPr/>
          <p:nvPr/>
        </p:nvSpPr>
        <p:spPr>
          <a:xfrm>
            <a:off x="6541174" y="679230"/>
            <a:ext cx="811800" cy="8118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73"/>
          <p:cNvSpPr txBox="1"/>
          <p:nvPr/>
        </p:nvSpPr>
        <p:spPr>
          <a:xfrm>
            <a:off x="6613022" y="927848"/>
            <a:ext cx="27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73"/>
          <p:cNvSpPr txBox="1"/>
          <p:nvPr/>
        </p:nvSpPr>
        <p:spPr>
          <a:xfrm>
            <a:off x="6965043" y="927848"/>
            <a:ext cx="3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2" name="Google Shape;1172;p73"/>
          <p:cNvCxnSpPr/>
          <p:nvPr/>
        </p:nvCxnSpPr>
        <p:spPr>
          <a:xfrm rot="10800000">
            <a:off x="6948058" y="716997"/>
            <a:ext cx="0" cy="372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3" name="Google Shape;1173;p73"/>
          <p:cNvSpPr/>
          <p:nvPr/>
        </p:nvSpPr>
        <p:spPr>
          <a:xfrm>
            <a:off x="6923395" y="1074037"/>
            <a:ext cx="45600" cy="41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73"/>
          <p:cNvSpPr/>
          <p:nvPr/>
        </p:nvSpPr>
        <p:spPr>
          <a:xfrm>
            <a:off x="7962239" y="890302"/>
            <a:ext cx="194700" cy="18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73"/>
          <p:cNvSpPr txBox="1"/>
          <p:nvPr/>
        </p:nvSpPr>
        <p:spPr>
          <a:xfrm>
            <a:off x="7885751" y="772622"/>
            <a:ext cx="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Z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73"/>
          <p:cNvSpPr txBox="1"/>
          <p:nvPr/>
        </p:nvSpPr>
        <p:spPr>
          <a:xfrm>
            <a:off x="6393274" y="1498225"/>
            <a:ext cx="110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73"/>
          <p:cNvSpPr txBox="1"/>
          <p:nvPr/>
        </p:nvSpPr>
        <p:spPr>
          <a:xfrm>
            <a:off x="7710898" y="1499725"/>
            <a:ext cx="110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73"/>
          <p:cNvSpPr/>
          <p:nvPr/>
        </p:nvSpPr>
        <p:spPr>
          <a:xfrm>
            <a:off x="3729498" y="3172516"/>
            <a:ext cx="277200" cy="254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9" name="Google Shape;1179;p73"/>
          <p:cNvGrpSpPr/>
          <p:nvPr/>
        </p:nvGrpSpPr>
        <p:grpSpPr>
          <a:xfrm>
            <a:off x="3966258" y="2742525"/>
            <a:ext cx="704002" cy="1111440"/>
            <a:chOff x="4041475" y="2949188"/>
            <a:chExt cx="1175100" cy="1459924"/>
          </a:xfrm>
        </p:grpSpPr>
        <p:cxnSp>
          <p:nvCxnSpPr>
            <p:cNvPr id="1180" name="Google Shape;1180;p73"/>
            <p:cNvCxnSpPr/>
            <p:nvPr/>
          </p:nvCxnSpPr>
          <p:spPr>
            <a:xfrm flipH="1" rot="10800000">
              <a:off x="4041475" y="2949188"/>
              <a:ext cx="1175100" cy="640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1" name="Google Shape;1181;p73"/>
            <p:cNvCxnSpPr/>
            <p:nvPr/>
          </p:nvCxnSpPr>
          <p:spPr>
            <a:xfrm>
              <a:off x="4041475" y="3768612"/>
              <a:ext cx="1175100" cy="640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82" name="Google Shape;1182;p73"/>
          <p:cNvGrpSpPr/>
          <p:nvPr/>
        </p:nvGrpSpPr>
        <p:grpSpPr>
          <a:xfrm>
            <a:off x="5002868" y="2369125"/>
            <a:ext cx="757667" cy="772734"/>
            <a:chOff x="8708301" y="2468209"/>
            <a:chExt cx="1264676" cy="2117078"/>
          </a:xfrm>
        </p:grpSpPr>
        <p:cxnSp>
          <p:nvCxnSpPr>
            <p:cNvPr id="1183" name="Google Shape;1183;p73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4" name="Google Shape;1184;p73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5" name="Google Shape;1185;p73"/>
            <p:cNvCxnSpPr/>
            <p:nvPr/>
          </p:nvCxnSpPr>
          <p:spPr>
            <a:xfrm>
              <a:off x="8763377" y="3528191"/>
              <a:ext cx="12096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86" name="Google Shape;1186;p73"/>
          <p:cNvGrpSpPr/>
          <p:nvPr/>
        </p:nvGrpSpPr>
        <p:grpSpPr>
          <a:xfrm>
            <a:off x="5002868" y="3467616"/>
            <a:ext cx="757667" cy="772734"/>
            <a:chOff x="8708301" y="2468209"/>
            <a:chExt cx="1264676" cy="2117078"/>
          </a:xfrm>
        </p:grpSpPr>
        <p:cxnSp>
          <p:nvCxnSpPr>
            <p:cNvPr id="1187" name="Google Shape;1187;p73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8" name="Google Shape;1188;p73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9" name="Google Shape;1189;p73"/>
            <p:cNvCxnSpPr/>
            <p:nvPr/>
          </p:nvCxnSpPr>
          <p:spPr>
            <a:xfrm>
              <a:off x="8763377" y="3528191"/>
              <a:ext cx="12096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90" name="Google Shape;1190;p73"/>
          <p:cNvSpPr txBox="1"/>
          <p:nvPr/>
        </p:nvSpPr>
        <p:spPr>
          <a:xfrm>
            <a:off x="4728506" y="2616890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73"/>
          <p:cNvSpPr txBox="1"/>
          <p:nvPr/>
        </p:nvSpPr>
        <p:spPr>
          <a:xfrm>
            <a:off x="5760707" y="2616890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73"/>
          <p:cNvSpPr txBox="1"/>
          <p:nvPr/>
        </p:nvSpPr>
        <p:spPr>
          <a:xfrm>
            <a:off x="6655800" y="2305725"/>
            <a:ext cx="2163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What do the two branches in the box represent?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Complete this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73"/>
          <p:cNvSpPr txBox="1"/>
          <p:nvPr/>
        </p:nvSpPr>
        <p:spPr>
          <a:xfrm>
            <a:off x="5760707" y="3001138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73"/>
          <p:cNvSpPr/>
          <p:nvPr/>
        </p:nvSpPr>
        <p:spPr>
          <a:xfrm>
            <a:off x="3993749" y="2463150"/>
            <a:ext cx="1009200" cy="1666800"/>
          </a:xfrm>
          <a:prstGeom prst="roundRect">
            <a:avLst>
              <a:gd fmla="val 6621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74"/>
          <p:cNvSpPr txBox="1"/>
          <p:nvPr/>
        </p:nvSpPr>
        <p:spPr>
          <a:xfrm>
            <a:off x="2913925" y="1974977"/>
            <a:ext cx="794100" cy="28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PP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PQ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PR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QQ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QR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RP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RQ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RR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74"/>
          <p:cNvSpPr txBox="1"/>
          <p:nvPr/>
        </p:nvSpPr>
        <p:spPr>
          <a:xfrm>
            <a:off x="324000" y="664625"/>
            <a:ext cx="3713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Spinner 3 will be spun twice.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Complete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Complete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outcomes for this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7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two-stage trials</a:t>
            </a:r>
            <a:endParaRPr/>
          </a:p>
        </p:txBody>
      </p:sp>
      <p:cxnSp>
        <p:nvCxnSpPr>
          <p:cNvPr id="1202" name="Google Shape;1202;p74"/>
          <p:cNvCxnSpPr/>
          <p:nvPr/>
        </p:nvCxnSpPr>
        <p:spPr>
          <a:xfrm>
            <a:off x="5326000" y="540000"/>
            <a:ext cx="0" cy="4285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03" name="Google Shape;120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3558" y="692800"/>
            <a:ext cx="794100" cy="794100"/>
          </a:xfrm>
          <a:prstGeom prst="pie">
            <a:avLst>
              <a:gd fmla="val 9084661" name="adj1"/>
              <a:gd fmla="val 1624909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04" name="Google Shape;1204;p74"/>
          <p:cNvSpPr/>
          <p:nvPr/>
        </p:nvSpPr>
        <p:spPr>
          <a:xfrm>
            <a:off x="4294075" y="678031"/>
            <a:ext cx="826200" cy="8262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74"/>
          <p:cNvSpPr/>
          <p:nvPr/>
        </p:nvSpPr>
        <p:spPr>
          <a:xfrm rot="7199660">
            <a:off x="4301230" y="685263"/>
            <a:ext cx="811939" cy="811939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74"/>
          <p:cNvSpPr/>
          <p:nvPr/>
        </p:nvSpPr>
        <p:spPr>
          <a:xfrm rot="-7211637">
            <a:off x="4301368" y="685348"/>
            <a:ext cx="811845" cy="811845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74"/>
          <p:cNvSpPr txBox="1"/>
          <p:nvPr/>
        </p:nvSpPr>
        <p:spPr>
          <a:xfrm>
            <a:off x="4762522" y="776199"/>
            <a:ext cx="3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74"/>
          <p:cNvSpPr txBox="1"/>
          <p:nvPr/>
        </p:nvSpPr>
        <p:spPr>
          <a:xfrm>
            <a:off x="4554361" y="1121126"/>
            <a:ext cx="3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Q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9" name="Google Shape;1209;p74"/>
          <p:cNvCxnSpPr/>
          <p:nvPr/>
        </p:nvCxnSpPr>
        <p:spPr>
          <a:xfrm rot="10800000">
            <a:off x="4708151" y="719180"/>
            <a:ext cx="0" cy="372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0" name="Google Shape;1210;p74"/>
          <p:cNvSpPr/>
          <p:nvPr/>
        </p:nvSpPr>
        <p:spPr>
          <a:xfrm>
            <a:off x="4683488" y="1076220"/>
            <a:ext cx="45600" cy="41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74"/>
          <p:cNvSpPr/>
          <p:nvPr/>
        </p:nvSpPr>
        <p:spPr>
          <a:xfrm>
            <a:off x="4404736" y="890302"/>
            <a:ext cx="194700" cy="18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74"/>
          <p:cNvSpPr txBox="1"/>
          <p:nvPr/>
        </p:nvSpPr>
        <p:spPr>
          <a:xfrm>
            <a:off x="4328248" y="772622"/>
            <a:ext cx="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74"/>
          <p:cNvSpPr txBox="1"/>
          <p:nvPr/>
        </p:nvSpPr>
        <p:spPr>
          <a:xfrm>
            <a:off x="4153396" y="1499725"/>
            <a:ext cx="110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74"/>
          <p:cNvSpPr/>
          <p:nvPr/>
        </p:nvSpPr>
        <p:spPr>
          <a:xfrm>
            <a:off x="323998" y="3291705"/>
            <a:ext cx="277200" cy="254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5" name="Google Shape;1215;p74"/>
          <p:cNvGrpSpPr/>
          <p:nvPr/>
        </p:nvGrpSpPr>
        <p:grpSpPr>
          <a:xfrm>
            <a:off x="531205" y="2107806"/>
            <a:ext cx="1823792" cy="2622001"/>
            <a:chOff x="531193" y="2114549"/>
            <a:chExt cx="1823792" cy="2416368"/>
          </a:xfrm>
        </p:grpSpPr>
        <p:grpSp>
          <p:nvGrpSpPr>
            <p:cNvPr id="1216" name="Google Shape;1216;p74"/>
            <p:cNvGrpSpPr/>
            <p:nvPr/>
          </p:nvGrpSpPr>
          <p:grpSpPr>
            <a:xfrm>
              <a:off x="531193" y="2420748"/>
              <a:ext cx="757667" cy="1803963"/>
              <a:chOff x="8708301" y="2468209"/>
              <a:chExt cx="1264676" cy="2117078"/>
            </a:xfrm>
          </p:grpSpPr>
          <p:cxnSp>
            <p:nvCxnSpPr>
              <p:cNvPr id="1217" name="Google Shape;1217;p74"/>
              <p:cNvCxnSpPr/>
              <p:nvPr/>
            </p:nvCxnSpPr>
            <p:spPr>
              <a:xfrm flipH="1" rot="10800000">
                <a:off x="8708301" y="2468209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8" name="Google Shape;1218;p74"/>
              <p:cNvCxnSpPr/>
              <p:nvPr/>
            </p:nvCxnSpPr>
            <p:spPr>
              <a:xfrm>
                <a:off x="8708301" y="3656487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19" name="Google Shape;1219;p74"/>
              <p:cNvCxnSpPr/>
              <p:nvPr/>
            </p:nvCxnSpPr>
            <p:spPr>
              <a:xfrm>
                <a:off x="8763377" y="3528191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20" name="Google Shape;1220;p74"/>
            <p:cNvGrpSpPr/>
            <p:nvPr/>
          </p:nvGrpSpPr>
          <p:grpSpPr>
            <a:xfrm>
              <a:off x="1597318" y="2114549"/>
              <a:ext cx="757667" cy="629831"/>
              <a:chOff x="8708301" y="2468209"/>
              <a:chExt cx="1264676" cy="2117078"/>
            </a:xfrm>
          </p:grpSpPr>
          <p:cxnSp>
            <p:nvCxnSpPr>
              <p:cNvPr id="1221" name="Google Shape;1221;p74"/>
              <p:cNvCxnSpPr/>
              <p:nvPr/>
            </p:nvCxnSpPr>
            <p:spPr>
              <a:xfrm flipH="1" rot="10800000">
                <a:off x="8708301" y="2468209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2" name="Google Shape;1222;p74"/>
              <p:cNvCxnSpPr/>
              <p:nvPr/>
            </p:nvCxnSpPr>
            <p:spPr>
              <a:xfrm>
                <a:off x="8708301" y="3656487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3" name="Google Shape;1223;p74"/>
              <p:cNvCxnSpPr/>
              <p:nvPr/>
            </p:nvCxnSpPr>
            <p:spPr>
              <a:xfrm>
                <a:off x="8763377" y="3528191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24" name="Google Shape;1224;p74"/>
            <p:cNvGrpSpPr/>
            <p:nvPr/>
          </p:nvGrpSpPr>
          <p:grpSpPr>
            <a:xfrm>
              <a:off x="1597318" y="3007811"/>
              <a:ext cx="757667" cy="629831"/>
              <a:chOff x="8708301" y="2468209"/>
              <a:chExt cx="1264676" cy="2117078"/>
            </a:xfrm>
          </p:grpSpPr>
          <p:cxnSp>
            <p:nvCxnSpPr>
              <p:cNvPr id="1225" name="Google Shape;1225;p74"/>
              <p:cNvCxnSpPr/>
              <p:nvPr/>
            </p:nvCxnSpPr>
            <p:spPr>
              <a:xfrm flipH="1" rot="10800000">
                <a:off x="8708301" y="2468209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6" name="Google Shape;1226;p74"/>
              <p:cNvCxnSpPr/>
              <p:nvPr/>
            </p:nvCxnSpPr>
            <p:spPr>
              <a:xfrm>
                <a:off x="8708301" y="3656487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7" name="Google Shape;1227;p74"/>
              <p:cNvCxnSpPr/>
              <p:nvPr/>
            </p:nvCxnSpPr>
            <p:spPr>
              <a:xfrm>
                <a:off x="8763377" y="3528191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28" name="Google Shape;1228;p74"/>
            <p:cNvGrpSpPr/>
            <p:nvPr/>
          </p:nvGrpSpPr>
          <p:grpSpPr>
            <a:xfrm>
              <a:off x="1597318" y="3901086"/>
              <a:ext cx="757667" cy="629831"/>
              <a:chOff x="8708301" y="2468209"/>
              <a:chExt cx="1264676" cy="2117078"/>
            </a:xfrm>
          </p:grpSpPr>
          <p:cxnSp>
            <p:nvCxnSpPr>
              <p:cNvPr id="1229" name="Google Shape;1229;p74"/>
              <p:cNvCxnSpPr/>
              <p:nvPr/>
            </p:nvCxnSpPr>
            <p:spPr>
              <a:xfrm flipH="1" rot="10800000">
                <a:off x="8708301" y="2468209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0" name="Google Shape;1230;p74"/>
              <p:cNvCxnSpPr/>
              <p:nvPr/>
            </p:nvCxnSpPr>
            <p:spPr>
              <a:xfrm>
                <a:off x="8708301" y="3656487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1" name="Google Shape;1231;p74"/>
              <p:cNvCxnSpPr/>
              <p:nvPr/>
            </p:nvCxnSpPr>
            <p:spPr>
              <a:xfrm>
                <a:off x="8763377" y="3528191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232" name="Google Shape;1232;p74"/>
          <p:cNvSpPr txBox="1"/>
          <p:nvPr/>
        </p:nvSpPr>
        <p:spPr>
          <a:xfrm>
            <a:off x="1276800" y="2294550"/>
            <a:ext cx="2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74"/>
          <p:cNvSpPr txBox="1"/>
          <p:nvPr/>
        </p:nvSpPr>
        <p:spPr>
          <a:xfrm>
            <a:off x="2355000" y="2937840"/>
            <a:ext cx="2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74"/>
          <p:cNvSpPr txBox="1"/>
          <p:nvPr/>
        </p:nvSpPr>
        <p:spPr>
          <a:xfrm>
            <a:off x="2355000" y="3280190"/>
            <a:ext cx="2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74"/>
          <p:cNvSpPr txBox="1"/>
          <p:nvPr/>
        </p:nvSpPr>
        <p:spPr>
          <a:xfrm>
            <a:off x="2355000" y="3622540"/>
            <a:ext cx="2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74"/>
          <p:cNvSpPr txBox="1"/>
          <p:nvPr/>
        </p:nvSpPr>
        <p:spPr>
          <a:xfrm>
            <a:off x="2355000" y="2293685"/>
            <a:ext cx="2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74"/>
          <p:cNvSpPr txBox="1"/>
          <p:nvPr/>
        </p:nvSpPr>
        <p:spPr>
          <a:xfrm>
            <a:off x="2355000" y="2615753"/>
            <a:ext cx="2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74"/>
          <p:cNvSpPr/>
          <p:nvPr/>
        </p:nvSpPr>
        <p:spPr>
          <a:xfrm>
            <a:off x="2913925" y="1969650"/>
            <a:ext cx="800700" cy="289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74"/>
          <p:cNvSpPr txBox="1"/>
          <p:nvPr/>
        </p:nvSpPr>
        <p:spPr>
          <a:xfrm>
            <a:off x="3708025" y="4543200"/>
            <a:ext cx="167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74"/>
          <p:cNvSpPr/>
          <p:nvPr/>
        </p:nvSpPr>
        <p:spPr>
          <a:xfrm>
            <a:off x="5474573" y="3465905"/>
            <a:ext cx="277200" cy="254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1" name="Google Shape;1241;p74"/>
          <p:cNvGrpSpPr/>
          <p:nvPr/>
        </p:nvGrpSpPr>
        <p:grpSpPr>
          <a:xfrm>
            <a:off x="5681870" y="3100206"/>
            <a:ext cx="561110" cy="1002225"/>
            <a:chOff x="8708301" y="2468209"/>
            <a:chExt cx="1175100" cy="2117078"/>
          </a:xfrm>
        </p:grpSpPr>
        <p:cxnSp>
          <p:nvCxnSpPr>
            <p:cNvPr id="1242" name="Google Shape;1242;p74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3" name="Google Shape;1243;p74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44" name="Google Shape;1244;p74"/>
          <p:cNvGrpSpPr/>
          <p:nvPr/>
        </p:nvGrpSpPr>
        <p:grpSpPr>
          <a:xfrm>
            <a:off x="6531632" y="2875475"/>
            <a:ext cx="561110" cy="459194"/>
            <a:chOff x="8708301" y="2468209"/>
            <a:chExt cx="1175100" cy="2117078"/>
          </a:xfrm>
        </p:grpSpPr>
        <p:cxnSp>
          <p:nvCxnSpPr>
            <p:cNvPr id="1245" name="Google Shape;1245;p74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6" name="Google Shape;1246;p74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47" name="Google Shape;1247;p74"/>
          <p:cNvGrpSpPr/>
          <p:nvPr/>
        </p:nvGrpSpPr>
        <p:grpSpPr>
          <a:xfrm>
            <a:off x="6531632" y="3899206"/>
            <a:ext cx="561110" cy="459194"/>
            <a:chOff x="8708301" y="2468209"/>
            <a:chExt cx="1175100" cy="2117078"/>
          </a:xfrm>
        </p:grpSpPr>
        <p:cxnSp>
          <p:nvCxnSpPr>
            <p:cNvPr id="1248" name="Google Shape;1248;p74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9" name="Google Shape;1249;p74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50" name="Google Shape;1250;p74"/>
          <p:cNvSpPr/>
          <p:nvPr/>
        </p:nvSpPr>
        <p:spPr>
          <a:xfrm>
            <a:off x="7697000" y="2634500"/>
            <a:ext cx="800700" cy="1970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74"/>
          <p:cNvSpPr txBox="1"/>
          <p:nvPr/>
        </p:nvSpPr>
        <p:spPr>
          <a:xfrm>
            <a:off x="5531725" y="664625"/>
            <a:ext cx="32883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4) Spinners 4 and 5 are spun once each and have these outcomes: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spinner 4 = {A, B}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spinner 5 = {red, blue}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Complete this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75"/>
          <p:cNvSpPr txBox="1"/>
          <p:nvPr/>
        </p:nvSpPr>
        <p:spPr>
          <a:xfrm>
            <a:off x="4824000" y="664625"/>
            <a:ext cx="2565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6) Spinners 8 and 9 will be spun once each.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Fill in the outcomes of each spinner from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75"/>
          <p:cNvSpPr/>
          <p:nvPr/>
        </p:nvSpPr>
        <p:spPr>
          <a:xfrm>
            <a:off x="2959800" y="2224525"/>
            <a:ext cx="1019100" cy="2388600"/>
          </a:xfrm>
          <a:prstGeom prst="roundRect">
            <a:avLst>
              <a:gd fmla="val 11211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75"/>
          <p:cNvSpPr txBox="1"/>
          <p:nvPr/>
        </p:nvSpPr>
        <p:spPr>
          <a:xfrm>
            <a:off x="324000" y="664625"/>
            <a:ext cx="3996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5) Spinners 6 and 7 will be spun once each.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Complete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from its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75"/>
          <p:cNvSpPr txBox="1"/>
          <p:nvPr/>
        </p:nvSpPr>
        <p:spPr>
          <a:xfrm>
            <a:off x="2959800" y="2224525"/>
            <a:ext cx="1019100" cy="23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G, win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G, lose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G, draw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H, win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H, lose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H, draw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7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two-stage trials</a:t>
            </a:r>
            <a:endParaRPr/>
          </a:p>
        </p:txBody>
      </p:sp>
      <p:sp>
        <p:nvSpPr>
          <p:cNvPr id="1261" name="Google Shape;1261;p75"/>
          <p:cNvSpPr/>
          <p:nvPr/>
        </p:nvSpPr>
        <p:spPr>
          <a:xfrm>
            <a:off x="323998" y="3291705"/>
            <a:ext cx="277200" cy="254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2" name="Google Shape;1262;p75"/>
          <p:cNvGrpSpPr/>
          <p:nvPr/>
        </p:nvGrpSpPr>
        <p:grpSpPr>
          <a:xfrm>
            <a:off x="531189" y="2841325"/>
            <a:ext cx="657559" cy="1155053"/>
            <a:chOff x="531205" y="2439944"/>
            <a:chExt cx="704100" cy="1957717"/>
          </a:xfrm>
        </p:grpSpPr>
        <p:cxnSp>
          <p:nvCxnSpPr>
            <p:cNvPr id="1263" name="Google Shape;1263;p75"/>
            <p:cNvCxnSpPr/>
            <p:nvPr/>
          </p:nvCxnSpPr>
          <p:spPr>
            <a:xfrm flipH="1" rot="10800000">
              <a:off x="531205" y="2439944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4" name="Google Shape;1264;p75"/>
            <p:cNvCxnSpPr/>
            <p:nvPr/>
          </p:nvCxnSpPr>
          <p:spPr>
            <a:xfrm>
              <a:off x="531205" y="3538762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65" name="Google Shape;1265;p75"/>
          <p:cNvGrpSpPr/>
          <p:nvPr/>
        </p:nvGrpSpPr>
        <p:grpSpPr>
          <a:xfrm>
            <a:off x="1567974" y="2507322"/>
            <a:ext cx="707706" cy="683164"/>
            <a:chOff x="1597330" y="2437981"/>
            <a:chExt cx="757796" cy="683164"/>
          </a:xfrm>
        </p:grpSpPr>
        <p:cxnSp>
          <p:nvCxnSpPr>
            <p:cNvPr id="1266" name="Google Shape;1266;p75"/>
            <p:cNvCxnSpPr/>
            <p:nvPr/>
          </p:nvCxnSpPr>
          <p:spPr>
            <a:xfrm flipH="1" rot="10800000">
              <a:off x="1597330" y="2437981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7" name="Google Shape;1267;p75"/>
            <p:cNvCxnSpPr/>
            <p:nvPr/>
          </p:nvCxnSpPr>
          <p:spPr>
            <a:xfrm>
              <a:off x="1597330" y="2821445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8" name="Google Shape;1268;p75"/>
            <p:cNvCxnSpPr/>
            <p:nvPr/>
          </p:nvCxnSpPr>
          <p:spPr>
            <a:xfrm>
              <a:off x="1630326" y="2780029"/>
              <a:ext cx="724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69" name="Google Shape;1269;p75"/>
          <p:cNvGrpSpPr/>
          <p:nvPr/>
        </p:nvGrpSpPr>
        <p:grpSpPr>
          <a:xfrm>
            <a:off x="1567974" y="3664957"/>
            <a:ext cx="707706" cy="683164"/>
            <a:chOff x="1597330" y="2437981"/>
            <a:chExt cx="757796" cy="683164"/>
          </a:xfrm>
        </p:grpSpPr>
        <p:cxnSp>
          <p:nvCxnSpPr>
            <p:cNvPr id="1270" name="Google Shape;1270;p75"/>
            <p:cNvCxnSpPr/>
            <p:nvPr/>
          </p:nvCxnSpPr>
          <p:spPr>
            <a:xfrm flipH="1" rot="10800000">
              <a:off x="1597330" y="2437981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1" name="Google Shape;1271;p75"/>
            <p:cNvCxnSpPr/>
            <p:nvPr/>
          </p:nvCxnSpPr>
          <p:spPr>
            <a:xfrm>
              <a:off x="1597330" y="2821445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2" name="Google Shape;1272;p75"/>
            <p:cNvCxnSpPr/>
            <p:nvPr/>
          </p:nvCxnSpPr>
          <p:spPr>
            <a:xfrm>
              <a:off x="1630326" y="2780029"/>
              <a:ext cx="724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73" name="Google Shape;1273;p75"/>
          <p:cNvCxnSpPr/>
          <p:nvPr/>
        </p:nvCxnSpPr>
        <p:spPr>
          <a:xfrm>
            <a:off x="4572000" y="540000"/>
            <a:ext cx="0" cy="4285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74" name="Google Shape;127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3410" y="729525"/>
            <a:ext cx="794100" cy="794100"/>
          </a:xfrm>
          <a:prstGeom prst="pie">
            <a:avLst>
              <a:gd fmla="val 9084661" name="adj1"/>
              <a:gd fmla="val 1624909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75" name="Google Shape;1275;p75"/>
          <p:cNvSpPr/>
          <p:nvPr/>
        </p:nvSpPr>
        <p:spPr>
          <a:xfrm>
            <a:off x="7753928" y="714756"/>
            <a:ext cx="826200" cy="8262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75"/>
          <p:cNvSpPr/>
          <p:nvPr/>
        </p:nvSpPr>
        <p:spPr>
          <a:xfrm rot="7199660">
            <a:off x="7761083" y="721988"/>
            <a:ext cx="811939" cy="811939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75"/>
          <p:cNvSpPr/>
          <p:nvPr/>
        </p:nvSpPr>
        <p:spPr>
          <a:xfrm rot="-7211637">
            <a:off x="7761221" y="722073"/>
            <a:ext cx="811845" cy="811845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8" name="Google Shape;1278;p75"/>
          <p:cNvCxnSpPr/>
          <p:nvPr/>
        </p:nvCxnSpPr>
        <p:spPr>
          <a:xfrm rot="10800000">
            <a:off x="8168003" y="755905"/>
            <a:ext cx="0" cy="372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9" name="Google Shape;1279;p75"/>
          <p:cNvSpPr/>
          <p:nvPr/>
        </p:nvSpPr>
        <p:spPr>
          <a:xfrm>
            <a:off x="8143340" y="1112945"/>
            <a:ext cx="45600" cy="41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75"/>
          <p:cNvSpPr/>
          <p:nvPr/>
        </p:nvSpPr>
        <p:spPr>
          <a:xfrm>
            <a:off x="7753183" y="1996289"/>
            <a:ext cx="826200" cy="82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75"/>
          <p:cNvSpPr/>
          <p:nvPr/>
        </p:nvSpPr>
        <p:spPr>
          <a:xfrm flipH="1">
            <a:off x="7760435" y="2003480"/>
            <a:ext cx="811800" cy="8118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75"/>
          <p:cNvSpPr/>
          <p:nvPr/>
        </p:nvSpPr>
        <p:spPr>
          <a:xfrm>
            <a:off x="7760374" y="2003480"/>
            <a:ext cx="811800" cy="8118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75"/>
          <p:cNvSpPr txBox="1"/>
          <p:nvPr/>
        </p:nvSpPr>
        <p:spPr>
          <a:xfrm>
            <a:off x="7832222" y="2252098"/>
            <a:ext cx="27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4" name="Google Shape;1284;p75"/>
          <p:cNvCxnSpPr/>
          <p:nvPr/>
        </p:nvCxnSpPr>
        <p:spPr>
          <a:xfrm rot="10800000">
            <a:off x="8167258" y="2041247"/>
            <a:ext cx="0" cy="372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5" name="Google Shape;1285;p75"/>
          <p:cNvSpPr/>
          <p:nvPr/>
        </p:nvSpPr>
        <p:spPr>
          <a:xfrm>
            <a:off x="8142595" y="2398287"/>
            <a:ext cx="45600" cy="41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75"/>
          <p:cNvSpPr/>
          <p:nvPr/>
        </p:nvSpPr>
        <p:spPr>
          <a:xfrm>
            <a:off x="7864589" y="927027"/>
            <a:ext cx="194700" cy="18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75"/>
          <p:cNvSpPr txBox="1"/>
          <p:nvPr/>
        </p:nvSpPr>
        <p:spPr>
          <a:xfrm>
            <a:off x="7788101" y="809347"/>
            <a:ext cx="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75"/>
          <p:cNvSpPr txBox="1"/>
          <p:nvPr/>
        </p:nvSpPr>
        <p:spPr>
          <a:xfrm>
            <a:off x="7612474" y="2822475"/>
            <a:ext cx="110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75"/>
          <p:cNvSpPr txBox="1"/>
          <p:nvPr/>
        </p:nvSpPr>
        <p:spPr>
          <a:xfrm>
            <a:off x="7613248" y="1536450"/>
            <a:ext cx="110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75"/>
          <p:cNvSpPr/>
          <p:nvPr/>
        </p:nvSpPr>
        <p:spPr>
          <a:xfrm>
            <a:off x="4788723" y="3390280"/>
            <a:ext cx="277200" cy="254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1" name="Google Shape;1291;p75"/>
          <p:cNvGrpSpPr/>
          <p:nvPr/>
        </p:nvGrpSpPr>
        <p:grpSpPr>
          <a:xfrm>
            <a:off x="5065819" y="2566808"/>
            <a:ext cx="1637282" cy="1901098"/>
            <a:chOff x="5065884" y="2620738"/>
            <a:chExt cx="1637282" cy="1793150"/>
          </a:xfrm>
        </p:grpSpPr>
        <p:grpSp>
          <p:nvGrpSpPr>
            <p:cNvPr id="1292" name="Google Shape;1292;p75"/>
            <p:cNvGrpSpPr/>
            <p:nvPr/>
          </p:nvGrpSpPr>
          <p:grpSpPr>
            <a:xfrm>
              <a:off x="5065884" y="2789276"/>
              <a:ext cx="707706" cy="1456096"/>
              <a:chOff x="1597330" y="2437981"/>
              <a:chExt cx="757796" cy="683164"/>
            </a:xfrm>
          </p:grpSpPr>
          <p:cxnSp>
            <p:nvCxnSpPr>
              <p:cNvPr id="1293" name="Google Shape;1293;p75"/>
              <p:cNvCxnSpPr/>
              <p:nvPr/>
            </p:nvCxnSpPr>
            <p:spPr>
              <a:xfrm flipH="1" rot="10800000">
                <a:off x="1597330" y="2437981"/>
                <a:ext cx="704100" cy="299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4" name="Google Shape;1294;p75"/>
              <p:cNvCxnSpPr/>
              <p:nvPr/>
            </p:nvCxnSpPr>
            <p:spPr>
              <a:xfrm>
                <a:off x="1597330" y="2821445"/>
                <a:ext cx="704100" cy="299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5" name="Google Shape;1295;p75"/>
              <p:cNvCxnSpPr/>
              <p:nvPr/>
            </p:nvCxnSpPr>
            <p:spPr>
              <a:xfrm>
                <a:off x="1630326" y="2780029"/>
                <a:ext cx="724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96" name="Google Shape;1296;p75"/>
            <p:cNvGrpSpPr/>
            <p:nvPr/>
          </p:nvGrpSpPr>
          <p:grpSpPr>
            <a:xfrm>
              <a:off x="6045607" y="2620738"/>
              <a:ext cx="657559" cy="370400"/>
              <a:chOff x="531205" y="2439944"/>
              <a:chExt cx="704100" cy="1957717"/>
            </a:xfrm>
          </p:grpSpPr>
          <p:cxnSp>
            <p:nvCxnSpPr>
              <p:cNvPr id="1297" name="Google Shape;1297;p75"/>
              <p:cNvCxnSpPr/>
              <p:nvPr/>
            </p:nvCxnSpPr>
            <p:spPr>
              <a:xfrm flipH="1" rot="10800000">
                <a:off x="531205" y="2439944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8" name="Google Shape;1298;p75"/>
              <p:cNvCxnSpPr/>
              <p:nvPr/>
            </p:nvCxnSpPr>
            <p:spPr>
              <a:xfrm>
                <a:off x="531205" y="3538762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99" name="Google Shape;1299;p75"/>
            <p:cNvGrpSpPr/>
            <p:nvPr/>
          </p:nvGrpSpPr>
          <p:grpSpPr>
            <a:xfrm>
              <a:off x="6045607" y="3332113"/>
              <a:ext cx="657559" cy="370400"/>
              <a:chOff x="531205" y="2439944"/>
              <a:chExt cx="704100" cy="1957717"/>
            </a:xfrm>
          </p:grpSpPr>
          <p:cxnSp>
            <p:nvCxnSpPr>
              <p:cNvPr id="1300" name="Google Shape;1300;p75"/>
              <p:cNvCxnSpPr/>
              <p:nvPr/>
            </p:nvCxnSpPr>
            <p:spPr>
              <a:xfrm flipH="1" rot="10800000">
                <a:off x="531205" y="2439944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1" name="Google Shape;1301;p75"/>
              <p:cNvCxnSpPr/>
              <p:nvPr/>
            </p:nvCxnSpPr>
            <p:spPr>
              <a:xfrm>
                <a:off x="531205" y="3538762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02" name="Google Shape;1302;p75"/>
            <p:cNvGrpSpPr/>
            <p:nvPr/>
          </p:nvGrpSpPr>
          <p:grpSpPr>
            <a:xfrm>
              <a:off x="6045607" y="4043488"/>
              <a:ext cx="657559" cy="370400"/>
              <a:chOff x="531205" y="2439944"/>
              <a:chExt cx="704100" cy="1957717"/>
            </a:xfrm>
          </p:grpSpPr>
          <p:cxnSp>
            <p:nvCxnSpPr>
              <p:cNvPr id="1303" name="Google Shape;1303;p75"/>
              <p:cNvCxnSpPr/>
              <p:nvPr/>
            </p:nvCxnSpPr>
            <p:spPr>
              <a:xfrm flipH="1" rot="10800000">
                <a:off x="531205" y="2439944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4" name="Google Shape;1304;p75"/>
              <p:cNvCxnSpPr/>
              <p:nvPr/>
            </p:nvCxnSpPr>
            <p:spPr>
              <a:xfrm>
                <a:off x="531205" y="3538762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305" name="Google Shape;1305;p75"/>
          <p:cNvSpPr txBox="1"/>
          <p:nvPr/>
        </p:nvSpPr>
        <p:spPr>
          <a:xfrm>
            <a:off x="5745263" y="4152528"/>
            <a:ext cx="27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75"/>
          <p:cNvSpPr txBox="1"/>
          <p:nvPr/>
        </p:nvSpPr>
        <p:spPr>
          <a:xfrm>
            <a:off x="5745263" y="3378753"/>
            <a:ext cx="27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75"/>
          <p:cNvSpPr txBox="1"/>
          <p:nvPr/>
        </p:nvSpPr>
        <p:spPr>
          <a:xfrm>
            <a:off x="5745263" y="2604978"/>
            <a:ext cx="27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75"/>
          <p:cNvSpPr txBox="1"/>
          <p:nvPr/>
        </p:nvSpPr>
        <p:spPr>
          <a:xfrm>
            <a:off x="6703088" y="2433153"/>
            <a:ext cx="27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75"/>
          <p:cNvSpPr txBox="1"/>
          <p:nvPr/>
        </p:nvSpPr>
        <p:spPr>
          <a:xfrm>
            <a:off x="6703088" y="3190478"/>
            <a:ext cx="27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75"/>
          <p:cNvSpPr txBox="1"/>
          <p:nvPr/>
        </p:nvSpPr>
        <p:spPr>
          <a:xfrm>
            <a:off x="6703088" y="4327570"/>
            <a:ext cx="27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75"/>
          <p:cNvSpPr txBox="1"/>
          <p:nvPr/>
        </p:nvSpPr>
        <p:spPr>
          <a:xfrm>
            <a:off x="2675400" y="1926725"/>
            <a:ext cx="158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76"/>
          <p:cNvSpPr txBox="1"/>
          <p:nvPr/>
        </p:nvSpPr>
        <p:spPr>
          <a:xfrm>
            <a:off x="3774950" y="664625"/>
            <a:ext cx="256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Spinners 1 and 2 will be spun once each.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76"/>
          <p:cNvSpPr txBox="1"/>
          <p:nvPr/>
        </p:nvSpPr>
        <p:spPr>
          <a:xfrm>
            <a:off x="324000" y="664625"/>
            <a:ext cx="3133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This spinner will be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Complete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this single-stage trial.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two-stage trials</a:t>
            </a:r>
            <a:endParaRPr/>
          </a:p>
        </p:txBody>
      </p:sp>
      <p:cxnSp>
        <p:nvCxnSpPr>
          <p:cNvPr id="1319" name="Google Shape;1319;p76"/>
          <p:cNvCxnSpPr/>
          <p:nvPr/>
        </p:nvCxnSpPr>
        <p:spPr>
          <a:xfrm>
            <a:off x="3616291" y="540000"/>
            <a:ext cx="0" cy="4285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20" name="Google Shape;1320;p76"/>
          <p:cNvGrpSpPr/>
          <p:nvPr/>
        </p:nvGrpSpPr>
        <p:grpSpPr>
          <a:xfrm>
            <a:off x="152183" y="1652190"/>
            <a:ext cx="1547400" cy="1547400"/>
            <a:chOff x="324176" y="1873177"/>
            <a:chExt cx="1547400" cy="1547400"/>
          </a:xfrm>
        </p:grpSpPr>
        <p:sp>
          <p:nvSpPr>
            <p:cNvPr id="1321" name="Google Shape;1321;p76"/>
            <p:cNvSpPr/>
            <p:nvPr/>
          </p:nvSpPr>
          <p:spPr>
            <a:xfrm>
              <a:off x="533846" y="2082809"/>
              <a:ext cx="1128000" cy="11280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22" name="Google Shape;1322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3201" y="2080996"/>
              <a:ext cx="1108500" cy="1108500"/>
            </a:xfrm>
            <a:prstGeom prst="pie">
              <a:avLst>
                <a:gd fmla="val 3321768" name="adj1"/>
                <a:gd fmla="val 7600233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323" name="Google Shape;1323;p76"/>
            <p:cNvSpPr/>
            <p:nvPr/>
          </p:nvSpPr>
          <p:spPr>
            <a:xfrm rot="8649783">
              <a:off x="543715" y="2092717"/>
              <a:ext cx="1108320" cy="1108320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9E9E9E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76"/>
            <p:cNvSpPr/>
            <p:nvPr/>
          </p:nvSpPr>
          <p:spPr>
            <a:xfrm rot="-4309794">
              <a:off x="543857" y="2092830"/>
              <a:ext cx="1108264" cy="1108264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76"/>
            <p:cNvSpPr/>
            <p:nvPr/>
          </p:nvSpPr>
          <p:spPr>
            <a:xfrm>
              <a:off x="543850" y="2092903"/>
              <a:ext cx="1108200" cy="1108200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76"/>
            <p:cNvSpPr/>
            <p:nvPr/>
          </p:nvSpPr>
          <p:spPr>
            <a:xfrm rot="4312737">
              <a:off x="543727" y="2092593"/>
              <a:ext cx="1108268" cy="1108268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EEEEEE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76"/>
            <p:cNvSpPr txBox="1"/>
            <p:nvPr/>
          </p:nvSpPr>
          <p:spPr>
            <a:xfrm>
              <a:off x="1099350" y="2138475"/>
              <a:ext cx="4671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28" name="Google Shape;1328;p76"/>
            <p:cNvGrpSpPr/>
            <p:nvPr/>
          </p:nvGrpSpPr>
          <p:grpSpPr>
            <a:xfrm>
              <a:off x="1065467" y="2119992"/>
              <a:ext cx="62453" cy="543383"/>
              <a:chOff x="996050" y="213293"/>
              <a:chExt cx="93900" cy="909732"/>
            </a:xfrm>
          </p:grpSpPr>
          <p:cxnSp>
            <p:nvCxnSpPr>
              <p:cNvPr id="1329" name="Google Shape;1329;p76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30" name="Google Shape;1330;p76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31" name="Google Shape;1331;p76"/>
            <p:cNvSpPr/>
            <p:nvPr/>
          </p:nvSpPr>
          <p:spPr>
            <a:xfrm>
              <a:off x="980826" y="2874537"/>
              <a:ext cx="210300" cy="198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76"/>
            <p:cNvSpPr txBox="1"/>
            <p:nvPr/>
          </p:nvSpPr>
          <p:spPr>
            <a:xfrm>
              <a:off x="1173113" y="2498920"/>
              <a:ext cx="4671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3" name="Google Shape;1333;p76"/>
            <p:cNvSpPr txBox="1"/>
            <p:nvPr/>
          </p:nvSpPr>
          <p:spPr>
            <a:xfrm flipH="1">
              <a:off x="628788" y="2138475"/>
              <a:ext cx="4671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4" name="Google Shape;1334;p76"/>
            <p:cNvSpPr txBox="1"/>
            <p:nvPr/>
          </p:nvSpPr>
          <p:spPr>
            <a:xfrm flipH="1">
              <a:off x="555025" y="2498920"/>
              <a:ext cx="467100" cy="4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5" name="Google Shape;1335;p76"/>
            <p:cNvSpPr txBox="1"/>
            <p:nvPr/>
          </p:nvSpPr>
          <p:spPr>
            <a:xfrm>
              <a:off x="980821" y="2910488"/>
              <a:ext cx="210300" cy="12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76"/>
          <p:cNvGrpSpPr/>
          <p:nvPr/>
        </p:nvGrpSpPr>
        <p:grpSpPr>
          <a:xfrm>
            <a:off x="1401283" y="2252866"/>
            <a:ext cx="1657506" cy="2393732"/>
            <a:chOff x="390126" y="2329066"/>
            <a:chExt cx="1657506" cy="2393732"/>
          </a:xfrm>
        </p:grpSpPr>
        <p:grpSp>
          <p:nvGrpSpPr>
            <p:cNvPr id="1337" name="Google Shape;1337;p76"/>
            <p:cNvGrpSpPr/>
            <p:nvPr/>
          </p:nvGrpSpPr>
          <p:grpSpPr>
            <a:xfrm>
              <a:off x="390126" y="2468097"/>
              <a:ext cx="1501276" cy="2117301"/>
              <a:chOff x="2030775" y="2475081"/>
              <a:chExt cx="1501276" cy="2309195"/>
            </a:xfrm>
          </p:grpSpPr>
          <p:sp>
            <p:nvSpPr>
              <p:cNvPr id="1338" name="Google Shape;1338;p76"/>
              <p:cNvSpPr/>
              <p:nvPr/>
            </p:nvSpPr>
            <p:spPr>
              <a:xfrm>
                <a:off x="2030775" y="3492660"/>
                <a:ext cx="277200" cy="2772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39" name="Google Shape;1339;p76"/>
              <p:cNvCxnSpPr/>
              <p:nvPr/>
            </p:nvCxnSpPr>
            <p:spPr>
              <a:xfrm flipH="1" rot="10800000">
                <a:off x="2267375" y="2475081"/>
                <a:ext cx="1175100" cy="1013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0" name="Google Shape;1340;p76"/>
              <p:cNvCxnSpPr/>
              <p:nvPr/>
            </p:nvCxnSpPr>
            <p:spPr>
              <a:xfrm>
                <a:off x="2267375" y="3771176"/>
                <a:ext cx="1175100" cy="1013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1" name="Google Shape;1341;p76"/>
              <p:cNvCxnSpPr/>
              <p:nvPr/>
            </p:nvCxnSpPr>
            <p:spPr>
              <a:xfrm flipH="1" rot="10800000">
                <a:off x="2307975" y="3147202"/>
                <a:ext cx="1175100" cy="423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2" name="Google Shape;1342;p76"/>
              <p:cNvCxnSpPr/>
              <p:nvPr/>
            </p:nvCxnSpPr>
            <p:spPr>
              <a:xfrm>
                <a:off x="2307975" y="3689094"/>
                <a:ext cx="1175100" cy="423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43" name="Google Shape;1343;p76"/>
              <p:cNvCxnSpPr/>
              <p:nvPr/>
            </p:nvCxnSpPr>
            <p:spPr>
              <a:xfrm>
                <a:off x="2322451" y="3631252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344" name="Google Shape;1344;p76"/>
            <p:cNvSpPr txBox="1"/>
            <p:nvPr/>
          </p:nvSpPr>
          <p:spPr>
            <a:xfrm>
              <a:off x="1803667" y="2329066"/>
              <a:ext cx="224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5" name="Google Shape;1345;p76"/>
            <p:cNvSpPr txBox="1"/>
            <p:nvPr/>
          </p:nvSpPr>
          <p:spPr>
            <a:xfrm>
              <a:off x="1823232" y="4445598"/>
              <a:ext cx="224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46" name="Google Shape;134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1060" y="692800"/>
            <a:ext cx="794100" cy="794100"/>
          </a:xfrm>
          <a:prstGeom prst="pie">
            <a:avLst>
              <a:gd fmla="val 9084661" name="adj1"/>
              <a:gd fmla="val 1624909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47" name="Google Shape;1347;p76"/>
          <p:cNvSpPr/>
          <p:nvPr/>
        </p:nvSpPr>
        <p:spPr>
          <a:xfrm>
            <a:off x="7851578" y="678031"/>
            <a:ext cx="826200" cy="8262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76"/>
          <p:cNvSpPr/>
          <p:nvPr/>
        </p:nvSpPr>
        <p:spPr>
          <a:xfrm rot="7199660">
            <a:off x="7858733" y="685263"/>
            <a:ext cx="811939" cy="811939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76"/>
          <p:cNvSpPr/>
          <p:nvPr/>
        </p:nvSpPr>
        <p:spPr>
          <a:xfrm rot="-7211637">
            <a:off x="7858871" y="685348"/>
            <a:ext cx="811845" cy="811845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76"/>
          <p:cNvSpPr txBox="1"/>
          <p:nvPr/>
        </p:nvSpPr>
        <p:spPr>
          <a:xfrm>
            <a:off x="8320025" y="776199"/>
            <a:ext cx="3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76"/>
          <p:cNvSpPr txBox="1"/>
          <p:nvPr/>
        </p:nvSpPr>
        <p:spPr>
          <a:xfrm>
            <a:off x="8111863" y="1121126"/>
            <a:ext cx="3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Y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2" name="Google Shape;1352;p76"/>
          <p:cNvCxnSpPr/>
          <p:nvPr/>
        </p:nvCxnSpPr>
        <p:spPr>
          <a:xfrm rot="10800000">
            <a:off x="8265653" y="719180"/>
            <a:ext cx="0" cy="372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3" name="Google Shape;1353;p76"/>
          <p:cNvSpPr/>
          <p:nvPr/>
        </p:nvSpPr>
        <p:spPr>
          <a:xfrm>
            <a:off x="8240990" y="1076220"/>
            <a:ext cx="45600" cy="41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76"/>
          <p:cNvSpPr/>
          <p:nvPr/>
        </p:nvSpPr>
        <p:spPr>
          <a:xfrm>
            <a:off x="6533983" y="672039"/>
            <a:ext cx="826200" cy="82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76"/>
          <p:cNvSpPr/>
          <p:nvPr/>
        </p:nvSpPr>
        <p:spPr>
          <a:xfrm flipH="1">
            <a:off x="6541235" y="679230"/>
            <a:ext cx="811800" cy="8118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76"/>
          <p:cNvSpPr/>
          <p:nvPr/>
        </p:nvSpPr>
        <p:spPr>
          <a:xfrm>
            <a:off x="6541174" y="679230"/>
            <a:ext cx="811800" cy="8118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76"/>
          <p:cNvSpPr txBox="1"/>
          <p:nvPr/>
        </p:nvSpPr>
        <p:spPr>
          <a:xfrm>
            <a:off x="6613022" y="927848"/>
            <a:ext cx="27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76"/>
          <p:cNvSpPr txBox="1"/>
          <p:nvPr/>
        </p:nvSpPr>
        <p:spPr>
          <a:xfrm>
            <a:off x="6965043" y="927848"/>
            <a:ext cx="3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9" name="Google Shape;1359;p76"/>
          <p:cNvCxnSpPr/>
          <p:nvPr/>
        </p:nvCxnSpPr>
        <p:spPr>
          <a:xfrm rot="10800000">
            <a:off x="6948058" y="716997"/>
            <a:ext cx="0" cy="372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0" name="Google Shape;1360;p76"/>
          <p:cNvSpPr/>
          <p:nvPr/>
        </p:nvSpPr>
        <p:spPr>
          <a:xfrm>
            <a:off x="6923395" y="1074037"/>
            <a:ext cx="45600" cy="41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76"/>
          <p:cNvSpPr/>
          <p:nvPr/>
        </p:nvSpPr>
        <p:spPr>
          <a:xfrm>
            <a:off x="7962239" y="890302"/>
            <a:ext cx="194700" cy="18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76"/>
          <p:cNvSpPr txBox="1"/>
          <p:nvPr/>
        </p:nvSpPr>
        <p:spPr>
          <a:xfrm>
            <a:off x="7885751" y="772622"/>
            <a:ext cx="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Z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76"/>
          <p:cNvSpPr txBox="1"/>
          <p:nvPr/>
        </p:nvSpPr>
        <p:spPr>
          <a:xfrm>
            <a:off x="6393274" y="1498225"/>
            <a:ext cx="110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76"/>
          <p:cNvSpPr txBox="1"/>
          <p:nvPr/>
        </p:nvSpPr>
        <p:spPr>
          <a:xfrm>
            <a:off x="7710898" y="1499725"/>
            <a:ext cx="110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76"/>
          <p:cNvSpPr/>
          <p:nvPr/>
        </p:nvSpPr>
        <p:spPr>
          <a:xfrm>
            <a:off x="3729498" y="3172516"/>
            <a:ext cx="277200" cy="254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66" name="Google Shape;1366;p76"/>
          <p:cNvGrpSpPr/>
          <p:nvPr/>
        </p:nvGrpSpPr>
        <p:grpSpPr>
          <a:xfrm>
            <a:off x="3966258" y="2742525"/>
            <a:ext cx="704002" cy="1111440"/>
            <a:chOff x="4041475" y="2949188"/>
            <a:chExt cx="1175100" cy="1459924"/>
          </a:xfrm>
        </p:grpSpPr>
        <p:cxnSp>
          <p:nvCxnSpPr>
            <p:cNvPr id="1367" name="Google Shape;1367;p76"/>
            <p:cNvCxnSpPr/>
            <p:nvPr/>
          </p:nvCxnSpPr>
          <p:spPr>
            <a:xfrm flipH="1" rot="10800000">
              <a:off x="4041475" y="2949188"/>
              <a:ext cx="1175100" cy="640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8" name="Google Shape;1368;p76"/>
            <p:cNvCxnSpPr/>
            <p:nvPr/>
          </p:nvCxnSpPr>
          <p:spPr>
            <a:xfrm>
              <a:off x="4041475" y="3768612"/>
              <a:ext cx="1175100" cy="640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69" name="Google Shape;1369;p76"/>
          <p:cNvGrpSpPr/>
          <p:nvPr/>
        </p:nvGrpSpPr>
        <p:grpSpPr>
          <a:xfrm>
            <a:off x="5002868" y="2369125"/>
            <a:ext cx="757667" cy="772734"/>
            <a:chOff x="8708301" y="2468209"/>
            <a:chExt cx="1264676" cy="2117078"/>
          </a:xfrm>
        </p:grpSpPr>
        <p:cxnSp>
          <p:nvCxnSpPr>
            <p:cNvPr id="1370" name="Google Shape;1370;p76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1" name="Google Shape;1371;p76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2" name="Google Shape;1372;p76"/>
            <p:cNvCxnSpPr/>
            <p:nvPr/>
          </p:nvCxnSpPr>
          <p:spPr>
            <a:xfrm>
              <a:off x="8763377" y="3528191"/>
              <a:ext cx="12096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73" name="Google Shape;1373;p76"/>
          <p:cNvGrpSpPr/>
          <p:nvPr/>
        </p:nvGrpSpPr>
        <p:grpSpPr>
          <a:xfrm>
            <a:off x="5002868" y="3467616"/>
            <a:ext cx="757667" cy="772734"/>
            <a:chOff x="8708301" y="2468209"/>
            <a:chExt cx="1264676" cy="2117078"/>
          </a:xfrm>
        </p:grpSpPr>
        <p:cxnSp>
          <p:nvCxnSpPr>
            <p:cNvPr id="1374" name="Google Shape;1374;p76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5" name="Google Shape;1375;p76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6" name="Google Shape;1376;p76"/>
            <p:cNvCxnSpPr/>
            <p:nvPr/>
          </p:nvCxnSpPr>
          <p:spPr>
            <a:xfrm>
              <a:off x="8763377" y="3528191"/>
              <a:ext cx="12096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77" name="Google Shape;1377;p76"/>
          <p:cNvSpPr txBox="1"/>
          <p:nvPr/>
        </p:nvSpPr>
        <p:spPr>
          <a:xfrm>
            <a:off x="4728506" y="2616890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76"/>
          <p:cNvSpPr txBox="1"/>
          <p:nvPr/>
        </p:nvSpPr>
        <p:spPr>
          <a:xfrm>
            <a:off x="5760707" y="2616890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76"/>
          <p:cNvSpPr txBox="1"/>
          <p:nvPr/>
        </p:nvSpPr>
        <p:spPr>
          <a:xfrm>
            <a:off x="6655800" y="2305725"/>
            <a:ext cx="21633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What do the two branches in the box represent?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Complete this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76"/>
          <p:cNvSpPr txBox="1"/>
          <p:nvPr/>
        </p:nvSpPr>
        <p:spPr>
          <a:xfrm>
            <a:off x="5760707" y="3001138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76"/>
          <p:cNvSpPr/>
          <p:nvPr/>
        </p:nvSpPr>
        <p:spPr>
          <a:xfrm>
            <a:off x="3993749" y="2463150"/>
            <a:ext cx="1009200" cy="1666800"/>
          </a:xfrm>
          <a:prstGeom prst="roundRect">
            <a:avLst>
              <a:gd fmla="val 6621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76"/>
          <p:cNvSpPr txBox="1"/>
          <p:nvPr/>
        </p:nvSpPr>
        <p:spPr>
          <a:xfrm>
            <a:off x="2887200" y="2834041"/>
            <a:ext cx="22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3" name="Google Shape;1383;p76"/>
          <p:cNvSpPr txBox="1"/>
          <p:nvPr/>
        </p:nvSpPr>
        <p:spPr>
          <a:xfrm>
            <a:off x="2887200" y="3295828"/>
            <a:ext cx="22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4" name="Google Shape;1384;p76"/>
          <p:cNvSpPr txBox="1"/>
          <p:nvPr/>
        </p:nvSpPr>
        <p:spPr>
          <a:xfrm>
            <a:off x="2887200" y="3738789"/>
            <a:ext cx="22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5" name="Google Shape;1385;p76"/>
          <p:cNvSpPr txBox="1"/>
          <p:nvPr/>
        </p:nvSpPr>
        <p:spPr>
          <a:xfrm>
            <a:off x="4720381" y="3700076"/>
            <a:ext cx="22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6" name="Google Shape;1386;p76"/>
          <p:cNvSpPr txBox="1"/>
          <p:nvPr/>
        </p:nvSpPr>
        <p:spPr>
          <a:xfrm>
            <a:off x="5756806" y="2202051"/>
            <a:ext cx="22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7" name="Google Shape;1387;p76"/>
          <p:cNvSpPr txBox="1"/>
          <p:nvPr/>
        </p:nvSpPr>
        <p:spPr>
          <a:xfrm>
            <a:off x="5760707" y="3730665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8" name="Google Shape;1388;p76"/>
          <p:cNvSpPr txBox="1"/>
          <p:nvPr/>
        </p:nvSpPr>
        <p:spPr>
          <a:xfrm>
            <a:off x="5760707" y="4114913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Z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9" name="Google Shape;1389;p76"/>
          <p:cNvSpPr txBox="1"/>
          <p:nvPr/>
        </p:nvSpPr>
        <p:spPr>
          <a:xfrm>
            <a:off x="5756806" y="3315826"/>
            <a:ext cx="22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X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0" name="Google Shape;1390;p76"/>
          <p:cNvSpPr txBox="1"/>
          <p:nvPr/>
        </p:nvSpPr>
        <p:spPr>
          <a:xfrm>
            <a:off x="6612967" y="3308238"/>
            <a:ext cx="220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two outcomes from spinner 1.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77"/>
          <p:cNvSpPr/>
          <p:nvPr/>
        </p:nvSpPr>
        <p:spPr>
          <a:xfrm>
            <a:off x="2913925" y="1969650"/>
            <a:ext cx="800700" cy="2898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77"/>
          <p:cNvSpPr txBox="1"/>
          <p:nvPr/>
        </p:nvSpPr>
        <p:spPr>
          <a:xfrm>
            <a:off x="2913925" y="1974975"/>
            <a:ext cx="7941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PP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PQ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QQ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QR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RP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RQ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7" name="Google Shape;1397;p77"/>
          <p:cNvSpPr txBox="1"/>
          <p:nvPr/>
        </p:nvSpPr>
        <p:spPr>
          <a:xfrm>
            <a:off x="324000" y="664625"/>
            <a:ext cx="3713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Spinner 3 will be spun twice.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Complete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Complete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this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two-stage trials</a:t>
            </a:r>
            <a:endParaRPr/>
          </a:p>
        </p:txBody>
      </p:sp>
      <p:cxnSp>
        <p:nvCxnSpPr>
          <p:cNvPr id="1399" name="Google Shape;1399;p77"/>
          <p:cNvCxnSpPr/>
          <p:nvPr/>
        </p:nvCxnSpPr>
        <p:spPr>
          <a:xfrm>
            <a:off x="5326000" y="540000"/>
            <a:ext cx="0" cy="4285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00" name="Google Shape;140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3558" y="692800"/>
            <a:ext cx="794100" cy="794100"/>
          </a:xfrm>
          <a:prstGeom prst="pie">
            <a:avLst>
              <a:gd fmla="val 9084661" name="adj1"/>
              <a:gd fmla="val 1624909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01" name="Google Shape;1401;p77"/>
          <p:cNvSpPr/>
          <p:nvPr/>
        </p:nvSpPr>
        <p:spPr>
          <a:xfrm>
            <a:off x="4294075" y="678031"/>
            <a:ext cx="826200" cy="8262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77"/>
          <p:cNvSpPr/>
          <p:nvPr/>
        </p:nvSpPr>
        <p:spPr>
          <a:xfrm rot="7199660">
            <a:off x="4301230" y="685263"/>
            <a:ext cx="811939" cy="811939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77"/>
          <p:cNvSpPr/>
          <p:nvPr/>
        </p:nvSpPr>
        <p:spPr>
          <a:xfrm rot="-7211637">
            <a:off x="4301368" y="685348"/>
            <a:ext cx="811845" cy="811845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77"/>
          <p:cNvSpPr txBox="1"/>
          <p:nvPr/>
        </p:nvSpPr>
        <p:spPr>
          <a:xfrm>
            <a:off x="4762522" y="776199"/>
            <a:ext cx="3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77"/>
          <p:cNvSpPr txBox="1"/>
          <p:nvPr/>
        </p:nvSpPr>
        <p:spPr>
          <a:xfrm>
            <a:off x="4554361" y="1121126"/>
            <a:ext cx="3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Q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6" name="Google Shape;1406;p77"/>
          <p:cNvCxnSpPr/>
          <p:nvPr/>
        </p:nvCxnSpPr>
        <p:spPr>
          <a:xfrm rot="10800000">
            <a:off x="4708151" y="719180"/>
            <a:ext cx="0" cy="372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7" name="Google Shape;1407;p77"/>
          <p:cNvSpPr/>
          <p:nvPr/>
        </p:nvSpPr>
        <p:spPr>
          <a:xfrm>
            <a:off x="4683488" y="1076220"/>
            <a:ext cx="45600" cy="41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77"/>
          <p:cNvSpPr/>
          <p:nvPr/>
        </p:nvSpPr>
        <p:spPr>
          <a:xfrm>
            <a:off x="4404736" y="890302"/>
            <a:ext cx="194700" cy="18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77"/>
          <p:cNvSpPr txBox="1"/>
          <p:nvPr/>
        </p:nvSpPr>
        <p:spPr>
          <a:xfrm>
            <a:off x="4328248" y="772622"/>
            <a:ext cx="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R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77"/>
          <p:cNvSpPr txBox="1"/>
          <p:nvPr/>
        </p:nvSpPr>
        <p:spPr>
          <a:xfrm>
            <a:off x="4153396" y="1499725"/>
            <a:ext cx="110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77"/>
          <p:cNvSpPr/>
          <p:nvPr/>
        </p:nvSpPr>
        <p:spPr>
          <a:xfrm>
            <a:off x="323998" y="3291705"/>
            <a:ext cx="277200" cy="254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12" name="Google Shape;1412;p77"/>
          <p:cNvGrpSpPr/>
          <p:nvPr/>
        </p:nvGrpSpPr>
        <p:grpSpPr>
          <a:xfrm>
            <a:off x="531205" y="2107806"/>
            <a:ext cx="1823792" cy="2622001"/>
            <a:chOff x="531193" y="2114549"/>
            <a:chExt cx="1823792" cy="2416368"/>
          </a:xfrm>
        </p:grpSpPr>
        <p:grpSp>
          <p:nvGrpSpPr>
            <p:cNvPr id="1413" name="Google Shape;1413;p77"/>
            <p:cNvGrpSpPr/>
            <p:nvPr/>
          </p:nvGrpSpPr>
          <p:grpSpPr>
            <a:xfrm>
              <a:off x="531193" y="2420748"/>
              <a:ext cx="757667" cy="1803963"/>
              <a:chOff x="8708301" y="2468209"/>
              <a:chExt cx="1264676" cy="2117078"/>
            </a:xfrm>
          </p:grpSpPr>
          <p:cxnSp>
            <p:nvCxnSpPr>
              <p:cNvPr id="1414" name="Google Shape;1414;p77"/>
              <p:cNvCxnSpPr/>
              <p:nvPr/>
            </p:nvCxnSpPr>
            <p:spPr>
              <a:xfrm flipH="1" rot="10800000">
                <a:off x="8708301" y="2468209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5" name="Google Shape;1415;p77"/>
              <p:cNvCxnSpPr/>
              <p:nvPr/>
            </p:nvCxnSpPr>
            <p:spPr>
              <a:xfrm>
                <a:off x="8708301" y="3656487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6" name="Google Shape;1416;p77"/>
              <p:cNvCxnSpPr/>
              <p:nvPr/>
            </p:nvCxnSpPr>
            <p:spPr>
              <a:xfrm>
                <a:off x="8763377" y="3528191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17" name="Google Shape;1417;p77"/>
            <p:cNvGrpSpPr/>
            <p:nvPr/>
          </p:nvGrpSpPr>
          <p:grpSpPr>
            <a:xfrm>
              <a:off x="1597318" y="2114549"/>
              <a:ext cx="757667" cy="629831"/>
              <a:chOff x="8708301" y="2468209"/>
              <a:chExt cx="1264676" cy="2117078"/>
            </a:xfrm>
          </p:grpSpPr>
          <p:cxnSp>
            <p:nvCxnSpPr>
              <p:cNvPr id="1418" name="Google Shape;1418;p77"/>
              <p:cNvCxnSpPr/>
              <p:nvPr/>
            </p:nvCxnSpPr>
            <p:spPr>
              <a:xfrm flipH="1" rot="10800000">
                <a:off x="8708301" y="2468209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9" name="Google Shape;1419;p77"/>
              <p:cNvCxnSpPr/>
              <p:nvPr/>
            </p:nvCxnSpPr>
            <p:spPr>
              <a:xfrm>
                <a:off x="8708301" y="3656487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0" name="Google Shape;1420;p77"/>
              <p:cNvCxnSpPr/>
              <p:nvPr/>
            </p:nvCxnSpPr>
            <p:spPr>
              <a:xfrm>
                <a:off x="8763377" y="3528191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21" name="Google Shape;1421;p77"/>
            <p:cNvGrpSpPr/>
            <p:nvPr/>
          </p:nvGrpSpPr>
          <p:grpSpPr>
            <a:xfrm>
              <a:off x="1597318" y="3007811"/>
              <a:ext cx="757667" cy="629831"/>
              <a:chOff x="8708301" y="2468209"/>
              <a:chExt cx="1264676" cy="2117078"/>
            </a:xfrm>
          </p:grpSpPr>
          <p:cxnSp>
            <p:nvCxnSpPr>
              <p:cNvPr id="1422" name="Google Shape;1422;p77"/>
              <p:cNvCxnSpPr/>
              <p:nvPr/>
            </p:nvCxnSpPr>
            <p:spPr>
              <a:xfrm flipH="1" rot="10800000">
                <a:off x="8708301" y="2468209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3" name="Google Shape;1423;p77"/>
              <p:cNvCxnSpPr/>
              <p:nvPr/>
            </p:nvCxnSpPr>
            <p:spPr>
              <a:xfrm>
                <a:off x="8708301" y="3656487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4" name="Google Shape;1424;p77"/>
              <p:cNvCxnSpPr/>
              <p:nvPr/>
            </p:nvCxnSpPr>
            <p:spPr>
              <a:xfrm>
                <a:off x="8763377" y="3528191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25" name="Google Shape;1425;p77"/>
            <p:cNvGrpSpPr/>
            <p:nvPr/>
          </p:nvGrpSpPr>
          <p:grpSpPr>
            <a:xfrm>
              <a:off x="1597318" y="3901086"/>
              <a:ext cx="757667" cy="629831"/>
              <a:chOff x="8708301" y="2468209"/>
              <a:chExt cx="1264676" cy="2117078"/>
            </a:xfrm>
          </p:grpSpPr>
          <p:cxnSp>
            <p:nvCxnSpPr>
              <p:cNvPr id="1426" name="Google Shape;1426;p77"/>
              <p:cNvCxnSpPr/>
              <p:nvPr/>
            </p:nvCxnSpPr>
            <p:spPr>
              <a:xfrm flipH="1" rot="10800000">
                <a:off x="8708301" y="2468209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7" name="Google Shape;1427;p77"/>
              <p:cNvCxnSpPr/>
              <p:nvPr/>
            </p:nvCxnSpPr>
            <p:spPr>
              <a:xfrm>
                <a:off x="8708301" y="3656487"/>
                <a:ext cx="1175100" cy="928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28" name="Google Shape;1428;p77"/>
              <p:cNvCxnSpPr/>
              <p:nvPr/>
            </p:nvCxnSpPr>
            <p:spPr>
              <a:xfrm>
                <a:off x="8763377" y="3528191"/>
                <a:ext cx="1209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29" name="Google Shape;1429;p77"/>
          <p:cNvSpPr txBox="1"/>
          <p:nvPr/>
        </p:nvSpPr>
        <p:spPr>
          <a:xfrm>
            <a:off x="1276800" y="2294550"/>
            <a:ext cx="2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77"/>
          <p:cNvSpPr txBox="1"/>
          <p:nvPr/>
        </p:nvSpPr>
        <p:spPr>
          <a:xfrm>
            <a:off x="2355000" y="2937840"/>
            <a:ext cx="2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77"/>
          <p:cNvSpPr txBox="1"/>
          <p:nvPr/>
        </p:nvSpPr>
        <p:spPr>
          <a:xfrm>
            <a:off x="2355000" y="3280190"/>
            <a:ext cx="2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77"/>
          <p:cNvSpPr txBox="1"/>
          <p:nvPr/>
        </p:nvSpPr>
        <p:spPr>
          <a:xfrm>
            <a:off x="2355000" y="3622540"/>
            <a:ext cx="2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77"/>
          <p:cNvSpPr txBox="1"/>
          <p:nvPr/>
        </p:nvSpPr>
        <p:spPr>
          <a:xfrm>
            <a:off x="2355000" y="2293685"/>
            <a:ext cx="2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77"/>
          <p:cNvSpPr txBox="1"/>
          <p:nvPr/>
        </p:nvSpPr>
        <p:spPr>
          <a:xfrm>
            <a:off x="2355000" y="2615753"/>
            <a:ext cx="27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77"/>
          <p:cNvSpPr txBox="1"/>
          <p:nvPr/>
        </p:nvSpPr>
        <p:spPr>
          <a:xfrm>
            <a:off x="3733361" y="4535925"/>
            <a:ext cx="165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77"/>
          <p:cNvSpPr/>
          <p:nvPr/>
        </p:nvSpPr>
        <p:spPr>
          <a:xfrm>
            <a:off x="5474573" y="3465905"/>
            <a:ext cx="277200" cy="254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37" name="Google Shape;1437;p77"/>
          <p:cNvGrpSpPr/>
          <p:nvPr/>
        </p:nvGrpSpPr>
        <p:grpSpPr>
          <a:xfrm>
            <a:off x="5681870" y="3100206"/>
            <a:ext cx="561110" cy="1002225"/>
            <a:chOff x="8708301" y="2468209"/>
            <a:chExt cx="1175100" cy="2117078"/>
          </a:xfrm>
        </p:grpSpPr>
        <p:cxnSp>
          <p:nvCxnSpPr>
            <p:cNvPr id="1438" name="Google Shape;1438;p77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9" name="Google Shape;1439;p77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40" name="Google Shape;1440;p77"/>
          <p:cNvGrpSpPr/>
          <p:nvPr/>
        </p:nvGrpSpPr>
        <p:grpSpPr>
          <a:xfrm>
            <a:off x="6531632" y="2875475"/>
            <a:ext cx="561110" cy="459194"/>
            <a:chOff x="8708301" y="2468209"/>
            <a:chExt cx="1175100" cy="2117078"/>
          </a:xfrm>
        </p:grpSpPr>
        <p:cxnSp>
          <p:nvCxnSpPr>
            <p:cNvPr id="1441" name="Google Shape;1441;p77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2" name="Google Shape;1442;p77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43" name="Google Shape;1443;p77"/>
          <p:cNvGrpSpPr/>
          <p:nvPr/>
        </p:nvGrpSpPr>
        <p:grpSpPr>
          <a:xfrm>
            <a:off x="6531632" y="3899206"/>
            <a:ext cx="561110" cy="459194"/>
            <a:chOff x="8708301" y="2468209"/>
            <a:chExt cx="1175100" cy="2117078"/>
          </a:xfrm>
        </p:grpSpPr>
        <p:cxnSp>
          <p:nvCxnSpPr>
            <p:cNvPr id="1444" name="Google Shape;1444;p77"/>
            <p:cNvCxnSpPr/>
            <p:nvPr/>
          </p:nvCxnSpPr>
          <p:spPr>
            <a:xfrm flipH="1" rot="10800000">
              <a:off x="8708301" y="2468209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5" name="Google Shape;1445;p77"/>
            <p:cNvCxnSpPr/>
            <p:nvPr/>
          </p:nvCxnSpPr>
          <p:spPr>
            <a:xfrm>
              <a:off x="8708301" y="3656487"/>
              <a:ext cx="1175100" cy="92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46" name="Google Shape;1446;p77"/>
          <p:cNvSpPr/>
          <p:nvPr/>
        </p:nvSpPr>
        <p:spPr>
          <a:xfrm>
            <a:off x="7663425" y="2634500"/>
            <a:ext cx="867900" cy="1970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77"/>
          <p:cNvSpPr txBox="1"/>
          <p:nvPr/>
        </p:nvSpPr>
        <p:spPr>
          <a:xfrm>
            <a:off x="1307107" y="3282663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Q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8" name="Google Shape;1448;p77"/>
          <p:cNvSpPr txBox="1"/>
          <p:nvPr/>
        </p:nvSpPr>
        <p:spPr>
          <a:xfrm>
            <a:off x="1307107" y="4270788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9" name="Google Shape;1449;p77"/>
          <p:cNvSpPr txBox="1"/>
          <p:nvPr/>
        </p:nvSpPr>
        <p:spPr>
          <a:xfrm>
            <a:off x="2385307" y="1971588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0" name="Google Shape;1450;p77"/>
          <p:cNvSpPr txBox="1"/>
          <p:nvPr/>
        </p:nvSpPr>
        <p:spPr>
          <a:xfrm>
            <a:off x="2385307" y="3904088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1" name="Google Shape;1451;p77"/>
          <p:cNvSpPr txBox="1"/>
          <p:nvPr/>
        </p:nvSpPr>
        <p:spPr>
          <a:xfrm>
            <a:off x="2385307" y="4266713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Q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2" name="Google Shape;1452;p77"/>
          <p:cNvSpPr txBox="1"/>
          <p:nvPr/>
        </p:nvSpPr>
        <p:spPr>
          <a:xfrm>
            <a:off x="2385307" y="4629338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3" name="Google Shape;1453;p77"/>
          <p:cNvSpPr txBox="1"/>
          <p:nvPr/>
        </p:nvSpPr>
        <p:spPr>
          <a:xfrm>
            <a:off x="6279007" y="2966463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4" name="Google Shape;1454;p77"/>
          <p:cNvSpPr txBox="1"/>
          <p:nvPr/>
        </p:nvSpPr>
        <p:spPr>
          <a:xfrm>
            <a:off x="6279007" y="3972613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5" name="Google Shape;1455;p77"/>
          <p:cNvSpPr txBox="1"/>
          <p:nvPr/>
        </p:nvSpPr>
        <p:spPr>
          <a:xfrm>
            <a:off x="7128777" y="2729175"/>
            <a:ext cx="53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red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6" name="Google Shape;1456;p77"/>
          <p:cNvSpPr txBox="1"/>
          <p:nvPr/>
        </p:nvSpPr>
        <p:spPr>
          <a:xfrm>
            <a:off x="7128777" y="3169925"/>
            <a:ext cx="53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blue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7" name="Google Shape;1457;p77"/>
          <p:cNvSpPr txBox="1"/>
          <p:nvPr/>
        </p:nvSpPr>
        <p:spPr>
          <a:xfrm>
            <a:off x="7128777" y="3769825"/>
            <a:ext cx="53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red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8" name="Google Shape;1458;p77"/>
          <p:cNvSpPr txBox="1"/>
          <p:nvPr/>
        </p:nvSpPr>
        <p:spPr>
          <a:xfrm>
            <a:off x="7128777" y="4210575"/>
            <a:ext cx="53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blue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9" name="Google Shape;1459;p77"/>
          <p:cNvSpPr txBox="1"/>
          <p:nvPr/>
        </p:nvSpPr>
        <p:spPr>
          <a:xfrm>
            <a:off x="7663425" y="2629925"/>
            <a:ext cx="8679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A, red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A, blue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B, red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B, blue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0" name="Google Shape;1460;p77"/>
          <p:cNvSpPr txBox="1"/>
          <p:nvPr/>
        </p:nvSpPr>
        <p:spPr>
          <a:xfrm>
            <a:off x="5531725" y="664625"/>
            <a:ext cx="32883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4) Spinners 4 and 5 are spun once each and have these outcomes: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spinner 4 = {A, B}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spinner 5 = {red, blue}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Complete this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78"/>
          <p:cNvSpPr txBox="1"/>
          <p:nvPr/>
        </p:nvSpPr>
        <p:spPr>
          <a:xfrm>
            <a:off x="4824000" y="664625"/>
            <a:ext cx="2565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6) Spinners 8 and 9 will be spun once each.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Fill in the outcomes of each spinner from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78"/>
          <p:cNvSpPr/>
          <p:nvPr/>
        </p:nvSpPr>
        <p:spPr>
          <a:xfrm>
            <a:off x="2959800" y="2224525"/>
            <a:ext cx="1019100" cy="2388600"/>
          </a:xfrm>
          <a:prstGeom prst="roundRect">
            <a:avLst>
              <a:gd fmla="val 11211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78"/>
          <p:cNvSpPr txBox="1"/>
          <p:nvPr/>
        </p:nvSpPr>
        <p:spPr>
          <a:xfrm>
            <a:off x="324000" y="664625"/>
            <a:ext cx="3996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5) Spinners 6 and 7 will be spun once each.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Complete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from its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78"/>
          <p:cNvSpPr txBox="1"/>
          <p:nvPr/>
        </p:nvSpPr>
        <p:spPr>
          <a:xfrm>
            <a:off x="2959800" y="2224525"/>
            <a:ext cx="1019100" cy="23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G, win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G, lose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G, draw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H, win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H, lose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H, draw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two-stage trials</a:t>
            </a:r>
            <a:endParaRPr/>
          </a:p>
        </p:txBody>
      </p:sp>
      <p:sp>
        <p:nvSpPr>
          <p:cNvPr id="1470" name="Google Shape;1470;p78"/>
          <p:cNvSpPr/>
          <p:nvPr/>
        </p:nvSpPr>
        <p:spPr>
          <a:xfrm>
            <a:off x="323998" y="3291705"/>
            <a:ext cx="277200" cy="254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71" name="Google Shape;1471;p78"/>
          <p:cNvGrpSpPr/>
          <p:nvPr/>
        </p:nvGrpSpPr>
        <p:grpSpPr>
          <a:xfrm>
            <a:off x="531189" y="2841325"/>
            <a:ext cx="657559" cy="1155053"/>
            <a:chOff x="531205" y="2439944"/>
            <a:chExt cx="704100" cy="1957717"/>
          </a:xfrm>
        </p:grpSpPr>
        <p:cxnSp>
          <p:nvCxnSpPr>
            <p:cNvPr id="1472" name="Google Shape;1472;p78"/>
            <p:cNvCxnSpPr/>
            <p:nvPr/>
          </p:nvCxnSpPr>
          <p:spPr>
            <a:xfrm flipH="1" rot="10800000">
              <a:off x="531205" y="2439944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78"/>
            <p:cNvCxnSpPr/>
            <p:nvPr/>
          </p:nvCxnSpPr>
          <p:spPr>
            <a:xfrm>
              <a:off x="531205" y="3538762"/>
              <a:ext cx="704100" cy="858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74" name="Google Shape;1474;p78"/>
          <p:cNvGrpSpPr/>
          <p:nvPr/>
        </p:nvGrpSpPr>
        <p:grpSpPr>
          <a:xfrm>
            <a:off x="1567974" y="2507322"/>
            <a:ext cx="707706" cy="683164"/>
            <a:chOff x="1597330" y="2437981"/>
            <a:chExt cx="757796" cy="683164"/>
          </a:xfrm>
        </p:grpSpPr>
        <p:cxnSp>
          <p:nvCxnSpPr>
            <p:cNvPr id="1475" name="Google Shape;1475;p78"/>
            <p:cNvCxnSpPr/>
            <p:nvPr/>
          </p:nvCxnSpPr>
          <p:spPr>
            <a:xfrm flipH="1" rot="10800000">
              <a:off x="1597330" y="2437981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6" name="Google Shape;1476;p78"/>
            <p:cNvCxnSpPr/>
            <p:nvPr/>
          </p:nvCxnSpPr>
          <p:spPr>
            <a:xfrm>
              <a:off x="1597330" y="2821445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7" name="Google Shape;1477;p78"/>
            <p:cNvCxnSpPr/>
            <p:nvPr/>
          </p:nvCxnSpPr>
          <p:spPr>
            <a:xfrm>
              <a:off x="1630326" y="2780029"/>
              <a:ext cx="724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78" name="Google Shape;1478;p78"/>
          <p:cNvGrpSpPr/>
          <p:nvPr/>
        </p:nvGrpSpPr>
        <p:grpSpPr>
          <a:xfrm>
            <a:off x="1567974" y="3664957"/>
            <a:ext cx="707706" cy="683164"/>
            <a:chOff x="1597330" y="2437981"/>
            <a:chExt cx="757796" cy="683164"/>
          </a:xfrm>
        </p:grpSpPr>
        <p:cxnSp>
          <p:nvCxnSpPr>
            <p:cNvPr id="1479" name="Google Shape;1479;p78"/>
            <p:cNvCxnSpPr/>
            <p:nvPr/>
          </p:nvCxnSpPr>
          <p:spPr>
            <a:xfrm flipH="1" rot="10800000">
              <a:off x="1597330" y="2437981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0" name="Google Shape;1480;p78"/>
            <p:cNvCxnSpPr/>
            <p:nvPr/>
          </p:nvCxnSpPr>
          <p:spPr>
            <a:xfrm>
              <a:off x="1597330" y="2821445"/>
              <a:ext cx="704100" cy="299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78"/>
            <p:cNvCxnSpPr/>
            <p:nvPr/>
          </p:nvCxnSpPr>
          <p:spPr>
            <a:xfrm>
              <a:off x="1630326" y="2780029"/>
              <a:ext cx="724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482" name="Google Shape;1482;p78"/>
          <p:cNvCxnSpPr/>
          <p:nvPr/>
        </p:nvCxnSpPr>
        <p:spPr>
          <a:xfrm>
            <a:off x="4572000" y="540000"/>
            <a:ext cx="0" cy="4285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83" name="Google Shape;148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3410" y="729525"/>
            <a:ext cx="794100" cy="794100"/>
          </a:xfrm>
          <a:prstGeom prst="pie">
            <a:avLst>
              <a:gd fmla="val 9084661" name="adj1"/>
              <a:gd fmla="val 16249096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4" name="Google Shape;1484;p78"/>
          <p:cNvSpPr/>
          <p:nvPr/>
        </p:nvSpPr>
        <p:spPr>
          <a:xfrm>
            <a:off x="7753928" y="714756"/>
            <a:ext cx="826200" cy="8262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78"/>
          <p:cNvSpPr/>
          <p:nvPr/>
        </p:nvSpPr>
        <p:spPr>
          <a:xfrm rot="7199660">
            <a:off x="7761083" y="721988"/>
            <a:ext cx="811939" cy="811939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78"/>
          <p:cNvSpPr/>
          <p:nvPr/>
        </p:nvSpPr>
        <p:spPr>
          <a:xfrm rot="-7211637">
            <a:off x="7761221" y="722073"/>
            <a:ext cx="811845" cy="811845"/>
          </a:xfrm>
          <a:prstGeom prst="pie">
            <a:avLst>
              <a:gd fmla="val 9034165" name="adj1"/>
              <a:gd fmla="val 16225322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7" name="Google Shape;1487;p78"/>
          <p:cNvCxnSpPr/>
          <p:nvPr/>
        </p:nvCxnSpPr>
        <p:spPr>
          <a:xfrm rot="10800000">
            <a:off x="8168003" y="755905"/>
            <a:ext cx="0" cy="372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8" name="Google Shape;1488;p78"/>
          <p:cNvSpPr/>
          <p:nvPr/>
        </p:nvSpPr>
        <p:spPr>
          <a:xfrm>
            <a:off x="8143340" y="1112945"/>
            <a:ext cx="45600" cy="41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78"/>
          <p:cNvSpPr/>
          <p:nvPr/>
        </p:nvSpPr>
        <p:spPr>
          <a:xfrm>
            <a:off x="7753183" y="1996289"/>
            <a:ext cx="826200" cy="826200"/>
          </a:xfrm>
          <a:prstGeom prst="ellips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78"/>
          <p:cNvSpPr/>
          <p:nvPr/>
        </p:nvSpPr>
        <p:spPr>
          <a:xfrm flipH="1">
            <a:off x="7760435" y="2003480"/>
            <a:ext cx="811800" cy="8118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EEEE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78"/>
          <p:cNvSpPr/>
          <p:nvPr/>
        </p:nvSpPr>
        <p:spPr>
          <a:xfrm>
            <a:off x="7760374" y="2003480"/>
            <a:ext cx="811800" cy="811800"/>
          </a:xfrm>
          <a:prstGeom prst="pie">
            <a:avLst>
              <a:gd fmla="val 5387953" name="adj1"/>
              <a:gd fmla="val 16200000" name="adj2"/>
            </a:avLst>
          </a:prstGeom>
          <a:solidFill>
            <a:srgbClr val="9E9E9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78"/>
          <p:cNvSpPr txBox="1"/>
          <p:nvPr/>
        </p:nvSpPr>
        <p:spPr>
          <a:xfrm>
            <a:off x="7832222" y="2252098"/>
            <a:ext cx="27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3" name="Google Shape;1493;p78"/>
          <p:cNvCxnSpPr/>
          <p:nvPr/>
        </p:nvCxnSpPr>
        <p:spPr>
          <a:xfrm rot="10800000">
            <a:off x="8167258" y="2041247"/>
            <a:ext cx="0" cy="372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4" name="Google Shape;1494;p78"/>
          <p:cNvSpPr/>
          <p:nvPr/>
        </p:nvSpPr>
        <p:spPr>
          <a:xfrm>
            <a:off x="8142595" y="2398287"/>
            <a:ext cx="45600" cy="41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78"/>
          <p:cNvSpPr/>
          <p:nvPr/>
        </p:nvSpPr>
        <p:spPr>
          <a:xfrm>
            <a:off x="7864589" y="927027"/>
            <a:ext cx="194700" cy="18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78"/>
          <p:cNvSpPr txBox="1"/>
          <p:nvPr/>
        </p:nvSpPr>
        <p:spPr>
          <a:xfrm>
            <a:off x="7788101" y="809347"/>
            <a:ext cx="1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78"/>
          <p:cNvSpPr txBox="1"/>
          <p:nvPr/>
        </p:nvSpPr>
        <p:spPr>
          <a:xfrm>
            <a:off x="7612474" y="2822475"/>
            <a:ext cx="110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78"/>
          <p:cNvSpPr txBox="1"/>
          <p:nvPr/>
        </p:nvSpPr>
        <p:spPr>
          <a:xfrm>
            <a:off x="7613248" y="1536450"/>
            <a:ext cx="110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spinner 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78"/>
          <p:cNvSpPr/>
          <p:nvPr/>
        </p:nvSpPr>
        <p:spPr>
          <a:xfrm>
            <a:off x="4788723" y="3390280"/>
            <a:ext cx="277200" cy="254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00" name="Google Shape;1500;p78"/>
          <p:cNvGrpSpPr/>
          <p:nvPr/>
        </p:nvGrpSpPr>
        <p:grpSpPr>
          <a:xfrm>
            <a:off x="5065819" y="2566808"/>
            <a:ext cx="1637282" cy="1901098"/>
            <a:chOff x="5065884" y="2620738"/>
            <a:chExt cx="1637282" cy="1793150"/>
          </a:xfrm>
        </p:grpSpPr>
        <p:grpSp>
          <p:nvGrpSpPr>
            <p:cNvPr id="1501" name="Google Shape;1501;p78"/>
            <p:cNvGrpSpPr/>
            <p:nvPr/>
          </p:nvGrpSpPr>
          <p:grpSpPr>
            <a:xfrm>
              <a:off x="5065884" y="2789276"/>
              <a:ext cx="707706" cy="1456096"/>
              <a:chOff x="1597330" y="2437981"/>
              <a:chExt cx="757796" cy="683164"/>
            </a:xfrm>
          </p:grpSpPr>
          <p:cxnSp>
            <p:nvCxnSpPr>
              <p:cNvPr id="1502" name="Google Shape;1502;p78"/>
              <p:cNvCxnSpPr/>
              <p:nvPr/>
            </p:nvCxnSpPr>
            <p:spPr>
              <a:xfrm flipH="1" rot="10800000">
                <a:off x="1597330" y="2437981"/>
                <a:ext cx="704100" cy="299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3" name="Google Shape;1503;p78"/>
              <p:cNvCxnSpPr/>
              <p:nvPr/>
            </p:nvCxnSpPr>
            <p:spPr>
              <a:xfrm>
                <a:off x="1597330" y="2821445"/>
                <a:ext cx="704100" cy="299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4" name="Google Shape;1504;p78"/>
              <p:cNvCxnSpPr/>
              <p:nvPr/>
            </p:nvCxnSpPr>
            <p:spPr>
              <a:xfrm>
                <a:off x="1630326" y="2780029"/>
                <a:ext cx="724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505" name="Google Shape;1505;p78"/>
            <p:cNvGrpSpPr/>
            <p:nvPr/>
          </p:nvGrpSpPr>
          <p:grpSpPr>
            <a:xfrm>
              <a:off x="6045607" y="2620738"/>
              <a:ext cx="657559" cy="370400"/>
              <a:chOff x="531205" y="2439944"/>
              <a:chExt cx="704100" cy="1957717"/>
            </a:xfrm>
          </p:grpSpPr>
          <p:cxnSp>
            <p:nvCxnSpPr>
              <p:cNvPr id="1506" name="Google Shape;1506;p78"/>
              <p:cNvCxnSpPr/>
              <p:nvPr/>
            </p:nvCxnSpPr>
            <p:spPr>
              <a:xfrm flipH="1" rot="10800000">
                <a:off x="531205" y="2439944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7" name="Google Shape;1507;p78"/>
              <p:cNvCxnSpPr/>
              <p:nvPr/>
            </p:nvCxnSpPr>
            <p:spPr>
              <a:xfrm>
                <a:off x="531205" y="3538762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508" name="Google Shape;1508;p78"/>
            <p:cNvGrpSpPr/>
            <p:nvPr/>
          </p:nvGrpSpPr>
          <p:grpSpPr>
            <a:xfrm>
              <a:off x="6045607" y="3332113"/>
              <a:ext cx="657559" cy="370400"/>
              <a:chOff x="531205" y="2439944"/>
              <a:chExt cx="704100" cy="1957717"/>
            </a:xfrm>
          </p:grpSpPr>
          <p:cxnSp>
            <p:nvCxnSpPr>
              <p:cNvPr id="1509" name="Google Shape;1509;p78"/>
              <p:cNvCxnSpPr/>
              <p:nvPr/>
            </p:nvCxnSpPr>
            <p:spPr>
              <a:xfrm flipH="1" rot="10800000">
                <a:off x="531205" y="2439944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0" name="Google Shape;1510;p78"/>
              <p:cNvCxnSpPr/>
              <p:nvPr/>
            </p:nvCxnSpPr>
            <p:spPr>
              <a:xfrm>
                <a:off x="531205" y="3538762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511" name="Google Shape;1511;p78"/>
            <p:cNvGrpSpPr/>
            <p:nvPr/>
          </p:nvGrpSpPr>
          <p:grpSpPr>
            <a:xfrm>
              <a:off x="6045607" y="4043488"/>
              <a:ext cx="657559" cy="370400"/>
              <a:chOff x="531205" y="2439944"/>
              <a:chExt cx="704100" cy="1957717"/>
            </a:xfrm>
          </p:grpSpPr>
          <p:cxnSp>
            <p:nvCxnSpPr>
              <p:cNvPr id="1512" name="Google Shape;1512;p78"/>
              <p:cNvCxnSpPr/>
              <p:nvPr/>
            </p:nvCxnSpPr>
            <p:spPr>
              <a:xfrm flipH="1" rot="10800000">
                <a:off x="531205" y="2439944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3" name="Google Shape;1513;p78"/>
              <p:cNvCxnSpPr/>
              <p:nvPr/>
            </p:nvCxnSpPr>
            <p:spPr>
              <a:xfrm>
                <a:off x="531205" y="3538762"/>
                <a:ext cx="704100" cy="858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514" name="Google Shape;1514;p78"/>
          <p:cNvSpPr txBox="1"/>
          <p:nvPr/>
        </p:nvSpPr>
        <p:spPr>
          <a:xfrm>
            <a:off x="5745263" y="4152528"/>
            <a:ext cx="27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78"/>
          <p:cNvSpPr txBox="1"/>
          <p:nvPr/>
        </p:nvSpPr>
        <p:spPr>
          <a:xfrm>
            <a:off x="5745263" y="3378753"/>
            <a:ext cx="27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78"/>
          <p:cNvSpPr txBox="1"/>
          <p:nvPr/>
        </p:nvSpPr>
        <p:spPr>
          <a:xfrm>
            <a:off x="5745263" y="2604978"/>
            <a:ext cx="27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78"/>
          <p:cNvSpPr txBox="1"/>
          <p:nvPr/>
        </p:nvSpPr>
        <p:spPr>
          <a:xfrm>
            <a:off x="6703088" y="2433153"/>
            <a:ext cx="27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78"/>
          <p:cNvSpPr txBox="1"/>
          <p:nvPr/>
        </p:nvSpPr>
        <p:spPr>
          <a:xfrm>
            <a:off x="6703088" y="3190478"/>
            <a:ext cx="27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78"/>
          <p:cNvSpPr txBox="1"/>
          <p:nvPr/>
        </p:nvSpPr>
        <p:spPr>
          <a:xfrm>
            <a:off x="6703088" y="4327570"/>
            <a:ext cx="27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78"/>
          <p:cNvSpPr txBox="1"/>
          <p:nvPr/>
        </p:nvSpPr>
        <p:spPr>
          <a:xfrm>
            <a:off x="1270070" y="2710288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1" name="Google Shape;1521;p78"/>
          <p:cNvSpPr txBox="1"/>
          <p:nvPr/>
        </p:nvSpPr>
        <p:spPr>
          <a:xfrm>
            <a:off x="1270070" y="3867926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2" name="Google Shape;1522;p78"/>
          <p:cNvSpPr txBox="1"/>
          <p:nvPr/>
        </p:nvSpPr>
        <p:spPr>
          <a:xfrm>
            <a:off x="2275679" y="2367675"/>
            <a:ext cx="39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win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3" name="Google Shape;1523;p78"/>
          <p:cNvSpPr txBox="1"/>
          <p:nvPr/>
        </p:nvSpPr>
        <p:spPr>
          <a:xfrm>
            <a:off x="2675400" y="1926725"/>
            <a:ext cx="158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78"/>
          <p:cNvSpPr txBox="1"/>
          <p:nvPr/>
        </p:nvSpPr>
        <p:spPr>
          <a:xfrm>
            <a:off x="2275673" y="2710300"/>
            <a:ext cx="54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lose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5" name="Google Shape;1525;p78"/>
          <p:cNvSpPr txBox="1"/>
          <p:nvPr/>
        </p:nvSpPr>
        <p:spPr>
          <a:xfrm>
            <a:off x="2275673" y="3052925"/>
            <a:ext cx="54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draw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6" name="Google Shape;1526;p78"/>
          <p:cNvSpPr txBox="1"/>
          <p:nvPr/>
        </p:nvSpPr>
        <p:spPr>
          <a:xfrm>
            <a:off x="2275679" y="3525313"/>
            <a:ext cx="39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win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7" name="Google Shape;1527;p78"/>
          <p:cNvSpPr txBox="1"/>
          <p:nvPr/>
        </p:nvSpPr>
        <p:spPr>
          <a:xfrm>
            <a:off x="2275673" y="3867938"/>
            <a:ext cx="54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lose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8" name="Google Shape;1528;p78"/>
          <p:cNvSpPr txBox="1"/>
          <p:nvPr/>
        </p:nvSpPr>
        <p:spPr>
          <a:xfrm>
            <a:off x="2275673" y="4210563"/>
            <a:ext cx="54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draw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9" name="Google Shape;1529;p78"/>
          <p:cNvSpPr txBox="1"/>
          <p:nvPr/>
        </p:nvSpPr>
        <p:spPr>
          <a:xfrm>
            <a:off x="8276695" y="886288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0" name="Google Shape;1530;p78"/>
          <p:cNvSpPr txBox="1"/>
          <p:nvPr/>
        </p:nvSpPr>
        <p:spPr>
          <a:xfrm>
            <a:off x="8057095" y="1206638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V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1" name="Google Shape;1531;p78"/>
          <p:cNvSpPr txBox="1"/>
          <p:nvPr/>
        </p:nvSpPr>
        <p:spPr>
          <a:xfrm>
            <a:off x="8220170" y="2329038"/>
            <a:ext cx="21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7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for two-stage trials</a:t>
            </a:r>
            <a:endParaRPr/>
          </a:p>
        </p:txBody>
      </p:sp>
      <p:sp>
        <p:nvSpPr>
          <p:cNvPr id="1537" name="Google Shape;1537;p7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sp>
        <p:nvSpPr>
          <p:cNvPr id="1538" name="Google Shape;1538;p7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an </a:t>
            </a:r>
            <a:r>
              <a:rPr b="1" lang="en-GB"/>
              <a:t>outcome tree</a:t>
            </a:r>
            <a:r>
              <a:rPr lang="en-GB"/>
              <a:t> to display outcomes for two events</a:t>
            </a:r>
            <a:endParaRPr/>
          </a:p>
        </p:txBody>
      </p:sp>
      <p:pic>
        <p:nvPicPr>
          <p:cNvPr id="1539" name="Google Shape;153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403" y="301467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sp>
        <p:nvSpPr>
          <p:cNvPr id="1545" name="Google Shape;1545;p80"/>
          <p:cNvSpPr txBox="1"/>
          <p:nvPr/>
        </p:nvSpPr>
        <p:spPr>
          <a:xfrm>
            <a:off x="1684800" y="740825"/>
            <a:ext cx="713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also very useful in categorising all of the outcomes of a trial into different events.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6" name="Google Shape;1546;p80"/>
          <p:cNvGrpSpPr/>
          <p:nvPr/>
        </p:nvGrpSpPr>
        <p:grpSpPr>
          <a:xfrm>
            <a:off x="233653" y="512214"/>
            <a:ext cx="1347028" cy="1347028"/>
            <a:chOff x="1090105" y="2306370"/>
            <a:chExt cx="1024200" cy="1024200"/>
          </a:xfrm>
        </p:grpSpPr>
        <p:grpSp>
          <p:nvGrpSpPr>
            <p:cNvPr id="1547" name="Google Shape;1547;p80"/>
            <p:cNvGrpSpPr/>
            <p:nvPr/>
          </p:nvGrpSpPr>
          <p:grpSpPr>
            <a:xfrm>
              <a:off x="1090105" y="2306370"/>
              <a:ext cx="1024200" cy="1024200"/>
              <a:chOff x="1090105" y="2306370"/>
              <a:chExt cx="1024200" cy="1024200"/>
            </a:xfrm>
          </p:grpSpPr>
          <p:sp>
            <p:nvSpPr>
              <p:cNvPr id="1548" name="Google Shape;1548;p80"/>
              <p:cNvSpPr/>
              <p:nvPr/>
            </p:nvSpPr>
            <p:spPr>
              <a:xfrm flipH="1">
                <a:off x="1227496" y="2443628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80"/>
              <p:cNvSpPr txBox="1"/>
              <p:nvPr/>
            </p:nvSpPr>
            <p:spPr>
              <a:xfrm>
                <a:off x="1625600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0" name="Google Shape;1550;p80"/>
              <p:cNvSpPr/>
              <p:nvPr/>
            </p:nvSpPr>
            <p:spPr>
              <a:xfrm flipH="1" rot="3599772">
                <a:off x="1227589" y="2443721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80"/>
              <p:cNvSpPr/>
              <p:nvPr/>
            </p:nvSpPr>
            <p:spPr>
              <a:xfrm flipH="1" rot="10800000">
                <a:off x="1227549" y="2443623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2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80"/>
              <p:cNvSpPr/>
              <p:nvPr/>
            </p:nvSpPr>
            <p:spPr>
              <a:xfrm flipH="1" rot="7200228">
                <a:off x="1227549" y="2443709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5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80"/>
              <p:cNvSpPr/>
              <p:nvPr/>
            </p:nvSpPr>
            <p:spPr>
              <a:xfrm flipH="1" rot="-3599269">
                <a:off x="1227344" y="2443608"/>
                <a:ext cx="749724" cy="7497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80"/>
              <p:cNvSpPr/>
              <p:nvPr/>
            </p:nvSpPr>
            <p:spPr>
              <a:xfrm flipH="1" rot="-7198348">
                <a:off x="1227546" y="2443681"/>
                <a:ext cx="749424" cy="7494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80"/>
              <p:cNvSpPr txBox="1"/>
              <p:nvPr/>
            </p:nvSpPr>
            <p:spPr>
              <a:xfrm>
                <a:off x="1755875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6" name="Google Shape;1556;p80"/>
              <p:cNvSpPr txBox="1"/>
              <p:nvPr/>
            </p:nvSpPr>
            <p:spPr>
              <a:xfrm>
                <a:off x="1625600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7" name="Google Shape;1557;p80"/>
              <p:cNvSpPr txBox="1"/>
              <p:nvPr/>
            </p:nvSpPr>
            <p:spPr>
              <a:xfrm flipH="1">
                <a:off x="1399436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8" name="Google Shape;1558;p80"/>
              <p:cNvSpPr txBox="1"/>
              <p:nvPr/>
            </p:nvSpPr>
            <p:spPr>
              <a:xfrm flipH="1">
                <a:off x="1269161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9" name="Google Shape;1559;p80"/>
              <p:cNvSpPr txBox="1"/>
              <p:nvPr/>
            </p:nvSpPr>
            <p:spPr>
              <a:xfrm flipH="1">
                <a:off x="1399436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560" name="Google Shape;1560;p80"/>
            <p:cNvGrpSpPr/>
            <p:nvPr/>
          </p:nvGrpSpPr>
          <p:grpSpPr>
            <a:xfrm>
              <a:off x="1581202" y="2466989"/>
              <a:ext cx="42000" cy="367258"/>
              <a:chOff x="1012152" y="1933239"/>
              <a:chExt cx="42000" cy="367258"/>
            </a:xfrm>
          </p:grpSpPr>
          <p:cxnSp>
            <p:nvCxnSpPr>
              <p:cNvPr id="1561" name="Google Shape;1561;p80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562" name="Google Shape;1562;p80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63" name="Google Shape;1563;p80"/>
          <p:cNvSpPr txBox="1"/>
          <p:nvPr/>
        </p:nvSpPr>
        <p:spPr>
          <a:xfrm>
            <a:off x="481175" y="2031450"/>
            <a:ext cx="1636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spinner will be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possible outcomes are: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4" name="Google Shape;1564;p80"/>
          <p:cNvGrpSpPr/>
          <p:nvPr/>
        </p:nvGrpSpPr>
        <p:grpSpPr>
          <a:xfrm>
            <a:off x="2322850" y="2170050"/>
            <a:ext cx="894350" cy="1108200"/>
            <a:chOff x="735500" y="3350575"/>
            <a:chExt cx="894350" cy="1108200"/>
          </a:xfrm>
        </p:grpSpPr>
        <p:sp>
          <p:nvSpPr>
            <p:cNvPr id="1565" name="Google Shape;1565;p80"/>
            <p:cNvSpPr txBox="1"/>
            <p:nvPr/>
          </p:nvSpPr>
          <p:spPr>
            <a:xfrm>
              <a:off x="735500" y="3350575"/>
              <a:ext cx="385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6" name="Google Shape;1566;p80"/>
            <p:cNvSpPr txBox="1"/>
            <p:nvPr/>
          </p:nvSpPr>
          <p:spPr>
            <a:xfrm>
              <a:off x="1244350" y="3350575"/>
              <a:ext cx="385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7" name="Google Shape;1567;p80"/>
          <p:cNvGrpSpPr/>
          <p:nvPr/>
        </p:nvGrpSpPr>
        <p:grpSpPr>
          <a:xfrm>
            <a:off x="3545161" y="1925239"/>
            <a:ext cx="1652768" cy="1629371"/>
            <a:chOff x="3545182" y="1731275"/>
            <a:chExt cx="1652768" cy="2030875"/>
          </a:xfrm>
        </p:grpSpPr>
        <p:grpSp>
          <p:nvGrpSpPr>
            <p:cNvPr id="1568" name="Google Shape;1568;p80"/>
            <p:cNvGrpSpPr/>
            <p:nvPr/>
          </p:nvGrpSpPr>
          <p:grpSpPr>
            <a:xfrm>
              <a:off x="3545182" y="1875434"/>
              <a:ext cx="813170" cy="1697427"/>
              <a:chOff x="3697470" y="2919050"/>
              <a:chExt cx="561000" cy="1002437"/>
            </a:xfrm>
          </p:grpSpPr>
          <p:cxnSp>
            <p:nvCxnSpPr>
              <p:cNvPr id="1569" name="Google Shape;1569;p80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0" name="Google Shape;1570;p80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71" name="Google Shape;1571;p80"/>
            <p:cNvSpPr txBox="1"/>
            <p:nvPr/>
          </p:nvSpPr>
          <p:spPr>
            <a:xfrm>
              <a:off x="4450050" y="1731275"/>
              <a:ext cx="747900" cy="34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even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2" name="Google Shape;1572;p80"/>
            <p:cNvSpPr txBox="1"/>
            <p:nvPr/>
          </p:nvSpPr>
          <p:spPr>
            <a:xfrm>
              <a:off x="4450050" y="3416850"/>
              <a:ext cx="747900" cy="34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odd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73" name="Google Shape;1573;p80"/>
          <p:cNvSpPr txBox="1"/>
          <p:nvPr/>
        </p:nvSpPr>
        <p:spPr>
          <a:xfrm>
            <a:off x="3545175" y="4266300"/>
            <a:ext cx="363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spinner could land on either an even or odd number.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4" name="Google Shape;1574;p80"/>
          <p:cNvGrpSpPr/>
          <p:nvPr/>
        </p:nvGrpSpPr>
        <p:grpSpPr>
          <a:xfrm>
            <a:off x="2833625" y="1927420"/>
            <a:ext cx="2269539" cy="1350830"/>
            <a:chOff x="2833625" y="1927420"/>
            <a:chExt cx="2269539" cy="1350830"/>
          </a:xfrm>
        </p:grpSpPr>
        <p:sp>
          <p:nvSpPr>
            <p:cNvPr id="1575" name="Google Shape;1575;p80"/>
            <p:cNvSpPr/>
            <p:nvPr/>
          </p:nvSpPr>
          <p:spPr>
            <a:xfrm>
              <a:off x="2833625" y="2160000"/>
              <a:ext cx="383700" cy="291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6" name="Google Shape;1576;p80"/>
            <p:cNvSpPr/>
            <p:nvPr/>
          </p:nvSpPr>
          <p:spPr>
            <a:xfrm>
              <a:off x="2833625" y="2573175"/>
              <a:ext cx="383700" cy="291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7" name="Google Shape;1577;p80"/>
            <p:cNvSpPr/>
            <p:nvPr/>
          </p:nvSpPr>
          <p:spPr>
            <a:xfrm>
              <a:off x="2833625" y="2986350"/>
              <a:ext cx="383700" cy="291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8" name="Google Shape;1578;p80"/>
            <p:cNvSpPr/>
            <p:nvPr/>
          </p:nvSpPr>
          <p:spPr>
            <a:xfrm>
              <a:off x="4356764" y="1927420"/>
              <a:ext cx="746400" cy="291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9" name="Google Shape;1579;p80"/>
          <p:cNvGrpSpPr/>
          <p:nvPr/>
        </p:nvGrpSpPr>
        <p:grpSpPr>
          <a:xfrm>
            <a:off x="2322850" y="2160000"/>
            <a:ext cx="2678625" cy="1405150"/>
            <a:chOff x="2322850" y="2160000"/>
            <a:chExt cx="2678625" cy="1405150"/>
          </a:xfrm>
        </p:grpSpPr>
        <p:sp>
          <p:nvSpPr>
            <p:cNvPr id="1580" name="Google Shape;1580;p80"/>
            <p:cNvSpPr/>
            <p:nvPr/>
          </p:nvSpPr>
          <p:spPr>
            <a:xfrm>
              <a:off x="2322850" y="2160000"/>
              <a:ext cx="383700" cy="291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1" name="Google Shape;1581;p80"/>
            <p:cNvSpPr/>
            <p:nvPr/>
          </p:nvSpPr>
          <p:spPr>
            <a:xfrm>
              <a:off x="2322850" y="2573175"/>
              <a:ext cx="383700" cy="291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2" name="Google Shape;1582;p80"/>
            <p:cNvSpPr/>
            <p:nvPr/>
          </p:nvSpPr>
          <p:spPr>
            <a:xfrm>
              <a:off x="2322850" y="2986350"/>
              <a:ext cx="383700" cy="291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3" name="Google Shape;1583;p80"/>
            <p:cNvSpPr/>
            <p:nvPr/>
          </p:nvSpPr>
          <p:spPr>
            <a:xfrm>
              <a:off x="4356775" y="3273250"/>
              <a:ext cx="644700" cy="291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84" name="Google Shape;1584;p80"/>
          <p:cNvSpPr txBox="1"/>
          <p:nvPr/>
        </p:nvSpPr>
        <p:spPr>
          <a:xfrm>
            <a:off x="4320000" y="2216450"/>
            <a:ext cx="78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2, 4, 6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80"/>
          <p:cNvSpPr txBox="1"/>
          <p:nvPr/>
        </p:nvSpPr>
        <p:spPr>
          <a:xfrm>
            <a:off x="4320000" y="3550025"/>
            <a:ext cx="78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1, 3, 5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0" name="Google Shape;1590;p81"/>
          <p:cNvGrpSpPr/>
          <p:nvPr/>
        </p:nvGrpSpPr>
        <p:grpSpPr>
          <a:xfrm>
            <a:off x="3545161" y="1925239"/>
            <a:ext cx="1652768" cy="1629371"/>
            <a:chOff x="3545182" y="1731275"/>
            <a:chExt cx="1652768" cy="2030875"/>
          </a:xfrm>
        </p:grpSpPr>
        <p:grpSp>
          <p:nvGrpSpPr>
            <p:cNvPr id="1591" name="Google Shape;1591;p81"/>
            <p:cNvGrpSpPr/>
            <p:nvPr/>
          </p:nvGrpSpPr>
          <p:grpSpPr>
            <a:xfrm>
              <a:off x="3545182" y="1875434"/>
              <a:ext cx="813170" cy="1697427"/>
              <a:chOff x="3697470" y="2919050"/>
              <a:chExt cx="561000" cy="1002437"/>
            </a:xfrm>
          </p:grpSpPr>
          <p:cxnSp>
            <p:nvCxnSpPr>
              <p:cNvPr id="1592" name="Google Shape;1592;p81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3" name="Google Shape;1593;p81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94" name="Google Shape;1594;p81"/>
            <p:cNvSpPr txBox="1"/>
            <p:nvPr/>
          </p:nvSpPr>
          <p:spPr>
            <a:xfrm>
              <a:off x="4450050" y="1731275"/>
              <a:ext cx="747900" cy="34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even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5" name="Google Shape;1595;p81"/>
            <p:cNvSpPr txBox="1"/>
            <p:nvPr/>
          </p:nvSpPr>
          <p:spPr>
            <a:xfrm>
              <a:off x="4450050" y="3416850"/>
              <a:ext cx="747900" cy="34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odd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96" name="Google Shape;1596;p81"/>
          <p:cNvSpPr txBox="1"/>
          <p:nvPr/>
        </p:nvSpPr>
        <p:spPr>
          <a:xfrm>
            <a:off x="3545175" y="4266300"/>
            <a:ext cx="493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the even numbers the spinner could land on, which ones are factors of 6?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sp>
        <p:nvSpPr>
          <p:cNvPr id="1598" name="Google Shape;1598;p81"/>
          <p:cNvSpPr txBox="1"/>
          <p:nvPr/>
        </p:nvSpPr>
        <p:spPr>
          <a:xfrm>
            <a:off x="1684800" y="740825"/>
            <a:ext cx="713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also very useful in categorising all of the outcomes of a single-event trial into different events.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81"/>
          <p:cNvSpPr txBox="1"/>
          <p:nvPr/>
        </p:nvSpPr>
        <p:spPr>
          <a:xfrm>
            <a:off x="481175" y="2031450"/>
            <a:ext cx="1636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spinner will be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possible outcomes are: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00" name="Google Shape;1600;p81"/>
          <p:cNvGrpSpPr/>
          <p:nvPr/>
        </p:nvGrpSpPr>
        <p:grpSpPr>
          <a:xfrm>
            <a:off x="233653" y="512214"/>
            <a:ext cx="1347028" cy="1347028"/>
            <a:chOff x="1090105" y="2306370"/>
            <a:chExt cx="1024200" cy="1024200"/>
          </a:xfrm>
        </p:grpSpPr>
        <p:grpSp>
          <p:nvGrpSpPr>
            <p:cNvPr id="1601" name="Google Shape;1601;p81"/>
            <p:cNvGrpSpPr/>
            <p:nvPr/>
          </p:nvGrpSpPr>
          <p:grpSpPr>
            <a:xfrm>
              <a:off x="1090105" y="2306370"/>
              <a:ext cx="1024200" cy="1024200"/>
              <a:chOff x="1090105" y="2306370"/>
              <a:chExt cx="1024200" cy="1024200"/>
            </a:xfrm>
          </p:grpSpPr>
          <p:sp>
            <p:nvSpPr>
              <p:cNvPr id="1602" name="Google Shape;1602;p81"/>
              <p:cNvSpPr/>
              <p:nvPr/>
            </p:nvSpPr>
            <p:spPr>
              <a:xfrm flipH="1">
                <a:off x="1227496" y="2443628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81"/>
              <p:cNvSpPr txBox="1"/>
              <p:nvPr/>
            </p:nvSpPr>
            <p:spPr>
              <a:xfrm>
                <a:off x="1625600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04" name="Google Shape;1604;p81"/>
              <p:cNvSpPr/>
              <p:nvPr/>
            </p:nvSpPr>
            <p:spPr>
              <a:xfrm flipH="1" rot="3599772">
                <a:off x="1227589" y="2443721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81"/>
              <p:cNvSpPr/>
              <p:nvPr/>
            </p:nvSpPr>
            <p:spPr>
              <a:xfrm flipH="1" rot="10800000">
                <a:off x="1227549" y="2443623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2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81"/>
              <p:cNvSpPr/>
              <p:nvPr/>
            </p:nvSpPr>
            <p:spPr>
              <a:xfrm flipH="1" rot="7200228">
                <a:off x="1227549" y="2443709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5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81"/>
              <p:cNvSpPr/>
              <p:nvPr/>
            </p:nvSpPr>
            <p:spPr>
              <a:xfrm flipH="1" rot="-3599269">
                <a:off x="1227344" y="2443608"/>
                <a:ext cx="749724" cy="7497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81"/>
              <p:cNvSpPr/>
              <p:nvPr/>
            </p:nvSpPr>
            <p:spPr>
              <a:xfrm flipH="1" rot="-7198348">
                <a:off x="1227546" y="2443681"/>
                <a:ext cx="749424" cy="7494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81"/>
              <p:cNvSpPr txBox="1"/>
              <p:nvPr/>
            </p:nvSpPr>
            <p:spPr>
              <a:xfrm>
                <a:off x="1755875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0" name="Google Shape;1610;p81"/>
              <p:cNvSpPr txBox="1"/>
              <p:nvPr/>
            </p:nvSpPr>
            <p:spPr>
              <a:xfrm>
                <a:off x="1625600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1" name="Google Shape;1611;p81"/>
              <p:cNvSpPr txBox="1"/>
              <p:nvPr/>
            </p:nvSpPr>
            <p:spPr>
              <a:xfrm flipH="1">
                <a:off x="1399436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2" name="Google Shape;1612;p81"/>
              <p:cNvSpPr txBox="1"/>
              <p:nvPr/>
            </p:nvSpPr>
            <p:spPr>
              <a:xfrm flipH="1">
                <a:off x="1269161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3" name="Google Shape;1613;p81"/>
              <p:cNvSpPr txBox="1"/>
              <p:nvPr/>
            </p:nvSpPr>
            <p:spPr>
              <a:xfrm flipH="1">
                <a:off x="1399436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14" name="Google Shape;1614;p81"/>
            <p:cNvGrpSpPr/>
            <p:nvPr/>
          </p:nvGrpSpPr>
          <p:grpSpPr>
            <a:xfrm>
              <a:off x="1581202" y="2466989"/>
              <a:ext cx="42000" cy="367258"/>
              <a:chOff x="1012152" y="1933239"/>
              <a:chExt cx="42000" cy="367258"/>
            </a:xfrm>
          </p:grpSpPr>
          <p:cxnSp>
            <p:nvCxnSpPr>
              <p:cNvPr id="1615" name="Google Shape;1615;p81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616" name="Google Shape;1616;p81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17" name="Google Shape;1617;p81"/>
          <p:cNvGrpSpPr/>
          <p:nvPr/>
        </p:nvGrpSpPr>
        <p:grpSpPr>
          <a:xfrm>
            <a:off x="2322850" y="2170050"/>
            <a:ext cx="894350" cy="1108200"/>
            <a:chOff x="735500" y="3350575"/>
            <a:chExt cx="894350" cy="1108200"/>
          </a:xfrm>
        </p:grpSpPr>
        <p:sp>
          <p:nvSpPr>
            <p:cNvPr id="1618" name="Google Shape;1618;p81"/>
            <p:cNvSpPr txBox="1"/>
            <p:nvPr/>
          </p:nvSpPr>
          <p:spPr>
            <a:xfrm>
              <a:off x="735500" y="3350575"/>
              <a:ext cx="385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9" name="Google Shape;1619;p81"/>
            <p:cNvSpPr txBox="1"/>
            <p:nvPr/>
          </p:nvSpPr>
          <p:spPr>
            <a:xfrm>
              <a:off x="1244350" y="3350575"/>
              <a:ext cx="385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0" name="Google Shape;1620;p81"/>
          <p:cNvGrpSpPr/>
          <p:nvPr/>
        </p:nvGrpSpPr>
        <p:grpSpPr>
          <a:xfrm>
            <a:off x="5255738" y="1754250"/>
            <a:ext cx="2745288" cy="956100"/>
            <a:chOff x="5255738" y="1754250"/>
            <a:chExt cx="2745288" cy="956100"/>
          </a:xfrm>
        </p:grpSpPr>
        <p:grpSp>
          <p:nvGrpSpPr>
            <p:cNvPr id="1621" name="Google Shape;1621;p81"/>
            <p:cNvGrpSpPr/>
            <p:nvPr/>
          </p:nvGrpSpPr>
          <p:grpSpPr>
            <a:xfrm>
              <a:off x="5255738" y="1889699"/>
              <a:ext cx="833758" cy="688762"/>
              <a:chOff x="9421282" y="2694282"/>
              <a:chExt cx="561000" cy="459481"/>
            </a:xfrm>
          </p:grpSpPr>
          <p:cxnSp>
            <p:nvCxnSpPr>
              <p:cNvPr id="1622" name="Google Shape;1622;p81"/>
              <p:cNvCxnSpPr/>
              <p:nvPr/>
            </p:nvCxnSpPr>
            <p:spPr>
              <a:xfrm flipH="1" rot="10800000">
                <a:off x="9421282" y="269428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23" name="Google Shape;1623;p81"/>
              <p:cNvCxnSpPr/>
              <p:nvPr/>
            </p:nvCxnSpPr>
            <p:spPr>
              <a:xfrm>
                <a:off x="9421282" y="295216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624" name="Google Shape;1624;p81"/>
            <p:cNvSpPr txBox="1"/>
            <p:nvPr/>
          </p:nvSpPr>
          <p:spPr>
            <a:xfrm>
              <a:off x="6147022" y="1754250"/>
              <a:ext cx="134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5" name="Google Shape;1625;p81"/>
            <p:cNvSpPr txBox="1"/>
            <p:nvPr/>
          </p:nvSpPr>
          <p:spPr>
            <a:xfrm>
              <a:off x="6147026" y="2433150"/>
              <a:ext cx="1854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26" name="Google Shape;1626;p81"/>
          <p:cNvSpPr txBox="1"/>
          <p:nvPr/>
        </p:nvSpPr>
        <p:spPr>
          <a:xfrm>
            <a:off x="4320000" y="2216450"/>
            <a:ext cx="78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2, 4, 6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81"/>
          <p:cNvSpPr txBox="1"/>
          <p:nvPr/>
        </p:nvSpPr>
        <p:spPr>
          <a:xfrm>
            <a:off x="4320000" y="3550025"/>
            <a:ext cx="78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1, 3, 5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81"/>
          <p:cNvSpPr/>
          <p:nvPr/>
        </p:nvSpPr>
        <p:spPr>
          <a:xfrm>
            <a:off x="4356775" y="1927431"/>
            <a:ext cx="746400" cy="61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29" name="Google Shape;1629;p81"/>
          <p:cNvGrpSpPr/>
          <p:nvPr/>
        </p:nvGrpSpPr>
        <p:grpSpPr>
          <a:xfrm>
            <a:off x="4372832" y="1725550"/>
            <a:ext cx="3089868" cy="788725"/>
            <a:chOff x="4372832" y="1725550"/>
            <a:chExt cx="3089868" cy="788725"/>
          </a:xfrm>
        </p:grpSpPr>
        <p:sp>
          <p:nvSpPr>
            <p:cNvPr id="1630" name="Google Shape;1630;p81"/>
            <p:cNvSpPr/>
            <p:nvPr/>
          </p:nvSpPr>
          <p:spPr>
            <a:xfrm>
              <a:off x="4372832" y="2189675"/>
              <a:ext cx="164100" cy="3246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1" name="Google Shape;1631;p81"/>
            <p:cNvSpPr/>
            <p:nvPr/>
          </p:nvSpPr>
          <p:spPr>
            <a:xfrm>
              <a:off x="4886832" y="2189675"/>
              <a:ext cx="164100" cy="3246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2" name="Google Shape;1632;p81"/>
            <p:cNvSpPr/>
            <p:nvPr/>
          </p:nvSpPr>
          <p:spPr>
            <a:xfrm>
              <a:off x="6115700" y="1725550"/>
              <a:ext cx="1347000" cy="3246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33" name="Google Shape;1633;p81"/>
          <p:cNvSpPr txBox="1"/>
          <p:nvPr/>
        </p:nvSpPr>
        <p:spPr>
          <a:xfrm>
            <a:off x="6485400" y="2031450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81"/>
          <p:cNvSpPr txBox="1"/>
          <p:nvPr/>
        </p:nvSpPr>
        <p:spPr>
          <a:xfrm>
            <a:off x="6485400" y="2710350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5" name="Google Shape;1635;p81"/>
          <p:cNvGrpSpPr/>
          <p:nvPr/>
        </p:nvGrpSpPr>
        <p:grpSpPr>
          <a:xfrm>
            <a:off x="5255738" y="3112988"/>
            <a:ext cx="2745288" cy="956100"/>
            <a:chOff x="5255738" y="1754250"/>
            <a:chExt cx="2745288" cy="956100"/>
          </a:xfrm>
        </p:grpSpPr>
        <p:grpSp>
          <p:nvGrpSpPr>
            <p:cNvPr id="1636" name="Google Shape;1636;p81"/>
            <p:cNvGrpSpPr/>
            <p:nvPr/>
          </p:nvGrpSpPr>
          <p:grpSpPr>
            <a:xfrm>
              <a:off x="5255738" y="1889699"/>
              <a:ext cx="833758" cy="688762"/>
              <a:chOff x="9421282" y="2694282"/>
              <a:chExt cx="561000" cy="459481"/>
            </a:xfrm>
          </p:grpSpPr>
          <p:cxnSp>
            <p:nvCxnSpPr>
              <p:cNvPr id="1637" name="Google Shape;1637;p81"/>
              <p:cNvCxnSpPr/>
              <p:nvPr/>
            </p:nvCxnSpPr>
            <p:spPr>
              <a:xfrm flipH="1" rot="10800000">
                <a:off x="9421282" y="269428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38" name="Google Shape;1638;p81"/>
              <p:cNvCxnSpPr/>
              <p:nvPr/>
            </p:nvCxnSpPr>
            <p:spPr>
              <a:xfrm>
                <a:off x="9421282" y="295216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639" name="Google Shape;1639;p81"/>
            <p:cNvSpPr txBox="1"/>
            <p:nvPr/>
          </p:nvSpPr>
          <p:spPr>
            <a:xfrm>
              <a:off x="6147022" y="1754250"/>
              <a:ext cx="134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0" name="Google Shape;1640;p81"/>
            <p:cNvSpPr txBox="1"/>
            <p:nvPr/>
          </p:nvSpPr>
          <p:spPr>
            <a:xfrm>
              <a:off x="6147026" y="2433150"/>
              <a:ext cx="1854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41" name="Google Shape;1641;p81"/>
          <p:cNvGrpSpPr/>
          <p:nvPr/>
        </p:nvGrpSpPr>
        <p:grpSpPr>
          <a:xfrm>
            <a:off x="4372832" y="3086250"/>
            <a:ext cx="3089868" cy="761731"/>
            <a:chOff x="4372832" y="1752544"/>
            <a:chExt cx="3089868" cy="761731"/>
          </a:xfrm>
        </p:grpSpPr>
        <p:sp>
          <p:nvSpPr>
            <p:cNvPr id="1642" name="Google Shape;1642;p81"/>
            <p:cNvSpPr/>
            <p:nvPr/>
          </p:nvSpPr>
          <p:spPr>
            <a:xfrm>
              <a:off x="4372832" y="2189675"/>
              <a:ext cx="164100" cy="3246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3" name="Google Shape;1643;p81"/>
            <p:cNvSpPr/>
            <p:nvPr/>
          </p:nvSpPr>
          <p:spPr>
            <a:xfrm>
              <a:off x="4623648" y="2189675"/>
              <a:ext cx="164100" cy="3246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4" name="Google Shape;1644;p81"/>
            <p:cNvSpPr/>
            <p:nvPr/>
          </p:nvSpPr>
          <p:spPr>
            <a:xfrm>
              <a:off x="6115700" y="1752544"/>
              <a:ext cx="1347000" cy="3246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45" name="Google Shape;1645;p81"/>
          <p:cNvSpPr txBox="1"/>
          <p:nvPr/>
        </p:nvSpPr>
        <p:spPr>
          <a:xfrm>
            <a:off x="6485400" y="3397569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81"/>
          <p:cNvSpPr txBox="1"/>
          <p:nvPr/>
        </p:nvSpPr>
        <p:spPr>
          <a:xfrm>
            <a:off x="6485400" y="4023525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81"/>
          <p:cNvSpPr/>
          <p:nvPr/>
        </p:nvSpPr>
        <p:spPr>
          <a:xfrm>
            <a:off x="4356775" y="3250137"/>
            <a:ext cx="746400" cy="613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sp>
        <p:nvSpPr>
          <p:cNvPr id="1653" name="Google Shape;1653;p82"/>
          <p:cNvSpPr txBox="1"/>
          <p:nvPr/>
        </p:nvSpPr>
        <p:spPr>
          <a:xfrm>
            <a:off x="1684800" y="740825"/>
            <a:ext cx="713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also very useful in categorising all of the outcomes of a single-event trial into different events.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4" name="Google Shape;1654;p82"/>
          <p:cNvSpPr txBox="1"/>
          <p:nvPr/>
        </p:nvSpPr>
        <p:spPr>
          <a:xfrm>
            <a:off x="481175" y="2031450"/>
            <a:ext cx="1636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spinner will be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possible outcomes are: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5" name="Google Shape;1655;p82"/>
          <p:cNvGrpSpPr/>
          <p:nvPr/>
        </p:nvGrpSpPr>
        <p:grpSpPr>
          <a:xfrm>
            <a:off x="233653" y="512214"/>
            <a:ext cx="1347028" cy="1347028"/>
            <a:chOff x="1090105" y="2306370"/>
            <a:chExt cx="1024200" cy="1024200"/>
          </a:xfrm>
        </p:grpSpPr>
        <p:grpSp>
          <p:nvGrpSpPr>
            <p:cNvPr id="1656" name="Google Shape;1656;p82"/>
            <p:cNvGrpSpPr/>
            <p:nvPr/>
          </p:nvGrpSpPr>
          <p:grpSpPr>
            <a:xfrm>
              <a:off x="1090105" y="2306370"/>
              <a:ext cx="1024200" cy="1024200"/>
              <a:chOff x="1090105" y="2306370"/>
              <a:chExt cx="1024200" cy="1024200"/>
            </a:xfrm>
          </p:grpSpPr>
          <p:sp>
            <p:nvSpPr>
              <p:cNvPr id="1657" name="Google Shape;1657;p82"/>
              <p:cNvSpPr/>
              <p:nvPr/>
            </p:nvSpPr>
            <p:spPr>
              <a:xfrm flipH="1">
                <a:off x="1227496" y="2443628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82"/>
              <p:cNvSpPr txBox="1"/>
              <p:nvPr/>
            </p:nvSpPr>
            <p:spPr>
              <a:xfrm>
                <a:off x="1625600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9" name="Google Shape;1659;p82"/>
              <p:cNvSpPr/>
              <p:nvPr/>
            </p:nvSpPr>
            <p:spPr>
              <a:xfrm flipH="1" rot="3599772">
                <a:off x="1227589" y="2443721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82"/>
              <p:cNvSpPr/>
              <p:nvPr/>
            </p:nvSpPr>
            <p:spPr>
              <a:xfrm flipH="1" rot="10800000">
                <a:off x="1227549" y="2443623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2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82"/>
              <p:cNvSpPr/>
              <p:nvPr/>
            </p:nvSpPr>
            <p:spPr>
              <a:xfrm flipH="1" rot="7200228">
                <a:off x="1227549" y="2443709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5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82"/>
              <p:cNvSpPr/>
              <p:nvPr/>
            </p:nvSpPr>
            <p:spPr>
              <a:xfrm flipH="1" rot="-3599269">
                <a:off x="1227344" y="2443608"/>
                <a:ext cx="749724" cy="7497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82"/>
              <p:cNvSpPr/>
              <p:nvPr/>
            </p:nvSpPr>
            <p:spPr>
              <a:xfrm flipH="1" rot="-7198348">
                <a:off x="1227546" y="2443681"/>
                <a:ext cx="749424" cy="7494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82"/>
              <p:cNvSpPr txBox="1"/>
              <p:nvPr/>
            </p:nvSpPr>
            <p:spPr>
              <a:xfrm>
                <a:off x="1755875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5" name="Google Shape;1665;p82"/>
              <p:cNvSpPr txBox="1"/>
              <p:nvPr/>
            </p:nvSpPr>
            <p:spPr>
              <a:xfrm>
                <a:off x="1625600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6" name="Google Shape;1666;p82"/>
              <p:cNvSpPr txBox="1"/>
              <p:nvPr/>
            </p:nvSpPr>
            <p:spPr>
              <a:xfrm flipH="1">
                <a:off x="1399436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7" name="Google Shape;1667;p82"/>
              <p:cNvSpPr txBox="1"/>
              <p:nvPr/>
            </p:nvSpPr>
            <p:spPr>
              <a:xfrm flipH="1">
                <a:off x="1269161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8" name="Google Shape;1668;p82"/>
              <p:cNvSpPr txBox="1"/>
              <p:nvPr/>
            </p:nvSpPr>
            <p:spPr>
              <a:xfrm flipH="1">
                <a:off x="1399436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669" name="Google Shape;1669;p82"/>
            <p:cNvGrpSpPr/>
            <p:nvPr/>
          </p:nvGrpSpPr>
          <p:grpSpPr>
            <a:xfrm>
              <a:off x="1581202" y="2466989"/>
              <a:ext cx="42000" cy="367258"/>
              <a:chOff x="1012152" y="1933239"/>
              <a:chExt cx="42000" cy="367258"/>
            </a:xfrm>
          </p:grpSpPr>
          <p:cxnSp>
            <p:nvCxnSpPr>
              <p:cNvPr id="1670" name="Google Shape;1670;p82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671" name="Google Shape;1671;p82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72" name="Google Shape;1672;p82"/>
          <p:cNvGrpSpPr/>
          <p:nvPr/>
        </p:nvGrpSpPr>
        <p:grpSpPr>
          <a:xfrm>
            <a:off x="2322850" y="2170050"/>
            <a:ext cx="894350" cy="1108200"/>
            <a:chOff x="735500" y="3350575"/>
            <a:chExt cx="894350" cy="1108200"/>
          </a:xfrm>
        </p:grpSpPr>
        <p:sp>
          <p:nvSpPr>
            <p:cNvPr id="1673" name="Google Shape;1673;p82"/>
            <p:cNvSpPr txBox="1"/>
            <p:nvPr/>
          </p:nvSpPr>
          <p:spPr>
            <a:xfrm>
              <a:off x="735500" y="3350575"/>
              <a:ext cx="385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4" name="Google Shape;1674;p82"/>
            <p:cNvSpPr txBox="1"/>
            <p:nvPr/>
          </p:nvSpPr>
          <p:spPr>
            <a:xfrm>
              <a:off x="1244350" y="3350575"/>
              <a:ext cx="385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5" name="Google Shape;1675;p82"/>
          <p:cNvGrpSpPr/>
          <p:nvPr/>
        </p:nvGrpSpPr>
        <p:grpSpPr>
          <a:xfrm>
            <a:off x="5255738" y="1754250"/>
            <a:ext cx="2745288" cy="956100"/>
            <a:chOff x="5255738" y="1754250"/>
            <a:chExt cx="2745288" cy="956100"/>
          </a:xfrm>
        </p:grpSpPr>
        <p:grpSp>
          <p:nvGrpSpPr>
            <p:cNvPr id="1676" name="Google Shape;1676;p82"/>
            <p:cNvGrpSpPr/>
            <p:nvPr/>
          </p:nvGrpSpPr>
          <p:grpSpPr>
            <a:xfrm>
              <a:off x="5255738" y="1889699"/>
              <a:ext cx="833758" cy="688762"/>
              <a:chOff x="9421282" y="2694282"/>
              <a:chExt cx="561000" cy="459481"/>
            </a:xfrm>
          </p:grpSpPr>
          <p:cxnSp>
            <p:nvCxnSpPr>
              <p:cNvPr id="1677" name="Google Shape;1677;p82"/>
              <p:cNvCxnSpPr/>
              <p:nvPr/>
            </p:nvCxnSpPr>
            <p:spPr>
              <a:xfrm flipH="1" rot="10800000">
                <a:off x="9421282" y="269428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78" name="Google Shape;1678;p82"/>
              <p:cNvCxnSpPr/>
              <p:nvPr/>
            </p:nvCxnSpPr>
            <p:spPr>
              <a:xfrm>
                <a:off x="9421282" y="295216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679" name="Google Shape;1679;p82"/>
            <p:cNvSpPr txBox="1"/>
            <p:nvPr/>
          </p:nvSpPr>
          <p:spPr>
            <a:xfrm>
              <a:off x="6147022" y="1754250"/>
              <a:ext cx="134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0" name="Google Shape;1680;p82"/>
            <p:cNvSpPr txBox="1"/>
            <p:nvPr/>
          </p:nvSpPr>
          <p:spPr>
            <a:xfrm>
              <a:off x="6147026" y="2433150"/>
              <a:ext cx="1854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1" name="Google Shape;1681;p82"/>
          <p:cNvSpPr txBox="1"/>
          <p:nvPr/>
        </p:nvSpPr>
        <p:spPr>
          <a:xfrm>
            <a:off x="6485400" y="2710350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82" name="Google Shape;1682;p82"/>
          <p:cNvGrpSpPr/>
          <p:nvPr/>
        </p:nvGrpSpPr>
        <p:grpSpPr>
          <a:xfrm>
            <a:off x="5255738" y="3112988"/>
            <a:ext cx="2745288" cy="956100"/>
            <a:chOff x="5255738" y="1754250"/>
            <a:chExt cx="2745288" cy="956100"/>
          </a:xfrm>
        </p:grpSpPr>
        <p:grpSp>
          <p:nvGrpSpPr>
            <p:cNvPr id="1683" name="Google Shape;1683;p82"/>
            <p:cNvGrpSpPr/>
            <p:nvPr/>
          </p:nvGrpSpPr>
          <p:grpSpPr>
            <a:xfrm>
              <a:off x="5255738" y="1889699"/>
              <a:ext cx="833758" cy="688762"/>
              <a:chOff x="9421282" y="2694282"/>
              <a:chExt cx="561000" cy="459481"/>
            </a:xfrm>
          </p:grpSpPr>
          <p:cxnSp>
            <p:nvCxnSpPr>
              <p:cNvPr id="1684" name="Google Shape;1684;p82"/>
              <p:cNvCxnSpPr/>
              <p:nvPr/>
            </p:nvCxnSpPr>
            <p:spPr>
              <a:xfrm flipH="1" rot="10800000">
                <a:off x="9421282" y="269428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85" name="Google Shape;1685;p82"/>
              <p:cNvCxnSpPr/>
              <p:nvPr/>
            </p:nvCxnSpPr>
            <p:spPr>
              <a:xfrm>
                <a:off x="9421282" y="295216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686" name="Google Shape;1686;p82"/>
            <p:cNvSpPr txBox="1"/>
            <p:nvPr/>
          </p:nvSpPr>
          <p:spPr>
            <a:xfrm>
              <a:off x="6147022" y="1754250"/>
              <a:ext cx="134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7" name="Google Shape;1687;p82"/>
            <p:cNvSpPr txBox="1"/>
            <p:nvPr/>
          </p:nvSpPr>
          <p:spPr>
            <a:xfrm>
              <a:off x="6147026" y="2433150"/>
              <a:ext cx="1854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8" name="Google Shape;1688;p82"/>
          <p:cNvSpPr txBox="1"/>
          <p:nvPr/>
        </p:nvSpPr>
        <p:spPr>
          <a:xfrm>
            <a:off x="6485400" y="3397569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82"/>
          <p:cNvSpPr txBox="1"/>
          <p:nvPr/>
        </p:nvSpPr>
        <p:spPr>
          <a:xfrm>
            <a:off x="6485400" y="4023525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82"/>
          <p:cNvSpPr txBox="1"/>
          <p:nvPr/>
        </p:nvSpPr>
        <p:spPr>
          <a:xfrm>
            <a:off x="6485400" y="2031450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82"/>
          <p:cNvSpPr/>
          <p:nvPr/>
        </p:nvSpPr>
        <p:spPr>
          <a:xfrm>
            <a:off x="2322850" y="1581550"/>
            <a:ext cx="5942400" cy="31287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2" name="Google Shape;1692;p82"/>
          <p:cNvGrpSpPr/>
          <p:nvPr/>
        </p:nvGrpSpPr>
        <p:grpSpPr>
          <a:xfrm>
            <a:off x="3448200" y="1637175"/>
            <a:ext cx="1749729" cy="2986025"/>
            <a:chOff x="3448200" y="1637175"/>
            <a:chExt cx="1749729" cy="2986025"/>
          </a:xfrm>
        </p:grpSpPr>
        <p:grpSp>
          <p:nvGrpSpPr>
            <p:cNvPr id="1693" name="Google Shape;1693;p82"/>
            <p:cNvGrpSpPr/>
            <p:nvPr/>
          </p:nvGrpSpPr>
          <p:grpSpPr>
            <a:xfrm>
              <a:off x="3545161" y="1925239"/>
              <a:ext cx="1652768" cy="1629371"/>
              <a:chOff x="3545182" y="1731275"/>
              <a:chExt cx="1652768" cy="2030875"/>
            </a:xfrm>
          </p:grpSpPr>
          <p:grpSp>
            <p:nvGrpSpPr>
              <p:cNvPr id="1694" name="Google Shape;1694;p82"/>
              <p:cNvGrpSpPr/>
              <p:nvPr/>
            </p:nvGrpSpPr>
            <p:grpSpPr>
              <a:xfrm>
                <a:off x="3545182" y="1875434"/>
                <a:ext cx="813170" cy="1697427"/>
                <a:chOff x="3697470" y="2919050"/>
                <a:chExt cx="561000" cy="1002437"/>
              </a:xfrm>
            </p:grpSpPr>
            <p:cxnSp>
              <p:nvCxnSpPr>
                <p:cNvPr id="1695" name="Google Shape;1695;p82"/>
                <p:cNvCxnSpPr/>
                <p:nvPr/>
              </p:nvCxnSpPr>
              <p:spPr>
                <a:xfrm flipH="1" rot="10800000">
                  <a:off x="3697470" y="2919050"/>
                  <a:ext cx="561000" cy="4398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96" name="Google Shape;1696;p82"/>
                <p:cNvCxnSpPr/>
                <p:nvPr/>
              </p:nvCxnSpPr>
              <p:spPr>
                <a:xfrm>
                  <a:off x="3697470" y="3481687"/>
                  <a:ext cx="561000" cy="4398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697" name="Google Shape;1697;p82"/>
              <p:cNvSpPr txBox="1"/>
              <p:nvPr/>
            </p:nvSpPr>
            <p:spPr>
              <a:xfrm>
                <a:off x="4450050" y="1731275"/>
                <a:ext cx="747900" cy="34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even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8" name="Google Shape;1698;p82"/>
              <p:cNvSpPr txBox="1"/>
              <p:nvPr/>
            </p:nvSpPr>
            <p:spPr>
              <a:xfrm>
                <a:off x="4450050" y="3416850"/>
                <a:ext cx="747900" cy="34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odd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699" name="Google Shape;1699;p82"/>
            <p:cNvSpPr txBox="1"/>
            <p:nvPr/>
          </p:nvSpPr>
          <p:spPr>
            <a:xfrm>
              <a:off x="4320000" y="2216450"/>
              <a:ext cx="783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2, 4, 6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0" name="Google Shape;1700;p82"/>
            <p:cNvSpPr txBox="1"/>
            <p:nvPr/>
          </p:nvSpPr>
          <p:spPr>
            <a:xfrm>
              <a:off x="4320000" y="3550025"/>
              <a:ext cx="783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1, 3, 5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1" name="Google Shape;1701;p82"/>
            <p:cNvSpPr/>
            <p:nvPr/>
          </p:nvSpPr>
          <p:spPr>
            <a:xfrm>
              <a:off x="3466200" y="1637175"/>
              <a:ext cx="1636800" cy="2431800"/>
            </a:xfrm>
            <a:prstGeom prst="roundRect">
              <a:avLst>
                <a:gd fmla="val 6152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2" name="Google Shape;1702;p82"/>
            <p:cNvSpPr txBox="1"/>
            <p:nvPr/>
          </p:nvSpPr>
          <p:spPr>
            <a:xfrm>
              <a:off x="3448200" y="4069100"/>
              <a:ext cx="1636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Event 1: even (or not even)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sp>
        <p:nvSpPr>
          <p:cNvPr id="1708" name="Google Shape;1708;p83"/>
          <p:cNvSpPr txBox="1"/>
          <p:nvPr/>
        </p:nvSpPr>
        <p:spPr>
          <a:xfrm>
            <a:off x="1684800" y="740825"/>
            <a:ext cx="713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also very useful in categorising all of the outcomes of a single-event trial into different events.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83"/>
          <p:cNvSpPr txBox="1"/>
          <p:nvPr/>
        </p:nvSpPr>
        <p:spPr>
          <a:xfrm>
            <a:off x="481175" y="2031450"/>
            <a:ext cx="1636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spinner will be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possible outcomes are: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0" name="Google Shape;1710;p83"/>
          <p:cNvGrpSpPr/>
          <p:nvPr/>
        </p:nvGrpSpPr>
        <p:grpSpPr>
          <a:xfrm>
            <a:off x="233653" y="512214"/>
            <a:ext cx="1347028" cy="1347028"/>
            <a:chOff x="1090105" y="2306370"/>
            <a:chExt cx="1024200" cy="1024200"/>
          </a:xfrm>
        </p:grpSpPr>
        <p:grpSp>
          <p:nvGrpSpPr>
            <p:cNvPr id="1711" name="Google Shape;1711;p83"/>
            <p:cNvGrpSpPr/>
            <p:nvPr/>
          </p:nvGrpSpPr>
          <p:grpSpPr>
            <a:xfrm>
              <a:off x="1090105" y="2306370"/>
              <a:ext cx="1024200" cy="1024200"/>
              <a:chOff x="1090105" y="2306370"/>
              <a:chExt cx="1024200" cy="1024200"/>
            </a:xfrm>
          </p:grpSpPr>
          <p:sp>
            <p:nvSpPr>
              <p:cNvPr id="1712" name="Google Shape;1712;p83"/>
              <p:cNvSpPr/>
              <p:nvPr/>
            </p:nvSpPr>
            <p:spPr>
              <a:xfrm flipH="1">
                <a:off x="1227496" y="2443628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83"/>
              <p:cNvSpPr txBox="1"/>
              <p:nvPr/>
            </p:nvSpPr>
            <p:spPr>
              <a:xfrm>
                <a:off x="1625600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14" name="Google Shape;1714;p83"/>
              <p:cNvSpPr/>
              <p:nvPr/>
            </p:nvSpPr>
            <p:spPr>
              <a:xfrm flipH="1" rot="3599772">
                <a:off x="1227589" y="2443721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5" name="Google Shape;1715;p83"/>
              <p:cNvSpPr/>
              <p:nvPr/>
            </p:nvSpPr>
            <p:spPr>
              <a:xfrm flipH="1" rot="10800000">
                <a:off x="1227549" y="2443623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2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6" name="Google Shape;1716;p83"/>
              <p:cNvSpPr/>
              <p:nvPr/>
            </p:nvSpPr>
            <p:spPr>
              <a:xfrm flipH="1" rot="7200228">
                <a:off x="1227549" y="2443709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5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7" name="Google Shape;1717;p83"/>
              <p:cNvSpPr/>
              <p:nvPr/>
            </p:nvSpPr>
            <p:spPr>
              <a:xfrm flipH="1" rot="-3599269">
                <a:off x="1227344" y="2443608"/>
                <a:ext cx="749724" cy="7497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8" name="Google Shape;1718;p83"/>
              <p:cNvSpPr/>
              <p:nvPr/>
            </p:nvSpPr>
            <p:spPr>
              <a:xfrm flipH="1" rot="-7198348">
                <a:off x="1227546" y="2443681"/>
                <a:ext cx="749424" cy="7494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9" name="Google Shape;1719;p83"/>
              <p:cNvSpPr txBox="1"/>
              <p:nvPr/>
            </p:nvSpPr>
            <p:spPr>
              <a:xfrm>
                <a:off x="1755875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0" name="Google Shape;1720;p83"/>
              <p:cNvSpPr txBox="1"/>
              <p:nvPr/>
            </p:nvSpPr>
            <p:spPr>
              <a:xfrm>
                <a:off x="1625600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1" name="Google Shape;1721;p83"/>
              <p:cNvSpPr txBox="1"/>
              <p:nvPr/>
            </p:nvSpPr>
            <p:spPr>
              <a:xfrm flipH="1">
                <a:off x="1399436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2" name="Google Shape;1722;p83"/>
              <p:cNvSpPr txBox="1"/>
              <p:nvPr/>
            </p:nvSpPr>
            <p:spPr>
              <a:xfrm flipH="1">
                <a:off x="1269161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3" name="Google Shape;1723;p83"/>
              <p:cNvSpPr txBox="1"/>
              <p:nvPr/>
            </p:nvSpPr>
            <p:spPr>
              <a:xfrm flipH="1">
                <a:off x="1399436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724" name="Google Shape;1724;p83"/>
            <p:cNvGrpSpPr/>
            <p:nvPr/>
          </p:nvGrpSpPr>
          <p:grpSpPr>
            <a:xfrm>
              <a:off x="1581202" y="2466989"/>
              <a:ext cx="42000" cy="367258"/>
              <a:chOff x="1012152" y="1933239"/>
              <a:chExt cx="42000" cy="367258"/>
            </a:xfrm>
          </p:grpSpPr>
          <p:cxnSp>
            <p:nvCxnSpPr>
              <p:cNvPr id="1725" name="Google Shape;1725;p83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726" name="Google Shape;1726;p83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27" name="Google Shape;1727;p83"/>
          <p:cNvGrpSpPr/>
          <p:nvPr/>
        </p:nvGrpSpPr>
        <p:grpSpPr>
          <a:xfrm>
            <a:off x="2322850" y="2170050"/>
            <a:ext cx="894350" cy="1108200"/>
            <a:chOff x="735500" y="3350575"/>
            <a:chExt cx="894350" cy="1108200"/>
          </a:xfrm>
        </p:grpSpPr>
        <p:sp>
          <p:nvSpPr>
            <p:cNvPr id="1728" name="Google Shape;1728;p83"/>
            <p:cNvSpPr txBox="1"/>
            <p:nvPr/>
          </p:nvSpPr>
          <p:spPr>
            <a:xfrm>
              <a:off x="735500" y="3350575"/>
              <a:ext cx="385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9" name="Google Shape;1729;p83"/>
            <p:cNvSpPr txBox="1"/>
            <p:nvPr/>
          </p:nvSpPr>
          <p:spPr>
            <a:xfrm>
              <a:off x="1244350" y="3350575"/>
              <a:ext cx="385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0" name="Google Shape;1730;p83"/>
          <p:cNvGrpSpPr/>
          <p:nvPr/>
        </p:nvGrpSpPr>
        <p:grpSpPr>
          <a:xfrm>
            <a:off x="3545161" y="1925239"/>
            <a:ext cx="1652768" cy="1629371"/>
            <a:chOff x="3545182" y="1731275"/>
            <a:chExt cx="1652768" cy="2030875"/>
          </a:xfrm>
        </p:grpSpPr>
        <p:grpSp>
          <p:nvGrpSpPr>
            <p:cNvPr id="1731" name="Google Shape;1731;p83"/>
            <p:cNvGrpSpPr/>
            <p:nvPr/>
          </p:nvGrpSpPr>
          <p:grpSpPr>
            <a:xfrm>
              <a:off x="3545182" y="1875434"/>
              <a:ext cx="813170" cy="1697427"/>
              <a:chOff x="3697470" y="2919050"/>
              <a:chExt cx="561000" cy="1002437"/>
            </a:xfrm>
          </p:grpSpPr>
          <p:cxnSp>
            <p:nvCxnSpPr>
              <p:cNvPr id="1732" name="Google Shape;1732;p83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3" name="Google Shape;1733;p83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34" name="Google Shape;1734;p83"/>
            <p:cNvSpPr txBox="1"/>
            <p:nvPr/>
          </p:nvSpPr>
          <p:spPr>
            <a:xfrm>
              <a:off x="4450050" y="1731275"/>
              <a:ext cx="747900" cy="34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even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5" name="Google Shape;1735;p83"/>
            <p:cNvSpPr txBox="1"/>
            <p:nvPr/>
          </p:nvSpPr>
          <p:spPr>
            <a:xfrm>
              <a:off x="4450050" y="3416850"/>
              <a:ext cx="747900" cy="34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odd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36" name="Google Shape;1736;p83"/>
          <p:cNvSpPr txBox="1"/>
          <p:nvPr/>
        </p:nvSpPr>
        <p:spPr>
          <a:xfrm>
            <a:off x="4320000" y="2216450"/>
            <a:ext cx="78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2, 4, 6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83"/>
          <p:cNvSpPr txBox="1"/>
          <p:nvPr/>
        </p:nvSpPr>
        <p:spPr>
          <a:xfrm>
            <a:off x="4320000" y="3550025"/>
            <a:ext cx="78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1, 3, 5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83"/>
          <p:cNvSpPr/>
          <p:nvPr/>
        </p:nvSpPr>
        <p:spPr>
          <a:xfrm>
            <a:off x="2322850" y="1581550"/>
            <a:ext cx="5942400" cy="31287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39" name="Google Shape;1739;p83"/>
          <p:cNvGrpSpPr/>
          <p:nvPr/>
        </p:nvGrpSpPr>
        <p:grpSpPr>
          <a:xfrm>
            <a:off x="5058425" y="1637175"/>
            <a:ext cx="3082200" cy="3006750"/>
            <a:chOff x="5058425" y="1637175"/>
            <a:chExt cx="3082200" cy="3006750"/>
          </a:xfrm>
        </p:grpSpPr>
        <p:sp>
          <p:nvSpPr>
            <p:cNvPr id="1740" name="Google Shape;1740;p83"/>
            <p:cNvSpPr txBox="1"/>
            <p:nvPr/>
          </p:nvSpPr>
          <p:spPr>
            <a:xfrm>
              <a:off x="5058425" y="4300725"/>
              <a:ext cx="3082200" cy="3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Event 2: factor of 6 (or not)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741" name="Google Shape;1741;p83"/>
            <p:cNvGrpSpPr/>
            <p:nvPr/>
          </p:nvGrpSpPr>
          <p:grpSpPr>
            <a:xfrm>
              <a:off x="5255738" y="1754250"/>
              <a:ext cx="2745288" cy="956100"/>
              <a:chOff x="5255738" y="1754250"/>
              <a:chExt cx="2745288" cy="956100"/>
            </a:xfrm>
          </p:grpSpPr>
          <p:grpSp>
            <p:nvGrpSpPr>
              <p:cNvPr id="1742" name="Google Shape;1742;p83"/>
              <p:cNvGrpSpPr/>
              <p:nvPr/>
            </p:nvGrpSpPr>
            <p:grpSpPr>
              <a:xfrm>
                <a:off x="5255738" y="1889699"/>
                <a:ext cx="833758" cy="688762"/>
                <a:chOff x="9421282" y="2694282"/>
                <a:chExt cx="561000" cy="459481"/>
              </a:xfrm>
            </p:grpSpPr>
            <p:cxnSp>
              <p:nvCxnSpPr>
                <p:cNvPr id="1743" name="Google Shape;1743;p83"/>
                <p:cNvCxnSpPr/>
                <p:nvPr/>
              </p:nvCxnSpPr>
              <p:spPr>
                <a:xfrm flipH="1" rot="10800000">
                  <a:off x="9421282" y="2694282"/>
                  <a:ext cx="561000" cy="201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44" name="Google Shape;1744;p83"/>
                <p:cNvCxnSpPr/>
                <p:nvPr/>
              </p:nvCxnSpPr>
              <p:spPr>
                <a:xfrm>
                  <a:off x="9421282" y="2952162"/>
                  <a:ext cx="561000" cy="201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745" name="Google Shape;1745;p83"/>
              <p:cNvSpPr txBox="1"/>
              <p:nvPr/>
            </p:nvSpPr>
            <p:spPr>
              <a:xfrm>
                <a:off x="6147022" y="1754250"/>
                <a:ext cx="1347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factors of 6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46" name="Google Shape;1746;p83"/>
              <p:cNvSpPr txBox="1"/>
              <p:nvPr/>
            </p:nvSpPr>
            <p:spPr>
              <a:xfrm>
                <a:off x="6147026" y="2433150"/>
                <a:ext cx="1854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not factors of 6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747" name="Google Shape;1747;p83"/>
            <p:cNvSpPr txBox="1"/>
            <p:nvPr/>
          </p:nvSpPr>
          <p:spPr>
            <a:xfrm>
              <a:off x="6485400" y="2710350"/>
              <a:ext cx="615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748" name="Google Shape;1748;p83"/>
            <p:cNvGrpSpPr/>
            <p:nvPr/>
          </p:nvGrpSpPr>
          <p:grpSpPr>
            <a:xfrm>
              <a:off x="5255738" y="3112988"/>
              <a:ext cx="2745288" cy="956100"/>
              <a:chOff x="5255738" y="1754250"/>
              <a:chExt cx="2745288" cy="956100"/>
            </a:xfrm>
          </p:grpSpPr>
          <p:grpSp>
            <p:nvGrpSpPr>
              <p:cNvPr id="1749" name="Google Shape;1749;p83"/>
              <p:cNvGrpSpPr/>
              <p:nvPr/>
            </p:nvGrpSpPr>
            <p:grpSpPr>
              <a:xfrm>
                <a:off x="5255738" y="1889699"/>
                <a:ext cx="833758" cy="688762"/>
                <a:chOff x="9421282" y="2694282"/>
                <a:chExt cx="561000" cy="459481"/>
              </a:xfrm>
            </p:grpSpPr>
            <p:cxnSp>
              <p:nvCxnSpPr>
                <p:cNvPr id="1750" name="Google Shape;1750;p83"/>
                <p:cNvCxnSpPr/>
                <p:nvPr/>
              </p:nvCxnSpPr>
              <p:spPr>
                <a:xfrm flipH="1" rot="10800000">
                  <a:off x="9421282" y="2694282"/>
                  <a:ext cx="561000" cy="201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51" name="Google Shape;1751;p83"/>
                <p:cNvCxnSpPr/>
                <p:nvPr/>
              </p:nvCxnSpPr>
              <p:spPr>
                <a:xfrm>
                  <a:off x="9421282" y="2952162"/>
                  <a:ext cx="561000" cy="201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752" name="Google Shape;1752;p83"/>
              <p:cNvSpPr txBox="1"/>
              <p:nvPr/>
            </p:nvSpPr>
            <p:spPr>
              <a:xfrm>
                <a:off x="6147022" y="1754250"/>
                <a:ext cx="1347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factors of 6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53" name="Google Shape;1753;p83"/>
              <p:cNvSpPr txBox="1"/>
              <p:nvPr/>
            </p:nvSpPr>
            <p:spPr>
              <a:xfrm>
                <a:off x="6147026" y="2433150"/>
                <a:ext cx="1854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not factors of 6</a:t>
                </a:r>
                <a:endParaRPr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754" name="Google Shape;1754;p83"/>
            <p:cNvSpPr txBox="1"/>
            <p:nvPr/>
          </p:nvSpPr>
          <p:spPr>
            <a:xfrm>
              <a:off x="6485400" y="3397569"/>
              <a:ext cx="615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1, 3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5" name="Google Shape;1755;p83"/>
            <p:cNvSpPr txBox="1"/>
            <p:nvPr/>
          </p:nvSpPr>
          <p:spPr>
            <a:xfrm>
              <a:off x="6485400" y="4023525"/>
              <a:ext cx="615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6" name="Google Shape;1756;p83"/>
            <p:cNvSpPr txBox="1"/>
            <p:nvPr/>
          </p:nvSpPr>
          <p:spPr>
            <a:xfrm>
              <a:off x="6485400" y="2031450"/>
              <a:ext cx="615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2, 6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7" name="Google Shape;1757;p83"/>
            <p:cNvSpPr/>
            <p:nvPr/>
          </p:nvSpPr>
          <p:spPr>
            <a:xfrm>
              <a:off x="5197925" y="1637175"/>
              <a:ext cx="2803200" cy="2663700"/>
            </a:xfrm>
            <a:prstGeom prst="roundRect">
              <a:avLst>
                <a:gd fmla="val 6152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2" name="Google Shape;1762;p84"/>
          <p:cNvGrpSpPr/>
          <p:nvPr/>
        </p:nvGrpSpPr>
        <p:grpSpPr>
          <a:xfrm>
            <a:off x="3545161" y="1925239"/>
            <a:ext cx="1652768" cy="1629371"/>
            <a:chOff x="3545182" y="1731275"/>
            <a:chExt cx="1652768" cy="2030875"/>
          </a:xfrm>
        </p:grpSpPr>
        <p:grpSp>
          <p:nvGrpSpPr>
            <p:cNvPr id="1763" name="Google Shape;1763;p84"/>
            <p:cNvGrpSpPr/>
            <p:nvPr/>
          </p:nvGrpSpPr>
          <p:grpSpPr>
            <a:xfrm>
              <a:off x="3545182" y="1875434"/>
              <a:ext cx="813170" cy="1697427"/>
              <a:chOff x="3697470" y="2919050"/>
              <a:chExt cx="561000" cy="1002437"/>
            </a:xfrm>
          </p:grpSpPr>
          <p:cxnSp>
            <p:nvCxnSpPr>
              <p:cNvPr id="1764" name="Google Shape;1764;p84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5" name="Google Shape;1765;p84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66" name="Google Shape;1766;p84"/>
            <p:cNvSpPr txBox="1"/>
            <p:nvPr/>
          </p:nvSpPr>
          <p:spPr>
            <a:xfrm>
              <a:off x="4450050" y="1731275"/>
              <a:ext cx="747900" cy="34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even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7" name="Google Shape;1767;p84"/>
            <p:cNvSpPr txBox="1"/>
            <p:nvPr/>
          </p:nvSpPr>
          <p:spPr>
            <a:xfrm>
              <a:off x="4450050" y="3416850"/>
              <a:ext cx="747900" cy="34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odd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68" name="Google Shape;176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sp>
        <p:nvSpPr>
          <p:cNvPr id="1769" name="Google Shape;1769;p84"/>
          <p:cNvSpPr txBox="1"/>
          <p:nvPr/>
        </p:nvSpPr>
        <p:spPr>
          <a:xfrm>
            <a:off x="1684800" y="740825"/>
            <a:ext cx="713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also very useful in categorising all of the outcomes of a single-event trial into different events.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84"/>
          <p:cNvSpPr txBox="1"/>
          <p:nvPr/>
        </p:nvSpPr>
        <p:spPr>
          <a:xfrm>
            <a:off x="481175" y="2031450"/>
            <a:ext cx="1636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spinner will be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possible outcomes are: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1" name="Google Shape;1771;p84"/>
          <p:cNvGrpSpPr/>
          <p:nvPr/>
        </p:nvGrpSpPr>
        <p:grpSpPr>
          <a:xfrm>
            <a:off x="233653" y="512214"/>
            <a:ext cx="1347028" cy="1347028"/>
            <a:chOff x="1090105" y="2306370"/>
            <a:chExt cx="1024200" cy="1024200"/>
          </a:xfrm>
        </p:grpSpPr>
        <p:grpSp>
          <p:nvGrpSpPr>
            <p:cNvPr id="1772" name="Google Shape;1772;p84"/>
            <p:cNvGrpSpPr/>
            <p:nvPr/>
          </p:nvGrpSpPr>
          <p:grpSpPr>
            <a:xfrm>
              <a:off x="1090105" y="2306370"/>
              <a:ext cx="1024200" cy="1024200"/>
              <a:chOff x="1090105" y="2306370"/>
              <a:chExt cx="1024200" cy="1024200"/>
            </a:xfrm>
          </p:grpSpPr>
          <p:sp>
            <p:nvSpPr>
              <p:cNvPr id="1773" name="Google Shape;1773;p84"/>
              <p:cNvSpPr/>
              <p:nvPr/>
            </p:nvSpPr>
            <p:spPr>
              <a:xfrm flipH="1">
                <a:off x="1227496" y="2443628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84"/>
              <p:cNvSpPr txBox="1"/>
              <p:nvPr/>
            </p:nvSpPr>
            <p:spPr>
              <a:xfrm>
                <a:off x="1625600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75" name="Google Shape;1775;p84"/>
              <p:cNvSpPr/>
              <p:nvPr/>
            </p:nvSpPr>
            <p:spPr>
              <a:xfrm flipH="1" rot="3599772">
                <a:off x="1227589" y="2443721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84"/>
              <p:cNvSpPr/>
              <p:nvPr/>
            </p:nvSpPr>
            <p:spPr>
              <a:xfrm flipH="1" rot="10800000">
                <a:off x="1227549" y="2443623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2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84"/>
              <p:cNvSpPr/>
              <p:nvPr/>
            </p:nvSpPr>
            <p:spPr>
              <a:xfrm flipH="1" rot="7200228">
                <a:off x="1227549" y="2443709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5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84"/>
              <p:cNvSpPr/>
              <p:nvPr/>
            </p:nvSpPr>
            <p:spPr>
              <a:xfrm flipH="1" rot="-3599269">
                <a:off x="1227344" y="2443608"/>
                <a:ext cx="749724" cy="7497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84"/>
              <p:cNvSpPr/>
              <p:nvPr/>
            </p:nvSpPr>
            <p:spPr>
              <a:xfrm flipH="1" rot="-7198348">
                <a:off x="1227546" y="2443681"/>
                <a:ext cx="749424" cy="7494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0" name="Google Shape;1780;p84"/>
              <p:cNvSpPr txBox="1"/>
              <p:nvPr/>
            </p:nvSpPr>
            <p:spPr>
              <a:xfrm>
                <a:off x="1755875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81" name="Google Shape;1781;p84"/>
              <p:cNvSpPr txBox="1"/>
              <p:nvPr/>
            </p:nvSpPr>
            <p:spPr>
              <a:xfrm>
                <a:off x="1625600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82" name="Google Shape;1782;p84"/>
              <p:cNvSpPr txBox="1"/>
              <p:nvPr/>
            </p:nvSpPr>
            <p:spPr>
              <a:xfrm flipH="1">
                <a:off x="1399436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83" name="Google Shape;1783;p84"/>
              <p:cNvSpPr txBox="1"/>
              <p:nvPr/>
            </p:nvSpPr>
            <p:spPr>
              <a:xfrm flipH="1">
                <a:off x="1269161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84" name="Google Shape;1784;p84"/>
              <p:cNvSpPr txBox="1"/>
              <p:nvPr/>
            </p:nvSpPr>
            <p:spPr>
              <a:xfrm flipH="1">
                <a:off x="1399436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785" name="Google Shape;1785;p84"/>
            <p:cNvGrpSpPr/>
            <p:nvPr/>
          </p:nvGrpSpPr>
          <p:grpSpPr>
            <a:xfrm>
              <a:off x="1581202" y="2466989"/>
              <a:ext cx="42000" cy="367258"/>
              <a:chOff x="1012152" y="1933239"/>
              <a:chExt cx="42000" cy="367258"/>
            </a:xfrm>
          </p:grpSpPr>
          <p:cxnSp>
            <p:nvCxnSpPr>
              <p:cNvPr id="1786" name="Google Shape;1786;p84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787" name="Google Shape;1787;p84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88" name="Google Shape;1788;p84"/>
          <p:cNvGrpSpPr/>
          <p:nvPr/>
        </p:nvGrpSpPr>
        <p:grpSpPr>
          <a:xfrm>
            <a:off x="2322850" y="2170050"/>
            <a:ext cx="894350" cy="1108200"/>
            <a:chOff x="735500" y="3350575"/>
            <a:chExt cx="894350" cy="1108200"/>
          </a:xfrm>
        </p:grpSpPr>
        <p:sp>
          <p:nvSpPr>
            <p:cNvPr id="1789" name="Google Shape;1789;p84"/>
            <p:cNvSpPr txBox="1"/>
            <p:nvPr/>
          </p:nvSpPr>
          <p:spPr>
            <a:xfrm>
              <a:off x="735500" y="3350575"/>
              <a:ext cx="385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0" name="Google Shape;1790;p84"/>
            <p:cNvSpPr txBox="1"/>
            <p:nvPr/>
          </p:nvSpPr>
          <p:spPr>
            <a:xfrm>
              <a:off x="1244350" y="3350575"/>
              <a:ext cx="385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91" name="Google Shape;1791;p84"/>
          <p:cNvSpPr txBox="1"/>
          <p:nvPr/>
        </p:nvSpPr>
        <p:spPr>
          <a:xfrm>
            <a:off x="4320000" y="2216450"/>
            <a:ext cx="78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2, 4, 6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84"/>
          <p:cNvSpPr txBox="1"/>
          <p:nvPr/>
        </p:nvSpPr>
        <p:spPr>
          <a:xfrm>
            <a:off x="4320000" y="3550025"/>
            <a:ext cx="78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1, 3, 5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3" name="Google Shape;1793;p84"/>
          <p:cNvGrpSpPr/>
          <p:nvPr/>
        </p:nvGrpSpPr>
        <p:grpSpPr>
          <a:xfrm>
            <a:off x="5255738" y="1754250"/>
            <a:ext cx="2745288" cy="956100"/>
            <a:chOff x="5255738" y="1754250"/>
            <a:chExt cx="2745288" cy="956100"/>
          </a:xfrm>
        </p:grpSpPr>
        <p:grpSp>
          <p:nvGrpSpPr>
            <p:cNvPr id="1794" name="Google Shape;1794;p84"/>
            <p:cNvGrpSpPr/>
            <p:nvPr/>
          </p:nvGrpSpPr>
          <p:grpSpPr>
            <a:xfrm>
              <a:off x="5255738" y="1889699"/>
              <a:ext cx="833758" cy="688762"/>
              <a:chOff x="9421282" y="2694282"/>
              <a:chExt cx="561000" cy="459481"/>
            </a:xfrm>
          </p:grpSpPr>
          <p:cxnSp>
            <p:nvCxnSpPr>
              <p:cNvPr id="1795" name="Google Shape;1795;p84"/>
              <p:cNvCxnSpPr/>
              <p:nvPr/>
            </p:nvCxnSpPr>
            <p:spPr>
              <a:xfrm flipH="1" rot="10800000">
                <a:off x="9421282" y="269428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6" name="Google Shape;1796;p84"/>
              <p:cNvCxnSpPr/>
              <p:nvPr/>
            </p:nvCxnSpPr>
            <p:spPr>
              <a:xfrm>
                <a:off x="9421282" y="295216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97" name="Google Shape;1797;p84"/>
            <p:cNvSpPr txBox="1"/>
            <p:nvPr/>
          </p:nvSpPr>
          <p:spPr>
            <a:xfrm>
              <a:off x="6147022" y="1754250"/>
              <a:ext cx="134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8" name="Google Shape;1798;p84"/>
            <p:cNvSpPr txBox="1"/>
            <p:nvPr/>
          </p:nvSpPr>
          <p:spPr>
            <a:xfrm>
              <a:off x="6147026" y="2433150"/>
              <a:ext cx="1854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99" name="Google Shape;1799;p84"/>
          <p:cNvSpPr txBox="1"/>
          <p:nvPr/>
        </p:nvSpPr>
        <p:spPr>
          <a:xfrm>
            <a:off x="6485400" y="2710350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0" name="Google Shape;1800;p84"/>
          <p:cNvGrpSpPr/>
          <p:nvPr/>
        </p:nvGrpSpPr>
        <p:grpSpPr>
          <a:xfrm>
            <a:off x="5255738" y="3112988"/>
            <a:ext cx="2745288" cy="956100"/>
            <a:chOff x="5255738" y="1754250"/>
            <a:chExt cx="2745288" cy="956100"/>
          </a:xfrm>
        </p:grpSpPr>
        <p:grpSp>
          <p:nvGrpSpPr>
            <p:cNvPr id="1801" name="Google Shape;1801;p84"/>
            <p:cNvGrpSpPr/>
            <p:nvPr/>
          </p:nvGrpSpPr>
          <p:grpSpPr>
            <a:xfrm>
              <a:off x="5255738" y="1889699"/>
              <a:ext cx="833758" cy="688762"/>
              <a:chOff x="9421282" y="2694282"/>
              <a:chExt cx="561000" cy="459481"/>
            </a:xfrm>
          </p:grpSpPr>
          <p:cxnSp>
            <p:nvCxnSpPr>
              <p:cNvPr id="1802" name="Google Shape;1802;p84"/>
              <p:cNvCxnSpPr/>
              <p:nvPr/>
            </p:nvCxnSpPr>
            <p:spPr>
              <a:xfrm flipH="1" rot="10800000">
                <a:off x="9421282" y="269428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03" name="Google Shape;1803;p84"/>
              <p:cNvCxnSpPr/>
              <p:nvPr/>
            </p:nvCxnSpPr>
            <p:spPr>
              <a:xfrm>
                <a:off x="9421282" y="295216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04" name="Google Shape;1804;p84"/>
            <p:cNvSpPr txBox="1"/>
            <p:nvPr/>
          </p:nvSpPr>
          <p:spPr>
            <a:xfrm>
              <a:off x="6147022" y="1754250"/>
              <a:ext cx="134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5" name="Google Shape;1805;p84"/>
            <p:cNvSpPr txBox="1"/>
            <p:nvPr/>
          </p:nvSpPr>
          <p:spPr>
            <a:xfrm>
              <a:off x="6147026" y="2433150"/>
              <a:ext cx="1854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06" name="Google Shape;1806;p84"/>
          <p:cNvSpPr txBox="1"/>
          <p:nvPr/>
        </p:nvSpPr>
        <p:spPr>
          <a:xfrm>
            <a:off x="6485400" y="3397569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7" name="Google Shape;1807;p84"/>
          <p:cNvSpPr txBox="1"/>
          <p:nvPr/>
        </p:nvSpPr>
        <p:spPr>
          <a:xfrm>
            <a:off x="6485400" y="4023525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8" name="Google Shape;1808;p84"/>
          <p:cNvSpPr/>
          <p:nvPr/>
        </p:nvSpPr>
        <p:spPr>
          <a:xfrm>
            <a:off x="2322850" y="1581550"/>
            <a:ext cx="5942400" cy="31287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9" name="Google Shape;1809;p84"/>
          <p:cNvGrpSpPr/>
          <p:nvPr/>
        </p:nvGrpSpPr>
        <p:grpSpPr>
          <a:xfrm>
            <a:off x="6432275" y="2014675"/>
            <a:ext cx="668725" cy="324600"/>
            <a:chOff x="6432275" y="2014675"/>
            <a:chExt cx="668725" cy="324600"/>
          </a:xfrm>
        </p:grpSpPr>
        <p:sp>
          <p:nvSpPr>
            <p:cNvPr id="1810" name="Google Shape;1810;p84"/>
            <p:cNvSpPr txBox="1"/>
            <p:nvPr/>
          </p:nvSpPr>
          <p:spPr>
            <a:xfrm>
              <a:off x="6485400" y="2031450"/>
              <a:ext cx="615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2, 6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1" name="Google Shape;1811;p84"/>
            <p:cNvSpPr/>
            <p:nvPr/>
          </p:nvSpPr>
          <p:spPr>
            <a:xfrm>
              <a:off x="6432275" y="2014675"/>
              <a:ext cx="505200" cy="3246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12" name="Google Shape;1812;p84"/>
          <p:cNvSpPr txBox="1"/>
          <p:nvPr/>
        </p:nvSpPr>
        <p:spPr>
          <a:xfrm>
            <a:off x="2936200" y="4271875"/>
            <a:ext cx="546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and 6 are the outcomes of the two events that the spinner lands on an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even factor of 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7" name="Google Shape;1817;p85"/>
          <p:cNvGrpSpPr/>
          <p:nvPr/>
        </p:nvGrpSpPr>
        <p:grpSpPr>
          <a:xfrm>
            <a:off x="3545161" y="1925239"/>
            <a:ext cx="1652768" cy="1629371"/>
            <a:chOff x="3545182" y="1731275"/>
            <a:chExt cx="1652768" cy="2030875"/>
          </a:xfrm>
        </p:grpSpPr>
        <p:grpSp>
          <p:nvGrpSpPr>
            <p:cNvPr id="1818" name="Google Shape;1818;p85"/>
            <p:cNvGrpSpPr/>
            <p:nvPr/>
          </p:nvGrpSpPr>
          <p:grpSpPr>
            <a:xfrm>
              <a:off x="3545182" y="1875434"/>
              <a:ext cx="813170" cy="1697427"/>
              <a:chOff x="3697470" y="2919050"/>
              <a:chExt cx="561000" cy="1002437"/>
            </a:xfrm>
          </p:grpSpPr>
          <p:cxnSp>
            <p:nvCxnSpPr>
              <p:cNvPr id="1819" name="Google Shape;1819;p85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20" name="Google Shape;1820;p85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21" name="Google Shape;1821;p85"/>
            <p:cNvSpPr txBox="1"/>
            <p:nvPr/>
          </p:nvSpPr>
          <p:spPr>
            <a:xfrm>
              <a:off x="4450050" y="1731275"/>
              <a:ext cx="747900" cy="34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even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2" name="Google Shape;1822;p85"/>
            <p:cNvSpPr txBox="1"/>
            <p:nvPr/>
          </p:nvSpPr>
          <p:spPr>
            <a:xfrm>
              <a:off x="4450050" y="3416850"/>
              <a:ext cx="747900" cy="34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odd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23" name="Google Shape;182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sp>
        <p:nvSpPr>
          <p:cNvPr id="1824" name="Google Shape;1824;p85"/>
          <p:cNvSpPr txBox="1"/>
          <p:nvPr/>
        </p:nvSpPr>
        <p:spPr>
          <a:xfrm>
            <a:off x="1684800" y="740825"/>
            <a:ext cx="713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also very useful in categorising all of the outcomes of a single-event trial into different events.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5" name="Google Shape;1825;p85"/>
          <p:cNvSpPr txBox="1"/>
          <p:nvPr/>
        </p:nvSpPr>
        <p:spPr>
          <a:xfrm>
            <a:off x="481175" y="2031450"/>
            <a:ext cx="1636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spinner will be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possible outcomes are: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26" name="Google Shape;1826;p85"/>
          <p:cNvGrpSpPr/>
          <p:nvPr/>
        </p:nvGrpSpPr>
        <p:grpSpPr>
          <a:xfrm>
            <a:off x="233653" y="512214"/>
            <a:ext cx="1347028" cy="1347028"/>
            <a:chOff x="1090105" y="2306370"/>
            <a:chExt cx="1024200" cy="1024200"/>
          </a:xfrm>
        </p:grpSpPr>
        <p:grpSp>
          <p:nvGrpSpPr>
            <p:cNvPr id="1827" name="Google Shape;1827;p85"/>
            <p:cNvGrpSpPr/>
            <p:nvPr/>
          </p:nvGrpSpPr>
          <p:grpSpPr>
            <a:xfrm>
              <a:off x="1090105" y="2306370"/>
              <a:ext cx="1024200" cy="1024200"/>
              <a:chOff x="1090105" y="2306370"/>
              <a:chExt cx="1024200" cy="1024200"/>
            </a:xfrm>
          </p:grpSpPr>
          <p:sp>
            <p:nvSpPr>
              <p:cNvPr id="1828" name="Google Shape;1828;p85"/>
              <p:cNvSpPr/>
              <p:nvPr/>
            </p:nvSpPr>
            <p:spPr>
              <a:xfrm flipH="1">
                <a:off x="1227496" y="2443628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9" name="Google Shape;1829;p85"/>
              <p:cNvSpPr txBox="1"/>
              <p:nvPr/>
            </p:nvSpPr>
            <p:spPr>
              <a:xfrm>
                <a:off x="1625600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30" name="Google Shape;1830;p85"/>
              <p:cNvSpPr/>
              <p:nvPr/>
            </p:nvSpPr>
            <p:spPr>
              <a:xfrm flipH="1" rot="3599772">
                <a:off x="1227589" y="2443721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1" name="Google Shape;1831;p85"/>
              <p:cNvSpPr/>
              <p:nvPr/>
            </p:nvSpPr>
            <p:spPr>
              <a:xfrm flipH="1" rot="10800000">
                <a:off x="1227549" y="2443623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2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2" name="Google Shape;1832;p85"/>
              <p:cNvSpPr/>
              <p:nvPr/>
            </p:nvSpPr>
            <p:spPr>
              <a:xfrm flipH="1" rot="7200228">
                <a:off x="1227549" y="2443709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5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3" name="Google Shape;1833;p85"/>
              <p:cNvSpPr/>
              <p:nvPr/>
            </p:nvSpPr>
            <p:spPr>
              <a:xfrm flipH="1" rot="-3599269">
                <a:off x="1227344" y="2443608"/>
                <a:ext cx="749724" cy="7497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4" name="Google Shape;1834;p85"/>
              <p:cNvSpPr/>
              <p:nvPr/>
            </p:nvSpPr>
            <p:spPr>
              <a:xfrm flipH="1" rot="-7198348">
                <a:off x="1227546" y="2443681"/>
                <a:ext cx="749424" cy="7494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5" name="Google Shape;1835;p85"/>
              <p:cNvSpPr txBox="1"/>
              <p:nvPr/>
            </p:nvSpPr>
            <p:spPr>
              <a:xfrm>
                <a:off x="1755875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36" name="Google Shape;1836;p85"/>
              <p:cNvSpPr txBox="1"/>
              <p:nvPr/>
            </p:nvSpPr>
            <p:spPr>
              <a:xfrm>
                <a:off x="1625600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37" name="Google Shape;1837;p85"/>
              <p:cNvSpPr txBox="1"/>
              <p:nvPr/>
            </p:nvSpPr>
            <p:spPr>
              <a:xfrm flipH="1">
                <a:off x="1399436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38" name="Google Shape;1838;p85"/>
              <p:cNvSpPr txBox="1"/>
              <p:nvPr/>
            </p:nvSpPr>
            <p:spPr>
              <a:xfrm flipH="1">
                <a:off x="1269161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39" name="Google Shape;1839;p85"/>
              <p:cNvSpPr txBox="1"/>
              <p:nvPr/>
            </p:nvSpPr>
            <p:spPr>
              <a:xfrm flipH="1">
                <a:off x="1399436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840" name="Google Shape;1840;p85"/>
            <p:cNvGrpSpPr/>
            <p:nvPr/>
          </p:nvGrpSpPr>
          <p:grpSpPr>
            <a:xfrm>
              <a:off x="1581202" y="2466989"/>
              <a:ext cx="42000" cy="367258"/>
              <a:chOff x="1012152" y="1933239"/>
              <a:chExt cx="42000" cy="367258"/>
            </a:xfrm>
          </p:grpSpPr>
          <p:cxnSp>
            <p:nvCxnSpPr>
              <p:cNvPr id="1841" name="Google Shape;1841;p85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842" name="Google Shape;1842;p85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43" name="Google Shape;1843;p85"/>
          <p:cNvGrpSpPr/>
          <p:nvPr/>
        </p:nvGrpSpPr>
        <p:grpSpPr>
          <a:xfrm>
            <a:off x="2322850" y="2170050"/>
            <a:ext cx="894350" cy="1108200"/>
            <a:chOff x="735500" y="3350575"/>
            <a:chExt cx="894350" cy="1108200"/>
          </a:xfrm>
        </p:grpSpPr>
        <p:sp>
          <p:nvSpPr>
            <p:cNvPr id="1844" name="Google Shape;1844;p85"/>
            <p:cNvSpPr txBox="1"/>
            <p:nvPr/>
          </p:nvSpPr>
          <p:spPr>
            <a:xfrm>
              <a:off x="735500" y="3350575"/>
              <a:ext cx="385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5" name="Google Shape;1845;p85"/>
            <p:cNvSpPr txBox="1"/>
            <p:nvPr/>
          </p:nvSpPr>
          <p:spPr>
            <a:xfrm>
              <a:off x="1244350" y="3350575"/>
              <a:ext cx="385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46" name="Google Shape;1846;p85"/>
          <p:cNvSpPr txBox="1"/>
          <p:nvPr/>
        </p:nvSpPr>
        <p:spPr>
          <a:xfrm>
            <a:off x="4320000" y="2216450"/>
            <a:ext cx="78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2, 4, 6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7" name="Google Shape;1847;p85"/>
          <p:cNvSpPr txBox="1"/>
          <p:nvPr/>
        </p:nvSpPr>
        <p:spPr>
          <a:xfrm>
            <a:off x="4320000" y="3550025"/>
            <a:ext cx="78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1, 3, 5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48" name="Google Shape;1848;p85"/>
          <p:cNvGrpSpPr/>
          <p:nvPr/>
        </p:nvGrpSpPr>
        <p:grpSpPr>
          <a:xfrm>
            <a:off x="5255738" y="1754250"/>
            <a:ext cx="2745288" cy="956100"/>
            <a:chOff x="5255738" y="1754250"/>
            <a:chExt cx="2745288" cy="956100"/>
          </a:xfrm>
        </p:grpSpPr>
        <p:grpSp>
          <p:nvGrpSpPr>
            <p:cNvPr id="1849" name="Google Shape;1849;p85"/>
            <p:cNvGrpSpPr/>
            <p:nvPr/>
          </p:nvGrpSpPr>
          <p:grpSpPr>
            <a:xfrm>
              <a:off x="5255738" y="1889699"/>
              <a:ext cx="833758" cy="688762"/>
              <a:chOff x="9421282" y="2694282"/>
              <a:chExt cx="561000" cy="459481"/>
            </a:xfrm>
          </p:grpSpPr>
          <p:cxnSp>
            <p:nvCxnSpPr>
              <p:cNvPr id="1850" name="Google Shape;1850;p85"/>
              <p:cNvCxnSpPr/>
              <p:nvPr/>
            </p:nvCxnSpPr>
            <p:spPr>
              <a:xfrm flipH="1" rot="10800000">
                <a:off x="9421282" y="269428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1" name="Google Shape;1851;p85"/>
              <p:cNvCxnSpPr/>
              <p:nvPr/>
            </p:nvCxnSpPr>
            <p:spPr>
              <a:xfrm>
                <a:off x="9421282" y="295216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52" name="Google Shape;1852;p85"/>
            <p:cNvSpPr txBox="1"/>
            <p:nvPr/>
          </p:nvSpPr>
          <p:spPr>
            <a:xfrm>
              <a:off x="6147022" y="1754250"/>
              <a:ext cx="134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3" name="Google Shape;1853;p85"/>
            <p:cNvSpPr txBox="1"/>
            <p:nvPr/>
          </p:nvSpPr>
          <p:spPr>
            <a:xfrm>
              <a:off x="6147026" y="2433150"/>
              <a:ext cx="1854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54" name="Google Shape;1854;p85"/>
          <p:cNvSpPr txBox="1"/>
          <p:nvPr/>
        </p:nvSpPr>
        <p:spPr>
          <a:xfrm>
            <a:off x="6485400" y="2710350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55" name="Google Shape;1855;p85"/>
          <p:cNvGrpSpPr/>
          <p:nvPr/>
        </p:nvGrpSpPr>
        <p:grpSpPr>
          <a:xfrm>
            <a:off x="5255738" y="3112988"/>
            <a:ext cx="2745288" cy="956100"/>
            <a:chOff x="5255738" y="1754250"/>
            <a:chExt cx="2745288" cy="956100"/>
          </a:xfrm>
        </p:grpSpPr>
        <p:grpSp>
          <p:nvGrpSpPr>
            <p:cNvPr id="1856" name="Google Shape;1856;p85"/>
            <p:cNvGrpSpPr/>
            <p:nvPr/>
          </p:nvGrpSpPr>
          <p:grpSpPr>
            <a:xfrm>
              <a:off x="5255738" y="1889699"/>
              <a:ext cx="833758" cy="688762"/>
              <a:chOff x="9421282" y="2694282"/>
              <a:chExt cx="561000" cy="459481"/>
            </a:xfrm>
          </p:grpSpPr>
          <p:cxnSp>
            <p:nvCxnSpPr>
              <p:cNvPr id="1857" name="Google Shape;1857;p85"/>
              <p:cNvCxnSpPr/>
              <p:nvPr/>
            </p:nvCxnSpPr>
            <p:spPr>
              <a:xfrm flipH="1" rot="10800000">
                <a:off x="9421282" y="269428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8" name="Google Shape;1858;p85"/>
              <p:cNvCxnSpPr/>
              <p:nvPr/>
            </p:nvCxnSpPr>
            <p:spPr>
              <a:xfrm>
                <a:off x="9421282" y="295216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59" name="Google Shape;1859;p85"/>
            <p:cNvSpPr txBox="1"/>
            <p:nvPr/>
          </p:nvSpPr>
          <p:spPr>
            <a:xfrm>
              <a:off x="6147022" y="1754250"/>
              <a:ext cx="134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0" name="Google Shape;1860;p85"/>
            <p:cNvSpPr txBox="1"/>
            <p:nvPr/>
          </p:nvSpPr>
          <p:spPr>
            <a:xfrm>
              <a:off x="6147026" y="2433150"/>
              <a:ext cx="1854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1" name="Google Shape;1861;p85"/>
          <p:cNvSpPr txBox="1"/>
          <p:nvPr/>
        </p:nvSpPr>
        <p:spPr>
          <a:xfrm>
            <a:off x="6485400" y="3397569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85"/>
          <p:cNvSpPr txBox="1"/>
          <p:nvPr/>
        </p:nvSpPr>
        <p:spPr>
          <a:xfrm>
            <a:off x="6485400" y="2031450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85"/>
          <p:cNvSpPr/>
          <p:nvPr/>
        </p:nvSpPr>
        <p:spPr>
          <a:xfrm>
            <a:off x="2322850" y="1581550"/>
            <a:ext cx="5942400" cy="31287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4" name="Google Shape;1864;p85"/>
          <p:cNvGrpSpPr/>
          <p:nvPr/>
        </p:nvGrpSpPr>
        <p:grpSpPr>
          <a:xfrm>
            <a:off x="6432275" y="4023525"/>
            <a:ext cx="327325" cy="277200"/>
            <a:chOff x="6432275" y="4023525"/>
            <a:chExt cx="327325" cy="277200"/>
          </a:xfrm>
        </p:grpSpPr>
        <p:sp>
          <p:nvSpPr>
            <p:cNvPr id="1865" name="Google Shape;1865;p85"/>
            <p:cNvSpPr txBox="1"/>
            <p:nvPr/>
          </p:nvSpPr>
          <p:spPr>
            <a:xfrm>
              <a:off x="6485400" y="4023525"/>
              <a:ext cx="274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6" name="Google Shape;1866;p85"/>
            <p:cNvSpPr/>
            <p:nvPr/>
          </p:nvSpPr>
          <p:spPr>
            <a:xfrm>
              <a:off x="6432275" y="4026075"/>
              <a:ext cx="237900" cy="2721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7" name="Google Shape;1867;p85"/>
          <p:cNvSpPr txBox="1"/>
          <p:nvPr/>
        </p:nvSpPr>
        <p:spPr>
          <a:xfrm>
            <a:off x="2626750" y="4271875"/>
            <a:ext cx="576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is the outcome of the two events that the spinner lands on an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odd number that also isn’t a factor of 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2" name="Google Shape;1872;p86"/>
          <p:cNvCxnSpPr/>
          <p:nvPr/>
        </p:nvCxnSpPr>
        <p:spPr>
          <a:xfrm flipH="1" rot="10800000">
            <a:off x="3545161" y="2040781"/>
            <a:ext cx="813300" cy="597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3" name="Google Shape;1873;p86"/>
          <p:cNvCxnSpPr/>
          <p:nvPr/>
        </p:nvCxnSpPr>
        <p:spPr>
          <a:xfrm>
            <a:off x="3545161" y="2805260"/>
            <a:ext cx="813300" cy="597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4" name="Google Shape;1874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sp>
        <p:nvSpPr>
          <p:cNvPr id="1875" name="Google Shape;1875;p86"/>
          <p:cNvSpPr txBox="1"/>
          <p:nvPr/>
        </p:nvSpPr>
        <p:spPr>
          <a:xfrm>
            <a:off x="1684800" y="740825"/>
            <a:ext cx="713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also very useful in categorising all of the outcomes of a single-event trial into different events.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6" name="Google Shape;1876;p86"/>
          <p:cNvSpPr txBox="1"/>
          <p:nvPr/>
        </p:nvSpPr>
        <p:spPr>
          <a:xfrm>
            <a:off x="481175" y="2031450"/>
            <a:ext cx="1636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spinner will be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possible outcomes are: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7" name="Google Shape;1877;p86"/>
          <p:cNvGrpSpPr/>
          <p:nvPr/>
        </p:nvGrpSpPr>
        <p:grpSpPr>
          <a:xfrm>
            <a:off x="233653" y="512214"/>
            <a:ext cx="1347028" cy="1347028"/>
            <a:chOff x="1090105" y="2306370"/>
            <a:chExt cx="1024200" cy="1024200"/>
          </a:xfrm>
        </p:grpSpPr>
        <p:grpSp>
          <p:nvGrpSpPr>
            <p:cNvPr id="1878" name="Google Shape;1878;p86"/>
            <p:cNvGrpSpPr/>
            <p:nvPr/>
          </p:nvGrpSpPr>
          <p:grpSpPr>
            <a:xfrm>
              <a:off x="1090105" y="2306370"/>
              <a:ext cx="1024200" cy="1024200"/>
              <a:chOff x="1090105" y="2306370"/>
              <a:chExt cx="1024200" cy="1024200"/>
            </a:xfrm>
          </p:grpSpPr>
          <p:sp>
            <p:nvSpPr>
              <p:cNvPr id="1879" name="Google Shape;1879;p86"/>
              <p:cNvSpPr/>
              <p:nvPr/>
            </p:nvSpPr>
            <p:spPr>
              <a:xfrm flipH="1">
                <a:off x="1227496" y="2443628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0" name="Google Shape;1880;p86"/>
              <p:cNvSpPr txBox="1"/>
              <p:nvPr/>
            </p:nvSpPr>
            <p:spPr>
              <a:xfrm>
                <a:off x="1625600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81" name="Google Shape;1881;p86"/>
              <p:cNvSpPr/>
              <p:nvPr/>
            </p:nvSpPr>
            <p:spPr>
              <a:xfrm flipH="1" rot="3599772">
                <a:off x="1227589" y="2443721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4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2" name="Google Shape;1882;p86"/>
              <p:cNvSpPr/>
              <p:nvPr/>
            </p:nvSpPr>
            <p:spPr>
              <a:xfrm flipH="1" rot="10800000">
                <a:off x="1227549" y="2443623"/>
                <a:ext cx="749400" cy="749400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2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3" name="Google Shape;1883;p86"/>
              <p:cNvSpPr/>
              <p:nvPr/>
            </p:nvSpPr>
            <p:spPr>
              <a:xfrm flipH="1" rot="7200228">
                <a:off x="1227549" y="2443709"/>
                <a:ext cx="749314" cy="74931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5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4" name="Google Shape;1884;p86"/>
              <p:cNvSpPr/>
              <p:nvPr/>
            </p:nvSpPr>
            <p:spPr>
              <a:xfrm flipH="1" rot="-3599269">
                <a:off x="1227344" y="2443608"/>
                <a:ext cx="749724" cy="7497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86"/>
              <p:cNvSpPr/>
              <p:nvPr/>
            </p:nvSpPr>
            <p:spPr>
              <a:xfrm flipH="1" rot="-7198348">
                <a:off x="1227546" y="2443681"/>
                <a:ext cx="749424" cy="749424"/>
              </a:xfrm>
              <a:prstGeom prst="pie">
                <a:avLst>
                  <a:gd fmla="val 12606297" name="adj1"/>
                  <a:gd fmla="val 16200000" name="adj2"/>
                </a:avLst>
              </a:prstGeom>
              <a:solidFill>
                <a:schemeClr val="accent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86"/>
              <p:cNvSpPr txBox="1"/>
              <p:nvPr/>
            </p:nvSpPr>
            <p:spPr>
              <a:xfrm>
                <a:off x="1755875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87" name="Google Shape;1887;p86"/>
              <p:cNvSpPr txBox="1"/>
              <p:nvPr/>
            </p:nvSpPr>
            <p:spPr>
              <a:xfrm>
                <a:off x="1625600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88" name="Google Shape;1888;p86"/>
              <p:cNvSpPr txBox="1"/>
              <p:nvPr/>
            </p:nvSpPr>
            <p:spPr>
              <a:xfrm flipH="1">
                <a:off x="1399436" y="250535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89" name="Google Shape;1889;p86"/>
              <p:cNvSpPr txBox="1"/>
              <p:nvPr/>
            </p:nvSpPr>
            <p:spPr>
              <a:xfrm flipH="1">
                <a:off x="1269161" y="2714975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90" name="Google Shape;1890;p86"/>
              <p:cNvSpPr txBox="1"/>
              <p:nvPr/>
            </p:nvSpPr>
            <p:spPr>
              <a:xfrm flipH="1">
                <a:off x="1399436" y="2924600"/>
                <a:ext cx="180900" cy="2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891" name="Google Shape;1891;p86"/>
            <p:cNvGrpSpPr/>
            <p:nvPr/>
          </p:nvGrpSpPr>
          <p:grpSpPr>
            <a:xfrm>
              <a:off x="1581202" y="2466989"/>
              <a:ext cx="42000" cy="367258"/>
              <a:chOff x="1012152" y="1933239"/>
              <a:chExt cx="42000" cy="367258"/>
            </a:xfrm>
          </p:grpSpPr>
          <p:cxnSp>
            <p:nvCxnSpPr>
              <p:cNvPr id="1892" name="Google Shape;1892;p86"/>
              <p:cNvCxnSpPr/>
              <p:nvPr/>
            </p:nvCxnSpPr>
            <p:spPr>
              <a:xfrm rot="10800000">
                <a:off x="1033198" y="1933239"/>
                <a:ext cx="0" cy="3441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893" name="Google Shape;1893;p86"/>
              <p:cNvSpPr/>
              <p:nvPr/>
            </p:nvSpPr>
            <p:spPr>
              <a:xfrm>
                <a:off x="1012152" y="2262698"/>
                <a:ext cx="42000" cy="378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94" name="Google Shape;1894;p86"/>
          <p:cNvGrpSpPr/>
          <p:nvPr/>
        </p:nvGrpSpPr>
        <p:grpSpPr>
          <a:xfrm>
            <a:off x="2322850" y="2170050"/>
            <a:ext cx="894350" cy="1108200"/>
            <a:chOff x="735500" y="3350575"/>
            <a:chExt cx="894350" cy="1108200"/>
          </a:xfrm>
        </p:grpSpPr>
        <p:sp>
          <p:nvSpPr>
            <p:cNvPr id="1895" name="Google Shape;1895;p86"/>
            <p:cNvSpPr txBox="1"/>
            <p:nvPr/>
          </p:nvSpPr>
          <p:spPr>
            <a:xfrm>
              <a:off x="735500" y="3350575"/>
              <a:ext cx="385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6" name="Google Shape;1896;p86"/>
            <p:cNvSpPr txBox="1"/>
            <p:nvPr/>
          </p:nvSpPr>
          <p:spPr>
            <a:xfrm>
              <a:off x="1244350" y="3350575"/>
              <a:ext cx="3855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7" name="Google Shape;1897;p86"/>
          <p:cNvGrpSpPr/>
          <p:nvPr/>
        </p:nvGrpSpPr>
        <p:grpSpPr>
          <a:xfrm>
            <a:off x="5255738" y="1754250"/>
            <a:ext cx="2745288" cy="956100"/>
            <a:chOff x="5255738" y="1754250"/>
            <a:chExt cx="2745288" cy="956100"/>
          </a:xfrm>
        </p:grpSpPr>
        <p:grpSp>
          <p:nvGrpSpPr>
            <p:cNvPr id="1898" name="Google Shape;1898;p86"/>
            <p:cNvGrpSpPr/>
            <p:nvPr/>
          </p:nvGrpSpPr>
          <p:grpSpPr>
            <a:xfrm>
              <a:off x="5255738" y="1889699"/>
              <a:ext cx="833758" cy="688762"/>
              <a:chOff x="9421282" y="2694282"/>
              <a:chExt cx="561000" cy="459481"/>
            </a:xfrm>
          </p:grpSpPr>
          <p:cxnSp>
            <p:nvCxnSpPr>
              <p:cNvPr id="1899" name="Google Shape;1899;p86"/>
              <p:cNvCxnSpPr/>
              <p:nvPr/>
            </p:nvCxnSpPr>
            <p:spPr>
              <a:xfrm flipH="1" rot="10800000">
                <a:off x="9421282" y="269428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0" name="Google Shape;1900;p86"/>
              <p:cNvCxnSpPr/>
              <p:nvPr/>
            </p:nvCxnSpPr>
            <p:spPr>
              <a:xfrm>
                <a:off x="9421282" y="295216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01" name="Google Shape;1901;p86"/>
            <p:cNvSpPr txBox="1"/>
            <p:nvPr/>
          </p:nvSpPr>
          <p:spPr>
            <a:xfrm>
              <a:off x="6147022" y="1754250"/>
              <a:ext cx="134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2" name="Google Shape;1902;p86"/>
            <p:cNvSpPr txBox="1"/>
            <p:nvPr/>
          </p:nvSpPr>
          <p:spPr>
            <a:xfrm>
              <a:off x="6147026" y="2433150"/>
              <a:ext cx="1854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03" name="Google Shape;1903;p86"/>
          <p:cNvSpPr txBox="1"/>
          <p:nvPr/>
        </p:nvSpPr>
        <p:spPr>
          <a:xfrm>
            <a:off x="6485400" y="2710350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4" name="Google Shape;1904;p86"/>
          <p:cNvGrpSpPr/>
          <p:nvPr/>
        </p:nvGrpSpPr>
        <p:grpSpPr>
          <a:xfrm>
            <a:off x="5255738" y="3112988"/>
            <a:ext cx="2745288" cy="956100"/>
            <a:chOff x="5255738" y="1754250"/>
            <a:chExt cx="2745288" cy="956100"/>
          </a:xfrm>
        </p:grpSpPr>
        <p:grpSp>
          <p:nvGrpSpPr>
            <p:cNvPr id="1905" name="Google Shape;1905;p86"/>
            <p:cNvGrpSpPr/>
            <p:nvPr/>
          </p:nvGrpSpPr>
          <p:grpSpPr>
            <a:xfrm>
              <a:off x="5255738" y="1889699"/>
              <a:ext cx="833758" cy="688762"/>
              <a:chOff x="9421282" y="2694282"/>
              <a:chExt cx="561000" cy="459481"/>
            </a:xfrm>
          </p:grpSpPr>
          <p:cxnSp>
            <p:nvCxnSpPr>
              <p:cNvPr id="1906" name="Google Shape;1906;p86"/>
              <p:cNvCxnSpPr/>
              <p:nvPr/>
            </p:nvCxnSpPr>
            <p:spPr>
              <a:xfrm flipH="1" rot="10800000">
                <a:off x="9421282" y="269428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7" name="Google Shape;1907;p86"/>
              <p:cNvCxnSpPr/>
              <p:nvPr/>
            </p:nvCxnSpPr>
            <p:spPr>
              <a:xfrm>
                <a:off x="9421282" y="2952162"/>
                <a:ext cx="561000" cy="201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08" name="Google Shape;1908;p86"/>
            <p:cNvSpPr txBox="1"/>
            <p:nvPr/>
          </p:nvSpPr>
          <p:spPr>
            <a:xfrm>
              <a:off x="6147022" y="1754250"/>
              <a:ext cx="134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9" name="Google Shape;1909;p86"/>
            <p:cNvSpPr txBox="1"/>
            <p:nvPr/>
          </p:nvSpPr>
          <p:spPr>
            <a:xfrm>
              <a:off x="6147026" y="2433150"/>
              <a:ext cx="1854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factors of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10" name="Google Shape;1910;p86"/>
          <p:cNvSpPr txBox="1"/>
          <p:nvPr/>
        </p:nvSpPr>
        <p:spPr>
          <a:xfrm>
            <a:off x="6485400" y="3397569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1" name="Google Shape;1911;p86"/>
          <p:cNvSpPr txBox="1"/>
          <p:nvPr/>
        </p:nvSpPr>
        <p:spPr>
          <a:xfrm>
            <a:off x="6485400" y="2031450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2" name="Google Shape;1912;p86"/>
          <p:cNvSpPr txBox="1"/>
          <p:nvPr/>
        </p:nvSpPr>
        <p:spPr>
          <a:xfrm>
            <a:off x="6485400" y="4023525"/>
            <a:ext cx="27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3" name="Google Shape;1913;p86"/>
          <p:cNvSpPr/>
          <p:nvPr/>
        </p:nvSpPr>
        <p:spPr>
          <a:xfrm>
            <a:off x="2364125" y="1581550"/>
            <a:ext cx="5901300" cy="31287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86"/>
          <p:cNvSpPr txBox="1"/>
          <p:nvPr/>
        </p:nvSpPr>
        <p:spPr>
          <a:xfrm>
            <a:off x="4450029" y="1925239"/>
            <a:ext cx="74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5" name="Google Shape;1915;p86"/>
          <p:cNvSpPr txBox="1"/>
          <p:nvPr/>
        </p:nvSpPr>
        <p:spPr>
          <a:xfrm>
            <a:off x="4450029" y="3277576"/>
            <a:ext cx="74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6" name="Google Shape;1916;p86"/>
          <p:cNvSpPr txBox="1"/>
          <p:nvPr/>
        </p:nvSpPr>
        <p:spPr>
          <a:xfrm>
            <a:off x="4320000" y="2216450"/>
            <a:ext cx="78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2, 4, 6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7" name="Google Shape;1917;p86"/>
          <p:cNvSpPr txBox="1"/>
          <p:nvPr/>
        </p:nvSpPr>
        <p:spPr>
          <a:xfrm>
            <a:off x="4320000" y="3550025"/>
            <a:ext cx="78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1, 3, 5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8" name="Google Shape;1918;p86"/>
          <p:cNvSpPr txBox="1"/>
          <p:nvPr/>
        </p:nvSpPr>
        <p:spPr>
          <a:xfrm>
            <a:off x="324000" y="4271875"/>
            <a:ext cx="807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using an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group a single trial into different events, each event can be split into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9" name="Google Shape;1919;p86"/>
          <p:cNvSpPr/>
          <p:nvPr/>
        </p:nvSpPr>
        <p:spPr>
          <a:xfrm>
            <a:off x="4357600" y="1945725"/>
            <a:ext cx="735900" cy="554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0" name="Google Shape;1920;p86"/>
          <p:cNvSpPr/>
          <p:nvPr/>
        </p:nvSpPr>
        <p:spPr>
          <a:xfrm>
            <a:off x="4357600" y="3278406"/>
            <a:ext cx="735900" cy="554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86"/>
          <p:cNvSpPr txBox="1"/>
          <p:nvPr/>
        </p:nvSpPr>
        <p:spPr>
          <a:xfrm>
            <a:off x="3432508" y="4545880"/>
            <a:ext cx="114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event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2" name="Google Shape;1922;p86"/>
          <p:cNvSpPr txBox="1"/>
          <p:nvPr/>
        </p:nvSpPr>
        <p:spPr>
          <a:xfrm>
            <a:off x="4590565" y="4545875"/>
            <a:ext cx="290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its opposite event.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87"/>
          <p:cNvSpPr txBox="1"/>
          <p:nvPr/>
        </p:nvSpPr>
        <p:spPr>
          <a:xfrm>
            <a:off x="2005750" y="722632"/>
            <a:ext cx="6814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spinner will be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shows the event that the spinner will land on a factor of 18.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are the outcomes of this event?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grpSp>
        <p:nvGrpSpPr>
          <p:cNvPr id="1929" name="Google Shape;1929;p87"/>
          <p:cNvGrpSpPr/>
          <p:nvPr/>
        </p:nvGrpSpPr>
        <p:grpSpPr>
          <a:xfrm>
            <a:off x="95314" y="435957"/>
            <a:ext cx="2011409" cy="2011409"/>
            <a:chOff x="2878150" y="2106061"/>
            <a:chExt cx="1377300" cy="1377300"/>
          </a:xfrm>
        </p:grpSpPr>
        <p:sp>
          <p:nvSpPr>
            <p:cNvPr id="1930" name="Google Shape;1930;p87"/>
            <p:cNvSpPr/>
            <p:nvPr/>
          </p:nvSpPr>
          <p:spPr>
            <a:xfrm flipH="1">
              <a:off x="3074060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87"/>
            <p:cNvSpPr/>
            <p:nvPr/>
          </p:nvSpPr>
          <p:spPr>
            <a:xfrm flipH="1" rot="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87"/>
            <p:cNvSpPr/>
            <p:nvPr/>
          </p:nvSpPr>
          <p:spPr>
            <a:xfrm flipH="1" rot="8639896">
              <a:off x="3073783" y="2301695"/>
              <a:ext cx="986033" cy="986033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87"/>
            <p:cNvSpPr/>
            <p:nvPr/>
          </p:nvSpPr>
          <p:spPr>
            <a:xfrm>
              <a:off x="3074062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chemeClr val="accen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87"/>
            <p:cNvSpPr/>
            <p:nvPr/>
          </p:nvSpPr>
          <p:spPr>
            <a:xfrm rot="-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87"/>
            <p:cNvSpPr txBox="1"/>
            <p:nvPr/>
          </p:nvSpPr>
          <p:spPr>
            <a:xfrm>
              <a:off x="3250648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6" name="Google Shape;1936;p87"/>
            <p:cNvSpPr txBox="1"/>
            <p:nvPr/>
          </p:nvSpPr>
          <p:spPr>
            <a:xfrm>
              <a:off x="3139994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7" name="Google Shape;1937;p87"/>
            <p:cNvSpPr txBox="1"/>
            <p:nvPr/>
          </p:nvSpPr>
          <p:spPr>
            <a:xfrm>
              <a:off x="3427144" y="2931304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8" name="Google Shape;1938;p87"/>
            <p:cNvSpPr txBox="1"/>
            <p:nvPr/>
          </p:nvSpPr>
          <p:spPr>
            <a:xfrm flipH="1">
              <a:off x="3602072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9" name="Google Shape;1939;p87"/>
            <p:cNvSpPr txBox="1"/>
            <p:nvPr/>
          </p:nvSpPr>
          <p:spPr>
            <a:xfrm flipH="1">
              <a:off x="3712727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40" name="Google Shape;1940;p87"/>
            <p:cNvCxnSpPr/>
            <p:nvPr/>
          </p:nvCxnSpPr>
          <p:spPr>
            <a:xfrm rot="10800000">
              <a:off x="3566860" y="2337933"/>
              <a:ext cx="0" cy="452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41" name="Google Shape;1941;p87"/>
            <p:cNvSpPr/>
            <p:nvPr/>
          </p:nvSpPr>
          <p:spPr>
            <a:xfrm>
              <a:off x="3539180" y="2771377"/>
              <a:ext cx="55200" cy="4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2" name="Google Shape;1942;p87"/>
          <p:cNvGrpSpPr/>
          <p:nvPr/>
        </p:nvGrpSpPr>
        <p:grpSpPr>
          <a:xfrm>
            <a:off x="2005729" y="2199325"/>
            <a:ext cx="2527873" cy="1593137"/>
            <a:chOff x="3545182" y="1731296"/>
            <a:chExt cx="2527873" cy="1841564"/>
          </a:xfrm>
        </p:grpSpPr>
        <p:grpSp>
          <p:nvGrpSpPr>
            <p:cNvPr id="1943" name="Google Shape;1943;p87"/>
            <p:cNvGrpSpPr/>
            <p:nvPr/>
          </p:nvGrpSpPr>
          <p:grpSpPr>
            <a:xfrm>
              <a:off x="3545182" y="1875434"/>
              <a:ext cx="813170" cy="1697427"/>
              <a:chOff x="3697470" y="2919050"/>
              <a:chExt cx="561000" cy="1002437"/>
            </a:xfrm>
          </p:grpSpPr>
          <p:cxnSp>
            <p:nvCxnSpPr>
              <p:cNvPr id="1944" name="Google Shape;1944;p87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5" name="Google Shape;1945;p87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46" name="Google Shape;1946;p87"/>
            <p:cNvSpPr txBox="1"/>
            <p:nvPr/>
          </p:nvSpPr>
          <p:spPr>
            <a:xfrm>
              <a:off x="4450055" y="1731296"/>
              <a:ext cx="1623000" cy="32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factors of 18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47" name="Google Shape;1947;p87"/>
          <p:cNvSpPr/>
          <p:nvPr/>
        </p:nvSpPr>
        <p:spPr>
          <a:xfrm>
            <a:off x="3111204" y="2490900"/>
            <a:ext cx="1092600" cy="390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8" name="Google Shape;1948;p87"/>
          <p:cNvSpPr txBox="1"/>
          <p:nvPr/>
        </p:nvSpPr>
        <p:spPr>
          <a:xfrm>
            <a:off x="3111200" y="2500775"/>
            <a:ext cx="1092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1, 3, 9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88"/>
          <p:cNvSpPr txBox="1"/>
          <p:nvPr/>
        </p:nvSpPr>
        <p:spPr>
          <a:xfrm>
            <a:off x="2887270" y="3615550"/>
            <a:ext cx="20808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 a factor of 18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4" name="Google Shape;1954;p88"/>
          <p:cNvSpPr txBox="1"/>
          <p:nvPr/>
        </p:nvSpPr>
        <p:spPr>
          <a:xfrm>
            <a:off x="3111200" y="2500775"/>
            <a:ext cx="1092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1, 3, 9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5" name="Google Shape;195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grpSp>
        <p:nvGrpSpPr>
          <p:cNvPr id="1956" name="Google Shape;1956;p88"/>
          <p:cNvGrpSpPr/>
          <p:nvPr/>
        </p:nvGrpSpPr>
        <p:grpSpPr>
          <a:xfrm>
            <a:off x="95314" y="435957"/>
            <a:ext cx="2011409" cy="2011409"/>
            <a:chOff x="2878150" y="2106061"/>
            <a:chExt cx="1377300" cy="1377300"/>
          </a:xfrm>
        </p:grpSpPr>
        <p:sp>
          <p:nvSpPr>
            <p:cNvPr id="1957" name="Google Shape;1957;p88"/>
            <p:cNvSpPr/>
            <p:nvPr/>
          </p:nvSpPr>
          <p:spPr>
            <a:xfrm flipH="1">
              <a:off x="3074060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88"/>
            <p:cNvSpPr/>
            <p:nvPr/>
          </p:nvSpPr>
          <p:spPr>
            <a:xfrm flipH="1" rot="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88"/>
            <p:cNvSpPr/>
            <p:nvPr/>
          </p:nvSpPr>
          <p:spPr>
            <a:xfrm flipH="1" rot="8639896">
              <a:off x="3073783" y="2301695"/>
              <a:ext cx="986033" cy="986033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88"/>
            <p:cNvSpPr/>
            <p:nvPr/>
          </p:nvSpPr>
          <p:spPr>
            <a:xfrm>
              <a:off x="3074062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chemeClr val="accen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88"/>
            <p:cNvSpPr/>
            <p:nvPr/>
          </p:nvSpPr>
          <p:spPr>
            <a:xfrm rot="-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88"/>
            <p:cNvSpPr txBox="1"/>
            <p:nvPr/>
          </p:nvSpPr>
          <p:spPr>
            <a:xfrm>
              <a:off x="3250648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3" name="Google Shape;1963;p88"/>
            <p:cNvSpPr txBox="1"/>
            <p:nvPr/>
          </p:nvSpPr>
          <p:spPr>
            <a:xfrm>
              <a:off x="3139994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4" name="Google Shape;1964;p88"/>
            <p:cNvSpPr txBox="1"/>
            <p:nvPr/>
          </p:nvSpPr>
          <p:spPr>
            <a:xfrm>
              <a:off x="3427144" y="2931304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5" name="Google Shape;1965;p88"/>
            <p:cNvSpPr txBox="1"/>
            <p:nvPr/>
          </p:nvSpPr>
          <p:spPr>
            <a:xfrm flipH="1">
              <a:off x="3602072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6" name="Google Shape;1966;p88"/>
            <p:cNvSpPr txBox="1"/>
            <p:nvPr/>
          </p:nvSpPr>
          <p:spPr>
            <a:xfrm flipH="1">
              <a:off x="3712727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67" name="Google Shape;1967;p88"/>
            <p:cNvCxnSpPr/>
            <p:nvPr/>
          </p:nvCxnSpPr>
          <p:spPr>
            <a:xfrm rot="10800000">
              <a:off x="3566860" y="2337933"/>
              <a:ext cx="0" cy="452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68" name="Google Shape;1968;p88"/>
            <p:cNvSpPr/>
            <p:nvPr/>
          </p:nvSpPr>
          <p:spPr>
            <a:xfrm>
              <a:off x="3539180" y="2771377"/>
              <a:ext cx="55200" cy="4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9" name="Google Shape;1969;p88"/>
          <p:cNvGrpSpPr/>
          <p:nvPr/>
        </p:nvGrpSpPr>
        <p:grpSpPr>
          <a:xfrm>
            <a:off x="2005729" y="2199325"/>
            <a:ext cx="2527873" cy="1593137"/>
            <a:chOff x="3545182" y="1731296"/>
            <a:chExt cx="2527873" cy="1841564"/>
          </a:xfrm>
        </p:grpSpPr>
        <p:grpSp>
          <p:nvGrpSpPr>
            <p:cNvPr id="1970" name="Google Shape;1970;p88"/>
            <p:cNvGrpSpPr/>
            <p:nvPr/>
          </p:nvGrpSpPr>
          <p:grpSpPr>
            <a:xfrm>
              <a:off x="3545182" y="1875434"/>
              <a:ext cx="813170" cy="1697427"/>
              <a:chOff x="3697470" y="2919050"/>
              <a:chExt cx="561000" cy="1002437"/>
            </a:xfrm>
          </p:grpSpPr>
          <p:cxnSp>
            <p:nvCxnSpPr>
              <p:cNvPr id="1971" name="Google Shape;1971;p88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2" name="Google Shape;1972;p88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73" name="Google Shape;1973;p88"/>
            <p:cNvSpPr txBox="1"/>
            <p:nvPr/>
          </p:nvSpPr>
          <p:spPr>
            <a:xfrm>
              <a:off x="4450055" y="1731296"/>
              <a:ext cx="1623000" cy="32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factors of 18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74" name="Google Shape;1974;p88"/>
          <p:cNvSpPr/>
          <p:nvPr/>
        </p:nvSpPr>
        <p:spPr>
          <a:xfrm>
            <a:off x="2887200" y="3614700"/>
            <a:ext cx="2080800" cy="390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88"/>
          <p:cNvSpPr txBox="1"/>
          <p:nvPr/>
        </p:nvSpPr>
        <p:spPr>
          <a:xfrm>
            <a:off x="2005750" y="817025"/>
            <a:ext cx="681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opposite event to landing on a factor of 18?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89"/>
          <p:cNvSpPr txBox="1"/>
          <p:nvPr/>
        </p:nvSpPr>
        <p:spPr>
          <a:xfrm>
            <a:off x="2887270" y="3615550"/>
            <a:ext cx="20808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factor of 18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89"/>
          <p:cNvSpPr txBox="1"/>
          <p:nvPr/>
        </p:nvSpPr>
        <p:spPr>
          <a:xfrm>
            <a:off x="3111200" y="2500775"/>
            <a:ext cx="1092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1, 3, 9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2" name="Google Shape;198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grpSp>
        <p:nvGrpSpPr>
          <p:cNvPr id="1983" name="Google Shape;1983;p89"/>
          <p:cNvGrpSpPr/>
          <p:nvPr/>
        </p:nvGrpSpPr>
        <p:grpSpPr>
          <a:xfrm>
            <a:off x="95314" y="435957"/>
            <a:ext cx="2011409" cy="2011409"/>
            <a:chOff x="2878150" y="2106061"/>
            <a:chExt cx="1377300" cy="1377300"/>
          </a:xfrm>
        </p:grpSpPr>
        <p:sp>
          <p:nvSpPr>
            <p:cNvPr id="1984" name="Google Shape;1984;p89"/>
            <p:cNvSpPr/>
            <p:nvPr/>
          </p:nvSpPr>
          <p:spPr>
            <a:xfrm flipH="1">
              <a:off x="3074060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89"/>
            <p:cNvSpPr/>
            <p:nvPr/>
          </p:nvSpPr>
          <p:spPr>
            <a:xfrm flipH="1" rot="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89"/>
            <p:cNvSpPr/>
            <p:nvPr/>
          </p:nvSpPr>
          <p:spPr>
            <a:xfrm flipH="1" rot="8639896">
              <a:off x="3073783" y="2301695"/>
              <a:ext cx="986033" cy="986033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89"/>
            <p:cNvSpPr/>
            <p:nvPr/>
          </p:nvSpPr>
          <p:spPr>
            <a:xfrm>
              <a:off x="3074062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chemeClr val="accen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89"/>
            <p:cNvSpPr/>
            <p:nvPr/>
          </p:nvSpPr>
          <p:spPr>
            <a:xfrm rot="-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89"/>
            <p:cNvSpPr txBox="1"/>
            <p:nvPr/>
          </p:nvSpPr>
          <p:spPr>
            <a:xfrm>
              <a:off x="3250648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0" name="Google Shape;1990;p89"/>
            <p:cNvSpPr txBox="1"/>
            <p:nvPr/>
          </p:nvSpPr>
          <p:spPr>
            <a:xfrm>
              <a:off x="3139994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1" name="Google Shape;1991;p89"/>
            <p:cNvSpPr txBox="1"/>
            <p:nvPr/>
          </p:nvSpPr>
          <p:spPr>
            <a:xfrm>
              <a:off x="3427144" y="2931304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2" name="Google Shape;1992;p89"/>
            <p:cNvSpPr txBox="1"/>
            <p:nvPr/>
          </p:nvSpPr>
          <p:spPr>
            <a:xfrm flipH="1">
              <a:off x="3602072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3" name="Google Shape;1993;p89"/>
            <p:cNvSpPr txBox="1"/>
            <p:nvPr/>
          </p:nvSpPr>
          <p:spPr>
            <a:xfrm flipH="1">
              <a:off x="3712727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94" name="Google Shape;1994;p89"/>
            <p:cNvCxnSpPr/>
            <p:nvPr/>
          </p:nvCxnSpPr>
          <p:spPr>
            <a:xfrm rot="10800000">
              <a:off x="3566860" y="2337933"/>
              <a:ext cx="0" cy="452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95" name="Google Shape;1995;p89"/>
            <p:cNvSpPr/>
            <p:nvPr/>
          </p:nvSpPr>
          <p:spPr>
            <a:xfrm>
              <a:off x="3539180" y="2771377"/>
              <a:ext cx="55200" cy="4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96" name="Google Shape;1996;p89"/>
          <p:cNvGrpSpPr/>
          <p:nvPr/>
        </p:nvGrpSpPr>
        <p:grpSpPr>
          <a:xfrm>
            <a:off x="2005729" y="2199325"/>
            <a:ext cx="2527873" cy="1593137"/>
            <a:chOff x="3545182" y="1731296"/>
            <a:chExt cx="2527873" cy="1841564"/>
          </a:xfrm>
        </p:grpSpPr>
        <p:grpSp>
          <p:nvGrpSpPr>
            <p:cNvPr id="1997" name="Google Shape;1997;p89"/>
            <p:cNvGrpSpPr/>
            <p:nvPr/>
          </p:nvGrpSpPr>
          <p:grpSpPr>
            <a:xfrm>
              <a:off x="3545182" y="1875434"/>
              <a:ext cx="813170" cy="1697427"/>
              <a:chOff x="3697470" y="2919050"/>
              <a:chExt cx="561000" cy="1002437"/>
            </a:xfrm>
          </p:grpSpPr>
          <p:cxnSp>
            <p:nvCxnSpPr>
              <p:cNvPr id="1998" name="Google Shape;1998;p89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9" name="Google Shape;1999;p89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00" name="Google Shape;2000;p89"/>
            <p:cNvSpPr txBox="1"/>
            <p:nvPr/>
          </p:nvSpPr>
          <p:spPr>
            <a:xfrm>
              <a:off x="4450055" y="1731296"/>
              <a:ext cx="1623000" cy="32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factors of 18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01" name="Google Shape;2001;p89"/>
          <p:cNvSpPr txBox="1"/>
          <p:nvPr/>
        </p:nvSpPr>
        <p:spPr>
          <a:xfrm>
            <a:off x="2005750" y="817025"/>
            <a:ext cx="681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Place the outcomes on the correct events.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2" name="Google Shape;2002;p89"/>
          <p:cNvSpPr txBox="1"/>
          <p:nvPr/>
        </p:nvSpPr>
        <p:spPr>
          <a:xfrm>
            <a:off x="3111200" y="3958483"/>
            <a:ext cx="1092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7, 25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03" name="Google Shape;2003;p89"/>
          <p:cNvGrpSpPr/>
          <p:nvPr/>
        </p:nvGrpSpPr>
        <p:grpSpPr>
          <a:xfrm>
            <a:off x="4320097" y="1851968"/>
            <a:ext cx="3318688" cy="1005604"/>
            <a:chOff x="5562139" y="2035085"/>
            <a:chExt cx="3318688" cy="1357090"/>
          </a:xfrm>
        </p:grpSpPr>
        <p:grpSp>
          <p:nvGrpSpPr>
            <p:cNvPr id="2004" name="Google Shape;2004;p89"/>
            <p:cNvGrpSpPr/>
            <p:nvPr/>
          </p:nvGrpSpPr>
          <p:grpSpPr>
            <a:xfrm>
              <a:off x="5562139" y="2229109"/>
              <a:ext cx="813170" cy="950411"/>
              <a:chOff x="3697470" y="2919050"/>
              <a:chExt cx="561000" cy="1002437"/>
            </a:xfrm>
          </p:grpSpPr>
          <p:cxnSp>
            <p:nvCxnSpPr>
              <p:cNvPr id="2005" name="Google Shape;2005;p89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6" name="Google Shape;2006;p89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07" name="Google Shape;2007;p89"/>
            <p:cNvSpPr txBox="1"/>
            <p:nvPr/>
          </p:nvSpPr>
          <p:spPr>
            <a:xfrm>
              <a:off x="6430115" y="2035085"/>
              <a:ext cx="20808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prime number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8" name="Google Shape;2008;p89"/>
            <p:cNvSpPr txBox="1"/>
            <p:nvPr/>
          </p:nvSpPr>
          <p:spPr>
            <a:xfrm>
              <a:off x="6430127" y="3001275"/>
              <a:ext cx="24507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a prime number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9" name="Google Shape;2009;p89"/>
          <p:cNvGrpSpPr/>
          <p:nvPr/>
        </p:nvGrpSpPr>
        <p:grpSpPr>
          <a:xfrm>
            <a:off x="4820337" y="3318309"/>
            <a:ext cx="3318688" cy="1005604"/>
            <a:chOff x="5562139" y="2035085"/>
            <a:chExt cx="3318688" cy="1357090"/>
          </a:xfrm>
        </p:grpSpPr>
        <p:grpSp>
          <p:nvGrpSpPr>
            <p:cNvPr id="2010" name="Google Shape;2010;p89"/>
            <p:cNvGrpSpPr/>
            <p:nvPr/>
          </p:nvGrpSpPr>
          <p:grpSpPr>
            <a:xfrm>
              <a:off x="5562139" y="2229109"/>
              <a:ext cx="813170" cy="950411"/>
              <a:chOff x="3697470" y="2919050"/>
              <a:chExt cx="561000" cy="1002437"/>
            </a:xfrm>
          </p:grpSpPr>
          <p:cxnSp>
            <p:nvCxnSpPr>
              <p:cNvPr id="2011" name="Google Shape;2011;p89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2" name="Google Shape;2012;p89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13" name="Google Shape;2013;p89"/>
            <p:cNvSpPr txBox="1"/>
            <p:nvPr/>
          </p:nvSpPr>
          <p:spPr>
            <a:xfrm>
              <a:off x="6430115" y="2035085"/>
              <a:ext cx="20808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prime number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4" name="Google Shape;2014;p89"/>
            <p:cNvSpPr txBox="1"/>
            <p:nvPr/>
          </p:nvSpPr>
          <p:spPr>
            <a:xfrm>
              <a:off x="6430127" y="3001275"/>
              <a:ext cx="24507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a prime number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15" name="Google Shape;2015;p89"/>
          <p:cNvGrpSpPr/>
          <p:nvPr/>
        </p:nvGrpSpPr>
        <p:grpSpPr>
          <a:xfrm>
            <a:off x="5894824" y="2122602"/>
            <a:ext cx="242727" cy="242727"/>
            <a:chOff x="1020916" y="1442088"/>
            <a:chExt cx="457200" cy="457200"/>
          </a:xfrm>
        </p:grpSpPr>
        <p:pic>
          <p:nvPicPr>
            <p:cNvPr id="2016" name="Google Shape;2016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7" name="Google Shape;2017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18" name="Google Shape;2018;p89"/>
          <p:cNvGrpSpPr/>
          <p:nvPr/>
        </p:nvGrpSpPr>
        <p:grpSpPr>
          <a:xfrm>
            <a:off x="5894824" y="2857577"/>
            <a:ext cx="242727" cy="242727"/>
            <a:chOff x="1020916" y="1442088"/>
            <a:chExt cx="457200" cy="457200"/>
          </a:xfrm>
        </p:grpSpPr>
        <p:pic>
          <p:nvPicPr>
            <p:cNvPr id="2019" name="Google Shape;2019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0" name="Google Shape;2020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1" name="Google Shape;2021;p89"/>
          <p:cNvGrpSpPr/>
          <p:nvPr/>
        </p:nvGrpSpPr>
        <p:grpSpPr>
          <a:xfrm>
            <a:off x="6388224" y="3583952"/>
            <a:ext cx="242727" cy="242727"/>
            <a:chOff x="1020916" y="1442088"/>
            <a:chExt cx="457200" cy="457200"/>
          </a:xfrm>
        </p:grpSpPr>
        <p:pic>
          <p:nvPicPr>
            <p:cNvPr id="2022" name="Google Shape;2022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3" name="Google Shape;2023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4" name="Google Shape;2024;p89"/>
          <p:cNvGrpSpPr/>
          <p:nvPr/>
        </p:nvGrpSpPr>
        <p:grpSpPr>
          <a:xfrm>
            <a:off x="6388224" y="4320002"/>
            <a:ext cx="242727" cy="242727"/>
            <a:chOff x="1020916" y="1442088"/>
            <a:chExt cx="457200" cy="457200"/>
          </a:xfrm>
        </p:grpSpPr>
        <p:pic>
          <p:nvPicPr>
            <p:cNvPr id="2025" name="Google Shape;2025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6" name="Google Shape;2026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27" name="Google Shape;2027;p89"/>
          <p:cNvSpPr txBox="1"/>
          <p:nvPr/>
        </p:nvSpPr>
        <p:spPr>
          <a:xfrm>
            <a:off x="6268125" y="2122613"/>
            <a:ext cx="3021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8" name="Google Shape;2028;p89"/>
          <p:cNvSpPr txBox="1"/>
          <p:nvPr/>
        </p:nvSpPr>
        <p:spPr>
          <a:xfrm>
            <a:off x="6268125" y="2853275"/>
            <a:ext cx="6297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1, 9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9" name="Google Shape;2029;p89"/>
          <p:cNvSpPr txBox="1"/>
          <p:nvPr/>
        </p:nvSpPr>
        <p:spPr>
          <a:xfrm>
            <a:off x="6754000" y="3583963"/>
            <a:ext cx="6297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0" name="Google Shape;2030;p89"/>
          <p:cNvSpPr txBox="1"/>
          <p:nvPr/>
        </p:nvSpPr>
        <p:spPr>
          <a:xfrm>
            <a:off x="6754000" y="4314663"/>
            <a:ext cx="6297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90"/>
          <p:cNvSpPr txBox="1"/>
          <p:nvPr/>
        </p:nvSpPr>
        <p:spPr>
          <a:xfrm>
            <a:off x="2887270" y="3615550"/>
            <a:ext cx="20808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factor of 18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90"/>
          <p:cNvSpPr txBox="1"/>
          <p:nvPr/>
        </p:nvSpPr>
        <p:spPr>
          <a:xfrm>
            <a:off x="3111200" y="2500775"/>
            <a:ext cx="1092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1, 3, 9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7" name="Google Shape;203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grpSp>
        <p:nvGrpSpPr>
          <p:cNvPr id="2038" name="Google Shape;2038;p90"/>
          <p:cNvGrpSpPr/>
          <p:nvPr/>
        </p:nvGrpSpPr>
        <p:grpSpPr>
          <a:xfrm>
            <a:off x="95314" y="435957"/>
            <a:ext cx="2011409" cy="2011409"/>
            <a:chOff x="2878150" y="2106061"/>
            <a:chExt cx="1377300" cy="1377300"/>
          </a:xfrm>
        </p:grpSpPr>
        <p:sp>
          <p:nvSpPr>
            <p:cNvPr id="2039" name="Google Shape;2039;p90"/>
            <p:cNvSpPr/>
            <p:nvPr/>
          </p:nvSpPr>
          <p:spPr>
            <a:xfrm flipH="1">
              <a:off x="3074060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90"/>
            <p:cNvSpPr/>
            <p:nvPr/>
          </p:nvSpPr>
          <p:spPr>
            <a:xfrm flipH="1" rot="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90"/>
            <p:cNvSpPr/>
            <p:nvPr/>
          </p:nvSpPr>
          <p:spPr>
            <a:xfrm flipH="1" rot="8639896">
              <a:off x="3073783" y="2301695"/>
              <a:ext cx="986033" cy="986033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90"/>
            <p:cNvSpPr/>
            <p:nvPr/>
          </p:nvSpPr>
          <p:spPr>
            <a:xfrm>
              <a:off x="3074062" y="2301801"/>
              <a:ext cx="985500" cy="985500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chemeClr val="accen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90"/>
            <p:cNvSpPr/>
            <p:nvPr/>
          </p:nvSpPr>
          <p:spPr>
            <a:xfrm rot="-4319377">
              <a:off x="3073909" y="2301755"/>
              <a:ext cx="985804" cy="985804"/>
            </a:xfrm>
            <a:prstGeom prst="pie">
              <a:avLst>
                <a:gd fmla="val 11876382" name="adj1"/>
                <a:gd fmla="val 16200000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90"/>
            <p:cNvSpPr txBox="1"/>
            <p:nvPr/>
          </p:nvSpPr>
          <p:spPr>
            <a:xfrm>
              <a:off x="3250648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5" name="Google Shape;2045;p90"/>
            <p:cNvSpPr txBox="1"/>
            <p:nvPr/>
          </p:nvSpPr>
          <p:spPr>
            <a:xfrm>
              <a:off x="3139994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6" name="Google Shape;2046;p90"/>
            <p:cNvSpPr txBox="1"/>
            <p:nvPr/>
          </p:nvSpPr>
          <p:spPr>
            <a:xfrm>
              <a:off x="3427144" y="2931304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7" name="Google Shape;2047;p90"/>
            <p:cNvSpPr txBox="1"/>
            <p:nvPr/>
          </p:nvSpPr>
          <p:spPr>
            <a:xfrm flipH="1">
              <a:off x="3602072" y="2401900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8" name="Google Shape;2048;p90"/>
            <p:cNvSpPr txBox="1"/>
            <p:nvPr/>
          </p:nvSpPr>
          <p:spPr>
            <a:xfrm flipH="1">
              <a:off x="3712727" y="2733879"/>
              <a:ext cx="279300" cy="2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49" name="Google Shape;2049;p90"/>
            <p:cNvCxnSpPr/>
            <p:nvPr/>
          </p:nvCxnSpPr>
          <p:spPr>
            <a:xfrm rot="10800000">
              <a:off x="3566860" y="2337933"/>
              <a:ext cx="0" cy="452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50" name="Google Shape;2050;p90"/>
            <p:cNvSpPr/>
            <p:nvPr/>
          </p:nvSpPr>
          <p:spPr>
            <a:xfrm>
              <a:off x="3539180" y="2771377"/>
              <a:ext cx="55200" cy="4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1" name="Google Shape;2051;p90"/>
          <p:cNvGrpSpPr/>
          <p:nvPr/>
        </p:nvGrpSpPr>
        <p:grpSpPr>
          <a:xfrm>
            <a:off x="2005729" y="2199325"/>
            <a:ext cx="2527873" cy="1593137"/>
            <a:chOff x="3545182" y="1731296"/>
            <a:chExt cx="2527873" cy="1841564"/>
          </a:xfrm>
        </p:grpSpPr>
        <p:grpSp>
          <p:nvGrpSpPr>
            <p:cNvPr id="2052" name="Google Shape;2052;p90"/>
            <p:cNvGrpSpPr/>
            <p:nvPr/>
          </p:nvGrpSpPr>
          <p:grpSpPr>
            <a:xfrm>
              <a:off x="3545182" y="1875434"/>
              <a:ext cx="813170" cy="1697427"/>
              <a:chOff x="3697470" y="2919050"/>
              <a:chExt cx="561000" cy="1002437"/>
            </a:xfrm>
          </p:grpSpPr>
          <p:cxnSp>
            <p:nvCxnSpPr>
              <p:cNvPr id="2053" name="Google Shape;2053;p90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54" name="Google Shape;2054;p90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55" name="Google Shape;2055;p90"/>
            <p:cNvSpPr txBox="1"/>
            <p:nvPr/>
          </p:nvSpPr>
          <p:spPr>
            <a:xfrm>
              <a:off x="4450055" y="1731296"/>
              <a:ext cx="1623000" cy="32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factors of 18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56" name="Google Shape;2056;p90"/>
          <p:cNvSpPr txBox="1"/>
          <p:nvPr/>
        </p:nvSpPr>
        <p:spPr>
          <a:xfrm>
            <a:off x="3111200" y="3958483"/>
            <a:ext cx="10926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7, 25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7" name="Google Shape;2057;p90"/>
          <p:cNvSpPr txBox="1"/>
          <p:nvPr/>
        </p:nvSpPr>
        <p:spPr>
          <a:xfrm>
            <a:off x="2005750" y="664625"/>
            <a:ext cx="6814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spinner lands on a number that is not a factor of 18, but is a prime number.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number did the spinner land on?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58" name="Google Shape;2058;p90"/>
          <p:cNvGrpSpPr/>
          <p:nvPr/>
        </p:nvGrpSpPr>
        <p:grpSpPr>
          <a:xfrm>
            <a:off x="4320097" y="1851968"/>
            <a:ext cx="3318688" cy="1005604"/>
            <a:chOff x="5562139" y="2035085"/>
            <a:chExt cx="3318688" cy="1357090"/>
          </a:xfrm>
        </p:grpSpPr>
        <p:grpSp>
          <p:nvGrpSpPr>
            <p:cNvPr id="2059" name="Google Shape;2059;p90"/>
            <p:cNvGrpSpPr/>
            <p:nvPr/>
          </p:nvGrpSpPr>
          <p:grpSpPr>
            <a:xfrm>
              <a:off x="5562139" y="2229109"/>
              <a:ext cx="813170" cy="950411"/>
              <a:chOff x="3697470" y="2919050"/>
              <a:chExt cx="561000" cy="1002437"/>
            </a:xfrm>
          </p:grpSpPr>
          <p:cxnSp>
            <p:nvCxnSpPr>
              <p:cNvPr id="2060" name="Google Shape;2060;p90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1" name="Google Shape;2061;p90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62" name="Google Shape;2062;p90"/>
            <p:cNvSpPr txBox="1"/>
            <p:nvPr/>
          </p:nvSpPr>
          <p:spPr>
            <a:xfrm>
              <a:off x="6430115" y="2035085"/>
              <a:ext cx="20808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prime number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3" name="Google Shape;2063;p90"/>
            <p:cNvSpPr txBox="1"/>
            <p:nvPr/>
          </p:nvSpPr>
          <p:spPr>
            <a:xfrm>
              <a:off x="6430127" y="3001275"/>
              <a:ext cx="24507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a prime number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64" name="Google Shape;2064;p90"/>
          <p:cNvGrpSpPr/>
          <p:nvPr/>
        </p:nvGrpSpPr>
        <p:grpSpPr>
          <a:xfrm>
            <a:off x="4820337" y="3318309"/>
            <a:ext cx="3318688" cy="1005604"/>
            <a:chOff x="5562139" y="2035085"/>
            <a:chExt cx="3318688" cy="1357090"/>
          </a:xfrm>
        </p:grpSpPr>
        <p:grpSp>
          <p:nvGrpSpPr>
            <p:cNvPr id="2065" name="Google Shape;2065;p90"/>
            <p:cNvGrpSpPr/>
            <p:nvPr/>
          </p:nvGrpSpPr>
          <p:grpSpPr>
            <a:xfrm>
              <a:off x="5562139" y="2229109"/>
              <a:ext cx="813170" cy="950411"/>
              <a:chOff x="3697470" y="2919050"/>
              <a:chExt cx="561000" cy="1002437"/>
            </a:xfrm>
          </p:grpSpPr>
          <p:cxnSp>
            <p:nvCxnSpPr>
              <p:cNvPr id="2066" name="Google Shape;2066;p90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7" name="Google Shape;2067;p90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068" name="Google Shape;2068;p90"/>
            <p:cNvSpPr txBox="1"/>
            <p:nvPr/>
          </p:nvSpPr>
          <p:spPr>
            <a:xfrm>
              <a:off x="6430115" y="2035085"/>
              <a:ext cx="20808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prime number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9" name="Google Shape;2069;p90"/>
            <p:cNvSpPr txBox="1"/>
            <p:nvPr/>
          </p:nvSpPr>
          <p:spPr>
            <a:xfrm>
              <a:off x="6430127" y="3001275"/>
              <a:ext cx="24507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a prime number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70" name="Google Shape;2070;p90"/>
          <p:cNvSpPr txBox="1"/>
          <p:nvPr/>
        </p:nvSpPr>
        <p:spPr>
          <a:xfrm>
            <a:off x="6268125" y="2122613"/>
            <a:ext cx="3021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1" name="Google Shape;2071;p90"/>
          <p:cNvSpPr txBox="1"/>
          <p:nvPr/>
        </p:nvSpPr>
        <p:spPr>
          <a:xfrm>
            <a:off x="6268125" y="2853275"/>
            <a:ext cx="6297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1, 9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2" name="Google Shape;2072;p90"/>
          <p:cNvSpPr txBox="1"/>
          <p:nvPr/>
        </p:nvSpPr>
        <p:spPr>
          <a:xfrm>
            <a:off x="6754000" y="3583963"/>
            <a:ext cx="6297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3" name="Google Shape;2073;p90"/>
          <p:cNvSpPr txBox="1"/>
          <p:nvPr/>
        </p:nvSpPr>
        <p:spPr>
          <a:xfrm>
            <a:off x="6754000" y="4314663"/>
            <a:ext cx="6297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4" name="Google Shape;2074;p90"/>
          <p:cNvSpPr txBox="1"/>
          <p:nvPr/>
        </p:nvSpPr>
        <p:spPr>
          <a:xfrm>
            <a:off x="6682975" y="1156200"/>
            <a:ext cx="99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sp>
        <p:nvSpPr>
          <p:cNvPr id="2080" name="Google Shape;2080;p91"/>
          <p:cNvSpPr txBox="1"/>
          <p:nvPr/>
        </p:nvSpPr>
        <p:spPr>
          <a:xfrm>
            <a:off x="324000" y="602178"/>
            <a:ext cx="689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This spinner will be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Complete this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1" name="Google Shape;2081;p91"/>
          <p:cNvGrpSpPr/>
          <p:nvPr/>
        </p:nvGrpSpPr>
        <p:grpSpPr>
          <a:xfrm>
            <a:off x="7256406" y="447584"/>
            <a:ext cx="1733466" cy="1733257"/>
            <a:chOff x="13003" y="367652"/>
            <a:chExt cx="2484900" cy="2484600"/>
          </a:xfrm>
        </p:grpSpPr>
        <p:sp>
          <p:nvSpPr>
            <p:cNvPr id="2082" name="Google Shape;2082;p91"/>
            <p:cNvSpPr/>
            <p:nvPr/>
          </p:nvSpPr>
          <p:spPr>
            <a:xfrm flipH="1">
              <a:off x="346558" y="700627"/>
              <a:ext cx="1818000" cy="18180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91"/>
            <p:cNvSpPr txBox="1"/>
            <p:nvPr/>
          </p:nvSpPr>
          <p:spPr>
            <a:xfrm>
              <a:off x="1312279" y="850358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4" name="Google Shape;2084;p91"/>
            <p:cNvSpPr/>
            <p:nvPr/>
          </p:nvSpPr>
          <p:spPr>
            <a:xfrm flipH="1" rot="3599684">
              <a:off x="346741" y="700788"/>
              <a:ext cx="1817711" cy="181797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91"/>
            <p:cNvSpPr/>
            <p:nvPr/>
          </p:nvSpPr>
          <p:spPr>
            <a:xfrm flipH="1" rot="10800000">
              <a:off x="346568" y="700583"/>
              <a:ext cx="1818000" cy="18180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accent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91"/>
            <p:cNvSpPr/>
            <p:nvPr/>
          </p:nvSpPr>
          <p:spPr>
            <a:xfrm flipH="1" rot="7200316">
              <a:off x="346586" y="700743"/>
              <a:ext cx="1817711" cy="181797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91"/>
            <p:cNvSpPr/>
            <p:nvPr/>
          </p:nvSpPr>
          <p:spPr>
            <a:xfrm flipH="1" rot="-3599062">
              <a:off x="345983" y="700557"/>
              <a:ext cx="1818940" cy="181879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accen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91"/>
            <p:cNvSpPr/>
            <p:nvPr/>
          </p:nvSpPr>
          <p:spPr>
            <a:xfrm flipH="1" rot="-7198483">
              <a:off x="346575" y="700655"/>
              <a:ext cx="1818190" cy="181819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accent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91"/>
            <p:cNvSpPr txBox="1"/>
            <p:nvPr/>
          </p:nvSpPr>
          <p:spPr>
            <a:xfrm>
              <a:off x="1628339" y="1358887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0" name="Google Shape;2090;p91"/>
            <p:cNvSpPr txBox="1"/>
            <p:nvPr/>
          </p:nvSpPr>
          <p:spPr>
            <a:xfrm>
              <a:off x="1312279" y="1867416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1" name="Google Shape;2091;p91"/>
            <p:cNvSpPr txBox="1"/>
            <p:nvPr/>
          </p:nvSpPr>
          <p:spPr>
            <a:xfrm flipH="1">
              <a:off x="763563" y="850358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2" name="Google Shape;2092;p91"/>
            <p:cNvSpPr txBox="1"/>
            <p:nvPr/>
          </p:nvSpPr>
          <p:spPr>
            <a:xfrm flipH="1">
              <a:off x="447503" y="1358887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3" name="Google Shape;2093;p91"/>
            <p:cNvSpPr txBox="1"/>
            <p:nvPr/>
          </p:nvSpPr>
          <p:spPr>
            <a:xfrm flipH="1">
              <a:off x="763563" y="1867416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94" name="Google Shape;2094;p91"/>
            <p:cNvCxnSpPr/>
            <p:nvPr/>
          </p:nvCxnSpPr>
          <p:spPr>
            <a:xfrm rot="10800000">
              <a:off x="1255624" y="757150"/>
              <a:ext cx="0" cy="834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95" name="Google Shape;2095;p91"/>
            <p:cNvSpPr/>
            <p:nvPr/>
          </p:nvSpPr>
          <p:spPr>
            <a:xfrm>
              <a:off x="1204564" y="1556531"/>
              <a:ext cx="102000" cy="91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6" name="Google Shape;2096;p91"/>
          <p:cNvSpPr txBox="1"/>
          <p:nvPr/>
        </p:nvSpPr>
        <p:spPr>
          <a:xfrm>
            <a:off x="2201471" y="2990357"/>
            <a:ext cx="24849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square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7" name="Google Shape;2097;p91"/>
          <p:cNvCxnSpPr/>
          <p:nvPr/>
        </p:nvCxnSpPr>
        <p:spPr>
          <a:xfrm flipH="1" rot="10800000">
            <a:off x="1319923" y="1493524"/>
            <a:ext cx="813300" cy="74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8" name="Google Shape;2098;p91"/>
          <p:cNvCxnSpPr/>
          <p:nvPr/>
        </p:nvCxnSpPr>
        <p:spPr>
          <a:xfrm>
            <a:off x="1319923" y="2448757"/>
            <a:ext cx="813300" cy="74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9" name="Google Shape;2099;p91"/>
          <p:cNvSpPr txBox="1"/>
          <p:nvPr/>
        </p:nvSpPr>
        <p:spPr>
          <a:xfrm>
            <a:off x="2224795" y="1349094"/>
            <a:ext cx="181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0" name="Google Shape;2100;p91"/>
          <p:cNvGrpSpPr/>
          <p:nvPr/>
        </p:nvGrpSpPr>
        <p:grpSpPr>
          <a:xfrm>
            <a:off x="3973501" y="956033"/>
            <a:ext cx="3318688" cy="1131542"/>
            <a:chOff x="5562139" y="2035085"/>
            <a:chExt cx="3318688" cy="1357090"/>
          </a:xfrm>
        </p:grpSpPr>
        <p:grpSp>
          <p:nvGrpSpPr>
            <p:cNvPr id="2101" name="Google Shape;2101;p91"/>
            <p:cNvGrpSpPr/>
            <p:nvPr/>
          </p:nvGrpSpPr>
          <p:grpSpPr>
            <a:xfrm>
              <a:off x="5562139" y="2229109"/>
              <a:ext cx="813170" cy="950411"/>
              <a:chOff x="3697470" y="2919050"/>
              <a:chExt cx="561000" cy="1002437"/>
            </a:xfrm>
          </p:grpSpPr>
          <p:cxnSp>
            <p:nvCxnSpPr>
              <p:cNvPr id="2102" name="Google Shape;2102;p91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3" name="Google Shape;2103;p91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104" name="Google Shape;2104;p91"/>
            <p:cNvSpPr txBox="1"/>
            <p:nvPr/>
          </p:nvSpPr>
          <p:spPr>
            <a:xfrm>
              <a:off x="6430115" y="2035085"/>
              <a:ext cx="20808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prime number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5" name="Google Shape;2105;p91"/>
            <p:cNvSpPr txBox="1"/>
            <p:nvPr/>
          </p:nvSpPr>
          <p:spPr>
            <a:xfrm>
              <a:off x="6430127" y="3001275"/>
              <a:ext cx="24507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a prime number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06" name="Google Shape;2106;p91"/>
          <p:cNvGrpSpPr/>
          <p:nvPr/>
        </p:nvGrpSpPr>
        <p:grpSpPr>
          <a:xfrm>
            <a:off x="4564867" y="2685552"/>
            <a:ext cx="3318688" cy="1131542"/>
            <a:chOff x="5562139" y="2035085"/>
            <a:chExt cx="3318688" cy="1357090"/>
          </a:xfrm>
        </p:grpSpPr>
        <p:grpSp>
          <p:nvGrpSpPr>
            <p:cNvPr id="2107" name="Google Shape;2107;p91"/>
            <p:cNvGrpSpPr/>
            <p:nvPr/>
          </p:nvGrpSpPr>
          <p:grpSpPr>
            <a:xfrm>
              <a:off x="5562139" y="2229109"/>
              <a:ext cx="813170" cy="950411"/>
              <a:chOff x="3697470" y="2919050"/>
              <a:chExt cx="561000" cy="1002437"/>
            </a:xfrm>
          </p:grpSpPr>
          <p:cxnSp>
            <p:nvCxnSpPr>
              <p:cNvPr id="2108" name="Google Shape;2108;p91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9" name="Google Shape;2109;p91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110" name="Google Shape;2110;p91"/>
            <p:cNvSpPr txBox="1"/>
            <p:nvPr/>
          </p:nvSpPr>
          <p:spPr>
            <a:xfrm>
              <a:off x="6430115" y="2035085"/>
              <a:ext cx="20808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prime number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1" name="Google Shape;2111;p91"/>
            <p:cNvSpPr txBox="1"/>
            <p:nvPr/>
          </p:nvSpPr>
          <p:spPr>
            <a:xfrm>
              <a:off x="6430127" y="3001275"/>
              <a:ext cx="24507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a prime number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12" name="Google Shape;2112;p91"/>
          <p:cNvSpPr txBox="1"/>
          <p:nvPr/>
        </p:nvSpPr>
        <p:spPr>
          <a:xfrm>
            <a:off x="324000" y="4252550"/>
            <a:ext cx="748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The spinner lands on an 11. Using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which two events have just happened?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3" name="Google Shape;2113;p91"/>
          <p:cNvSpPr/>
          <p:nvPr/>
        </p:nvSpPr>
        <p:spPr>
          <a:xfrm>
            <a:off x="2329200" y="1626283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4" name="Google Shape;2114;p91"/>
          <p:cNvSpPr/>
          <p:nvPr/>
        </p:nvSpPr>
        <p:spPr>
          <a:xfrm>
            <a:off x="2329200" y="3359108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5" name="Google Shape;2115;p91"/>
          <p:cNvSpPr/>
          <p:nvPr/>
        </p:nvSpPr>
        <p:spPr>
          <a:xfrm>
            <a:off x="4945238" y="1267237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6" name="Google Shape;2116;p91"/>
          <p:cNvSpPr/>
          <p:nvPr/>
        </p:nvSpPr>
        <p:spPr>
          <a:xfrm>
            <a:off x="4945238" y="2056712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7" name="Google Shape;2117;p91"/>
          <p:cNvSpPr/>
          <p:nvPr/>
        </p:nvSpPr>
        <p:spPr>
          <a:xfrm>
            <a:off x="5687888" y="3012508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8" name="Google Shape;2118;p91"/>
          <p:cNvSpPr/>
          <p:nvPr/>
        </p:nvSpPr>
        <p:spPr>
          <a:xfrm>
            <a:off x="5687888" y="3801983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92"/>
          <p:cNvSpPr/>
          <p:nvPr/>
        </p:nvSpPr>
        <p:spPr>
          <a:xfrm>
            <a:off x="2133225" y="1700675"/>
            <a:ext cx="18180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24" name="Google Shape;2124;p92"/>
          <p:cNvGrpSpPr/>
          <p:nvPr/>
        </p:nvGrpSpPr>
        <p:grpSpPr>
          <a:xfrm>
            <a:off x="4874377" y="1336000"/>
            <a:ext cx="2336400" cy="765608"/>
            <a:chOff x="2133225" y="3433500"/>
            <a:chExt cx="2336400" cy="765608"/>
          </a:xfrm>
        </p:grpSpPr>
        <p:sp>
          <p:nvSpPr>
            <p:cNvPr id="2125" name="Google Shape;2125;p92"/>
            <p:cNvSpPr/>
            <p:nvPr/>
          </p:nvSpPr>
          <p:spPr>
            <a:xfrm>
              <a:off x="2329200" y="3816308"/>
              <a:ext cx="13908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6" name="Google Shape;2126;p92"/>
            <p:cNvSpPr/>
            <p:nvPr/>
          </p:nvSpPr>
          <p:spPr>
            <a:xfrm>
              <a:off x="2133225" y="3433500"/>
              <a:ext cx="23364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7" name="Google Shape;2127;p92"/>
          <p:cNvGrpSpPr/>
          <p:nvPr/>
        </p:nvGrpSpPr>
        <p:grpSpPr>
          <a:xfrm>
            <a:off x="4874377" y="2127063"/>
            <a:ext cx="2336400" cy="765608"/>
            <a:chOff x="2133225" y="3433500"/>
            <a:chExt cx="2336400" cy="765608"/>
          </a:xfrm>
        </p:grpSpPr>
        <p:sp>
          <p:nvSpPr>
            <p:cNvPr id="2128" name="Google Shape;2128;p92"/>
            <p:cNvSpPr/>
            <p:nvPr/>
          </p:nvSpPr>
          <p:spPr>
            <a:xfrm>
              <a:off x="2329200" y="3816308"/>
              <a:ext cx="13908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9" name="Google Shape;2129;p92"/>
            <p:cNvSpPr/>
            <p:nvPr/>
          </p:nvSpPr>
          <p:spPr>
            <a:xfrm>
              <a:off x="2133225" y="3433500"/>
              <a:ext cx="23364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30" name="Google Shape;2130;p92"/>
          <p:cNvGrpSpPr/>
          <p:nvPr/>
        </p:nvGrpSpPr>
        <p:grpSpPr>
          <a:xfrm>
            <a:off x="5484537" y="3086153"/>
            <a:ext cx="2336400" cy="765608"/>
            <a:chOff x="2133225" y="3433500"/>
            <a:chExt cx="2336400" cy="765608"/>
          </a:xfrm>
        </p:grpSpPr>
        <p:sp>
          <p:nvSpPr>
            <p:cNvPr id="2131" name="Google Shape;2131;p92"/>
            <p:cNvSpPr/>
            <p:nvPr/>
          </p:nvSpPr>
          <p:spPr>
            <a:xfrm>
              <a:off x="2329200" y="3816308"/>
              <a:ext cx="13908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2" name="Google Shape;2132;p92"/>
            <p:cNvSpPr/>
            <p:nvPr/>
          </p:nvSpPr>
          <p:spPr>
            <a:xfrm>
              <a:off x="2133225" y="3433500"/>
              <a:ext cx="23364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33" name="Google Shape;2133;p92"/>
          <p:cNvGrpSpPr/>
          <p:nvPr/>
        </p:nvGrpSpPr>
        <p:grpSpPr>
          <a:xfrm>
            <a:off x="5484524" y="3877225"/>
            <a:ext cx="2573100" cy="765598"/>
            <a:chOff x="2133211" y="3433509"/>
            <a:chExt cx="2573100" cy="765598"/>
          </a:xfrm>
        </p:grpSpPr>
        <p:sp>
          <p:nvSpPr>
            <p:cNvPr id="2134" name="Google Shape;2134;p92"/>
            <p:cNvSpPr/>
            <p:nvPr/>
          </p:nvSpPr>
          <p:spPr>
            <a:xfrm>
              <a:off x="2329200" y="3816308"/>
              <a:ext cx="13908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5" name="Google Shape;2135;p92"/>
            <p:cNvSpPr/>
            <p:nvPr/>
          </p:nvSpPr>
          <p:spPr>
            <a:xfrm>
              <a:off x="2133211" y="3433509"/>
              <a:ext cx="25731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36" name="Google Shape;2136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cxnSp>
        <p:nvCxnSpPr>
          <p:cNvPr id="2137" name="Google Shape;2137;p92"/>
          <p:cNvCxnSpPr/>
          <p:nvPr/>
        </p:nvCxnSpPr>
        <p:spPr>
          <a:xfrm flipH="1" rot="10800000">
            <a:off x="1319923" y="1950724"/>
            <a:ext cx="813300" cy="74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8" name="Google Shape;2138;p92"/>
          <p:cNvCxnSpPr/>
          <p:nvPr/>
        </p:nvCxnSpPr>
        <p:spPr>
          <a:xfrm>
            <a:off x="1319923" y="2905957"/>
            <a:ext cx="813300" cy="74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9" name="Google Shape;2139;p92"/>
          <p:cNvSpPr txBox="1"/>
          <p:nvPr/>
        </p:nvSpPr>
        <p:spPr>
          <a:xfrm>
            <a:off x="2224799" y="1751275"/>
            <a:ext cx="159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 of 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0" name="Google Shape;2140;p92"/>
          <p:cNvGrpSpPr/>
          <p:nvPr/>
        </p:nvGrpSpPr>
        <p:grpSpPr>
          <a:xfrm>
            <a:off x="3973501" y="1574935"/>
            <a:ext cx="813170" cy="792427"/>
            <a:chOff x="3697470" y="2919050"/>
            <a:chExt cx="561000" cy="1002437"/>
          </a:xfrm>
        </p:grpSpPr>
        <p:cxnSp>
          <p:nvCxnSpPr>
            <p:cNvPr id="2141" name="Google Shape;2141;p92"/>
            <p:cNvCxnSpPr/>
            <p:nvPr/>
          </p:nvCxnSpPr>
          <p:spPr>
            <a:xfrm flipH="1" rot="10800000">
              <a:off x="3697470" y="2919050"/>
              <a:ext cx="56100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2" name="Google Shape;2142;p92"/>
            <p:cNvCxnSpPr/>
            <p:nvPr/>
          </p:nvCxnSpPr>
          <p:spPr>
            <a:xfrm>
              <a:off x="3697470" y="3481687"/>
              <a:ext cx="56100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43" name="Google Shape;2143;p92"/>
          <p:cNvGrpSpPr/>
          <p:nvPr/>
        </p:nvGrpSpPr>
        <p:grpSpPr>
          <a:xfrm>
            <a:off x="4564867" y="3304454"/>
            <a:ext cx="813170" cy="792427"/>
            <a:chOff x="3697470" y="2919050"/>
            <a:chExt cx="561000" cy="1002437"/>
          </a:xfrm>
        </p:grpSpPr>
        <p:cxnSp>
          <p:nvCxnSpPr>
            <p:cNvPr id="2144" name="Google Shape;2144;p92"/>
            <p:cNvCxnSpPr/>
            <p:nvPr/>
          </p:nvCxnSpPr>
          <p:spPr>
            <a:xfrm flipH="1" rot="10800000">
              <a:off x="3697470" y="2919050"/>
              <a:ext cx="56100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5" name="Google Shape;2145;p92"/>
            <p:cNvCxnSpPr/>
            <p:nvPr/>
          </p:nvCxnSpPr>
          <p:spPr>
            <a:xfrm>
              <a:off x="3697470" y="3481687"/>
              <a:ext cx="56100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46" name="Google Shape;2146;p92"/>
          <p:cNvSpPr/>
          <p:nvPr/>
        </p:nvSpPr>
        <p:spPr>
          <a:xfrm>
            <a:off x="2329200" y="2083483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7" name="Google Shape;2147;p92"/>
          <p:cNvSpPr/>
          <p:nvPr/>
        </p:nvSpPr>
        <p:spPr>
          <a:xfrm>
            <a:off x="2329200" y="3816308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8" name="Google Shape;2148;p92"/>
          <p:cNvSpPr/>
          <p:nvPr/>
        </p:nvSpPr>
        <p:spPr>
          <a:xfrm>
            <a:off x="2133225" y="3433500"/>
            <a:ext cx="23364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9" name="Google Shape;2149;p92"/>
          <p:cNvSpPr txBox="1"/>
          <p:nvPr/>
        </p:nvSpPr>
        <p:spPr>
          <a:xfrm>
            <a:off x="324000" y="6021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A spinner has outcomes of: {5, 9, 15, 25, 28, 441}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Complete this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0" name="Google Shape;2150;p92"/>
          <p:cNvSpPr txBox="1"/>
          <p:nvPr/>
        </p:nvSpPr>
        <p:spPr>
          <a:xfrm>
            <a:off x="5534675" y="3930575"/>
            <a:ext cx="252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square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93"/>
          <p:cNvSpPr txBox="1"/>
          <p:nvPr/>
        </p:nvSpPr>
        <p:spPr>
          <a:xfrm>
            <a:off x="324000" y="602175"/>
            <a:ext cx="75150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A spinner has outcomes of: {1, 4, 8, 16, 25, 27, 30, 36, 39, 64}.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Jacob is going to spin this spinner and looks for the events of landing on a square number that is also a cube number.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Draw and complete an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this trial.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How many outcomes match the events that Jacob is looking out for?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6" name="Google Shape;2156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pic>
        <p:nvPicPr>
          <p:cNvPr id="2157" name="Google Shape;215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19024" y="709401"/>
            <a:ext cx="668950" cy="8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8" name="Google Shape;2158;p93"/>
          <p:cNvSpPr txBox="1"/>
          <p:nvPr/>
        </p:nvSpPr>
        <p:spPr>
          <a:xfrm>
            <a:off x="7887000" y="1533425"/>
            <a:ext cx="93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9" name="Google Shape;2159;p93"/>
          <p:cNvSpPr txBox="1"/>
          <p:nvPr/>
        </p:nvSpPr>
        <p:spPr>
          <a:xfrm>
            <a:off x="6265741" y="3283984"/>
            <a:ext cx="249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0" name="Google Shape;2160;p93"/>
          <p:cNvSpPr txBox="1"/>
          <p:nvPr/>
        </p:nvSpPr>
        <p:spPr>
          <a:xfrm>
            <a:off x="6874955" y="3283984"/>
            <a:ext cx="249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1" name="Google Shape;2161;p93"/>
          <p:cNvSpPr txBox="1"/>
          <p:nvPr/>
        </p:nvSpPr>
        <p:spPr>
          <a:xfrm>
            <a:off x="7420996" y="3297338"/>
            <a:ext cx="249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2" name="Google Shape;2162;p93"/>
          <p:cNvSpPr txBox="1"/>
          <p:nvPr/>
        </p:nvSpPr>
        <p:spPr>
          <a:xfrm>
            <a:off x="8013920" y="3297338"/>
            <a:ext cx="249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3" name="Google Shape;2163;p93"/>
          <p:cNvSpPr txBox="1"/>
          <p:nvPr/>
        </p:nvSpPr>
        <p:spPr>
          <a:xfrm>
            <a:off x="8623134" y="3297338"/>
            <a:ext cx="249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4" name="Google Shape;2164;p93"/>
          <p:cNvSpPr txBox="1"/>
          <p:nvPr/>
        </p:nvSpPr>
        <p:spPr>
          <a:xfrm>
            <a:off x="6322722" y="4198069"/>
            <a:ext cx="249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5" name="Google Shape;2165;p93"/>
          <p:cNvSpPr txBox="1"/>
          <p:nvPr/>
        </p:nvSpPr>
        <p:spPr>
          <a:xfrm>
            <a:off x="6915647" y="4198069"/>
            <a:ext cx="249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6" name="Google Shape;2166;p93"/>
          <p:cNvSpPr txBox="1"/>
          <p:nvPr/>
        </p:nvSpPr>
        <p:spPr>
          <a:xfrm>
            <a:off x="7568841" y="4198069"/>
            <a:ext cx="249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7" name="Google Shape;2167;p93"/>
          <p:cNvSpPr txBox="1"/>
          <p:nvPr/>
        </p:nvSpPr>
        <p:spPr>
          <a:xfrm>
            <a:off x="8186199" y="4198069"/>
            <a:ext cx="249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8" name="Google Shape;2168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4893" y="2693416"/>
            <a:ext cx="393978" cy="552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9" name="Google Shape;2169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0560" y="3668955"/>
            <a:ext cx="359931" cy="48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0" name="Google Shape;2170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59391" y="2689761"/>
            <a:ext cx="342907" cy="617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1" name="Google Shape;2171;p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37260" y="3623978"/>
            <a:ext cx="304275" cy="578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2" name="Google Shape;2172;p9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13840" y="2667071"/>
            <a:ext cx="347771" cy="634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3" name="Google Shape;2173;p9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91704" y="3632484"/>
            <a:ext cx="347118" cy="5617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4" name="Google Shape;2174;p93"/>
          <p:cNvGrpSpPr/>
          <p:nvPr/>
        </p:nvGrpSpPr>
        <p:grpSpPr>
          <a:xfrm>
            <a:off x="6760462" y="2637454"/>
            <a:ext cx="401276" cy="598298"/>
            <a:chOff x="1984114" y="1120943"/>
            <a:chExt cx="477596" cy="712090"/>
          </a:xfrm>
        </p:grpSpPr>
        <p:pic>
          <p:nvPicPr>
            <p:cNvPr id="2175" name="Google Shape;2175;p93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984114" y="1199133"/>
              <a:ext cx="477596" cy="63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6" name="Google Shape;2176;p93"/>
            <p:cNvPicPr preferRelativeResize="0"/>
            <p:nvPr/>
          </p:nvPicPr>
          <p:blipFill rotWithShape="1">
            <a:blip r:embed="rId8">
              <a:alphaModFix/>
            </a:blip>
            <a:srcRect b="81988" l="0" r="0" t="0"/>
            <a:stretch/>
          </p:blipFill>
          <p:spPr>
            <a:xfrm>
              <a:off x="2043225" y="1120943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77" name="Google Shape;2177;p93"/>
          <p:cNvGrpSpPr/>
          <p:nvPr/>
        </p:nvGrpSpPr>
        <p:grpSpPr>
          <a:xfrm>
            <a:off x="7373309" y="2686548"/>
            <a:ext cx="407600" cy="558928"/>
            <a:chOff x="2713519" y="1179374"/>
            <a:chExt cx="485123" cy="665232"/>
          </a:xfrm>
        </p:grpSpPr>
        <p:pic>
          <p:nvPicPr>
            <p:cNvPr id="2178" name="Google Shape;2178;p93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2713519" y="1257018"/>
              <a:ext cx="445756" cy="587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9" name="Google Shape;2179;p93"/>
            <p:cNvPicPr preferRelativeResize="0"/>
            <p:nvPr/>
          </p:nvPicPr>
          <p:blipFill rotWithShape="1">
            <a:blip r:embed="rId8">
              <a:alphaModFix/>
            </a:blip>
            <a:srcRect b="81988" l="0" r="0" t="0"/>
            <a:stretch/>
          </p:blipFill>
          <p:spPr>
            <a:xfrm>
              <a:off x="2784717" y="1179374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0" name="Google Shape;2180;p93"/>
          <p:cNvGrpSpPr/>
          <p:nvPr/>
        </p:nvGrpSpPr>
        <p:grpSpPr>
          <a:xfrm>
            <a:off x="6269578" y="3564353"/>
            <a:ext cx="397984" cy="611045"/>
            <a:chOff x="4876452" y="1152087"/>
            <a:chExt cx="473678" cy="727261"/>
          </a:xfrm>
        </p:grpSpPr>
        <p:pic>
          <p:nvPicPr>
            <p:cNvPr id="2181" name="Google Shape;2181;p93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876452" y="1222293"/>
              <a:ext cx="451545" cy="6570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2" name="Google Shape;2182;p93"/>
            <p:cNvPicPr preferRelativeResize="0"/>
            <p:nvPr/>
          </p:nvPicPr>
          <p:blipFill rotWithShape="1">
            <a:blip r:embed="rId8">
              <a:alphaModFix/>
            </a:blip>
            <a:srcRect b="81988" l="0" r="0" t="0"/>
            <a:stretch/>
          </p:blipFill>
          <p:spPr>
            <a:xfrm>
              <a:off x="4936205" y="1152087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3" name="Google Shape;2183;p93"/>
          <p:cNvSpPr txBox="1"/>
          <p:nvPr/>
        </p:nvSpPr>
        <p:spPr>
          <a:xfrm>
            <a:off x="324000" y="2819475"/>
            <a:ext cx="57525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4) In a cafe they have the following drinks on the menu.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Create an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with the first event being “has a handle” and the second “has a straw”.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On your tree circle the outcomes that represent straw but no handle.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p94"/>
          <p:cNvSpPr/>
          <p:nvPr/>
        </p:nvSpPr>
        <p:spPr>
          <a:xfrm>
            <a:off x="5687888" y="3801983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9" name="Google Shape;2189;p94"/>
          <p:cNvSpPr txBox="1"/>
          <p:nvPr/>
        </p:nvSpPr>
        <p:spPr>
          <a:xfrm>
            <a:off x="5894900" y="3839475"/>
            <a:ext cx="97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6, 8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0" name="Google Shape;2190;p94"/>
          <p:cNvSpPr/>
          <p:nvPr/>
        </p:nvSpPr>
        <p:spPr>
          <a:xfrm>
            <a:off x="2329200" y="3359108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1" name="Google Shape;2191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sp>
        <p:nvSpPr>
          <p:cNvPr id="2192" name="Google Shape;2192;p94"/>
          <p:cNvSpPr txBox="1"/>
          <p:nvPr/>
        </p:nvSpPr>
        <p:spPr>
          <a:xfrm>
            <a:off x="2536200" y="3396600"/>
            <a:ext cx="97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6, 8, 11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3" name="Google Shape;2193;p94"/>
          <p:cNvSpPr txBox="1"/>
          <p:nvPr/>
        </p:nvSpPr>
        <p:spPr>
          <a:xfrm>
            <a:off x="324000" y="602178"/>
            <a:ext cx="689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This spinner will be spun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Complete this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94" name="Google Shape;2194;p94"/>
          <p:cNvGrpSpPr/>
          <p:nvPr/>
        </p:nvGrpSpPr>
        <p:grpSpPr>
          <a:xfrm>
            <a:off x="7256406" y="447584"/>
            <a:ext cx="1733466" cy="1733257"/>
            <a:chOff x="13003" y="367652"/>
            <a:chExt cx="2484900" cy="2484600"/>
          </a:xfrm>
        </p:grpSpPr>
        <p:sp>
          <p:nvSpPr>
            <p:cNvPr id="2195" name="Google Shape;2195;p94"/>
            <p:cNvSpPr/>
            <p:nvPr/>
          </p:nvSpPr>
          <p:spPr>
            <a:xfrm flipH="1">
              <a:off x="346558" y="700627"/>
              <a:ext cx="1818000" cy="18180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94"/>
            <p:cNvSpPr txBox="1"/>
            <p:nvPr/>
          </p:nvSpPr>
          <p:spPr>
            <a:xfrm>
              <a:off x="1312279" y="850358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7" name="Google Shape;2197;p94"/>
            <p:cNvSpPr/>
            <p:nvPr/>
          </p:nvSpPr>
          <p:spPr>
            <a:xfrm flipH="1" rot="3599684">
              <a:off x="346741" y="700788"/>
              <a:ext cx="1817711" cy="181797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94"/>
            <p:cNvSpPr/>
            <p:nvPr/>
          </p:nvSpPr>
          <p:spPr>
            <a:xfrm flipH="1" rot="10800000">
              <a:off x="346568" y="700583"/>
              <a:ext cx="1818000" cy="181800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accent2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94"/>
            <p:cNvSpPr/>
            <p:nvPr/>
          </p:nvSpPr>
          <p:spPr>
            <a:xfrm flipH="1" rot="7200316">
              <a:off x="346586" y="700743"/>
              <a:ext cx="1817711" cy="181797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accent5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94"/>
            <p:cNvSpPr/>
            <p:nvPr/>
          </p:nvSpPr>
          <p:spPr>
            <a:xfrm flipH="1" rot="-3599062">
              <a:off x="345983" y="700557"/>
              <a:ext cx="1818940" cy="181879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accen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94"/>
            <p:cNvSpPr/>
            <p:nvPr/>
          </p:nvSpPr>
          <p:spPr>
            <a:xfrm flipH="1" rot="-7198483">
              <a:off x="346575" y="700655"/>
              <a:ext cx="1818190" cy="1818190"/>
            </a:xfrm>
            <a:prstGeom prst="pie">
              <a:avLst>
                <a:gd fmla="val 12606297" name="adj1"/>
                <a:gd fmla="val 16200000" name="adj2"/>
              </a:avLst>
            </a:prstGeom>
            <a:solidFill>
              <a:schemeClr val="accent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94"/>
            <p:cNvSpPr txBox="1"/>
            <p:nvPr/>
          </p:nvSpPr>
          <p:spPr>
            <a:xfrm>
              <a:off x="1628339" y="1358887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3" name="Google Shape;2203;p94"/>
            <p:cNvSpPr txBox="1"/>
            <p:nvPr/>
          </p:nvSpPr>
          <p:spPr>
            <a:xfrm>
              <a:off x="1312279" y="1867416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4" name="Google Shape;2204;p94"/>
            <p:cNvSpPr txBox="1"/>
            <p:nvPr/>
          </p:nvSpPr>
          <p:spPr>
            <a:xfrm flipH="1">
              <a:off x="763563" y="850358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5" name="Google Shape;2205;p94"/>
            <p:cNvSpPr txBox="1"/>
            <p:nvPr/>
          </p:nvSpPr>
          <p:spPr>
            <a:xfrm flipH="1">
              <a:off x="447503" y="1358887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6" name="Google Shape;2206;p94"/>
            <p:cNvSpPr txBox="1"/>
            <p:nvPr/>
          </p:nvSpPr>
          <p:spPr>
            <a:xfrm flipH="1">
              <a:off x="763563" y="1867416"/>
              <a:ext cx="438900" cy="5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07" name="Google Shape;2207;p94"/>
            <p:cNvCxnSpPr/>
            <p:nvPr/>
          </p:nvCxnSpPr>
          <p:spPr>
            <a:xfrm rot="10800000">
              <a:off x="1255624" y="757150"/>
              <a:ext cx="0" cy="834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08" name="Google Shape;2208;p94"/>
            <p:cNvSpPr/>
            <p:nvPr/>
          </p:nvSpPr>
          <p:spPr>
            <a:xfrm>
              <a:off x="1204564" y="1556531"/>
              <a:ext cx="102000" cy="91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9" name="Google Shape;2209;p94"/>
          <p:cNvSpPr txBox="1"/>
          <p:nvPr/>
        </p:nvSpPr>
        <p:spPr>
          <a:xfrm>
            <a:off x="2201471" y="2990357"/>
            <a:ext cx="24849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square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0" name="Google Shape;2210;p94"/>
          <p:cNvCxnSpPr/>
          <p:nvPr/>
        </p:nvCxnSpPr>
        <p:spPr>
          <a:xfrm flipH="1" rot="10800000">
            <a:off x="1319923" y="1493524"/>
            <a:ext cx="813300" cy="74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1" name="Google Shape;2211;p94"/>
          <p:cNvCxnSpPr/>
          <p:nvPr/>
        </p:nvCxnSpPr>
        <p:spPr>
          <a:xfrm>
            <a:off x="1319923" y="2448757"/>
            <a:ext cx="813300" cy="74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2" name="Google Shape;2212;p94"/>
          <p:cNvSpPr txBox="1"/>
          <p:nvPr/>
        </p:nvSpPr>
        <p:spPr>
          <a:xfrm>
            <a:off x="2224795" y="1349094"/>
            <a:ext cx="181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13" name="Google Shape;2213;p94"/>
          <p:cNvGrpSpPr/>
          <p:nvPr/>
        </p:nvGrpSpPr>
        <p:grpSpPr>
          <a:xfrm>
            <a:off x="3973501" y="956033"/>
            <a:ext cx="3318688" cy="1131542"/>
            <a:chOff x="5562139" y="2035085"/>
            <a:chExt cx="3318688" cy="1357090"/>
          </a:xfrm>
        </p:grpSpPr>
        <p:grpSp>
          <p:nvGrpSpPr>
            <p:cNvPr id="2214" name="Google Shape;2214;p94"/>
            <p:cNvGrpSpPr/>
            <p:nvPr/>
          </p:nvGrpSpPr>
          <p:grpSpPr>
            <a:xfrm>
              <a:off x="5562139" y="2229109"/>
              <a:ext cx="813170" cy="950411"/>
              <a:chOff x="3697470" y="2919050"/>
              <a:chExt cx="561000" cy="1002437"/>
            </a:xfrm>
          </p:grpSpPr>
          <p:cxnSp>
            <p:nvCxnSpPr>
              <p:cNvPr id="2215" name="Google Shape;2215;p94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16" name="Google Shape;2216;p94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217" name="Google Shape;2217;p94"/>
            <p:cNvSpPr txBox="1"/>
            <p:nvPr/>
          </p:nvSpPr>
          <p:spPr>
            <a:xfrm>
              <a:off x="6430115" y="2035085"/>
              <a:ext cx="20808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prime number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8" name="Google Shape;2218;p94"/>
            <p:cNvSpPr txBox="1"/>
            <p:nvPr/>
          </p:nvSpPr>
          <p:spPr>
            <a:xfrm>
              <a:off x="6430127" y="3001275"/>
              <a:ext cx="24507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a prime number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19" name="Google Shape;2219;p94"/>
          <p:cNvGrpSpPr/>
          <p:nvPr/>
        </p:nvGrpSpPr>
        <p:grpSpPr>
          <a:xfrm>
            <a:off x="4564867" y="2685552"/>
            <a:ext cx="3318688" cy="1131542"/>
            <a:chOff x="5562139" y="2035085"/>
            <a:chExt cx="3318688" cy="1357090"/>
          </a:xfrm>
        </p:grpSpPr>
        <p:grpSp>
          <p:nvGrpSpPr>
            <p:cNvPr id="2220" name="Google Shape;2220;p94"/>
            <p:cNvGrpSpPr/>
            <p:nvPr/>
          </p:nvGrpSpPr>
          <p:grpSpPr>
            <a:xfrm>
              <a:off x="5562139" y="2229109"/>
              <a:ext cx="813170" cy="950411"/>
              <a:chOff x="3697470" y="2919050"/>
              <a:chExt cx="561000" cy="1002437"/>
            </a:xfrm>
          </p:grpSpPr>
          <p:cxnSp>
            <p:nvCxnSpPr>
              <p:cNvPr id="2221" name="Google Shape;2221;p94"/>
              <p:cNvCxnSpPr/>
              <p:nvPr/>
            </p:nvCxnSpPr>
            <p:spPr>
              <a:xfrm flipH="1" rot="10800000">
                <a:off x="3697470" y="2919050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2" name="Google Shape;2222;p94"/>
              <p:cNvCxnSpPr/>
              <p:nvPr/>
            </p:nvCxnSpPr>
            <p:spPr>
              <a:xfrm>
                <a:off x="3697470" y="3481687"/>
                <a:ext cx="561000" cy="439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223" name="Google Shape;2223;p94"/>
            <p:cNvSpPr txBox="1"/>
            <p:nvPr/>
          </p:nvSpPr>
          <p:spPr>
            <a:xfrm>
              <a:off x="6430115" y="2035085"/>
              <a:ext cx="20808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prime number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4" name="Google Shape;2224;p94"/>
            <p:cNvSpPr txBox="1"/>
            <p:nvPr/>
          </p:nvSpPr>
          <p:spPr>
            <a:xfrm>
              <a:off x="6430127" y="3001275"/>
              <a:ext cx="2450700" cy="3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not a prime number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25" name="Google Shape;2225;p94"/>
          <p:cNvSpPr txBox="1"/>
          <p:nvPr/>
        </p:nvSpPr>
        <p:spPr>
          <a:xfrm>
            <a:off x="324000" y="4252550"/>
            <a:ext cx="748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The spinner lands on an 11. Using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which two events have just happened?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6" name="Google Shape;2226;p94"/>
          <p:cNvSpPr/>
          <p:nvPr/>
        </p:nvSpPr>
        <p:spPr>
          <a:xfrm>
            <a:off x="2329200" y="1626283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7" name="Google Shape;2227;p94"/>
          <p:cNvSpPr/>
          <p:nvPr/>
        </p:nvSpPr>
        <p:spPr>
          <a:xfrm>
            <a:off x="4945238" y="1267237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8" name="Google Shape;2228;p94"/>
          <p:cNvSpPr/>
          <p:nvPr/>
        </p:nvSpPr>
        <p:spPr>
          <a:xfrm>
            <a:off x="4945238" y="2056712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9" name="Google Shape;2229;p94"/>
          <p:cNvSpPr/>
          <p:nvPr/>
        </p:nvSpPr>
        <p:spPr>
          <a:xfrm>
            <a:off x="5687888" y="3012508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0" name="Google Shape;2230;p94"/>
          <p:cNvSpPr txBox="1"/>
          <p:nvPr/>
        </p:nvSpPr>
        <p:spPr>
          <a:xfrm>
            <a:off x="2536200" y="1663775"/>
            <a:ext cx="97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1, 4, 16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1" name="Google Shape;2231;p94"/>
          <p:cNvSpPr txBox="1"/>
          <p:nvPr/>
        </p:nvSpPr>
        <p:spPr>
          <a:xfrm>
            <a:off x="5144450" y="2094200"/>
            <a:ext cx="97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1, 4, 16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2" name="Google Shape;2232;p94"/>
          <p:cNvSpPr txBox="1"/>
          <p:nvPr/>
        </p:nvSpPr>
        <p:spPr>
          <a:xfrm>
            <a:off x="5894900" y="3062950"/>
            <a:ext cx="97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3" name="Google Shape;2233;p94"/>
          <p:cNvSpPr txBox="1"/>
          <p:nvPr/>
        </p:nvSpPr>
        <p:spPr>
          <a:xfrm>
            <a:off x="3513000" y="4512600"/>
            <a:ext cx="477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number that isn’t square, but is prime.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95"/>
          <p:cNvSpPr/>
          <p:nvPr/>
        </p:nvSpPr>
        <p:spPr>
          <a:xfrm>
            <a:off x="2133225" y="1700675"/>
            <a:ext cx="18180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39" name="Google Shape;2239;p95"/>
          <p:cNvGrpSpPr/>
          <p:nvPr/>
        </p:nvGrpSpPr>
        <p:grpSpPr>
          <a:xfrm>
            <a:off x="4874377" y="1336000"/>
            <a:ext cx="2336400" cy="765608"/>
            <a:chOff x="2133225" y="3433500"/>
            <a:chExt cx="2336400" cy="765608"/>
          </a:xfrm>
        </p:grpSpPr>
        <p:sp>
          <p:nvSpPr>
            <p:cNvPr id="2240" name="Google Shape;2240;p95"/>
            <p:cNvSpPr/>
            <p:nvPr/>
          </p:nvSpPr>
          <p:spPr>
            <a:xfrm>
              <a:off x="2329200" y="3816308"/>
              <a:ext cx="13908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1" name="Google Shape;2241;p95"/>
            <p:cNvSpPr/>
            <p:nvPr/>
          </p:nvSpPr>
          <p:spPr>
            <a:xfrm>
              <a:off x="2133225" y="3433500"/>
              <a:ext cx="23364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42" name="Google Shape;2242;p95"/>
          <p:cNvGrpSpPr/>
          <p:nvPr/>
        </p:nvGrpSpPr>
        <p:grpSpPr>
          <a:xfrm>
            <a:off x="4874377" y="2127063"/>
            <a:ext cx="2336400" cy="765608"/>
            <a:chOff x="2133225" y="3433500"/>
            <a:chExt cx="2336400" cy="765608"/>
          </a:xfrm>
        </p:grpSpPr>
        <p:sp>
          <p:nvSpPr>
            <p:cNvPr id="2243" name="Google Shape;2243;p95"/>
            <p:cNvSpPr/>
            <p:nvPr/>
          </p:nvSpPr>
          <p:spPr>
            <a:xfrm>
              <a:off x="2329200" y="3816308"/>
              <a:ext cx="13908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4" name="Google Shape;2244;p95"/>
            <p:cNvSpPr/>
            <p:nvPr/>
          </p:nvSpPr>
          <p:spPr>
            <a:xfrm>
              <a:off x="2133225" y="3433500"/>
              <a:ext cx="23364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45" name="Google Shape;2245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cxnSp>
        <p:nvCxnSpPr>
          <p:cNvPr id="2246" name="Google Shape;2246;p95"/>
          <p:cNvCxnSpPr/>
          <p:nvPr/>
        </p:nvCxnSpPr>
        <p:spPr>
          <a:xfrm flipH="1" rot="10800000">
            <a:off x="1319923" y="1950724"/>
            <a:ext cx="813300" cy="74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7" name="Google Shape;2247;p95"/>
          <p:cNvCxnSpPr/>
          <p:nvPr/>
        </p:nvCxnSpPr>
        <p:spPr>
          <a:xfrm>
            <a:off x="1319923" y="2905957"/>
            <a:ext cx="813300" cy="74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8" name="Google Shape;2248;p95"/>
          <p:cNvSpPr txBox="1"/>
          <p:nvPr/>
        </p:nvSpPr>
        <p:spPr>
          <a:xfrm>
            <a:off x="2224799" y="1751275"/>
            <a:ext cx="159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 of 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49" name="Google Shape;2249;p95"/>
          <p:cNvGrpSpPr/>
          <p:nvPr/>
        </p:nvGrpSpPr>
        <p:grpSpPr>
          <a:xfrm>
            <a:off x="3973501" y="1574935"/>
            <a:ext cx="813170" cy="792427"/>
            <a:chOff x="3697470" y="2919050"/>
            <a:chExt cx="561000" cy="1002437"/>
          </a:xfrm>
        </p:grpSpPr>
        <p:cxnSp>
          <p:nvCxnSpPr>
            <p:cNvPr id="2250" name="Google Shape;2250;p95"/>
            <p:cNvCxnSpPr/>
            <p:nvPr/>
          </p:nvCxnSpPr>
          <p:spPr>
            <a:xfrm flipH="1" rot="10800000">
              <a:off x="3697470" y="2919050"/>
              <a:ext cx="56100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1" name="Google Shape;2251;p95"/>
            <p:cNvCxnSpPr/>
            <p:nvPr/>
          </p:nvCxnSpPr>
          <p:spPr>
            <a:xfrm>
              <a:off x="3697470" y="3481687"/>
              <a:ext cx="56100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52" name="Google Shape;2252;p95"/>
          <p:cNvGrpSpPr/>
          <p:nvPr/>
        </p:nvGrpSpPr>
        <p:grpSpPr>
          <a:xfrm>
            <a:off x="4564867" y="3304454"/>
            <a:ext cx="813170" cy="792427"/>
            <a:chOff x="3697470" y="2919050"/>
            <a:chExt cx="561000" cy="1002437"/>
          </a:xfrm>
        </p:grpSpPr>
        <p:cxnSp>
          <p:nvCxnSpPr>
            <p:cNvPr id="2253" name="Google Shape;2253;p95"/>
            <p:cNvCxnSpPr/>
            <p:nvPr/>
          </p:nvCxnSpPr>
          <p:spPr>
            <a:xfrm flipH="1" rot="10800000">
              <a:off x="3697470" y="2919050"/>
              <a:ext cx="56100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4" name="Google Shape;2254;p95"/>
            <p:cNvCxnSpPr/>
            <p:nvPr/>
          </p:nvCxnSpPr>
          <p:spPr>
            <a:xfrm>
              <a:off x="3697470" y="3481687"/>
              <a:ext cx="561000" cy="439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55" name="Google Shape;2255;p95"/>
          <p:cNvSpPr/>
          <p:nvPr/>
        </p:nvSpPr>
        <p:spPr>
          <a:xfrm>
            <a:off x="2329200" y="2083483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6" name="Google Shape;2256;p95"/>
          <p:cNvSpPr/>
          <p:nvPr/>
        </p:nvSpPr>
        <p:spPr>
          <a:xfrm>
            <a:off x="2329200" y="3816308"/>
            <a:ext cx="13908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7" name="Google Shape;2257;p95"/>
          <p:cNvSpPr/>
          <p:nvPr/>
        </p:nvSpPr>
        <p:spPr>
          <a:xfrm>
            <a:off x="2133225" y="3433500"/>
            <a:ext cx="23364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8" name="Google Shape;2258;p95"/>
          <p:cNvSpPr txBox="1"/>
          <p:nvPr/>
        </p:nvSpPr>
        <p:spPr>
          <a:xfrm>
            <a:off x="324000" y="6021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A spinner has outcomes of: {5, 9, 15, 25, 28, 441}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Complete this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9" name="Google Shape;2259;p95"/>
          <p:cNvSpPr txBox="1"/>
          <p:nvPr/>
        </p:nvSpPr>
        <p:spPr>
          <a:xfrm>
            <a:off x="2536200" y="2120975"/>
            <a:ext cx="97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5, 15, 25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0" name="Google Shape;2260;p95"/>
          <p:cNvSpPr txBox="1"/>
          <p:nvPr/>
        </p:nvSpPr>
        <p:spPr>
          <a:xfrm>
            <a:off x="2133300" y="3471000"/>
            <a:ext cx="233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 a multiple of 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1" name="Google Shape;2261;p95"/>
          <p:cNvSpPr txBox="1"/>
          <p:nvPr/>
        </p:nvSpPr>
        <p:spPr>
          <a:xfrm>
            <a:off x="2370350" y="3853800"/>
            <a:ext cx="130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9, 28, 441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262" name="Google Shape;2262;p95"/>
          <p:cNvGrpSpPr/>
          <p:nvPr/>
        </p:nvGrpSpPr>
        <p:grpSpPr>
          <a:xfrm>
            <a:off x="5484537" y="3086153"/>
            <a:ext cx="2336400" cy="765608"/>
            <a:chOff x="2133225" y="3433500"/>
            <a:chExt cx="2336400" cy="765608"/>
          </a:xfrm>
        </p:grpSpPr>
        <p:sp>
          <p:nvSpPr>
            <p:cNvPr id="2263" name="Google Shape;2263;p95"/>
            <p:cNvSpPr/>
            <p:nvPr/>
          </p:nvSpPr>
          <p:spPr>
            <a:xfrm>
              <a:off x="2329200" y="3816308"/>
              <a:ext cx="13908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4" name="Google Shape;2264;p95"/>
            <p:cNvSpPr/>
            <p:nvPr/>
          </p:nvSpPr>
          <p:spPr>
            <a:xfrm>
              <a:off x="2133225" y="3433500"/>
              <a:ext cx="23364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65" name="Google Shape;2265;p95"/>
          <p:cNvGrpSpPr/>
          <p:nvPr/>
        </p:nvGrpSpPr>
        <p:grpSpPr>
          <a:xfrm>
            <a:off x="5484524" y="3877225"/>
            <a:ext cx="2573100" cy="765598"/>
            <a:chOff x="2133211" y="3433509"/>
            <a:chExt cx="2573100" cy="765598"/>
          </a:xfrm>
        </p:grpSpPr>
        <p:sp>
          <p:nvSpPr>
            <p:cNvPr id="2266" name="Google Shape;2266;p95"/>
            <p:cNvSpPr/>
            <p:nvPr/>
          </p:nvSpPr>
          <p:spPr>
            <a:xfrm>
              <a:off x="2329200" y="3816308"/>
              <a:ext cx="13908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7" name="Google Shape;2267;p95"/>
            <p:cNvSpPr/>
            <p:nvPr/>
          </p:nvSpPr>
          <p:spPr>
            <a:xfrm>
              <a:off x="2133211" y="3433509"/>
              <a:ext cx="2573100" cy="382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68" name="Google Shape;2268;p95"/>
          <p:cNvSpPr txBox="1"/>
          <p:nvPr/>
        </p:nvSpPr>
        <p:spPr>
          <a:xfrm>
            <a:off x="5534675" y="3930575"/>
            <a:ext cx="252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 square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9" name="Google Shape;2269;p95"/>
          <p:cNvSpPr txBox="1"/>
          <p:nvPr/>
        </p:nvSpPr>
        <p:spPr>
          <a:xfrm>
            <a:off x="4935750" y="1371220"/>
            <a:ext cx="22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square number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0" name="Google Shape;2270;p95"/>
          <p:cNvSpPr txBox="1"/>
          <p:nvPr/>
        </p:nvSpPr>
        <p:spPr>
          <a:xfrm>
            <a:off x="4935750" y="2163322"/>
            <a:ext cx="22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 a square number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1" name="Google Shape;2271;p95"/>
          <p:cNvSpPr txBox="1"/>
          <p:nvPr/>
        </p:nvSpPr>
        <p:spPr>
          <a:xfrm>
            <a:off x="5534675" y="3125395"/>
            <a:ext cx="227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square number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2" name="Google Shape;2272;p95"/>
          <p:cNvSpPr txBox="1"/>
          <p:nvPr/>
        </p:nvSpPr>
        <p:spPr>
          <a:xfrm>
            <a:off x="5083950" y="1754950"/>
            <a:ext cx="136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3" name="Google Shape;2273;p95"/>
          <p:cNvSpPr txBox="1"/>
          <p:nvPr/>
        </p:nvSpPr>
        <p:spPr>
          <a:xfrm>
            <a:off x="5083950" y="2549125"/>
            <a:ext cx="136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5, 15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4" name="Google Shape;2274;p95"/>
          <p:cNvSpPr txBox="1"/>
          <p:nvPr/>
        </p:nvSpPr>
        <p:spPr>
          <a:xfrm>
            <a:off x="5696647" y="3506461"/>
            <a:ext cx="136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9, 441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5" name="Google Shape;2275;p95"/>
          <p:cNvSpPr txBox="1"/>
          <p:nvPr/>
        </p:nvSpPr>
        <p:spPr>
          <a:xfrm>
            <a:off x="5696647" y="4296908"/>
            <a:ext cx="136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p96"/>
          <p:cNvSpPr txBox="1"/>
          <p:nvPr/>
        </p:nvSpPr>
        <p:spPr>
          <a:xfrm>
            <a:off x="2353876" y="3615550"/>
            <a:ext cx="24702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 a square number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1" name="Google Shape;2281;p96"/>
          <p:cNvSpPr txBox="1"/>
          <p:nvPr/>
        </p:nvSpPr>
        <p:spPr>
          <a:xfrm>
            <a:off x="324000" y="602175"/>
            <a:ext cx="7515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A spinner has outcomes of: {1, 4, 8, 16, 25, 27, 30, 36, 39, 64}.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Jacob is going to spin this spinner and looks for the events of landing on a square number that is also a cube number.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2" name="Google Shape;2282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pic>
        <p:nvPicPr>
          <p:cNvPr id="2283" name="Google Shape;228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19024" y="709401"/>
            <a:ext cx="668950" cy="8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4" name="Google Shape;2284;p96"/>
          <p:cNvSpPr txBox="1"/>
          <p:nvPr/>
        </p:nvSpPr>
        <p:spPr>
          <a:xfrm>
            <a:off x="7887000" y="1533425"/>
            <a:ext cx="93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5" name="Google Shape;2285;p96"/>
          <p:cNvSpPr txBox="1"/>
          <p:nvPr/>
        </p:nvSpPr>
        <p:spPr>
          <a:xfrm>
            <a:off x="2577800" y="2527725"/>
            <a:ext cx="12645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1, 4, 16, 25, 36, 64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86" name="Google Shape;2286;p96"/>
          <p:cNvCxnSpPr/>
          <p:nvPr/>
        </p:nvCxnSpPr>
        <p:spPr>
          <a:xfrm flipH="1" rot="10800000">
            <a:off x="1472329" y="2323870"/>
            <a:ext cx="813300" cy="644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7" name="Google Shape;2287;p96"/>
          <p:cNvCxnSpPr/>
          <p:nvPr/>
        </p:nvCxnSpPr>
        <p:spPr>
          <a:xfrm>
            <a:off x="1472329" y="3148211"/>
            <a:ext cx="813300" cy="644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8" name="Google Shape;2288;p96"/>
          <p:cNvSpPr txBox="1"/>
          <p:nvPr/>
        </p:nvSpPr>
        <p:spPr>
          <a:xfrm>
            <a:off x="2377200" y="2199325"/>
            <a:ext cx="201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square number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9" name="Google Shape;2289;p96"/>
          <p:cNvSpPr txBox="1"/>
          <p:nvPr/>
        </p:nvSpPr>
        <p:spPr>
          <a:xfrm>
            <a:off x="2577800" y="3958475"/>
            <a:ext cx="14793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8, 27, 30, 39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90" name="Google Shape;2290;p96"/>
          <p:cNvCxnSpPr/>
          <p:nvPr/>
        </p:nvCxnSpPr>
        <p:spPr>
          <a:xfrm flipH="1" rot="10800000">
            <a:off x="4112126" y="1995718"/>
            <a:ext cx="813300" cy="30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1" name="Google Shape;2291;p96"/>
          <p:cNvCxnSpPr/>
          <p:nvPr/>
        </p:nvCxnSpPr>
        <p:spPr>
          <a:xfrm>
            <a:off x="4112126" y="2391016"/>
            <a:ext cx="813300" cy="30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2" name="Google Shape;2292;p96"/>
          <p:cNvSpPr txBox="1"/>
          <p:nvPr/>
        </p:nvSpPr>
        <p:spPr>
          <a:xfrm>
            <a:off x="4980102" y="1851968"/>
            <a:ext cx="2080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cube number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3" name="Google Shape;2293;p96"/>
          <p:cNvSpPr txBox="1"/>
          <p:nvPr/>
        </p:nvSpPr>
        <p:spPr>
          <a:xfrm>
            <a:off x="4980114" y="2567915"/>
            <a:ext cx="2450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 a cube number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94" name="Google Shape;2294;p96"/>
          <p:cNvCxnSpPr/>
          <p:nvPr/>
        </p:nvCxnSpPr>
        <p:spPr>
          <a:xfrm flipH="1" rot="10800000">
            <a:off x="4744137" y="3462058"/>
            <a:ext cx="813300" cy="30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5" name="Google Shape;2295;p96"/>
          <p:cNvCxnSpPr/>
          <p:nvPr/>
        </p:nvCxnSpPr>
        <p:spPr>
          <a:xfrm>
            <a:off x="4744137" y="3857357"/>
            <a:ext cx="813300" cy="30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6" name="Google Shape;2296;p96"/>
          <p:cNvSpPr txBox="1"/>
          <p:nvPr/>
        </p:nvSpPr>
        <p:spPr>
          <a:xfrm>
            <a:off x="5612113" y="3318309"/>
            <a:ext cx="2080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cube number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7" name="Google Shape;2297;p96"/>
          <p:cNvSpPr txBox="1"/>
          <p:nvPr/>
        </p:nvSpPr>
        <p:spPr>
          <a:xfrm>
            <a:off x="5612125" y="4034255"/>
            <a:ext cx="2450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 a cube number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8" name="Google Shape;2298;p96"/>
          <p:cNvSpPr txBox="1"/>
          <p:nvPr/>
        </p:nvSpPr>
        <p:spPr>
          <a:xfrm>
            <a:off x="6060139" y="2122625"/>
            <a:ext cx="11325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1, 64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9" name="Google Shape;2299;p96"/>
          <p:cNvSpPr txBox="1"/>
          <p:nvPr/>
        </p:nvSpPr>
        <p:spPr>
          <a:xfrm>
            <a:off x="6060143" y="2853275"/>
            <a:ext cx="17031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4, 16, 25, 36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0" name="Google Shape;2300;p96"/>
          <p:cNvSpPr txBox="1"/>
          <p:nvPr/>
        </p:nvSpPr>
        <p:spPr>
          <a:xfrm>
            <a:off x="6677800" y="3583975"/>
            <a:ext cx="12093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8, 27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1" name="Google Shape;2301;p96"/>
          <p:cNvSpPr txBox="1"/>
          <p:nvPr/>
        </p:nvSpPr>
        <p:spPr>
          <a:xfrm>
            <a:off x="6677800" y="4314675"/>
            <a:ext cx="10926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30, 39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2" name="Google Shape;2302;p96"/>
          <p:cNvSpPr/>
          <p:nvPr/>
        </p:nvSpPr>
        <p:spPr>
          <a:xfrm>
            <a:off x="4925300" y="1832450"/>
            <a:ext cx="1813500" cy="579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3" name="Google Shape;2303;p96"/>
          <p:cNvSpPr txBox="1"/>
          <p:nvPr/>
        </p:nvSpPr>
        <p:spPr>
          <a:xfrm>
            <a:off x="6773175" y="2000750"/>
            <a:ext cx="17031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two outcomes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 trees from two events</a:t>
            </a:r>
            <a:endParaRPr/>
          </a:p>
        </p:txBody>
      </p:sp>
      <p:sp>
        <p:nvSpPr>
          <p:cNvPr id="2309" name="Google Shape;2309;p97"/>
          <p:cNvSpPr txBox="1"/>
          <p:nvPr/>
        </p:nvSpPr>
        <p:spPr>
          <a:xfrm>
            <a:off x="6259546" y="1153429"/>
            <a:ext cx="198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0" name="Google Shape;2310;p97"/>
          <p:cNvSpPr txBox="1"/>
          <p:nvPr/>
        </p:nvSpPr>
        <p:spPr>
          <a:xfrm>
            <a:off x="6744402" y="1153429"/>
            <a:ext cx="198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1" name="Google Shape;2311;p97"/>
          <p:cNvSpPr txBox="1"/>
          <p:nvPr/>
        </p:nvSpPr>
        <p:spPr>
          <a:xfrm>
            <a:off x="7178981" y="1164057"/>
            <a:ext cx="198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2" name="Google Shape;2312;p97"/>
          <p:cNvSpPr txBox="1"/>
          <p:nvPr/>
        </p:nvSpPr>
        <p:spPr>
          <a:xfrm>
            <a:off x="7650873" y="1164057"/>
            <a:ext cx="198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3" name="Google Shape;2313;p97"/>
          <p:cNvSpPr txBox="1"/>
          <p:nvPr/>
        </p:nvSpPr>
        <p:spPr>
          <a:xfrm>
            <a:off x="8135729" y="1164057"/>
            <a:ext cx="198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4" name="Google Shape;2314;p97"/>
          <p:cNvSpPr txBox="1"/>
          <p:nvPr/>
        </p:nvSpPr>
        <p:spPr>
          <a:xfrm>
            <a:off x="6304896" y="1880915"/>
            <a:ext cx="198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5" name="Google Shape;2315;p97"/>
          <p:cNvSpPr txBox="1"/>
          <p:nvPr/>
        </p:nvSpPr>
        <p:spPr>
          <a:xfrm>
            <a:off x="6776788" y="1880915"/>
            <a:ext cx="198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6" name="Google Shape;2316;p97"/>
          <p:cNvSpPr txBox="1"/>
          <p:nvPr/>
        </p:nvSpPr>
        <p:spPr>
          <a:xfrm>
            <a:off x="7296647" y="1880915"/>
            <a:ext cx="198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7" name="Google Shape;2317;p97"/>
          <p:cNvSpPr txBox="1"/>
          <p:nvPr/>
        </p:nvSpPr>
        <p:spPr>
          <a:xfrm>
            <a:off x="7787985" y="1880915"/>
            <a:ext cx="198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8" name="Google Shape;231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1325" y="683417"/>
            <a:ext cx="313557" cy="439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9" name="Google Shape;2319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2945" y="1459813"/>
            <a:ext cx="286459" cy="389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0" name="Google Shape;2320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07475" y="680509"/>
            <a:ext cx="272910" cy="491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1" name="Google Shape;2321;p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71512" y="1424017"/>
            <a:ext cx="242164" cy="4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2" name="Google Shape;2322;p9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48746" y="662451"/>
            <a:ext cx="276782" cy="505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3" name="Google Shape;2323;p9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12779" y="1430787"/>
            <a:ext cx="276262" cy="4471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4" name="Google Shape;2324;p97"/>
          <p:cNvGrpSpPr/>
          <p:nvPr/>
        </p:nvGrpSpPr>
        <p:grpSpPr>
          <a:xfrm>
            <a:off x="6653296" y="638897"/>
            <a:ext cx="319368" cy="476174"/>
            <a:chOff x="1984114" y="1120943"/>
            <a:chExt cx="477596" cy="712090"/>
          </a:xfrm>
        </p:grpSpPr>
        <p:pic>
          <p:nvPicPr>
            <p:cNvPr id="2325" name="Google Shape;2325;p97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984114" y="1199133"/>
              <a:ext cx="477596" cy="63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6" name="Google Shape;2326;p97"/>
            <p:cNvPicPr preferRelativeResize="0"/>
            <p:nvPr/>
          </p:nvPicPr>
          <p:blipFill rotWithShape="1">
            <a:blip r:embed="rId7">
              <a:alphaModFix/>
            </a:blip>
            <a:srcRect b="81988" l="0" r="0" t="0"/>
            <a:stretch/>
          </p:blipFill>
          <p:spPr>
            <a:xfrm>
              <a:off x="2043225" y="1120943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7" name="Google Shape;2327;p97"/>
          <p:cNvGrpSpPr/>
          <p:nvPr/>
        </p:nvGrpSpPr>
        <p:grpSpPr>
          <a:xfrm>
            <a:off x="7141050" y="677970"/>
            <a:ext cx="324402" cy="444841"/>
            <a:chOff x="2713519" y="1179374"/>
            <a:chExt cx="485123" cy="665232"/>
          </a:xfrm>
        </p:grpSpPr>
        <p:pic>
          <p:nvPicPr>
            <p:cNvPr id="2328" name="Google Shape;2328;p97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713519" y="1257018"/>
              <a:ext cx="445756" cy="587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9" name="Google Shape;2329;p97"/>
            <p:cNvPicPr preferRelativeResize="0"/>
            <p:nvPr/>
          </p:nvPicPr>
          <p:blipFill rotWithShape="1">
            <a:blip r:embed="rId7">
              <a:alphaModFix/>
            </a:blip>
            <a:srcRect b="81988" l="0" r="0" t="0"/>
            <a:stretch/>
          </p:blipFill>
          <p:spPr>
            <a:xfrm>
              <a:off x="2784717" y="1179374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30" name="Google Shape;2330;p97"/>
          <p:cNvGrpSpPr/>
          <p:nvPr/>
        </p:nvGrpSpPr>
        <p:grpSpPr>
          <a:xfrm>
            <a:off x="6262638" y="1376582"/>
            <a:ext cx="316748" cy="486320"/>
            <a:chOff x="4876452" y="1152087"/>
            <a:chExt cx="473678" cy="727261"/>
          </a:xfrm>
        </p:grpSpPr>
        <p:pic>
          <p:nvPicPr>
            <p:cNvPr id="2331" name="Google Shape;2331;p97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876452" y="1222293"/>
              <a:ext cx="451545" cy="6570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2" name="Google Shape;2332;p97"/>
            <p:cNvPicPr preferRelativeResize="0"/>
            <p:nvPr/>
          </p:nvPicPr>
          <p:blipFill rotWithShape="1">
            <a:blip r:embed="rId7">
              <a:alphaModFix/>
            </a:blip>
            <a:srcRect b="81988" l="0" r="0" t="0"/>
            <a:stretch/>
          </p:blipFill>
          <p:spPr>
            <a:xfrm>
              <a:off x="4936205" y="1152087"/>
              <a:ext cx="413925" cy="136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33" name="Google Shape;2333;p97"/>
          <p:cNvSpPr txBox="1"/>
          <p:nvPr/>
        </p:nvSpPr>
        <p:spPr>
          <a:xfrm>
            <a:off x="324000" y="432625"/>
            <a:ext cx="5774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4) In a cafe they have the following drinks on the menu. 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Create an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with the first event being “has a handle” and the second “has a straw”.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4" name="Google Shape;2334;p97"/>
          <p:cNvSpPr txBox="1"/>
          <p:nvPr/>
        </p:nvSpPr>
        <p:spPr>
          <a:xfrm>
            <a:off x="1591875" y="3691750"/>
            <a:ext cx="1295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 handle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5" name="Google Shape;2335;p97"/>
          <p:cNvSpPr txBox="1"/>
          <p:nvPr/>
        </p:nvSpPr>
        <p:spPr>
          <a:xfrm>
            <a:off x="1509982" y="2467493"/>
            <a:ext cx="13590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A, B, C, F, I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36" name="Google Shape;2336;p97"/>
          <p:cNvCxnSpPr/>
          <p:nvPr/>
        </p:nvCxnSpPr>
        <p:spPr>
          <a:xfrm flipH="1" rot="10800000">
            <a:off x="710329" y="2400070"/>
            <a:ext cx="813300" cy="644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7" name="Google Shape;2337;p97"/>
          <p:cNvCxnSpPr/>
          <p:nvPr/>
        </p:nvCxnSpPr>
        <p:spPr>
          <a:xfrm>
            <a:off x="710329" y="3224411"/>
            <a:ext cx="813300" cy="644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8" name="Google Shape;2338;p97"/>
          <p:cNvSpPr txBox="1"/>
          <p:nvPr/>
        </p:nvSpPr>
        <p:spPr>
          <a:xfrm>
            <a:off x="1684800" y="2217975"/>
            <a:ext cx="92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handle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9" name="Google Shape;2339;p97"/>
          <p:cNvSpPr txBox="1"/>
          <p:nvPr/>
        </p:nvSpPr>
        <p:spPr>
          <a:xfrm>
            <a:off x="1587200" y="4034675"/>
            <a:ext cx="14793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D, E, G, H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40" name="Google Shape;2340;p97"/>
          <p:cNvCxnSpPr/>
          <p:nvPr/>
        </p:nvCxnSpPr>
        <p:spPr>
          <a:xfrm flipH="1" rot="10800000">
            <a:off x="2892926" y="2071918"/>
            <a:ext cx="813300" cy="30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1" name="Google Shape;2341;p97"/>
          <p:cNvCxnSpPr/>
          <p:nvPr/>
        </p:nvCxnSpPr>
        <p:spPr>
          <a:xfrm>
            <a:off x="2892926" y="2467216"/>
            <a:ext cx="813300" cy="30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2" name="Google Shape;2342;p97"/>
          <p:cNvSpPr txBox="1"/>
          <p:nvPr/>
        </p:nvSpPr>
        <p:spPr>
          <a:xfrm>
            <a:off x="3837102" y="1928168"/>
            <a:ext cx="2080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straw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3" name="Google Shape;2343;p97"/>
          <p:cNvSpPr txBox="1"/>
          <p:nvPr/>
        </p:nvSpPr>
        <p:spPr>
          <a:xfrm>
            <a:off x="3837114" y="2644115"/>
            <a:ext cx="2450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 straw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44" name="Google Shape;2344;p97"/>
          <p:cNvCxnSpPr/>
          <p:nvPr/>
        </p:nvCxnSpPr>
        <p:spPr>
          <a:xfrm flipH="1" rot="10800000">
            <a:off x="2892926" y="3528068"/>
            <a:ext cx="813300" cy="30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5" name="Google Shape;2345;p97"/>
          <p:cNvCxnSpPr/>
          <p:nvPr/>
        </p:nvCxnSpPr>
        <p:spPr>
          <a:xfrm>
            <a:off x="2892926" y="3923366"/>
            <a:ext cx="813300" cy="30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6" name="Google Shape;2346;p97"/>
          <p:cNvSpPr txBox="1"/>
          <p:nvPr/>
        </p:nvSpPr>
        <p:spPr>
          <a:xfrm>
            <a:off x="3837102" y="3384318"/>
            <a:ext cx="2080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straw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7" name="Google Shape;2347;p97"/>
          <p:cNvSpPr txBox="1"/>
          <p:nvPr/>
        </p:nvSpPr>
        <p:spPr>
          <a:xfrm>
            <a:off x="3837114" y="4100265"/>
            <a:ext cx="2450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not straw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8" name="Google Shape;2348;p97"/>
          <p:cNvSpPr txBox="1"/>
          <p:nvPr/>
        </p:nvSpPr>
        <p:spPr>
          <a:xfrm>
            <a:off x="3684725" y="2159400"/>
            <a:ext cx="1115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B, C, F, I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9" name="Google Shape;2349;p97"/>
          <p:cNvSpPr txBox="1"/>
          <p:nvPr/>
        </p:nvSpPr>
        <p:spPr>
          <a:xfrm>
            <a:off x="3837125" y="2891675"/>
            <a:ext cx="8133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0" name="Google Shape;2350;p97"/>
          <p:cNvSpPr txBox="1"/>
          <p:nvPr/>
        </p:nvSpPr>
        <p:spPr>
          <a:xfrm>
            <a:off x="3750491" y="3601907"/>
            <a:ext cx="14793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D, E, H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1" name="Google Shape;2351;p97"/>
          <p:cNvSpPr txBox="1"/>
          <p:nvPr/>
        </p:nvSpPr>
        <p:spPr>
          <a:xfrm>
            <a:off x="4162118" y="4280025"/>
            <a:ext cx="3168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2" name="Google Shape;2352;p97"/>
          <p:cNvSpPr txBox="1"/>
          <p:nvPr/>
        </p:nvSpPr>
        <p:spPr>
          <a:xfrm>
            <a:off x="5774400" y="2299775"/>
            <a:ext cx="297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On your tree circle the outcomes that represent straw but no handle.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3" name="Google Shape;2353;p97"/>
          <p:cNvSpPr/>
          <p:nvPr/>
        </p:nvSpPr>
        <p:spPr>
          <a:xfrm>
            <a:off x="3671082" y="3596664"/>
            <a:ext cx="996000" cy="4761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7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98"/>
          <p:cNvSpPr txBox="1"/>
          <p:nvPr/>
        </p:nvSpPr>
        <p:spPr>
          <a:xfrm>
            <a:off x="324000" y="906975"/>
            <a:ext cx="8496000" cy="3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branches of an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show outcomes of a trial.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looking at two events from the same trial a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tree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diagram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helps to organise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according to those two events and their combinations.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looking at a two-stage trial the tree can help find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a systematic way by considering the two parts of the trial and their outcomes one at a time.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 space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be made from any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that represents multiple stages of a trial.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9" name="Google Shape;2359;p9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an outcome tree to display outcomes for two events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3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Google Shape;2364;p9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365" name="Google Shape;2365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