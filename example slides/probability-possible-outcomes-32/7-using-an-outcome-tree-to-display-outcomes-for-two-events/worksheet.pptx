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5" r:id="rId3"/>
    <p:sldMasterId id="2147483666" r:id="rId4"/>
  </p:sldMasterIdLst>
  <p:notesMasterIdLst>
    <p:notesMasterId r:id="rId5"/>
  </p:notesMasterIdLst>
  <p:sldIdLst>
    <p:sldId id="256" r:id="rId6"/>
    <p:sldId id="257" r:id="rId7"/>
    <p:sldId id="258" r:id="rId8"/>
  </p:sldIdLst>
  <p:sldSz cy="10692000" cx="7560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3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27996905f60_0_125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27996905f60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2b8413edcaa_0_0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1" name="Google Shape;281;g2b8413edca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g27996905f60_0_130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4" name="Google Shape;384;g27996905f60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COL 1">
  <p:cSld name="SECTION_HEADER_1_1_1_1_1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" name="Google Shape;14;p2"/>
          <p:cNvGrpSpPr/>
          <p:nvPr/>
        </p:nvGrpSpPr>
        <p:grpSpPr>
          <a:xfrm>
            <a:off x="466900" y="962525"/>
            <a:ext cx="2953057" cy="162000"/>
            <a:chOff x="466900" y="962525"/>
            <a:chExt cx="2953057" cy="162000"/>
          </a:xfrm>
        </p:grpSpPr>
        <p:sp>
          <p:nvSpPr>
            <p:cNvPr id="15" name="Google Shape;15;p2"/>
            <p:cNvSpPr txBox="1"/>
            <p:nvPr/>
          </p:nvSpPr>
          <p:spPr>
            <a:xfrm>
              <a:off x="466900" y="962525"/>
              <a:ext cx="2953057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</a:t>
              </a: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: </a:t>
              </a:r>
              <a:endParaRPr b="1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6" name="Google Shape;16;p2"/>
            <p:cNvCxnSpPr/>
            <p:nvPr/>
          </p:nvCxnSpPr>
          <p:spPr>
            <a:xfrm flipH="1" rot="10800000">
              <a:off x="943904" y="1116425"/>
              <a:ext cx="1998900" cy="8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  <p:extLst>
    <p:ext uri="{DCECCB84-F9BA-43D5-87BE-67443E8EF086}">
      <p15:sldGuideLst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COL 1 1">
  <p:cSld name="SECTION_HEADER_1_1_1_1_1_1_1_1_1_3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" type="subTitle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2" type="subTitle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3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4" type="subTitle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5" type="subTitle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6" type="subTitle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7" type="subTitle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idx="8" type="subTitle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7" name="Google Shape;27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28;p3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" name="Google Shape;29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30" name="Google Shape;30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</a:t>
              </a: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: </a:t>
              </a:r>
              <a:endParaRPr b="1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31" name="Google Shape;31;p3"/>
            <p:cNvCxnSpPr/>
            <p:nvPr/>
          </p:nvCxnSpPr>
          <p:spPr>
            <a:xfrm flipH="1" rot="10800000">
              <a:off x="943904" y="1116425"/>
              <a:ext cx="1998900" cy="8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32" name="Google Shape;32;p3"/>
          <p:cNvSpPr txBox="1"/>
          <p:nvPr>
            <p:ph idx="9" type="subTitle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1">
  <p:cSld name="SECTION_HEADER_1_1_1_1_1_1_1_1_1_1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4"/>
          <p:cNvSpPr txBox="1"/>
          <p:nvPr>
            <p:ph idx="1" type="subTitle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idx="2" type="subTitle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idx="3" type="subTitle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7" name="Google Shape;37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4"/>
          <p:cNvSpPr txBox="1"/>
          <p:nvPr>
            <p:ph idx="4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2">
  <p:cSld name="SECTION_HEADER_1_1_1_1_1_1_1_1_1_1_1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5"/>
          <p:cNvSpPr txBox="1"/>
          <p:nvPr>
            <p:ph idx="1" type="subTitle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idx="2" type="subTitle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idx="3" type="subTitle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5"/>
          <p:cNvSpPr txBox="1"/>
          <p:nvPr>
            <p:ph idx="4" type="subTitle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4" name="Google Shape;44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5"/>
          <p:cNvSpPr txBox="1"/>
          <p:nvPr>
            <p:ph idx="5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3">
  <p:cSld name="SECTION_HEADER_1_1_1_1_1_1_1_1_1_1_1_2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6"/>
          <p:cNvSpPr txBox="1"/>
          <p:nvPr>
            <p:ph idx="1" type="subTitle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idx="2" type="subTitle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idx="3" type="subTitle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idx="4" type="subTitle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idx="5" type="subTitle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6"/>
          <p:cNvSpPr txBox="1"/>
          <p:nvPr>
            <p:ph idx="6" type="subTitle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3" name="Google Shape;53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6"/>
          <p:cNvSpPr txBox="1"/>
          <p:nvPr>
            <p:ph idx="7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4">
  <p:cSld name="SECTION_HEADER_1_1_1_1_1_1_1_1_1_1_1_2_1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7"/>
          <p:cNvSpPr txBox="1"/>
          <p:nvPr>
            <p:ph idx="1" type="subTitle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7" name="Google Shape;57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7"/>
          <p:cNvSpPr txBox="1"/>
          <p:nvPr>
            <p:ph idx="2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lements to copy and paste">
  <p:cSld name="SECTION_HEADER_1_1_1_1_1_1_1_1_1_1_1_2_1_1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1" name="Google Shape;61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 Title page">
  <p:cSld name="SECTION_HEADER_1_1_1_1_1_1_1_1_1_1_1_2_1_1_1_1_1">
    <p:bg>
      <p:bgPr>
        <a:solidFill>
          <a:schemeClr val="lt1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67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9" name="Google Shape;69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70" name="Google Shape;70;p10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71" name="Google Shape;71;p10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72" name="Google Shape;72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8" name="Google Shape;78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9" name="Google Shape;79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1" name="Google Shape;81;p11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82" name="Google Shape;82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7" name="Google Shape;87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" name="Google Shape;88;p12"/>
          <p:cNvSpPr txBox="1"/>
          <p:nvPr>
            <p:ph idx="1" type="subTitle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3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3"/>
          <p:cNvSpPr txBox="1"/>
          <p:nvPr>
            <p:ph idx="1" type="subTitle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94" name="Google Shape;94;p13"/>
          <p:cNvSpPr txBox="1"/>
          <p:nvPr>
            <p:ph idx="2" type="subTitle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95" name="Google Shape;95;p13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3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 Single page worksheet">
  <p:cSld name="SECTION_HEADER_1_1_1_1_1_1_1_1_1_1_1_2_1_1_1_1_1_2">
    <p:bg>
      <p:bgPr>
        <a:solidFill>
          <a:schemeClr val="lt1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0" name="Google Shape;100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1" name="Google Shape;101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3" name="Google Shape;103;p14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04" name="Google Shape;104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" name="Google Shape;106;p14"/>
          <p:cNvSpPr txBox="1"/>
          <p:nvPr>
            <p:ph idx="1" type="subTitle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07" name="Google Shape;107;p14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" name="Google Shape;108;p14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2" name="Google Shape;112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3" name="Google Shape;113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5" name="Google Shape;115;p15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16" name="Google Shape;116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" name="Google Shape;118;p15"/>
          <p:cNvSpPr txBox="1"/>
          <p:nvPr>
            <p:ph idx="1" type="subTitle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19" name="Google Shape;119;p15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" name="Google Shape;120;p15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Google Shape;122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6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24" name="Google Shape;124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25" name="Google Shape;125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6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7" name="Google Shape;127;p16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28" name="Google Shape;128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1 Landscape middle page">
  <p:cSld name="SECTION_HEADER_1_1_1_1_1_1_1_1_1_1_1_2_1_1_1_1_1_1_1_1_1_1_1">
    <p:bg>
      <p:bgPr>
        <a:solidFill>
          <a:schemeClr val="lt1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7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3" name="Google Shape;133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" name="Google Shape;134;p17"/>
          <p:cNvSpPr txBox="1"/>
          <p:nvPr>
            <p:ph idx="1" type="subTitle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2 Landscape last page">
  <p:cSld name="SECTION_HEADER_1_1_1_1_1_1_1_1_1_1_1_2_1_1_1_1_1_1_1_1_1_1_1_1">
    <p:bg>
      <p:bgPr>
        <a:solidFill>
          <a:schemeClr val="lt1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Google Shape;136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8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8" name="Google Shape;138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" name="Google Shape;139;p18"/>
          <p:cNvSpPr txBox="1"/>
          <p:nvPr>
            <p:ph idx="1" type="subTitle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140" name="Google Shape;140;p18"/>
          <p:cNvSpPr txBox="1"/>
          <p:nvPr>
            <p:ph idx="2" type="subTitle"/>
          </p:nvPr>
        </p:nvSpPr>
        <p:spPr>
          <a:xfrm rot="-5400000">
            <a:off x="5488475" y="5406175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41" name="Google Shape;141;p18"/>
          <p:cNvSpPr txBox="1"/>
          <p:nvPr/>
        </p:nvSpPr>
        <p:spPr>
          <a:xfrm rot="-5400000">
            <a:off x="3494675" y="6716250"/>
            <a:ext cx="70704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8"/>
          <p:cNvSpPr txBox="1"/>
          <p:nvPr/>
        </p:nvSpPr>
        <p:spPr>
          <a:xfrm rot="-5400000">
            <a:off x="4814975" y="8214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9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47" name="Google Shape;147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9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49" name="Google Shape;149;p19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50" name="Google Shape;150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2" name="Google Shape;152;p19"/>
          <p:cNvSpPr txBox="1"/>
          <p:nvPr>
            <p:ph idx="1" type="subTitle"/>
          </p:nvPr>
        </p:nvSpPr>
        <p:spPr>
          <a:xfrm rot="-5400000">
            <a:off x="5488475" y="5406175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53" name="Google Shape;153;p19"/>
          <p:cNvSpPr txBox="1"/>
          <p:nvPr/>
        </p:nvSpPr>
        <p:spPr>
          <a:xfrm rot="-5400000">
            <a:off x="3494675" y="6716250"/>
            <a:ext cx="70704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4" name="Google Shape;154;p19"/>
          <p:cNvSpPr txBox="1"/>
          <p:nvPr/>
        </p:nvSpPr>
        <p:spPr>
          <a:xfrm rot="-5400000">
            <a:off x="4814975" y="8214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3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slideLayout" Target="../slideLayouts/slideLayout9.xml"/><Relationship Id="rId3" Type="http://schemas.openxmlformats.org/officeDocument/2006/relationships/slideLayout" Target="../slideLayouts/slideLayout10.xml"/><Relationship Id="rId4" Type="http://schemas.openxmlformats.org/officeDocument/2006/relationships/slideLayout" Target="../slideLayouts/slideLayout11.xml"/><Relationship Id="rId11" Type="http://schemas.openxmlformats.org/officeDocument/2006/relationships/theme" Target="../theme/theme2.xml"/><Relationship Id="rId10" Type="http://schemas.openxmlformats.org/officeDocument/2006/relationships/slideLayout" Target="../slideLayouts/slideLayout17.xml"/><Relationship Id="rId9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4.xml"/><Relationship Id="rId8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4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4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Relationship Id="rId4" Type="http://schemas.openxmlformats.org/officeDocument/2006/relationships/image" Target="../media/image6.png"/><Relationship Id="rId11" Type="http://schemas.openxmlformats.org/officeDocument/2006/relationships/image" Target="../media/image11.png"/><Relationship Id="rId10" Type="http://schemas.openxmlformats.org/officeDocument/2006/relationships/image" Target="../media/image9.png"/><Relationship Id="rId12" Type="http://schemas.openxmlformats.org/officeDocument/2006/relationships/image" Target="../media/image16.png"/><Relationship Id="rId9" Type="http://schemas.openxmlformats.org/officeDocument/2006/relationships/image" Target="../media/image15.png"/><Relationship Id="rId5" Type="http://schemas.openxmlformats.org/officeDocument/2006/relationships/image" Target="../media/image13.png"/><Relationship Id="rId6" Type="http://schemas.openxmlformats.org/officeDocument/2006/relationships/image" Target="../media/image10.png"/><Relationship Id="rId7" Type="http://schemas.openxmlformats.org/officeDocument/2006/relationships/image" Target="../media/image7.png"/><Relationship Id="rId8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0"/>
          <p:cNvSpPr txBox="1"/>
          <p:nvPr>
            <p:ph type="title"/>
          </p:nvPr>
        </p:nvSpPr>
        <p:spPr>
          <a:xfrm>
            <a:off x="468000" y="864000"/>
            <a:ext cx="6624000" cy="554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an outcome tree to display outcomes for two events</a:t>
            </a:r>
            <a:endParaRPr/>
          </a:p>
        </p:txBody>
      </p:sp>
      <p:sp>
        <p:nvSpPr>
          <p:cNvPr id="160" name="Google Shape;160;p2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61" name="Google Shape;161;p20"/>
          <p:cNvSpPr txBox="1"/>
          <p:nvPr/>
        </p:nvSpPr>
        <p:spPr>
          <a:xfrm>
            <a:off x="3903775" y="2117450"/>
            <a:ext cx="31881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Spinners 1 and 2 will be spun once each.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2" name="Google Shape;162;p20"/>
          <p:cNvSpPr txBox="1"/>
          <p:nvPr/>
        </p:nvSpPr>
        <p:spPr>
          <a:xfrm>
            <a:off x="588274" y="2117450"/>
            <a:ext cx="2831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This spinner will be spun once.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Complete the </a:t>
            </a:r>
            <a:r>
              <a:rPr b="1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outcome tree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for this single-stage trial.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20"/>
          <p:cNvSpPr txBox="1"/>
          <p:nvPr/>
        </p:nvSpPr>
        <p:spPr>
          <a:xfrm>
            <a:off x="474748" y="1639850"/>
            <a:ext cx="62352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A:  Outcome trees for two-stage trials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64" name="Google Shape;164;p20"/>
          <p:cNvCxnSpPr/>
          <p:nvPr/>
        </p:nvCxnSpPr>
        <p:spPr>
          <a:xfrm flipH="1">
            <a:off x="3771224" y="2044704"/>
            <a:ext cx="9900" cy="79290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65" name="Google Shape;165;p20"/>
          <p:cNvGrpSpPr/>
          <p:nvPr/>
        </p:nvGrpSpPr>
        <p:grpSpPr>
          <a:xfrm>
            <a:off x="456977" y="2872153"/>
            <a:ext cx="1182523" cy="1182523"/>
            <a:chOff x="324176" y="1873177"/>
            <a:chExt cx="1547400" cy="1547400"/>
          </a:xfrm>
        </p:grpSpPr>
        <p:sp>
          <p:nvSpPr>
            <p:cNvPr id="166" name="Google Shape;166;p20"/>
            <p:cNvSpPr/>
            <p:nvPr/>
          </p:nvSpPr>
          <p:spPr>
            <a:xfrm>
              <a:off x="533846" y="2082809"/>
              <a:ext cx="1128000" cy="1128000"/>
            </a:xfrm>
            <a:prstGeom prst="ellipse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67" name="Google Shape;167;p2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553201" y="2080996"/>
              <a:ext cx="1108500" cy="1108500"/>
            </a:xfrm>
            <a:prstGeom prst="pie">
              <a:avLst>
                <a:gd fmla="val 3321768" name="adj1"/>
                <a:gd fmla="val 7600233" name="adj2"/>
              </a:avLst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pic>
        <p:sp>
          <p:nvSpPr>
            <p:cNvPr id="168" name="Google Shape;168;p20"/>
            <p:cNvSpPr/>
            <p:nvPr/>
          </p:nvSpPr>
          <p:spPr>
            <a:xfrm rot="8649783">
              <a:off x="543715" y="2092717"/>
              <a:ext cx="1108320" cy="1108320"/>
            </a:xfrm>
            <a:prstGeom prst="pie">
              <a:avLst>
                <a:gd fmla="val 11928607" name="adj1"/>
                <a:gd fmla="val 16225322" name="adj2"/>
              </a:avLst>
            </a:prstGeom>
            <a:solidFill>
              <a:srgbClr val="9E9E9E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" name="Google Shape;169;p20"/>
            <p:cNvSpPr/>
            <p:nvPr/>
          </p:nvSpPr>
          <p:spPr>
            <a:xfrm rot="-4309794">
              <a:off x="543857" y="2092830"/>
              <a:ext cx="1108264" cy="1108264"/>
            </a:xfrm>
            <a:prstGeom prst="pie">
              <a:avLst>
                <a:gd fmla="val 11928607" name="adj1"/>
                <a:gd fmla="val 16225322" name="adj2"/>
              </a:avLst>
            </a:prstGeom>
            <a:solidFill>
              <a:srgbClr val="FFFFFF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" name="Google Shape;170;p20"/>
            <p:cNvSpPr/>
            <p:nvPr/>
          </p:nvSpPr>
          <p:spPr>
            <a:xfrm>
              <a:off x="543850" y="2092903"/>
              <a:ext cx="1108200" cy="1108200"/>
            </a:xfrm>
            <a:prstGeom prst="pie">
              <a:avLst>
                <a:gd fmla="val 11928607" name="adj1"/>
                <a:gd fmla="val 16225322" name="adj2"/>
              </a:avLst>
            </a:prstGeom>
            <a:solidFill>
              <a:srgbClr val="434343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" name="Google Shape;171;p20"/>
            <p:cNvSpPr/>
            <p:nvPr/>
          </p:nvSpPr>
          <p:spPr>
            <a:xfrm rot="4312737">
              <a:off x="543727" y="2092593"/>
              <a:ext cx="1108268" cy="1108268"/>
            </a:xfrm>
            <a:prstGeom prst="pie">
              <a:avLst>
                <a:gd fmla="val 11928607" name="adj1"/>
                <a:gd fmla="val 16225322" name="adj2"/>
              </a:avLst>
            </a:prstGeom>
            <a:solidFill>
              <a:srgbClr val="EEEEEE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" name="Google Shape;172;p20"/>
            <p:cNvSpPr txBox="1"/>
            <p:nvPr/>
          </p:nvSpPr>
          <p:spPr>
            <a:xfrm>
              <a:off x="1099350" y="2138475"/>
              <a:ext cx="467100" cy="49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173" name="Google Shape;173;p20"/>
            <p:cNvGrpSpPr/>
            <p:nvPr/>
          </p:nvGrpSpPr>
          <p:grpSpPr>
            <a:xfrm>
              <a:off x="1065467" y="2119992"/>
              <a:ext cx="62453" cy="543383"/>
              <a:chOff x="996050" y="213293"/>
              <a:chExt cx="93900" cy="909732"/>
            </a:xfrm>
          </p:grpSpPr>
          <p:cxnSp>
            <p:nvCxnSpPr>
              <p:cNvPr id="174" name="Google Shape;174;p20"/>
              <p:cNvCxnSpPr/>
              <p:nvPr/>
            </p:nvCxnSpPr>
            <p:spPr>
              <a:xfrm rot="10800000">
                <a:off x="1046672" y="213293"/>
                <a:ext cx="0" cy="8514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sp>
            <p:nvSpPr>
              <p:cNvPr id="175" name="Google Shape;175;p20"/>
              <p:cNvSpPr/>
              <p:nvPr/>
            </p:nvSpPr>
            <p:spPr>
              <a:xfrm>
                <a:off x="996050" y="1029125"/>
                <a:ext cx="93900" cy="93900"/>
              </a:xfrm>
              <a:prstGeom prst="ellipse">
                <a:avLst/>
              </a:prstGeom>
              <a:solidFill>
                <a:srgbClr val="FFFFFF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76" name="Google Shape;176;p20"/>
            <p:cNvSpPr/>
            <p:nvPr/>
          </p:nvSpPr>
          <p:spPr>
            <a:xfrm>
              <a:off x="980826" y="2874537"/>
              <a:ext cx="210300" cy="1980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" name="Google Shape;177;p20"/>
            <p:cNvSpPr txBox="1"/>
            <p:nvPr/>
          </p:nvSpPr>
          <p:spPr>
            <a:xfrm>
              <a:off x="1173113" y="2498920"/>
              <a:ext cx="467100" cy="49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8" name="Google Shape;178;p20"/>
            <p:cNvSpPr txBox="1"/>
            <p:nvPr/>
          </p:nvSpPr>
          <p:spPr>
            <a:xfrm flipH="1">
              <a:off x="628788" y="2138475"/>
              <a:ext cx="467100" cy="49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E</a:t>
              </a:r>
              <a:endParaRPr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9" name="Google Shape;179;p20"/>
            <p:cNvSpPr txBox="1"/>
            <p:nvPr/>
          </p:nvSpPr>
          <p:spPr>
            <a:xfrm flipH="1">
              <a:off x="555025" y="2498920"/>
              <a:ext cx="467100" cy="49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0" name="Google Shape;180;p20"/>
            <p:cNvSpPr txBox="1"/>
            <p:nvPr/>
          </p:nvSpPr>
          <p:spPr>
            <a:xfrm>
              <a:off x="980821" y="2910488"/>
              <a:ext cx="210300" cy="126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81" name="Google Shape;181;p20"/>
          <p:cNvGrpSpPr/>
          <p:nvPr/>
        </p:nvGrpSpPr>
        <p:grpSpPr>
          <a:xfrm>
            <a:off x="1411540" y="3331190"/>
            <a:ext cx="1266666" cy="1802237"/>
            <a:chOff x="390126" y="2329066"/>
            <a:chExt cx="1657506" cy="2358332"/>
          </a:xfrm>
        </p:grpSpPr>
        <p:grpSp>
          <p:nvGrpSpPr>
            <p:cNvPr id="182" name="Google Shape;182;p20"/>
            <p:cNvGrpSpPr/>
            <p:nvPr/>
          </p:nvGrpSpPr>
          <p:grpSpPr>
            <a:xfrm>
              <a:off x="390126" y="2468097"/>
              <a:ext cx="1501276" cy="2117301"/>
              <a:chOff x="2030775" y="2475081"/>
              <a:chExt cx="1501276" cy="2309195"/>
            </a:xfrm>
          </p:grpSpPr>
          <p:sp>
            <p:nvSpPr>
              <p:cNvPr id="183" name="Google Shape;183;p20"/>
              <p:cNvSpPr/>
              <p:nvPr/>
            </p:nvSpPr>
            <p:spPr>
              <a:xfrm>
                <a:off x="2030775" y="3492660"/>
                <a:ext cx="277200" cy="277200"/>
              </a:xfrm>
              <a:prstGeom prst="ellipse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cxnSp>
            <p:nvCxnSpPr>
              <p:cNvPr id="184" name="Google Shape;184;p20"/>
              <p:cNvCxnSpPr/>
              <p:nvPr/>
            </p:nvCxnSpPr>
            <p:spPr>
              <a:xfrm flipH="1" rot="10800000">
                <a:off x="2267375" y="2475081"/>
                <a:ext cx="1175100" cy="10131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85" name="Google Shape;185;p20"/>
              <p:cNvCxnSpPr/>
              <p:nvPr/>
            </p:nvCxnSpPr>
            <p:spPr>
              <a:xfrm>
                <a:off x="2267375" y="3771176"/>
                <a:ext cx="1175100" cy="10131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86" name="Google Shape;186;p20"/>
              <p:cNvCxnSpPr/>
              <p:nvPr/>
            </p:nvCxnSpPr>
            <p:spPr>
              <a:xfrm flipH="1" rot="10800000">
                <a:off x="2307975" y="3147202"/>
                <a:ext cx="1175100" cy="4236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87" name="Google Shape;187;p20"/>
              <p:cNvCxnSpPr/>
              <p:nvPr/>
            </p:nvCxnSpPr>
            <p:spPr>
              <a:xfrm>
                <a:off x="2307975" y="3689094"/>
                <a:ext cx="1175100" cy="4236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88" name="Google Shape;188;p20"/>
              <p:cNvCxnSpPr/>
              <p:nvPr/>
            </p:nvCxnSpPr>
            <p:spPr>
              <a:xfrm>
                <a:off x="2322451" y="3631252"/>
                <a:ext cx="1209600" cy="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sp>
          <p:nvSpPr>
            <p:cNvPr id="189" name="Google Shape;189;p20"/>
            <p:cNvSpPr txBox="1"/>
            <p:nvPr/>
          </p:nvSpPr>
          <p:spPr>
            <a:xfrm>
              <a:off x="1803667" y="2329066"/>
              <a:ext cx="224400" cy="241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90" name="Google Shape;190;p20"/>
            <p:cNvSpPr txBox="1"/>
            <p:nvPr/>
          </p:nvSpPr>
          <p:spPr>
            <a:xfrm>
              <a:off x="1823232" y="4445598"/>
              <a:ext cx="224400" cy="241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E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91" name="Google Shape;191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46145" y="2443786"/>
            <a:ext cx="606900" cy="606900"/>
          </a:xfrm>
          <a:prstGeom prst="pie">
            <a:avLst>
              <a:gd fmla="val 9084661" name="adj1"/>
              <a:gd fmla="val 16249096" name="adj2"/>
            </a:avLst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92" name="Google Shape;192;p20"/>
          <p:cNvSpPr/>
          <p:nvPr/>
        </p:nvSpPr>
        <p:spPr>
          <a:xfrm>
            <a:off x="5731257" y="2432500"/>
            <a:ext cx="631500" cy="631500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20"/>
          <p:cNvSpPr/>
          <p:nvPr/>
        </p:nvSpPr>
        <p:spPr>
          <a:xfrm rot="7199951">
            <a:off x="5736796" y="2438013"/>
            <a:ext cx="620415" cy="620415"/>
          </a:xfrm>
          <a:prstGeom prst="pie">
            <a:avLst>
              <a:gd fmla="val 9034165" name="adj1"/>
              <a:gd fmla="val 16225322" name="adj2"/>
            </a:avLst>
          </a:prstGeom>
          <a:solidFill>
            <a:srgbClr val="EEEEEE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20"/>
          <p:cNvSpPr/>
          <p:nvPr/>
        </p:nvSpPr>
        <p:spPr>
          <a:xfrm rot="-7211915">
            <a:off x="5736838" y="2438238"/>
            <a:ext cx="620280" cy="620280"/>
          </a:xfrm>
          <a:prstGeom prst="pie">
            <a:avLst>
              <a:gd fmla="val 9034165" name="adj1"/>
              <a:gd fmla="val 16225322" name="adj2"/>
            </a:avLst>
          </a:prstGeom>
          <a:solidFill>
            <a:srgbClr val="9E9E9E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20"/>
          <p:cNvSpPr txBox="1"/>
          <p:nvPr/>
        </p:nvSpPr>
        <p:spPr>
          <a:xfrm>
            <a:off x="6089244" y="2507520"/>
            <a:ext cx="234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X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6" name="Google Shape;196;p20"/>
          <p:cNvSpPr txBox="1"/>
          <p:nvPr/>
        </p:nvSpPr>
        <p:spPr>
          <a:xfrm>
            <a:off x="5930167" y="2771113"/>
            <a:ext cx="234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Y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97" name="Google Shape;197;p20"/>
          <p:cNvCxnSpPr/>
          <p:nvPr/>
        </p:nvCxnSpPr>
        <p:spPr>
          <a:xfrm rot="10800000">
            <a:off x="6047693" y="2463987"/>
            <a:ext cx="0" cy="2847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98" name="Google Shape;198;p20"/>
          <p:cNvSpPr/>
          <p:nvPr/>
        </p:nvSpPr>
        <p:spPr>
          <a:xfrm>
            <a:off x="6028846" y="2736796"/>
            <a:ext cx="34800" cy="315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20"/>
          <p:cNvSpPr/>
          <p:nvPr/>
        </p:nvSpPr>
        <p:spPr>
          <a:xfrm>
            <a:off x="4724350" y="2427921"/>
            <a:ext cx="631500" cy="631500"/>
          </a:xfrm>
          <a:prstGeom prst="ellipse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20"/>
          <p:cNvSpPr/>
          <p:nvPr/>
        </p:nvSpPr>
        <p:spPr>
          <a:xfrm flipH="1">
            <a:off x="4729871" y="2433417"/>
            <a:ext cx="620400" cy="620400"/>
          </a:xfrm>
          <a:prstGeom prst="pie">
            <a:avLst>
              <a:gd fmla="val 5387953" name="adj1"/>
              <a:gd fmla="val 16200000" name="adj2"/>
            </a:avLst>
          </a:prstGeom>
          <a:solidFill>
            <a:srgbClr val="EEEEEE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20"/>
          <p:cNvSpPr/>
          <p:nvPr/>
        </p:nvSpPr>
        <p:spPr>
          <a:xfrm>
            <a:off x="4729846" y="2433417"/>
            <a:ext cx="620400" cy="620400"/>
          </a:xfrm>
          <a:prstGeom prst="pie">
            <a:avLst>
              <a:gd fmla="val 5387953" name="adj1"/>
              <a:gd fmla="val 16200000" name="adj2"/>
            </a:avLst>
          </a:prstGeom>
          <a:solidFill>
            <a:srgbClr val="9E9E9E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20"/>
          <p:cNvSpPr txBox="1"/>
          <p:nvPr/>
        </p:nvSpPr>
        <p:spPr>
          <a:xfrm>
            <a:off x="4784752" y="2623410"/>
            <a:ext cx="212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3" name="Google Shape;203;p20"/>
          <p:cNvSpPr txBox="1"/>
          <p:nvPr/>
        </p:nvSpPr>
        <p:spPr>
          <a:xfrm>
            <a:off x="5053767" y="2623410"/>
            <a:ext cx="234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04" name="Google Shape;204;p20"/>
          <p:cNvCxnSpPr/>
          <p:nvPr/>
        </p:nvCxnSpPr>
        <p:spPr>
          <a:xfrm rot="10800000">
            <a:off x="5040787" y="2462318"/>
            <a:ext cx="0" cy="2847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05" name="Google Shape;205;p20"/>
          <p:cNvSpPr/>
          <p:nvPr/>
        </p:nvSpPr>
        <p:spPr>
          <a:xfrm>
            <a:off x="5021940" y="2735127"/>
            <a:ext cx="34800" cy="315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20"/>
          <p:cNvSpPr/>
          <p:nvPr/>
        </p:nvSpPr>
        <p:spPr>
          <a:xfrm>
            <a:off x="5815824" y="2594717"/>
            <a:ext cx="148800" cy="1401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20"/>
          <p:cNvSpPr txBox="1"/>
          <p:nvPr/>
        </p:nvSpPr>
        <p:spPr>
          <a:xfrm>
            <a:off x="5757372" y="2504787"/>
            <a:ext cx="144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Z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8" name="Google Shape;208;p20"/>
          <p:cNvSpPr txBox="1"/>
          <p:nvPr/>
        </p:nvSpPr>
        <p:spPr>
          <a:xfrm>
            <a:off x="4616821" y="3059291"/>
            <a:ext cx="847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spinner 1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9" name="Google Shape;209;p20"/>
          <p:cNvSpPr txBox="1"/>
          <p:nvPr/>
        </p:nvSpPr>
        <p:spPr>
          <a:xfrm>
            <a:off x="5623749" y="3060438"/>
            <a:ext cx="847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spinner 2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0" name="Google Shape;210;p20"/>
          <p:cNvSpPr/>
          <p:nvPr/>
        </p:nvSpPr>
        <p:spPr>
          <a:xfrm>
            <a:off x="5324362" y="4491183"/>
            <a:ext cx="211800" cy="194100"/>
          </a:xfrm>
          <a:prstGeom prst="ellipse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11" name="Google Shape;211;p20"/>
          <p:cNvGrpSpPr/>
          <p:nvPr/>
        </p:nvGrpSpPr>
        <p:grpSpPr>
          <a:xfrm>
            <a:off x="5505163" y="4162629"/>
            <a:ext cx="537961" cy="849384"/>
            <a:chOff x="4041475" y="2949188"/>
            <a:chExt cx="1175100" cy="1459924"/>
          </a:xfrm>
        </p:grpSpPr>
        <p:cxnSp>
          <p:nvCxnSpPr>
            <p:cNvPr id="212" name="Google Shape;212;p20"/>
            <p:cNvCxnSpPr/>
            <p:nvPr/>
          </p:nvCxnSpPr>
          <p:spPr>
            <a:xfrm flipH="1" rot="10800000">
              <a:off x="4041475" y="2949188"/>
              <a:ext cx="1175100" cy="6405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13" name="Google Shape;213;p20"/>
            <p:cNvCxnSpPr/>
            <p:nvPr/>
          </p:nvCxnSpPr>
          <p:spPr>
            <a:xfrm>
              <a:off x="4041475" y="3768612"/>
              <a:ext cx="1175100" cy="6405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214" name="Google Shape;214;p20"/>
          <p:cNvGrpSpPr/>
          <p:nvPr/>
        </p:nvGrpSpPr>
        <p:grpSpPr>
          <a:xfrm>
            <a:off x="6297189" y="3877152"/>
            <a:ext cx="578969" cy="590453"/>
            <a:chOff x="8708301" y="2468209"/>
            <a:chExt cx="1264676" cy="2117078"/>
          </a:xfrm>
        </p:grpSpPr>
        <p:cxnSp>
          <p:nvCxnSpPr>
            <p:cNvPr id="215" name="Google Shape;215;p20"/>
            <p:cNvCxnSpPr/>
            <p:nvPr/>
          </p:nvCxnSpPr>
          <p:spPr>
            <a:xfrm flipH="1" rot="10800000">
              <a:off x="8708301" y="2468209"/>
              <a:ext cx="1175100" cy="9288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16" name="Google Shape;216;p20"/>
            <p:cNvCxnSpPr/>
            <p:nvPr/>
          </p:nvCxnSpPr>
          <p:spPr>
            <a:xfrm>
              <a:off x="8708301" y="3656487"/>
              <a:ext cx="1175100" cy="9288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17" name="Google Shape;217;p20"/>
            <p:cNvCxnSpPr/>
            <p:nvPr/>
          </p:nvCxnSpPr>
          <p:spPr>
            <a:xfrm>
              <a:off x="8763377" y="3528191"/>
              <a:ext cx="1209600" cy="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218" name="Google Shape;218;p20"/>
          <p:cNvGrpSpPr/>
          <p:nvPr/>
        </p:nvGrpSpPr>
        <p:grpSpPr>
          <a:xfrm>
            <a:off x="6297189" y="4716617"/>
            <a:ext cx="578969" cy="590453"/>
            <a:chOff x="8708301" y="2468209"/>
            <a:chExt cx="1264676" cy="2117078"/>
          </a:xfrm>
        </p:grpSpPr>
        <p:cxnSp>
          <p:nvCxnSpPr>
            <p:cNvPr id="219" name="Google Shape;219;p20"/>
            <p:cNvCxnSpPr/>
            <p:nvPr/>
          </p:nvCxnSpPr>
          <p:spPr>
            <a:xfrm flipH="1" rot="10800000">
              <a:off x="8708301" y="2468209"/>
              <a:ext cx="1175100" cy="9288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20" name="Google Shape;220;p20"/>
            <p:cNvCxnSpPr/>
            <p:nvPr/>
          </p:nvCxnSpPr>
          <p:spPr>
            <a:xfrm>
              <a:off x="8708301" y="3656487"/>
              <a:ext cx="1175100" cy="9288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21" name="Google Shape;221;p20"/>
            <p:cNvCxnSpPr/>
            <p:nvPr/>
          </p:nvCxnSpPr>
          <p:spPr>
            <a:xfrm>
              <a:off x="8763377" y="3528191"/>
              <a:ext cx="1209600" cy="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222" name="Google Shape;222;p20"/>
          <p:cNvSpPr txBox="1"/>
          <p:nvPr/>
        </p:nvSpPr>
        <p:spPr>
          <a:xfrm>
            <a:off x="6087804" y="4066574"/>
            <a:ext cx="165600" cy="21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3" name="Google Shape;223;p20"/>
          <p:cNvSpPr txBox="1"/>
          <p:nvPr/>
        </p:nvSpPr>
        <p:spPr>
          <a:xfrm>
            <a:off x="6876613" y="4066574"/>
            <a:ext cx="165600" cy="21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Y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4" name="Google Shape;224;p20"/>
          <p:cNvSpPr txBox="1"/>
          <p:nvPr/>
        </p:nvSpPr>
        <p:spPr>
          <a:xfrm>
            <a:off x="3881349" y="3386900"/>
            <a:ext cx="1266600" cy="16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What do the two branches in the box represent?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Complete this </a:t>
            </a:r>
            <a:r>
              <a:rPr b="1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outcome tree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5" name="Google Shape;225;p20"/>
          <p:cNvSpPr txBox="1"/>
          <p:nvPr/>
        </p:nvSpPr>
        <p:spPr>
          <a:xfrm>
            <a:off x="6876613" y="4360216"/>
            <a:ext cx="165600" cy="21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Z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6" name="Google Shape;226;p20"/>
          <p:cNvSpPr/>
          <p:nvPr/>
        </p:nvSpPr>
        <p:spPr>
          <a:xfrm>
            <a:off x="5526303" y="3949086"/>
            <a:ext cx="771300" cy="1273800"/>
          </a:xfrm>
          <a:prstGeom prst="roundRect">
            <a:avLst>
              <a:gd fmla="val 6621" name="adj"/>
            </a:avLst>
          </a:prstGeom>
          <a:noFill/>
          <a:ln cap="flat" cmpd="sng" w="28575">
            <a:solidFill>
              <a:srgbClr val="9E9E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7" name="Google Shape;227;p20"/>
          <p:cNvSpPr/>
          <p:nvPr/>
        </p:nvSpPr>
        <p:spPr>
          <a:xfrm>
            <a:off x="2415350" y="7137950"/>
            <a:ext cx="623100" cy="24903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9E9E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8" name="Google Shape;228;p20"/>
          <p:cNvSpPr txBox="1"/>
          <p:nvPr/>
        </p:nvSpPr>
        <p:spPr>
          <a:xfrm>
            <a:off x="2339143" y="7218290"/>
            <a:ext cx="618000" cy="24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PQ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QP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29" name="Google Shape;229;p20"/>
          <p:cNvSpPr txBox="1"/>
          <p:nvPr/>
        </p:nvSpPr>
        <p:spPr>
          <a:xfrm>
            <a:off x="456976" y="5729880"/>
            <a:ext cx="2889300" cy="14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3) Spinner 3 will be spun twice.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Complete the </a:t>
            </a:r>
            <a:r>
              <a:rPr b="1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outcome tree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Complete the </a:t>
            </a:r>
            <a:r>
              <a:rPr b="1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sample space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for this </a:t>
            </a:r>
            <a:r>
              <a:rPr b="1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outcome tree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30" name="Google Shape;230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94754" y="5763465"/>
            <a:ext cx="618000" cy="618000"/>
          </a:xfrm>
          <a:prstGeom prst="pie">
            <a:avLst>
              <a:gd fmla="val 9084661" name="adj1"/>
              <a:gd fmla="val 16249096" name="adj2"/>
            </a:avLst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31" name="Google Shape;231;p20"/>
          <p:cNvSpPr/>
          <p:nvPr/>
        </p:nvSpPr>
        <p:spPr>
          <a:xfrm>
            <a:off x="2879596" y="5751974"/>
            <a:ext cx="642900" cy="642900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20"/>
          <p:cNvSpPr/>
          <p:nvPr/>
        </p:nvSpPr>
        <p:spPr>
          <a:xfrm rot="7199877">
            <a:off x="2885045" y="5757544"/>
            <a:ext cx="631839" cy="631839"/>
          </a:xfrm>
          <a:prstGeom prst="pie">
            <a:avLst>
              <a:gd fmla="val 9034165" name="adj1"/>
              <a:gd fmla="val 16225322" name="adj2"/>
            </a:avLst>
          </a:prstGeom>
          <a:solidFill>
            <a:srgbClr val="EEEEEE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20"/>
          <p:cNvSpPr/>
          <p:nvPr/>
        </p:nvSpPr>
        <p:spPr>
          <a:xfrm rot="-7211626">
            <a:off x="2885262" y="5757631"/>
            <a:ext cx="631703" cy="631703"/>
          </a:xfrm>
          <a:prstGeom prst="pie">
            <a:avLst>
              <a:gd fmla="val 9034165" name="adj1"/>
              <a:gd fmla="val 16225322" name="adj2"/>
            </a:avLst>
          </a:prstGeom>
          <a:solidFill>
            <a:srgbClr val="9E9E9E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20"/>
          <p:cNvSpPr txBox="1"/>
          <p:nvPr/>
        </p:nvSpPr>
        <p:spPr>
          <a:xfrm>
            <a:off x="3244080" y="5828356"/>
            <a:ext cx="238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P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5" name="Google Shape;235;p20"/>
          <p:cNvSpPr txBox="1"/>
          <p:nvPr/>
        </p:nvSpPr>
        <p:spPr>
          <a:xfrm>
            <a:off x="3082116" y="6096733"/>
            <a:ext cx="238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Q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36" name="Google Shape;236;p20"/>
          <p:cNvCxnSpPr/>
          <p:nvPr/>
        </p:nvCxnSpPr>
        <p:spPr>
          <a:xfrm rot="10800000">
            <a:off x="3201775" y="5784100"/>
            <a:ext cx="0" cy="2898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37" name="Google Shape;237;p20"/>
          <p:cNvSpPr/>
          <p:nvPr/>
        </p:nvSpPr>
        <p:spPr>
          <a:xfrm>
            <a:off x="3182586" y="6061793"/>
            <a:ext cx="35400" cy="321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20"/>
          <p:cNvSpPr/>
          <p:nvPr/>
        </p:nvSpPr>
        <p:spPr>
          <a:xfrm>
            <a:off x="2965698" y="5917135"/>
            <a:ext cx="151500" cy="1425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20"/>
          <p:cNvSpPr txBox="1"/>
          <p:nvPr/>
        </p:nvSpPr>
        <p:spPr>
          <a:xfrm>
            <a:off x="2906185" y="5825572"/>
            <a:ext cx="147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R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0" name="Google Shape;240;p20"/>
          <p:cNvSpPr txBox="1"/>
          <p:nvPr/>
        </p:nvSpPr>
        <p:spPr>
          <a:xfrm>
            <a:off x="2770137" y="6391310"/>
            <a:ext cx="8631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spinner 3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1" name="Google Shape;241;p20"/>
          <p:cNvSpPr/>
          <p:nvPr/>
        </p:nvSpPr>
        <p:spPr>
          <a:xfrm>
            <a:off x="476400" y="8242797"/>
            <a:ext cx="215700" cy="197700"/>
          </a:xfrm>
          <a:prstGeom prst="ellipse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42" name="Google Shape;242;p20"/>
          <p:cNvGrpSpPr/>
          <p:nvPr/>
        </p:nvGrpSpPr>
        <p:grpSpPr>
          <a:xfrm>
            <a:off x="637637" y="7321672"/>
            <a:ext cx="1419093" cy="2040140"/>
            <a:chOff x="531193" y="2114549"/>
            <a:chExt cx="1823792" cy="2416368"/>
          </a:xfrm>
        </p:grpSpPr>
        <p:grpSp>
          <p:nvGrpSpPr>
            <p:cNvPr id="243" name="Google Shape;243;p20"/>
            <p:cNvGrpSpPr/>
            <p:nvPr/>
          </p:nvGrpSpPr>
          <p:grpSpPr>
            <a:xfrm>
              <a:off x="531193" y="2420748"/>
              <a:ext cx="757667" cy="1803963"/>
              <a:chOff x="8708301" y="2468209"/>
              <a:chExt cx="1264676" cy="2117078"/>
            </a:xfrm>
          </p:grpSpPr>
          <p:cxnSp>
            <p:nvCxnSpPr>
              <p:cNvPr id="244" name="Google Shape;244;p20"/>
              <p:cNvCxnSpPr/>
              <p:nvPr/>
            </p:nvCxnSpPr>
            <p:spPr>
              <a:xfrm flipH="1" rot="10800000">
                <a:off x="8708301" y="2468209"/>
                <a:ext cx="1175100" cy="9288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45" name="Google Shape;245;p20"/>
              <p:cNvCxnSpPr/>
              <p:nvPr/>
            </p:nvCxnSpPr>
            <p:spPr>
              <a:xfrm>
                <a:off x="8708301" y="3656487"/>
                <a:ext cx="1175100" cy="9288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46" name="Google Shape;246;p20"/>
              <p:cNvCxnSpPr/>
              <p:nvPr/>
            </p:nvCxnSpPr>
            <p:spPr>
              <a:xfrm>
                <a:off x="8763377" y="3528191"/>
                <a:ext cx="1209600" cy="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247" name="Google Shape;247;p20"/>
            <p:cNvGrpSpPr/>
            <p:nvPr/>
          </p:nvGrpSpPr>
          <p:grpSpPr>
            <a:xfrm>
              <a:off x="1597318" y="2114549"/>
              <a:ext cx="757667" cy="629831"/>
              <a:chOff x="8708301" y="2468209"/>
              <a:chExt cx="1264676" cy="2117078"/>
            </a:xfrm>
          </p:grpSpPr>
          <p:cxnSp>
            <p:nvCxnSpPr>
              <p:cNvPr id="248" name="Google Shape;248;p20"/>
              <p:cNvCxnSpPr/>
              <p:nvPr/>
            </p:nvCxnSpPr>
            <p:spPr>
              <a:xfrm flipH="1" rot="10800000">
                <a:off x="8708301" y="2468209"/>
                <a:ext cx="1175100" cy="9288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49" name="Google Shape;249;p20"/>
              <p:cNvCxnSpPr/>
              <p:nvPr/>
            </p:nvCxnSpPr>
            <p:spPr>
              <a:xfrm>
                <a:off x="8708301" y="3656487"/>
                <a:ext cx="1175100" cy="9288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50" name="Google Shape;250;p20"/>
              <p:cNvCxnSpPr/>
              <p:nvPr/>
            </p:nvCxnSpPr>
            <p:spPr>
              <a:xfrm>
                <a:off x="8763377" y="3528191"/>
                <a:ext cx="1209600" cy="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251" name="Google Shape;251;p20"/>
            <p:cNvGrpSpPr/>
            <p:nvPr/>
          </p:nvGrpSpPr>
          <p:grpSpPr>
            <a:xfrm>
              <a:off x="1597318" y="3007811"/>
              <a:ext cx="757667" cy="629831"/>
              <a:chOff x="8708301" y="2468209"/>
              <a:chExt cx="1264676" cy="2117078"/>
            </a:xfrm>
          </p:grpSpPr>
          <p:cxnSp>
            <p:nvCxnSpPr>
              <p:cNvPr id="252" name="Google Shape;252;p20"/>
              <p:cNvCxnSpPr/>
              <p:nvPr/>
            </p:nvCxnSpPr>
            <p:spPr>
              <a:xfrm flipH="1" rot="10800000">
                <a:off x="8708301" y="2468209"/>
                <a:ext cx="1175100" cy="9288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53" name="Google Shape;253;p20"/>
              <p:cNvCxnSpPr/>
              <p:nvPr/>
            </p:nvCxnSpPr>
            <p:spPr>
              <a:xfrm>
                <a:off x="8708301" y="3656487"/>
                <a:ext cx="1175100" cy="9288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54" name="Google Shape;254;p20"/>
              <p:cNvCxnSpPr/>
              <p:nvPr/>
            </p:nvCxnSpPr>
            <p:spPr>
              <a:xfrm>
                <a:off x="8763377" y="3528191"/>
                <a:ext cx="1209600" cy="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255" name="Google Shape;255;p20"/>
            <p:cNvGrpSpPr/>
            <p:nvPr/>
          </p:nvGrpSpPr>
          <p:grpSpPr>
            <a:xfrm>
              <a:off x="1597318" y="3901086"/>
              <a:ext cx="757667" cy="629831"/>
              <a:chOff x="8708301" y="2468209"/>
              <a:chExt cx="1264676" cy="2117078"/>
            </a:xfrm>
          </p:grpSpPr>
          <p:cxnSp>
            <p:nvCxnSpPr>
              <p:cNvPr id="256" name="Google Shape;256;p20"/>
              <p:cNvCxnSpPr/>
              <p:nvPr/>
            </p:nvCxnSpPr>
            <p:spPr>
              <a:xfrm flipH="1" rot="10800000">
                <a:off x="8708301" y="2468209"/>
                <a:ext cx="1175100" cy="9288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57" name="Google Shape;257;p20"/>
              <p:cNvCxnSpPr/>
              <p:nvPr/>
            </p:nvCxnSpPr>
            <p:spPr>
              <a:xfrm>
                <a:off x="8708301" y="3656487"/>
                <a:ext cx="1175100" cy="9288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58" name="Google Shape;258;p20"/>
              <p:cNvCxnSpPr/>
              <p:nvPr/>
            </p:nvCxnSpPr>
            <p:spPr>
              <a:xfrm>
                <a:off x="8763377" y="3528191"/>
                <a:ext cx="1209600" cy="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sp>
        <p:nvSpPr>
          <p:cNvPr id="259" name="Google Shape;259;p20"/>
          <p:cNvSpPr txBox="1"/>
          <p:nvPr/>
        </p:nvSpPr>
        <p:spPr>
          <a:xfrm>
            <a:off x="1217746" y="7466940"/>
            <a:ext cx="215700" cy="21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P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0" name="Google Shape;260;p20"/>
          <p:cNvSpPr txBox="1"/>
          <p:nvPr/>
        </p:nvSpPr>
        <p:spPr>
          <a:xfrm>
            <a:off x="2056660" y="7967466"/>
            <a:ext cx="215700" cy="21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P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1" name="Google Shape;261;p20"/>
          <p:cNvSpPr txBox="1"/>
          <p:nvPr/>
        </p:nvSpPr>
        <p:spPr>
          <a:xfrm>
            <a:off x="2056660" y="8233838"/>
            <a:ext cx="215700" cy="21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Q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2" name="Google Shape;262;p20"/>
          <p:cNvSpPr txBox="1"/>
          <p:nvPr/>
        </p:nvSpPr>
        <p:spPr>
          <a:xfrm>
            <a:off x="2056660" y="8500211"/>
            <a:ext cx="215700" cy="21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R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3" name="Google Shape;263;p20"/>
          <p:cNvSpPr txBox="1"/>
          <p:nvPr/>
        </p:nvSpPr>
        <p:spPr>
          <a:xfrm>
            <a:off x="2056660" y="7466267"/>
            <a:ext cx="215700" cy="21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Q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4" name="Google Shape;264;p20"/>
          <p:cNvSpPr txBox="1"/>
          <p:nvPr/>
        </p:nvSpPr>
        <p:spPr>
          <a:xfrm>
            <a:off x="2056660" y="7716859"/>
            <a:ext cx="215700" cy="21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R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5" name="Google Shape;265;p20"/>
          <p:cNvSpPr txBox="1"/>
          <p:nvPr/>
        </p:nvSpPr>
        <p:spPr>
          <a:xfrm>
            <a:off x="2187061" y="9704414"/>
            <a:ext cx="1227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sample space</a:t>
            </a:r>
            <a:endParaRPr b="1"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6" name="Google Shape;266;p20"/>
          <p:cNvSpPr/>
          <p:nvPr/>
        </p:nvSpPr>
        <p:spPr>
          <a:xfrm>
            <a:off x="3950505" y="7921138"/>
            <a:ext cx="215700" cy="197700"/>
          </a:xfrm>
          <a:prstGeom prst="ellipse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67" name="Google Shape;267;p20"/>
          <p:cNvGrpSpPr/>
          <p:nvPr/>
        </p:nvGrpSpPr>
        <p:grpSpPr>
          <a:xfrm>
            <a:off x="4111551" y="7636502"/>
            <a:ext cx="436550" cy="779720"/>
            <a:chOff x="8708301" y="2468209"/>
            <a:chExt cx="1175100" cy="2117078"/>
          </a:xfrm>
        </p:grpSpPr>
        <p:cxnSp>
          <p:nvCxnSpPr>
            <p:cNvPr id="268" name="Google Shape;268;p20"/>
            <p:cNvCxnSpPr/>
            <p:nvPr/>
          </p:nvCxnSpPr>
          <p:spPr>
            <a:xfrm flipH="1" rot="10800000">
              <a:off x="8708301" y="2468209"/>
              <a:ext cx="1175100" cy="9288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69" name="Google Shape;269;p20"/>
            <p:cNvCxnSpPr/>
            <p:nvPr/>
          </p:nvCxnSpPr>
          <p:spPr>
            <a:xfrm>
              <a:off x="8708301" y="3656487"/>
              <a:ext cx="1175100" cy="9288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270" name="Google Shape;270;p20"/>
          <p:cNvGrpSpPr/>
          <p:nvPr/>
        </p:nvGrpSpPr>
        <p:grpSpPr>
          <a:xfrm>
            <a:off x="4772725" y="7461831"/>
            <a:ext cx="436550" cy="357363"/>
            <a:chOff x="8708301" y="2468209"/>
            <a:chExt cx="1175100" cy="2117078"/>
          </a:xfrm>
        </p:grpSpPr>
        <p:cxnSp>
          <p:nvCxnSpPr>
            <p:cNvPr id="271" name="Google Shape;271;p20"/>
            <p:cNvCxnSpPr/>
            <p:nvPr/>
          </p:nvCxnSpPr>
          <p:spPr>
            <a:xfrm flipH="1" rot="10800000">
              <a:off x="8708301" y="2468209"/>
              <a:ext cx="1175100" cy="9288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72" name="Google Shape;272;p20"/>
            <p:cNvCxnSpPr/>
            <p:nvPr/>
          </p:nvCxnSpPr>
          <p:spPr>
            <a:xfrm>
              <a:off x="8708301" y="3656487"/>
              <a:ext cx="1175100" cy="9288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273" name="Google Shape;273;p20"/>
          <p:cNvGrpSpPr/>
          <p:nvPr/>
        </p:nvGrpSpPr>
        <p:grpSpPr>
          <a:xfrm>
            <a:off x="4772725" y="8258366"/>
            <a:ext cx="436550" cy="357363"/>
            <a:chOff x="8708301" y="2468209"/>
            <a:chExt cx="1175100" cy="2117078"/>
          </a:xfrm>
        </p:grpSpPr>
        <p:cxnSp>
          <p:nvCxnSpPr>
            <p:cNvPr id="274" name="Google Shape;274;p20"/>
            <p:cNvCxnSpPr/>
            <p:nvPr/>
          </p:nvCxnSpPr>
          <p:spPr>
            <a:xfrm flipH="1" rot="10800000">
              <a:off x="8708301" y="2468209"/>
              <a:ext cx="1175100" cy="9288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75" name="Google Shape;275;p20"/>
            <p:cNvCxnSpPr/>
            <p:nvPr/>
          </p:nvCxnSpPr>
          <p:spPr>
            <a:xfrm>
              <a:off x="8708301" y="3656487"/>
              <a:ext cx="1175100" cy="9288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276" name="Google Shape;276;p20"/>
          <p:cNvSpPr/>
          <p:nvPr/>
        </p:nvSpPr>
        <p:spPr>
          <a:xfrm>
            <a:off x="5653584" y="7274246"/>
            <a:ext cx="675300" cy="15330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9E9E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7" name="Google Shape;277;p20"/>
          <p:cNvSpPr txBox="1"/>
          <p:nvPr/>
        </p:nvSpPr>
        <p:spPr>
          <a:xfrm>
            <a:off x="5653584" y="7270686"/>
            <a:ext cx="675300" cy="153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78" name="Google Shape;278;p20"/>
          <p:cNvSpPr txBox="1"/>
          <p:nvPr/>
        </p:nvSpPr>
        <p:spPr>
          <a:xfrm>
            <a:off x="3994975" y="5741550"/>
            <a:ext cx="30474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4) Spinners 4 and 5 are spun once each and have these outcomes: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spinner 4 = {A, B}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spinner 5 = {red, blue}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Complete this </a:t>
            </a:r>
            <a:r>
              <a:rPr b="1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outcome tree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and </a:t>
            </a:r>
            <a:r>
              <a:rPr b="1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sample space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21"/>
          <p:cNvSpPr txBox="1"/>
          <p:nvPr>
            <p:ph idx="1" type="subTitle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an </a:t>
            </a:r>
            <a:r>
              <a:rPr b="1" lang="en-GB"/>
              <a:t>outcome tree</a:t>
            </a:r>
            <a:r>
              <a:rPr lang="en-GB"/>
              <a:t> to display outcomes for two events</a:t>
            </a:r>
            <a:endParaRPr/>
          </a:p>
        </p:txBody>
      </p:sp>
      <p:sp>
        <p:nvSpPr>
          <p:cNvPr id="284" name="Google Shape;284;p21"/>
          <p:cNvSpPr txBox="1"/>
          <p:nvPr/>
        </p:nvSpPr>
        <p:spPr>
          <a:xfrm>
            <a:off x="6352325" y="9972000"/>
            <a:ext cx="483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1200">
                <a:solidFill>
                  <a:srgbClr val="000000"/>
                </a:solidFill>
                <a:latin typeface="Lexend Medium"/>
                <a:ea typeface="Lexend Medium"/>
                <a:cs typeface="Lexend Medium"/>
                <a:sym typeface="Lexend Medium"/>
              </a:rPr>
              <a:t>‹#›</a:t>
            </a:fld>
            <a:endParaRPr sz="1200">
              <a:solidFill>
                <a:srgbClr val="000000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cxnSp>
        <p:nvCxnSpPr>
          <p:cNvPr id="285" name="Google Shape;285;p21"/>
          <p:cNvCxnSpPr/>
          <p:nvPr/>
        </p:nvCxnSpPr>
        <p:spPr>
          <a:xfrm>
            <a:off x="474757" y="4617313"/>
            <a:ext cx="6610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86" name="Google Shape;286;p21"/>
          <p:cNvSpPr txBox="1"/>
          <p:nvPr/>
        </p:nvSpPr>
        <p:spPr>
          <a:xfrm>
            <a:off x="4018436" y="866695"/>
            <a:ext cx="20193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6) Spinners 8 and 9 will be spun once each.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Fill in the outcomes of each spinner from the </a:t>
            </a:r>
            <a:r>
              <a:rPr b="1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outcome tree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7" name="Google Shape;287;p21"/>
          <p:cNvSpPr/>
          <p:nvPr/>
        </p:nvSpPr>
        <p:spPr>
          <a:xfrm>
            <a:off x="2551089" y="2094521"/>
            <a:ext cx="802200" cy="1880100"/>
          </a:xfrm>
          <a:prstGeom prst="roundRect">
            <a:avLst>
              <a:gd fmla="val 11211" name="adj"/>
            </a:avLst>
          </a:prstGeom>
          <a:noFill/>
          <a:ln cap="flat" cmpd="sng" w="28575">
            <a:solidFill>
              <a:srgbClr val="9E9E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8" name="Google Shape;288;p21"/>
          <p:cNvSpPr txBox="1"/>
          <p:nvPr/>
        </p:nvSpPr>
        <p:spPr>
          <a:xfrm>
            <a:off x="476401" y="866695"/>
            <a:ext cx="31452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5) Spinners 6 and 7 will be spun once each.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Complete the </a:t>
            </a:r>
            <a:r>
              <a:rPr b="1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outcome tree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from its </a:t>
            </a:r>
            <a:r>
              <a:rPr b="1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sample space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9" name="Google Shape;289;p21"/>
          <p:cNvSpPr txBox="1"/>
          <p:nvPr/>
        </p:nvSpPr>
        <p:spPr>
          <a:xfrm>
            <a:off x="2551089" y="2094521"/>
            <a:ext cx="802200" cy="173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G, win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G, lose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G, draw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H, win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H, lose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H, draw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0" name="Google Shape;290;p21"/>
          <p:cNvSpPr/>
          <p:nvPr/>
        </p:nvSpPr>
        <p:spPr>
          <a:xfrm>
            <a:off x="476400" y="2934519"/>
            <a:ext cx="218100" cy="200100"/>
          </a:xfrm>
          <a:prstGeom prst="ellipse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91" name="Google Shape;291;p21"/>
          <p:cNvGrpSpPr/>
          <p:nvPr/>
        </p:nvGrpSpPr>
        <p:grpSpPr>
          <a:xfrm>
            <a:off x="639489" y="2580016"/>
            <a:ext cx="517584" cy="909164"/>
            <a:chOff x="531205" y="2439944"/>
            <a:chExt cx="704100" cy="1957717"/>
          </a:xfrm>
        </p:grpSpPr>
        <p:cxnSp>
          <p:nvCxnSpPr>
            <p:cNvPr id="292" name="Google Shape;292;p21"/>
            <p:cNvCxnSpPr/>
            <p:nvPr/>
          </p:nvCxnSpPr>
          <p:spPr>
            <a:xfrm flipH="1" rot="10800000">
              <a:off x="531205" y="2439944"/>
              <a:ext cx="704100" cy="8589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93" name="Google Shape;293;p21"/>
            <p:cNvCxnSpPr/>
            <p:nvPr/>
          </p:nvCxnSpPr>
          <p:spPr>
            <a:xfrm>
              <a:off x="531205" y="3538762"/>
              <a:ext cx="704100" cy="8589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294" name="Google Shape;294;p21"/>
          <p:cNvGrpSpPr/>
          <p:nvPr/>
        </p:nvGrpSpPr>
        <p:grpSpPr>
          <a:xfrm>
            <a:off x="1455572" y="2317070"/>
            <a:ext cx="557056" cy="537718"/>
            <a:chOff x="1597330" y="2437981"/>
            <a:chExt cx="757796" cy="683164"/>
          </a:xfrm>
        </p:grpSpPr>
        <p:cxnSp>
          <p:nvCxnSpPr>
            <p:cNvPr id="295" name="Google Shape;295;p21"/>
            <p:cNvCxnSpPr/>
            <p:nvPr/>
          </p:nvCxnSpPr>
          <p:spPr>
            <a:xfrm flipH="1" rot="10800000">
              <a:off x="1597330" y="2437981"/>
              <a:ext cx="704100" cy="2997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96" name="Google Shape;296;p21"/>
            <p:cNvCxnSpPr/>
            <p:nvPr/>
          </p:nvCxnSpPr>
          <p:spPr>
            <a:xfrm>
              <a:off x="1597330" y="2821445"/>
              <a:ext cx="704100" cy="2997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97" name="Google Shape;297;p21"/>
            <p:cNvCxnSpPr/>
            <p:nvPr/>
          </p:nvCxnSpPr>
          <p:spPr>
            <a:xfrm>
              <a:off x="1630326" y="2780029"/>
              <a:ext cx="724800" cy="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298" name="Google Shape;298;p21"/>
          <p:cNvGrpSpPr/>
          <p:nvPr/>
        </p:nvGrpSpPr>
        <p:grpSpPr>
          <a:xfrm>
            <a:off x="1455572" y="3228267"/>
            <a:ext cx="557056" cy="537718"/>
            <a:chOff x="1597330" y="2437981"/>
            <a:chExt cx="757796" cy="683164"/>
          </a:xfrm>
        </p:grpSpPr>
        <p:cxnSp>
          <p:nvCxnSpPr>
            <p:cNvPr id="299" name="Google Shape;299;p21"/>
            <p:cNvCxnSpPr/>
            <p:nvPr/>
          </p:nvCxnSpPr>
          <p:spPr>
            <a:xfrm flipH="1" rot="10800000">
              <a:off x="1597330" y="2437981"/>
              <a:ext cx="704100" cy="2997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00" name="Google Shape;300;p21"/>
            <p:cNvCxnSpPr/>
            <p:nvPr/>
          </p:nvCxnSpPr>
          <p:spPr>
            <a:xfrm>
              <a:off x="1597330" y="2821445"/>
              <a:ext cx="704100" cy="2997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01" name="Google Shape;301;p21"/>
            <p:cNvCxnSpPr/>
            <p:nvPr/>
          </p:nvCxnSpPr>
          <p:spPr>
            <a:xfrm>
              <a:off x="1630326" y="2780029"/>
              <a:ext cx="724800" cy="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cxnSp>
        <p:nvCxnSpPr>
          <p:cNvPr id="302" name="Google Shape;302;p21"/>
          <p:cNvCxnSpPr/>
          <p:nvPr/>
        </p:nvCxnSpPr>
        <p:spPr>
          <a:xfrm flipH="1">
            <a:off x="3792525" y="815025"/>
            <a:ext cx="6300" cy="38022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303" name="Google Shape;303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39973" y="917779"/>
            <a:ext cx="625200" cy="625200"/>
          </a:xfrm>
          <a:prstGeom prst="pie">
            <a:avLst>
              <a:gd fmla="val 9084661" name="adj1"/>
              <a:gd fmla="val 16249096" name="adj2"/>
            </a:avLst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304" name="Google Shape;304;p21"/>
          <p:cNvSpPr/>
          <p:nvPr/>
        </p:nvSpPr>
        <p:spPr>
          <a:xfrm>
            <a:off x="6324638" y="906154"/>
            <a:ext cx="650400" cy="650400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21"/>
          <p:cNvSpPr/>
          <p:nvPr/>
        </p:nvSpPr>
        <p:spPr>
          <a:xfrm rot="7199705">
            <a:off x="6330265" y="911840"/>
            <a:ext cx="639095" cy="639095"/>
          </a:xfrm>
          <a:prstGeom prst="pie">
            <a:avLst>
              <a:gd fmla="val 9034165" name="adj1"/>
              <a:gd fmla="val 16225322" name="adj2"/>
            </a:avLst>
          </a:prstGeom>
          <a:solidFill>
            <a:srgbClr val="EEEEEE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21"/>
          <p:cNvSpPr/>
          <p:nvPr/>
        </p:nvSpPr>
        <p:spPr>
          <a:xfrm rot="-7211320">
            <a:off x="6330437" y="911994"/>
            <a:ext cx="638959" cy="638959"/>
          </a:xfrm>
          <a:prstGeom prst="pie">
            <a:avLst>
              <a:gd fmla="val 9034165" name="adj1"/>
              <a:gd fmla="val 16225322" name="adj2"/>
            </a:avLst>
          </a:prstGeom>
          <a:solidFill>
            <a:srgbClr val="9E9E9E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07" name="Google Shape;307;p21"/>
          <p:cNvCxnSpPr/>
          <p:nvPr/>
        </p:nvCxnSpPr>
        <p:spPr>
          <a:xfrm rot="10800000">
            <a:off x="6650564" y="938424"/>
            <a:ext cx="0" cy="2934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08" name="Google Shape;308;p21"/>
          <p:cNvSpPr/>
          <p:nvPr/>
        </p:nvSpPr>
        <p:spPr>
          <a:xfrm>
            <a:off x="6631152" y="1219576"/>
            <a:ext cx="36000" cy="324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21"/>
          <p:cNvSpPr/>
          <p:nvPr/>
        </p:nvSpPr>
        <p:spPr>
          <a:xfrm>
            <a:off x="6324051" y="1914873"/>
            <a:ext cx="650400" cy="650400"/>
          </a:xfrm>
          <a:prstGeom prst="ellipse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21"/>
          <p:cNvSpPr/>
          <p:nvPr/>
        </p:nvSpPr>
        <p:spPr>
          <a:xfrm flipH="1">
            <a:off x="6329743" y="1920533"/>
            <a:ext cx="639000" cy="639000"/>
          </a:xfrm>
          <a:prstGeom prst="pie">
            <a:avLst>
              <a:gd fmla="val 5387953" name="adj1"/>
              <a:gd fmla="val 16200000" name="adj2"/>
            </a:avLst>
          </a:prstGeom>
          <a:solidFill>
            <a:srgbClr val="EEEEEE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21"/>
          <p:cNvSpPr/>
          <p:nvPr/>
        </p:nvSpPr>
        <p:spPr>
          <a:xfrm>
            <a:off x="6329712" y="1920533"/>
            <a:ext cx="639000" cy="639000"/>
          </a:xfrm>
          <a:prstGeom prst="pie">
            <a:avLst>
              <a:gd fmla="val 5387953" name="adj1"/>
              <a:gd fmla="val 16200000" name="adj2"/>
            </a:avLst>
          </a:prstGeom>
          <a:solidFill>
            <a:srgbClr val="9E9E9E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21"/>
          <p:cNvSpPr txBox="1"/>
          <p:nvPr/>
        </p:nvSpPr>
        <p:spPr>
          <a:xfrm>
            <a:off x="6386265" y="2116225"/>
            <a:ext cx="219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D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13" name="Google Shape;313;p21"/>
          <p:cNvCxnSpPr/>
          <p:nvPr/>
        </p:nvCxnSpPr>
        <p:spPr>
          <a:xfrm rot="10800000">
            <a:off x="6649978" y="1950140"/>
            <a:ext cx="0" cy="2934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14" name="Google Shape;314;p21"/>
          <p:cNvSpPr/>
          <p:nvPr/>
        </p:nvSpPr>
        <p:spPr>
          <a:xfrm>
            <a:off x="6630565" y="2231293"/>
            <a:ext cx="36000" cy="324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21"/>
          <p:cNvSpPr/>
          <p:nvPr/>
        </p:nvSpPr>
        <p:spPr>
          <a:xfrm>
            <a:off x="6411741" y="1073236"/>
            <a:ext cx="153300" cy="1443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21"/>
          <p:cNvSpPr txBox="1"/>
          <p:nvPr/>
        </p:nvSpPr>
        <p:spPr>
          <a:xfrm>
            <a:off x="6351536" y="980608"/>
            <a:ext cx="148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7" name="Google Shape;317;p21"/>
          <p:cNvSpPr txBox="1"/>
          <p:nvPr/>
        </p:nvSpPr>
        <p:spPr>
          <a:xfrm>
            <a:off x="6213297" y="2565179"/>
            <a:ext cx="87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spinner 9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8" name="Google Shape;318;p21"/>
          <p:cNvSpPr txBox="1"/>
          <p:nvPr/>
        </p:nvSpPr>
        <p:spPr>
          <a:xfrm>
            <a:off x="6213906" y="1552925"/>
            <a:ext cx="87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spinner 8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9" name="Google Shape;319;p21"/>
          <p:cNvSpPr/>
          <p:nvPr/>
        </p:nvSpPr>
        <p:spPr>
          <a:xfrm>
            <a:off x="3990669" y="3012109"/>
            <a:ext cx="218100" cy="200100"/>
          </a:xfrm>
          <a:prstGeom prst="ellipse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320" name="Google Shape;320;p21"/>
          <p:cNvGrpSpPr/>
          <p:nvPr/>
        </p:nvGrpSpPr>
        <p:grpSpPr>
          <a:xfrm>
            <a:off x="4208680" y="2363930"/>
            <a:ext cx="1288704" cy="1496384"/>
            <a:chOff x="5065884" y="2620738"/>
            <a:chExt cx="1637282" cy="1793150"/>
          </a:xfrm>
        </p:grpSpPr>
        <p:grpSp>
          <p:nvGrpSpPr>
            <p:cNvPr id="321" name="Google Shape;321;p21"/>
            <p:cNvGrpSpPr/>
            <p:nvPr/>
          </p:nvGrpSpPr>
          <p:grpSpPr>
            <a:xfrm>
              <a:off x="5065884" y="2789276"/>
              <a:ext cx="707706" cy="1456096"/>
              <a:chOff x="1597330" y="2437981"/>
              <a:chExt cx="757796" cy="683164"/>
            </a:xfrm>
          </p:grpSpPr>
          <p:cxnSp>
            <p:nvCxnSpPr>
              <p:cNvPr id="322" name="Google Shape;322;p21"/>
              <p:cNvCxnSpPr/>
              <p:nvPr/>
            </p:nvCxnSpPr>
            <p:spPr>
              <a:xfrm flipH="1" rot="10800000">
                <a:off x="1597330" y="2437981"/>
                <a:ext cx="704100" cy="2997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23" name="Google Shape;323;p21"/>
              <p:cNvCxnSpPr/>
              <p:nvPr/>
            </p:nvCxnSpPr>
            <p:spPr>
              <a:xfrm>
                <a:off x="1597330" y="2821445"/>
                <a:ext cx="704100" cy="2997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24" name="Google Shape;324;p21"/>
              <p:cNvCxnSpPr/>
              <p:nvPr/>
            </p:nvCxnSpPr>
            <p:spPr>
              <a:xfrm>
                <a:off x="1630326" y="2780029"/>
                <a:ext cx="724800" cy="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325" name="Google Shape;325;p21"/>
            <p:cNvGrpSpPr/>
            <p:nvPr/>
          </p:nvGrpSpPr>
          <p:grpSpPr>
            <a:xfrm>
              <a:off x="6045607" y="2620738"/>
              <a:ext cx="657559" cy="370400"/>
              <a:chOff x="531205" y="2439944"/>
              <a:chExt cx="704100" cy="1957717"/>
            </a:xfrm>
          </p:grpSpPr>
          <p:cxnSp>
            <p:nvCxnSpPr>
              <p:cNvPr id="326" name="Google Shape;326;p21"/>
              <p:cNvCxnSpPr/>
              <p:nvPr/>
            </p:nvCxnSpPr>
            <p:spPr>
              <a:xfrm flipH="1" rot="10800000">
                <a:off x="531205" y="2439944"/>
                <a:ext cx="704100" cy="8589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27" name="Google Shape;327;p21"/>
              <p:cNvCxnSpPr/>
              <p:nvPr/>
            </p:nvCxnSpPr>
            <p:spPr>
              <a:xfrm>
                <a:off x="531205" y="3538762"/>
                <a:ext cx="704100" cy="8589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328" name="Google Shape;328;p21"/>
            <p:cNvGrpSpPr/>
            <p:nvPr/>
          </p:nvGrpSpPr>
          <p:grpSpPr>
            <a:xfrm>
              <a:off x="6045607" y="3332113"/>
              <a:ext cx="657559" cy="370400"/>
              <a:chOff x="531205" y="2439944"/>
              <a:chExt cx="704100" cy="1957717"/>
            </a:xfrm>
          </p:grpSpPr>
          <p:cxnSp>
            <p:nvCxnSpPr>
              <p:cNvPr id="329" name="Google Shape;329;p21"/>
              <p:cNvCxnSpPr/>
              <p:nvPr/>
            </p:nvCxnSpPr>
            <p:spPr>
              <a:xfrm flipH="1" rot="10800000">
                <a:off x="531205" y="2439944"/>
                <a:ext cx="704100" cy="8589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30" name="Google Shape;330;p21"/>
              <p:cNvCxnSpPr/>
              <p:nvPr/>
            </p:nvCxnSpPr>
            <p:spPr>
              <a:xfrm>
                <a:off x="531205" y="3538762"/>
                <a:ext cx="704100" cy="8589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331" name="Google Shape;331;p21"/>
            <p:cNvGrpSpPr/>
            <p:nvPr/>
          </p:nvGrpSpPr>
          <p:grpSpPr>
            <a:xfrm>
              <a:off x="6045607" y="4043488"/>
              <a:ext cx="657559" cy="370400"/>
              <a:chOff x="531205" y="2439944"/>
              <a:chExt cx="704100" cy="1957717"/>
            </a:xfrm>
          </p:grpSpPr>
          <p:cxnSp>
            <p:nvCxnSpPr>
              <p:cNvPr id="332" name="Google Shape;332;p21"/>
              <p:cNvCxnSpPr/>
              <p:nvPr/>
            </p:nvCxnSpPr>
            <p:spPr>
              <a:xfrm flipH="1" rot="10800000">
                <a:off x="531205" y="2439944"/>
                <a:ext cx="704100" cy="8589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33" name="Google Shape;333;p21"/>
              <p:cNvCxnSpPr/>
              <p:nvPr/>
            </p:nvCxnSpPr>
            <p:spPr>
              <a:xfrm>
                <a:off x="531205" y="3538762"/>
                <a:ext cx="704100" cy="8589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sp>
        <p:nvSpPr>
          <p:cNvPr id="334" name="Google Shape;334;p21"/>
          <p:cNvSpPr txBox="1"/>
          <p:nvPr/>
        </p:nvSpPr>
        <p:spPr>
          <a:xfrm>
            <a:off x="4743579" y="3612089"/>
            <a:ext cx="21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V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5" name="Google Shape;335;p21"/>
          <p:cNvSpPr txBox="1"/>
          <p:nvPr/>
        </p:nvSpPr>
        <p:spPr>
          <a:xfrm>
            <a:off x="4743579" y="3003036"/>
            <a:ext cx="21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U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6" name="Google Shape;336;p21"/>
          <p:cNvSpPr txBox="1"/>
          <p:nvPr/>
        </p:nvSpPr>
        <p:spPr>
          <a:xfrm>
            <a:off x="4743579" y="2393983"/>
            <a:ext cx="21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7" name="Google Shape;337;p21"/>
          <p:cNvSpPr txBox="1"/>
          <p:nvPr/>
        </p:nvSpPr>
        <p:spPr>
          <a:xfrm>
            <a:off x="5497501" y="2258736"/>
            <a:ext cx="21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8" name="Google Shape;338;p21"/>
          <p:cNvSpPr txBox="1"/>
          <p:nvPr/>
        </p:nvSpPr>
        <p:spPr>
          <a:xfrm>
            <a:off x="5497501" y="2854841"/>
            <a:ext cx="21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9" name="Google Shape;339;p21"/>
          <p:cNvSpPr txBox="1"/>
          <p:nvPr/>
        </p:nvSpPr>
        <p:spPr>
          <a:xfrm>
            <a:off x="5497501" y="3749868"/>
            <a:ext cx="21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0" name="Google Shape;340;p21"/>
          <p:cNvSpPr txBox="1"/>
          <p:nvPr/>
        </p:nvSpPr>
        <p:spPr>
          <a:xfrm>
            <a:off x="2327232" y="1783917"/>
            <a:ext cx="12498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sample space</a:t>
            </a:r>
            <a:endParaRPr b="1"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41" name="Google Shape;341;p21"/>
          <p:cNvCxnSpPr/>
          <p:nvPr/>
        </p:nvCxnSpPr>
        <p:spPr>
          <a:xfrm>
            <a:off x="474757" y="4617313"/>
            <a:ext cx="6610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42" name="Google Shape;342;p21"/>
          <p:cNvSpPr/>
          <p:nvPr/>
        </p:nvSpPr>
        <p:spPr>
          <a:xfrm>
            <a:off x="4568080" y="8091232"/>
            <a:ext cx="1060800" cy="2919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9E9E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3" name="Google Shape;343;p21"/>
          <p:cNvSpPr/>
          <p:nvPr/>
        </p:nvSpPr>
        <p:spPr>
          <a:xfrm>
            <a:off x="2006006" y="7753398"/>
            <a:ext cx="1060800" cy="2919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9E9E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4" name="Google Shape;344;p21"/>
          <p:cNvSpPr txBox="1"/>
          <p:nvPr/>
        </p:nvSpPr>
        <p:spPr>
          <a:xfrm>
            <a:off x="479423" y="4840250"/>
            <a:ext cx="6107700" cy="291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B</a:t>
            </a:r>
            <a:r>
              <a:rPr b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:  Outcome trees from two events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5" name="Google Shape;345;p21"/>
          <p:cNvSpPr txBox="1"/>
          <p:nvPr/>
        </p:nvSpPr>
        <p:spPr>
          <a:xfrm>
            <a:off x="476400" y="5345557"/>
            <a:ext cx="52605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This spinner will be spun once.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Complete this </a:t>
            </a:r>
            <a:r>
              <a:rPr b="1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outcome tree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346" name="Google Shape;346;p21"/>
          <p:cNvGrpSpPr/>
          <p:nvPr/>
        </p:nvGrpSpPr>
        <p:grpSpPr>
          <a:xfrm>
            <a:off x="5764577" y="5303815"/>
            <a:ext cx="1322215" cy="1322056"/>
            <a:chOff x="13003" y="367652"/>
            <a:chExt cx="2484900" cy="2484600"/>
          </a:xfrm>
        </p:grpSpPr>
        <p:sp>
          <p:nvSpPr>
            <p:cNvPr id="347" name="Google Shape;347;p21"/>
            <p:cNvSpPr/>
            <p:nvPr/>
          </p:nvSpPr>
          <p:spPr>
            <a:xfrm flipH="1">
              <a:off x="346558" y="700627"/>
              <a:ext cx="1818000" cy="1818000"/>
            </a:xfrm>
            <a:prstGeom prst="pie">
              <a:avLst>
                <a:gd fmla="val 12606297" name="adj1"/>
                <a:gd fmla="val 16200000" name="adj2"/>
              </a:avLst>
            </a:prstGeom>
            <a:solidFill>
              <a:srgbClr val="FFFFFF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8" name="Google Shape;348;p21"/>
            <p:cNvSpPr txBox="1"/>
            <p:nvPr/>
          </p:nvSpPr>
          <p:spPr>
            <a:xfrm>
              <a:off x="1312279" y="850358"/>
              <a:ext cx="438900" cy="501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1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49" name="Google Shape;349;p21"/>
            <p:cNvSpPr/>
            <p:nvPr/>
          </p:nvSpPr>
          <p:spPr>
            <a:xfrm flipH="1" rot="3599684">
              <a:off x="346741" y="700788"/>
              <a:ext cx="1817711" cy="1817970"/>
            </a:xfrm>
            <a:prstGeom prst="pie">
              <a:avLst>
                <a:gd fmla="val 12606297" name="adj1"/>
                <a:gd fmla="val 16200000" name="adj2"/>
              </a:avLst>
            </a:prstGeom>
            <a:solidFill>
              <a:srgbClr val="845AD9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0" name="Google Shape;350;p21"/>
            <p:cNvSpPr/>
            <p:nvPr/>
          </p:nvSpPr>
          <p:spPr>
            <a:xfrm flipH="1" rot="10800000">
              <a:off x="346568" y="700583"/>
              <a:ext cx="1818000" cy="1818000"/>
            </a:xfrm>
            <a:prstGeom prst="pie">
              <a:avLst>
                <a:gd fmla="val 12606297" name="adj1"/>
                <a:gd fmla="val 16200000" name="adj2"/>
              </a:avLst>
            </a:prstGeom>
            <a:solidFill>
              <a:srgbClr val="374CF1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1" name="Google Shape;351;p21"/>
            <p:cNvSpPr/>
            <p:nvPr/>
          </p:nvSpPr>
          <p:spPr>
            <a:xfrm flipH="1" rot="7200316">
              <a:off x="346586" y="700743"/>
              <a:ext cx="1817711" cy="1817970"/>
            </a:xfrm>
            <a:prstGeom prst="pie">
              <a:avLst>
                <a:gd fmla="val 12606297" name="adj1"/>
                <a:gd fmla="val 16200000" name="adj2"/>
              </a:avLst>
            </a:prstGeom>
            <a:solidFill>
              <a:srgbClr val="037B7D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2" name="Google Shape;352;p21"/>
            <p:cNvSpPr/>
            <p:nvPr/>
          </p:nvSpPr>
          <p:spPr>
            <a:xfrm flipH="1" rot="-3599062">
              <a:off x="345983" y="700557"/>
              <a:ext cx="1818940" cy="1818790"/>
            </a:xfrm>
            <a:prstGeom prst="pie">
              <a:avLst>
                <a:gd fmla="val 12606297" name="adj1"/>
                <a:gd fmla="val 16200000" name="adj2"/>
              </a:avLst>
            </a:prstGeom>
            <a:solidFill>
              <a:srgbClr val="BEF2BD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3" name="Google Shape;353;p21"/>
            <p:cNvSpPr/>
            <p:nvPr/>
          </p:nvSpPr>
          <p:spPr>
            <a:xfrm flipH="1" rot="-7198483">
              <a:off x="346575" y="700655"/>
              <a:ext cx="1818190" cy="1818190"/>
            </a:xfrm>
            <a:prstGeom prst="pie">
              <a:avLst>
                <a:gd fmla="val 12606297" name="adj1"/>
                <a:gd fmla="val 16200000" name="adj2"/>
              </a:avLst>
            </a:prstGeom>
            <a:solidFill>
              <a:srgbClr val="D02AA7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4" name="Google Shape;354;p21"/>
            <p:cNvSpPr txBox="1"/>
            <p:nvPr/>
          </p:nvSpPr>
          <p:spPr>
            <a:xfrm>
              <a:off x="1628339" y="1358887"/>
              <a:ext cx="438900" cy="501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4</a:t>
              </a:r>
              <a:endParaRPr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55" name="Google Shape;355;p21"/>
            <p:cNvSpPr txBox="1"/>
            <p:nvPr/>
          </p:nvSpPr>
          <p:spPr>
            <a:xfrm>
              <a:off x="1312279" y="1867416"/>
              <a:ext cx="438900" cy="501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6</a:t>
              </a:r>
              <a:endParaRPr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56" name="Google Shape;356;p21"/>
            <p:cNvSpPr txBox="1"/>
            <p:nvPr/>
          </p:nvSpPr>
          <p:spPr>
            <a:xfrm flipH="1">
              <a:off x="620357" y="850358"/>
              <a:ext cx="438900" cy="501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16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57" name="Google Shape;357;p21"/>
            <p:cNvSpPr txBox="1"/>
            <p:nvPr/>
          </p:nvSpPr>
          <p:spPr>
            <a:xfrm flipH="1">
              <a:off x="447503" y="1358887"/>
              <a:ext cx="438900" cy="501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11</a:t>
              </a:r>
              <a:endParaRPr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58" name="Google Shape;358;p21"/>
            <p:cNvSpPr txBox="1"/>
            <p:nvPr/>
          </p:nvSpPr>
          <p:spPr>
            <a:xfrm flipH="1">
              <a:off x="763563" y="1867416"/>
              <a:ext cx="438900" cy="501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8</a:t>
              </a:r>
              <a:endParaRPr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359" name="Google Shape;359;p21"/>
            <p:cNvCxnSpPr/>
            <p:nvPr/>
          </p:nvCxnSpPr>
          <p:spPr>
            <a:xfrm rot="10800000">
              <a:off x="1255624" y="757150"/>
              <a:ext cx="0" cy="834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360" name="Google Shape;360;p21"/>
            <p:cNvSpPr/>
            <p:nvPr/>
          </p:nvSpPr>
          <p:spPr>
            <a:xfrm>
              <a:off x="1204564" y="1556531"/>
              <a:ext cx="102000" cy="91800"/>
            </a:xfrm>
            <a:prstGeom prst="ellipse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1" name="Google Shape;361;p21"/>
          <p:cNvSpPr txBox="1"/>
          <p:nvPr/>
        </p:nvSpPr>
        <p:spPr>
          <a:xfrm>
            <a:off x="1908572" y="7472107"/>
            <a:ext cx="1895400" cy="34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not a square number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62" name="Google Shape;362;p21"/>
          <p:cNvCxnSpPr/>
          <p:nvPr/>
        </p:nvCxnSpPr>
        <p:spPr>
          <a:xfrm flipH="1" rot="10800000">
            <a:off x="1236110" y="6330191"/>
            <a:ext cx="620400" cy="5697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3" name="Google Shape;363;p21"/>
          <p:cNvCxnSpPr/>
          <p:nvPr/>
        </p:nvCxnSpPr>
        <p:spPr>
          <a:xfrm>
            <a:off x="1236110" y="7058964"/>
            <a:ext cx="620400" cy="5697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64" name="Google Shape;364;p21"/>
          <p:cNvSpPr txBox="1"/>
          <p:nvPr/>
        </p:nvSpPr>
        <p:spPr>
          <a:xfrm>
            <a:off x="1926364" y="6220119"/>
            <a:ext cx="13869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square number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365" name="Google Shape;365;p21"/>
          <p:cNvGrpSpPr/>
          <p:nvPr/>
        </p:nvGrpSpPr>
        <p:grpSpPr>
          <a:xfrm>
            <a:off x="3260201" y="5920205"/>
            <a:ext cx="2531495" cy="863109"/>
            <a:chOff x="5562139" y="2035085"/>
            <a:chExt cx="3318688" cy="1357090"/>
          </a:xfrm>
        </p:grpSpPr>
        <p:grpSp>
          <p:nvGrpSpPr>
            <p:cNvPr id="366" name="Google Shape;366;p21"/>
            <p:cNvGrpSpPr/>
            <p:nvPr/>
          </p:nvGrpSpPr>
          <p:grpSpPr>
            <a:xfrm>
              <a:off x="5562139" y="2229109"/>
              <a:ext cx="813170" cy="950411"/>
              <a:chOff x="3697470" y="2919050"/>
              <a:chExt cx="561000" cy="1002437"/>
            </a:xfrm>
          </p:grpSpPr>
          <p:cxnSp>
            <p:nvCxnSpPr>
              <p:cNvPr id="367" name="Google Shape;367;p21"/>
              <p:cNvCxnSpPr/>
              <p:nvPr/>
            </p:nvCxnSpPr>
            <p:spPr>
              <a:xfrm flipH="1" rot="10800000">
                <a:off x="3697470" y="2919050"/>
                <a:ext cx="561000" cy="4398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68" name="Google Shape;368;p21"/>
              <p:cNvCxnSpPr/>
              <p:nvPr/>
            </p:nvCxnSpPr>
            <p:spPr>
              <a:xfrm>
                <a:off x="3697470" y="3481687"/>
                <a:ext cx="561000" cy="4398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sp>
          <p:nvSpPr>
            <p:cNvPr id="369" name="Google Shape;369;p21"/>
            <p:cNvSpPr txBox="1"/>
            <p:nvPr/>
          </p:nvSpPr>
          <p:spPr>
            <a:xfrm>
              <a:off x="6430115" y="2035085"/>
              <a:ext cx="2080800" cy="390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prime number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70" name="Google Shape;370;p21"/>
            <p:cNvSpPr txBox="1"/>
            <p:nvPr/>
          </p:nvSpPr>
          <p:spPr>
            <a:xfrm>
              <a:off x="6430127" y="3001275"/>
              <a:ext cx="2450700" cy="390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not a prime number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71" name="Google Shape;371;p21"/>
          <p:cNvGrpSpPr/>
          <p:nvPr/>
        </p:nvGrpSpPr>
        <p:grpSpPr>
          <a:xfrm>
            <a:off x="3711307" y="7239517"/>
            <a:ext cx="2531495" cy="863109"/>
            <a:chOff x="5562139" y="2035085"/>
            <a:chExt cx="3318688" cy="1357090"/>
          </a:xfrm>
        </p:grpSpPr>
        <p:grpSp>
          <p:nvGrpSpPr>
            <p:cNvPr id="372" name="Google Shape;372;p21"/>
            <p:cNvGrpSpPr/>
            <p:nvPr/>
          </p:nvGrpSpPr>
          <p:grpSpPr>
            <a:xfrm>
              <a:off x="5562139" y="2229109"/>
              <a:ext cx="813170" cy="950411"/>
              <a:chOff x="3697470" y="2919050"/>
              <a:chExt cx="561000" cy="1002437"/>
            </a:xfrm>
          </p:grpSpPr>
          <p:cxnSp>
            <p:nvCxnSpPr>
              <p:cNvPr id="373" name="Google Shape;373;p21"/>
              <p:cNvCxnSpPr/>
              <p:nvPr/>
            </p:nvCxnSpPr>
            <p:spPr>
              <a:xfrm flipH="1" rot="10800000">
                <a:off x="3697470" y="2919050"/>
                <a:ext cx="561000" cy="4398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74" name="Google Shape;374;p21"/>
              <p:cNvCxnSpPr/>
              <p:nvPr/>
            </p:nvCxnSpPr>
            <p:spPr>
              <a:xfrm>
                <a:off x="3697470" y="3481687"/>
                <a:ext cx="561000" cy="4398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sp>
          <p:nvSpPr>
            <p:cNvPr id="375" name="Google Shape;375;p21"/>
            <p:cNvSpPr txBox="1"/>
            <p:nvPr/>
          </p:nvSpPr>
          <p:spPr>
            <a:xfrm>
              <a:off x="6430115" y="2035085"/>
              <a:ext cx="2080800" cy="390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prime number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76" name="Google Shape;376;p21"/>
            <p:cNvSpPr txBox="1"/>
            <p:nvPr/>
          </p:nvSpPr>
          <p:spPr>
            <a:xfrm>
              <a:off x="6430127" y="3001275"/>
              <a:ext cx="2450700" cy="390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not a prime number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377" name="Google Shape;377;p21"/>
          <p:cNvSpPr txBox="1"/>
          <p:nvPr/>
        </p:nvSpPr>
        <p:spPr>
          <a:xfrm>
            <a:off x="476400" y="8587325"/>
            <a:ext cx="6583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The spinner lands on an 11. Using the </a:t>
            </a:r>
            <a:r>
              <a:rPr b="1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outcome tree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, which two events have just happened?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8" name="Google Shape;378;p21"/>
          <p:cNvSpPr/>
          <p:nvPr/>
        </p:nvSpPr>
        <p:spPr>
          <a:xfrm>
            <a:off x="2006006" y="6431565"/>
            <a:ext cx="1060800" cy="2919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9E9E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9" name="Google Shape;379;p21"/>
          <p:cNvSpPr/>
          <p:nvPr/>
        </p:nvSpPr>
        <p:spPr>
          <a:xfrm>
            <a:off x="4001572" y="6157677"/>
            <a:ext cx="1060800" cy="2919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9E9E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0" name="Google Shape;380;p21"/>
          <p:cNvSpPr/>
          <p:nvPr/>
        </p:nvSpPr>
        <p:spPr>
          <a:xfrm>
            <a:off x="4001572" y="6759904"/>
            <a:ext cx="1060800" cy="2919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9E9E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1" name="Google Shape;381;p21"/>
          <p:cNvSpPr/>
          <p:nvPr/>
        </p:nvSpPr>
        <p:spPr>
          <a:xfrm>
            <a:off x="4568080" y="7489005"/>
            <a:ext cx="1060800" cy="2919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9E9E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2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87" name="Google Shape;387;p22"/>
          <p:cNvSpPr txBox="1"/>
          <p:nvPr>
            <p:ph idx="1" type="subTitle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an </a:t>
            </a:r>
            <a:r>
              <a:rPr b="1" lang="en-GB"/>
              <a:t>outcome tree</a:t>
            </a:r>
            <a:r>
              <a:rPr lang="en-GB"/>
              <a:t> to display outcomes for two events</a:t>
            </a:r>
            <a:endParaRPr/>
          </a:p>
        </p:txBody>
      </p:sp>
      <p:sp>
        <p:nvSpPr>
          <p:cNvPr id="388" name="Google Shape;388;p22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v2.3</a:t>
            </a:r>
            <a:endParaRPr sz="1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9" name="Google Shape;389;p22"/>
          <p:cNvSpPr txBox="1"/>
          <p:nvPr>
            <p:ph idx="2" type="subTitle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Mathematics in Education and Industry</a:t>
            </a:r>
            <a:endParaRPr/>
          </a:p>
        </p:txBody>
      </p:sp>
      <p:sp>
        <p:nvSpPr>
          <p:cNvPr id="390" name="Google Shape;390;p22"/>
          <p:cNvSpPr/>
          <p:nvPr/>
        </p:nvSpPr>
        <p:spPr>
          <a:xfrm>
            <a:off x="1885200" y="1381350"/>
            <a:ext cx="1329600" cy="2982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9E9E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391" name="Google Shape;391;p22"/>
          <p:cNvGrpSpPr/>
          <p:nvPr/>
        </p:nvGrpSpPr>
        <p:grpSpPr>
          <a:xfrm>
            <a:off x="4019712" y="1097478"/>
            <a:ext cx="1819355" cy="596179"/>
            <a:chOff x="2133225" y="3433500"/>
            <a:chExt cx="2336400" cy="765608"/>
          </a:xfrm>
        </p:grpSpPr>
        <p:sp>
          <p:nvSpPr>
            <p:cNvPr id="392" name="Google Shape;392;p22"/>
            <p:cNvSpPr/>
            <p:nvPr/>
          </p:nvSpPr>
          <p:spPr>
            <a:xfrm>
              <a:off x="2329200" y="3816308"/>
              <a:ext cx="1390800" cy="382800"/>
            </a:xfrm>
            <a:prstGeom prst="roundRect">
              <a:avLst>
                <a:gd fmla="val 16667" name="adj"/>
              </a:avLst>
            </a:prstGeom>
            <a:noFill/>
            <a:ln cap="flat" cmpd="sng" w="2857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93" name="Google Shape;393;p22"/>
            <p:cNvSpPr/>
            <p:nvPr/>
          </p:nvSpPr>
          <p:spPr>
            <a:xfrm>
              <a:off x="2133225" y="3433500"/>
              <a:ext cx="2336400" cy="382800"/>
            </a:xfrm>
            <a:prstGeom prst="roundRect">
              <a:avLst>
                <a:gd fmla="val 16667" name="adj"/>
              </a:avLst>
            </a:prstGeom>
            <a:noFill/>
            <a:ln cap="flat" cmpd="sng" w="2857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4" name="Google Shape;394;p22"/>
          <p:cNvGrpSpPr/>
          <p:nvPr/>
        </p:nvGrpSpPr>
        <p:grpSpPr>
          <a:xfrm>
            <a:off x="4019712" y="1713457"/>
            <a:ext cx="1819355" cy="596179"/>
            <a:chOff x="2133225" y="3433500"/>
            <a:chExt cx="2336400" cy="765608"/>
          </a:xfrm>
        </p:grpSpPr>
        <p:sp>
          <p:nvSpPr>
            <p:cNvPr id="395" name="Google Shape;395;p22"/>
            <p:cNvSpPr/>
            <p:nvPr/>
          </p:nvSpPr>
          <p:spPr>
            <a:xfrm>
              <a:off x="2329200" y="3816308"/>
              <a:ext cx="1390800" cy="382800"/>
            </a:xfrm>
            <a:prstGeom prst="roundRect">
              <a:avLst>
                <a:gd fmla="val 16667" name="adj"/>
              </a:avLst>
            </a:prstGeom>
            <a:noFill/>
            <a:ln cap="flat" cmpd="sng" w="2857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96" name="Google Shape;396;p22"/>
            <p:cNvSpPr/>
            <p:nvPr/>
          </p:nvSpPr>
          <p:spPr>
            <a:xfrm>
              <a:off x="2133225" y="3433500"/>
              <a:ext cx="2336400" cy="382800"/>
            </a:xfrm>
            <a:prstGeom prst="roundRect">
              <a:avLst>
                <a:gd fmla="val 16667" name="adj"/>
              </a:avLst>
            </a:prstGeom>
            <a:noFill/>
            <a:ln cap="flat" cmpd="sng" w="2857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cxnSp>
        <p:nvCxnSpPr>
          <p:cNvPr id="397" name="Google Shape;397;p22"/>
          <p:cNvCxnSpPr/>
          <p:nvPr/>
        </p:nvCxnSpPr>
        <p:spPr>
          <a:xfrm flipH="1" rot="10800000">
            <a:off x="1251898" y="1576088"/>
            <a:ext cx="633300" cy="5814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8" name="Google Shape;398;p22"/>
          <p:cNvCxnSpPr/>
          <p:nvPr/>
        </p:nvCxnSpPr>
        <p:spPr>
          <a:xfrm>
            <a:off x="1251898" y="2319867"/>
            <a:ext cx="633300" cy="5814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99" name="Google Shape;399;p22"/>
          <p:cNvSpPr txBox="1"/>
          <p:nvPr/>
        </p:nvSpPr>
        <p:spPr>
          <a:xfrm>
            <a:off x="1956500" y="1420748"/>
            <a:ext cx="12393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multiple of 5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400" name="Google Shape;400;p22"/>
          <p:cNvGrpSpPr/>
          <p:nvPr/>
        </p:nvGrpSpPr>
        <p:grpSpPr>
          <a:xfrm>
            <a:off x="3318219" y="1283317"/>
            <a:ext cx="633201" cy="617000"/>
            <a:chOff x="3697470" y="2919050"/>
            <a:chExt cx="561000" cy="1002437"/>
          </a:xfrm>
        </p:grpSpPr>
        <p:cxnSp>
          <p:nvCxnSpPr>
            <p:cNvPr id="401" name="Google Shape;401;p22"/>
            <p:cNvCxnSpPr/>
            <p:nvPr/>
          </p:nvCxnSpPr>
          <p:spPr>
            <a:xfrm flipH="1" rot="10800000">
              <a:off x="3697470" y="2919050"/>
              <a:ext cx="561000" cy="4398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02" name="Google Shape;402;p22"/>
            <p:cNvCxnSpPr/>
            <p:nvPr/>
          </p:nvCxnSpPr>
          <p:spPr>
            <a:xfrm>
              <a:off x="3697470" y="3481687"/>
              <a:ext cx="561000" cy="4398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403" name="Google Shape;403;p22"/>
          <p:cNvGrpSpPr/>
          <p:nvPr/>
        </p:nvGrpSpPr>
        <p:grpSpPr>
          <a:xfrm>
            <a:off x="3778699" y="2630047"/>
            <a:ext cx="633201" cy="617000"/>
            <a:chOff x="3697470" y="2919050"/>
            <a:chExt cx="561000" cy="1002437"/>
          </a:xfrm>
        </p:grpSpPr>
        <p:cxnSp>
          <p:nvCxnSpPr>
            <p:cNvPr id="404" name="Google Shape;404;p22"/>
            <p:cNvCxnSpPr/>
            <p:nvPr/>
          </p:nvCxnSpPr>
          <p:spPr>
            <a:xfrm flipH="1" rot="10800000">
              <a:off x="3697470" y="2919050"/>
              <a:ext cx="561000" cy="4398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05" name="Google Shape;405;p22"/>
            <p:cNvCxnSpPr/>
            <p:nvPr/>
          </p:nvCxnSpPr>
          <p:spPr>
            <a:xfrm>
              <a:off x="3697470" y="3481687"/>
              <a:ext cx="561000" cy="4398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406" name="Google Shape;406;p22"/>
          <p:cNvSpPr/>
          <p:nvPr/>
        </p:nvSpPr>
        <p:spPr>
          <a:xfrm>
            <a:off x="2037794" y="1679429"/>
            <a:ext cx="1083000" cy="2982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9E9E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7" name="Google Shape;407;p22"/>
          <p:cNvSpPr/>
          <p:nvPr/>
        </p:nvSpPr>
        <p:spPr>
          <a:xfrm>
            <a:off x="2037794" y="3028732"/>
            <a:ext cx="1083000" cy="2982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9E9E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8" name="Google Shape;408;p22"/>
          <p:cNvSpPr/>
          <p:nvPr/>
        </p:nvSpPr>
        <p:spPr>
          <a:xfrm>
            <a:off x="1885193" y="2730650"/>
            <a:ext cx="1819200" cy="2982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9E9E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9" name="Google Shape;409;p22"/>
          <p:cNvSpPr txBox="1"/>
          <p:nvPr/>
        </p:nvSpPr>
        <p:spPr>
          <a:xfrm>
            <a:off x="476400" y="754575"/>
            <a:ext cx="6615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A spinner has outcomes of: {5, 9, 15, 25, 28, 441}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Complete this </a:t>
            </a:r>
            <a:r>
              <a:rPr b="1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outcome tree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410" name="Google Shape;410;p22"/>
          <p:cNvGrpSpPr/>
          <p:nvPr/>
        </p:nvGrpSpPr>
        <p:grpSpPr>
          <a:xfrm>
            <a:off x="4494827" y="2460274"/>
            <a:ext cx="1819355" cy="596179"/>
            <a:chOff x="2133225" y="3433500"/>
            <a:chExt cx="2336400" cy="765608"/>
          </a:xfrm>
        </p:grpSpPr>
        <p:sp>
          <p:nvSpPr>
            <p:cNvPr id="411" name="Google Shape;411;p22"/>
            <p:cNvSpPr/>
            <p:nvPr/>
          </p:nvSpPr>
          <p:spPr>
            <a:xfrm>
              <a:off x="2329200" y="3816308"/>
              <a:ext cx="1390800" cy="382800"/>
            </a:xfrm>
            <a:prstGeom prst="roundRect">
              <a:avLst>
                <a:gd fmla="val 16667" name="adj"/>
              </a:avLst>
            </a:prstGeom>
            <a:noFill/>
            <a:ln cap="flat" cmpd="sng" w="2857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412" name="Google Shape;412;p22"/>
            <p:cNvSpPr/>
            <p:nvPr/>
          </p:nvSpPr>
          <p:spPr>
            <a:xfrm>
              <a:off x="2133225" y="3433500"/>
              <a:ext cx="2336400" cy="382800"/>
            </a:xfrm>
            <a:prstGeom prst="roundRect">
              <a:avLst>
                <a:gd fmla="val 16667" name="adj"/>
              </a:avLst>
            </a:prstGeom>
            <a:noFill/>
            <a:ln cap="flat" cmpd="sng" w="2857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13" name="Google Shape;413;p22"/>
          <p:cNvGrpSpPr/>
          <p:nvPr/>
        </p:nvGrpSpPr>
        <p:grpSpPr>
          <a:xfrm>
            <a:off x="4494816" y="3076261"/>
            <a:ext cx="2003673" cy="596171"/>
            <a:chOff x="2133211" y="3433509"/>
            <a:chExt cx="2573100" cy="765598"/>
          </a:xfrm>
        </p:grpSpPr>
        <p:sp>
          <p:nvSpPr>
            <p:cNvPr id="414" name="Google Shape;414;p22"/>
            <p:cNvSpPr/>
            <p:nvPr/>
          </p:nvSpPr>
          <p:spPr>
            <a:xfrm>
              <a:off x="2329200" y="3816308"/>
              <a:ext cx="1390800" cy="382800"/>
            </a:xfrm>
            <a:prstGeom prst="roundRect">
              <a:avLst>
                <a:gd fmla="val 16667" name="adj"/>
              </a:avLst>
            </a:prstGeom>
            <a:noFill/>
            <a:ln cap="flat" cmpd="sng" w="2857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415" name="Google Shape;415;p22"/>
            <p:cNvSpPr/>
            <p:nvPr/>
          </p:nvSpPr>
          <p:spPr>
            <a:xfrm>
              <a:off x="2133211" y="3433509"/>
              <a:ext cx="2573100" cy="382800"/>
            </a:xfrm>
            <a:prstGeom prst="roundRect">
              <a:avLst>
                <a:gd fmla="val 16667" name="adj"/>
              </a:avLst>
            </a:prstGeom>
            <a:noFill/>
            <a:ln cap="flat" cmpd="sng" w="2857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416" name="Google Shape;416;p22"/>
          <p:cNvSpPr txBox="1"/>
          <p:nvPr/>
        </p:nvSpPr>
        <p:spPr>
          <a:xfrm>
            <a:off x="4533808" y="3117709"/>
            <a:ext cx="1964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not a square number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17" name="Google Shape;417;p22"/>
          <p:cNvSpPr txBox="1"/>
          <p:nvPr/>
        </p:nvSpPr>
        <p:spPr>
          <a:xfrm>
            <a:off x="4182841" y="2042012"/>
            <a:ext cx="1059300" cy="23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418" name="Google Shape;418;p22"/>
          <p:cNvSpPr txBox="1"/>
          <p:nvPr/>
        </p:nvSpPr>
        <p:spPr>
          <a:xfrm>
            <a:off x="476400" y="3878775"/>
            <a:ext cx="5866800" cy="11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3) A spinner has outcomes of: {1, 4, 8, 16, 25, 27, 30, 36, 39, 64}.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Jacob is going to spin this spinner and looks for the events of landing on a square number that is also a cube number.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419" name="Google Shape;419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6483614" y="3733882"/>
            <a:ext cx="522224" cy="643284"/>
          </a:xfrm>
          <a:prstGeom prst="rect">
            <a:avLst/>
          </a:prstGeom>
          <a:noFill/>
          <a:ln>
            <a:noFill/>
          </a:ln>
        </p:spPr>
      </p:pic>
      <p:sp>
        <p:nvSpPr>
          <p:cNvPr id="420" name="Google Shape;420;p22"/>
          <p:cNvSpPr txBox="1"/>
          <p:nvPr/>
        </p:nvSpPr>
        <p:spPr>
          <a:xfrm>
            <a:off x="6380548" y="4377167"/>
            <a:ext cx="728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Jacob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1" name="Google Shape;421;p22"/>
          <p:cNvSpPr txBox="1"/>
          <p:nvPr/>
        </p:nvSpPr>
        <p:spPr>
          <a:xfrm>
            <a:off x="5139243" y="7399674"/>
            <a:ext cx="156300" cy="22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2" name="Google Shape;422;p22"/>
          <p:cNvSpPr txBox="1"/>
          <p:nvPr/>
        </p:nvSpPr>
        <p:spPr>
          <a:xfrm>
            <a:off x="5520136" y="7399674"/>
            <a:ext cx="156300" cy="22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3" name="Google Shape;423;p22"/>
          <p:cNvSpPr txBox="1"/>
          <p:nvPr/>
        </p:nvSpPr>
        <p:spPr>
          <a:xfrm>
            <a:off x="5861532" y="7408023"/>
            <a:ext cx="156300" cy="22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4" name="Google Shape;424;p22"/>
          <p:cNvSpPr txBox="1"/>
          <p:nvPr/>
        </p:nvSpPr>
        <p:spPr>
          <a:xfrm>
            <a:off x="6232241" y="7408023"/>
            <a:ext cx="156300" cy="22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5" name="Google Shape;425;p22"/>
          <p:cNvSpPr txBox="1"/>
          <p:nvPr/>
        </p:nvSpPr>
        <p:spPr>
          <a:xfrm>
            <a:off x="6613134" y="7408023"/>
            <a:ext cx="156300" cy="22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6" name="Google Shape;426;p22"/>
          <p:cNvSpPr txBox="1"/>
          <p:nvPr/>
        </p:nvSpPr>
        <p:spPr>
          <a:xfrm>
            <a:off x="5174869" y="7971172"/>
            <a:ext cx="156300" cy="22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7" name="Google Shape;427;p22"/>
          <p:cNvSpPr txBox="1"/>
          <p:nvPr/>
        </p:nvSpPr>
        <p:spPr>
          <a:xfrm>
            <a:off x="5545577" y="7971172"/>
            <a:ext cx="156300" cy="22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G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8" name="Google Shape;428;p22"/>
          <p:cNvSpPr txBox="1"/>
          <p:nvPr/>
        </p:nvSpPr>
        <p:spPr>
          <a:xfrm>
            <a:off x="5953968" y="7971172"/>
            <a:ext cx="156300" cy="22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H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9" name="Google Shape;429;p22"/>
          <p:cNvSpPr txBox="1"/>
          <p:nvPr/>
        </p:nvSpPr>
        <p:spPr>
          <a:xfrm>
            <a:off x="6339953" y="7971172"/>
            <a:ext cx="156300" cy="22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430" name="Google Shape;430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69938" y="7030442"/>
            <a:ext cx="246324" cy="345153"/>
          </a:xfrm>
          <a:prstGeom prst="rect">
            <a:avLst/>
          </a:prstGeom>
          <a:noFill/>
          <a:ln>
            <a:noFill/>
          </a:ln>
        </p:spPr>
      </p:pic>
      <p:pic>
        <p:nvPicPr>
          <p:cNvPr id="431" name="Google Shape;431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511136" y="7640363"/>
            <a:ext cx="225037" cy="30562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2" name="Google Shape;432;p2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198148" y="7028158"/>
            <a:ext cx="214393" cy="386206"/>
          </a:xfrm>
          <a:prstGeom prst="rect">
            <a:avLst/>
          </a:prstGeom>
          <a:noFill/>
          <a:ln>
            <a:noFill/>
          </a:ln>
        </p:spPr>
      </p:pic>
      <p:pic>
        <p:nvPicPr>
          <p:cNvPr id="433" name="Google Shape;433;p2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934223" y="7612242"/>
            <a:ext cx="190239" cy="361877"/>
          </a:xfrm>
          <a:prstGeom prst="rect">
            <a:avLst/>
          </a:prstGeom>
          <a:noFill/>
          <a:ln>
            <a:noFill/>
          </a:ln>
        </p:spPr>
      </p:pic>
      <p:pic>
        <p:nvPicPr>
          <p:cNvPr id="434" name="Google Shape;434;p22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544801" y="7013971"/>
            <a:ext cx="217434" cy="396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5" name="Google Shape;435;p22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6280873" y="7617561"/>
            <a:ext cx="217026" cy="35123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36" name="Google Shape;436;p22"/>
          <p:cNvGrpSpPr/>
          <p:nvPr/>
        </p:nvGrpSpPr>
        <p:grpSpPr>
          <a:xfrm>
            <a:off x="5448531" y="6995449"/>
            <a:ext cx="250881" cy="374061"/>
            <a:chOff x="1984114" y="1120943"/>
            <a:chExt cx="477596" cy="712090"/>
          </a:xfrm>
        </p:grpSpPr>
        <p:pic>
          <p:nvPicPr>
            <p:cNvPr id="437" name="Google Shape;437;p22"/>
            <p:cNvPicPr preferRelativeResize="0"/>
            <p:nvPr/>
          </p:nvPicPr>
          <p:blipFill>
            <a:blip r:embed="rId10">
              <a:alphaModFix/>
            </a:blip>
            <a:stretch>
              <a:fillRect/>
            </a:stretch>
          </p:blipFill>
          <p:spPr>
            <a:xfrm>
              <a:off x="1984114" y="1199133"/>
              <a:ext cx="477596" cy="6339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38" name="Google Shape;438;p22"/>
            <p:cNvPicPr preferRelativeResize="0"/>
            <p:nvPr/>
          </p:nvPicPr>
          <p:blipFill rotWithShape="1">
            <a:blip r:embed="rId8">
              <a:alphaModFix/>
            </a:blip>
            <a:srcRect b="81988" l="0" r="0" t="0"/>
            <a:stretch/>
          </p:blipFill>
          <p:spPr>
            <a:xfrm>
              <a:off x="2043225" y="1120943"/>
              <a:ext cx="413925" cy="13607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39" name="Google Shape;439;p22"/>
          <p:cNvGrpSpPr/>
          <p:nvPr/>
        </p:nvGrpSpPr>
        <p:grpSpPr>
          <a:xfrm>
            <a:off x="5831688" y="7026143"/>
            <a:ext cx="254835" cy="349446"/>
            <a:chOff x="2713519" y="1179374"/>
            <a:chExt cx="485123" cy="665232"/>
          </a:xfrm>
        </p:grpSpPr>
        <p:pic>
          <p:nvPicPr>
            <p:cNvPr id="440" name="Google Shape;440;p22"/>
            <p:cNvPicPr preferRelativeResize="0"/>
            <p:nvPr/>
          </p:nvPicPr>
          <p:blipFill>
            <a:blip r:embed="rId11">
              <a:alphaModFix/>
            </a:blip>
            <a:stretch>
              <a:fillRect/>
            </a:stretch>
          </p:blipFill>
          <p:spPr>
            <a:xfrm>
              <a:off x="2713519" y="1257018"/>
              <a:ext cx="445756" cy="58758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41" name="Google Shape;441;p22"/>
            <p:cNvPicPr preferRelativeResize="0"/>
            <p:nvPr/>
          </p:nvPicPr>
          <p:blipFill rotWithShape="1">
            <a:blip r:embed="rId8">
              <a:alphaModFix/>
            </a:blip>
            <a:srcRect b="81988" l="0" r="0" t="0"/>
            <a:stretch/>
          </p:blipFill>
          <p:spPr>
            <a:xfrm>
              <a:off x="2784717" y="1179374"/>
              <a:ext cx="413925" cy="13607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42" name="Google Shape;442;p22"/>
          <p:cNvGrpSpPr/>
          <p:nvPr/>
        </p:nvGrpSpPr>
        <p:grpSpPr>
          <a:xfrm>
            <a:off x="5141589" y="7574959"/>
            <a:ext cx="248823" cy="382030"/>
            <a:chOff x="4876452" y="1152087"/>
            <a:chExt cx="473678" cy="727261"/>
          </a:xfrm>
        </p:grpSpPr>
        <p:pic>
          <p:nvPicPr>
            <p:cNvPr id="443" name="Google Shape;443;p22"/>
            <p:cNvPicPr preferRelativeResize="0"/>
            <p:nvPr/>
          </p:nvPicPr>
          <p:blipFill>
            <a:blip r:embed="rId12">
              <a:alphaModFix/>
            </a:blip>
            <a:stretch>
              <a:fillRect/>
            </a:stretch>
          </p:blipFill>
          <p:spPr>
            <a:xfrm>
              <a:off x="4876452" y="1222293"/>
              <a:ext cx="451545" cy="65705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44" name="Google Shape;444;p22"/>
            <p:cNvPicPr preferRelativeResize="0"/>
            <p:nvPr/>
          </p:nvPicPr>
          <p:blipFill rotWithShape="1">
            <a:blip r:embed="rId8">
              <a:alphaModFix/>
            </a:blip>
            <a:srcRect b="81988" l="0" r="0" t="0"/>
            <a:stretch/>
          </p:blipFill>
          <p:spPr>
            <a:xfrm>
              <a:off x="4936205" y="1152087"/>
              <a:ext cx="413925" cy="13607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45" name="Google Shape;445;p22"/>
          <p:cNvSpPr txBox="1"/>
          <p:nvPr/>
        </p:nvSpPr>
        <p:spPr>
          <a:xfrm>
            <a:off x="476400" y="6833425"/>
            <a:ext cx="45360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4) In a cafe they have the following drinks on the menu.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Create an outcome tree with the first event being “has a handle” and the second “has a straw”.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46" name="Google Shape;446;p22"/>
          <p:cNvSpPr txBox="1"/>
          <p:nvPr/>
        </p:nvSpPr>
        <p:spPr>
          <a:xfrm>
            <a:off x="4758122" y="8300220"/>
            <a:ext cx="2334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On your tree circle the outcomes that represent straw but no handle.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47" name="Google Shape;447;p22"/>
          <p:cNvSpPr txBox="1"/>
          <p:nvPr/>
        </p:nvSpPr>
        <p:spPr>
          <a:xfrm>
            <a:off x="466825" y="4722550"/>
            <a:ext cx="1415700" cy="190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a) Draw and complete an </a:t>
            </a: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outcome tree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for this trial.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b) How many outcomes match the events that Jacob is looking out for?</a:t>
            </a:r>
            <a:endParaRPr sz="1800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Worksheet September 2023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LD THEME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