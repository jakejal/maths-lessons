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8" name="Shape 278"/>
        <p:cNvGrpSpPr/>
        <p:nvPr/>
      </p:nvGrpSpPr>
      <p:grpSpPr>
        <a:xfrm>
          <a:off x="0" y="0"/>
          <a:ext cx="0" cy="0"/>
        </a:xfrm>
      </p:grpSpPr>
      <p:sp>
        <p:nvSpPr>
          <p:cNvPr id="279" name="Google Shape;279;g2b847dd2078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b847dd207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61" name="Shape 361"/>
        <p:cNvGrpSpPr/>
        <p:nvPr/>
      </p:nvGrpSpPr>
      <p:grpSpPr>
        <a:xfrm>
          <a:off x="0" y="0"/>
          <a:ext cx="0" cy="0"/>
        </a:xfrm>
      </p:grpSpPr>
      <p:sp>
        <p:nvSpPr>
          <p:cNvPr id="362" name="Google Shape;36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an outcome tree to display outcomes for more than two events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1600484" y="2317164"/>
            <a:ext cx="178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Sofia will spin spinner 1, 2, and 3 once 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7999" y="1716050"/>
            <a:ext cx="63168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Outcome trees for multi-stage trials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533909" y="2227730"/>
            <a:ext cx="753977" cy="753919"/>
            <a:chOff x="1079761" y="2819758"/>
            <a:chExt cx="811863" cy="811800"/>
          </a:xfrm>
        </p:grpSpPr>
        <p:sp>
          <p:nvSpPr>
            <p:cNvPr id="164" name="Google Shape;164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5" name="Google Shape;165;p20"/>
            <p:cNvSpPr/>
            <p:nvPr/>
          </p:nvSpPr>
          <p:spPr>
            <a:xfrm rot="10800000" flipH="1">
              <a:off x="1079824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6" name="Google Shape;166;p20"/>
            <p:cNvSpPr txBox="1"/>
            <p:nvPr/>
          </p:nvSpPr>
          <p:spPr>
            <a:xfrm flipH="1">
              <a:off x="1541035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" name="Google Shape;167;p20"/>
            <p:cNvSpPr txBox="1"/>
            <p:nvPr/>
          </p:nvSpPr>
          <p:spPr>
            <a:xfrm flipH="1">
              <a:off x="1150360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8" name="Google Shape;168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69" name="Google Shape;169;p20"/>
              <p:cNvCxnSpPr/>
              <p:nvPr/>
            </p:nvCxnSpPr>
            <p:spPr>
              <a:xfrm rot="10800000" flipH="1">
                <a:off x="879108" y="2913567"/>
                <a:ext cx="0" cy="3726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70" name="Google Shape;170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1" name="Google Shape;171;p20"/>
          <p:cNvSpPr txBox="1"/>
          <p:nvPr/>
        </p:nvSpPr>
        <p:spPr>
          <a:xfrm>
            <a:off x="467625" y="3013360"/>
            <a:ext cx="88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" name="Google Shape;172;p20"/>
          <p:cNvGrpSpPr/>
          <p:nvPr/>
        </p:nvGrpSpPr>
        <p:grpSpPr>
          <a:xfrm>
            <a:off x="533909" y="3333551"/>
            <a:ext cx="753977" cy="753919"/>
            <a:chOff x="1079761" y="2819758"/>
            <a:chExt cx="811863" cy="811800"/>
          </a:xfrm>
        </p:grpSpPr>
        <p:sp>
          <p:nvSpPr>
            <p:cNvPr id="173" name="Google Shape;173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 rot="10800000" flipH="1">
              <a:off x="1079824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5" name="Google Shape;175;p20"/>
            <p:cNvSpPr txBox="1"/>
            <p:nvPr/>
          </p:nvSpPr>
          <p:spPr>
            <a:xfrm flipH="1">
              <a:off x="1541035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 flipH="1">
              <a:off x="1150360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7" name="Google Shape;177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78" name="Google Shape;178;p20"/>
              <p:cNvCxnSpPr/>
              <p:nvPr/>
            </p:nvCxnSpPr>
            <p:spPr>
              <a:xfrm rot="10800000" flipH="1">
                <a:off x="879108" y="2913567"/>
                <a:ext cx="0" cy="3726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79" name="Google Shape;179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0" name="Google Shape;180;p20"/>
          <p:cNvSpPr txBox="1"/>
          <p:nvPr/>
        </p:nvSpPr>
        <p:spPr>
          <a:xfrm>
            <a:off x="467625" y="4119180"/>
            <a:ext cx="88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533909" y="4439372"/>
            <a:ext cx="753977" cy="753919"/>
            <a:chOff x="1079761" y="2819758"/>
            <a:chExt cx="811863" cy="811800"/>
          </a:xfrm>
        </p:grpSpPr>
        <p:sp>
          <p:nvSpPr>
            <p:cNvPr id="182" name="Google Shape;182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 rot="10800000" flipH="1">
              <a:off x="1079824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4" name="Google Shape;184;p20"/>
            <p:cNvSpPr txBox="1"/>
            <p:nvPr/>
          </p:nvSpPr>
          <p:spPr>
            <a:xfrm flipH="1">
              <a:off x="1541035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 flipH="1">
              <a:off x="1150360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6" name="Google Shape;186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87" name="Google Shape;187;p20"/>
              <p:cNvCxnSpPr/>
              <p:nvPr/>
            </p:nvCxnSpPr>
            <p:spPr>
              <a:xfrm rot="10800000" flipH="1">
                <a:off x="879108" y="2913567"/>
                <a:ext cx="0" cy="3726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88" name="Google Shape;188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9" name="Google Shape;189;p20"/>
          <p:cNvSpPr txBox="1"/>
          <p:nvPr/>
        </p:nvSpPr>
        <p:spPr>
          <a:xfrm>
            <a:off x="467625" y="5225001"/>
            <a:ext cx="88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204877" y="2243912"/>
            <a:ext cx="886800" cy="2195700"/>
          </a:xfrm>
          <a:prstGeom prst="roundRect">
            <a:avLst>
              <a:gd name="adj" fmla="val 902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 rot="10800000" flipH="1">
            <a:off x="5287166" y="3473332"/>
            <a:ext cx="476100" cy="118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5287166" y="3624887"/>
            <a:ext cx="476100" cy="118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0"/>
          <p:cNvCxnSpPr/>
          <p:nvPr/>
        </p:nvCxnSpPr>
        <p:spPr>
          <a:xfrm rot="10800000" flipH="1">
            <a:off x="5287166" y="4008007"/>
            <a:ext cx="476100" cy="118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5287166" y="4159561"/>
            <a:ext cx="476100" cy="118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5763161" y="4157813"/>
            <a:ext cx="18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763161" y="3891343"/>
            <a:ext cx="18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" name="Google Shape;197;p20"/>
          <p:cNvGrpSpPr/>
          <p:nvPr/>
        </p:nvGrpSpPr>
        <p:grpSpPr>
          <a:xfrm>
            <a:off x="4500622" y="2401997"/>
            <a:ext cx="665366" cy="1690846"/>
            <a:chOff x="4552831" y="2878318"/>
            <a:chExt cx="852705" cy="1593935"/>
          </a:xfrm>
        </p:grpSpPr>
        <p:grpSp>
          <p:nvGrpSpPr>
            <p:cNvPr id="198" name="Google Shape;198;p20"/>
            <p:cNvGrpSpPr/>
            <p:nvPr/>
          </p:nvGrpSpPr>
          <p:grpSpPr>
            <a:xfrm>
              <a:off x="4552831" y="2878318"/>
              <a:ext cx="852705" cy="762624"/>
              <a:chOff x="5500948" y="2704575"/>
              <a:chExt cx="852705" cy="606508"/>
            </a:xfrm>
          </p:grpSpPr>
          <p:grpSp>
            <p:nvGrpSpPr>
              <p:cNvPr id="199" name="Google Shape;199;p20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200" name="Google Shape;200;p20"/>
                <p:cNvCxnSpPr/>
                <p:nvPr/>
              </p:nvCxnSpPr>
              <p:spPr>
                <a:xfrm rot="10800000" flipH="1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" name="Google Shape;201;p2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02" name="Google Shape;202;p20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" name="Google Shape;203;p20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04" name="Google Shape;204;p20"/>
            <p:cNvGrpSpPr/>
            <p:nvPr/>
          </p:nvGrpSpPr>
          <p:grpSpPr>
            <a:xfrm>
              <a:off x="4552831" y="4063312"/>
              <a:ext cx="610054" cy="408941"/>
              <a:chOff x="3226678" y="2761126"/>
              <a:chExt cx="469200" cy="1426870"/>
            </a:xfrm>
          </p:grpSpPr>
          <p:cxnSp>
            <p:nvCxnSpPr>
              <p:cNvPr id="205" name="Google Shape;205;p20"/>
              <p:cNvCxnSpPr/>
              <p:nvPr/>
            </p:nvCxnSpPr>
            <p:spPr>
              <a:xfrm rot="10800000" flipH="1">
                <a:off x="3226678" y="2761126"/>
                <a:ext cx="469200" cy="626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7" name="Google Shape;207;p20"/>
          <p:cNvGrpSpPr/>
          <p:nvPr/>
        </p:nvGrpSpPr>
        <p:grpSpPr>
          <a:xfrm>
            <a:off x="3715456" y="2632140"/>
            <a:ext cx="665366" cy="1417834"/>
            <a:chOff x="5500948" y="2704575"/>
            <a:chExt cx="852705" cy="606508"/>
          </a:xfrm>
        </p:grpSpPr>
        <p:grpSp>
          <p:nvGrpSpPr>
            <p:cNvPr id="208" name="Google Shape;208;p20"/>
            <p:cNvGrpSpPr/>
            <p:nvPr/>
          </p:nvGrpSpPr>
          <p:grpSpPr>
            <a:xfrm>
              <a:off x="5500948" y="2845093"/>
              <a:ext cx="610054" cy="325184"/>
              <a:chOff x="3226678" y="2761126"/>
              <a:chExt cx="469200" cy="1426870"/>
            </a:xfrm>
          </p:grpSpPr>
          <p:cxnSp>
            <p:nvCxnSpPr>
              <p:cNvPr id="209" name="Google Shape;209;p20"/>
              <p:cNvCxnSpPr/>
              <p:nvPr/>
            </p:nvCxnSpPr>
            <p:spPr>
              <a:xfrm rot="10800000" flipH="1">
                <a:off x="3226678" y="2761126"/>
                <a:ext cx="469200" cy="626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0" name="Google Shape;210;p20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11" name="Google Shape;211;p20"/>
            <p:cNvSpPr txBox="1"/>
            <p:nvPr/>
          </p:nvSpPr>
          <p:spPr>
            <a:xfrm>
              <a:off x="6110953" y="3025483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6110953" y="2704575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3" name="Google Shape;213;p20"/>
          <p:cNvGrpSpPr/>
          <p:nvPr/>
        </p:nvGrpSpPr>
        <p:grpSpPr>
          <a:xfrm>
            <a:off x="5287092" y="2287436"/>
            <a:ext cx="665366" cy="1038337"/>
            <a:chOff x="5501031" y="2770324"/>
            <a:chExt cx="852705" cy="978825"/>
          </a:xfrm>
        </p:grpSpPr>
        <p:grpSp>
          <p:nvGrpSpPr>
            <p:cNvPr id="214" name="Google Shape;214;p20"/>
            <p:cNvGrpSpPr/>
            <p:nvPr/>
          </p:nvGrpSpPr>
          <p:grpSpPr>
            <a:xfrm>
              <a:off x="5501031" y="2770324"/>
              <a:ext cx="852705" cy="474775"/>
              <a:chOff x="5500948" y="2704575"/>
              <a:chExt cx="852705" cy="606508"/>
            </a:xfrm>
          </p:grpSpPr>
          <p:grpSp>
            <p:nvGrpSpPr>
              <p:cNvPr id="215" name="Google Shape;215;p20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216" name="Google Shape;216;p20"/>
                <p:cNvCxnSpPr/>
                <p:nvPr/>
              </p:nvCxnSpPr>
              <p:spPr>
                <a:xfrm rot="10800000" flipH="1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7" name="Google Shape;217;p2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18" name="Google Shape;218;p20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9" name="Google Shape;219;p20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20" name="Google Shape;220;p20"/>
            <p:cNvGrpSpPr/>
            <p:nvPr/>
          </p:nvGrpSpPr>
          <p:grpSpPr>
            <a:xfrm>
              <a:off x="5501031" y="3274374"/>
              <a:ext cx="852705" cy="474775"/>
              <a:chOff x="5500948" y="2704575"/>
              <a:chExt cx="852705" cy="606508"/>
            </a:xfrm>
          </p:grpSpPr>
          <p:grpSp>
            <p:nvGrpSpPr>
              <p:cNvPr id="221" name="Google Shape;221;p20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222" name="Google Shape;222;p20"/>
                <p:cNvCxnSpPr/>
                <p:nvPr/>
              </p:nvCxnSpPr>
              <p:spPr>
                <a:xfrm rot="10800000" flipH="1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3" name="Google Shape;223;p2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24" name="Google Shape;224;p20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" name="Google Shape;225;p20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26" name="Google Shape;226;p20"/>
          <p:cNvSpPr txBox="1"/>
          <p:nvPr/>
        </p:nvSpPr>
        <p:spPr>
          <a:xfrm>
            <a:off x="1600484" y="4641034"/>
            <a:ext cx="47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The event that at least one spinner lands on a vowel has how many outcomes?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1600484" y="3268249"/>
            <a:ext cx="196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sample space.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731591" y="7637198"/>
            <a:ext cx="877200" cy="1834500"/>
          </a:xfrm>
          <a:prstGeom prst="roundRect">
            <a:avLst>
              <a:gd name="adj" fmla="val 902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1600475" y="6150750"/>
            <a:ext cx="5491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Aisha plays a game.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will spin spinners 1, 2, and 3 once 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spinner 3 lands on W, then Aisha wins the number of sweets equal to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sum</a:t>
            </a:r>
            <a:r>
              <a:rPr lang="en-GB"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of the numbers on spinners 1 and 2.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sample space for Aisha’s game.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" name="Google Shape;230;p20"/>
          <p:cNvGrpSpPr/>
          <p:nvPr/>
        </p:nvGrpSpPr>
        <p:grpSpPr>
          <a:xfrm>
            <a:off x="533269" y="6174892"/>
            <a:ext cx="745939" cy="745882"/>
            <a:chOff x="1079761" y="2819758"/>
            <a:chExt cx="811863" cy="811800"/>
          </a:xfrm>
        </p:grpSpPr>
        <p:sp>
          <p:nvSpPr>
            <p:cNvPr id="231" name="Google Shape;231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2" name="Google Shape;232;p20"/>
            <p:cNvSpPr/>
            <p:nvPr/>
          </p:nvSpPr>
          <p:spPr>
            <a:xfrm rot="10800000" flipH="1">
              <a:off x="1079824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3" name="Google Shape;233;p20"/>
            <p:cNvSpPr txBox="1"/>
            <p:nvPr/>
          </p:nvSpPr>
          <p:spPr>
            <a:xfrm flipH="1">
              <a:off x="1541035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 txBox="1"/>
            <p:nvPr/>
          </p:nvSpPr>
          <p:spPr>
            <a:xfrm flipH="1">
              <a:off x="1150360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35" name="Google Shape;235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236" name="Google Shape;236;p20"/>
              <p:cNvCxnSpPr/>
              <p:nvPr/>
            </p:nvCxnSpPr>
            <p:spPr>
              <a:xfrm rot="10800000" flipH="1">
                <a:off x="879108" y="2913567"/>
                <a:ext cx="0" cy="3726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37" name="Google Shape;237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8" name="Google Shape;238;p20"/>
          <p:cNvSpPr txBox="1"/>
          <p:nvPr/>
        </p:nvSpPr>
        <p:spPr>
          <a:xfrm>
            <a:off x="467625" y="6951908"/>
            <a:ext cx="877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" name="Google Shape;239;p20"/>
          <p:cNvGrpSpPr/>
          <p:nvPr/>
        </p:nvGrpSpPr>
        <p:grpSpPr>
          <a:xfrm>
            <a:off x="533269" y="7268848"/>
            <a:ext cx="745939" cy="745882"/>
            <a:chOff x="1079761" y="2819758"/>
            <a:chExt cx="811863" cy="811800"/>
          </a:xfrm>
        </p:grpSpPr>
        <p:sp>
          <p:nvSpPr>
            <p:cNvPr id="240" name="Google Shape;240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 rot="10800000" flipH="1">
              <a:off x="1079824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42" name="Google Shape;242;p20"/>
            <p:cNvSpPr txBox="1"/>
            <p:nvPr/>
          </p:nvSpPr>
          <p:spPr>
            <a:xfrm flipH="1">
              <a:off x="1541035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0"/>
            <p:cNvSpPr txBox="1"/>
            <p:nvPr/>
          </p:nvSpPr>
          <p:spPr>
            <a:xfrm flipH="1">
              <a:off x="1150360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44" name="Google Shape;244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245" name="Google Shape;245;p20"/>
              <p:cNvCxnSpPr/>
              <p:nvPr/>
            </p:nvCxnSpPr>
            <p:spPr>
              <a:xfrm rot="10800000" flipH="1">
                <a:off x="879108" y="2913567"/>
                <a:ext cx="0" cy="3726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46" name="Google Shape;246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7" name="Google Shape;247;p20"/>
          <p:cNvSpPr txBox="1"/>
          <p:nvPr/>
        </p:nvSpPr>
        <p:spPr>
          <a:xfrm>
            <a:off x="467625" y="8045863"/>
            <a:ext cx="877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8" name="Google Shape;248;p20"/>
          <p:cNvGrpSpPr/>
          <p:nvPr/>
        </p:nvGrpSpPr>
        <p:grpSpPr>
          <a:xfrm>
            <a:off x="533269" y="8362803"/>
            <a:ext cx="745939" cy="745882"/>
            <a:chOff x="1079761" y="2819758"/>
            <a:chExt cx="811863" cy="811800"/>
          </a:xfrm>
        </p:grpSpPr>
        <p:sp>
          <p:nvSpPr>
            <p:cNvPr id="249" name="Google Shape;249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 rot="10800000" flipH="1">
              <a:off x="1079824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51" name="Google Shape;251;p20"/>
            <p:cNvSpPr txBox="1"/>
            <p:nvPr/>
          </p:nvSpPr>
          <p:spPr>
            <a:xfrm flipH="1">
              <a:off x="1541035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0"/>
            <p:cNvSpPr txBox="1"/>
            <p:nvPr/>
          </p:nvSpPr>
          <p:spPr>
            <a:xfrm flipH="1">
              <a:off x="1150360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3" name="Google Shape;253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254" name="Google Shape;254;p20"/>
              <p:cNvCxnSpPr/>
              <p:nvPr/>
            </p:nvCxnSpPr>
            <p:spPr>
              <a:xfrm rot="10800000" flipH="1">
                <a:off x="879108" y="2913567"/>
                <a:ext cx="0" cy="3726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55" name="Google Shape;255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6" name="Google Shape;256;p20"/>
          <p:cNvSpPr txBox="1"/>
          <p:nvPr/>
        </p:nvSpPr>
        <p:spPr>
          <a:xfrm>
            <a:off x="467625" y="9139818"/>
            <a:ext cx="877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" name="Google Shape;257;p20"/>
          <p:cNvCxnSpPr/>
          <p:nvPr/>
        </p:nvCxnSpPr>
        <p:spPr>
          <a:xfrm rot="10800000" flipH="1">
            <a:off x="3823758" y="8664305"/>
            <a:ext cx="471000" cy="9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20"/>
          <p:cNvCxnSpPr/>
          <p:nvPr/>
        </p:nvCxnSpPr>
        <p:spPr>
          <a:xfrm>
            <a:off x="3823758" y="8790922"/>
            <a:ext cx="471000" cy="9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0"/>
          <p:cNvSpPr txBox="1"/>
          <p:nvPr/>
        </p:nvSpPr>
        <p:spPr>
          <a:xfrm>
            <a:off x="4294645" y="8789461"/>
            <a:ext cx="1872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4294645" y="8566825"/>
            <a:ext cx="1872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1" name="Google Shape;261;p20"/>
          <p:cNvCxnSpPr/>
          <p:nvPr/>
        </p:nvCxnSpPr>
        <p:spPr>
          <a:xfrm rot="10800000" flipH="1">
            <a:off x="3823758" y="9111026"/>
            <a:ext cx="471000" cy="9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" name="Google Shape;262;p20"/>
          <p:cNvCxnSpPr/>
          <p:nvPr/>
        </p:nvCxnSpPr>
        <p:spPr>
          <a:xfrm>
            <a:off x="3823758" y="9237644"/>
            <a:ext cx="471000" cy="9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" name="Google Shape;263;p20"/>
          <p:cNvCxnSpPr/>
          <p:nvPr/>
        </p:nvCxnSpPr>
        <p:spPr>
          <a:xfrm rot="10800000" flipH="1">
            <a:off x="3045715" y="7925696"/>
            <a:ext cx="471000" cy="15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0"/>
          <p:cNvCxnSpPr/>
          <p:nvPr/>
        </p:nvCxnSpPr>
        <p:spPr>
          <a:xfrm>
            <a:off x="3045715" y="8129057"/>
            <a:ext cx="471000" cy="15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0"/>
          <p:cNvCxnSpPr/>
          <p:nvPr/>
        </p:nvCxnSpPr>
        <p:spPr>
          <a:xfrm rot="10800000" flipH="1">
            <a:off x="3045715" y="8819228"/>
            <a:ext cx="471000" cy="15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0"/>
          <p:cNvCxnSpPr/>
          <p:nvPr/>
        </p:nvCxnSpPr>
        <p:spPr>
          <a:xfrm>
            <a:off x="3045715" y="9022589"/>
            <a:ext cx="471000" cy="15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20"/>
          <p:cNvSpPr txBox="1"/>
          <p:nvPr/>
        </p:nvSpPr>
        <p:spPr>
          <a:xfrm>
            <a:off x="3516602" y="9020242"/>
            <a:ext cx="1872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8" name="Google Shape;268;p20"/>
          <p:cNvCxnSpPr/>
          <p:nvPr/>
        </p:nvCxnSpPr>
        <p:spPr>
          <a:xfrm rot="10800000" flipH="1">
            <a:off x="2268995" y="8235874"/>
            <a:ext cx="471000" cy="278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0"/>
          <p:cNvCxnSpPr/>
          <p:nvPr/>
        </p:nvCxnSpPr>
        <p:spPr>
          <a:xfrm>
            <a:off x="2268995" y="8592324"/>
            <a:ext cx="471000" cy="278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20"/>
          <p:cNvSpPr txBox="1"/>
          <p:nvPr/>
        </p:nvSpPr>
        <p:spPr>
          <a:xfrm>
            <a:off x="2739883" y="7961426"/>
            <a:ext cx="187200" cy="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4765247" y="8789456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2 5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4765247" y="7673383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5 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4765247" y="8566821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5 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790385" y="7637198"/>
            <a:ext cx="877200" cy="1834500"/>
          </a:xfrm>
          <a:prstGeom prst="roundRect">
            <a:avLst>
              <a:gd name="adj" fmla="val 902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5824041" y="8789456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5824041" y="7673383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wins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5824041" y="8566821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wins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1" name="Shape 281"/>
        <p:cNvGrpSpPr/>
        <p:nvPr/>
      </p:nvGrpSpPr>
      <p:grpSpPr>
        <a:xfrm>
          <a:off x="0" y="0"/>
          <a:ext cx="0" cy="0"/>
        </a:xfrm>
      </p:grpSpPr>
      <p:sp>
        <p:nvSpPr>
          <p:cNvPr id="282" name="Google Shape;28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an outcome tree to display outcomes for more than two events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284" name="Google Shape;284;p21"/>
          <p:cNvCxnSpPr/>
          <p:nvPr/>
        </p:nvCxnSpPr>
        <p:spPr>
          <a:xfrm>
            <a:off x="474757" y="44070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5" name="Google Shape;285;p21"/>
          <p:cNvGrpSpPr/>
          <p:nvPr/>
        </p:nvGrpSpPr>
        <p:grpSpPr>
          <a:xfrm>
            <a:off x="586931" y="915820"/>
            <a:ext cx="737821" cy="737764"/>
            <a:chOff x="1079761" y="2819758"/>
            <a:chExt cx="811863" cy="811800"/>
          </a:xfrm>
        </p:grpSpPr>
        <p:sp>
          <p:nvSpPr>
            <p:cNvPr id="286" name="Google Shape;286;p21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87" name="Google Shape;287;p21"/>
            <p:cNvSpPr/>
            <p:nvPr/>
          </p:nvSpPr>
          <p:spPr>
            <a:xfrm rot="10800000" flipH="1">
              <a:off x="1079824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88" name="Google Shape;288;p21"/>
            <p:cNvSpPr txBox="1"/>
            <p:nvPr/>
          </p:nvSpPr>
          <p:spPr>
            <a:xfrm flipH="1">
              <a:off x="1541035" y="3116844"/>
              <a:ext cx="2784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" name="Google Shape;289;p21"/>
            <p:cNvSpPr txBox="1"/>
            <p:nvPr/>
          </p:nvSpPr>
          <p:spPr>
            <a:xfrm flipH="1">
              <a:off x="1150360" y="3116844"/>
              <a:ext cx="2784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90" name="Google Shape;290;p21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291" name="Google Shape;291;p21"/>
              <p:cNvCxnSpPr/>
              <p:nvPr/>
            </p:nvCxnSpPr>
            <p:spPr>
              <a:xfrm rot="10800000" flipH="1">
                <a:off x="879108" y="2913567"/>
                <a:ext cx="0" cy="3726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92" name="Google Shape;292;p21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3" name="Google Shape;293;p21"/>
          <p:cNvGrpSpPr/>
          <p:nvPr/>
        </p:nvGrpSpPr>
        <p:grpSpPr>
          <a:xfrm>
            <a:off x="934204" y="944853"/>
            <a:ext cx="41463" cy="361779"/>
            <a:chOff x="779080" y="747789"/>
            <a:chExt cx="54300" cy="473780"/>
          </a:xfrm>
        </p:grpSpPr>
        <p:cxnSp>
          <p:nvCxnSpPr>
            <p:cNvPr id="294" name="Google Shape;294;p21"/>
            <p:cNvCxnSpPr/>
            <p:nvPr/>
          </p:nvCxnSpPr>
          <p:spPr>
            <a:xfrm rot="10800000" flipH="1">
              <a:off x="808433" y="747789"/>
              <a:ext cx="0" cy="443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5" name="Google Shape;295;p21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96" name="Google Shape;296;p21"/>
          <p:cNvSpPr txBox="1"/>
          <p:nvPr/>
        </p:nvSpPr>
        <p:spPr>
          <a:xfrm>
            <a:off x="522021" y="1685404"/>
            <a:ext cx="86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22021" y="2767473"/>
            <a:ext cx="86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8" name="Google Shape;298;p21"/>
          <p:cNvGrpSpPr/>
          <p:nvPr/>
        </p:nvGrpSpPr>
        <p:grpSpPr>
          <a:xfrm rot="-5400000">
            <a:off x="586962" y="3080831"/>
            <a:ext cx="737821" cy="737764"/>
            <a:chOff x="1079761" y="2819758"/>
            <a:chExt cx="811863" cy="811800"/>
          </a:xfrm>
        </p:grpSpPr>
        <p:sp>
          <p:nvSpPr>
            <p:cNvPr id="299" name="Google Shape;299;p21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 rot="10800000" flipH="1">
              <a:off x="1079824" y="2819758"/>
              <a:ext cx="811800" cy="811800"/>
            </a:xfrm>
            <a:prstGeom prst="pie">
              <a:avLst>
                <a:gd name="adj1" fmla="val 539166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01" name="Google Shape;301;p21"/>
            <p:cNvSpPr txBox="1"/>
            <p:nvPr/>
          </p:nvSpPr>
          <p:spPr>
            <a:xfrm rot="5400000" flipH="1">
              <a:off x="1387232" y="3118666"/>
              <a:ext cx="558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heads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" name="Google Shape;302;p21"/>
            <p:cNvSpPr txBox="1"/>
            <p:nvPr/>
          </p:nvSpPr>
          <p:spPr>
            <a:xfrm rot="5395248" flipH="1">
              <a:off x="1074344" y="3118748"/>
              <a:ext cx="4341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tails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" name="Google Shape;303;p21"/>
            <p:cNvSpPr/>
            <p:nvPr/>
          </p:nvSpPr>
          <p:spPr>
            <a:xfrm rot="5400000">
              <a:off x="1462108" y="3199666"/>
              <a:ext cx="45600" cy="411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04" name="Google Shape;304;p21"/>
          <p:cNvSpPr txBox="1"/>
          <p:nvPr/>
        </p:nvSpPr>
        <p:spPr>
          <a:xfrm>
            <a:off x="522021" y="3849543"/>
            <a:ext cx="86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5" name="Google Shape;305;p21"/>
          <p:cNvGrpSpPr/>
          <p:nvPr/>
        </p:nvGrpSpPr>
        <p:grpSpPr>
          <a:xfrm>
            <a:off x="451633" y="1864602"/>
            <a:ext cx="1008181" cy="1008181"/>
            <a:chOff x="146832" y="518450"/>
            <a:chExt cx="1320300" cy="1320300"/>
          </a:xfrm>
        </p:grpSpPr>
        <p:sp>
          <p:nvSpPr>
            <p:cNvPr id="306" name="Google Shape;306;p21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name="adj1" fmla="val 8993067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 rot="7200178" flipH="1">
              <a:off x="323726" y="695344"/>
              <a:ext cx="966513" cy="966513"/>
            </a:xfrm>
            <a:prstGeom prst="pie">
              <a:avLst>
                <a:gd name="adj1" fmla="val 8993067"/>
                <a:gd name="adj2" fmla="val 16200000"/>
              </a:avLst>
            </a:prstGeom>
            <a:solidFill>
              <a:srgbClr val="CC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name="adj1" fmla="val 8993067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09" name="Google Shape;309;p21"/>
          <p:cNvGrpSpPr/>
          <p:nvPr/>
        </p:nvGrpSpPr>
        <p:grpSpPr>
          <a:xfrm>
            <a:off x="934204" y="2027884"/>
            <a:ext cx="41463" cy="361779"/>
            <a:chOff x="779080" y="747789"/>
            <a:chExt cx="54300" cy="473780"/>
          </a:xfrm>
        </p:grpSpPr>
        <p:cxnSp>
          <p:nvCxnSpPr>
            <p:cNvPr id="310" name="Google Shape;310;p21"/>
            <p:cNvCxnSpPr/>
            <p:nvPr/>
          </p:nvCxnSpPr>
          <p:spPr>
            <a:xfrm rot="10800000" flipH="1">
              <a:off x="808433" y="747789"/>
              <a:ext cx="0" cy="443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11" name="Google Shape;311;p21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12" name="Google Shape;312;p21"/>
          <p:cNvSpPr txBox="1"/>
          <p:nvPr/>
        </p:nvSpPr>
        <p:spPr>
          <a:xfrm flipH="1">
            <a:off x="829037" y="2456853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 flipH="1">
            <a:off x="676677" y="2163657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 flipH="1">
            <a:off x="983034" y="2163657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1603576" y="892950"/>
            <a:ext cx="21909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Sam will spin spinners 1 and 2 once each, and then flip a coin.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Draw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this three-stage trial. Stage 1 is spinner 1, stage 2 is spinner 2, and stage 3 is the coin.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Modify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to satisfy this four-stage trial: “if two spinners land on the same letter and the coin lands heads, then flip another coin”.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76399" y="4687850"/>
            <a:ext cx="62328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Outcome trees from multiple events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7" name="Google Shape;317;p21"/>
          <p:cNvCxnSpPr/>
          <p:nvPr/>
        </p:nvCxnSpPr>
        <p:spPr>
          <a:xfrm rot="10800000" flipH="1">
            <a:off x="4719015" y="6356636"/>
            <a:ext cx="368400" cy="135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21"/>
          <p:cNvCxnSpPr/>
          <p:nvPr/>
        </p:nvCxnSpPr>
        <p:spPr>
          <a:xfrm>
            <a:off x="4719015" y="6530068"/>
            <a:ext cx="368400" cy="135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" name="Google Shape;319;p21"/>
          <p:cNvSpPr txBox="1"/>
          <p:nvPr/>
        </p:nvSpPr>
        <p:spPr>
          <a:xfrm>
            <a:off x="5156659" y="6528075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5156657" y="6223097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f100: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1" name="Google Shape;321;p21"/>
          <p:cNvCxnSpPr/>
          <p:nvPr/>
        </p:nvCxnSpPr>
        <p:spPr>
          <a:xfrm rot="10800000" flipH="1">
            <a:off x="4719015" y="6982115"/>
            <a:ext cx="368400" cy="135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21"/>
          <p:cNvCxnSpPr/>
          <p:nvPr/>
        </p:nvCxnSpPr>
        <p:spPr>
          <a:xfrm>
            <a:off x="4719015" y="7155547"/>
            <a:ext cx="368400" cy="135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3" name="Google Shape;323;p21"/>
          <p:cNvSpPr txBox="1"/>
          <p:nvPr/>
        </p:nvSpPr>
        <p:spPr>
          <a:xfrm>
            <a:off x="5156659" y="7153554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5156657" y="6848576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f100: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5" name="Google Shape;325;p21"/>
          <p:cNvCxnSpPr/>
          <p:nvPr/>
        </p:nvCxnSpPr>
        <p:spPr>
          <a:xfrm rot="10800000" flipH="1">
            <a:off x="4719015" y="7607582"/>
            <a:ext cx="368400" cy="135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1"/>
          <p:cNvCxnSpPr/>
          <p:nvPr/>
        </p:nvCxnSpPr>
        <p:spPr>
          <a:xfrm>
            <a:off x="4719015" y="7781014"/>
            <a:ext cx="368400" cy="135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" name="Google Shape;327;p21"/>
          <p:cNvSpPr txBox="1"/>
          <p:nvPr/>
        </p:nvSpPr>
        <p:spPr>
          <a:xfrm>
            <a:off x="5156659" y="7779021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5156657" y="7474043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f100: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9" name="Google Shape;329;p21"/>
          <p:cNvCxnSpPr/>
          <p:nvPr/>
        </p:nvCxnSpPr>
        <p:spPr>
          <a:xfrm rot="10800000" flipH="1">
            <a:off x="4719015" y="8233049"/>
            <a:ext cx="368400" cy="135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21"/>
          <p:cNvCxnSpPr/>
          <p:nvPr/>
        </p:nvCxnSpPr>
        <p:spPr>
          <a:xfrm>
            <a:off x="4719015" y="8406481"/>
            <a:ext cx="368400" cy="135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1" name="Google Shape;331;p21"/>
          <p:cNvSpPr txBox="1"/>
          <p:nvPr/>
        </p:nvSpPr>
        <p:spPr>
          <a:xfrm>
            <a:off x="5156659" y="8404487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5156657" y="8099510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f100: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3" name="Google Shape;333;p21"/>
          <p:cNvCxnSpPr/>
          <p:nvPr/>
        </p:nvCxnSpPr>
        <p:spPr>
          <a:xfrm rot="10800000" flipH="1">
            <a:off x="2598280" y="6509225"/>
            <a:ext cx="3684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21"/>
          <p:cNvCxnSpPr/>
          <p:nvPr/>
        </p:nvCxnSpPr>
        <p:spPr>
          <a:xfrm>
            <a:off x="2598280" y="6862296"/>
            <a:ext cx="3684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5" name="Google Shape;335;p21"/>
          <p:cNvSpPr txBox="1"/>
          <p:nvPr/>
        </p:nvSpPr>
        <p:spPr>
          <a:xfrm>
            <a:off x="3035924" y="6858235"/>
            <a:ext cx="7326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m3: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3035922" y="6236941"/>
            <a:ext cx="7326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m3: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7" name="Google Shape;337;p21"/>
          <p:cNvCxnSpPr/>
          <p:nvPr/>
        </p:nvCxnSpPr>
        <p:spPr>
          <a:xfrm rot="10800000" flipH="1">
            <a:off x="2598280" y="7760182"/>
            <a:ext cx="3684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" name="Google Shape;338;p21"/>
          <p:cNvCxnSpPr/>
          <p:nvPr/>
        </p:nvCxnSpPr>
        <p:spPr>
          <a:xfrm>
            <a:off x="2598280" y="8113253"/>
            <a:ext cx="3684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9" name="Google Shape;339;p21"/>
          <p:cNvSpPr txBox="1"/>
          <p:nvPr/>
        </p:nvSpPr>
        <p:spPr>
          <a:xfrm>
            <a:off x="3035924" y="8109192"/>
            <a:ext cx="7326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m3: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3035922" y="7487898"/>
            <a:ext cx="7326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1" name="Google Shape;341;p21"/>
          <p:cNvCxnSpPr/>
          <p:nvPr/>
        </p:nvCxnSpPr>
        <p:spPr>
          <a:xfrm rot="10800000" flipH="1">
            <a:off x="545250" y="6829648"/>
            <a:ext cx="368400" cy="543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" name="Google Shape;342;p21"/>
          <p:cNvCxnSpPr/>
          <p:nvPr/>
        </p:nvCxnSpPr>
        <p:spPr>
          <a:xfrm>
            <a:off x="545250" y="7524938"/>
            <a:ext cx="368400" cy="543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" name="Google Shape;343;p21"/>
          <p:cNvSpPr txBox="1"/>
          <p:nvPr/>
        </p:nvSpPr>
        <p:spPr>
          <a:xfrm>
            <a:off x="982894" y="7516945"/>
            <a:ext cx="732600" cy="10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982893" y="6294127"/>
            <a:ext cx="732600" cy="10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1367389" y="6480360"/>
            <a:ext cx="1044000" cy="7155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1367389" y="7700429"/>
            <a:ext cx="1044000" cy="7155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3320780" y="6255228"/>
            <a:ext cx="1337100" cy="52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3559979" y="6884358"/>
            <a:ext cx="1097700" cy="52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3320780" y="7512027"/>
            <a:ext cx="1337100" cy="52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3559979" y="8141156"/>
            <a:ext cx="1097700" cy="52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5527200" y="6217725"/>
            <a:ext cx="1293300" cy="28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5812818" y="6530551"/>
            <a:ext cx="1008000" cy="28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5527200" y="6845887"/>
            <a:ext cx="1293300" cy="28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5812818" y="7158713"/>
            <a:ext cx="1008000" cy="28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5527200" y="7464836"/>
            <a:ext cx="1293300" cy="28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5812818" y="7777661"/>
            <a:ext cx="1008000" cy="28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5527200" y="8083784"/>
            <a:ext cx="1293300" cy="28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5812818" y="8396610"/>
            <a:ext cx="1008000" cy="282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1367389" y="6480360"/>
            <a:ext cx="10440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20, 22, 24, 26, 28, 30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476400" y="5134347"/>
            <a:ext cx="6610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Sam will spin a spinner with the integers from 20 – 30 on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considers the events that the spinner lands on an even number, a multiple of 3 (m3) and a factor of 100 (f100).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for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outcomes from this spinner.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64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66" name="Google Shape;366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an outcome tree to display outcomes for more than two events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cxnSp>
        <p:nvCxnSpPr>
          <p:cNvPr id="369" name="Google Shape;369;p22"/>
          <p:cNvCxnSpPr/>
          <p:nvPr/>
        </p:nvCxnSpPr>
        <p:spPr>
          <a:xfrm rot="10800000" flipH="1">
            <a:off x="4722284" y="1586449"/>
            <a:ext cx="368700" cy="114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" name="Google Shape;370;p22"/>
          <p:cNvCxnSpPr/>
          <p:nvPr/>
        </p:nvCxnSpPr>
        <p:spPr>
          <a:xfrm>
            <a:off x="4722284" y="1733022"/>
            <a:ext cx="368700" cy="114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1" name="Google Shape;371;p22"/>
          <p:cNvSpPr txBox="1"/>
          <p:nvPr/>
        </p:nvSpPr>
        <p:spPr>
          <a:xfrm>
            <a:off x="5160266" y="1731338"/>
            <a:ext cx="733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f300: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5160264" y="1473592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3" name="Google Shape;373;p22"/>
          <p:cNvCxnSpPr/>
          <p:nvPr/>
        </p:nvCxnSpPr>
        <p:spPr>
          <a:xfrm rot="10800000" flipH="1">
            <a:off x="4722284" y="2115061"/>
            <a:ext cx="368700" cy="114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4" name="Google Shape;374;p22"/>
          <p:cNvSpPr txBox="1"/>
          <p:nvPr/>
        </p:nvSpPr>
        <p:spPr>
          <a:xfrm>
            <a:off x="5160264" y="2002203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5" name="Google Shape;375;p22"/>
          <p:cNvCxnSpPr/>
          <p:nvPr/>
        </p:nvCxnSpPr>
        <p:spPr>
          <a:xfrm rot="10800000" flipH="1">
            <a:off x="2599916" y="1715263"/>
            <a:ext cx="368700" cy="23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22"/>
          <p:cNvCxnSpPr/>
          <p:nvPr/>
        </p:nvCxnSpPr>
        <p:spPr>
          <a:xfrm>
            <a:off x="2599916" y="2013799"/>
            <a:ext cx="368700" cy="23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7" name="Google Shape;377;p22"/>
          <p:cNvSpPr txBox="1"/>
          <p:nvPr/>
        </p:nvSpPr>
        <p:spPr>
          <a:xfrm>
            <a:off x="3037897" y="2010366"/>
            <a:ext cx="7332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p: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3037896" y="1485292"/>
            <a:ext cx="7329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9" name="Google Shape;379;p22"/>
          <p:cNvCxnSpPr/>
          <p:nvPr/>
        </p:nvCxnSpPr>
        <p:spPr>
          <a:xfrm rot="10800000" flipH="1">
            <a:off x="2599916" y="2772486"/>
            <a:ext cx="368700" cy="23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0" name="Google Shape;380;p22"/>
          <p:cNvSpPr txBox="1"/>
          <p:nvPr/>
        </p:nvSpPr>
        <p:spPr>
          <a:xfrm>
            <a:off x="3037896" y="2542514"/>
            <a:ext cx="7329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1" name="Google Shape;381;p22"/>
          <p:cNvCxnSpPr/>
          <p:nvPr/>
        </p:nvCxnSpPr>
        <p:spPr>
          <a:xfrm rot="10800000" flipH="1">
            <a:off x="545304" y="1986019"/>
            <a:ext cx="368700" cy="459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2" name="Google Shape;382;p22"/>
          <p:cNvCxnSpPr/>
          <p:nvPr/>
        </p:nvCxnSpPr>
        <p:spPr>
          <a:xfrm>
            <a:off x="545304" y="2573818"/>
            <a:ext cx="368700" cy="459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3" name="Google Shape;383;p22"/>
          <p:cNvSpPr txBox="1"/>
          <p:nvPr/>
        </p:nvSpPr>
        <p:spPr>
          <a:xfrm>
            <a:off x="983286" y="2567062"/>
            <a:ext cx="733200" cy="9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s: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983284" y="1533621"/>
            <a:ext cx="732900" cy="9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1368077" y="1691012"/>
            <a:ext cx="1044900" cy="6048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3322973" y="1500747"/>
            <a:ext cx="1338000" cy="441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3562356" y="2032443"/>
            <a:ext cx="1098600" cy="441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3322973" y="2562906"/>
            <a:ext cx="1338000" cy="4410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5607293" y="1469052"/>
            <a:ext cx="1294500" cy="2382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5893130" y="1733431"/>
            <a:ext cx="1008600" cy="2382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5607293" y="1999931"/>
            <a:ext cx="1294500" cy="2382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1368077" y="2500247"/>
            <a:ext cx="1044900" cy="10485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1368077" y="2518780"/>
            <a:ext cx="1044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1368077" y="1691012"/>
            <a:ext cx="10449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476400" y="689700"/>
            <a:ext cx="6615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Lucas will spin a spinner with the integers from 15 – 25 on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considers the events that the spinner lands on a square number (s), a prime number (p), and a factor of 300 (f300).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for and complete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3679902" y="4452505"/>
            <a:ext cx="7329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476400" y="3813900"/>
            <a:ext cx="661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Jun will spin a spinner with the integers from 0 to 15 on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considers the events that the spinner lands on a factor of 24 (f24), and a cube number (c), and a two-digit number (2d).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4248900" y="4702932"/>
            <a:ext cx="733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2d: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4248898" y="4445186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2d: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0" name="Google Shape;400;p22"/>
          <p:cNvCxnSpPr/>
          <p:nvPr/>
        </p:nvCxnSpPr>
        <p:spPr>
          <a:xfrm rot="10800000" flipH="1">
            <a:off x="3810918" y="4558044"/>
            <a:ext cx="368700" cy="114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1" name="Google Shape;401;p22"/>
          <p:cNvCxnSpPr/>
          <p:nvPr/>
        </p:nvCxnSpPr>
        <p:spPr>
          <a:xfrm>
            <a:off x="3810918" y="4704617"/>
            <a:ext cx="368700" cy="114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2" name="Google Shape;402;p22"/>
          <p:cNvCxnSpPr/>
          <p:nvPr/>
        </p:nvCxnSpPr>
        <p:spPr>
          <a:xfrm rot="10800000" flipH="1">
            <a:off x="4107593" y="5086656"/>
            <a:ext cx="368700" cy="114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3" name="Google Shape;403;p22"/>
          <p:cNvSpPr txBox="1"/>
          <p:nvPr/>
        </p:nvSpPr>
        <p:spPr>
          <a:xfrm>
            <a:off x="4545573" y="4973798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4577257" y="4440647"/>
            <a:ext cx="1980600" cy="2382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4854289" y="4705025"/>
            <a:ext cx="1703700" cy="2382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4873932" y="4971526"/>
            <a:ext cx="1980600" cy="238200"/>
          </a:xfrm>
          <a:prstGeom prst="roundRect">
            <a:avLst>
              <a:gd name="adj" fmla="val 5961"/>
            </a:avLst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7" name="Google Shape;407;p22"/>
          <p:cNvCxnSpPr/>
          <p:nvPr/>
        </p:nvCxnSpPr>
        <p:spPr>
          <a:xfrm rot="10800000" flipH="1">
            <a:off x="3241922" y="4683971"/>
            <a:ext cx="368700" cy="235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" name="Google Shape;408;p22"/>
          <p:cNvCxnSpPr/>
          <p:nvPr/>
        </p:nvCxnSpPr>
        <p:spPr>
          <a:xfrm>
            <a:off x="3241922" y="4985454"/>
            <a:ext cx="368700" cy="235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9" name="Google Shape;409;p22"/>
          <p:cNvSpPr txBox="1"/>
          <p:nvPr/>
        </p:nvSpPr>
        <p:spPr>
          <a:xfrm>
            <a:off x="3679903" y="4981993"/>
            <a:ext cx="7332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c: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0" name="Google Shape;410;p22"/>
          <p:cNvCxnSpPr/>
          <p:nvPr/>
        </p:nvCxnSpPr>
        <p:spPr>
          <a:xfrm rot="10800000" flipH="1">
            <a:off x="2522001" y="4950038"/>
            <a:ext cx="368700" cy="465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1" name="Google Shape;411;p22"/>
          <p:cNvSpPr txBox="1"/>
          <p:nvPr/>
        </p:nvSpPr>
        <p:spPr>
          <a:xfrm>
            <a:off x="2959980" y="4491892"/>
            <a:ext cx="732900" cy="9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f24: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476400" y="4456498"/>
            <a:ext cx="17325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partial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list the outcomes at the end of each branch.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outcomes match the events that Jun is looking out for?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476400" y="6938100"/>
            <a:ext cx="24885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Sofia has a spinner with the following outcomes: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{1, 3, 4, 5, 8, 10, 12, 20, 25, 27, 36}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Construct and fill in a four-layer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the outcomes of Sofia’s spinner.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outcomes that are even numbers are also both square and triangular?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113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Using an outcome tree to display outcomes for more than two events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2024-02-26T16:14:59.753</cp:lastPrinted>
  <dcterms:created xsi:type="dcterms:W3CDTF">2024-02-26T16:14:59Z</dcterms:created>
  <dcterms:modified xsi:type="dcterms:W3CDTF">2024-02-26T16:11:48Z</dcterms:modified>
</cp:coreProperties>
</file>