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5143500"/>
  <p:notesSz cx="6858000" cy="9144000"/>
  <p:embeddedFontLst>
    <p:embeddedFont>
      <p:font typeface="Lexend" panose="00000000000000000000"/>
      <p:regular r:id="rId40"/>
    </p:embeddedFont>
    <p:embeddedFont>
      <p:font typeface="Lexend Medium" panose="00000000000000000000"/>
      <p:regular r:id="rId41"/>
    </p:embeddedFont>
    <p:embeddedFont>
      <p:font typeface="Kalam" panose="02000000000000000000"/>
      <p:regular r:id="rId42"/>
    </p:embeddedFont>
    <p:embeddedFont>
      <p:font typeface="Lexend Light" panose="00000000000000000000"/>
      <p:regular r:id="rId43"/>
    </p:embeddedFont>
  </p:embeddedFontLst>
  <p:custDataLst>
    <p:tags r:id="rId39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tags" Target="tags/tag1.xml" /><Relationship Id="rId4" Type="http://schemas.openxmlformats.org/officeDocument/2006/relationships/slide" Target="slides/slide2.xml" /><Relationship Id="rId40" Type="http://schemas.openxmlformats.org/officeDocument/2006/relationships/font" Target="fonts/font1.fntdata" /><Relationship Id="rId41" Type="http://schemas.openxmlformats.org/officeDocument/2006/relationships/font" Target="fonts/font2.fntdata" /><Relationship Id="rId42" Type="http://schemas.openxmlformats.org/officeDocument/2006/relationships/font" Target="fonts/font3.fntdata" /><Relationship Id="rId43" Type="http://schemas.openxmlformats.org/officeDocument/2006/relationships/font" Target="fonts/font4.fntdata" /><Relationship Id="rId44" Type="http://schemas.openxmlformats.org/officeDocument/2006/relationships/presProps" Target="presProps.xml" /><Relationship Id="rId45" Type="http://schemas.openxmlformats.org/officeDocument/2006/relationships/viewProps" Target="viewProps.xml" /><Relationship Id="rId46" Type="http://schemas.openxmlformats.org/officeDocument/2006/relationships/theme" Target="theme/theme1.xml" /><Relationship Id="rId47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1" name="Shape 751"/>
        <p:cNvGrpSpPr/>
        <p:nvPr/>
      </p:nvGrpSpPr>
      <p:grpSpPr>
        <a:xfrm>
          <a:off x="0" y="0"/>
          <a:ext cx="0" cy="0"/>
        </a:xfrm>
      </p:grpSpPr>
      <p:sp>
        <p:nvSpPr>
          <p:cNvPr id="752" name="Google Shape;752;g2b760a4209b_0_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b760a4209b_0_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b760a4209b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b760a4209b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b760a4209b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b760a4209b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2b760a4209b_0_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b760a4209b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2b760a4209b_0_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b760a4209b_0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2b760a4209b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760a4209b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sp>
        <p:nvSpPr>
          <p:cNvPr id="832" name="Google Shape;832;g2b760a4209b_0_1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b760a4209b_0_1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9" name="Shape 869"/>
        <p:cNvGrpSpPr/>
        <p:nvPr/>
      </p:nvGrpSpPr>
      <p:grpSpPr>
        <a:xfrm>
          <a:off x="0" y="0"/>
          <a:ext cx="0" cy="0"/>
        </a:xfrm>
      </p:grpSpPr>
      <p:sp>
        <p:nvSpPr>
          <p:cNvPr id="870" name="Google Shape;870;g2b760a4209b_0_1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b760a4209b_0_1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3" name="Shape 923"/>
        <p:cNvGrpSpPr/>
        <p:nvPr/>
      </p:nvGrpSpPr>
      <p:grpSpPr>
        <a:xfrm>
          <a:off x="0" y="0"/>
          <a:ext cx="0" cy="0"/>
        </a:xfrm>
      </p:grpSpPr>
      <p:sp>
        <p:nvSpPr>
          <p:cNvPr id="924" name="Google Shape;924;g2b760a4209b_0_2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b760a4209b_0_2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9" name="Shape 999"/>
        <p:cNvGrpSpPr/>
        <p:nvPr/>
      </p:nvGrpSpPr>
      <p:grpSpPr>
        <a:xfrm>
          <a:off x="0" y="0"/>
          <a:ext cx="0" cy="0"/>
        </a:xfrm>
      </p:grpSpPr>
      <p:sp>
        <p:nvSpPr>
          <p:cNvPr id="1000" name="Google Shape;1000;g2b760a4209b_0_2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b760a4209b_0_2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0" name="Shape 1050"/>
        <p:cNvGrpSpPr/>
        <p:nvPr/>
      </p:nvGrpSpPr>
      <p:grpSpPr>
        <a:xfrm>
          <a:off x="0" y="0"/>
          <a:ext cx="0" cy="0"/>
        </a:xfrm>
      </p:grpSpPr>
      <p:sp>
        <p:nvSpPr>
          <p:cNvPr id="1051" name="Google Shape;1051;g2b760a4209b_0_3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b760a4209b_0_3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6" name="Shape 1126"/>
        <p:cNvGrpSpPr/>
        <p:nvPr/>
      </p:nvGrpSpPr>
      <p:grpSpPr>
        <a:xfrm>
          <a:off x="0" y="0"/>
          <a:ext cx="0" cy="0"/>
        </a:xfrm>
      </p:grpSpPr>
      <p:sp>
        <p:nvSpPr>
          <p:cNvPr id="1127" name="Google Shape;1127;g2b760a4209b_0_3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b760a4209b_0_3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4" name="Shape 1144"/>
        <p:cNvGrpSpPr/>
        <p:nvPr/>
      </p:nvGrpSpPr>
      <p:grpSpPr>
        <a:xfrm>
          <a:off x="0" y="0"/>
          <a:ext cx="0" cy="0"/>
        </a:xfrm>
      </p:grpSpPr>
      <p:sp>
        <p:nvSpPr>
          <p:cNvPr id="1145" name="Google Shape;1145;g2b760a4209b_0_3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b760a4209b_0_3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8" name="Shape 1268"/>
        <p:cNvGrpSpPr/>
        <p:nvPr/>
      </p:nvGrpSpPr>
      <p:grpSpPr>
        <a:xfrm>
          <a:off x="0" y="0"/>
          <a:ext cx="0" cy="0"/>
        </a:xfrm>
      </p:grpSpPr>
      <p:sp>
        <p:nvSpPr>
          <p:cNvPr id="1269" name="Google Shape;1269;g2b760a4209b_0_4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b760a4209b_0_4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9" name="Shape 1279"/>
        <p:cNvGrpSpPr/>
        <p:nvPr/>
      </p:nvGrpSpPr>
      <p:grpSpPr>
        <a:xfrm>
          <a:off x="0" y="0"/>
          <a:ext cx="0" cy="0"/>
        </a:xfrm>
      </p:grpSpPr>
      <p:sp>
        <p:nvSpPr>
          <p:cNvPr id="1280" name="Google Shape;1280;g2b760a4209b_0_4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2b760a4209b_0_4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97" name="Shape 1297"/>
        <p:cNvGrpSpPr/>
        <p:nvPr/>
      </p:nvGrpSpPr>
      <p:grpSpPr>
        <a:xfrm>
          <a:off x="0" y="0"/>
          <a:ext cx="0" cy="0"/>
        </a:xfrm>
      </p:grpSpPr>
      <p:sp>
        <p:nvSpPr>
          <p:cNvPr id="1298" name="Google Shape;1298;g2b760a4209b_0_5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b760a4209b_0_5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4" name="Shape 1314"/>
        <p:cNvGrpSpPr/>
        <p:nvPr/>
      </p:nvGrpSpPr>
      <p:grpSpPr>
        <a:xfrm>
          <a:off x="0" y="0"/>
          <a:ext cx="0" cy="0"/>
        </a:xfrm>
      </p:grpSpPr>
      <p:sp>
        <p:nvSpPr>
          <p:cNvPr id="1315" name="Google Shape;1315;g2b760a4209b_0_5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b760a4209b_0_5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3" name="Shape 1353"/>
        <p:cNvGrpSpPr/>
        <p:nvPr/>
      </p:nvGrpSpPr>
      <p:grpSpPr>
        <a:xfrm>
          <a:off x="0" y="0"/>
          <a:ext cx="0" cy="0"/>
        </a:xfrm>
      </p:grpSpPr>
      <p:sp>
        <p:nvSpPr>
          <p:cNvPr id="1354" name="Google Shape;1354;g2b760a4209b_0_5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b760a4209b_0_5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3" name="Shape 1373"/>
        <p:cNvGrpSpPr/>
        <p:nvPr/>
      </p:nvGrpSpPr>
      <p:grpSpPr>
        <a:xfrm>
          <a:off x="0" y="0"/>
          <a:ext cx="0" cy="0"/>
        </a:xfrm>
      </p:grpSpPr>
      <p:sp>
        <p:nvSpPr>
          <p:cNvPr id="1374" name="Google Shape;1374;g2b760a4209b_0_6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b760a4209b_0_6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1" name="Shape 1411"/>
        <p:cNvGrpSpPr/>
        <p:nvPr/>
      </p:nvGrpSpPr>
      <p:grpSpPr>
        <a:xfrm>
          <a:off x="0" y="0"/>
          <a:ext cx="0" cy="0"/>
        </a:xfrm>
      </p:grpSpPr>
      <p:sp>
        <p:nvSpPr>
          <p:cNvPr id="1412" name="Google Shape;1412;g2b760a4209b_0_6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2b760a4209b_0_6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0" name="Shape 1450"/>
        <p:cNvGrpSpPr/>
        <p:nvPr/>
      </p:nvGrpSpPr>
      <p:grpSpPr>
        <a:xfrm>
          <a:off x="0" y="0"/>
          <a:ext cx="0" cy="0"/>
        </a:xfrm>
      </p:grpSpPr>
      <p:sp>
        <p:nvSpPr>
          <p:cNvPr id="1451" name="Google Shape;1451;g2b760a4209b_0_6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b760a4209b_0_6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3" name="Shape 1473"/>
        <p:cNvGrpSpPr/>
        <p:nvPr/>
      </p:nvGrpSpPr>
      <p:grpSpPr>
        <a:xfrm>
          <a:off x="0" y="0"/>
          <a:ext cx="0" cy="0"/>
        </a:xfrm>
      </p:grpSpPr>
      <p:sp>
        <p:nvSpPr>
          <p:cNvPr id="1474" name="Google Shape;1474;g2b760a4209b_0_7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2b760a4209b_0_7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1" name="Shape 1481"/>
        <p:cNvGrpSpPr/>
        <p:nvPr/>
      </p:nvGrpSpPr>
      <p:grpSpPr>
        <a:xfrm>
          <a:off x="0" y="0"/>
          <a:ext cx="0" cy="0"/>
        </a:xfrm>
      </p:grpSpPr>
      <p:sp>
        <p:nvSpPr>
          <p:cNvPr id="1482" name="Google Shape;1482;g2b760a4209b_0_7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2b760a4209b_0_7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5" name="Shape 1515"/>
        <p:cNvGrpSpPr/>
        <p:nvPr/>
      </p:nvGrpSpPr>
      <p:grpSpPr>
        <a:xfrm>
          <a:off x="0" y="0"/>
          <a:ext cx="0" cy="0"/>
        </a:xfrm>
      </p:grpSpPr>
      <p:sp>
        <p:nvSpPr>
          <p:cNvPr id="1516" name="Google Shape;1516;g2b760a4209b_0_7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b760a4209b_0_7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9" name="Shape 1549"/>
        <p:cNvGrpSpPr/>
        <p:nvPr/>
      </p:nvGrpSpPr>
      <p:grpSpPr>
        <a:xfrm>
          <a:off x="0" y="0"/>
          <a:ext cx="0" cy="0"/>
        </a:xfrm>
      </p:grpSpPr>
      <p:sp>
        <p:nvSpPr>
          <p:cNvPr id="1550" name="Google Shape;1550;g2b760a4209b_0_7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2b760a4209b_0_7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3" name="Shape 1583"/>
        <p:cNvGrpSpPr/>
        <p:nvPr/>
      </p:nvGrpSpPr>
      <p:grpSpPr>
        <a:xfrm>
          <a:off x="0" y="0"/>
          <a:ext cx="0" cy="0"/>
        </a:xfrm>
      </p:grpSpPr>
      <p:sp>
        <p:nvSpPr>
          <p:cNvPr id="1584" name="Google Shape;1584;g2b760a4209b_0_8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b760a4209b_0_8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5" name="Shape 1615"/>
        <p:cNvGrpSpPr/>
        <p:nvPr/>
      </p:nvGrpSpPr>
      <p:grpSpPr>
        <a:xfrm>
          <a:off x="0" y="0"/>
          <a:ext cx="0" cy="0"/>
        </a:xfrm>
      </p:grpSpPr>
      <p:sp>
        <p:nvSpPr>
          <p:cNvPr id="1616" name="Google Shape;1616;g2b760a4209b_0_8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2b760a4209b_0_8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4" name="Shape 1624"/>
        <p:cNvGrpSpPr/>
        <p:nvPr/>
      </p:nvGrpSpPr>
      <p:grpSpPr>
        <a:xfrm>
          <a:off x="0" y="0"/>
          <a:ext cx="0" cy="0"/>
        </a:xfrm>
      </p:grpSpPr>
      <p:sp>
        <p:nvSpPr>
          <p:cNvPr id="1625" name="Google Shape;1625;g2b760a4209b_0_8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2b760a4209b_0_8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3" name="Shape 1633"/>
        <p:cNvGrpSpPr/>
        <p:nvPr/>
      </p:nvGrpSpPr>
      <p:grpSpPr>
        <a:xfrm>
          <a:off x="0" y="0"/>
          <a:ext cx="0" cy="0"/>
        </a:xfrm>
      </p:grpSpPr>
      <p:sp>
        <p:nvSpPr>
          <p:cNvPr id="1634" name="Google Shape;1634;g2b760a4209b_0_8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b760a4209b_0_8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2" name="Shape 1642"/>
        <p:cNvGrpSpPr/>
        <p:nvPr/>
      </p:nvGrpSpPr>
      <p:grpSpPr>
        <a:xfrm>
          <a:off x="0" y="0"/>
          <a:ext cx="0" cy="0"/>
        </a:xfrm>
      </p:grpSpPr>
      <p:sp>
        <p:nvSpPr>
          <p:cNvPr id="1643" name="Google Shape;1643;g2b760a4209b_0_8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2b760a4209b_0_8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6" name="Shape 1676"/>
        <p:cNvGrpSpPr/>
        <p:nvPr/>
      </p:nvGrpSpPr>
      <p:grpSpPr>
        <a:xfrm>
          <a:off x="0" y="0"/>
          <a:ext cx="0" cy="0"/>
        </a:xfrm>
      </p:grpSpPr>
      <p:sp>
        <p:nvSpPr>
          <p:cNvPr id="1677" name="Google Shape;1677;g2b760a4209b_0_8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b760a4209b_0_8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05" name="Shape 1705"/>
        <p:cNvGrpSpPr/>
        <p:nvPr/>
      </p:nvGrpSpPr>
      <p:grpSpPr>
        <a:xfrm>
          <a:off x="0" y="0"/>
          <a:ext cx="0" cy="0"/>
        </a:xfrm>
      </p:grpSpPr>
      <p:sp>
        <p:nvSpPr>
          <p:cNvPr id="1706" name="Google Shape;1706;g2b760a4209b_0_18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2b760a4209b_0_18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3" name="Shape 1713"/>
        <p:cNvGrpSpPr/>
        <p:nvPr/>
      </p:nvGrpSpPr>
      <p:grpSpPr>
        <a:xfrm>
          <a:off x="0" y="0"/>
          <a:ext cx="0" cy="0"/>
        </a:xfrm>
      </p:grpSpPr>
      <p:sp>
        <p:nvSpPr>
          <p:cNvPr id="1714" name="Google Shape;1714;g2b760a4209b_0_17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2b760a4209b_0_17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8" name="Shape 1748"/>
        <p:cNvGrpSpPr/>
        <p:nvPr/>
      </p:nvGrpSpPr>
      <p:grpSpPr>
        <a:xfrm>
          <a:off x="0" y="0"/>
          <a:ext cx="0" cy="0"/>
        </a:xfrm>
      </p:grpSpPr>
      <p:sp>
        <p:nvSpPr>
          <p:cNvPr id="1749" name="Google Shape;1749;g2b760a4209b_0_18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2b760a4209b_0_18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8" name="Shape 1758"/>
        <p:cNvGrpSpPr/>
        <p:nvPr/>
      </p:nvGrpSpPr>
      <p:grpSpPr>
        <a:xfrm>
          <a:off x="0" y="0"/>
          <a:ext cx="0" cy="0"/>
        </a:xfrm>
      </p:grpSpPr>
      <p:sp>
        <p:nvSpPr>
          <p:cNvPr id="1759" name="Google Shape;1759;g2b760a4209b_0_8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b760a4209b_0_8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4" name="Shape 1764"/>
        <p:cNvGrpSpPr/>
        <p:nvPr/>
      </p:nvGrpSpPr>
      <p:grpSpPr>
        <a:xfrm>
          <a:off x="0" y="0"/>
          <a:ext cx="0" cy="0"/>
        </a:xfrm>
      </p:grpSpPr>
      <p:sp>
        <p:nvSpPr>
          <p:cNvPr id="1765" name="Google Shape;176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6" name="Google Shape;746;p62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3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47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36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4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4" name="Shape 754"/>
        <p:cNvGrpSpPr/>
        <p:nvPr/>
      </p:nvGrpSpPr>
      <p:grpSpPr>
        <a:xfrm>
          <a:off x="0" y="0"/>
          <a: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more than two events</a:t>
            </a:r>
            <a:endParaRPr/>
          </a:p>
        </p:txBody>
      </p:sp>
      <p:sp>
        <p:nvSpPr>
          <p:cNvPr id="756" name="Google Shape;756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systematically find all the possible outcomes for more than two events by listing them.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6"/>
          <p:cNvSpPr txBox="1"/>
          <p:nvPr>
            <p:ph type="subTitle" idx="2"/>
          </p:nvPr>
        </p:nvSpPr>
        <p:spPr>
          <a:xfrm>
            <a:off x="324000" y="826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listing outcomes systematically, they are listed in such a way as to ensure all outcomes are recorded. </a:t>
            </a:r>
            <a:endParaRPr sz="18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sp>
        <p:nvSpPr>
          <p:cNvPr id="778" name="Google Shape;778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more than two events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80" y="205987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785" name="Google Shape;785;p68"/>
          <p:cNvSpPr txBox="1"/>
          <p:nvPr/>
        </p:nvSpPr>
        <p:spPr>
          <a:xfrm>
            <a:off x="324000" y="759300"/>
            <a:ext cx="82377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we were to spin this spinner 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hree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times, what are the possible outcomes?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8"/>
          <p:cNvSpPr txBox="1"/>
          <p:nvPr/>
        </p:nvSpPr>
        <p:spPr>
          <a:xfrm>
            <a:off x="401700" y="1620000"/>
            <a:ext cx="724200" cy="16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WWW or WWL or WLW or WLL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8"/>
          <p:cNvSpPr/>
          <p:nvPr/>
        </p:nvSpPr>
        <p:spPr>
          <a:xfrm>
            <a:off x="6626789" y="1189232"/>
            <a:ext cx="1695900" cy="169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8" name="Google Shape;788;p68"/>
          <p:cNvSpPr/>
          <p:nvPr/>
        </p:nvSpPr>
        <p:spPr>
          <a:xfrm flipH="1">
            <a:off x="6641479" y="1203993"/>
            <a:ext cx="1666500" cy="1666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9" name="Google Shape;789;p68"/>
          <p:cNvSpPr/>
          <p:nvPr/>
        </p:nvSpPr>
        <p:spPr>
          <a:xfrm>
            <a:off x="6641550" y="1203993"/>
            <a:ext cx="1666500" cy="1666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0" name="Google Shape;790;p68"/>
          <p:cNvSpPr txBox="1"/>
          <p:nvPr/>
        </p:nvSpPr>
        <p:spPr>
          <a:xfrm>
            <a:off x="6776964" y="1826514"/>
            <a:ext cx="57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 (W)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8"/>
          <p:cNvSpPr txBox="1"/>
          <p:nvPr/>
        </p:nvSpPr>
        <p:spPr>
          <a:xfrm>
            <a:off x="7583914" y="1826507"/>
            <a:ext cx="724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 (L)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2" name="Google Shape;792;p68"/>
          <p:cNvGrpSpPr/>
          <p:nvPr/>
        </p:nvGrpSpPr>
        <p:grpSpPr>
          <a:xfrm>
            <a:off x="7426098" y="1281805"/>
            <a:ext cx="93900" cy="816939"/>
            <a:chOff x="996050" y="213293"/>
            <a:chExt cx="93900" cy="909732"/>
          </a:xfrm>
        </p:grpSpPr>
        <p:cxnSp>
          <p:nvCxnSpPr>
            <p:cNvPr id="793" name="Google Shape;793;p6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94" name="Google Shape;794;p6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95" name="Google Shape;795;p68"/>
          <p:cNvSpPr txBox="1"/>
          <p:nvPr/>
        </p:nvSpPr>
        <p:spPr>
          <a:xfrm>
            <a:off x="1439825" y="1620000"/>
            <a:ext cx="724200" cy="16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 LWW or LWL or LLW or LLL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6" name="Google Shape;796;p68"/>
          <p:cNvGrpSpPr/>
          <p:nvPr/>
        </p:nvGrpSpPr>
        <p:grpSpPr>
          <a:xfrm>
            <a:off x="2887200" y="1287525"/>
            <a:ext cx="1695900" cy="1695900"/>
            <a:chOff x="2887200" y="1287525"/>
            <a:chExt cx="1695900" cy="1695900"/>
          </a:xfrm>
        </p:grpSpPr>
        <p:sp>
          <p:nvSpPr>
            <p:cNvPr id="797" name="Google Shape;797;p68"/>
            <p:cNvSpPr/>
            <p:nvPr/>
          </p:nvSpPr>
          <p:spPr>
            <a:xfrm>
              <a:off x="2887200" y="1287525"/>
              <a:ext cx="1695900" cy="16959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8" name="Google Shape;798;p68"/>
            <p:cNvSpPr/>
            <p:nvPr/>
          </p:nvSpPr>
          <p:spPr>
            <a:xfrm flipH="1">
              <a:off x="2901889" y="1302286"/>
              <a:ext cx="1666500" cy="1666500"/>
            </a:xfrm>
            <a:prstGeom prst="pie">
              <a:avLst>
                <a:gd name="adj1" fmla="val 5387953"/>
                <a:gd name="adj2" fmla="val 17083187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9" name="Google Shape;799;p68"/>
            <p:cNvSpPr/>
            <p:nvPr/>
          </p:nvSpPr>
          <p:spPr>
            <a:xfrm>
              <a:off x="2901961" y="1302286"/>
              <a:ext cx="1666500" cy="1666500"/>
            </a:xfrm>
            <a:prstGeom prst="pie">
              <a:avLst>
                <a:gd name="adj1" fmla="val 5387953"/>
                <a:gd name="adj2" fmla="val 15344951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0" name="Google Shape;800;p68"/>
            <p:cNvSpPr txBox="1"/>
            <p:nvPr/>
          </p:nvSpPr>
          <p:spPr>
            <a:xfrm>
              <a:off x="3037375" y="1924807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1" name="Google Shape;801;p68"/>
            <p:cNvSpPr txBox="1"/>
            <p:nvPr/>
          </p:nvSpPr>
          <p:spPr>
            <a:xfrm>
              <a:off x="3844326" y="1924807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lose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02" name="Google Shape;802;p68"/>
            <p:cNvGrpSpPr/>
            <p:nvPr/>
          </p:nvGrpSpPr>
          <p:grpSpPr>
            <a:xfrm>
              <a:off x="3686509" y="1343417"/>
              <a:ext cx="93900" cy="816939"/>
              <a:chOff x="996050" y="213293"/>
              <a:chExt cx="93900" cy="909732"/>
            </a:xfrm>
          </p:grpSpPr>
          <p:cxnSp>
            <p:nvCxnSpPr>
              <p:cNvPr id="803" name="Google Shape;803;p68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04" name="Google Shape;804;p68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5" name="Google Shape;805;p68"/>
          <p:cNvGrpSpPr/>
          <p:nvPr/>
        </p:nvGrpSpPr>
        <p:grpSpPr>
          <a:xfrm>
            <a:off x="4747800" y="2059000"/>
            <a:ext cx="1695900" cy="1695900"/>
            <a:chOff x="4747800" y="2059000"/>
            <a:chExt cx="1695900" cy="1695900"/>
          </a:xfrm>
        </p:grpSpPr>
        <p:sp>
          <p:nvSpPr>
            <p:cNvPr id="806" name="Google Shape;806;p68"/>
            <p:cNvSpPr/>
            <p:nvPr/>
          </p:nvSpPr>
          <p:spPr>
            <a:xfrm>
              <a:off x="4747800" y="2059000"/>
              <a:ext cx="1695900" cy="16959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" name="Google Shape;807;p68"/>
            <p:cNvSpPr/>
            <p:nvPr/>
          </p:nvSpPr>
          <p:spPr>
            <a:xfrm flipH="1">
              <a:off x="4762489" y="2073761"/>
              <a:ext cx="1666500" cy="1666500"/>
            </a:xfrm>
            <a:prstGeom prst="pie">
              <a:avLst>
                <a:gd name="adj1" fmla="val 5387953"/>
                <a:gd name="adj2" fmla="val 17083187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" name="Google Shape;808;p68"/>
            <p:cNvSpPr/>
            <p:nvPr/>
          </p:nvSpPr>
          <p:spPr>
            <a:xfrm>
              <a:off x="4762561" y="2073761"/>
              <a:ext cx="1666500" cy="1666500"/>
            </a:xfrm>
            <a:prstGeom prst="pie">
              <a:avLst>
                <a:gd name="adj1" fmla="val 5387953"/>
                <a:gd name="adj2" fmla="val 17620739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9" name="Google Shape;809;p68"/>
            <p:cNvSpPr txBox="1"/>
            <p:nvPr/>
          </p:nvSpPr>
          <p:spPr>
            <a:xfrm>
              <a:off x="4897975" y="2696282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0" name="Google Shape;810;p68"/>
            <p:cNvSpPr txBox="1"/>
            <p:nvPr/>
          </p:nvSpPr>
          <p:spPr>
            <a:xfrm>
              <a:off x="5704926" y="269628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lose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11" name="Google Shape;811;p68"/>
            <p:cNvGrpSpPr/>
            <p:nvPr/>
          </p:nvGrpSpPr>
          <p:grpSpPr>
            <a:xfrm>
              <a:off x="5547109" y="2114892"/>
              <a:ext cx="93900" cy="816939"/>
              <a:chOff x="996050" y="213293"/>
              <a:chExt cx="93900" cy="909732"/>
            </a:xfrm>
          </p:grpSpPr>
          <p:cxnSp>
            <p:nvCxnSpPr>
              <p:cNvPr id="812" name="Google Shape;812;p68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13" name="Google Shape;813;p68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4" name="Google Shape;814;p68"/>
          <p:cNvGrpSpPr/>
          <p:nvPr/>
        </p:nvGrpSpPr>
        <p:grpSpPr>
          <a:xfrm>
            <a:off x="6138512" y="2768529"/>
            <a:ext cx="2328600" cy="2328600"/>
            <a:chOff x="6138512" y="2768529"/>
            <a:chExt cx="2328600" cy="2328600"/>
          </a:xfrm>
        </p:grpSpPr>
        <p:sp>
          <p:nvSpPr>
            <p:cNvPr id="815" name="Google Shape;815;p68"/>
            <p:cNvSpPr/>
            <p:nvPr/>
          </p:nvSpPr>
          <p:spPr>
            <a:xfrm>
              <a:off x="6454686" y="3084686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6" name="Google Shape;816;p68"/>
            <p:cNvSpPr/>
            <p:nvPr/>
          </p:nvSpPr>
          <p:spPr>
            <a:xfrm rot="8649824">
              <a:off x="6469581" y="3099596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7" name="Google Shape;817;p68"/>
            <p:cNvSpPr/>
            <p:nvPr/>
          </p:nvSpPr>
          <p:spPr>
            <a:xfrm rot="-8629029">
              <a:off x="6469682" y="3099699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8" name="Google Shape;818;p68"/>
            <p:cNvSpPr/>
            <p:nvPr/>
          </p:nvSpPr>
          <p:spPr>
            <a:xfrm rot="-4309758">
              <a:off x="6469727" y="3099863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9" name="Google Shape;819;p68"/>
            <p:cNvSpPr/>
            <p:nvPr/>
          </p:nvSpPr>
          <p:spPr>
            <a:xfrm>
              <a:off x="6469727" y="3099863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20" name="Google Shape;820;p68"/>
            <p:cNvSpPr txBox="1"/>
            <p:nvPr/>
          </p:nvSpPr>
          <p:spPr>
            <a:xfrm>
              <a:off x="7003561" y="4255361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1" name="Google Shape;821;p68"/>
            <p:cNvSpPr/>
            <p:nvPr/>
          </p:nvSpPr>
          <p:spPr>
            <a:xfrm rot="4312496">
              <a:off x="6469560" y="3099442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22" name="Google Shape;822;p68"/>
            <p:cNvSpPr txBox="1"/>
            <p:nvPr/>
          </p:nvSpPr>
          <p:spPr>
            <a:xfrm>
              <a:off x="6681061" y="3340961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3" name="Google Shape;823;p68"/>
            <p:cNvSpPr txBox="1"/>
            <p:nvPr/>
          </p:nvSpPr>
          <p:spPr>
            <a:xfrm>
              <a:off x="7335612" y="3340968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4" name="Google Shape;824;p68"/>
            <p:cNvSpPr txBox="1"/>
            <p:nvPr/>
          </p:nvSpPr>
          <p:spPr>
            <a:xfrm>
              <a:off x="7488012" y="3874368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lose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5" name="Google Shape;825;p68"/>
            <p:cNvSpPr txBox="1"/>
            <p:nvPr/>
          </p:nvSpPr>
          <p:spPr>
            <a:xfrm>
              <a:off x="6528661" y="3874361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lose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26" name="Google Shape;826;p68"/>
            <p:cNvGrpSpPr/>
            <p:nvPr/>
          </p:nvGrpSpPr>
          <p:grpSpPr>
            <a:xfrm>
              <a:off x="7253995" y="3140578"/>
              <a:ext cx="93900" cy="816939"/>
              <a:chOff x="996050" y="213293"/>
              <a:chExt cx="93900" cy="909732"/>
            </a:xfrm>
          </p:grpSpPr>
          <p:cxnSp>
            <p:nvCxnSpPr>
              <p:cNvPr id="827" name="Google Shape;827;p68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28" name="Google Shape;828;p68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9" name="Google Shape;829;p68"/>
          <p:cNvSpPr txBox="1"/>
          <p:nvPr/>
        </p:nvSpPr>
        <p:spPr>
          <a:xfrm>
            <a:off x="324000" y="3883500"/>
            <a:ext cx="5815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are the possible outcomes for all of these spinners. How?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8"/>
          <p:cNvSpPr txBox="1"/>
          <p:nvPr/>
        </p:nvSpPr>
        <p:spPr>
          <a:xfrm>
            <a:off x="1535100" y="4497000"/>
            <a:ext cx="58155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spinner has two outcomes; win or lose.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4" name="Shape 834"/>
        <p:cNvGrpSpPr/>
        <p:nvPr/>
      </p:nvGrpSpPr>
      <p:grpSpPr>
        <a:xfrm>
          <a:off x="0" y="0"/>
          <a:ext cx="0" cy="0"/>
        </a:xfrm>
      </p:grpSpPr>
      <p:sp>
        <p:nvSpPr>
          <p:cNvPr id="835" name="Google Shape;835;p69"/>
          <p:cNvSpPr txBox="1"/>
          <p:nvPr>
            <p:ph type="body" idx="4294967295"/>
          </p:nvPr>
        </p:nvSpPr>
        <p:spPr>
          <a:xfrm>
            <a:off x="324000" y="759300"/>
            <a:ext cx="8237700" cy="76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all of these spinners are to be spun four times, which would have a different list of possible outcomes to the other two?</a:t>
            </a:r>
            <a:endParaRPr/>
          </a:p>
        </p:txBody>
      </p:sp>
      <p:sp>
        <p:nvSpPr>
          <p:cNvPr id="836" name="Google Shape;836;p6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837" name="Google Shape;837;p69"/>
          <p:cNvSpPr/>
          <p:nvPr/>
        </p:nvSpPr>
        <p:spPr>
          <a:xfrm>
            <a:off x="813200" y="22206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38" name="Google Shape;838;p69"/>
          <p:cNvSpPr/>
          <p:nvPr/>
        </p:nvSpPr>
        <p:spPr>
          <a:xfrm rot="7199661">
            <a:off x="828009" y="2235528"/>
            <a:ext cx="1666484" cy="1666484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39" name="Google Shape;839;p69"/>
          <p:cNvSpPr/>
          <p:nvPr/>
        </p:nvSpPr>
        <p:spPr>
          <a:xfrm rot="-7211867">
            <a:off x="828077" y="2235588"/>
            <a:ext cx="1666446" cy="1666446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0" name="Google Shape;840;p69"/>
          <p:cNvSpPr/>
          <p:nvPr/>
        </p:nvSpPr>
        <p:spPr>
          <a:xfrm>
            <a:off x="828077" y="2235588"/>
            <a:ext cx="1666500" cy="16665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1" name="Google Shape;841;p69"/>
          <p:cNvSpPr txBox="1"/>
          <p:nvPr/>
        </p:nvSpPr>
        <p:spPr>
          <a:xfrm>
            <a:off x="1846526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69"/>
          <p:cNvSpPr txBox="1"/>
          <p:nvPr/>
        </p:nvSpPr>
        <p:spPr>
          <a:xfrm>
            <a:off x="1541726" y="3238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69"/>
          <p:cNvSpPr txBox="1"/>
          <p:nvPr/>
        </p:nvSpPr>
        <p:spPr>
          <a:xfrm>
            <a:off x="1084526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4" name="Google Shape;844;p69"/>
          <p:cNvGrpSpPr/>
          <p:nvPr/>
        </p:nvGrpSpPr>
        <p:grpSpPr>
          <a:xfrm>
            <a:off x="1612509" y="2305406"/>
            <a:ext cx="93900" cy="816939"/>
            <a:chOff x="996050" y="213293"/>
            <a:chExt cx="93900" cy="909732"/>
          </a:xfrm>
        </p:grpSpPr>
        <p:cxnSp>
          <p:nvCxnSpPr>
            <p:cNvPr id="845" name="Google Shape;845;p6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46" name="Google Shape;846;p6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47" name="Google Shape;847;p69"/>
          <p:cNvSpPr/>
          <p:nvPr/>
        </p:nvSpPr>
        <p:spPr>
          <a:xfrm>
            <a:off x="3785000" y="22206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8" name="Google Shape;848;p69"/>
          <p:cNvSpPr/>
          <p:nvPr/>
        </p:nvSpPr>
        <p:spPr>
          <a:xfrm rot="7199661">
            <a:off x="3799809" y="2235528"/>
            <a:ext cx="1666484" cy="1666484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9" name="Google Shape;849;p69"/>
          <p:cNvSpPr/>
          <p:nvPr/>
        </p:nvSpPr>
        <p:spPr>
          <a:xfrm rot="-7211867">
            <a:off x="3799877" y="2235588"/>
            <a:ext cx="1666446" cy="1666446"/>
          </a:xfrm>
          <a:prstGeom prst="pie">
            <a:avLst>
              <a:gd name="adj1" fmla="val 7465276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0" name="Google Shape;850;p69"/>
          <p:cNvSpPr/>
          <p:nvPr/>
        </p:nvSpPr>
        <p:spPr>
          <a:xfrm>
            <a:off x="3799877" y="2235588"/>
            <a:ext cx="1666500" cy="16665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1" name="Google Shape;851;p69"/>
          <p:cNvSpPr txBox="1"/>
          <p:nvPr/>
        </p:nvSpPr>
        <p:spPr>
          <a:xfrm>
            <a:off x="4818326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69"/>
          <p:cNvSpPr txBox="1"/>
          <p:nvPr/>
        </p:nvSpPr>
        <p:spPr>
          <a:xfrm>
            <a:off x="4513526" y="3238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69"/>
          <p:cNvSpPr txBox="1"/>
          <p:nvPr/>
        </p:nvSpPr>
        <p:spPr>
          <a:xfrm>
            <a:off x="4056326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4" name="Google Shape;854;p69"/>
          <p:cNvGrpSpPr/>
          <p:nvPr/>
        </p:nvGrpSpPr>
        <p:grpSpPr>
          <a:xfrm>
            <a:off x="4584309" y="2305406"/>
            <a:ext cx="93900" cy="816939"/>
            <a:chOff x="996050" y="213293"/>
            <a:chExt cx="93900" cy="909732"/>
          </a:xfrm>
        </p:grpSpPr>
        <p:cxnSp>
          <p:nvCxnSpPr>
            <p:cNvPr id="855" name="Google Shape;855;p6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56" name="Google Shape;856;p6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57" name="Google Shape;857;p69"/>
          <p:cNvSpPr/>
          <p:nvPr/>
        </p:nvSpPr>
        <p:spPr>
          <a:xfrm>
            <a:off x="6618443" y="22206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8" name="Google Shape;858;p69"/>
          <p:cNvSpPr/>
          <p:nvPr/>
        </p:nvSpPr>
        <p:spPr>
          <a:xfrm rot="7199661">
            <a:off x="6633252" y="2235528"/>
            <a:ext cx="1666484" cy="1666484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9" name="Google Shape;859;p69"/>
          <p:cNvSpPr/>
          <p:nvPr/>
        </p:nvSpPr>
        <p:spPr>
          <a:xfrm rot="-7211867">
            <a:off x="6633319" y="2235588"/>
            <a:ext cx="1666446" cy="1666446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0" name="Google Shape;860;p69"/>
          <p:cNvSpPr/>
          <p:nvPr/>
        </p:nvSpPr>
        <p:spPr>
          <a:xfrm>
            <a:off x="6633319" y="2235588"/>
            <a:ext cx="1666500" cy="16665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1" name="Google Shape;861;p69"/>
          <p:cNvSpPr txBox="1"/>
          <p:nvPr/>
        </p:nvSpPr>
        <p:spPr>
          <a:xfrm>
            <a:off x="7651769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69"/>
          <p:cNvSpPr txBox="1"/>
          <p:nvPr/>
        </p:nvSpPr>
        <p:spPr>
          <a:xfrm>
            <a:off x="7346969" y="3238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69"/>
          <p:cNvSpPr txBox="1"/>
          <p:nvPr/>
        </p:nvSpPr>
        <p:spPr>
          <a:xfrm>
            <a:off x="6889769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4" name="Google Shape;864;p69"/>
          <p:cNvGrpSpPr/>
          <p:nvPr/>
        </p:nvGrpSpPr>
        <p:grpSpPr>
          <a:xfrm>
            <a:off x="7417752" y="2305406"/>
            <a:ext cx="93900" cy="816939"/>
            <a:chOff x="996050" y="213293"/>
            <a:chExt cx="93900" cy="909732"/>
          </a:xfrm>
        </p:grpSpPr>
        <p:cxnSp>
          <p:nvCxnSpPr>
            <p:cNvPr id="865" name="Google Shape;865;p6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66" name="Google Shape;866;p6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867" name="Google Shape;86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833" y="41669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69"/>
          <p:cNvSpPr/>
          <p:nvPr/>
        </p:nvSpPr>
        <p:spPr>
          <a:xfrm>
            <a:off x="6816525" y="2614325"/>
            <a:ext cx="461100" cy="461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2" name="Shape 872"/>
        <p:cNvGrpSpPr/>
        <p:nvPr/>
      </p:nvGrpSpPr>
      <p:grpSpPr>
        <a:xfrm>
          <a:off x="0" y="0"/>
          <a:ext cx="0" cy="0"/>
        </a:xfrm>
      </p:grpSpPr>
      <p:sp>
        <p:nvSpPr>
          <p:cNvPr id="873" name="Google Shape;873;p70"/>
          <p:cNvSpPr txBox="1"/>
          <p:nvPr>
            <p:ph type="body" idx="1"/>
          </p:nvPr>
        </p:nvSpPr>
        <p:spPr>
          <a:xfrm>
            <a:off x="324000" y="751525"/>
            <a:ext cx="5149500" cy="150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Jun is going to spin three different spinners. </a:t>
            </a:r>
            <a:br>
              <a:rPr lang="en-GB" sz="1800"/>
            </a:br>
            <a:r>
              <a:rPr lang="en-GB" sz="1800"/>
              <a:t>Spinner 1 has the outcomes {A, B, C}</a:t>
            </a:r>
            <a:br>
              <a:rPr lang="en-GB" sz="1800"/>
            </a:br>
            <a:r>
              <a:rPr lang="en-GB" sz="1800"/>
              <a:t>Spinner 2 has the outcomes {+, -}</a:t>
            </a:r>
            <a:br>
              <a:rPr lang="en-GB" sz="1800"/>
            </a:br>
            <a:r>
              <a:rPr lang="en-GB" sz="1800"/>
              <a:t>Spinner 3 has the outcomes {X, Y, Z}</a:t>
            </a:r>
            <a:endParaRPr sz="1800"/>
          </a:p>
        </p:txBody>
      </p:sp>
      <p:sp>
        <p:nvSpPr>
          <p:cNvPr id="874" name="Google Shape;87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grpSp>
        <p:nvGrpSpPr>
          <p:cNvPr id="875" name="Google Shape;875;p70"/>
          <p:cNvGrpSpPr/>
          <p:nvPr/>
        </p:nvGrpSpPr>
        <p:grpSpPr>
          <a:xfrm>
            <a:off x="7483137" y="634180"/>
            <a:ext cx="1275000" cy="1275000"/>
            <a:chOff x="7483137" y="634180"/>
            <a:chExt cx="1275000" cy="1275000"/>
          </a:xfrm>
        </p:grpSpPr>
        <p:sp>
          <p:nvSpPr>
            <p:cNvPr id="876" name="Google Shape;876;p70"/>
            <p:cNvSpPr/>
            <p:nvPr/>
          </p:nvSpPr>
          <p:spPr>
            <a:xfrm>
              <a:off x="7645919" y="797045"/>
              <a:ext cx="948900" cy="948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7" name="Google Shape;877;p70"/>
            <p:cNvSpPr/>
            <p:nvPr/>
          </p:nvSpPr>
          <p:spPr>
            <a:xfrm rot="7199783">
              <a:off x="7654234" y="805363"/>
              <a:ext cx="932502" cy="932502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8" name="Google Shape;878;p70"/>
            <p:cNvSpPr/>
            <p:nvPr/>
          </p:nvSpPr>
          <p:spPr>
            <a:xfrm rot="-7211167">
              <a:off x="7654358" y="805401"/>
              <a:ext cx="932558" cy="932558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9" name="Google Shape;879;p70"/>
            <p:cNvSpPr/>
            <p:nvPr/>
          </p:nvSpPr>
          <p:spPr>
            <a:xfrm>
              <a:off x="7654244" y="805404"/>
              <a:ext cx="932400" cy="932700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0" name="Google Shape;880;p70"/>
            <p:cNvSpPr txBox="1"/>
            <p:nvPr/>
          </p:nvSpPr>
          <p:spPr>
            <a:xfrm>
              <a:off x="8224148" y="949540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1" name="Google Shape;881;p70"/>
            <p:cNvSpPr txBox="1"/>
            <p:nvPr/>
          </p:nvSpPr>
          <p:spPr>
            <a:xfrm>
              <a:off x="7977388" y="1366865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2" name="Google Shape;882;p70"/>
            <p:cNvSpPr txBox="1"/>
            <p:nvPr/>
          </p:nvSpPr>
          <p:spPr>
            <a:xfrm>
              <a:off x="7721548" y="949540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83" name="Google Shape;883;p70"/>
            <p:cNvGrpSpPr/>
            <p:nvPr/>
          </p:nvGrpSpPr>
          <p:grpSpPr>
            <a:xfrm>
              <a:off x="8093217" y="844471"/>
              <a:ext cx="52546" cy="457140"/>
              <a:chOff x="996050" y="213293"/>
              <a:chExt cx="93900" cy="909732"/>
            </a:xfrm>
          </p:grpSpPr>
          <p:cxnSp>
            <p:nvCxnSpPr>
              <p:cNvPr id="884" name="Google Shape;884;p70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85" name="Google Shape;885;p7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6" name="Google Shape;886;p70"/>
          <p:cNvGrpSpPr/>
          <p:nvPr/>
        </p:nvGrpSpPr>
        <p:grpSpPr>
          <a:xfrm>
            <a:off x="6452000" y="797045"/>
            <a:ext cx="948900" cy="948900"/>
            <a:chOff x="6452000" y="797045"/>
            <a:chExt cx="948900" cy="948900"/>
          </a:xfrm>
        </p:grpSpPr>
        <p:sp>
          <p:nvSpPr>
            <p:cNvPr id="887" name="Google Shape;887;p70"/>
            <p:cNvSpPr/>
            <p:nvPr/>
          </p:nvSpPr>
          <p:spPr>
            <a:xfrm>
              <a:off x="6452000" y="797045"/>
              <a:ext cx="948900" cy="9489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8" name="Google Shape;888;p70"/>
            <p:cNvSpPr/>
            <p:nvPr/>
          </p:nvSpPr>
          <p:spPr>
            <a:xfrm flipH="1">
              <a:off x="6460360" y="805305"/>
              <a:ext cx="932400" cy="932700"/>
            </a:xfrm>
            <a:prstGeom prst="pie">
              <a:avLst>
                <a:gd name="adj1" fmla="val 5387953"/>
                <a:gd name="adj2" fmla="val 16200000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9" name="Google Shape;889;p70"/>
            <p:cNvSpPr/>
            <p:nvPr/>
          </p:nvSpPr>
          <p:spPr>
            <a:xfrm>
              <a:off x="6460260" y="805305"/>
              <a:ext cx="932400" cy="932700"/>
            </a:xfrm>
            <a:prstGeom prst="pie">
              <a:avLst>
                <a:gd name="adj1" fmla="val 5387953"/>
                <a:gd name="adj2" fmla="val 16200000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90" name="Google Shape;890;p70"/>
            <p:cNvSpPr txBox="1"/>
            <p:nvPr/>
          </p:nvSpPr>
          <p:spPr>
            <a:xfrm>
              <a:off x="6545115" y="1077462"/>
              <a:ext cx="319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-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1" name="Google Shape;891;p70"/>
            <p:cNvSpPr txBox="1"/>
            <p:nvPr/>
          </p:nvSpPr>
          <p:spPr>
            <a:xfrm>
              <a:off x="6996669" y="1077462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92" name="Google Shape;892;p70"/>
            <p:cNvGrpSpPr/>
            <p:nvPr/>
          </p:nvGrpSpPr>
          <p:grpSpPr>
            <a:xfrm>
              <a:off x="6899297" y="848846"/>
              <a:ext cx="52546" cy="457140"/>
              <a:chOff x="996050" y="213293"/>
              <a:chExt cx="93900" cy="909732"/>
            </a:xfrm>
          </p:grpSpPr>
          <p:cxnSp>
            <p:nvCxnSpPr>
              <p:cNvPr id="893" name="Google Shape;893;p70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94" name="Google Shape;894;p7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95" name="Google Shape;895;p70"/>
          <p:cNvSpPr/>
          <p:nvPr/>
        </p:nvSpPr>
        <p:spPr>
          <a:xfrm>
            <a:off x="7036319" y="1787645"/>
            <a:ext cx="948900" cy="948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6" name="Google Shape;896;p70"/>
          <p:cNvSpPr/>
          <p:nvPr/>
        </p:nvSpPr>
        <p:spPr>
          <a:xfrm rot="7199783">
            <a:off x="7044634" y="1795963"/>
            <a:ext cx="932502" cy="93250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7" name="Google Shape;897;p70"/>
          <p:cNvSpPr/>
          <p:nvPr/>
        </p:nvSpPr>
        <p:spPr>
          <a:xfrm rot="-7211167">
            <a:off x="7044758" y="1796001"/>
            <a:ext cx="932558" cy="932558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8" name="Google Shape;898;p70"/>
          <p:cNvSpPr/>
          <p:nvPr/>
        </p:nvSpPr>
        <p:spPr>
          <a:xfrm>
            <a:off x="7044644" y="1796004"/>
            <a:ext cx="932400" cy="9327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9" name="Google Shape;899;p70"/>
          <p:cNvSpPr txBox="1"/>
          <p:nvPr/>
        </p:nvSpPr>
        <p:spPr>
          <a:xfrm>
            <a:off x="7614548" y="1940140"/>
            <a:ext cx="35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0"/>
          <p:cNvSpPr txBox="1"/>
          <p:nvPr/>
        </p:nvSpPr>
        <p:spPr>
          <a:xfrm>
            <a:off x="7367788" y="2357465"/>
            <a:ext cx="35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0"/>
          <p:cNvSpPr txBox="1"/>
          <p:nvPr/>
        </p:nvSpPr>
        <p:spPr>
          <a:xfrm>
            <a:off x="7111948" y="1940140"/>
            <a:ext cx="35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2" name="Google Shape;902;p70"/>
          <p:cNvGrpSpPr/>
          <p:nvPr/>
        </p:nvGrpSpPr>
        <p:grpSpPr>
          <a:xfrm>
            <a:off x="7483617" y="1835071"/>
            <a:ext cx="52546" cy="457140"/>
            <a:chOff x="996050" y="213293"/>
            <a:chExt cx="93900" cy="909732"/>
          </a:xfrm>
        </p:grpSpPr>
        <p:cxnSp>
          <p:nvCxnSpPr>
            <p:cNvPr id="903" name="Google Shape;903;p7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04" name="Google Shape;904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05" name="Google Shape;905;p70"/>
          <p:cNvSpPr txBox="1"/>
          <p:nvPr>
            <p:ph type="body" idx="1"/>
          </p:nvPr>
        </p:nvSpPr>
        <p:spPr>
          <a:xfrm>
            <a:off x="324000" y="2427925"/>
            <a:ext cx="6342300" cy="150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Spinner 1 and spinner 2 can be combined to show the outcomes.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{A+, A-, B+, B-, C+, C-}</a:t>
            </a:r>
            <a:endParaRPr sz="1800"/>
          </a:p>
        </p:txBody>
      </p:sp>
      <p:grpSp>
        <p:nvGrpSpPr>
          <p:cNvPr id="906" name="Google Shape;906;p70"/>
          <p:cNvGrpSpPr/>
          <p:nvPr/>
        </p:nvGrpSpPr>
        <p:grpSpPr>
          <a:xfrm>
            <a:off x="5473550" y="556400"/>
            <a:ext cx="1824600" cy="1824600"/>
            <a:chOff x="6540350" y="2842400"/>
            <a:chExt cx="1824600" cy="1824600"/>
          </a:xfrm>
        </p:grpSpPr>
        <p:sp>
          <p:nvSpPr>
            <p:cNvPr id="907" name="Google Shape;907;p70"/>
            <p:cNvSpPr/>
            <p:nvPr/>
          </p:nvSpPr>
          <p:spPr>
            <a:xfrm>
              <a:off x="6774427" y="3076496"/>
              <a:ext cx="1356600" cy="13563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8" name="Google Shape;908;p70"/>
            <p:cNvSpPr/>
            <p:nvPr/>
          </p:nvSpPr>
          <p:spPr>
            <a:xfrm rot="-3572695">
              <a:off x="6786197" y="3088248"/>
              <a:ext cx="1332905" cy="1332905"/>
            </a:xfrm>
            <a:prstGeom prst="pie">
              <a:avLst>
                <a:gd name="adj1" fmla="val 16218657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9" name="Google Shape;909;p70"/>
            <p:cNvSpPr txBox="1"/>
            <p:nvPr/>
          </p:nvSpPr>
          <p:spPr>
            <a:xfrm>
              <a:off x="7026256" y="3179212"/>
              <a:ext cx="457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C-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0" name="Google Shape;910;p70"/>
            <p:cNvSpPr/>
            <p:nvPr/>
          </p:nvSpPr>
          <p:spPr>
            <a:xfrm flipH="1">
              <a:off x="6786253" y="3088302"/>
              <a:ext cx="1332900" cy="1332900"/>
            </a:xfrm>
            <a:prstGeom prst="pie">
              <a:avLst>
                <a:gd name="adj1" fmla="val 12563709"/>
                <a:gd name="adj2" fmla="val 16200000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1" name="Google Shape;911;p70"/>
            <p:cNvSpPr/>
            <p:nvPr/>
          </p:nvSpPr>
          <p:spPr>
            <a:xfrm rot="3616747" flipH="1">
              <a:off x="6786125" y="3088041"/>
              <a:ext cx="1333063" cy="1333063"/>
            </a:xfrm>
            <a:prstGeom prst="pie">
              <a:avLst>
                <a:gd name="adj1" fmla="val 12563709"/>
                <a:gd name="adj2" fmla="val 16200000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2" name="Google Shape;912;p70"/>
            <p:cNvSpPr/>
            <p:nvPr/>
          </p:nvSpPr>
          <p:spPr>
            <a:xfrm rot="7179416" flipH="1">
              <a:off x="6785999" y="3087948"/>
              <a:ext cx="1333251" cy="1333251"/>
            </a:xfrm>
            <a:prstGeom prst="pie">
              <a:avLst>
                <a:gd name="adj1" fmla="val 12563709"/>
                <a:gd name="adj2" fmla="val 16200000"/>
              </a:avLst>
            </a:prstGeom>
            <a:solidFill>
              <a:schemeClr val="accent5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3" name="Google Shape;913;p70"/>
            <p:cNvSpPr txBox="1"/>
            <p:nvPr/>
          </p:nvSpPr>
          <p:spPr>
            <a:xfrm>
              <a:off x="7479050" y="3179205"/>
              <a:ext cx="503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A+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4" name="Google Shape;914;p70"/>
            <p:cNvSpPr txBox="1"/>
            <p:nvPr/>
          </p:nvSpPr>
          <p:spPr>
            <a:xfrm>
              <a:off x="7661899" y="3573151"/>
              <a:ext cx="503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A-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5" name="Google Shape;915;p70"/>
            <p:cNvSpPr txBox="1"/>
            <p:nvPr/>
          </p:nvSpPr>
          <p:spPr>
            <a:xfrm>
              <a:off x="7434450" y="3938845"/>
              <a:ext cx="503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B+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6" name="Google Shape;916;p70"/>
            <p:cNvSpPr/>
            <p:nvPr/>
          </p:nvSpPr>
          <p:spPr>
            <a:xfrm rot="-7167704">
              <a:off x="6786279" y="3088532"/>
              <a:ext cx="1332745" cy="1332745"/>
            </a:xfrm>
            <a:prstGeom prst="pie">
              <a:avLst>
                <a:gd name="adj1" fmla="val 16218657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7" name="Google Shape;917;p70"/>
            <p:cNvSpPr/>
            <p:nvPr/>
          </p:nvSpPr>
          <p:spPr>
            <a:xfrm rot="10800000">
              <a:off x="6786448" y="3088658"/>
              <a:ext cx="1332600" cy="1332600"/>
            </a:xfrm>
            <a:prstGeom prst="pie">
              <a:avLst>
                <a:gd name="adj1" fmla="val 16218657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8" name="Google Shape;918;p70"/>
            <p:cNvSpPr txBox="1"/>
            <p:nvPr/>
          </p:nvSpPr>
          <p:spPr>
            <a:xfrm>
              <a:off x="6843407" y="3554707"/>
              <a:ext cx="457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C+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9" name="Google Shape;919;p70"/>
            <p:cNvSpPr txBox="1"/>
            <p:nvPr/>
          </p:nvSpPr>
          <p:spPr>
            <a:xfrm>
              <a:off x="7026256" y="3955191"/>
              <a:ext cx="457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B-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20" name="Google Shape;920;p70"/>
            <p:cNvGrpSpPr/>
            <p:nvPr/>
          </p:nvGrpSpPr>
          <p:grpSpPr>
            <a:xfrm>
              <a:off x="7413802" y="3128882"/>
              <a:ext cx="75111" cy="653369"/>
              <a:chOff x="996050" y="213293"/>
              <a:chExt cx="93900" cy="909732"/>
            </a:xfrm>
          </p:grpSpPr>
          <p:cxnSp>
            <p:nvCxnSpPr>
              <p:cNvPr id="921" name="Google Shape;921;p70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922" name="Google Shape;922;p7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6" name="Shape 926"/>
        <p:cNvGrpSpPr/>
        <p:nvPr/>
      </p:nvGrpSpPr>
      <p:grpSpPr>
        <a:xfrm>
          <a:off x="0" y="0"/>
          <a:ext cx="0" cy="0"/>
        </a:xfrm>
      </p:grpSpPr>
      <p:sp>
        <p:nvSpPr>
          <p:cNvPr id="927" name="Google Shape;927;p71"/>
          <p:cNvSpPr txBox="1"/>
          <p:nvPr>
            <p:ph type="body" idx="1"/>
          </p:nvPr>
        </p:nvSpPr>
        <p:spPr>
          <a:xfrm>
            <a:off x="324000" y="751525"/>
            <a:ext cx="5146800" cy="150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Jun is going to spin three different spinners. </a:t>
            </a:r>
            <a:br>
              <a:rPr lang="en-GB" sz="1800"/>
            </a:br>
            <a:r>
              <a:rPr lang="en-GB" sz="1800"/>
              <a:t>Spinner 1 has the outcomes {A, B, C}</a:t>
            </a:r>
            <a:br>
              <a:rPr lang="en-GB" sz="1800"/>
            </a:br>
            <a:r>
              <a:rPr lang="en-GB" sz="1800"/>
              <a:t>Spinner 2 has the outcomes {+, -}</a:t>
            </a:r>
            <a:br>
              <a:rPr lang="en-GB" sz="1800"/>
            </a:br>
            <a:r>
              <a:rPr lang="en-GB" sz="1800"/>
              <a:t>Spinner 3 has the outcomes {X, Y, Z}</a:t>
            </a:r>
            <a:endParaRPr sz="1800"/>
          </a:p>
        </p:txBody>
      </p:sp>
      <p:sp>
        <p:nvSpPr>
          <p:cNvPr id="928" name="Google Shape;92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grpSp>
        <p:nvGrpSpPr>
          <p:cNvPr id="929" name="Google Shape;929;p71"/>
          <p:cNvGrpSpPr/>
          <p:nvPr/>
        </p:nvGrpSpPr>
        <p:grpSpPr>
          <a:xfrm>
            <a:off x="6873537" y="1624780"/>
            <a:ext cx="1275000" cy="1275000"/>
            <a:chOff x="6873537" y="1624780"/>
            <a:chExt cx="1275000" cy="1275000"/>
          </a:xfrm>
        </p:grpSpPr>
        <p:sp>
          <p:nvSpPr>
            <p:cNvPr id="930" name="Google Shape;930;p71"/>
            <p:cNvSpPr/>
            <p:nvPr/>
          </p:nvSpPr>
          <p:spPr>
            <a:xfrm>
              <a:off x="7036319" y="1787645"/>
              <a:ext cx="948900" cy="948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31" name="Google Shape;931;p71"/>
            <p:cNvSpPr/>
            <p:nvPr/>
          </p:nvSpPr>
          <p:spPr>
            <a:xfrm rot="7199783">
              <a:off x="7044634" y="1795963"/>
              <a:ext cx="932502" cy="932502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32" name="Google Shape;932;p71"/>
            <p:cNvSpPr/>
            <p:nvPr/>
          </p:nvSpPr>
          <p:spPr>
            <a:xfrm rot="-7211167">
              <a:off x="7044758" y="1796001"/>
              <a:ext cx="932558" cy="932558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33" name="Google Shape;933;p71"/>
            <p:cNvSpPr/>
            <p:nvPr/>
          </p:nvSpPr>
          <p:spPr>
            <a:xfrm>
              <a:off x="7044644" y="1796004"/>
              <a:ext cx="932400" cy="932700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34" name="Google Shape;934;p71"/>
            <p:cNvSpPr txBox="1"/>
            <p:nvPr/>
          </p:nvSpPr>
          <p:spPr>
            <a:xfrm>
              <a:off x="7614548" y="1940140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71"/>
            <p:cNvSpPr txBox="1"/>
            <p:nvPr/>
          </p:nvSpPr>
          <p:spPr>
            <a:xfrm>
              <a:off x="7367788" y="2357465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6" name="Google Shape;936;p71"/>
            <p:cNvSpPr txBox="1"/>
            <p:nvPr/>
          </p:nvSpPr>
          <p:spPr>
            <a:xfrm>
              <a:off x="7111948" y="1940140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37" name="Google Shape;937;p71"/>
            <p:cNvGrpSpPr/>
            <p:nvPr/>
          </p:nvGrpSpPr>
          <p:grpSpPr>
            <a:xfrm>
              <a:off x="7483617" y="1835071"/>
              <a:ext cx="52546" cy="457140"/>
              <a:chOff x="996050" y="213293"/>
              <a:chExt cx="93900" cy="909732"/>
            </a:xfrm>
          </p:grpSpPr>
          <p:cxnSp>
            <p:nvCxnSpPr>
              <p:cNvPr id="938" name="Google Shape;938;p71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939" name="Google Shape;939;p71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0" name="Google Shape;940;p71"/>
          <p:cNvSpPr txBox="1"/>
          <p:nvPr>
            <p:ph type="body" idx="1"/>
          </p:nvPr>
        </p:nvSpPr>
        <p:spPr>
          <a:xfrm>
            <a:off x="324000" y="2427925"/>
            <a:ext cx="3996000" cy="150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 final spinner showing all possible outcomes from the three spinners can then be created.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{A+X, A-X, B+X, B-X, C+X, C-X, A+Y, A-Y, B+Y, B-Y, C+Y, C-Y, A+Z, A-Z, B+Z, B-Z, C+Z, C-Z}</a:t>
            </a:r>
            <a:endParaRPr sz="1800"/>
          </a:p>
        </p:txBody>
      </p:sp>
      <p:grpSp>
        <p:nvGrpSpPr>
          <p:cNvPr id="941" name="Google Shape;941;p71"/>
          <p:cNvGrpSpPr/>
          <p:nvPr/>
        </p:nvGrpSpPr>
        <p:grpSpPr>
          <a:xfrm>
            <a:off x="5473550" y="556400"/>
            <a:ext cx="1824600" cy="1824600"/>
            <a:chOff x="6540350" y="2842400"/>
            <a:chExt cx="1824600" cy="1824600"/>
          </a:xfrm>
        </p:grpSpPr>
        <p:sp>
          <p:nvSpPr>
            <p:cNvPr id="942" name="Google Shape;942;p71"/>
            <p:cNvSpPr/>
            <p:nvPr/>
          </p:nvSpPr>
          <p:spPr>
            <a:xfrm>
              <a:off x="6774427" y="3076496"/>
              <a:ext cx="1356600" cy="13563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3" name="Google Shape;943;p71"/>
            <p:cNvSpPr/>
            <p:nvPr/>
          </p:nvSpPr>
          <p:spPr>
            <a:xfrm rot="-3572695">
              <a:off x="6786197" y="3088248"/>
              <a:ext cx="1332905" cy="1332905"/>
            </a:xfrm>
            <a:prstGeom prst="pie">
              <a:avLst>
                <a:gd name="adj1" fmla="val 16218657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4" name="Google Shape;944;p71"/>
            <p:cNvSpPr txBox="1"/>
            <p:nvPr/>
          </p:nvSpPr>
          <p:spPr>
            <a:xfrm>
              <a:off x="7026256" y="3179212"/>
              <a:ext cx="457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C-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5" name="Google Shape;945;p71"/>
            <p:cNvSpPr/>
            <p:nvPr/>
          </p:nvSpPr>
          <p:spPr>
            <a:xfrm flipH="1">
              <a:off x="6786253" y="3088302"/>
              <a:ext cx="1332900" cy="1332900"/>
            </a:xfrm>
            <a:prstGeom prst="pie">
              <a:avLst>
                <a:gd name="adj1" fmla="val 12563709"/>
                <a:gd name="adj2" fmla="val 16200000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6" name="Google Shape;946;p71"/>
            <p:cNvSpPr/>
            <p:nvPr/>
          </p:nvSpPr>
          <p:spPr>
            <a:xfrm rot="3616747" flipH="1">
              <a:off x="6786125" y="3088041"/>
              <a:ext cx="1333063" cy="1333063"/>
            </a:xfrm>
            <a:prstGeom prst="pie">
              <a:avLst>
                <a:gd name="adj1" fmla="val 12563709"/>
                <a:gd name="adj2" fmla="val 16200000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7" name="Google Shape;947;p71"/>
            <p:cNvSpPr/>
            <p:nvPr/>
          </p:nvSpPr>
          <p:spPr>
            <a:xfrm rot="7179416" flipH="1">
              <a:off x="6785999" y="3087948"/>
              <a:ext cx="1333251" cy="1333251"/>
            </a:xfrm>
            <a:prstGeom prst="pie">
              <a:avLst>
                <a:gd name="adj1" fmla="val 12563709"/>
                <a:gd name="adj2" fmla="val 16200000"/>
              </a:avLst>
            </a:prstGeom>
            <a:solidFill>
              <a:schemeClr val="accent5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8" name="Google Shape;948;p71"/>
            <p:cNvSpPr txBox="1"/>
            <p:nvPr/>
          </p:nvSpPr>
          <p:spPr>
            <a:xfrm>
              <a:off x="7479050" y="3179205"/>
              <a:ext cx="503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A+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9" name="Google Shape;949;p71"/>
            <p:cNvSpPr txBox="1"/>
            <p:nvPr/>
          </p:nvSpPr>
          <p:spPr>
            <a:xfrm>
              <a:off x="7661899" y="3573151"/>
              <a:ext cx="503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A-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0" name="Google Shape;950;p71"/>
            <p:cNvSpPr txBox="1"/>
            <p:nvPr/>
          </p:nvSpPr>
          <p:spPr>
            <a:xfrm>
              <a:off x="7434450" y="3938845"/>
              <a:ext cx="503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B+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71"/>
            <p:cNvSpPr/>
            <p:nvPr/>
          </p:nvSpPr>
          <p:spPr>
            <a:xfrm rot="-7167704">
              <a:off x="6786279" y="3088532"/>
              <a:ext cx="1332745" cy="1332745"/>
            </a:xfrm>
            <a:prstGeom prst="pie">
              <a:avLst>
                <a:gd name="adj1" fmla="val 16218657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2" name="Google Shape;952;p71"/>
            <p:cNvSpPr/>
            <p:nvPr/>
          </p:nvSpPr>
          <p:spPr>
            <a:xfrm rot="10800000">
              <a:off x="6786448" y="3088658"/>
              <a:ext cx="1332600" cy="1332600"/>
            </a:xfrm>
            <a:prstGeom prst="pie">
              <a:avLst>
                <a:gd name="adj1" fmla="val 16218657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3" name="Google Shape;953;p71"/>
            <p:cNvSpPr txBox="1"/>
            <p:nvPr/>
          </p:nvSpPr>
          <p:spPr>
            <a:xfrm>
              <a:off x="6843407" y="3554707"/>
              <a:ext cx="457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C+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1"/>
            <p:cNvSpPr txBox="1"/>
            <p:nvPr/>
          </p:nvSpPr>
          <p:spPr>
            <a:xfrm>
              <a:off x="7026256" y="3955191"/>
              <a:ext cx="457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B-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55" name="Google Shape;955;p71"/>
            <p:cNvGrpSpPr/>
            <p:nvPr/>
          </p:nvGrpSpPr>
          <p:grpSpPr>
            <a:xfrm>
              <a:off x="7413802" y="3128882"/>
              <a:ext cx="75111" cy="653369"/>
              <a:chOff x="996050" y="213293"/>
              <a:chExt cx="93900" cy="909732"/>
            </a:xfrm>
          </p:grpSpPr>
          <p:cxnSp>
            <p:nvCxnSpPr>
              <p:cNvPr id="956" name="Google Shape;956;p71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957" name="Google Shape;957;p71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58" name="Google Shape;958;p71"/>
          <p:cNvGrpSpPr/>
          <p:nvPr/>
        </p:nvGrpSpPr>
        <p:grpSpPr>
          <a:xfrm>
            <a:off x="4142379" y="204493"/>
            <a:ext cx="5146700" cy="5143411"/>
            <a:chOff x="-5034421" y="-744907"/>
            <a:chExt cx="5146700" cy="5143411"/>
          </a:xfrm>
        </p:grpSpPr>
        <p:sp>
          <p:nvSpPr>
            <p:cNvPr id="959" name="Google Shape;959;p71"/>
            <p:cNvSpPr/>
            <p:nvPr/>
          </p:nvSpPr>
          <p:spPr>
            <a:xfrm rot="8400054">
              <a:off x="-4288152" y="2074"/>
              <a:ext cx="3650263" cy="365026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0" name="Google Shape;960;p71"/>
            <p:cNvSpPr/>
            <p:nvPr/>
          </p:nvSpPr>
          <p:spPr>
            <a:xfrm rot="-1199928">
              <a:off x="-4284354" y="2293"/>
              <a:ext cx="3649995" cy="3649995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1" name="Google Shape;961;p71"/>
            <p:cNvSpPr/>
            <p:nvPr/>
          </p:nvSpPr>
          <p:spPr>
            <a:xfrm>
              <a:off x="-4288112" y="1289"/>
              <a:ext cx="3650100" cy="3650400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2" name="Google Shape;962;p71"/>
            <p:cNvSpPr/>
            <p:nvPr/>
          </p:nvSpPr>
          <p:spPr>
            <a:xfrm rot="1199928">
              <a:off x="-4284147" y="1185"/>
              <a:ext cx="3649995" cy="3649995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3" name="Google Shape;963;p71"/>
            <p:cNvSpPr/>
            <p:nvPr/>
          </p:nvSpPr>
          <p:spPr>
            <a:xfrm rot="2399946">
              <a:off x="-4284152" y="1264"/>
              <a:ext cx="3650263" cy="365026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4" name="Google Shape;964;p71"/>
            <p:cNvSpPr/>
            <p:nvPr/>
          </p:nvSpPr>
          <p:spPr>
            <a:xfrm rot="3599991">
              <a:off x="-4284030" y="1289"/>
              <a:ext cx="3649783" cy="364978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5" name="Google Shape;965;p71"/>
            <p:cNvSpPr/>
            <p:nvPr/>
          </p:nvSpPr>
          <p:spPr>
            <a:xfrm rot="4799930">
              <a:off x="-4284209" y="1370"/>
              <a:ext cx="3650066" cy="3650066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6" name="Google Shape;966;p71"/>
            <p:cNvSpPr/>
            <p:nvPr/>
          </p:nvSpPr>
          <p:spPr>
            <a:xfrm rot="6000070">
              <a:off x="-4288044" y="2304"/>
              <a:ext cx="3650066" cy="3650066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7" name="Google Shape;967;p71"/>
            <p:cNvSpPr/>
            <p:nvPr/>
          </p:nvSpPr>
          <p:spPr>
            <a:xfrm rot="-4799979">
              <a:off x="-4288225" y="1183"/>
              <a:ext cx="3650361" cy="3650361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8" name="Google Shape;968;p71"/>
            <p:cNvSpPr/>
            <p:nvPr/>
          </p:nvSpPr>
          <p:spPr>
            <a:xfrm rot="7200009">
              <a:off x="-4283829" y="2403"/>
              <a:ext cx="3649783" cy="364978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9" name="Google Shape;969;p71"/>
            <p:cNvSpPr/>
            <p:nvPr/>
          </p:nvSpPr>
          <p:spPr>
            <a:xfrm rot="9599975">
              <a:off x="-4283788" y="2428"/>
              <a:ext cx="3649714" cy="3649714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0" name="Google Shape;970;p71"/>
            <p:cNvSpPr/>
            <p:nvPr/>
          </p:nvSpPr>
          <p:spPr>
            <a:xfrm rot="10800000">
              <a:off x="-4284018" y="2423"/>
              <a:ext cx="3649800" cy="3649800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1" name="Google Shape;971;p71"/>
            <p:cNvSpPr/>
            <p:nvPr/>
          </p:nvSpPr>
          <p:spPr>
            <a:xfrm rot="-9600072">
              <a:off x="-4288004" y="2517"/>
              <a:ext cx="3649995" cy="3649995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2" name="Google Shape;972;p71"/>
            <p:cNvSpPr/>
            <p:nvPr/>
          </p:nvSpPr>
          <p:spPr>
            <a:xfrm rot="-8400054">
              <a:off x="-4288253" y="1262"/>
              <a:ext cx="3650263" cy="365026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3" name="Google Shape;973;p71"/>
            <p:cNvSpPr/>
            <p:nvPr/>
          </p:nvSpPr>
          <p:spPr>
            <a:xfrm rot="-7199727">
              <a:off x="-4288036" y="1309"/>
              <a:ext cx="3650303" cy="365030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4" name="Google Shape;974;p71"/>
            <p:cNvSpPr/>
            <p:nvPr/>
          </p:nvSpPr>
          <p:spPr>
            <a:xfrm rot="-6000021">
              <a:off x="-4288185" y="1229"/>
              <a:ext cx="3650361" cy="3650361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5" name="Google Shape;975;p71"/>
            <p:cNvSpPr/>
            <p:nvPr/>
          </p:nvSpPr>
          <p:spPr>
            <a:xfrm rot="-2399946">
              <a:off x="-4288143" y="1366"/>
              <a:ext cx="3650263" cy="365026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6" name="Google Shape;976;p71"/>
            <p:cNvSpPr/>
            <p:nvPr/>
          </p:nvSpPr>
          <p:spPr>
            <a:xfrm rot="-3600273">
              <a:off x="-4284350" y="1106"/>
              <a:ext cx="3650303" cy="365030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7" name="Google Shape;977;p71"/>
            <p:cNvSpPr txBox="1"/>
            <p:nvPr/>
          </p:nvSpPr>
          <p:spPr>
            <a:xfrm>
              <a:off x="-2488694" y="81593"/>
              <a:ext cx="74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A+X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78" name="Google Shape;978;p71"/>
            <p:cNvGrpSpPr/>
            <p:nvPr/>
          </p:nvGrpSpPr>
          <p:grpSpPr>
            <a:xfrm>
              <a:off x="-2565832" y="112302"/>
              <a:ext cx="205744" cy="1789624"/>
              <a:chOff x="996050" y="213293"/>
              <a:chExt cx="93900" cy="909732"/>
            </a:xfrm>
          </p:grpSpPr>
          <p:cxnSp>
            <p:nvCxnSpPr>
              <p:cNvPr id="979" name="Google Shape;979;p71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980" name="Google Shape;980;p71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81" name="Google Shape;981;p71"/>
            <p:cNvSpPr/>
            <p:nvPr/>
          </p:nvSpPr>
          <p:spPr>
            <a:xfrm>
              <a:off x="-4288219" y="-2166"/>
              <a:ext cx="3649500" cy="36495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2" name="Google Shape;982;p71"/>
            <p:cNvSpPr txBox="1"/>
            <p:nvPr/>
          </p:nvSpPr>
          <p:spPr>
            <a:xfrm>
              <a:off x="-1936201" y="274314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A-X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3" name="Google Shape;983;p71"/>
            <p:cNvSpPr txBox="1"/>
            <p:nvPr/>
          </p:nvSpPr>
          <p:spPr>
            <a:xfrm>
              <a:off x="-1577675" y="649375"/>
              <a:ext cx="68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B+X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4" name="Google Shape;984;p71"/>
            <p:cNvSpPr txBox="1"/>
            <p:nvPr/>
          </p:nvSpPr>
          <p:spPr>
            <a:xfrm>
              <a:off x="-1292893" y="1076550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B-X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5" name="Google Shape;985;p71"/>
            <p:cNvSpPr txBox="1"/>
            <p:nvPr/>
          </p:nvSpPr>
          <p:spPr>
            <a:xfrm>
              <a:off x="-1221700" y="1646125"/>
              <a:ext cx="68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C+X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6" name="Google Shape;986;p71"/>
            <p:cNvSpPr txBox="1"/>
            <p:nvPr/>
          </p:nvSpPr>
          <p:spPr>
            <a:xfrm>
              <a:off x="-1302567" y="2144484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C-X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7" name="Google Shape;987;p71"/>
            <p:cNvSpPr txBox="1"/>
            <p:nvPr/>
          </p:nvSpPr>
          <p:spPr>
            <a:xfrm>
              <a:off x="-1587350" y="2571650"/>
              <a:ext cx="68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A+Y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8" name="Google Shape;988;p71"/>
            <p:cNvSpPr txBox="1"/>
            <p:nvPr/>
          </p:nvSpPr>
          <p:spPr>
            <a:xfrm>
              <a:off x="-1972348" y="2917962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A-Y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71"/>
            <p:cNvSpPr txBox="1"/>
            <p:nvPr/>
          </p:nvSpPr>
          <p:spPr>
            <a:xfrm>
              <a:off x="-2470727" y="3060350"/>
              <a:ext cx="709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B+Y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71"/>
            <p:cNvSpPr txBox="1"/>
            <p:nvPr/>
          </p:nvSpPr>
          <p:spPr>
            <a:xfrm>
              <a:off x="-2988434" y="3131548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B-Y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1" name="Google Shape;991;p71"/>
            <p:cNvSpPr txBox="1"/>
            <p:nvPr/>
          </p:nvSpPr>
          <p:spPr>
            <a:xfrm>
              <a:off x="-3486799" y="2950475"/>
              <a:ext cx="709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C+Y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2" name="Google Shape;992;p71"/>
            <p:cNvSpPr txBox="1"/>
            <p:nvPr/>
          </p:nvSpPr>
          <p:spPr>
            <a:xfrm>
              <a:off x="-3894632" y="2617315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C-Y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3" name="Google Shape;993;p71"/>
            <p:cNvSpPr txBox="1"/>
            <p:nvPr/>
          </p:nvSpPr>
          <p:spPr>
            <a:xfrm>
              <a:off x="-4146897" y="2118950"/>
              <a:ext cx="709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A+Z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4" name="Google Shape;994;p71"/>
            <p:cNvSpPr txBox="1"/>
            <p:nvPr/>
          </p:nvSpPr>
          <p:spPr>
            <a:xfrm>
              <a:off x="-4218108" y="1620577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A-Z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5" name="Google Shape;995;p71"/>
            <p:cNvSpPr txBox="1"/>
            <p:nvPr/>
          </p:nvSpPr>
          <p:spPr>
            <a:xfrm>
              <a:off x="-4146897" y="1122200"/>
              <a:ext cx="709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B+Z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6" name="Google Shape;996;p71"/>
            <p:cNvSpPr txBox="1"/>
            <p:nvPr/>
          </p:nvSpPr>
          <p:spPr>
            <a:xfrm>
              <a:off x="-3933325" y="623839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B-Z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7" name="Google Shape;997;p71"/>
            <p:cNvSpPr txBox="1"/>
            <p:nvPr/>
          </p:nvSpPr>
          <p:spPr>
            <a:xfrm>
              <a:off x="-3506150" y="267850"/>
              <a:ext cx="68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C+Z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8" name="Google Shape;998;p71"/>
            <p:cNvSpPr txBox="1"/>
            <p:nvPr/>
          </p:nvSpPr>
          <p:spPr>
            <a:xfrm>
              <a:off x="-2998108" y="96450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C-Z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2" name="Shape 1002"/>
        <p:cNvGrpSpPr/>
        <p:nvPr/>
      </p:nvGrpSpPr>
      <p:grpSpPr>
        <a:xfrm>
          <a:off x="0" y="0"/>
          <a:ext cx="0" cy="0"/>
        </a:xfrm>
      </p:grpSpPr>
      <p:pic>
        <p:nvPicPr>
          <p:cNvPr id="1003" name="Google Shape;100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350" y="719174"/>
            <a:ext cx="2726649" cy="166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72"/>
          <p:cNvSpPr txBox="1"/>
          <p:nvPr>
            <p:ph type="body" idx="1"/>
          </p:nvPr>
        </p:nvSpPr>
        <p:spPr>
          <a:xfrm>
            <a:off x="1693200" y="810000"/>
            <a:ext cx="2558400" cy="150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Does it not matter in which order the spinners were combined?</a:t>
            </a:r>
            <a:endParaRPr sz="1800"/>
          </a:p>
        </p:txBody>
      </p:sp>
      <p:sp>
        <p:nvSpPr>
          <p:cNvPr id="1005" name="Google Shape;100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grpSp>
        <p:nvGrpSpPr>
          <p:cNvPr id="1006" name="Google Shape;1006;p72"/>
          <p:cNvGrpSpPr/>
          <p:nvPr/>
        </p:nvGrpSpPr>
        <p:grpSpPr>
          <a:xfrm>
            <a:off x="4142379" y="204493"/>
            <a:ext cx="5146700" cy="5143411"/>
            <a:chOff x="-5034421" y="-744907"/>
            <a:chExt cx="5146700" cy="5143411"/>
          </a:xfrm>
        </p:grpSpPr>
        <p:sp>
          <p:nvSpPr>
            <p:cNvPr id="1007" name="Google Shape;1007;p72"/>
            <p:cNvSpPr/>
            <p:nvPr/>
          </p:nvSpPr>
          <p:spPr>
            <a:xfrm rot="8400054">
              <a:off x="-4288152" y="2074"/>
              <a:ext cx="3650263" cy="365026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8" name="Google Shape;1008;p72"/>
            <p:cNvSpPr/>
            <p:nvPr/>
          </p:nvSpPr>
          <p:spPr>
            <a:xfrm rot="-1199928">
              <a:off x="-4284354" y="2293"/>
              <a:ext cx="3649995" cy="3649995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9" name="Google Shape;1009;p72"/>
            <p:cNvSpPr/>
            <p:nvPr/>
          </p:nvSpPr>
          <p:spPr>
            <a:xfrm>
              <a:off x="-4288112" y="1289"/>
              <a:ext cx="3650100" cy="3650400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0" name="Google Shape;1010;p72"/>
            <p:cNvSpPr/>
            <p:nvPr/>
          </p:nvSpPr>
          <p:spPr>
            <a:xfrm rot="1199928">
              <a:off x="-4284147" y="1185"/>
              <a:ext cx="3649995" cy="3649995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1" name="Google Shape;1011;p72"/>
            <p:cNvSpPr/>
            <p:nvPr/>
          </p:nvSpPr>
          <p:spPr>
            <a:xfrm rot="2399946">
              <a:off x="-4284152" y="1264"/>
              <a:ext cx="3650263" cy="365026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2" name="Google Shape;1012;p72"/>
            <p:cNvSpPr/>
            <p:nvPr/>
          </p:nvSpPr>
          <p:spPr>
            <a:xfrm rot="3599991">
              <a:off x="-4284030" y="1289"/>
              <a:ext cx="3649783" cy="364978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3" name="Google Shape;1013;p72"/>
            <p:cNvSpPr/>
            <p:nvPr/>
          </p:nvSpPr>
          <p:spPr>
            <a:xfrm rot="4799930">
              <a:off x="-4284209" y="1370"/>
              <a:ext cx="3650066" cy="3650066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4" name="Google Shape;1014;p72"/>
            <p:cNvSpPr/>
            <p:nvPr/>
          </p:nvSpPr>
          <p:spPr>
            <a:xfrm rot="6000070">
              <a:off x="-4288044" y="2304"/>
              <a:ext cx="3650066" cy="3650066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5" name="Google Shape;1015;p72"/>
            <p:cNvSpPr/>
            <p:nvPr/>
          </p:nvSpPr>
          <p:spPr>
            <a:xfrm rot="-4799979">
              <a:off x="-4288225" y="1183"/>
              <a:ext cx="3650361" cy="3650361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6" name="Google Shape;1016;p72"/>
            <p:cNvSpPr/>
            <p:nvPr/>
          </p:nvSpPr>
          <p:spPr>
            <a:xfrm rot="7200009">
              <a:off x="-4283829" y="2403"/>
              <a:ext cx="3649783" cy="364978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" name="Google Shape;1017;p72"/>
            <p:cNvSpPr/>
            <p:nvPr/>
          </p:nvSpPr>
          <p:spPr>
            <a:xfrm rot="9599975">
              <a:off x="-4283788" y="2428"/>
              <a:ext cx="3649714" cy="3649714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8" name="Google Shape;1018;p72"/>
            <p:cNvSpPr/>
            <p:nvPr/>
          </p:nvSpPr>
          <p:spPr>
            <a:xfrm rot="10800000">
              <a:off x="-4284018" y="2423"/>
              <a:ext cx="3649800" cy="3649800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9" name="Google Shape;1019;p72"/>
            <p:cNvSpPr/>
            <p:nvPr/>
          </p:nvSpPr>
          <p:spPr>
            <a:xfrm rot="-9600072">
              <a:off x="-4288004" y="2517"/>
              <a:ext cx="3649995" cy="3649995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0" name="Google Shape;1020;p72"/>
            <p:cNvSpPr/>
            <p:nvPr/>
          </p:nvSpPr>
          <p:spPr>
            <a:xfrm rot="-8400054">
              <a:off x="-4288253" y="1262"/>
              <a:ext cx="3650263" cy="365026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1" name="Google Shape;1021;p72"/>
            <p:cNvSpPr/>
            <p:nvPr/>
          </p:nvSpPr>
          <p:spPr>
            <a:xfrm rot="-7199727">
              <a:off x="-4288036" y="1309"/>
              <a:ext cx="3650303" cy="365030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2" name="Google Shape;1022;p72"/>
            <p:cNvSpPr/>
            <p:nvPr/>
          </p:nvSpPr>
          <p:spPr>
            <a:xfrm rot="-6000021">
              <a:off x="-4288185" y="1229"/>
              <a:ext cx="3650361" cy="3650361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3" name="Google Shape;1023;p72"/>
            <p:cNvSpPr/>
            <p:nvPr/>
          </p:nvSpPr>
          <p:spPr>
            <a:xfrm rot="-2399946">
              <a:off x="-4288143" y="1366"/>
              <a:ext cx="3650263" cy="365026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4" name="Google Shape;1024;p72"/>
            <p:cNvSpPr/>
            <p:nvPr/>
          </p:nvSpPr>
          <p:spPr>
            <a:xfrm rot="-3600273">
              <a:off x="-4284350" y="1106"/>
              <a:ext cx="3650303" cy="3650303"/>
            </a:xfrm>
            <a:prstGeom prst="pie">
              <a:avLst>
                <a:gd name="adj1" fmla="val 18626970"/>
                <a:gd name="adj2" fmla="val 19793024"/>
              </a:avLst>
            </a:prstGeom>
            <a:solidFill>
              <a:schemeClr val="accent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5" name="Google Shape;1025;p72"/>
            <p:cNvSpPr txBox="1"/>
            <p:nvPr/>
          </p:nvSpPr>
          <p:spPr>
            <a:xfrm>
              <a:off x="-2488694" y="81593"/>
              <a:ext cx="74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A+X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26" name="Google Shape;1026;p72"/>
            <p:cNvGrpSpPr/>
            <p:nvPr/>
          </p:nvGrpSpPr>
          <p:grpSpPr>
            <a:xfrm>
              <a:off x="-2565832" y="112302"/>
              <a:ext cx="205744" cy="1789624"/>
              <a:chOff x="996050" y="213293"/>
              <a:chExt cx="93900" cy="909732"/>
            </a:xfrm>
          </p:grpSpPr>
          <p:cxnSp>
            <p:nvCxnSpPr>
              <p:cNvPr id="1027" name="Google Shape;1027;p72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028" name="Google Shape;1028;p72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029" name="Google Shape;1029;p72"/>
            <p:cNvSpPr/>
            <p:nvPr/>
          </p:nvSpPr>
          <p:spPr>
            <a:xfrm>
              <a:off x="-4288219" y="-2166"/>
              <a:ext cx="3649500" cy="36495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0" name="Google Shape;1030;p72"/>
            <p:cNvSpPr txBox="1"/>
            <p:nvPr/>
          </p:nvSpPr>
          <p:spPr>
            <a:xfrm>
              <a:off x="-1936201" y="274314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A-X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72"/>
            <p:cNvSpPr txBox="1"/>
            <p:nvPr/>
          </p:nvSpPr>
          <p:spPr>
            <a:xfrm>
              <a:off x="-1577675" y="649375"/>
              <a:ext cx="68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B+X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2" name="Google Shape;1032;p72"/>
            <p:cNvSpPr txBox="1"/>
            <p:nvPr/>
          </p:nvSpPr>
          <p:spPr>
            <a:xfrm>
              <a:off x="-1292893" y="1076550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B-X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3" name="Google Shape;1033;p72"/>
            <p:cNvSpPr txBox="1"/>
            <p:nvPr/>
          </p:nvSpPr>
          <p:spPr>
            <a:xfrm>
              <a:off x="-1221700" y="1646125"/>
              <a:ext cx="68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C+X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72"/>
            <p:cNvSpPr txBox="1"/>
            <p:nvPr/>
          </p:nvSpPr>
          <p:spPr>
            <a:xfrm>
              <a:off x="-1302567" y="2144484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C-X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72"/>
            <p:cNvSpPr txBox="1"/>
            <p:nvPr/>
          </p:nvSpPr>
          <p:spPr>
            <a:xfrm>
              <a:off x="-1587350" y="2571650"/>
              <a:ext cx="68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A+Y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6" name="Google Shape;1036;p72"/>
            <p:cNvSpPr txBox="1"/>
            <p:nvPr/>
          </p:nvSpPr>
          <p:spPr>
            <a:xfrm>
              <a:off x="-1972348" y="2917962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A-Y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7" name="Google Shape;1037;p72"/>
            <p:cNvSpPr txBox="1"/>
            <p:nvPr/>
          </p:nvSpPr>
          <p:spPr>
            <a:xfrm>
              <a:off x="-2470727" y="3060350"/>
              <a:ext cx="709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B+Y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72"/>
            <p:cNvSpPr txBox="1"/>
            <p:nvPr/>
          </p:nvSpPr>
          <p:spPr>
            <a:xfrm>
              <a:off x="-2988434" y="3131548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B-Y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72"/>
            <p:cNvSpPr txBox="1"/>
            <p:nvPr/>
          </p:nvSpPr>
          <p:spPr>
            <a:xfrm>
              <a:off x="-3486799" y="2950475"/>
              <a:ext cx="709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C+Y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0" name="Google Shape;1040;p72"/>
            <p:cNvSpPr txBox="1"/>
            <p:nvPr/>
          </p:nvSpPr>
          <p:spPr>
            <a:xfrm>
              <a:off x="-3894632" y="2617315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C-Y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1" name="Google Shape;1041;p72"/>
            <p:cNvSpPr txBox="1"/>
            <p:nvPr/>
          </p:nvSpPr>
          <p:spPr>
            <a:xfrm>
              <a:off x="-4146897" y="2118950"/>
              <a:ext cx="709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A+Z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72"/>
            <p:cNvSpPr txBox="1"/>
            <p:nvPr/>
          </p:nvSpPr>
          <p:spPr>
            <a:xfrm>
              <a:off x="-4218108" y="1620577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A-Z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3" name="Google Shape;1043;p72"/>
            <p:cNvSpPr txBox="1"/>
            <p:nvPr/>
          </p:nvSpPr>
          <p:spPr>
            <a:xfrm>
              <a:off x="-4146897" y="1122200"/>
              <a:ext cx="709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B+Z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4" name="Google Shape;1044;p72"/>
            <p:cNvSpPr txBox="1"/>
            <p:nvPr/>
          </p:nvSpPr>
          <p:spPr>
            <a:xfrm>
              <a:off x="-3933325" y="623839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B-Z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72"/>
            <p:cNvSpPr txBox="1"/>
            <p:nvPr/>
          </p:nvSpPr>
          <p:spPr>
            <a:xfrm>
              <a:off x="-3506150" y="267850"/>
              <a:ext cx="68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C+Z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72"/>
            <p:cNvSpPr txBox="1"/>
            <p:nvPr/>
          </p:nvSpPr>
          <p:spPr>
            <a:xfrm>
              <a:off x="-2998108" y="96450"/>
              <a:ext cx="563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C-Z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7" name="Google Shape;104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6388" y="176581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72"/>
          <p:cNvSpPr txBox="1"/>
          <p:nvPr/>
        </p:nvSpPr>
        <p:spPr>
          <a:xfrm>
            <a:off x="590875" y="2845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2"/>
          <p:cNvSpPr txBox="1"/>
          <p:nvPr/>
        </p:nvSpPr>
        <p:spPr>
          <a:xfrm>
            <a:off x="476400" y="3502950"/>
            <a:ext cx="417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18 outcomes, regardless of the order they are created.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3" name="Shape 1053"/>
        <p:cNvGrpSpPr/>
        <p:nvPr/>
      </p:nvGrpSpPr>
      <p:grpSpPr>
        <a:xfrm>
          <a:off x="0" y="0"/>
          <a:ext cx="0" cy="0"/>
        </a:xfrm>
      </p:grpSpPr>
      <p:sp>
        <p:nvSpPr>
          <p:cNvPr id="1054" name="Google Shape;1054;p73"/>
          <p:cNvSpPr/>
          <p:nvPr/>
        </p:nvSpPr>
        <p:spPr>
          <a:xfrm>
            <a:off x="4888581" y="947234"/>
            <a:ext cx="3649500" cy="3649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5" name="Google Shape;1055;p73"/>
          <p:cNvSpPr txBox="1"/>
          <p:nvPr>
            <p:ph type="body" idx="1"/>
          </p:nvPr>
        </p:nvSpPr>
        <p:spPr>
          <a:xfrm>
            <a:off x="324000" y="759300"/>
            <a:ext cx="4399800" cy="70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Complete the three spinners that have been combined.</a:t>
            </a:r>
            <a:endParaRPr sz="1800"/>
          </a:p>
        </p:txBody>
      </p:sp>
      <p:sp>
        <p:nvSpPr>
          <p:cNvPr id="1056" name="Google Shape;105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057" name="Google Shape;1057;p73"/>
          <p:cNvSpPr/>
          <p:nvPr/>
        </p:nvSpPr>
        <p:spPr>
          <a:xfrm rot="8400054">
            <a:off x="4888648" y="951474"/>
            <a:ext cx="3650263" cy="3650263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8" name="Google Shape;1058;p73"/>
          <p:cNvSpPr/>
          <p:nvPr/>
        </p:nvSpPr>
        <p:spPr>
          <a:xfrm rot="-1199928">
            <a:off x="4892446" y="951693"/>
            <a:ext cx="3649995" cy="3649995"/>
          </a:xfrm>
          <a:prstGeom prst="pie">
            <a:avLst>
              <a:gd name="adj1" fmla="val 18626970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9" name="Google Shape;1059;p73"/>
          <p:cNvSpPr/>
          <p:nvPr/>
        </p:nvSpPr>
        <p:spPr>
          <a:xfrm>
            <a:off x="4888688" y="950689"/>
            <a:ext cx="3650100" cy="3650400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0" name="Google Shape;1060;p73"/>
          <p:cNvSpPr/>
          <p:nvPr/>
        </p:nvSpPr>
        <p:spPr>
          <a:xfrm rot="1199928">
            <a:off x="4892653" y="950585"/>
            <a:ext cx="3649995" cy="3649995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1" name="Google Shape;1061;p73"/>
          <p:cNvSpPr/>
          <p:nvPr/>
        </p:nvSpPr>
        <p:spPr>
          <a:xfrm rot="2399946">
            <a:off x="4892648" y="950664"/>
            <a:ext cx="3650263" cy="3650263"/>
          </a:xfrm>
          <a:prstGeom prst="pie">
            <a:avLst>
              <a:gd name="adj1" fmla="val 18626970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2" name="Google Shape;1062;p73"/>
          <p:cNvSpPr/>
          <p:nvPr/>
        </p:nvSpPr>
        <p:spPr>
          <a:xfrm rot="3599991">
            <a:off x="4892770" y="950689"/>
            <a:ext cx="3649783" cy="3649783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3" name="Google Shape;1063;p73"/>
          <p:cNvSpPr/>
          <p:nvPr/>
        </p:nvSpPr>
        <p:spPr>
          <a:xfrm rot="4799930">
            <a:off x="4892591" y="950770"/>
            <a:ext cx="3650066" cy="3650066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4" name="Google Shape;1064;p73"/>
          <p:cNvSpPr/>
          <p:nvPr/>
        </p:nvSpPr>
        <p:spPr>
          <a:xfrm rot="6000070">
            <a:off x="4888756" y="951704"/>
            <a:ext cx="3650066" cy="3650066"/>
          </a:xfrm>
          <a:prstGeom prst="pie">
            <a:avLst>
              <a:gd name="adj1" fmla="val 18626970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5" name="Google Shape;1065;p73"/>
          <p:cNvSpPr/>
          <p:nvPr/>
        </p:nvSpPr>
        <p:spPr>
          <a:xfrm rot="-4799979">
            <a:off x="4888575" y="950583"/>
            <a:ext cx="3650361" cy="3650361"/>
          </a:xfrm>
          <a:prstGeom prst="pie">
            <a:avLst>
              <a:gd name="adj1" fmla="val 18626970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6" name="Google Shape;1066;p73"/>
          <p:cNvSpPr/>
          <p:nvPr/>
        </p:nvSpPr>
        <p:spPr>
          <a:xfrm rot="7200009">
            <a:off x="4892971" y="951803"/>
            <a:ext cx="3649783" cy="3649783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7" name="Google Shape;1067;p73"/>
          <p:cNvSpPr/>
          <p:nvPr/>
        </p:nvSpPr>
        <p:spPr>
          <a:xfrm rot="9599975">
            <a:off x="4893012" y="951828"/>
            <a:ext cx="3649714" cy="3649714"/>
          </a:xfrm>
          <a:prstGeom prst="pie">
            <a:avLst>
              <a:gd name="adj1" fmla="val 18626970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8" name="Google Shape;1068;p73"/>
          <p:cNvSpPr/>
          <p:nvPr/>
        </p:nvSpPr>
        <p:spPr>
          <a:xfrm rot="10800000">
            <a:off x="4892782" y="951823"/>
            <a:ext cx="3649800" cy="3649800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9" name="Google Shape;1069;p73"/>
          <p:cNvSpPr/>
          <p:nvPr/>
        </p:nvSpPr>
        <p:spPr>
          <a:xfrm rot="-9600072">
            <a:off x="4888796" y="951917"/>
            <a:ext cx="3649995" cy="3649995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0" name="Google Shape;1070;p73"/>
          <p:cNvSpPr/>
          <p:nvPr/>
        </p:nvSpPr>
        <p:spPr>
          <a:xfrm rot="-8400054">
            <a:off x="4888547" y="950662"/>
            <a:ext cx="3650263" cy="3650263"/>
          </a:xfrm>
          <a:prstGeom prst="pie">
            <a:avLst>
              <a:gd name="adj1" fmla="val 18626970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1" name="Google Shape;1071;p73"/>
          <p:cNvSpPr/>
          <p:nvPr/>
        </p:nvSpPr>
        <p:spPr>
          <a:xfrm rot="-7199727">
            <a:off x="4888764" y="950709"/>
            <a:ext cx="3650303" cy="3650303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2" name="Google Shape;1072;p73"/>
          <p:cNvSpPr/>
          <p:nvPr/>
        </p:nvSpPr>
        <p:spPr>
          <a:xfrm rot="-6000021">
            <a:off x="4888615" y="950629"/>
            <a:ext cx="3650361" cy="3650361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3" name="Google Shape;1073;p73"/>
          <p:cNvSpPr/>
          <p:nvPr/>
        </p:nvSpPr>
        <p:spPr>
          <a:xfrm rot="-2399946">
            <a:off x="4888657" y="950766"/>
            <a:ext cx="3650263" cy="3650263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4" name="Google Shape;1074;p73"/>
          <p:cNvSpPr/>
          <p:nvPr/>
        </p:nvSpPr>
        <p:spPr>
          <a:xfrm rot="-3600273">
            <a:off x="4892450" y="950506"/>
            <a:ext cx="3650303" cy="3650303"/>
          </a:xfrm>
          <a:prstGeom prst="pie">
            <a:avLst>
              <a:gd name="adj1" fmla="val 18626970"/>
              <a:gd name="adj2" fmla="val 19793024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5" name="Google Shape;1075;p73"/>
          <p:cNvSpPr txBox="1"/>
          <p:nvPr/>
        </p:nvSpPr>
        <p:spPr>
          <a:xfrm>
            <a:off x="6688106" y="1030993"/>
            <a:ext cx="74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M+1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6" name="Google Shape;1076;p73"/>
          <p:cNvGrpSpPr/>
          <p:nvPr/>
        </p:nvGrpSpPr>
        <p:grpSpPr>
          <a:xfrm>
            <a:off x="6610968" y="1061702"/>
            <a:ext cx="205744" cy="1789624"/>
            <a:chOff x="996050" y="213293"/>
            <a:chExt cx="93900" cy="909732"/>
          </a:xfrm>
        </p:grpSpPr>
        <p:cxnSp>
          <p:nvCxnSpPr>
            <p:cNvPr id="1077" name="Google Shape;1077;p7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78" name="Google Shape;1078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79" name="Google Shape;1079;p73"/>
          <p:cNvSpPr txBox="1"/>
          <p:nvPr/>
        </p:nvSpPr>
        <p:spPr>
          <a:xfrm>
            <a:off x="7240600" y="1223725"/>
            <a:ext cx="63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M-1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3"/>
          <p:cNvSpPr txBox="1"/>
          <p:nvPr/>
        </p:nvSpPr>
        <p:spPr>
          <a:xfrm>
            <a:off x="7599125" y="1598775"/>
            <a:ext cx="68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B+1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3"/>
          <p:cNvSpPr txBox="1"/>
          <p:nvPr/>
        </p:nvSpPr>
        <p:spPr>
          <a:xfrm>
            <a:off x="7883907" y="2025950"/>
            <a:ext cx="56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B-1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3"/>
          <p:cNvSpPr txBox="1"/>
          <p:nvPr/>
        </p:nvSpPr>
        <p:spPr>
          <a:xfrm>
            <a:off x="7955100" y="2595525"/>
            <a:ext cx="68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P+1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3"/>
          <p:cNvSpPr txBox="1"/>
          <p:nvPr/>
        </p:nvSpPr>
        <p:spPr>
          <a:xfrm>
            <a:off x="7874233" y="3093884"/>
            <a:ext cx="56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P-1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73"/>
          <p:cNvSpPr txBox="1"/>
          <p:nvPr/>
        </p:nvSpPr>
        <p:spPr>
          <a:xfrm>
            <a:off x="7589450" y="3521050"/>
            <a:ext cx="68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M+3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3"/>
          <p:cNvSpPr txBox="1"/>
          <p:nvPr/>
        </p:nvSpPr>
        <p:spPr>
          <a:xfrm>
            <a:off x="7204450" y="3867350"/>
            <a:ext cx="63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M-3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3"/>
          <p:cNvSpPr txBox="1"/>
          <p:nvPr/>
        </p:nvSpPr>
        <p:spPr>
          <a:xfrm>
            <a:off x="6706073" y="4009750"/>
            <a:ext cx="70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B+3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73"/>
          <p:cNvSpPr txBox="1"/>
          <p:nvPr/>
        </p:nvSpPr>
        <p:spPr>
          <a:xfrm>
            <a:off x="6188366" y="4080948"/>
            <a:ext cx="56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B-3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73"/>
          <p:cNvSpPr txBox="1"/>
          <p:nvPr/>
        </p:nvSpPr>
        <p:spPr>
          <a:xfrm>
            <a:off x="5690001" y="3899875"/>
            <a:ext cx="70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P+3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3"/>
          <p:cNvSpPr txBox="1"/>
          <p:nvPr/>
        </p:nvSpPr>
        <p:spPr>
          <a:xfrm>
            <a:off x="5282168" y="3566715"/>
            <a:ext cx="56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P-3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73"/>
          <p:cNvSpPr txBox="1"/>
          <p:nvPr/>
        </p:nvSpPr>
        <p:spPr>
          <a:xfrm>
            <a:off x="5029903" y="3068350"/>
            <a:ext cx="70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M+5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73"/>
          <p:cNvSpPr txBox="1"/>
          <p:nvPr/>
        </p:nvSpPr>
        <p:spPr>
          <a:xfrm>
            <a:off x="4958702" y="2569975"/>
            <a:ext cx="70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M-5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73"/>
          <p:cNvSpPr txBox="1"/>
          <p:nvPr/>
        </p:nvSpPr>
        <p:spPr>
          <a:xfrm>
            <a:off x="5029903" y="2071600"/>
            <a:ext cx="70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B+5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3"/>
          <p:cNvSpPr txBox="1"/>
          <p:nvPr/>
        </p:nvSpPr>
        <p:spPr>
          <a:xfrm>
            <a:off x="5243475" y="1573239"/>
            <a:ext cx="56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B-5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3"/>
          <p:cNvSpPr txBox="1"/>
          <p:nvPr/>
        </p:nvSpPr>
        <p:spPr>
          <a:xfrm>
            <a:off x="5670650" y="1217250"/>
            <a:ext cx="68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P+5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3"/>
          <p:cNvSpPr txBox="1"/>
          <p:nvPr/>
        </p:nvSpPr>
        <p:spPr>
          <a:xfrm>
            <a:off x="6178692" y="1045850"/>
            <a:ext cx="56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P-5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6" name="Google Shape;1096;p73"/>
          <p:cNvGrpSpPr/>
          <p:nvPr/>
        </p:nvGrpSpPr>
        <p:grpSpPr>
          <a:xfrm>
            <a:off x="2149137" y="2005780"/>
            <a:ext cx="1275000" cy="1275000"/>
            <a:chOff x="7483137" y="634180"/>
            <a:chExt cx="1275000" cy="1275000"/>
          </a:xfrm>
        </p:grpSpPr>
        <p:sp>
          <p:nvSpPr>
            <p:cNvPr id="1097" name="Google Shape;1097;p73"/>
            <p:cNvSpPr/>
            <p:nvPr/>
          </p:nvSpPr>
          <p:spPr>
            <a:xfrm>
              <a:off x="7645919" y="797045"/>
              <a:ext cx="948900" cy="948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8" name="Google Shape;1098;p73"/>
            <p:cNvSpPr/>
            <p:nvPr/>
          </p:nvSpPr>
          <p:spPr>
            <a:xfrm rot="7199783">
              <a:off x="7654234" y="805363"/>
              <a:ext cx="932502" cy="932502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9" name="Google Shape;1099;p73"/>
            <p:cNvSpPr/>
            <p:nvPr/>
          </p:nvSpPr>
          <p:spPr>
            <a:xfrm rot="-7211167">
              <a:off x="7654358" y="805401"/>
              <a:ext cx="932558" cy="932558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0" name="Google Shape;1100;p73"/>
            <p:cNvSpPr/>
            <p:nvPr/>
          </p:nvSpPr>
          <p:spPr>
            <a:xfrm>
              <a:off x="7654244" y="805404"/>
              <a:ext cx="932400" cy="932700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1" name="Google Shape;1101;p73"/>
            <p:cNvSpPr txBox="1"/>
            <p:nvPr/>
          </p:nvSpPr>
          <p:spPr>
            <a:xfrm>
              <a:off x="7977388" y="1366865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2" name="Google Shape;1102;p73"/>
            <p:cNvSpPr txBox="1"/>
            <p:nvPr/>
          </p:nvSpPr>
          <p:spPr>
            <a:xfrm>
              <a:off x="7721548" y="949540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03" name="Google Shape;1103;p73"/>
            <p:cNvGrpSpPr/>
            <p:nvPr/>
          </p:nvGrpSpPr>
          <p:grpSpPr>
            <a:xfrm>
              <a:off x="8093217" y="844471"/>
              <a:ext cx="52546" cy="457140"/>
              <a:chOff x="996050" y="213293"/>
              <a:chExt cx="93900" cy="909732"/>
            </a:xfrm>
          </p:grpSpPr>
          <p:cxnSp>
            <p:nvCxnSpPr>
              <p:cNvPr id="1104" name="Google Shape;1104;p73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05" name="Google Shape;1105;p73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06" name="Google Shape;1106;p73"/>
          <p:cNvGrpSpPr/>
          <p:nvPr/>
        </p:nvGrpSpPr>
        <p:grpSpPr>
          <a:xfrm>
            <a:off x="1118000" y="2168645"/>
            <a:ext cx="948900" cy="948900"/>
            <a:chOff x="6452000" y="797045"/>
            <a:chExt cx="948900" cy="948900"/>
          </a:xfrm>
        </p:grpSpPr>
        <p:sp>
          <p:nvSpPr>
            <p:cNvPr id="1107" name="Google Shape;1107;p73"/>
            <p:cNvSpPr/>
            <p:nvPr/>
          </p:nvSpPr>
          <p:spPr>
            <a:xfrm>
              <a:off x="6452000" y="797045"/>
              <a:ext cx="948900" cy="9489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8" name="Google Shape;1108;p73"/>
            <p:cNvSpPr/>
            <p:nvPr/>
          </p:nvSpPr>
          <p:spPr>
            <a:xfrm flipH="1">
              <a:off x="6460360" y="805305"/>
              <a:ext cx="932400" cy="932700"/>
            </a:xfrm>
            <a:prstGeom prst="pie">
              <a:avLst>
                <a:gd name="adj1" fmla="val 5387953"/>
                <a:gd name="adj2" fmla="val 16200000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09" name="Google Shape;1109;p73"/>
            <p:cNvSpPr/>
            <p:nvPr/>
          </p:nvSpPr>
          <p:spPr>
            <a:xfrm>
              <a:off x="6460260" y="805305"/>
              <a:ext cx="932400" cy="932700"/>
            </a:xfrm>
            <a:prstGeom prst="pie">
              <a:avLst>
                <a:gd name="adj1" fmla="val 5387953"/>
                <a:gd name="adj2" fmla="val 16200000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0" name="Google Shape;1110;p73"/>
            <p:cNvSpPr txBox="1"/>
            <p:nvPr/>
          </p:nvSpPr>
          <p:spPr>
            <a:xfrm>
              <a:off x="6545115" y="1077462"/>
              <a:ext cx="319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-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1" name="Google Shape;1111;p73"/>
            <p:cNvSpPr txBox="1"/>
            <p:nvPr/>
          </p:nvSpPr>
          <p:spPr>
            <a:xfrm>
              <a:off x="6996669" y="1077462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12" name="Google Shape;1112;p73"/>
            <p:cNvGrpSpPr/>
            <p:nvPr/>
          </p:nvGrpSpPr>
          <p:grpSpPr>
            <a:xfrm>
              <a:off x="6899297" y="848846"/>
              <a:ext cx="52546" cy="457140"/>
              <a:chOff x="996050" y="213293"/>
              <a:chExt cx="93900" cy="909732"/>
            </a:xfrm>
          </p:grpSpPr>
          <p:cxnSp>
            <p:nvCxnSpPr>
              <p:cNvPr id="1113" name="Google Shape;1113;p73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14" name="Google Shape;1114;p73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15" name="Google Shape;1115;p73"/>
          <p:cNvSpPr/>
          <p:nvPr/>
        </p:nvSpPr>
        <p:spPr>
          <a:xfrm>
            <a:off x="1702319" y="3159245"/>
            <a:ext cx="948900" cy="948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6" name="Google Shape;1116;p73"/>
          <p:cNvSpPr/>
          <p:nvPr/>
        </p:nvSpPr>
        <p:spPr>
          <a:xfrm rot="7199783">
            <a:off x="1710634" y="3167563"/>
            <a:ext cx="932502" cy="93250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7" name="Google Shape;1117;p73"/>
          <p:cNvSpPr/>
          <p:nvPr/>
        </p:nvSpPr>
        <p:spPr>
          <a:xfrm rot="-7211167">
            <a:off x="1710758" y="3167601"/>
            <a:ext cx="932558" cy="932558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8" name="Google Shape;1118;p73"/>
          <p:cNvSpPr/>
          <p:nvPr/>
        </p:nvSpPr>
        <p:spPr>
          <a:xfrm>
            <a:off x="1710644" y="3167604"/>
            <a:ext cx="932400" cy="9327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9" name="Google Shape;1119;p73"/>
          <p:cNvSpPr txBox="1"/>
          <p:nvPr/>
        </p:nvSpPr>
        <p:spPr>
          <a:xfrm>
            <a:off x="2280548" y="3311740"/>
            <a:ext cx="35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73"/>
          <p:cNvSpPr txBox="1"/>
          <p:nvPr/>
        </p:nvSpPr>
        <p:spPr>
          <a:xfrm>
            <a:off x="2000763" y="3663790"/>
            <a:ext cx="35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73"/>
          <p:cNvSpPr txBox="1"/>
          <p:nvPr/>
        </p:nvSpPr>
        <p:spPr>
          <a:xfrm>
            <a:off x="1777948" y="3311740"/>
            <a:ext cx="35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2" name="Google Shape;1122;p73"/>
          <p:cNvGrpSpPr/>
          <p:nvPr/>
        </p:nvGrpSpPr>
        <p:grpSpPr>
          <a:xfrm>
            <a:off x="2149617" y="3206671"/>
            <a:ext cx="52546" cy="457140"/>
            <a:chOff x="996050" y="213293"/>
            <a:chExt cx="93900" cy="909732"/>
          </a:xfrm>
        </p:grpSpPr>
        <p:cxnSp>
          <p:nvCxnSpPr>
            <p:cNvPr id="1123" name="Google Shape;1123;p7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24" name="Google Shape;1124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25" name="Google Shape;1125;p73"/>
          <p:cNvSpPr txBox="1"/>
          <p:nvPr/>
        </p:nvSpPr>
        <p:spPr>
          <a:xfrm>
            <a:off x="2825041" y="2302125"/>
            <a:ext cx="35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20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9" name="Shape 1129"/>
        <p:cNvGrpSpPr/>
        <p:nvPr/>
      </p:nvGrpSpPr>
      <p:grpSpPr>
        <a:xfrm>
          <a:off x="0" y="0"/>
          <a:ext cx="0" cy="0"/>
        </a:xfrm>
      </p:grpSpPr>
      <p:sp>
        <p:nvSpPr>
          <p:cNvPr id="1130" name="Google Shape;113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131" name="Google Shape;1131;p74"/>
          <p:cNvSpPr txBox="1"/>
          <p:nvPr/>
        </p:nvSpPr>
        <p:spPr>
          <a:xfrm>
            <a:off x="324000" y="802950"/>
            <a:ext cx="84960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fair six-sided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dice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going to be rolled, this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spinner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going to be spun and a fair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coin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going to be flipped.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of 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dice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{1, 2, 3, 4, 5, 6}.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of 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spinner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{A, B, C}.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of 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coin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{H, T}.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list all the possible outcomes of the multi-stage trial, we should do it systematically.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4"/>
          <p:cNvSpPr txBox="1"/>
          <p:nvPr/>
        </p:nvSpPr>
        <p:spPr>
          <a:xfrm>
            <a:off x="324000" y="33932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instance, keeping the outcome of the dice the same, then the spinner and then the coin.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3" name="Google Shape;1133;p74"/>
          <p:cNvGrpSpPr/>
          <p:nvPr/>
        </p:nvGrpSpPr>
        <p:grpSpPr>
          <a:xfrm>
            <a:off x="7330737" y="1015180"/>
            <a:ext cx="1275000" cy="1275000"/>
            <a:chOff x="7483137" y="634180"/>
            <a:chExt cx="1275000" cy="1275000"/>
          </a:xfrm>
        </p:grpSpPr>
        <p:sp>
          <p:nvSpPr>
            <p:cNvPr id="1134" name="Google Shape;1134;p74"/>
            <p:cNvSpPr/>
            <p:nvPr/>
          </p:nvSpPr>
          <p:spPr>
            <a:xfrm>
              <a:off x="7645919" y="797045"/>
              <a:ext cx="948900" cy="948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5" name="Google Shape;1135;p74"/>
            <p:cNvSpPr/>
            <p:nvPr/>
          </p:nvSpPr>
          <p:spPr>
            <a:xfrm rot="7199783">
              <a:off x="7654234" y="805363"/>
              <a:ext cx="932502" cy="932502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6" name="Google Shape;1136;p74"/>
            <p:cNvSpPr/>
            <p:nvPr/>
          </p:nvSpPr>
          <p:spPr>
            <a:xfrm rot="-7211167">
              <a:off x="7654358" y="805401"/>
              <a:ext cx="932558" cy="932558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7" name="Google Shape;1137;p74"/>
            <p:cNvSpPr/>
            <p:nvPr/>
          </p:nvSpPr>
          <p:spPr>
            <a:xfrm>
              <a:off x="7654244" y="805404"/>
              <a:ext cx="932400" cy="932700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8" name="Google Shape;1138;p74"/>
            <p:cNvSpPr txBox="1"/>
            <p:nvPr/>
          </p:nvSpPr>
          <p:spPr>
            <a:xfrm>
              <a:off x="8224148" y="949540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9" name="Google Shape;1139;p74"/>
            <p:cNvSpPr txBox="1"/>
            <p:nvPr/>
          </p:nvSpPr>
          <p:spPr>
            <a:xfrm>
              <a:off x="7977388" y="1366865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0" name="Google Shape;1140;p74"/>
            <p:cNvSpPr txBox="1"/>
            <p:nvPr/>
          </p:nvSpPr>
          <p:spPr>
            <a:xfrm>
              <a:off x="7721548" y="949540"/>
              <a:ext cx="352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41" name="Google Shape;1141;p74"/>
            <p:cNvGrpSpPr/>
            <p:nvPr/>
          </p:nvGrpSpPr>
          <p:grpSpPr>
            <a:xfrm>
              <a:off x="8093217" y="844471"/>
              <a:ext cx="52546" cy="457140"/>
              <a:chOff x="996050" y="213293"/>
              <a:chExt cx="93900" cy="909732"/>
            </a:xfrm>
          </p:grpSpPr>
          <p:cxnSp>
            <p:nvCxnSpPr>
              <p:cNvPr id="1142" name="Google Shape;1142;p74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43" name="Google Shape;1143;p74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7" name="Shape 1147"/>
        <p:cNvGrpSpPr/>
        <p:nvPr/>
      </p:nvGrpSpPr>
      <p:grpSpPr>
        <a:xfrm>
          <a:off x="0" y="0"/>
          <a:ext cx="0" cy="0"/>
        </a:xfrm>
      </p:grpSpPr>
      <p:sp>
        <p:nvSpPr>
          <p:cNvPr id="1148" name="Google Shape;114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149" name="Google Shape;1149;p75"/>
          <p:cNvSpPr txBox="1"/>
          <p:nvPr/>
        </p:nvSpPr>
        <p:spPr>
          <a:xfrm>
            <a:off x="324000" y="802950"/>
            <a:ext cx="8496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of 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dice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{1, 2, 3, 4, 5, 6}.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of 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spinner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{A, B, C}.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of 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coin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{H, T}.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75"/>
          <p:cNvSpPr txBox="1"/>
          <p:nvPr/>
        </p:nvSpPr>
        <p:spPr>
          <a:xfrm>
            <a:off x="324000" y="2017650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75"/>
          <p:cNvSpPr txBox="1"/>
          <p:nvPr/>
        </p:nvSpPr>
        <p:spPr>
          <a:xfrm>
            <a:off x="400200" y="2343925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75"/>
          <p:cNvSpPr txBox="1"/>
          <p:nvPr/>
        </p:nvSpPr>
        <p:spPr>
          <a:xfrm>
            <a:off x="400200" y="2702783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75"/>
          <p:cNvSpPr txBox="1"/>
          <p:nvPr/>
        </p:nvSpPr>
        <p:spPr>
          <a:xfrm>
            <a:off x="400200" y="3043183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75"/>
          <p:cNvSpPr txBox="1"/>
          <p:nvPr/>
        </p:nvSpPr>
        <p:spPr>
          <a:xfrm>
            <a:off x="400200" y="3400954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75"/>
          <p:cNvSpPr txBox="1"/>
          <p:nvPr/>
        </p:nvSpPr>
        <p:spPr>
          <a:xfrm>
            <a:off x="400200" y="3753299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75"/>
          <p:cNvSpPr txBox="1"/>
          <p:nvPr/>
        </p:nvSpPr>
        <p:spPr>
          <a:xfrm>
            <a:off x="400200" y="4105650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75"/>
          <p:cNvSpPr txBox="1"/>
          <p:nvPr/>
        </p:nvSpPr>
        <p:spPr>
          <a:xfrm>
            <a:off x="580613" y="2343925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75"/>
          <p:cNvSpPr txBox="1"/>
          <p:nvPr/>
        </p:nvSpPr>
        <p:spPr>
          <a:xfrm>
            <a:off x="580860" y="2702783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75"/>
          <p:cNvSpPr txBox="1"/>
          <p:nvPr/>
        </p:nvSpPr>
        <p:spPr>
          <a:xfrm>
            <a:off x="581107" y="3043183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75"/>
          <p:cNvSpPr txBox="1"/>
          <p:nvPr/>
        </p:nvSpPr>
        <p:spPr>
          <a:xfrm>
            <a:off x="581355" y="3400954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75"/>
          <p:cNvSpPr txBox="1"/>
          <p:nvPr/>
        </p:nvSpPr>
        <p:spPr>
          <a:xfrm>
            <a:off x="581603" y="3753299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75"/>
          <p:cNvSpPr txBox="1"/>
          <p:nvPr/>
        </p:nvSpPr>
        <p:spPr>
          <a:xfrm>
            <a:off x="581850" y="4105650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75"/>
          <p:cNvSpPr txBox="1"/>
          <p:nvPr/>
        </p:nvSpPr>
        <p:spPr>
          <a:xfrm>
            <a:off x="761025" y="2343925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5"/>
          <p:cNvSpPr txBox="1"/>
          <p:nvPr/>
        </p:nvSpPr>
        <p:spPr>
          <a:xfrm>
            <a:off x="761025" y="2702783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75"/>
          <p:cNvSpPr txBox="1"/>
          <p:nvPr/>
        </p:nvSpPr>
        <p:spPr>
          <a:xfrm>
            <a:off x="761025" y="3043183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75"/>
          <p:cNvSpPr txBox="1"/>
          <p:nvPr/>
        </p:nvSpPr>
        <p:spPr>
          <a:xfrm>
            <a:off x="761025" y="3400954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5"/>
          <p:cNvSpPr txBox="1"/>
          <p:nvPr/>
        </p:nvSpPr>
        <p:spPr>
          <a:xfrm>
            <a:off x="761025" y="4105650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5"/>
          <p:cNvSpPr txBox="1"/>
          <p:nvPr/>
        </p:nvSpPr>
        <p:spPr>
          <a:xfrm>
            <a:off x="761025" y="3753299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75"/>
          <p:cNvSpPr txBox="1"/>
          <p:nvPr/>
        </p:nvSpPr>
        <p:spPr>
          <a:xfrm>
            <a:off x="1238400" y="2343925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75"/>
          <p:cNvSpPr txBox="1"/>
          <p:nvPr/>
        </p:nvSpPr>
        <p:spPr>
          <a:xfrm>
            <a:off x="1238400" y="2702783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75"/>
          <p:cNvSpPr txBox="1"/>
          <p:nvPr/>
        </p:nvSpPr>
        <p:spPr>
          <a:xfrm>
            <a:off x="1418813" y="2343925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75"/>
          <p:cNvSpPr txBox="1"/>
          <p:nvPr/>
        </p:nvSpPr>
        <p:spPr>
          <a:xfrm>
            <a:off x="1419060" y="2702783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75"/>
          <p:cNvSpPr txBox="1"/>
          <p:nvPr/>
        </p:nvSpPr>
        <p:spPr>
          <a:xfrm>
            <a:off x="1599225" y="2343925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75"/>
          <p:cNvSpPr txBox="1"/>
          <p:nvPr/>
        </p:nvSpPr>
        <p:spPr>
          <a:xfrm>
            <a:off x="1599225" y="2702783"/>
            <a:ext cx="42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5" name="Google Shape;1175;p75"/>
          <p:cNvGrpSpPr/>
          <p:nvPr/>
        </p:nvGrpSpPr>
        <p:grpSpPr>
          <a:xfrm>
            <a:off x="1238400" y="3043182"/>
            <a:ext cx="782925" cy="1339668"/>
            <a:chOff x="1238400" y="3043183"/>
            <a:chExt cx="782925" cy="1339668"/>
          </a:xfrm>
        </p:grpSpPr>
        <p:sp>
          <p:nvSpPr>
            <p:cNvPr id="1176" name="Google Shape;1176;p75"/>
            <p:cNvSpPr txBox="1"/>
            <p:nvPr/>
          </p:nvSpPr>
          <p:spPr>
            <a:xfrm>
              <a:off x="1238400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7" name="Google Shape;1177;p75"/>
            <p:cNvSpPr txBox="1"/>
            <p:nvPr/>
          </p:nvSpPr>
          <p:spPr>
            <a:xfrm>
              <a:off x="1238400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8" name="Google Shape;1178;p75"/>
            <p:cNvSpPr txBox="1"/>
            <p:nvPr/>
          </p:nvSpPr>
          <p:spPr>
            <a:xfrm>
              <a:off x="1238400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9" name="Google Shape;1179;p75"/>
            <p:cNvSpPr txBox="1"/>
            <p:nvPr/>
          </p:nvSpPr>
          <p:spPr>
            <a:xfrm>
              <a:off x="1238400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0" name="Google Shape;1180;p75"/>
            <p:cNvSpPr txBox="1"/>
            <p:nvPr/>
          </p:nvSpPr>
          <p:spPr>
            <a:xfrm>
              <a:off x="1419308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1" name="Google Shape;1181;p75"/>
            <p:cNvSpPr txBox="1"/>
            <p:nvPr/>
          </p:nvSpPr>
          <p:spPr>
            <a:xfrm>
              <a:off x="1419555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75"/>
            <p:cNvSpPr txBox="1"/>
            <p:nvPr/>
          </p:nvSpPr>
          <p:spPr>
            <a:xfrm>
              <a:off x="1419802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3" name="Google Shape;1183;p75"/>
            <p:cNvSpPr txBox="1"/>
            <p:nvPr/>
          </p:nvSpPr>
          <p:spPr>
            <a:xfrm>
              <a:off x="1420050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4" name="Google Shape;1184;p75"/>
            <p:cNvSpPr txBox="1"/>
            <p:nvPr/>
          </p:nvSpPr>
          <p:spPr>
            <a:xfrm>
              <a:off x="1599225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75"/>
            <p:cNvSpPr txBox="1"/>
            <p:nvPr/>
          </p:nvSpPr>
          <p:spPr>
            <a:xfrm>
              <a:off x="1599225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75"/>
            <p:cNvSpPr txBox="1"/>
            <p:nvPr/>
          </p:nvSpPr>
          <p:spPr>
            <a:xfrm>
              <a:off x="1599225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7" name="Google Shape;1187;p75"/>
            <p:cNvSpPr txBox="1"/>
            <p:nvPr/>
          </p:nvSpPr>
          <p:spPr>
            <a:xfrm>
              <a:off x="1599225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75"/>
          <p:cNvGrpSpPr/>
          <p:nvPr/>
        </p:nvGrpSpPr>
        <p:grpSpPr>
          <a:xfrm>
            <a:off x="2076600" y="2343925"/>
            <a:ext cx="3449925" cy="2038925"/>
            <a:chOff x="2076600" y="2343925"/>
            <a:chExt cx="3449925" cy="2038925"/>
          </a:xfrm>
        </p:grpSpPr>
        <p:sp>
          <p:nvSpPr>
            <p:cNvPr id="1189" name="Google Shape;1189;p75"/>
            <p:cNvSpPr txBox="1"/>
            <p:nvPr/>
          </p:nvSpPr>
          <p:spPr>
            <a:xfrm>
              <a:off x="2076600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0" name="Google Shape;1190;p75"/>
            <p:cNvSpPr txBox="1"/>
            <p:nvPr/>
          </p:nvSpPr>
          <p:spPr>
            <a:xfrm>
              <a:off x="2076600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1" name="Google Shape;1191;p75"/>
            <p:cNvSpPr txBox="1"/>
            <p:nvPr/>
          </p:nvSpPr>
          <p:spPr>
            <a:xfrm>
              <a:off x="2076600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75"/>
            <p:cNvSpPr txBox="1"/>
            <p:nvPr/>
          </p:nvSpPr>
          <p:spPr>
            <a:xfrm>
              <a:off x="2076600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75"/>
            <p:cNvSpPr txBox="1"/>
            <p:nvPr/>
          </p:nvSpPr>
          <p:spPr>
            <a:xfrm>
              <a:off x="2076600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75"/>
            <p:cNvSpPr txBox="1"/>
            <p:nvPr/>
          </p:nvSpPr>
          <p:spPr>
            <a:xfrm>
              <a:off x="2076600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5" name="Google Shape;1195;p75"/>
            <p:cNvSpPr txBox="1"/>
            <p:nvPr/>
          </p:nvSpPr>
          <p:spPr>
            <a:xfrm>
              <a:off x="2257013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6" name="Google Shape;1196;p75"/>
            <p:cNvSpPr txBox="1"/>
            <p:nvPr/>
          </p:nvSpPr>
          <p:spPr>
            <a:xfrm>
              <a:off x="2257260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7" name="Google Shape;1197;p75"/>
            <p:cNvSpPr txBox="1"/>
            <p:nvPr/>
          </p:nvSpPr>
          <p:spPr>
            <a:xfrm>
              <a:off x="2257508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8" name="Google Shape;1198;p75"/>
            <p:cNvSpPr txBox="1"/>
            <p:nvPr/>
          </p:nvSpPr>
          <p:spPr>
            <a:xfrm>
              <a:off x="2257755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75"/>
            <p:cNvSpPr txBox="1"/>
            <p:nvPr/>
          </p:nvSpPr>
          <p:spPr>
            <a:xfrm>
              <a:off x="2258003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0" name="Google Shape;1200;p75"/>
            <p:cNvSpPr txBox="1"/>
            <p:nvPr/>
          </p:nvSpPr>
          <p:spPr>
            <a:xfrm>
              <a:off x="2258250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1" name="Google Shape;1201;p75"/>
            <p:cNvSpPr txBox="1"/>
            <p:nvPr/>
          </p:nvSpPr>
          <p:spPr>
            <a:xfrm>
              <a:off x="2437425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2" name="Google Shape;1202;p75"/>
            <p:cNvSpPr txBox="1"/>
            <p:nvPr/>
          </p:nvSpPr>
          <p:spPr>
            <a:xfrm>
              <a:off x="2437425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3" name="Google Shape;1203;p75"/>
            <p:cNvSpPr txBox="1"/>
            <p:nvPr/>
          </p:nvSpPr>
          <p:spPr>
            <a:xfrm>
              <a:off x="2437425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4" name="Google Shape;1204;p75"/>
            <p:cNvSpPr txBox="1"/>
            <p:nvPr/>
          </p:nvSpPr>
          <p:spPr>
            <a:xfrm>
              <a:off x="2437425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75"/>
            <p:cNvSpPr txBox="1"/>
            <p:nvPr/>
          </p:nvSpPr>
          <p:spPr>
            <a:xfrm>
              <a:off x="2437425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6" name="Google Shape;1206;p75"/>
            <p:cNvSpPr txBox="1"/>
            <p:nvPr/>
          </p:nvSpPr>
          <p:spPr>
            <a:xfrm>
              <a:off x="2437425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7" name="Google Shape;1207;p75"/>
            <p:cNvSpPr txBox="1"/>
            <p:nvPr/>
          </p:nvSpPr>
          <p:spPr>
            <a:xfrm>
              <a:off x="2914800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8" name="Google Shape;1208;p75"/>
            <p:cNvSpPr txBox="1"/>
            <p:nvPr/>
          </p:nvSpPr>
          <p:spPr>
            <a:xfrm>
              <a:off x="2914800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9" name="Google Shape;1209;p75"/>
            <p:cNvSpPr txBox="1"/>
            <p:nvPr/>
          </p:nvSpPr>
          <p:spPr>
            <a:xfrm>
              <a:off x="2914800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0" name="Google Shape;1210;p75"/>
            <p:cNvSpPr txBox="1"/>
            <p:nvPr/>
          </p:nvSpPr>
          <p:spPr>
            <a:xfrm>
              <a:off x="2914800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1" name="Google Shape;1211;p75"/>
            <p:cNvSpPr txBox="1"/>
            <p:nvPr/>
          </p:nvSpPr>
          <p:spPr>
            <a:xfrm>
              <a:off x="2914800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2" name="Google Shape;1212;p75"/>
            <p:cNvSpPr txBox="1"/>
            <p:nvPr/>
          </p:nvSpPr>
          <p:spPr>
            <a:xfrm>
              <a:off x="2914800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75"/>
            <p:cNvSpPr txBox="1"/>
            <p:nvPr/>
          </p:nvSpPr>
          <p:spPr>
            <a:xfrm>
              <a:off x="3095213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75"/>
            <p:cNvSpPr txBox="1"/>
            <p:nvPr/>
          </p:nvSpPr>
          <p:spPr>
            <a:xfrm>
              <a:off x="3095460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75"/>
            <p:cNvSpPr txBox="1"/>
            <p:nvPr/>
          </p:nvSpPr>
          <p:spPr>
            <a:xfrm>
              <a:off x="3095707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75"/>
            <p:cNvSpPr txBox="1"/>
            <p:nvPr/>
          </p:nvSpPr>
          <p:spPr>
            <a:xfrm>
              <a:off x="3095955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7" name="Google Shape;1217;p75"/>
            <p:cNvSpPr txBox="1"/>
            <p:nvPr/>
          </p:nvSpPr>
          <p:spPr>
            <a:xfrm>
              <a:off x="3096203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8" name="Google Shape;1218;p75"/>
            <p:cNvSpPr txBox="1"/>
            <p:nvPr/>
          </p:nvSpPr>
          <p:spPr>
            <a:xfrm>
              <a:off x="3096450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9" name="Google Shape;1219;p75"/>
            <p:cNvSpPr txBox="1"/>
            <p:nvPr/>
          </p:nvSpPr>
          <p:spPr>
            <a:xfrm>
              <a:off x="3275625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0" name="Google Shape;1220;p75"/>
            <p:cNvSpPr txBox="1"/>
            <p:nvPr/>
          </p:nvSpPr>
          <p:spPr>
            <a:xfrm>
              <a:off x="3275625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75"/>
            <p:cNvSpPr txBox="1"/>
            <p:nvPr/>
          </p:nvSpPr>
          <p:spPr>
            <a:xfrm>
              <a:off x="3275625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2" name="Google Shape;1222;p75"/>
            <p:cNvSpPr txBox="1"/>
            <p:nvPr/>
          </p:nvSpPr>
          <p:spPr>
            <a:xfrm>
              <a:off x="3275625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3" name="Google Shape;1223;p75"/>
            <p:cNvSpPr txBox="1"/>
            <p:nvPr/>
          </p:nvSpPr>
          <p:spPr>
            <a:xfrm>
              <a:off x="3275625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75"/>
            <p:cNvSpPr txBox="1"/>
            <p:nvPr/>
          </p:nvSpPr>
          <p:spPr>
            <a:xfrm>
              <a:off x="3275625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75"/>
            <p:cNvSpPr txBox="1"/>
            <p:nvPr/>
          </p:nvSpPr>
          <p:spPr>
            <a:xfrm>
              <a:off x="3753000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75"/>
            <p:cNvSpPr txBox="1"/>
            <p:nvPr/>
          </p:nvSpPr>
          <p:spPr>
            <a:xfrm>
              <a:off x="3753000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7" name="Google Shape;1227;p75"/>
            <p:cNvSpPr txBox="1"/>
            <p:nvPr/>
          </p:nvSpPr>
          <p:spPr>
            <a:xfrm>
              <a:off x="3753000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8" name="Google Shape;1228;p75"/>
            <p:cNvSpPr txBox="1"/>
            <p:nvPr/>
          </p:nvSpPr>
          <p:spPr>
            <a:xfrm>
              <a:off x="3753000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9" name="Google Shape;1229;p75"/>
            <p:cNvSpPr txBox="1"/>
            <p:nvPr/>
          </p:nvSpPr>
          <p:spPr>
            <a:xfrm>
              <a:off x="3753000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75"/>
            <p:cNvSpPr txBox="1"/>
            <p:nvPr/>
          </p:nvSpPr>
          <p:spPr>
            <a:xfrm>
              <a:off x="3753000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1" name="Google Shape;1231;p75"/>
            <p:cNvSpPr txBox="1"/>
            <p:nvPr/>
          </p:nvSpPr>
          <p:spPr>
            <a:xfrm>
              <a:off x="3933413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2" name="Google Shape;1232;p75"/>
            <p:cNvSpPr txBox="1"/>
            <p:nvPr/>
          </p:nvSpPr>
          <p:spPr>
            <a:xfrm>
              <a:off x="3933660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75"/>
            <p:cNvSpPr txBox="1"/>
            <p:nvPr/>
          </p:nvSpPr>
          <p:spPr>
            <a:xfrm>
              <a:off x="3933908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4" name="Google Shape;1234;p75"/>
            <p:cNvSpPr txBox="1"/>
            <p:nvPr/>
          </p:nvSpPr>
          <p:spPr>
            <a:xfrm>
              <a:off x="3934155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5" name="Google Shape;1235;p75"/>
            <p:cNvSpPr txBox="1"/>
            <p:nvPr/>
          </p:nvSpPr>
          <p:spPr>
            <a:xfrm>
              <a:off x="3934403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75"/>
            <p:cNvSpPr txBox="1"/>
            <p:nvPr/>
          </p:nvSpPr>
          <p:spPr>
            <a:xfrm>
              <a:off x="3934650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75"/>
            <p:cNvSpPr txBox="1"/>
            <p:nvPr/>
          </p:nvSpPr>
          <p:spPr>
            <a:xfrm>
              <a:off x="4113825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8" name="Google Shape;1238;p75"/>
            <p:cNvSpPr txBox="1"/>
            <p:nvPr/>
          </p:nvSpPr>
          <p:spPr>
            <a:xfrm>
              <a:off x="4113825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9" name="Google Shape;1239;p75"/>
            <p:cNvSpPr txBox="1"/>
            <p:nvPr/>
          </p:nvSpPr>
          <p:spPr>
            <a:xfrm>
              <a:off x="4113825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0" name="Google Shape;1240;p75"/>
            <p:cNvSpPr txBox="1"/>
            <p:nvPr/>
          </p:nvSpPr>
          <p:spPr>
            <a:xfrm>
              <a:off x="4113825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1" name="Google Shape;1241;p75"/>
            <p:cNvSpPr txBox="1"/>
            <p:nvPr/>
          </p:nvSpPr>
          <p:spPr>
            <a:xfrm>
              <a:off x="4113825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2" name="Google Shape;1242;p75"/>
            <p:cNvSpPr txBox="1"/>
            <p:nvPr/>
          </p:nvSpPr>
          <p:spPr>
            <a:xfrm>
              <a:off x="4113825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3" name="Google Shape;1243;p75"/>
            <p:cNvSpPr txBox="1"/>
            <p:nvPr/>
          </p:nvSpPr>
          <p:spPr>
            <a:xfrm>
              <a:off x="4743600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4" name="Google Shape;1244;p75"/>
            <p:cNvSpPr txBox="1"/>
            <p:nvPr/>
          </p:nvSpPr>
          <p:spPr>
            <a:xfrm>
              <a:off x="4743600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5" name="Google Shape;1245;p75"/>
            <p:cNvSpPr txBox="1"/>
            <p:nvPr/>
          </p:nvSpPr>
          <p:spPr>
            <a:xfrm>
              <a:off x="4743600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6" name="Google Shape;1246;p75"/>
            <p:cNvSpPr txBox="1"/>
            <p:nvPr/>
          </p:nvSpPr>
          <p:spPr>
            <a:xfrm>
              <a:off x="4743600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7" name="Google Shape;1247;p75"/>
            <p:cNvSpPr txBox="1"/>
            <p:nvPr/>
          </p:nvSpPr>
          <p:spPr>
            <a:xfrm>
              <a:off x="4743600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8" name="Google Shape;1248;p75"/>
            <p:cNvSpPr txBox="1"/>
            <p:nvPr/>
          </p:nvSpPr>
          <p:spPr>
            <a:xfrm>
              <a:off x="4743600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9" name="Google Shape;1249;p75"/>
            <p:cNvSpPr txBox="1"/>
            <p:nvPr/>
          </p:nvSpPr>
          <p:spPr>
            <a:xfrm>
              <a:off x="4924013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0" name="Google Shape;1250;p75"/>
            <p:cNvSpPr txBox="1"/>
            <p:nvPr/>
          </p:nvSpPr>
          <p:spPr>
            <a:xfrm>
              <a:off x="4924260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1" name="Google Shape;1251;p75"/>
            <p:cNvSpPr txBox="1"/>
            <p:nvPr/>
          </p:nvSpPr>
          <p:spPr>
            <a:xfrm>
              <a:off x="4924508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2" name="Google Shape;1252;p75"/>
            <p:cNvSpPr txBox="1"/>
            <p:nvPr/>
          </p:nvSpPr>
          <p:spPr>
            <a:xfrm>
              <a:off x="4924755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3" name="Google Shape;1253;p75"/>
            <p:cNvSpPr txBox="1"/>
            <p:nvPr/>
          </p:nvSpPr>
          <p:spPr>
            <a:xfrm>
              <a:off x="4925003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4" name="Google Shape;1254;p75"/>
            <p:cNvSpPr txBox="1"/>
            <p:nvPr/>
          </p:nvSpPr>
          <p:spPr>
            <a:xfrm>
              <a:off x="4925250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5" name="Google Shape;1255;p75"/>
            <p:cNvSpPr txBox="1"/>
            <p:nvPr/>
          </p:nvSpPr>
          <p:spPr>
            <a:xfrm>
              <a:off x="5104425" y="2343925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75"/>
            <p:cNvSpPr txBox="1"/>
            <p:nvPr/>
          </p:nvSpPr>
          <p:spPr>
            <a:xfrm>
              <a:off x="5104425" y="27027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75"/>
            <p:cNvSpPr txBox="1"/>
            <p:nvPr/>
          </p:nvSpPr>
          <p:spPr>
            <a:xfrm>
              <a:off x="5104425" y="3043183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8" name="Google Shape;1258;p75"/>
            <p:cNvSpPr txBox="1"/>
            <p:nvPr/>
          </p:nvSpPr>
          <p:spPr>
            <a:xfrm>
              <a:off x="5104425" y="3400954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9" name="Google Shape;1259;p75"/>
            <p:cNvSpPr txBox="1"/>
            <p:nvPr/>
          </p:nvSpPr>
          <p:spPr>
            <a:xfrm>
              <a:off x="5104425" y="4105650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0" name="Google Shape;1260;p75"/>
            <p:cNvSpPr txBox="1"/>
            <p:nvPr/>
          </p:nvSpPr>
          <p:spPr>
            <a:xfrm>
              <a:off x="5104425" y="3753299"/>
              <a:ext cx="42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1" name="Google Shape;1261;p75"/>
          <p:cNvSpPr/>
          <p:nvPr/>
        </p:nvSpPr>
        <p:spPr>
          <a:xfrm>
            <a:off x="324820" y="2359663"/>
            <a:ext cx="5089200" cy="27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75"/>
          <p:cNvSpPr txBox="1"/>
          <p:nvPr/>
        </p:nvSpPr>
        <p:spPr>
          <a:xfrm>
            <a:off x="5714025" y="2343925"/>
            <a:ext cx="31059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outcomes were considered row by row, this shows a different systematic way of writing them.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75"/>
          <p:cNvSpPr/>
          <p:nvPr/>
        </p:nvSpPr>
        <p:spPr>
          <a:xfrm>
            <a:off x="324820" y="2704007"/>
            <a:ext cx="5089200" cy="27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75"/>
          <p:cNvSpPr/>
          <p:nvPr/>
        </p:nvSpPr>
        <p:spPr>
          <a:xfrm>
            <a:off x="324820" y="3046159"/>
            <a:ext cx="5089200" cy="27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75"/>
          <p:cNvSpPr/>
          <p:nvPr/>
        </p:nvSpPr>
        <p:spPr>
          <a:xfrm>
            <a:off x="324820" y="3403850"/>
            <a:ext cx="5089200" cy="27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75"/>
          <p:cNvSpPr/>
          <p:nvPr/>
        </p:nvSpPr>
        <p:spPr>
          <a:xfrm>
            <a:off x="324820" y="3755268"/>
            <a:ext cx="5089200" cy="27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75"/>
          <p:cNvSpPr/>
          <p:nvPr/>
        </p:nvSpPr>
        <p:spPr>
          <a:xfrm>
            <a:off x="324820" y="4112959"/>
            <a:ext cx="5089200" cy="271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1" name="Shape 1271"/>
        <p:cNvGrpSpPr/>
        <p:nvPr/>
      </p:nvGrpSpPr>
      <p:grpSpPr>
        <a:xfrm>
          <a:off x="0" y="0"/>
          <a:ext cx="0" cy="0"/>
        </a:xfrm>
      </p:grpSpPr>
      <p:sp>
        <p:nvSpPr>
          <p:cNvPr id="1272" name="Google Shape;1272;p76"/>
          <p:cNvSpPr txBox="1"/>
          <p:nvPr>
            <p:ph type="body" idx="1"/>
          </p:nvPr>
        </p:nvSpPr>
        <p:spPr>
          <a:xfrm>
            <a:off x="324000" y="759300"/>
            <a:ext cx="8237700" cy="112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Sofia needs to complete her homework (H), tidy her bedroom (T) and practise playing her instrument (I).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Complete the list of possible orders she could do the three tasks in.</a:t>
            </a:r>
            <a:endParaRPr sz="1800"/>
          </a:p>
        </p:txBody>
      </p:sp>
      <p:sp>
        <p:nvSpPr>
          <p:cNvPr id="1273" name="Google Shape;127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274" name="Google Shape;1274;p76"/>
          <p:cNvSpPr txBox="1"/>
          <p:nvPr>
            <p:ph type="body" idx="1"/>
          </p:nvPr>
        </p:nvSpPr>
        <p:spPr>
          <a:xfrm>
            <a:off x="1295225" y="2236675"/>
            <a:ext cx="3024900" cy="3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HTI, HIT, TIH, THI,          , </a:t>
            </a:r>
            <a:endParaRPr sz="1800"/>
          </a:p>
        </p:txBody>
      </p:sp>
      <p:cxnSp>
        <p:nvCxnSpPr>
          <p:cNvPr id="1275" name="Google Shape;1275;p76"/>
          <p:cNvCxnSpPr/>
          <p:nvPr/>
        </p:nvCxnSpPr>
        <p:spPr>
          <a:xfrm>
            <a:off x="3457475" y="2462975"/>
            <a:ext cx="481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6" name="Google Shape;1276;p76"/>
          <p:cNvCxnSpPr/>
          <p:nvPr/>
        </p:nvCxnSpPr>
        <p:spPr>
          <a:xfrm>
            <a:off x="4138200" y="2462975"/>
            <a:ext cx="481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7" name="Google Shape;1277;p76"/>
          <p:cNvSpPr txBox="1"/>
          <p:nvPr>
            <p:ph type="body" idx="1"/>
          </p:nvPr>
        </p:nvSpPr>
        <p:spPr>
          <a:xfrm>
            <a:off x="3485225" y="2236200"/>
            <a:ext cx="426300" cy="3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IHT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76"/>
          <p:cNvSpPr txBox="1"/>
          <p:nvPr>
            <p:ph type="body" idx="1"/>
          </p:nvPr>
        </p:nvSpPr>
        <p:spPr>
          <a:xfrm>
            <a:off x="4171025" y="2236200"/>
            <a:ext cx="426300" cy="3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2" name="Shape 1282"/>
        <p:cNvGrpSpPr/>
        <p:nvPr/>
      </p:nvGrpSpPr>
      <p:grpSpPr>
        <a:xfrm>
          <a:off x="0" y="0"/>
          <a:ext cx="0" cy="0"/>
        </a:xfrm>
      </p:grpSpPr>
      <p:sp>
        <p:nvSpPr>
          <p:cNvPr id="1283" name="Google Shape;1283;p77"/>
          <p:cNvSpPr txBox="1"/>
          <p:nvPr>
            <p:ph type="body" idx="1"/>
          </p:nvPr>
        </p:nvSpPr>
        <p:spPr>
          <a:xfrm>
            <a:off x="324000" y="7593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combination lock needs three single digits.</a:t>
            </a:r>
            <a:endParaRPr sz="1800"/>
          </a:p>
        </p:txBody>
      </p:sp>
      <p:sp>
        <p:nvSpPr>
          <p:cNvPr id="1284" name="Google Shape;128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285" name="Google Shape;1285;p77"/>
          <p:cNvSpPr txBox="1"/>
          <p:nvPr>
            <p:ph type="body" idx="1"/>
          </p:nvPr>
        </p:nvSpPr>
        <p:spPr>
          <a:xfrm>
            <a:off x="324000" y="12927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</a:t>
            </a:r>
            <a:r>
              <a:rPr lang="en-GB" sz="1800" baseline="30000"/>
              <a:t>st</a:t>
            </a:r>
            <a:r>
              <a:rPr lang="en-GB" sz="1800"/>
              <a:t> digit is a multiple of 3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2</a:t>
            </a:r>
            <a:r>
              <a:rPr lang="en-GB" sz="1800" baseline="30000"/>
              <a:t>nd</a:t>
            </a:r>
            <a:r>
              <a:rPr lang="en-GB" sz="1800"/>
              <a:t> digit is a factor of 20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 baseline="30000"/>
              <a:t>rd</a:t>
            </a:r>
            <a:r>
              <a:rPr lang="en-GB" sz="1800"/>
              <a:t> digit is an even number</a:t>
            </a:r>
            <a:endParaRPr sz="1800"/>
          </a:p>
        </p:txBody>
      </p:sp>
      <p:sp>
        <p:nvSpPr>
          <p:cNvPr id="1286" name="Google Shape;1286;p77"/>
          <p:cNvSpPr txBox="1"/>
          <p:nvPr>
            <p:ph type="body" idx="1"/>
          </p:nvPr>
        </p:nvSpPr>
        <p:spPr>
          <a:xfrm>
            <a:off x="324000" y="26643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1</a:t>
            </a:r>
            <a:r>
              <a:rPr lang="en-GB" sz="1800" baseline="30000"/>
              <a:t>st </a:t>
            </a:r>
            <a:r>
              <a:rPr lang="en-GB" sz="1800"/>
              <a:t>digit is one of the following outcomes {3, 6, 9}.</a:t>
            </a:r>
            <a:endParaRPr sz="1800"/>
          </a:p>
        </p:txBody>
      </p:sp>
      <p:sp>
        <p:nvSpPr>
          <p:cNvPr id="1287" name="Google Shape;1287;p77"/>
          <p:cNvSpPr/>
          <p:nvPr/>
        </p:nvSpPr>
        <p:spPr>
          <a:xfrm>
            <a:off x="7237775" y="861133"/>
            <a:ext cx="1080900" cy="1203300"/>
          </a:xfrm>
          <a:prstGeom prst="ellipse">
            <a:avLst/>
          </a:prstGeom>
          <a:solidFill>
            <a:srgbClr val="BF9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8" name="Google Shape;1288;p77"/>
          <p:cNvSpPr/>
          <p:nvPr/>
        </p:nvSpPr>
        <p:spPr>
          <a:xfrm>
            <a:off x="7368570" y="1012229"/>
            <a:ext cx="798000" cy="8889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9" name="Google Shape;1289;p77"/>
          <p:cNvSpPr/>
          <p:nvPr/>
        </p:nvSpPr>
        <p:spPr>
          <a:xfrm>
            <a:off x="6972625" y="1452025"/>
            <a:ext cx="1656600" cy="816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0" name="Google Shape;1290;p77"/>
          <p:cNvSpPr txBox="1"/>
          <p:nvPr/>
        </p:nvSpPr>
        <p:spPr>
          <a:xfrm>
            <a:off x="7142425" y="1592925"/>
            <a:ext cx="345300" cy="52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1" name="Google Shape;1291;p77"/>
          <p:cNvSpPr txBox="1"/>
          <p:nvPr/>
        </p:nvSpPr>
        <p:spPr>
          <a:xfrm>
            <a:off x="7599625" y="1592925"/>
            <a:ext cx="345300" cy="52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2" name="Google Shape;1292;p77"/>
          <p:cNvSpPr txBox="1"/>
          <p:nvPr/>
        </p:nvSpPr>
        <p:spPr>
          <a:xfrm>
            <a:off x="8056825" y="1592925"/>
            <a:ext cx="345300" cy="52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77"/>
          <p:cNvSpPr txBox="1"/>
          <p:nvPr>
            <p:ph type="body" idx="1"/>
          </p:nvPr>
        </p:nvSpPr>
        <p:spPr>
          <a:xfrm>
            <a:off x="324000" y="3091708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2</a:t>
            </a:r>
            <a:r>
              <a:rPr lang="en-GB" sz="1800" baseline="30000"/>
              <a:t>nd </a:t>
            </a:r>
            <a:r>
              <a:rPr lang="en-GB" sz="1800"/>
              <a:t>digit is one of the following outcomes {1, 2, 4, 5}.</a:t>
            </a:r>
            <a:endParaRPr sz="1800"/>
          </a:p>
        </p:txBody>
      </p:sp>
      <p:sp>
        <p:nvSpPr>
          <p:cNvPr id="1294" name="Google Shape;1294;p77"/>
          <p:cNvSpPr txBox="1"/>
          <p:nvPr>
            <p:ph type="body" idx="1"/>
          </p:nvPr>
        </p:nvSpPr>
        <p:spPr>
          <a:xfrm>
            <a:off x="324000" y="3519115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3</a:t>
            </a:r>
            <a:r>
              <a:rPr lang="en-GB" sz="1800" baseline="30000"/>
              <a:t>rd </a:t>
            </a:r>
            <a:r>
              <a:rPr lang="en-GB" sz="1800"/>
              <a:t>digit is one of the following outcomes {2, 4, 6, 8}.</a:t>
            </a:r>
            <a:endParaRPr sz="1800"/>
          </a:p>
        </p:txBody>
      </p:sp>
      <p:sp>
        <p:nvSpPr>
          <p:cNvPr id="1295" name="Google Shape;1295;p77"/>
          <p:cNvSpPr txBox="1"/>
          <p:nvPr>
            <p:ph type="body" idx="1"/>
          </p:nvPr>
        </p:nvSpPr>
        <p:spPr>
          <a:xfrm>
            <a:off x="324000" y="3965350"/>
            <a:ext cx="74106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are the possible outcomes for the lock that end with a ‘2’?</a:t>
            </a:r>
            <a:endParaRPr sz="1800"/>
          </a:p>
        </p:txBody>
      </p:sp>
      <p:sp>
        <p:nvSpPr>
          <p:cNvPr id="1296" name="Google Shape;1296;p77"/>
          <p:cNvSpPr txBox="1"/>
          <p:nvPr>
            <p:ph type="body" idx="4294967295"/>
          </p:nvPr>
        </p:nvSpPr>
        <p:spPr>
          <a:xfrm>
            <a:off x="428850" y="4373950"/>
            <a:ext cx="75918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312, 612, 912, 322, 622, 922, 342, 642, 942, 352, 652, 952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0" name="Shape 1300"/>
        <p:cNvGrpSpPr/>
        <p:nvPr/>
      </p:nvGrpSpPr>
      <p:grpSpPr>
        <a:xfrm>
          <a:off x="0" y="0"/>
          <a:ext cx="0" cy="0"/>
        </a:xfrm>
      </p:grpSpPr>
      <p:sp>
        <p:nvSpPr>
          <p:cNvPr id="1301" name="Google Shape;1301;p78"/>
          <p:cNvSpPr txBox="1"/>
          <p:nvPr>
            <p:ph type="body" idx="1"/>
          </p:nvPr>
        </p:nvSpPr>
        <p:spPr>
          <a:xfrm>
            <a:off x="324000" y="2755400"/>
            <a:ext cx="8237700" cy="112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Alex has already tried 410, 430, 490, 417, 437, 497, 810, 817, 830, 837 with no success.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other combinations does Alex need to try?</a:t>
            </a:r>
            <a:endParaRPr sz="1800"/>
          </a:p>
        </p:txBody>
      </p:sp>
      <p:sp>
        <p:nvSpPr>
          <p:cNvPr id="1302" name="Google Shape;130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303" name="Google Shape;1303;p78"/>
          <p:cNvSpPr txBox="1"/>
          <p:nvPr>
            <p:ph type="body" idx="1"/>
          </p:nvPr>
        </p:nvSpPr>
        <p:spPr>
          <a:xfrm>
            <a:off x="324000" y="7593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combination lock needs three single digits.</a:t>
            </a:r>
            <a:endParaRPr sz="1800"/>
          </a:p>
        </p:txBody>
      </p:sp>
      <p:sp>
        <p:nvSpPr>
          <p:cNvPr id="1304" name="Google Shape;1304;p78"/>
          <p:cNvSpPr txBox="1"/>
          <p:nvPr>
            <p:ph type="body" idx="1"/>
          </p:nvPr>
        </p:nvSpPr>
        <p:spPr>
          <a:xfrm>
            <a:off x="324000" y="12165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1</a:t>
            </a:r>
            <a:r>
              <a:rPr lang="en-GB" sz="1800" baseline="30000"/>
              <a:t>st </a:t>
            </a:r>
            <a:r>
              <a:rPr lang="en-GB" sz="1800"/>
              <a:t>digit is one of the following outcomes {4, 8}.</a:t>
            </a:r>
            <a:endParaRPr sz="1800"/>
          </a:p>
        </p:txBody>
      </p:sp>
      <p:sp>
        <p:nvSpPr>
          <p:cNvPr id="1305" name="Google Shape;1305;p78"/>
          <p:cNvSpPr/>
          <p:nvPr/>
        </p:nvSpPr>
        <p:spPr>
          <a:xfrm>
            <a:off x="7237775" y="861133"/>
            <a:ext cx="1080900" cy="1203300"/>
          </a:xfrm>
          <a:prstGeom prst="ellipse">
            <a:avLst/>
          </a:prstGeom>
          <a:solidFill>
            <a:srgbClr val="BF9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6" name="Google Shape;1306;p78"/>
          <p:cNvSpPr/>
          <p:nvPr/>
        </p:nvSpPr>
        <p:spPr>
          <a:xfrm>
            <a:off x="7368570" y="1012229"/>
            <a:ext cx="798000" cy="8889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7" name="Google Shape;1307;p78"/>
          <p:cNvSpPr/>
          <p:nvPr/>
        </p:nvSpPr>
        <p:spPr>
          <a:xfrm>
            <a:off x="6972625" y="1452025"/>
            <a:ext cx="1656600" cy="816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8" name="Google Shape;1308;p78"/>
          <p:cNvSpPr txBox="1"/>
          <p:nvPr/>
        </p:nvSpPr>
        <p:spPr>
          <a:xfrm>
            <a:off x="7142425" y="1592925"/>
            <a:ext cx="345300" cy="52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9" name="Google Shape;1309;p78"/>
          <p:cNvSpPr txBox="1"/>
          <p:nvPr/>
        </p:nvSpPr>
        <p:spPr>
          <a:xfrm>
            <a:off x="7599625" y="1592925"/>
            <a:ext cx="345300" cy="52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0" name="Google Shape;1310;p78"/>
          <p:cNvSpPr txBox="1"/>
          <p:nvPr/>
        </p:nvSpPr>
        <p:spPr>
          <a:xfrm>
            <a:off x="8056825" y="1592925"/>
            <a:ext cx="345300" cy="529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1" name="Google Shape;1311;p78"/>
          <p:cNvSpPr txBox="1"/>
          <p:nvPr>
            <p:ph type="body" idx="1"/>
          </p:nvPr>
        </p:nvSpPr>
        <p:spPr>
          <a:xfrm>
            <a:off x="324000" y="1643908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2</a:t>
            </a:r>
            <a:r>
              <a:rPr lang="en-GB" sz="1800" baseline="30000"/>
              <a:t>nd </a:t>
            </a:r>
            <a:r>
              <a:rPr lang="en-GB" sz="1800"/>
              <a:t>digit is one of the following outcomes {1, 3, 9}.</a:t>
            </a:r>
            <a:endParaRPr sz="1800"/>
          </a:p>
        </p:txBody>
      </p:sp>
      <p:sp>
        <p:nvSpPr>
          <p:cNvPr id="1312" name="Google Shape;1312;p78"/>
          <p:cNvSpPr txBox="1"/>
          <p:nvPr>
            <p:ph type="body" idx="1"/>
          </p:nvPr>
        </p:nvSpPr>
        <p:spPr>
          <a:xfrm>
            <a:off x="324000" y="2071315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3</a:t>
            </a:r>
            <a:r>
              <a:rPr lang="en-GB" sz="1800" baseline="30000"/>
              <a:t>rd </a:t>
            </a:r>
            <a:r>
              <a:rPr lang="en-GB" sz="1800"/>
              <a:t>digit is one of the following outcomes {0, 7}.</a:t>
            </a:r>
            <a:endParaRPr sz="1800"/>
          </a:p>
        </p:txBody>
      </p:sp>
      <p:sp>
        <p:nvSpPr>
          <p:cNvPr id="1313" name="Google Shape;1313;p78"/>
          <p:cNvSpPr txBox="1"/>
          <p:nvPr>
            <p:ph type="body" idx="1"/>
          </p:nvPr>
        </p:nvSpPr>
        <p:spPr>
          <a:xfrm>
            <a:off x="4743600" y="3937750"/>
            <a:ext cx="1612200" cy="38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890 and 897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7" name="Shape 1317"/>
        <p:cNvGrpSpPr/>
        <p:nvPr/>
      </p:nvGrpSpPr>
      <p:grpSpPr>
        <a:xfrm>
          <a:off x="0" y="0"/>
          <a:ext cx="0" cy="0"/>
        </a:xfrm>
      </p:grpSpPr>
      <p:sp>
        <p:nvSpPr>
          <p:cNvPr id="1318" name="Google Shape;1318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319" name="Google Shape;1319;p79"/>
          <p:cNvSpPr txBox="1"/>
          <p:nvPr>
            <p:ph type="body" idx="1"/>
          </p:nvPr>
        </p:nvSpPr>
        <p:spPr>
          <a:xfrm>
            <a:off x="324000" y="759300"/>
            <a:ext cx="8237700" cy="6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Jun needs to do some revision, so he uses three spinners to decide which </a:t>
            </a:r>
            <a:r>
              <a:rPr lang="en-GB" sz="1800">
                <a:solidFill>
                  <a:schemeClr val="accent4"/>
                </a:solidFill>
              </a:rPr>
              <a:t>subject</a:t>
            </a:r>
            <a:r>
              <a:rPr lang="en-GB" sz="1800"/>
              <a:t> {maths (M), english (E), science (S), geography (G)}, the </a:t>
            </a:r>
            <a:r>
              <a:rPr lang="en-GB" sz="1800">
                <a:solidFill>
                  <a:schemeClr val="accent4"/>
                </a:solidFill>
              </a:rPr>
              <a:t>duration</a:t>
            </a:r>
            <a:r>
              <a:rPr lang="en-GB" sz="1800"/>
              <a:t> {20 mins (T), 60 mins (H)} and which </a:t>
            </a:r>
            <a:r>
              <a:rPr lang="en-GB" sz="1800">
                <a:solidFill>
                  <a:schemeClr val="accent4"/>
                </a:solidFill>
              </a:rPr>
              <a:t>resource</a:t>
            </a:r>
            <a:r>
              <a:rPr lang="en-GB" sz="1800"/>
              <a:t> {Oak National Academy (O), flashcards (F), books (B)}.</a:t>
            </a:r>
            <a:endParaRPr sz="1800"/>
          </a:p>
        </p:txBody>
      </p:sp>
      <p:sp>
        <p:nvSpPr>
          <p:cNvPr id="1320" name="Google Shape;1320;p79"/>
          <p:cNvSpPr/>
          <p:nvPr/>
        </p:nvSpPr>
        <p:spPr>
          <a:xfrm>
            <a:off x="2472612" y="2111633"/>
            <a:ext cx="1060800" cy="1060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1" name="Google Shape;1321;p79"/>
          <p:cNvSpPr/>
          <p:nvPr/>
        </p:nvSpPr>
        <p:spPr>
          <a:xfrm flipH="1">
            <a:off x="2481698" y="2120866"/>
            <a:ext cx="1042500" cy="10425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2" name="Google Shape;1322;p79"/>
          <p:cNvSpPr/>
          <p:nvPr/>
        </p:nvSpPr>
        <p:spPr>
          <a:xfrm>
            <a:off x="2481845" y="2120866"/>
            <a:ext cx="1042500" cy="10425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3" name="Google Shape;1323;p79"/>
          <p:cNvSpPr txBox="1"/>
          <p:nvPr/>
        </p:nvSpPr>
        <p:spPr>
          <a:xfrm>
            <a:off x="2709537" y="2731994"/>
            <a:ext cx="3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79"/>
          <p:cNvSpPr/>
          <p:nvPr/>
        </p:nvSpPr>
        <p:spPr>
          <a:xfrm>
            <a:off x="2481845" y="2120866"/>
            <a:ext cx="1042500" cy="10425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5" name="Google Shape;1325;p79"/>
          <p:cNvSpPr txBox="1"/>
          <p:nvPr/>
        </p:nvSpPr>
        <p:spPr>
          <a:xfrm>
            <a:off x="2678458" y="2279710"/>
            <a:ext cx="3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79"/>
          <p:cNvSpPr/>
          <p:nvPr/>
        </p:nvSpPr>
        <p:spPr>
          <a:xfrm flipH="1">
            <a:off x="2481698" y="2120866"/>
            <a:ext cx="1042500" cy="10425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7" name="Google Shape;1327;p79"/>
          <p:cNvSpPr txBox="1"/>
          <p:nvPr/>
        </p:nvSpPr>
        <p:spPr>
          <a:xfrm>
            <a:off x="3147498" y="2271950"/>
            <a:ext cx="15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79"/>
          <p:cNvSpPr txBox="1"/>
          <p:nvPr/>
        </p:nvSpPr>
        <p:spPr>
          <a:xfrm>
            <a:off x="3139727" y="2739764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9" name="Google Shape;1329;p79"/>
          <p:cNvGrpSpPr/>
          <p:nvPr/>
        </p:nvGrpSpPr>
        <p:grpSpPr>
          <a:xfrm>
            <a:off x="2972580" y="2152611"/>
            <a:ext cx="58734" cy="510996"/>
            <a:chOff x="996050" y="213293"/>
            <a:chExt cx="93900" cy="909732"/>
          </a:xfrm>
        </p:grpSpPr>
        <p:cxnSp>
          <p:nvCxnSpPr>
            <p:cNvPr id="1330" name="Google Shape;1330;p7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31" name="Google Shape;1331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32" name="Google Shape;1332;p79"/>
          <p:cNvSpPr/>
          <p:nvPr/>
        </p:nvSpPr>
        <p:spPr>
          <a:xfrm>
            <a:off x="5119569" y="2111633"/>
            <a:ext cx="1060800" cy="1060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3" name="Google Shape;1333;p79"/>
          <p:cNvSpPr/>
          <p:nvPr/>
        </p:nvSpPr>
        <p:spPr>
          <a:xfrm rot="7199788">
            <a:off x="5128917" y="2120942"/>
            <a:ext cx="1042311" cy="1042311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4" name="Google Shape;1334;p79"/>
          <p:cNvSpPr/>
          <p:nvPr/>
        </p:nvSpPr>
        <p:spPr>
          <a:xfrm rot="-7212182">
            <a:off x="5128795" y="2120925"/>
            <a:ext cx="1042409" cy="1042409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5" name="Google Shape;1335;p79"/>
          <p:cNvSpPr/>
          <p:nvPr/>
        </p:nvSpPr>
        <p:spPr>
          <a:xfrm>
            <a:off x="5128875" y="2120977"/>
            <a:ext cx="1042500" cy="10425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6" name="Google Shape;1336;p79"/>
          <p:cNvSpPr txBox="1"/>
          <p:nvPr/>
        </p:nvSpPr>
        <p:spPr>
          <a:xfrm>
            <a:off x="5842121" y="2367275"/>
            <a:ext cx="2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79"/>
          <p:cNvSpPr txBox="1"/>
          <p:nvPr/>
        </p:nvSpPr>
        <p:spPr>
          <a:xfrm>
            <a:off x="5575264" y="2748579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79"/>
          <p:cNvSpPr txBox="1"/>
          <p:nvPr/>
        </p:nvSpPr>
        <p:spPr>
          <a:xfrm>
            <a:off x="5289284" y="2367268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9" name="Google Shape;1339;p79"/>
          <p:cNvGrpSpPr/>
          <p:nvPr/>
        </p:nvGrpSpPr>
        <p:grpSpPr>
          <a:xfrm>
            <a:off x="5619537" y="2164647"/>
            <a:ext cx="58734" cy="510996"/>
            <a:chOff x="996050" y="213293"/>
            <a:chExt cx="93900" cy="909732"/>
          </a:xfrm>
        </p:grpSpPr>
        <p:cxnSp>
          <p:nvCxnSpPr>
            <p:cNvPr id="1340" name="Google Shape;1340;p7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41" name="Google Shape;1341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42" name="Google Shape;1342;p79"/>
          <p:cNvSpPr/>
          <p:nvPr/>
        </p:nvSpPr>
        <p:spPr>
          <a:xfrm>
            <a:off x="3785000" y="2111633"/>
            <a:ext cx="1060800" cy="1060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3" name="Google Shape;1343;p79"/>
          <p:cNvSpPr/>
          <p:nvPr/>
        </p:nvSpPr>
        <p:spPr>
          <a:xfrm flipH="1">
            <a:off x="3794086" y="2120866"/>
            <a:ext cx="1042500" cy="1042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4" name="Google Shape;1344;p79"/>
          <p:cNvSpPr/>
          <p:nvPr/>
        </p:nvSpPr>
        <p:spPr>
          <a:xfrm>
            <a:off x="3794233" y="2120866"/>
            <a:ext cx="1042500" cy="1042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5" name="Google Shape;1345;p79"/>
          <p:cNvSpPr txBox="1"/>
          <p:nvPr/>
        </p:nvSpPr>
        <p:spPr>
          <a:xfrm>
            <a:off x="3974261" y="2510260"/>
            <a:ext cx="3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79"/>
          <p:cNvSpPr txBox="1"/>
          <p:nvPr/>
        </p:nvSpPr>
        <p:spPr>
          <a:xfrm>
            <a:off x="4479010" y="2510260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7" name="Google Shape;1347;p79"/>
          <p:cNvGrpSpPr/>
          <p:nvPr/>
        </p:nvGrpSpPr>
        <p:grpSpPr>
          <a:xfrm>
            <a:off x="4284968" y="2169537"/>
            <a:ext cx="58734" cy="510996"/>
            <a:chOff x="996050" y="213293"/>
            <a:chExt cx="93900" cy="909732"/>
          </a:xfrm>
        </p:grpSpPr>
        <p:cxnSp>
          <p:nvCxnSpPr>
            <p:cNvPr id="1348" name="Google Shape;1348;p7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49" name="Google Shape;1349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0" name="Google Shape;1350;p79"/>
          <p:cNvSpPr txBox="1"/>
          <p:nvPr>
            <p:ph type="body" idx="1"/>
          </p:nvPr>
        </p:nvSpPr>
        <p:spPr>
          <a:xfrm>
            <a:off x="324000" y="3426300"/>
            <a:ext cx="82377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write down all the possible outcomes for Jun’s revision</a:t>
            </a:r>
            <a:endParaRPr sz="1800"/>
          </a:p>
        </p:txBody>
      </p:sp>
      <p:sp>
        <p:nvSpPr>
          <p:cNvPr id="1351" name="Google Shape;1351;p79"/>
          <p:cNvSpPr txBox="1"/>
          <p:nvPr>
            <p:ph type="body" idx="1"/>
          </p:nvPr>
        </p:nvSpPr>
        <p:spPr>
          <a:xfrm>
            <a:off x="324000" y="3959700"/>
            <a:ext cx="84558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compare your list of possible outcomes to Jun’s list of possible outcomes</a:t>
            </a:r>
            <a:endParaRPr sz="1800"/>
          </a:p>
        </p:txBody>
      </p:sp>
      <p:sp>
        <p:nvSpPr>
          <p:cNvPr id="1352" name="Google Shape;1352;p79"/>
          <p:cNvSpPr txBox="1"/>
          <p:nvPr>
            <p:ph type="body" idx="1"/>
          </p:nvPr>
        </p:nvSpPr>
        <p:spPr>
          <a:xfrm>
            <a:off x="552600" y="4245250"/>
            <a:ext cx="73989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MTO, EHB, STO, GTO, GHB, ETF, STF, GTF, MTB, ETB, SHB, GTB, MHO, SHO, EHO, MTF, MHF, EHF, STB, GHF, MHB, ETO, STB, GHO</a:t>
            </a:r>
            <a:endParaRPr sz="1800"/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6" name="Shape 1356"/>
        <p:cNvGrpSpPr/>
        <p:nvPr/>
      </p:nvGrpSpPr>
      <p:grpSpPr>
        <a:xfrm>
          <a:off x="0" y="0"/>
          <a:ext cx="0" cy="0"/>
        </a:xfrm>
      </p:grpSpPr>
      <p:sp>
        <p:nvSpPr>
          <p:cNvPr id="1357" name="Google Shape;1357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358" name="Google Shape;1358;p80"/>
          <p:cNvSpPr txBox="1"/>
          <p:nvPr>
            <p:ph type="body" idx="1"/>
          </p:nvPr>
        </p:nvSpPr>
        <p:spPr>
          <a:xfrm>
            <a:off x="324000" y="759300"/>
            <a:ext cx="8237700" cy="6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In a restaurant they have a fixed price three course menu.  </a:t>
            </a:r>
            <a:endParaRPr sz="1800"/>
          </a:p>
        </p:txBody>
      </p:sp>
      <p:sp>
        <p:nvSpPr>
          <p:cNvPr id="1359" name="Google Shape;1359;p80"/>
          <p:cNvSpPr txBox="1"/>
          <p:nvPr>
            <p:ph type="body" idx="1"/>
          </p:nvPr>
        </p:nvSpPr>
        <p:spPr>
          <a:xfrm>
            <a:off x="3410100" y="1162800"/>
            <a:ext cx="54099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write down all the possible outcomes that include ice cream as the dessert</a:t>
            </a:r>
            <a:endParaRPr sz="1800"/>
          </a:p>
        </p:txBody>
      </p:sp>
      <p:sp>
        <p:nvSpPr>
          <p:cNvPr id="1360" name="Google Shape;1360;p80"/>
          <p:cNvSpPr txBox="1"/>
          <p:nvPr>
            <p:ph type="body" idx="1"/>
          </p:nvPr>
        </p:nvSpPr>
        <p:spPr>
          <a:xfrm>
            <a:off x="3410100" y="2435700"/>
            <a:ext cx="53697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list all the possible outcomes that include vegetable curry as the main course</a:t>
            </a:r>
            <a:endParaRPr sz="1800"/>
          </a:p>
        </p:txBody>
      </p:sp>
      <p:sp>
        <p:nvSpPr>
          <p:cNvPr id="1361" name="Google Shape;1361;p80"/>
          <p:cNvSpPr/>
          <p:nvPr/>
        </p:nvSpPr>
        <p:spPr>
          <a:xfrm>
            <a:off x="585325" y="1096725"/>
            <a:ext cx="2671200" cy="3704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0"/>
          <p:cNvSpPr txBox="1"/>
          <p:nvPr/>
        </p:nvSpPr>
        <p:spPr>
          <a:xfrm>
            <a:off x="585475" y="11628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0"/>
          <p:cNvSpPr txBox="1"/>
          <p:nvPr/>
        </p:nvSpPr>
        <p:spPr>
          <a:xfrm>
            <a:off x="576075" y="23008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0"/>
          <p:cNvSpPr txBox="1"/>
          <p:nvPr/>
        </p:nvSpPr>
        <p:spPr>
          <a:xfrm>
            <a:off x="585325" y="15094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Garlic mushrooms (G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80"/>
          <p:cNvSpPr txBox="1"/>
          <p:nvPr/>
        </p:nvSpPr>
        <p:spPr>
          <a:xfrm>
            <a:off x="576075" y="18561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Halloumi bites (H)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0"/>
          <p:cNvSpPr txBox="1"/>
          <p:nvPr/>
        </p:nvSpPr>
        <p:spPr>
          <a:xfrm>
            <a:off x="576075" y="29337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Fish and chips (F)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0"/>
          <p:cNvSpPr txBox="1"/>
          <p:nvPr/>
        </p:nvSpPr>
        <p:spPr>
          <a:xfrm>
            <a:off x="585475" y="2588250"/>
            <a:ext cx="2670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Bacon cheeseburger (C)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0"/>
          <p:cNvSpPr txBox="1"/>
          <p:nvPr/>
        </p:nvSpPr>
        <p:spPr>
          <a:xfrm>
            <a:off x="576175" y="33204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 curry (V)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0"/>
          <p:cNvSpPr txBox="1"/>
          <p:nvPr/>
        </p:nvSpPr>
        <p:spPr>
          <a:xfrm>
            <a:off x="594575" y="38291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Dessert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0"/>
          <p:cNvSpPr txBox="1"/>
          <p:nvPr/>
        </p:nvSpPr>
        <p:spPr>
          <a:xfrm>
            <a:off x="576075" y="446197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Fruit Salad (S)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80"/>
          <p:cNvSpPr txBox="1"/>
          <p:nvPr/>
        </p:nvSpPr>
        <p:spPr>
          <a:xfrm>
            <a:off x="576175" y="41165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Ice Cream (I)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80"/>
          <p:cNvSpPr txBox="1"/>
          <p:nvPr>
            <p:ph type="body" idx="1"/>
          </p:nvPr>
        </p:nvSpPr>
        <p:spPr>
          <a:xfrm>
            <a:off x="3410100" y="3578700"/>
            <a:ext cx="53697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list all the possible outcomes that include garlic mushrooms as the starter and fruit salad as the dessert</a:t>
            </a:r>
            <a:endParaRPr sz="1800"/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6" name="Shape 1376"/>
        <p:cNvGrpSpPr/>
        <p:nvPr/>
      </p:nvGrpSpPr>
      <p:grpSpPr>
        <a:xfrm>
          <a:off x="0" y="0"/>
          <a:ext cx="0" cy="0"/>
        </a:xfrm>
      </p:grpSpPr>
      <p:sp>
        <p:nvSpPr>
          <p:cNvPr id="1377" name="Google Shape;1377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378" name="Google Shape;1378;p8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Jun needs to do some revision, so he uses three spinners to decide which </a:t>
            </a:r>
            <a:r>
              <a:rPr lang="en-GB" sz="1800">
                <a:solidFill>
                  <a:schemeClr val="accent4"/>
                </a:solidFill>
              </a:rPr>
              <a:t>subject</a:t>
            </a:r>
            <a:r>
              <a:rPr lang="en-GB" sz="1800"/>
              <a:t> {maths (M), english (E), science (S), geography (G)}, </a:t>
            </a:r>
            <a:r>
              <a:rPr lang="en-GB" sz="1800">
                <a:solidFill>
                  <a:schemeClr val="accent4"/>
                </a:solidFill>
              </a:rPr>
              <a:t>duration</a:t>
            </a:r>
            <a:r>
              <a:rPr lang="en-GB" sz="1800"/>
              <a:t> {20 mins (T), 60 mins (H)} and which </a:t>
            </a:r>
            <a:r>
              <a:rPr lang="en-GB" sz="1800">
                <a:solidFill>
                  <a:schemeClr val="accent4"/>
                </a:solidFill>
              </a:rPr>
              <a:t>resource</a:t>
            </a:r>
            <a:r>
              <a:rPr lang="en-GB" sz="1800"/>
              <a:t> {Oak National Academy (O), flashcards (F), books (B)}.</a:t>
            </a:r>
            <a:endParaRPr sz="1800"/>
          </a:p>
        </p:txBody>
      </p:sp>
      <p:sp>
        <p:nvSpPr>
          <p:cNvPr id="1379" name="Google Shape;1379;p81"/>
          <p:cNvSpPr/>
          <p:nvPr/>
        </p:nvSpPr>
        <p:spPr>
          <a:xfrm>
            <a:off x="2472612" y="2111633"/>
            <a:ext cx="1060800" cy="1060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0" name="Google Shape;1380;p81"/>
          <p:cNvSpPr/>
          <p:nvPr/>
        </p:nvSpPr>
        <p:spPr>
          <a:xfrm flipH="1">
            <a:off x="2481698" y="2120866"/>
            <a:ext cx="1042500" cy="10425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1" name="Google Shape;1381;p81"/>
          <p:cNvSpPr/>
          <p:nvPr/>
        </p:nvSpPr>
        <p:spPr>
          <a:xfrm>
            <a:off x="2481845" y="2120866"/>
            <a:ext cx="1042500" cy="10425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2" name="Google Shape;1382;p81"/>
          <p:cNvSpPr txBox="1"/>
          <p:nvPr/>
        </p:nvSpPr>
        <p:spPr>
          <a:xfrm>
            <a:off x="2709537" y="2731994"/>
            <a:ext cx="3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81"/>
          <p:cNvSpPr/>
          <p:nvPr/>
        </p:nvSpPr>
        <p:spPr>
          <a:xfrm>
            <a:off x="2481845" y="2120866"/>
            <a:ext cx="1042500" cy="10425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4" name="Google Shape;1384;p81"/>
          <p:cNvSpPr txBox="1"/>
          <p:nvPr/>
        </p:nvSpPr>
        <p:spPr>
          <a:xfrm>
            <a:off x="2678458" y="2279710"/>
            <a:ext cx="3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1"/>
          <p:cNvSpPr/>
          <p:nvPr/>
        </p:nvSpPr>
        <p:spPr>
          <a:xfrm flipH="1">
            <a:off x="2481698" y="2120866"/>
            <a:ext cx="1042500" cy="10425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6" name="Google Shape;1386;p81"/>
          <p:cNvSpPr txBox="1"/>
          <p:nvPr/>
        </p:nvSpPr>
        <p:spPr>
          <a:xfrm>
            <a:off x="3147498" y="2271950"/>
            <a:ext cx="15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1"/>
          <p:cNvSpPr txBox="1"/>
          <p:nvPr/>
        </p:nvSpPr>
        <p:spPr>
          <a:xfrm>
            <a:off x="3139727" y="2739764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8" name="Google Shape;1388;p81"/>
          <p:cNvGrpSpPr/>
          <p:nvPr/>
        </p:nvGrpSpPr>
        <p:grpSpPr>
          <a:xfrm>
            <a:off x="2972580" y="2152611"/>
            <a:ext cx="58734" cy="510996"/>
            <a:chOff x="996050" y="213293"/>
            <a:chExt cx="93900" cy="909732"/>
          </a:xfrm>
        </p:grpSpPr>
        <p:cxnSp>
          <p:nvCxnSpPr>
            <p:cNvPr id="1389" name="Google Shape;1389;p8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90" name="Google Shape;1390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91" name="Google Shape;1391;p81"/>
          <p:cNvSpPr/>
          <p:nvPr/>
        </p:nvSpPr>
        <p:spPr>
          <a:xfrm>
            <a:off x="5119569" y="2111633"/>
            <a:ext cx="1060800" cy="1060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2" name="Google Shape;1392;p81"/>
          <p:cNvSpPr/>
          <p:nvPr/>
        </p:nvSpPr>
        <p:spPr>
          <a:xfrm rot="7199788">
            <a:off x="5128917" y="2120942"/>
            <a:ext cx="1042311" cy="1042311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3" name="Google Shape;1393;p81"/>
          <p:cNvSpPr/>
          <p:nvPr/>
        </p:nvSpPr>
        <p:spPr>
          <a:xfrm rot="-7212182">
            <a:off x="5128795" y="2120925"/>
            <a:ext cx="1042409" cy="1042409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4" name="Google Shape;1394;p81"/>
          <p:cNvSpPr/>
          <p:nvPr/>
        </p:nvSpPr>
        <p:spPr>
          <a:xfrm>
            <a:off x="5128875" y="2120977"/>
            <a:ext cx="1042500" cy="10425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5" name="Google Shape;1395;p81"/>
          <p:cNvSpPr txBox="1"/>
          <p:nvPr/>
        </p:nvSpPr>
        <p:spPr>
          <a:xfrm>
            <a:off x="5842121" y="2367275"/>
            <a:ext cx="2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81"/>
          <p:cNvSpPr txBox="1"/>
          <p:nvPr/>
        </p:nvSpPr>
        <p:spPr>
          <a:xfrm>
            <a:off x="5575264" y="2748579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81"/>
          <p:cNvSpPr txBox="1"/>
          <p:nvPr/>
        </p:nvSpPr>
        <p:spPr>
          <a:xfrm>
            <a:off x="5289284" y="2367268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8" name="Google Shape;1398;p81"/>
          <p:cNvGrpSpPr/>
          <p:nvPr/>
        </p:nvGrpSpPr>
        <p:grpSpPr>
          <a:xfrm>
            <a:off x="5619537" y="2164647"/>
            <a:ext cx="58734" cy="510996"/>
            <a:chOff x="996050" y="213293"/>
            <a:chExt cx="93900" cy="909732"/>
          </a:xfrm>
        </p:grpSpPr>
        <p:cxnSp>
          <p:nvCxnSpPr>
            <p:cNvPr id="1399" name="Google Shape;1399;p8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00" name="Google Shape;1400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01" name="Google Shape;1401;p81"/>
          <p:cNvSpPr/>
          <p:nvPr/>
        </p:nvSpPr>
        <p:spPr>
          <a:xfrm>
            <a:off x="3785000" y="2111633"/>
            <a:ext cx="1060800" cy="1060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2" name="Google Shape;1402;p81"/>
          <p:cNvSpPr/>
          <p:nvPr/>
        </p:nvSpPr>
        <p:spPr>
          <a:xfrm flipH="1">
            <a:off x="3794086" y="2120866"/>
            <a:ext cx="1042500" cy="1042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3" name="Google Shape;1403;p81"/>
          <p:cNvSpPr/>
          <p:nvPr/>
        </p:nvSpPr>
        <p:spPr>
          <a:xfrm>
            <a:off x="3794233" y="2120866"/>
            <a:ext cx="1042500" cy="1042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4" name="Google Shape;1404;p81"/>
          <p:cNvSpPr txBox="1"/>
          <p:nvPr/>
        </p:nvSpPr>
        <p:spPr>
          <a:xfrm>
            <a:off x="3974261" y="2510260"/>
            <a:ext cx="3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81"/>
          <p:cNvSpPr txBox="1"/>
          <p:nvPr/>
        </p:nvSpPr>
        <p:spPr>
          <a:xfrm>
            <a:off x="4479010" y="2510260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6" name="Google Shape;1406;p81"/>
          <p:cNvGrpSpPr/>
          <p:nvPr/>
        </p:nvGrpSpPr>
        <p:grpSpPr>
          <a:xfrm>
            <a:off x="4284968" y="2169537"/>
            <a:ext cx="58734" cy="510996"/>
            <a:chOff x="996050" y="213293"/>
            <a:chExt cx="93900" cy="909732"/>
          </a:xfrm>
        </p:grpSpPr>
        <p:cxnSp>
          <p:nvCxnSpPr>
            <p:cNvPr id="1407" name="Google Shape;1407;p8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08" name="Google Shape;1408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09" name="Google Shape;1409;p81"/>
          <p:cNvSpPr txBox="1"/>
          <p:nvPr>
            <p:ph type="body" idx="1"/>
          </p:nvPr>
        </p:nvSpPr>
        <p:spPr>
          <a:xfrm>
            <a:off x="324000" y="3426300"/>
            <a:ext cx="82377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write down all the possible outcomes for Jun’s revision</a:t>
            </a:r>
            <a:endParaRPr sz="1800"/>
          </a:p>
        </p:txBody>
      </p:sp>
      <p:sp>
        <p:nvSpPr>
          <p:cNvPr id="1410" name="Google Shape;1410;p81"/>
          <p:cNvSpPr txBox="1"/>
          <p:nvPr>
            <p:ph type="body" idx="1"/>
          </p:nvPr>
        </p:nvSpPr>
        <p:spPr>
          <a:xfrm>
            <a:off x="552600" y="3788050"/>
            <a:ext cx="75918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MTO, ETO, STO, GTO, MTF, ETF, STF, GTF, MTB, ETB, STB, GTB, MHO, EHO, SHO, GHO, MHF, EHF, SHF, GHF, MHB, EHB, SHB, GHB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4" name="Shape 1414"/>
        <p:cNvGrpSpPr/>
        <p:nvPr/>
      </p:nvGrpSpPr>
      <p:grpSpPr>
        <a:xfrm>
          <a:off x="0" y="0"/>
          <a:ext cx="0" cy="0"/>
        </a:xfrm>
      </p:grpSpPr>
      <p:sp>
        <p:nvSpPr>
          <p:cNvPr id="1415" name="Google Shape;1415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416" name="Google Shape;1416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Jun needs to do some revision, so he uses three spinners to decide which </a:t>
            </a:r>
            <a:r>
              <a:rPr lang="en-GB" sz="1800">
                <a:solidFill>
                  <a:schemeClr val="accent4"/>
                </a:solidFill>
              </a:rPr>
              <a:t>subject</a:t>
            </a:r>
            <a:r>
              <a:rPr lang="en-GB" sz="1800"/>
              <a:t> {maths (M), english (E), science (S), geography (G)}, </a:t>
            </a:r>
            <a:r>
              <a:rPr lang="en-GB" sz="1800">
                <a:solidFill>
                  <a:schemeClr val="accent4"/>
                </a:solidFill>
              </a:rPr>
              <a:t>duration</a:t>
            </a:r>
            <a:r>
              <a:rPr lang="en-GB" sz="1800"/>
              <a:t> {20 mins (T), 60 mins (H)} and which </a:t>
            </a:r>
            <a:r>
              <a:rPr lang="en-GB" sz="1800">
                <a:solidFill>
                  <a:schemeClr val="accent4"/>
                </a:solidFill>
              </a:rPr>
              <a:t>resource</a:t>
            </a:r>
            <a:r>
              <a:rPr lang="en-GB" sz="1800"/>
              <a:t> {Oak National Academy (O), flashcards (F), books (B)}.</a:t>
            </a:r>
            <a:endParaRPr sz="1800"/>
          </a:p>
        </p:txBody>
      </p:sp>
      <p:sp>
        <p:nvSpPr>
          <p:cNvPr id="1417" name="Google Shape;1417;p82"/>
          <p:cNvSpPr/>
          <p:nvPr/>
        </p:nvSpPr>
        <p:spPr>
          <a:xfrm>
            <a:off x="2472612" y="2111633"/>
            <a:ext cx="1060800" cy="1060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8" name="Google Shape;1418;p82"/>
          <p:cNvSpPr/>
          <p:nvPr/>
        </p:nvSpPr>
        <p:spPr>
          <a:xfrm flipH="1">
            <a:off x="2481698" y="2120866"/>
            <a:ext cx="1042500" cy="10425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9" name="Google Shape;1419;p82"/>
          <p:cNvSpPr/>
          <p:nvPr/>
        </p:nvSpPr>
        <p:spPr>
          <a:xfrm>
            <a:off x="2481845" y="2120866"/>
            <a:ext cx="1042500" cy="10425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0" name="Google Shape;1420;p82"/>
          <p:cNvSpPr txBox="1"/>
          <p:nvPr/>
        </p:nvSpPr>
        <p:spPr>
          <a:xfrm>
            <a:off x="2709537" y="2731994"/>
            <a:ext cx="3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82"/>
          <p:cNvSpPr/>
          <p:nvPr/>
        </p:nvSpPr>
        <p:spPr>
          <a:xfrm>
            <a:off x="2481845" y="2120866"/>
            <a:ext cx="1042500" cy="10425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2" name="Google Shape;1422;p82"/>
          <p:cNvSpPr txBox="1"/>
          <p:nvPr/>
        </p:nvSpPr>
        <p:spPr>
          <a:xfrm>
            <a:off x="2678454" y="2279700"/>
            <a:ext cx="188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82"/>
          <p:cNvSpPr/>
          <p:nvPr/>
        </p:nvSpPr>
        <p:spPr>
          <a:xfrm flipH="1">
            <a:off x="2481698" y="2120866"/>
            <a:ext cx="1042500" cy="10425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4" name="Google Shape;1424;p82"/>
          <p:cNvSpPr txBox="1"/>
          <p:nvPr/>
        </p:nvSpPr>
        <p:spPr>
          <a:xfrm>
            <a:off x="3147498" y="2271950"/>
            <a:ext cx="15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2"/>
          <p:cNvSpPr txBox="1"/>
          <p:nvPr/>
        </p:nvSpPr>
        <p:spPr>
          <a:xfrm>
            <a:off x="3139727" y="2739764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6" name="Google Shape;1426;p82"/>
          <p:cNvGrpSpPr/>
          <p:nvPr/>
        </p:nvGrpSpPr>
        <p:grpSpPr>
          <a:xfrm>
            <a:off x="2972580" y="2152611"/>
            <a:ext cx="58734" cy="510996"/>
            <a:chOff x="996050" y="213293"/>
            <a:chExt cx="93900" cy="909732"/>
          </a:xfrm>
        </p:grpSpPr>
        <p:cxnSp>
          <p:nvCxnSpPr>
            <p:cNvPr id="1427" name="Google Shape;1427;p8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28" name="Google Shape;1428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29" name="Google Shape;1429;p82"/>
          <p:cNvSpPr/>
          <p:nvPr/>
        </p:nvSpPr>
        <p:spPr>
          <a:xfrm>
            <a:off x="5119569" y="2111633"/>
            <a:ext cx="1060800" cy="1060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0" name="Google Shape;1430;p82"/>
          <p:cNvSpPr/>
          <p:nvPr/>
        </p:nvSpPr>
        <p:spPr>
          <a:xfrm rot="7199788">
            <a:off x="5128917" y="2120942"/>
            <a:ext cx="1042311" cy="1042311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1" name="Google Shape;1431;p82"/>
          <p:cNvSpPr/>
          <p:nvPr/>
        </p:nvSpPr>
        <p:spPr>
          <a:xfrm rot="-7212182">
            <a:off x="5128795" y="2120925"/>
            <a:ext cx="1042409" cy="1042409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2" name="Google Shape;1432;p82"/>
          <p:cNvSpPr/>
          <p:nvPr/>
        </p:nvSpPr>
        <p:spPr>
          <a:xfrm>
            <a:off x="5128875" y="2120977"/>
            <a:ext cx="1042500" cy="10425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3" name="Google Shape;1433;p82"/>
          <p:cNvSpPr txBox="1"/>
          <p:nvPr/>
        </p:nvSpPr>
        <p:spPr>
          <a:xfrm>
            <a:off x="5842121" y="2367275"/>
            <a:ext cx="2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2"/>
          <p:cNvSpPr txBox="1"/>
          <p:nvPr/>
        </p:nvSpPr>
        <p:spPr>
          <a:xfrm>
            <a:off x="5575264" y="2748579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82"/>
          <p:cNvSpPr txBox="1"/>
          <p:nvPr/>
        </p:nvSpPr>
        <p:spPr>
          <a:xfrm>
            <a:off x="5289284" y="2367268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6" name="Google Shape;1436;p82"/>
          <p:cNvGrpSpPr/>
          <p:nvPr/>
        </p:nvGrpSpPr>
        <p:grpSpPr>
          <a:xfrm>
            <a:off x="5619537" y="2164647"/>
            <a:ext cx="58734" cy="510996"/>
            <a:chOff x="996050" y="213293"/>
            <a:chExt cx="93900" cy="909732"/>
          </a:xfrm>
        </p:grpSpPr>
        <p:cxnSp>
          <p:nvCxnSpPr>
            <p:cNvPr id="1437" name="Google Shape;1437;p8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38" name="Google Shape;1438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39" name="Google Shape;1439;p82"/>
          <p:cNvSpPr/>
          <p:nvPr/>
        </p:nvSpPr>
        <p:spPr>
          <a:xfrm>
            <a:off x="3785000" y="2111633"/>
            <a:ext cx="1060800" cy="1060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0" name="Google Shape;1440;p82"/>
          <p:cNvSpPr/>
          <p:nvPr/>
        </p:nvSpPr>
        <p:spPr>
          <a:xfrm flipH="1">
            <a:off x="3794086" y="2120866"/>
            <a:ext cx="1042500" cy="1042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1" name="Google Shape;1441;p82"/>
          <p:cNvSpPr/>
          <p:nvPr/>
        </p:nvSpPr>
        <p:spPr>
          <a:xfrm>
            <a:off x="3794233" y="2120866"/>
            <a:ext cx="1042500" cy="1042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2" name="Google Shape;1442;p82"/>
          <p:cNvSpPr txBox="1"/>
          <p:nvPr/>
        </p:nvSpPr>
        <p:spPr>
          <a:xfrm>
            <a:off x="3974261" y="2510260"/>
            <a:ext cx="357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82"/>
          <p:cNvSpPr txBox="1"/>
          <p:nvPr/>
        </p:nvSpPr>
        <p:spPr>
          <a:xfrm>
            <a:off x="4479010" y="2510260"/>
            <a:ext cx="39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4" name="Google Shape;1444;p82"/>
          <p:cNvGrpSpPr/>
          <p:nvPr/>
        </p:nvGrpSpPr>
        <p:grpSpPr>
          <a:xfrm>
            <a:off x="4284968" y="2169537"/>
            <a:ext cx="58734" cy="510996"/>
            <a:chOff x="996050" y="213293"/>
            <a:chExt cx="93900" cy="909732"/>
          </a:xfrm>
        </p:grpSpPr>
        <p:cxnSp>
          <p:nvCxnSpPr>
            <p:cNvPr id="1445" name="Google Shape;1445;p8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46" name="Google Shape;1446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47" name="Google Shape;1447;p82"/>
          <p:cNvSpPr txBox="1"/>
          <p:nvPr>
            <p:ph type="body" idx="1"/>
          </p:nvPr>
        </p:nvSpPr>
        <p:spPr>
          <a:xfrm>
            <a:off x="324000" y="3350100"/>
            <a:ext cx="84558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compare your list of possible outcomes to Jun’s list of possible outcomes</a:t>
            </a:r>
            <a:endParaRPr sz="1800"/>
          </a:p>
        </p:txBody>
      </p:sp>
      <p:sp>
        <p:nvSpPr>
          <p:cNvPr id="1448" name="Google Shape;1448;p82"/>
          <p:cNvSpPr txBox="1"/>
          <p:nvPr>
            <p:ph type="body" idx="1"/>
          </p:nvPr>
        </p:nvSpPr>
        <p:spPr>
          <a:xfrm>
            <a:off x="552600" y="3635650"/>
            <a:ext cx="73989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MTO, EHB, STO, GTO, GHB, ETF, STF, GTF, MTB, ETB, SHB, GTB, MHO, SHO, EHO, MTF, MHF, EHF, STB, GHF, MHB, ETO, STB, GHO</a:t>
            </a:r>
            <a:endParaRPr sz="1800"/>
          </a:p>
        </p:txBody>
      </p:sp>
      <p:sp>
        <p:nvSpPr>
          <p:cNvPr id="1449" name="Google Shape;1449;p82"/>
          <p:cNvSpPr txBox="1"/>
          <p:nvPr>
            <p:ph type="body" idx="1"/>
          </p:nvPr>
        </p:nvSpPr>
        <p:spPr>
          <a:xfrm>
            <a:off x="552600" y="4416900"/>
            <a:ext cx="75531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 has missed SHF and duplicated STB. His list is not systematic.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53" name="Shape 1453"/>
        <p:cNvGrpSpPr/>
        <p:nvPr/>
      </p:nvGrpSpPr>
      <p:grpSpPr>
        <a:xfrm>
          <a:off x="0" y="0"/>
          <a:ext cx="0" cy="0"/>
        </a:xfrm>
      </p:grpSpPr>
      <p:sp>
        <p:nvSpPr>
          <p:cNvPr id="1454" name="Google Shape;1454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455" name="Google Shape;1455;p83"/>
          <p:cNvSpPr txBox="1"/>
          <p:nvPr>
            <p:ph type="body" idx="1"/>
          </p:nvPr>
        </p:nvSpPr>
        <p:spPr>
          <a:xfrm>
            <a:off x="324000" y="759300"/>
            <a:ext cx="82377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In a restaurant they have a fixed price three course menu.  </a:t>
            </a:r>
            <a:endParaRPr sz="1800"/>
          </a:p>
        </p:txBody>
      </p:sp>
      <p:sp>
        <p:nvSpPr>
          <p:cNvPr id="1456" name="Google Shape;1456;p83"/>
          <p:cNvSpPr txBox="1"/>
          <p:nvPr>
            <p:ph type="body" idx="1"/>
          </p:nvPr>
        </p:nvSpPr>
        <p:spPr>
          <a:xfrm>
            <a:off x="3410100" y="1162800"/>
            <a:ext cx="54099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write down all the possible outcomes that include ice cream as the dessert</a:t>
            </a:r>
            <a:endParaRPr sz="1800"/>
          </a:p>
        </p:txBody>
      </p:sp>
      <p:sp>
        <p:nvSpPr>
          <p:cNvPr id="1457" name="Google Shape;1457;p83"/>
          <p:cNvSpPr/>
          <p:nvPr/>
        </p:nvSpPr>
        <p:spPr>
          <a:xfrm>
            <a:off x="585325" y="1096725"/>
            <a:ext cx="2671200" cy="3704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83"/>
          <p:cNvSpPr txBox="1"/>
          <p:nvPr/>
        </p:nvSpPr>
        <p:spPr>
          <a:xfrm>
            <a:off x="585475" y="11628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83"/>
          <p:cNvSpPr txBox="1"/>
          <p:nvPr/>
        </p:nvSpPr>
        <p:spPr>
          <a:xfrm>
            <a:off x="576075" y="23008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3"/>
          <p:cNvSpPr txBox="1"/>
          <p:nvPr/>
        </p:nvSpPr>
        <p:spPr>
          <a:xfrm>
            <a:off x="585325" y="15094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Garlic mushrooms (G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83"/>
          <p:cNvSpPr txBox="1"/>
          <p:nvPr/>
        </p:nvSpPr>
        <p:spPr>
          <a:xfrm>
            <a:off x="576075" y="18561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Halloumi bites (H)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83"/>
          <p:cNvSpPr txBox="1"/>
          <p:nvPr/>
        </p:nvSpPr>
        <p:spPr>
          <a:xfrm>
            <a:off x="576075" y="29337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Fish and chips (F)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83"/>
          <p:cNvSpPr txBox="1"/>
          <p:nvPr/>
        </p:nvSpPr>
        <p:spPr>
          <a:xfrm>
            <a:off x="585475" y="2588250"/>
            <a:ext cx="2670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Bacon cheeseburger (C)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83"/>
          <p:cNvSpPr txBox="1"/>
          <p:nvPr/>
        </p:nvSpPr>
        <p:spPr>
          <a:xfrm>
            <a:off x="576175" y="33204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 curry (V)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83"/>
          <p:cNvSpPr txBox="1"/>
          <p:nvPr/>
        </p:nvSpPr>
        <p:spPr>
          <a:xfrm>
            <a:off x="594575" y="38291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Dessert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83"/>
          <p:cNvSpPr txBox="1"/>
          <p:nvPr/>
        </p:nvSpPr>
        <p:spPr>
          <a:xfrm>
            <a:off x="576075" y="446197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Fruit Salad (S)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83"/>
          <p:cNvSpPr txBox="1"/>
          <p:nvPr/>
        </p:nvSpPr>
        <p:spPr>
          <a:xfrm>
            <a:off x="576175" y="41165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Ice Cream (I)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83"/>
          <p:cNvSpPr txBox="1"/>
          <p:nvPr>
            <p:ph type="body" idx="1"/>
          </p:nvPr>
        </p:nvSpPr>
        <p:spPr>
          <a:xfrm>
            <a:off x="3924875" y="1882800"/>
            <a:ext cx="33147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GCI, GFI, GVI, HCI, HFI, HVI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9" name="Google Shape;1469;p83"/>
          <p:cNvSpPr txBox="1"/>
          <p:nvPr>
            <p:ph type="body" idx="1"/>
          </p:nvPr>
        </p:nvSpPr>
        <p:spPr>
          <a:xfrm>
            <a:off x="3410100" y="2435700"/>
            <a:ext cx="53697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list all the possible outcomes that include vegetable curry as the main course</a:t>
            </a:r>
            <a:endParaRPr sz="1800"/>
          </a:p>
        </p:txBody>
      </p:sp>
      <p:sp>
        <p:nvSpPr>
          <p:cNvPr id="1470" name="Google Shape;1470;p83"/>
          <p:cNvSpPr txBox="1"/>
          <p:nvPr>
            <p:ph type="body" idx="1"/>
          </p:nvPr>
        </p:nvSpPr>
        <p:spPr>
          <a:xfrm>
            <a:off x="3410100" y="3578700"/>
            <a:ext cx="53697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list all the possible outcomes that include garlic mushrooms as the starter and fruit salad as the dessert</a:t>
            </a:r>
            <a:endParaRPr sz="1800"/>
          </a:p>
        </p:txBody>
      </p:sp>
      <p:sp>
        <p:nvSpPr>
          <p:cNvPr id="1471" name="Google Shape;1471;p83"/>
          <p:cNvSpPr txBox="1"/>
          <p:nvPr>
            <p:ph type="body" idx="1"/>
          </p:nvPr>
        </p:nvSpPr>
        <p:spPr>
          <a:xfrm>
            <a:off x="4166275" y="3148800"/>
            <a:ext cx="22845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GVI, HVI, GVS, HVS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2" name="Google Shape;1472;p83"/>
          <p:cNvSpPr txBox="1"/>
          <p:nvPr>
            <p:ph type="body" idx="1"/>
          </p:nvPr>
        </p:nvSpPr>
        <p:spPr>
          <a:xfrm>
            <a:off x="4572000" y="4390725"/>
            <a:ext cx="1785600" cy="4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GCS, GFS, GVS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6" name="Shape 1476"/>
        <p:cNvGrpSpPr/>
        <p:nvPr/>
      </p:nvGrpSpPr>
      <p:grpSpPr>
        <a:xfrm>
          <a:off x="0" y="0"/>
          <a:ext cx="0" cy="0"/>
        </a:xfrm>
      </p:grpSpPr>
      <p:sp>
        <p:nvSpPr>
          <p:cNvPr id="1477" name="Google Shape;1477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a multi-stage trial</a:t>
            </a:r>
            <a:endParaRPr/>
          </a:p>
        </p:txBody>
      </p:sp>
      <p:sp>
        <p:nvSpPr>
          <p:cNvPr id="1478" name="Google Shape;1478;p84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sp>
        <p:nvSpPr>
          <p:cNvPr id="1479" name="Google Shape;1479;p84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more than two events</a:t>
            </a:r>
            <a:endParaRPr/>
          </a:p>
        </p:txBody>
      </p:sp>
      <p:pic>
        <p:nvPicPr>
          <p:cNvPr id="1480" name="Google Shape;148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80" y="298980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4" name="Shape 1484"/>
        <p:cNvGrpSpPr/>
        <p:nvPr/>
      </p:nvGrpSpPr>
      <p:grpSpPr>
        <a:xfrm>
          <a:off x="0" y="0"/>
          <a:ext cx="0" cy="0"/>
        </a:xfrm>
      </p:grpSpPr>
      <p:sp>
        <p:nvSpPr>
          <p:cNvPr id="1485" name="Google Shape;1485;p85"/>
          <p:cNvSpPr txBox="1"/>
          <p:nvPr>
            <p:ph type="body" idx="1"/>
          </p:nvPr>
        </p:nvSpPr>
        <p:spPr>
          <a:xfrm>
            <a:off x="324000" y="7593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spinner has the outcomes {2, 3, 4, 8, 11, 13, 15, 16, 20, 25}.</a:t>
            </a:r>
            <a:endParaRPr sz="1800"/>
          </a:p>
        </p:txBody>
      </p:sp>
      <p:sp>
        <p:nvSpPr>
          <p:cNvPr id="1486" name="Google Shape;148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grpSp>
        <p:nvGrpSpPr>
          <p:cNvPr id="1487" name="Google Shape;1487;p85"/>
          <p:cNvGrpSpPr/>
          <p:nvPr/>
        </p:nvGrpSpPr>
        <p:grpSpPr>
          <a:xfrm>
            <a:off x="6527518" y="596877"/>
            <a:ext cx="2541444" cy="2539200"/>
            <a:chOff x="2689958" y="1388753"/>
            <a:chExt cx="2541444" cy="2539200"/>
          </a:xfrm>
        </p:grpSpPr>
        <p:sp>
          <p:nvSpPr>
            <p:cNvPr id="1488" name="Google Shape;1488;p85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9" name="Google Shape;1489;p85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0" name="Google Shape;1490;p85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1" name="Google Shape;1491;p85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2" name="Google Shape;1492;p85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3" name="Google Shape;1493;p85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85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5" name="Google Shape;1495;p85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6" name="Google Shape;1496;p85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7" name="Google Shape;1497;p85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98" name="Google Shape;1498;p85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1499" name="Google Shape;1499;p85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500" name="Google Shape;1500;p85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01" name="Google Shape;1501;p85"/>
            <p:cNvSpPr txBox="1"/>
            <p:nvPr/>
          </p:nvSpPr>
          <p:spPr>
            <a:xfrm>
              <a:off x="3673554" y="18642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2" name="Google Shape;1502;p85"/>
            <p:cNvSpPr txBox="1"/>
            <p:nvPr/>
          </p:nvSpPr>
          <p:spPr>
            <a:xfrm>
              <a:off x="4097554" y="1878950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3" name="Google Shape;1503;p85"/>
            <p:cNvSpPr txBox="1"/>
            <p:nvPr/>
          </p:nvSpPr>
          <p:spPr>
            <a:xfrm>
              <a:off x="4491229" y="21105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4" name="Google Shape;1504;p85"/>
            <p:cNvSpPr txBox="1"/>
            <p:nvPr/>
          </p:nvSpPr>
          <p:spPr>
            <a:xfrm>
              <a:off x="4582099" y="2535375"/>
              <a:ext cx="224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5" name="Google Shape;1505;p85"/>
            <p:cNvSpPr txBox="1"/>
            <p:nvPr/>
          </p:nvSpPr>
          <p:spPr>
            <a:xfrm>
              <a:off x="4428824" y="296130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6" name="Google Shape;1506;p85"/>
            <p:cNvSpPr txBox="1"/>
            <p:nvPr/>
          </p:nvSpPr>
          <p:spPr>
            <a:xfrm>
              <a:off x="4063052" y="3216500"/>
              <a:ext cx="289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7" name="Google Shape;1507;p85"/>
            <p:cNvSpPr txBox="1"/>
            <p:nvPr/>
          </p:nvSpPr>
          <p:spPr>
            <a:xfrm>
              <a:off x="3634020" y="3216721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8" name="Google Shape;1508;p85"/>
            <p:cNvSpPr txBox="1"/>
            <p:nvPr/>
          </p:nvSpPr>
          <p:spPr>
            <a:xfrm>
              <a:off x="3275249" y="2962440"/>
              <a:ext cx="25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9" name="Google Shape;1509;p85"/>
            <p:cNvSpPr txBox="1"/>
            <p:nvPr/>
          </p:nvSpPr>
          <p:spPr>
            <a:xfrm>
              <a:off x="3140723" y="2544750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0" name="Google Shape;1510;p85"/>
            <p:cNvSpPr txBox="1"/>
            <p:nvPr/>
          </p:nvSpPr>
          <p:spPr>
            <a:xfrm>
              <a:off x="3328508" y="2110575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1" name="Google Shape;1511;p85"/>
          <p:cNvSpPr txBox="1"/>
          <p:nvPr>
            <p:ph type="body" idx="1"/>
          </p:nvPr>
        </p:nvSpPr>
        <p:spPr>
          <a:xfrm>
            <a:off x="324000" y="12927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Event A = prime numbers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Event B = non-square numbers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Event C = odd numbers</a:t>
            </a:r>
            <a:endParaRPr sz="1800"/>
          </a:p>
        </p:txBody>
      </p:sp>
      <p:sp>
        <p:nvSpPr>
          <p:cNvPr id="1512" name="Google Shape;1512;p85"/>
          <p:cNvSpPr txBox="1"/>
          <p:nvPr>
            <p:ph type="body" idx="1"/>
          </p:nvPr>
        </p:nvSpPr>
        <p:spPr>
          <a:xfrm>
            <a:off x="324000" y="26643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spin the spinner once, which of the possible outcomes would be outcomes of event A, B and C?</a:t>
            </a:r>
            <a:endParaRPr sz="1800"/>
          </a:p>
        </p:txBody>
      </p:sp>
      <p:sp>
        <p:nvSpPr>
          <p:cNvPr id="1513" name="Google Shape;1513;p85"/>
          <p:cNvSpPr txBox="1"/>
          <p:nvPr>
            <p:ph type="body" idx="1"/>
          </p:nvPr>
        </p:nvSpPr>
        <p:spPr>
          <a:xfrm>
            <a:off x="5111700" y="3035700"/>
            <a:ext cx="16173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{3, 11, 13}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4" name="Google Shape;1514;p85"/>
          <p:cNvSpPr txBox="1"/>
          <p:nvPr>
            <p:ph type="body" idx="1"/>
          </p:nvPr>
        </p:nvSpPr>
        <p:spPr>
          <a:xfrm>
            <a:off x="324000" y="3444300"/>
            <a:ext cx="40347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 = {2, 3, 11, 13}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 = {2, 3, 8, 11, 13, 15, 20}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 = {3, 11, 13, 15, 25}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8" name="Shape 1518"/>
        <p:cNvGrpSpPr/>
        <p:nvPr/>
      </p:nvGrpSpPr>
      <p:grpSpPr>
        <a:xfrm>
          <a:off x="0" y="0"/>
          <a:ext cx="0" cy="0"/>
        </a:xfrm>
      </p:grpSpPr>
      <p:sp>
        <p:nvSpPr>
          <p:cNvPr id="1519" name="Google Shape;1519;p86"/>
          <p:cNvSpPr txBox="1"/>
          <p:nvPr>
            <p:ph type="body" idx="1"/>
          </p:nvPr>
        </p:nvSpPr>
        <p:spPr>
          <a:xfrm>
            <a:off x="324000" y="7593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spinner has the outcomes {2, 3, 4, 8, 11, 13, 15, 16, 20, 25}.</a:t>
            </a:r>
            <a:endParaRPr sz="1800"/>
          </a:p>
        </p:txBody>
      </p:sp>
      <p:sp>
        <p:nvSpPr>
          <p:cNvPr id="1520" name="Google Shape;1520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grpSp>
        <p:nvGrpSpPr>
          <p:cNvPr id="1521" name="Google Shape;1521;p86"/>
          <p:cNvGrpSpPr/>
          <p:nvPr/>
        </p:nvGrpSpPr>
        <p:grpSpPr>
          <a:xfrm>
            <a:off x="6527518" y="596877"/>
            <a:ext cx="2541444" cy="2539200"/>
            <a:chOff x="2689958" y="1388753"/>
            <a:chExt cx="2541444" cy="2539200"/>
          </a:xfrm>
        </p:grpSpPr>
        <p:sp>
          <p:nvSpPr>
            <p:cNvPr id="1522" name="Google Shape;1522;p86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3" name="Google Shape;1523;p86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4" name="Google Shape;1524;p86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5" name="Google Shape;1525;p86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6" name="Google Shape;1526;p86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7" name="Google Shape;1527;p86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8" name="Google Shape;1528;p86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9" name="Google Shape;1529;p86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0" name="Google Shape;1530;p86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1" name="Google Shape;1531;p86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32" name="Google Shape;1532;p86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1533" name="Google Shape;1533;p86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534" name="Google Shape;1534;p86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35" name="Google Shape;1535;p86"/>
            <p:cNvSpPr txBox="1"/>
            <p:nvPr/>
          </p:nvSpPr>
          <p:spPr>
            <a:xfrm>
              <a:off x="3673554" y="18642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6" name="Google Shape;1536;p86"/>
            <p:cNvSpPr txBox="1"/>
            <p:nvPr/>
          </p:nvSpPr>
          <p:spPr>
            <a:xfrm>
              <a:off x="4097554" y="1878950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7" name="Google Shape;1537;p86"/>
            <p:cNvSpPr txBox="1"/>
            <p:nvPr/>
          </p:nvSpPr>
          <p:spPr>
            <a:xfrm>
              <a:off x="4491229" y="21105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8" name="Google Shape;1538;p86"/>
            <p:cNvSpPr txBox="1"/>
            <p:nvPr/>
          </p:nvSpPr>
          <p:spPr>
            <a:xfrm>
              <a:off x="4582099" y="2535375"/>
              <a:ext cx="224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9" name="Google Shape;1539;p86"/>
            <p:cNvSpPr txBox="1"/>
            <p:nvPr/>
          </p:nvSpPr>
          <p:spPr>
            <a:xfrm>
              <a:off x="4428824" y="296130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0" name="Google Shape;1540;p86"/>
            <p:cNvSpPr txBox="1"/>
            <p:nvPr/>
          </p:nvSpPr>
          <p:spPr>
            <a:xfrm>
              <a:off x="4063052" y="3216500"/>
              <a:ext cx="289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1" name="Google Shape;1541;p86"/>
            <p:cNvSpPr txBox="1"/>
            <p:nvPr/>
          </p:nvSpPr>
          <p:spPr>
            <a:xfrm>
              <a:off x="3634020" y="3216721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2" name="Google Shape;1542;p86"/>
            <p:cNvSpPr txBox="1"/>
            <p:nvPr/>
          </p:nvSpPr>
          <p:spPr>
            <a:xfrm>
              <a:off x="3275249" y="2962440"/>
              <a:ext cx="25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3" name="Google Shape;1543;p86"/>
            <p:cNvSpPr txBox="1"/>
            <p:nvPr/>
          </p:nvSpPr>
          <p:spPr>
            <a:xfrm>
              <a:off x="3140723" y="2544750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4" name="Google Shape;1544;p86"/>
            <p:cNvSpPr txBox="1"/>
            <p:nvPr/>
          </p:nvSpPr>
          <p:spPr>
            <a:xfrm>
              <a:off x="3328508" y="2110575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45" name="Google Shape;1545;p86"/>
          <p:cNvSpPr txBox="1"/>
          <p:nvPr>
            <p:ph type="body" idx="1"/>
          </p:nvPr>
        </p:nvSpPr>
        <p:spPr>
          <a:xfrm>
            <a:off x="324000" y="12927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Event A = prime numbers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Event B = non-square numbers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Event C = odd numbers</a:t>
            </a:r>
            <a:endParaRPr sz="1800"/>
          </a:p>
        </p:txBody>
      </p:sp>
      <p:sp>
        <p:nvSpPr>
          <p:cNvPr id="1546" name="Google Shape;1546;p86"/>
          <p:cNvSpPr txBox="1"/>
          <p:nvPr>
            <p:ph type="body" idx="1"/>
          </p:nvPr>
        </p:nvSpPr>
        <p:spPr>
          <a:xfrm>
            <a:off x="324000" y="26643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spin the spinner once, which of the possible outcomes would be outcomes of event A and B but not event C?</a:t>
            </a:r>
            <a:endParaRPr sz="1800"/>
          </a:p>
        </p:txBody>
      </p:sp>
      <p:sp>
        <p:nvSpPr>
          <p:cNvPr id="1547" name="Google Shape;1547;p86"/>
          <p:cNvSpPr txBox="1"/>
          <p:nvPr>
            <p:ph type="body" idx="1"/>
          </p:nvPr>
        </p:nvSpPr>
        <p:spPr>
          <a:xfrm>
            <a:off x="3835500" y="3422425"/>
            <a:ext cx="484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{2}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8" name="Google Shape;1548;p86"/>
          <p:cNvSpPr txBox="1"/>
          <p:nvPr>
            <p:ph type="body" idx="1"/>
          </p:nvPr>
        </p:nvSpPr>
        <p:spPr>
          <a:xfrm>
            <a:off x="324000" y="3444300"/>
            <a:ext cx="40347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 = {2, 3, 11, 13}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 = {2, 3, 8, 11, 13, 15, 20}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 = {3, 11, 13, 15, 25}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2" name="Shape 1552"/>
        <p:cNvGrpSpPr/>
        <p:nvPr/>
      </p:nvGrpSpPr>
      <p:grpSpPr>
        <a:xfrm>
          <a:off x="0" y="0"/>
          <a:ext cx="0" cy="0"/>
        </a:xfrm>
      </p:grpSpPr>
      <p:sp>
        <p:nvSpPr>
          <p:cNvPr id="1553" name="Google Shape;1553;p87"/>
          <p:cNvSpPr txBox="1"/>
          <p:nvPr>
            <p:ph type="body" idx="1"/>
          </p:nvPr>
        </p:nvSpPr>
        <p:spPr>
          <a:xfrm>
            <a:off x="324000" y="7593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spinner has the outcomes {2, 3, 4, 8, 11, 13, 15, 16, 20, 25}.</a:t>
            </a:r>
            <a:endParaRPr sz="1800"/>
          </a:p>
        </p:txBody>
      </p:sp>
      <p:sp>
        <p:nvSpPr>
          <p:cNvPr id="1554" name="Google Shape;1554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grpSp>
        <p:nvGrpSpPr>
          <p:cNvPr id="1555" name="Google Shape;1555;p87"/>
          <p:cNvGrpSpPr/>
          <p:nvPr/>
        </p:nvGrpSpPr>
        <p:grpSpPr>
          <a:xfrm>
            <a:off x="6527518" y="596877"/>
            <a:ext cx="2541444" cy="2539200"/>
            <a:chOff x="2689958" y="1388753"/>
            <a:chExt cx="2541444" cy="2539200"/>
          </a:xfrm>
        </p:grpSpPr>
        <p:sp>
          <p:nvSpPr>
            <p:cNvPr id="1556" name="Google Shape;1556;p87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7" name="Google Shape;1557;p87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8" name="Google Shape;1558;p87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9" name="Google Shape;1559;p87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0" name="Google Shape;1560;p87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1" name="Google Shape;1561;p87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2" name="Google Shape;1562;p87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3" name="Google Shape;1563;p87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4" name="Google Shape;1564;p87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87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66" name="Google Shape;1566;p87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1567" name="Google Shape;1567;p87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568" name="Google Shape;1568;p87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69" name="Google Shape;1569;p87"/>
            <p:cNvSpPr txBox="1"/>
            <p:nvPr/>
          </p:nvSpPr>
          <p:spPr>
            <a:xfrm>
              <a:off x="3673554" y="18642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87"/>
            <p:cNvSpPr txBox="1"/>
            <p:nvPr/>
          </p:nvSpPr>
          <p:spPr>
            <a:xfrm>
              <a:off x="4097554" y="1878950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1" name="Google Shape;1571;p87"/>
            <p:cNvSpPr txBox="1"/>
            <p:nvPr/>
          </p:nvSpPr>
          <p:spPr>
            <a:xfrm>
              <a:off x="4491229" y="21105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87"/>
            <p:cNvSpPr txBox="1"/>
            <p:nvPr/>
          </p:nvSpPr>
          <p:spPr>
            <a:xfrm>
              <a:off x="4582099" y="2535375"/>
              <a:ext cx="224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3" name="Google Shape;1573;p87"/>
            <p:cNvSpPr txBox="1"/>
            <p:nvPr/>
          </p:nvSpPr>
          <p:spPr>
            <a:xfrm>
              <a:off x="4428824" y="296130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4" name="Google Shape;1574;p87"/>
            <p:cNvSpPr txBox="1"/>
            <p:nvPr/>
          </p:nvSpPr>
          <p:spPr>
            <a:xfrm>
              <a:off x="4063052" y="3216500"/>
              <a:ext cx="289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5" name="Google Shape;1575;p87"/>
            <p:cNvSpPr txBox="1"/>
            <p:nvPr/>
          </p:nvSpPr>
          <p:spPr>
            <a:xfrm>
              <a:off x="3634020" y="3216721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6" name="Google Shape;1576;p87"/>
            <p:cNvSpPr txBox="1"/>
            <p:nvPr/>
          </p:nvSpPr>
          <p:spPr>
            <a:xfrm>
              <a:off x="3275249" y="2962440"/>
              <a:ext cx="25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7" name="Google Shape;1577;p87"/>
            <p:cNvSpPr txBox="1"/>
            <p:nvPr/>
          </p:nvSpPr>
          <p:spPr>
            <a:xfrm>
              <a:off x="3140723" y="2544750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8" name="Google Shape;1578;p87"/>
            <p:cNvSpPr txBox="1"/>
            <p:nvPr/>
          </p:nvSpPr>
          <p:spPr>
            <a:xfrm>
              <a:off x="3328508" y="2110575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9" name="Google Shape;1579;p87"/>
          <p:cNvSpPr txBox="1"/>
          <p:nvPr>
            <p:ph type="body" idx="1"/>
          </p:nvPr>
        </p:nvSpPr>
        <p:spPr>
          <a:xfrm>
            <a:off x="324000" y="12927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Event A = prime numbers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Event B = non-square numbers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Event C = odd numbers</a:t>
            </a:r>
            <a:endParaRPr sz="1800"/>
          </a:p>
        </p:txBody>
      </p:sp>
      <p:sp>
        <p:nvSpPr>
          <p:cNvPr id="1580" name="Google Shape;1580;p87"/>
          <p:cNvSpPr txBox="1"/>
          <p:nvPr>
            <p:ph type="body" idx="1"/>
          </p:nvPr>
        </p:nvSpPr>
        <p:spPr>
          <a:xfrm>
            <a:off x="324000" y="26643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spin the spinner once, which of the possible outcomes would be outcomes of event B and C but not event A?</a:t>
            </a:r>
            <a:endParaRPr sz="1800"/>
          </a:p>
        </p:txBody>
      </p:sp>
      <p:sp>
        <p:nvSpPr>
          <p:cNvPr id="1581" name="Google Shape;1581;p87"/>
          <p:cNvSpPr txBox="1"/>
          <p:nvPr>
            <p:ph type="body" idx="1"/>
          </p:nvPr>
        </p:nvSpPr>
        <p:spPr>
          <a:xfrm>
            <a:off x="3835500" y="3422425"/>
            <a:ext cx="484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2" name="Google Shape;1582;p87"/>
          <p:cNvSpPr txBox="1"/>
          <p:nvPr>
            <p:ph type="body" idx="1"/>
          </p:nvPr>
        </p:nvSpPr>
        <p:spPr>
          <a:xfrm>
            <a:off x="324000" y="3444300"/>
            <a:ext cx="40347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 = {2, 3, 11, 13}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 = {2, 3, 8, 11, 13, 15, 20}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 = {3, 11, 13, 15, 25}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6" name="Shape 1586"/>
        <p:cNvGrpSpPr/>
        <p:nvPr/>
      </p:nvGrpSpPr>
      <p:grpSpPr>
        <a:xfrm>
          <a:off x="0" y="0"/>
          <a:ext cx="0" cy="0"/>
        </a:xfrm>
      </p:grpSpPr>
      <p:sp>
        <p:nvSpPr>
          <p:cNvPr id="1587" name="Google Shape;1587;p88"/>
          <p:cNvSpPr txBox="1"/>
          <p:nvPr>
            <p:ph type="body" idx="1"/>
          </p:nvPr>
        </p:nvSpPr>
        <p:spPr>
          <a:xfrm>
            <a:off x="324000" y="759300"/>
            <a:ext cx="59328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this spinner is spun the possible outcomes are {2, 4, 5, 7, 8, 10, 11, 14, 16, 20}.</a:t>
            </a:r>
            <a:endParaRPr sz="1800"/>
          </a:p>
        </p:txBody>
      </p:sp>
      <p:sp>
        <p:nvSpPr>
          <p:cNvPr id="1588" name="Google Shape;158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grpSp>
        <p:nvGrpSpPr>
          <p:cNvPr id="1589" name="Google Shape;1589;p88"/>
          <p:cNvGrpSpPr/>
          <p:nvPr/>
        </p:nvGrpSpPr>
        <p:grpSpPr>
          <a:xfrm>
            <a:off x="6527518" y="596877"/>
            <a:ext cx="2541444" cy="2539200"/>
            <a:chOff x="2689958" y="1388753"/>
            <a:chExt cx="2541444" cy="2539200"/>
          </a:xfrm>
        </p:grpSpPr>
        <p:sp>
          <p:nvSpPr>
            <p:cNvPr id="1590" name="Google Shape;1590;p88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1" name="Google Shape;1591;p88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2" name="Google Shape;1592;p88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3" name="Google Shape;1593;p88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4" name="Google Shape;1594;p88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5" name="Google Shape;1595;p88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6" name="Google Shape;1596;p88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7" name="Google Shape;1597;p88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8" name="Google Shape;1598;p88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9" name="Google Shape;1599;p88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00" name="Google Shape;1600;p88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1601" name="Google Shape;1601;p88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602" name="Google Shape;1602;p88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603" name="Google Shape;1603;p88"/>
            <p:cNvSpPr txBox="1"/>
            <p:nvPr/>
          </p:nvSpPr>
          <p:spPr>
            <a:xfrm>
              <a:off x="3673554" y="18642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4" name="Google Shape;1604;p88"/>
            <p:cNvSpPr txBox="1"/>
            <p:nvPr/>
          </p:nvSpPr>
          <p:spPr>
            <a:xfrm>
              <a:off x="4097554" y="1878950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5" name="Google Shape;1605;p88"/>
            <p:cNvSpPr txBox="1"/>
            <p:nvPr/>
          </p:nvSpPr>
          <p:spPr>
            <a:xfrm>
              <a:off x="4491229" y="21105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6" name="Google Shape;1606;p88"/>
            <p:cNvSpPr txBox="1"/>
            <p:nvPr/>
          </p:nvSpPr>
          <p:spPr>
            <a:xfrm>
              <a:off x="4582099" y="2535375"/>
              <a:ext cx="224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7" name="Google Shape;1607;p88"/>
            <p:cNvSpPr txBox="1"/>
            <p:nvPr/>
          </p:nvSpPr>
          <p:spPr>
            <a:xfrm>
              <a:off x="4428824" y="296130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8" name="Google Shape;1608;p88"/>
            <p:cNvSpPr txBox="1"/>
            <p:nvPr/>
          </p:nvSpPr>
          <p:spPr>
            <a:xfrm>
              <a:off x="4063052" y="3216500"/>
              <a:ext cx="289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9" name="Google Shape;1609;p88"/>
            <p:cNvSpPr txBox="1"/>
            <p:nvPr/>
          </p:nvSpPr>
          <p:spPr>
            <a:xfrm>
              <a:off x="3634020" y="3216721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0" name="Google Shape;1610;p88"/>
            <p:cNvSpPr txBox="1"/>
            <p:nvPr/>
          </p:nvSpPr>
          <p:spPr>
            <a:xfrm>
              <a:off x="3275249" y="2962440"/>
              <a:ext cx="25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1" name="Google Shape;1611;p88"/>
            <p:cNvSpPr txBox="1"/>
            <p:nvPr/>
          </p:nvSpPr>
          <p:spPr>
            <a:xfrm>
              <a:off x="3140723" y="2544750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2" name="Google Shape;1612;p88"/>
            <p:cNvSpPr txBox="1"/>
            <p:nvPr/>
          </p:nvSpPr>
          <p:spPr>
            <a:xfrm>
              <a:off x="3328508" y="2110575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3" name="Google Shape;1613;p88"/>
          <p:cNvSpPr txBox="1"/>
          <p:nvPr>
            <p:ph type="body" idx="1"/>
          </p:nvPr>
        </p:nvSpPr>
        <p:spPr>
          <a:xfrm>
            <a:off x="324000" y="1559725"/>
            <a:ext cx="59328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List the outcomes that are even, factors of 28 and less than 10.</a:t>
            </a:r>
            <a:endParaRPr sz="1800"/>
          </a:p>
        </p:txBody>
      </p:sp>
      <p:sp>
        <p:nvSpPr>
          <p:cNvPr id="1614" name="Google Shape;1614;p88"/>
          <p:cNvSpPr txBox="1"/>
          <p:nvPr>
            <p:ph type="body" idx="1"/>
          </p:nvPr>
        </p:nvSpPr>
        <p:spPr>
          <a:xfrm>
            <a:off x="476400" y="2474125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Outcomes that are even {2, 4, 8, 10, 14, 16, 20}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Outcomes that are even and factors of 28 {2, 4, 14}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Outcomes that are even, factors of 28 and less than 10 are {2, 4}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8" name="Shape 1618"/>
        <p:cNvGrpSpPr/>
        <p:nvPr/>
      </p:nvGrpSpPr>
      <p:grpSpPr>
        <a:xfrm>
          <a:off x="0" y="0"/>
          <a:ext cx="0" cy="0"/>
        </a:xfrm>
      </p:grpSpPr>
      <p:sp>
        <p:nvSpPr>
          <p:cNvPr id="1619" name="Google Shape;1619;p89"/>
          <p:cNvSpPr txBox="1"/>
          <p:nvPr>
            <p:ph type="body" idx="1"/>
          </p:nvPr>
        </p:nvSpPr>
        <p:spPr>
          <a:xfrm>
            <a:off x="324000" y="759300"/>
            <a:ext cx="84960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 pupils are asked whether they have ever visited France, whether they have been on an aeroplane and whether they have any siblings.</a:t>
            </a:r>
            <a:endParaRPr sz="1800"/>
          </a:p>
        </p:txBody>
      </p:sp>
      <p:sp>
        <p:nvSpPr>
          <p:cNvPr id="1620" name="Google Shape;162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sp>
        <p:nvSpPr>
          <p:cNvPr id="1621" name="Google Shape;1621;p89"/>
          <p:cNvSpPr txBox="1"/>
          <p:nvPr>
            <p:ph type="body" idx="1"/>
          </p:nvPr>
        </p:nvSpPr>
        <p:spPr>
          <a:xfrm>
            <a:off x="324000" y="16737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Visited France = {Andeep, Jun, Alex, Sam, Laura}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Been on an aeroplane = {Alex, Jun, Aisha, Lucas, Laura, Izzy}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Have siblings = {Sofia, Lucas, Jacob, Izzy, Jun, Andeep}</a:t>
            </a:r>
            <a:endParaRPr sz="1800"/>
          </a:p>
        </p:txBody>
      </p:sp>
      <p:sp>
        <p:nvSpPr>
          <p:cNvPr id="1622" name="Google Shape;1622;p89"/>
          <p:cNvSpPr txBox="1"/>
          <p:nvPr>
            <p:ph type="body" idx="1"/>
          </p:nvPr>
        </p:nvSpPr>
        <p:spPr>
          <a:xfrm>
            <a:off x="324000" y="31425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are the names of the 10 pupils?</a:t>
            </a:r>
            <a:endParaRPr sz="1800"/>
          </a:p>
        </p:txBody>
      </p:sp>
      <p:sp>
        <p:nvSpPr>
          <p:cNvPr id="1623" name="Google Shape;1623;p89"/>
          <p:cNvSpPr txBox="1"/>
          <p:nvPr>
            <p:ph type="body" idx="1"/>
          </p:nvPr>
        </p:nvSpPr>
        <p:spPr>
          <a:xfrm>
            <a:off x="1112925" y="3481725"/>
            <a:ext cx="69774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Andeep, Jun, Alex, Sam, Laura, Aisha, Lucas, Izzy, Sofia, Jacob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7" name="Shape 1627"/>
        <p:cNvGrpSpPr/>
        <p:nvPr/>
      </p:nvGrpSpPr>
      <p:grpSpPr>
        <a:xfrm>
          <a:off x="0" y="0"/>
          <a:ext cx="0" cy="0"/>
        </a:xfrm>
      </p:grpSpPr>
      <p:sp>
        <p:nvSpPr>
          <p:cNvPr id="1628" name="Google Shape;1628;p90"/>
          <p:cNvSpPr txBox="1"/>
          <p:nvPr>
            <p:ph type="body" idx="1"/>
          </p:nvPr>
        </p:nvSpPr>
        <p:spPr>
          <a:xfrm>
            <a:off x="324000" y="759300"/>
            <a:ext cx="84960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 pupils are asked whether they have ever visited France, whether they have been on an aeroplane and whether they have any siblings.</a:t>
            </a:r>
            <a:endParaRPr sz="1800"/>
          </a:p>
        </p:txBody>
      </p:sp>
      <p:sp>
        <p:nvSpPr>
          <p:cNvPr id="1629" name="Google Shape;162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sp>
        <p:nvSpPr>
          <p:cNvPr id="1630" name="Google Shape;1630;p90"/>
          <p:cNvSpPr txBox="1"/>
          <p:nvPr>
            <p:ph type="body" idx="1"/>
          </p:nvPr>
        </p:nvSpPr>
        <p:spPr>
          <a:xfrm>
            <a:off x="324000" y="16737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Visited France = {Andeep, Jun, Alex, Sam, Laura}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Been on an aeroplane = {Alex, Jun, Aisha, Lucas, Laura, Izzy}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Have siblings = {Sofia, Lucas, Jacob, Izzy, Jun, Andeep}</a:t>
            </a:r>
            <a:endParaRPr sz="1800"/>
          </a:p>
        </p:txBody>
      </p:sp>
      <p:sp>
        <p:nvSpPr>
          <p:cNvPr id="1631" name="Google Shape;1631;p90"/>
          <p:cNvSpPr txBox="1"/>
          <p:nvPr>
            <p:ph type="body" idx="1"/>
          </p:nvPr>
        </p:nvSpPr>
        <p:spPr>
          <a:xfrm>
            <a:off x="324000" y="31425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pupil has visited France, been on an aeroplane and has siblings?</a:t>
            </a:r>
            <a:endParaRPr sz="1800"/>
          </a:p>
        </p:txBody>
      </p:sp>
      <p:sp>
        <p:nvSpPr>
          <p:cNvPr id="1632" name="Google Shape;1632;p90"/>
          <p:cNvSpPr txBox="1"/>
          <p:nvPr>
            <p:ph type="body" idx="1"/>
          </p:nvPr>
        </p:nvSpPr>
        <p:spPr>
          <a:xfrm>
            <a:off x="1842600" y="3575700"/>
            <a:ext cx="69774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6" name="Shape 1636"/>
        <p:cNvGrpSpPr/>
        <p:nvPr/>
      </p:nvGrpSpPr>
      <p:grpSpPr>
        <a:xfrm>
          <a:off x="0" y="0"/>
          <a:ext cx="0" cy="0"/>
        </a:xfrm>
      </p:grpSpPr>
      <p:sp>
        <p:nvSpPr>
          <p:cNvPr id="1637" name="Google Shape;1637;p91"/>
          <p:cNvSpPr txBox="1"/>
          <p:nvPr>
            <p:ph type="body" idx="1"/>
          </p:nvPr>
        </p:nvSpPr>
        <p:spPr>
          <a:xfrm>
            <a:off x="324000" y="759300"/>
            <a:ext cx="84960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 pupils are asked whether they have ever visited France, whether they have been on an aeroplane and whether they have any siblings.</a:t>
            </a:r>
            <a:endParaRPr sz="1800"/>
          </a:p>
        </p:txBody>
      </p:sp>
      <p:sp>
        <p:nvSpPr>
          <p:cNvPr id="1638" name="Google Shape;163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sp>
        <p:nvSpPr>
          <p:cNvPr id="1639" name="Google Shape;1639;p91"/>
          <p:cNvSpPr txBox="1"/>
          <p:nvPr>
            <p:ph type="body" idx="1"/>
          </p:nvPr>
        </p:nvSpPr>
        <p:spPr>
          <a:xfrm>
            <a:off x="324000" y="16737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Visited France = {Andeep, Jun, Alex, Sam, Laura}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Been on an aeroplane = {Alex, Jun, Aisha, Lucas, Laura, Izzy}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Have siblings = {Sofia, Lucas, Jacob, Izzy, Jun, Andeep}</a:t>
            </a:r>
            <a:endParaRPr sz="1800"/>
          </a:p>
        </p:txBody>
      </p:sp>
      <p:sp>
        <p:nvSpPr>
          <p:cNvPr id="1640" name="Google Shape;1640;p91"/>
          <p:cNvSpPr txBox="1"/>
          <p:nvPr>
            <p:ph type="body" idx="1"/>
          </p:nvPr>
        </p:nvSpPr>
        <p:spPr>
          <a:xfrm>
            <a:off x="324000" y="3142500"/>
            <a:ext cx="69465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pupils do not have any siblings?</a:t>
            </a:r>
            <a:endParaRPr sz="1800"/>
          </a:p>
        </p:txBody>
      </p:sp>
      <p:sp>
        <p:nvSpPr>
          <p:cNvPr id="1641" name="Google Shape;1641;p91"/>
          <p:cNvSpPr txBox="1"/>
          <p:nvPr>
            <p:ph type="body" idx="1"/>
          </p:nvPr>
        </p:nvSpPr>
        <p:spPr>
          <a:xfrm>
            <a:off x="1842600" y="3575700"/>
            <a:ext cx="69774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Alex, Sam, Laura and Aisha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5" name="Shape 1645"/>
        <p:cNvGrpSpPr/>
        <p:nvPr/>
      </p:nvGrpSpPr>
      <p:grpSpPr>
        <a:xfrm>
          <a:off x="0" y="0"/>
          <a:ext cx="0" cy="0"/>
        </a:xfrm>
      </p:grpSpPr>
      <p:sp>
        <p:nvSpPr>
          <p:cNvPr id="1646" name="Google Shape;1646;p92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Here is a pack of party hats.</a:t>
            </a:r>
            <a:endParaRPr/>
          </a:p>
        </p:txBody>
      </p:sp>
      <p:sp>
        <p:nvSpPr>
          <p:cNvPr id="1647" name="Google Shape;164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pic>
        <p:nvPicPr>
          <p:cNvPr id="1648" name="Google Shape;1648;p92"/>
          <p:cNvPicPr preferRelativeResize="0"/>
          <p:nvPr/>
        </p:nvPicPr>
        <p:blipFill>
          <a:blip r:embed="rId3">
            <a:alphaModFix/>
          </a:blip>
          <a:srcRect r="85007" b="47794"/>
          <a:stretch>
            <a:fillRect/>
          </a:stretch>
        </p:blipFill>
        <p:spPr>
          <a:xfrm>
            <a:off x="4108877" y="829588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92"/>
          <p:cNvPicPr preferRelativeResize="0"/>
          <p:nvPr/>
        </p:nvPicPr>
        <p:blipFill>
          <a:blip r:embed="rId3">
            <a:alphaModFix/>
          </a:blip>
          <a:srcRect l="20916" r="64090" b="47794"/>
          <a:stretch>
            <a:fillRect/>
          </a:stretch>
        </p:blipFill>
        <p:spPr>
          <a:xfrm>
            <a:off x="4588477" y="845301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p92"/>
          <p:cNvPicPr preferRelativeResize="0"/>
          <p:nvPr/>
        </p:nvPicPr>
        <p:blipFill>
          <a:blip r:embed="rId3">
            <a:alphaModFix/>
          </a:blip>
          <a:srcRect l="63469" t="-1905" r="21537" b="49699"/>
          <a:stretch>
            <a:fillRect/>
          </a:stretch>
        </p:blipFill>
        <p:spPr>
          <a:xfrm>
            <a:off x="7893153" y="810006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p92"/>
          <p:cNvPicPr preferRelativeResize="0"/>
          <p:nvPr/>
        </p:nvPicPr>
        <p:blipFill>
          <a:blip r:embed="rId3">
            <a:alphaModFix/>
          </a:blip>
          <a:srcRect l="85462" r="-455" b="47794"/>
          <a:stretch>
            <a:fillRect/>
          </a:stretch>
        </p:blipFill>
        <p:spPr>
          <a:xfrm>
            <a:off x="6950253" y="845518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92"/>
          <p:cNvPicPr preferRelativeResize="0"/>
          <p:nvPr/>
        </p:nvPicPr>
        <p:blipFill>
          <a:blip r:embed="rId3">
            <a:alphaModFix/>
          </a:blip>
          <a:srcRect l="-713" t="52920" r="85720" b="-5126"/>
          <a:stretch>
            <a:fillRect/>
          </a:stretch>
        </p:blipFill>
        <p:spPr>
          <a:xfrm>
            <a:off x="5535253" y="856736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p92"/>
          <p:cNvPicPr preferRelativeResize="0"/>
          <p:nvPr/>
        </p:nvPicPr>
        <p:blipFill>
          <a:blip r:embed="rId3">
            <a:alphaModFix/>
          </a:blip>
          <a:srcRect l="21101" t="51777" r="63905" b="-3983"/>
          <a:stretch>
            <a:fillRect/>
          </a:stretch>
        </p:blipFill>
        <p:spPr>
          <a:xfrm>
            <a:off x="5080504" y="833380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4" name="Google Shape;1654;p92"/>
          <p:cNvPicPr preferRelativeResize="0"/>
          <p:nvPr/>
        </p:nvPicPr>
        <p:blipFill>
          <a:blip r:embed="rId3">
            <a:alphaModFix/>
          </a:blip>
          <a:srcRect l="42737" t="53302" r="42269" b="-5507"/>
          <a:stretch>
            <a:fillRect/>
          </a:stretch>
        </p:blipFill>
        <p:spPr>
          <a:xfrm>
            <a:off x="8365254" y="850893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p92"/>
          <p:cNvPicPr preferRelativeResize="0"/>
          <p:nvPr/>
        </p:nvPicPr>
        <p:blipFill>
          <a:blip r:embed="rId3">
            <a:alphaModFix/>
          </a:blip>
          <a:srcRect l="85825" t="51777" r="-818" b="-3983"/>
          <a:stretch>
            <a:fillRect/>
          </a:stretch>
        </p:blipFill>
        <p:spPr>
          <a:xfrm>
            <a:off x="7421054" y="827536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92"/>
          <p:cNvPicPr preferRelativeResize="0"/>
          <p:nvPr/>
        </p:nvPicPr>
        <p:blipFill>
          <a:blip r:embed="rId3">
            <a:alphaModFix/>
          </a:blip>
          <a:srcRect l="64903" t="53302" r="20104" b="-5507"/>
          <a:stretch>
            <a:fillRect/>
          </a:stretch>
        </p:blipFill>
        <p:spPr>
          <a:xfrm>
            <a:off x="6476855" y="845518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92"/>
          <p:cNvPicPr preferRelativeResize="0"/>
          <p:nvPr/>
        </p:nvPicPr>
        <p:blipFill>
          <a:blip r:embed="rId3">
            <a:alphaModFix/>
          </a:blip>
          <a:srcRect l="41227" t="7713" r="41887" b="52401"/>
          <a:stretch>
            <a:fillRect/>
          </a:stretch>
        </p:blipFill>
        <p:spPr>
          <a:xfrm>
            <a:off x="5990000" y="943930"/>
            <a:ext cx="512100" cy="564000"/>
          </a:xfrm>
          <a:prstGeom prst="triangle">
            <a:avLst>
              <a:gd name="adj" fmla="val 50000"/>
            </a:avLst>
          </a:prstGeom>
          <a:noFill/>
          <a:ln>
            <a:noFill/>
          </a:ln>
        </p:spPr>
      </p:pic>
      <p:sp>
        <p:nvSpPr>
          <p:cNvPr id="1658" name="Google Shape;1658;p92"/>
          <p:cNvSpPr txBox="1"/>
          <p:nvPr>
            <p:ph type="body" idx="1"/>
          </p:nvPr>
        </p:nvSpPr>
        <p:spPr>
          <a:xfrm>
            <a:off x="324000" y="214315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Sofia would like a party hat that is striped, has a topper and a string. </a:t>
            </a:r>
            <a:br>
              <a:rPr lang="en-GB"/>
            </a:br>
            <a:r>
              <a:rPr lang="en-GB"/>
              <a:t>Which hats would satisfy Sofia’s requirements?</a:t>
            </a:r>
            <a:endParaRPr/>
          </a:p>
        </p:txBody>
      </p:sp>
      <p:sp>
        <p:nvSpPr>
          <p:cNvPr id="1659" name="Google Shape;1659;p92"/>
          <p:cNvSpPr txBox="1"/>
          <p:nvPr/>
        </p:nvSpPr>
        <p:spPr>
          <a:xfrm>
            <a:off x="4234211" y="16903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92"/>
          <p:cNvSpPr txBox="1"/>
          <p:nvPr/>
        </p:nvSpPr>
        <p:spPr>
          <a:xfrm>
            <a:off x="4747477" y="16903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92"/>
          <p:cNvSpPr txBox="1"/>
          <p:nvPr/>
        </p:nvSpPr>
        <p:spPr>
          <a:xfrm>
            <a:off x="5221784" y="16903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92"/>
          <p:cNvSpPr txBox="1"/>
          <p:nvPr/>
        </p:nvSpPr>
        <p:spPr>
          <a:xfrm>
            <a:off x="5678984" y="16903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92"/>
          <p:cNvSpPr txBox="1"/>
          <p:nvPr/>
        </p:nvSpPr>
        <p:spPr>
          <a:xfrm>
            <a:off x="6150838" y="16903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92"/>
          <p:cNvSpPr txBox="1"/>
          <p:nvPr/>
        </p:nvSpPr>
        <p:spPr>
          <a:xfrm>
            <a:off x="6632950" y="16903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92"/>
          <p:cNvSpPr txBox="1"/>
          <p:nvPr/>
        </p:nvSpPr>
        <p:spPr>
          <a:xfrm>
            <a:off x="7090150" y="16903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92"/>
          <p:cNvSpPr txBox="1"/>
          <p:nvPr/>
        </p:nvSpPr>
        <p:spPr>
          <a:xfrm>
            <a:off x="7566782" y="1679996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92"/>
          <p:cNvSpPr txBox="1"/>
          <p:nvPr/>
        </p:nvSpPr>
        <p:spPr>
          <a:xfrm>
            <a:off x="8080750" y="16903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92"/>
          <p:cNvSpPr txBox="1"/>
          <p:nvPr/>
        </p:nvSpPr>
        <p:spPr>
          <a:xfrm>
            <a:off x="8537950" y="16903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92"/>
          <p:cNvSpPr txBox="1"/>
          <p:nvPr>
            <p:ph type="body" idx="1"/>
          </p:nvPr>
        </p:nvSpPr>
        <p:spPr>
          <a:xfrm>
            <a:off x="4563625" y="3392400"/>
            <a:ext cx="17055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Hats D and F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0" name="Google Shape;1670;p92"/>
          <p:cNvSpPr/>
          <p:nvPr/>
        </p:nvSpPr>
        <p:spPr>
          <a:xfrm>
            <a:off x="5614623" y="1456928"/>
            <a:ext cx="295250" cy="150550"/>
          </a:xfrm>
          <a:custGeom>
            <a:rect l="l" t="t" r="r" b="b"/>
            <a:pathLst>
              <a:path w="11810" h="6022" extrusionOk="0">
                <a:moveTo>
                  <a:pt x="0" y="311"/>
                </a:moveTo>
                <a:cubicBezTo>
                  <a:pt x="0" y="3176"/>
                  <a:pt x="3701" y="6376"/>
                  <a:pt x="6527" y="5905"/>
                </a:cubicBezTo>
                <a:cubicBezTo>
                  <a:pt x="9132" y="5471"/>
                  <a:pt x="11810" y="2641"/>
                  <a:pt x="11810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71" name="Google Shape;1671;p92"/>
          <p:cNvSpPr/>
          <p:nvPr/>
        </p:nvSpPr>
        <p:spPr>
          <a:xfrm>
            <a:off x="6557900" y="1458034"/>
            <a:ext cx="295250" cy="150550"/>
          </a:xfrm>
          <a:custGeom>
            <a:rect l="l" t="t" r="r" b="b"/>
            <a:pathLst>
              <a:path w="11810" h="6022" extrusionOk="0">
                <a:moveTo>
                  <a:pt x="0" y="311"/>
                </a:moveTo>
                <a:cubicBezTo>
                  <a:pt x="0" y="3176"/>
                  <a:pt x="3701" y="6376"/>
                  <a:pt x="6527" y="5905"/>
                </a:cubicBezTo>
                <a:cubicBezTo>
                  <a:pt x="9132" y="5471"/>
                  <a:pt x="11810" y="2641"/>
                  <a:pt x="11810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72" name="Google Shape;1672;p92"/>
          <p:cNvSpPr/>
          <p:nvPr/>
        </p:nvSpPr>
        <p:spPr>
          <a:xfrm>
            <a:off x="7972900" y="1455560"/>
            <a:ext cx="295250" cy="150550"/>
          </a:xfrm>
          <a:custGeom>
            <a:rect l="l" t="t" r="r" b="b"/>
            <a:pathLst>
              <a:path w="11810" h="6022" extrusionOk="0">
                <a:moveTo>
                  <a:pt x="0" y="311"/>
                </a:moveTo>
                <a:cubicBezTo>
                  <a:pt x="0" y="3176"/>
                  <a:pt x="3701" y="6376"/>
                  <a:pt x="6527" y="5905"/>
                </a:cubicBezTo>
                <a:cubicBezTo>
                  <a:pt x="9132" y="5471"/>
                  <a:pt x="11810" y="2641"/>
                  <a:pt x="11810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73" name="Google Shape;1673;p92"/>
          <p:cNvSpPr/>
          <p:nvPr/>
        </p:nvSpPr>
        <p:spPr>
          <a:xfrm>
            <a:off x="4178729" y="1456433"/>
            <a:ext cx="295250" cy="150550"/>
          </a:xfrm>
          <a:custGeom>
            <a:rect l="l" t="t" r="r" b="b"/>
            <a:pathLst>
              <a:path w="11810" h="6022" extrusionOk="0">
                <a:moveTo>
                  <a:pt x="0" y="311"/>
                </a:moveTo>
                <a:cubicBezTo>
                  <a:pt x="0" y="3176"/>
                  <a:pt x="3701" y="6376"/>
                  <a:pt x="6527" y="5905"/>
                </a:cubicBezTo>
                <a:cubicBezTo>
                  <a:pt x="9132" y="5471"/>
                  <a:pt x="11810" y="2641"/>
                  <a:pt x="11810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74" name="Google Shape;1674;p92"/>
          <p:cNvSpPr/>
          <p:nvPr/>
        </p:nvSpPr>
        <p:spPr>
          <a:xfrm>
            <a:off x="7030000" y="1459564"/>
            <a:ext cx="295250" cy="150550"/>
          </a:xfrm>
          <a:custGeom>
            <a:rect l="l" t="t" r="r" b="b"/>
            <a:pathLst>
              <a:path w="11810" h="6022" extrusionOk="0">
                <a:moveTo>
                  <a:pt x="0" y="311"/>
                </a:moveTo>
                <a:cubicBezTo>
                  <a:pt x="0" y="3176"/>
                  <a:pt x="3701" y="6376"/>
                  <a:pt x="6527" y="5905"/>
                </a:cubicBezTo>
                <a:cubicBezTo>
                  <a:pt x="9132" y="5471"/>
                  <a:pt x="11810" y="2641"/>
                  <a:pt x="11810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75" name="Google Shape;1675;p92"/>
          <p:cNvSpPr/>
          <p:nvPr/>
        </p:nvSpPr>
        <p:spPr>
          <a:xfrm>
            <a:off x="8445134" y="1450592"/>
            <a:ext cx="295250" cy="150550"/>
          </a:xfrm>
          <a:custGeom>
            <a:rect l="l" t="t" r="r" b="b"/>
            <a:pathLst>
              <a:path w="11810" h="6022" extrusionOk="0">
                <a:moveTo>
                  <a:pt x="0" y="311"/>
                </a:moveTo>
                <a:cubicBezTo>
                  <a:pt x="0" y="3176"/>
                  <a:pt x="3701" y="6376"/>
                  <a:pt x="6527" y="5905"/>
                </a:cubicBezTo>
                <a:cubicBezTo>
                  <a:pt x="9132" y="5471"/>
                  <a:pt x="11810" y="2641"/>
                  <a:pt x="11810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79" name="Shape 1679"/>
        <p:cNvGrpSpPr/>
        <p:nvPr/>
      </p:nvGrpSpPr>
      <p:grpSpPr>
        <a:xfrm>
          <a:off x="0" y="0"/>
          <a:ext cx="0" cy="0"/>
        </a:xfrm>
      </p:grpSpPr>
      <p:sp>
        <p:nvSpPr>
          <p:cNvPr id="1680" name="Google Shape;1680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sp>
        <p:nvSpPr>
          <p:cNvPr id="1681" name="Google Shape;1681;p93"/>
          <p:cNvSpPr txBox="1"/>
          <p:nvPr>
            <p:ph type="body" idx="1"/>
          </p:nvPr>
        </p:nvSpPr>
        <p:spPr>
          <a:xfrm>
            <a:off x="324000" y="759300"/>
            <a:ext cx="8237700" cy="10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Andeep, Izzy and Lucas are playing a game using this spinner. Andeep wins a point if the word </a:t>
            </a:r>
            <a:r>
              <a:rPr lang="en-GB" sz="1800">
                <a:solidFill>
                  <a:schemeClr val="accent5"/>
                </a:solidFill>
              </a:rPr>
              <a:t>starts with an m</a:t>
            </a:r>
            <a:r>
              <a:rPr lang="en-GB" sz="1800"/>
              <a:t>, Izzy wins a point if the word has </a:t>
            </a:r>
            <a:r>
              <a:rPr lang="en-GB" sz="1800">
                <a:solidFill>
                  <a:schemeClr val="accent5"/>
                </a:solidFill>
              </a:rPr>
              <a:t>four letters</a:t>
            </a:r>
            <a:r>
              <a:rPr lang="en-GB" sz="1800"/>
              <a:t> and Lucas wins a point if the word </a:t>
            </a:r>
            <a:r>
              <a:rPr lang="en-GB" sz="1800">
                <a:solidFill>
                  <a:schemeClr val="accent5"/>
                </a:solidFill>
              </a:rPr>
              <a:t>ends in a vowel</a:t>
            </a:r>
            <a:r>
              <a:rPr lang="en-GB" sz="1800"/>
              <a:t>. </a:t>
            </a:r>
            <a:endParaRPr sz="1800"/>
          </a:p>
        </p:txBody>
      </p:sp>
      <p:sp>
        <p:nvSpPr>
          <p:cNvPr id="1682" name="Google Shape;1682;p93"/>
          <p:cNvSpPr/>
          <p:nvPr/>
        </p:nvSpPr>
        <p:spPr>
          <a:xfrm>
            <a:off x="6420250" y="1770900"/>
            <a:ext cx="2163300" cy="2163300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93"/>
          <p:cNvSpPr/>
          <p:nvPr/>
        </p:nvSpPr>
        <p:spPr>
          <a:xfrm rot="3085102">
            <a:off x="6420250" y="1770891"/>
            <a:ext cx="2163305" cy="2163305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93"/>
          <p:cNvSpPr/>
          <p:nvPr/>
        </p:nvSpPr>
        <p:spPr>
          <a:xfrm rot="6167707">
            <a:off x="6420251" y="1770900"/>
            <a:ext cx="2163319" cy="2163319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93"/>
          <p:cNvSpPr/>
          <p:nvPr/>
        </p:nvSpPr>
        <p:spPr>
          <a:xfrm rot="9252153">
            <a:off x="6420302" y="1770957"/>
            <a:ext cx="2163187" cy="2163187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93"/>
          <p:cNvSpPr/>
          <p:nvPr/>
        </p:nvSpPr>
        <p:spPr>
          <a:xfrm rot="-9263672">
            <a:off x="6420383" y="1771035"/>
            <a:ext cx="2163028" cy="2163028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93"/>
          <p:cNvSpPr/>
          <p:nvPr/>
        </p:nvSpPr>
        <p:spPr>
          <a:xfrm rot="-6179963">
            <a:off x="6420292" y="1770930"/>
            <a:ext cx="2163238" cy="2163238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93"/>
          <p:cNvSpPr/>
          <p:nvPr/>
        </p:nvSpPr>
        <p:spPr>
          <a:xfrm rot="-3096269">
            <a:off x="6420168" y="1770822"/>
            <a:ext cx="2163467" cy="2163467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93"/>
          <p:cNvSpPr txBox="1"/>
          <p:nvPr/>
        </p:nvSpPr>
        <p:spPr>
          <a:xfrm>
            <a:off x="7480519" y="1915913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menu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93"/>
          <p:cNvSpPr txBox="1"/>
          <p:nvPr/>
        </p:nvSpPr>
        <p:spPr>
          <a:xfrm>
            <a:off x="7900794" y="2491038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cello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93"/>
          <p:cNvSpPr txBox="1"/>
          <p:nvPr/>
        </p:nvSpPr>
        <p:spPr>
          <a:xfrm>
            <a:off x="7833569" y="3091738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tree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93"/>
          <p:cNvSpPr txBox="1"/>
          <p:nvPr/>
        </p:nvSpPr>
        <p:spPr>
          <a:xfrm>
            <a:off x="7232494" y="3437413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ship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93"/>
          <p:cNvSpPr txBox="1"/>
          <p:nvPr/>
        </p:nvSpPr>
        <p:spPr>
          <a:xfrm>
            <a:off x="6603007" y="3133151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milk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93"/>
          <p:cNvSpPr txBox="1"/>
          <p:nvPr/>
        </p:nvSpPr>
        <p:spPr>
          <a:xfrm>
            <a:off x="6409746" y="2511481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match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93"/>
          <p:cNvSpPr txBox="1"/>
          <p:nvPr/>
        </p:nvSpPr>
        <p:spPr>
          <a:xfrm>
            <a:off x="6700741" y="1922863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mouse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6" name="Google Shape;1696;p93"/>
          <p:cNvGrpSpPr/>
          <p:nvPr/>
        </p:nvGrpSpPr>
        <p:grpSpPr>
          <a:xfrm>
            <a:off x="7450870" y="2074987"/>
            <a:ext cx="93900" cy="816939"/>
            <a:chOff x="996050" y="213293"/>
            <a:chExt cx="93900" cy="909732"/>
          </a:xfrm>
        </p:grpSpPr>
        <p:cxnSp>
          <p:nvCxnSpPr>
            <p:cNvPr id="1697" name="Google Shape;1697;p9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98" name="Google Shape;1698;p9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99" name="Google Shape;1699;p93"/>
          <p:cNvSpPr txBox="1"/>
          <p:nvPr>
            <p:ph type="body" idx="1"/>
          </p:nvPr>
        </p:nvSpPr>
        <p:spPr>
          <a:xfrm>
            <a:off x="324000" y="1780800"/>
            <a:ext cx="51588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List the outcomes that get Andeep a point.</a:t>
            </a:r>
            <a:endParaRPr sz="1800"/>
          </a:p>
        </p:txBody>
      </p:sp>
      <p:sp>
        <p:nvSpPr>
          <p:cNvPr id="1700" name="Google Shape;1700;p93"/>
          <p:cNvSpPr txBox="1"/>
          <p:nvPr>
            <p:ph type="body" idx="1"/>
          </p:nvPr>
        </p:nvSpPr>
        <p:spPr>
          <a:xfrm>
            <a:off x="324000" y="2314200"/>
            <a:ext cx="51588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List the outcomes that get Izzy a point.</a:t>
            </a:r>
            <a:endParaRPr sz="1800"/>
          </a:p>
        </p:txBody>
      </p:sp>
      <p:sp>
        <p:nvSpPr>
          <p:cNvPr id="1701" name="Google Shape;1701;p93"/>
          <p:cNvSpPr txBox="1"/>
          <p:nvPr>
            <p:ph type="body" idx="1"/>
          </p:nvPr>
        </p:nvSpPr>
        <p:spPr>
          <a:xfrm>
            <a:off x="324000" y="2847600"/>
            <a:ext cx="51588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List the outcomes that get Lucas a point.</a:t>
            </a:r>
            <a:endParaRPr sz="1800"/>
          </a:p>
        </p:txBody>
      </p:sp>
      <p:sp>
        <p:nvSpPr>
          <p:cNvPr id="1702" name="Google Shape;1702;p93"/>
          <p:cNvSpPr txBox="1"/>
          <p:nvPr>
            <p:ph type="body" idx="1"/>
          </p:nvPr>
        </p:nvSpPr>
        <p:spPr>
          <a:xfrm>
            <a:off x="324000" y="3381000"/>
            <a:ext cx="60963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List the outcomes that get Andeep and Izzy a point.</a:t>
            </a:r>
            <a:endParaRPr sz="1800"/>
          </a:p>
        </p:txBody>
      </p:sp>
      <p:sp>
        <p:nvSpPr>
          <p:cNvPr id="1703" name="Google Shape;1703;p93"/>
          <p:cNvSpPr txBox="1"/>
          <p:nvPr>
            <p:ph type="body" idx="1"/>
          </p:nvPr>
        </p:nvSpPr>
        <p:spPr>
          <a:xfrm>
            <a:off x="324000" y="4447800"/>
            <a:ext cx="60963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f) List the outcome that gets all of them a point.</a:t>
            </a:r>
            <a:endParaRPr sz="1800"/>
          </a:p>
        </p:txBody>
      </p:sp>
      <p:sp>
        <p:nvSpPr>
          <p:cNvPr id="1704" name="Google Shape;1704;p93"/>
          <p:cNvSpPr txBox="1"/>
          <p:nvPr>
            <p:ph type="body" idx="1"/>
          </p:nvPr>
        </p:nvSpPr>
        <p:spPr>
          <a:xfrm>
            <a:off x="324000" y="3914400"/>
            <a:ext cx="60963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e) List the outcomes that get Izzy and Lucas a point.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8" name="Shape 1708"/>
        <p:cNvGrpSpPr/>
        <p:nvPr/>
      </p:nvGrpSpPr>
      <p:grpSpPr>
        <a:xfrm>
          <a:off x="0" y="0"/>
          <a:ext cx="0" cy="0"/>
        </a:xfrm>
      </p:grpSpPr>
      <p:sp>
        <p:nvSpPr>
          <p:cNvPr id="1709" name="Google Shape;1709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sp>
        <p:nvSpPr>
          <p:cNvPr id="1710" name="Google Shape;1710;p94"/>
          <p:cNvSpPr txBox="1"/>
          <p:nvPr>
            <p:ph type="body" idx="1"/>
          </p:nvPr>
        </p:nvSpPr>
        <p:spPr>
          <a:xfrm>
            <a:off x="324000" y="759300"/>
            <a:ext cx="8237700" cy="6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10 animals are sorted into three categories, whether they are critically endangered, whether they are a mammal and whether they live on land.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Critically endangered = {black rhino, hawksbill turtle, orangutan, vaquita, saola}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Mammal = {black rhino, orangutan, vaquita, blue whale, african wild dog, saola, sea lion, tiger}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Land animal = {black rhino, orangutan, african wild dog, monarch butterfly, macaw, saola, tiger}</a:t>
            </a:r>
            <a:endParaRPr sz="1800"/>
          </a:p>
        </p:txBody>
      </p:sp>
      <p:sp>
        <p:nvSpPr>
          <p:cNvPr id="1711" name="Google Shape;1711;p94"/>
          <p:cNvSpPr txBox="1"/>
          <p:nvPr>
            <p:ph type="body" idx="1"/>
          </p:nvPr>
        </p:nvSpPr>
        <p:spPr>
          <a:xfrm>
            <a:off x="321450" y="3714625"/>
            <a:ext cx="84984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List all the land mammals that are critically endangered.</a:t>
            </a:r>
            <a:endParaRPr sz="1800"/>
          </a:p>
        </p:txBody>
      </p:sp>
      <p:sp>
        <p:nvSpPr>
          <p:cNvPr id="1712" name="Google Shape;1712;p94"/>
          <p:cNvSpPr txBox="1"/>
          <p:nvPr>
            <p:ph type="body" idx="1"/>
          </p:nvPr>
        </p:nvSpPr>
        <p:spPr>
          <a:xfrm>
            <a:off x="321450" y="4226032"/>
            <a:ext cx="84984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List all the mammals that are not critically endangered.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16" name="Shape 1716"/>
        <p:cNvGrpSpPr/>
        <p:nvPr/>
      </p:nvGrpSpPr>
      <p:grpSpPr>
        <a:xfrm>
          <a:off x="0" y="0"/>
          <a:ext cx="0" cy="0"/>
        </a:xfrm>
      </p:grpSpPr>
      <p:sp>
        <p:nvSpPr>
          <p:cNvPr id="1717" name="Google Shape;1717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sp>
        <p:nvSpPr>
          <p:cNvPr id="1718" name="Google Shape;1718;p9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Andeep, Izzy and Lucas are playing a game using this spinner. Andeep wins a point if the word </a:t>
            </a:r>
            <a:r>
              <a:rPr lang="en-GB" sz="1800">
                <a:solidFill>
                  <a:schemeClr val="accent5"/>
                </a:solidFill>
              </a:rPr>
              <a:t>starts with an m</a:t>
            </a:r>
            <a:r>
              <a:rPr lang="en-GB" sz="1800"/>
              <a:t>, Izzy wins a point if the word has </a:t>
            </a:r>
            <a:r>
              <a:rPr lang="en-GB" sz="1800">
                <a:solidFill>
                  <a:schemeClr val="accent5"/>
                </a:solidFill>
              </a:rPr>
              <a:t>four letters</a:t>
            </a:r>
            <a:r>
              <a:rPr lang="en-GB" sz="1800"/>
              <a:t> and Lucas wins a point if the word </a:t>
            </a:r>
            <a:r>
              <a:rPr lang="en-GB" sz="1800">
                <a:solidFill>
                  <a:schemeClr val="accent5"/>
                </a:solidFill>
              </a:rPr>
              <a:t>ends in a vowel</a:t>
            </a:r>
            <a:r>
              <a:rPr lang="en-GB" sz="1800"/>
              <a:t>. </a:t>
            </a:r>
            <a:endParaRPr sz="1800"/>
          </a:p>
        </p:txBody>
      </p:sp>
      <p:sp>
        <p:nvSpPr>
          <p:cNvPr id="1719" name="Google Shape;1719;p95"/>
          <p:cNvSpPr/>
          <p:nvPr/>
        </p:nvSpPr>
        <p:spPr>
          <a:xfrm>
            <a:off x="6420250" y="1770900"/>
            <a:ext cx="2163300" cy="2163300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95"/>
          <p:cNvSpPr/>
          <p:nvPr/>
        </p:nvSpPr>
        <p:spPr>
          <a:xfrm rot="3085102">
            <a:off x="6420250" y="1770891"/>
            <a:ext cx="2163305" cy="2163305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95"/>
          <p:cNvSpPr/>
          <p:nvPr/>
        </p:nvSpPr>
        <p:spPr>
          <a:xfrm rot="6167707">
            <a:off x="6420251" y="1770900"/>
            <a:ext cx="2163319" cy="2163319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95"/>
          <p:cNvSpPr/>
          <p:nvPr/>
        </p:nvSpPr>
        <p:spPr>
          <a:xfrm rot="9252153">
            <a:off x="6420302" y="1770957"/>
            <a:ext cx="2163187" cy="2163187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95"/>
          <p:cNvSpPr/>
          <p:nvPr/>
        </p:nvSpPr>
        <p:spPr>
          <a:xfrm rot="-9263672">
            <a:off x="6420383" y="1771035"/>
            <a:ext cx="2163028" cy="2163028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95"/>
          <p:cNvSpPr/>
          <p:nvPr/>
        </p:nvSpPr>
        <p:spPr>
          <a:xfrm rot="-6179963">
            <a:off x="6420292" y="1770930"/>
            <a:ext cx="2163238" cy="2163238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95"/>
          <p:cNvSpPr/>
          <p:nvPr/>
        </p:nvSpPr>
        <p:spPr>
          <a:xfrm rot="-3096269">
            <a:off x="6420168" y="1770822"/>
            <a:ext cx="2163467" cy="2163467"/>
          </a:xfrm>
          <a:prstGeom prst="pie">
            <a:avLst>
              <a:gd name="adj1" fmla="val 13106558"/>
              <a:gd name="adj2" fmla="val 16200000"/>
            </a:avLst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95"/>
          <p:cNvSpPr txBox="1"/>
          <p:nvPr/>
        </p:nvSpPr>
        <p:spPr>
          <a:xfrm>
            <a:off x="7480519" y="1915913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menu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95"/>
          <p:cNvSpPr txBox="1"/>
          <p:nvPr/>
        </p:nvSpPr>
        <p:spPr>
          <a:xfrm>
            <a:off x="7900794" y="2491038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cello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95"/>
          <p:cNvSpPr txBox="1"/>
          <p:nvPr/>
        </p:nvSpPr>
        <p:spPr>
          <a:xfrm>
            <a:off x="7833569" y="3091738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tree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95"/>
          <p:cNvSpPr txBox="1"/>
          <p:nvPr/>
        </p:nvSpPr>
        <p:spPr>
          <a:xfrm>
            <a:off x="7232494" y="3437413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ship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95"/>
          <p:cNvSpPr txBox="1"/>
          <p:nvPr/>
        </p:nvSpPr>
        <p:spPr>
          <a:xfrm>
            <a:off x="6603007" y="3133151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milk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95"/>
          <p:cNvSpPr txBox="1"/>
          <p:nvPr/>
        </p:nvSpPr>
        <p:spPr>
          <a:xfrm>
            <a:off x="6409746" y="2511481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match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5"/>
          <p:cNvSpPr txBox="1"/>
          <p:nvPr/>
        </p:nvSpPr>
        <p:spPr>
          <a:xfrm>
            <a:off x="6700741" y="1922863"/>
            <a:ext cx="84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mouse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3" name="Google Shape;1733;p95"/>
          <p:cNvGrpSpPr/>
          <p:nvPr/>
        </p:nvGrpSpPr>
        <p:grpSpPr>
          <a:xfrm>
            <a:off x="7450870" y="2074987"/>
            <a:ext cx="93900" cy="816939"/>
            <a:chOff x="996050" y="213293"/>
            <a:chExt cx="93900" cy="909732"/>
          </a:xfrm>
        </p:grpSpPr>
        <p:cxnSp>
          <p:nvCxnSpPr>
            <p:cNvPr id="1734" name="Google Shape;1734;p9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35" name="Google Shape;1735;p9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36" name="Google Shape;1736;p95"/>
          <p:cNvSpPr txBox="1"/>
          <p:nvPr>
            <p:ph type="body" idx="1"/>
          </p:nvPr>
        </p:nvSpPr>
        <p:spPr>
          <a:xfrm>
            <a:off x="324000" y="1780800"/>
            <a:ext cx="51588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List the outcomes that get Andeep a point.</a:t>
            </a:r>
            <a:endParaRPr sz="1800"/>
          </a:p>
        </p:txBody>
      </p:sp>
      <p:sp>
        <p:nvSpPr>
          <p:cNvPr id="1737" name="Google Shape;1737;p95"/>
          <p:cNvSpPr txBox="1"/>
          <p:nvPr>
            <p:ph type="body" idx="1"/>
          </p:nvPr>
        </p:nvSpPr>
        <p:spPr>
          <a:xfrm>
            <a:off x="324000" y="2314200"/>
            <a:ext cx="51588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List the outcomes that get Izzy a point.</a:t>
            </a:r>
            <a:endParaRPr sz="1800"/>
          </a:p>
        </p:txBody>
      </p:sp>
      <p:sp>
        <p:nvSpPr>
          <p:cNvPr id="1738" name="Google Shape;1738;p95"/>
          <p:cNvSpPr txBox="1"/>
          <p:nvPr>
            <p:ph type="body" idx="1"/>
          </p:nvPr>
        </p:nvSpPr>
        <p:spPr>
          <a:xfrm>
            <a:off x="324000" y="2847600"/>
            <a:ext cx="51588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List the outcomes that get Lucas a point.</a:t>
            </a:r>
            <a:endParaRPr sz="1800"/>
          </a:p>
        </p:txBody>
      </p:sp>
      <p:sp>
        <p:nvSpPr>
          <p:cNvPr id="1739" name="Google Shape;1739;p95"/>
          <p:cNvSpPr txBox="1"/>
          <p:nvPr>
            <p:ph type="body" idx="1"/>
          </p:nvPr>
        </p:nvSpPr>
        <p:spPr>
          <a:xfrm>
            <a:off x="324000" y="3381000"/>
            <a:ext cx="60963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List the outcomes that get Andeep and Izzy a point.</a:t>
            </a:r>
            <a:endParaRPr sz="1800"/>
          </a:p>
        </p:txBody>
      </p:sp>
      <p:sp>
        <p:nvSpPr>
          <p:cNvPr id="1740" name="Google Shape;1740;p95"/>
          <p:cNvSpPr txBox="1"/>
          <p:nvPr>
            <p:ph type="body" idx="1"/>
          </p:nvPr>
        </p:nvSpPr>
        <p:spPr>
          <a:xfrm>
            <a:off x="324000" y="4447800"/>
            <a:ext cx="60963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f) List the outcome that gets all of them a point.</a:t>
            </a:r>
            <a:endParaRPr sz="1800"/>
          </a:p>
        </p:txBody>
      </p:sp>
      <p:sp>
        <p:nvSpPr>
          <p:cNvPr id="1741" name="Google Shape;1741;p95"/>
          <p:cNvSpPr txBox="1"/>
          <p:nvPr>
            <p:ph type="body" idx="1"/>
          </p:nvPr>
        </p:nvSpPr>
        <p:spPr>
          <a:xfrm>
            <a:off x="324000" y="3914400"/>
            <a:ext cx="60963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e) List the outcomes that get Izzy and Lucas a point.</a:t>
            </a:r>
            <a:endParaRPr sz="1800"/>
          </a:p>
        </p:txBody>
      </p:sp>
      <p:sp>
        <p:nvSpPr>
          <p:cNvPr id="1742" name="Google Shape;1742;p95"/>
          <p:cNvSpPr txBox="1"/>
          <p:nvPr>
            <p:ph type="body" idx="4294967295"/>
          </p:nvPr>
        </p:nvSpPr>
        <p:spPr>
          <a:xfrm>
            <a:off x="2887200" y="2038450"/>
            <a:ext cx="32538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{mouse, menu, match, milk}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3" name="Google Shape;1743;p95"/>
          <p:cNvSpPr txBox="1"/>
          <p:nvPr>
            <p:ph type="body" idx="4294967295"/>
          </p:nvPr>
        </p:nvSpPr>
        <p:spPr>
          <a:xfrm>
            <a:off x="2887200" y="2587338"/>
            <a:ext cx="32538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{menu, tree, ship, milk}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4" name="Google Shape;1744;p95"/>
          <p:cNvSpPr txBox="1"/>
          <p:nvPr>
            <p:ph type="body" idx="4294967295"/>
          </p:nvPr>
        </p:nvSpPr>
        <p:spPr>
          <a:xfrm>
            <a:off x="2887200" y="3120738"/>
            <a:ext cx="32538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{menu, cello, tree, mouse}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5" name="Google Shape;1745;p95"/>
          <p:cNvSpPr txBox="1"/>
          <p:nvPr>
            <p:ph type="body" idx="4294967295"/>
          </p:nvPr>
        </p:nvSpPr>
        <p:spPr>
          <a:xfrm>
            <a:off x="3039600" y="3654138"/>
            <a:ext cx="32538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{menu, milk}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6" name="Google Shape;1746;p95"/>
          <p:cNvSpPr txBox="1"/>
          <p:nvPr>
            <p:ph type="body" idx="4294967295"/>
          </p:nvPr>
        </p:nvSpPr>
        <p:spPr>
          <a:xfrm>
            <a:off x="3115800" y="4187538"/>
            <a:ext cx="32538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{menu, tree}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7" name="Google Shape;1747;p95"/>
          <p:cNvSpPr txBox="1"/>
          <p:nvPr>
            <p:ph type="body" idx="4294967295"/>
          </p:nvPr>
        </p:nvSpPr>
        <p:spPr>
          <a:xfrm>
            <a:off x="5782800" y="4416138"/>
            <a:ext cx="32538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{menu}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51" name="Shape 1751"/>
        <p:cNvGrpSpPr/>
        <p:nvPr/>
      </p:nvGrpSpPr>
      <p:grpSpPr>
        <a:xfrm>
          <a:off x="0" y="0"/>
          <a:ext cx="0" cy="0"/>
        </a:xfrm>
      </p:grpSpPr>
      <p:sp>
        <p:nvSpPr>
          <p:cNvPr id="1752" name="Google Shape;1752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from more than two events</a:t>
            </a:r>
            <a:endParaRPr/>
          </a:p>
        </p:txBody>
      </p:sp>
      <p:sp>
        <p:nvSpPr>
          <p:cNvPr id="1753" name="Google Shape;1753;p9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10 animals are sorted into three categories, whether they are critically endangered, whether they are a mammal and whether they live on land.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Critically endangered = {black rhino, hawksbill turtle, orangutan, vaquita, saola}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Mammal = {black rhino, orangutan, vaquita, blue whale, african wild dog, saola, sea lion, tiger}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Land animal = {black rhino, orangutan, african wild dog, monarch butterfly, macaw, saola, tiger}</a:t>
            </a:r>
            <a:endParaRPr sz="1800"/>
          </a:p>
        </p:txBody>
      </p:sp>
      <p:sp>
        <p:nvSpPr>
          <p:cNvPr id="1754" name="Google Shape;1754;p96"/>
          <p:cNvSpPr txBox="1"/>
          <p:nvPr>
            <p:ph type="body" idx="1"/>
          </p:nvPr>
        </p:nvSpPr>
        <p:spPr>
          <a:xfrm>
            <a:off x="321450" y="3714625"/>
            <a:ext cx="84984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List all the land mammals that are critically endangered.</a:t>
            </a:r>
            <a:endParaRPr sz="1800"/>
          </a:p>
        </p:txBody>
      </p:sp>
      <p:sp>
        <p:nvSpPr>
          <p:cNvPr id="1755" name="Google Shape;1755;p96"/>
          <p:cNvSpPr txBox="1"/>
          <p:nvPr>
            <p:ph type="body" idx="1"/>
          </p:nvPr>
        </p:nvSpPr>
        <p:spPr>
          <a:xfrm>
            <a:off x="321450" y="4226032"/>
            <a:ext cx="8498400" cy="3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List all the mammals that are not critically endangered.</a:t>
            </a:r>
            <a:endParaRPr sz="1800"/>
          </a:p>
        </p:txBody>
      </p:sp>
      <p:sp>
        <p:nvSpPr>
          <p:cNvPr id="1756" name="Google Shape;1756;p96"/>
          <p:cNvSpPr txBox="1"/>
          <p:nvPr>
            <p:ph type="body" idx="4294967295"/>
          </p:nvPr>
        </p:nvSpPr>
        <p:spPr>
          <a:xfrm>
            <a:off x="2887200" y="3943150"/>
            <a:ext cx="37869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{black rhino, orangutan, saola}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7" name="Google Shape;1757;p96"/>
          <p:cNvSpPr txBox="1"/>
          <p:nvPr>
            <p:ph type="body" idx="4294967295"/>
          </p:nvPr>
        </p:nvSpPr>
        <p:spPr>
          <a:xfrm>
            <a:off x="2005675" y="4521774"/>
            <a:ext cx="57459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{blue whale, african wild dog, sea lion, tiger}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61" name="Shape 1761"/>
        <p:cNvGrpSpPr/>
        <p:nvPr/>
      </p:nvGrpSpPr>
      <p:grpSpPr>
        <a:xfrm>
          <a:off x="0" y="0"/>
          <a:ext cx="0" cy="0"/>
        </a:xfrm>
      </p:grpSpPr>
      <p:sp>
        <p:nvSpPr>
          <p:cNvPr id="1762" name="Google Shape;1762;p97"/>
          <p:cNvSpPr txBox="1"/>
          <p:nvPr>
            <p:ph type="body" idx="1"/>
          </p:nvPr>
        </p:nvSpPr>
        <p:spPr>
          <a:xfrm>
            <a:off x="324000" y="1080000"/>
            <a:ext cx="8113800" cy="13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for more than two events can be stated or listed.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When listing outcomes it is useful to do it systematically, to avoid duplication or omissions.</a:t>
            </a:r>
            <a:endParaRPr/>
          </a:p>
        </p:txBody>
      </p:sp>
      <p:sp>
        <p:nvSpPr>
          <p:cNvPr id="1763" name="Google Shape;1763;p97"/>
          <p:cNvSpPr txBox="1"/>
          <p:nvPr>
            <p:ph type="title"/>
          </p:nvPr>
        </p:nvSpPr>
        <p:spPr>
          <a:xfrm>
            <a:off x="1684800" y="43825"/>
            <a:ext cx="5741400" cy="64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more than two events</a:t>
            </a:r>
            <a:endParaRPr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67" name="Shape 1767"/>
        <p:cNvGrpSpPr/>
        <p:nvPr/>
      </p:nvGrpSpPr>
      <p:grpSpPr>
        <a:xfrm>
          <a:off x="0" y="0"/>
          <a:ext cx="0" cy="0"/>
        </a:xfrm>
      </p:grpSpPr>
      <p:sp>
        <p:nvSpPr>
          <p:cNvPr id="1768" name="Google Shape;1768;p98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769" name="Google Shape;1769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533</Paragraphs>
  <Slides>36</Slides>
  <Notes>36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baseType="lpstr" size="45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Using lists to display outcomes for more than two events</vt:lpstr>
      <vt:lpstr>PowerPoint Presentation</vt:lpstr>
      <vt:lpstr>PowerPoint Presentation</vt:lpstr>
      <vt:lpstr>PowerPoint Presentation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a multi-stage trial</vt:lpstr>
      <vt:lpstr>Listing outcomes from more than two events</vt:lpstr>
      <vt:lpstr>Listing outcomes from more than two events</vt:lpstr>
      <vt:lpstr>Listing outcomes from more than two events</vt:lpstr>
      <vt:lpstr>Listing outcomes from more than two events</vt:lpstr>
      <vt:lpstr>Listing outcomes from more than two events</vt:lpstr>
      <vt:lpstr>Listing outcomes from more than two events</vt:lpstr>
      <vt:lpstr>Listing outcomes from more than two events</vt:lpstr>
      <vt:lpstr>Listing outcomes from more than two events</vt:lpstr>
      <vt:lpstr>Listing outcomes from more than two events</vt:lpstr>
      <vt:lpstr>Listing outcomes from more than two events</vt:lpstr>
      <vt:lpstr>Listing outcomes from more than two events</vt:lpstr>
      <vt:lpstr>Listing outcomes from more than two events</vt:lpstr>
      <vt:lpstr>Using lists to display outcomes for more than two events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2024-02-26T16:13:47.990</cp:lastPrinted>
  <dcterms:created xsi:type="dcterms:W3CDTF">2024-02-26T16:13:47Z</dcterms:created>
  <dcterms:modified xsi:type="dcterms:W3CDTF">2024-02-26T16:10:43Z</dcterms:modified>
</cp:coreProperties>
</file>