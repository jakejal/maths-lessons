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830" r:id="rId4"/>
    <p:sldMasterId id="2147483831" r:id="rId5"/>
    <p:sldMasterId id="214748383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A930BD-F6CC-41FE-9157-BB682E387DC2}">
  <a:tblStyle styleId="{57A930BD-F6CC-41FE-9157-BB682E387D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3" name="Google Shape;222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9" name="Google Shape;222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1ec5d41abbc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1ec5d41abbc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1ec5d41abbc_0_1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1ec5d41abbc_0_1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1ec5d41abbc_0_2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3" name="Google Shape;2253;g1ec5d41abbc_0_2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32d85dcabb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32d85dcabb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1ec5d41abbc_0_2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7" name="Google Shape;2267;g1ec5d41abbc_0_2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g1ec5d41abbc_0_3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3" name="Google Shape;2283;g1ec5d41abbc_0_3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1ec5d41abbc_0_3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8" name="Google Shape;2298;g1ec5d41abbc_0_3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g1ec5d41abbc_0_3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1" name="Google Shape;2311;g1ec5d41abbc_0_3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1ec5d41abbc_0_3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1ec5d41abbc_0_3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g1ec5d41abbc_0_3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1" name="Google Shape;2351;g1ec5d41abbc_0_3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1ec5d41abbc_0_3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1ec5d41abbc_0_3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g2a1f176ed7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3" name="Google Shape;2383;g2a1f176ed7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2a1f176ed7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2a1f176ed7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g2a1f176ed7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2" name="Google Shape;2422;g2a1f176ed7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g2a1f176ed70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1" name="Google Shape;2431;g2a1f176ed7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g2a1f176ed70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3" name="Google Shape;2443;g2a1f176ed70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2a1f176ed70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0" name="Google Shape;2460;g2a1f176ed70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g2a1f176ed70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2" name="Google Shape;2472;g2a1f176ed70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g2a1f176ed70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0" name="Google Shape;2500;g2a1f176ed70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g2a1f176ed70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2" name="Google Shape;2512;g2a1f176ed70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g2a1f176ed70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4" name="Google Shape;2524;g2a1f176ed70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g2a1f176ed70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6" name="Google Shape;2536;g2a1f176ed70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g2a1f176ed70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4" name="Google Shape;2544;g2a1f176ed70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g2a1f176ed70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7" name="Google Shape;2557;g2a1f176ed70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g2a1f176ed70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3" name="Google Shape;2573;g2a1f176ed70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4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g2a1f176ed70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6" name="Google Shape;2586;g2a1f176ed70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g2a1f176ed70_1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3" name="Google Shape;2603;g2a1f176ed70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Graphing software means we don’t have to rearrange in order to solve equations with unknowns both sides. We just plot the expressions and identify their intersection.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g2a1f176ed70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9" name="Google Shape;2619;g2a1f176ed70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g2a1f176ed70_1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9" name="Google Shape;2629;g2a1f176ed70_1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g2a1f176ed70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4" name="Google Shape;2644;g2a1f176ed70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5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g2a1f176ed70_1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7" name="Google Shape;2657;g2a1f176ed70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g2a1f176ed70_1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3" name="Google Shape;2673;g2a1f176ed70_1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7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Google Shape;2688;g2a1f176ed70_1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9" name="Google Shape;2689;g2a1f176ed70_1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2a1f176ed70_1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2a1f176ed70_1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g2a1f176ed70_1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2" name="Google Shape;2712;g2a1f176ed70_1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2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Google Shape;2723;g2a1f176ed70_1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4" name="Google Shape;2724;g2a1f176ed70_1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2a1f176ed70_1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6" name="Google Shape;2736;g2a1f176ed70_1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g2a1f176ed70_1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8" name="Google Shape;2748;g2a1f176ed70_1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8" name="Shape 2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Google Shape;2759;g2a1f176ed70_1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0" name="Google Shape;2760;g2a1f176ed70_1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g2a1f176ed70_1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1" name="Google Shape;2771;g2a1f176ed70_1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9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1" name="Google Shape;279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7" name="Google Shape;279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108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40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108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0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40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108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0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40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78"/>
          <p:cNvCxnSpPr>
            <a:endCxn id="89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6" name="Google Shape;89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8" name="Google Shape;898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5" name="Google Shape;895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7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79"/>
          <p:cNvCxnSpPr>
            <a:endCxn id="910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0" name="Google Shape;91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7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7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5" name="Google Shape;915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8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0" name="Google Shape;930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4" name="Google Shape;934;p8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5" name="Google Shape;935;p8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8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9" name="Google Shape;939;p8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2" name="Google Shape;972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8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5" name="Google Shape;975;p8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7" name="Google Shape;97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8" name="Google Shape;97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1" name="Google Shape;98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5" name="Google Shape;985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0" name="Google Shape;99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1" name="Google Shape;99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4" name="Google Shape;99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8" name="Google Shape;998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1" name="Google Shape;1001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3" name="Google Shape;1003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4" name="Google Shape;1004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7" name="Google Shape;1007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1" name="Google Shape;101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5" name="Google Shape;10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6" name="Google Shape;1016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7" name="Google Shape;1017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0" name="Google Shape;1020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Google Shape;1023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9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1" name="Google Shape;1031;p8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2" name="Google Shape;1032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3" name="Google Shape;1033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9" name="Google Shape;1039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3" name="Google Shape;1043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3" name="Google Shape;105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8" name="Google Shape;105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9" name="Google Shape;1059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2" name="Google Shape;106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5" name="Google Shape;107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6" name="Google Shape;1076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9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1" name="Google Shape;1081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2" name="Google Shape;108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5" name="Google Shape;108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7" name="Google Shape;108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9" name="Google Shape;109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2" name="Google Shape;1102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4" name="Google Shape;1104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5" name="Google Shape;110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0" name="Google Shape;111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8" name="Google Shape;1118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p9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3" name="Google Shape;1123;p9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4" name="Google Shape;1124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5" name="Google Shape;112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8" name="Google Shape;112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1" name="Google Shape;113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" name="Google Shape;1134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7" name="Google Shape;113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0" name="Google Shape;1140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4" name="Google Shape;1144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47" name="Google Shape;1147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0" name="Google Shape;1150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2" name="Google Shape;1162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3" name="Google Shape;116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6" name="Google Shape;116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9" name="Google Shape;116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2" name="Google Shape;1172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5" name="Google Shape;1175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8" name="Google Shape;1178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9" name="Google Shape;1179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0" name="Google Shape;1180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1" name="Google Shape;1181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5" name="Google Shape;118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1" name="Google Shape;1191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4" name="Google Shape;119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7" name="Google Shape;1197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0" name="Google Shape;1200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1" name="Google Shape;120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2" name="Google Shape;120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5" name="Google Shape;120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8" name="Google Shape;120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1" name="Google Shape;121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Google Shape;121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7" name="Google Shape;121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0" name="Google Shape;1220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1" name="Google Shape;1221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4" name="Google Shape;122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5" name="Google Shape;122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8" name="Google Shape;122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1" name="Google Shape;123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4" name="Google Shape;123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7" name="Google Shape;1237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7" name="Google Shape;1247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8" name="Google Shape;124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1" name="Google Shape;125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7" name="Google Shape;125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Google Shape;1260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3" name="Google Shape;126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6" name="Google Shape;1266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7" name="Google Shape;1267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0" name="Google Shape;1270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1283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6" name="Google Shape;128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9" name="Google Shape;1289;p10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0" name="Google Shape;1290;p10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1" name="Google Shape;1291;p10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2" name="Google Shape;1292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2" name="Google Shape;1302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5" name="Google Shape;1305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8" name="Google Shape;1308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9" name="Google Shape;1309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0" name="Google Shape;1310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1" name="Google Shape;1311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4" name="Google Shape;132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7" name="Google Shape;1327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8" name="Google Shape;1328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0" name="Google Shape;1330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3" name="Google Shape;134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6" name="Google Shape;1346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7" name="Google Shape;1347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8" name="Google Shape;1348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9" name="Google Shape;1349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9" name="Google Shape;1359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2" name="Google Shape;136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0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2" name="Google Shape;139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7" name="Google Shape;141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8" name="Google Shape;14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9" name="Google Shape;144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1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2" name="Google Shape;1452;p1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1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1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8" name="Google Shape;1458;p1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3" name="Google Shape;1463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1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2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2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2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6" name="Google Shape;147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2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5" name="Google Shape;1485;p12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12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2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8" name="Google Shape;1488;p124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89" name="Google Shape;1489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2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3" name="Google Shape;1493;p1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5" name="Google Shape;1495;p12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97" name="Google Shape;1497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12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99" name="Google Shape;1499;p12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12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2" name="Google Shape;1502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4" name="Google Shape;1504;p12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126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06" name="Google Shape;1506;p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12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9" name="Google Shape;1509;p12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1" name="Google Shape;1511;p12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2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13" name="Google Shape;1513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p12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515" name="Google Shape;1515;p12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6" name="Google Shape;1516;p1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7" name="Google Shape;1517;p12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18" name="Google Shape;1518;p1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0" name="Google Shape;1520;p1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12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2" name="Google Shape;1522;p12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2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24" name="Google Shape;1524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12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26" name="Google Shape;1526;p12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12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9" name="Google Shape;1529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129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31" name="Google Shape;1531;p1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2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33" name="Google Shape;1533;p12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4" name="Google Shape;1534;p12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35" name="Google Shape;1535;p1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6" name="Google Shape;1536;p12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7" name="Google Shape;1537;p1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3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2" name="Google Shape;1542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30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44" name="Google Shape;1544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13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7" name="Google Shape;1547;p13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13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9" name="Google Shape;1549;p13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3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51" name="Google Shape;1551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13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553" name="Google Shape;1553;p13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54" name="Google Shape;1554;p1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5" name="Google Shape;1555;p13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56" name="Google Shape;1556;p1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8" name="Google Shape;1558;p13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13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1" name="Google Shape;1561;p13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32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63" name="Google Shape;1563;p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13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" name="Google Shape;1566;p1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3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13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34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134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34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4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34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5" name="Google Shape;1575;p134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576" name="Google Shape;1576;p1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77" name="Google Shape;1577;p1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78" name="Google Shape;1578;p1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79" name="Google Shape;1579;p1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580" name="Google Shape;1580;p134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1" name="Google Shape;1581;p1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4" name="Google Shape;1584;p13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13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135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7" name="Google Shape;1587;p135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8" name="Google Shape;1588;p135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1" name="Google Shape;1591;p13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13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136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4" name="Google Shape;1594;p136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5" name="Google Shape;1595;p136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8" name="Google Shape;1598;p13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137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0" name="Google Shape;1600;p137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1" name="Google Shape;1601;p137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2" name="Google Shape;1602;p137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3" name="Google Shape;1603;p13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1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6" name="Google Shape;1606;p13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138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8" name="Google Shape;1608;p138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9" name="Google Shape;1609;p138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0" name="Google Shape;1610;p138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1" name="Google Shape;1611;p13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4" name="Google Shape;1614;p13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139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6" name="Google Shape;1616;p139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7" name="Google Shape;1617;p139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8" name="Google Shape;1618;p139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9" name="Google Shape;1619;p139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0" name="Google Shape;1620;p13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3" name="Google Shape;1623;p14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140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5" name="Google Shape;1625;p140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6" name="Google Shape;1626;p140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627" name="Google Shape;1627;p140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628" name="Google Shape;1628;p140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9" name="Google Shape;1629;p14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14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2" name="Google Shape;1632;p141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141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141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5" name="Google Shape;1635;p141"/>
          <p:cNvCxnSpPr>
            <a:endCxn id="1636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7" name="Google Shape;1637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14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39" name="Google Shape;1639;p14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36" name="Google Shape;1636;p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141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14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4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4" name="Google Shape;1644;p14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14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142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14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8" name="Google Shape;1648;p14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14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0" name="Google Shape;1650;p142"/>
          <p:cNvCxnSpPr>
            <a:endCxn id="165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51" name="Google Shape;1651;p1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1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14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54" name="Google Shape;1654;p14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55" name="Google Shape;1655;p14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56" name="Google Shape;1656;p1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57" name="Google Shape;1657;p14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8" name="Google Shape;1658;p142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p14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4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2" name="Google Shape;1662;p14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3" name="Google Shape;1663;p14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143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5" name="Google Shape;1665;p14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14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" name="Google Shape;1667;p14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8" name="Google Shape;1668;p143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14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0" name="Google Shape;1670;p143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71" name="Google Shape;1671;p1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2" name="Google Shape;1672;p1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3" name="Google Shape;1673;p1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143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5" name="Google Shape;1675;p143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6" name="Google Shape;1676;p143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7" name="Google Shape;1677;p143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78" name="Google Shape;1678;p14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4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0" name="Google Shape;1680;p143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14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43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4" name="Google Shape;1684;p1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144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1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87" name="Google Shape;1687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88" name="Google Shape;1688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14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1" name="Google Shape;1691;p1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1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1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94" name="Google Shape;1694;p14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6" name="Google Shape;1696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8" name="Google Shape;1698;p1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9" name="Google Shape;1699;p1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1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01" name="Google Shape;1701;p14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03" name="Google Shape;1703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5" name="Google Shape;1705;p1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1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08" name="Google Shape;1708;p14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10" name="Google Shape;1710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14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3" name="Google Shape;1713;p1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1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14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6" name="Google Shape;1716;p14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7" name="Google Shape;1717;p14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18" name="Google Shape;1718;p14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19" name="Google Shape;1719;p1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0" name="Google Shape;1720;p14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1" name="Google Shape;1721;p14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22" name="Google Shape;1722;p1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3" name="Google Shape;1723;p14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14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6" name="Google Shape;1726;p1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1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4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29" name="Google Shape;1729;p14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0" name="Google Shape;1730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31" name="Google Shape;1731;p14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32" name="Google Shape;1732;p1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3" name="Google Shape;1733;p14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4" name="Google Shape;1734;p14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35" name="Google Shape;1735;p1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6" name="Google Shape;1736;p14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150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9" name="Google Shape;1739;p1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p1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15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2" name="Google Shape;1742;p15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3" name="Google Shape;1743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4" name="Google Shape;1744;p15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45" name="Google Shape;1745;p1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6" name="Google Shape;1746;p15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7" name="Google Shape;1747;p15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48" name="Google Shape;1748;p1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9" name="Google Shape;1749;p15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5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2" name="Google Shape;1752;p1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1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15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55" name="Google Shape;1755;p15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56" name="Google Shape;1756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57" name="Google Shape;1757;p15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58" name="Google Shape;1758;p1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9" name="Google Shape;1759;p15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0" name="Google Shape;1760;p15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61" name="Google Shape;1761;p1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2" name="Google Shape;1762;p15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4" name="Google Shape;1764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5" name="Google Shape;1765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5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5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5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52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72" name="Google Shape;1772;p15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73" name="Google Shape;1773;p15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74" name="Google Shape;1774;p15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75" name="Google Shape;1775;p15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15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7" name="Google Shape;1777;p1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8" name="Google Shape;1778;p1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80" name="Google Shape;1780;p15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81" name="Google Shape;1781;p15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2" name="Google Shape;1782;p1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3" name="Google Shape;1783;p15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84" name="Google Shape;1784;p15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5" name="Google Shape;1785;p1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1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88" name="Google Shape;1788;p1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15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5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15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5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93" name="Google Shape;1793;p15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794" name="Google Shape;1794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7" name="Google Shape;1797;p15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98" name="Google Shape;1798;p15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99" name="Google Shape;1799;p15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00" name="Google Shape;1800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1" name="Google Shape;1801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2" name="Google Shape;1802;p15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03" name="Google Shape;1803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4" name="Google Shape;1804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05" name="Google Shape;1805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15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15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0" name="Google Shape;1810;p1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1" name="Google Shape;1811;p1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15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15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15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5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16" name="Google Shape;1816;p15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817" name="Google Shape;1817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1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0" name="Google Shape;1820;p15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1" name="Google Shape;1821;p15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22" name="Google Shape;1822;p15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23" name="Google Shape;1823;p1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4" name="Google Shape;1824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5" name="Google Shape;1825;p15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26" name="Google Shape;1826;p1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7" name="Google Shape;1827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28" name="Google Shape;1828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9" name="Google Shape;1829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15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5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3" name="Google Shape;1833;p1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34" name="Google Shape;1834;p1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15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5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5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5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39" name="Google Shape;1839;p15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840" name="Google Shape;1840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3" name="Google Shape;1843;p15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44" name="Google Shape;1844;p15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45" name="Google Shape;1845;p15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46" name="Google Shape;1846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7" name="Google Shape;1847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8" name="Google Shape;1848;p15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49" name="Google Shape;1849;p1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0" name="Google Shape;1850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51" name="Google Shape;1851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5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5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6" name="Google Shape;1856;p1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57" name="Google Shape;1857;p1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15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59" name="Google Shape;1859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0" name="Google Shape;1860;p1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5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2" name="Google Shape;1862;p15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3" name="Google Shape;1863;p15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4" name="Google Shape;1864;p15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65" name="Google Shape;1865;p15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66" name="Google Shape;1866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7" name="Google Shape;1867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8" name="Google Shape;1868;p15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69" name="Google Shape;1869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0" name="Google Shape;1870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1" name="Google Shape;1871;p15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72" name="Google Shape;1872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3" name="Google Shape;1873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5" name="Google Shape;1875;p1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76" name="Google Shape;1876;p1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15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78" name="Google Shape;1878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1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5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1" name="Google Shape;1881;p15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2" name="Google Shape;1882;p15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3" name="Google Shape;1883;p15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4" name="Google Shape;1884;p15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85" name="Google Shape;1885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6" name="Google Shape;1886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7" name="Google Shape;1887;p15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88" name="Google Shape;1888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9" name="Google Shape;1889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0" name="Google Shape;1890;p15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91" name="Google Shape;1891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2" name="Google Shape;1892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" name="Google Shape;1894;p1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1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15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97" name="Google Shape;1897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5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0" name="Google Shape;1900;p15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1" name="Google Shape;1901;p15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2" name="Google Shape;1902;p15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03" name="Google Shape;1903;p15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04" name="Google Shape;1904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5" name="Google Shape;1905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6" name="Google Shape;1906;p15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07" name="Google Shape;1907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8" name="Google Shape;1908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9" name="Google Shape;1909;p15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10" name="Google Shape;1910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1" name="Google Shape;1911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3" name="Google Shape;1913;p1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5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15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16" name="Google Shape;1916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7" name="Google Shape;1917;p1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5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9" name="Google Shape;1919;p15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0" name="Google Shape;1920;p15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1" name="Google Shape;1921;p15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22" name="Google Shape;1922;p15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23" name="Google Shape;1923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4" name="Google Shape;1924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5" name="Google Shape;1925;p15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26" name="Google Shape;1926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7" name="Google Shape;1927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8" name="Google Shape;1928;p15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29" name="Google Shape;1929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0" name="Google Shape;1930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2" name="Google Shape;1932;p1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6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35" name="Google Shape;1935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p16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8" name="Google Shape;1938;p16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9" name="Google Shape;1939;p16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40" name="Google Shape;1940;p16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41" name="Google Shape;1941;p16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42" name="Google Shape;1942;p16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43" name="Google Shape;1943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4" name="Google Shape;1944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5" name="Google Shape;1945;p16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46" name="Google Shape;1946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7" name="Google Shape;1947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8" name="Google Shape;1948;p16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49" name="Google Shape;1949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0" name="Google Shape;1950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1" name="Google Shape;1951;p16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52" name="Google Shape;1952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3" name="Google Shape;1953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5" name="Google Shape;1955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56" name="Google Shape;1956;p1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6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58" name="Google Shape;1958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9" name="Google Shape;1959;p1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6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1" name="Google Shape;1961;p16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2" name="Google Shape;1962;p16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3" name="Google Shape;1963;p16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4" name="Google Shape;1964;p16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65" name="Google Shape;1965;p16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66" name="Google Shape;1966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7" name="Google Shape;1967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8" name="Google Shape;1968;p16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69" name="Google Shape;1969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0" name="Google Shape;1970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1" name="Google Shape;1971;p16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72" name="Google Shape;1972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3" name="Google Shape;1973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4" name="Google Shape;1974;p16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75" name="Google Shape;1975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6" name="Google Shape;1976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16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81" name="Google Shape;1981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2" name="Google Shape;1982;p1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16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4" name="Google Shape;1984;p16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5" name="Google Shape;1985;p16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6" name="Google Shape;1986;p16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7" name="Google Shape;1987;p16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88" name="Google Shape;1988;p16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89" name="Google Shape;1989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0" name="Google Shape;1990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1" name="Google Shape;1991;p16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92" name="Google Shape;1992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3" name="Google Shape;1993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4" name="Google Shape;1994;p16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95" name="Google Shape;1995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6" name="Google Shape;1996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7" name="Google Shape;1997;p16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98" name="Google Shape;1998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9" name="Google Shape;1999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Google Shape;2001;p1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p1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16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04" name="Google Shape;2004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1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6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7" name="Google Shape;2007;p16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8" name="Google Shape;2008;p16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9" name="Google Shape;2009;p16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10" name="Google Shape;2010;p16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11" name="Google Shape;2011;p16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12" name="Google Shape;2012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3" name="Google Shape;2013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4" name="Google Shape;2014;p16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15" name="Google Shape;2015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6" name="Google Shape;2016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7" name="Google Shape;2017;p16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18" name="Google Shape;2018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9" name="Google Shape;2019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0" name="Google Shape;2020;p16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21" name="Google Shape;2021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2" name="Google Shape;2022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4" name="Google Shape;2024;p1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5" name="Google Shape;2025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16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27" name="Google Shape;2027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8" name="Google Shape;2028;p1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16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0" name="Google Shape;2030;p16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1" name="Google Shape;2031;p16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2" name="Google Shape;2032;p16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33" name="Google Shape;2033;p16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34" name="Google Shape;2034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5" name="Google Shape;2035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6" name="Google Shape;2036;p16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37" name="Google Shape;2037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8" name="Google Shape;2038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9" name="Google Shape;2039;p16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40" name="Google Shape;2040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1" name="Google Shape;2041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3" name="Google Shape;2043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44" name="Google Shape;2044;p1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16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46" name="Google Shape;2046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1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6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9" name="Google Shape;2049;p16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0" name="Google Shape;2050;p16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1" name="Google Shape;2051;p16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52" name="Google Shape;2052;p16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53" name="Google Shape;2053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4" name="Google Shape;2054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5" name="Google Shape;2055;p16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56" name="Google Shape;2056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7" name="Google Shape;2057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8" name="Google Shape;2058;p16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59" name="Google Shape;2059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0" name="Google Shape;2060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Google Shape;2062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16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65" name="Google Shape;2065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6" name="Google Shape;2066;p1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6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8" name="Google Shape;2068;p16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69" name="Google Shape;2069;p16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0" name="Google Shape;2070;p16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71" name="Google Shape;2071;p16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72" name="Google Shape;2072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3" name="Google Shape;2073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4" name="Google Shape;2074;p16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75" name="Google Shape;2075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6" name="Google Shape;2076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7" name="Google Shape;2077;p16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78" name="Google Shape;2078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9" name="Google Shape;2079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1" name="Google Shape;2081;p1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16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16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84" name="Google Shape;2084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5" name="Google Shape;2085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6" name="Google Shape;2086;p16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7" name="Google Shape;2087;p16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88" name="Google Shape;2088;p16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89" name="Google Shape;2089;p16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90" name="Google Shape;2090;p16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91" name="Google Shape;2091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2" name="Google Shape;2092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3" name="Google Shape;2093;p16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94" name="Google Shape;2094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5" name="Google Shape;2095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6" name="Google Shape;2096;p16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97" name="Google Shape;2097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8" name="Google Shape;2098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0" name="Google Shape;2100;p1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1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03" name="Google Shape;2103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5" name="Google Shape;2105;p1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7" name="Google Shape;2107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8" name="Google Shape;2108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1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10" name="Google Shape;2110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1" name="Google Shape;2111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1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4" name="Google Shape;2114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15" name="Google Shape;2115;p17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1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17" name="Google Shape;2117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8" name="Google Shape;2118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1" name="Google Shape;2121;p17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2" name="Google Shape;2122;p17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24" name="Google Shape;2124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5" name="Google Shape;2125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1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1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1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1" name="Google Shape;2131;p17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7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33" name="Google Shape;2133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4" name="Google Shape;2134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1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9" name="Google Shape;2139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7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1" name="Google Shape;2141;p1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42" name="Google Shape;2142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Google Shape;2144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1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47" name="Google Shape;2147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7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50" name="Google Shape;2150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2" name="Google Shape;2152;p17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3" name="Google Shape;2153;p1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1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5" name="Google Shape;2155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17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58" name="Google Shape;2158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1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1" name="Google Shape;2161;p1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1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3" name="Google Shape;2163;p176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4" name="Google Shape;2164;p1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65" name="Google Shape;2165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6" name="Google Shape;2166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8" name="Google Shape;2168;p17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1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1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1" name="Google Shape;2171;p17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3" name="Google Shape;2173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4" name="Google Shape;2174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6" name="Google Shape;2176;p17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Google Shape;2177;p17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1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9" name="Google Shape;2179;p17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1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1" name="Google Shape;2181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2" name="Google Shape;2182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4" name="Google Shape;2184;p17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5" name="Google Shape;2185;p1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1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87" name="Google Shape;2187;p179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1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9" name="Google Shape;2189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0" name="Google Shape;2190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18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3" name="Google Shape;2193;p1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18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5" name="Google Shape;2195;p18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18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18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9" name="Google Shape;2199;p1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18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01" name="Google Shape;2201;p18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81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4" name="Google Shape;2204;p1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205" name="Google Shape;2205;p18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18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8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18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18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18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2" name="Google Shape;2212;p18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3" name="Google Shape;2213;p18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4" name="Google Shape;2214;p18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18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7" name="Google Shape;2217;p1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8" name="Google Shape;2218;p184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18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theme" Target="../theme/theme4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59.xml"/><Relationship Id="rId42" Type="http://schemas.openxmlformats.org/officeDocument/2006/relationships/slideLayout" Target="../slideLayouts/slideLayout161.xml"/><Relationship Id="rId41" Type="http://schemas.openxmlformats.org/officeDocument/2006/relationships/slideLayout" Target="../slideLayouts/slideLayout160.xml"/><Relationship Id="rId44" Type="http://schemas.openxmlformats.org/officeDocument/2006/relationships/slideLayout" Target="../slideLayouts/slideLayout163.xml"/><Relationship Id="rId43" Type="http://schemas.openxmlformats.org/officeDocument/2006/relationships/slideLayout" Target="../slideLayouts/slideLayout162.xml"/><Relationship Id="rId46" Type="http://schemas.openxmlformats.org/officeDocument/2006/relationships/slideLayout" Target="../slideLayouts/slideLayout165.xml"/><Relationship Id="rId45" Type="http://schemas.openxmlformats.org/officeDocument/2006/relationships/slideLayout" Target="../slideLayouts/slideLayout16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48" Type="http://schemas.openxmlformats.org/officeDocument/2006/relationships/slideLayout" Target="../slideLayouts/slideLayout167.xml"/><Relationship Id="rId47" Type="http://schemas.openxmlformats.org/officeDocument/2006/relationships/slideLayout" Target="../slideLayouts/slideLayout166.xml"/><Relationship Id="rId49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31" Type="http://schemas.openxmlformats.org/officeDocument/2006/relationships/slideLayout" Target="../slideLayouts/slideLayout150.xml"/><Relationship Id="rId30" Type="http://schemas.openxmlformats.org/officeDocument/2006/relationships/slideLayout" Target="../slideLayouts/slideLayout149.xml"/><Relationship Id="rId33" Type="http://schemas.openxmlformats.org/officeDocument/2006/relationships/slideLayout" Target="../slideLayouts/slideLayout152.xml"/><Relationship Id="rId32" Type="http://schemas.openxmlformats.org/officeDocument/2006/relationships/slideLayout" Target="../slideLayouts/slideLayout151.xml"/><Relationship Id="rId35" Type="http://schemas.openxmlformats.org/officeDocument/2006/relationships/slideLayout" Target="../slideLayouts/slideLayout154.xml"/><Relationship Id="rId34" Type="http://schemas.openxmlformats.org/officeDocument/2006/relationships/slideLayout" Target="../slideLayouts/slideLayout153.xml"/><Relationship Id="rId37" Type="http://schemas.openxmlformats.org/officeDocument/2006/relationships/slideLayout" Target="../slideLayouts/slideLayout156.xml"/><Relationship Id="rId36" Type="http://schemas.openxmlformats.org/officeDocument/2006/relationships/slideLayout" Target="../slideLayouts/slideLayout155.xml"/><Relationship Id="rId39" Type="http://schemas.openxmlformats.org/officeDocument/2006/relationships/slideLayout" Target="../slideLayouts/slideLayout158.xml"/><Relationship Id="rId38" Type="http://schemas.openxmlformats.org/officeDocument/2006/relationships/slideLayout" Target="../slideLayouts/slideLayout157.xml"/><Relationship Id="rId62" Type="http://schemas.openxmlformats.org/officeDocument/2006/relationships/slideLayout" Target="../slideLayouts/slideLayout181.xml"/><Relationship Id="rId61" Type="http://schemas.openxmlformats.org/officeDocument/2006/relationships/slideLayout" Target="../slideLayouts/slideLayout180.xml"/><Relationship Id="rId20" Type="http://schemas.openxmlformats.org/officeDocument/2006/relationships/slideLayout" Target="../slideLayouts/slideLayout13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182.xml"/><Relationship Id="rId22" Type="http://schemas.openxmlformats.org/officeDocument/2006/relationships/slideLayout" Target="../slideLayouts/slideLayout141.xml"/><Relationship Id="rId21" Type="http://schemas.openxmlformats.org/officeDocument/2006/relationships/slideLayout" Target="../slideLayouts/slideLayout140.xml"/><Relationship Id="rId24" Type="http://schemas.openxmlformats.org/officeDocument/2006/relationships/slideLayout" Target="../slideLayouts/slideLayout143.xml"/><Relationship Id="rId23" Type="http://schemas.openxmlformats.org/officeDocument/2006/relationships/slideLayout" Target="../slideLayouts/slideLayout142.xml"/><Relationship Id="rId60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45.xml"/><Relationship Id="rId25" Type="http://schemas.openxmlformats.org/officeDocument/2006/relationships/slideLayout" Target="../slideLayouts/slideLayout144.xml"/><Relationship Id="rId28" Type="http://schemas.openxmlformats.org/officeDocument/2006/relationships/slideLayout" Target="../slideLayouts/slideLayout147.xml"/><Relationship Id="rId27" Type="http://schemas.openxmlformats.org/officeDocument/2006/relationships/slideLayout" Target="../slideLayouts/slideLayout146.xml"/><Relationship Id="rId29" Type="http://schemas.openxmlformats.org/officeDocument/2006/relationships/slideLayout" Target="../slideLayouts/slideLayout148.xml"/><Relationship Id="rId51" Type="http://schemas.openxmlformats.org/officeDocument/2006/relationships/slideLayout" Target="../slideLayouts/slideLayout170.xml"/><Relationship Id="rId50" Type="http://schemas.openxmlformats.org/officeDocument/2006/relationships/slideLayout" Target="../slideLayouts/slideLayout169.xml"/><Relationship Id="rId53" Type="http://schemas.openxmlformats.org/officeDocument/2006/relationships/slideLayout" Target="../slideLayouts/slideLayout172.xml"/><Relationship Id="rId52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30.xml"/><Relationship Id="rId55" Type="http://schemas.openxmlformats.org/officeDocument/2006/relationships/slideLayout" Target="../slideLayouts/slideLayout174.xml"/><Relationship Id="rId10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173.xml"/><Relationship Id="rId13" Type="http://schemas.openxmlformats.org/officeDocument/2006/relationships/slideLayout" Target="../slideLayouts/slideLayout132.xml"/><Relationship Id="rId57" Type="http://schemas.openxmlformats.org/officeDocument/2006/relationships/slideLayout" Target="../slideLayouts/slideLayout176.xml"/><Relationship Id="rId12" Type="http://schemas.openxmlformats.org/officeDocument/2006/relationships/slideLayout" Target="../slideLayouts/slideLayout131.xml"/><Relationship Id="rId56" Type="http://schemas.openxmlformats.org/officeDocument/2006/relationships/slideLayout" Target="../slideLayouts/slideLayout175.xml"/><Relationship Id="rId15" Type="http://schemas.openxmlformats.org/officeDocument/2006/relationships/slideLayout" Target="../slideLayouts/slideLayout134.xml"/><Relationship Id="rId59" Type="http://schemas.openxmlformats.org/officeDocument/2006/relationships/slideLayout" Target="../slideLayouts/slideLayout178.xml"/><Relationship Id="rId14" Type="http://schemas.openxmlformats.org/officeDocument/2006/relationships/slideLayout" Target="../slideLayouts/slideLayout133.xml"/><Relationship Id="rId58" Type="http://schemas.openxmlformats.org/officeDocument/2006/relationships/slideLayout" Target="../slideLayouts/slideLayout177.xml"/><Relationship Id="rId17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35.xml"/><Relationship Id="rId19" Type="http://schemas.openxmlformats.org/officeDocument/2006/relationships/slideLayout" Target="../slideLayouts/slideLayout138.xml"/><Relationship Id="rId18" Type="http://schemas.openxmlformats.org/officeDocument/2006/relationships/slideLayout" Target="../slideLayouts/slideLayout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2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82" name="Google Shape;1482;p123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483" name="Google Shape;1483;p12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  <p:sldLayoutId id="2147483790" r:id="rId24"/>
    <p:sldLayoutId id="2147483791" r:id="rId25"/>
    <p:sldLayoutId id="2147483792" r:id="rId26"/>
    <p:sldLayoutId id="2147483793" r:id="rId27"/>
    <p:sldLayoutId id="2147483794" r:id="rId28"/>
    <p:sldLayoutId id="2147483795" r:id="rId29"/>
    <p:sldLayoutId id="2147483796" r:id="rId30"/>
    <p:sldLayoutId id="2147483797" r:id="rId31"/>
    <p:sldLayoutId id="2147483798" r:id="rId32"/>
    <p:sldLayoutId id="2147483799" r:id="rId33"/>
    <p:sldLayoutId id="2147483800" r:id="rId34"/>
    <p:sldLayoutId id="2147483801" r:id="rId35"/>
    <p:sldLayoutId id="2147483802" r:id="rId36"/>
    <p:sldLayoutId id="2147483803" r:id="rId37"/>
    <p:sldLayoutId id="2147483804" r:id="rId38"/>
    <p:sldLayoutId id="2147483805" r:id="rId39"/>
    <p:sldLayoutId id="2147483806" r:id="rId40"/>
    <p:sldLayoutId id="2147483807" r:id="rId41"/>
    <p:sldLayoutId id="2147483808" r:id="rId42"/>
    <p:sldLayoutId id="2147483809" r:id="rId43"/>
    <p:sldLayoutId id="2147483810" r:id="rId44"/>
    <p:sldLayoutId id="2147483811" r:id="rId45"/>
    <p:sldLayoutId id="2147483812" r:id="rId46"/>
    <p:sldLayoutId id="2147483813" r:id="rId47"/>
    <p:sldLayoutId id="2147483814" r:id="rId48"/>
    <p:sldLayoutId id="2147483815" r:id="rId49"/>
    <p:sldLayoutId id="2147483816" r:id="rId50"/>
    <p:sldLayoutId id="2147483817" r:id="rId51"/>
    <p:sldLayoutId id="2147483818" r:id="rId52"/>
    <p:sldLayoutId id="2147483819" r:id="rId53"/>
    <p:sldLayoutId id="2147483820" r:id="rId54"/>
    <p:sldLayoutId id="2147483821" r:id="rId55"/>
    <p:sldLayoutId id="2147483822" r:id="rId56"/>
    <p:sldLayoutId id="2147483823" r:id="rId57"/>
    <p:sldLayoutId id="2147483824" r:id="rId58"/>
    <p:sldLayoutId id="2147483825" r:id="rId59"/>
    <p:sldLayoutId id="2147483826" r:id="rId60"/>
    <p:sldLayoutId id="2147483827" r:id="rId61"/>
    <p:sldLayoutId id="2147483828" r:id="rId62"/>
    <p:sldLayoutId id="214748382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8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4.png"/><Relationship Id="rId4" Type="http://schemas.openxmlformats.org/officeDocument/2006/relationships/image" Target="../media/image1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7.png"/><Relationship Id="rId4" Type="http://schemas.openxmlformats.org/officeDocument/2006/relationships/image" Target="../media/image1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9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3.png"/><Relationship Id="rId4" Type="http://schemas.openxmlformats.org/officeDocument/2006/relationships/image" Target="../media/image1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5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2.png"/><Relationship Id="rId4" Type="http://schemas.openxmlformats.org/officeDocument/2006/relationships/image" Target="../media/image15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6.png"/><Relationship Id="rId4" Type="http://schemas.openxmlformats.org/officeDocument/2006/relationships/image" Target="../media/image16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6.png"/><Relationship Id="rId4" Type="http://schemas.openxmlformats.org/officeDocument/2006/relationships/image" Target="../media/image170.png"/><Relationship Id="rId5" Type="http://schemas.openxmlformats.org/officeDocument/2006/relationships/image" Target="../media/image172.png"/><Relationship Id="rId6" Type="http://schemas.openxmlformats.org/officeDocument/2006/relationships/image" Target="../media/image17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6.png"/><Relationship Id="rId4" Type="http://schemas.openxmlformats.org/officeDocument/2006/relationships/image" Target="../media/image170.png"/><Relationship Id="rId5" Type="http://schemas.openxmlformats.org/officeDocument/2006/relationships/image" Target="../media/image17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6.png"/><Relationship Id="rId4" Type="http://schemas.openxmlformats.org/officeDocument/2006/relationships/image" Target="../media/image170.png"/><Relationship Id="rId5" Type="http://schemas.openxmlformats.org/officeDocument/2006/relationships/image" Target="../media/image172.png"/><Relationship Id="rId6" Type="http://schemas.openxmlformats.org/officeDocument/2006/relationships/image" Target="../media/image174.png"/><Relationship Id="rId7" Type="http://schemas.openxmlformats.org/officeDocument/2006/relationships/image" Target="../media/image17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6.png"/><Relationship Id="rId4" Type="http://schemas.openxmlformats.org/officeDocument/2006/relationships/image" Target="../media/image17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5.png"/><Relationship Id="rId4" Type="http://schemas.openxmlformats.org/officeDocument/2006/relationships/image" Target="../media/image17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5.png"/><Relationship Id="rId4" Type="http://schemas.openxmlformats.org/officeDocument/2006/relationships/image" Target="../media/image17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8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18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graphically using technology</a:t>
            </a:r>
            <a:endParaRPr/>
          </a:p>
        </p:txBody>
      </p:sp>
      <p:sp>
        <p:nvSpPr>
          <p:cNvPr id="2226" name="Google Shape;2226;p18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187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18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explore how to solve linear equations graphically via dynamic software.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189"/>
          <p:cNvSpPr txBox="1"/>
          <p:nvPr/>
        </p:nvSpPr>
        <p:spPr>
          <a:xfrm>
            <a:off x="324000" y="131697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equation is used to show two expressions that are equal to each other.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2" name="Google Shape;2242;p189"/>
          <p:cNvSpPr txBox="1"/>
          <p:nvPr/>
        </p:nvSpPr>
        <p:spPr>
          <a:xfrm>
            <a:off x="324000" y="253617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solution to an equality is the value which, when substituted, maintains the equality between the expressions.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1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248" name="Google Shape;2248;p1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249" name="Google Shape;2249;p190"/>
          <p:cNvSpPr txBox="1"/>
          <p:nvPr>
            <p:ph idx="3" type="title"/>
          </p:nvPr>
        </p:nvSpPr>
        <p:spPr>
          <a:xfrm>
            <a:off x="324000" y="657600"/>
            <a:ext cx="6068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graphically using technology</a:t>
            </a:r>
            <a:endParaRPr/>
          </a:p>
        </p:txBody>
      </p:sp>
      <p:pic>
        <p:nvPicPr>
          <p:cNvPr id="2250" name="Google Shape;2250;p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89" y="206233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1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256" name="Google Shape;2256;p191"/>
          <p:cNvSpPr txBox="1"/>
          <p:nvPr/>
        </p:nvSpPr>
        <p:spPr>
          <a:xfrm>
            <a:off x="273300" y="686328"/>
            <a:ext cx="71859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get started: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Open up a web browser and go to </a:t>
            </a:r>
            <a:r>
              <a:rPr lang="en-GB" sz="2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desmos.com</a:t>
            </a:r>
            <a:endParaRPr sz="22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and press the ‘</a:t>
            </a:r>
            <a:r>
              <a:rPr lang="en-GB" sz="2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graphing calculator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 button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Your screen should look like this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7" name="Google Shape;2257;p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875" y="2453268"/>
            <a:ext cx="5187405" cy="23555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1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263" name="Google Shape;2263;p192"/>
          <p:cNvSpPr txBox="1"/>
          <p:nvPr/>
        </p:nvSpPr>
        <p:spPr>
          <a:xfrm>
            <a:off x="324000" y="952750"/>
            <a:ext cx="7738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Use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graph settings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to adjust your axes settings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4" name="Google Shape;2264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075" y="1620000"/>
            <a:ext cx="7827049" cy="29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1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270" name="Google Shape;2270;p193"/>
          <p:cNvSpPr txBox="1"/>
          <p:nvPr/>
        </p:nvSpPr>
        <p:spPr>
          <a:xfrm>
            <a:off x="183250" y="686400"/>
            <a:ext cx="7185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We’re now ready to explore solving equations.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1" name="Google Shape;2271;p193"/>
          <p:cNvSpPr txBox="1"/>
          <p:nvPr/>
        </p:nvSpPr>
        <p:spPr>
          <a:xfrm>
            <a:off x="324000" y="1292700"/>
            <a:ext cx="3900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Zoom and drag so your screen is scaled like this, with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visible on both axes.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2" name="Google Shape;2272;p193"/>
          <p:cNvSpPr txBox="1"/>
          <p:nvPr/>
        </p:nvSpPr>
        <p:spPr>
          <a:xfrm>
            <a:off x="324000" y="2892900"/>
            <a:ext cx="29688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Type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here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3" name="Google Shape;2273;p193"/>
          <p:cNvSpPr txBox="1"/>
          <p:nvPr/>
        </p:nvSpPr>
        <p:spPr>
          <a:xfrm>
            <a:off x="324000" y="3773609"/>
            <a:ext cx="3294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Desmos will draw 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he line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for you.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4" name="Google Shape;2274;p193"/>
          <p:cNvGrpSpPr/>
          <p:nvPr/>
        </p:nvGrpSpPr>
        <p:grpSpPr>
          <a:xfrm>
            <a:off x="4216325" y="1138800"/>
            <a:ext cx="4592753" cy="3166498"/>
            <a:chOff x="4216325" y="1138800"/>
            <a:chExt cx="4592753" cy="3166498"/>
          </a:xfrm>
        </p:grpSpPr>
        <p:pic>
          <p:nvPicPr>
            <p:cNvPr id="2275" name="Google Shape;2275;p1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16325" y="1138800"/>
              <a:ext cx="4592753" cy="3166498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76" name="Google Shape;2276;p193"/>
            <p:cNvSpPr/>
            <p:nvPr/>
          </p:nvSpPr>
          <p:spPr>
            <a:xfrm>
              <a:off x="4231266" y="1722725"/>
              <a:ext cx="1370100" cy="43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77" name="Google Shape;2277;p193"/>
          <p:cNvCxnSpPr>
            <a:stCxn id="2272" idx="3"/>
          </p:cNvCxnSpPr>
          <p:nvPr/>
        </p:nvCxnSpPr>
        <p:spPr>
          <a:xfrm flipH="1" rot="10800000">
            <a:off x="3292800" y="1599150"/>
            <a:ext cx="1358700" cy="1483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278" name="Google Shape;2278;p193"/>
          <p:cNvGrpSpPr/>
          <p:nvPr/>
        </p:nvGrpSpPr>
        <p:grpSpPr>
          <a:xfrm>
            <a:off x="4192289" y="1138800"/>
            <a:ext cx="4628869" cy="3166502"/>
            <a:chOff x="4182204" y="1138800"/>
            <a:chExt cx="4628869" cy="3166502"/>
          </a:xfrm>
        </p:grpSpPr>
        <p:pic>
          <p:nvPicPr>
            <p:cNvPr id="2279" name="Google Shape;2279;p1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82204" y="1138800"/>
              <a:ext cx="4628869" cy="316650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80" name="Google Shape;2280;p193"/>
            <p:cNvSpPr/>
            <p:nvPr/>
          </p:nvSpPr>
          <p:spPr>
            <a:xfrm>
              <a:off x="4191170" y="1722725"/>
              <a:ext cx="1370100" cy="43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5" name="Google Shape;2285;p194"/>
          <p:cNvGrpSpPr/>
          <p:nvPr/>
        </p:nvGrpSpPr>
        <p:grpSpPr>
          <a:xfrm>
            <a:off x="4182204" y="1138800"/>
            <a:ext cx="4628869" cy="3166502"/>
            <a:chOff x="4182204" y="1138800"/>
            <a:chExt cx="4628869" cy="3166502"/>
          </a:xfrm>
        </p:grpSpPr>
        <p:pic>
          <p:nvPicPr>
            <p:cNvPr id="2286" name="Google Shape;2286;p1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82204" y="1138800"/>
              <a:ext cx="4628869" cy="316650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87" name="Google Shape;2287;p194"/>
            <p:cNvSpPr/>
            <p:nvPr/>
          </p:nvSpPr>
          <p:spPr>
            <a:xfrm>
              <a:off x="4191170" y="1722725"/>
              <a:ext cx="1370100" cy="43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88" name="Google Shape;2288;p1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289" name="Google Shape;2289;p194"/>
          <p:cNvSpPr txBox="1"/>
          <p:nvPr/>
        </p:nvSpPr>
        <p:spPr>
          <a:xfrm>
            <a:off x="324000" y="759300"/>
            <a:ext cx="3395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integer value coordinates can you read from this section of the graph of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0" name="Google Shape;2290;p194"/>
          <p:cNvSpPr txBox="1"/>
          <p:nvPr/>
        </p:nvSpPr>
        <p:spPr>
          <a:xfrm>
            <a:off x="324000" y="2379548"/>
            <a:ext cx="29688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 the coordinates and label them. One is already done for you.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1" name="Google Shape;2291;p194"/>
          <p:cNvSpPr txBox="1"/>
          <p:nvPr/>
        </p:nvSpPr>
        <p:spPr>
          <a:xfrm>
            <a:off x="324000" y="3522550"/>
            <a:ext cx="3395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Click and hold here to change your coordinates to crosses, label them, and adjust the text size.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2" name="Google Shape;2292;p194"/>
          <p:cNvGrpSpPr/>
          <p:nvPr/>
        </p:nvGrpSpPr>
        <p:grpSpPr>
          <a:xfrm>
            <a:off x="4173648" y="1141037"/>
            <a:ext cx="4628874" cy="3164262"/>
            <a:chOff x="4173648" y="1141037"/>
            <a:chExt cx="4628874" cy="3164262"/>
          </a:xfrm>
        </p:grpSpPr>
        <p:pic>
          <p:nvPicPr>
            <p:cNvPr id="2293" name="Google Shape;2293;p1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73648" y="1141037"/>
              <a:ext cx="4628874" cy="316426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294" name="Google Shape;2294;p194"/>
            <p:cNvSpPr/>
            <p:nvPr/>
          </p:nvSpPr>
          <p:spPr>
            <a:xfrm>
              <a:off x="4179939" y="2135004"/>
              <a:ext cx="1370100" cy="43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95" name="Google Shape;2295;p194"/>
          <p:cNvCxnSpPr/>
          <p:nvPr/>
        </p:nvCxnSpPr>
        <p:spPr>
          <a:xfrm flipH="1" rot="10800000">
            <a:off x="3230700" y="1902300"/>
            <a:ext cx="994200" cy="1582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1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301" name="Google Shape;2301;p195"/>
          <p:cNvSpPr txBox="1"/>
          <p:nvPr/>
        </p:nvSpPr>
        <p:spPr>
          <a:xfrm>
            <a:off x="324000" y="759300"/>
            <a:ext cx="3842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get this set of coordinate pairs from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2" name="Google Shape;2302;p195"/>
          <p:cNvGrpSpPr/>
          <p:nvPr/>
        </p:nvGrpSpPr>
        <p:grpSpPr>
          <a:xfrm>
            <a:off x="4166102" y="997531"/>
            <a:ext cx="4628874" cy="3148441"/>
            <a:chOff x="4166097" y="1145628"/>
            <a:chExt cx="4628874" cy="3148441"/>
          </a:xfrm>
        </p:grpSpPr>
        <p:pic>
          <p:nvPicPr>
            <p:cNvPr id="2303" name="Google Shape;2303;p1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66097" y="1145628"/>
              <a:ext cx="4628874" cy="314844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04" name="Google Shape;2304;p195"/>
            <p:cNvSpPr/>
            <p:nvPr/>
          </p:nvSpPr>
          <p:spPr>
            <a:xfrm>
              <a:off x="4177520" y="4058650"/>
              <a:ext cx="1305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05" name="Google Shape;2305;p195"/>
          <p:cNvSpPr txBox="1"/>
          <p:nvPr/>
        </p:nvSpPr>
        <p:spPr>
          <a:xfrm>
            <a:off x="324000" y="1920600"/>
            <a:ext cx="3477000" cy="3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(3, 5)                   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(2, 3)                   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−3)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(1, 1)                    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(−2, −5)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6" name="Google Shape;2306;p195"/>
          <p:cNvSpPr txBox="1"/>
          <p:nvPr/>
        </p:nvSpPr>
        <p:spPr>
          <a:xfrm>
            <a:off x="298800" y="4440900"/>
            <a:ext cx="7935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Let’s consider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first coordinate pair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in more detail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7" name="Google Shape;2307;p195"/>
          <p:cNvSpPr/>
          <p:nvPr/>
        </p:nvSpPr>
        <p:spPr>
          <a:xfrm>
            <a:off x="213447" y="1892968"/>
            <a:ext cx="882300" cy="464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8" name="Google Shape;2308;p195"/>
          <p:cNvSpPr/>
          <p:nvPr/>
        </p:nvSpPr>
        <p:spPr>
          <a:xfrm>
            <a:off x="7771195" y="1051380"/>
            <a:ext cx="975000" cy="540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p1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314" name="Google Shape;2314;p196"/>
          <p:cNvSpPr txBox="1"/>
          <p:nvPr/>
        </p:nvSpPr>
        <p:spPr>
          <a:xfrm>
            <a:off x="324000" y="759300"/>
            <a:ext cx="6315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One coordinate pair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the line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(3, 5)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196"/>
          <p:cNvSpPr txBox="1"/>
          <p:nvPr/>
        </p:nvSpPr>
        <p:spPr>
          <a:xfrm>
            <a:off x="324000" y="1326391"/>
            <a:ext cx="76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6" name="Google Shape;2316;p196"/>
          <p:cNvSpPr txBox="1"/>
          <p:nvPr/>
        </p:nvSpPr>
        <p:spPr>
          <a:xfrm>
            <a:off x="1686777" y="1346445"/>
            <a:ext cx="4784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7" name="Google Shape;2317;p196"/>
          <p:cNvSpPr txBox="1"/>
          <p:nvPr/>
        </p:nvSpPr>
        <p:spPr>
          <a:xfrm>
            <a:off x="1686775" y="1814562"/>
            <a:ext cx="4087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 = 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8" name="Google Shape;2318;p196"/>
          <p:cNvSpPr txBox="1"/>
          <p:nvPr/>
        </p:nvSpPr>
        <p:spPr>
          <a:xfrm>
            <a:off x="1686775" y="2347962"/>
            <a:ext cx="4087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 = 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9" name="Google Shape;2319;p196"/>
          <p:cNvSpPr txBox="1"/>
          <p:nvPr/>
        </p:nvSpPr>
        <p:spPr>
          <a:xfrm>
            <a:off x="1686775" y="2957550"/>
            <a:ext cx="62103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is the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to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 equation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 = 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0" name="Google Shape;2320;p196"/>
          <p:cNvSpPr txBox="1"/>
          <p:nvPr/>
        </p:nvSpPr>
        <p:spPr>
          <a:xfrm>
            <a:off x="316025" y="3635139"/>
            <a:ext cx="8504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solution to an equality is the value which, when substituted, maintains the equality between the expressions.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21" name="Google Shape;2321;p196"/>
          <p:cNvSpPr/>
          <p:nvPr/>
        </p:nvSpPr>
        <p:spPr>
          <a:xfrm>
            <a:off x="3724590" y="2295540"/>
            <a:ext cx="767700" cy="509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1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327" name="Google Shape;2327;p197"/>
          <p:cNvSpPr txBox="1"/>
          <p:nvPr/>
        </p:nvSpPr>
        <p:spPr>
          <a:xfrm>
            <a:off x="324000" y="759300"/>
            <a:ext cx="8496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Fill in the blank values in the statements about coordinate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(2, 3)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8" name="Google Shape;2328;p197"/>
          <p:cNvSpPr txBox="1"/>
          <p:nvPr/>
        </p:nvSpPr>
        <p:spPr>
          <a:xfrm>
            <a:off x="324000" y="1326391"/>
            <a:ext cx="76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(3, 5)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9" name="Google Shape;2329;p197"/>
          <p:cNvSpPr txBox="1"/>
          <p:nvPr/>
        </p:nvSpPr>
        <p:spPr>
          <a:xfrm>
            <a:off x="1686777" y="1346445"/>
            <a:ext cx="4784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197"/>
          <p:cNvSpPr txBox="1"/>
          <p:nvPr/>
        </p:nvSpPr>
        <p:spPr>
          <a:xfrm>
            <a:off x="1686775" y="1814562"/>
            <a:ext cx="4087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 = 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97"/>
          <p:cNvSpPr txBox="1"/>
          <p:nvPr/>
        </p:nvSpPr>
        <p:spPr>
          <a:xfrm>
            <a:off x="1686775" y="2347962"/>
            <a:ext cx="4087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 = 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2" name="Google Shape;2332;p197"/>
          <p:cNvSpPr txBox="1"/>
          <p:nvPr/>
        </p:nvSpPr>
        <p:spPr>
          <a:xfrm>
            <a:off x="324000" y="2949052"/>
            <a:ext cx="76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(2, 3)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3" name="Google Shape;2333;p197"/>
          <p:cNvSpPr txBox="1"/>
          <p:nvPr/>
        </p:nvSpPr>
        <p:spPr>
          <a:xfrm>
            <a:off x="1686777" y="2969105"/>
            <a:ext cx="4784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value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4" name="Google Shape;2334;p197"/>
          <p:cNvSpPr txBox="1"/>
          <p:nvPr/>
        </p:nvSpPr>
        <p:spPr>
          <a:xfrm>
            <a:off x="1686775" y="3437223"/>
            <a:ext cx="4087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 = 3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5" name="Google Shape;2335;p197"/>
          <p:cNvSpPr txBox="1"/>
          <p:nvPr/>
        </p:nvSpPr>
        <p:spPr>
          <a:xfrm>
            <a:off x="1686775" y="3970623"/>
            <a:ext cx="40875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 = 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6" name="Google Shape;2336;p197"/>
          <p:cNvGrpSpPr/>
          <p:nvPr/>
        </p:nvGrpSpPr>
        <p:grpSpPr>
          <a:xfrm>
            <a:off x="2361125" y="3001625"/>
            <a:ext cx="3879784" cy="1283709"/>
            <a:chOff x="2361125" y="3001625"/>
            <a:chExt cx="3879784" cy="1283709"/>
          </a:xfrm>
        </p:grpSpPr>
        <p:sp>
          <p:nvSpPr>
            <p:cNvPr id="2337" name="Google Shape;2337;p197"/>
            <p:cNvSpPr/>
            <p:nvPr/>
          </p:nvSpPr>
          <p:spPr>
            <a:xfrm>
              <a:off x="4092600" y="3001625"/>
              <a:ext cx="227400" cy="281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8" name="Google Shape;2338;p197"/>
            <p:cNvSpPr/>
            <p:nvPr/>
          </p:nvSpPr>
          <p:spPr>
            <a:xfrm>
              <a:off x="2944200" y="4003634"/>
              <a:ext cx="227400" cy="281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9" name="Google Shape;2339;p197"/>
            <p:cNvSpPr/>
            <p:nvPr/>
          </p:nvSpPr>
          <p:spPr>
            <a:xfrm>
              <a:off x="2361125" y="3467200"/>
              <a:ext cx="227400" cy="281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0" name="Google Shape;2340;p197"/>
            <p:cNvSpPr/>
            <p:nvPr/>
          </p:nvSpPr>
          <p:spPr>
            <a:xfrm>
              <a:off x="4277687" y="3467200"/>
              <a:ext cx="227400" cy="281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1" name="Google Shape;2341;p197"/>
            <p:cNvSpPr/>
            <p:nvPr/>
          </p:nvSpPr>
          <p:spPr>
            <a:xfrm>
              <a:off x="4187800" y="4003634"/>
              <a:ext cx="227400" cy="281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2" name="Google Shape;2342;p197"/>
            <p:cNvSpPr/>
            <p:nvPr/>
          </p:nvSpPr>
          <p:spPr>
            <a:xfrm>
              <a:off x="6013509" y="3001625"/>
              <a:ext cx="227400" cy="2817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43" name="Google Shape;2343;p197"/>
          <p:cNvSpPr/>
          <p:nvPr/>
        </p:nvSpPr>
        <p:spPr>
          <a:xfrm>
            <a:off x="4092600" y="3001625"/>
            <a:ext cx="227400" cy="281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4" name="Google Shape;2344;p197"/>
          <p:cNvSpPr/>
          <p:nvPr/>
        </p:nvSpPr>
        <p:spPr>
          <a:xfrm>
            <a:off x="2944200" y="4003634"/>
            <a:ext cx="227400" cy="281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5" name="Google Shape;2345;p197"/>
          <p:cNvSpPr/>
          <p:nvPr/>
        </p:nvSpPr>
        <p:spPr>
          <a:xfrm>
            <a:off x="2361125" y="3467200"/>
            <a:ext cx="227400" cy="281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6" name="Google Shape;2346;p197"/>
          <p:cNvSpPr/>
          <p:nvPr/>
        </p:nvSpPr>
        <p:spPr>
          <a:xfrm>
            <a:off x="4277687" y="3467200"/>
            <a:ext cx="227400" cy="281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197"/>
          <p:cNvSpPr/>
          <p:nvPr/>
        </p:nvSpPr>
        <p:spPr>
          <a:xfrm>
            <a:off x="4187800" y="4003634"/>
            <a:ext cx="227400" cy="281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8" name="Google Shape;2348;p197"/>
          <p:cNvSpPr/>
          <p:nvPr/>
        </p:nvSpPr>
        <p:spPr>
          <a:xfrm>
            <a:off x="6013509" y="3001625"/>
            <a:ext cx="227400" cy="281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354" name="Google Shape;2354;p198"/>
          <p:cNvSpPr txBox="1"/>
          <p:nvPr/>
        </p:nvSpPr>
        <p:spPr>
          <a:xfrm>
            <a:off x="324000" y="835500"/>
            <a:ext cx="8496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 is an easier way to solve equations than finding coordinates all the time.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5" name="Google Shape;2355;p198"/>
          <p:cNvSpPr txBox="1"/>
          <p:nvPr/>
        </p:nvSpPr>
        <p:spPr>
          <a:xfrm>
            <a:off x="324000" y="1626368"/>
            <a:ext cx="25632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Solve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 =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198"/>
          <p:cNvSpPr txBox="1"/>
          <p:nvPr/>
        </p:nvSpPr>
        <p:spPr>
          <a:xfrm>
            <a:off x="324000" y="2111350"/>
            <a:ext cx="35001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could read this as when does the line 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meet with the line </a:t>
            </a:r>
            <a:r>
              <a:rPr i="1"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57" name="Google Shape;2357;p198"/>
          <p:cNvGrpSpPr/>
          <p:nvPr/>
        </p:nvGrpSpPr>
        <p:grpSpPr>
          <a:xfrm>
            <a:off x="4320002" y="1401500"/>
            <a:ext cx="4482749" cy="2928675"/>
            <a:chOff x="4320002" y="1401500"/>
            <a:chExt cx="4482749" cy="2928675"/>
          </a:xfrm>
        </p:grpSpPr>
        <p:pic>
          <p:nvPicPr>
            <p:cNvPr id="2358" name="Google Shape;2358;p1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20002" y="1401500"/>
              <a:ext cx="4482749" cy="292867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59" name="Google Shape;2359;p198"/>
            <p:cNvSpPr/>
            <p:nvPr/>
          </p:nvSpPr>
          <p:spPr>
            <a:xfrm>
              <a:off x="4329925" y="1952725"/>
              <a:ext cx="1408800" cy="10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60" name="Google Shape;2360;p198"/>
          <p:cNvGrpSpPr/>
          <p:nvPr/>
        </p:nvGrpSpPr>
        <p:grpSpPr>
          <a:xfrm>
            <a:off x="4332888" y="1396948"/>
            <a:ext cx="4479406" cy="2928674"/>
            <a:chOff x="4332888" y="1396948"/>
            <a:chExt cx="4479406" cy="2928674"/>
          </a:xfrm>
        </p:grpSpPr>
        <p:pic>
          <p:nvPicPr>
            <p:cNvPr id="2361" name="Google Shape;2361;p1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2888" y="1396948"/>
              <a:ext cx="4479406" cy="292867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62" name="Google Shape;2362;p198"/>
            <p:cNvSpPr/>
            <p:nvPr/>
          </p:nvSpPr>
          <p:spPr>
            <a:xfrm>
              <a:off x="4340090" y="2257450"/>
              <a:ext cx="1408800" cy="10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63" name="Google Shape;2363;p198"/>
          <p:cNvGrpSpPr/>
          <p:nvPr/>
        </p:nvGrpSpPr>
        <p:grpSpPr>
          <a:xfrm>
            <a:off x="4332894" y="1396948"/>
            <a:ext cx="4479401" cy="2928674"/>
            <a:chOff x="4332894" y="1396948"/>
            <a:chExt cx="4479401" cy="2928674"/>
          </a:xfrm>
        </p:grpSpPr>
        <p:pic>
          <p:nvPicPr>
            <p:cNvPr id="2364" name="Google Shape;2364;p1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32894" y="1396948"/>
              <a:ext cx="4479401" cy="292867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65" name="Google Shape;2365;p198"/>
            <p:cNvSpPr/>
            <p:nvPr/>
          </p:nvSpPr>
          <p:spPr>
            <a:xfrm>
              <a:off x="4350255" y="2226879"/>
              <a:ext cx="1408800" cy="1061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66" name="Google Shape;2366;p198"/>
          <p:cNvSpPr txBox="1"/>
          <p:nvPr/>
        </p:nvSpPr>
        <p:spPr>
          <a:xfrm>
            <a:off x="324000" y="3249305"/>
            <a:ext cx="3744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Click 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meeting point of the two lines and Desmos will reveal the coordinate is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(4, 5)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7" name="Google Shape;2367;p198"/>
          <p:cNvSpPr txBox="1"/>
          <p:nvPr/>
        </p:nvSpPr>
        <p:spPr>
          <a:xfrm>
            <a:off x="324000" y="4328915"/>
            <a:ext cx="3045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Our solution is when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99"/>
          <p:cNvSpPr txBox="1"/>
          <p:nvPr>
            <p:ph type="title"/>
          </p:nvPr>
        </p:nvSpPr>
        <p:spPr>
          <a:xfrm>
            <a:off x="324000" y="748775"/>
            <a:ext cx="4248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does this image tell us?</a:t>
            </a:r>
            <a:endParaRPr/>
          </a:p>
        </p:txBody>
      </p:sp>
      <p:sp>
        <p:nvSpPr>
          <p:cNvPr id="2373" name="Google Shape;2373;p1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374" name="Google Shape;2374;p199"/>
          <p:cNvSpPr txBox="1"/>
          <p:nvPr>
            <p:ph idx="1" type="subTitle"/>
          </p:nvPr>
        </p:nvSpPr>
        <p:spPr>
          <a:xfrm>
            <a:off x="871850" y="1868275"/>
            <a:ext cx="3733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solution to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11 −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1800"/>
              <a:t> is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800"/>
          </a:p>
        </p:txBody>
      </p:sp>
      <p:sp>
        <p:nvSpPr>
          <p:cNvPr id="2375" name="Google Shape;2375;p199"/>
          <p:cNvSpPr txBox="1"/>
          <p:nvPr>
            <p:ph idx="3" type="subTitle"/>
          </p:nvPr>
        </p:nvSpPr>
        <p:spPr>
          <a:xfrm>
            <a:off x="871860" y="2824742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solution to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11 − 2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1800"/>
              <a:t> is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800"/>
          </a:p>
        </p:txBody>
      </p:sp>
      <p:sp>
        <p:nvSpPr>
          <p:cNvPr id="2376" name="Google Shape;2376;p199"/>
          <p:cNvSpPr txBox="1"/>
          <p:nvPr>
            <p:ph idx="4" type="subTitle"/>
          </p:nvPr>
        </p:nvSpPr>
        <p:spPr>
          <a:xfrm>
            <a:off x="871860" y="3797460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solution to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11 − 2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1800"/>
              <a:t> is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800"/>
          </a:p>
        </p:txBody>
      </p:sp>
      <p:pic>
        <p:nvPicPr>
          <p:cNvPr id="2377" name="Google Shape;2377;p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475" y="820945"/>
            <a:ext cx="4109749" cy="24480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8" name="Google Shape;2378;p199"/>
          <p:cNvSpPr/>
          <p:nvPr/>
        </p:nvSpPr>
        <p:spPr>
          <a:xfrm>
            <a:off x="4712525" y="1721025"/>
            <a:ext cx="1442700" cy="732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9" name="Google Shape;2379;p1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583" y="281005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199"/>
          <p:cNvSpPr txBox="1"/>
          <p:nvPr>
            <p:ph idx="3" type="subTitle"/>
          </p:nvPr>
        </p:nvSpPr>
        <p:spPr>
          <a:xfrm>
            <a:off x="871850" y="3281949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expression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11 − 2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only equal to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the</a:t>
            </a:r>
            <a:r>
              <a:rPr lang="en-GB" sz="2000"/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2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386" name="Google Shape;2386;p200"/>
          <p:cNvSpPr txBox="1"/>
          <p:nvPr/>
        </p:nvSpPr>
        <p:spPr>
          <a:xfrm>
            <a:off x="324000" y="1095370"/>
            <a:ext cx="3996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Plot the line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7" name="Google Shape;2387;p200"/>
          <p:cNvSpPr txBox="1"/>
          <p:nvPr/>
        </p:nvSpPr>
        <p:spPr>
          <a:xfrm>
            <a:off x="792420" y="2698000"/>
            <a:ext cx="1455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(1.75, 2)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8" name="Google Shape;2388;p200"/>
          <p:cNvSpPr txBox="1"/>
          <p:nvPr/>
        </p:nvSpPr>
        <p:spPr>
          <a:xfrm>
            <a:off x="783605" y="3219841"/>
            <a:ext cx="3572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1.75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9" name="Google Shape;2389;p200"/>
          <p:cNvSpPr txBox="1"/>
          <p:nvPr/>
        </p:nvSpPr>
        <p:spPr>
          <a:xfrm>
            <a:off x="783605" y="3753241"/>
            <a:ext cx="3572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1.75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0" name="Google Shape;2390;p200"/>
          <p:cNvSpPr txBox="1"/>
          <p:nvPr/>
        </p:nvSpPr>
        <p:spPr>
          <a:xfrm>
            <a:off x="762000" y="4137261"/>
            <a:ext cx="676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1.75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only value which maintains equality.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91" name="Google Shape;2391;p200"/>
          <p:cNvSpPr txBox="1"/>
          <p:nvPr/>
        </p:nvSpPr>
        <p:spPr>
          <a:xfrm>
            <a:off x="324000" y="1628770"/>
            <a:ext cx="3996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Plot the line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2" name="Google Shape;2392;p200"/>
          <p:cNvGrpSpPr/>
          <p:nvPr/>
        </p:nvGrpSpPr>
        <p:grpSpPr>
          <a:xfrm>
            <a:off x="4320000" y="1148347"/>
            <a:ext cx="4485074" cy="2630154"/>
            <a:chOff x="4320000" y="1148347"/>
            <a:chExt cx="4485074" cy="2630154"/>
          </a:xfrm>
        </p:grpSpPr>
        <p:pic>
          <p:nvPicPr>
            <p:cNvPr id="2393" name="Google Shape;2393;p2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20000" y="1148347"/>
              <a:ext cx="4485074" cy="263015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94" name="Google Shape;2394;p200"/>
            <p:cNvSpPr/>
            <p:nvPr/>
          </p:nvSpPr>
          <p:spPr>
            <a:xfrm>
              <a:off x="4332350" y="1657750"/>
              <a:ext cx="2037600" cy="837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95" name="Google Shape;2395;p200"/>
          <p:cNvSpPr txBox="1"/>
          <p:nvPr/>
        </p:nvSpPr>
        <p:spPr>
          <a:xfrm>
            <a:off x="324000" y="2162170"/>
            <a:ext cx="39960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Solve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6" name="Google Shape;2396;p200"/>
          <p:cNvGrpSpPr/>
          <p:nvPr/>
        </p:nvGrpSpPr>
        <p:grpSpPr>
          <a:xfrm>
            <a:off x="4327100" y="1163912"/>
            <a:ext cx="4485074" cy="2619213"/>
            <a:chOff x="4327100" y="1163912"/>
            <a:chExt cx="4485074" cy="2619213"/>
          </a:xfrm>
        </p:grpSpPr>
        <p:pic>
          <p:nvPicPr>
            <p:cNvPr id="2397" name="Google Shape;2397;p2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27100" y="1163912"/>
              <a:ext cx="4485074" cy="2619213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98" name="Google Shape;2398;p200"/>
            <p:cNvSpPr/>
            <p:nvPr/>
          </p:nvSpPr>
          <p:spPr>
            <a:xfrm>
              <a:off x="4343571" y="1887925"/>
              <a:ext cx="2048700" cy="766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99" name="Google Shape;2399;p200"/>
          <p:cNvGrpSpPr/>
          <p:nvPr/>
        </p:nvGrpSpPr>
        <p:grpSpPr>
          <a:xfrm>
            <a:off x="4319848" y="1167318"/>
            <a:ext cx="4484923" cy="2619209"/>
            <a:chOff x="4289900" y="1146555"/>
            <a:chExt cx="4515174" cy="2647806"/>
          </a:xfrm>
        </p:grpSpPr>
        <p:pic>
          <p:nvPicPr>
            <p:cNvPr id="2400" name="Google Shape;2400;p2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89900" y="1146555"/>
              <a:ext cx="4515174" cy="264780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01" name="Google Shape;2401;p200"/>
            <p:cNvSpPr/>
            <p:nvPr/>
          </p:nvSpPr>
          <p:spPr>
            <a:xfrm>
              <a:off x="4301050" y="1908825"/>
              <a:ext cx="2035200" cy="791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2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407" name="Google Shape;2407;p201"/>
          <p:cNvSpPr txBox="1"/>
          <p:nvPr/>
        </p:nvSpPr>
        <p:spPr>
          <a:xfrm>
            <a:off x="792420" y="2698000"/>
            <a:ext cx="1455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(1.75, 2)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8" name="Google Shape;2408;p201"/>
          <p:cNvSpPr txBox="1"/>
          <p:nvPr/>
        </p:nvSpPr>
        <p:spPr>
          <a:xfrm>
            <a:off x="783605" y="3219841"/>
            <a:ext cx="3572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1.75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9" name="Google Shape;2409;p201"/>
          <p:cNvSpPr txBox="1"/>
          <p:nvPr/>
        </p:nvSpPr>
        <p:spPr>
          <a:xfrm>
            <a:off x="783605" y="3753241"/>
            <a:ext cx="3572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1.75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0" name="Google Shape;2410;p201"/>
          <p:cNvSpPr txBox="1"/>
          <p:nvPr/>
        </p:nvSpPr>
        <p:spPr>
          <a:xfrm>
            <a:off x="762000" y="4137261"/>
            <a:ext cx="676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1.75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only value which maintains equality.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11" name="Google Shape;2411;p201"/>
          <p:cNvSpPr txBox="1"/>
          <p:nvPr/>
        </p:nvSpPr>
        <p:spPr>
          <a:xfrm>
            <a:off x="216425" y="654500"/>
            <a:ext cx="403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does this solution compare to when we solve without graphing?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412" name="Google Shape;2412;p201"/>
          <p:cNvGraphicFramePr/>
          <p:nvPr/>
        </p:nvGraphicFramePr>
        <p:xfrm>
          <a:off x="4936914" y="8099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103000"/>
                <a:gridCol w="272000"/>
                <a:gridCol w="668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13" name="Google Shape;2413;p201"/>
          <p:cNvGraphicFramePr/>
          <p:nvPr/>
        </p:nvGraphicFramePr>
        <p:xfrm>
          <a:off x="4936914" y="8099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103000"/>
                <a:gridCol w="272000"/>
                <a:gridCol w="668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frac{7}{4}&quot;&gt;&lt;mi&gt;x&lt;/mi&gt;&lt;mo&gt;=&lt;/mo&gt;&lt;mfrac&gt;&lt;mn&gt;7&lt;/mn&gt;&lt;mn&gt;4&lt;/mn&gt;&lt;/mfrac&gt;&lt;/math&gt;" id="2414" name="Google Shape;2414;p201" title="x equals seven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8844" y="1850225"/>
            <a:ext cx="693025" cy="5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5" name="Google Shape;2415;p201"/>
          <p:cNvSpPr txBox="1"/>
          <p:nvPr/>
        </p:nvSpPr>
        <p:spPr>
          <a:xfrm>
            <a:off x="4822125" y="2561900"/>
            <a:ext cx="40308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written notation we would leave the solution as a fraction for simplicity. However, Desmos will always give you a decimal.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16" name="Google Shape;2416;p201"/>
          <p:cNvSpPr txBox="1"/>
          <p:nvPr/>
        </p:nvSpPr>
        <p:spPr>
          <a:xfrm>
            <a:off x="4822125" y="2561900"/>
            <a:ext cx="403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written notation we would leave the solution as a fraction for simplicity.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417" name="Google Shape;2417;p201"/>
          <p:cNvGrpSpPr/>
          <p:nvPr/>
        </p:nvGrpSpPr>
        <p:grpSpPr>
          <a:xfrm>
            <a:off x="2790025" y="1750023"/>
            <a:ext cx="4074905" cy="2446994"/>
            <a:chOff x="2790025" y="1750023"/>
            <a:chExt cx="4074905" cy="2446994"/>
          </a:xfrm>
        </p:grpSpPr>
        <p:sp>
          <p:nvSpPr>
            <p:cNvPr id="2418" name="Google Shape;2418;p201"/>
            <p:cNvSpPr/>
            <p:nvPr/>
          </p:nvSpPr>
          <p:spPr>
            <a:xfrm>
              <a:off x="5685630" y="1750023"/>
              <a:ext cx="1179300" cy="8268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9" name="Google Shape;2419;p201"/>
            <p:cNvSpPr/>
            <p:nvPr/>
          </p:nvSpPr>
          <p:spPr>
            <a:xfrm>
              <a:off x="2790025" y="3687317"/>
              <a:ext cx="1179300" cy="5097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202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image shows us the exact solution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 = 10 </a:t>
            </a:r>
            <a:r>
              <a:rPr lang="en-GB" sz="2000"/>
              <a:t>is</a:t>
            </a:r>
            <a:r>
              <a:rPr lang="en-GB" sz="2000"/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4.667</a:t>
            </a:r>
            <a:endParaRPr sz="2000"/>
          </a:p>
        </p:txBody>
      </p:sp>
      <p:sp>
        <p:nvSpPr>
          <p:cNvPr id="2425" name="Google Shape;2425;p2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one side</a:t>
            </a:r>
            <a:endParaRPr/>
          </a:p>
        </p:txBody>
      </p:sp>
      <p:grpSp>
        <p:nvGrpSpPr>
          <p:cNvPr id="2426" name="Google Shape;2426;p202"/>
          <p:cNvGrpSpPr/>
          <p:nvPr/>
        </p:nvGrpSpPr>
        <p:grpSpPr>
          <a:xfrm>
            <a:off x="3369608" y="2317910"/>
            <a:ext cx="4089233" cy="2493139"/>
            <a:chOff x="4167125" y="2368995"/>
            <a:chExt cx="3876050" cy="2458474"/>
          </a:xfrm>
        </p:grpSpPr>
        <p:pic>
          <p:nvPicPr>
            <p:cNvPr id="2427" name="Google Shape;2427;p2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67125" y="2368995"/>
              <a:ext cx="3876050" cy="245847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28" name="Google Shape;2428;p202"/>
            <p:cNvSpPr/>
            <p:nvPr/>
          </p:nvSpPr>
          <p:spPr>
            <a:xfrm>
              <a:off x="4168724" y="3067049"/>
              <a:ext cx="1886700" cy="1104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p20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4.666 </a:t>
            </a:r>
            <a:r>
              <a:rPr lang="en-GB" sz="2000"/>
              <a:t>is the exact solution.</a:t>
            </a:r>
            <a:endParaRPr/>
          </a:p>
        </p:txBody>
      </p:sp>
      <p:sp>
        <p:nvSpPr>
          <p:cNvPr id="2434" name="Google Shape;2434;p203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image shows us the exact solution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 = 10 </a:t>
            </a:r>
            <a:r>
              <a:rPr lang="en-GB" sz="2000"/>
              <a:t>is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4.667</a:t>
            </a:r>
            <a:endParaRPr sz="2000"/>
          </a:p>
        </p:txBody>
      </p:sp>
      <p:sp>
        <p:nvSpPr>
          <p:cNvPr id="2435" name="Google Shape;2435;p2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436" name="Google Shape;2436;p203"/>
          <p:cNvSpPr txBox="1"/>
          <p:nvPr>
            <p:ph idx="3" type="subTitle"/>
          </p:nvPr>
        </p:nvSpPr>
        <p:spPr>
          <a:xfrm>
            <a:off x="980575" y="4040350"/>
            <a:ext cx="67482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4.667 </a:t>
            </a:r>
            <a:r>
              <a:rPr lang="en-GB" sz="2000"/>
              <a:t>is an approximate solution accurate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d.p.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7" name="Google Shape;2437;p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2862" y="178576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8" name="Google Shape;2438;p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3280" y="4015616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9" name="Google Shape;2439;p203"/>
          <p:cNvSpPr txBox="1"/>
          <p:nvPr/>
        </p:nvSpPr>
        <p:spPr>
          <a:xfrm>
            <a:off x="5011564" y="2988843"/>
            <a:ext cx="34776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4.666666… = 4.6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the exact solution in decimal form.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0" name="Google Shape;2440;p203"/>
          <p:cNvSpPr txBox="1"/>
          <p:nvPr/>
        </p:nvSpPr>
        <p:spPr>
          <a:xfrm>
            <a:off x="7092145" y="2720139"/>
            <a:ext cx="1542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204"/>
          <p:cNvSpPr txBox="1"/>
          <p:nvPr>
            <p:ph idx="1" type="body"/>
          </p:nvPr>
        </p:nvSpPr>
        <p:spPr>
          <a:xfrm>
            <a:off x="324000" y="759300"/>
            <a:ext cx="4248000" cy="7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Draw the line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use it to solve the below equations.</a:t>
            </a:r>
            <a:endParaRPr/>
          </a:p>
        </p:txBody>
      </p:sp>
      <p:sp>
        <p:nvSpPr>
          <p:cNvPr id="2446" name="Google Shape;2446;p2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</a:t>
            </a:r>
            <a:r>
              <a:rPr lang="en-GB"/>
              <a:t>unknowns</a:t>
            </a:r>
            <a:r>
              <a:rPr lang="en-GB"/>
              <a:t> one side</a:t>
            </a:r>
            <a:endParaRPr/>
          </a:p>
        </p:txBody>
      </p:sp>
      <p:sp>
        <p:nvSpPr>
          <p:cNvPr id="2447" name="Google Shape;2447;p204"/>
          <p:cNvSpPr txBox="1"/>
          <p:nvPr>
            <p:ph idx="4294967295" type="subTitle"/>
          </p:nvPr>
        </p:nvSpPr>
        <p:spPr>
          <a:xfrm>
            <a:off x="716230" y="154843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2000"/>
          </a:p>
        </p:txBody>
      </p:sp>
      <p:sp>
        <p:nvSpPr>
          <p:cNvPr id="2448" name="Google Shape;2448;p204"/>
          <p:cNvSpPr txBox="1"/>
          <p:nvPr>
            <p:ph idx="4294967295" type="subTitle"/>
          </p:nvPr>
        </p:nvSpPr>
        <p:spPr>
          <a:xfrm>
            <a:off x="716230" y="238663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−5</a:t>
            </a:r>
            <a:endParaRPr sz="2000"/>
          </a:p>
        </p:txBody>
      </p:sp>
      <p:sp>
        <p:nvSpPr>
          <p:cNvPr id="2449" name="Google Shape;2449;p204"/>
          <p:cNvSpPr txBox="1"/>
          <p:nvPr>
            <p:ph idx="4294967295" type="subTitle"/>
          </p:nvPr>
        </p:nvSpPr>
        <p:spPr>
          <a:xfrm>
            <a:off x="716230" y="322483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000"/>
          </a:p>
        </p:txBody>
      </p:sp>
      <p:sp>
        <p:nvSpPr>
          <p:cNvPr id="2450" name="Google Shape;2450;p204"/>
          <p:cNvSpPr txBox="1"/>
          <p:nvPr>
            <p:ph idx="4294967295" type="subTitle"/>
          </p:nvPr>
        </p:nvSpPr>
        <p:spPr>
          <a:xfrm>
            <a:off x="716230" y="406303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2000"/>
          </a:p>
        </p:txBody>
      </p:sp>
      <p:sp>
        <p:nvSpPr>
          <p:cNvPr id="2451" name="Google Shape;2451;p204"/>
          <p:cNvSpPr txBox="1"/>
          <p:nvPr>
            <p:ph idx="1" type="body"/>
          </p:nvPr>
        </p:nvSpPr>
        <p:spPr>
          <a:xfrm>
            <a:off x="324000" y="15549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</a:t>
            </a:r>
            <a:endParaRPr/>
          </a:p>
        </p:txBody>
      </p:sp>
      <p:sp>
        <p:nvSpPr>
          <p:cNvPr id="2452" name="Google Shape;2452;p204"/>
          <p:cNvSpPr txBox="1"/>
          <p:nvPr>
            <p:ph idx="1" type="body"/>
          </p:nvPr>
        </p:nvSpPr>
        <p:spPr>
          <a:xfrm>
            <a:off x="324000" y="23931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</a:t>
            </a:r>
            <a:endParaRPr/>
          </a:p>
        </p:txBody>
      </p:sp>
      <p:sp>
        <p:nvSpPr>
          <p:cNvPr id="2453" name="Google Shape;2453;p204"/>
          <p:cNvSpPr txBox="1"/>
          <p:nvPr>
            <p:ph idx="1" type="body"/>
          </p:nvPr>
        </p:nvSpPr>
        <p:spPr>
          <a:xfrm>
            <a:off x="324000" y="32313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</a:t>
            </a:r>
            <a:endParaRPr/>
          </a:p>
        </p:txBody>
      </p:sp>
      <p:sp>
        <p:nvSpPr>
          <p:cNvPr id="2454" name="Google Shape;2454;p204"/>
          <p:cNvSpPr txBox="1"/>
          <p:nvPr>
            <p:ph idx="1" type="body"/>
          </p:nvPr>
        </p:nvSpPr>
        <p:spPr>
          <a:xfrm>
            <a:off x="324000" y="40695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r>
              <a:rPr lang="en-GB" sz="2000"/>
              <a:t>)</a:t>
            </a:r>
            <a:endParaRPr/>
          </a:p>
        </p:txBody>
      </p:sp>
      <p:grpSp>
        <p:nvGrpSpPr>
          <p:cNvPr id="2455" name="Google Shape;2455;p204"/>
          <p:cNvGrpSpPr/>
          <p:nvPr/>
        </p:nvGrpSpPr>
        <p:grpSpPr>
          <a:xfrm>
            <a:off x="5188655" y="1080000"/>
            <a:ext cx="3620520" cy="3236525"/>
            <a:chOff x="5188655" y="1080000"/>
            <a:chExt cx="3620520" cy="3236525"/>
          </a:xfrm>
        </p:grpSpPr>
        <p:pic>
          <p:nvPicPr>
            <p:cNvPr id="2456" name="Google Shape;2456;p2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88655" y="1080000"/>
              <a:ext cx="3620520" cy="32365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57" name="Google Shape;2457;p204"/>
            <p:cNvSpPr/>
            <p:nvPr/>
          </p:nvSpPr>
          <p:spPr>
            <a:xfrm>
              <a:off x="5200100" y="1631750"/>
              <a:ext cx="1416900" cy="1119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278-\frac{1}{2}x=105&quot;&gt;&lt;mn&gt;278&lt;/mn&gt;&lt;mo&gt;−&lt;/mo&gt;&lt;mfrac&gt;&lt;mn&gt;1&lt;/mn&gt;&lt;mn&gt;2&lt;/mn&gt;&lt;/mfrac&gt;&lt;mi&gt;x&lt;/mi&gt;&lt;mo&gt;=&lt;/mo&gt;&lt;mn&gt;105&lt;/mn&gt;&lt;/math&gt;" id="2462" name="Google Shape;2462;p205" title="278 minus one half x equals 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55" y="2505750"/>
            <a:ext cx="1799101" cy="5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3" name="Google Shape;2463;p205"/>
          <p:cNvSpPr txBox="1"/>
          <p:nvPr>
            <p:ph idx="1" type="body"/>
          </p:nvPr>
        </p:nvSpPr>
        <p:spPr>
          <a:xfrm>
            <a:off x="324000" y="759300"/>
            <a:ext cx="8496000" cy="7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Draw two lines for each to find the solutions to these equations:</a:t>
            </a:r>
            <a:endParaRPr/>
          </a:p>
        </p:txBody>
      </p:sp>
      <p:sp>
        <p:nvSpPr>
          <p:cNvPr id="2464" name="Google Shape;2464;p2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one side</a:t>
            </a:r>
            <a:endParaRPr/>
          </a:p>
        </p:txBody>
      </p:sp>
      <p:sp>
        <p:nvSpPr>
          <p:cNvPr id="2465" name="Google Shape;2465;p205"/>
          <p:cNvSpPr txBox="1"/>
          <p:nvPr>
            <p:ph idx="4294967295" type="subTitle"/>
          </p:nvPr>
        </p:nvSpPr>
        <p:spPr>
          <a:xfrm>
            <a:off x="716230" y="154843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13</a:t>
            </a:r>
            <a:endParaRPr sz="2000"/>
          </a:p>
        </p:txBody>
      </p:sp>
      <p:sp>
        <p:nvSpPr>
          <p:cNvPr id="2466" name="Google Shape;2466;p205"/>
          <p:cNvSpPr txBox="1"/>
          <p:nvPr>
            <p:ph idx="4294967295" type="subTitle"/>
          </p:nvPr>
        </p:nvSpPr>
        <p:spPr>
          <a:xfrm>
            <a:off x="716221" y="3670800"/>
            <a:ext cx="2653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2.1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+ 3.7 = 2.608</a:t>
            </a:r>
            <a:endParaRPr sz="2000"/>
          </a:p>
        </p:txBody>
      </p:sp>
      <p:sp>
        <p:nvSpPr>
          <p:cNvPr id="2467" name="Google Shape;2467;p205"/>
          <p:cNvSpPr txBox="1"/>
          <p:nvPr>
            <p:ph idx="1" type="body"/>
          </p:nvPr>
        </p:nvSpPr>
        <p:spPr>
          <a:xfrm>
            <a:off x="324000" y="15549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2468" name="Google Shape;2468;p205"/>
          <p:cNvSpPr txBox="1"/>
          <p:nvPr>
            <p:ph idx="1" type="body"/>
          </p:nvPr>
        </p:nvSpPr>
        <p:spPr>
          <a:xfrm>
            <a:off x="324000" y="26217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sp>
        <p:nvSpPr>
          <p:cNvPr id="2469" name="Google Shape;2469;p205"/>
          <p:cNvSpPr txBox="1"/>
          <p:nvPr>
            <p:ph idx="1" type="body"/>
          </p:nvPr>
        </p:nvSpPr>
        <p:spPr>
          <a:xfrm>
            <a:off x="324000" y="36885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4" name="Google Shape;2474;p206"/>
          <p:cNvGrpSpPr/>
          <p:nvPr/>
        </p:nvGrpSpPr>
        <p:grpSpPr>
          <a:xfrm>
            <a:off x="5188655" y="1080000"/>
            <a:ext cx="3620520" cy="3236525"/>
            <a:chOff x="5188655" y="1080000"/>
            <a:chExt cx="3620520" cy="3236525"/>
          </a:xfrm>
        </p:grpSpPr>
        <p:pic>
          <p:nvPicPr>
            <p:cNvPr id="2475" name="Google Shape;2475;p2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88655" y="1080000"/>
              <a:ext cx="3620520" cy="32365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76" name="Google Shape;2476;p206"/>
            <p:cNvSpPr/>
            <p:nvPr/>
          </p:nvSpPr>
          <p:spPr>
            <a:xfrm>
              <a:off x="5200100" y="1631750"/>
              <a:ext cx="1416900" cy="1119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77" name="Google Shape;2477;p206"/>
          <p:cNvGrpSpPr/>
          <p:nvPr/>
        </p:nvGrpSpPr>
        <p:grpSpPr>
          <a:xfrm>
            <a:off x="4150674" y="1085148"/>
            <a:ext cx="4674473" cy="3236525"/>
            <a:chOff x="4150674" y="1085148"/>
            <a:chExt cx="4674473" cy="3236525"/>
          </a:xfrm>
        </p:grpSpPr>
        <p:pic>
          <p:nvPicPr>
            <p:cNvPr id="2478" name="Google Shape;2478;p2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50674" y="1085148"/>
              <a:ext cx="4674473" cy="32365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79" name="Google Shape;2479;p206"/>
            <p:cNvSpPr/>
            <p:nvPr/>
          </p:nvSpPr>
          <p:spPr>
            <a:xfrm>
              <a:off x="4164575" y="3590500"/>
              <a:ext cx="1471200" cy="615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80" name="Google Shape;2480;p206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Draw the line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use it to solve the below equations.</a:t>
            </a:r>
            <a:endParaRPr/>
          </a:p>
        </p:txBody>
      </p:sp>
      <p:sp>
        <p:nvSpPr>
          <p:cNvPr id="2481" name="Google Shape;2481;p2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one side</a:t>
            </a:r>
            <a:endParaRPr/>
          </a:p>
        </p:txBody>
      </p:sp>
      <p:sp>
        <p:nvSpPr>
          <p:cNvPr id="2482" name="Google Shape;2482;p206"/>
          <p:cNvSpPr txBox="1"/>
          <p:nvPr>
            <p:ph idx="4294967295" type="subTitle"/>
          </p:nvPr>
        </p:nvSpPr>
        <p:spPr>
          <a:xfrm>
            <a:off x="716230" y="154843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2000"/>
          </a:p>
        </p:txBody>
      </p:sp>
      <p:sp>
        <p:nvSpPr>
          <p:cNvPr id="2483" name="Google Shape;2483;p206"/>
          <p:cNvSpPr txBox="1"/>
          <p:nvPr>
            <p:ph idx="4294967295" type="subTitle"/>
          </p:nvPr>
        </p:nvSpPr>
        <p:spPr>
          <a:xfrm>
            <a:off x="2892339" y="1548430"/>
            <a:ext cx="76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2000"/>
          </a:p>
        </p:txBody>
      </p:sp>
      <p:sp>
        <p:nvSpPr>
          <p:cNvPr id="2484" name="Google Shape;2484;p206"/>
          <p:cNvSpPr txBox="1"/>
          <p:nvPr>
            <p:ph idx="4294967295" type="subTitle"/>
          </p:nvPr>
        </p:nvSpPr>
        <p:spPr>
          <a:xfrm>
            <a:off x="716230" y="238663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−5</a:t>
            </a:r>
            <a:endParaRPr sz="2000"/>
          </a:p>
        </p:txBody>
      </p:sp>
      <p:sp>
        <p:nvSpPr>
          <p:cNvPr id="2485" name="Google Shape;2485;p206"/>
          <p:cNvSpPr txBox="1"/>
          <p:nvPr>
            <p:ph idx="4294967295" type="subTitle"/>
          </p:nvPr>
        </p:nvSpPr>
        <p:spPr>
          <a:xfrm>
            <a:off x="716230" y="322483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000"/>
          </a:p>
        </p:txBody>
      </p:sp>
      <p:sp>
        <p:nvSpPr>
          <p:cNvPr id="2486" name="Google Shape;2486;p206"/>
          <p:cNvSpPr txBox="1"/>
          <p:nvPr>
            <p:ph idx="4294967295" type="subTitle"/>
          </p:nvPr>
        </p:nvSpPr>
        <p:spPr>
          <a:xfrm>
            <a:off x="716230" y="405180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2000"/>
          </a:p>
        </p:txBody>
      </p:sp>
      <p:sp>
        <p:nvSpPr>
          <p:cNvPr id="2487" name="Google Shape;2487;p206"/>
          <p:cNvSpPr txBox="1"/>
          <p:nvPr>
            <p:ph idx="1" type="body"/>
          </p:nvPr>
        </p:nvSpPr>
        <p:spPr>
          <a:xfrm>
            <a:off x="324000" y="15549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2488" name="Google Shape;2488;p206"/>
          <p:cNvSpPr txBox="1"/>
          <p:nvPr>
            <p:ph idx="1" type="body"/>
          </p:nvPr>
        </p:nvSpPr>
        <p:spPr>
          <a:xfrm>
            <a:off x="324000" y="23931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sp>
        <p:nvSpPr>
          <p:cNvPr id="2489" name="Google Shape;2489;p206"/>
          <p:cNvSpPr txBox="1"/>
          <p:nvPr>
            <p:ph idx="1" type="body"/>
          </p:nvPr>
        </p:nvSpPr>
        <p:spPr>
          <a:xfrm>
            <a:off x="324000" y="32313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  <p:sp>
        <p:nvSpPr>
          <p:cNvPr id="2490" name="Google Shape;2490;p206"/>
          <p:cNvSpPr txBox="1"/>
          <p:nvPr>
            <p:ph idx="1" type="body"/>
          </p:nvPr>
        </p:nvSpPr>
        <p:spPr>
          <a:xfrm>
            <a:off x="324000" y="40695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/>
          </a:p>
        </p:txBody>
      </p:sp>
      <p:sp>
        <p:nvSpPr>
          <p:cNvPr id="2491" name="Google Shape;2491;p206"/>
          <p:cNvSpPr txBox="1"/>
          <p:nvPr>
            <p:ph idx="4294967295" type="subTitle"/>
          </p:nvPr>
        </p:nvSpPr>
        <p:spPr>
          <a:xfrm>
            <a:off x="2892339" y="2386630"/>
            <a:ext cx="76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2000"/>
          </a:p>
        </p:txBody>
      </p:sp>
      <p:sp>
        <p:nvSpPr>
          <p:cNvPr id="2492" name="Google Shape;2492;p206"/>
          <p:cNvSpPr txBox="1"/>
          <p:nvPr>
            <p:ph idx="4294967295" type="subTitle"/>
          </p:nvPr>
        </p:nvSpPr>
        <p:spPr>
          <a:xfrm>
            <a:off x="2892339" y="3224830"/>
            <a:ext cx="76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−1</a:t>
            </a:r>
            <a:endParaRPr sz="2000"/>
          </a:p>
        </p:txBody>
      </p:sp>
      <p:sp>
        <p:nvSpPr>
          <p:cNvPr id="2493" name="Google Shape;2493;p206"/>
          <p:cNvSpPr txBox="1"/>
          <p:nvPr>
            <p:ph idx="4294967295" type="subTitle"/>
          </p:nvPr>
        </p:nvSpPr>
        <p:spPr>
          <a:xfrm>
            <a:off x="2892339" y="4051800"/>
            <a:ext cx="76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sz="2000"/>
          </a:p>
        </p:txBody>
      </p:sp>
      <p:sp>
        <p:nvSpPr>
          <p:cNvPr id="2494" name="Google Shape;2494;p206"/>
          <p:cNvSpPr/>
          <p:nvPr/>
        </p:nvSpPr>
        <p:spPr>
          <a:xfrm>
            <a:off x="6868700" y="2370738"/>
            <a:ext cx="880500" cy="452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5" name="Google Shape;2495;p206"/>
          <p:cNvSpPr/>
          <p:nvPr/>
        </p:nvSpPr>
        <p:spPr>
          <a:xfrm>
            <a:off x="7608253" y="3753575"/>
            <a:ext cx="1086300" cy="452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6" name="Google Shape;2496;p206"/>
          <p:cNvSpPr/>
          <p:nvPr/>
        </p:nvSpPr>
        <p:spPr>
          <a:xfrm>
            <a:off x="5703245" y="1433141"/>
            <a:ext cx="1026000" cy="452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7" name="Google Shape;2497;p206"/>
          <p:cNvSpPr/>
          <p:nvPr/>
        </p:nvSpPr>
        <p:spPr>
          <a:xfrm>
            <a:off x="6052970" y="1914661"/>
            <a:ext cx="934500" cy="420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p207"/>
          <p:cNvSpPr txBox="1"/>
          <p:nvPr>
            <p:ph idx="1" type="body"/>
          </p:nvPr>
        </p:nvSpPr>
        <p:spPr>
          <a:xfrm>
            <a:off x="324000" y="759300"/>
            <a:ext cx="42279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Draw two lines for each to find the solutions to these equations:</a:t>
            </a:r>
            <a:endParaRPr/>
          </a:p>
        </p:txBody>
      </p:sp>
      <p:sp>
        <p:nvSpPr>
          <p:cNvPr id="2503" name="Google Shape;2503;p20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one side</a:t>
            </a:r>
            <a:endParaRPr/>
          </a:p>
        </p:txBody>
      </p:sp>
      <p:sp>
        <p:nvSpPr>
          <p:cNvPr id="2504" name="Google Shape;2504;p207"/>
          <p:cNvSpPr txBox="1"/>
          <p:nvPr>
            <p:ph idx="4294967295" type="subTitle"/>
          </p:nvPr>
        </p:nvSpPr>
        <p:spPr>
          <a:xfrm>
            <a:off x="716230" y="1548430"/>
            <a:ext cx="14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− 7 = 13</a:t>
            </a:r>
            <a:endParaRPr sz="2000"/>
          </a:p>
        </p:txBody>
      </p:sp>
      <p:sp>
        <p:nvSpPr>
          <p:cNvPr id="2505" name="Google Shape;2505;p207"/>
          <p:cNvSpPr txBox="1"/>
          <p:nvPr>
            <p:ph idx="1" type="body"/>
          </p:nvPr>
        </p:nvSpPr>
        <p:spPr>
          <a:xfrm>
            <a:off x="324000" y="15549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2506" name="Google Shape;2506;p207"/>
          <p:cNvSpPr txBox="1"/>
          <p:nvPr>
            <p:ph idx="4294967295" type="subTitle"/>
          </p:nvPr>
        </p:nvSpPr>
        <p:spPr>
          <a:xfrm>
            <a:off x="2546879" y="1538265"/>
            <a:ext cx="76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2000"/>
          </a:p>
        </p:txBody>
      </p:sp>
      <p:grpSp>
        <p:nvGrpSpPr>
          <p:cNvPr id="2507" name="Google Shape;2507;p207"/>
          <p:cNvGrpSpPr/>
          <p:nvPr/>
        </p:nvGrpSpPr>
        <p:grpSpPr>
          <a:xfrm>
            <a:off x="4450700" y="1284850"/>
            <a:ext cx="4349850" cy="3015998"/>
            <a:chOff x="4450700" y="1284850"/>
            <a:chExt cx="4349850" cy="3015998"/>
          </a:xfrm>
        </p:grpSpPr>
        <p:pic>
          <p:nvPicPr>
            <p:cNvPr id="2508" name="Google Shape;2508;p2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50700" y="1284850"/>
              <a:ext cx="4349850" cy="3015998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09" name="Google Shape;2509;p207"/>
            <p:cNvSpPr/>
            <p:nvPr/>
          </p:nvSpPr>
          <p:spPr>
            <a:xfrm>
              <a:off x="4462125" y="2149835"/>
              <a:ext cx="1471200" cy="1045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208"/>
          <p:cNvSpPr txBox="1"/>
          <p:nvPr>
            <p:ph idx="1" type="body"/>
          </p:nvPr>
        </p:nvSpPr>
        <p:spPr>
          <a:xfrm>
            <a:off x="324000" y="759300"/>
            <a:ext cx="42279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Draw two lines for each to find the solutions to these equations:</a:t>
            </a:r>
            <a:endParaRPr/>
          </a:p>
        </p:txBody>
      </p:sp>
      <p:sp>
        <p:nvSpPr>
          <p:cNvPr id="2515" name="Google Shape;2515;p20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one side</a:t>
            </a:r>
            <a:endParaRPr/>
          </a:p>
        </p:txBody>
      </p:sp>
      <p:sp>
        <p:nvSpPr>
          <p:cNvPr id="2516" name="Google Shape;2516;p208"/>
          <p:cNvSpPr txBox="1"/>
          <p:nvPr>
            <p:ph idx="1" type="body"/>
          </p:nvPr>
        </p:nvSpPr>
        <p:spPr>
          <a:xfrm>
            <a:off x="324000" y="26217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78-\frac{1}{2}x=105&quot;&gt;&lt;mn&gt;278&lt;/mn&gt;&lt;mo&gt;−&lt;/mo&gt;&lt;mfrac&gt;&lt;mn&gt;1&lt;/mn&gt;&lt;mn&gt;2&lt;/mn&gt;&lt;/mfrac&gt;&lt;mi&gt;x&lt;/mi&gt;&lt;mo&gt;=&lt;/mo&gt;&lt;mn&gt;105&lt;/mn&gt;&lt;/math&gt;" id="2517" name="Google Shape;2517;p208" title="278 minus one half x equals 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55" y="2505750"/>
            <a:ext cx="1799101" cy="5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8" name="Google Shape;2518;p208"/>
          <p:cNvSpPr txBox="1"/>
          <p:nvPr>
            <p:ph idx="4294967295" type="subTitle"/>
          </p:nvPr>
        </p:nvSpPr>
        <p:spPr>
          <a:xfrm>
            <a:off x="1662970" y="3290875"/>
            <a:ext cx="1012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346</a:t>
            </a:r>
            <a:endParaRPr sz="2000"/>
          </a:p>
        </p:txBody>
      </p:sp>
      <p:grpSp>
        <p:nvGrpSpPr>
          <p:cNvPr id="2519" name="Google Shape;2519;p208"/>
          <p:cNvGrpSpPr/>
          <p:nvPr/>
        </p:nvGrpSpPr>
        <p:grpSpPr>
          <a:xfrm>
            <a:off x="3441350" y="1530068"/>
            <a:ext cx="5362309" cy="2793750"/>
            <a:chOff x="3441350" y="1530068"/>
            <a:chExt cx="5362309" cy="2793750"/>
          </a:xfrm>
        </p:grpSpPr>
        <p:pic>
          <p:nvPicPr>
            <p:cNvPr id="2520" name="Google Shape;2520;p2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41350" y="1530068"/>
              <a:ext cx="5362309" cy="279375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21" name="Google Shape;2521;p208"/>
            <p:cNvSpPr/>
            <p:nvPr/>
          </p:nvSpPr>
          <p:spPr>
            <a:xfrm>
              <a:off x="3454874" y="2594885"/>
              <a:ext cx="1507800" cy="79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209"/>
          <p:cNvSpPr txBox="1"/>
          <p:nvPr>
            <p:ph idx="1" type="body"/>
          </p:nvPr>
        </p:nvSpPr>
        <p:spPr>
          <a:xfrm>
            <a:off x="324000" y="759300"/>
            <a:ext cx="42279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Draw two lines for each to find the solutions to these equations:</a:t>
            </a:r>
            <a:endParaRPr/>
          </a:p>
        </p:txBody>
      </p:sp>
      <p:sp>
        <p:nvSpPr>
          <p:cNvPr id="2527" name="Google Shape;2527;p2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one side</a:t>
            </a:r>
            <a:endParaRPr/>
          </a:p>
        </p:txBody>
      </p:sp>
      <p:sp>
        <p:nvSpPr>
          <p:cNvPr id="2528" name="Google Shape;2528;p209"/>
          <p:cNvSpPr txBox="1"/>
          <p:nvPr>
            <p:ph idx="4294967295" type="subTitle"/>
          </p:nvPr>
        </p:nvSpPr>
        <p:spPr>
          <a:xfrm>
            <a:off x="716222" y="3670800"/>
            <a:ext cx="2171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2.1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+ 3.7 = 2.608</a:t>
            </a:r>
            <a:endParaRPr sz="2000"/>
          </a:p>
        </p:txBody>
      </p:sp>
      <p:sp>
        <p:nvSpPr>
          <p:cNvPr id="2529" name="Google Shape;2529;p209"/>
          <p:cNvSpPr txBox="1"/>
          <p:nvPr>
            <p:ph idx="1" type="body"/>
          </p:nvPr>
        </p:nvSpPr>
        <p:spPr>
          <a:xfrm>
            <a:off x="324000" y="36885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  <p:sp>
        <p:nvSpPr>
          <p:cNvPr id="2530" name="Google Shape;2530;p209"/>
          <p:cNvSpPr txBox="1"/>
          <p:nvPr>
            <p:ph idx="4294967295" type="subTitle"/>
          </p:nvPr>
        </p:nvSpPr>
        <p:spPr>
          <a:xfrm>
            <a:off x="1729003" y="4205275"/>
            <a:ext cx="1165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−0.52</a:t>
            </a:r>
            <a:endParaRPr sz="2000"/>
          </a:p>
        </p:txBody>
      </p:sp>
      <p:grpSp>
        <p:nvGrpSpPr>
          <p:cNvPr id="2531" name="Google Shape;2531;p209"/>
          <p:cNvGrpSpPr/>
          <p:nvPr/>
        </p:nvGrpSpPr>
        <p:grpSpPr>
          <a:xfrm>
            <a:off x="4418500" y="1401573"/>
            <a:ext cx="4401377" cy="2899153"/>
            <a:chOff x="4418500" y="1401573"/>
            <a:chExt cx="4401377" cy="2899153"/>
          </a:xfrm>
        </p:grpSpPr>
        <p:pic>
          <p:nvPicPr>
            <p:cNvPr id="2532" name="Google Shape;2532;p2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18500" y="1401573"/>
              <a:ext cx="4401377" cy="2899153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33" name="Google Shape;2533;p209"/>
            <p:cNvSpPr/>
            <p:nvPr/>
          </p:nvSpPr>
          <p:spPr>
            <a:xfrm>
              <a:off x="4425150" y="2254535"/>
              <a:ext cx="1391400" cy="79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7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21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one side</a:t>
            </a:r>
            <a:endParaRPr/>
          </a:p>
        </p:txBody>
      </p:sp>
      <p:sp>
        <p:nvSpPr>
          <p:cNvPr id="2539" name="Google Shape;2539;p21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540" name="Google Shape;2540;p210"/>
          <p:cNvSpPr txBox="1"/>
          <p:nvPr>
            <p:ph idx="3" type="title"/>
          </p:nvPr>
        </p:nvSpPr>
        <p:spPr>
          <a:xfrm>
            <a:off x="324000" y="657600"/>
            <a:ext cx="6068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graphically using technology</a:t>
            </a:r>
            <a:endParaRPr/>
          </a:p>
        </p:txBody>
      </p:sp>
      <p:pic>
        <p:nvPicPr>
          <p:cNvPr id="2541" name="Google Shape;2541;p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9879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p211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Desmos to solve equations with unknowns on both sides such as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/>
          </a:p>
        </p:txBody>
      </p:sp>
      <p:sp>
        <p:nvSpPr>
          <p:cNvPr id="2547" name="Google Shape;2547;p2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548" name="Google Shape;2548;p211"/>
          <p:cNvSpPr txBox="1"/>
          <p:nvPr>
            <p:ph idx="1" type="body"/>
          </p:nvPr>
        </p:nvSpPr>
        <p:spPr>
          <a:xfrm>
            <a:off x="324000" y="1704975"/>
            <a:ext cx="54504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Let’s </a:t>
            </a:r>
            <a:r>
              <a:rPr lang="en-GB" sz="2000"/>
              <a:t>first</a:t>
            </a:r>
            <a:r>
              <a:rPr lang="en-GB" sz="2000"/>
              <a:t> solve without technology.</a:t>
            </a:r>
            <a:endParaRPr sz="2000"/>
          </a:p>
        </p:txBody>
      </p:sp>
      <p:graphicFrame>
        <p:nvGraphicFramePr>
          <p:cNvPr id="2549" name="Google Shape;2549;p211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50" name="Google Shape;2550;p211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51" name="Google Shape;2551;p211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52" name="Google Shape;2552;p211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3" name="Google Shape;2553;p211"/>
          <p:cNvSpPr/>
          <p:nvPr/>
        </p:nvSpPr>
        <p:spPr>
          <a:xfrm>
            <a:off x="609108" y="2727995"/>
            <a:ext cx="1818900" cy="5097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4" name="Google Shape;2554;p211"/>
          <p:cNvSpPr txBox="1"/>
          <p:nvPr>
            <p:ph idx="1" type="body"/>
          </p:nvPr>
        </p:nvSpPr>
        <p:spPr>
          <a:xfrm>
            <a:off x="2892339" y="2628184"/>
            <a:ext cx="58935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form looks familiar.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We could plot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− 7 </a:t>
            </a:r>
            <a:r>
              <a:rPr lang="en-GB" sz="2000"/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 </a:t>
            </a:r>
            <a:r>
              <a:rPr lang="en-GB" sz="2000"/>
              <a:t>to see the solution.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212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Desmos to solve equations with unknowns on both sides such as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/>
          </a:p>
        </p:txBody>
      </p:sp>
      <p:sp>
        <p:nvSpPr>
          <p:cNvPr id="2560" name="Google Shape;2560;p2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561" name="Google Shape;2561;p212"/>
          <p:cNvSpPr txBox="1"/>
          <p:nvPr>
            <p:ph idx="1" type="body"/>
          </p:nvPr>
        </p:nvSpPr>
        <p:spPr>
          <a:xfrm>
            <a:off x="324000" y="1704975"/>
            <a:ext cx="54504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Let’s first solve without technology.</a:t>
            </a:r>
            <a:endParaRPr sz="2000"/>
          </a:p>
        </p:txBody>
      </p:sp>
      <p:graphicFrame>
        <p:nvGraphicFramePr>
          <p:cNvPr id="2562" name="Google Shape;2562;p212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63" name="Google Shape;2563;p212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64" name="Google Shape;2564;p212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65" name="Google Shape;2565;p212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66" name="Google Shape;2566;p212"/>
          <p:cNvSpPr/>
          <p:nvPr/>
        </p:nvSpPr>
        <p:spPr>
          <a:xfrm>
            <a:off x="609108" y="2727995"/>
            <a:ext cx="1818900" cy="5097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67" name="Google Shape;2567;p212"/>
          <p:cNvGrpSpPr/>
          <p:nvPr/>
        </p:nvGrpSpPr>
        <p:grpSpPr>
          <a:xfrm>
            <a:off x="3387963" y="2096688"/>
            <a:ext cx="4374349" cy="2438823"/>
            <a:chOff x="4824000" y="1639375"/>
            <a:chExt cx="3983924" cy="2341195"/>
          </a:xfrm>
        </p:grpSpPr>
        <p:pic>
          <p:nvPicPr>
            <p:cNvPr id="2568" name="Google Shape;2568;p2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24000" y="1639375"/>
              <a:ext cx="3983924" cy="234119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69" name="Google Shape;2569;p212"/>
            <p:cNvSpPr/>
            <p:nvPr/>
          </p:nvSpPr>
          <p:spPr>
            <a:xfrm>
              <a:off x="4828214" y="2491505"/>
              <a:ext cx="1422000" cy="76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70" name="Google Shape;2570;p212"/>
          <p:cNvSpPr txBox="1"/>
          <p:nvPr>
            <p:ph idx="1" type="body"/>
          </p:nvPr>
        </p:nvSpPr>
        <p:spPr>
          <a:xfrm>
            <a:off x="6564025" y="4497176"/>
            <a:ext cx="7164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213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Desmos to solve equations with unknowns on both sides such as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/>
          </a:p>
        </p:txBody>
      </p:sp>
      <p:sp>
        <p:nvSpPr>
          <p:cNvPr id="2576" name="Google Shape;2576;p2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577" name="Google Shape;2577;p213"/>
          <p:cNvSpPr txBox="1"/>
          <p:nvPr>
            <p:ph idx="1" type="body"/>
          </p:nvPr>
        </p:nvSpPr>
        <p:spPr>
          <a:xfrm>
            <a:off x="324000" y="1704975"/>
            <a:ext cx="54504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Let’s first solve without technology.</a:t>
            </a:r>
            <a:endParaRPr sz="2000"/>
          </a:p>
        </p:txBody>
      </p:sp>
      <p:graphicFrame>
        <p:nvGraphicFramePr>
          <p:cNvPr id="2578" name="Google Shape;2578;p213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79" name="Google Shape;2579;p213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80" name="Google Shape;2580;p213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81" name="Google Shape;2581;p213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2" name="Google Shape;2582;p213"/>
          <p:cNvSpPr/>
          <p:nvPr/>
        </p:nvSpPr>
        <p:spPr>
          <a:xfrm>
            <a:off x="837708" y="3250164"/>
            <a:ext cx="1818900" cy="5097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3" name="Google Shape;2583;p213"/>
          <p:cNvSpPr txBox="1"/>
          <p:nvPr>
            <p:ph idx="1" type="body"/>
          </p:nvPr>
        </p:nvSpPr>
        <p:spPr>
          <a:xfrm>
            <a:off x="2892349" y="3161575"/>
            <a:ext cx="53169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Could we have plotted this</a:t>
            </a:r>
            <a:r>
              <a:rPr lang="en-GB" sz="2000"/>
              <a:t> form to solve? The lines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8 </a:t>
            </a:r>
            <a:r>
              <a:rPr lang="en-GB" sz="2000"/>
              <a:t>?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214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Desmos to solve equations with unknowns on both sides such as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/>
          </a:p>
        </p:txBody>
      </p:sp>
      <p:sp>
        <p:nvSpPr>
          <p:cNvPr id="2589" name="Google Shape;2589;p2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590" name="Google Shape;2590;p214"/>
          <p:cNvSpPr txBox="1"/>
          <p:nvPr>
            <p:ph idx="1" type="body"/>
          </p:nvPr>
        </p:nvSpPr>
        <p:spPr>
          <a:xfrm>
            <a:off x="324000" y="1704975"/>
            <a:ext cx="54504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Let’s first solve without technology.</a:t>
            </a:r>
            <a:endParaRPr sz="2000"/>
          </a:p>
        </p:txBody>
      </p:sp>
      <p:graphicFrame>
        <p:nvGraphicFramePr>
          <p:cNvPr id="2591" name="Google Shape;2591;p214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92" name="Google Shape;2592;p214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93" name="Google Shape;2593;p214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94" name="Google Shape;2594;p214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5" name="Google Shape;2595;p214"/>
          <p:cNvSpPr/>
          <p:nvPr/>
        </p:nvSpPr>
        <p:spPr>
          <a:xfrm>
            <a:off x="837708" y="3250164"/>
            <a:ext cx="1818900" cy="5097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6" name="Google Shape;2596;p214"/>
          <p:cNvSpPr txBox="1"/>
          <p:nvPr>
            <p:ph idx="1" type="body"/>
          </p:nvPr>
        </p:nvSpPr>
        <p:spPr>
          <a:xfrm>
            <a:off x="5898600" y="4493259"/>
            <a:ext cx="7164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/>
          </a:p>
        </p:txBody>
      </p:sp>
      <p:grpSp>
        <p:nvGrpSpPr>
          <p:cNvPr id="2597" name="Google Shape;2597;p214"/>
          <p:cNvGrpSpPr/>
          <p:nvPr/>
        </p:nvGrpSpPr>
        <p:grpSpPr>
          <a:xfrm>
            <a:off x="3384515" y="2095100"/>
            <a:ext cx="3347500" cy="2438800"/>
            <a:chOff x="4415775" y="2095100"/>
            <a:chExt cx="3347500" cy="2438800"/>
          </a:xfrm>
        </p:grpSpPr>
        <p:pic>
          <p:nvPicPr>
            <p:cNvPr id="2598" name="Google Shape;2598;p2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15775" y="2095100"/>
              <a:ext cx="3347500" cy="2438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99" name="Google Shape;2599;p214"/>
            <p:cNvSpPr/>
            <p:nvPr/>
          </p:nvSpPr>
          <p:spPr>
            <a:xfrm>
              <a:off x="4423400" y="3028574"/>
              <a:ext cx="1535400" cy="796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00" name="Google Shape;2600;p214"/>
          <p:cNvSpPr txBox="1"/>
          <p:nvPr>
            <p:ph idx="1" type="body"/>
          </p:nvPr>
        </p:nvSpPr>
        <p:spPr>
          <a:xfrm>
            <a:off x="6872155" y="2700695"/>
            <a:ext cx="20190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Same solution, different method.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4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p2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graphicFrame>
        <p:nvGraphicFramePr>
          <p:cNvPr id="2606" name="Google Shape;2606;p215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07" name="Google Shape;2607;p215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08" name="Google Shape;2608;p215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09" name="Google Shape;2609;p215"/>
          <p:cNvGraphicFramePr/>
          <p:nvPr/>
        </p:nvGraphicFramePr>
        <p:xfrm>
          <a:off x="522789" y="2203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{57A930BD-F6CC-41FE-9157-BB682E387DC2}</a:tableStyleId>
              </a:tblPr>
              <a:tblGrid>
                <a:gridCol w="1066500"/>
                <a:gridCol w="344250"/>
                <a:gridCol w="84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0" name="Google Shape;2610;p215"/>
          <p:cNvSpPr/>
          <p:nvPr/>
        </p:nvSpPr>
        <p:spPr>
          <a:xfrm>
            <a:off x="619275" y="2229075"/>
            <a:ext cx="2159100" cy="5097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1" name="Google Shape;2611;p215"/>
          <p:cNvSpPr txBox="1"/>
          <p:nvPr>
            <p:ph idx="1" type="body"/>
          </p:nvPr>
        </p:nvSpPr>
        <p:spPr>
          <a:xfrm>
            <a:off x="2892350" y="1452150"/>
            <a:ext cx="53169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 c</a:t>
            </a:r>
            <a:r>
              <a:rPr lang="en-GB" sz="2000"/>
              <a:t>ould we just have plotted this form?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lines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?</a:t>
            </a:r>
            <a:endParaRPr sz="2000"/>
          </a:p>
        </p:txBody>
      </p:sp>
      <p:grpSp>
        <p:nvGrpSpPr>
          <p:cNvPr id="2612" name="Google Shape;2612;p215"/>
          <p:cNvGrpSpPr/>
          <p:nvPr/>
        </p:nvGrpSpPr>
        <p:grpSpPr>
          <a:xfrm>
            <a:off x="2892346" y="2263278"/>
            <a:ext cx="4014990" cy="1979705"/>
            <a:chOff x="3367751" y="2077727"/>
            <a:chExt cx="4319052" cy="2242275"/>
          </a:xfrm>
        </p:grpSpPr>
        <p:pic>
          <p:nvPicPr>
            <p:cNvPr id="2613" name="Google Shape;2613;p2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67751" y="2077727"/>
              <a:ext cx="4319052" cy="224227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614" name="Google Shape;2614;p215"/>
            <p:cNvSpPr/>
            <p:nvPr/>
          </p:nvSpPr>
          <p:spPr>
            <a:xfrm>
              <a:off x="3390049" y="3094039"/>
              <a:ext cx="1790400" cy="655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15" name="Google Shape;2615;p215"/>
          <p:cNvSpPr txBox="1"/>
          <p:nvPr/>
        </p:nvSpPr>
        <p:spPr>
          <a:xfrm>
            <a:off x="2794314" y="4359718"/>
            <a:ext cx="583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Yes, we get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 exact same solution.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6" name="Google Shape;2616;p215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Desmos to solve equations with unknowns on both sides such as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216"/>
          <p:cNvSpPr txBox="1"/>
          <p:nvPr>
            <p:ph idx="1" type="subTitle"/>
          </p:nvPr>
        </p:nvSpPr>
        <p:spPr>
          <a:xfrm>
            <a:off x="324000" y="101503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solving equations with unknowns both sides we need to manipulate so that the unknowns are on one side before solving.</a:t>
            </a:r>
            <a:endParaRPr sz="2000"/>
          </a:p>
        </p:txBody>
      </p:sp>
      <p:sp>
        <p:nvSpPr>
          <p:cNvPr id="2622" name="Google Shape;2622;p21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623" name="Google Shape;2623;p216"/>
          <p:cNvSpPr txBox="1"/>
          <p:nvPr>
            <p:ph idx="2" type="subTitle"/>
          </p:nvPr>
        </p:nvSpPr>
        <p:spPr>
          <a:xfrm>
            <a:off x="980575" y="3955725"/>
            <a:ext cx="52761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need to isolate the unknown terms on one side in order to solve equations.</a:t>
            </a:r>
            <a:endParaRPr sz="2000"/>
          </a:p>
        </p:txBody>
      </p:sp>
      <p:sp>
        <p:nvSpPr>
          <p:cNvPr id="2624" name="Google Shape;2624;p216"/>
          <p:cNvSpPr txBox="1"/>
          <p:nvPr>
            <p:ph idx="2" type="subTitle"/>
          </p:nvPr>
        </p:nvSpPr>
        <p:spPr>
          <a:xfrm>
            <a:off x="980575" y="3075004"/>
            <a:ext cx="7839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With Desmos graphing software we don’t need to rearrange. We can plot the two expressions and identify the intersection.</a:t>
            </a:r>
            <a:endParaRPr sz="2000"/>
          </a:p>
        </p:txBody>
      </p:sp>
      <p:pic>
        <p:nvPicPr>
          <p:cNvPr id="2625" name="Google Shape;2625;p2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1631" y="181945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6" name="Google Shape;2626;p2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9080" y="36081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217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Sofia are using Desmos to solve equations with unknowns both sides.</a:t>
            </a:r>
            <a:endParaRPr/>
          </a:p>
        </p:txBody>
      </p:sp>
      <p:sp>
        <p:nvSpPr>
          <p:cNvPr id="2632" name="Google Shape;2632;p21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pic>
        <p:nvPicPr>
          <p:cNvPr id="2633" name="Google Shape;2633;p217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602585" y="3847260"/>
            <a:ext cx="3048602" cy="6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34" name="Google Shape;2634;p217"/>
          <p:cNvSpPr txBox="1"/>
          <p:nvPr/>
        </p:nvSpPr>
        <p:spPr>
          <a:xfrm>
            <a:off x="4817035" y="3941315"/>
            <a:ext cx="2569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Yes, I see.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−1.55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5" name="Google Shape;2635;p217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715876" y="2038085"/>
            <a:ext cx="3281024" cy="20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6" name="Google Shape;2636;p217"/>
          <p:cNvSpPr txBox="1"/>
          <p:nvPr/>
        </p:nvSpPr>
        <p:spPr>
          <a:xfrm>
            <a:off x="1043980" y="2276605"/>
            <a:ext cx="2688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technology is brilliant! I just solved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2.3 − 0.4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7.6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+ 14.7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a few seconds.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7" name="Google Shape;2637;p2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800" y="364188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8" name="Google Shape;2638;p2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7190" y="3938513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9" name="Google Shape;2639;p217"/>
          <p:cNvGrpSpPr/>
          <p:nvPr/>
        </p:nvGrpSpPr>
        <p:grpSpPr>
          <a:xfrm>
            <a:off x="4159453" y="1528744"/>
            <a:ext cx="3769178" cy="2271966"/>
            <a:chOff x="1676400" y="1122300"/>
            <a:chExt cx="5347869" cy="3197701"/>
          </a:xfrm>
        </p:grpSpPr>
        <p:pic>
          <p:nvPicPr>
            <p:cNvPr id="2640" name="Google Shape;2640;p21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76400" y="1122300"/>
              <a:ext cx="5347869" cy="31977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641" name="Google Shape;2641;p217"/>
            <p:cNvSpPr/>
            <p:nvPr/>
          </p:nvSpPr>
          <p:spPr>
            <a:xfrm>
              <a:off x="1691790" y="2256125"/>
              <a:ext cx="1796700" cy="83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5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6" name="Google Shape;2646;p218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028373" y="2311535"/>
            <a:ext cx="3141002" cy="162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7" name="Google Shape;2647;p218"/>
          <p:cNvSpPr txBox="1"/>
          <p:nvPr>
            <p:ph idx="1" type="body"/>
          </p:nvPr>
        </p:nvSpPr>
        <p:spPr>
          <a:xfrm>
            <a:off x="324000" y="759300"/>
            <a:ext cx="80427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Sofia are using Desmos to solve equations with unknowns both sides.</a:t>
            </a:r>
            <a:endParaRPr/>
          </a:p>
        </p:txBody>
      </p:sp>
      <p:sp>
        <p:nvSpPr>
          <p:cNvPr id="2648" name="Google Shape;2648;p21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649" name="Google Shape;2649;p218"/>
          <p:cNvSpPr txBox="1"/>
          <p:nvPr/>
        </p:nvSpPr>
        <p:spPr>
          <a:xfrm>
            <a:off x="5211200" y="2534100"/>
            <a:ext cx="28575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But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can you help me? I’m stuck trying to solve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50" name="Google Shape;2650;p218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715876" y="2038085"/>
            <a:ext cx="3281024" cy="20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1" name="Google Shape;2651;p218"/>
          <p:cNvSpPr txBox="1"/>
          <p:nvPr/>
        </p:nvSpPr>
        <p:spPr>
          <a:xfrm>
            <a:off x="1043980" y="2276605"/>
            <a:ext cx="2688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technology is brilliant! I just solved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2.3 − 0.4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7.6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+ 14.7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a few seconds.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2" name="Google Shape;2652;p218"/>
          <p:cNvSpPr txBox="1"/>
          <p:nvPr/>
        </p:nvSpPr>
        <p:spPr>
          <a:xfrm>
            <a:off x="1684800" y="4340700"/>
            <a:ext cx="5774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see wh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y Sofia has gotten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stuck?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53" name="Google Shape;2653;p2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800" y="364188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4" name="Google Shape;2654;p2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7190" y="3938513"/>
            <a:ext cx="807760" cy="896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9" name="Google Shape;2659;p219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028373" y="2311535"/>
            <a:ext cx="3141002" cy="162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0" name="Google Shape;2660;p21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661" name="Google Shape;2661;p219"/>
          <p:cNvSpPr txBox="1"/>
          <p:nvPr/>
        </p:nvSpPr>
        <p:spPr>
          <a:xfrm>
            <a:off x="5211200" y="2534100"/>
            <a:ext cx="28575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But can you help me? I’m stuck trying to solve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2" name="Google Shape;2662;p219"/>
          <p:cNvSpPr txBox="1"/>
          <p:nvPr/>
        </p:nvSpPr>
        <p:spPr>
          <a:xfrm>
            <a:off x="1110350" y="4056225"/>
            <a:ext cx="63492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+ 11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are p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arallel lines, they have no intersection. Therefore this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equation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has no solution.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63" name="Google Shape;2663;p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800" y="364188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4" name="Google Shape;2664;p2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7190" y="3938513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5" name="Google Shape;2665;p219"/>
          <p:cNvGrpSpPr/>
          <p:nvPr/>
        </p:nvGrpSpPr>
        <p:grpSpPr>
          <a:xfrm>
            <a:off x="1416349" y="812447"/>
            <a:ext cx="3140946" cy="2967689"/>
            <a:chOff x="1700855" y="1498200"/>
            <a:chExt cx="2993373" cy="2821802"/>
          </a:xfrm>
        </p:grpSpPr>
        <p:pic>
          <p:nvPicPr>
            <p:cNvPr id="2666" name="Google Shape;2666;p2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700855" y="1498200"/>
              <a:ext cx="2993373" cy="282180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667" name="Google Shape;2667;p219"/>
            <p:cNvSpPr/>
            <p:nvPr/>
          </p:nvSpPr>
          <p:spPr>
            <a:xfrm>
              <a:off x="1711570" y="2293667"/>
              <a:ext cx="1266300" cy="595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68" name="Google Shape;2668;p219"/>
          <p:cNvGrpSpPr/>
          <p:nvPr/>
        </p:nvGrpSpPr>
        <p:grpSpPr>
          <a:xfrm>
            <a:off x="1225910" y="807699"/>
            <a:ext cx="3585707" cy="2967676"/>
            <a:chOff x="1225910" y="807699"/>
            <a:chExt cx="3585707" cy="2967676"/>
          </a:xfrm>
        </p:grpSpPr>
        <p:pic>
          <p:nvPicPr>
            <p:cNvPr id="2669" name="Google Shape;2669;p21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25910" y="807699"/>
              <a:ext cx="3585707" cy="296767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670" name="Google Shape;2670;p219"/>
            <p:cNvSpPr/>
            <p:nvPr/>
          </p:nvSpPr>
          <p:spPr>
            <a:xfrm>
              <a:off x="1234607" y="1628710"/>
              <a:ext cx="1328700" cy="626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4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Google Shape;2675;p220"/>
          <p:cNvSpPr txBox="1"/>
          <p:nvPr>
            <p:ph type="title"/>
          </p:nvPr>
        </p:nvSpPr>
        <p:spPr>
          <a:xfrm>
            <a:off x="324000" y="810000"/>
            <a:ext cx="5932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equations have solutions?</a:t>
            </a:r>
            <a:endParaRPr/>
          </a:p>
        </p:txBody>
      </p:sp>
      <p:sp>
        <p:nvSpPr>
          <p:cNvPr id="2676" name="Google Shape;2676;p22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677" name="Google Shape;2677;p220"/>
          <p:cNvSpPr txBox="1"/>
          <p:nvPr>
            <p:ph idx="1" type="subTitle"/>
          </p:nvPr>
        </p:nvSpPr>
        <p:spPr>
          <a:xfrm>
            <a:off x="1034425" y="1685375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/>
          </a:p>
        </p:txBody>
      </p:sp>
      <p:sp>
        <p:nvSpPr>
          <p:cNvPr id="2678" name="Google Shape;2678;p220"/>
          <p:cNvSpPr txBox="1"/>
          <p:nvPr>
            <p:ph idx="3" type="subTitle"/>
          </p:nvPr>
        </p:nvSpPr>
        <p:spPr>
          <a:xfrm>
            <a:off x="1034425" y="2489443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 = 7 − 5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679" name="Google Shape;2679;p220"/>
          <p:cNvSpPr txBox="1"/>
          <p:nvPr>
            <p:ph idx="4" type="subTitle"/>
          </p:nvPr>
        </p:nvSpPr>
        <p:spPr>
          <a:xfrm>
            <a:off x="1034425" y="3309758"/>
            <a:ext cx="232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− 5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/>
          </a:p>
        </p:txBody>
      </p:sp>
      <p:sp>
        <p:nvSpPr>
          <p:cNvPr id="2680" name="Google Shape;2680;p220"/>
          <p:cNvSpPr txBox="1"/>
          <p:nvPr>
            <p:ph idx="5" type="subTitle"/>
          </p:nvPr>
        </p:nvSpPr>
        <p:spPr>
          <a:xfrm>
            <a:off x="1034425" y="4113827"/>
            <a:ext cx="2335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 =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/>
          </a:p>
        </p:txBody>
      </p:sp>
      <p:pic>
        <p:nvPicPr>
          <p:cNvPr id="2681" name="Google Shape;2681;p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1183" y="165078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2" name="Google Shape;2682;p220"/>
          <p:cNvSpPr txBox="1"/>
          <p:nvPr/>
        </p:nvSpPr>
        <p:spPr>
          <a:xfrm>
            <a:off x="3715460" y="2060370"/>
            <a:ext cx="4929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Different gradients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therefore they intersect. This equation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has a solution.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83" name="Google Shape;2683;p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1183" y="248308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3259" y="3298127"/>
            <a:ext cx="396364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220"/>
          <p:cNvSpPr txBox="1"/>
          <p:nvPr/>
        </p:nvSpPr>
        <p:spPr>
          <a:xfrm>
            <a:off x="3772690" y="3655810"/>
            <a:ext cx="4929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 gradient, therefore no intersection. This equation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has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no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solution.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86" name="Google Shape;2686;p2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2221" y="4113827"/>
            <a:ext cx="396364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0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p221"/>
          <p:cNvSpPr txBox="1"/>
          <p:nvPr>
            <p:ph idx="1" type="body"/>
          </p:nvPr>
        </p:nvSpPr>
        <p:spPr>
          <a:xfrm>
            <a:off x="324000" y="759300"/>
            <a:ext cx="8496000" cy="7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Plot pairs of lines and find the intersections to solve the below equations:</a:t>
            </a:r>
            <a:endParaRPr/>
          </a:p>
        </p:txBody>
      </p:sp>
      <p:sp>
        <p:nvSpPr>
          <p:cNvPr id="2692" name="Google Shape;2692;p22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693" name="Google Shape;2693;p221"/>
          <p:cNvSpPr txBox="1"/>
          <p:nvPr>
            <p:ph idx="4294967295" type="subTitle"/>
          </p:nvPr>
        </p:nvSpPr>
        <p:spPr>
          <a:xfrm>
            <a:off x="716222" y="1624625"/>
            <a:ext cx="2171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− 13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sz="2000"/>
          </a:p>
        </p:txBody>
      </p:sp>
      <p:sp>
        <p:nvSpPr>
          <p:cNvPr id="2694" name="Google Shape;2694;p221"/>
          <p:cNvSpPr txBox="1"/>
          <p:nvPr>
            <p:ph idx="4294967295" type="subTitle"/>
          </p:nvPr>
        </p:nvSpPr>
        <p:spPr>
          <a:xfrm>
            <a:off x="716225" y="2615225"/>
            <a:ext cx="289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− 268 = 5396 − 18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2695" name="Google Shape;2695;p221"/>
          <p:cNvSpPr txBox="1"/>
          <p:nvPr>
            <p:ph idx="4294967295" type="subTitle"/>
          </p:nvPr>
        </p:nvSpPr>
        <p:spPr>
          <a:xfrm>
            <a:off x="716225" y="3682025"/>
            <a:ext cx="3270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− 8.75 = 4(0.0625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sp>
        <p:nvSpPr>
          <p:cNvPr id="2696" name="Google Shape;2696;p221"/>
          <p:cNvSpPr txBox="1"/>
          <p:nvPr>
            <p:ph idx="1" type="body"/>
          </p:nvPr>
        </p:nvSpPr>
        <p:spPr>
          <a:xfrm>
            <a:off x="324000" y="16311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2697" name="Google Shape;2697;p221"/>
          <p:cNvSpPr txBox="1"/>
          <p:nvPr>
            <p:ph idx="1" type="body"/>
          </p:nvPr>
        </p:nvSpPr>
        <p:spPr>
          <a:xfrm>
            <a:off x="324000" y="26217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sp>
        <p:nvSpPr>
          <p:cNvPr id="2698" name="Google Shape;2698;p221"/>
          <p:cNvSpPr txBox="1"/>
          <p:nvPr>
            <p:ph idx="1" type="body"/>
          </p:nvPr>
        </p:nvSpPr>
        <p:spPr>
          <a:xfrm>
            <a:off x="324000" y="36885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2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222"/>
          <p:cNvSpPr txBox="1"/>
          <p:nvPr>
            <p:ph idx="1" type="body"/>
          </p:nvPr>
        </p:nvSpPr>
        <p:spPr>
          <a:xfrm>
            <a:off x="324000" y="759300"/>
            <a:ext cx="3266400" cy="11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Alex says this graph shows that the solution to the equation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 = −2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 </a:t>
            </a:r>
            <a:r>
              <a:rPr lang="en-GB"/>
              <a:t>is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2400"/>
          </a:p>
        </p:txBody>
      </p:sp>
      <p:sp>
        <p:nvSpPr>
          <p:cNvPr id="2704" name="Google Shape;2704;p22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grpSp>
        <p:nvGrpSpPr>
          <p:cNvPr id="2705" name="Google Shape;2705;p222"/>
          <p:cNvGrpSpPr/>
          <p:nvPr/>
        </p:nvGrpSpPr>
        <p:grpSpPr>
          <a:xfrm>
            <a:off x="4335122" y="1005600"/>
            <a:ext cx="4472754" cy="3299701"/>
            <a:chOff x="4335122" y="1005600"/>
            <a:chExt cx="4472754" cy="3299701"/>
          </a:xfrm>
        </p:grpSpPr>
        <p:pic>
          <p:nvPicPr>
            <p:cNvPr id="2706" name="Google Shape;2706;p2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22" y="1005600"/>
              <a:ext cx="4472754" cy="32997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07" name="Google Shape;2707;p222"/>
            <p:cNvSpPr/>
            <p:nvPr/>
          </p:nvSpPr>
          <p:spPr>
            <a:xfrm>
              <a:off x="4346876" y="2119365"/>
              <a:ext cx="1799100" cy="813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08" name="Google Shape;2708;p222"/>
          <p:cNvSpPr txBox="1"/>
          <p:nvPr>
            <p:ph idx="1" type="body"/>
          </p:nvPr>
        </p:nvSpPr>
        <p:spPr>
          <a:xfrm>
            <a:off x="324000" y="2816250"/>
            <a:ext cx="3723600" cy="20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Alex is wrong.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</a:t>
            </a:r>
            <a:r>
              <a:rPr lang="en-GB"/>
              <a:t> the correct solution and write a sentence explaining Alex’s error to him.</a:t>
            </a:r>
            <a:endParaRPr/>
          </a:p>
        </p:txBody>
      </p:sp>
      <p:pic>
        <p:nvPicPr>
          <p:cNvPr id="2709" name="Google Shape;2709;p2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2029" y="2162746"/>
            <a:ext cx="1104950" cy="127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3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p223"/>
          <p:cNvSpPr txBox="1"/>
          <p:nvPr>
            <p:ph idx="1" type="body"/>
          </p:nvPr>
        </p:nvSpPr>
        <p:spPr>
          <a:xfrm>
            <a:off x="324000" y="759300"/>
            <a:ext cx="8013300" cy="7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One of the below equations has no solution.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Identify</a:t>
            </a:r>
            <a:r>
              <a:rPr lang="en-GB"/>
              <a:t> which one it is and show why it has no </a:t>
            </a:r>
            <a:r>
              <a:rPr lang="en-GB"/>
              <a:t>solution</a:t>
            </a:r>
            <a:r>
              <a:rPr lang="en-GB"/>
              <a:t>.</a:t>
            </a:r>
            <a:endParaRPr/>
          </a:p>
        </p:txBody>
      </p:sp>
      <p:sp>
        <p:nvSpPr>
          <p:cNvPr id="2715" name="Google Shape;2715;p22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716" name="Google Shape;2716;p223"/>
          <p:cNvSpPr txBox="1"/>
          <p:nvPr>
            <p:ph idx="4294967295" type="subTitle"/>
          </p:nvPr>
        </p:nvSpPr>
        <p:spPr>
          <a:xfrm>
            <a:off x="716222" y="1888765"/>
            <a:ext cx="2171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2000"/>
          </a:p>
        </p:txBody>
      </p:sp>
      <p:sp>
        <p:nvSpPr>
          <p:cNvPr id="2717" name="Google Shape;2717;p223"/>
          <p:cNvSpPr txBox="1"/>
          <p:nvPr>
            <p:ph idx="4294967295" type="subTitle"/>
          </p:nvPr>
        </p:nvSpPr>
        <p:spPr>
          <a:xfrm>
            <a:off x="716225" y="2970850"/>
            <a:ext cx="289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− 25 = 25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 sz="2000"/>
          </a:p>
        </p:txBody>
      </p:sp>
      <p:sp>
        <p:nvSpPr>
          <p:cNvPr id="2718" name="Google Shape;2718;p223"/>
          <p:cNvSpPr txBox="1"/>
          <p:nvPr>
            <p:ph idx="4294967295" type="subTitle"/>
          </p:nvPr>
        </p:nvSpPr>
        <p:spPr>
          <a:xfrm>
            <a:off x="716225" y="4052860"/>
            <a:ext cx="2436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− 11 = 2(3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+ 4)</a:t>
            </a:r>
            <a:endParaRPr sz="2000"/>
          </a:p>
        </p:txBody>
      </p:sp>
      <p:sp>
        <p:nvSpPr>
          <p:cNvPr id="2719" name="Google Shape;2719;p223"/>
          <p:cNvSpPr txBox="1"/>
          <p:nvPr>
            <p:ph idx="1" type="body"/>
          </p:nvPr>
        </p:nvSpPr>
        <p:spPr>
          <a:xfrm>
            <a:off x="324000" y="189533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2720" name="Google Shape;2720;p223"/>
          <p:cNvSpPr txBox="1"/>
          <p:nvPr>
            <p:ph idx="1" type="body"/>
          </p:nvPr>
        </p:nvSpPr>
        <p:spPr>
          <a:xfrm>
            <a:off x="324000" y="2977416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sp>
        <p:nvSpPr>
          <p:cNvPr id="2721" name="Google Shape;2721;p223"/>
          <p:cNvSpPr txBox="1"/>
          <p:nvPr>
            <p:ph idx="1" type="body"/>
          </p:nvPr>
        </p:nvSpPr>
        <p:spPr>
          <a:xfrm>
            <a:off x="324000" y="4059426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5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p224"/>
          <p:cNvSpPr txBox="1"/>
          <p:nvPr>
            <p:ph idx="1" type="body"/>
          </p:nvPr>
        </p:nvSpPr>
        <p:spPr>
          <a:xfrm>
            <a:off x="324000" y="759300"/>
            <a:ext cx="67935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Plot pairs of lines and find the intersections to solve the below equations:</a:t>
            </a:r>
            <a:endParaRPr/>
          </a:p>
        </p:txBody>
      </p:sp>
      <p:sp>
        <p:nvSpPr>
          <p:cNvPr id="2727" name="Google Shape;2727;p22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728" name="Google Shape;2728;p224"/>
          <p:cNvSpPr txBox="1"/>
          <p:nvPr>
            <p:ph idx="4294967295" type="subTitle"/>
          </p:nvPr>
        </p:nvSpPr>
        <p:spPr>
          <a:xfrm>
            <a:off x="716222" y="1624625"/>
            <a:ext cx="2171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− 13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sz="2000"/>
          </a:p>
        </p:txBody>
      </p:sp>
      <p:sp>
        <p:nvSpPr>
          <p:cNvPr id="2729" name="Google Shape;2729;p224"/>
          <p:cNvSpPr txBox="1"/>
          <p:nvPr>
            <p:ph idx="1" type="body"/>
          </p:nvPr>
        </p:nvSpPr>
        <p:spPr>
          <a:xfrm>
            <a:off x="324000" y="16311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2730" name="Google Shape;2730;p224"/>
          <p:cNvSpPr txBox="1"/>
          <p:nvPr>
            <p:ph idx="4294967295" type="subTitle"/>
          </p:nvPr>
        </p:nvSpPr>
        <p:spPr>
          <a:xfrm>
            <a:off x="711220" y="2107200"/>
            <a:ext cx="3011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Intersect at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(3, 14)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therefore solution is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sz="1800"/>
          </a:p>
        </p:txBody>
      </p:sp>
      <p:grpSp>
        <p:nvGrpSpPr>
          <p:cNvPr id="2731" name="Google Shape;2731;p224"/>
          <p:cNvGrpSpPr/>
          <p:nvPr/>
        </p:nvGrpSpPr>
        <p:grpSpPr>
          <a:xfrm>
            <a:off x="4318019" y="1518627"/>
            <a:ext cx="3520381" cy="3283340"/>
            <a:chOff x="152408" y="1469330"/>
            <a:chExt cx="3987293" cy="3488091"/>
          </a:xfrm>
        </p:grpSpPr>
        <p:pic>
          <p:nvPicPr>
            <p:cNvPr id="2732" name="Google Shape;2732;p224"/>
            <p:cNvPicPr preferRelativeResize="0"/>
            <p:nvPr/>
          </p:nvPicPr>
          <p:blipFill rotWithShape="1">
            <a:blip r:embed="rId3">
              <a:alphaModFix/>
            </a:blip>
            <a:srcRect b="6147" l="0" r="0" t="0"/>
            <a:stretch/>
          </p:blipFill>
          <p:spPr>
            <a:xfrm>
              <a:off x="152408" y="1469330"/>
              <a:ext cx="3987293" cy="348809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33" name="Google Shape;2733;p224"/>
            <p:cNvSpPr/>
            <p:nvPr/>
          </p:nvSpPr>
          <p:spPr>
            <a:xfrm>
              <a:off x="167775" y="2506924"/>
              <a:ext cx="1714800" cy="863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225"/>
          <p:cNvSpPr txBox="1"/>
          <p:nvPr>
            <p:ph idx="1" type="body"/>
          </p:nvPr>
        </p:nvSpPr>
        <p:spPr>
          <a:xfrm>
            <a:off x="324000" y="759300"/>
            <a:ext cx="67935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Plot pairs of lines and find the intersections to solve the below equations:</a:t>
            </a:r>
            <a:endParaRPr/>
          </a:p>
        </p:txBody>
      </p:sp>
      <p:sp>
        <p:nvSpPr>
          <p:cNvPr id="2739" name="Google Shape;2739;p22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740" name="Google Shape;2740;p225"/>
          <p:cNvSpPr txBox="1"/>
          <p:nvPr>
            <p:ph idx="4294967295" type="subTitle"/>
          </p:nvPr>
        </p:nvSpPr>
        <p:spPr>
          <a:xfrm>
            <a:off x="716225" y="1624625"/>
            <a:ext cx="289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− 268 = 5396 − 18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/>
          </a:p>
        </p:txBody>
      </p:sp>
      <p:sp>
        <p:nvSpPr>
          <p:cNvPr id="2741" name="Google Shape;2741;p225"/>
          <p:cNvSpPr txBox="1"/>
          <p:nvPr>
            <p:ph idx="1" type="body"/>
          </p:nvPr>
        </p:nvSpPr>
        <p:spPr>
          <a:xfrm>
            <a:off x="324000" y="16311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sp>
        <p:nvSpPr>
          <p:cNvPr id="2742" name="Google Shape;2742;p225"/>
          <p:cNvSpPr txBox="1"/>
          <p:nvPr>
            <p:ph idx="4294967295" type="subTitle"/>
          </p:nvPr>
        </p:nvSpPr>
        <p:spPr>
          <a:xfrm>
            <a:off x="741700" y="2112320"/>
            <a:ext cx="3139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Intersect at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(177, 2210)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therefore solution is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177</a:t>
            </a:r>
            <a:endParaRPr sz="1800"/>
          </a:p>
        </p:txBody>
      </p:sp>
      <p:grpSp>
        <p:nvGrpSpPr>
          <p:cNvPr id="2743" name="Google Shape;2743;p225"/>
          <p:cNvGrpSpPr/>
          <p:nvPr/>
        </p:nvGrpSpPr>
        <p:grpSpPr>
          <a:xfrm>
            <a:off x="4327279" y="1518572"/>
            <a:ext cx="3708558" cy="3299792"/>
            <a:chOff x="4292110" y="1274700"/>
            <a:chExt cx="4224833" cy="3716400"/>
          </a:xfrm>
        </p:grpSpPr>
        <p:pic>
          <p:nvPicPr>
            <p:cNvPr id="2744" name="Google Shape;2744;p2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92110" y="1274700"/>
              <a:ext cx="4224833" cy="3716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45" name="Google Shape;2745;p225"/>
            <p:cNvSpPr/>
            <p:nvPr/>
          </p:nvSpPr>
          <p:spPr>
            <a:xfrm>
              <a:off x="4302900" y="2301825"/>
              <a:ext cx="1665900" cy="863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226"/>
          <p:cNvSpPr txBox="1"/>
          <p:nvPr>
            <p:ph idx="1" type="body"/>
          </p:nvPr>
        </p:nvSpPr>
        <p:spPr>
          <a:xfrm>
            <a:off x="324000" y="759300"/>
            <a:ext cx="67935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Plot pairs of lines and find the intersections to solve the below equations:</a:t>
            </a:r>
            <a:endParaRPr/>
          </a:p>
        </p:txBody>
      </p:sp>
      <p:sp>
        <p:nvSpPr>
          <p:cNvPr id="2751" name="Google Shape;2751;p22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752" name="Google Shape;2752;p226"/>
          <p:cNvSpPr txBox="1"/>
          <p:nvPr>
            <p:ph idx="4294967295" type="subTitle"/>
          </p:nvPr>
        </p:nvSpPr>
        <p:spPr>
          <a:xfrm>
            <a:off x="716225" y="1624625"/>
            <a:ext cx="3270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− 8.75 = 4(0.0625 −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sp>
        <p:nvSpPr>
          <p:cNvPr id="2753" name="Google Shape;2753;p226"/>
          <p:cNvSpPr txBox="1"/>
          <p:nvPr>
            <p:ph idx="1" type="body"/>
          </p:nvPr>
        </p:nvSpPr>
        <p:spPr>
          <a:xfrm>
            <a:off x="324000" y="163119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  <p:sp>
        <p:nvSpPr>
          <p:cNvPr id="2754" name="Google Shape;2754;p226"/>
          <p:cNvSpPr txBox="1"/>
          <p:nvPr>
            <p:ph idx="4294967295" type="subTitle"/>
          </p:nvPr>
        </p:nvSpPr>
        <p:spPr>
          <a:xfrm>
            <a:off x="711205" y="2102155"/>
            <a:ext cx="3139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Intersect at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(2, −7.75)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therefore solution is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800"/>
          </a:p>
        </p:txBody>
      </p:sp>
      <p:grpSp>
        <p:nvGrpSpPr>
          <p:cNvPr id="2755" name="Google Shape;2755;p226"/>
          <p:cNvGrpSpPr/>
          <p:nvPr/>
        </p:nvGrpSpPr>
        <p:grpSpPr>
          <a:xfrm>
            <a:off x="4326763" y="1406849"/>
            <a:ext cx="4000491" cy="3421456"/>
            <a:chOff x="1243250" y="0"/>
            <a:chExt cx="6657499" cy="5143499"/>
          </a:xfrm>
        </p:grpSpPr>
        <p:pic>
          <p:nvPicPr>
            <p:cNvPr id="2756" name="Google Shape;2756;p2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43250" y="0"/>
              <a:ext cx="6657499" cy="514349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57" name="Google Shape;2757;p226"/>
            <p:cNvSpPr/>
            <p:nvPr/>
          </p:nvSpPr>
          <p:spPr>
            <a:xfrm>
              <a:off x="1259950" y="1519500"/>
              <a:ext cx="2350800" cy="1137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p227"/>
          <p:cNvSpPr txBox="1"/>
          <p:nvPr>
            <p:ph idx="1" type="body"/>
          </p:nvPr>
        </p:nvSpPr>
        <p:spPr>
          <a:xfrm>
            <a:off x="324000" y="759300"/>
            <a:ext cx="3246000" cy="14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Alex says this graph shows that the solution to the equation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 = −2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 </a:t>
            </a:r>
            <a:r>
              <a:rPr lang="en-GB"/>
              <a:t>is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2400"/>
          </a:p>
        </p:txBody>
      </p:sp>
      <p:sp>
        <p:nvSpPr>
          <p:cNvPr id="2763" name="Google Shape;2763;p22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grpSp>
        <p:nvGrpSpPr>
          <p:cNvPr id="2764" name="Google Shape;2764;p227"/>
          <p:cNvGrpSpPr/>
          <p:nvPr/>
        </p:nvGrpSpPr>
        <p:grpSpPr>
          <a:xfrm>
            <a:off x="4335122" y="1005600"/>
            <a:ext cx="4472754" cy="3299701"/>
            <a:chOff x="4335122" y="1005600"/>
            <a:chExt cx="4472754" cy="3299701"/>
          </a:xfrm>
        </p:grpSpPr>
        <p:pic>
          <p:nvPicPr>
            <p:cNvPr id="2765" name="Google Shape;2765;p2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5122" y="1005600"/>
              <a:ext cx="4472754" cy="32997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66" name="Google Shape;2766;p227"/>
            <p:cNvSpPr/>
            <p:nvPr/>
          </p:nvSpPr>
          <p:spPr>
            <a:xfrm>
              <a:off x="4346876" y="2119365"/>
              <a:ext cx="1799100" cy="813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67" name="Google Shape;2767;p227"/>
          <p:cNvSpPr txBox="1"/>
          <p:nvPr>
            <p:ph idx="1" type="body"/>
          </p:nvPr>
        </p:nvSpPr>
        <p:spPr>
          <a:xfrm>
            <a:off x="324000" y="2892900"/>
            <a:ext cx="3927000" cy="11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Kalam"/>
              <a:buChar char="●"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−2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the solution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the value of both expressions when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−2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68" name="Google Shape;2768;p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2029" y="2162746"/>
            <a:ext cx="1104950" cy="127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p228"/>
          <p:cNvSpPr/>
          <p:nvPr/>
        </p:nvSpPr>
        <p:spPr>
          <a:xfrm>
            <a:off x="583730" y="3895310"/>
            <a:ext cx="2436900" cy="7086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4" name="Google Shape;2774;p228"/>
          <p:cNvSpPr txBox="1"/>
          <p:nvPr>
            <p:ph idx="1" type="body"/>
          </p:nvPr>
        </p:nvSpPr>
        <p:spPr>
          <a:xfrm>
            <a:off x="324000" y="759300"/>
            <a:ext cx="8237700" cy="8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One of the below equations has no solution.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Identify which one it is and show why it has no solution.</a:t>
            </a:r>
            <a:endParaRPr/>
          </a:p>
        </p:txBody>
      </p:sp>
      <p:sp>
        <p:nvSpPr>
          <p:cNvPr id="2775" name="Google Shape;2775;p22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equations with unknowns on both sides</a:t>
            </a:r>
            <a:endParaRPr/>
          </a:p>
        </p:txBody>
      </p:sp>
      <p:sp>
        <p:nvSpPr>
          <p:cNvPr id="2776" name="Google Shape;2776;p228"/>
          <p:cNvSpPr txBox="1"/>
          <p:nvPr>
            <p:ph idx="4294967295" type="subTitle"/>
          </p:nvPr>
        </p:nvSpPr>
        <p:spPr>
          <a:xfrm>
            <a:off x="716222" y="1888765"/>
            <a:ext cx="2171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2000"/>
          </a:p>
        </p:txBody>
      </p:sp>
      <p:sp>
        <p:nvSpPr>
          <p:cNvPr id="2777" name="Google Shape;2777;p228"/>
          <p:cNvSpPr txBox="1"/>
          <p:nvPr>
            <p:ph idx="4294967295" type="subTitle"/>
          </p:nvPr>
        </p:nvSpPr>
        <p:spPr>
          <a:xfrm>
            <a:off x="716225" y="2970850"/>
            <a:ext cx="289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− 25 = 25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 sz="2000"/>
          </a:p>
        </p:txBody>
      </p:sp>
      <p:sp>
        <p:nvSpPr>
          <p:cNvPr id="2778" name="Google Shape;2778;p228"/>
          <p:cNvSpPr txBox="1"/>
          <p:nvPr>
            <p:ph idx="4294967295" type="subTitle"/>
          </p:nvPr>
        </p:nvSpPr>
        <p:spPr>
          <a:xfrm>
            <a:off x="716225" y="4052860"/>
            <a:ext cx="2436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− 11 = 2(3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+ 4)</a:t>
            </a:r>
            <a:endParaRPr sz="2000"/>
          </a:p>
        </p:txBody>
      </p:sp>
      <p:sp>
        <p:nvSpPr>
          <p:cNvPr id="2779" name="Google Shape;2779;p228"/>
          <p:cNvSpPr txBox="1"/>
          <p:nvPr>
            <p:ph idx="1" type="body"/>
          </p:nvPr>
        </p:nvSpPr>
        <p:spPr>
          <a:xfrm>
            <a:off x="324000" y="1895331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/>
          </a:p>
        </p:txBody>
      </p:sp>
      <p:sp>
        <p:nvSpPr>
          <p:cNvPr id="2780" name="Google Shape;2780;p228"/>
          <p:cNvSpPr txBox="1"/>
          <p:nvPr>
            <p:ph idx="1" type="body"/>
          </p:nvPr>
        </p:nvSpPr>
        <p:spPr>
          <a:xfrm>
            <a:off x="324000" y="2977416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/>
          </a:p>
        </p:txBody>
      </p:sp>
      <p:sp>
        <p:nvSpPr>
          <p:cNvPr id="2781" name="Google Shape;2781;p228"/>
          <p:cNvSpPr txBox="1"/>
          <p:nvPr>
            <p:ph idx="1" type="body"/>
          </p:nvPr>
        </p:nvSpPr>
        <p:spPr>
          <a:xfrm>
            <a:off x="324000" y="4059426"/>
            <a:ext cx="30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/>
          </a:p>
        </p:txBody>
      </p:sp>
      <p:sp>
        <p:nvSpPr>
          <p:cNvPr id="2782" name="Google Shape;2782;p228"/>
          <p:cNvSpPr txBox="1"/>
          <p:nvPr/>
        </p:nvSpPr>
        <p:spPr>
          <a:xfrm>
            <a:off x="709020" y="2232475"/>
            <a:ext cx="3834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Different gradients therefore intersection and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solution.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3" name="Google Shape;2783;p228"/>
          <p:cNvSpPr txBox="1"/>
          <p:nvPr/>
        </p:nvSpPr>
        <p:spPr>
          <a:xfrm>
            <a:off x="709020" y="3299275"/>
            <a:ext cx="3834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Different gradients therefore intersection and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solution.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4" name="Google Shape;2784;p228"/>
          <p:cNvSpPr txBox="1"/>
          <p:nvPr>
            <p:ph idx="4294967295" type="subTitle"/>
          </p:nvPr>
        </p:nvSpPr>
        <p:spPr>
          <a:xfrm>
            <a:off x="716225" y="4530390"/>
            <a:ext cx="2436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− 11 = 6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sz="2000"/>
          </a:p>
        </p:txBody>
      </p:sp>
      <p:sp>
        <p:nvSpPr>
          <p:cNvPr id="2785" name="Google Shape;2785;p228"/>
          <p:cNvSpPr txBox="1"/>
          <p:nvPr/>
        </p:nvSpPr>
        <p:spPr>
          <a:xfrm>
            <a:off x="3376026" y="4442275"/>
            <a:ext cx="48207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gradient. No intersection,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solution.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786" name="Google Shape;2786;p228"/>
          <p:cNvGrpSpPr/>
          <p:nvPr/>
        </p:nvGrpSpPr>
        <p:grpSpPr>
          <a:xfrm>
            <a:off x="4319846" y="1653827"/>
            <a:ext cx="2894399" cy="2727674"/>
            <a:chOff x="4319846" y="1653827"/>
            <a:chExt cx="2894399" cy="2727674"/>
          </a:xfrm>
        </p:grpSpPr>
        <p:pic>
          <p:nvPicPr>
            <p:cNvPr id="2787" name="Google Shape;2787;p2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19846" y="1653827"/>
              <a:ext cx="2894399" cy="272767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88" name="Google Shape;2788;p228"/>
            <p:cNvSpPr/>
            <p:nvPr/>
          </p:nvSpPr>
          <p:spPr>
            <a:xfrm>
              <a:off x="4326549" y="2424175"/>
              <a:ext cx="1225500" cy="813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22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use dynamic software to solve linear equations graphically by identifying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-coordinate of the intersecting points of the lines.</a:t>
            </a:r>
            <a:endParaRPr/>
          </a:p>
        </p:txBody>
      </p:sp>
      <p:sp>
        <p:nvSpPr>
          <p:cNvPr id="2794" name="Google Shape;2794;p229"/>
          <p:cNvSpPr txBox="1"/>
          <p:nvPr>
            <p:ph type="title"/>
          </p:nvPr>
        </p:nvSpPr>
        <p:spPr>
          <a:xfrm>
            <a:off x="1684800" y="43825"/>
            <a:ext cx="71352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graphically using technology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8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p23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800" name="Google Shape;2800;p2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