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3699951A-AD26-4E0E-894B-4EEE607A3A42}">
  <a:tblStyle styleId="{3699951A-AD26-4E0E-894B-4EEE607A3A4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0" name="Shape 200"/>
        <p:cNvGrpSpPr/>
        <p:nvPr/>
      </p:nvGrpSpPr>
      <p:grpSpPr>
        <a:xfrm>
          <a:off x="0" y="0"/>
          <a:ext cx="0" cy="0"/>
        </a:xfrm>
      </p:grpSpPr>
      <p:sp>
        <p:nvSpPr>
          <p:cNvPr id="201" name="Google Shape;201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10" Type="http://schemas.openxmlformats.org/officeDocument/2006/relationships/image" Target="../media/image16.png" /><Relationship Id="rId11" Type="http://schemas.openxmlformats.org/officeDocument/2006/relationships/image" Target="../media/image17.png" /><Relationship Id="rId12" Type="http://schemas.openxmlformats.org/officeDocument/2006/relationships/image" Target="../media/image18.png" /><Relationship Id="rId13" Type="http://schemas.openxmlformats.org/officeDocument/2006/relationships/image" Target="../media/image19.png" /><Relationship Id="rId14" Type="http://schemas.openxmlformats.org/officeDocument/2006/relationships/image" Target="../media/image20.png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image" Target="../media/image11.png" /><Relationship Id="rId6" Type="http://schemas.openxmlformats.org/officeDocument/2006/relationships/image" Target="../media/image12.png" /><Relationship Id="rId7" Type="http://schemas.openxmlformats.org/officeDocument/2006/relationships/image" Target="../media/image13.png" /><Relationship Id="rId8" Type="http://schemas.openxmlformats.org/officeDocument/2006/relationships/image" Target="../media/image14.png" /><Relationship Id="rId9" Type="http://schemas.openxmlformats.org/officeDocument/2006/relationships/image" Target="../media/image15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Solution to an equation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624714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Testing solutions to equations</a:t>
            </a:r>
            <a:endParaRPr sz="17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2119463"/>
            <a:ext cx="66240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table for both expressions. Use your table to find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solution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the equation.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5" name="Google Shape;175;p20"/>
          <p:cNvGraphicFramePr>
            <a:graphicFrameLocks noGrp="1"/>
          </p:cNvGraphicFramePr>
          <p:nvPr/>
        </p:nvGraphicFramePr>
        <p:xfrm>
          <a:off x="2412000" y="2825650"/>
          <a:ext cx="3135450" cy="548640"/>
        </p:xfrm>
        <a:graphic>
          <a:graphicData uri="http://schemas.openxmlformats.org/drawingml/2006/table">
            <a:tbl>
              <a:tblPr>
                <a:noFill/>
                <a:tableStyleId>{3699951A-AD26-4E0E-894B-4EEE607A3A42}</a:tableStyleId>
              </a:tblPr>
              <a:tblGrid>
                <a:gridCol w="522575"/>
                <a:gridCol w="522575"/>
                <a:gridCol w="522575"/>
                <a:gridCol w="522575"/>
                <a:gridCol w="522575"/>
                <a:gridCol w="522575"/>
              </a:tblGrid>
              <a:tr h="1777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= 1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2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3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4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5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77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2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+ 3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9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11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13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77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4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 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11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15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76" name="Google Shape;176;p20"/>
          <p:cNvGraphicFramePr>
            <a:graphicFrameLocks noGrp="1"/>
          </p:cNvGraphicFramePr>
          <p:nvPr/>
        </p:nvGraphicFramePr>
        <p:xfrm>
          <a:off x="6004651" y="2825650"/>
          <a:ext cx="698025" cy="548625"/>
        </p:xfrm>
        <a:graphic>
          <a:graphicData uri="http://schemas.openxmlformats.org/drawingml/2006/table">
            <a:tbl>
              <a:tblPr>
                <a:noFill/>
                <a:tableStyleId>{3699951A-AD26-4E0E-894B-4EEE607A3A42}</a:tableStyleId>
              </a:tblPr>
              <a:tblGrid>
                <a:gridCol w="698025"/>
              </a:tblGrid>
              <a:tr h="2631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latin typeface="Lexend"/>
                          <a:ea typeface="Lexend"/>
                          <a:cs typeface="Lexend"/>
                          <a:sym typeface="Lexend"/>
                        </a:rPr>
                        <a:t>solution</a:t>
                      </a:r>
                      <a:endParaRPr sz="1200"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55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= 4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77" name="Google Shape;177;p20"/>
          <p:cNvGraphicFramePr>
            <a:graphicFrameLocks noGrp="1"/>
          </p:cNvGraphicFramePr>
          <p:nvPr/>
        </p:nvGraphicFramePr>
        <p:xfrm>
          <a:off x="468000" y="2733900"/>
          <a:ext cx="763275" cy="2661150"/>
        </p:xfrm>
        <a:graphic>
          <a:graphicData uri="http://schemas.openxmlformats.org/drawingml/2006/table">
            <a:tbl>
              <a:tblPr>
                <a:noFill/>
                <a:tableStyleId>{3699951A-AD26-4E0E-894B-4EEE607A3A42}</a:tableStyleId>
              </a:tblPr>
              <a:tblGrid>
                <a:gridCol w="763275"/>
              </a:tblGrid>
              <a:tr h="887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87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87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78" name="Google Shape;178;p20"/>
          <p:cNvGraphicFramePr>
            <a:graphicFrameLocks noGrp="1"/>
          </p:cNvGraphicFramePr>
          <p:nvPr/>
        </p:nvGraphicFramePr>
        <p:xfrm>
          <a:off x="1007425" y="2810100"/>
          <a:ext cx="1759400" cy="914325"/>
        </p:xfrm>
        <a:graphic>
          <a:graphicData uri="http://schemas.openxmlformats.org/drawingml/2006/table">
            <a:tbl>
              <a:tblPr>
                <a:noFill/>
                <a:tableStyleId>{3699951A-AD26-4E0E-894B-4EEE607A3A42}</a:tableStyleId>
              </a:tblPr>
              <a:tblGrid>
                <a:gridCol w="1759400"/>
              </a:tblGrid>
              <a:tr h="2989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equation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153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+ 3 = 4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79" name="Google Shape;179;p20"/>
          <p:cNvGraphicFramePr>
            <a:graphicFrameLocks noGrp="1"/>
          </p:cNvGraphicFramePr>
          <p:nvPr/>
        </p:nvGraphicFramePr>
        <p:xfrm>
          <a:off x="2411975" y="3620950"/>
          <a:ext cx="3135475" cy="548640"/>
        </p:xfrm>
        <a:graphic>
          <a:graphicData uri="http://schemas.openxmlformats.org/drawingml/2006/table">
            <a:tbl>
              <a:tblPr>
                <a:noFill/>
                <a:tableStyleId>{3699951A-AD26-4E0E-894B-4EEE607A3A42}</a:tableStyleId>
              </a:tblPr>
              <a:tblGrid>
                <a:gridCol w="632100"/>
                <a:gridCol w="470725"/>
                <a:gridCol w="506425"/>
                <a:gridCol w="514400"/>
                <a:gridCol w="499750"/>
                <a:gridCol w="512075"/>
              </a:tblGrid>
              <a:tr h="182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= 2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0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82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3(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4)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12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18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24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30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82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5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10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0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10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20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30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80" name="Google Shape;180;p20"/>
          <p:cNvGraphicFramePr>
            <a:graphicFrameLocks noGrp="1"/>
          </p:cNvGraphicFramePr>
          <p:nvPr/>
        </p:nvGraphicFramePr>
        <p:xfrm>
          <a:off x="6004651" y="3619213"/>
          <a:ext cx="698025" cy="550350"/>
        </p:xfrm>
        <a:graphic>
          <a:graphicData uri="http://schemas.openxmlformats.org/drawingml/2006/table">
            <a:tbl>
              <a:tblPr>
                <a:noFill/>
                <a:tableStyleId>{3699951A-AD26-4E0E-894B-4EEE607A3A42}</a:tableStyleId>
              </a:tblPr>
              <a:tblGrid>
                <a:gridCol w="698025"/>
              </a:tblGrid>
              <a:tr h="2271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latin typeface="Lexend"/>
                          <a:ea typeface="Lexend"/>
                          <a:cs typeface="Lexend"/>
                          <a:sym typeface="Lexend"/>
                        </a:rPr>
                        <a:t>solution</a:t>
                      </a:r>
                      <a:endParaRPr sz="1200"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32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81" name="Google Shape;181;p20"/>
          <p:cNvGraphicFramePr>
            <a:graphicFrameLocks noGrp="1"/>
          </p:cNvGraphicFramePr>
          <p:nvPr/>
        </p:nvGraphicFramePr>
        <p:xfrm>
          <a:off x="1007425" y="3547350"/>
          <a:ext cx="1759400" cy="914325"/>
        </p:xfrm>
        <a:graphic>
          <a:graphicData uri="http://schemas.openxmlformats.org/drawingml/2006/table">
            <a:tbl>
              <a:tblPr>
                <a:noFill/>
                <a:tableStyleId>{3699951A-AD26-4E0E-894B-4EEE607A3A42}</a:tableStyleId>
              </a:tblPr>
              <a:tblGrid>
                <a:gridCol w="1759400"/>
              </a:tblGrid>
              <a:tr h="2989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equation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153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4) = 5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82" name="Google Shape;182;p20"/>
          <p:cNvGraphicFramePr>
            <a:graphicFrameLocks noGrp="1"/>
          </p:cNvGraphicFramePr>
          <p:nvPr/>
        </p:nvGraphicFramePr>
        <p:xfrm>
          <a:off x="6004651" y="4364400"/>
          <a:ext cx="698025" cy="850100"/>
        </p:xfrm>
        <a:graphic>
          <a:graphicData uri="http://schemas.openxmlformats.org/drawingml/2006/table">
            <a:tbl>
              <a:tblPr>
                <a:noFill/>
                <a:tableStyleId>{3699951A-AD26-4E0E-894B-4EEE607A3A42}</a:tableStyleId>
              </a:tblPr>
              <a:tblGrid>
                <a:gridCol w="698025"/>
              </a:tblGrid>
              <a:tr h="2779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latin typeface="Lexend"/>
                          <a:ea typeface="Lexend"/>
                          <a:cs typeface="Lexend"/>
                          <a:sym typeface="Lexend"/>
                        </a:rPr>
                        <a:t>solution</a:t>
                      </a:r>
                      <a:endParaRPr sz="1200"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721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   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83" name="Google Shape;183;p20"/>
          <p:cNvGraphicFramePr>
            <a:graphicFrameLocks noGrp="1"/>
          </p:cNvGraphicFramePr>
          <p:nvPr/>
        </p:nvGraphicFramePr>
        <p:xfrm>
          <a:off x="2411975" y="4364400"/>
          <a:ext cx="3135475" cy="850100"/>
        </p:xfrm>
        <a:graphic>
          <a:graphicData uri="http://schemas.openxmlformats.org/drawingml/2006/table">
            <a:tbl>
              <a:tblPr>
                <a:noFill/>
                <a:tableStyleId>{3699951A-AD26-4E0E-894B-4EEE607A3A42}</a:tableStyleId>
              </a:tblPr>
              <a:tblGrid>
                <a:gridCol w="632100"/>
                <a:gridCol w="470725"/>
                <a:gridCol w="506425"/>
                <a:gridCol w="514400"/>
                <a:gridCol w="499750"/>
                <a:gridCol w="512075"/>
              </a:tblGrid>
              <a:tr h="4083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= 1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2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3</a:t>
                      </a:r>
                      <a:endParaRPr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09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20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− 2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18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17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16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15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14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09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2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+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10 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12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13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14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15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16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84" name="Google Shape;184;p20"/>
          <p:cNvGraphicFramePr>
            <a:graphicFrameLocks noGrp="1"/>
          </p:cNvGraphicFramePr>
          <p:nvPr/>
        </p:nvGraphicFramePr>
        <p:xfrm>
          <a:off x="1007425" y="4364400"/>
          <a:ext cx="1925450" cy="914325"/>
        </p:xfrm>
        <a:graphic>
          <a:graphicData uri="http://schemas.openxmlformats.org/drawingml/2006/table">
            <a:tbl>
              <a:tblPr>
                <a:noFill/>
                <a:tableStyleId>{3699951A-AD26-4E0E-894B-4EEE607A3A42}</a:tableStyleId>
              </a:tblPr>
              <a:tblGrid>
                <a:gridCol w="1925450"/>
              </a:tblGrid>
              <a:tr h="2989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equation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153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20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− 2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2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+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10 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85" name="Google Shape;185;p20" descr="&lt;math xmlns=&quot;http://www.w3.org/1998/Math/MathML&quot; display=&quot;block&quot; data-is-equatio=&quot;1&quot; data-latex=&quot;\frac{3}{2}&quot;&gt;&lt;mfrac&gt;&lt;mn&gt;3&lt;/mn&gt;&lt;mn&gt;2&lt;/mn&gt;&lt;/mfrac&gt;&lt;/math&gt;" title="three halve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7625" y="4399862"/>
            <a:ext cx="108616" cy="339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0" descr="&lt;math xmlns=&quot;http://www.w3.org/1998/Math/MathML&quot; display=&quot;block&quot; data-is-equatio=&quot;1&quot; data-latex=&quot;\frac{5}{2}&quot;&gt;&lt;mfrac&gt;&lt;mn&gt;5&lt;/mn&gt;&lt;mn&gt;2&lt;/mn&gt;&lt;/mfrac&gt;&lt;/math&gt;" title="five halve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1009" y="4395822"/>
            <a:ext cx="108616" cy="347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 descr="&lt;math xmlns=&quot;http://www.w3.org/1998/Math/MathML&quot; display=&quot;block&quot; data-is-equatio=&quot;1&quot; data-latex=&quot;\frac{5}{2}&quot;&gt;&lt;mfrac&gt;&lt;mn&gt;5&lt;/mn&gt;&lt;mn&gt;2&lt;/mn&gt;&lt;/mfrac&gt;&lt;/math&gt;" title="five halve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0222" y="4753914"/>
            <a:ext cx="108245" cy="3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476400" y="57123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Sort these equations into the correct column in the table.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9" name="Google Shape;189;p20"/>
          <p:cNvGraphicFramePr>
            <a:graphicFrameLocks noGrp="1"/>
          </p:cNvGraphicFramePr>
          <p:nvPr/>
        </p:nvGraphicFramePr>
        <p:xfrm>
          <a:off x="476400" y="6436851"/>
          <a:ext cx="6624000" cy="2049025"/>
        </p:xfrm>
        <a:graphic>
          <a:graphicData uri="http://schemas.openxmlformats.org/drawingml/2006/table">
            <a:tbl>
              <a:tblPr>
                <a:noFill/>
                <a:tableStyleId>{3699951A-AD26-4E0E-894B-4EEE607A3A42}</a:tableStyleId>
              </a:tblPr>
              <a:tblGrid>
                <a:gridCol w="2208000"/>
                <a:gridCol w="2208000"/>
                <a:gridCol w="2208000"/>
              </a:tblGrid>
              <a:tr h="4290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has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= 2 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as a </a:t>
                      </a:r>
                      <a:r>
                        <a:rPr lang="en-GB" sz="1200" b="1">
                          <a:latin typeface="Lexend"/>
                          <a:ea typeface="Lexend"/>
                          <a:cs typeface="Lexend"/>
                          <a:sym typeface="Lexend"/>
                        </a:rPr>
                        <a:t>solution</a:t>
                      </a:r>
                      <a:endParaRPr sz="1200"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has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0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as a </a:t>
                      </a: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solution</a:t>
                      </a:r>
                      <a:endParaRPr sz="1200" b="1" i="1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has no </a:t>
                      </a: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solution</a:t>
                      </a:r>
                      <a:endParaRPr sz="1200"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62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90" name="Google Shape;190;p20"/>
          <p:cNvSpPr txBox="1"/>
          <p:nvPr/>
        </p:nvSpPr>
        <p:spPr>
          <a:xfrm>
            <a:off x="545900" y="6944400"/>
            <a:ext cx="10044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= 10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545900" y="7767900"/>
            <a:ext cx="1821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= 0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2719500" y="6944400"/>
            <a:ext cx="1821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= 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545900" y="7356138"/>
            <a:ext cx="1821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1)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= 15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5006975" y="6918338"/>
            <a:ext cx="1821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= 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+ 3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545900" y="8105088"/>
            <a:ext cx="1821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= 6 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5006975" y="7430688"/>
            <a:ext cx="1821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 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= 7 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2719500" y="7356138"/>
            <a:ext cx="1821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 = 10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5006975" y="7912025"/>
            <a:ext cx="19656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3(2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5) = 6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99" name="Google Shape;199;p20"/>
          <p:cNvCxnSpPr/>
          <p:nvPr/>
        </p:nvCxnSpPr>
        <p:spPr>
          <a:xfrm>
            <a:off x="483145" y="90194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3" name="Shape 203"/>
        <p:cNvGrpSpPr/>
        <p:nvPr/>
      </p:nvGrpSpPr>
      <p:grpSpPr>
        <a:xfrm>
          <a:off x="0" y="0"/>
          <a:ext cx="0" cy="0"/>
        </a:xfrm>
      </p:grpSpPr>
      <p:sp>
        <p:nvSpPr>
          <p:cNvPr id="204" name="Google Shape;204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05" name="Google Shape;205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Solution to an equation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468000" y="7962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Finding solutions from graphs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9" name="Google Shape;209;p21"/>
          <p:cNvGraphicFramePr>
            <a:graphicFrameLocks noGrp="1"/>
          </p:cNvGraphicFramePr>
          <p:nvPr/>
        </p:nvGraphicFramePr>
        <p:xfrm>
          <a:off x="2953200" y="3953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{3699951A-AD26-4E0E-894B-4EEE607A3A42}</a:tableStyleId>
              </a:tblPr>
              <a:tblGrid>
                <a:gridCol w="1096150"/>
                <a:gridCol w="854075"/>
              </a:tblGrid>
              <a:tr h="2318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equation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latin typeface="Lexend"/>
                          <a:ea typeface="Lexend"/>
                          <a:cs typeface="Lexend"/>
                          <a:sym typeface="Lexend"/>
                        </a:rPr>
                        <a:t>solution</a:t>
                      </a:r>
                      <a:endParaRPr sz="1200"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48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3 =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0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48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3 =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10" name="Google Shape;210;p21"/>
          <p:cNvSpPr txBox="1"/>
          <p:nvPr/>
        </p:nvSpPr>
        <p:spPr>
          <a:xfrm>
            <a:off x="476400" y="1183050"/>
            <a:ext cx="2307900" cy="9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1a) Use the lines on the graph to solve the equations below.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1" name="Google Shape;211;p21"/>
          <p:cNvGraphicFramePr>
            <a:graphicFrameLocks noGrp="1"/>
          </p:cNvGraphicFramePr>
          <p:nvPr/>
        </p:nvGraphicFramePr>
        <p:xfrm>
          <a:off x="492800" y="3953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{3699951A-AD26-4E0E-894B-4EEE607A3A42}</a:tableStyleId>
              </a:tblPr>
              <a:tblGrid>
                <a:gridCol w="970600"/>
                <a:gridCol w="979625"/>
              </a:tblGrid>
              <a:tr h="3005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equation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latin typeface="Lexend"/>
                          <a:ea typeface="Lexend"/>
                          <a:cs typeface="Lexend"/>
                          <a:sym typeface="Lexend"/>
                        </a:rPr>
                        <a:t>solution</a:t>
                      </a:r>
                      <a:endParaRPr sz="1200"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405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    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2 =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= 6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825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    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2 =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2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12" name="Google Shape;212;p21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075" y="4333285"/>
            <a:ext cx="100800" cy="324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1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550" y="4793757"/>
            <a:ext cx="100800" cy="324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1" descr="&lt;math xmlns=&quot;http://www.w3.org/1998/Math/MathML&quot; display=&quot;block&quot; data-is-equatio=&quot;1&quot; data-latex=&quot;y=\frac{1}{2}x-2&quot;&gt;&lt;mi&gt;y&lt;/mi&gt;&lt;mo&gt;=&lt;/mo&gt;&lt;mfrac&gt;&lt;mn&gt;1&lt;/mn&gt;&lt;mn&gt;2&lt;/mn&gt;&lt;/mfrac&gt;&lt;mi&gt;x&lt;/mi&gt;&lt;mo&gt;−&lt;/mo&gt;&lt;mn&gt;2&lt;/mn&gt;&lt;/math&gt;" title="y equals one half x minus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680" y="3026933"/>
            <a:ext cx="691183" cy="300603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1"/>
          <p:cNvSpPr txBox="1"/>
          <p:nvPr/>
        </p:nvSpPr>
        <p:spPr>
          <a:xfrm>
            <a:off x="5238900" y="1168050"/>
            <a:ext cx="1853100" cy="9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1c) Solve the equations below by drawing the relevant graph.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6" name="Google Shape;216;p21"/>
          <p:cNvGraphicFramePr>
            <a:graphicFrameLocks noGrp="1"/>
          </p:cNvGraphicFramePr>
          <p:nvPr/>
        </p:nvGraphicFramePr>
        <p:xfrm>
          <a:off x="5158050" y="3953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{3699951A-AD26-4E0E-894B-4EEE607A3A42}</a:tableStyleId>
              </a:tblPr>
              <a:tblGrid>
                <a:gridCol w="1027875"/>
                <a:gridCol w="907350"/>
              </a:tblGrid>
              <a:tr h="2318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equation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latin typeface="Lexend"/>
                          <a:ea typeface="Lexend"/>
                          <a:cs typeface="Lexend"/>
                          <a:sym typeface="Lexend"/>
                        </a:rPr>
                        <a:t>solution</a:t>
                      </a:r>
                      <a:endParaRPr sz="1200"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48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+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 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3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1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48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+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 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1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17" name="Google Shape;217;p21"/>
          <p:cNvSpPr txBox="1"/>
          <p:nvPr/>
        </p:nvSpPr>
        <p:spPr>
          <a:xfrm>
            <a:off x="2938875" y="1199013"/>
            <a:ext cx="2096400" cy="9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1b) Below is the graph of the equation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 =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3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it to solve the equations.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8" name="Google Shape;21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98047" y="2050227"/>
            <a:ext cx="1853100" cy="1641701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19" name="Google Shape;219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2800" y="2100100"/>
            <a:ext cx="2271600" cy="1325396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20" name="Google Shape;220;p21"/>
          <p:cNvSpPr/>
          <p:nvPr/>
        </p:nvSpPr>
        <p:spPr>
          <a:xfrm>
            <a:off x="855300" y="3180025"/>
            <a:ext cx="952800" cy="439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5757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1" name="Google Shape;221;p21" descr="&lt;math xmlns=&quot;http://www.w3.org/1998/Math/MathML&quot; display=&quot;block&quot; data-is-equatio=&quot;1&quot; data-latex=&quot;y=\frac{1}{2}x-2&quot;&gt;&lt;mi&gt;y&lt;/mi&gt;&lt;mo&gt;=&lt;/mo&gt;&lt;mfrac&gt;&lt;mn&gt;1&lt;/mn&gt;&lt;mn&gt;2&lt;/mn&gt;&lt;/mfrac&gt;&lt;mi&gt;x&lt;/mi&gt;&lt;mo&gt;−&lt;/mo&gt;&lt;mn&gt;2&lt;/mn&gt;&lt;/math&gt;" title="y equals one half x minus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9530" y="3222314"/>
            <a:ext cx="784325" cy="341113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/>
          <p:nvPr/>
        </p:nvSpPr>
        <p:spPr>
          <a:xfrm>
            <a:off x="1583722" y="2204799"/>
            <a:ext cx="432600" cy="184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5757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1776778" y="2900395"/>
            <a:ext cx="579900" cy="184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5757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4" name="Google Shape;224;p21" descr="&lt;math xmlns=&quot;http://www.w3.org/1998/Math/MathML&quot; display=&quot;block&quot; data-is-equatio=&quot;1&quot; data-latex=&quot;y=-1&quot;&gt;&lt;mi&gt;y&lt;/mi&gt;&lt;mo&gt;=&lt;/mo&gt;&lt;mo&gt;−&lt;/mo&gt;&lt;mn&gt;1&lt;/mn&gt;&lt;/math&gt;" title="y equals negative 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30565" y="2921062"/>
            <a:ext cx="474914" cy="147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1" descr="&lt;math xmlns=&quot;http://www.w3.org/1998/Math/MathML&quot; display=&quot;block&quot; data-is-equatio=&quot;1&quot; data-latex=&quot;y=1&quot;&gt;&lt;mi&gt;y&lt;/mi&gt;&lt;mo&gt;=&lt;/mo&gt;&lt;mn&gt;1&lt;/mn&gt;&lt;/math&gt;" title="y equals 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16687" y="2223835"/>
            <a:ext cx="359081" cy="1476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6" name="Google Shape;226;p21"/>
          <p:cNvCxnSpPr/>
          <p:nvPr/>
        </p:nvCxnSpPr>
        <p:spPr>
          <a:xfrm flipH="1">
            <a:off x="5048900" y="1145358"/>
            <a:ext cx="0" cy="40521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7" name="Google Shape;227;p21"/>
          <p:cNvCxnSpPr/>
          <p:nvPr/>
        </p:nvCxnSpPr>
        <p:spPr>
          <a:xfrm flipH="1">
            <a:off x="2848700" y="1143025"/>
            <a:ext cx="0" cy="40569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28" name="Google Shape;22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121000" y="1995900"/>
            <a:ext cx="1951199" cy="1657813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29" name="Google Shape;229;p21"/>
          <p:cNvSpPr txBox="1"/>
          <p:nvPr/>
        </p:nvSpPr>
        <p:spPr>
          <a:xfrm>
            <a:off x="552600" y="5452125"/>
            <a:ext cx="27621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Use the lines on the graph to solve the equations.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30" name="Google Shape;230;p21"/>
          <p:cNvGraphicFramePr>
            <a:graphicFrameLocks noGrp="1"/>
          </p:cNvGraphicFramePr>
          <p:nvPr/>
        </p:nvGraphicFramePr>
        <p:xfrm>
          <a:off x="492799" y="9294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{3699951A-AD26-4E0E-894B-4EEE607A3A42}</a:tableStyleId>
              </a:tblPr>
              <a:tblGrid>
                <a:gridCol w="200000"/>
                <a:gridCol w="1163625"/>
                <a:gridCol w="663450"/>
              </a:tblGrid>
              <a:tr h="2542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equation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latin typeface="Lexend"/>
                          <a:ea typeface="Lexend"/>
                          <a:cs typeface="Lexend"/>
                          <a:sym typeface="Lexend"/>
                        </a:rPr>
                        <a:t>solution</a:t>
                      </a:r>
                      <a:endParaRPr sz="1200"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245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 i="1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+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 = 3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− 2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31" name="Google Shape;231;p21"/>
          <p:cNvSpPr txBox="1"/>
          <p:nvPr/>
        </p:nvSpPr>
        <p:spPr>
          <a:xfrm>
            <a:off x="3779100" y="5464225"/>
            <a:ext cx="3160500" cy="4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Solve the equation below by drawing the relevant graphs.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32" name="Google Shape;232;p21"/>
          <p:cNvGraphicFramePr>
            <a:graphicFrameLocks noGrp="1"/>
          </p:cNvGraphicFramePr>
          <p:nvPr/>
        </p:nvGraphicFramePr>
        <p:xfrm>
          <a:off x="3761863" y="8572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{3699951A-AD26-4E0E-894B-4EEE607A3A42}</a:tableStyleId>
              </a:tblPr>
              <a:tblGrid>
                <a:gridCol w="1532250"/>
                <a:gridCol w="935225"/>
              </a:tblGrid>
              <a:tr h="2318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equation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latin typeface="Lexend"/>
                          <a:ea typeface="Lexend"/>
                          <a:cs typeface="Lexend"/>
                          <a:sym typeface="Lexend"/>
                        </a:rPr>
                        <a:t>solution</a:t>
                      </a:r>
                      <a:endParaRPr sz="1200"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48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 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5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</a:t>
                      </a:r>
                      <a:r>
                        <a:rPr lang="en-GB" sz="1200" i="1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2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33" name="Google Shape;23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64100" y="5909325"/>
            <a:ext cx="1735200" cy="2059668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graphicFrame>
        <p:nvGraphicFramePr>
          <p:cNvPr id="234" name="Google Shape;234;p21"/>
          <p:cNvGraphicFramePr>
            <a:graphicFrameLocks noGrp="1"/>
          </p:cNvGraphicFramePr>
          <p:nvPr/>
        </p:nvGraphicFramePr>
        <p:xfrm>
          <a:off x="482061" y="8664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{3699951A-AD26-4E0E-894B-4EEE607A3A42}</a:tableStyleId>
              </a:tblPr>
              <a:tblGrid>
                <a:gridCol w="200000"/>
                <a:gridCol w="786525"/>
                <a:gridCol w="712775"/>
              </a:tblGrid>
              <a:tr h="2542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equation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latin typeface="Lexend"/>
                          <a:ea typeface="Lexend"/>
                          <a:cs typeface="Lexend"/>
                          <a:sym typeface="Lexend"/>
                        </a:rPr>
                        <a:t>solution</a:t>
                      </a:r>
                      <a:endParaRPr sz="1200"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245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 i="1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3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+ 8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35" name="Google Shape;235;p21"/>
          <p:cNvGraphicFramePr>
            <a:graphicFrameLocks noGrp="1"/>
          </p:cNvGraphicFramePr>
          <p:nvPr/>
        </p:nvGraphicFramePr>
        <p:xfrm>
          <a:off x="477399" y="8033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{3699951A-AD26-4E0E-894B-4EEE607A3A42}</a:tableStyleId>
              </a:tblPr>
              <a:tblGrid>
                <a:gridCol w="218675"/>
                <a:gridCol w="757625"/>
                <a:gridCol w="732300"/>
              </a:tblGrid>
              <a:tr h="2541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equation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latin typeface="Lexend"/>
                          <a:ea typeface="Lexend"/>
                          <a:cs typeface="Lexend"/>
                          <a:sym typeface="Lexend"/>
                        </a:rPr>
                        <a:t>solution</a:t>
                      </a:r>
                      <a:endParaRPr sz="1200"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25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 i="1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3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− 2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1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282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36" name="Google Shape;236;p21" descr="&lt;math xmlns=&quot;http://www.w3.org/1998/Math/MathML&quot; display=&quot;block&quot; data-is-equatio=&quot;1&quot; data-latex=&quot;y=x&quot;&gt;&lt;mi&gt;y&lt;/mi&gt;&lt;mo&gt;=&lt;/mo&gt;&lt;mi&gt;x&lt;/mi&gt;&lt;/math&gt;" title="y equals x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rot="-2697532">
            <a:off x="934460" y="7524780"/>
            <a:ext cx="454992" cy="133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1" descr="&lt;math xmlns=&quot;http://www.w3.org/1998/Math/MathML&quot; display=&quot;block&quot; data-is-equatio=&quot;1&quot; data-latex=&quot;y=3-2x&quot;&gt;&lt;mi&gt;y&lt;/mi&gt;&lt;mo&gt;=&lt;/mo&gt;&lt;mn&gt;3&lt;/mn&gt;&lt;mo&gt;−&lt;/mo&gt;&lt;mn&gt;2&lt;/mn&gt;&lt;mi&gt;x&lt;/mi&gt;&lt;/math&gt;" title="y equals 3 minus 2 x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 rot="3709509">
            <a:off x="1511837" y="7468709"/>
            <a:ext cx="791866" cy="157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1" descr="&lt;math xmlns=&quot;http://www.w3.org/1998/Math/MathML&quot; display=&quot;block&quot; data-is-equatio=&quot;1&quot; data-latex=&quot;y=3x+8&quot;&gt;&lt;mi&gt;y&lt;/mi&gt;&lt;mo&gt;=&lt;/mo&gt;&lt;mn&gt;3&lt;/mn&gt;&lt;mi&gt;x&lt;/mi&gt;&lt;mo&gt;+&lt;/mo&gt;&lt;mn&gt;8&lt;/mn&gt;&lt;/math&gt;" title="y equals 3 x plus 8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 rot="-4206927">
            <a:off x="682173" y="6495236"/>
            <a:ext cx="782282" cy="1578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9" name="Google Shape;239;p21"/>
          <p:cNvCxnSpPr/>
          <p:nvPr/>
        </p:nvCxnSpPr>
        <p:spPr>
          <a:xfrm flipH="1">
            <a:off x="3542975" y="5481113"/>
            <a:ext cx="0" cy="42213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0" name="Google Shape;240;p21"/>
          <p:cNvSpPr txBox="1"/>
          <p:nvPr/>
        </p:nvSpPr>
        <p:spPr>
          <a:xfrm>
            <a:off x="3704350" y="6319675"/>
            <a:ext cx="1092600" cy="4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=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41" name="Google Shape;241;p21"/>
          <p:cNvGraphicFramePr>
            <a:graphicFrameLocks noGrp="1"/>
          </p:cNvGraphicFramePr>
          <p:nvPr/>
        </p:nvGraphicFramePr>
        <p:xfrm>
          <a:off x="3677897" y="659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{3699951A-AD26-4E0E-894B-4EEE607A3A42}</a:tableStyleId>
              </a:tblPr>
              <a:tblGrid>
                <a:gridCol w="221300"/>
                <a:gridCol w="221300"/>
                <a:gridCol w="221300"/>
                <a:gridCol w="221300"/>
                <a:gridCol w="221300"/>
                <a:gridCol w="221300"/>
              </a:tblGrid>
              <a:tr h="2567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67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42" name="Google Shape;242;p21"/>
          <p:cNvSpPr txBox="1"/>
          <p:nvPr/>
        </p:nvSpPr>
        <p:spPr>
          <a:xfrm>
            <a:off x="3704350" y="7234075"/>
            <a:ext cx="1092600" cy="4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=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43" name="Google Shape;243;p21"/>
          <p:cNvGraphicFramePr>
            <a:graphicFrameLocks noGrp="1"/>
          </p:cNvGraphicFramePr>
          <p:nvPr/>
        </p:nvGraphicFramePr>
        <p:xfrm>
          <a:off x="3677897" y="7581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{3699951A-AD26-4E0E-894B-4EEE607A3A42}</a:tableStyleId>
              </a:tblPr>
              <a:tblGrid>
                <a:gridCol w="221300"/>
                <a:gridCol w="221300"/>
                <a:gridCol w="221300"/>
                <a:gridCol w="221300"/>
                <a:gridCol w="221300"/>
                <a:gridCol w="221300"/>
              </a:tblGrid>
              <a:tr h="2567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67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44" name="Google Shape;244;p2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145450" y="6171987"/>
            <a:ext cx="1735200" cy="2290957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245" name="Google Shape;245;p21"/>
          <p:cNvCxnSpPr/>
          <p:nvPr/>
        </p:nvCxnSpPr>
        <p:spPr>
          <a:xfrm>
            <a:off x="474745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26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</vt:lpstr>
      <vt:lpstr>simple-light-2</vt:lpstr>
      <vt:lpstr>Solution to an equation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2024-02-06T09:54:31.131</cp:lastPrinted>
  <dcterms:created xsi:type="dcterms:W3CDTF">2024-02-06T09:54:31Z</dcterms:created>
  <dcterms:modified xsi:type="dcterms:W3CDTF">2024-02-06T09:54:43Z</dcterms:modified>
</cp:coreProperties>
</file>