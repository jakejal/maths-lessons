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38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6242A39-316E-417E-A883-7CF5A76C8240}">
  <a:tblStyle styleId="{26242A39-316E-417E-A883-7CF5A76C82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8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9f5521546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9f5521546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9f55215468_0_7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9f55215468_0_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29f55215468_0_7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9f55215468_0_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29f55215468_0_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29f55215468_0_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29f55215468_0_8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29f55215468_0_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29f55215468_0_8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29f55215468_0_8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29f55215468_0_9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29f55215468_0_9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29f55215468_0_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29f55215468_0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29f55215468_0_9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29f55215468_0_9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29f55215468_0_1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29f55215468_0_1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29f55215468_0_10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29f55215468_0_10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29f55215468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9f55215468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29f55215468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29f55215468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2a3015720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9" name="Google Shape;1039;g2a3015720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29f55215468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29f55215468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29f55215468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0" name="Google Shape;1070;g29f55215468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29f55215468_1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29f55215468_1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29f55215468_1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" name="Google Shape;1104;g29f55215468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29f55215468_1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29f55215468_1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29f55215468_0_7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29f55215468_0_7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29f55215468_0_7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29f55215468_0_7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29f55215468_1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1" name="Google Shape;1161;g29f55215468_1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29f55215468_1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4" name="Google Shape;1174;g29f55215468_1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29f55215468_1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9" name="Google Shape;1199;g29f55215468_1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29f55215468_1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2" name="Google Shape;1222;g29f55215468_1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g29f55215468_1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2" name="Google Shape;1232;g29f55215468_1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29f55215468_1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g29f55215468_1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g29f55215468_1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3" name="Google Shape;1273;g29f55215468_1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29f55215468_1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4" name="Google Shape;1284;g29f55215468_1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g29f55215468_1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6" name="Google Shape;1296;g29f55215468_1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29f55215468_1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29f55215468_1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29f55215468_1_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29f55215468_1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g29f55215468_1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1" name="Google Shape;1371;g29f55215468_1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g29f55215468_1_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g29f55215468_1_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7" name="Google Shape;1417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9.png"/><Relationship Id="rId5" Type="http://schemas.openxmlformats.org/officeDocument/2006/relationships/image" Target="../media/image2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5.png"/><Relationship Id="rId4" Type="http://schemas.openxmlformats.org/officeDocument/2006/relationships/image" Target="../media/image20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1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1.png"/><Relationship Id="rId4" Type="http://schemas.openxmlformats.org/officeDocument/2006/relationships/image" Target="../media/image86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Relationship Id="rId7" Type="http://schemas.openxmlformats.org/officeDocument/2006/relationships/image" Target="../media/image1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86.png"/><Relationship Id="rId4" Type="http://schemas.openxmlformats.org/officeDocument/2006/relationships/image" Target="../media/image26.png"/><Relationship Id="rId9" Type="http://schemas.openxmlformats.org/officeDocument/2006/relationships/image" Target="../media/image18.png"/><Relationship Id="rId5" Type="http://schemas.openxmlformats.org/officeDocument/2006/relationships/image" Target="../media/image21.png"/><Relationship Id="rId6" Type="http://schemas.openxmlformats.org/officeDocument/2006/relationships/image" Target="../media/image32.png"/><Relationship Id="rId7" Type="http://schemas.openxmlformats.org/officeDocument/2006/relationships/image" Target="../media/image24.png"/><Relationship Id="rId8" Type="http://schemas.openxmlformats.org/officeDocument/2006/relationships/image" Target="../media/image2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86.png"/><Relationship Id="rId4" Type="http://schemas.openxmlformats.org/officeDocument/2006/relationships/image" Target="../media/image33.png"/><Relationship Id="rId11" Type="http://schemas.openxmlformats.org/officeDocument/2006/relationships/image" Target="../media/image18.png"/><Relationship Id="rId10" Type="http://schemas.openxmlformats.org/officeDocument/2006/relationships/image" Target="../media/image37.png"/><Relationship Id="rId9" Type="http://schemas.openxmlformats.org/officeDocument/2006/relationships/image" Target="../media/image29.png"/><Relationship Id="rId5" Type="http://schemas.openxmlformats.org/officeDocument/2006/relationships/image" Target="../media/image26.png"/><Relationship Id="rId6" Type="http://schemas.openxmlformats.org/officeDocument/2006/relationships/image" Target="../media/image21.png"/><Relationship Id="rId7" Type="http://schemas.openxmlformats.org/officeDocument/2006/relationships/image" Target="../media/image32.png"/><Relationship Id="rId8" Type="http://schemas.openxmlformats.org/officeDocument/2006/relationships/image" Target="../media/image2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9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9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9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9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3" name="Google Shape;653;p48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5" name="Google Shape;65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2" name="Google Shape;662;p49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4" name="Google Shape;66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1" name="Google Shape;671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2" name="Google Shape;67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9" name="Google Shape;679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0" name="Google Shape;68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5" name="Google Shape;685;p52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7" name="Google Shape;68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4" name="Google Shape;694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6" name="Google Shape;69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2" name="Google Shape;702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4" name="Google Shape;70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0" name="Google Shape;710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1" name="Google Shape;711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2" name="Google Shape;71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1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0.png"/><Relationship Id="rId4" Type="http://schemas.openxmlformats.org/officeDocument/2006/relationships/image" Target="../media/image4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2.png"/><Relationship Id="rId4" Type="http://schemas.openxmlformats.org/officeDocument/2006/relationships/image" Target="../media/image4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2.png"/><Relationship Id="rId4" Type="http://schemas.openxmlformats.org/officeDocument/2006/relationships/image" Target="../media/image4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6.png"/><Relationship Id="rId4" Type="http://schemas.openxmlformats.org/officeDocument/2006/relationships/image" Target="../media/image5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3.png"/><Relationship Id="rId4" Type="http://schemas.openxmlformats.org/officeDocument/2006/relationships/image" Target="../media/image66.png"/><Relationship Id="rId5" Type="http://schemas.openxmlformats.org/officeDocument/2006/relationships/image" Target="../media/image65.png"/><Relationship Id="rId6" Type="http://schemas.openxmlformats.org/officeDocument/2006/relationships/image" Target="../media/image67.png"/><Relationship Id="rId7" Type="http://schemas.openxmlformats.org/officeDocument/2006/relationships/image" Target="../media/image47.png"/><Relationship Id="rId8" Type="http://schemas.openxmlformats.org/officeDocument/2006/relationships/image" Target="../media/image5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9.png"/><Relationship Id="rId4" Type="http://schemas.openxmlformats.org/officeDocument/2006/relationships/image" Target="../media/image44.png"/><Relationship Id="rId5" Type="http://schemas.openxmlformats.org/officeDocument/2006/relationships/image" Target="../media/image5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1.png"/><Relationship Id="rId4" Type="http://schemas.openxmlformats.org/officeDocument/2006/relationships/image" Target="../media/image74.png"/><Relationship Id="rId9" Type="http://schemas.openxmlformats.org/officeDocument/2006/relationships/image" Target="../media/image76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80.png"/><Relationship Id="rId8" Type="http://schemas.openxmlformats.org/officeDocument/2006/relationships/image" Target="../media/image7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7.png"/><Relationship Id="rId4" Type="http://schemas.openxmlformats.org/officeDocument/2006/relationships/image" Target="../media/image79.png"/><Relationship Id="rId5" Type="http://schemas.openxmlformats.org/officeDocument/2006/relationships/image" Target="../media/image78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1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7.png"/><Relationship Id="rId4" Type="http://schemas.openxmlformats.org/officeDocument/2006/relationships/image" Target="../media/image79.png"/><Relationship Id="rId5" Type="http://schemas.openxmlformats.org/officeDocument/2006/relationships/image" Target="../media/image78.png"/><Relationship Id="rId6" Type="http://schemas.openxmlformats.org/officeDocument/2006/relationships/image" Target="../media/image81.png"/><Relationship Id="rId7" Type="http://schemas.openxmlformats.org/officeDocument/2006/relationships/image" Target="../media/image8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Solution to an equation</a:t>
            </a:r>
            <a:endParaRPr/>
          </a:p>
        </p:txBody>
      </p:sp>
      <p:sp>
        <p:nvSpPr>
          <p:cNvPr id="755" name="Google Shape;755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appreciate that a solution is a value that makes the two sides of an equation balance.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>
            <p:ph idx="2" type="subTitle"/>
          </p:nvPr>
        </p:nvSpPr>
        <p:spPr>
          <a:xfrm>
            <a:off x="324001" y="2429900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process of finding a </a:t>
            </a:r>
            <a:r>
              <a:rPr b="1" lang="en-GB" sz="2000"/>
              <a:t>solution</a:t>
            </a:r>
            <a:r>
              <a:rPr lang="en-GB" sz="2000"/>
              <a:t> to an equation is called solving.</a:t>
            </a:r>
            <a:endParaRPr sz="2000"/>
          </a:p>
        </p:txBody>
      </p:sp>
      <p:sp>
        <p:nvSpPr>
          <p:cNvPr id="771" name="Google Shape;771;p66"/>
          <p:cNvSpPr txBox="1"/>
          <p:nvPr>
            <p:ph idx="1" type="subTitle"/>
          </p:nvPr>
        </p:nvSpPr>
        <p:spPr>
          <a:xfrm>
            <a:off x="324000" y="11460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</a:t>
            </a:r>
            <a:r>
              <a:rPr lang="en-GB" sz="2000"/>
              <a:t> </a:t>
            </a:r>
            <a:r>
              <a:rPr b="1" lang="en-GB" sz="2000"/>
              <a:t>solution</a:t>
            </a:r>
            <a:r>
              <a:rPr lang="en-GB" sz="2000"/>
              <a:t> to an equality with one variable is a value for the variable which, when substituted, maintains the equality between the </a:t>
            </a:r>
            <a:r>
              <a:rPr lang="en-GB" sz="2000"/>
              <a:t>expressions</a:t>
            </a:r>
            <a:r>
              <a:rPr lang="en-GB" sz="2000"/>
              <a:t>.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Testing </a:t>
            </a:r>
            <a:r>
              <a:rPr lang="en-GB"/>
              <a:t>solutions</a:t>
            </a:r>
            <a:r>
              <a:rPr lang="en-GB"/>
              <a:t> to equations</a:t>
            </a:r>
            <a:endParaRPr/>
          </a:p>
        </p:txBody>
      </p:sp>
      <p:sp>
        <p:nvSpPr>
          <p:cNvPr id="777" name="Google Shape;777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</a:t>
            </a:r>
            <a:r>
              <a:rPr lang="en-GB"/>
              <a:t>solutions</a:t>
            </a:r>
            <a:r>
              <a:rPr lang="en-GB"/>
              <a:t> from graphs</a:t>
            </a:r>
            <a:endParaRPr/>
          </a:p>
        </p:txBody>
      </p:sp>
      <p:sp>
        <p:nvSpPr>
          <p:cNvPr id="778" name="Google Shape;778;p6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Solution to an equation</a:t>
            </a:r>
            <a:endParaRPr/>
          </a:p>
        </p:txBody>
      </p:sp>
      <p:pic>
        <p:nvPicPr>
          <p:cNvPr id="779" name="Google Shape;77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05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Testing solutions to equations</a:t>
            </a:r>
            <a:endParaRPr/>
          </a:p>
        </p:txBody>
      </p:sp>
      <p:sp>
        <p:nvSpPr>
          <p:cNvPr id="785" name="Google Shape;785;p68"/>
          <p:cNvSpPr txBox="1"/>
          <p:nvPr>
            <p:ph idx="1" type="body"/>
          </p:nvPr>
        </p:nvSpPr>
        <p:spPr>
          <a:xfrm>
            <a:off x="324000" y="810000"/>
            <a:ext cx="8496000" cy="3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 an expression, the variable can take any value. </a:t>
            </a:r>
            <a:endParaRPr sz="2000"/>
          </a:p>
        </p:txBody>
      </p:sp>
      <p:sp>
        <p:nvSpPr>
          <p:cNvPr id="786" name="Google Shape;786;p68"/>
          <p:cNvSpPr txBox="1"/>
          <p:nvPr/>
        </p:nvSpPr>
        <p:spPr>
          <a:xfrm>
            <a:off x="324000" y="1313400"/>
            <a:ext cx="8496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is sometimes restricted by context e.g. where values have to be positive or integers.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87" name="Google Shape;787;p68"/>
          <p:cNvSpPr txBox="1"/>
          <p:nvPr>
            <p:ph idx="1" type="body"/>
          </p:nvPr>
        </p:nvSpPr>
        <p:spPr>
          <a:xfrm>
            <a:off x="324000" y="2193450"/>
            <a:ext cx="8496000" cy="3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use substitution to find the value of the expression for different values of the variable.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788" name="Google Shape;788;p68"/>
          <p:cNvSpPr txBox="1"/>
          <p:nvPr>
            <p:ph idx="1" type="body"/>
          </p:nvPr>
        </p:nvSpPr>
        <p:spPr>
          <a:xfrm>
            <a:off x="324000" y="3091500"/>
            <a:ext cx="8496000" cy="3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is the value of of the expression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− 7</a:t>
            </a:r>
            <a:r>
              <a:rPr lang="en-GB" sz="2000"/>
              <a:t> when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5 </a:t>
            </a:r>
            <a:r>
              <a:rPr lang="en-GB"/>
              <a:t>?</a:t>
            </a:r>
            <a:endParaRPr/>
          </a:p>
        </p:txBody>
      </p:sp>
      <p:sp>
        <p:nvSpPr>
          <p:cNvPr id="789" name="Google Shape;789;p68"/>
          <p:cNvSpPr txBox="1"/>
          <p:nvPr>
            <p:ph idx="1" type="body"/>
          </p:nvPr>
        </p:nvSpPr>
        <p:spPr>
          <a:xfrm>
            <a:off x="324000" y="3631500"/>
            <a:ext cx="8496000" cy="3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(5)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− 7</a:t>
            </a:r>
            <a:r>
              <a:rPr lang="en-GB" sz="2000"/>
              <a:t>              We can substitute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000"/>
              <a:t> </a:t>
            </a:r>
            <a:r>
              <a:rPr lang="en-GB" sz="2000"/>
              <a:t>as the value of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/>
              <a:t>  </a:t>
            </a:r>
            <a:endParaRPr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90" name="Google Shape;790;p68"/>
          <p:cNvSpPr txBox="1"/>
          <p:nvPr>
            <p:ph idx="1" type="body"/>
          </p:nvPr>
        </p:nvSpPr>
        <p:spPr>
          <a:xfrm>
            <a:off x="324000" y="4065750"/>
            <a:ext cx="8496000" cy="3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15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− 7</a:t>
            </a:r>
            <a:r>
              <a:rPr lang="en-GB" sz="2000"/>
              <a:t>                 Then calculate</a:t>
            </a:r>
            <a:endParaRPr sz="2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91" name="Google Shape;791;p68"/>
          <p:cNvSpPr txBox="1"/>
          <p:nvPr>
            <p:ph idx="1" type="body"/>
          </p:nvPr>
        </p:nvSpPr>
        <p:spPr>
          <a:xfrm>
            <a:off x="324000" y="4449450"/>
            <a:ext cx="8496000" cy="29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2000"/>
              <a:t>                         So, when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5</a:t>
            </a:r>
            <a:r>
              <a:rPr lang="en-GB" sz="2000"/>
              <a:t> , 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− 7 = 8</a:t>
            </a:r>
            <a:r>
              <a:rPr lang="en-GB" sz="2000"/>
              <a:t> </a:t>
            </a:r>
            <a:endParaRPr sz="24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Testing solutions to equations</a:t>
            </a:r>
            <a:endParaRPr/>
          </a:p>
        </p:txBody>
      </p:sp>
      <p:sp>
        <p:nvSpPr>
          <p:cNvPr id="797" name="Google Shape;797;p69"/>
          <p:cNvSpPr txBox="1"/>
          <p:nvPr>
            <p:ph idx="1" type="body"/>
          </p:nvPr>
        </p:nvSpPr>
        <p:spPr>
          <a:xfrm>
            <a:off x="324000" y="732750"/>
            <a:ext cx="8496000" cy="3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find different values of the expression by substituting different values for the variable.</a:t>
            </a:r>
            <a:r>
              <a:rPr lang="en-GB" sz="1800"/>
              <a:t> </a:t>
            </a:r>
            <a:endParaRPr sz="1800"/>
          </a:p>
        </p:txBody>
      </p:sp>
      <p:graphicFrame>
        <p:nvGraphicFramePr>
          <p:cNvPr id="798" name="Google Shape;798;p69"/>
          <p:cNvGraphicFramePr/>
          <p:nvPr/>
        </p:nvGraphicFramePr>
        <p:xfrm>
          <a:off x="370350" y="149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901700"/>
                <a:gridCol w="901700"/>
              </a:tblGrid>
              <a:tr h="338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300">
                          <a:latin typeface="Times"/>
                          <a:ea typeface="Times"/>
                          <a:cs typeface="Times"/>
                          <a:sym typeface="Times"/>
                        </a:rPr>
                        <a:t>p</a:t>
                      </a:r>
                      <a:endParaRPr i="1" sz="23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p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1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− 7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1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−3</a:t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1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−2</a:t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1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</a:t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99" name="Google Shape;799;p69"/>
          <p:cNvSpPr/>
          <p:nvPr/>
        </p:nvSpPr>
        <p:spPr>
          <a:xfrm>
            <a:off x="1266575" y="4407125"/>
            <a:ext cx="90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8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9"/>
          <p:cNvSpPr txBox="1"/>
          <p:nvPr>
            <p:ph idx="1" type="body"/>
          </p:nvPr>
        </p:nvSpPr>
        <p:spPr>
          <a:xfrm>
            <a:off x="2425000" y="1448638"/>
            <a:ext cx="6580500" cy="29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have seen that,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− 7 = 8</a:t>
            </a:r>
            <a:r>
              <a:rPr lang="en-GB" sz="1800"/>
              <a:t> w</a:t>
            </a:r>
            <a:r>
              <a:rPr lang="en-GB" sz="1800"/>
              <a:t>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5</a:t>
            </a:r>
            <a:r>
              <a:rPr lang="en-GB" sz="1800"/>
              <a:t> 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01" name="Google Shape;801;p69"/>
          <p:cNvSpPr txBox="1"/>
          <p:nvPr>
            <p:ph idx="1" type="body"/>
          </p:nvPr>
        </p:nvSpPr>
        <p:spPr>
          <a:xfrm>
            <a:off x="2425000" y="1846188"/>
            <a:ext cx="6580500" cy="29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is the value of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− 7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/>
              <a:t>when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−3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/>
              <a:t>?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/>
              <a:t> 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02" name="Google Shape;802;p69"/>
          <p:cNvSpPr txBox="1"/>
          <p:nvPr>
            <p:ph idx="1" type="body"/>
          </p:nvPr>
        </p:nvSpPr>
        <p:spPr>
          <a:xfrm>
            <a:off x="2425000" y="2250725"/>
            <a:ext cx="1266600" cy="12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Times"/>
                <a:ea typeface="Times"/>
                <a:cs typeface="Times"/>
                <a:sym typeface="Times"/>
              </a:rPr>
              <a:t>3(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−3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) − 7</a:t>
            </a:r>
            <a:endParaRPr sz="19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latin typeface="Times"/>
                <a:ea typeface="Times"/>
                <a:cs typeface="Times"/>
                <a:sym typeface="Times"/>
              </a:rPr>
              <a:t>−9 − 7</a:t>
            </a:r>
            <a:r>
              <a:rPr lang="en-GB" sz="1900"/>
              <a:t> 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latin typeface="Times"/>
                <a:ea typeface="Times"/>
                <a:cs typeface="Times"/>
                <a:sym typeface="Times"/>
              </a:rPr>
              <a:t>−16</a:t>
            </a:r>
            <a:r>
              <a:rPr lang="en-GB" sz="1900"/>
              <a:t>           </a:t>
            </a:r>
            <a:endParaRPr sz="19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03" name="Google Shape;803;p69"/>
          <p:cNvSpPr/>
          <p:nvPr/>
        </p:nvSpPr>
        <p:spPr>
          <a:xfrm>
            <a:off x="1266575" y="1846925"/>
            <a:ext cx="90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−16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4" name="Google Shape;804;p69"/>
          <p:cNvSpPr txBox="1"/>
          <p:nvPr>
            <p:ph idx="1" type="body"/>
          </p:nvPr>
        </p:nvSpPr>
        <p:spPr>
          <a:xfrm>
            <a:off x="2484150" y="3603050"/>
            <a:ext cx="6580500" cy="29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When does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− 7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1800"/>
              <a:t>have a value of 2?</a:t>
            </a:r>
            <a:r>
              <a:rPr lang="en-GB" sz="1800"/>
              <a:t> 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05" name="Google Shape;805;p69"/>
          <p:cNvSpPr txBox="1"/>
          <p:nvPr>
            <p:ph idx="1" type="body"/>
          </p:nvPr>
        </p:nvSpPr>
        <p:spPr>
          <a:xfrm>
            <a:off x="4320000" y="2239950"/>
            <a:ext cx="1266600" cy="12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Times"/>
                <a:ea typeface="Times"/>
                <a:cs typeface="Times"/>
                <a:sym typeface="Times"/>
              </a:rPr>
              <a:t>3(−2) − 7</a:t>
            </a:r>
            <a:endParaRPr sz="19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latin typeface="Times"/>
                <a:ea typeface="Times"/>
                <a:cs typeface="Times"/>
                <a:sym typeface="Times"/>
              </a:rPr>
              <a:t>−6 − 7</a:t>
            </a:r>
            <a:endParaRPr sz="19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latin typeface="Times"/>
                <a:ea typeface="Times"/>
                <a:cs typeface="Times"/>
                <a:sym typeface="Times"/>
              </a:rPr>
              <a:t>−13</a:t>
            </a:r>
            <a:r>
              <a:rPr lang="en-GB" sz="1900"/>
              <a:t>             </a:t>
            </a:r>
            <a:endParaRPr sz="19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06" name="Google Shape;806;p69"/>
          <p:cNvSpPr/>
          <p:nvPr/>
        </p:nvSpPr>
        <p:spPr>
          <a:xfrm>
            <a:off x="1266575" y="2167025"/>
            <a:ext cx="90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−13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69"/>
          <p:cNvSpPr txBox="1"/>
          <p:nvPr>
            <p:ph idx="1" type="body"/>
          </p:nvPr>
        </p:nvSpPr>
        <p:spPr>
          <a:xfrm>
            <a:off x="6256800" y="2293750"/>
            <a:ext cx="1266600" cy="12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Times"/>
                <a:ea typeface="Times"/>
                <a:cs typeface="Times"/>
                <a:sym typeface="Times"/>
              </a:rPr>
              <a:t>3(−1) − 7</a:t>
            </a:r>
            <a:endParaRPr sz="19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latin typeface="Times"/>
                <a:ea typeface="Times"/>
                <a:cs typeface="Times"/>
                <a:sym typeface="Times"/>
              </a:rPr>
              <a:t>−3 − 7</a:t>
            </a:r>
            <a:endParaRPr sz="19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latin typeface="Times"/>
                <a:ea typeface="Times"/>
                <a:cs typeface="Times"/>
                <a:sym typeface="Times"/>
              </a:rPr>
              <a:t>−10</a:t>
            </a:r>
            <a:r>
              <a:rPr lang="en-GB" sz="1900"/>
              <a:t>             </a:t>
            </a:r>
            <a:endParaRPr sz="19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08" name="Google Shape;808;p69"/>
          <p:cNvSpPr/>
          <p:nvPr/>
        </p:nvSpPr>
        <p:spPr>
          <a:xfrm>
            <a:off x="1266575" y="2486975"/>
            <a:ext cx="90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−10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69"/>
          <p:cNvSpPr/>
          <p:nvPr/>
        </p:nvSpPr>
        <p:spPr>
          <a:xfrm>
            <a:off x="1266575" y="2807075"/>
            <a:ext cx="90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−7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69"/>
          <p:cNvSpPr/>
          <p:nvPr/>
        </p:nvSpPr>
        <p:spPr>
          <a:xfrm>
            <a:off x="1266575" y="3127025"/>
            <a:ext cx="90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−4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1" name="Google Shape;811;p69"/>
          <p:cNvSpPr/>
          <p:nvPr/>
        </p:nvSpPr>
        <p:spPr>
          <a:xfrm>
            <a:off x="1266575" y="3447050"/>
            <a:ext cx="90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−1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69"/>
          <p:cNvSpPr/>
          <p:nvPr/>
        </p:nvSpPr>
        <p:spPr>
          <a:xfrm>
            <a:off x="1266575" y="3767075"/>
            <a:ext cx="90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2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69"/>
          <p:cNvSpPr/>
          <p:nvPr/>
        </p:nvSpPr>
        <p:spPr>
          <a:xfrm>
            <a:off x="1266575" y="4087025"/>
            <a:ext cx="90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5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4" name="Google Shape;814;p69"/>
          <p:cNvSpPr txBox="1"/>
          <p:nvPr>
            <p:ph idx="1" type="body"/>
          </p:nvPr>
        </p:nvSpPr>
        <p:spPr>
          <a:xfrm>
            <a:off x="2239550" y="4172700"/>
            <a:ext cx="6580500" cy="29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− 7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1800"/>
              <a:t>is a linear expression so as the value of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1800"/>
              <a:t> increases by 1, the expression increases at a constant rate.) </a:t>
            </a:r>
            <a:r>
              <a:rPr lang="en-GB" sz="1800"/>
              <a:t> 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15" name="Google Shape;815;p69"/>
          <p:cNvSpPr/>
          <p:nvPr/>
        </p:nvSpPr>
        <p:spPr>
          <a:xfrm>
            <a:off x="357800" y="3764150"/>
            <a:ext cx="1815900" cy="320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6" name="Google Shape;816;p69"/>
          <p:cNvSpPr txBox="1"/>
          <p:nvPr>
            <p:ph idx="1" type="body"/>
          </p:nvPr>
        </p:nvSpPr>
        <p:spPr>
          <a:xfrm>
            <a:off x="6843775" y="3621779"/>
            <a:ext cx="1634400" cy="29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when</a:t>
            </a:r>
            <a:r>
              <a:rPr lang="en-GB" sz="1800"/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3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Testing solutions to equations</a:t>
            </a:r>
            <a:endParaRPr/>
          </a:p>
        </p:txBody>
      </p:sp>
      <p:sp>
        <p:nvSpPr>
          <p:cNvPr id="822" name="Google Shape;822;p70"/>
          <p:cNvSpPr txBox="1"/>
          <p:nvPr>
            <p:ph idx="1" type="body"/>
          </p:nvPr>
        </p:nvSpPr>
        <p:spPr>
          <a:xfrm>
            <a:off x="324000" y="732750"/>
            <a:ext cx="8496000" cy="3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we now form an </a:t>
            </a:r>
            <a:r>
              <a:rPr lang="en-GB" sz="1800">
                <a:solidFill>
                  <a:schemeClr val="accent4"/>
                </a:solidFill>
              </a:rPr>
              <a:t>equation</a:t>
            </a:r>
            <a:r>
              <a:rPr lang="en-GB" sz="1800"/>
              <a:t>,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− 7 = 5, </a:t>
            </a:r>
            <a:r>
              <a:rPr lang="en-GB" sz="1800"/>
              <a:t>we can find the specific value of the unknown that makes this equation true.</a:t>
            </a:r>
            <a:endParaRPr sz="1800"/>
          </a:p>
        </p:txBody>
      </p:sp>
      <p:graphicFrame>
        <p:nvGraphicFramePr>
          <p:cNvPr id="823" name="Google Shape;823;p70"/>
          <p:cNvGraphicFramePr/>
          <p:nvPr/>
        </p:nvGraphicFramePr>
        <p:xfrm>
          <a:off x="370350" y="149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699850"/>
                <a:gridCol w="963150"/>
              </a:tblGrid>
              <a:tr h="338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3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p</a:t>
                      </a:r>
                      <a:endParaRPr i="1" sz="23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p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1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− 7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−3</a:t>
                      </a:r>
                      <a:endParaRPr sz="21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−2</a:t>
                      </a:r>
                      <a:endParaRPr sz="21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</a:t>
                      </a:r>
                      <a:endParaRPr sz="21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24" name="Google Shape;824;p70"/>
          <p:cNvSpPr/>
          <p:nvPr/>
        </p:nvSpPr>
        <p:spPr>
          <a:xfrm>
            <a:off x="1073075" y="4407125"/>
            <a:ext cx="96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8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0"/>
          <p:cNvSpPr/>
          <p:nvPr/>
        </p:nvSpPr>
        <p:spPr>
          <a:xfrm>
            <a:off x="1073075" y="1846925"/>
            <a:ext cx="96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−16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0"/>
          <p:cNvSpPr txBox="1"/>
          <p:nvPr>
            <p:ph idx="1" type="body"/>
          </p:nvPr>
        </p:nvSpPr>
        <p:spPr>
          <a:xfrm>
            <a:off x="2204800" y="1588375"/>
            <a:ext cx="6580500" cy="29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Looking at our table,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− 7 </a:t>
            </a:r>
            <a:r>
              <a:rPr lang="en-GB" sz="1800"/>
              <a:t>has a value of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5 </a:t>
            </a:r>
            <a:r>
              <a:rPr lang="en-GB" sz="1800"/>
              <a:t>when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4</a:t>
            </a:r>
            <a:r>
              <a:rPr lang="en-GB" sz="1800"/>
              <a:t> </a:t>
            </a:r>
            <a:r>
              <a:rPr lang="en-GB" sz="1800"/>
              <a:t> 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27" name="Google Shape;827;p70"/>
          <p:cNvSpPr/>
          <p:nvPr/>
        </p:nvSpPr>
        <p:spPr>
          <a:xfrm>
            <a:off x="1073075" y="2167025"/>
            <a:ext cx="96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−13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70"/>
          <p:cNvSpPr/>
          <p:nvPr/>
        </p:nvSpPr>
        <p:spPr>
          <a:xfrm>
            <a:off x="1073075" y="2486975"/>
            <a:ext cx="96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−10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70"/>
          <p:cNvSpPr/>
          <p:nvPr/>
        </p:nvSpPr>
        <p:spPr>
          <a:xfrm>
            <a:off x="1073075" y="2807075"/>
            <a:ext cx="96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−7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0"/>
          <p:cNvSpPr/>
          <p:nvPr/>
        </p:nvSpPr>
        <p:spPr>
          <a:xfrm>
            <a:off x="1073075" y="3127025"/>
            <a:ext cx="96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−4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0"/>
          <p:cNvSpPr/>
          <p:nvPr/>
        </p:nvSpPr>
        <p:spPr>
          <a:xfrm>
            <a:off x="1073075" y="3447050"/>
            <a:ext cx="96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−1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0"/>
          <p:cNvSpPr/>
          <p:nvPr/>
        </p:nvSpPr>
        <p:spPr>
          <a:xfrm>
            <a:off x="1073075" y="3767075"/>
            <a:ext cx="96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2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0"/>
          <p:cNvSpPr/>
          <p:nvPr/>
        </p:nvSpPr>
        <p:spPr>
          <a:xfrm>
            <a:off x="1064300" y="4087025"/>
            <a:ext cx="96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5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0"/>
          <p:cNvSpPr/>
          <p:nvPr/>
        </p:nvSpPr>
        <p:spPr>
          <a:xfrm>
            <a:off x="370400" y="4099850"/>
            <a:ext cx="1662900" cy="294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0"/>
          <p:cNvSpPr txBox="1"/>
          <p:nvPr>
            <p:ph idx="1" type="body"/>
          </p:nvPr>
        </p:nvSpPr>
        <p:spPr>
          <a:xfrm>
            <a:off x="2204800" y="2136400"/>
            <a:ext cx="6580500" cy="29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b="1" lang="en-GB" sz="1800"/>
              <a:t>solution</a:t>
            </a:r>
            <a:r>
              <a:rPr lang="en-GB" sz="1800"/>
              <a:t> to the equation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− 7 = 5 </a:t>
            </a:r>
            <a:r>
              <a:rPr lang="en-GB" sz="1800"/>
              <a:t>is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/>
              <a:t>has a value of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800"/>
              <a:t> </a:t>
            </a:r>
            <a:r>
              <a:rPr lang="en-GB" sz="1800"/>
              <a:t> </a:t>
            </a:r>
            <a:r>
              <a:rPr lang="en-GB" sz="1800"/>
              <a:t>  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36" name="Google Shape;836;p70"/>
          <p:cNvSpPr txBox="1"/>
          <p:nvPr>
            <p:ph idx="1" type="body"/>
          </p:nvPr>
        </p:nvSpPr>
        <p:spPr>
          <a:xfrm>
            <a:off x="2204800" y="3240000"/>
            <a:ext cx="6701400" cy="29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</a:t>
            </a:r>
            <a:r>
              <a:rPr b="1" lang="en-GB" sz="1800"/>
              <a:t>solution</a:t>
            </a:r>
            <a:r>
              <a:rPr lang="en-GB" sz="1800"/>
              <a:t> to an equation with one variable is a value for the variable that makes both sides of the equation balance. </a:t>
            </a:r>
            <a:r>
              <a:rPr lang="en-GB" sz="1800"/>
              <a:t>   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37" name="Google Shape;837;p70"/>
          <p:cNvSpPr txBox="1"/>
          <p:nvPr>
            <p:ph idx="1" type="body"/>
          </p:nvPr>
        </p:nvSpPr>
        <p:spPr>
          <a:xfrm>
            <a:off x="2204800" y="4509050"/>
            <a:ext cx="6436200" cy="29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process of finding a </a:t>
            </a:r>
            <a:r>
              <a:rPr b="1" lang="en-GB" sz="1800"/>
              <a:t>solution</a:t>
            </a:r>
            <a:r>
              <a:rPr lang="en-GB" sz="1800"/>
              <a:t> is called </a:t>
            </a:r>
            <a:r>
              <a:rPr lang="en-GB" sz="1800">
                <a:solidFill>
                  <a:schemeClr val="accent4"/>
                </a:solidFill>
              </a:rPr>
              <a:t>solving.</a:t>
            </a:r>
            <a:r>
              <a:rPr lang="en-GB" sz="1600">
                <a:solidFill>
                  <a:srgbClr val="222222"/>
                </a:solidFill>
              </a:rPr>
              <a:t> </a:t>
            </a:r>
            <a:r>
              <a:rPr lang="en-GB" sz="1600"/>
              <a:t>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Testing solutions to equations</a:t>
            </a:r>
            <a:endParaRPr/>
          </a:p>
        </p:txBody>
      </p:sp>
      <p:sp>
        <p:nvSpPr>
          <p:cNvPr id="843" name="Google Shape;843;p71"/>
          <p:cNvSpPr txBox="1"/>
          <p:nvPr>
            <p:ph idx="1" type="body"/>
          </p:nvPr>
        </p:nvSpPr>
        <p:spPr>
          <a:xfrm>
            <a:off x="2582050" y="1620000"/>
            <a:ext cx="5932800" cy="3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is the </a:t>
            </a:r>
            <a:r>
              <a:rPr b="1" lang="en-GB" sz="1800"/>
              <a:t>solution</a:t>
            </a:r>
            <a:r>
              <a:rPr lang="en-GB" sz="1800"/>
              <a:t> to the equation</a:t>
            </a: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− 7 = −10 </a:t>
            </a:r>
            <a:r>
              <a:rPr lang="en-GB" sz="1800"/>
              <a:t>?</a:t>
            </a:r>
            <a:endParaRPr sz="1800"/>
          </a:p>
        </p:txBody>
      </p:sp>
      <p:graphicFrame>
        <p:nvGraphicFramePr>
          <p:cNvPr id="844" name="Google Shape;844;p71"/>
          <p:cNvGraphicFramePr/>
          <p:nvPr/>
        </p:nvGraphicFramePr>
        <p:xfrm>
          <a:off x="446550" y="6891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901700"/>
                <a:gridCol w="901700"/>
              </a:tblGrid>
              <a:tr h="338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300">
                          <a:latin typeface="Times"/>
                          <a:ea typeface="Times"/>
                          <a:cs typeface="Times"/>
                          <a:sym typeface="Times"/>
                        </a:rPr>
                        <a:t>p</a:t>
                      </a:r>
                      <a:endParaRPr i="1" sz="23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p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1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− 7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1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−3</a:t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1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−2</a:t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1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</a:t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45" name="Google Shape;845;p71"/>
          <p:cNvSpPr/>
          <p:nvPr/>
        </p:nvSpPr>
        <p:spPr>
          <a:xfrm>
            <a:off x="1342775" y="3599817"/>
            <a:ext cx="90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8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71"/>
          <p:cNvSpPr/>
          <p:nvPr/>
        </p:nvSpPr>
        <p:spPr>
          <a:xfrm>
            <a:off x="1342775" y="1039617"/>
            <a:ext cx="90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−16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71"/>
          <p:cNvSpPr/>
          <p:nvPr/>
        </p:nvSpPr>
        <p:spPr>
          <a:xfrm>
            <a:off x="1342775" y="1359717"/>
            <a:ext cx="90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−13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8" name="Google Shape;848;p71"/>
          <p:cNvSpPr/>
          <p:nvPr/>
        </p:nvSpPr>
        <p:spPr>
          <a:xfrm>
            <a:off x="1342775" y="1679667"/>
            <a:ext cx="90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−10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71"/>
          <p:cNvSpPr/>
          <p:nvPr/>
        </p:nvSpPr>
        <p:spPr>
          <a:xfrm>
            <a:off x="1342775" y="1999767"/>
            <a:ext cx="90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−7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0" name="Google Shape;850;p71"/>
          <p:cNvSpPr/>
          <p:nvPr/>
        </p:nvSpPr>
        <p:spPr>
          <a:xfrm>
            <a:off x="1342775" y="2319717"/>
            <a:ext cx="90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−4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71"/>
          <p:cNvSpPr/>
          <p:nvPr/>
        </p:nvSpPr>
        <p:spPr>
          <a:xfrm>
            <a:off x="1342775" y="2639742"/>
            <a:ext cx="90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−1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2" name="Google Shape;852;p71"/>
          <p:cNvSpPr/>
          <p:nvPr/>
        </p:nvSpPr>
        <p:spPr>
          <a:xfrm>
            <a:off x="1342775" y="2959767"/>
            <a:ext cx="90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2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71"/>
          <p:cNvSpPr/>
          <p:nvPr/>
        </p:nvSpPr>
        <p:spPr>
          <a:xfrm>
            <a:off x="1342775" y="3279717"/>
            <a:ext cx="907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5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4" name="Google Shape;854;p71"/>
          <p:cNvSpPr/>
          <p:nvPr/>
        </p:nvSpPr>
        <p:spPr>
          <a:xfrm>
            <a:off x="446600" y="1692479"/>
            <a:ext cx="1803300" cy="294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71"/>
          <p:cNvSpPr txBox="1"/>
          <p:nvPr>
            <p:ph idx="1" type="body"/>
          </p:nvPr>
        </p:nvSpPr>
        <p:spPr>
          <a:xfrm>
            <a:off x="2582050" y="779313"/>
            <a:ext cx="5932800" cy="3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is the </a:t>
            </a:r>
            <a:r>
              <a:rPr b="1" lang="en-GB" sz="1800"/>
              <a:t>solution</a:t>
            </a:r>
            <a:r>
              <a:rPr lang="en-GB" sz="1800"/>
              <a:t> to the equation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− 7 = −1 </a:t>
            </a:r>
            <a:r>
              <a:rPr lang="en-GB" sz="1800"/>
              <a:t>?</a:t>
            </a:r>
            <a:endParaRPr sz="1800"/>
          </a:p>
        </p:txBody>
      </p:sp>
      <p:pic>
        <p:nvPicPr>
          <p:cNvPr id="856" name="Google Shape;85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918683" y="2817658"/>
            <a:ext cx="567380" cy="709488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71"/>
          <p:cNvSpPr txBox="1"/>
          <p:nvPr/>
        </p:nvSpPr>
        <p:spPr>
          <a:xfrm flipH="1">
            <a:off x="7577000" y="3527157"/>
            <a:ext cx="125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8" name="Google Shape;858;p71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 flipH="1">
            <a:off x="4254323" y="2679600"/>
            <a:ext cx="3741102" cy="975951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71"/>
          <p:cNvSpPr/>
          <p:nvPr/>
        </p:nvSpPr>
        <p:spPr>
          <a:xfrm>
            <a:off x="4320000" y="2770988"/>
            <a:ext cx="3444600" cy="8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− 7 = 17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when </a:t>
            </a:r>
            <a:r>
              <a:rPr i="1" lang="en-GB" sz="21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has a value of 8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1"/>
          <p:cNvSpPr txBox="1"/>
          <p:nvPr>
            <p:ph idx="1" type="body"/>
          </p:nvPr>
        </p:nvSpPr>
        <p:spPr>
          <a:xfrm>
            <a:off x="2582050" y="2061150"/>
            <a:ext cx="1567200" cy="3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−1 </a:t>
            </a:r>
            <a:endParaRPr sz="1800"/>
          </a:p>
        </p:txBody>
      </p:sp>
      <p:sp>
        <p:nvSpPr>
          <p:cNvPr id="861" name="Google Shape;861;p71"/>
          <p:cNvSpPr txBox="1"/>
          <p:nvPr>
            <p:ph idx="1" type="body"/>
          </p:nvPr>
        </p:nvSpPr>
        <p:spPr>
          <a:xfrm>
            <a:off x="2582050" y="1145475"/>
            <a:ext cx="1293600" cy="3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 </a:t>
            </a:r>
            <a:endParaRPr sz="1800"/>
          </a:p>
        </p:txBody>
      </p:sp>
      <p:sp>
        <p:nvSpPr>
          <p:cNvPr id="862" name="Google Shape;862;p71"/>
          <p:cNvSpPr txBox="1"/>
          <p:nvPr>
            <p:ph idx="1" type="body"/>
          </p:nvPr>
        </p:nvSpPr>
        <p:spPr>
          <a:xfrm>
            <a:off x="2582050" y="3700013"/>
            <a:ext cx="4387200" cy="3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could we check if Jun is correct?</a:t>
            </a:r>
            <a:endParaRPr sz="1800"/>
          </a:p>
        </p:txBody>
      </p:sp>
      <p:sp>
        <p:nvSpPr>
          <p:cNvPr id="863" name="Google Shape;863;p71"/>
          <p:cNvSpPr txBox="1"/>
          <p:nvPr>
            <p:ph idx="1" type="body"/>
          </p:nvPr>
        </p:nvSpPr>
        <p:spPr>
          <a:xfrm>
            <a:off x="446550" y="3976875"/>
            <a:ext cx="1762200" cy="8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3(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− 7 = 17</a:t>
            </a:r>
            <a:endParaRPr sz="19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Times"/>
                <a:ea typeface="Times"/>
                <a:cs typeface="Times"/>
                <a:sym typeface="Times"/>
              </a:rPr>
              <a:t>24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− 7 = 17</a:t>
            </a:r>
            <a:endParaRPr sz="19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Times"/>
                <a:ea typeface="Times"/>
                <a:cs typeface="Times"/>
                <a:sym typeface="Times"/>
              </a:rPr>
              <a:t>17 = 17</a:t>
            </a:r>
            <a:r>
              <a:rPr lang="en-GB" sz="1800"/>
              <a:t>        </a:t>
            </a:r>
            <a:r>
              <a:rPr lang="en-GB" sz="1800"/>
              <a:t>             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64" name="Google Shape;864;p71"/>
          <p:cNvSpPr txBox="1"/>
          <p:nvPr>
            <p:ph idx="1" type="body"/>
          </p:nvPr>
        </p:nvSpPr>
        <p:spPr>
          <a:xfrm>
            <a:off x="2582400" y="4089225"/>
            <a:ext cx="5423100" cy="29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Both sides of the equation are equal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8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So Jun is correct.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                       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5" name="Google Shape;865;p71"/>
          <p:cNvSpPr/>
          <p:nvPr/>
        </p:nvSpPr>
        <p:spPr>
          <a:xfrm>
            <a:off x="446600" y="2652504"/>
            <a:ext cx="1803300" cy="294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72"/>
          <p:cNvSpPr txBox="1"/>
          <p:nvPr>
            <p:ph idx="1" type="body"/>
          </p:nvPr>
        </p:nvSpPr>
        <p:spPr>
          <a:xfrm>
            <a:off x="324000" y="1079400"/>
            <a:ext cx="8496000" cy="32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Substituting different values for the variables is</a:t>
            </a:r>
            <a:r>
              <a:rPr lang="en-GB" sz="2000">
                <a:solidFill>
                  <a:schemeClr val="accent4"/>
                </a:solidFill>
              </a:rPr>
              <a:t> not</a:t>
            </a:r>
            <a:r>
              <a:rPr lang="en-GB" sz="2000"/>
              <a:t> an efficient method to find a </a:t>
            </a:r>
            <a:r>
              <a:rPr b="1" lang="en-GB" sz="2000"/>
              <a:t>solution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It can be time consuming when the </a:t>
            </a:r>
            <a:r>
              <a:rPr b="1" lang="en-GB" sz="2000"/>
              <a:t>solution</a:t>
            </a:r>
            <a:r>
              <a:rPr lang="en-GB" sz="2000"/>
              <a:t> is very big or very small.</a:t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It can be difficult to find when not an integer.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However it is a useful method for checking a </a:t>
            </a:r>
            <a:r>
              <a:rPr b="1" lang="en-GB" sz="2000"/>
              <a:t>solution</a:t>
            </a:r>
            <a:r>
              <a:rPr lang="en-GB" sz="2000"/>
              <a:t> once </a:t>
            </a:r>
            <a:r>
              <a:rPr lang="en-GB" sz="2000"/>
              <a:t>you</a:t>
            </a:r>
            <a:r>
              <a:rPr lang="en-GB" sz="2000"/>
              <a:t> have found one.</a:t>
            </a:r>
            <a:endParaRPr sz="2000"/>
          </a:p>
        </p:txBody>
      </p:sp>
      <p:sp>
        <p:nvSpPr>
          <p:cNvPr id="871" name="Google Shape;871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Testing solutions to equations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7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3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77" name="Google Shape;877;p7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Testing solutions to equations</a:t>
            </a:r>
            <a:endParaRPr/>
          </a:p>
        </p:txBody>
      </p:sp>
      <p:sp>
        <p:nvSpPr>
          <p:cNvPr id="878" name="Google Shape;878;p7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Which equations have a </a:t>
            </a:r>
            <a:r>
              <a:rPr b="1" lang="en-GB"/>
              <a:t>solution</a:t>
            </a:r>
            <a:r>
              <a:rPr lang="en-GB"/>
              <a:t> of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= 3</a:t>
            </a:r>
            <a:endParaRPr/>
          </a:p>
        </p:txBody>
      </p:sp>
      <p:sp>
        <p:nvSpPr>
          <p:cNvPr id="879" name="Google Shape;879;p7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13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7</a:t>
            </a:r>
            <a:endParaRPr/>
          </a:p>
        </p:txBody>
      </p:sp>
      <p:sp>
        <p:nvSpPr>
          <p:cNvPr id="880" name="Google Shape;880;p73"/>
          <p:cNvSpPr txBox="1"/>
          <p:nvPr>
            <p:ph idx="4" type="subTitle"/>
          </p:nvPr>
        </p:nvSpPr>
        <p:spPr>
          <a:xfrm>
            <a:off x="1034425" y="3302040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− 12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endParaRPr/>
          </a:p>
        </p:txBody>
      </p:sp>
      <p:sp>
        <p:nvSpPr>
          <p:cNvPr id="881" name="Google Shape;881;p7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+ 17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20</a:t>
            </a:r>
            <a:endParaRPr/>
          </a:p>
        </p:txBody>
      </p:sp>
      <p:pic>
        <p:nvPicPr>
          <p:cNvPr id="882" name="Google Shape;88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7208" y="249716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3" name="Google Shape;88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7208" y="4113813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74"/>
          <p:cNvSpPr txBox="1"/>
          <p:nvPr>
            <p:ph idx="1" type="body"/>
          </p:nvPr>
        </p:nvSpPr>
        <p:spPr>
          <a:xfrm>
            <a:off x="324000" y="759300"/>
            <a:ext cx="8237700" cy="7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use the same method to test </a:t>
            </a:r>
            <a:r>
              <a:rPr b="1" lang="en-GB" sz="1800"/>
              <a:t>solutions</a:t>
            </a:r>
            <a:r>
              <a:rPr lang="en-GB" sz="1800"/>
              <a:t> when we have unknowns on both sides of our equation.</a:t>
            </a:r>
            <a:endParaRPr sz="1800"/>
          </a:p>
        </p:txBody>
      </p:sp>
      <p:sp>
        <p:nvSpPr>
          <p:cNvPr id="889" name="Google Shape;889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Testing solutions to equations</a:t>
            </a:r>
            <a:endParaRPr/>
          </a:p>
        </p:txBody>
      </p:sp>
      <p:grpSp>
        <p:nvGrpSpPr>
          <p:cNvPr id="890" name="Google Shape;890;p74"/>
          <p:cNvGrpSpPr/>
          <p:nvPr/>
        </p:nvGrpSpPr>
        <p:grpSpPr>
          <a:xfrm>
            <a:off x="323995" y="1772398"/>
            <a:ext cx="2747514" cy="1388097"/>
            <a:chOff x="323995" y="1772398"/>
            <a:chExt cx="2747514" cy="1388097"/>
          </a:xfrm>
        </p:grpSpPr>
        <p:grpSp>
          <p:nvGrpSpPr>
            <p:cNvPr id="891" name="Google Shape;891;p74"/>
            <p:cNvGrpSpPr/>
            <p:nvPr/>
          </p:nvGrpSpPr>
          <p:grpSpPr>
            <a:xfrm>
              <a:off x="323995" y="1772398"/>
              <a:ext cx="2747514" cy="1388097"/>
              <a:chOff x="3679000" y="1380975"/>
              <a:chExt cx="4343896" cy="2543700"/>
            </a:xfrm>
          </p:grpSpPr>
          <p:sp>
            <p:nvSpPr>
              <p:cNvPr id="892" name="Google Shape;892;p74"/>
              <p:cNvSpPr/>
              <p:nvPr/>
            </p:nvSpPr>
            <p:spPr>
              <a:xfrm>
                <a:off x="5573300" y="1380975"/>
                <a:ext cx="556500" cy="2543700"/>
              </a:xfrm>
              <a:prstGeom prst="trapezoid">
                <a:avLst>
                  <a:gd fmla="val 25000" name="adj"/>
                </a:avLst>
              </a:prstGeom>
              <a:solidFill>
                <a:srgbClr val="000000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893" name="Google Shape;893;p74"/>
              <p:cNvCxnSpPr/>
              <p:nvPr/>
            </p:nvCxnSpPr>
            <p:spPr>
              <a:xfrm>
                <a:off x="4519850" y="1380975"/>
                <a:ext cx="2663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94" name="Google Shape;894;p74"/>
              <p:cNvSpPr/>
              <p:nvPr/>
            </p:nvSpPr>
            <p:spPr>
              <a:xfrm>
                <a:off x="3870700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895" name="Google Shape;895;p74"/>
              <p:cNvCxnSpPr/>
              <p:nvPr/>
            </p:nvCxnSpPr>
            <p:spPr>
              <a:xfrm>
                <a:off x="3679000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96" name="Google Shape;896;p74"/>
              <p:cNvSpPr/>
              <p:nvPr/>
            </p:nvSpPr>
            <p:spPr>
              <a:xfrm>
                <a:off x="6524396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897" name="Google Shape;897;p74"/>
              <p:cNvCxnSpPr/>
              <p:nvPr/>
            </p:nvCxnSpPr>
            <p:spPr>
              <a:xfrm>
                <a:off x="6332696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898" name="Google Shape;898;p74"/>
            <p:cNvSpPr/>
            <p:nvPr/>
          </p:nvSpPr>
          <p:spPr>
            <a:xfrm>
              <a:off x="374765" y="237282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99" name="Google Shape;899;p74"/>
            <p:cNvSpPr/>
            <p:nvPr/>
          </p:nvSpPr>
          <p:spPr>
            <a:xfrm>
              <a:off x="774290" y="237282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00" name="Google Shape;900;p74"/>
            <p:cNvSpPr/>
            <p:nvPr/>
          </p:nvSpPr>
          <p:spPr>
            <a:xfrm>
              <a:off x="501940" y="209142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01" name="Google Shape;901;p74"/>
            <p:cNvSpPr/>
            <p:nvPr/>
          </p:nvSpPr>
          <p:spPr>
            <a:xfrm>
              <a:off x="2106265" y="237282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02" name="Google Shape;902;p74"/>
            <p:cNvSpPr/>
            <p:nvPr/>
          </p:nvSpPr>
          <p:spPr>
            <a:xfrm>
              <a:off x="2177565" y="209142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grpSp>
          <p:nvGrpSpPr>
            <p:cNvPr id="903" name="Google Shape;903;p74"/>
            <p:cNvGrpSpPr/>
            <p:nvPr/>
          </p:nvGrpSpPr>
          <p:grpSpPr>
            <a:xfrm>
              <a:off x="1136395" y="2319466"/>
              <a:ext cx="308762" cy="341802"/>
              <a:chOff x="4396891" y="2255566"/>
              <a:chExt cx="368100" cy="475584"/>
            </a:xfrm>
          </p:grpSpPr>
          <p:grpSp>
            <p:nvGrpSpPr>
              <p:cNvPr id="904" name="Google Shape;904;p74"/>
              <p:cNvGrpSpPr/>
              <p:nvPr/>
            </p:nvGrpSpPr>
            <p:grpSpPr>
              <a:xfrm>
                <a:off x="4495866" y="2255566"/>
                <a:ext cx="172800" cy="190800"/>
                <a:chOff x="4474729" y="2241474"/>
                <a:chExt cx="172800" cy="190800"/>
              </a:xfrm>
            </p:grpSpPr>
            <p:sp>
              <p:nvSpPr>
                <p:cNvPr id="905" name="Google Shape;905;p74"/>
                <p:cNvSpPr/>
                <p:nvPr/>
              </p:nvSpPr>
              <p:spPr>
                <a:xfrm>
                  <a:off x="4474729" y="2241474"/>
                  <a:ext cx="172800" cy="190800"/>
                </a:xfrm>
                <a:prstGeom prst="ellipse">
                  <a:avLst/>
                </a:prstGeom>
                <a:solidFill>
                  <a:srgbClr val="CCCCCC"/>
                </a:solidFill>
                <a:ln cap="flat" cmpd="sng" w="9525">
                  <a:solidFill>
                    <a:srgbClr val="59595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6" name="Google Shape;906;p74"/>
                <p:cNvSpPr/>
                <p:nvPr/>
              </p:nvSpPr>
              <p:spPr>
                <a:xfrm>
                  <a:off x="4490991" y="2260553"/>
                  <a:ext cx="138900" cy="153600"/>
                </a:xfrm>
                <a:prstGeom prst="ellipse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59595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907" name="Google Shape;907;p74"/>
              <p:cNvSpPr/>
              <p:nvPr/>
            </p:nvSpPr>
            <p:spPr>
              <a:xfrm>
                <a:off x="4431875" y="2420350"/>
                <a:ext cx="303000" cy="310800"/>
              </a:xfrm>
              <a:prstGeom prst="trapezoid">
                <a:avLst>
                  <a:gd fmla="val 25000" name="adj"/>
                </a:avLst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74"/>
              <p:cNvSpPr txBox="1"/>
              <p:nvPr/>
            </p:nvSpPr>
            <p:spPr>
              <a:xfrm>
                <a:off x="4396891" y="2512271"/>
                <a:ext cx="368100" cy="15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Times New Roman"/>
                    <a:ea typeface="Times New Roman"/>
                    <a:cs typeface="Times New Roman"/>
                    <a:sym typeface="Times New Roman"/>
                  </a:rPr>
                  <a:t>1</a:t>
                </a:r>
                <a:r>
                  <a:rPr lang="en-GB" sz="16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</a:t>
                </a:r>
                <a:endParaRPr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909" name="Google Shape;909;p74"/>
            <p:cNvGrpSpPr/>
            <p:nvPr/>
          </p:nvGrpSpPr>
          <p:grpSpPr>
            <a:xfrm>
              <a:off x="2578550" y="2206717"/>
              <a:ext cx="431229" cy="454563"/>
              <a:chOff x="4396891" y="2255566"/>
              <a:chExt cx="368100" cy="475584"/>
            </a:xfrm>
          </p:grpSpPr>
          <p:grpSp>
            <p:nvGrpSpPr>
              <p:cNvPr id="910" name="Google Shape;910;p74"/>
              <p:cNvGrpSpPr/>
              <p:nvPr/>
            </p:nvGrpSpPr>
            <p:grpSpPr>
              <a:xfrm>
                <a:off x="4495866" y="2255566"/>
                <a:ext cx="172800" cy="190800"/>
                <a:chOff x="4474729" y="2241474"/>
                <a:chExt cx="172800" cy="190800"/>
              </a:xfrm>
            </p:grpSpPr>
            <p:sp>
              <p:nvSpPr>
                <p:cNvPr id="911" name="Google Shape;911;p74"/>
                <p:cNvSpPr/>
                <p:nvPr/>
              </p:nvSpPr>
              <p:spPr>
                <a:xfrm>
                  <a:off x="4474729" y="2241474"/>
                  <a:ext cx="172800" cy="190800"/>
                </a:xfrm>
                <a:prstGeom prst="ellipse">
                  <a:avLst/>
                </a:prstGeom>
                <a:solidFill>
                  <a:srgbClr val="CCCCCC"/>
                </a:solidFill>
                <a:ln cap="flat" cmpd="sng" w="9525">
                  <a:solidFill>
                    <a:srgbClr val="59595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2" name="Google Shape;912;p74"/>
                <p:cNvSpPr/>
                <p:nvPr/>
              </p:nvSpPr>
              <p:spPr>
                <a:xfrm>
                  <a:off x="4490991" y="2260553"/>
                  <a:ext cx="138900" cy="153600"/>
                </a:xfrm>
                <a:prstGeom prst="ellipse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59595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913" name="Google Shape;913;p74"/>
              <p:cNvSpPr/>
              <p:nvPr/>
            </p:nvSpPr>
            <p:spPr>
              <a:xfrm>
                <a:off x="4431875" y="2420350"/>
                <a:ext cx="303000" cy="310800"/>
              </a:xfrm>
              <a:prstGeom prst="trapezoid">
                <a:avLst>
                  <a:gd fmla="val 25000" name="adj"/>
                </a:avLst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74"/>
              <p:cNvSpPr txBox="1"/>
              <p:nvPr/>
            </p:nvSpPr>
            <p:spPr>
              <a:xfrm>
                <a:off x="4396891" y="2512271"/>
                <a:ext cx="368100" cy="15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Times New Roman"/>
                    <a:ea typeface="Times New Roman"/>
                    <a:cs typeface="Times New Roman"/>
                    <a:sym typeface="Times New Roman"/>
                  </a:rPr>
                  <a:t>5</a:t>
                </a:r>
                <a:r>
                  <a:rPr lang="en-GB" sz="16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</a:t>
                </a:r>
                <a:endParaRPr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915" name="Google Shape;915;p74"/>
          <p:cNvSpPr txBox="1"/>
          <p:nvPr>
            <p:ph idx="1" type="body"/>
          </p:nvPr>
        </p:nvSpPr>
        <p:spPr>
          <a:xfrm>
            <a:off x="3369600" y="1544700"/>
            <a:ext cx="5450400" cy="115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balance represents the equation                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 =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16" name="Google Shape;916;p74"/>
          <p:cNvSpPr txBox="1"/>
          <p:nvPr>
            <p:ph idx="1" type="body"/>
          </p:nvPr>
        </p:nvSpPr>
        <p:spPr>
          <a:xfrm>
            <a:off x="3369600" y="2277850"/>
            <a:ext cx="5488800" cy="7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Can you think of a value for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x</a:t>
            </a:r>
            <a:r>
              <a:rPr lang="en-GB" sz="1800"/>
              <a:t> that will keep this scale balanced?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17" name="Google Shape;917;p74"/>
          <p:cNvSpPr txBox="1"/>
          <p:nvPr>
            <p:ph idx="1" type="body"/>
          </p:nvPr>
        </p:nvSpPr>
        <p:spPr>
          <a:xfrm>
            <a:off x="324000" y="3290700"/>
            <a:ext cx="4248000" cy="15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If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x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LHS =</a:t>
            </a:r>
            <a:r>
              <a:rPr lang="en-GB" sz="1800"/>
              <a:t> 16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RHS = 15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So not balanced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</a:t>
            </a:r>
            <a:r>
              <a:rPr b="1" lang="en-GB" sz="1800"/>
              <a:t>solution</a:t>
            </a:r>
            <a:r>
              <a:rPr lang="en-GB" sz="1800"/>
              <a:t> is </a:t>
            </a:r>
            <a:r>
              <a:rPr lang="en-GB" sz="1800">
                <a:solidFill>
                  <a:schemeClr val="accent4"/>
                </a:solidFill>
              </a:rPr>
              <a:t>not</a:t>
            </a:r>
            <a:r>
              <a:rPr lang="en-GB" sz="1800"/>
              <a:t>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918" name="Google Shape;918;p74"/>
          <p:cNvGrpSpPr/>
          <p:nvPr/>
        </p:nvGrpSpPr>
        <p:grpSpPr>
          <a:xfrm>
            <a:off x="374765" y="2091425"/>
            <a:ext cx="2164900" cy="562800"/>
            <a:chOff x="374765" y="2091425"/>
            <a:chExt cx="2164900" cy="562800"/>
          </a:xfrm>
        </p:grpSpPr>
        <p:sp>
          <p:nvSpPr>
            <p:cNvPr id="919" name="Google Shape;919;p74"/>
            <p:cNvSpPr/>
            <p:nvPr/>
          </p:nvSpPr>
          <p:spPr>
            <a:xfrm>
              <a:off x="374765" y="237282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20" name="Google Shape;920;p74"/>
            <p:cNvSpPr/>
            <p:nvPr/>
          </p:nvSpPr>
          <p:spPr>
            <a:xfrm>
              <a:off x="774290" y="237282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21" name="Google Shape;921;p74"/>
            <p:cNvSpPr/>
            <p:nvPr/>
          </p:nvSpPr>
          <p:spPr>
            <a:xfrm>
              <a:off x="501940" y="209142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22" name="Google Shape;922;p74"/>
            <p:cNvSpPr/>
            <p:nvPr/>
          </p:nvSpPr>
          <p:spPr>
            <a:xfrm>
              <a:off x="2106265" y="237282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23" name="Google Shape;923;p74"/>
            <p:cNvSpPr/>
            <p:nvPr/>
          </p:nvSpPr>
          <p:spPr>
            <a:xfrm>
              <a:off x="2177565" y="209142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924" name="Google Shape;924;p74"/>
          <p:cNvSpPr txBox="1"/>
          <p:nvPr>
            <p:ph idx="1" type="body"/>
          </p:nvPr>
        </p:nvSpPr>
        <p:spPr>
          <a:xfrm>
            <a:off x="3369600" y="2981050"/>
            <a:ext cx="54888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Let’s try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5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75"/>
          <p:cNvSpPr txBox="1"/>
          <p:nvPr>
            <p:ph idx="1" type="body"/>
          </p:nvPr>
        </p:nvSpPr>
        <p:spPr>
          <a:xfrm>
            <a:off x="324000" y="759300"/>
            <a:ext cx="8237700" cy="7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use the same method to test </a:t>
            </a:r>
            <a:r>
              <a:rPr b="1" lang="en-GB" sz="1800"/>
              <a:t>solutions</a:t>
            </a:r>
            <a:r>
              <a:rPr lang="en-GB" sz="1800"/>
              <a:t> when we have unknowns on both sides of our equation.</a:t>
            </a:r>
            <a:endParaRPr sz="1800"/>
          </a:p>
        </p:txBody>
      </p:sp>
      <p:sp>
        <p:nvSpPr>
          <p:cNvPr id="930" name="Google Shape;930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Testing solutions to equations</a:t>
            </a:r>
            <a:endParaRPr/>
          </a:p>
        </p:txBody>
      </p:sp>
      <p:grpSp>
        <p:nvGrpSpPr>
          <p:cNvPr id="931" name="Google Shape;931;p75"/>
          <p:cNvGrpSpPr/>
          <p:nvPr/>
        </p:nvGrpSpPr>
        <p:grpSpPr>
          <a:xfrm>
            <a:off x="323995" y="1772398"/>
            <a:ext cx="2747514" cy="1388097"/>
            <a:chOff x="3679000" y="1380975"/>
            <a:chExt cx="4343896" cy="2543700"/>
          </a:xfrm>
        </p:grpSpPr>
        <p:sp>
          <p:nvSpPr>
            <p:cNvPr id="932" name="Google Shape;932;p75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33" name="Google Shape;933;p75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34" name="Google Shape;934;p75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35" name="Google Shape;935;p75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36" name="Google Shape;936;p75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37" name="Google Shape;937;p75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38" name="Google Shape;938;p75"/>
          <p:cNvSpPr/>
          <p:nvPr/>
        </p:nvSpPr>
        <p:spPr>
          <a:xfrm>
            <a:off x="374765" y="2372825"/>
            <a:ext cx="362100" cy="2814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39" name="Google Shape;939;p75"/>
          <p:cNvSpPr/>
          <p:nvPr/>
        </p:nvSpPr>
        <p:spPr>
          <a:xfrm>
            <a:off x="774290" y="2372825"/>
            <a:ext cx="362100" cy="2814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40" name="Google Shape;940;p75"/>
          <p:cNvSpPr/>
          <p:nvPr/>
        </p:nvSpPr>
        <p:spPr>
          <a:xfrm>
            <a:off x="501940" y="2091425"/>
            <a:ext cx="362100" cy="2814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41" name="Google Shape;941;p75"/>
          <p:cNvSpPr/>
          <p:nvPr/>
        </p:nvSpPr>
        <p:spPr>
          <a:xfrm>
            <a:off x="2106265" y="2372825"/>
            <a:ext cx="362100" cy="2814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42" name="Google Shape;942;p75"/>
          <p:cNvSpPr/>
          <p:nvPr/>
        </p:nvSpPr>
        <p:spPr>
          <a:xfrm>
            <a:off x="2177565" y="2091425"/>
            <a:ext cx="362100" cy="2814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943" name="Google Shape;943;p75"/>
          <p:cNvGrpSpPr/>
          <p:nvPr/>
        </p:nvGrpSpPr>
        <p:grpSpPr>
          <a:xfrm>
            <a:off x="1136395" y="2319466"/>
            <a:ext cx="308762" cy="341802"/>
            <a:chOff x="4396891" y="2255566"/>
            <a:chExt cx="368100" cy="475584"/>
          </a:xfrm>
        </p:grpSpPr>
        <p:grpSp>
          <p:nvGrpSpPr>
            <p:cNvPr id="944" name="Google Shape;944;p75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945" name="Google Shape;945;p75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6" name="Google Shape;946;p75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47" name="Google Shape;947;p75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75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949" name="Google Shape;949;p75"/>
          <p:cNvGrpSpPr/>
          <p:nvPr/>
        </p:nvGrpSpPr>
        <p:grpSpPr>
          <a:xfrm>
            <a:off x="2578550" y="2206717"/>
            <a:ext cx="431229" cy="454563"/>
            <a:chOff x="4396891" y="2255566"/>
            <a:chExt cx="368100" cy="475584"/>
          </a:xfrm>
        </p:grpSpPr>
        <p:grpSp>
          <p:nvGrpSpPr>
            <p:cNvPr id="950" name="Google Shape;950;p75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951" name="Google Shape;951;p75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2" name="Google Shape;952;p75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53" name="Google Shape;953;p75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75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955" name="Google Shape;955;p75"/>
          <p:cNvSpPr txBox="1"/>
          <p:nvPr>
            <p:ph idx="1" type="body"/>
          </p:nvPr>
        </p:nvSpPr>
        <p:spPr>
          <a:xfrm>
            <a:off x="3369600" y="1544700"/>
            <a:ext cx="5450400" cy="115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balance represents the equation                 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 =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56" name="Google Shape;956;p75"/>
          <p:cNvSpPr txBox="1"/>
          <p:nvPr>
            <p:ph idx="1" type="body"/>
          </p:nvPr>
        </p:nvSpPr>
        <p:spPr>
          <a:xfrm>
            <a:off x="3366050" y="2253125"/>
            <a:ext cx="5488800" cy="73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Can you think of a value for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x</a:t>
            </a:r>
            <a:r>
              <a:rPr lang="en-GB" sz="1800"/>
              <a:t> that will keep this scale balanced?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57" name="Google Shape;957;p75"/>
          <p:cNvSpPr txBox="1"/>
          <p:nvPr>
            <p:ph idx="1" type="body"/>
          </p:nvPr>
        </p:nvSpPr>
        <p:spPr>
          <a:xfrm>
            <a:off x="324000" y="3290700"/>
            <a:ext cx="4248000" cy="13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If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x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LHS = 13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RHS = 13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So balanced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958" name="Google Shape;958;p75"/>
          <p:cNvGrpSpPr/>
          <p:nvPr/>
        </p:nvGrpSpPr>
        <p:grpSpPr>
          <a:xfrm>
            <a:off x="374765" y="2091425"/>
            <a:ext cx="2164900" cy="562800"/>
            <a:chOff x="374765" y="2091425"/>
            <a:chExt cx="2164900" cy="562800"/>
          </a:xfrm>
        </p:grpSpPr>
        <p:sp>
          <p:nvSpPr>
            <p:cNvPr id="959" name="Google Shape;959;p75"/>
            <p:cNvSpPr/>
            <p:nvPr/>
          </p:nvSpPr>
          <p:spPr>
            <a:xfrm>
              <a:off x="374765" y="237282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60" name="Google Shape;960;p75"/>
            <p:cNvSpPr/>
            <p:nvPr/>
          </p:nvSpPr>
          <p:spPr>
            <a:xfrm>
              <a:off x="774290" y="237282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61" name="Google Shape;961;p75"/>
            <p:cNvSpPr/>
            <p:nvPr/>
          </p:nvSpPr>
          <p:spPr>
            <a:xfrm>
              <a:off x="501940" y="209142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62" name="Google Shape;962;p75"/>
            <p:cNvSpPr/>
            <p:nvPr/>
          </p:nvSpPr>
          <p:spPr>
            <a:xfrm>
              <a:off x="2106265" y="237282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63" name="Google Shape;963;p75"/>
            <p:cNvSpPr/>
            <p:nvPr/>
          </p:nvSpPr>
          <p:spPr>
            <a:xfrm>
              <a:off x="2177565" y="209142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964" name="Google Shape;964;p75"/>
          <p:cNvSpPr txBox="1"/>
          <p:nvPr/>
        </p:nvSpPr>
        <p:spPr>
          <a:xfrm flipH="1">
            <a:off x="7580463" y="4406252"/>
            <a:ext cx="7737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5" name="Google Shape;965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8922" y="3699859"/>
            <a:ext cx="636775" cy="706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75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919525" y="3506400"/>
            <a:ext cx="2557650" cy="738299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75"/>
          <p:cNvSpPr/>
          <p:nvPr/>
        </p:nvSpPr>
        <p:spPr>
          <a:xfrm flipH="1">
            <a:off x="4959050" y="3631200"/>
            <a:ext cx="23028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solution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13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75"/>
          <p:cNvSpPr txBox="1"/>
          <p:nvPr>
            <p:ph idx="1" type="body"/>
          </p:nvPr>
        </p:nvSpPr>
        <p:spPr>
          <a:xfrm>
            <a:off x="3366050" y="4539000"/>
            <a:ext cx="41562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mistake has Sofia made</a:t>
            </a:r>
            <a:r>
              <a:rPr lang="en-GB" sz="1800"/>
              <a:t>?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69" name="Google Shape;969;p75"/>
          <p:cNvSpPr txBox="1"/>
          <p:nvPr>
            <p:ph idx="1" type="body"/>
          </p:nvPr>
        </p:nvSpPr>
        <p:spPr>
          <a:xfrm>
            <a:off x="3369600" y="2981050"/>
            <a:ext cx="54888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about</a:t>
            </a:r>
            <a:r>
              <a:rPr lang="en-GB" sz="1800"/>
              <a:t>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4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Testing solutions to equations</a:t>
            </a:r>
            <a:endParaRPr/>
          </a:p>
        </p:txBody>
      </p:sp>
      <p:grpSp>
        <p:nvGrpSpPr>
          <p:cNvPr id="975" name="Google Shape;975;p76"/>
          <p:cNvGrpSpPr/>
          <p:nvPr/>
        </p:nvGrpSpPr>
        <p:grpSpPr>
          <a:xfrm>
            <a:off x="323995" y="781798"/>
            <a:ext cx="2747514" cy="1388097"/>
            <a:chOff x="3679000" y="1380975"/>
            <a:chExt cx="4343896" cy="2543700"/>
          </a:xfrm>
        </p:grpSpPr>
        <p:sp>
          <p:nvSpPr>
            <p:cNvPr id="976" name="Google Shape;976;p76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77" name="Google Shape;977;p76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78" name="Google Shape;978;p76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79" name="Google Shape;979;p76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80" name="Google Shape;980;p76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81" name="Google Shape;981;p76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82" name="Google Shape;982;p76"/>
          <p:cNvSpPr/>
          <p:nvPr/>
        </p:nvSpPr>
        <p:spPr>
          <a:xfrm>
            <a:off x="374765" y="1382225"/>
            <a:ext cx="362100" cy="2814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83" name="Google Shape;983;p76"/>
          <p:cNvSpPr/>
          <p:nvPr/>
        </p:nvSpPr>
        <p:spPr>
          <a:xfrm>
            <a:off x="774290" y="1382225"/>
            <a:ext cx="362100" cy="2814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84" name="Google Shape;984;p76"/>
          <p:cNvSpPr/>
          <p:nvPr/>
        </p:nvSpPr>
        <p:spPr>
          <a:xfrm>
            <a:off x="501940" y="1100825"/>
            <a:ext cx="362100" cy="2814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85" name="Google Shape;985;p76"/>
          <p:cNvSpPr/>
          <p:nvPr/>
        </p:nvSpPr>
        <p:spPr>
          <a:xfrm>
            <a:off x="2106265" y="1382225"/>
            <a:ext cx="362100" cy="2814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86" name="Google Shape;986;p76"/>
          <p:cNvSpPr/>
          <p:nvPr/>
        </p:nvSpPr>
        <p:spPr>
          <a:xfrm>
            <a:off x="2177565" y="1100825"/>
            <a:ext cx="362100" cy="2814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987" name="Google Shape;987;p76"/>
          <p:cNvGrpSpPr/>
          <p:nvPr/>
        </p:nvGrpSpPr>
        <p:grpSpPr>
          <a:xfrm>
            <a:off x="1136395" y="1328866"/>
            <a:ext cx="308762" cy="341802"/>
            <a:chOff x="4396891" y="2255566"/>
            <a:chExt cx="368100" cy="475584"/>
          </a:xfrm>
        </p:grpSpPr>
        <p:grpSp>
          <p:nvGrpSpPr>
            <p:cNvPr id="988" name="Google Shape;988;p76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989" name="Google Shape;989;p76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76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91" name="Google Shape;991;p76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76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993" name="Google Shape;993;p76"/>
          <p:cNvGrpSpPr/>
          <p:nvPr/>
        </p:nvGrpSpPr>
        <p:grpSpPr>
          <a:xfrm>
            <a:off x="2578550" y="1216117"/>
            <a:ext cx="431229" cy="454563"/>
            <a:chOff x="4396891" y="2255566"/>
            <a:chExt cx="368100" cy="475584"/>
          </a:xfrm>
        </p:grpSpPr>
        <p:grpSp>
          <p:nvGrpSpPr>
            <p:cNvPr id="994" name="Google Shape;994;p76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995" name="Google Shape;995;p76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76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97" name="Google Shape;997;p76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76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999" name="Google Shape;999;p76"/>
          <p:cNvSpPr txBox="1"/>
          <p:nvPr>
            <p:ph idx="1" type="body"/>
          </p:nvPr>
        </p:nvSpPr>
        <p:spPr>
          <a:xfrm>
            <a:off x="324000" y="2223900"/>
            <a:ext cx="2031600" cy="138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If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x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LHS = 13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RHS = 13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So balanced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00" name="Google Shape;1000;p76"/>
          <p:cNvSpPr/>
          <p:nvPr/>
        </p:nvSpPr>
        <p:spPr>
          <a:xfrm>
            <a:off x="374765" y="1382225"/>
            <a:ext cx="362100" cy="2814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4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01" name="Google Shape;1001;p76"/>
          <p:cNvSpPr/>
          <p:nvPr/>
        </p:nvSpPr>
        <p:spPr>
          <a:xfrm>
            <a:off x="774290" y="1382225"/>
            <a:ext cx="362100" cy="2814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4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02" name="Google Shape;1002;p76"/>
          <p:cNvSpPr/>
          <p:nvPr/>
        </p:nvSpPr>
        <p:spPr>
          <a:xfrm>
            <a:off x="501940" y="1100825"/>
            <a:ext cx="362100" cy="2814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4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03" name="Google Shape;1003;p76"/>
          <p:cNvSpPr/>
          <p:nvPr/>
        </p:nvSpPr>
        <p:spPr>
          <a:xfrm>
            <a:off x="2106265" y="1382225"/>
            <a:ext cx="362100" cy="2814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4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04" name="Google Shape;1004;p76"/>
          <p:cNvSpPr/>
          <p:nvPr/>
        </p:nvSpPr>
        <p:spPr>
          <a:xfrm>
            <a:off x="2177565" y="1100825"/>
            <a:ext cx="362100" cy="2814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4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05" name="Google Shape;1005;p76"/>
          <p:cNvSpPr txBox="1"/>
          <p:nvPr/>
        </p:nvSpPr>
        <p:spPr>
          <a:xfrm flipH="1">
            <a:off x="7885250" y="1739252"/>
            <a:ext cx="7737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6" name="Google Shape;100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3722" y="1032859"/>
            <a:ext cx="636775" cy="706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7" name="Google Shape;1007;p76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5224325" y="839400"/>
            <a:ext cx="2557650" cy="738299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76"/>
          <p:cNvSpPr/>
          <p:nvPr/>
        </p:nvSpPr>
        <p:spPr>
          <a:xfrm flipH="1">
            <a:off x="5263850" y="964200"/>
            <a:ext cx="23028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solution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13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76"/>
          <p:cNvSpPr txBox="1"/>
          <p:nvPr>
            <p:ph idx="1" type="body"/>
          </p:nvPr>
        </p:nvSpPr>
        <p:spPr>
          <a:xfrm>
            <a:off x="3307816" y="2710200"/>
            <a:ext cx="41562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mistake has Sofia made?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10" name="Google Shape;1010;p76"/>
          <p:cNvSpPr txBox="1"/>
          <p:nvPr>
            <p:ph idx="1" type="body"/>
          </p:nvPr>
        </p:nvSpPr>
        <p:spPr>
          <a:xfrm>
            <a:off x="3147400" y="3285900"/>
            <a:ext cx="5803500" cy="7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solution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the value of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that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makes the equations balance, not the value of the expressions.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11" name="Google Shape;1011;p76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 rot="10800000">
            <a:off x="5263850" y="1636650"/>
            <a:ext cx="2557650" cy="738299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76"/>
          <p:cNvSpPr/>
          <p:nvPr/>
        </p:nvSpPr>
        <p:spPr>
          <a:xfrm flipH="1">
            <a:off x="5318825" y="1760999"/>
            <a:ext cx="23028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solution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4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Testing solutions to equations</a:t>
            </a:r>
            <a:endParaRPr/>
          </a:p>
        </p:txBody>
      </p:sp>
      <p:sp>
        <p:nvSpPr>
          <p:cNvPr id="1018" name="Google Shape;1018;p77"/>
          <p:cNvSpPr txBox="1"/>
          <p:nvPr>
            <p:ph idx="1" type="body"/>
          </p:nvPr>
        </p:nvSpPr>
        <p:spPr>
          <a:xfrm>
            <a:off x="319650" y="810000"/>
            <a:ext cx="85047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Some equations have no </a:t>
            </a:r>
            <a:r>
              <a:rPr b="1" lang="en-GB" sz="1800"/>
              <a:t>solution</a:t>
            </a:r>
            <a:r>
              <a:rPr lang="en-GB" sz="1800"/>
              <a:t> E.g.</a:t>
            </a: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19" name="Google Shape;1019;p77"/>
          <p:cNvSpPr txBox="1"/>
          <p:nvPr>
            <p:ph idx="1" type="body"/>
          </p:nvPr>
        </p:nvSpPr>
        <p:spPr>
          <a:xfrm>
            <a:off x="319650" y="1639875"/>
            <a:ext cx="8504700" cy="44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There are no values of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800"/>
              <a:t>that will make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/>
              <a:t>be the same as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20" name="Google Shape;1020;p77"/>
          <p:cNvSpPr txBox="1"/>
          <p:nvPr>
            <p:ph idx="1" type="body"/>
          </p:nvPr>
        </p:nvSpPr>
        <p:spPr>
          <a:xfrm>
            <a:off x="319650" y="2478150"/>
            <a:ext cx="85047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of these will have </a:t>
            </a:r>
            <a:r>
              <a:rPr lang="en-GB" sz="1800">
                <a:solidFill>
                  <a:schemeClr val="accent4"/>
                </a:solidFill>
              </a:rPr>
              <a:t>no</a:t>
            </a:r>
            <a:r>
              <a:rPr lang="en-GB" sz="1800"/>
              <a:t> </a:t>
            </a:r>
            <a:r>
              <a:rPr b="1" lang="en-GB" sz="1800"/>
              <a:t>solution</a:t>
            </a:r>
            <a:r>
              <a:rPr lang="en-GB" sz="1800"/>
              <a:t>?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21" name="Google Shape;1021;p77"/>
          <p:cNvSpPr txBox="1"/>
          <p:nvPr>
            <p:ph idx="1" type="body"/>
          </p:nvPr>
        </p:nvSpPr>
        <p:spPr>
          <a:xfrm>
            <a:off x="324000" y="3071550"/>
            <a:ext cx="2386800" cy="170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6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 = 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8 =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8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1) = 3 + 2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22" name="Google Shape;1022;p77"/>
          <p:cNvSpPr/>
          <p:nvPr/>
        </p:nvSpPr>
        <p:spPr>
          <a:xfrm>
            <a:off x="319650" y="3071550"/>
            <a:ext cx="993300" cy="329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77"/>
          <p:cNvSpPr/>
          <p:nvPr/>
        </p:nvSpPr>
        <p:spPr>
          <a:xfrm>
            <a:off x="319650" y="3425033"/>
            <a:ext cx="1209600" cy="329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77"/>
          <p:cNvSpPr/>
          <p:nvPr/>
        </p:nvSpPr>
        <p:spPr>
          <a:xfrm>
            <a:off x="324000" y="4146300"/>
            <a:ext cx="1850400" cy="329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77"/>
          <p:cNvSpPr txBox="1"/>
          <p:nvPr>
            <p:ph idx="1" type="body"/>
          </p:nvPr>
        </p:nvSpPr>
        <p:spPr>
          <a:xfrm>
            <a:off x="2887200" y="3682925"/>
            <a:ext cx="56712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equation will balance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0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26" name="Google Shape;1026;p77"/>
          <p:cNvSpPr txBox="1"/>
          <p:nvPr>
            <p:ph idx="1" type="body"/>
          </p:nvPr>
        </p:nvSpPr>
        <p:spPr>
          <a:xfrm>
            <a:off x="2887200" y="4183650"/>
            <a:ext cx="56712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is the same as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 =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Testing solutions to equations</a:t>
            </a:r>
            <a:endParaRPr/>
          </a:p>
        </p:txBody>
      </p:sp>
      <p:sp>
        <p:nvSpPr>
          <p:cNvPr id="1032" name="Google Shape;1032;p78"/>
          <p:cNvSpPr txBox="1"/>
          <p:nvPr>
            <p:ph idx="1" type="body"/>
          </p:nvPr>
        </p:nvSpPr>
        <p:spPr>
          <a:xfrm>
            <a:off x="319650" y="886200"/>
            <a:ext cx="85047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Can you find a </a:t>
            </a:r>
            <a:r>
              <a:rPr b="1" lang="en-GB" sz="1800"/>
              <a:t>solution</a:t>
            </a:r>
            <a:r>
              <a:rPr lang="en-GB" sz="1800"/>
              <a:t> for </a:t>
            </a: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− 2)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− 6 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1033" name="Google Shape;1033;p78"/>
          <p:cNvSpPr txBox="1"/>
          <p:nvPr>
            <p:ph idx="1" type="body"/>
          </p:nvPr>
        </p:nvSpPr>
        <p:spPr>
          <a:xfrm>
            <a:off x="319650" y="1434550"/>
            <a:ext cx="8504700" cy="42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Any value of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will balance the left and right sides of this equation.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4" name="Google Shape;1034;p78"/>
          <p:cNvSpPr txBox="1"/>
          <p:nvPr>
            <p:ph idx="1" type="body"/>
          </p:nvPr>
        </p:nvSpPr>
        <p:spPr>
          <a:xfrm>
            <a:off x="319650" y="2019450"/>
            <a:ext cx="8222100" cy="66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is </a:t>
            </a:r>
            <a:r>
              <a:rPr lang="en-GB" sz="1800"/>
              <a:t>because</a:t>
            </a:r>
            <a:r>
              <a:rPr lang="en-GB" sz="1800"/>
              <a:t> the expressions are equivalent so are equal for any value of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35" name="Google Shape;1035;p78"/>
          <p:cNvSpPr txBox="1"/>
          <p:nvPr>
            <p:ph idx="1" type="body"/>
          </p:nvPr>
        </p:nvSpPr>
        <p:spPr>
          <a:xfrm>
            <a:off x="319650" y="2959600"/>
            <a:ext cx="8222100" cy="10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When an equation is true for all values of the variable, it is called an </a:t>
            </a:r>
            <a:r>
              <a:rPr lang="en-GB" sz="1800">
                <a:solidFill>
                  <a:schemeClr val="accent4"/>
                </a:solidFill>
              </a:rPr>
              <a:t>identity</a:t>
            </a:r>
            <a:r>
              <a:rPr lang="en-GB" sz="1800"/>
              <a:t>.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− 2) = 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− 6 </a:t>
            </a:r>
            <a:r>
              <a:rPr lang="en-GB" sz="1800"/>
              <a:t>is actually an </a:t>
            </a:r>
            <a:r>
              <a:rPr lang="en-GB" sz="1800">
                <a:solidFill>
                  <a:schemeClr val="accent4"/>
                </a:solidFill>
              </a:rPr>
              <a:t>identity</a:t>
            </a:r>
            <a:r>
              <a:rPr lang="en-GB" sz="1800">
                <a:solidFill>
                  <a:srgbClr val="222222"/>
                </a:solidFill>
              </a:rPr>
              <a:t> </a:t>
            </a:r>
            <a:r>
              <a:rPr lang="en-GB" sz="1800"/>
              <a:t>so should be written with the identity symbol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− 2)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≡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− 6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36" name="Google Shape;1036;p78"/>
          <p:cNvSpPr txBox="1"/>
          <p:nvPr>
            <p:ph idx="1" type="body"/>
          </p:nvPr>
        </p:nvSpPr>
        <p:spPr>
          <a:xfrm>
            <a:off x="319650" y="4200950"/>
            <a:ext cx="82221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There are </a:t>
            </a:r>
            <a:r>
              <a:rPr lang="en-GB" sz="1800"/>
              <a:t>infinite</a:t>
            </a:r>
            <a:r>
              <a:rPr lang="en-GB" sz="1800"/>
              <a:t> </a:t>
            </a:r>
            <a:r>
              <a:rPr b="1" lang="en-GB" sz="1800"/>
              <a:t>solutions</a:t>
            </a:r>
            <a:r>
              <a:rPr lang="en-GB" sz="1800"/>
              <a:t> to an identity as it is always balanced for any value of the variable.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Testing solutions to equations</a:t>
            </a:r>
            <a:endParaRPr/>
          </a:p>
        </p:txBody>
      </p:sp>
      <p:sp>
        <p:nvSpPr>
          <p:cNvPr id="1042" name="Google Shape;1042;p79"/>
          <p:cNvSpPr txBox="1"/>
          <p:nvPr>
            <p:ph idx="1" type="body"/>
          </p:nvPr>
        </p:nvSpPr>
        <p:spPr>
          <a:xfrm>
            <a:off x="324000" y="759300"/>
            <a:ext cx="8237700" cy="4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b="1" lang="en-GB" sz="2000"/>
              <a:t>solution </a:t>
            </a:r>
            <a:r>
              <a:rPr lang="en-GB" sz="2000"/>
              <a:t>to this equation is a positive integer less than 6.</a:t>
            </a:r>
            <a:endParaRPr sz="2000"/>
          </a:p>
        </p:txBody>
      </p:sp>
      <p:sp>
        <p:nvSpPr>
          <p:cNvPr id="1043" name="Google Shape;1043;p79"/>
          <p:cNvSpPr txBox="1"/>
          <p:nvPr>
            <p:ph idx="1" type="body"/>
          </p:nvPr>
        </p:nvSpPr>
        <p:spPr>
          <a:xfrm>
            <a:off x="324000" y="2115800"/>
            <a:ext cx="8237700" cy="4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We can use substitution to find the </a:t>
            </a:r>
            <a:r>
              <a:rPr b="1" lang="en-GB" sz="2000"/>
              <a:t>solution</a:t>
            </a:r>
            <a:r>
              <a:rPr lang="en-GB" sz="2000"/>
              <a:t>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A table can be used to show our working out.</a:t>
            </a:r>
            <a:endParaRPr sz="2000"/>
          </a:p>
        </p:txBody>
      </p:sp>
      <p:graphicFrame>
        <p:nvGraphicFramePr>
          <p:cNvPr id="1044" name="Google Shape;1044;p79"/>
          <p:cNvGraphicFramePr/>
          <p:nvPr/>
        </p:nvGraphicFramePr>
        <p:xfrm>
          <a:off x="2052375" y="301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863925"/>
                <a:gridCol w="763275"/>
                <a:gridCol w="763275"/>
                <a:gridCol w="763275"/>
                <a:gridCol w="763275"/>
                <a:gridCol w="763275"/>
              </a:tblGrid>
              <a:tr h="24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1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2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3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4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5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−1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−10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−10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−9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45" name="Google Shape;1045;p79"/>
          <p:cNvSpPr txBox="1"/>
          <p:nvPr>
            <p:ph idx="1" type="body"/>
          </p:nvPr>
        </p:nvSpPr>
        <p:spPr>
          <a:xfrm>
            <a:off x="324000" y="1618250"/>
            <a:ext cx="82377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Work out the</a:t>
            </a:r>
            <a:r>
              <a:rPr lang="en-GB" sz="2000"/>
              <a:t> </a:t>
            </a:r>
            <a:r>
              <a:rPr b="1" lang="en-GB" sz="2000"/>
              <a:t>solution</a:t>
            </a:r>
            <a:r>
              <a:rPr lang="en-GB" sz="2000"/>
              <a:t> to the equation</a:t>
            </a:r>
            <a:r>
              <a:rPr lang="en-GB" sz="2000"/>
              <a:t>. </a:t>
            </a:r>
            <a:endParaRPr sz="2000"/>
          </a:p>
        </p:txBody>
      </p:sp>
      <p:sp>
        <p:nvSpPr>
          <p:cNvPr id="1046" name="Google Shape;1046;p79"/>
          <p:cNvSpPr txBox="1"/>
          <p:nvPr>
            <p:ph idx="1" type="body"/>
          </p:nvPr>
        </p:nvSpPr>
        <p:spPr>
          <a:xfrm>
            <a:off x="324000" y="4097775"/>
            <a:ext cx="8237700" cy="3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solution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4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because both expressions have the same value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4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47" name="Google Shape;1047;p79"/>
          <p:cNvSpPr txBox="1"/>
          <p:nvPr>
            <p:ph idx="1" type="body"/>
          </p:nvPr>
        </p:nvSpPr>
        <p:spPr>
          <a:xfrm>
            <a:off x="3368400" y="1150075"/>
            <a:ext cx="1796400" cy="4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5 − 3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− 11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" name="Google Shape;1048;p79"/>
          <p:cNvSpPr txBox="1"/>
          <p:nvPr>
            <p:ph idx="1" type="body"/>
          </p:nvPr>
        </p:nvSpPr>
        <p:spPr>
          <a:xfrm>
            <a:off x="2124000" y="3666100"/>
            <a:ext cx="763200" cy="4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− 11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9" name="Google Shape;1049;p79"/>
          <p:cNvSpPr txBox="1"/>
          <p:nvPr>
            <p:ph idx="1" type="body"/>
          </p:nvPr>
        </p:nvSpPr>
        <p:spPr>
          <a:xfrm>
            <a:off x="2124000" y="3322200"/>
            <a:ext cx="763200" cy="29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5 − 3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50" name="Google Shape;1050;p79"/>
          <p:cNvGraphicFramePr/>
          <p:nvPr/>
        </p:nvGraphicFramePr>
        <p:xfrm>
          <a:off x="2052375" y="301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863925"/>
                <a:gridCol w="763275"/>
                <a:gridCol w="763275"/>
                <a:gridCol w="763275"/>
                <a:gridCol w="763275"/>
                <a:gridCol w="763275"/>
              </a:tblGrid>
              <a:tr h="24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1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−10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51" name="Google Shape;1051;p79"/>
          <p:cNvGraphicFramePr/>
          <p:nvPr/>
        </p:nvGraphicFramePr>
        <p:xfrm>
          <a:off x="2052375" y="301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863925"/>
                <a:gridCol w="763275"/>
                <a:gridCol w="763275"/>
                <a:gridCol w="763275"/>
                <a:gridCol w="763275"/>
                <a:gridCol w="763275"/>
              </a:tblGrid>
              <a:tr h="24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1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2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−1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−10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−9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52" name="Google Shape;1052;p79"/>
          <p:cNvGraphicFramePr/>
          <p:nvPr/>
        </p:nvGraphicFramePr>
        <p:xfrm>
          <a:off x="2052375" y="3017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863925"/>
                <a:gridCol w="763275"/>
                <a:gridCol w="763275"/>
                <a:gridCol w="763275"/>
                <a:gridCol w="763275"/>
                <a:gridCol w="763275"/>
              </a:tblGrid>
              <a:tr h="24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1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2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3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−1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−10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−9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53" name="Google Shape;1053;p79"/>
          <p:cNvGraphicFramePr/>
          <p:nvPr/>
        </p:nvGraphicFramePr>
        <p:xfrm>
          <a:off x="2052375" y="3020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863925"/>
                <a:gridCol w="763275"/>
                <a:gridCol w="763275"/>
                <a:gridCol w="763275"/>
                <a:gridCol w="763275"/>
                <a:gridCol w="763275"/>
              </a:tblGrid>
              <a:tr h="29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54" name="Google Shape;1054;p79"/>
          <p:cNvGraphicFramePr/>
          <p:nvPr/>
        </p:nvGraphicFramePr>
        <p:xfrm>
          <a:off x="2052375" y="301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863925"/>
                <a:gridCol w="763275"/>
                <a:gridCol w="763275"/>
                <a:gridCol w="763275"/>
                <a:gridCol w="763275"/>
                <a:gridCol w="763275"/>
              </a:tblGrid>
              <a:tr h="24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1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2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3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4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−1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−10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−9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55" name="Google Shape;1055;p79"/>
          <p:cNvSpPr/>
          <p:nvPr/>
        </p:nvSpPr>
        <p:spPr>
          <a:xfrm>
            <a:off x="5227900" y="3341050"/>
            <a:ext cx="720900" cy="645600"/>
          </a:xfrm>
          <a:prstGeom prst="roundRect">
            <a:avLst>
              <a:gd fmla="val 10581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79"/>
          <p:cNvSpPr/>
          <p:nvPr/>
        </p:nvSpPr>
        <p:spPr>
          <a:xfrm>
            <a:off x="5227925" y="3041100"/>
            <a:ext cx="720900" cy="256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80"/>
          <p:cNvSpPr txBox="1"/>
          <p:nvPr>
            <p:ph idx="1" type="subTitle"/>
          </p:nvPr>
        </p:nvSpPr>
        <p:spPr>
          <a:xfrm>
            <a:off x="1020062" y="2523581"/>
            <a:ext cx="2372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0 </a:t>
            </a:r>
            <a:endParaRPr/>
          </a:p>
        </p:txBody>
      </p:sp>
      <p:sp>
        <p:nvSpPr>
          <p:cNvPr id="1062" name="Google Shape;1062;p8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Testing solutions to equations</a:t>
            </a:r>
            <a:endParaRPr/>
          </a:p>
        </p:txBody>
      </p:sp>
      <p:sp>
        <p:nvSpPr>
          <p:cNvPr id="1063" name="Google Shape;1063;p8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Which of these is the </a:t>
            </a:r>
            <a:r>
              <a:rPr b="1" lang="en-GB" sz="2000"/>
              <a:t>solution</a:t>
            </a:r>
            <a:r>
              <a:rPr lang="en-GB" sz="2000"/>
              <a:t> to</a:t>
            </a:r>
            <a:r>
              <a:rPr lang="en-GB"/>
              <a:t>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3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5</a:t>
            </a:r>
            <a:r>
              <a:rPr lang="en-GB"/>
              <a:t> </a:t>
            </a:r>
            <a:endParaRPr/>
          </a:p>
        </p:txBody>
      </p:sp>
      <p:sp>
        <p:nvSpPr>
          <p:cNvPr id="1064" name="Google Shape;1064;p80"/>
          <p:cNvSpPr txBox="1"/>
          <p:nvPr>
            <p:ph idx="3" type="subTitle"/>
          </p:nvPr>
        </p:nvSpPr>
        <p:spPr>
          <a:xfrm>
            <a:off x="1013425" y="1722825"/>
            <a:ext cx="2372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5</a:t>
            </a:r>
            <a:endParaRPr/>
          </a:p>
        </p:txBody>
      </p:sp>
      <p:sp>
        <p:nvSpPr>
          <p:cNvPr id="1065" name="Google Shape;1065;p80"/>
          <p:cNvSpPr txBox="1"/>
          <p:nvPr>
            <p:ph idx="4" type="subTitle"/>
          </p:nvPr>
        </p:nvSpPr>
        <p:spPr>
          <a:xfrm>
            <a:off x="1020062" y="3309774"/>
            <a:ext cx="2359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−5</a:t>
            </a:r>
            <a:endParaRPr/>
          </a:p>
        </p:txBody>
      </p:sp>
      <p:sp>
        <p:nvSpPr>
          <p:cNvPr id="1066" name="Google Shape;1066;p80"/>
          <p:cNvSpPr txBox="1"/>
          <p:nvPr>
            <p:ph idx="5" type="subTitle"/>
          </p:nvPr>
        </p:nvSpPr>
        <p:spPr>
          <a:xfrm>
            <a:off x="1034425" y="4113825"/>
            <a:ext cx="23790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−7</a:t>
            </a:r>
            <a:endParaRPr/>
          </a:p>
        </p:txBody>
      </p:sp>
      <p:pic>
        <p:nvPicPr>
          <p:cNvPr id="1067" name="Google Shape;106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3533" y="3271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81"/>
          <p:cNvSpPr txBox="1"/>
          <p:nvPr>
            <p:ph idx="1" type="body"/>
          </p:nvPr>
        </p:nvSpPr>
        <p:spPr>
          <a:xfrm>
            <a:off x="324000" y="646575"/>
            <a:ext cx="8496000" cy="55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Fill in the table for both </a:t>
            </a:r>
            <a:r>
              <a:rPr lang="en-GB" sz="1800"/>
              <a:t>expressions</a:t>
            </a:r>
            <a:r>
              <a:rPr lang="en-GB" sz="1800"/>
              <a:t>. Use your table to find the </a:t>
            </a:r>
            <a:r>
              <a:rPr b="1" lang="en-GB" sz="1800"/>
              <a:t>solution</a:t>
            </a:r>
            <a:r>
              <a:rPr lang="en-GB" sz="1800"/>
              <a:t> to the equation.</a:t>
            </a:r>
            <a:endParaRPr sz="1800"/>
          </a:p>
        </p:txBody>
      </p:sp>
      <p:sp>
        <p:nvSpPr>
          <p:cNvPr id="1073" name="Google Shape;1073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Testing solutions to equations</a:t>
            </a:r>
            <a:endParaRPr/>
          </a:p>
        </p:txBody>
      </p:sp>
      <p:graphicFrame>
        <p:nvGraphicFramePr>
          <p:cNvPr id="1074" name="Google Shape;1074;p81"/>
          <p:cNvGraphicFramePr/>
          <p:nvPr/>
        </p:nvGraphicFramePr>
        <p:xfrm>
          <a:off x="2887200" y="135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763275"/>
                <a:gridCol w="763275"/>
                <a:gridCol w="763275"/>
                <a:gridCol w="763275"/>
                <a:gridCol w="763275"/>
                <a:gridCol w="763275"/>
              </a:tblGrid>
              <a:tr h="24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1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2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3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4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5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+ 3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75" name="Google Shape;1075;p81"/>
          <p:cNvGraphicFramePr/>
          <p:nvPr/>
        </p:nvGraphicFramePr>
        <p:xfrm>
          <a:off x="7731225" y="135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1056325"/>
              </a:tblGrid>
              <a:tr h="29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solution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76" name="Google Shape;1076;p81"/>
          <p:cNvGraphicFramePr/>
          <p:nvPr/>
        </p:nvGraphicFramePr>
        <p:xfrm>
          <a:off x="324000" y="135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763275"/>
              </a:tblGrid>
              <a:tr h="11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77" name="Google Shape;1077;p81"/>
          <p:cNvGraphicFramePr/>
          <p:nvPr/>
        </p:nvGraphicFramePr>
        <p:xfrm>
          <a:off x="863425" y="135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1759400"/>
              </a:tblGrid>
              <a:tr h="29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 = 4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78" name="Google Shape;1078;p81"/>
          <p:cNvGraphicFramePr/>
          <p:nvPr/>
        </p:nvGraphicFramePr>
        <p:xfrm>
          <a:off x="2887200" y="249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934150"/>
                <a:gridCol w="695650"/>
                <a:gridCol w="748400"/>
                <a:gridCol w="760200"/>
                <a:gridCol w="738550"/>
                <a:gridCol w="756750"/>
              </a:tblGrid>
              <a:tr h="24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2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0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79" name="Google Shape;1079;p81"/>
          <p:cNvGraphicFramePr/>
          <p:nvPr/>
        </p:nvGraphicFramePr>
        <p:xfrm>
          <a:off x="7731225" y="249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1056325"/>
              </a:tblGrid>
              <a:tr h="29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80" name="Google Shape;1080;p81"/>
          <p:cNvGraphicFramePr/>
          <p:nvPr/>
        </p:nvGraphicFramePr>
        <p:xfrm>
          <a:off x="863425" y="249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1759400"/>
              </a:tblGrid>
              <a:tr h="29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81" name="Google Shape;1081;p81"/>
          <p:cNvGraphicFramePr/>
          <p:nvPr/>
        </p:nvGraphicFramePr>
        <p:xfrm>
          <a:off x="2887200" y="352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934150"/>
                <a:gridCol w="695650"/>
                <a:gridCol w="748400"/>
                <a:gridCol w="760200"/>
                <a:gridCol w="738550"/>
                <a:gridCol w="756750"/>
              </a:tblGrid>
              <a:tr h="64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1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2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3</a:t>
                      </a:r>
                      <a:endParaRPr sz="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+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82" name="Google Shape;1082;p81"/>
          <p:cNvGraphicFramePr/>
          <p:nvPr/>
        </p:nvGraphicFramePr>
        <p:xfrm>
          <a:off x="7731225" y="3638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1056325"/>
              </a:tblGrid>
              <a:tr h="29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83" name="Google Shape;1083;p81"/>
          <p:cNvGraphicFramePr/>
          <p:nvPr/>
        </p:nvGraphicFramePr>
        <p:xfrm>
          <a:off x="863425" y="3638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1925450"/>
              </a:tblGrid>
              <a:tr h="29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20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+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3}{2}&quot;&gt;&lt;mfrac&gt;&lt;mn&gt;3&lt;/mn&gt;&lt;mn&gt;2&lt;/mn&gt;&lt;/mfrac&gt;&lt;/math&gt;" id="1084" name="Google Shape;1084;p81" title="three halv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1700" y="3589163"/>
            <a:ext cx="169200" cy="532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2}&quot;&gt;&lt;mfrac&gt;&lt;mn&gt;5&lt;/mn&gt;&lt;mn&gt;2&lt;/mn&gt;&lt;/mfrac&gt;&lt;/math&gt;" id="1085" name="Google Shape;1085;p81" title="five halv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2383" y="3582820"/>
            <a:ext cx="169200" cy="545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82"/>
          <p:cNvSpPr txBox="1"/>
          <p:nvPr>
            <p:ph idx="1" type="body"/>
          </p:nvPr>
        </p:nvSpPr>
        <p:spPr>
          <a:xfrm>
            <a:off x="324000" y="759300"/>
            <a:ext cx="8237700" cy="8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Sort these equations into the correct column in the table.</a:t>
            </a:r>
            <a:endParaRPr sz="2000"/>
          </a:p>
        </p:txBody>
      </p:sp>
      <p:sp>
        <p:nvSpPr>
          <p:cNvPr id="1091" name="Google Shape;1091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Testing solutions to equations</a:t>
            </a:r>
            <a:endParaRPr/>
          </a:p>
        </p:txBody>
      </p:sp>
      <p:graphicFrame>
        <p:nvGraphicFramePr>
          <p:cNvPr id="1092" name="Google Shape;1092;p82"/>
          <p:cNvGraphicFramePr/>
          <p:nvPr/>
        </p:nvGraphicFramePr>
        <p:xfrm>
          <a:off x="324000" y="148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2832000"/>
                <a:gridCol w="2832000"/>
                <a:gridCol w="2832000"/>
              </a:tblGrid>
              <a:tr h="42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as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2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as a </a:t>
                      </a: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has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as a </a:t>
                      </a:r>
                      <a:r>
                        <a:rPr b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b="1" i="1"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as no </a:t>
                      </a:r>
                      <a:r>
                        <a:rPr b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2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93" name="Google Shape;1093;p82"/>
          <p:cNvSpPr txBox="1"/>
          <p:nvPr>
            <p:ph idx="4294967295" type="body"/>
          </p:nvPr>
        </p:nvSpPr>
        <p:spPr>
          <a:xfrm>
            <a:off x="324000" y="3780000"/>
            <a:ext cx="1004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10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4" name="Google Shape;1094;p82"/>
          <p:cNvSpPr txBox="1"/>
          <p:nvPr>
            <p:ph idx="4294967295" type="body"/>
          </p:nvPr>
        </p:nvSpPr>
        <p:spPr>
          <a:xfrm>
            <a:off x="645075" y="4364325"/>
            <a:ext cx="1821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/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0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5" name="Google Shape;1095;p82"/>
          <p:cNvSpPr txBox="1"/>
          <p:nvPr>
            <p:ph idx="4294967295" type="body"/>
          </p:nvPr>
        </p:nvSpPr>
        <p:spPr>
          <a:xfrm>
            <a:off x="1739725" y="3780000"/>
            <a:ext cx="1821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6" name="Google Shape;1096;p82"/>
          <p:cNvSpPr txBox="1"/>
          <p:nvPr>
            <p:ph idx="4294967295" type="body"/>
          </p:nvPr>
        </p:nvSpPr>
        <p:spPr>
          <a:xfrm>
            <a:off x="3252900" y="3795713"/>
            <a:ext cx="1821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1)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15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7" name="Google Shape;1097;p82"/>
          <p:cNvSpPr txBox="1"/>
          <p:nvPr>
            <p:ph idx="4294967295" type="body"/>
          </p:nvPr>
        </p:nvSpPr>
        <p:spPr>
          <a:xfrm>
            <a:off x="2203800" y="4364313"/>
            <a:ext cx="1821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8" name="Google Shape;1098;p82"/>
          <p:cNvSpPr txBox="1"/>
          <p:nvPr>
            <p:ph idx="4294967295" type="body"/>
          </p:nvPr>
        </p:nvSpPr>
        <p:spPr>
          <a:xfrm>
            <a:off x="4252475" y="4395763"/>
            <a:ext cx="1821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/>
              <a:t>−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6 </a:t>
            </a:r>
            <a:r>
              <a:rPr lang="en-GB" sz="2000"/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9" name="Google Shape;1099;p82"/>
          <p:cNvSpPr txBox="1"/>
          <p:nvPr>
            <p:ph idx="4294967295" type="body"/>
          </p:nvPr>
        </p:nvSpPr>
        <p:spPr>
          <a:xfrm>
            <a:off x="5270350" y="3795713"/>
            <a:ext cx="1821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GB" sz="2000"/>
              <a:t>−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7 </a:t>
            </a:r>
            <a:r>
              <a:rPr lang="en-GB" sz="2000"/>
              <a:t>−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00" name="Google Shape;1100;p82"/>
          <p:cNvSpPr txBox="1"/>
          <p:nvPr>
            <p:ph idx="4294967295" type="body"/>
          </p:nvPr>
        </p:nvSpPr>
        <p:spPr>
          <a:xfrm>
            <a:off x="6256800" y="4395763"/>
            <a:ext cx="1821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/>
              <a:t>−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 = 10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/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01" name="Google Shape;1101;p82"/>
          <p:cNvSpPr txBox="1"/>
          <p:nvPr>
            <p:ph idx="4294967295" type="body"/>
          </p:nvPr>
        </p:nvSpPr>
        <p:spPr>
          <a:xfrm>
            <a:off x="6939250" y="3795725"/>
            <a:ext cx="1880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5) = 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/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Fill in the table for both expressions. Use your table to find the </a:t>
            </a:r>
            <a:r>
              <a:rPr b="1" lang="en-GB" sz="1800"/>
              <a:t>solution</a:t>
            </a:r>
            <a:r>
              <a:rPr lang="en-GB" sz="1800"/>
              <a:t> to the equation.</a:t>
            </a:r>
            <a:endParaRPr sz="1800"/>
          </a:p>
        </p:txBody>
      </p:sp>
      <p:sp>
        <p:nvSpPr>
          <p:cNvPr id="1107" name="Google Shape;1107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Testing solutions to equations</a:t>
            </a:r>
            <a:endParaRPr/>
          </a:p>
        </p:txBody>
      </p:sp>
      <p:graphicFrame>
        <p:nvGraphicFramePr>
          <p:cNvPr id="1108" name="Google Shape;1108;p83"/>
          <p:cNvGraphicFramePr/>
          <p:nvPr/>
        </p:nvGraphicFramePr>
        <p:xfrm>
          <a:off x="2887200" y="135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763275"/>
                <a:gridCol w="763275"/>
                <a:gridCol w="763275"/>
                <a:gridCol w="763275"/>
                <a:gridCol w="763275"/>
                <a:gridCol w="763275"/>
              </a:tblGrid>
              <a:tr h="24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1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2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3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4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5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2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+ 3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13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4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 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15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09" name="Google Shape;1109;p83"/>
          <p:cNvGraphicFramePr/>
          <p:nvPr/>
        </p:nvGraphicFramePr>
        <p:xfrm>
          <a:off x="7731225" y="135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1056325"/>
              </a:tblGrid>
              <a:tr h="29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5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4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10" name="Google Shape;1110;p83"/>
          <p:cNvGraphicFramePr/>
          <p:nvPr/>
        </p:nvGraphicFramePr>
        <p:xfrm>
          <a:off x="324000" y="135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763275"/>
              </a:tblGrid>
              <a:tr h="11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11" name="Google Shape;1111;p83"/>
          <p:cNvGraphicFramePr/>
          <p:nvPr/>
        </p:nvGraphicFramePr>
        <p:xfrm>
          <a:off x="863425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1759400"/>
              </a:tblGrid>
              <a:tr h="29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 = 4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12" name="Google Shape;1112;p83"/>
          <p:cNvGraphicFramePr/>
          <p:nvPr/>
        </p:nvGraphicFramePr>
        <p:xfrm>
          <a:off x="2887200" y="249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934150"/>
                <a:gridCol w="695650"/>
                <a:gridCol w="748400"/>
                <a:gridCol w="760200"/>
                <a:gridCol w="738550"/>
                <a:gridCol w="756750"/>
              </a:tblGrid>
              <a:tr h="24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2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0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3(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4)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12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18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24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30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20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30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13" name="Google Shape;1113;p83"/>
          <p:cNvGraphicFramePr/>
          <p:nvPr/>
        </p:nvGraphicFramePr>
        <p:xfrm>
          <a:off x="7731225" y="249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1056325"/>
              </a:tblGrid>
              <a:tr h="29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5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14" name="Google Shape;1114;p83"/>
          <p:cNvGraphicFramePr/>
          <p:nvPr/>
        </p:nvGraphicFramePr>
        <p:xfrm>
          <a:off x="863425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1759400"/>
              </a:tblGrid>
              <a:tr h="29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4) = 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15" name="Google Shape;1115;p83"/>
          <p:cNvGraphicFramePr/>
          <p:nvPr/>
        </p:nvGraphicFramePr>
        <p:xfrm>
          <a:off x="7731225" y="3638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1056325"/>
              </a:tblGrid>
              <a:tr h="29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  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16" name="Google Shape;1116;p83"/>
          <p:cNvGraphicFramePr/>
          <p:nvPr/>
        </p:nvGraphicFramePr>
        <p:xfrm>
          <a:off x="2887200" y="352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934150"/>
                <a:gridCol w="695650"/>
                <a:gridCol w="748400"/>
                <a:gridCol w="760200"/>
                <a:gridCol w="738550"/>
                <a:gridCol w="756750"/>
              </a:tblGrid>
              <a:tr h="64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1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2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3</a:t>
                      </a:r>
                      <a:endParaRPr sz="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20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18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17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16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15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14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+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12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13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14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15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16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17" name="Google Shape;1117;p83"/>
          <p:cNvGraphicFramePr/>
          <p:nvPr/>
        </p:nvGraphicFramePr>
        <p:xfrm>
          <a:off x="863425" y="371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1925450"/>
              </a:tblGrid>
              <a:tr h="29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20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+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 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3}{2}&quot;&gt;&lt;mfrac&gt;&lt;mn&gt;3&lt;/mn&gt;&lt;mn&gt;2&lt;/mn&gt;&lt;/mfrac&gt;&lt;/math&gt;" id="1118" name="Google Shape;1118;p83" title="three halv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1700" y="3589163"/>
            <a:ext cx="169200" cy="532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2}&quot;&gt;&lt;mfrac&gt;&lt;mn&gt;5&lt;/mn&gt;&lt;mn&gt;2&lt;/mn&gt;&lt;/mfrac&gt;&lt;/math&gt;" id="1119" name="Google Shape;1119;p83" title="five halv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2383" y="3582820"/>
            <a:ext cx="169200" cy="5456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2}&quot;&gt;&lt;mfrac&gt;&lt;mn&gt;5&lt;/mn&gt;&lt;mn&gt;2&lt;/mn&gt;&lt;/mfrac&gt;&lt;/math&gt;" id="1120" name="Google Shape;1120;p83" title="five halv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4572" y="3976139"/>
            <a:ext cx="169200" cy="54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Sort these equations into the correct column in the table.</a:t>
            </a:r>
            <a:endParaRPr sz="2000"/>
          </a:p>
        </p:txBody>
      </p:sp>
      <p:sp>
        <p:nvSpPr>
          <p:cNvPr id="1126" name="Google Shape;1126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Testing solutions to equations</a:t>
            </a:r>
            <a:endParaRPr/>
          </a:p>
        </p:txBody>
      </p:sp>
      <p:graphicFrame>
        <p:nvGraphicFramePr>
          <p:cNvPr id="1127" name="Google Shape;1127;p84"/>
          <p:cNvGraphicFramePr/>
          <p:nvPr/>
        </p:nvGraphicFramePr>
        <p:xfrm>
          <a:off x="324000" y="148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2832000"/>
                <a:gridCol w="2832000"/>
                <a:gridCol w="2832000"/>
              </a:tblGrid>
              <a:tr h="42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has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2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as a </a:t>
                      </a: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has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as a </a:t>
                      </a:r>
                      <a:r>
                        <a:rPr b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b="1" i="1"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has no </a:t>
                      </a:r>
                      <a:r>
                        <a:rPr b="1"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2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28" name="Google Shape;1128;p84"/>
          <p:cNvSpPr txBox="1"/>
          <p:nvPr>
            <p:ph idx="4294967295" type="body"/>
          </p:nvPr>
        </p:nvSpPr>
        <p:spPr>
          <a:xfrm>
            <a:off x="393500" y="1991400"/>
            <a:ext cx="1004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10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29" name="Google Shape;1129;p84"/>
          <p:cNvSpPr txBox="1"/>
          <p:nvPr>
            <p:ph idx="4294967295" type="body"/>
          </p:nvPr>
        </p:nvSpPr>
        <p:spPr>
          <a:xfrm>
            <a:off x="393500" y="2814900"/>
            <a:ext cx="1821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0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30" name="Google Shape;1130;p84"/>
          <p:cNvSpPr txBox="1"/>
          <p:nvPr>
            <p:ph idx="4294967295" type="body"/>
          </p:nvPr>
        </p:nvSpPr>
        <p:spPr>
          <a:xfrm>
            <a:off x="3252900" y="1991400"/>
            <a:ext cx="1821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31" name="Google Shape;1131;p84"/>
          <p:cNvSpPr txBox="1"/>
          <p:nvPr>
            <p:ph idx="4294967295" type="body"/>
          </p:nvPr>
        </p:nvSpPr>
        <p:spPr>
          <a:xfrm>
            <a:off x="393500" y="2403138"/>
            <a:ext cx="1821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1)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15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32" name="Google Shape;1132;p84"/>
          <p:cNvSpPr txBox="1"/>
          <p:nvPr>
            <p:ph idx="4294967295" type="body"/>
          </p:nvPr>
        </p:nvSpPr>
        <p:spPr>
          <a:xfrm>
            <a:off x="6073775" y="1965338"/>
            <a:ext cx="1821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33" name="Google Shape;1133;p84"/>
          <p:cNvSpPr txBox="1"/>
          <p:nvPr>
            <p:ph idx="4294967295" type="body"/>
          </p:nvPr>
        </p:nvSpPr>
        <p:spPr>
          <a:xfrm>
            <a:off x="393500" y="3152088"/>
            <a:ext cx="1821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</a:rPr>
              <a:t>−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6 </a:t>
            </a:r>
            <a:r>
              <a:rPr lang="en-GB" sz="2000">
                <a:solidFill>
                  <a:srgbClr val="222222"/>
                </a:solidFill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34" name="Google Shape;1134;p84"/>
          <p:cNvSpPr txBox="1"/>
          <p:nvPr>
            <p:ph idx="4294967295" type="body"/>
          </p:nvPr>
        </p:nvSpPr>
        <p:spPr>
          <a:xfrm>
            <a:off x="6073775" y="2477688"/>
            <a:ext cx="1821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GB" sz="2000">
                <a:solidFill>
                  <a:srgbClr val="222222"/>
                </a:solidFill>
              </a:rPr>
              <a:t>−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7 </a:t>
            </a:r>
            <a:r>
              <a:rPr lang="en-GB" sz="2000">
                <a:solidFill>
                  <a:srgbClr val="222222"/>
                </a:solidFill>
              </a:rPr>
              <a:t>−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35" name="Google Shape;1135;p84"/>
          <p:cNvSpPr txBox="1"/>
          <p:nvPr>
            <p:ph idx="4294967295" type="body"/>
          </p:nvPr>
        </p:nvSpPr>
        <p:spPr>
          <a:xfrm>
            <a:off x="3252900" y="2403138"/>
            <a:ext cx="1821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</a:rPr>
              <a:t>−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 = 10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36" name="Google Shape;1136;p84"/>
          <p:cNvSpPr txBox="1"/>
          <p:nvPr>
            <p:ph idx="4294967295" type="body"/>
          </p:nvPr>
        </p:nvSpPr>
        <p:spPr>
          <a:xfrm>
            <a:off x="6073775" y="2959025"/>
            <a:ext cx="1965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3(2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5) = 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85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Testing solutions to equations</a:t>
            </a:r>
            <a:endParaRPr/>
          </a:p>
        </p:txBody>
      </p:sp>
      <p:sp>
        <p:nvSpPr>
          <p:cNvPr id="1142" name="Google Shape;1142;p85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solutions from graphs</a:t>
            </a:r>
            <a:endParaRPr/>
          </a:p>
        </p:txBody>
      </p:sp>
      <p:sp>
        <p:nvSpPr>
          <p:cNvPr id="1143" name="Google Shape;1143;p85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Solution to an equation</a:t>
            </a:r>
            <a:endParaRPr/>
          </a:p>
        </p:txBody>
      </p:sp>
      <p:pic>
        <p:nvPicPr>
          <p:cNvPr id="1144" name="Google Shape;1144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050" y="298966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solutions from graphs</a:t>
            </a:r>
            <a:endParaRPr/>
          </a:p>
        </p:txBody>
      </p:sp>
      <p:sp>
        <p:nvSpPr>
          <p:cNvPr id="1150" name="Google Shape;1150;p86"/>
          <p:cNvSpPr txBox="1"/>
          <p:nvPr>
            <p:ph idx="1" type="body"/>
          </p:nvPr>
        </p:nvSpPr>
        <p:spPr>
          <a:xfrm>
            <a:off x="324000" y="759300"/>
            <a:ext cx="84960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use graphs to find </a:t>
            </a:r>
            <a:r>
              <a:rPr b="1" lang="en-GB" sz="1800"/>
              <a:t>solutions</a:t>
            </a:r>
            <a:r>
              <a:rPr lang="en-GB" sz="1800"/>
              <a:t> to equations with unknowns on one side.</a:t>
            </a:r>
            <a:endParaRPr sz="1800"/>
          </a:p>
        </p:txBody>
      </p:sp>
      <p:sp>
        <p:nvSpPr>
          <p:cNvPr id="1151" name="Google Shape;1151;p86"/>
          <p:cNvSpPr txBox="1"/>
          <p:nvPr>
            <p:ph idx="1" type="body"/>
          </p:nvPr>
        </p:nvSpPr>
        <p:spPr>
          <a:xfrm>
            <a:off x="324000" y="1398150"/>
            <a:ext cx="84960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Find the </a:t>
            </a:r>
            <a:r>
              <a:rPr b="1" lang="en-GB" sz="1800"/>
              <a:t>solution</a:t>
            </a:r>
            <a:r>
              <a:rPr lang="en-GB" sz="1800"/>
              <a:t> to the equation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− 8</a:t>
            </a:r>
            <a:r>
              <a:rPr lang="en-GB" sz="1800"/>
              <a:t>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= 10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52" name="Google Shape;1152;p86"/>
          <p:cNvSpPr txBox="1"/>
          <p:nvPr>
            <p:ph idx="1" type="body"/>
          </p:nvPr>
        </p:nvSpPr>
        <p:spPr>
          <a:xfrm>
            <a:off x="324000" y="1811173"/>
            <a:ext cx="8496000" cy="3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First we can graph the value of the expression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− 8</a:t>
            </a:r>
            <a:r>
              <a:rPr lang="en-GB" sz="1800"/>
              <a:t>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53" name="Google Shape;1153;p86"/>
          <p:cNvSpPr txBox="1"/>
          <p:nvPr>
            <p:ph idx="1" type="body"/>
          </p:nvPr>
        </p:nvSpPr>
        <p:spPr>
          <a:xfrm>
            <a:off x="2887200" y="3412700"/>
            <a:ext cx="59328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want to know when this expression is equal to 10</a:t>
            </a:r>
            <a:r>
              <a:rPr lang="en-GB" sz="1800"/>
              <a:t>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54" name="Google Shape;1154;p86"/>
          <p:cNvSpPr txBox="1"/>
          <p:nvPr>
            <p:ph idx="1" type="body"/>
          </p:nvPr>
        </p:nvSpPr>
        <p:spPr>
          <a:xfrm>
            <a:off x="2887200" y="3800100"/>
            <a:ext cx="59328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draw the graph of the equation 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= 10</a:t>
            </a:r>
            <a:r>
              <a:rPr lang="en-GB" sz="1800"/>
              <a:t> to help.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55" name="Google Shape;1155;p86"/>
          <p:cNvSpPr txBox="1"/>
          <p:nvPr>
            <p:ph idx="1" type="body"/>
          </p:nvPr>
        </p:nvSpPr>
        <p:spPr>
          <a:xfrm>
            <a:off x="2887200" y="2285700"/>
            <a:ext cx="5507400" cy="38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you are using graphing software you can type 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=</a:t>
            </a: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800"/>
              <a:t> and this will plot the </a:t>
            </a:r>
            <a:r>
              <a:rPr lang="en-GB" sz="1800">
                <a:solidFill>
                  <a:schemeClr val="accent5"/>
                </a:solidFill>
              </a:rPr>
              <a:t>value of the expression</a:t>
            </a: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8 </a:t>
            </a:r>
            <a:r>
              <a:rPr lang="en-GB" sz="1800"/>
              <a:t>on the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-</a:t>
            </a:r>
            <a:r>
              <a:rPr lang="en-GB" sz="1800"/>
              <a:t>axis.</a:t>
            </a:r>
            <a:endParaRPr sz="1600"/>
          </a:p>
        </p:txBody>
      </p:sp>
      <p:pic>
        <p:nvPicPr>
          <p:cNvPr id="1156" name="Google Shape;1156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1" y="2397025"/>
            <a:ext cx="1940726" cy="19661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57" name="Google Shape;1157;p86"/>
          <p:cNvPicPr preferRelativeResize="0"/>
          <p:nvPr/>
        </p:nvPicPr>
        <p:blipFill rotWithShape="1">
          <a:blip r:embed="rId4">
            <a:alphaModFix/>
          </a:blip>
          <a:srcRect b="9016" l="0" r="0" t="0"/>
          <a:stretch/>
        </p:blipFill>
        <p:spPr>
          <a:xfrm>
            <a:off x="324000" y="2285688"/>
            <a:ext cx="1940725" cy="207422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58" name="Google Shape;1158;p86"/>
          <p:cNvSpPr txBox="1"/>
          <p:nvPr>
            <p:ph idx="1" type="body"/>
          </p:nvPr>
        </p:nvSpPr>
        <p:spPr>
          <a:xfrm>
            <a:off x="2887200" y="4150600"/>
            <a:ext cx="59328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You may need to adjust the axes or zoom out to see both graphs.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87"/>
          <p:cNvSpPr txBox="1"/>
          <p:nvPr>
            <p:ph type="title"/>
          </p:nvPr>
        </p:nvSpPr>
        <p:spPr>
          <a:xfrm>
            <a:off x="324000" y="25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solutions from graphs</a:t>
            </a:r>
            <a:endParaRPr/>
          </a:p>
        </p:txBody>
      </p:sp>
      <p:sp>
        <p:nvSpPr>
          <p:cNvPr id="1164" name="Google Shape;1164;p87"/>
          <p:cNvSpPr txBox="1"/>
          <p:nvPr>
            <p:ph idx="1" type="body"/>
          </p:nvPr>
        </p:nvSpPr>
        <p:spPr>
          <a:xfrm>
            <a:off x="324000" y="705750"/>
            <a:ext cx="84960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Where can we see that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− 8 is </a:t>
            </a:r>
            <a:r>
              <a:rPr lang="en-GB" sz="1800"/>
              <a:t>equal to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800"/>
              <a:t> ?</a:t>
            </a:r>
            <a:endParaRPr sz="1800"/>
          </a:p>
        </p:txBody>
      </p:sp>
      <p:sp>
        <p:nvSpPr>
          <p:cNvPr id="1165" name="Google Shape;1165;p87"/>
          <p:cNvSpPr txBox="1"/>
          <p:nvPr>
            <p:ph idx="1" type="body"/>
          </p:nvPr>
        </p:nvSpPr>
        <p:spPr>
          <a:xfrm>
            <a:off x="324000" y="1129975"/>
            <a:ext cx="84960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Where the graphs of the equations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− 8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and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= 10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intersect.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6" name="Google Shape;1166;p87"/>
          <p:cNvSpPr txBox="1"/>
          <p:nvPr>
            <p:ph idx="1" type="body"/>
          </p:nvPr>
        </p:nvSpPr>
        <p:spPr>
          <a:xfrm>
            <a:off x="2887200" y="2121300"/>
            <a:ext cx="5613300" cy="6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 the </a:t>
            </a:r>
            <a:r>
              <a:rPr b="1" lang="en-GB" sz="1800"/>
              <a:t>solution</a:t>
            </a:r>
            <a:r>
              <a:rPr lang="en-GB" sz="1800"/>
              <a:t> to the equation</a:t>
            </a: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− 8</a:t>
            </a:r>
            <a:r>
              <a:rPr lang="en-GB" sz="1800"/>
              <a:t>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= 10</a:t>
            </a:r>
            <a:r>
              <a:rPr lang="en-GB" sz="1800"/>
              <a:t> is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3</a:t>
            </a:r>
            <a:r>
              <a:rPr lang="en-GB" sz="1800"/>
              <a:t>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167" name="Google Shape;1167;p87"/>
          <p:cNvPicPr preferRelativeResize="0"/>
          <p:nvPr/>
        </p:nvPicPr>
        <p:blipFill rotWithShape="1">
          <a:blip r:embed="rId3">
            <a:alphaModFix/>
          </a:blip>
          <a:srcRect b="9016" l="0" r="0" t="0"/>
          <a:stretch/>
        </p:blipFill>
        <p:spPr>
          <a:xfrm>
            <a:off x="324000" y="2090127"/>
            <a:ext cx="2269350" cy="242547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68" name="Google Shape;1168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2090125"/>
            <a:ext cx="2315217" cy="24254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69" name="Google Shape;1169;p87"/>
          <p:cNvSpPr txBox="1"/>
          <p:nvPr>
            <p:ph idx="1" type="body"/>
          </p:nvPr>
        </p:nvSpPr>
        <p:spPr>
          <a:xfrm>
            <a:off x="324000" y="1663738"/>
            <a:ext cx="84960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graphs intersect at (3, 10)</a:t>
            </a:r>
            <a:endParaRPr sz="1800"/>
          </a:p>
        </p:txBody>
      </p:sp>
      <p:sp>
        <p:nvSpPr>
          <p:cNvPr id="1170" name="Google Shape;1170;p87"/>
          <p:cNvSpPr txBox="1"/>
          <p:nvPr>
            <p:ph idx="1" type="body"/>
          </p:nvPr>
        </p:nvSpPr>
        <p:spPr>
          <a:xfrm>
            <a:off x="2887200" y="2957874"/>
            <a:ext cx="5613300" cy="12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To check: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6(3) − 8</a:t>
            </a:r>
            <a:r>
              <a:rPr lang="en-GB" sz="1800"/>
              <a:t>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= 10</a:t>
            </a: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 18 − 8</a:t>
            </a:r>
            <a:r>
              <a:rPr lang="en-GB" sz="1800"/>
              <a:t>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= 10</a:t>
            </a:r>
            <a:endParaRPr sz="1800"/>
          </a:p>
        </p:txBody>
      </p:sp>
      <p:sp>
        <p:nvSpPr>
          <p:cNvPr id="1171" name="Google Shape;1171;p87"/>
          <p:cNvSpPr txBox="1"/>
          <p:nvPr>
            <p:ph idx="1" type="body"/>
          </p:nvPr>
        </p:nvSpPr>
        <p:spPr>
          <a:xfrm>
            <a:off x="2887200" y="4251500"/>
            <a:ext cx="5786100" cy="46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Both sides of the equation are equal so this is a </a:t>
            </a:r>
            <a:r>
              <a:rPr b="1" lang="en-GB" sz="1800"/>
              <a:t>solution</a:t>
            </a:r>
            <a:r>
              <a:rPr lang="en-GB" sz="1800"/>
              <a:t>.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88"/>
          <p:cNvSpPr txBox="1"/>
          <p:nvPr>
            <p:ph idx="1" type="body"/>
          </p:nvPr>
        </p:nvSpPr>
        <p:spPr>
          <a:xfrm>
            <a:off x="4929625" y="3240000"/>
            <a:ext cx="1505700" cy="9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 = 3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 = −3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1800"/>
          </a:p>
        </p:txBody>
      </p:sp>
      <p:sp>
        <p:nvSpPr>
          <p:cNvPr id="1177" name="Google Shape;1177;p88"/>
          <p:cNvSpPr/>
          <p:nvPr/>
        </p:nvSpPr>
        <p:spPr>
          <a:xfrm>
            <a:off x="4929625" y="3240025"/>
            <a:ext cx="1339800" cy="348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8" name="Google Shape;1178;p88"/>
          <p:cNvSpPr/>
          <p:nvPr/>
        </p:nvSpPr>
        <p:spPr>
          <a:xfrm>
            <a:off x="4929625" y="3707900"/>
            <a:ext cx="1339800" cy="348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9" name="Google Shape;1179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solutions from graphs</a:t>
            </a:r>
            <a:endParaRPr/>
          </a:p>
        </p:txBody>
      </p:sp>
      <p:sp>
        <p:nvSpPr>
          <p:cNvPr id="1180" name="Google Shape;1180;p88"/>
          <p:cNvSpPr txBox="1"/>
          <p:nvPr>
            <p:ph idx="1" type="body"/>
          </p:nvPr>
        </p:nvSpPr>
        <p:spPr>
          <a:xfrm>
            <a:off x="4320025" y="737650"/>
            <a:ext cx="4402200" cy="16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Line A (pink) has equation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3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Line B (green) has equation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+ 5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L</a:t>
            </a:r>
            <a:r>
              <a:rPr lang="en-GB" sz="1800"/>
              <a:t>ine C (purple) has equation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Line D (blue) has equation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1800"/>
          </a:p>
        </p:txBody>
      </p:sp>
      <p:sp>
        <p:nvSpPr>
          <p:cNvPr id="1181" name="Google Shape;1181;p88"/>
          <p:cNvSpPr txBox="1"/>
          <p:nvPr>
            <p:ph idx="1" type="body"/>
          </p:nvPr>
        </p:nvSpPr>
        <p:spPr>
          <a:xfrm>
            <a:off x="4320000" y="2544500"/>
            <a:ext cx="4500000" cy="7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equations will we be able to find </a:t>
            </a:r>
            <a:r>
              <a:rPr b="1" lang="en-GB" sz="1800"/>
              <a:t>solutions</a:t>
            </a:r>
            <a:r>
              <a:rPr lang="en-GB" sz="1800"/>
              <a:t> for using these lines?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1800"/>
          </a:p>
        </p:txBody>
      </p:sp>
      <p:grpSp>
        <p:nvGrpSpPr>
          <p:cNvPr id="1182" name="Google Shape;1182;p88"/>
          <p:cNvGrpSpPr/>
          <p:nvPr/>
        </p:nvGrpSpPr>
        <p:grpSpPr>
          <a:xfrm>
            <a:off x="324000" y="814238"/>
            <a:ext cx="3544250" cy="2750450"/>
            <a:chOff x="324000" y="814238"/>
            <a:chExt cx="3544250" cy="2750450"/>
          </a:xfrm>
        </p:grpSpPr>
        <p:pic>
          <p:nvPicPr>
            <p:cNvPr id="1183" name="Google Shape;1183;p88"/>
            <p:cNvPicPr preferRelativeResize="0"/>
            <p:nvPr/>
          </p:nvPicPr>
          <p:blipFill rotWithShape="1">
            <a:blip r:embed="rId3">
              <a:alphaModFix/>
            </a:blip>
            <a:srcRect b="0" l="4642" r="3975" t="0"/>
            <a:stretch/>
          </p:blipFill>
          <p:spPr>
            <a:xfrm>
              <a:off x="324000" y="814238"/>
              <a:ext cx="3544250" cy="275045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184" name="Google Shape;1184;p88"/>
            <p:cNvSpPr/>
            <p:nvPr/>
          </p:nvSpPr>
          <p:spPr>
            <a:xfrm>
              <a:off x="994150" y="1368000"/>
              <a:ext cx="3531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5" name="Google Shape;1185;p88"/>
            <p:cNvSpPr/>
            <p:nvPr/>
          </p:nvSpPr>
          <p:spPr>
            <a:xfrm>
              <a:off x="2149025" y="1080000"/>
              <a:ext cx="3531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6" name="Google Shape;1186;p88"/>
            <p:cNvSpPr/>
            <p:nvPr/>
          </p:nvSpPr>
          <p:spPr>
            <a:xfrm>
              <a:off x="3234513" y="1144850"/>
              <a:ext cx="3531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7" name="Google Shape;1187;p88"/>
            <p:cNvSpPr/>
            <p:nvPr/>
          </p:nvSpPr>
          <p:spPr>
            <a:xfrm>
              <a:off x="3284525" y="2730800"/>
              <a:ext cx="3531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88" name="Google Shape;1188;p88"/>
          <p:cNvSpPr txBox="1"/>
          <p:nvPr>
            <p:ph idx="1" type="body"/>
          </p:nvPr>
        </p:nvSpPr>
        <p:spPr>
          <a:xfrm>
            <a:off x="6675400" y="3240000"/>
            <a:ext cx="1505700" cy="9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3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1800"/>
          </a:p>
        </p:txBody>
      </p:sp>
      <p:sp>
        <p:nvSpPr>
          <p:cNvPr id="1189" name="Google Shape;1189;p88"/>
          <p:cNvSpPr txBox="1"/>
          <p:nvPr>
            <p:ph idx="1" type="body"/>
          </p:nvPr>
        </p:nvSpPr>
        <p:spPr>
          <a:xfrm>
            <a:off x="324000" y="3765450"/>
            <a:ext cx="4500000" cy="7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of these equations will have negative </a:t>
            </a:r>
            <a:r>
              <a:rPr b="1" lang="en-GB" sz="1800"/>
              <a:t>solutions</a:t>
            </a:r>
            <a:r>
              <a:rPr lang="en-GB" sz="1800"/>
              <a:t>? How do you know?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1800"/>
          </a:p>
        </p:txBody>
      </p:sp>
      <p:sp>
        <p:nvSpPr>
          <p:cNvPr id="1190" name="Google Shape;1190;p88"/>
          <p:cNvSpPr txBox="1"/>
          <p:nvPr>
            <p:ph idx="1" type="body"/>
          </p:nvPr>
        </p:nvSpPr>
        <p:spPr>
          <a:xfrm>
            <a:off x="324000" y="4499600"/>
            <a:ext cx="7344300" cy="41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lines intersect on a coordinate with a negative</a:t>
            </a:r>
            <a:r>
              <a:rPr lang="en-GB" sz="1800"/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value.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1" name="Google Shape;1191;p88"/>
          <p:cNvSpPr txBox="1"/>
          <p:nvPr>
            <p:ph idx="1" type="body"/>
          </p:nvPr>
        </p:nvSpPr>
        <p:spPr>
          <a:xfrm>
            <a:off x="5379200" y="4103750"/>
            <a:ext cx="1505700" cy="3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 =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1800"/>
          </a:p>
        </p:txBody>
      </p:sp>
      <p:sp>
        <p:nvSpPr>
          <p:cNvPr id="1192" name="Google Shape;1192;p88"/>
          <p:cNvSpPr/>
          <p:nvPr/>
        </p:nvSpPr>
        <p:spPr>
          <a:xfrm>
            <a:off x="1920925" y="1446000"/>
            <a:ext cx="350400" cy="34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88"/>
          <p:cNvSpPr/>
          <p:nvPr/>
        </p:nvSpPr>
        <p:spPr>
          <a:xfrm>
            <a:off x="572175" y="2848075"/>
            <a:ext cx="350400" cy="348000"/>
          </a:xfrm>
          <a:prstGeom prst="ellipse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94" name="Google Shape;1194;p88"/>
          <p:cNvCxnSpPr>
            <a:stCxn id="1177" idx="1"/>
            <a:endCxn id="1192" idx="5"/>
          </p:cNvCxnSpPr>
          <p:nvPr/>
        </p:nvCxnSpPr>
        <p:spPr>
          <a:xfrm rot="10800000">
            <a:off x="2220025" y="1743025"/>
            <a:ext cx="2709600" cy="16710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5" name="Google Shape;1195;p88"/>
          <p:cNvCxnSpPr>
            <a:stCxn id="1178" idx="1"/>
            <a:endCxn id="1193" idx="5"/>
          </p:cNvCxnSpPr>
          <p:nvPr/>
        </p:nvCxnSpPr>
        <p:spPr>
          <a:xfrm rot="10800000">
            <a:off x="871225" y="3145100"/>
            <a:ext cx="4058400" cy="736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6" name="Google Shape;1196;p88"/>
          <p:cNvSpPr txBox="1"/>
          <p:nvPr/>
        </p:nvSpPr>
        <p:spPr>
          <a:xfrm>
            <a:off x="6850500" y="4012325"/>
            <a:ext cx="19695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(intersect off the picture)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1" name="Google Shape;1201;p89"/>
          <p:cNvPicPr preferRelativeResize="0"/>
          <p:nvPr/>
        </p:nvPicPr>
        <p:blipFill rotWithShape="1">
          <a:blip r:embed="rId3">
            <a:alphaModFix/>
          </a:blip>
          <a:srcRect b="0" l="4642" r="3975" t="0"/>
          <a:stretch/>
        </p:blipFill>
        <p:spPr>
          <a:xfrm>
            <a:off x="324000" y="814238"/>
            <a:ext cx="3544250" cy="27504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02" name="Google Shape;1202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solutions from graphs</a:t>
            </a:r>
            <a:endParaRPr/>
          </a:p>
        </p:txBody>
      </p:sp>
      <p:sp>
        <p:nvSpPr>
          <p:cNvPr id="1203" name="Google Shape;1203;p89"/>
          <p:cNvSpPr txBox="1"/>
          <p:nvPr>
            <p:ph idx="1" type="body"/>
          </p:nvPr>
        </p:nvSpPr>
        <p:spPr>
          <a:xfrm>
            <a:off x="4320025" y="737650"/>
            <a:ext cx="3470700" cy="16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Line A (pink) is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3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Line B (green) is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+ 5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L</a:t>
            </a:r>
            <a:r>
              <a:rPr lang="en-GB" sz="1800"/>
              <a:t>ine C (purple) is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Line D (blue) is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1800"/>
          </a:p>
        </p:txBody>
      </p:sp>
      <p:sp>
        <p:nvSpPr>
          <p:cNvPr id="1204" name="Google Shape;1204;p89"/>
          <p:cNvSpPr txBox="1"/>
          <p:nvPr>
            <p:ph idx="1" type="body"/>
          </p:nvPr>
        </p:nvSpPr>
        <p:spPr>
          <a:xfrm>
            <a:off x="4320000" y="2571750"/>
            <a:ext cx="4500000" cy="7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are the </a:t>
            </a:r>
            <a:r>
              <a:rPr b="1" lang="en-GB" sz="1800"/>
              <a:t>solutions</a:t>
            </a:r>
            <a:r>
              <a:rPr lang="en-GB" sz="1800"/>
              <a:t> to each of these equations?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1800"/>
          </a:p>
        </p:txBody>
      </p:sp>
      <p:pic>
        <p:nvPicPr>
          <p:cNvPr id="1205" name="Google Shape;1205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04" y="773669"/>
            <a:ext cx="3661700" cy="282704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06" name="Google Shape;1206;p89"/>
          <p:cNvSpPr/>
          <p:nvPr/>
        </p:nvSpPr>
        <p:spPr>
          <a:xfrm>
            <a:off x="994150" y="1368000"/>
            <a:ext cx="3531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89"/>
          <p:cNvSpPr/>
          <p:nvPr/>
        </p:nvSpPr>
        <p:spPr>
          <a:xfrm>
            <a:off x="2149025" y="1080000"/>
            <a:ext cx="3531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8" name="Google Shape;1208;p89"/>
          <p:cNvSpPr/>
          <p:nvPr/>
        </p:nvSpPr>
        <p:spPr>
          <a:xfrm>
            <a:off x="3234513" y="1144850"/>
            <a:ext cx="3531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9" name="Google Shape;1209;p89"/>
          <p:cNvSpPr/>
          <p:nvPr/>
        </p:nvSpPr>
        <p:spPr>
          <a:xfrm>
            <a:off x="3284525" y="2730800"/>
            <a:ext cx="3531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0" name="Google Shape;1210;p89"/>
          <p:cNvSpPr txBox="1"/>
          <p:nvPr>
            <p:ph idx="1" type="body"/>
          </p:nvPr>
        </p:nvSpPr>
        <p:spPr>
          <a:xfrm>
            <a:off x="4312796" y="3355650"/>
            <a:ext cx="1505700" cy="9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 = 3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 = −3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1800"/>
          </a:p>
        </p:txBody>
      </p:sp>
      <p:sp>
        <p:nvSpPr>
          <p:cNvPr id="1211" name="Google Shape;1211;p89"/>
          <p:cNvSpPr txBox="1"/>
          <p:nvPr>
            <p:ph idx="1" type="body"/>
          </p:nvPr>
        </p:nvSpPr>
        <p:spPr>
          <a:xfrm>
            <a:off x="6745050" y="3355650"/>
            <a:ext cx="1505700" cy="9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− 4 = 3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− 4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−3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1800"/>
          </a:p>
        </p:txBody>
      </p:sp>
      <p:sp>
        <p:nvSpPr>
          <p:cNvPr id="1212" name="Google Shape;1212;p89"/>
          <p:cNvSpPr txBox="1"/>
          <p:nvPr>
            <p:ph idx="1" type="body"/>
          </p:nvPr>
        </p:nvSpPr>
        <p:spPr>
          <a:xfrm>
            <a:off x="4707875" y="3637200"/>
            <a:ext cx="1505700" cy="37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−2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1800"/>
          </a:p>
        </p:txBody>
      </p:sp>
      <p:sp>
        <p:nvSpPr>
          <p:cNvPr id="1213" name="Google Shape;1213;p89"/>
          <p:cNvSpPr/>
          <p:nvPr/>
        </p:nvSpPr>
        <p:spPr>
          <a:xfrm>
            <a:off x="1577625" y="1287775"/>
            <a:ext cx="216300" cy="217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4" name="Google Shape;1214;p89"/>
          <p:cNvSpPr/>
          <p:nvPr/>
        </p:nvSpPr>
        <p:spPr>
          <a:xfrm>
            <a:off x="3487750" y="1685100"/>
            <a:ext cx="258300" cy="217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5" name="Google Shape;1215;p89"/>
          <p:cNvSpPr/>
          <p:nvPr/>
        </p:nvSpPr>
        <p:spPr>
          <a:xfrm>
            <a:off x="845075" y="3069350"/>
            <a:ext cx="258300" cy="217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89"/>
          <p:cNvSpPr/>
          <p:nvPr/>
        </p:nvSpPr>
        <p:spPr>
          <a:xfrm>
            <a:off x="2791225" y="3069350"/>
            <a:ext cx="258300" cy="217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89"/>
          <p:cNvSpPr txBox="1"/>
          <p:nvPr>
            <p:ph idx="1" type="body"/>
          </p:nvPr>
        </p:nvSpPr>
        <p:spPr>
          <a:xfrm>
            <a:off x="4707877" y="4444798"/>
            <a:ext cx="1505700" cy="37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1800"/>
          </a:p>
        </p:txBody>
      </p:sp>
      <p:sp>
        <p:nvSpPr>
          <p:cNvPr id="1218" name="Google Shape;1218;p89"/>
          <p:cNvSpPr txBox="1"/>
          <p:nvPr>
            <p:ph idx="1" type="body"/>
          </p:nvPr>
        </p:nvSpPr>
        <p:spPr>
          <a:xfrm>
            <a:off x="7206239" y="3637198"/>
            <a:ext cx="1505700" cy="37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3.5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1800"/>
          </a:p>
        </p:txBody>
      </p:sp>
      <p:sp>
        <p:nvSpPr>
          <p:cNvPr id="1219" name="Google Shape;1219;p89"/>
          <p:cNvSpPr txBox="1"/>
          <p:nvPr>
            <p:ph idx="1" type="body"/>
          </p:nvPr>
        </p:nvSpPr>
        <p:spPr>
          <a:xfrm>
            <a:off x="7213451" y="4402423"/>
            <a:ext cx="1505700" cy="37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0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.5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90"/>
          <p:cNvSpPr txBox="1"/>
          <p:nvPr>
            <p:ph idx="1" type="body"/>
          </p:nvPr>
        </p:nvSpPr>
        <p:spPr>
          <a:xfrm>
            <a:off x="324000" y="759300"/>
            <a:ext cx="84960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</a:t>
            </a:r>
            <a:r>
              <a:rPr lang="en-GB" sz="2000"/>
              <a:t> </a:t>
            </a:r>
            <a:r>
              <a:rPr lang="en-GB" sz="1800"/>
              <a:t>line of the equation</a:t>
            </a:r>
            <a:r>
              <a:rPr lang="en-GB" sz="2000"/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/>
              <a:t>has been drawn on the graph below (purple diagonal line).</a:t>
            </a:r>
            <a:endParaRPr sz="2000"/>
          </a:p>
        </p:txBody>
      </p:sp>
      <p:sp>
        <p:nvSpPr>
          <p:cNvPr id="1225" name="Google Shape;1225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solutions from graphs</a:t>
            </a:r>
            <a:endParaRPr/>
          </a:p>
        </p:txBody>
      </p:sp>
      <p:pic>
        <p:nvPicPr>
          <p:cNvPr id="1226" name="Google Shape;1226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190600"/>
            <a:ext cx="2989751" cy="2629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27" name="Google Shape;1227;p90"/>
          <p:cNvSpPr txBox="1"/>
          <p:nvPr>
            <p:ph idx="1" type="body"/>
          </p:nvPr>
        </p:nvSpPr>
        <p:spPr>
          <a:xfrm>
            <a:off x="324000" y="1627350"/>
            <a:ext cx="84960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Use the horizontal lines drawn to find the </a:t>
            </a:r>
            <a:r>
              <a:rPr b="1" lang="en-GB" sz="1800"/>
              <a:t>solution</a:t>
            </a:r>
            <a:r>
              <a:rPr lang="en-GB" sz="1800"/>
              <a:t> to these equations:</a:t>
            </a:r>
            <a:endParaRPr sz="1800"/>
          </a:p>
        </p:txBody>
      </p:sp>
      <p:sp>
        <p:nvSpPr>
          <p:cNvPr id="1228" name="Google Shape;1228;p90"/>
          <p:cNvSpPr txBox="1"/>
          <p:nvPr>
            <p:ph idx="1" type="body"/>
          </p:nvPr>
        </p:nvSpPr>
        <p:spPr>
          <a:xfrm>
            <a:off x="4071150" y="2160000"/>
            <a:ext cx="1505700" cy="2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3 = 1</a:t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3 = 4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3 =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</a:t>
            </a:r>
            <a:endParaRPr sz="2000"/>
          </a:p>
        </p:txBody>
      </p:sp>
      <p:sp>
        <p:nvSpPr>
          <p:cNvPr id="1229" name="Google Shape;1229;p90"/>
          <p:cNvSpPr txBox="1"/>
          <p:nvPr>
            <p:ph idx="1" type="body"/>
          </p:nvPr>
        </p:nvSpPr>
        <p:spPr>
          <a:xfrm>
            <a:off x="5774400" y="2190600"/>
            <a:ext cx="2538900" cy="2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Solution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when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2</a:t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Solution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when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3.5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Solution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when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1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91"/>
          <p:cNvSpPr txBox="1"/>
          <p:nvPr>
            <p:ph idx="1" type="body"/>
          </p:nvPr>
        </p:nvSpPr>
        <p:spPr>
          <a:xfrm>
            <a:off x="324000" y="759300"/>
            <a:ext cx="8237700" cy="76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use a similar method to find </a:t>
            </a:r>
            <a:r>
              <a:rPr b="1" lang="en-GB" sz="1800"/>
              <a:t>solutions</a:t>
            </a:r>
            <a:r>
              <a:rPr lang="en-GB" sz="1800"/>
              <a:t> to equations with unknowns on both sides of the equals sign.</a:t>
            </a:r>
            <a:endParaRPr sz="1800"/>
          </a:p>
        </p:txBody>
      </p:sp>
      <p:sp>
        <p:nvSpPr>
          <p:cNvPr id="1235" name="Google Shape;1235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solutions from graphs</a:t>
            </a:r>
            <a:endParaRPr/>
          </a:p>
        </p:txBody>
      </p:sp>
      <p:sp>
        <p:nvSpPr>
          <p:cNvPr id="1236" name="Google Shape;1236;p91"/>
          <p:cNvSpPr txBox="1"/>
          <p:nvPr>
            <p:ph idx="1" type="body"/>
          </p:nvPr>
        </p:nvSpPr>
        <p:spPr>
          <a:xfrm>
            <a:off x="324000" y="1525975"/>
            <a:ext cx="84960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Find the </a:t>
            </a:r>
            <a:r>
              <a:rPr b="1" lang="en-GB" sz="1800"/>
              <a:t>solution</a:t>
            </a:r>
            <a:r>
              <a:rPr lang="en-GB" sz="1800"/>
              <a:t> to the equation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− 8</a:t>
            </a:r>
            <a:r>
              <a:rPr lang="en-GB" sz="1800"/>
              <a:t>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= 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+ 1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37" name="Google Shape;1237;p91"/>
          <p:cNvSpPr txBox="1"/>
          <p:nvPr>
            <p:ph idx="1" type="body"/>
          </p:nvPr>
        </p:nvSpPr>
        <p:spPr>
          <a:xfrm>
            <a:off x="2442075" y="2128050"/>
            <a:ext cx="63780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start by graphing the expression</a:t>
            </a: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− 8</a:t>
            </a:r>
            <a:r>
              <a:rPr lang="en-GB" sz="1800"/>
              <a:t>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238" name="Google Shape;1238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199875"/>
            <a:ext cx="1844350" cy="262052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39" name="Google Shape;1239;p91"/>
          <p:cNvSpPr txBox="1"/>
          <p:nvPr>
            <p:ph idx="1" type="body"/>
          </p:nvPr>
        </p:nvSpPr>
        <p:spPr>
          <a:xfrm>
            <a:off x="2442075" y="2700000"/>
            <a:ext cx="63780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we want to know when this is equal to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+ 1 </a:t>
            </a:r>
            <a:r>
              <a:rPr lang="en-GB" sz="1800"/>
              <a:t>we can also graph the expression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</a:t>
            </a:r>
            <a:r>
              <a:rPr lang="en-GB" sz="1800"/>
              <a:t> 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240" name="Google Shape;1240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2175421"/>
            <a:ext cx="1844350" cy="266944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41" name="Google Shape;1241;p91"/>
          <p:cNvSpPr txBox="1"/>
          <p:nvPr>
            <p:ph idx="1" type="body"/>
          </p:nvPr>
        </p:nvSpPr>
        <p:spPr>
          <a:xfrm>
            <a:off x="2442075" y="3614325"/>
            <a:ext cx="6378000" cy="10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we want to know when this equation is balanced, we are looking for a value for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which gives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− 8 </a:t>
            </a:r>
            <a:r>
              <a:rPr lang="en-GB" sz="1800"/>
              <a:t>and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 </a:t>
            </a:r>
            <a:r>
              <a:rPr lang="en-GB" sz="1800"/>
              <a:t>the same value.</a:t>
            </a:r>
            <a:endParaRPr sz="1600"/>
          </a:p>
        </p:txBody>
      </p:sp>
      <p:sp>
        <p:nvSpPr>
          <p:cNvPr id="1242" name="Google Shape;1242;p91"/>
          <p:cNvSpPr/>
          <p:nvPr/>
        </p:nvSpPr>
        <p:spPr>
          <a:xfrm>
            <a:off x="1635250" y="2550690"/>
            <a:ext cx="217200" cy="178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solutions from graphs</a:t>
            </a:r>
            <a:endParaRPr/>
          </a:p>
        </p:txBody>
      </p:sp>
      <p:sp>
        <p:nvSpPr>
          <p:cNvPr id="1248" name="Google Shape;1248;p92"/>
          <p:cNvSpPr txBox="1"/>
          <p:nvPr>
            <p:ph idx="1" type="body"/>
          </p:nvPr>
        </p:nvSpPr>
        <p:spPr>
          <a:xfrm>
            <a:off x="324000" y="779825"/>
            <a:ext cx="8370900" cy="7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</a:t>
            </a:r>
            <a:r>
              <a:rPr lang="en-GB" sz="1800"/>
              <a:t>he</a:t>
            </a:r>
            <a:r>
              <a:rPr b="1" lang="en-GB" sz="1800"/>
              <a:t> solution</a:t>
            </a:r>
            <a:r>
              <a:rPr lang="en-GB" sz="1800"/>
              <a:t> to the equation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− 8</a:t>
            </a:r>
            <a:r>
              <a:rPr lang="en-GB" sz="1800"/>
              <a:t>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= </a:t>
            </a: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+ 1 </a:t>
            </a:r>
            <a:r>
              <a:rPr lang="en-GB" sz="1800"/>
              <a:t>is where the graphs of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− 8 </a:t>
            </a:r>
            <a:r>
              <a:rPr lang="en-GB" sz="1800"/>
              <a:t>and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 </a:t>
            </a:r>
            <a:r>
              <a:rPr lang="en-GB" sz="1800"/>
              <a:t>intersect.</a:t>
            </a:r>
            <a:r>
              <a:rPr lang="en-GB" sz="1600"/>
              <a:t> </a:t>
            </a:r>
            <a:endParaRPr sz="1600"/>
          </a:p>
        </p:txBody>
      </p:sp>
      <p:pic>
        <p:nvPicPr>
          <p:cNvPr id="1249" name="Google Shape;1249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623721"/>
            <a:ext cx="1844350" cy="266944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50" name="Google Shape;1250;p92"/>
          <p:cNvSpPr/>
          <p:nvPr/>
        </p:nvSpPr>
        <p:spPr>
          <a:xfrm>
            <a:off x="1635250" y="1998990"/>
            <a:ext cx="217200" cy="178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1" name="Google Shape;1251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9720" y="1870018"/>
            <a:ext cx="374400" cy="716936"/>
          </a:xfrm>
          <a:prstGeom prst="rect">
            <a:avLst/>
          </a:prstGeom>
          <a:noFill/>
          <a:ln>
            <a:noFill/>
          </a:ln>
        </p:spPr>
      </p:pic>
      <p:sp>
        <p:nvSpPr>
          <p:cNvPr id="1252" name="Google Shape;1252;p92"/>
          <p:cNvSpPr txBox="1"/>
          <p:nvPr/>
        </p:nvSpPr>
        <p:spPr>
          <a:xfrm flipH="1">
            <a:off x="2280525" y="2509525"/>
            <a:ext cx="910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3" name="Google Shape;1253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625721" y="1945604"/>
            <a:ext cx="458105" cy="565765"/>
          </a:xfrm>
          <a:prstGeom prst="rect">
            <a:avLst/>
          </a:prstGeom>
          <a:noFill/>
          <a:ln>
            <a:noFill/>
          </a:ln>
        </p:spPr>
      </p:pic>
      <p:sp>
        <p:nvSpPr>
          <p:cNvPr id="1254" name="Google Shape;1254;p92"/>
          <p:cNvSpPr txBox="1"/>
          <p:nvPr/>
        </p:nvSpPr>
        <p:spPr>
          <a:xfrm flipH="1">
            <a:off x="4441126" y="2509525"/>
            <a:ext cx="10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92"/>
          <p:cNvSpPr txBox="1"/>
          <p:nvPr/>
        </p:nvSpPr>
        <p:spPr>
          <a:xfrm flipH="1">
            <a:off x="6425325" y="2509525"/>
            <a:ext cx="9108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6" name="Google Shape;1256;p9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61964" y="1971540"/>
            <a:ext cx="464616" cy="5138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7" name="Google Shape;1257;p92"/>
          <p:cNvGrpSpPr/>
          <p:nvPr/>
        </p:nvGrpSpPr>
        <p:grpSpPr>
          <a:xfrm flipH="1">
            <a:off x="2711379" y="1169751"/>
            <a:ext cx="1944243" cy="931500"/>
            <a:chOff x="1807240" y="1612125"/>
            <a:chExt cx="2222500" cy="931500"/>
          </a:xfrm>
        </p:grpSpPr>
        <p:pic>
          <p:nvPicPr>
            <p:cNvPr id="1258" name="Google Shape;1258;p92"/>
            <p:cNvPicPr preferRelativeResize="0"/>
            <p:nvPr/>
          </p:nvPicPr>
          <p:blipFill rotWithShape="1">
            <a:blip r:embed="rId7">
              <a:alphaModFix/>
            </a:blip>
            <a:srcRect b="0" l="0" r="69082" t="56280"/>
            <a:stretch/>
          </p:blipFill>
          <p:spPr>
            <a:xfrm>
              <a:off x="1807240" y="1612125"/>
              <a:ext cx="2222500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9" name="Google Shape;1259;p92"/>
            <p:cNvSpPr txBox="1"/>
            <p:nvPr/>
          </p:nvSpPr>
          <p:spPr>
            <a:xfrm flipH="1">
              <a:off x="1983845" y="1763825"/>
              <a:ext cx="1901700" cy="51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</a:t>
              </a:r>
              <a:r>
                <a:rPr b="1" lang="en-GB" sz="1800">
                  <a:latin typeface="Lexend"/>
                  <a:ea typeface="Lexend"/>
                  <a:cs typeface="Lexend"/>
                  <a:sym typeface="Lexend"/>
                </a:rPr>
                <a:t>solution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is (3, 4)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0" name="Google Shape;1260;p92"/>
          <p:cNvGrpSpPr/>
          <p:nvPr/>
        </p:nvGrpSpPr>
        <p:grpSpPr>
          <a:xfrm>
            <a:off x="4900149" y="1169751"/>
            <a:ext cx="1695370" cy="931500"/>
            <a:chOff x="1807240" y="1612125"/>
            <a:chExt cx="1947358" cy="931500"/>
          </a:xfrm>
        </p:grpSpPr>
        <p:pic>
          <p:nvPicPr>
            <p:cNvPr id="1261" name="Google Shape;1261;p92"/>
            <p:cNvPicPr preferRelativeResize="0"/>
            <p:nvPr/>
          </p:nvPicPr>
          <p:blipFill rotWithShape="1">
            <a:blip r:embed="rId7">
              <a:alphaModFix/>
            </a:blip>
            <a:srcRect b="0" l="0" r="69082" t="56280"/>
            <a:stretch/>
          </p:blipFill>
          <p:spPr>
            <a:xfrm flipH="1">
              <a:off x="1807240" y="1612125"/>
              <a:ext cx="1901629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2" name="Google Shape;1262;p92"/>
            <p:cNvSpPr txBox="1"/>
            <p:nvPr/>
          </p:nvSpPr>
          <p:spPr>
            <a:xfrm flipH="1">
              <a:off x="1974398" y="1788363"/>
              <a:ext cx="1780200" cy="51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the </a:t>
              </a:r>
              <a:r>
                <a:rPr b="1" lang="en-GB" sz="1800">
                  <a:latin typeface="Lexend"/>
                  <a:ea typeface="Lexend"/>
                  <a:cs typeface="Lexend"/>
                  <a:sym typeface="Lexend"/>
                </a:rPr>
                <a:t>solution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is 3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3" name="Google Shape;1263;p92"/>
          <p:cNvGrpSpPr/>
          <p:nvPr/>
        </p:nvGrpSpPr>
        <p:grpSpPr>
          <a:xfrm flipH="1">
            <a:off x="6993078" y="1169751"/>
            <a:ext cx="1603834" cy="931500"/>
            <a:chOff x="1807240" y="1612125"/>
            <a:chExt cx="1901629" cy="931500"/>
          </a:xfrm>
        </p:grpSpPr>
        <p:pic>
          <p:nvPicPr>
            <p:cNvPr id="1264" name="Google Shape;1264;p92"/>
            <p:cNvPicPr preferRelativeResize="0"/>
            <p:nvPr/>
          </p:nvPicPr>
          <p:blipFill rotWithShape="1">
            <a:blip r:embed="rId7">
              <a:alphaModFix/>
            </a:blip>
            <a:srcRect b="0" l="0" r="69082" t="56280"/>
            <a:stretch/>
          </p:blipFill>
          <p:spPr>
            <a:xfrm>
              <a:off x="1807240" y="1612125"/>
              <a:ext cx="1901629" cy="93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5" name="Google Shape;1265;p92"/>
            <p:cNvSpPr txBox="1"/>
            <p:nvPr/>
          </p:nvSpPr>
          <p:spPr>
            <a:xfrm flipH="1">
              <a:off x="1929004" y="1763815"/>
              <a:ext cx="1658100" cy="51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the </a:t>
              </a:r>
              <a:r>
                <a:rPr b="1" lang="en-GB" sz="1800">
                  <a:latin typeface="Lexend"/>
                  <a:ea typeface="Lexend"/>
                  <a:cs typeface="Lexend"/>
                  <a:sym typeface="Lexend"/>
                </a:rPr>
                <a:t>solution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is 4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66" name="Google Shape;1266;p92"/>
          <p:cNvSpPr txBox="1"/>
          <p:nvPr>
            <p:ph idx="1" type="body"/>
          </p:nvPr>
        </p:nvSpPr>
        <p:spPr>
          <a:xfrm>
            <a:off x="2468025" y="2962775"/>
            <a:ext cx="3017100" cy="26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do you think?</a:t>
            </a:r>
            <a:endParaRPr sz="1600"/>
          </a:p>
        </p:txBody>
      </p:sp>
      <p:sp>
        <p:nvSpPr>
          <p:cNvPr id="1267" name="Google Shape;1267;p92"/>
          <p:cNvSpPr txBox="1"/>
          <p:nvPr>
            <p:ph idx="1" type="body"/>
          </p:nvPr>
        </p:nvSpPr>
        <p:spPr>
          <a:xfrm>
            <a:off x="2491200" y="3345450"/>
            <a:ext cx="6328800" cy="26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 solution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the value of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which makes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both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expressions have the same value. This is when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= 3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68" name="Google Shape;1268;p92"/>
          <p:cNvSpPr txBox="1"/>
          <p:nvPr>
            <p:ph idx="1" type="body"/>
          </p:nvPr>
        </p:nvSpPr>
        <p:spPr>
          <a:xfrm>
            <a:off x="2491200" y="4189350"/>
            <a:ext cx="5155500" cy="26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does the number 4 represent?</a:t>
            </a:r>
            <a:endParaRPr sz="1600"/>
          </a:p>
        </p:txBody>
      </p:sp>
      <p:sp>
        <p:nvSpPr>
          <p:cNvPr id="1269" name="Google Shape;1269;p92"/>
          <p:cNvSpPr txBox="1"/>
          <p:nvPr>
            <p:ph idx="1" type="body"/>
          </p:nvPr>
        </p:nvSpPr>
        <p:spPr>
          <a:xfrm>
            <a:off x="324000" y="4501470"/>
            <a:ext cx="8496000" cy="26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 is the value of the expressions on both sides of the equation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when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= 3</a:t>
            </a:r>
            <a:endParaRPr sz="21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270" name="Google Shape;1270;p9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10808" y="21012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93"/>
          <p:cNvSpPr txBox="1"/>
          <p:nvPr>
            <p:ph idx="1" type="body"/>
          </p:nvPr>
        </p:nvSpPr>
        <p:spPr>
          <a:xfrm>
            <a:off x="324000" y="759300"/>
            <a:ext cx="8237700" cy="4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know that some equations do not have any </a:t>
            </a:r>
            <a:r>
              <a:rPr b="1" lang="en-GB" sz="1800"/>
              <a:t>solutions</a:t>
            </a:r>
            <a:r>
              <a:rPr lang="en-GB" sz="1800"/>
              <a:t>.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</a:t>
            </a:r>
            <a:endParaRPr/>
          </a:p>
        </p:txBody>
      </p:sp>
      <p:sp>
        <p:nvSpPr>
          <p:cNvPr id="1276" name="Google Shape;1276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solutions from graphs</a:t>
            </a:r>
            <a:endParaRPr/>
          </a:p>
        </p:txBody>
      </p:sp>
      <p:sp>
        <p:nvSpPr>
          <p:cNvPr id="1277" name="Google Shape;1277;p93"/>
          <p:cNvSpPr txBox="1"/>
          <p:nvPr>
            <p:ph idx="1" type="body"/>
          </p:nvPr>
        </p:nvSpPr>
        <p:spPr>
          <a:xfrm>
            <a:off x="324150" y="1414950"/>
            <a:ext cx="8495700" cy="4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These equations will not have any </a:t>
            </a:r>
            <a:r>
              <a:rPr b="1" lang="en-GB" sz="1800"/>
              <a:t>solutions</a:t>
            </a:r>
            <a:r>
              <a:rPr lang="en-GB" sz="1800"/>
              <a:t>. Why do you think that is?</a:t>
            </a:r>
            <a:endParaRPr/>
          </a:p>
        </p:txBody>
      </p:sp>
      <p:sp>
        <p:nvSpPr>
          <p:cNvPr id="1278" name="Google Shape;1278;p93"/>
          <p:cNvSpPr txBox="1"/>
          <p:nvPr>
            <p:ph idx="1" type="body"/>
          </p:nvPr>
        </p:nvSpPr>
        <p:spPr>
          <a:xfrm>
            <a:off x="324150" y="1933725"/>
            <a:ext cx="2386800" cy="170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6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 = 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GB" sz="2000">
                <a:solidFill>
                  <a:srgbClr val="222222"/>
                </a:solidFill>
              </a:rPr>
              <a:t>−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 7 </a:t>
            </a:r>
            <a:r>
              <a:rPr lang="en-GB" sz="2000">
                <a:solidFill>
                  <a:srgbClr val="222222"/>
                </a:solidFill>
              </a:rPr>
              <a:t>−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79" name="Google Shape;1279;p93"/>
          <p:cNvSpPr txBox="1"/>
          <p:nvPr>
            <p:ph idx="1" type="body"/>
          </p:nvPr>
        </p:nvSpPr>
        <p:spPr>
          <a:xfrm>
            <a:off x="2887200" y="1958250"/>
            <a:ext cx="59328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have the same coefficient of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on both sides of the equation it is impossible to add different values onto the same number and get the same answer.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0" name="Google Shape;1280;p93"/>
          <p:cNvSpPr txBox="1"/>
          <p:nvPr>
            <p:ph idx="1" type="body"/>
          </p:nvPr>
        </p:nvSpPr>
        <p:spPr>
          <a:xfrm>
            <a:off x="324150" y="4003300"/>
            <a:ext cx="8495700" cy="4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will happen if I plot both expressions from the first equation? </a:t>
            </a:r>
            <a:endParaRPr sz="1800"/>
          </a:p>
        </p:txBody>
      </p:sp>
      <p:sp>
        <p:nvSpPr>
          <p:cNvPr id="1281" name="Google Shape;1281;p93"/>
          <p:cNvSpPr/>
          <p:nvPr/>
        </p:nvSpPr>
        <p:spPr>
          <a:xfrm>
            <a:off x="324150" y="1958250"/>
            <a:ext cx="994200" cy="282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solutions from graphs</a:t>
            </a:r>
            <a:endParaRPr/>
          </a:p>
        </p:txBody>
      </p:sp>
      <p:sp>
        <p:nvSpPr>
          <p:cNvPr id="1287" name="Google Shape;1287;p94"/>
          <p:cNvSpPr txBox="1"/>
          <p:nvPr>
            <p:ph idx="1" type="body"/>
          </p:nvPr>
        </p:nvSpPr>
        <p:spPr>
          <a:xfrm>
            <a:off x="3371350" y="1750500"/>
            <a:ext cx="5442900" cy="7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equations will not have any </a:t>
            </a:r>
            <a:r>
              <a:rPr b="1" lang="en-GB" sz="1800"/>
              <a:t>solutions</a:t>
            </a:r>
            <a:r>
              <a:rPr lang="en-GB" sz="1800"/>
              <a:t> as the graphs of the expressions are parallel and will never cross.</a:t>
            </a:r>
            <a:endParaRPr/>
          </a:p>
        </p:txBody>
      </p:sp>
      <p:sp>
        <p:nvSpPr>
          <p:cNvPr id="1288" name="Google Shape;1288;p94"/>
          <p:cNvSpPr txBox="1"/>
          <p:nvPr>
            <p:ph idx="1" type="body"/>
          </p:nvPr>
        </p:nvSpPr>
        <p:spPr>
          <a:xfrm>
            <a:off x="324150" y="1191000"/>
            <a:ext cx="2386800" cy="4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8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6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9" name="Google Shape;1289;p94"/>
          <p:cNvSpPr txBox="1"/>
          <p:nvPr>
            <p:ph idx="1" type="body"/>
          </p:nvPr>
        </p:nvSpPr>
        <p:spPr>
          <a:xfrm>
            <a:off x="3335350" y="1305000"/>
            <a:ext cx="54429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lines will be parallel.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90" name="Google Shape;1290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99" y="1609797"/>
            <a:ext cx="2521350" cy="24644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91" name="Google Shape;1291;p94"/>
          <p:cNvSpPr txBox="1"/>
          <p:nvPr>
            <p:ph idx="1" type="body"/>
          </p:nvPr>
        </p:nvSpPr>
        <p:spPr>
          <a:xfrm>
            <a:off x="3371350" y="3012275"/>
            <a:ext cx="5442900" cy="7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When the equation of a straight line is written in the form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mx + c</a:t>
            </a:r>
            <a:r>
              <a:rPr lang="en-GB" sz="1800"/>
              <a:t> the coefficient of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(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m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800"/>
              <a:t> is the gradient.</a:t>
            </a:r>
            <a:endParaRPr/>
          </a:p>
        </p:txBody>
      </p:sp>
      <p:sp>
        <p:nvSpPr>
          <p:cNvPr id="1292" name="Google Shape;1292;p94"/>
          <p:cNvSpPr txBox="1"/>
          <p:nvPr>
            <p:ph idx="1" type="body"/>
          </p:nvPr>
        </p:nvSpPr>
        <p:spPr>
          <a:xfrm>
            <a:off x="3371350" y="4179300"/>
            <a:ext cx="5442900" cy="7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When two lines have the same gradient they will be parallel.</a:t>
            </a:r>
            <a:endParaRPr/>
          </a:p>
        </p:txBody>
      </p:sp>
      <p:sp>
        <p:nvSpPr>
          <p:cNvPr id="1293" name="Google Shape;1293;p94"/>
          <p:cNvSpPr txBox="1"/>
          <p:nvPr>
            <p:ph idx="1" type="body"/>
          </p:nvPr>
        </p:nvSpPr>
        <p:spPr>
          <a:xfrm>
            <a:off x="324150" y="695700"/>
            <a:ext cx="8495700" cy="4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will happen if I plot both expressions from the first equation?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95"/>
          <p:cNvSpPr txBox="1"/>
          <p:nvPr>
            <p:ph idx="1" type="body"/>
          </p:nvPr>
        </p:nvSpPr>
        <p:spPr>
          <a:xfrm>
            <a:off x="324000" y="810000"/>
            <a:ext cx="8496000" cy="47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Below are the graphs of equations: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(</a:t>
            </a:r>
            <a:r>
              <a:rPr lang="en-GB" sz="2000"/>
              <a:t>A)</a:t>
            </a:r>
            <a:r>
              <a:rPr lang="en-GB"/>
              <a:t>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= 3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, </a:t>
            </a:r>
            <a:r>
              <a:rPr lang="en-GB" sz="2000"/>
              <a:t>(B)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2(2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+ 2)</a:t>
            </a:r>
            <a:r>
              <a:rPr lang="en-GB" sz="2000"/>
              <a:t> and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/>
              <a:t>(C)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4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3</a:t>
            </a:r>
            <a:endParaRPr/>
          </a:p>
        </p:txBody>
      </p:sp>
      <p:sp>
        <p:nvSpPr>
          <p:cNvPr id="1299" name="Google Shape;1299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solutions from graphs</a:t>
            </a:r>
            <a:endParaRPr/>
          </a:p>
        </p:txBody>
      </p:sp>
      <p:pic>
        <p:nvPicPr>
          <p:cNvPr id="1300" name="Google Shape;1300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696800"/>
            <a:ext cx="2672775" cy="30477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301" name="Google Shape;1301;p95"/>
          <p:cNvGrpSpPr/>
          <p:nvPr/>
        </p:nvGrpSpPr>
        <p:grpSpPr>
          <a:xfrm>
            <a:off x="655575" y="1812900"/>
            <a:ext cx="2276488" cy="475150"/>
            <a:chOff x="994150" y="1144850"/>
            <a:chExt cx="2276488" cy="475150"/>
          </a:xfrm>
        </p:grpSpPr>
        <p:sp>
          <p:nvSpPr>
            <p:cNvPr id="1302" name="Google Shape;1302;p95"/>
            <p:cNvSpPr/>
            <p:nvPr/>
          </p:nvSpPr>
          <p:spPr>
            <a:xfrm>
              <a:off x="994150" y="1368000"/>
              <a:ext cx="3531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3" name="Google Shape;1303;p95"/>
            <p:cNvSpPr/>
            <p:nvPr/>
          </p:nvSpPr>
          <p:spPr>
            <a:xfrm>
              <a:off x="2023375" y="1144850"/>
              <a:ext cx="3531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4" name="Google Shape;1304;p95"/>
            <p:cNvSpPr/>
            <p:nvPr/>
          </p:nvSpPr>
          <p:spPr>
            <a:xfrm>
              <a:off x="2917538" y="1303350"/>
              <a:ext cx="353100" cy="25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05" name="Google Shape;1305;p95"/>
          <p:cNvSpPr txBox="1"/>
          <p:nvPr>
            <p:ph idx="1" type="body"/>
          </p:nvPr>
        </p:nvSpPr>
        <p:spPr>
          <a:xfrm>
            <a:off x="3124675" y="1696800"/>
            <a:ext cx="5695500" cy="47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Which of these equations will have </a:t>
            </a:r>
            <a:r>
              <a:rPr b="1" lang="en-GB" sz="2000"/>
              <a:t>solutions</a:t>
            </a:r>
            <a:r>
              <a:rPr lang="en-GB" sz="2000"/>
              <a:t>?</a:t>
            </a:r>
            <a:endParaRPr/>
          </a:p>
        </p:txBody>
      </p:sp>
      <p:grpSp>
        <p:nvGrpSpPr>
          <p:cNvPr id="1306" name="Google Shape;1306;p95"/>
          <p:cNvGrpSpPr/>
          <p:nvPr/>
        </p:nvGrpSpPr>
        <p:grpSpPr>
          <a:xfrm>
            <a:off x="3195191" y="2391100"/>
            <a:ext cx="457200" cy="457200"/>
            <a:chOff x="1020916" y="1442088"/>
            <a:chExt cx="457200" cy="457200"/>
          </a:xfrm>
        </p:grpSpPr>
        <p:pic>
          <p:nvPicPr>
            <p:cNvPr id="1307" name="Google Shape;1307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8" name="Google Shape;1308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9" name="Google Shape;1309;p95"/>
          <p:cNvGrpSpPr/>
          <p:nvPr/>
        </p:nvGrpSpPr>
        <p:grpSpPr>
          <a:xfrm>
            <a:off x="3195191" y="3245850"/>
            <a:ext cx="457200" cy="457200"/>
            <a:chOff x="1020916" y="1442088"/>
            <a:chExt cx="457200" cy="457200"/>
          </a:xfrm>
        </p:grpSpPr>
        <p:pic>
          <p:nvPicPr>
            <p:cNvPr id="1310" name="Google Shape;1310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1" name="Google Shape;1311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2" name="Google Shape;1312;p95"/>
          <p:cNvGrpSpPr/>
          <p:nvPr/>
        </p:nvGrpSpPr>
        <p:grpSpPr>
          <a:xfrm>
            <a:off x="3195191" y="4110000"/>
            <a:ext cx="457200" cy="457200"/>
            <a:chOff x="1020916" y="1442088"/>
            <a:chExt cx="457200" cy="457200"/>
          </a:xfrm>
        </p:grpSpPr>
        <p:pic>
          <p:nvPicPr>
            <p:cNvPr id="1313" name="Google Shape;1313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4" name="Google Shape;1314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15" name="Google Shape;1315;p95"/>
          <p:cNvSpPr txBox="1"/>
          <p:nvPr>
            <p:ph idx="1" type="body"/>
          </p:nvPr>
        </p:nvSpPr>
        <p:spPr>
          <a:xfrm>
            <a:off x="3850825" y="2382100"/>
            <a:ext cx="23229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4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3</a:t>
            </a:r>
            <a:endParaRPr/>
          </a:p>
        </p:txBody>
      </p:sp>
      <p:sp>
        <p:nvSpPr>
          <p:cNvPr id="1316" name="Google Shape;1316;p95"/>
          <p:cNvSpPr txBox="1"/>
          <p:nvPr>
            <p:ph idx="1" type="body"/>
          </p:nvPr>
        </p:nvSpPr>
        <p:spPr>
          <a:xfrm>
            <a:off x="3850825" y="3245850"/>
            <a:ext cx="23229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2(2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+ 2)</a:t>
            </a:r>
            <a:endParaRPr/>
          </a:p>
        </p:txBody>
      </p:sp>
      <p:sp>
        <p:nvSpPr>
          <p:cNvPr id="1317" name="Google Shape;1317;p95"/>
          <p:cNvSpPr txBox="1"/>
          <p:nvPr>
            <p:ph idx="1" type="body"/>
          </p:nvPr>
        </p:nvSpPr>
        <p:spPr>
          <a:xfrm>
            <a:off x="3850825" y="4110300"/>
            <a:ext cx="2322900" cy="4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3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2(2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+ 2)</a:t>
            </a:r>
            <a:endParaRPr/>
          </a:p>
        </p:txBody>
      </p:sp>
      <p:pic>
        <p:nvPicPr>
          <p:cNvPr id="1318" name="Google Shape;1318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60808" y="23822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9" name="Google Shape;1319;p95"/>
          <p:cNvSpPr txBox="1"/>
          <p:nvPr>
            <p:ph idx="1" type="body"/>
          </p:nvPr>
        </p:nvSpPr>
        <p:spPr>
          <a:xfrm>
            <a:off x="6372150" y="2375325"/>
            <a:ext cx="2540400" cy="33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When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= 0.75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0" name="Google Shape;1320;p95"/>
          <p:cNvSpPr txBox="1"/>
          <p:nvPr>
            <p:ph idx="1" type="body"/>
          </p:nvPr>
        </p:nvSpPr>
        <p:spPr>
          <a:xfrm>
            <a:off x="6337250" y="3304800"/>
            <a:ext cx="2540400" cy="33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(When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100">
                <a:latin typeface="Times"/>
                <a:ea typeface="Times"/>
                <a:cs typeface="Times"/>
                <a:sym typeface="Times"/>
              </a:rPr>
              <a:t>0.125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321" name="Google Shape;1321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60808" y="32458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2" name="Google Shape;1322;p95"/>
          <p:cNvSpPr txBox="1"/>
          <p:nvPr>
            <p:ph idx="1" type="body"/>
          </p:nvPr>
        </p:nvSpPr>
        <p:spPr>
          <a:xfrm>
            <a:off x="6337250" y="4150350"/>
            <a:ext cx="2482800" cy="33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Lines are parallel so no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solution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3" name="Google Shape;1323;p95"/>
          <p:cNvSpPr txBox="1"/>
          <p:nvPr>
            <p:ph idx="1" type="body"/>
          </p:nvPr>
        </p:nvSpPr>
        <p:spPr>
          <a:xfrm>
            <a:off x="3850831" y="4489650"/>
            <a:ext cx="2322900" cy="33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3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=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4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+ 4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96"/>
          <p:cNvSpPr txBox="1"/>
          <p:nvPr>
            <p:ph idx="1" type="body"/>
          </p:nvPr>
        </p:nvSpPr>
        <p:spPr>
          <a:xfrm>
            <a:off x="3032500" y="651525"/>
            <a:ext cx="2985600" cy="9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1b) Below is the graph of the equation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</a:t>
            </a:r>
            <a:r>
              <a:rPr lang="en-GB" sz="20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 </a:t>
            </a:r>
            <a:r>
              <a:rPr lang="en-GB" sz="1800"/>
              <a:t>Use it to solve the equations.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329" name="Google Shape;1329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solutions from graphs</a:t>
            </a:r>
            <a:endParaRPr/>
          </a:p>
        </p:txBody>
      </p:sp>
      <p:graphicFrame>
        <p:nvGraphicFramePr>
          <p:cNvPr id="1330" name="Google Shape;1330;p96"/>
          <p:cNvGraphicFramePr/>
          <p:nvPr/>
        </p:nvGraphicFramePr>
        <p:xfrm>
          <a:off x="3487500" y="393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1219125"/>
                <a:gridCol w="949875"/>
              </a:tblGrid>
              <a:tr h="231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quation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3 =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3 =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1" name="Google Shape;1331;p96"/>
          <p:cNvSpPr txBox="1"/>
          <p:nvPr>
            <p:ph idx="1" type="body"/>
          </p:nvPr>
        </p:nvSpPr>
        <p:spPr>
          <a:xfrm>
            <a:off x="324000" y="681450"/>
            <a:ext cx="2723100" cy="9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1a) Use the lines on the graph to </a:t>
            </a:r>
            <a:r>
              <a:rPr lang="en-GB" sz="1800"/>
              <a:t>solve</a:t>
            </a:r>
            <a:r>
              <a:rPr lang="en-GB" sz="1800"/>
              <a:t> the</a:t>
            </a:r>
            <a:r>
              <a:rPr lang="en-GB" sz="1800"/>
              <a:t> </a:t>
            </a:r>
            <a:r>
              <a:rPr lang="en-GB" sz="1800"/>
              <a:t>equations below. </a:t>
            </a:r>
            <a:endParaRPr sz="1800"/>
          </a:p>
        </p:txBody>
      </p:sp>
      <p:graphicFrame>
        <p:nvGraphicFramePr>
          <p:cNvPr id="1332" name="Google Shape;1332;p96"/>
          <p:cNvGraphicFramePr/>
          <p:nvPr/>
        </p:nvGraphicFramePr>
        <p:xfrm>
          <a:off x="340400" y="335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1288875"/>
                <a:gridCol w="1052125"/>
              </a:tblGrid>
              <a:tr h="450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0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 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2 =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0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 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2 =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333" name="Google Shape;1333;p96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625" y="3847210"/>
            <a:ext cx="137950" cy="43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334" name="Google Shape;1334;p96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625" y="4364835"/>
            <a:ext cx="137950" cy="43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5" name="Google Shape;1335;p96"/>
          <p:cNvSpPr txBox="1"/>
          <p:nvPr>
            <p:ph idx="1" type="body"/>
          </p:nvPr>
        </p:nvSpPr>
        <p:spPr>
          <a:xfrm>
            <a:off x="6170600" y="651525"/>
            <a:ext cx="2723100" cy="99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1c) Solve the equations below by drawing the </a:t>
            </a:r>
            <a:r>
              <a:rPr lang="en-GB" sz="1800"/>
              <a:t>relevant</a:t>
            </a:r>
            <a:r>
              <a:rPr lang="en-GB" sz="1800"/>
              <a:t> graphs.       </a:t>
            </a:r>
            <a:endParaRPr sz="1600"/>
          </a:p>
        </p:txBody>
      </p:sp>
      <p:graphicFrame>
        <p:nvGraphicFramePr>
          <p:cNvPr id="1336" name="Google Shape;1336;p96"/>
          <p:cNvGraphicFramePr/>
          <p:nvPr/>
        </p:nvGraphicFramePr>
        <p:xfrm>
          <a:off x="6292825" y="387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1113550"/>
                <a:gridCol w="982950"/>
              </a:tblGrid>
              <a:tr h="231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+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3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+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1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337" name="Google Shape;1337;p96"/>
          <p:cNvCxnSpPr/>
          <p:nvPr/>
        </p:nvCxnSpPr>
        <p:spPr>
          <a:xfrm>
            <a:off x="2965775" y="623750"/>
            <a:ext cx="0" cy="4190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8" name="Google Shape;1338;p96"/>
          <p:cNvCxnSpPr/>
          <p:nvPr/>
        </p:nvCxnSpPr>
        <p:spPr>
          <a:xfrm>
            <a:off x="6114300" y="623750"/>
            <a:ext cx="0" cy="4194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39" name="Google Shape;1339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8525" y="1619929"/>
            <a:ext cx="2169000" cy="213174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40" name="Google Shape;1340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6313" y="1615887"/>
            <a:ext cx="2447438" cy="216821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41" name="Google Shape;1341;p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0400" y="1699613"/>
            <a:ext cx="2447425" cy="1426333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42" name="Google Shape;1342;p96"/>
          <p:cNvSpPr/>
          <p:nvPr/>
        </p:nvSpPr>
        <p:spPr>
          <a:xfrm>
            <a:off x="687750" y="2910100"/>
            <a:ext cx="928800" cy="393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\frac{1}{2}x-2&quot;&gt;&lt;mi&gt;y&lt;/mi&gt;&lt;mo&gt;=&lt;/mo&gt;&lt;mfrac&gt;&lt;mn&gt;1&lt;/mn&gt;&lt;mn&gt;2&lt;/mn&gt;&lt;/mfrac&gt;&lt;mi&gt;x&lt;/mi&gt;&lt;mo&gt;−&lt;/mo&gt;&lt;mn&gt;2&lt;/mn&gt;&lt;/math&gt;" id="1343" name="Google Shape;1343;p96" title="y equals one half x minus 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8450" y="2918275"/>
            <a:ext cx="867400" cy="37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4" name="Google Shape;1344;p96"/>
          <p:cNvSpPr/>
          <p:nvPr/>
        </p:nvSpPr>
        <p:spPr>
          <a:xfrm>
            <a:off x="1709450" y="1771223"/>
            <a:ext cx="543000" cy="23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96"/>
          <p:cNvSpPr/>
          <p:nvPr/>
        </p:nvSpPr>
        <p:spPr>
          <a:xfrm>
            <a:off x="1951725" y="2548550"/>
            <a:ext cx="727800" cy="23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-1&quot;&gt;&lt;mi&gt;y&lt;/mi&gt;&lt;mo&gt;=&lt;/mo&gt;&lt;mo&gt;−&lt;/mo&gt;&lt;mn&gt;1&lt;/mn&gt;&lt;/math&gt;" id="1346" name="Google Shape;1346;p96" title="y equals negative 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19225" y="2574487"/>
            <a:ext cx="595992" cy="1853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1&quot;&gt;&lt;mi&gt;y&lt;/mi&gt;&lt;mo&gt;=&lt;/mo&gt;&lt;mn&gt;1&lt;/mn&gt;&lt;/math&gt;" id="1347" name="Google Shape;1347;p96" title="y equals 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750819" y="1795114"/>
            <a:ext cx="450628" cy="185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solutions from graphs</a:t>
            </a:r>
            <a:endParaRPr/>
          </a:p>
        </p:txBody>
      </p:sp>
      <p:sp>
        <p:nvSpPr>
          <p:cNvPr id="1353" name="Google Shape;1353;p97"/>
          <p:cNvSpPr txBox="1"/>
          <p:nvPr>
            <p:ph idx="1" type="body"/>
          </p:nvPr>
        </p:nvSpPr>
        <p:spPr>
          <a:xfrm>
            <a:off x="324000" y="681450"/>
            <a:ext cx="4178400" cy="62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</a:t>
            </a:r>
            <a:r>
              <a:rPr lang="en-GB" sz="1800"/>
              <a:t> Use the lines on the graph to solve the equations. </a:t>
            </a:r>
            <a:endParaRPr sz="1800"/>
          </a:p>
        </p:txBody>
      </p:sp>
      <p:graphicFrame>
        <p:nvGraphicFramePr>
          <p:cNvPr id="1354" name="Google Shape;1354;p97"/>
          <p:cNvGraphicFramePr/>
          <p:nvPr/>
        </p:nvGraphicFramePr>
        <p:xfrm>
          <a:off x="1906349" y="399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253900"/>
                <a:gridCol w="1657950"/>
                <a:gridCol w="945300"/>
              </a:tblGrid>
              <a:tr h="39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5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+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 = 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55" name="Google Shape;1355;p97"/>
          <p:cNvSpPr txBox="1"/>
          <p:nvPr>
            <p:ph idx="1" type="body"/>
          </p:nvPr>
        </p:nvSpPr>
        <p:spPr>
          <a:xfrm>
            <a:off x="4937050" y="651525"/>
            <a:ext cx="3880500" cy="99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r>
              <a:rPr lang="en-GB" sz="1800"/>
              <a:t>) Solve the equation below by drawing the relevant graphs.       </a:t>
            </a:r>
            <a:endParaRPr sz="1600"/>
          </a:p>
        </p:txBody>
      </p:sp>
      <p:graphicFrame>
        <p:nvGraphicFramePr>
          <p:cNvPr id="1356" name="Google Shape;1356;p97"/>
          <p:cNvGraphicFramePr/>
          <p:nvPr/>
        </p:nvGraphicFramePr>
        <p:xfrm>
          <a:off x="5957850" y="424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1532250"/>
                <a:gridCol w="935225"/>
              </a:tblGrid>
              <a:tr h="231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5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</a:t>
                      </a:r>
                      <a:r>
                        <a:rPr i="1"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57" name="Google Shape;1357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625" y="1373675"/>
            <a:ext cx="2096501" cy="249210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358" name="Google Shape;1358;p97"/>
          <p:cNvGraphicFramePr/>
          <p:nvPr/>
        </p:nvGraphicFramePr>
        <p:xfrm>
          <a:off x="2502461" y="2683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256025"/>
                <a:gridCol w="1044000"/>
                <a:gridCol w="961000"/>
              </a:tblGrid>
              <a:tr h="39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5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+ 8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59" name="Google Shape;1359;p97"/>
          <p:cNvGraphicFramePr/>
          <p:nvPr/>
        </p:nvGraphicFramePr>
        <p:xfrm>
          <a:off x="2507874" y="137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265500"/>
                <a:gridCol w="1029125"/>
                <a:gridCol w="966400"/>
              </a:tblGrid>
              <a:tr h="39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5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y=x&quot;&gt;&lt;mi&gt;y&lt;/mi&gt;&lt;mo&gt;=&lt;/mo&gt;&lt;mi&gt;x&lt;/mi&gt;&lt;/math&gt;" id="1360" name="Google Shape;1360;p97" title="y equals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699998">
            <a:off x="949725" y="3328360"/>
            <a:ext cx="550125" cy="1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3-2x&quot;&gt;&lt;mi&gt;y&lt;/mi&gt;&lt;mo&gt;=&lt;/mo&gt;&lt;mn&gt;3&lt;/mn&gt;&lt;mo&gt;−&lt;/mo&gt;&lt;mn&gt;2&lt;/mn&gt;&lt;mi&gt;x&lt;/mi&gt;&lt;/math&gt;" id="1361" name="Google Shape;1361;p97" title="y equals 3 minus 2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3711561">
            <a:off x="1646986" y="3260565"/>
            <a:ext cx="957816" cy="19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3x+8&quot;&gt;&lt;mi&gt;y&lt;/mi&gt;&lt;mo&gt;=&lt;/mo&gt;&lt;mn&gt;3&lt;/mn&gt;&lt;mi&gt;x&lt;/mi&gt;&lt;mo&gt;+&lt;/mo&gt;&lt;mn&gt;8&lt;/mn&gt;&lt;/math&gt;" id="1362" name="Google Shape;1362;p97" title="y equals 3 x plus 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4208510">
            <a:off x="644504" y="2082722"/>
            <a:ext cx="946368" cy="190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3" name="Google Shape;1363;p97"/>
          <p:cNvCxnSpPr/>
          <p:nvPr/>
        </p:nvCxnSpPr>
        <p:spPr>
          <a:xfrm>
            <a:off x="4819325" y="589350"/>
            <a:ext cx="0" cy="42213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64" name="Google Shape;1364;p9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21052" y="1365051"/>
            <a:ext cx="2096500" cy="2669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65" name="Google Shape;1365;p97"/>
          <p:cNvSpPr txBox="1"/>
          <p:nvPr>
            <p:ph idx="4294967295" type="body"/>
          </p:nvPr>
        </p:nvSpPr>
        <p:spPr>
          <a:xfrm>
            <a:off x="4923550" y="1442875"/>
            <a:ext cx="1092600" cy="4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</a:t>
            </a: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</a:t>
            </a:r>
            <a:r>
              <a:rPr lang="en-GB" sz="2000"/>
              <a:t> </a:t>
            </a:r>
            <a:endParaRPr/>
          </a:p>
        </p:txBody>
      </p:sp>
      <p:graphicFrame>
        <p:nvGraphicFramePr>
          <p:cNvPr id="1366" name="Google Shape;1366;p97"/>
          <p:cNvGraphicFramePr/>
          <p:nvPr/>
        </p:nvGraphicFramePr>
        <p:xfrm>
          <a:off x="4897097" y="179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291075"/>
                <a:gridCol w="291075"/>
                <a:gridCol w="291075"/>
                <a:gridCol w="291075"/>
                <a:gridCol w="291075"/>
                <a:gridCol w="291075"/>
              </a:tblGrid>
              <a:tr h="25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67" name="Google Shape;1367;p97"/>
          <p:cNvSpPr txBox="1"/>
          <p:nvPr>
            <p:ph idx="4294967295" type="body"/>
          </p:nvPr>
        </p:nvSpPr>
        <p:spPr>
          <a:xfrm>
            <a:off x="4923550" y="2585875"/>
            <a:ext cx="1092600" cy="4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</a:t>
            </a: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 </a:t>
            </a:r>
            <a:endParaRPr/>
          </a:p>
        </p:txBody>
      </p:sp>
      <p:graphicFrame>
        <p:nvGraphicFramePr>
          <p:cNvPr id="1368" name="Google Shape;1368;p97"/>
          <p:cNvGraphicFramePr/>
          <p:nvPr/>
        </p:nvGraphicFramePr>
        <p:xfrm>
          <a:off x="4897097" y="293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291075"/>
                <a:gridCol w="291075"/>
                <a:gridCol w="291075"/>
                <a:gridCol w="291075"/>
                <a:gridCol w="291075"/>
                <a:gridCol w="291075"/>
              </a:tblGrid>
              <a:tr h="25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solutions from graphs</a:t>
            </a:r>
            <a:endParaRPr/>
          </a:p>
        </p:txBody>
      </p:sp>
      <p:graphicFrame>
        <p:nvGraphicFramePr>
          <p:cNvPr id="1374" name="Google Shape;1374;p98"/>
          <p:cNvGraphicFramePr/>
          <p:nvPr/>
        </p:nvGraphicFramePr>
        <p:xfrm>
          <a:off x="3605400" y="393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1255300"/>
                <a:gridCol w="978075"/>
              </a:tblGrid>
              <a:tr h="231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3 =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0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3 =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75" name="Google Shape;1375;p98"/>
          <p:cNvSpPr txBox="1"/>
          <p:nvPr>
            <p:ph idx="1" type="body"/>
          </p:nvPr>
        </p:nvSpPr>
        <p:spPr>
          <a:xfrm>
            <a:off x="324000" y="649650"/>
            <a:ext cx="2723100" cy="9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1a) Use the lines on the graph to solve the equations below. </a:t>
            </a:r>
            <a:endParaRPr sz="1800"/>
          </a:p>
        </p:txBody>
      </p:sp>
      <p:graphicFrame>
        <p:nvGraphicFramePr>
          <p:cNvPr id="1376" name="Google Shape;1376;p98"/>
          <p:cNvGraphicFramePr/>
          <p:nvPr/>
        </p:nvGraphicFramePr>
        <p:xfrm>
          <a:off x="340400" y="335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1229625"/>
                <a:gridCol w="1003750"/>
              </a:tblGrid>
              <a:tr h="450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0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 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2 =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 = 6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0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 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2 =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2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377" name="Google Shape;1377;p98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625" y="3847210"/>
            <a:ext cx="137950" cy="43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378" name="Google Shape;1378;p98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625" y="4364835"/>
            <a:ext cx="137950" cy="43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\frac{1}{2}x-2&quot;&gt;&lt;mi&gt;y&lt;/mi&gt;&lt;mo&gt;=&lt;/mo&gt;&lt;mfrac&gt;&lt;mn&gt;1&lt;/mn&gt;&lt;mn&gt;2&lt;/mn&gt;&lt;/mfrac&gt;&lt;mi&gt;x&lt;/mi&gt;&lt;mo&gt;−&lt;/mo&gt;&lt;mn&gt;2&lt;/mn&gt;&lt;/math&gt;" id="1379" name="Google Shape;1379;p98" title="y equals one half x minu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450" y="2862750"/>
            <a:ext cx="867400" cy="37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0" name="Google Shape;1380;p98"/>
          <p:cNvSpPr txBox="1"/>
          <p:nvPr>
            <p:ph idx="1" type="body"/>
          </p:nvPr>
        </p:nvSpPr>
        <p:spPr>
          <a:xfrm>
            <a:off x="6170600" y="649650"/>
            <a:ext cx="2723100" cy="99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1c) Solve the equations below by drawing the relevant graph.       </a:t>
            </a:r>
            <a:endParaRPr sz="1600"/>
          </a:p>
        </p:txBody>
      </p:sp>
      <p:graphicFrame>
        <p:nvGraphicFramePr>
          <p:cNvPr id="1381" name="Google Shape;1381;p98"/>
          <p:cNvGraphicFramePr/>
          <p:nvPr/>
        </p:nvGraphicFramePr>
        <p:xfrm>
          <a:off x="6445225" y="387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1113550"/>
                <a:gridCol w="982950"/>
              </a:tblGrid>
              <a:tr h="231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+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3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1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+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1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2" name="Google Shape;1382;p98"/>
          <p:cNvSpPr txBox="1"/>
          <p:nvPr>
            <p:ph idx="1" type="body"/>
          </p:nvPr>
        </p:nvSpPr>
        <p:spPr>
          <a:xfrm>
            <a:off x="3023316" y="651525"/>
            <a:ext cx="2985600" cy="9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1b) Below is the graph of the equation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</a:t>
            </a:r>
            <a:r>
              <a:rPr lang="en-GB" sz="20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 </a:t>
            </a:r>
            <a:r>
              <a:rPr lang="en-GB" sz="1800"/>
              <a:t>Use it to solve the equations. </a:t>
            </a:r>
            <a:endParaRPr sz="1800"/>
          </a:p>
        </p:txBody>
      </p:sp>
      <p:pic>
        <p:nvPicPr>
          <p:cNvPr id="1383" name="Google Shape;1383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6313" y="1615887"/>
            <a:ext cx="2447438" cy="216821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84" name="Google Shape;1384;p9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0400" y="1699613"/>
            <a:ext cx="2447425" cy="1426333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85" name="Google Shape;1385;p98"/>
          <p:cNvSpPr/>
          <p:nvPr/>
        </p:nvSpPr>
        <p:spPr>
          <a:xfrm>
            <a:off x="687750" y="2910100"/>
            <a:ext cx="928800" cy="393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\frac{1}{2}x-2&quot;&gt;&lt;mi&gt;y&lt;/mi&gt;&lt;mo&gt;=&lt;/mo&gt;&lt;mfrac&gt;&lt;mn&gt;1&lt;/mn&gt;&lt;mn&gt;2&lt;/mn&gt;&lt;/mfrac&gt;&lt;mi&gt;x&lt;/mi&gt;&lt;mo&gt;−&lt;/mo&gt;&lt;mn&gt;2&lt;/mn&gt;&lt;/math&gt;" id="1386" name="Google Shape;1386;p98" title="y equals one half x minu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450" y="2918275"/>
            <a:ext cx="867400" cy="37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7" name="Google Shape;1387;p98"/>
          <p:cNvSpPr/>
          <p:nvPr/>
        </p:nvSpPr>
        <p:spPr>
          <a:xfrm>
            <a:off x="1709450" y="1771223"/>
            <a:ext cx="543000" cy="23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8" name="Google Shape;1388;p98"/>
          <p:cNvSpPr/>
          <p:nvPr/>
        </p:nvSpPr>
        <p:spPr>
          <a:xfrm>
            <a:off x="1951725" y="2548550"/>
            <a:ext cx="727800" cy="23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-1&quot;&gt;&lt;mi&gt;y&lt;/mi&gt;&lt;mo&gt;=&lt;/mo&gt;&lt;mo&gt;−&lt;/mo&gt;&lt;mn&gt;1&lt;/mn&gt;&lt;/math&gt;" id="1389" name="Google Shape;1389;p98" title="y equals negative 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19225" y="2574487"/>
            <a:ext cx="595992" cy="1853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1&quot;&gt;&lt;mi&gt;y&lt;/mi&gt;&lt;mo&gt;=&lt;/mo&gt;&lt;mn&gt;1&lt;/mn&gt;&lt;/math&gt;" id="1390" name="Google Shape;1390;p98" title="y equals 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50819" y="1795114"/>
            <a:ext cx="450628" cy="18533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1" name="Google Shape;1391;p98"/>
          <p:cNvCxnSpPr/>
          <p:nvPr/>
        </p:nvCxnSpPr>
        <p:spPr>
          <a:xfrm>
            <a:off x="2965775" y="623750"/>
            <a:ext cx="0" cy="4190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2" name="Google Shape;1392;p98"/>
          <p:cNvCxnSpPr/>
          <p:nvPr/>
        </p:nvCxnSpPr>
        <p:spPr>
          <a:xfrm>
            <a:off x="6114300" y="623750"/>
            <a:ext cx="0" cy="4194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93" name="Google Shape;1393;p9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41650" y="1615913"/>
            <a:ext cx="2478349" cy="21024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solutions from graphs</a:t>
            </a:r>
            <a:endParaRPr/>
          </a:p>
        </p:txBody>
      </p:sp>
      <p:sp>
        <p:nvSpPr>
          <p:cNvPr id="1399" name="Google Shape;1399;p99"/>
          <p:cNvSpPr txBox="1"/>
          <p:nvPr>
            <p:ph idx="1" type="body"/>
          </p:nvPr>
        </p:nvSpPr>
        <p:spPr>
          <a:xfrm>
            <a:off x="324000" y="651525"/>
            <a:ext cx="4248000" cy="60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Use the lines on the graph to solve the equations. </a:t>
            </a:r>
            <a:endParaRPr sz="1800"/>
          </a:p>
        </p:txBody>
      </p:sp>
      <p:graphicFrame>
        <p:nvGraphicFramePr>
          <p:cNvPr id="1400" name="Google Shape;1400;p99"/>
          <p:cNvGraphicFramePr/>
          <p:nvPr/>
        </p:nvGraphicFramePr>
        <p:xfrm>
          <a:off x="1906349" y="399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254375"/>
                <a:gridCol w="1661100"/>
                <a:gridCol w="947075"/>
              </a:tblGrid>
              <a:tr h="39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5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+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 = 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01" name="Google Shape;1401;p99"/>
          <p:cNvSpPr txBox="1"/>
          <p:nvPr>
            <p:ph idx="1" type="body"/>
          </p:nvPr>
        </p:nvSpPr>
        <p:spPr>
          <a:xfrm>
            <a:off x="4937050" y="651525"/>
            <a:ext cx="3880500" cy="99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 Solve the equation below by drawing the relevant graphs.       </a:t>
            </a:r>
            <a:endParaRPr sz="1600"/>
          </a:p>
        </p:txBody>
      </p:sp>
      <p:graphicFrame>
        <p:nvGraphicFramePr>
          <p:cNvPr id="1402" name="Google Shape;1402;p99"/>
          <p:cNvGraphicFramePr/>
          <p:nvPr/>
        </p:nvGraphicFramePr>
        <p:xfrm>
          <a:off x="5957850" y="424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1532250"/>
                <a:gridCol w="935225"/>
              </a:tblGrid>
              <a:tr h="231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 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5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</a:t>
                      </a:r>
                      <a:r>
                        <a:rPr i="1"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2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403" name="Google Shape;1403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625" y="1373675"/>
            <a:ext cx="2096501" cy="249210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404" name="Google Shape;1404;p99"/>
          <p:cNvGraphicFramePr/>
          <p:nvPr/>
        </p:nvGraphicFramePr>
        <p:xfrm>
          <a:off x="2502461" y="2683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256025"/>
                <a:gridCol w="1051825"/>
                <a:gridCol w="953175"/>
              </a:tblGrid>
              <a:tr h="39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5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+ 8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05" name="Google Shape;1405;p99"/>
          <p:cNvGraphicFramePr/>
          <p:nvPr/>
        </p:nvGraphicFramePr>
        <p:xfrm>
          <a:off x="2507874" y="137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265500"/>
                <a:gridCol w="1014725"/>
                <a:gridCol w="980800"/>
              </a:tblGrid>
              <a:tr h="39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equation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solution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5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18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= 1</a:t>
                      </a:r>
                      <a:endParaRPr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8282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y=x&quot;&gt;&lt;mi&gt;y&lt;/mi&gt;&lt;mo&gt;=&lt;/mo&gt;&lt;mi&gt;x&lt;/mi&gt;&lt;/math&gt;" id="1406" name="Google Shape;1406;p99" title="y equals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699998">
            <a:off x="949725" y="3328360"/>
            <a:ext cx="550125" cy="1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3-2x&quot;&gt;&lt;mi&gt;y&lt;/mi&gt;&lt;mo&gt;=&lt;/mo&gt;&lt;mn&gt;3&lt;/mn&gt;&lt;mo&gt;−&lt;/mo&gt;&lt;mn&gt;2&lt;/mn&gt;&lt;mi&gt;x&lt;/mi&gt;&lt;/math&gt;" id="1407" name="Google Shape;1407;p99" title="y equals 3 minus 2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3711561">
            <a:off x="1646986" y="3260565"/>
            <a:ext cx="957816" cy="19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3x+8&quot;&gt;&lt;mi&gt;y&lt;/mi&gt;&lt;mo&gt;=&lt;/mo&gt;&lt;mn&gt;3&lt;/mn&gt;&lt;mi&gt;x&lt;/mi&gt;&lt;mo&gt;+&lt;/mo&gt;&lt;mn&gt;8&lt;/mn&gt;&lt;/math&gt;" id="1408" name="Google Shape;1408;p99" title="y equals 3 x plus 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4208510">
            <a:off x="644504" y="2082722"/>
            <a:ext cx="946368" cy="190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09" name="Google Shape;1409;p99"/>
          <p:cNvCxnSpPr/>
          <p:nvPr/>
        </p:nvCxnSpPr>
        <p:spPr>
          <a:xfrm>
            <a:off x="4819325" y="589350"/>
            <a:ext cx="0" cy="42213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0" name="Google Shape;1410;p99"/>
          <p:cNvSpPr txBox="1"/>
          <p:nvPr>
            <p:ph idx="4294967295" type="body"/>
          </p:nvPr>
        </p:nvSpPr>
        <p:spPr>
          <a:xfrm>
            <a:off x="4923550" y="1442875"/>
            <a:ext cx="1092600" cy="4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</a:t>
            </a: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3</a:t>
            </a:r>
            <a:r>
              <a:rPr lang="en-GB" sz="2000"/>
              <a:t> </a:t>
            </a:r>
            <a:endParaRPr/>
          </a:p>
        </p:txBody>
      </p:sp>
      <p:graphicFrame>
        <p:nvGraphicFramePr>
          <p:cNvPr id="1411" name="Google Shape;1411;p99"/>
          <p:cNvGraphicFramePr/>
          <p:nvPr/>
        </p:nvGraphicFramePr>
        <p:xfrm>
          <a:off x="4897097" y="179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304000"/>
                <a:gridCol w="304000"/>
                <a:gridCol w="304000"/>
                <a:gridCol w="304000"/>
                <a:gridCol w="304000"/>
                <a:gridCol w="304000"/>
              </a:tblGrid>
              <a:tr h="25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12" name="Google Shape;1412;p99"/>
          <p:cNvSpPr txBox="1"/>
          <p:nvPr>
            <p:ph idx="4294967295" type="body"/>
          </p:nvPr>
        </p:nvSpPr>
        <p:spPr>
          <a:xfrm>
            <a:off x="4923550" y="2585875"/>
            <a:ext cx="1092600" cy="4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=</a:t>
            </a:r>
            <a:r>
              <a:rPr lang="en-GB" sz="18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 </a:t>
            </a:r>
            <a:endParaRPr/>
          </a:p>
        </p:txBody>
      </p:sp>
      <p:graphicFrame>
        <p:nvGraphicFramePr>
          <p:cNvPr id="1413" name="Google Shape;1413;p99"/>
          <p:cNvGraphicFramePr/>
          <p:nvPr/>
        </p:nvGraphicFramePr>
        <p:xfrm>
          <a:off x="4897097" y="293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{26242A39-316E-417E-A883-7CF5A76C8240}</a:tableStyleId>
              </a:tblPr>
              <a:tblGrid>
                <a:gridCol w="291075"/>
                <a:gridCol w="291075"/>
                <a:gridCol w="291075"/>
                <a:gridCol w="291075"/>
                <a:gridCol w="291075"/>
                <a:gridCol w="291075"/>
              </a:tblGrid>
              <a:tr h="25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414" name="Google Shape;1414;p9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98875" y="1373675"/>
            <a:ext cx="2005275" cy="264753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100"/>
          <p:cNvSpPr txBox="1"/>
          <p:nvPr>
            <p:ph idx="1" type="body"/>
          </p:nvPr>
        </p:nvSpPr>
        <p:spPr>
          <a:xfrm>
            <a:off x="324000" y="8298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In a linear equation there is a particular value that makes the equation balance, this is called the </a:t>
            </a:r>
            <a:r>
              <a:rPr b="1" lang="en-GB" sz="1800"/>
              <a:t>solution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Finding the </a:t>
            </a:r>
            <a:r>
              <a:rPr b="1" lang="en-GB" sz="1800"/>
              <a:t>solution</a:t>
            </a:r>
            <a:r>
              <a:rPr lang="en-GB" sz="1800"/>
              <a:t> to an equation is called solving.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We can test whether a value is a </a:t>
            </a:r>
            <a:r>
              <a:rPr b="1" lang="en-GB" sz="1800"/>
              <a:t>solution</a:t>
            </a:r>
            <a:r>
              <a:rPr lang="en-GB" sz="1800"/>
              <a:t> by substituting into the equation and checking both sides balance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We can find the </a:t>
            </a:r>
            <a:r>
              <a:rPr b="1" lang="en-GB" sz="1800"/>
              <a:t>solution</a:t>
            </a:r>
            <a:r>
              <a:rPr lang="en-GB" sz="1800"/>
              <a:t> to an equation on a graph by graphing the expressions on both sides of the equals sign and seeing where they intersect.</a:t>
            </a:r>
            <a:endParaRPr sz="1800"/>
          </a:p>
        </p:txBody>
      </p:sp>
      <p:sp>
        <p:nvSpPr>
          <p:cNvPr id="1420" name="Google Shape;1420;p100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Solution to an equation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101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26" name="Google Shape;1426;p1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