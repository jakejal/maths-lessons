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68" r:id="rId3"/>
    <p:sldMasterId id="21474837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29f4b636815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29f4b636815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29f4b636815_0_1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29f4b636815_0_1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29f4b636815_0_1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29f4b636815_0_1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29f4b636815_0_1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29f4b636815_0_1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9f4b636815_0_1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9f4b636815_0_1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29f4b636815_0_1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29f4b636815_0_1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9f4b636815_0_1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9f4b636815_0_1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29f4b636815_0_1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29f4b636815_0_1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29f4b636815_0_1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9f4b636815_0_1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29f4b636815_0_1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29f4b636815_0_1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29f4b636815_0_1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29f4b636815_0_1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29f4b636815_0_2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29f4b636815_0_2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29f4b636815_0_2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29f4b636815_0_2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9f4b636815_0_2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9f4b636815_0_2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29f4b636815_0_1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29f4b636815_0_1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29f4b636815_0_2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29f4b636815_0_2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29f4b636815_0_2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29f4b636815_0_2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29f4b636815_0_2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29f4b636815_0_2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29f4b636815_0_2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29f4b636815_0_2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29f4b636815_0_2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29f4b636815_0_2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29f4b636815_0_2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29f4b636815_0_2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29f4b636815_0_2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29f4b636815_0_2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29f4b636815_0_2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8" name="Google Shape;1958;g29f4b636815_0_2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29f4b636815_0_2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29f4b636815_0_2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29f4b636815_0_2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29f4b636815_0_2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29f79557bd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29f79557bd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g29f79557bd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9" name="Google Shape;2019;g29f79557bd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g29f79557bd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2" name="Google Shape;2032;g29f79557bd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29f79557bd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4" name="Google Shape;2044;g29f79557bd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g29f79557bd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0" name="Google Shape;2060;g29f79557bd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29f79557bd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29f79557bd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g29f79557bd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2" name="Google Shape;2092;g29f79557bd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g29f79557bd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8" name="Google Shape;2128;g29f79557bd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29f8600e2f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29f8600e2f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2" name="Google Shape;220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1" name="Google Shape;221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0.png"/><Relationship Id="rId4" Type="http://schemas.openxmlformats.org/officeDocument/2006/relationships/image" Target="../media/image70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0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0.png"/><Relationship Id="rId4" Type="http://schemas.openxmlformats.org/officeDocument/2006/relationships/image" Target="../media/image31.png"/><Relationship Id="rId11" Type="http://schemas.openxmlformats.org/officeDocument/2006/relationships/image" Target="../media/image18.png"/><Relationship Id="rId10" Type="http://schemas.openxmlformats.org/officeDocument/2006/relationships/image" Target="../media/image40.png"/><Relationship Id="rId9" Type="http://schemas.openxmlformats.org/officeDocument/2006/relationships/image" Target="../media/image33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20.png"/><Relationship Id="rId4" Type="http://schemas.openxmlformats.org/officeDocument/2006/relationships/image" Target="../media/image70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18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70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70.png"/><Relationship Id="rId4" Type="http://schemas.openxmlformats.org/officeDocument/2006/relationships/image" Target="../media/image31.png"/><Relationship Id="rId11" Type="http://schemas.openxmlformats.org/officeDocument/2006/relationships/image" Target="../media/image18.png"/><Relationship Id="rId10" Type="http://schemas.openxmlformats.org/officeDocument/2006/relationships/image" Target="../media/image40.png"/><Relationship Id="rId9" Type="http://schemas.openxmlformats.org/officeDocument/2006/relationships/image" Target="../media/image33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1" name="Google Shape;891;p7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4" name="Google Shape;894;p78"/>
          <p:cNvCxnSpPr>
            <a:endCxn id="89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6" name="Google Shape;896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8" name="Google Shape;898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5" name="Google Shape;895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Google Shape;903;p7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9" name="Google Shape;909;p79"/>
          <p:cNvCxnSpPr>
            <a:endCxn id="910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0" name="Google Shape;910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3" name="Google Shape;913;p7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7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5" name="Google Shape;915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p7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8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9" name="Google Shape;929;p8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0" name="Google Shape;930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4" name="Google Shape;934;p8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5" name="Google Shape;935;p8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6" name="Google Shape;936;p8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37" name="Google Shape;937;p8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9" name="Google Shape;939;p8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8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6" name="Google Shape;94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5" name="Google Shape;95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2" name="Google Shape;972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8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5" name="Google Shape;975;p8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6" name="Google Shape;976;p8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7" name="Google Shape;97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8" name="Google Shape;978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0" name="Google Shape;98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1" name="Google Shape;981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5" name="Google Shape;985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8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8" name="Google Shape;988;p8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9" name="Google Shape;98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0" name="Google Shape;99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1" name="Google Shape;991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4" name="Google Shape;994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8" name="Google Shape;998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1" name="Google Shape;1001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3" name="Google Shape;1003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4" name="Google Shape;1004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7" name="Google Shape;1007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1" name="Google Shape;101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4" name="Google Shape;1014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5" name="Google Shape;101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6" name="Google Shape;1016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7" name="Google Shape;1017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9" name="Google Shape;1019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0" name="Google Shape;1020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3" name="Google Shape;1023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9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1" name="Google Shape;1031;p8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2" name="Google Shape;1032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3" name="Google Shape;1033;p8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6" name="Google Shape;1036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9" name="Google Shape;1039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0" name="Google Shape;1040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3" name="Google Shape;1043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9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3" name="Google Shape;105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6" name="Google Shape;1056;p9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9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8" name="Google Shape;105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9" name="Google Shape;1059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2" name="Google Shape;1062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4" name="Google Shape;106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5" name="Google Shape;107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6" name="Google Shape;1076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9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0" name="Google Shape;1080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1" name="Google Shape;1081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2" name="Google Shape;1082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5" name="Google Shape;1085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7" name="Google Shape;1087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8" name="Google Shape;1098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9" name="Google Shape;1099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2" name="Google Shape;1102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4" name="Google Shape;1104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5" name="Google Shape;110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8" name="Google Shape;110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0" name="Google Shape;111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Google Shape;1115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8" name="Google Shape;1118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1" name="Google Shape;1121;p9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2" name="Google Shape;1122;p9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3" name="Google Shape;1123;p9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4" name="Google Shape;1124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5" name="Google Shape;112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8" name="Google Shape;112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1" name="Google Shape;1131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4" name="Google Shape;1134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7" name="Google Shape;113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0" name="Google Shape;1140;p9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1" name="Google Shape;1141;p9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2" name="Google Shape;1142;p9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3" name="Google Shape;1143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4" name="Google Shape;1144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47" name="Google Shape;1147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0" name="Google Shape;1150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6" name="Google Shape;115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9" name="Google Shape;1159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0" name="Google Shape;1160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1" name="Google Shape;1161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2" name="Google Shape;1162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3" name="Google Shape;1163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6" name="Google Shape;116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9" name="Google Shape;116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2" name="Google Shape;1172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5" name="Google Shape;1175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8" name="Google Shape;1178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9" name="Google Shape;1179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0" name="Google Shape;1180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1" name="Google Shape;1181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2" name="Google Shape;118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4" name="Google Shape;1184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5" name="Google Shape;118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8" name="Google Shape;118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1" name="Google Shape;1191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4" name="Google Shape;119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7" name="Google Shape;1197;p9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8" name="Google Shape;1198;p9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9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0" name="Google Shape;1200;p9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1" name="Google Shape;120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2" name="Google Shape;120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5" name="Google Shape;120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8" name="Google Shape;120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1" name="Google Shape;121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4" name="Google Shape;121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7" name="Google Shape;121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0" name="Google Shape;1220;p9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1" name="Google Shape;1221;p9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9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3" name="Google Shape;1223;p9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4" name="Google Shape;122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5" name="Google Shape;122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6" name="Google Shape;122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7" name="Google Shape;122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8" name="Google Shape;122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1" name="Google Shape;123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4" name="Google Shape;123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7" name="Google Shape;1237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0" name="Google Shape;124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3" name="Google Shape;1243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4" name="Google Shape;1244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5" name="Google Shape;1245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7" name="Google Shape;1247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8" name="Google Shape;124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1" name="Google Shape;125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57" name="Google Shape;125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0" name="Google Shape;1260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3" name="Google Shape;126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6" name="Google Shape;1266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7" name="Google Shape;1267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8" name="Google Shape;1268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9" name="Google Shape;1269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0" name="Google Shape;1270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1" name="Google Shape;127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3" name="Google Shape;1273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Google Shape;1283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6" name="Google Shape;1286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9" name="Google Shape;1289;p10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0" name="Google Shape;1290;p10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1" name="Google Shape;1291;p10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2" name="Google Shape;1292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3" name="Google Shape;1293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2" name="Google Shape;1302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5" name="Google Shape;1305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8" name="Google Shape;1308;p10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9" name="Google Shape;1309;p10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0" name="Google Shape;1310;p10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1" name="Google Shape;1311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4" name="Google Shape;132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7" name="Google Shape;1327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8" name="Google Shape;1328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0" name="Google Shape;1330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Google Shape;1340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3" name="Google Shape;1343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6" name="Google Shape;1346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7" name="Google Shape;1347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8" name="Google Shape;1348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9" name="Google Shape;1349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9" name="Google Shape;1359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2" name="Google Shape;1362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0" name="Google Shape;1390;p10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2" name="Google Shape;1392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1" name="Google Shape;140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7" name="Google Shape;141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3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2" name="Google Shape;1432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3" name="Google Shape;143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8" name="Google Shape;144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9" name="Google Shape;1449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1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2" name="Google Shape;1452;p1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1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1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8" name="Google Shape;1458;p1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0" name="Google Shape;1460;p11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18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3" name="Google Shape;1463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1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2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2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2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6" name="Google Shape;147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2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2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theme" Target="../theme/theme3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8.png"/><Relationship Id="rId6" Type="http://schemas.openxmlformats.org/officeDocument/2006/relationships/image" Target="../media/image9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9.png"/><Relationship Id="rId4" Type="http://schemas.openxmlformats.org/officeDocument/2006/relationships/image" Target="../media/image10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8.png"/><Relationship Id="rId4" Type="http://schemas.openxmlformats.org/officeDocument/2006/relationships/image" Target="../media/image104.png"/><Relationship Id="rId5" Type="http://schemas.openxmlformats.org/officeDocument/2006/relationships/image" Target="../media/image103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8.png"/><Relationship Id="rId4" Type="http://schemas.openxmlformats.org/officeDocument/2006/relationships/image" Target="../media/image1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1.png"/><Relationship Id="rId4" Type="http://schemas.openxmlformats.org/officeDocument/2006/relationships/image" Target="../media/image113.png"/><Relationship Id="rId5" Type="http://schemas.openxmlformats.org/officeDocument/2006/relationships/image" Target="../media/image112.png"/><Relationship Id="rId6" Type="http://schemas.openxmlformats.org/officeDocument/2006/relationships/image" Target="../media/image116.png"/><Relationship Id="rId7" Type="http://schemas.openxmlformats.org/officeDocument/2006/relationships/image" Target="../media/image9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4.png"/><Relationship Id="rId4" Type="http://schemas.openxmlformats.org/officeDocument/2006/relationships/image" Target="../media/image119.png"/><Relationship Id="rId5" Type="http://schemas.openxmlformats.org/officeDocument/2006/relationships/image" Target="../media/image117.png"/><Relationship Id="rId6" Type="http://schemas.openxmlformats.org/officeDocument/2006/relationships/image" Target="../media/image115.png"/><Relationship Id="rId7" Type="http://schemas.openxmlformats.org/officeDocument/2006/relationships/image" Target="../media/image118.png"/><Relationship Id="rId8" Type="http://schemas.openxmlformats.org/officeDocument/2006/relationships/image" Target="../media/image1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4.png"/><Relationship Id="rId4" Type="http://schemas.openxmlformats.org/officeDocument/2006/relationships/image" Target="../media/image98.png"/><Relationship Id="rId5" Type="http://schemas.openxmlformats.org/officeDocument/2006/relationships/image" Target="../media/image126.png"/><Relationship Id="rId6" Type="http://schemas.openxmlformats.org/officeDocument/2006/relationships/image" Target="../media/image123.png"/><Relationship Id="rId7" Type="http://schemas.openxmlformats.org/officeDocument/2006/relationships/image" Target="../media/image125.png"/><Relationship Id="rId8" Type="http://schemas.openxmlformats.org/officeDocument/2006/relationships/image" Target="../media/image1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0.png"/><Relationship Id="rId4" Type="http://schemas.openxmlformats.org/officeDocument/2006/relationships/image" Target="../media/image128.png"/><Relationship Id="rId5" Type="http://schemas.openxmlformats.org/officeDocument/2006/relationships/image" Target="../media/image127.png"/><Relationship Id="rId6" Type="http://schemas.openxmlformats.org/officeDocument/2006/relationships/image" Target="../media/image130.png"/><Relationship Id="rId7" Type="http://schemas.openxmlformats.org/officeDocument/2006/relationships/image" Target="../media/image129.png"/><Relationship Id="rId8" Type="http://schemas.openxmlformats.org/officeDocument/2006/relationships/image" Target="../media/image1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0.png"/><Relationship Id="rId4" Type="http://schemas.openxmlformats.org/officeDocument/2006/relationships/image" Target="../media/image128.png"/><Relationship Id="rId5" Type="http://schemas.openxmlformats.org/officeDocument/2006/relationships/image" Target="../media/image127.png"/><Relationship Id="rId6" Type="http://schemas.openxmlformats.org/officeDocument/2006/relationships/image" Target="../media/image130.png"/><Relationship Id="rId7" Type="http://schemas.openxmlformats.org/officeDocument/2006/relationships/image" Target="../media/image129.png"/><Relationship Id="rId8" Type="http://schemas.openxmlformats.org/officeDocument/2006/relationships/image" Target="../media/image13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9.png"/><Relationship Id="rId4" Type="http://schemas.openxmlformats.org/officeDocument/2006/relationships/image" Target="../media/image1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2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in equations</a:t>
            </a:r>
            <a:endParaRPr/>
          </a:p>
        </p:txBody>
      </p:sp>
      <p:sp>
        <p:nvSpPr>
          <p:cNvPr id="1485" name="Google Shape;1485;p12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2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2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the significance of the bracket in an equation.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26"/>
          <p:cNvSpPr txBox="1"/>
          <p:nvPr/>
        </p:nvSpPr>
        <p:spPr>
          <a:xfrm>
            <a:off x="324000" y="1316975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equation is used to show two expressions that are equal to each other.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2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</a:t>
            </a:r>
            <a:r>
              <a:rPr lang="en-GB"/>
              <a:t> of equations involving brackets</a:t>
            </a:r>
            <a:endParaRPr/>
          </a:p>
        </p:txBody>
      </p:sp>
      <p:sp>
        <p:nvSpPr>
          <p:cNvPr id="1506" name="Google Shape;1506;p12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equations</a:t>
            </a:r>
            <a:endParaRPr/>
          </a:p>
        </p:txBody>
      </p:sp>
      <p:sp>
        <p:nvSpPr>
          <p:cNvPr id="1507" name="Google Shape;1507;p12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in equations</a:t>
            </a:r>
            <a:endParaRPr/>
          </a:p>
        </p:txBody>
      </p:sp>
      <p:pic>
        <p:nvPicPr>
          <p:cNvPr id="1508" name="Google Shape;1508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89" y="205351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28"/>
          <p:cNvSpPr txBox="1"/>
          <p:nvPr>
            <p:ph idx="1" type="body"/>
          </p:nvPr>
        </p:nvSpPr>
        <p:spPr>
          <a:xfrm>
            <a:off x="326400" y="759300"/>
            <a:ext cx="86793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Let’s consider the </a:t>
            </a:r>
            <a:r>
              <a:rPr lang="en-GB" sz="2000"/>
              <a:t>difference </a:t>
            </a:r>
            <a:r>
              <a:rPr lang="en-GB" sz="2000"/>
              <a:t>between the following equations:</a:t>
            </a:r>
            <a:endParaRPr sz="2000"/>
          </a:p>
        </p:txBody>
      </p:sp>
      <p:sp>
        <p:nvSpPr>
          <p:cNvPr id="1514" name="Google Shape;1514;p1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515" name="Google Shape;1515;p128"/>
          <p:cNvSpPr txBox="1"/>
          <p:nvPr/>
        </p:nvSpPr>
        <p:spPr>
          <a:xfrm>
            <a:off x="321588" y="2063523"/>
            <a:ext cx="167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6" name="Google Shape;1516;p128"/>
          <p:cNvSpPr txBox="1"/>
          <p:nvPr/>
        </p:nvSpPr>
        <p:spPr>
          <a:xfrm>
            <a:off x="5055913" y="2074734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+ 4) = 10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7" name="Google Shape;1517;p128"/>
          <p:cNvSpPr txBox="1"/>
          <p:nvPr/>
        </p:nvSpPr>
        <p:spPr>
          <a:xfrm>
            <a:off x="324000" y="1543755"/>
            <a:ext cx="2338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8" name="Google Shape;1518;p128"/>
          <p:cNvSpPr txBox="1"/>
          <p:nvPr/>
        </p:nvSpPr>
        <p:spPr>
          <a:xfrm>
            <a:off x="5055913" y="1532516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+ 4) × 2 = 10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9" name="Google Shape;1519;p128"/>
          <p:cNvSpPr/>
          <p:nvPr/>
        </p:nvSpPr>
        <p:spPr>
          <a:xfrm>
            <a:off x="1793973" y="2703084"/>
            <a:ext cx="1260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0" name="Google Shape;1520;p128"/>
          <p:cNvSpPr/>
          <p:nvPr/>
        </p:nvSpPr>
        <p:spPr>
          <a:xfrm>
            <a:off x="313527" y="2703084"/>
            <a:ext cx="7353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1" name="Google Shape;1521;p128"/>
          <p:cNvSpPr/>
          <p:nvPr/>
        </p:nvSpPr>
        <p:spPr>
          <a:xfrm>
            <a:off x="1058823" y="2703084"/>
            <a:ext cx="7353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2" name="Google Shape;1522;p128"/>
          <p:cNvSpPr/>
          <p:nvPr/>
        </p:nvSpPr>
        <p:spPr>
          <a:xfrm>
            <a:off x="313529" y="3084084"/>
            <a:ext cx="2741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3" name="Google Shape;1523;p128"/>
          <p:cNvSpPr txBox="1"/>
          <p:nvPr/>
        </p:nvSpPr>
        <p:spPr>
          <a:xfrm>
            <a:off x="326401" y="3796050"/>
            <a:ext cx="41679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you substitute in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works.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128"/>
          <p:cNvSpPr/>
          <p:nvPr/>
        </p:nvSpPr>
        <p:spPr>
          <a:xfrm>
            <a:off x="5675901" y="2703075"/>
            <a:ext cx="861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5" name="Google Shape;1525;p128"/>
          <p:cNvSpPr/>
          <p:nvPr/>
        </p:nvSpPr>
        <p:spPr>
          <a:xfrm>
            <a:off x="5062436" y="2703084"/>
            <a:ext cx="6135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6" name="Google Shape;1526;p128"/>
          <p:cNvSpPr/>
          <p:nvPr/>
        </p:nvSpPr>
        <p:spPr>
          <a:xfrm>
            <a:off x="5067016" y="3084075"/>
            <a:ext cx="29427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7" name="Google Shape;1527;p128"/>
          <p:cNvSpPr/>
          <p:nvPr/>
        </p:nvSpPr>
        <p:spPr>
          <a:xfrm>
            <a:off x="7147758" y="2703075"/>
            <a:ext cx="861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8" name="Google Shape;1528;p128"/>
          <p:cNvSpPr/>
          <p:nvPr/>
        </p:nvSpPr>
        <p:spPr>
          <a:xfrm>
            <a:off x="6534293" y="2703084"/>
            <a:ext cx="6135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9" name="Google Shape;1529;p128"/>
          <p:cNvSpPr txBox="1"/>
          <p:nvPr/>
        </p:nvSpPr>
        <p:spPr>
          <a:xfrm>
            <a:off x="5058313" y="3796050"/>
            <a:ext cx="3638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you substitute in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1,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works.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129"/>
          <p:cNvSpPr txBox="1"/>
          <p:nvPr>
            <p:ph idx="1" type="body"/>
          </p:nvPr>
        </p:nvSpPr>
        <p:spPr>
          <a:xfrm>
            <a:off x="324000" y="759300"/>
            <a:ext cx="71202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 and Jacob are drawing </a:t>
            </a:r>
            <a:r>
              <a:rPr lang="en-GB"/>
              <a:t>bar models for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+ 2) = 20</a:t>
            </a:r>
            <a:endParaRPr/>
          </a:p>
        </p:txBody>
      </p:sp>
      <p:sp>
        <p:nvSpPr>
          <p:cNvPr id="1535" name="Google Shape;1535;p1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536" name="Google Shape;1536;p129"/>
          <p:cNvSpPr txBox="1"/>
          <p:nvPr/>
        </p:nvSpPr>
        <p:spPr>
          <a:xfrm>
            <a:off x="326400" y="3708044"/>
            <a:ext cx="8489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They are very different.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Which do you think is correct?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7" name="Google Shape;1537;p129"/>
          <p:cNvGrpSpPr/>
          <p:nvPr/>
        </p:nvGrpSpPr>
        <p:grpSpPr>
          <a:xfrm>
            <a:off x="482925" y="2691269"/>
            <a:ext cx="3837118" cy="768600"/>
            <a:chOff x="482925" y="2703075"/>
            <a:chExt cx="3837118" cy="768600"/>
          </a:xfrm>
        </p:grpSpPr>
        <p:sp>
          <p:nvSpPr>
            <p:cNvPr id="1538" name="Google Shape;1538;p129"/>
            <p:cNvSpPr/>
            <p:nvPr/>
          </p:nvSpPr>
          <p:spPr>
            <a:xfrm>
              <a:off x="482925" y="3084075"/>
              <a:ext cx="38304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9" name="Google Shape;1539;p129"/>
            <p:cNvSpPr/>
            <p:nvPr/>
          </p:nvSpPr>
          <p:spPr>
            <a:xfrm>
              <a:off x="988115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0" name="Google Shape;1540;p129"/>
            <p:cNvSpPr/>
            <p:nvPr/>
          </p:nvSpPr>
          <p:spPr>
            <a:xfrm>
              <a:off x="482925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1" name="Google Shape;1541;p129"/>
            <p:cNvSpPr/>
            <p:nvPr/>
          </p:nvSpPr>
          <p:spPr>
            <a:xfrm>
              <a:off x="1947858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2" name="Google Shape;1542;p129"/>
            <p:cNvSpPr/>
            <p:nvPr/>
          </p:nvSpPr>
          <p:spPr>
            <a:xfrm>
              <a:off x="1442667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3" name="Google Shape;1543;p129"/>
            <p:cNvSpPr/>
            <p:nvPr/>
          </p:nvSpPr>
          <p:spPr>
            <a:xfrm>
              <a:off x="2907600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4" name="Google Shape;1544;p129"/>
            <p:cNvSpPr/>
            <p:nvPr/>
          </p:nvSpPr>
          <p:spPr>
            <a:xfrm>
              <a:off x="2402410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5" name="Google Shape;1545;p129"/>
            <p:cNvSpPr/>
            <p:nvPr/>
          </p:nvSpPr>
          <p:spPr>
            <a:xfrm>
              <a:off x="3867343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6" name="Google Shape;1546;p129"/>
            <p:cNvSpPr/>
            <p:nvPr/>
          </p:nvSpPr>
          <p:spPr>
            <a:xfrm>
              <a:off x="3362152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47" name="Google Shape;1547;p129"/>
          <p:cNvGrpSpPr/>
          <p:nvPr/>
        </p:nvGrpSpPr>
        <p:grpSpPr>
          <a:xfrm>
            <a:off x="4978721" y="2691269"/>
            <a:ext cx="3837122" cy="768600"/>
            <a:chOff x="4978721" y="2703075"/>
            <a:chExt cx="3837122" cy="768600"/>
          </a:xfrm>
        </p:grpSpPr>
        <p:sp>
          <p:nvSpPr>
            <p:cNvPr id="1548" name="Google Shape;1548;p129"/>
            <p:cNvSpPr/>
            <p:nvPr/>
          </p:nvSpPr>
          <p:spPr>
            <a:xfrm>
              <a:off x="4978721" y="2703075"/>
              <a:ext cx="20163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9" name="Google Shape;1549;p129"/>
            <p:cNvSpPr/>
            <p:nvPr/>
          </p:nvSpPr>
          <p:spPr>
            <a:xfrm>
              <a:off x="4978725" y="3084075"/>
              <a:ext cx="38304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0" name="Google Shape;1550;p129"/>
            <p:cNvSpPr/>
            <p:nvPr/>
          </p:nvSpPr>
          <p:spPr>
            <a:xfrm>
              <a:off x="8363143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1" name="Google Shape;1551;p129"/>
            <p:cNvSpPr/>
            <p:nvPr/>
          </p:nvSpPr>
          <p:spPr>
            <a:xfrm>
              <a:off x="7905943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2" name="Google Shape;1552;p129"/>
            <p:cNvSpPr/>
            <p:nvPr/>
          </p:nvSpPr>
          <p:spPr>
            <a:xfrm>
              <a:off x="7448743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3" name="Google Shape;1553;p129"/>
            <p:cNvSpPr/>
            <p:nvPr/>
          </p:nvSpPr>
          <p:spPr>
            <a:xfrm>
              <a:off x="6991543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554" name="Google Shape;1554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50" y="1657746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96" y="1641864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129"/>
          <p:cNvSpPr txBox="1"/>
          <p:nvPr/>
        </p:nvSpPr>
        <p:spPr>
          <a:xfrm>
            <a:off x="5079947" y="2159425"/>
            <a:ext cx="2098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Jacob draws…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129"/>
          <p:cNvSpPr txBox="1"/>
          <p:nvPr/>
        </p:nvSpPr>
        <p:spPr>
          <a:xfrm>
            <a:off x="1235950" y="2148194"/>
            <a:ext cx="2016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 draws…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30"/>
          <p:cNvSpPr txBox="1"/>
          <p:nvPr>
            <p:ph idx="1" type="body"/>
          </p:nvPr>
        </p:nvSpPr>
        <p:spPr>
          <a:xfrm>
            <a:off x="324000" y="759300"/>
            <a:ext cx="71202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 and Jacob are drawing bar models for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+ 2) = 20</a:t>
            </a:r>
            <a:endParaRPr/>
          </a:p>
        </p:txBody>
      </p:sp>
      <p:sp>
        <p:nvSpPr>
          <p:cNvPr id="1563" name="Google Shape;1563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grpSp>
        <p:nvGrpSpPr>
          <p:cNvPr id="1564" name="Google Shape;1564;p130"/>
          <p:cNvGrpSpPr/>
          <p:nvPr/>
        </p:nvGrpSpPr>
        <p:grpSpPr>
          <a:xfrm>
            <a:off x="482925" y="2626875"/>
            <a:ext cx="3837118" cy="768600"/>
            <a:chOff x="482925" y="2703075"/>
            <a:chExt cx="3837118" cy="768600"/>
          </a:xfrm>
        </p:grpSpPr>
        <p:sp>
          <p:nvSpPr>
            <p:cNvPr id="1565" name="Google Shape;1565;p130"/>
            <p:cNvSpPr/>
            <p:nvPr/>
          </p:nvSpPr>
          <p:spPr>
            <a:xfrm>
              <a:off x="482925" y="3084075"/>
              <a:ext cx="38304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6" name="Google Shape;1566;p130"/>
            <p:cNvSpPr/>
            <p:nvPr/>
          </p:nvSpPr>
          <p:spPr>
            <a:xfrm>
              <a:off x="988115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7" name="Google Shape;1567;p130"/>
            <p:cNvSpPr/>
            <p:nvPr/>
          </p:nvSpPr>
          <p:spPr>
            <a:xfrm>
              <a:off x="482925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8" name="Google Shape;1568;p130"/>
            <p:cNvSpPr/>
            <p:nvPr/>
          </p:nvSpPr>
          <p:spPr>
            <a:xfrm>
              <a:off x="1947858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9" name="Google Shape;1569;p130"/>
            <p:cNvSpPr/>
            <p:nvPr/>
          </p:nvSpPr>
          <p:spPr>
            <a:xfrm>
              <a:off x="1442667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0" name="Google Shape;1570;p130"/>
            <p:cNvSpPr/>
            <p:nvPr/>
          </p:nvSpPr>
          <p:spPr>
            <a:xfrm>
              <a:off x="2907600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1" name="Google Shape;1571;p130"/>
            <p:cNvSpPr/>
            <p:nvPr/>
          </p:nvSpPr>
          <p:spPr>
            <a:xfrm>
              <a:off x="2402410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2" name="Google Shape;1572;p130"/>
            <p:cNvSpPr/>
            <p:nvPr/>
          </p:nvSpPr>
          <p:spPr>
            <a:xfrm>
              <a:off x="3867343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3" name="Google Shape;1573;p130"/>
            <p:cNvSpPr/>
            <p:nvPr/>
          </p:nvSpPr>
          <p:spPr>
            <a:xfrm>
              <a:off x="3362152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74" name="Google Shape;1574;p130"/>
          <p:cNvGrpSpPr/>
          <p:nvPr/>
        </p:nvGrpSpPr>
        <p:grpSpPr>
          <a:xfrm>
            <a:off x="4978721" y="2626875"/>
            <a:ext cx="3837122" cy="768600"/>
            <a:chOff x="4978721" y="2703075"/>
            <a:chExt cx="3837122" cy="768600"/>
          </a:xfrm>
        </p:grpSpPr>
        <p:sp>
          <p:nvSpPr>
            <p:cNvPr id="1575" name="Google Shape;1575;p130"/>
            <p:cNvSpPr/>
            <p:nvPr/>
          </p:nvSpPr>
          <p:spPr>
            <a:xfrm>
              <a:off x="4978721" y="2703075"/>
              <a:ext cx="20163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6" name="Google Shape;1576;p130"/>
            <p:cNvSpPr/>
            <p:nvPr/>
          </p:nvSpPr>
          <p:spPr>
            <a:xfrm>
              <a:off x="4978725" y="3084075"/>
              <a:ext cx="38304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7" name="Google Shape;1577;p130"/>
            <p:cNvSpPr/>
            <p:nvPr/>
          </p:nvSpPr>
          <p:spPr>
            <a:xfrm>
              <a:off x="8363143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8" name="Google Shape;1578;p130"/>
            <p:cNvSpPr/>
            <p:nvPr/>
          </p:nvSpPr>
          <p:spPr>
            <a:xfrm>
              <a:off x="7905943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9" name="Google Shape;1579;p130"/>
            <p:cNvSpPr/>
            <p:nvPr/>
          </p:nvSpPr>
          <p:spPr>
            <a:xfrm>
              <a:off x="7448743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0" name="Google Shape;1580;p130"/>
            <p:cNvSpPr/>
            <p:nvPr/>
          </p:nvSpPr>
          <p:spPr>
            <a:xfrm>
              <a:off x="6991543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581" name="Google Shape;1581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50" y="159335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96" y="1577469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130"/>
          <p:cNvSpPr txBox="1"/>
          <p:nvPr/>
        </p:nvSpPr>
        <p:spPr>
          <a:xfrm>
            <a:off x="5079947" y="2095030"/>
            <a:ext cx="2098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Jacob draws…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30"/>
          <p:cNvSpPr txBox="1"/>
          <p:nvPr/>
        </p:nvSpPr>
        <p:spPr>
          <a:xfrm>
            <a:off x="1235950" y="2083800"/>
            <a:ext cx="2016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 draws…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5" name="Google Shape;1585;p1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4983" y="2081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6" name="Google Shape;1586;p1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9138" y="208141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30"/>
          <p:cNvSpPr txBox="1"/>
          <p:nvPr>
            <p:ph idx="1" type="body"/>
          </p:nvPr>
        </p:nvSpPr>
        <p:spPr>
          <a:xfrm>
            <a:off x="324000" y="3612391"/>
            <a:ext cx="43725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correctly drew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2000">
                <a:solidFill>
                  <a:schemeClr val="accent4"/>
                </a:solidFill>
              </a:rPr>
              <a:t>lots of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being equal to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20</a:t>
            </a:r>
            <a:endParaRPr sz="2000"/>
          </a:p>
        </p:txBody>
      </p:sp>
      <p:sp>
        <p:nvSpPr>
          <p:cNvPr id="1588" name="Google Shape;1588;p130"/>
          <p:cNvSpPr txBox="1"/>
          <p:nvPr>
            <p:ph idx="1" type="body"/>
          </p:nvPr>
        </p:nvSpPr>
        <p:spPr>
          <a:xfrm>
            <a:off x="4983426" y="3612400"/>
            <a:ext cx="36387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 drew 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/>
              <a:t>and</a:t>
            </a:r>
            <a:r>
              <a:rPr lang="en-GB" sz="2000"/>
              <a:t>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2000">
                <a:solidFill>
                  <a:schemeClr val="accent4"/>
                </a:solidFill>
              </a:rPr>
              <a:t>lots of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being equal to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20</a:t>
            </a:r>
            <a:endParaRPr sz="2000"/>
          </a:p>
        </p:txBody>
      </p:sp>
      <p:sp>
        <p:nvSpPr>
          <p:cNvPr id="1589" name="Google Shape;1589;p130"/>
          <p:cNvSpPr txBox="1"/>
          <p:nvPr>
            <p:ph idx="1" type="body"/>
          </p:nvPr>
        </p:nvSpPr>
        <p:spPr>
          <a:xfrm>
            <a:off x="5941923" y="4450600"/>
            <a:ext cx="18027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 × 4 = 20</a:t>
            </a:r>
            <a:endParaRPr sz="2000"/>
          </a:p>
        </p:txBody>
      </p:sp>
      <p:sp>
        <p:nvSpPr>
          <p:cNvPr id="1590" name="Google Shape;1590;p130"/>
          <p:cNvSpPr/>
          <p:nvPr/>
        </p:nvSpPr>
        <p:spPr>
          <a:xfrm>
            <a:off x="457625" y="2571750"/>
            <a:ext cx="993300" cy="543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130"/>
          <p:cNvSpPr/>
          <p:nvPr/>
        </p:nvSpPr>
        <p:spPr>
          <a:xfrm>
            <a:off x="1436995" y="2571750"/>
            <a:ext cx="993300" cy="543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130"/>
          <p:cNvSpPr/>
          <p:nvPr/>
        </p:nvSpPr>
        <p:spPr>
          <a:xfrm>
            <a:off x="2393904" y="2571750"/>
            <a:ext cx="993300" cy="543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30"/>
          <p:cNvSpPr/>
          <p:nvPr/>
        </p:nvSpPr>
        <p:spPr>
          <a:xfrm>
            <a:off x="3362043" y="2571750"/>
            <a:ext cx="993300" cy="543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31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“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/>
              <a:t> multiplied by</a:t>
            </a:r>
            <a:r>
              <a:rPr lang="en-GB" sz="19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/>
              <a:t>, plus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3 </a:t>
            </a:r>
            <a:r>
              <a:rPr lang="en-GB" sz="1900"/>
              <a:t>equals 8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” </a:t>
            </a:r>
            <a:r>
              <a:rPr lang="en-GB" sz="1900"/>
              <a:t>will be the same equation as</a:t>
            </a:r>
            <a:r>
              <a:rPr lang="en-GB" sz="1900"/>
              <a:t> “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900"/>
              <a:t>plus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900"/>
              <a:t>, multiplied by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2 </a:t>
            </a:r>
            <a:r>
              <a:rPr lang="en-GB" sz="1900"/>
              <a:t>equals 8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” </a:t>
            </a:r>
            <a:endParaRPr sz="1900"/>
          </a:p>
        </p:txBody>
      </p:sp>
      <p:sp>
        <p:nvSpPr>
          <p:cNvPr id="1599" name="Google Shape;1599;p131"/>
          <p:cNvSpPr txBox="1"/>
          <p:nvPr>
            <p:ph idx="3" type="subTitle"/>
          </p:nvPr>
        </p:nvSpPr>
        <p:spPr>
          <a:xfrm>
            <a:off x="980575" y="3899175"/>
            <a:ext cx="72954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They both have a </a:t>
            </a:r>
            <a:r>
              <a:rPr lang="en-GB" sz="1900"/>
              <a:t>“multiplied by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900"/>
              <a:t>”, and a “plus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lang="en-GB" sz="1900"/>
              <a:t>” and make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8 </a:t>
            </a:r>
            <a:r>
              <a:rPr lang="en-GB" sz="1900"/>
              <a:t>so they are the same equation with the same solution.</a:t>
            </a:r>
            <a:endParaRPr sz="1900"/>
          </a:p>
        </p:txBody>
      </p:sp>
      <p:sp>
        <p:nvSpPr>
          <p:cNvPr id="1600" name="Google Shape;1600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601" name="Google Shape;1601;p131"/>
          <p:cNvSpPr txBox="1"/>
          <p:nvPr>
            <p:ph idx="3" type="subTitle"/>
          </p:nvPr>
        </p:nvSpPr>
        <p:spPr>
          <a:xfrm>
            <a:off x="980575" y="3049750"/>
            <a:ext cx="72285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Order matters. This will be two different equations, one of which will need to be written with brackets.</a:t>
            </a:r>
            <a:endParaRPr sz="1900"/>
          </a:p>
        </p:txBody>
      </p:sp>
      <p:pic>
        <p:nvPicPr>
          <p:cNvPr id="1602" name="Google Shape;1602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7783" y="1776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3" name="Google Shape;1603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7983" y="32247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609" name="Google Shape;1609;p132"/>
          <p:cNvSpPr txBox="1"/>
          <p:nvPr/>
        </p:nvSpPr>
        <p:spPr>
          <a:xfrm>
            <a:off x="611164" y="2119675"/>
            <a:ext cx="167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0" name="Google Shape;1610;p132"/>
          <p:cNvSpPr txBox="1"/>
          <p:nvPr/>
        </p:nvSpPr>
        <p:spPr>
          <a:xfrm>
            <a:off x="546064" y="3403850"/>
            <a:ext cx="1739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8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1" name="Google Shape;1611;p13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bar model matches which equation?</a:t>
            </a:r>
            <a:endParaRPr/>
          </a:p>
        </p:txBody>
      </p:sp>
      <p:grpSp>
        <p:nvGrpSpPr>
          <p:cNvPr id="1612" name="Google Shape;1612;p132"/>
          <p:cNvGrpSpPr/>
          <p:nvPr/>
        </p:nvGrpSpPr>
        <p:grpSpPr>
          <a:xfrm>
            <a:off x="3917388" y="3939920"/>
            <a:ext cx="2741402" cy="768600"/>
            <a:chOff x="3917388" y="3939920"/>
            <a:chExt cx="2741402" cy="768600"/>
          </a:xfrm>
        </p:grpSpPr>
        <p:sp>
          <p:nvSpPr>
            <p:cNvPr id="1613" name="Google Shape;1613;p132"/>
            <p:cNvSpPr/>
            <p:nvPr/>
          </p:nvSpPr>
          <p:spPr>
            <a:xfrm>
              <a:off x="5397834" y="3939920"/>
              <a:ext cx="1260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4" name="Google Shape;1614;p132"/>
            <p:cNvSpPr/>
            <p:nvPr/>
          </p:nvSpPr>
          <p:spPr>
            <a:xfrm>
              <a:off x="3917388" y="3939920"/>
              <a:ext cx="7353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5" name="Google Shape;1615;p132"/>
            <p:cNvSpPr/>
            <p:nvPr/>
          </p:nvSpPr>
          <p:spPr>
            <a:xfrm>
              <a:off x="4662684" y="3939920"/>
              <a:ext cx="7353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6" name="Google Shape;1616;p132"/>
            <p:cNvSpPr/>
            <p:nvPr/>
          </p:nvSpPr>
          <p:spPr>
            <a:xfrm>
              <a:off x="3917390" y="4320920"/>
              <a:ext cx="27414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17" name="Google Shape;1617;p132"/>
          <p:cNvGrpSpPr/>
          <p:nvPr/>
        </p:nvGrpSpPr>
        <p:grpSpPr>
          <a:xfrm>
            <a:off x="3911829" y="1244050"/>
            <a:ext cx="2792390" cy="768600"/>
            <a:chOff x="3911914" y="1244045"/>
            <a:chExt cx="3531988" cy="768600"/>
          </a:xfrm>
        </p:grpSpPr>
        <p:sp>
          <p:nvSpPr>
            <p:cNvPr id="1618" name="Google Shape;1618;p132"/>
            <p:cNvSpPr/>
            <p:nvPr/>
          </p:nvSpPr>
          <p:spPr>
            <a:xfrm>
              <a:off x="4647073" y="1244045"/>
              <a:ext cx="1032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9" name="Google Shape;1619;p132"/>
            <p:cNvSpPr/>
            <p:nvPr/>
          </p:nvSpPr>
          <p:spPr>
            <a:xfrm>
              <a:off x="3911914" y="1244054"/>
              <a:ext cx="7353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0" name="Google Shape;1620;p132"/>
            <p:cNvSpPr/>
            <p:nvPr/>
          </p:nvSpPr>
          <p:spPr>
            <a:xfrm>
              <a:off x="3917403" y="1625045"/>
              <a:ext cx="3526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1" name="Google Shape;1621;p132"/>
            <p:cNvSpPr/>
            <p:nvPr/>
          </p:nvSpPr>
          <p:spPr>
            <a:xfrm>
              <a:off x="6410903" y="1244045"/>
              <a:ext cx="1032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2" name="Google Shape;1622;p132"/>
            <p:cNvSpPr/>
            <p:nvPr/>
          </p:nvSpPr>
          <p:spPr>
            <a:xfrm>
              <a:off x="5675745" y="1244054"/>
              <a:ext cx="7353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23" name="Google Shape;1623;p132"/>
          <p:cNvGrpSpPr/>
          <p:nvPr/>
        </p:nvGrpSpPr>
        <p:grpSpPr>
          <a:xfrm>
            <a:off x="3911914" y="2581954"/>
            <a:ext cx="2792486" cy="768600"/>
            <a:chOff x="3911914" y="2581954"/>
            <a:chExt cx="2792486" cy="768600"/>
          </a:xfrm>
        </p:grpSpPr>
        <p:sp>
          <p:nvSpPr>
            <p:cNvPr id="1624" name="Google Shape;1624;p132"/>
            <p:cNvSpPr/>
            <p:nvPr/>
          </p:nvSpPr>
          <p:spPr>
            <a:xfrm>
              <a:off x="4647073" y="2581954"/>
              <a:ext cx="1032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5" name="Google Shape;1625;p132"/>
            <p:cNvSpPr/>
            <p:nvPr/>
          </p:nvSpPr>
          <p:spPr>
            <a:xfrm>
              <a:off x="3911914" y="2581963"/>
              <a:ext cx="7353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6" name="Google Shape;1626;p132"/>
            <p:cNvSpPr/>
            <p:nvPr/>
          </p:nvSpPr>
          <p:spPr>
            <a:xfrm>
              <a:off x="3917401" y="2962954"/>
              <a:ext cx="2787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7" name="Google Shape;1627;p132"/>
            <p:cNvSpPr/>
            <p:nvPr/>
          </p:nvSpPr>
          <p:spPr>
            <a:xfrm>
              <a:off x="5671364" y="2581954"/>
              <a:ext cx="1032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628" name="Google Shape;1628;p132"/>
          <p:cNvCxnSpPr>
            <a:stCxn id="1609" idx="3"/>
            <a:endCxn id="1614" idx="1"/>
          </p:cNvCxnSpPr>
          <p:nvPr/>
        </p:nvCxnSpPr>
        <p:spPr>
          <a:xfrm>
            <a:off x="2285164" y="2334025"/>
            <a:ext cx="1632300" cy="1799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132"/>
          <p:cNvCxnSpPr>
            <a:stCxn id="1610" idx="3"/>
            <a:endCxn id="1620" idx="1"/>
          </p:cNvCxnSpPr>
          <p:nvPr/>
        </p:nvCxnSpPr>
        <p:spPr>
          <a:xfrm flipH="1" rot="10800000">
            <a:off x="2285164" y="1818800"/>
            <a:ext cx="1631100" cy="1799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0" name="Google Shape;1630;p132"/>
          <p:cNvSpPr txBox="1"/>
          <p:nvPr/>
        </p:nvSpPr>
        <p:spPr>
          <a:xfrm>
            <a:off x="6953411" y="2478214"/>
            <a:ext cx="167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1" name="Google Shape;1631;p132"/>
          <p:cNvSpPr txBox="1"/>
          <p:nvPr/>
        </p:nvSpPr>
        <p:spPr>
          <a:xfrm>
            <a:off x="6953411" y="3358923"/>
            <a:ext cx="167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2" name="Google Shape;1632;p132"/>
          <p:cNvSpPr txBox="1"/>
          <p:nvPr/>
        </p:nvSpPr>
        <p:spPr>
          <a:xfrm>
            <a:off x="6953411" y="2912954"/>
            <a:ext cx="167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3" name="Google Shape;1633;p132"/>
          <p:cNvSpPr txBox="1"/>
          <p:nvPr>
            <p:ph idx="1" type="body"/>
          </p:nvPr>
        </p:nvSpPr>
        <p:spPr>
          <a:xfrm>
            <a:off x="6950988" y="3827348"/>
            <a:ext cx="1884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bracket, only the 3 doubled.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4" name="Google Shape;1634;p132"/>
          <p:cNvSpPr/>
          <p:nvPr/>
        </p:nvSpPr>
        <p:spPr>
          <a:xfrm>
            <a:off x="7315625" y="2903504"/>
            <a:ext cx="828600" cy="428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640" name="Google Shape;1640;p133"/>
          <p:cNvSpPr txBox="1"/>
          <p:nvPr/>
        </p:nvSpPr>
        <p:spPr>
          <a:xfrm>
            <a:off x="787799" y="1433875"/>
            <a:ext cx="167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1" name="Google Shape;1641;p133"/>
          <p:cNvSpPr txBox="1"/>
          <p:nvPr/>
        </p:nvSpPr>
        <p:spPr>
          <a:xfrm>
            <a:off x="722699" y="2668713"/>
            <a:ext cx="1739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 = 15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2" name="Google Shape;1642;p13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bar model matches which equation?</a:t>
            </a:r>
            <a:endParaRPr/>
          </a:p>
        </p:txBody>
      </p:sp>
      <p:cxnSp>
        <p:nvCxnSpPr>
          <p:cNvPr id="1643" name="Google Shape;1643;p133"/>
          <p:cNvCxnSpPr>
            <a:stCxn id="1640" idx="3"/>
            <a:endCxn id="1644" idx="1"/>
          </p:cNvCxnSpPr>
          <p:nvPr/>
        </p:nvCxnSpPr>
        <p:spPr>
          <a:xfrm>
            <a:off x="2461799" y="1648225"/>
            <a:ext cx="1847700" cy="2333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5" name="Google Shape;1645;p133"/>
          <p:cNvSpPr txBox="1"/>
          <p:nvPr/>
        </p:nvSpPr>
        <p:spPr>
          <a:xfrm>
            <a:off x="628799" y="3903550"/>
            <a:ext cx="1833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3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46" name="Google Shape;1646;p133"/>
          <p:cNvGrpSpPr/>
          <p:nvPr/>
        </p:nvGrpSpPr>
        <p:grpSpPr>
          <a:xfrm>
            <a:off x="4309620" y="1239234"/>
            <a:ext cx="2752627" cy="768595"/>
            <a:chOff x="4309620" y="3787525"/>
            <a:chExt cx="2752627" cy="768595"/>
          </a:xfrm>
        </p:grpSpPr>
        <p:sp>
          <p:nvSpPr>
            <p:cNvPr id="1647" name="Google Shape;1647;p133"/>
            <p:cNvSpPr/>
            <p:nvPr/>
          </p:nvSpPr>
          <p:spPr>
            <a:xfrm>
              <a:off x="6745747" y="3787525"/>
              <a:ext cx="316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8" name="Google Shape;1648;p133"/>
            <p:cNvSpPr/>
            <p:nvPr/>
          </p:nvSpPr>
          <p:spPr>
            <a:xfrm>
              <a:off x="4309625" y="3787525"/>
              <a:ext cx="1800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9" name="Google Shape;1649;p133"/>
            <p:cNvSpPr/>
            <p:nvPr/>
          </p:nvSpPr>
          <p:spPr>
            <a:xfrm>
              <a:off x="4309620" y="4168520"/>
              <a:ext cx="27414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0" name="Google Shape;1650;p133"/>
            <p:cNvSpPr/>
            <p:nvPr/>
          </p:nvSpPr>
          <p:spPr>
            <a:xfrm>
              <a:off x="6428650" y="3787525"/>
              <a:ext cx="316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1" name="Google Shape;1651;p133"/>
            <p:cNvSpPr/>
            <p:nvPr/>
          </p:nvSpPr>
          <p:spPr>
            <a:xfrm>
              <a:off x="6111552" y="3787525"/>
              <a:ext cx="316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52" name="Google Shape;1652;p133"/>
          <p:cNvGrpSpPr/>
          <p:nvPr/>
        </p:nvGrpSpPr>
        <p:grpSpPr>
          <a:xfrm>
            <a:off x="4309620" y="3787525"/>
            <a:ext cx="2741400" cy="768595"/>
            <a:chOff x="4309620" y="1349125"/>
            <a:chExt cx="2741400" cy="768595"/>
          </a:xfrm>
        </p:grpSpPr>
        <p:sp>
          <p:nvSpPr>
            <p:cNvPr id="1644" name="Google Shape;1644;p133"/>
            <p:cNvSpPr/>
            <p:nvPr/>
          </p:nvSpPr>
          <p:spPr>
            <a:xfrm>
              <a:off x="4309625" y="1349125"/>
              <a:ext cx="785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3" name="Google Shape;1653;p133"/>
            <p:cNvSpPr/>
            <p:nvPr/>
          </p:nvSpPr>
          <p:spPr>
            <a:xfrm>
              <a:off x="5106078" y="1349125"/>
              <a:ext cx="785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4" name="Google Shape;1654;p133"/>
            <p:cNvSpPr/>
            <p:nvPr/>
          </p:nvSpPr>
          <p:spPr>
            <a:xfrm>
              <a:off x="4309620" y="1730120"/>
              <a:ext cx="27414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5" name="Google Shape;1655;p133"/>
            <p:cNvSpPr/>
            <p:nvPr/>
          </p:nvSpPr>
          <p:spPr>
            <a:xfrm>
              <a:off x="5896380" y="1349125"/>
              <a:ext cx="785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6" name="Google Shape;1656;p133"/>
            <p:cNvSpPr/>
            <p:nvPr/>
          </p:nvSpPr>
          <p:spPr>
            <a:xfrm>
              <a:off x="6682150" y="1349125"/>
              <a:ext cx="367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57" name="Google Shape;1657;p133"/>
          <p:cNvGrpSpPr/>
          <p:nvPr/>
        </p:nvGrpSpPr>
        <p:grpSpPr>
          <a:xfrm>
            <a:off x="4309620" y="2558800"/>
            <a:ext cx="2742474" cy="778120"/>
            <a:chOff x="4309620" y="2558800"/>
            <a:chExt cx="2742474" cy="778120"/>
          </a:xfrm>
        </p:grpSpPr>
        <p:sp>
          <p:nvSpPr>
            <p:cNvPr id="1658" name="Google Shape;1658;p133"/>
            <p:cNvSpPr/>
            <p:nvPr/>
          </p:nvSpPr>
          <p:spPr>
            <a:xfrm>
              <a:off x="4309620" y="2949320"/>
              <a:ext cx="27414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9" name="Google Shape;1659;p133"/>
            <p:cNvSpPr/>
            <p:nvPr/>
          </p:nvSpPr>
          <p:spPr>
            <a:xfrm>
              <a:off x="6137261" y="2558800"/>
              <a:ext cx="639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0" name="Google Shape;1660;p133"/>
            <p:cNvSpPr/>
            <p:nvPr/>
          </p:nvSpPr>
          <p:spPr>
            <a:xfrm>
              <a:off x="6777294" y="2558800"/>
              <a:ext cx="274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1" name="Google Shape;1661;p133"/>
            <p:cNvSpPr/>
            <p:nvPr/>
          </p:nvSpPr>
          <p:spPr>
            <a:xfrm>
              <a:off x="5223905" y="2558800"/>
              <a:ext cx="639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2" name="Google Shape;1662;p133"/>
            <p:cNvSpPr/>
            <p:nvPr/>
          </p:nvSpPr>
          <p:spPr>
            <a:xfrm>
              <a:off x="5863938" y="2558800"/>
              <a:ext cx="274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3" name="Google Shape;1663;p133"/>
            <p:cNvSpPr/>
            <p:nvPr/>
          </p:nvSpPr>
          <p:spPr>
            <a:xfrm>
              <a:off x="4310549" y="2558800"/>
              <a:ext cx="639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4" name="Google Shape;1664;p133"/>
            <p:cNvSpPr/>
            <p:nvPr/>
          </p:nvSpPr>
          <p:spPr>
            <a:xfrm>
              <a:off x="4950582" y="2558800"/>
              <a:ext cx="274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665" name="Google Shape;1665;p133"/>
          <p:cNvCxnSpPr>
            <a:stCxn id="1641" idx="3"/>
          </p:cNvCxnSpPr>
          <p:nvPr/>
        </p:nvCxnSpPr>
        <p:spPr>
          <a:xfrm>
            <a:off x="2461799" y="2883063"/>
            <a:ext cx="1833900" cy="42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6" name="Google Shape;1666;p133"/>
          <p:cNvCxnSpPr>
            <a:stCxn id="1645" idx="3"/>
            <a:endCxn id="1649" idx="1"/>
          </p:cNvCxnSpPr>
          <p:nvPr/>
        </p:nvCxnSpPr>
        <p:spPr>
          <a:xfrm flipH="1" rot="10800000">
            <a:off x="2461799" y="1813900"/>
            <a:ext cx="1847700" cy="2304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34"/>
          <p:cNvSpPr txBox="1"/>
          <p:nvPr>
            <p:ph type="title"/>
          </p:nvPr>
        </p:nvSpPr>
        <p:spPr>
          <a:xfrm>
            <a:off x="324000" y="748775"/>
            <a:ext cx="5001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words match this equation?</a:t>
            </a:r>
            <a:endParaRPr/>
          </a:p>
        </p:txBody>
      </p:sp>
      <p:sp>
        <p:nvSpPr>
          <p:cNvPr id="1672" name="Google Shape;1672;p1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673" name="Google Shape;1673;p134"/>
          <p:cNvSpPr txBox="1"/>
          <p:nvPr>
            <p:ph idx="1" type="subTitle"/>
          </p:nvPr>
        </p:nvSpPr>
        <p:spPr>
          <a:xfrm>
            <a:off x="1034425" y="1837775"/>
            <a:ext cx="3831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100">
                <a:solidFill>
                  <a:srgbClr val="000000"/>
                </a:solidFill>
              </a:rPr>
              <a:t>multiplied by</a:t>
            </a:r>
            <a:r>
              <a:rPr lang="en-GB" sz="21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100">
                <a:solidFill>
                  <a:srgbClr val="000000"/>
                </a:solidFill>
              </a:rPr>
              <a:t>, plus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= 15</a:t>
            </a:r>
            <a:endParaRPr sz="2400"/>
          </a:p>
        </p:txBody>
      </p:sp>
      <p:sp>
        <p:nvSpPr>
          <p:cNvPr id="1674" name="Google Shape;1674;p134"/>
          <p:cNvSpPr txBox="1"/>
          <p:nvPr/>
        </p:nvSpPr>
        <p:spPr>
          <a:xfrm>
            <a:off x="3073799" y="1241379"/>
            <a:ext cx="167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75" name="Google Shape;1675;p134"/>
          <p:cNvGrpSpPr/>
          <p:nvPr/>
        </p:nvGrpSpPr>
        <p:grpSpPr>
          <a:xfrm>
            <a:off x="5779132" y="1165446"/>
            <a:ext cx="2741400" cy="768595"/>
            <a:chOff x="4309620" y="1349125"/>
            <a:chExt cx="2741400" cy="768595"/>
          </a:xfrm>
        </p:grpSpPr>
        <p:sp>
          <p:nvSpPr>
            <p:cNvPr id="1676" name="Google Shape;1676;p134"/>
            <p:cNvSpPr/>
            <p:nvPr/>
          </p:nvSpPr>
          <p:spPr>
            <a:xfrm>
              <a:off x="4309625" y="1349125"/>
              <a:ext cx="785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7" name="Google Shape;1677;p134"/>
            <p:cNvSpPr/>
            <p:nvPr/>
          </p:nvSpPr>
          <p:spPr>
            <a:xfrm>
              <a:off x="5106078" y="1349125"/>
              <a:ext cx="785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8" name="Google Shape;1678;p134"/>
            <p:cNvSpPr/>
            <p:nvPr/>
          </p:nvSpPr>
          <p:spPr>
            <a:xfrm>
              <a:off x="4309620" y="1730120"/>
              <a:ext cx="27414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9" name="Google Shape;1679;p134"/>
            <p:cNvSpPr/>
            <p:nvPr/>
          </p:nvSpPr>
          <p:spPr>
            <a:xfrm>
              <a:off x="5896380" y="1349125"/>
              <a:ext cx="785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0" name="Google Shape;1680;p134"/>
            <p:cNvSpPr/>
            <p:nvPr/>
          </p:nvSpPr>
          <p:spPr>
            <a:xfrm>
              <a:off x="6682150" y="1349125"/>
              <a:ext cx="367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81" name="Google Shape;1681;p134"/>
          <p:cNvSpPr txBox="1"/>
          <p:nvPr>
            <p:ph idx="1" type="subTitle"/>
          </p:nvPr>
        </p:nvSpPr>
        <p:spPr>
          <a:xfrm>
            <a:off x="1034425" y="2805914"/>
            <a:ext cx="3831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/>
              <a:t>plus</a:t>
            </a:r>
            <a:r>
              <a:rPr lang="en-GB" sz="23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100">
                <a:solidFill>
                  <a:srgbClr val="000000"/>
                </a:solidFill>
              </a:rPr>
              <a:t> </a:t>
            </a:r>
            <a:r>
              <a:rPr lang="en-GB" sz="2100"/>
              <a:t>multiplied by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= 15</a:t>
            </a:r>
            <a:endParaRPr sz="2400"/>
          </a:p>
        </p:txBody>
      </p:sp>
      <p:sp>
        <p:nvSpPr>
          <p:cNvPr id="1682" name="Google Shape;1682;p134"/>
          <p:cNvSpPr txBox="1"/>
          <p:nvPr>
            <p:ph idx="1" type="subTitle"/>
          </p:nvPr>
        </p:nvSpPr>
        <p:spPr>
          <a:xfrm>
            <a:off x="1034425" y="3742775"/>
            <a:ext cx="3831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/>
              <a:t>plus</a:t>
            </a:r>
            <a:r>
              <a:rPr lang="en-GB" sz="23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100">
                <a:solidFill>
                  <a:srgbClr val="000000"/>
                </a:solidFill>
              </a:rPr>
              <a:t>, </a:t>
            </a:r>
            <a:r>
              <a:rPr lang="en-GB" sz="2100"/>
              <a:t>multiplied by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1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 sz="2400"/>
          </a:p>
        </p:txBody>
      </p:sp>
      <p:pic>
        <p:nvPicPr>
          <p:cNvPr id="1683" name="Google Shape;1683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7208" y="196858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35"/>
          <p:cNvSpPr txBox="1"/>
          <p:nvPr/>
        </p:nvSpPr>
        <p:spPr>
          <a:xfrm>
            <a:off x="3006287" y="1243373"/>
            <a:ext cx="1739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 = 15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9" name="Google Shape;1689;p135"/>
          <p:cNvSpPr txBox="1"/>
          <p:nvPr>
            <p:ph type="title"/>
          </p:nvPr>
        </p:nvSpPr>
        <p:spPr>
          <a:xfrm>
            <a:off x="324000" y="748775"/>
            <a:ext cx="5001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words match this equation?</a:t>
            </a:r>
            <a:endParaRPr/>
          </a:p>
        </p:txBody>
      </p:sp>
      <p:sp>
        <p:nvSpPr>
          <p:cNvPr id="1690" name="Google Shape;1690;p1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691" name="Google Shape;1691;p135"/>
          <p:cNvSpPr txBox="1"/>
          <p:nvPr>
            <p:ph idx="1" type="subTitle"/>
          </p:nvPr>
        </p:nvSpPr>
        <p:spPr>
          <a:xfrm>
            <a:off x="1034425" y="1837775"/>
            <a:ext cx="3711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100">
                <a:solidFill>
                  <a:srgbClr val="000000"/>
                </a:solidFill>
              </a:rPr>
              <a:t>multiplied by</a:t>
            </a:r>
            <a:r>
              <a:rPr lang="en-GB" sz="21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100">
                <a:solidFill>
                  <a:srgbClr val="000000"/>
                </a:solidFill>
              </a:rPr>
              <a:t>, plus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= 15</a:t>
            </a:r>
            <a:endParaRPr sz="2400"/>
          </a:p>
        </p:txBody>
      </p:sp>
      <p:sp>
        <p:nvSpPr>
          <p:cNvPr id="1692" name="Google Shape;1692;p135"/>
          <p:cNvSpPr txBox="1"/>
          <p:nvPr>
            <p:ph idx="1" type="subTitle"/>
          </p:nvPr>
        </p:nvSpPr>
        <p:spPr>
          <a:xfrm>
            <a:off x="1034425" y="2805914"/>
            <a:ext cx="3711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/>
              <a:t>plus</a:t>
            </a:r>
            <a:r>
              <a:rPr lang="en-GB" sz="23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100">
                <a:solidFill>
                  <a:srgbClr val="000000"/>
                </a:solidFill>
              </a:rPr>
              <a:t> </a:t>
            </a:r>
            <a:r>
              <a:rPr lang="en-GB" sz="2100"/>
              <a:t>multiplied by</a:t>
            </a:r>
            <a:r>
              <a:rPr lang="en-GB" sz="2100"/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= 15</a:t>
            </a:r>
            <a:endParaRPr sz="2400"/>
          </a:p>
        </p:txBody>
      </p:sp>
      <p:sp>
        <p:nvSpPr>
          <p:cNvPr id="1693" name="Google Shape;1693;p135"/>
          <p:cNvSpPr txBox="1"/>
          <p:nvPr>
            <p:ph idx="1" type="subTitle"/>
          </p:nvPr>
        </p:nvSpPr>
        <p:spPr>
          <a:xfrm>
            <a:off x="1034425" y="3742775"/>
            <a:ext cx="3711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100"/>
              <a:t>plus</a:t>
            </a:r>
            <a:r>
              <a:rPr lang="en-GB" sz="23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100">
                <a:solidFill>
                  <a:srgbClr val="000000"/>
                </a:solidFill>
              </a:rPr>
              <a:t>, </a:t>
            </a:r>
            <a:r>
              <a:rPr lang="en-GB" sz="2100"/>
              <a:t>multiplied by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1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  <a:endParaRPr sz="2400"/>
          </a:p>
        </p:txBody>
      </p:sp>
      <p:pic>
        <p:nvPicPr>
          <p:cNvPr id="1694" name="Google Shape;1694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058" y="374277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5" name="Google Shape;1695;p135"/>
          <p:cNvGrpSpPr/>
          <p:nvPr/>
        </p:nvGrpSpPr>
        <p:grpSpPr>
          <a:xfrm>
            <a:off x="5777468" y="1187200"/>
            <a:ext cx="2742474" cy="778120"/>
            <a:chOff x="4309620" y="2558800"/>
            <a:chExt cx="2742474" cy="778120"/>
          </a:xfrm>
        </p:grpSpPr>
        <p:sp>
          <p:nvSpPr>
            <p:cNvPr id="1696" name="Google Shape;1696;p135"/>
            <p:cNvSpPr/>
            <p:nvPr/>
          </p:nvSpPr>
          <p:spPr>
            <a:xfrm>
              <a:off x="4309620" y="2949320"/>
              <a:ext cx="27414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7" name="Google Shape;1697;p135"/>
            <p:cNvSpPr/>
            <p:nvPr/>
          </p:nvSpPr>
          <p:spPr>
            <a:xfrm>
              <a:off x="6137261" y="2558800"/>
              <a:ext cx="639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8" name="Google Shape;1698;p135"/>
            <p:cNvSpPr/>
            <p:nvPr/>
          </p:nvSpPr>
          <p:spPr>
            <a:xfrm>
              <a:off x="6777294" y="2558800"/>
              <a:ext cx="274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9" name="Google Shape;1699;p135"/>
            <p:cNvSpPr/>
            <p:nvPr/>
          </p:nvSpPr>
          <p:spPr>
            <a:xfrm>
              <a:off x="5223905" y="2558800"/>
              <a:ext cx="639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0" name="Google Shape;1700;p135"/>
            <p:cNvSpPr/>
            <p:nvPr/>
          </p:nvSpPr>
          <p:spPr>
            <a:xfrm>
              <a:off x="5863938" y="2558800"/>
              <a:ext cx="274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1" name="Google Shape;1701;p135"/>
            <p:cNvSpPr/>
            <p:nvPr/>
          </p:nvSpPr>
          <p:spPr>
            <a:xfrm>
              <a:off x="4310549" y="2558800"/>
              <a:ext cx="639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2" name="Google Shape;1702;p135"/>
            <p:cNvSpPr/>
            <p:nvPr/>
          </p:nvSpPr>
          <p:spPr>
            <a:xfrm>
              <a:off x="4950582" y="2558800"/>
              <a:ext cx="274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36"/>
          <p:cNvSpPr txBox="1"/>
          <p:nvPr>
            <p:ph idx="1" type="body"/>
          </p:nvPr>
        </p:nvSpPr>
        <p:spPr>
          <a:xfrm>
            <a:off x="324000" y="759300"/>
            <a:ext cx="7135200" cy="7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all of these</a:t>
            </a:r>
            <a:r>
              <a:rPr lang="en-GB"/>
              <a:t> equations with brackets that we have seen, the brackets can be </a:t>
            </a:r>
            <a:r>
              <a:rPr lang="en-GB">
                <a:solidFill>
                  <a:schemeClr val="accent4"/>
                </a:solidFill>
              </a:rPr>
              <a:t>expanded</a:t>
            </a:r>
            <a:r>
              <a:rPr lang="en-GB"/>
              <a:t>.</a:t>
            </a:r>
            <a:endParaRPr/>
          </a:p>
        </p:txBody>
      </p:sp>
      <p:sp>
        <p:nvSpPr>
          <p:cNvPr id="1708" name="Google Shape;1708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709" name="Google Shape;1709;p136"/>
          <p:cNvSpPr txBox="1"/>
          <p:nvPr/>
        </p:nvSpPr>
        <p:spPr>
          <a:xfrm>
            <a:off x="324000" y="1543746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+ 4) = 10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0" name="Google Shape;1710;p136"/>
          <p:cNvSpPr/>
          <p:nvPr/>
        </p:nvSpPr>
        <p:spPr>
          <a:xfrm>
            <a:off x="943988" y="2172087"/>
            <a:ext cx="861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1" name="Google Shape;1711;p136"/>
          <p:cNvSpPr/>
          <p:nvPr/>
        </p:nvSpPr>
        <p:spPr>
          <a:xfrm>
            <a:off x="330523" y="2172096"/>
            <a:ext cx="6135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2" name="Google Shape;1712;p136"/>
          <p:cNvSpPr/>
          <p:nvPr/>
        </p:nvSpPr>
        <p:spPr>
          <a:xfrm>
            <a:off x="335103" y="2553087"/>
            <a:ext cx="29427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3" name="Google Shape;1713;p136"/>
          <p:cNvSpPr/>
          <p:nvPr/>
        </p:nvSpPr>
        <p:spPr>
          <a:xfrm>
            <a:off x="2415845" y="2172087"/>
            <a:ext cx="861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4" name="Google Shape;1714;p136"/>
          <p:cNvSpPr/>
          <p:nvPr/>
        </p:nvSpPr>
        <p:spPr>
          <a:xfrm>
            <a:off x="1802380" y="2172096"/>
            <a:ext cx="6135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15" name="Google Shape;1715;p136"/>
          <p:cNvGrpSpPr/>
          <p:nvPr/>
        </p:nvGrpSpPr>
        <p:grpSpPr>
          <a:xfrm>
            <a:off x="4826325" y="2149627"/>
            <a:ext cx="3837118" cy="768600"/>
            <a:chOff x="482925" y="2703075"/>
            <a:chExt cx="3837118" cy="768600"/>
          </a:xfrm>
        </p:grpSpPr>
        <p:sp>
          <p:nvSpPr>
            <p:cNvPr id="1716" name="Google Shape;1716;p136"/>
            <p:cNvSpPr/>
            <p:nvPr/>
          </p:nvSpPr>
          <p:spPr>
            <a:xfrm>
              <a:off x="482925" y="3084075"/>
              <a:ext cx="38304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7" name="Google Shape;1717;p136"/>
            <p:cNvSpPr/>
            <p:nvPr/>
          </p:nvSpPr>
          <p:spPr>
            <a:xfrm>
              <a:off x="988115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8" name="Google Shape;1718;p136"/>
            <p:cNvSpPr/>
            <p:nvPr/>
          </p:nvSpPr>
          <p:spPr>
            <a:xfrm>
              <a:off x="482925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9" name="Google Shape;1719;p136"/>
            <p:cNvSpPr/>
            <p:nvPr/>
          </p:nvSpPr>
          <p:spPr>
            <a:xfrm>
              <a:off x="1947858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0" name="Google Shape;1720;p136"/>
            <p:cNvSpPr/>
            <p:nvPr/>
          </p:nvSpPr>
          <p:spPr>
            <a:xfrm>
              <a:off x="1442667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1" name="Google Shape;1721;p136"/>
            <p:cNvSpPr/>
            <p:nvPr/>
          </p:nvSpPr>
          <p:spPr>
            <a:xfrm>
              <a:off x="2907600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2" name="Google Shape;1722;p136"/>
            <p:cNvSpPr/>
            <p:nvPr/>
          </p:nvSpPr>
          <p:spPr>
            <a:xfrm>
              <a:off x="2402410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3" name="Google Shape;1723;p136"/>
            <p:cNvSpPr/>
            <p:nvPr/>
          </p:nvSpPr>
          <p:spPr>
            <a:xfrm>
              <a:off x="3867343" y="2703075"/>
              <a:ext cx="4527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4" name="Google Shape;1724;p136"/>
            <p:cNvSpPr/>
            <p:nvPr/>
          </p:nvSpPr>
          <p:spPr>
            <a:xfrm>
              <a:off x="3362152" y="2703084"/>
              <a:ext cx="504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25" name="Google Shape;1725;p136"/>
          <p:cNvSpPr txBox="1"/>
          <p:nvPr/>
        </p:nvSpPr>
        <p:spPr>
          <a:xfrm>
            <a:off x="4819800" y="1543746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 = 20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6" name="Google Shape;1726;p136"/>
          <p:cNvSpPr txBox="1"/>
          <p:nvPr/>
        </p:nvSpPr>
        <p:spPr>
          <a:xfrm>
            <a:off x="324000" y="3155177"/>
            <a:ext cx="2563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×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× 4 = 10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7" name="Google Shape;1727;p136"/>
          <p:cNvSpPr txBox="1"/>
          <p:nvPr/>
        </p:nvSpPr>
        <p:spPr>
          <a:xfrm>
            <a:off x="324000" y="3699807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10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8" name="Google Shape;1728;p136"/>
          <p:cNvSpPr txBox="1"/>
          <p:nvPr/>
        </p:nvSpPr>
        <p:spPr>
          <a:xfrm>
            <a:off x="4819800" y="3155177"/>
            <a:ext cx="25632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 × 2 = 20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9" name="Google Shape;1729;p136"/>
          <p:cNvSpPr txBox="1"/>
          <p:nvPr/>
        </p:nvSpPr>
        <p:spPr>
          <a:xfrm>
            <a:off x="4819800" y="3699807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20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0" name="Google Shape;1730;p136"/>
          <p:cNvSpPr txBox="1"/>
          <p:nvPr>
            <p:ph idx="1" type="body"/>
          </p:nvPr>
        </p:nvSpPr>
        <p:spPr>
          <a:xfrm>
            <a:off x="2229000" y="3722279"/>
            <a:ext cx="24096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E</a:t>
            </a:r>
            <a:r>
              <a:rPr lang="en-GB">
                <a:solidFill>
                  <a:schemeClr val="accent4"/>
                </a:solidFill>
              </a:rPr>
              <a:t>xpanded</a:t>
            </a:r>
            <a:r>
              <a:rPr lang="en-GB"/>
              <a:t> form</a:t>
            </a:r>
            <a:endParaRPr/>
          </a:p>
        </p:txBody>
      </p:sp>
      <p:sp>
        <p:nvSpPr>
          <p:cNvPr id="1731" name="Google Shape;1731;p136"/>
          <p:cNvSpPr/>
          <p:nvPr/>
        </p:nvSpPr>
        <p:spPr>
          <a:xfrm>
            <a:off x="4683521" y="3687957"/>
            <a:ext cx="1067100" cy="428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136"/>
          <p:cNvSpPr/>
          <p:nvPr/>
        </p:nvSpPr>
        <p:spPr>
          <a:xfrm>
            <a:off x="187721" y="3687957"/>
            <a:ext cx="1067100" cy="428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36"/>
          <p:cNvSpPr txBox="1"/>
          <p:nvPr>
            <p:ph idx="1" type="body"/>
          </p:nvPr>
        </p:nvSpPr>
        <p:spPr>
          <a:xfrm>
            <a:off x="335100" y="4190705"/>
            <a:ext cx="77418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Sometimes when solving we will expand the brackets out, sometimes it can be quicker and easier not to.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137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When we see brackets in an equation we should expand them out.</a:t>
            </a:r>
            <a:endParaRPr sz="1900"/>
          </a:p>
        </p:txBody>
      </p:sp>
      <p:sp>
        <p:nvSpPr>
          <p:cNvPr id="1739" name="Google Shape;1739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740" name="Google Shape;1740;p137"/>
          <p:cNvSpPr txBox="1"/>
          <p:nvPr>
            <p:ph idx="3" type="subTitle"/>
          </p:nvPr>
        </p:nvSpPr>
        <p:spPr>
          <a:xfrm>
            <a:off x="980575" y="3049750"/>
            <a:ext cx="61530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Because we can expand brackets, when we see them we should always expand them out.</a:t>
            </a:r>
            <a:endParaRPr sz="1900"/>
          </a:p>
        </p:txBody>
      </p:sp>
      <p:pic>
        <p:nvPicPr>
          <p:cNvPr id="1741" name="Google Shape;1741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7783" y="1776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2183" y="407176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137"/>
          <p:cNvSpPr txBox="1"/>
          <p:nvPr>
            <p:ph idx="3" type="subTitle"/>
          </p:nvPr>
        </p:nvSpPr>
        <p:spPr>
          <a:xfrm>
            <a:off x="980575" y="3932871"/>
            <a:ext cx="6231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Whilst</a:t>
            </a:r>
            <a:r>
              <a:rPr lang="en-GB" sz="1900"/>
              <a:t> we can expand brackets if we need to, there will be some moments where it is easier not to.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8" name="Google Shape;1748;p138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734979" y="1441230"/>
            <a:ext cx="4042926" cy="15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138"/>
          <p:cNvSpPr txBox="1"/>
          <p:nvPr>
            <p:ph idx="1" type="body"/>
          </p:nvPr>
        </p:nvSpPr>
        <p:spPr>
          <a:xfrm>
            <a:off x="324000" y="759300"/>
            <a:ext cx="7135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an equation and draw a bar model for Andeep and Laura’s number problems.</a:t>
            </a:r>
            <a:endParaRPr/>
          </a:p>
        </p:txBody>
      </p:sp>
      <p:sp>
        <p:nvSpPr>
          <p:cNvPr id="1750" name="Google Shape;1750;p13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751" name="Google Shape;1751;p138"/>
          <p:cNvSpPr txBox="1"/>
          <p:nvPr/>
        </p:nvSpPr>
        <p:spPr>
          <a:xfrm>
            <a:off x="320780" y="363026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138"/>
          <p:cNvSpPr txBox="1"/>
          <p:nvPr/>
        </p:nvSpPr>
        <p:spPr>
          <a:xfrm>
            <a:off x="7966402" y="3903782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3" name="Google Shape;1753;p138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933982" y="1441075"/>
            <a:ext cx="3823452" cy="15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p138"/>
          <p:cNvSpPr txBox="1"/>
          <p:nvPr/>
        </p:nvSpPr>
        <p:spPr>
          <a:xfrm>
            <a:off x="1215934" y="1640000"/>
            <a:ext cx="3422100" cy="1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thinking of a number. When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add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get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5" name="Google Shape;1755;p138"/>
          <p:cNvSpPr txBox="1"/>
          <p:nvPr/>
        </p:nvSpPr>
        <p:spPr>
          <a:xfrm>
            <a:off x="4970784" y="1637579"/>
            <a:ext cx="3422100" cy="1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am thinking of a number. When you add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multiply by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get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35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6" name="Google Shape;1756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2385" y="2635049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7" name="Google Shape;1757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77763" y="2880002"/>
            <a:ext cx="807750" cy="1057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139"/>
          <p:cNvSpPr txBox="1"/>
          <p:nvPr>
            <p:ph idx="4294967295" type="body"/>
          </p:nvPr>
        </p:nvSpPr>
        <p:spPr>
          <a:xfrm>
            <a:off x="324000" y="759300"/>
            <a:ext cx="71202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Write equations for the bar models that Jun and Jacob have drawn. If you can see more than one way to write the equation you should do so.</a:t>
            </a:r>
            <a:endParaRPr sz="2000"/>
          </a:p>
        </p:txBody>
      </p:sp>
      <p:sp>
        <p:nvSpPr>
          <p:cNvPr id="1763" name="Google Shape;1763;p139"/>
          <p:cNvSpPr/>
          <p:nvPr/>
        </p:nvSpPr>
        <p:spPr>
          <a:xfrm>
            <a:off x="4902525" y="21672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4" name="Google Shape;1764;p139"/>
          <p:cNvSpPr/>
          <p:nvPr/>
        </p:nvSpPr>
        <p:spPr>
          <a:xfrm>
            <a:off x="4902525" y="2548263"/>
            <a:ext cx="3905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5" name="Google Shape;1765;p139"/>
          <p:cNvSpPr/>
          <p:nvPr/>
        </p:nvSpPr>
        <p:spPr>
          <a:xfrm>
            <a:off x="5403409" y="21672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6" name="Google Shape;1766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50" y="306361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7" name="Google Shape;1767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96" y="3092651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p139"/>
          <p:cNvSpPr txBox="1"/>
          <p:nvPr/>
        </p:nvSpPr>
        <p:spPr>
          <a:xfrm>
            <a:off x="6972223" y="3717686"/>
            <a:ext cx="1044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139"/>
          <p:cNvSpPr txBox="1"/>
          <p:nvPr/>
        </p:nvSpPr>
        <p:spPr>
          <a:xfrm>
            <a:off x="1083550" y="3720107"/>
            <a:ext cx="601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3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</a:t>
            </a:r>
            <a:r>
              <a:rPr lang="en-GB"/>
              <a:t>resentations of equations involving brackets</a:t>
            </a:r>
            <a:endParaRPr/>
          </a:p>
        </p:txBody>
      </p:sp>
      <p:sp>
        <p:nvSpPr>
          <p:cNvPr id="1771" name="Google Shape;1771;p139"/>
          <p:cNvSpPr/>
          <p:nvPr/>
        </p:nvSpPr>
        <p:spPr>
          <a:xfrm>
            <a:off x="330525" y="2550675"/>
            <a:ext cx="3830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2" name="Google Shape;1772;p139"/>
          <p:cNvSpPr/>
          <p:nvPr/>
        </p:nvSpPr>
        <p:spPr>
          <a:xfrm>
            <a:off x="1118875" y="2169675"/>
            <a:ext cx="486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3" name="Google Shape;1773;p139"/>
          <p:cNvSpPr/>
          <p:nvPr/>
        </p:nvSpPr>
        <p:spPr>
          <a:xfrm>
            <a:off x="330525" y="2169675"/>
            <a:ext cx="788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4" name="Google Shape;1774;p139"/>
          <p:cNvSpPr/>
          <p:nvPr/>
        </p:nvSpPr>
        <p:spPr>
          <a:xfrm>
            <a:off x="2391814" y="2169675"/>
            <a:ext cx="486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5" name="Google Shape;1775;p139"/>
          <p:cNvSpPr/>
          <p:nvPr/>
        </p:nvSpPr>
        <p:spPr>
          <a:xfrm>
            <a:off x="1603464" y="2169675"/>
            <a:ext cx="788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6" name="Google Shape;1776;p139"/>
          <p:cNvSpPr/>
          <p:nvPr/>
        </p:nvSpPr>
        <p:spPr>
          <a:xfrm>
            <a:off x="3675984" y="2169675"/>
            <a:ext cx="486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7" name="Google Shape;1777;p139"/>
          <p:cNvSpPr/>
          <p:nvPr/>
        </p:nvSpPr>
        <p:spPr>
          <a:xfrm>
            <a:off x="2887634" y="2169675"/>
            <a:ext cx="788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8" name="Google Shape;1778;p139"/>
          <p:cNvSpPr/>
          <p:nvPr/>
        </p:nvSpPr>
        <p:spPr>
          <a:xfrm>
            <a:off x="5684298" y="21672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9" name="Google Shape;1779;p139"/>
          <p:cNvSpPr/>
          <p:nvPr/>
        </p:nvSpPr>
        <p:spPr>
          <a:xfrm>
            <a:off x="6185182" y="21672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0" name="Google Shape;1780;p139"/>
          <p:cNvSpPr/>
          <p:nvPr/>
        </p:nvSpPr>
        <p:spPr>
          <a:xfrm>
            <a:off x="6460712" y="21672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1" name="Google Shape;1781;p139"/>
          <p:cNvSpPr/>
          <p:nvPr/>
        </p:nvSpPr>
        <p:spPr>
          <a:xfrm>
            <a:off x="6961596" y="21672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2" name="Google Shape;1782;p139"/>
          <p:cNvSpPr/>
          <p:nvPr/>
        </p:nvSpPr>
        <p:spPr>
          <a:xfrm>
            <a:off x="7242485" y="21672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3" name="Google Shape;1783;p139"/>
          <p:cNvSpPr/>
          <p:nvPr/>
        </p:nvSpPr>
        <p:spPr>
          <a:xfrm>
            <a:off x="7743369" y="21672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4" name="Google Shape;1784;p139"/>
          <p:cNvSpPr/>
          <p:nvPr/>
        </p:nvSpPr>
        <p:spPr>
          <a:xfrm>
            <a:off x="8026946" y="21672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5" name="Google Shape;1785;p139"/>
          <p:cNvSpPr/>
          <p:nvPr/>
        </p:nvSpPr>
        <p:spPr>
          <a:xfrm>
            <a:off x="8527830" y="21672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140"/>
          <p:cNvSpPr txBox="1"/>
          <p:nvPr/>
        </p:nvSpPr>
        <p:spPr>
          <a:xfrm>
            <a:off x="5319509" y="2946625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+ 10) × 5 = 35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1" name="Google Shape;1791;p14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734979" y="1441230"/>
            <a:ext cx="4042926" cy="15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p140"/>
          <p:cNvSpPr txBox="1"/>
          <p:nvPr>
            <p:ph idx="1" type="body"/>
          </p:nvPr>
        </p:nvSpPr>
        <p:spPr>
          <a:xfrm>
            <a:off x="324000" y="759300"/>
            <a:ext cx="8237700" cy="6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an equation and draw a bar model for Andeep and Laura’s number problems.</a:t>
            </a:r>
            <a:endParaRPr/>
          </a:p>
        </p:txBody>
      </p:sp>
      <p:sp>
        <p:nvSpPr>
          <p:cNvPr id="1793" name="Google Shape;1793;p14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794" name="Google Shape;1794;p140"/>
          <p:cNvSpPr txBox="1"/>
          <p:nvPr/>
        </p:nvSpPr>
        <p:spPr>
          <a:xfrm>
            <a:off x="320780" y="363026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140"/>
          <p:cNvSpPr txBox="1"/>
          <p:nvPr/>
        </p:nvSpPr>
        <p:spPr>
          <a:xfrm>
            <a:off x="7966402" y="3903782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6" name="Google Shape;1796;p14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933982" y="1441075"/>
            <a:ext cx="3823452" cy="15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7" name="Google Shape;1797;p140"/>
          <p:cNvSpPr txBox="1"/>
          <p:nvPr/>
        </p:nvSpPr>
        <p:spPr>
          <a:xfrm>
            <a:off x="1215934" y="1640000"/>
            <a:ext cx="3422100" cy="1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thinking of a number. When you multiply it by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add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get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8" name="Google Shape;1798;p140"/>
          <p:cNvSpPr txBox="1"/>
          <p:nvPr/>
        </p:nvSpPr>
        <p:spPr>
          <a:xfrm>
            <a:off x="4970784" y="1637579"/>
            <a:ext cx="3422100" cy="1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am thinking of a number. When you add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multiply by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get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35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9" name="Google Shape;1799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32385" y="2635049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77763" y="28800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801" name="Google Shape;1801;p140"/>
          <p:cNvSpPr txBox="1"/>
          <p:nvPr/>
        </p:nvSpPr>
        <p:spPr>
          <a:xfrm>
            <a:off x="1661909" y="2957864"/>
            <a:ext cx="2338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2" name="Google Shape;1802;p140"/>
          <p:cNvSpPr txBox="1"/>
          <p:nvPr/>
        </p:nvSpPr>
        <p:spPr>
          <a:xfrm>
            <a:off x="1661909" y="3491275"/>
            <a:ext cx="167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3" name="Google Shape;1803;p140"/>
          <p:cNvSpPr txBox="1"/>
          <p:nvPr/>
        </p:nvSpPr>
        <p:spPr>
          <a:xfrm>
            <a:off x="5319509" y="3480025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+ 10) = 35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4" name="Google Shape;1804;p140"/>
          <p:cNvSpPr txBox="1"/>
          <p:nvPr>
            <p:ph idx="4294967295" type="body"/>
          </p:nvPr>
        </p:nvSpPr>
        <p:spPr>
          <a:xfrm>
            <a:off x="3468286" y="3522559"/>
            <a:ext cx="1674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Simplified form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05" name="Google Shape;1805;p140"/>
          <p:cNvGrpSpPr/>
          <p:nvPr/>
        </p:nvGrpSpPr>
        <p:grpSpPr>
          <a:xfrm>
            <a:off x="4229555" y="4059439"/>
            <a:ext cx="3750930" cy="768600"/>
            <a:chOff x="4229555" y="4059439"/>
            <a:chExt cx="3750930" cy="768600"/>
          </a:xfrm>
        </p:grpSpPr>
        <p:sp>
          <p:nvSpPr>
            <p:cNvPr id="1806" name="Google Shape;1806;p140"/>
            <p:cNvSpPr/>
            <p:nvPr/>
          </p:nvSpPr>
          <p:spPr>
            <a:xfrm>
              <a:off x="4232530" y="4440439"/>
              <a:ext cx="3747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35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7" name="Google Shape;1807;p140"/>
            <p:cNvSpPr/>
            <p:nvPr/>
          </p:nvSpPr>
          <p:spPr>
            <a:xfrm>
              <a:off x="4480907" y="4059439"/>
              <a:ext cx="496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8" name="Google Shape;1808;p140"/>
            <p:cNvSpPr/>
            <p:nvPr/>
          </p:nvSpPr>
          <p:spPr>
            <a:xfrm>
              <a:off x="4229555" y="4059439"/>
              <a:ext cx="2541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9" name="Google Shape;1809;p140"/>
            <p:cNvSpPr/>
            <p:nvPr/>
          </p:nvSpPr>
          <p:spPr>
            <a:xfrm>
              <a:off x="5231677" y="4059439"/>
              <a:ext cx="496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0" name="Google Shape;1810;p140"/>
            <p:cNvSpPr/>
            <p:nvPr/>
          </p:nvSpPr>
          <p:spPr>
            <a:xfrm>
              <a:off x="4980325" y="4059439"/>
              <a:ext cx="2541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1" name="Google Shape;1811;p140"/>
            <p:cNvSpPr/>
            <p:nvPr/>
          </p:nvSpPr>
          <p:spPr>
            <a:xfrm>
              <a:off x="5982446" y="4059439"/>
              <a:ext cx="496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2" name="Google Shape;1812;p140"/>
            <p:cNvSpPr/>
            <p:nvPr/>
          </p:nvSpPr>
          <p:spPr>
            <a:xfrm>
              <a:off x="5731095" y="4059439"/>
              <a:ext cx="2541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3" name="Google Shape;1813;p140"/>
            <p:cNvSpPr/>
            <p:nvPr/>
          </p:nvSpPr>
          <p:spPr>
            <a:xfrm>
              <a:off x="6733216" y="4059439"/>
              <a:ext cx="496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4" name="Google Shape;1814;p140"/>
            <p:cNvSpPr/>
            <p:nvPr/>
          </p:nvSpPr>
          <p:spPr>
            <a:xfrm>
              <a:off x="6481864" y="4059439"/>
              <a:ext cx="2541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5" name="Google Shape;1815;p140"/>
            <p:cNvSpPr/>
            <p:nvPr/>
          </p:nvSpPr>
          <p:spPr>
            <a:xfrm>
              <a:off x="7483985" y="4059439"/>
              <a:ext cx="496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6" name="Google Shape;1816;p140"/>
            <p:cNvSpPr/>
            <p:nvPr/>
          </p:nvSpPr>
          <p:spPr>
            <a:xfrm>
              <a:off x="7232634" y="4059439"/>
              <a:ext cx="2541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17" name="Google Shape;1817;p140"/>
          <p:cNvGrpSpPr/>
          <p:nvPr/>
        </p:nvGrpSpPr>
        <p:grpSpPr>
          <a:xfrm>
            <a:off x="320775" y="4036979"/>
            <a:ext cx="3308900" cy="786236"/>
            <a:chOff x="320775" y="4036979"/>
            <a:chExt cx="3308900" cy="786236"/>
          </a:xfrm>
        </p:grpSpPr>
        <p:sp>
          <p:nvSpPr>
            <p:cNvPr id="1818" name="Google Shape;1818;p140"/>
            <p:cNvSpPr/>
            <p:nvPr/>
          </p:nvSpPr>
          <p:spPr>
            <a:xfrm>
              <a:off x="1444588" y="4043409"/>
              <a:ext cx="565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9" name="Google Shape;1819;p140"/>
            <p:cNvSpPr/>
            <p:nvPr/>
          </p:nvSpPr>
          <p:spPr>
            <a:xfrm>
              <a:off x="332375" y="4435614"/>
              <a:ext cx="32973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35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0" name="Google Shape;1820;p140"/>
            <p:cNvSpPr/>
            <p:nvPr/>
          </p:nvSpPr>
          <p:spPr>
            <a:xfrm>
              <a:off x="2569873" y="4043409"/>
              <a:ext cx="565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1" name="Google Shape;1821;p140"/>
            <p:cNvSpPr/>
            <p:nvPr/>
          </p:nvSpPr>
          <p:spPr>
            <a:xfrm>
              <a:off x="3129355" y="4036979"/>
              <a:ext cx="496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2" name="Google Shape;1822;p140"/>
            <p:cNvSpPr/>
            <p:nvPr/>
          </p:nvSpPr>
          <p:spPr>
            <a:xfrm>
              <a:off x="2006495" y="4043409"/>
              <a:ext cx="565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3" name="Google Shape;1823;p140"/>
            <p:cNvSpPr/>
            <p:nvPr/>
          </p:nvSpPr>
          <p:spPr>
            <a:xfrm>
              <a:off x="884153" y="4043409"/>
              <a:ext cx="565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4" name="Google Shape;1824;p140"/>
            <p:cNvSpPr/>
            <p:nvPr/>
          </p:nvSpPr>
          <p:spPr>
            <a:xfrm>
              <a:off x="320775" y="4043409"/>
              <a:ext cx="5655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141"/>
          <p:cNvSpPr txBox="1"/>
          <p:nvPr>
            <p:ph idx="4294967295" type="body"/>
          </p:nvPr>
        </p:nvSpPr>
        <p:spPr>
          <a:xfrm>
            <a:off x="324000" y="759300"/>
            <a:ext cx="71202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Write equations for the </a:t>
            </a:r>
            <a:r>
              <a:rPr lang="en-GB" sz="2000"/>
              <a:t>bar model</a:t>
            </a:r>
            <a:r>
              <a:rPr lang="en-GB" sz="2000"/>
              <a:t>s that Jun and Jacob have drawn. If you can see more than one way to write the equation you should do so.</a:t>
            </a:r>
            <a:endParaRPr sz="2000"/>
          </a:p>
        </p:txBody>
      </p:sp>
      <p:sp>
        <p:nvSpPr>
          <p:cNvPr id="1830" name="Google Shape;1830;p141"/>
          <p:cNvSpPr/>
          <p:nvPr/>
        </p:nvSpPr>
        <p:spPr>
          <a:xfrm>
            <a:off x="4902525" y="20148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1" name="Google Shape;1831;p141"/>
          <p:cNvSpPr/>
          <p:nvPr/>
        </p:nvSpPr>
        <p:spPr>
          <a:xfrm>
            <a:off x="4902525" y="2395863"/>
            <a:ext cx="3905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2" name="Google Shape;1832;p141"/>
          <p:cNvSpPr/>
          <p:nvPr/>
        </p:nvSpPr>
        <p:spPr>
          <a:xfrm>
            <a:off x="5403409" y="20148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3" name="Google Shape;1833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50" y="291121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" name="Google Shape;1834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96" y="2940251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141"/>
          <p:cNvSpPr txBox="1"/>
          <p:nvPr/>
        </p:nvSpPr>
        <p:spPr>
          <a:xfrm>
            <a:off x="6972223" y="3565286"/>
            <a:ext cx="1044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41"/>
          <p:cNvSpPr txBox="1"/>
          <p:nvPr/>
        </p:nvSpPr>
        <p:spPr>
          <a:xfrm>
            <a:off x="1083550" y="3567707"/>
            <a:ext cx="601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4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838" name="Google Shape;1838;p141"/>
          <p:cNvSpPr/>
          <p:nvPr/>
        </p:nvSpPr>
        <p:spPr>
          <a:xfrm>
            <a:off x="330525" y="2398275"/>
            <a:ext cx="3830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9" name="Google Shape;1839;p141"/>
          <p:cNvSpPr/>
          <p:nvPr/>
        </p:nvSpPr>
        <p:spPr>
          <a:xfrm>
            <a:off x="1118875" y="2017275"/>
            <a:ext cx="486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0" name="Google Shape;1840;p141"/>
          <p:cNvSpPr/>
          <p:nvPr/>
        </p:nvSpPr>
        <p:spPr>
          <a:xfrm>
            <a:off x="330525" y="2017275"/>
            <a:ext cx="788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1" name="Google Shape;1841;p141"/>
          <p:cNvSpPr/>
          <p:nvPr/>
        </p:nvSpPr>
        <p:spPr>
          <a:xfrm>
            <a:off x="2391814" y="2017275"/>
            <a:ext cx="486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2" name="Google Shape;1842;p141"/>
          <p:cNvSpPr/>
          <p:nvPr/>
        </p:nvSpPr>
        <p:spPr>
          <a:xfrm>
            <a:off x="1603464" y="2017275"/>
            <a:ext cx="788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3" name="Google Shape;1843;p141"/>
          <p:cNvSpPr/>
          <p:nvPr/>
        </p:nvSpPr>
        <p:spPr>
          <a:xfrm>
            <a:off x="3675984" y="2017275"/>
            <a:ext cx="486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4" name="Google Shape;1844;p141"/>
          <p:cNvSpPr/>
          <p:nvPr/>
        </p:nvSpPr>
        <p:spPr>
          <a:xfrm>
            <a:off x="2887634" y="2017275"/>
            <a:ext cx="788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5" name="Google Shape;1845;p141"/>
          <p:cNvSpPr/>
          <p:nvPr/>
        </p:nvSpPr>
        <p:spPr>
          <a:xfrm>
            <a:off x="5684298" y="20148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6" name="Google Shape;1846;p141"/>
          <p:cNvSpPr/>
          <p:nvPr/>
        </p:nvSpPr>
        <p:spPr>
          <a:xfrm>
            <a:off x="6185182" y="20148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7" name="Google Shape;1847;p141"/>
          <p:cNvSpPr/>
          <p:nvPr/>
        </p:nvSpPr>
        <p:spPr>
          <a:xfrm>
            <a:off x="6460712" y="20148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8" name="Google Shape;1848;p141"/>
          <p:cNvSpPr/>
          <p:nvPr/>
        </p:nvSpPr>
        <p:spPr>
          <a:xfrm>
            <a:off x="6961596" y="20148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9" name="Google Shape;1849;p141"/>
          <p:cNvSpPr/>
          <p:nvPr/>
        </p:nvSpPr>
        <p:spPr>
          <a:xfrm>
            <a:off x="7242485" y="20148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0" name="Google Shape;1850;p141"/>
          <p:cNvSpPr/>
          <p:nvPr/>
        </p:nvSpPr>
        <p:spPr>
          <a:xfrm>
            <a:off x="7743369" y="20148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1" name="Google Shape;1851;p141"/>
          <p:cNvSpPr/>
          <p:nvPr/>
        </p:nvSpPr>
        <p:spPr>
          <a:xfrm>
            <a:off x="8026946" y="20148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2" name="Google Shape;1852;p141"/>
          <p:cNvSpPr/>
          <p:nvPr/>
        </p:nvSpPr>
        <p:spPr>
          <a:xfrm>
            <a:off x="8527830" y="20148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3" name="Google Shape;1853;p141"/>
          <p:cNvSpPr txBox="1"/>
          <p:nvPr/>
        </p:nvSpPr>
        <p:spPr>
          <a:xfrm>
            <a:off x="1982764" y="2946625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+ 5) × 3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4" name="Google Shape;1854;p141"/>
          <p:cNvSpPr txBox="1"/>
          <p:nvPr/>
        </p:nvSpPr>
        <p:spPr>
          <a:xfrm>
            <a:off x="1982764" y="3403825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+ 5)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5" name="Google Shape;1855;p141"/>
          <p:cNvSpPr txBox="1"/>
          <p:nvPr/>
        </p:nvSpPr>
        <p:spPr>
          <a:xfrm>
            <a:off x="1982776" y="4013425"/>
            <a:ext cx="2455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×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×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6" name="Google Shape;1856;p141"/>
          <p:cNvSpPr txBox="1"/>
          <p:nvPr/>
        </p:nvSpPr>
        <p:spPr>
          <a:xfrm>
            <a:off x="1982776" y="4470625"/>
            <a:ext cx="2455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+ 15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7" name="Google Shape;1857;p141"/>
          <p:cNvSpPr txBox="1"/>
          <p:nvPr/>
        </p:nvSpPr>
        <p:spPr>
          <a:xfrm>
            <a:off x="5030764" y="2946625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× 5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8" name="Google Shape;1858;p141"/>
          <p:cNvSpPr txBox="1"/>
          <p:nvPr/>
        </p:nvSpPr>
        <p:spPr>
          <a:xfrm>
            <a:off x="5030764" y="3403825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9" name="Google Shape;1859;p141"/>
          <p:cNvSpPr txBox="1"/>
          <p:nvPr/>
        </p:nvSpPr>
        <p:spPr>
          <a:xfrm>
            <a:off x="5030776" y="4013425"/>
            <a:ext cx="2455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 × 3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0" name="Google Shape;1860;p141"/>
          <p:cNvSpPr txBox="1"/>
          <p:nvPr/>
        </p:nvSpPr>
        <p:spPr>
          <a:xfrm>
            <a:off x="5030776" y="4470625"/>
            <a:ext cx="2455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+ 15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142"/>
          <p:cNvSpPr txBox="1"/>
          <p:nvPr>
            <p:ph idx="4294967295" type="body"/>
          </p:nvPr>
        </p:nvSpPr>
        <p:spPr>
          <a:xfrm>
            <a:off x="324000" y="759300"/>
            <a:ext cx="71202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Write equations for the </a:t>
            </a:r>
            <a:r>
              <a:rPr lang="en-GB" sz="2000"/>
              <a:t>bar models that Jun and Jacob have drawn. If you can see more than one way to write the equation you should do so.</a:t>
            </a:r>
            <a:endParaRPr sz="2000"/>
          </a:p>
        </p:txBody>
      </p:sp>
      <p:sp>
        <p:nvSpPr>
          <p:cNvPr id="1866" name="Google Shape;1866;p142"/>
          <p:cNvSpPr/>
          <p:nvPr/>
        </p:nvSpPr>
        <p:spPr>
          <a:xfrm>
            <a:off x="4902525" y="20148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7" name="Google Shape;1867;p142"/>
          <p:cNvSpPr/>
          <p:nvPr/>
        </p:nvSpPr>
        <p:spPr>
          <a:xfrm>
            <a:off x="4902525" y="2395863"/>
            <a:ext cx="3905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8" name="Google Shape;1868;p142"/>
          <p:cNvSpPr/>
          <p:nvPr/>
        </p:nvSpPr>
        <p:spPr>
          <a:xfrm>
            <a:off x="5403409" y="20148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9" name="Google Shape;1869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50" y="291121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0" name="Google Shape;1870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96" y="2940251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1" name="Google Shape;1871;p142"/>
          <p:cNvSpPr txBox="1"/>
          <p:nvPr/>
        </p:nvSpPr>
        <p:spPr>
          <a:xfrm>
            <a:off x="6972223" y="3565286"/>
            <a:ext cx="1044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142"/>
          <p:cNvSpPr txBox="1"/>
          <p:nvPr/>
        </p:nvSpPr>
        <p:spPr>
          <a:xfrm>
            <a:off x="1083550" y="3567707"/>
            <a:ext cx="601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14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874" name="Google Shape;1874;p142"/>
          <p:cNvSpPr/>
          <p:nvPr/>
        </p:nvSpPr>
        <p:spPr>
          <a:xfrm>
            <a:off x="330525" y="2398275"/>
            <a:ext cx="3830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5" name="Google Shape;1875;p142"/>
          <p:cNvSpPr/>
          <p:nvPr/>
        </p:nvSpPr>
        <p:spPr>
          <a:xfrm>
            <a:off x="1118875" y="2017275"/>
            <a:ext cx="486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6" name="Google Shape;1876;p142"/>
          <p:cNvSpPr/>
          <p:nvPr/>
        </p:nvSpPr>
        <p:spPr>
          <a:xfrm>
            <a:off x="330525" y="2017275"/>
            <a:ext cx="788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7" name="Google Shape;1877;p142"/>
          <p:cNvSpPr/>
          <p:nvPr/>
        </p:nvSpPr>
        <p:spPr>
          <a:xfrm>
            <a:off x="2391814" y="2017275"/>
            <a:ext cx="486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8" name="Google Shape;1878;p142"/>
          <p:cNvSpPr/>
          <p:nvPr/>
        </p:nvSpPr>
        <p:spPr>
          <a:xfrm>
            <a:off x="1603464" y="2017275"/>
            <a:ext cx="788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9" name="Google Shape;1879;p142"/>
          <p:cNvSpPr/>
          <p:nvPr/>
        </p:nvSpPr>
        <p:spPr>
          <a:xfrm>
            <a:off x="3675984" y="2017275"/>
            <a:ext cx="486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0" name="Google Shape;1880;p142"/>
          <p:cNvSpPr/>
          <p:nvPr/>
        </p:nvSpPr>
        <p:spPr>
          <a:xfrm>
            <a:off x="2887634" y="2017275"/>
            <a:ext cx="7884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1" name="Google Shape;1881;p142"/>
          <p:cNvSpPr/>
          <p:nvPr/>
        </p:nvSpPr>
        <p:spPr>
          <a:xfrm>
            <a:off x="5684298" y="20148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2" name="Google Shape;1882;p142"/>
          <p:cNvSpPr/>
          <p:nvPr/>
        </p:nvSpPr>
        <p:spPr>
          <a:xfrm>
            <a:off x="6185182" y="20148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3" name="Google Shape;1883;p142"/>
          <p:cNvSpPr/>
          <p:nvPr/>
        </p:nvSpPr>
        <p:spPr>
          <a:xfrm>
            <a:off x="6460712" y="20148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4" name="Google Shape;1884;p142"/>
          <p:cNvSpPr/>
          <p:nvPr/>
        </p:nvSpPr>
        <p:spPr>
          <a:xfrm>
            <a:off x="6961596" y="20148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5" name="Google Shape;1885;p142"/>
          <p:cNvSpPr/>
          <p:nvPr/>
        </p:nvSpPr>
        <p:spPr>
          <a:xfrm>
            <a:off x="7242485" y="20148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6" name="Google Shape;1886;p142"/>
          <p:cNvSpPr/>
          <p:nvPr/>
        </p:nvSpPr>
        <p:spPr>
          <a:xfrm>
            <a:off x="7743369" y="20148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7" name="Google Shape;1887;p142"/>
          <p:cNvSpPr/>
          <p:nvPr/>
        </p:nvSpPr>
        <p:spPr>
          <a:xfrm>
            <a:off x="8026946" y="2014863"/>
            <a:ext cx="5031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8" name="Google Shape;1888;p142"/>
          <p:cNvSpPr/>
          <p:nvPr/>
        </p:nvSpPr>
        <p:spPr>
          <a:xfrm>
            <a:off x="8527830" y="2014863"/>
            <a:ext cx="279900" cy="38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9" name="Google Shape;1889;p142"/>
          <p:cNvSpPr txBox="1"/>
          <p:nvPr/>
        </p:nvSpPr>
        <p:spPr>
          <a:xfrm>
            <a:off x="1982764" y="3403825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+ 5)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0" name="Google Shape;1890;p142"/>
          <p:cNvSpPr txBox="1"/>
          <p:nvPr/>
        </p:nvSpPr>
        <p:spPr>
          <a:xfrm>
            <a:off x="1982776" y="4470625"/>
            <a:ext cx="2455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+ 15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1" name="Google Shape;1891;p142"/>
          <p:cNvSpPr txBox="1"/>
          <p:nvPr/>
        </p:nvSpPr>
        <p:spPr>
          <a:xfrm>
            <a:off x="5030764" y="3403825"/>
            <a:ext cx="2156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2" name="Google Shape;1892;p142"/>
          <p:cNvSpPr txBox="1"/>
          <p:nvPr/>
        </p:nvSpPr>
        <p:spPr>
          <a:xfrm>
            <a:off x="5030776" y="4470625"/>
            <a:ext cx="2455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+ 15 = 30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3" name="Google Shape;1893;p142"/>
          <p:cNvSpPr txBox="1"/>
          <p:nvPr>
            <p:ph idx="4294967295" type="body"/>
          </p:nvPr>
        </p:nvSpPr>
        <p:spPr>
          <a:xfrm>
            <a:off x="646555" y="4024671"/>
            <a:ext cx="8094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Most commonly you will only see or write these in these 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implified forms.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14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equations involving brackets</a:t>
            </a:r>
            <a:endParaRPr/>
          </a:p>
        </p:txBody>
      </p:sp>
      <p:sp>
        <p:nvSpPr>
          <p:cNvPr id="1899" name="Google Shape;1899;p14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equations</a:t>
            </a:r>
            <a:endParaRPr/>
          </a:p>
        </p:txBody>
      </p:sp>
      <p:sp>
        <p:nvSpPr>
          <p:cNvPr id="1900" name="Google Shape;1900;p14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in equations</a:t>
            </a:r>
            <a:endParaRPr/>
          </a:p>
        </p:txBody>
      </p:sp>
      <p:pic>
        <p:nvPicPr>
          <p:cNvPr id="1901" name="Google Shape;1901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99037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44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It’s important that we multiply every term inside the brackets in order to maintain equality.</a:t>
            </a:r>
            <a:endParaRPr/>
          </a:p>
        </p:txBody>
      </p:sp>
      <p:sp>
        <p:nvSpPr>
          <p:cNvPr id="1907" name="Google Shape;1907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1908" name="Google Shape;1908;p144"/>
          <p:cNvSpPr txBox="1"/>
          <p:nvPr/>
        </p:nvSpPr>
        <p:spPr>
          <a:xfrm>
            <a:off x="3363200" y="1812434"/>
            <a:ext cx="18804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= 7</a:t>
            </a: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9" name="Google Shape;1909;p144"/>
          <p:cNvSpPr txBox="1"/>
          <p:nvPr/>
        </p:nvSpPr>
        <p:spPr>
          <a:xfrm>
            <a:off x="2613575" y="2466148"/>
            <a:ext cx="33114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× (8 + 2) = 2 × (7</a:t>
            </a: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0" name="Google Shape;1910;p144"/>
          <p:cNvSpPr txBox="1"/>
          <p:nvPr/>
        </p:nvSpPr>
        <p:spPr>
          <a:xfrm>
            <a:off x="7052079" y="1812434"/>
            <a:ext cx="18804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= 10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1" name="Google Shape;1911;p144"/>
          <p:cNvSpPr txBox="1"/>
          <p:nvPr/>
        </p:nvSpPr>
        <p:spPr>
          <a:xfrm>
            <a:off x="2253878" y="3119862"/>
            <a:ext cx="4080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× 8 </a:t>
            </a: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× 2 = 2 × 7</a:t>
            </a: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× 3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2" name="Google Shape;1912;p144"/>
          <p:cNvSpPr txBox="1"/>
          <p:nvPr/>
        </p:nvSpPr>
        <p:spPr>
          <a:xfrm>
            <a:off x="3123358" y="3773577"/>
            <a:ext cx="24054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 </a:t>
            </a: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 = 14</a:t>
            </a: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3" name="Google Shape;1913;p144"/>
          <p:cNvSpPr txBox="1"/>
          <p:nvPr/>
        </p:nvSpPr>
        <p:spPr>
          <a:xfrm>
            <a:off x="7052079" y="3782404"/>
            <a:ext cx="18804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= 20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4" name="Google Shape;1914;p144"/>
          <p:cNvSpPr txBox="1"/>
          <p:nvPr>
            <p:ph idx="1" type="body"/>
          </p:nvPr>
        </p:nvSpPr>
        <p:spPr>
          <a:xfrm>
            <a:off x="324000" y="4416900"/>
            <a:ext cx="75843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multiplied out correctly. We still have an equation.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45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Izzy is expanding a bracket and spots that she has made an error.</a:t>
            </a:r>
            <a:endParaRPr/>
          </a:p>
        </p:txBody>
      </p:sp>
      <p:sp>
        <p:nvSpPr>
          <p:cNvPr id="1920" name="Google Shape;1920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1921" name="Google Shape;1921;p145"/>
          <p:cNvSpPr txBox="1"/>
          <p:nvPr/>
        </p:nvSpPr>
        <p:spPr>
          <a:xfrm>
            <a:off x="324000" y="2864325"/>
            <a:ext cx="713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point out her error before she corrects it?</a:t>
            </a:r>
            <a:endParaRPr/>
          </a:p>
        </p:txBody>
      </p:sp>
      <p:pic>
        <p:nvPicPr>
          <p:cNvPr id="1922" name="Google Shape;1922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16777" y="1624818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145"/>
          <p:cNvSpPr txBox="1"/>
          <p:nvPr/>
        </p:nvSpPr>
        <p:spPr>
          <a:xfrm>
            <a:off x="1686793" y="1693734"/>
            <a:ext cx="2184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 = 20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4" name="Google Shape;1924;p145"/>
          <p:cNvSpPr txBox="1"/>
          <p:nvPr/>
        </p:nvSpPr>
        <p:spPr>
          <a:xfrm>
            <a:off x="1686793" y="2227134"/>
            <a:ext cx="2184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= 20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5" name="Google Shape;1925;p145"/>
          <p:cNvSpPr/>
          <p:nvPr/>
        </p:nvSpPr>
        <p:spPr>
          <a:xfrm>
            <a:off x="2212196" y="2211300"/>
            <a:ext cx="325800" cy="4287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45"/>
          <p:cNvSpPr txBox="1"/>
          <p:nvPr>
            <p:ph idx="1" type="body"/>
          </p:nvPr>
        </p:nvSpPr>
        <p:spPr>
          <a:xfrm>
            <a:off x="449226" y="3390200"/>
            <a:ext cx="6875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She didn’t multiply every term inside the bracket by 4.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7" name="Google Shape;1927;p145"/>
          <p:cNvSpPr txBox="1"/>
          <p:nvPr/>
        </p:nvSpPr>
        <p:spPr>
          <a:xfrm>
            <a:off x="476421" y="3793625"/>
            <a:ext cx="2457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lots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is…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8" name="Google Shape;1928;p145"/>
          <p:cNvSpPr txBox="1"/>
          <p:nvPr/>
        </p:nvSpPr>
        <p:spPr>
          <a:xfrm>
            <a:off x="3372029" y="3793625"/>
            <a:ext cx="4438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 +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 +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 +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9" name="Google Shape;1929;p145"/>
          <p:cNvSpPr txBox="1"/>
          <p:nvPr/>
        </p:nvSpPr>
        <p:spPr>
          <a:xfrm>
            <a:off x="3372027" y="4250825"/>
            <a:ext cx="1897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 × 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146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Izzy is expanding a bracket and spots that she has made an error.</a:t>
            </a:r>
            <a:endParaRPr/>
          </a:p>
        </p:txBody>
      </p:sp>
      <p:sp>
        <p:nvSpPr>
          <p:cNvPr id="1935" name="Google Shape;1935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1936" name="Google Shape;1936;p146"/>
          <p:cNvSpPr txBox="1"/>
          <p:nvPr/>
        </p:nvSpPr>
        <p:spPr>
          <a:xfrm>
            <a:off x="324000" y="2864325"/>
            <a:ext cx="713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point out her error before she corrects it?</a:t>
            </a:r>
            <a:endParaRPr/>
          </a:p>
        </p:txBody>
      </p:sp>
      <p:pic>
        <p:nvPicPr>
          <p:cNvPr id="1937" name="Google Shape;1937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16777" y="1624818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8" name="Google Shape;1938;p146"/>
          <p:cNvSpPr txBox="1"/>
          <p:nvPr/>
        </p:nvSpPr>
        <p:spPr>
          <a:xfrm>
            <a:off x="1686793" y="1693734"/>
            <a:ext cx="2184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 = 20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9" name="Google Shape;1939;p146"/>
          <p:cNvSpPr txBox="1"/>
          <p:nvPr/>
        </p:nvSpPr>
        <p:spPr>
          <a:xfrm>
            <a:off x="1686793" y="2227134"/>
            <a:ext cx="2184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20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0" name="Google Shape;1940;p146"/>
          <p:cNvSpPr txBox="1"/>
          <p:nvPr>
            <p:ph idx="1" type="body"/>
          </p:nvPr>
        </p:nvSpPr>
        <p:spPr>
          <a:xfrm>
            <a:off x="449226" y="3390200"/>
            <a:ext cx="6875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She didn’t multiply every term inside the bracket by 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1" name="Google Shape;1941;p146"/>
          <p:cNvSpPr txBox="1"/>
          <p:nvPr/>
        </p:nvSpPr>
        <p:spPr>
          <a:xfrm>
            <a:off x="476421" y="3793625"/>
            <a:ext cx="2457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lots 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is…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2" name="Google Shape;1942;p146"/>
          <p:cNvSpPr txBox="1"/>
          <p:nvPr/>
        </p:nvSpPr>
        <p:spPr>
          <a:xfrm>
            <a:off x="3372029" y="3793625"/>
            <a:ext cx="4438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 +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 +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 +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+ 2)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3" name="Google Shape;1943;p146"/>
          <p:cNvSpPr txBox="1"/>
          <p:nvPr/>
        </p:nvSpPr>
        <p:spPr>
          <a:xfrm>
            <a:off x="3372027" y="4250825"/>
            <a:ext cx="1897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×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 × 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47"/>
          <p:cNvSpPr txBox="1"/>
          <p:nvPr>
            <p:ph idx="4" type="subTitle"/>
          </p:nvPr>
        </p:nvSpPr>
        <p:spPr>
          <a:xfrm>
            <a:off x="1034425" y="3766975"/>
            <a:ext cx="474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draw a visual representation.</a:t>
            </a:r>
            <a:endParaRPr/>
          </a:p>
        </p:txBody>
      </p:sp>
      <p:sp>
        <p:nvSpPr>
          <p:cNvPr id="1949" name="Google Shape;1949;p1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1950" name="Google Shape;1950;p147"/>
          <p:cNvSpPr txBox="1"/>
          <p:nvPr>
            <p:ph idx="1" type="subTitle"/>
          </p:nvPr>
        </p:nvSpPr>
        <p:spPr>
          <a:xfrm>
            <a:off x="1034425" y="1685375"/>
            <a:ext cx="474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multiply both sides of the </a:t>
            </a:r>
            <a:r>
              <a:rPr lang="en-GB"/>
              <a:t>equation</a:t>
            </a:r>
            <a:r>
              <a:rPr lang="en-GB"/>
              <a:t> by the same value.</a:t>
            </a:r>
            <a:endParaRPr/>
          </a:p>
        </p:txBody>
      </p:sp>
      <p:sp>
        <p:nvSpPr>
          <p:cNvPr id="1951" name="Google Shape;1951;p147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</a:t>
            </a:r>
            <a:r>
              <a:rPr lang="en-GB"/>
              <a:t>manipulating</a:t>
            </a:r>
            <a:r>
              <a:rPr lang="en-GB"/>
              <a:t> equations, which are important?</a:t>
            </a:r>
            <a:endParaRPr/>
          </a:p>
        </p:txBody>
      </p:sp>
      <p:sp>
        <p:nvSpPr>
          <p:cNvPr id="1952" name="Google Shape;1952;p147"/>
          <p:cNvSpPr txBox="1"/>
          <p:nvPr>
            <p:ph idx="3" type="subTitle"/>
          </p:nvPr>
        </p:nvSpPr>
        <p:spPr>
          <a:xfrm>
            <a:off x="1034425" y="2641850"/>
            <a:ext cx="4740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expanding brackets, we multiply </a:t>
            </a:r>
            <a:r>
              <a:rPr lang="en-GB"/>
              <a:t>every term inside the bracket.</a:t>
            </a:r>
            <a:endParaRPr/>
          </a:p>
        </p:txBody>
      </p:sp>
      <p:pic>
        <p:nvPicPr>
          <p:cNvPr id="1953" name="Google Shape;1953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3383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4" name="Google Shape;1954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6783" y="28437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5" name="Google Shape;1955;p147"/>
          <p:cNvSpPr txBox="1"/>
          <p:nvPr>
            <p:ph idx="4294967295" type="body"/>
          </p:nvPr>
        </p:nvSpPr>
        <p:spPr>
          <a:xfrm>
            <a:off x="628800" y="4237214"/>
            <a:ext cx="8067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 don’t have to, but that can help to support our understanding.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0" name="Google Shape;1960;p148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rot="10800000">
            <a:off x="606277" y="3159983"/>
            <a:ext cx="5222098" cy="17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1" name="Google Shape;1961;p148"/>
          <p:cNvSpPr txBox="1"/>
          <p:nvPr>
            <p:ph idx="1" type="body"/>
          </p:nvPr>
        </p:nvSpPr>
        <p:spPr>
          <a:xfrm>
            <a:off x="324000" y="759300"/>
            <a:ext cx="8439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Izzy is experimenting with multiplying both sides of the equation she is solving.</a:t>
            </a:r>
            <a:endParaRPr/>
          </a:p>
        </p:txBody>
      </p:sp>
      <p:sp>
        <p:nvSpPr>
          <p:cNvPr id="1962" name="Google Shape;1962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1963" name="Google Shape;1963;p148"/>
          <p:cNvSpPr txBox="1"/>
          <p:nvPr/>
        </p:nvSpPr>
        <p:spPr>
          <a:xfrm>
            <a:off x="1009800" y="3408961"/>
            <a:ext cx="4664400" cy="1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will I get the same solution if I multiply both sides by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will I get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 a solution instead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/>
          </a:p>
        </p:txBody>
      </p:sp>
      <p:pic>
        <p:nvPicPr>
          <p:cNvPr id="1964" name="Google Shape;1964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37896" y="2005826"/>
            <a:ext cx="1238450" cy="1198476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148"/>
          <p:cNvSpPr txBox="1"/>
          <p:nvPr/>
        </p:nvSpPr>
        <p:spPr>
          <a:xfrm>
            <a:off x="2050164" y="1538913"/>
            <a:ext cx="20553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 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+ 11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6" name="Google Shape;1966;p148"/>
          <p:cNvSpPr txBox="1"/>
          <p:nvPr/>
        </p:nvSpPr>
        <p:spPr>
          <a:xfrm>
            <a:off x="5050831" y="1538913"/>
            <a:ext cx="2885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 = 10(3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+ 11)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7" name="Google Shape;1967;p148"/>
          <p:cNvSpPr txBox="1"/>
          <p:nvPr/>
        </p:nvSpPr>
        <p:spPr>
          <a:xfrm>
            <a:off x="2502539" y="1992369"/>
            <a:ext cx="1897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+ 11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8" name="Google Shape;1968;p148"/>
          <p:cNvSpPr txBox="1"/>
          <p:nvPr/>
        </p:nvSpPr>
        <p:spPr>
          <a:xfrm>
            <a:off x="2166469" y="2445826"/>
            <a:ext cx="1407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−10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9" name="Google Shape;1969;p148"/>
          <p:cNvSpPr txBox="1"/>
          <p:nvPr/>
        </p:nvSpPr>
        <p:spPr>
          <a:xfrm>
            <a:off x="2493734" y="2899282"/>
            <a:ext cx="1025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0" name="Google Shape;1970;p148"/>
          <p:cNvSpPr txBox="1"/>
          <p:nvPr/>
        </p:nvSpPr>
        <p:spPr>
          <a:xfrm>
            <a:off x="4819800" y="2203393"/>
            <a:ext cx="39432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you think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Same solution or different?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149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Izzy is experimenting with multiplying both sides of the equation she is solving.</a:t>
            </a:r>
            <a:endParaRPr/>
          </a:p>
        </p:txBody>
      </p:sp>
      <p:sp>
        <p:nvSpPr>
          <p:cNvPr id="1976" name="Google Shape;1976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pic>
        <p:nvPicPr>
          <p:cNvPr id="1977" name="Google Shape;1977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37896" y="2005826"/>
            <a:ext cx="1238450" cy="1198476"/>
          </a:xfrm>
          <a:prstGeom prst="rect">
            <a:avLst/>
          </a:prstGeom>
          <a:noFill/>
          <a:ln>
            <a:noFill/>
          </a:ln>
        </p:spPr>
      </p:pic>
      <p:sp>
        <p:nvSpPr>
          <p:cNvPr id="1978" name="Google Shape;1978;p149"/>
          <p:cNvSpPr txBox="1"/>
          <p:nvPr/>
        </p:nvSpPr>
        <p:spPr>
          <a:xfrm>
            <a:off x="2050164" y="1538913"/>
            <a:ext cx="20553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 = 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+ 11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9" name="Google Shape;1979;p149"/>
          <p:cNvSpPr txBox="1"/>
          <p:nvPr>
            <p:ph idx="1" type="body"/>
          </p:nvPr>
        </p:nvSpPr>
        <p:spPr>
          <a:xfrm>
            <a:off x="1690886" y="3942386"/>
            <a:ext cx="6279900" cy="7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Despite multiplying both sides 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, we can see that the solution is still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by substituting.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0" name="Google Shape;1980;p149"/>
          <p:cNvSpPr txBox="1"/>
          <p:nvPr/>
        </p:nvSpPr>
        <p:spPr>
          <a:xfrm>
            <a:off x="5050831" y="1538913"/>
            <a:ext cx="2885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 = 10(3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+ 11)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1" name="Google Shape;1981;p149"/>
          <p:cNvSpPr txBox="1"/>
          <p:nvPr/>
        </p:nvSpPr>
        <p:spPr>
          <a:xfrm>
            <a:off x="2502539" y="1992369"/>
            <a:ext cx="1897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+ 11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2" name="Google Shape;1982;p149"/>
          <p:cNvSpPr txBox="1"/>
          <p:nvPr/>
        </p:nvSpPr>
        <p:spPr>
          <a:xfrm>
            <a:off x="2166469" y="2445826"/>
            <a:ext cx="1407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−10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3" name="Google Shape;1983;p149"/>
          <p:cNvSpPr txBox="1"/>
          <p:nvPr/>
        </p:nvSpPr>
        <p:spPr>
          <a:xfrm>
            <a:off x="2493734" y="2899282"/>
            <a:ext cx="1025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4" name="Google Shape;1984;p149"/>
          <p:cNvSpPr txBox="1"/>
          <p:nvPr/>
        </p:nvSpPr>
        <p:spPr>
          <a:xfrm>
            <a:off x="4669823" y="2025409"/>
            <a:ext cx="3699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10((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−5)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 = 10(3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(−5)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+ 11)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5" name="Google Shape;1985;p149"/>
          <p:cNvSpPr txBox="1"/>
          <p:nvPr/>
        </p:nvSpPr>
        <p:spPr>
          <a:xfrm>
            <a:off x="5355625" y="2511906"/>
            <a:ext cx="3014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10(−4) = 10(−15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+ 11)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6" name="Google Shape;1986;p149"/>
          <p:cNvSpPr txBox="1"/>
          <p:nvPr/>
        </p:nvSpPr>
        <p:spPr>
          <a:xfrm>
            <a:off x="5355625" y="2998403"/>
            <a:ext cx="3014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10(−4) = 10(−4)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7" name="Google Shape;1987;p149"/>
          <p:cNvSpPr txBox="1"/>
          <p:nvPr/>
        </p:nvSpPr>
        <p:spPr>
          <a:xfrm>
            <a:off x="5698121" y="3484900"/>
            <a:ext cx="16938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−40 = −40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8" name="Google Shape;1988;p149"/>
          <p:cNvSpPr/>
          <p:nvPr/>
        </p:nvSpPr>
        <p:spPr>
          <a:xfrm>
            <a:off x="2314975" y="2854609"/>
            <a:ext cx="1130700" cy="528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150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Why would we want to</a:t>
            </a:r>
            <a:r>
              <a:rPr lang="en-GB"/>
              <a:t> multiply both sides of an equation?</a:t>
            </a:r>
            <a:endParaRPr/>
          </a:p>
        </p:txBody>
      </p:sp>
      <p:sp>
        <p:nvSpPr>
          <p:cNvPr id="1994" name="Google Shape;1994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1995" name="Google Shape;1995;p150"/>
          <p:cNvSpPr txBox="1"/>
          <p:nvPr/>
        </p:nvSpPr>
        <p:spPr>
          <a:xfrm>
            <a:off x="6651032" y="2489793"/>
            <a:ext cx="788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x+10=4x-4&quot;&gt;&lt;mfrac&gt;&lt;mn&gt;1&lt;/mn&gt;&lt;mn&gt;2&lt;/mn&gt;&lt;/mfrac&gt;&lt;mi&gt;x&lt;/mi&gt;&lt;mo&gt;+&lt;/mo&gt;&lt;mn&gt;10&lt;/mn&gt;&lt;mo&gt;=&lt;/mo&gt;&lt;mn&gt;4&lt;/mn&gt;&lt;mi&gt;x&lt;/mi&gt;&lt;mo&gt;−&lt;/mo&gt;&lt;mn&gt;4&lt;/mn&gt;&lt;/math&gt;" id="1996" name="Google Shape;1996;p150" title="one half x plus 10 equals 4 x minu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618" y="1172530"/>
            <a:ext cx="1993554" cy="5608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+14=4x&quot;&gt;&lt;mfrac&gt;&lt;mn&gt;1&lt;/mn&gt;&lt;mn&gt;2&lt;/mn&gt;&lt;/mfrac&gt;&lt;mi&gt;x&lt;/mi&gt;&lt;mo&gt;+&lt;/mo&gt;&lt;mn&gt;14&lt;/mn&gt;&lt;mo&gt;=&lt;/mo&gt;&lt;mn&gt;4&lt;/mn&gt;&lt;mi&gt;x&lt;/mi&gt;&lt;/math&gt;" id="1997" name="Google Shape;1997;p150" title="one half x plus 14 equals 4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0358" y="2677732"/>
            <a:ext cx="1547395" cy="56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+14\ +\left(-\frac{1}{2}x\right)=4x+\left(-\frac{1}{2}x\right)&quot;&gt;&lt;mfrac&gt;&lt;mn&gt;1&lt;/mn&gt;&lt;mn&gt;2&lt;/mn&gt;&lt;/mfrac&gt;&lt;mi&gt;x&lt;/mi&gt;&lt;mo&gt;+&lt;/mo&gt;&lt;mn&gt;14&lt;/mn&gt;&lt;mtext&gt;&lt;/mtext&gt;&lt;mo&gt;+&lt;/mo&gt;&lt;mrow data-mjx-texclass=&quot;INNER&quot;&gt;&lt;mo data-mjx-texclass=&quot;OPEN&quot;&gt;(&lt;/mo&gt;&lt;mo&gt;−&lt;/mo&gt;&lt;mfrac&gt;&lt;mn&gt;1&lt;/mn&gt;&lt;mn&gt;2&lt;/mn&gt;&lt;/mfrac&gt;&lt;mi&gt;x&lt;/mi&gt;&lt;mo data-mjx-texclass=&quot;CLOSE&quot;&gt;)&lt;/mo&gt;&lt;/mrow&gt;&lt;mo&gt;=&lt;/mo&gt;&lt;mn&gt;4&lt;/mn&gt;&lt;mi&gt;x&lt;/mi&gt;&lt;mo&gt;+&lt;/mo&gt;&lt;mrow data-mjx-texclass=&quot;INNER&quot;&gt;&lt;mo data-mjx-texclass=&quot;OPEN&quot;&gt;(&lt;/mo&gt;&lt;mo&gt;−&lt;/mo&gt;&lt;mfrac&gt;&lt;mn&gt;1&lt;/mn&gt;&lt;mn&gt;2&lt;/mn&gt;&lt;/mfrac&gt;&lt;mi&gt;x&lt;/mi&gt;&lt;mo data-mjx-texclass=&quot;CLOSE&quot;&gt;)&lt;/mo&gt;&lt;/mrow&gt;&lt;/math&gt;" id="1998" name="Google Shape;1998;p150" title="one half x plus 14 positive negative one half x equals 4 x plus negative one half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486" y="3430339"/>
            <a:ext cx="3929799" cy="63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4\ =3\frac{1}{2}x&quot;&gt;&lt;mn&gt;14&lt;/mn&gt;&lt;mtext&gt;&lt;/mtext&gt;&lt;mo&gt;=&lt;/mo&gt;&lt;mn&gt;3&lt;/mn&gt;&lt;mfrac&gt;&lt;mn&gt;1&lt;/mn&gt;&lt;mn&gt;2&lt;/mn&gt;&lt;/mfrac&gt;&lt;mi&gt;x&lt;/mi&gt;&lt;/math&gt;" id="1999" name="Google Shape;1999;p150" title="14 equals 3 and one half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0240" y="4260761"/>
            <a:ext cx="1158490" cy="56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+10+\left(4\right)=4x-4+\left(4\right)&quot;&gt;&lt;mfrac&gt;&lt;mn&gt;1&lt;/mn&gt;&lt;mn&gt;2&lt;/mn&gt;&lt;/mfrac&gt;&lt;mi&gt;x&lt;/mi&gt;&lt;mo&gt;+&lt;/mo&gt;&lt;mn&gt;10&lt;/mn&gt;&lt;mo&gt;+&lt;/mo&gt;&lt;mrow data-mjx-texclass=&quot;INNER&quot;&gt;&lt;mo data-mjx-texclass=&quot;OPEN&quot;&gt;(&lt;/mo&gt;&lt;mn&gt;4&lt;/mn&gt;&lt;mo data-mjx-texclass=&quot;CLOSE&quot;&gt;)&lt;/mo&gt;&lt;/mrow&gt;&lt;mo&gt;=&lt;/mo&gt;&lt;mn&gt;4&lt;/mn&gt;&lt;mi&gt;x&lt;/mi&gt;&lt;mo&gt;−&lt;/mo&gt;&lt;mn&gt;4&lt;/mn&gt;&lt;mo&gt;+&lt;/mo&gt;&lt;mrow data-mjx-texclass=&quot;INNER&quot;&gt;&lt;mo data-mjx-texclass=&quot;OPEN&quot;&gt;(&lt;/mo&gt;&lt;mn&gt;4&lt;/mn&gt;&lt;mo data-mjx-texclass=&quot;CLOSE&quot;&gt;)&lt;/mo&gt;&lt;/mrow&gt;&lt;/math&gt;" id="2000" name="Google Shape;2000;p150" title="one half x plus 10 plus 4 equals 4 x minus 4 plus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5502" y="1925126"/>
            <a:ext cx="3229860" cy="56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4}{3\frac{1}{2}}\ =x&quot;&gt;&lt;mfrac&gt;&lt;mn&gt;14&lt;/mn&gt;&lt;mrow&gt;&lt;mn&gt;3&lt;/mn&gt;&lt;mfrac&gt;&lt;mn&gt;1&lt;/mn&gt;&lt;mn&gt;2&lt;/mn&gt;&lt;/mfrac&gt;&lt;/mrow&gt;&lt;/mfrac&gt;&lt;mtext&gt;&lt;/mtext&gt;&lt;mo&gt;=&lt;/mo&gt;&lt;mi&gt;x&lt;/mi&gt;&lt;/math&gt;" id="2001" name="Google Shape;2001;p150" title="the fraction with numerator 14 and denominator 3 and one half equal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59129" y="1279412"/>
            <a:ext cx="1020250" cy="803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Google Shape;2002;p150"/>
          <p:cNvSpPr txBox="1"/>
          <p:nvPr>
            <p:ph idx="1" type="body"/>
          </p:nvPr>
        </p:nvSpPr>
        <p:spPr>
          <a:xfrm>
            <a:off x="4896000" y="3121500"/>
            <a:ext cx="41058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there something we could have done to make this more efficient to solve?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51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Why would we want to multiply both sides of an equation?</a:t>
            </a:r>
            <a:endParaRPr/>
          </a:p>
        </p:txBody>
      </p:sp>
      <p:sp>
        <p:nvSpPr>
          <p:cNvPr id="2008" name="Google Shape;2008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2}x+10=4x-4&quot;&gt;&lt;mfrac&gt;&lt;mn&gt;1&lt;/mn&gt;&lt;mn&gt;2&lt;/mn&gt;&lt;/mfrac&gt;&lt;mi&gt;x&lt;/mi&gt;&lt;mo&gt;+&lt;/mo&gt;&lt;mn&gt;10&lt;/mn&gt;&lt;mo&gt;=&lt;/mo&gt;&lt;mn&gt;4&lt;/mn&gt;&lt;mi&gt;x&lt;/mi&gt;&lt;mo&gt;−&lt;/mo&gt;&lt;mn&gt;4&lt;/mn&gt;&lt;/math&gt;" id="2009" name="Google Shape;2009;p151" title="one half x plus 10 equals 4 x minu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618" y="1172530"/>
            <a:ext cx="1993554" cy="560814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51"/>
          <p:cNvSpPr/>
          <p:nvPr/>
        </p:nvSpPr>
        <p:spPr>
          <a:xfrm>
            <a:off x="1586675" y="1103930"/>
            <a:ext cx="522300" cy="720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151"/>
          <p:cNvSpPr txBox="1"/>
          <p:nvPr>
            <p:ph idx="1" type="body"/>
          </p:nvPr>
        </p:nvSpPr>
        <p:spPr>
          <a:xfrm>
            <a:off x="4591200" y="1281470"/>
            <a:ext cx="39198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/>
              <a:t>multiplicative </a:t>
            </a:r>
            <a:r>
              <a:rPr lang="en-GB" sz="2000"/>
              <a:t>inverse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left(\frac{1}{2}x+10\right)=2\left(4x-4\right)&quot;&gt;&lt;mn&gt;2&lt;/mn&gt;&lt;mrow data-mjx-texclass=&quot;INNER&quot;&gt;&lt;mo data-mjx-texclass=&quot;OPEN&quot;&gt;(&lt;/mo&gt;&lt;mfrac&gt;&lt;mn&gt;1&lt;/mn&gt;&lt;mn&gt;2&lt;/mn&gt;&lt;/mfrac&gt;&lt;mi&gt;x&lt;/mi&gt;&lt;mo&gt;+&lt;/mo&gt;&lt;mn&gt;10&lt;/mn&gt;&lt;mo data-mjx-texclass=&quot;CLOSE&quot;&gt;)&lt;/mo&gt;&lt;/mrow&gt;&lt;mo&gt;=&lt;/mo&gt;&lt;mn&gt;2&lt;/mn&gt;&lt;mrow data-mjx-texclass=&quot;INNER&quot;&gt;&lt;mo data-mjx-texclass=&quot;OPEN&quot;&gt;(&lt;/mo&gt;&lt;mn&gt;4&lt;/mn&gt;&lt;mi&gt;x&lt;/mi&gt;&lt;mo&gt;−&lt;/mo&gt;&lt;mn&gt;4&lt;/mn&gt;&lt;mo data-mjx-texclass=&quot;CLOSE&quot;&gt;)&lt;/mo&gt;&lt;/mrow&gt;&lt;/math&gt;" id="2012" name="Google Shape;2012;p151" title="2 times open paren one half x plus 10 close paren equals 2 times open paren 4 x minus 4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309" y="1920195"/>
            <a:ext cx="2948401" cy="670276"/>
          </a:xfrm>
          <a:prstGeom prst="rect">
            <a:avLst/>
          </a:prstGeom>
          <a:noFill/>
          <a:ln>
            <a:noFill/>
          </a:ln>
        </p:spPr>
      </p:pic>
      <p:sp>
        <p:nvSpPr>
          <p:cNvPr id="2013" name="Google Shape;2013;p151"/>
          <p:cNvSpPr txBox="1"/>
          <p:nvPr/>
        </p:nvSpPr>
        <p:spPr>
          <a:xfrm>
            <a:off x="2337475" y="3532541"/>
            <a:ext cx="1172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4" name="Google Shape;2014;p151"/>
          <p:cNvSpPr txBox="1"/>
          <p:nvPr/>
        </p:nvSpPr>
        <p:spPr>
          <a:xfrm>
            <a:off x="1880275" y="2846741"/>
            <a:ext cx="2070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+ 20 = 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− 8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5" name="Google Shape;2015;p151"/>
          <p:cNvSpPr txBox="1"/>
          <p:nvPr>
            <p:ph idx="1" type="body"/>
          </p:nvPr>
        </p:nvSpPr>
        <p:spPr>
          <a:xfrm>
            <a:off x="4591200" y="2729275"/>
            <a:ext cx="41979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this form it is simpler to solve.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6" name="Google Shape;2016;p151"/>
          <p:cNvSpPr txBox="1"/>
          <p:nvPr/>
        </p:nvSpPr>
        <p:spPr>
          <a:xfrm>
            <a:off x="2502541" y="4184661"/>
            <a:ext cx="788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1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might be a useful next step in solving this equation?</a:t>
            </a:r>
            <a:endParaRPr/>
          </a:p>
        </p:txBody>
      </p:sp>
      <p:sp>
        <p:nvSpPr>
          <p:cNvPr id="2022" name="Google Shape;2022;p1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Effectively using brackets in an equation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7x-1=\frac{1}{5}x+3&quot;&gt;&lt;mn&gt;7&lt;/mn&gt;&lt;mi&gt;x&lt;/mi&gt;&lt;mo&gt;−&lt;/mo&gt;&lt;mn&gt;1&lt;/mn&gt;&lt;mo&gt;=&lt;/mo&gt;&lt;mfrac&gt;&lt;mn&gt;1&lt;/mn&gt;&lt;mn&gt;5&lt;/mn&gt;&lt;/mfrac&gt;&lt;mi&gt;x&lt;/mi&gt;&lt;mo&gt;+&lt;/mo&gt;&lt;mn&gt;3&lt;/mn&gt;&lt;/math&gt;" id="2023" name="Google Shape;2023;p152" title="7 x minus 1 equals one fifth x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462" y="1222825"/>
            <a:ext cx="2128869" cy="642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left(7x-1\right)=5\left(\frac{1}{5}x+3\right)&quot;&gt;&lt;mn&gt;5&lt;/mn&gt;&lt;mrow data-mjx-texclass=&quot;INNER&quot;&gt;&lt;mo data-mjx-texclass=&quot;OPEN&quot;&gt;(&lt;/mo&gt;&lt;mn&gt;7&lt;/mn&gt;&lt;mi&gt;x&lt;/mi&gt;&lt;mo&gt;−&lt;/mo&gt;&lt;mn&gt;1&lt;/mn&gt;&lt;mo data-mjx-texclass=&quot;CLOSE&quot;&gt;)&lt;/mo&gt;&lt;/mrow&gt;&lt;mo&gt;=&lt;/mo&gt;&lt;mn&gt;5&lt;/mn&gt;&lt;mrow data-mjx-texclass=&quot;INNER&quot;&gt;&lt;mo data-mjx-texclass=&quot;OPEN&quot;&gt;(&lt;/mo&gt;&lt;mfrac&gt;&lt;mn&gt;1&lt;/mn&gt;&lt;mn&gt;5&lt;/mn&gt;&lt;/mfrac&gt;&lt;mi&gt;x&lt;/mi&gt;&lt;mo&gt;+&lt;/mo&gt;&lt;mn&gt;3&lt;/mn&gt;&lt;mo data-mjx-texclass=&quot;CLOSE&quot;&gt;)&lt;/mo&gt;&lt;/mrow&gt;&lt;/math&gt;" id="2024" name="Google Shape;2024;p152" title="5 times open paren 7 x minus 1 close paren equals 5 times open paren one fifth x plus 3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6149" y="3643552"/>
            <a:ext cx="3003494" cy="726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left(7x-1\right)=2\left(\frac{1}{5}x+3\right)&quot;&gt;&lt;mn&gt;2&lt;/mn&gt;&lt;mrow data-mjx-texclass=&quot;INNER&quot;&gt;&lt;mo data-mjx-texclass=&quot;OPEN&quot;&gt;(&lt;/mo&gt;&lt;mn&gt;7&lt;/mn&gt;&lt;mi&gt;x&lt;/mi&gt;&lt;mo&gt;−&lt;/mo&gt;&lt;mn&gt;1&lt;/mn&gt;&lt;mo data-mjx-texclass=&quot;CLOSE&quot;&gt;)&lt;/mo&gt;&lt;/mrow&gt;&lt;mo&gt;=&lt;/mo&gt;&lt;mn&gt;2&lt;/mn&gt;&lt;mrow data-mjx-texclass=&quot;INNER&quot;&gt;&lt;mo data-mjx-texclass=&quot;OPEN&quot;&gt;(&lt;/mo&gt;&lt;mfrac&gt;&lt;mn&gt;1&lt;/mn&gt;&lt;mn&gt;5&lt;/mn&gt;&lt;/mfrac&gt;&lt;mi&gt;x&lt;/mi&gt;&lt;mo&gt;+&lt;/mo&gt;&lt;mn&gt;3&lt;/mn&gt;&lt;mo data-mjx-texclass=&quot;CLOSE&quot;&gt;)&lt;/mo&gt;&lt;/mrow&gt;&lt;/math&gt;" id="2025" name="Google Shape;2025;p152" title="2 times open paren 7 x minus 1 close paren equals 2 times open paren one fifth x plus 3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6149" y="1689126"/>
            <a:ext cx="3007950" cy="726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left(7x-1\right)=3\left(\frac{1}{5}x+3\right)&quot;&gt;&lt;mn&gt;3&lt;/mn&gt;&lt;mrow data-mjx-texclass=&quot;INNER&quot;&gt;&lt;mo data-mjx-texclass=&quot;OPEN&quot;&gt;(&lt;/mo&gt;&lt;mn&gt;7&lt;/mn&gt;&lt;mi&gt;x&lt;/mi&gt;&lt;mo&gt;−&lt;/mo&gt;&lt;mn&gt;1&lt;/mn&gt;&lt;mo data-mjx-texclass=&quot;CLOSE&quot;&gt;)&lt;/mo&gt;&lt;/mrow&gt;&lt;mo&gt;=&lt;/mo&gt;&lt;mn&gt;3&lt;/mn&gt;&lt;mrow data-mjx-texclass=&quot;INNER&quot;&gt;&lt;mo data-mjx-texclass=&quot;OPEN&quot;&gt;(&lt;/mo&gt;&lt;mfrac&gt;&lt;mn&gt;1&lt;/mn&gt;&lt;mn&gt;5&lt;/mn&gt;&lt;/mfrac&gt;&lt;mi&gt;x&lt;/mi&gt;&lt;mo&gt;+&lt;/mo&gt;&lt;mn&gt;3&lt;/mn&gt;&lt;mo data-mjx-texclass=&quot;CLOSE&quot;&gt;)&lt;/mo&gt;&lt;/mrow&gt;&lt;/math&gt;" id="2026" name="Google Shape;2026;p152" title="3 times open paren 7 x minus 1 close paren equals 3 times open paren one fifth x plus 3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6149" y="2655109"/>
            <a:ext cx="3003494" cy="726363"/>
          </a:xfrm>
          <a:prstGeom prst="rect">
            <a:avLst/>
          </a:prstGeom>
          <a:noFill/>
          <a:ln>
            <a:noFill/>
          </a:ln>
        </p:spPr>
      </p:pic>
      <p:sp>
        <p:nvSpPr>
          <p:cNvPr id="2027" name="Google Shape;2027;p152"/>
          <p:cNvSpPr txBox="1"/>
          <p:nvPr/>
        </p:nvSpPr>
        <p:spPr>
          <a:xfrm>
            <a:off x="5407936" y="3989741"/>
            <a:ext cx="2070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 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+ 15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8" name="Google Shape;2028;p1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41783" y="39105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9" name="Google Shape;2029;p152"/>
          <p:cNvSpPr txBox="1"/>
          <p:nvPr>
            <p:ph idx="4294967295" type="body"/>
          </p:nvPr>
        </p:nvSpPr>
        <p:spPr>
          <a:xfrm>
            <a:off x="4510275" y="3104175"/>
            <a:ext cx="4392000" cy="7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 inverse, puts it in a format which is much easier to solve.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1}{x}=3&quot;&gt;&lt;mfrac&gt;&lt;mn&gt;1&lt;/mn&gt;&lt;mi&gt;x&lt;/mi&gt;&lt;/mfrac&gt;&lt;mo&gt;=&lt;/mo&gt;&lt;mn&gt;3&lt;/mn&gt;&lt;/math&gt;" id="2034" name="Google Shape;2034;p153" title="1 over x equal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155" y="1205189"/>
            <a:ext cx="739554" cy="618540"/>
          </a:xfrm>
          <a:prstGeom prst="rect">
            <a:avLst/>
          </a:prstGeom>
          <a:noFill/>
          <a:ln>
            <a:noFill/>
          </a:ln>
        </p:spPr>
      </p:pic>
      <p:sp>
        <p:nvSpPr>
          <p:cNvPr id="2035" name="Google Shape;2035;p153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also useful for solving rational equations.</a:t>
            </a:r>
            <a:endParaRPr/>
          </a:p>
        </p:txBody>
      </p:sp>
      <p:sp>
        <p:nvSpPr>
          <p:cNvPr id="2036" name="Google Shape;2036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2037" name="Google Shape;2037;p153"/>
          <p:cNvSpPr txBox="1"/>
          <p:nvPr>
            <p:ph idx="1" type="body"/>
          </p:nvPr>
        </p:nvSpPr>
        <p:spPr>
          <a:xfrm>
            <a:off x="2892352" y="1267825"/>
            <a:ext cx="3150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inverse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is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8" name="Google Shape;2038;p153"/>
          <p:cNvSpPr txBox="1"/>
          <p:nvPr/>
        </p:nvSpPr>
        <p:spPr>
          <a:xfrm>
            <a:off x="1476815" y="3949645"/>
            <a:ext cx="1172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9" name="Google Shape;2039;p153"/>
          <p:cNvSpPr txBox="1"/>
          <p:nvPr>
            <p:ph idx="1" type="body"/>
          </p:nvPr>
        </p:nvSpPr>
        <p:spPr>
          <a:xfrm>
            <a:off x="2894750" y="3787257"/>
            <a:ext cx="2801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this form it is much more simple to solve.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x\left(\frac{1}{x}\right)=x\left(3\right)&quot;&gt;&lt;mi&gt;x&lt;/mi&gt;&lt;mrow data-mjx-texclass=&quot;INNER&quot;&gt;&lt;mo data-mjx-texclass=&quot;OPEN&quot;&gt;(&lt;/mo&gt;&lt;mfrac&gt;&lt;mn&gt;1&lt;/mn&gt;&lt;mi&gt;x&lt;/mi&gt;&lt;/mfrac&gt;&lt;mo data-mjx-texclass=&quot;CLOSE&quot;&gt;)&lt;/mo&gt;&lt;/mrow&gt;&lt;mo&gt;=&lt;/mo&gt;&lt;mi&gt;x&lt;/mi&gt;&lt;mrow data-mjx-texclass=&quot;INNER&quot;&gt;&lt;mo data-mjx-texclass=&quot;OPEN&quot;&gt;(&lt;/mo&gt;&lt;mn&gt;3&lt;/mn&gt;&lt;mo data-mjx-texclass=&quot;CLOSE&quot;&gt;)&lt;/mo&gt;&lt;/mrow&gt;&lt;/math&gt;" id="2040" name="Google Shape;2040;p153" title="x of open paren 1 over x close paren equals x of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396" y="2013480"/>
            <a:ext cx="1824234" cy="730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}{x}=3x&quot;&gt;&lt;mfrac&gt;&lt;mi&gt;x&lt;/mi&gt;&lt;mi&gt;x&lt;/mi&gt;&lt;/mfrac&gt;&lt;mo&gt;=&lt;/mo&gt;&lt;mn&gt;3&lt;/mn&gt;&lt;mi&gt;x&lt;/mi&gt;&lt;/math&gt;" id="2041" name="Google Shape;2041;p153" title="x over x equals 3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8604" y="3020662"/>
            <a:ext cx="892371" cy="532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1}{x}=3&quot;&gt;&lt;mfrac&gt;&lt;mn&gt;1&lt;/mn&gt;&lt;mi&gt;x&lt;/mi&gt;&lt;/mfrac&gt;&lt;mo&gt;=&lt;/mo&gt;&lt;mn&gt;3&lt;/mn&gt;&lt;/math&gt;" id="2046" name="Google Shape;2046;p154" title="1 over x equal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155" y="1205189"/>
            <a:ext cx="739554" cy="6185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7" name="Google Shape;2047;p154"/>
          <p:cNvSpPr txBox="1"/>
          <p:nvPr>
            <p:ph idx="1" type="body"/>
          </p:nvPr>
        </p:nvSpPr>
        <p:spPr>
          <a:xfrm>
            <a:off x="324000" y="759300"/>
            <a:ext cx="84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also useful for solving rational equations.</a:t>
            </a:r>
            <a:endParaRPr/>
          </a:p>
        </p:txBody>
      </p:sp>
      <p:sp>
        <p:nvSpPr>
          <p:cNvPr id="2048" name="Google Shape;2048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2049" name="Google Shape;2049;p154"/>
          <p:cNvSpPr txBox="1"/>
          <p:nvPr>
            <p:ph idx="1" type="body"/>
          </p:nvPr>
        </p:nvSpPr>
        <p:spPr>
          <a:xfrm>
            <a:off x="3197150" y="1267825"/>
            <a:ext cx="26466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inverse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÷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0" name="Google Shape;2050;p154"/>
          <p:cNvSpPr txBox="1"/>
          <p:nvPr/>
        </p:nvSpPr>
        <p:spPr>
          <a:xfrm>
            <a:off x="1476815" y="3949645"/>
            <a:ext cx="1172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= 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1" name="Google Shape;2051;p154"/>
          <p:cNvSpPr txBox="1"/>
          <p:nvPr>
            <p:ph idx="1" type="body"/>
          </p:nvPr>
        </p:nvSpPr>
        <p:spPr>
          <a:xfrm>
            <a:off x="3275750" y="3787250"/>
            <a:ext cx="31686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this form it is much more simple to solve.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x}=\frac{2}{5}&quot;&gt;&lt;mfrac&gt;&lt;mn&gt;1&lt;/mn&gt;&lt;mi&gt;x&lt;/mi&gt;&lt;/mfrac&gt;&lt;mo&gt;=&lt;/mo&gt;&lt;mfrac&gt;&lt;mn&gt;2&lt;/mn&gt;&lt;mn&gt;5&lt;/mn&gt;&lt;/mfrac&gt;&lt;/math&gt;" id="2052" name="Google Shape;2052;p154" title="1 over x equals 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2039" y="1221938"/>
            <a:ext cx="8180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x\left(\frac{1}{x}\right)=5x\left(\frac{2}{5}\right)&quot;&gt;&lt;mn&gt;5&lt;/mn&gt;&lt;mi&gt;x&lt;/mi&gt;&lt;mrow data-mjx-texclass=&quot;INNER&quot;&gt;&lt;mo data-mjx-texclass=&quot;OPEN&quot;&gt;(&lt;/mo&gt;&lt;mfrac&gt;&lt;mn&gt;1&lt;/mn&gt;&lt;mi&gt;x&lt;/mi&gt;&lt;/mfrac&gt;&lt;mo data-mjx-texclass=&quot;CLOSE&quot;&gt;)&lt;/mo&gt;&lt;/mrow&gt;&lt;mo&gt;=&lt;/mo&gt;&lt;mn&gt;5&lt;/mn&gt;&lt;mi&gt;x&lt;/mi&gt;&lt;mrow data-mjx-texclass=&quot;INNER&quot;&gt;&lt;mo data-mjx-texclass=&quot;OPEN&quot;&gt;(&lt;/mo&gt;&lt;mfrac&gt;&lt;mn&gt;2&lt;/mn&gt;&lt;mn&gt;5&lt;/mn&gt;&lt;/mfrac&gt;&lt;mo data-mjx-texclass=&quot;CLOSE&quot;&gt;)&lt;/mo&gt;&lt;/mrow&gt;&lt;/math&gt;" id="2053" name="Google Shape;2053;p154" title="5 x of open paren 1 over x close paren equals 5 x of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2808" y="2055352"/>
            <a:ext cx="2389697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left(\frac{1}{x}\right)=x\left(3\right)&quot;&gt;&lt;mi&gt;x&lt;/mi&gt;&lt;mrow data-mjx-texclass=&quot;INNER&quot;&gt;&lt;mo data-mjx-texclass=&quot;OPEN&quot;&gt;(&lt;/mo&gt;&lt;mfrac&gt;&lt;mn&gt;1&lt;/mn&gt;&lt;mi&gt;x&lt;/mi&gt;&lt;/mfrac&gt;&lt;mo data-mjx-texclass=&quot;CLOSE&quot;&gt;)&lt;/mo&gt;&lt;/mrow&gt;&lt;mo&gt;=&lt;/mo&gt;&lt;mi&gt;x&lt;/mi&gt;&lt;mrow data-mjx-texclass=&quot;INNER&quot;&gt;&lt;mo data-mjx-texclass=&quot;OPEN&quot;&gt;(&lt;/mo&gt;&lt;mn&gt;3&lt;/mn&gt;&lt;mo data-mjx-texclass=&quot;CLOSE&quot;&gt;)&lt;/mo&gt;&lt;/mrow&gt;&lt;/math&gt;" id="2054" name="Google Shape;2054;p154" title="x of open paren 1 over x close paren equals x of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396" y="2013480"/>
            <a:ext cx="1824234" cy="730595"/>
          </a:xfrm>
          <a:prstGeom prst="rect">
            <a:avLst/>
          </a:prstGeom>
          <a:noFill/>
          <a:ln>
            <a:noFill/>
          </a:ln>
        </p:spPr>
      </p:pic>
      <p:sp>
        <p:nvSpPr>
          <p:cNvPr id="2055" name="Google Shape;2055;p154"/>
          <p:cNvSpPr txBox="1"/>
          <p:nvPr/>
        </p:nvSpPr>
        <p:spPr>
          <a:xfrm>
            <a:off x="7061875" y="3949645"/>
            <a:ext cx="1172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x}{x}=3x&quot;&gt;&lt;mfrac&gt;&lt;mi&gt;x&lt;/mi&gt;&lt;mi&gt;x&lt;/mi&gt;&lt;/mfrac&gt;&lt;mo&gt;=&lt;/mo&gt;&lt;mn&gt;3&lt;/mn&gt;&lt;mi&gt;x&lt;/mi&gt;&lt;/math&gt;" id="2056" name="Google Shape;2056;p154" title="x over x equals 3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68604" y="3020662"/>
            <a:ext cx="892371" cy="5327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x}{x}=\frac{10x}{5}&quot;&gt;&lt;mfrac&gt;&lt;mrow&gt;&lt;mn&gt;5&lt;/mn&gt;&lt;mi&gt;x&lt;/mi&gt;&lt;/mrow&gt;&lt;mi&gt;x&lt;/mi&gt;&lt;/mfrac&gt;&lt;mo&gt;=&lt;/mo&gt;&lt;mfrac&gt;&lt;mrow&gt;&lt;mn&gt;10&lt;/mn&gt;&lt;mi&gt;x&lt;/mi&gt;&lt;/mrow&gt;&lt;mn&gt;5&lt;/mn&gt;&lt;/mfrac&gt;&lt;/math&gt;" id="2057" name="Google Shape;2057;p154" title="5 x over x equals 10 x over 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81549" y="2984558"/>
            <a:ext cx="1157158" cy="55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14=\frac{3}{y}&quot;&gt;&lt;mn&gt;14&lt;/mn&gt;&lt;mo&gt;=&lt;/mo&gt;&lt;mfrac&gt;&lt;mn&gt;3&lt;/mn&gt;&lt;mi&gt;y&lt;/mi&gt;&lt;/mfrac&gt;&lt;/math&gt;" id="2062" name="Google Shape;2062;p155" title="14 equals 3 over 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273" y="1210560"/>
            <a:ext cx="921014" cy="713669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5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might be a useful next step in solving this equation?</a:t>
            </a:r>
            <a:endParaRPr/>
          </a:p>
        </p:txBody>
      </p:sp>
      <p:sp>
        <p:nvSpPr>
          <p:cNvPr id="2064" name="Google Shape;2064;p15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pic>
        <p:nvPicPr>
          <p:cNvPr id="2065" name="Google Shape;2065;p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3583" y="2801241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6" name="Google Shape;2066;p155"/>
          <p:cNvSpPr txBox="1"/>
          <p:nvPr>
            <p:ph idx="4294967295" type="body"/>
          </p:nvPr>
        </p:nvSpPr>
        <p:spPr>
          <a:xfrm>
            <a:off x="3900675" y="2723175"/>
            <a:ext cx="4392000" cy="7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the inverse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puts it in a format which is much easier to solve.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y\left(14\right)=y\left(\frac{3}{y}\right)&quot;&gt;&lt;mi&gt;y&lt;/mi&gt;&lt;mrow data-mjx-texclass=&quot;INNER&quot;&gt;&lt;mo data-mjx-texclass=&quot;OPEN&quot;&gt;(&lt;/mo&gt;&lt;mn&gt;14&lt;/mn&gt;&lt;mo data-mjx-texclass=&quot;CLOSE&quot;&gt;)&lt;/mo&gt;&lt;/mrow&gt;&lt;mo&gt;=&lt;/mo&gt;&lt;mi&gt;y&lt;/mi&gt;&lt;mrow data-mjx-texclass=&quot;INNER&quot;&gt;&lt;mo data-mjx-texclass=&quot;OPEN&quot;&gt;(&lt;/mo&gt;&lt;mfrac&gt;&lt;mn&gt;3&lt;/mn&gt;&lt;mi&gt;y&lt;/mi&gt;&lt;/mfrac&gt;&lt;mo data-mjx-texclass=&quot;CLOSE&quot;&gt;)&lt;/mo&gt;&lt;/mrow&gt;&lt;/math&gt;" id="2067" name="Google Shape;2067;p155" title="y of 14 equals y of open paren 3 over y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9439" y="2631903"/>
            <a:ext cx="2030088" cy="7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left(14\right)=3\left(\frac{3}{y}\right)&quot;&gt;&lt;mn&gt;3&lt;/mn&gt;&lt;mrow data-mjx-texclass=&quot;INNER&quot;&gt;&lt;mo data-mjx-texclass=&quot;OPEN&quot;&gt;(&lt;/mo&gt;&lt;mn&gt;14&lt;/mn&gt;&lt;mo data-mjx-texclass=&quot;CLOSE&quot;&gt;)&lt;/mo&gt;&lt;/mrow&gt;&lt;mo&gt;=&lt;/mo&gt;&lt;mn&gt;3&lt;/mn&gt;&lt;mrow data-mjx-texclass=&quot;INNER&quot;&gt;&lt;mo data-mjx-texclass=&quot;OPEN&quot;&gt;(&lt;/mo&gt;&lt;mfrac&gt;&lt;mn&gt;3&lt;/mn&gt;&lt;mi&gt;y&lt;/mi&gt;&lt;/mfrac&gt;&lt;mo data-mjx-texclass=&quot;CLOSE&quot;&gt;)&lt;/mo&gt;&lt;/mrow&gt;&lt;/math&gt;" id="2068" name="Google Shape;2068;p155" title="3 times 14 equals 3 times open paren 3 over y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9439" y="3606389"/>
            <a:ext cx="2030088" cy="7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4y=3&quot;&gt;&lt;mn&gt;14&lt;/mn&gt;&lt;mi&gt;y&lt;/mi&gt;&lt;mo&gt;=&lt;/mo&gt;&lt;mn&gt;3&lt;/mn&gt;&lt;/math&gt;" id="2069" name="Google Shape;2069;p155" title="14 y equals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5000" y="2154418"/>
            <a:ext cx="973800" cy="278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4=y\left(\frac{3}{y}\right)&quot;&gt;&lt;mn&gt;14&lt;/mn&gt;&lt;mo&gt;=&lt;/mo&gt;&lt;mi&gt;y&lt;/mi&gt;&lt;mrow data-mjx-texclass=&quot;INNER&quot;&gt;&lt;mo data-mjx-texclass=&quot;OPEN&quot;&gt;(&lt;/mo&gt;&lt;mfrac&gt;&lt;mn&gt;3&lt;/mn&gt;&lt;mi&gt;y&lt;/mi&gt;&lt;/mfrac&gt;&lt;mo data-mjx-texclass=&quot;CLOSE&quot;&gt;)&lt;/mo&gt;&lt;/mrow&gt;&lt;/math&gt;" id="2070" name="Google Shape;2070;p155" title="14 equals y of open paren 3 over y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9439" y="1657416"/>
            <a:ext cx="1581637" cy="7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155"/>
          <p:cNvSpPr txBox="1"/>
          <p:nvPr>
            <p:ph idx="4294967295" type="body"/>
          </p:nvPr>
        </p:nvSpPr>
        <p:spPr>
          <a:xfrm>
            <a:off x="2833875" y="1656375"/>
            <a:ext cx="20874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must be done to both sides.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156"/>
          <p:cNvSpPr txBox="1"/>
          <p:nvPr>
            <p:ph idx="1" type="body"/>
          </p:nvPr>
        </p:nvSpPr>
        <p:spPr>
          <a:xfrm>
            <a:off x="324000" y="759300"/>
            <a:ext cx="8237700" cy="4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Spot the </a:t>
            </a:r>
            <a:r>
              <a:rPr lang="en-GB"/>
              <a:t>errors</a:t>
            </a:r>
            <a:r>
              <a:rPr lang="en-GB"/>
              <a:t> in these manipulations of equations.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Once spotted, write a sentence to </a:t>
            </a:r>
            <a:r>
              <a:rPr lang="en-GB"/>
              <a:t>explain each error.</a:t>
            </a:r>
            <a:endParaRPr/>
          </a:p>
        </p:txBody>
      </p:sp>
      <p:sp>
        <p:nvSpPr>
          <p:cNvPr id="2077" name="Google Shape;2077;p1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2078" name="Google Shape;2078;p156"/>
          <p:cNvSpPr txBox="1"/>
          <p:nvPr/>
        </p:nvSpPr>
        <p:spPr>
          <a:xfrm>
            <a:off x="848595" y="1922325"/>
            <a:ext cx="2055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9" name="Google Shape;2079;p156"/>
          <p:cNvSpPr txBox="1"/>
          <p:nvPr>
            <p:ph idx="1" type="body"/>
          </p:nvPr>
        </p:nvSpPr>
        <p:spPr>
          <a:xfrm>
            <a:off x="324000" y="16737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/>
          </a:p>
        </p:txBody>
      </p:sp>
      <p:sp>
        <p:nvSpPr>
          <p:cNvPr id="2080" name="Google Shape;2080;p156"/>
          <p:cNvSpPr txBox="1"/>
          <p:nvPr>
            <p:ph idx="1" type="body"/>
          </p:nvPr>
        </p:nvSpPr>
        <p:spPr>
          <a:xfrm>
            <a:off x="3363182" y="16737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2081" name="Google Shape;2081;p156"/>
          <p:cNvSpPr txBox="1"/>
          <p:nvPr/>
        </p:nvSpPr>
        <p:spPr>
          <a:xfrm>
            <a:off x="478833" y="2493825"/>
            <a:ext cx="3014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2" name="Google Shape;2082;p156"/>
          <p:cNvSpPr txBox="1"/>
          <p:nvPr/>
        </p:nvSpPr>
        <p:spPr>
          <a:xfrm>
            <a:off x="532565" y="3065325"/>
            <a:ext cx="2571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3" name="Google Shape;2083;p156"/>
          <p:cNvSpPr txBox="1"/>
          <p:nvPr/>
        </p:nvSpPr>
        <p:spPr>
          <a:xfrm>
            <a:off x="3732965" y="1922325"/>
            <a:ext cx="2055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4" name="Google Shape;2084;p156"/>
          <p:cNvSpPr txBox="1"/>
          <p:nvPr/>
        </p:nvSpPr>
        <p:spPr>
          <a:xfrm>
            <a:off x="3363203" y="2493825"/>
            <a:ext cx="3014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2(4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5" name="Google Shape;2085;p156"/>
          <p:cNvSpPr txBox="1"/>
          <p:nvPr/>
        </p:nvSpPr>
        <p:spPr>
          <a:xfrm>
            <a:off x="3473092" y="3065325"/>
            <a:ext cx="2243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6" name="Google Shape;2086;p156"/>
          <p:cNvSpPr txBox="1"/>
          <p:nvPr/>
        </p:nvSpPr>
        <p:spPr>
          <a:xfrm>
            <a:off x="6639795" y="1922325"/>
            <a:ext cx="2055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7" name="Google Shape;2087;p156"/>
          <p:cNvSpPr txBox="1"/>
          <p:nvPr/>
        </p:nvSpPr>
        <p:spPr>
          <a:xfrm>
            <a:off x="6270033" y="2493825"/>
            <a:ext cx="3014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2(4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8" name="Google Shape;2088;p156"/>
          <p:cNvSpPr txBox="1"/>
          <p:nvPr/>
        </p:nvSpPr>
        <p:spPr>
          <a:xfrm>
            <a:off x="6323765" y="3065325"/>
            <a:ext cx="2571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9" name="Google Shape;2089;p156"/>
          <p:cNvSpPr txBox="1"/>
          <p:nvPr>
            <p:ph idx="1" type="body"/>
          </p:nvPr>
        </p:nvSpPr>
        <p:spPr>
          <a:xfrm>
            <a:off x="6245139" y="16737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3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7}{f}=18&quot;&gt;&lt;mfrac&gt;&lt;mn&gt;7&lt;/mn&gt;&lt;mi&gt;f&lt;/mi&gt;&lt;/mfrac&gt;&lt;mo&gt;=&lt;/mo&gt;&lt;mn&gt;18&lt;/mn&gt;&lt;/math&gt;" id="2094" name="Google Shape;2094;p157" title="7 over f equals 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813" y="1676050"/>
            <a:ext cx="853539" cy="623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f\left(\frac{7}{f}\right)=f\left(18\right)&quot;&gt;&lt;mi&gt;f&lt;/mi&gt;&lt;mrow data-mjx-texclass=&quot;INNER&quot;&gt;&lt;mo data-mjx-texclass=&quot;OPEN&quot;&gt;(&lt;/mo&gt;&lt;mfrac&gt;&lt;mn&gt;7&lt;/mn&gt;&lt;mi&gt;f&lt;/mi&gt;&lt;/mfrac&gt;&lt;mo data-mjx-texclass=&quot;CLOSE&quot;&gt;)&lt;/mo&gt;&lt;/mrow&gt;&lt;mo&gt;=&lt;/mo&gt;&lt;mi&gt;f&lt;/mi&gt;&lt;mrow data-mjx-texclass=&quot;INNER&quot;&gt;&lt;mo data-mjx-texclass=&quot;OPEN&quot;&gt;(&lt;/mo&gt;&lt;mn&gt;18&lt;/mn&gt;&lt;mo data-mjx-texclass=&quot;CLOSE&quot;&gt;)&lt;/mo&gt;&lt;/mrow&gt;&lt;/math&gt;" id="2095" name="Google Shape;2095;p157" title="f of open paren 7 over f close paren equals f of 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5005" y="2522124"/>
            <a:ext cx="1891175" cy="681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d+4=3d-1&quot;&gt;&lt;mfrac&gt;&lt;mn&gt;1&lt;/mn&gt;&lt;mn&gt;2&lt;/mn&gt;&lt;/mfrac&gt;&lt;mi&gt;d&lt;/mi&gt;&lt;mo&gt;+&lt;/mo&gt;&lt;mn&gt;4&lt;/mn&gt;&lt;mo&gt;=&lt;/mo&gt;&lt;mn&gt;3&lt;/mn&gt;&lt;mi&gt;d&lt;/mi&gt;&lt;mo&gt;−&lt;/mo&gt;&lt;mn&gt;1&lt;/mn&gt;&lt;/math&gt;" id="2096" name="Google Shape;2096;p157" title="one half d plus 4 equals 3 d minu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9075" y="1676720"/>
            <a:ext cx="1828375" cy="562887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157"/>
          <p:cNvSpPr txBox="1"/>
          <p:nvPr>
            <p:ph idx="1" type="body"/>
          </p:nvPr>
        </p:nvSpPr>
        <p:spPr>
          <a:xfrm>
            <a:off x="324000" y="759300"/>
            <a:ext cx="8496000" cy="4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Fill in the missing parts of these manipulations of equations.</a:t>
            </a:r>
            <a:endParaRPr/>
          </a:p>
        </p:txBody>
      </p:sp>
      <p:sp>
        <p:nvSpPr>
          <p:cNvPr id="2098" name="Google Shape;2098;p1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2099" name="Google Shape;2099;p157"/>
          <p:cNvSpPr txBox="1"/>
          <p:nvPr/>
        </p:nvSpPr>
        <p:spPr>
          <a:xfrm>
            <a:off x="4190165" y="3522525"/>
            <a:ext cx="2055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6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0" name="Google Shape;2100;p157"/>
          <p:cNvSpPr txBox="1"/>
          <p:nvPr>
            <p:ph idx="1" type="body"/>
          </p:nvPr>
        </p:nvSpPr>
        <p:spPr>
          <a:xfrm>
            <a:off x="324000" y="14451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2101" name="Google Shape;2101;p157"/>
          <p:cNvSpPr txBox="1"/>
          <p:nvPr>
            <p:ph idx="1" type="body"/>
          </p:nvPr>
        </p:nvSpPr>
        <p:spPr>
          <a:xfrm>
            <a:off x="3439382" y="14451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2102" name="Google Shape;2102;p157"/>
          <p:cNvSpPr txBox="1"/>
          <p:nvPr/>
        </p:nvSpPr>
        <p:spPr>
          <a:xfrm>
            <a:off x="7599119" y="3522525"/>
            <a:ext cx="1223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3" name="Google Shape;2103;p157"/>
          <p:cNvSpPr txBox="1"/>
          <p:nvPr>
            <p:ph idx="1" type="body"/>
          </p:nvPr>
        </p:nvSpPr>
        <p:spPr>
          <a:xfrm>
            <a:off x="6606091" y="14451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left(\frac{1}{2}d+4\right)=2\left(3d-1\right)&quot;&gt;&lt;mn&gt;2&lt;/mn&gt;&lt;mrow data-mjx-texclass=&quot;INNER&quot;&gt;&lt;mo data-mjx-texclass=&quot;OPEN&quot;&gt;(&lt;/mo&gt;&lt;mfrac&gt;&lt;mn&gt;1&lt;/mn&gt;&lt;mn&gt;2&lt;/mn&gt;&lt;/mfrac&gt;&lt;mi&gt;d&lt;/mi&gt;&lt;mo&gt;+&lt;/mo&gt;&lt;mn&gt;4&lt;/mn&gt;&lt;mo data-mjx-texclass=&quot;CLOSE&quot;&gt;)&lt;/mo&gt;&lt;/mrow&gt;&lt;mo&gt;=&lt;/mo&gt;&lt;mn&gt;2&lt;/mn&gt;&lt;mrow data-mjx-texclass=&quot;INNER&quot;&gt;&lt;mo data-mjx-texclass=&quot;OPEN&quot;&gt;(&lt;/mo&gt;&lt;mn&gt;3&lt;/mn&gt;&lt;mi&gt;d&lt;/mi&gt;&lt;mo&gt;−&lt;/mo&gt;&lt;mn&gt;1&lt;/mn&gt;&lt;mo data-mjx-texclass=&quot;CLOSE&quot;&gt;)&lt;/mo&gt;&lt;/mrow&gt;&lt;/math&gt;" id="2104" name="Google Shape;2104;p157" title="2 times open paren one half d plus 4 close paren equals 2 times open paren 3 d minus 1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2431" y="2524198"/>
            <a:ext cx="2798030" cy="669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e+3=\frac{1}{4}e&quot;&gt;&lt;mn&gt;2&lt;/mn&gt;&lt;mi&gt;e&lt;/mi&gt;&lt;mo&gt;+&lt;/mo&gt;&lt;mn&gt;3&lt;/mn&gt;&lt;mo&gt;=&lt;/mo&gt;&lt;mfrac&gt;&lt;mn&gt;1&lt;/mn&gt;&lt;mn&gt;4&lt;/mn&gt;&lt;/mfrac&gt;&lt;mi&gt;e&lt;/mi&gt;&lt;/math&gt;" id="2105" name="Google Shape;2105;p157" title="2 e plus 3 equals one fourth 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3003" y="1672083"/>
            <a:ext cx="1456037" cy="591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left(2e+3\right)=4\left(\frac{1}{4}e\right)&quot;&gt;&lt;mn&gt;4&lt;/mn&gt;&lt;mrow data-mjx-texclass=&quot;INNER&quot;&gt;&lt;mo data-mjx-texclass=&quot;OPEN&quot;&gt;(&lt;/mo&gt;&lt;mn&gt;2&lt;/mn&gt;&lt;mi&gt;e&lt;/mi&gt;&lt;mo&gt;+&lt;/mo&gt;&lt;mn&gt;3&lt;/mn&gt;&lt;mo data-mjx-texclass=&quot;CLOSE&quot;&gt;)&lt;/mo&gt;&lt;/mrow&gt;&lt;mo&gt;=&lt;/mo&gt;&lt;mn&gt;4&lt;/mn&gt;&lt;mrow data-mjx-texclass=&quot;INNER&quot;&gt;&lt;mo data-mjx-texclass=&quot;OPEN&quot;&gt;(&lt;/mo&gt;&lt;mfrac&gt;&lt;mn&gt;1&lt;/mn&gt;&lt;mn&gt;4&lt;/mn&gt;&lt;/mfrac&gt;&lt;mi&gt;e&lt;/mi&gt;&lt;mo data-mjx-texclass=&quot;CLOSE&quot;&gt;)&lt;/mo&gt;&lt;/mrow&gt;&lt;/math&gt;" id="2106" name="Google Shape;2106;p157" title="4 times open paren 2 e plus 3 close paren equals 4 times one fourth 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6380" y="2608352"/>
            <a:ext cx="2397925" cy="704248"/>
          </a:xfrm>
          <a:prstGeom prst="rect">
            <a:avLst/>
          </a:prstGeom>
          <a:noFill/>
          <a:ln>
            <a:noFill/>
          </a:ln>
        </p:spPr>
      </p:pic>
      <p:sp>
        <p:nvSpPr>
          <p:cNvPr id="2107" name="Google Shape;2107;p157"/>
          <p:cNvSpPr txBox="1"/>
          <p:nvPr/>
        </p:nvSpPr>
        <p:spPr>
          <a:xfrm>
            <a:off x="543787" y="3522525"/>
            <a:ext cx="1669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08" name="Google Shape;2108;p157"/>
          <p:cNvGrpSpPr/>
          <p:nvPr/>
        </p:nvGrpSpPr>
        <p:grpSpPr>
          <a:xfrm>
            <a:off x="354863" y="2610400"/>
            <a:ext cx="8213452" cy="1286225"/>
            <a:chOff x="354863" y="2839000"/>
            <a:chExt cx="8213452" cy="1286225"/>
          </a:xfrm>
        </p:grpSpPr>
        <p:grpSp>
          <p:nvGrpSpPr>
            <p:cNvPr id="2109" name="Google Shape;2109;p157"/>
            <p:cNvGrpSpPr/>
            <p:nvPr/>
          </p:nvGrpSpPr>
          <p:grpSpPr>
            <a:xfrm>
              <a:off x="552438" y="3719925"/>
              <a:ext cx="1583050" cy="405300"/>
              <a:chOff x="552438" y="3719925"/>
              <a:chExt cx="1583050" cy="405300"/>
            </a:xfrm>
          </p:grpSpPr>
          <p:sp>
            <p:nvSpPr>
              <p:cNvPr id="2110" name="Google Shape;2110;p157"/>
              <p:cNvSpPr/>
              <p:nvPr/>
            </p:nvSpPr>
            <p:spPr>
              <a:xfrm>
                <a:off x="1812088" y="3719925"/>
                <a:ext cx="323400" cy="405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1" name="Google Shape;2111;p157"/>
              <p:cNvSpPr/>
              <p:nvPr/>
            </p:nvSpPr>
            <p:spPr>
              <a:xfrm>
                <a:off x="552438" y="3719925"/>
                <a:ext cx="323400" cy="405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112" name="Google Shape;2112;p157"/>
            <p:cNvGrpSpPr/>
            <p:nvPr/>
          </p:nvGrpSpPr>
          <p:grpSpPr>
            <a:xfrm>
              <a:off x="354863" y="2957925"/>
              <a:ext cx="1818725" cy="405300"/>
              <a:chOff x="354863" y="2957925"/>
              <a:chExt cx="1818725" cy="405300"/>
            </a:xfrm>
          </p:grpSpPr>
          <p:sp>
            <p:nvSpPr>
              <p:cNvPr id="2113" name="Google Shape;2113;p157"/>
              <p:cNvSpPr/>
              <p:nvPr/>
            </p:nvSpPr>
            <p:spPr>
              <a:xfrm>
                <a:off x="354863" y="2957925"/>
                <a:ext cx="323400" cy="405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4" name="Google Shape;2114;p157"/>
              <p:cNvSpPr/>
              <p:nvPr/>
            </p:nvSpPr>
            <p:spPr>
              <a:xfrm>
                <a:off x="1888288" y="2957925"/>
                <a:ext cx="285300" cy="405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115" name="Google Shape;2115;p157"/>
            <p:cNvGrpSpPr/>
            <p:nvPr/>
          </p:nvGrpSpPr>
          <p:grpSpPr>
            <a:xfrm>
              <a:off x="4603110" y="3719925"/>
              <a:ext cx="1442050" cy="405300"/>
              <a:chOff x="4603110" y="3719925"/>
              <a:chExt cx="1442050" cy="405300"/>
            </a:xfrm>
          </p:grpSpPr>
          <p:sp>
            <p:nvSpPr>
              <p:cNvPr id="2116" name="Google Shape;2116;p157"/>
              <p:cNvSpPr/>
              <p:nvPr/>
            </p:nvSpPr>
            <p:spPr>
              <a:xfrm>
                <a:off x="4603110" y="3719925"/>
                <a:ext cx="285300" cy="405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7" name="Google Shape;2117;p157"/>
              <p:cNvSpPr/>
              <p:nvPr/>
            </p:nvSpPr>
            <p:spPr>
              <a:xfrm>
                <a:off x="5131598" y="3719925"/>
                <a:ext cx="367200" cy="405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18" name="Google Shape;2118;p157"/>
              <p:cNvSpPr/>
              <p:nvPr/>
            </p:nvSpPr>
            <p:spPr>
              <a:xfrm>
                <a:off x="5759860" y="3719925"/>
                <a:ext cx="285300" cy="405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119" name="Google Shape;2119;p157"/>
            <p:cNvGrpSpPr/>
            <p:nvPr/>
          </p:nvGrpSpPr>
          <p:grpSpPr>
            <a:xfrm>
              <a:off x="3303635" y="2839000"/>
              <a:ext cx="2065275" cy="423150"/>
              <a:chOff x="3303635" y="2839000"/>
              <a:chExt cx="2065275" cy="423150"/>
            </a:xfrm>
          </p:grpSpPr>
          <p:sp>
            <p:nvSpPr>
              <p:cNvPr id="2120" name="Google Shape;2120;p157"/>
              <p:cNvSpPr/>
              <p:nvPr/>
            </p:nvSpPr>
            <p:spPr>
              <a:xfrm>
                <a:off x="5083610" y="2839000"/>
                <a:ext cx="285300" cy="405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1" name="Google Shape;2121;p157"/>
              <p:cNvSpPr/>
              <p:nvPr/>
            </p:nvSpPr>
            <p:spPr>
              <a:xfrm>
                <a:off x="3303635" y="2856850"/>
                <a:ext cx="285300" cy="405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122" name="Google Shape;2122;p157"/>
            <p:cNvGrpSpPr/>
            <p:nvPr/>
          </p:nvGrpSpPr>
          <p:grpSpPr>
            <a:xfrm>
              <a:off x="6816535" y="2839000"/>
              <a:ext cx="1495575" cy="423150"/>
              <a:chOff x="6816535" y="2839000"/>
              <a:chExt cx="1495575" cy="423150"/>
            </a:xfrm>
          </p:grpSpPr>
          <p:sp>
            <p:nvSpPr>
              <p:cNvPr id="2123" name="Google Shape;2123;p157"/>
              <p:cNvSpPr/>
              <p:nvPr/>
            </p:nvSpPr>
            <p:spPr>
              <a:xfrm>
                <a:off x="6816535" y="2839000"/>
                <a:ext cx="285300" cy="405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24" name="Google Shape;2124;p157"/>
              <p:cNvSpPr/>
              <p:nvPr/>
            </p:nvSpPr>
            <p:spPr>
              <a:xfrm>
                <a:off x="8026810" y="2856850"/>
                <a:ext cx="285300" cy="4053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905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125" name="Google Shape;2125;p157"/>
            <p:cNvSpPr/>
            <p:nvPr/>
          </p:nvSpPr>
          <p:spPr>
            <a:xfrm>
              <a:off x="8064915" y="3695050"/>
              <a:ext cx="503400" cy="405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1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Spot the errors in these manipulations of equations.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Once spotted, write a sentence to explain each error.</a:t>
            </a:r>
            <a:endParaRPr/>
          </a:p>
        </p:txBody>
      </p:sp>
      <p:sp>
        <p:nvSpPr>
          <p:cNvPr id="2131" name="Google Shape;2131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2132" name="Google Shape;2132;p158"/>
          <p:cNvSpPr txBox="1"/>
          <p:nvPr/>
        </p:nvSpPr>
        <p:spPr>
          <a:xfrm>
            <a:off x="848595" y="1922325"/>
            <a:ext cx="2055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3" name="Google Shape;2133;p158"/>
          <p:cNvSpPr txBox="1"/>
          <p:nvPr>
            <p:ph idx="1" type="body"/>
          </p:nvPr>
        </p:nvSpPr>
        <p:spPr>
          <a:xfrm>
            <a:off x="324000" y="16737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2134" name="Google Shape;2134;p158"/>
          <p:cNvSpPr txBox="1"/>
          <p:nvPr>
            <p:ph idx="1" type="body"/>
          </p:nvPr>
        </p:nvSpPr>
        <p:spPr>
          <a:xfrm>
            <a:off x="3363182" y="16737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2135" name="Google Shape;2135;p158"/>
          <p:cNvSpPr txBox="1"/>
          <p:nvPr/>
        </p:nvSpPr>
        <p:spPr>
          <a:xfrm>
            <a:off x="478833" y="2493825"/>
            <a:ext cx="3014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6" name="Google Shape;2136;p158"/>
          <p:cNvSpPr txBox="1"/>
          <p:nvPr/>
        </p:nvSpPr>
        <p:spPr>
          <a:xfrm>
            <a:off x="532565" y="3065325"/>
            <a:ext cx="2571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7" name="Google Shape;2137;p158"/>
          <p:cNvSpPr txBox="1"/>
          <p:nvPr/>
        </p:nvSpPr>
        <p:spPr>
          <a:xfrm>
            <a:off x="3732965" y="1922325"/>
            <a:ext cx="2055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8" name="Google Shape;2138;p158"/>
          <p:cNvSpPr txBox="1"/>
          <p:nvPr/>
        </p:nvSpPr>
        <p:spPr>
          <a:xfrm>
            <a:off x="3363203" y="2493825"/>
            <a:ext cx="3014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2(4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9" name="Google Shape;2139;p158"/>
          <p:cNvSpPr txBox="1"/>
          <p:nvPr/>
        </p:nvSpPr>
        <p:spPr>
          <a:xfrm>
            <a:off x="3571760" y="3065325"/>
            <a:ext cx="2055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0" name="Google Shape;2140;p158"/>
          <p:cNvSpPr txBox="1"/>
          <p:nvPr/>
        </p:nvSpPr>
        <p:spPr>
          <a:xfrm>
            <a:off x="6639795" y="1922325"/>
            <a:ext cx="2055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 = 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1" name="Google Shape;2141;p158"/>
          <p:cNvSpPr txBox="1"/>
          <p:nvPr/>
        </p:nvSpPr>
        <p:spPr>
          <a:xfrm>
            <a:off x="6270033" y="2493825"/>
            <a:ext cx="3014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+ 3) = 2(4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2" name="Google Shape;2142;p158"/>
          <p:cNvSpPr txBox="1"/>
          <p:nvPr/>
        </p:nvSpPr>
        <p:spPr>
          <a:xfrm>
            <a:off x="6323765" y="3065325"/>
            <a:ext cx="2571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3" name="Google Shape;2143;p158"/>
          <p:cNvSpPr txBox="1"/>
          <p:nvPr>
            <p:ph idx="1" type="body"/>
          </p:nvPr>
        </p:nvSpPr>
        <p:spPr>
          <a:xfrm>
            <a:off x="6245139" y="16737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2144" name="Google Shape;2144;p158"/>
          <p:cNvSpPr/>
          <p:nvPr/>
        </p:nvSpPr>
        <p:spPr>
          <a:xfrm>
            <a:off x="369882" y="2453050"/>
            <a:ext cx="396900" cy="471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158"/>
          <p:cNvSpPr txBox="1"/>
          <p:nvPr>
            <p:ph idx="4294967295" type="body"/>
          </p:nvPr>
        </p:nvSpPr>
        <p:spPr>
          <a:xfrm>
            <a:off x="330499" y="3637575"/>
            <a:ext cx="25566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multiplication only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occurred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on one side of the equation.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6" name="Google Shape;2146;p158"/>
          <p:cNvSpPr/>
          <p:nvPr/>
        </p:nvSpPr>
        <p:spPr>
          <a:xfrm>
            <a:off x="3931236" y="3040200"/>
            <a:ext cx="436200" cy="471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7" name="Google Shape;2147;p158"/>
          <p:cNvSpPr/>
          <p:nvPr/>
        </p:nvSpPr>
        <p:spPr>
          <a:xfrm>
            <a:off x="5036545" y="3040200"/>
            <a:ext cx="436200" cy="471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158"/>
          <p:cNvSpPr txBox="1"/>
          <p:nvPr>
            <p:ph idx="4294967295" type="body"/>
          </p:nvPr>
        </p:nvSpPr>
        <p:spPr>
          <a:xfrm>
            <a:off x="3378499" y="3637575"/>
            <a:ext cx="25566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terms inside the bracket need to be multiplied.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9" name="Google Shape;2149;p158"/>
          <p:cNvSpPr txBox="1"/>
          <p:nvPr>
            <p:ph idx="4294967295" type="body"/>
          </p:nvPr>
        </p:nvSpPr>
        <p:spPr>
          <a:xfrm>
            <a:off x="6262869" y="3637575"/>
            <a:ext cx="25566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sides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need to be multiplied by the same term.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0" name="Google Shape;2150;p158"/>
          <p:cNvSpPr/>
          <p:nvPr/>
        </p:nvSpPr>
        <p:spPr>
          <a:xfrm>
            <a:off x="6158669" y="2453050"/>
            <a:ext cx="396900" cy="471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158"/>
          <p:cNvSpPr/>
          <p:nvPr/>
        </p:nvSpPr>
        <p:spPr>
          <a:xfrm>
            <a:off x="7431609" y="2453050"/>
            <a:ext cx="396900" cy="471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7}{f}=18&quot;&gt;&lt;mfrac&gt;&lt;mn&gt;7&lt;/mn&gt;&lt;mi&gt;f&lt;/mi&gt;&lt;/mfrac&gt;&lt;mo&gt;=&lt;/mo&gt;&lt;mn&gt;18&lt;/mn&gt;&lt;/math&gt;" id="2156" name="Google Shape;2156;p159" title="7 over f equals 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813" y="1676050"/>
            <a:ext cx="853539" cy="623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f\left(\frac{7}{f}\right)=f\left(18\right)&quot;&gt;&lt;mi&gt;f&lt;/mi&gt;&lt;mrow data-mjx-texclass=&quot;INNER&quot;&gt;&lt;mo data-mjx-texclass=&quot;OPEN&quot;&gt;(&lt;/mo&gt;&lt;mfrac&gt;&lt;mn&gt;7&lt;/mn&gt;&lt;mi&gt;f&lt;/mi&gt;&lt;/mfrac&gt;&lt;mo data-mjx-texclass=&quot;CLOSE&quot;&gt;)&lt;/mo&gt;&lt;/mrow&gt;&lt;mo&gt;=&lt;/mo&gt;&lt;mi&gt;f&lt;/mi&gt;&lt;mrow data-mjx-texclass=&quot;INNER&quot;&gt;&lt;mo data-mjx-texclass=&quot;OPEN&quot;&gt;(&lt;/mo&gt;&lt;mn&gt;18&lt;/mn&gt;&lt;mo data-mjx-texclass=&quot;CLOSE&quot;&gt;)&lt;/mo&gt;&lt;/mrow&gt;&lt;/math&gt;" id="2157" name="Google Shape;2157;p159" title="f of open paren 7 over f close paren equals f of 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5005" y="2522124"/>
            <a:ext cx="1891175" cy="681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d+4=3d-1&quot;&gt;&lt;mfrac&gt;&lt;mn&gt;1&lt;/mn&gt;&lt;mn&gt;2&lt;/mn&gt;&lt;/mfrac&gt;&lt;mi&gt;d&lt;/mi&gt;&lt;mo&gt;+&lt;/mo&gt;&lt;mn&gt;4&lt;/mn&gt;&lt;mo&gt;=&lt;/mo&gt;&lt;mn&gt;3&lt;/mn&gt;&lt;mi&gt;d&lt;/mi&gt;&lt;mo&gt;−&lt;/mo&gt;&lt;mn&gt;1&lt;/mn&gt;&lt;/math&gt;" id="2158" name="Google Shape;2158;p159" title="one half d plus 4 equals 3 d minu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9075" y="1676720"/>
            <a:ext cx="1828375" cy="562887"/>
          </a:xfrm>
          <a:prstGeom prst="rect">
            <a:avLst/>
          </a:prstGeom>
          <a:noFill/>
          <a:ln>
            <a:noFill/>
          </a:ln>
        </p:spPr>
      </p:pic>
      <p:sp>
        <p:nvSpPr>
          <p:cNvPr id="2159" name="Google Shape;2159;p159"/>
          <p:cNvSpPr txBox="1"/>
          <p:nvPr>
            <p:ph idx="1" type="body"/>
          </p:nvPr>
        </p:nvSpPr>
        <p:spPr>
          <a:xfrm>
            <a:off x="324000" y="759300"/>
            <a:ext cx="8498700" cy="7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Fill in the missing parts of these manipulations of equations.</a:t>
            </a:r>
            <a:endParaRPr/>
          </a:p>
        </p:txBody>
      </p:sp>
      <p:sp>
        <p:nvSpPr>
          <p:cNvPr id="2160" name="Google Shape;2160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Effectively using brackets in an equation</a:t>
            </a:r>
            <a:endParaRPr/>
          </a:p>
        </p:txBody>
      </p:sp>
      <p:sp>
        <p:nvSpPr>
          <p:cNvPr id="2161" name="Google Shape;2161;p159"/>
          <p:cNvSpPr txBox="1"/>
          <p:nvPr/>
        </p:nvSpPr>
        <p:spPr>
          <a:xfrm>
            <a:off x="4190165" y="3522525"/>
            <a:ext cx="20550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6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2" name="Google Shape;2162;p159"/>
          <p:cNvSpPr txBox="1"/>
          <p:nvPr>
            <p:ph idx="1" type="body"/>
          </p:nvPr>
        </p:nvSpPr>
        <p:spPr>
          <a:xfrm>
            <a:off x="324000" y="14451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2163" name="Google Shape;2163;p159"/>
          <p:cNvSpPr txBox="1"/>
          <p:nvPr>
            <p:ph idx="1" type="body"/>
          </p:nvPr>
        </p:nvSpPr>
        <p:spPr>
          <a:xfrm>
            <a:off x="3439382" y="14451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2164" name="Google Shape;2164;p159"/>
          <p:cNvSpPr txBox="1"/>
          <p:nvPr/>
        </p:nvSpPr>
        <p:spPr>
          <a:xfrm>
            <a:off x="7599119" y="3522525"/>
            <a:ext cx="1223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= 18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5" name="Google Shape;2165;p159"/>
          <p:cNvSpPr txBox="1"/>
          <p:nvPr>
            <p:ph idx="1" type="body"/>
          </p:nvPr>
        </p:nvSpPr>
        <p:spPr>
          <a:xfrm>
            <a:off x="6606091" y="1445100"/>
            <a:ext cx="3969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left(\frac{1}{2}d+4\right)=2\left(3d-1\right)&quot;&gt;&lt;mn&gt;2&lt;/mn&gt;&lt;mrow data-mjx-texclass=&quot;INNER&quot;&gt;&lt;mo data-mjx-texclass=&quot;OPEN&quot;&gt;(&lt;/mo&gt;&lt;mfrac&gt;&lt;mn&gt;1&lt;/mn&gt;&lt;mn&gt;2&lt;/mn&gt;&lt;/mfrac&gt;&lt;mi&gt;d&lt;/mi&gt;&lt;mo&gt;+&lt;/mo&gt;&lt;mn&gt;4&lt;/mn&gt;&lt;mo data-mjx-texclass=&quot;CLOSE&quot;&gt;)&lt;/mo&gt;&lt;/mrow&gt;&lt;mo&gt;=&lt;/mo&gt;&lt;mn&gt;2&lt;/mn&gt;&lt;mrow data-mjx-texclass=&quot;INNER&quot;&gt;&lt;mo data-mjx-texclass=&quot;OPEN&quot;&gt;(&lt;/mo&gt;&lt;mn&gt;3&lt;/mn&gt;&lt;mi&gt;d&lt;/mi&gt;&lt;mo&gt;−&lt;/mo&gt;&lt;mn&gt;1&lt;/mn&gt;&lt;mo data-mjx-texclass=&quot;CLOSE&quot;&gt;)&lt;/mo&gt;&lt;/mrow&gt;&lt;/math&gt;" id="2166" name="Google Shape;2166;p159" title="2 times open paren one half d plus 4 close paren equals 2 times open paren 3 d minus 1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2431" y="2524198"/>
            <a:ext cx="2798030" cy="669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e+3=\frac{1}{4}e&quot;&gt;&lt;mn&gt;2&lt;/mn&gt;&lt;mi&gt;e&lt;/mi&gt;&lt;mo&gt;+&lt;/mo&gt;&lt;mn&gt;3&lt;/mn&gt;&lt;mo&gt;=&lt;/mo&gt;&lt;mfrac&gt;&lt;mn&gt;1&lt;/mn&gt;&lt;mn&gt;4&lt;/mn&gt;&lt;/mfrac&gt;&lt;mi&gt;e&lt;/mi&gt;&lt;/math&gt;" id="2167" name="Google Shape;2167;p159" title="2 e plus 3 equals one fourth 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3003" y="1672083"/>
            <a:ext cx="1456037" cy="591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left(2e+3\right)=4\left(\frac{1}{4}e\right)&quot;&gt;&lt;mn&gt;4&lt;/mn&gt;&lt;mrow data-mjx-texclass=&quot;INNER&quot;&gt;&lt;mo data-mjx-texclass=&quot;OPEN&quot;&gt;(&lt;/mo&gt;&lt;mn&gt;2&lt;/mn&gt;&lt;mi&gt;e&lt;/mi&gt;&lt;mo&gt;+&lt;/mo&gt;&lt;mn&gt;3&lt;/mn&gt;&lt;mo data-mjx-texclass=&quot;CLOSE&quot;&gt;)&lt;/mo&gt;&lt;/mrow&gt;&lt;mo&gt;=&lt;/mo&gt;&lt;mn&gt;4&lt;/mn&gt;&lt;mrow data-mjx-texclass=&quot;INNER&quot;&gt;&lt;mo data-mjx-texclass=&quot;OPEN&quot;&gt;(&lt;/mo&gt;&lt;mfrac&gt;&lt;mn&gt;1&lt;/mn&gt;&lt;mn&gt;4&lt;/mn&gt;&lt;/mfrac&gt;&lt;mi&gt;e&lt;/mi&gt;&lt;mo data-mjx-texclass=&quot;CLOSE&quot;&gt;)&lt;/mo&gt;&lt;/mrow&gt;&lt;/math&gt;" id="2168" name="Google Shape;2168;p159" title="4 times open paren 2 e plus 3 close paren equals 4 times one fourth 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6380" y="2608352"/>
            <a:ext cx="2397925" cy="704248"/>
          </a:xfrm>
          <a:prstGeom prst="rect">
            <a:avLst/>
          </a:prstGeom>
          <a:noFill/>
          <a:ln>
            <a:noFill/>
          </a:ln>
        </p:spPr>
      </p:pic>
      <p:sp>
        <p:nvSpPr>
          <p:cNvPr id="2169" name="Google Shape;2169;p159"/>
          <p:cNvSpPr txBox="1"/>
          <p:nvPr/>
        </p:nvSpPr>
        <p:spPr>
          <a:xfrm>
            <a:off x="543787" y="3522525"/>
            <a:ext cx="1669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70" name="Google Shape;2170;p159"/>
          <p:cNvGrpSpPr/>
          <p:nvPr/>
        </p:nvGrpSpPr>
        <p:grpSpPr>
          <a:xfrm>
            <a:off x="354875" y="2610388"/>
            <a:ext cx="8213452" cy="1286238"/>
            <a:chOff x="346275" y="2864225"/>
            <a:chExt cx="8213452" cy="1286238"/>
          </a:xfrm>
        </p:grpSpPr>
        <p:sp>
          <p:nvSpPr>
            <p:cNvPr id="2171" name="Google Shape;2171;p159"/>
            <p:cNvSpPr/>
            <p:nvPr/>
          </p:nvSpPr>
          <p:spPr>
            <a:xfrm>
              <a:off x="346275" y="2983150"/>
              <a:ext cx="3234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2" name="Google Shape;2172;p159"/>
            <p:cNvSpPr/>
            <p:nvPr/>
          </p:nvSpPr>
          <p:spPr>
            <a:xfrm>
              <a:off x="1727300" y="3745150"/>
              <a:ext cx="3234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3" name="Google Shape;2173;p159"/>
            <p:cNvSpPr/>
            <p:nvPr/>
          </p:nvSpPr>
          <p:spPr>
            <a:xfrm>
              <a:off x="543850" y="3745150"/>
              <a:ext cx="3234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4" name="Google Shape;2174;p159"/>
            <p:cNvSpPr/>
            <p:nvPr/>
          </p:nvSpPr>
          <p:spPr>
            <a:xfrm>
              <a:off x="1879700" y="2983150"/>
              <a:ext cx="2853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5" name="Google Shape;2175;p159"/>
            <p:cNvSpPr/>
            <p:nvPr/>
          </p:nvSpPr>
          <p:spPr>
            <a:xfrm>
              <a:off x="4594522" y="3745150"/>
              <a:ext cx="2853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6" name="Google Shape;2176;p159"/>
            <p:cNvSpPr/>
            <p:nvPr/>
          </p:nvSpPr>
          <p:spPr>
            <a:xfrm>
              <a:off x="5123026" y="3745163"/>
              <a:ext cx="3696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7" name="Google Shape;2177;p159"/>
            <p:cNvSpPr/>
            <p:nvPr/>
          </p:nvSpPr>
          <p:spPr>
            <a:xfrm>
              <a:off x="5751272" y="3745150"/>
              <a:ext cx="2853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8" name="Google Shape;2178;p159"/>
            <p:cNvSpPr/>
            <p:nvPr/>
          </p:nvSpPr>
          <p:spPr>
            <a:xfrm>
              <a:off x="5075022" y="2864225"/>
              <a:ext cx="2853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9" name="Google Shape;2179;p159"/>
            <p:cNvSpPr/>
            <p:nvPr/>
          </p:nvSpPr>
          <p:spPr>
            <a:xfrm>
              <a:off x="3295047" y="2882075"/>
              <a:ext cx="2853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0" name="Google Shape;2180;p159"/>
            <p:cNvSpPr/>
            <p:nvPr/>
          </p:nvSpPr>
          <p:spPr>
            <a:xfrm>
              <a:off x="6807947" y="2864225"/>
              <a:ext cx="2853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1" name="Google Shape;2181;p159"/>
            <p:cNvSpPr/>
            <p:nvPr/>
          </p:nvSpPr>
          <p:spPr>
            <a:xfrm>
              <a:off x="8018222" y="2882075"/>
              <a:ext cx="2853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2" name="Google Shape;2182;p159"/>
            <p:cNvSpPr/>
            <p:nvPr/>
          </p:nvSpPr>
          <p:spPr>
            <a:xfrm>
              <a:off x="8056327" y="3720275"/>
              <a:ext cx="503400" cy="405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3" name="Google Shape;2183;p159"/>
          <p:cNvGrpSpPr/>
          <p:nvPr/>
        </p:nvGrpSpPr>
        <p:grpSpPr>
          <a:xfrm>
            <a:off x="552438" y="3491325"/>
            <a:ext cx="1506850" cy="405300"/>
            <a:chOff x="552438" y="3719925"/>
            <a:chExt cx="1506850" cy="405300"/>
          </a:xfrm>
        </p:grpSpPr>
        <p:sp>
          <p:nvSpPr>
            <p:cNvPr id="2184" name="Google Shape;2184;p159"/>
            <p:cNvSpPr/>
            <p:nvPr/>
          </p:nvSpPr>
          <p:spPr>
            <a:xfrm>
              <a:off x="1735888" y="3719925"/>
              <a:ext cx="323400" cy="4053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5" name="Google Shape;2185;p159"/>
            <p:cNvSpPr/>
            <p:nvPr/>
          </p:nvSpPr>
          <p:spPr>
            <a:xfrm>
              <a:off x="552438" y="3719925"/>
              <a:ext cx="323400" cy="4053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6" name="Google Shape;2186;p159"/>
          <p:cNvGrpSpPr/>
          <p:nvPr/>
        </p:nvGrpSpPr>
        <p:grpSpPr>
          <a:xfrm>
            <a:off x="354863" y="2729325"/>
            <a:ext cx="1818725" cy="405300"/>
            <a:chOff x="202463" y="2957925"/>
            <a:chExt cx="1818725" cy="405300"/>
          </a:xfrm>
        </p:grpSpPr>
        <p:sp>
          <p:nvSpPr>
            <p:cNvPr id="2187" name="Google Shape;2187;p159"/>
            <p:cNvSpPr/>
            <p:nvPr/>
          </p:nvSpPr>
          <p:spPr>
            <a:xfrm>
              <a:off x="202463" y="2957925"/>
              <a:ext cx="323400" cy="4053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8" name="Google Shape;2188;p159"/>
            <p:cNvSpPr/>
            <p:nvPr/>
          </p:nvSpPr>
          <p:spPr>
            <a:xfrm>
              <a:off x="1735888" y="2957925"/>
              <a:ext cx="285300" cy="4053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9" name="Google Shape;2189;p159"/>
          <p:cNvGrpSpPr/>
          <p:nvPr/>
        </p:nvGrpSpPr>
        <p:grpSpPr>
          <a:xfrm>
            <a:off x="4603110" y="3491325"/>
            <a:ext cx="1442050" cy="405300"/>
            <a:chOff x="4603110" y="3719925"/>
            <a:chExt cx="1442050" cy="405300"/>
          </a:xfrm>
        </p:grpSpPr>
        <p:sp>
          <p:nvSpPr>
            <p:cNvPr id="2190" name="Google Shape;2190;p159"/>
            <p:cNvSpPr/>
            <p:nvPr/>
          </p:nvSpPr>
          <p:spPr>
            <a:xfrm>
              <a:off x="4603110" y="3719925"/>
              <a:ext cx="285300" cy="4053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1" name="Google Shape;2191;p159"/>
            <p:cNvSpPr/>
            <p:nvPr/>
          </p:nvSpPr>
          <p:spPr>
            <a:xfrm>
              <a:off x="5131598" y="3719925"/>
              <a:ext cx="367200" cy="4053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2" name="Google Shape;2192;p159"/>
            <p:cNvSpPr/>
            <p:nvPr/>
          </p:nvSpPr>
          <p:spPr>
            <a:xfrm>
              <a:off x="5759860" y="3719925"/>
              <a:ext cx="285300" cy="4053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93" name="Google Shape;2193;p159"/>
          <p:cNvGrpSpPr/>
          <p:nvPr/>
        </p:nvGrpSpPr>
        <p:grpSpPr>
          <a:xfrm>
            <a:off x="3303635" y="2610400"/>
            <a:ext cx="2065275" cy="423150"/>
            <a:chOff x="3303635" y="2839000"/>
            <a:chExt cx="2065275" cy="423150"/>
          </a:xfrm>
        </p:grpSpPr>
        <p:sp>
          <p:nvSpPr>
            <p:cNvPr id="2194" name="Google Shape;2194;p159"/>
            <p:cNvSpPr/>
            <p:nvPr/>
          </p:nvSpPr>
          <p:spPr>
            <a:xfrm>
              <a:off x="5083610" y="2839000"/>
              <a:ext cx="285300" cy="4053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5" name="Google Shape;2195;p159"/>
            <p:cNvSpPr/>
            <p:nvPr/>
          </p:nvSpPr>
          <p:spPr>
            <a:xfrm>
              <a:off x="3303635" y="2856850"/>
              <a:ext cx="285300" cy="4053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96" name="Google Shape;2196;p159"/>
          <p:cNvGrpSpPr/>
          <p:nvPr/>
        </p:nvGrpSpPr>
        <p:grpSpPr>
          <a:xfrm>
            <a:off x="6816535" y="2610400"/>
            <a:ext cx="1495575" cy="423150"/>
            <a:chOff x="6816535" y="2839000"/>
            <a:chExt cx="1495575" cy="423150"/>
          </a:xfrm>
        </p:grpSpPr>
        <p:sp>
          <p:nvSpPr>
            <p:cNvPr id="2197" name="Google Shape;2197;p159"/>
            <p:cNvSpPr/>
            <p:nvPr/>
          </p:nvSpPr>
          <p:spPr>
            <a:xfrm>
              <a:off x="6816535" y="2839000"/>
              <a:ext cx="285300" cy="4053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8" name="Google Shape;2198;p159"/>
            <p:cNvSpPr/>
            <p:nvPr/>
          </p:nvSpPr>
          <p:spPr>
            <a:xfrm>
              <a:off x="8026810" y="2856850"/>
              <a:ext cx="285300" cy="4053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99" name="Google Shape;2199;p159"/>
          <p:cNvSpPr/>
          <p:nvPr/>
        </p:nvSpPr>
        <p:spPr>
          <a:xfrm>
            <a:off x="8064915" y="3466450"/>
            <a:ext cx="503400" cy="4053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160"/>
          <p:cNvSpPr txBox="1"/>
          <p:nvPr>
            <p:ph idx="1" type="body"/>
          </p:nvPr>
        </p:nvSpPr>
        <p:spPr>
          <a:xfrm>
            <a:off x="324000" y="927600"/>
            <a:ext cx="8496000" cy="21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are significant in equations. If manipulated incorrectly they can cause us to lose equality.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manipulated well they can help us to transform complex looking equations into simple ones.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Example: </a:t>
            </a:r>
            <a:endParaRPr/>
          </a:p>
        </p:txBody>
      </p:sp>
      <p:sp>
        <p:nvSpPr>
          <p:cNvPr id="2205" name="Google Shape;2205;p16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Brackets in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e+3=\frac{1}{4}e&quot;&gt;&lt;mn&gt;2&lt;/mn&gt;&lt;mi&gt;e&lt;/mi&gt;&lt;mo&gt;+&lt;/mo&gt;&lt;mn&gt;3&lt;/mn&gt;&lt;mo&gt;=&lt;/mo&gt;&lt;mfrac&gt;&lt;mn&gt;1&lt;/mn&gt;&lt;mn&gt;4&lt;/mn&gt;&lt;/mfrac&gt;&lt;mi&gt;e&lt;/mi&gt;&lt;/math&gt;" id="2206" name="Google Shape;2206;p160" title="2 e plus 3 equals one fourth 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924" y="2781392"/>
            <a:ext cx="1456037" cy="591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left(2e+3\right)=4\left(\frac{1}{4}e\right)&quot;&gt;&lt;mn&gt;4&lt;/mn&gt;&lt;mrow data-mjx-texclass=&quot;INNER&quot;&gt;&lt;mo data-mjx-texclass=&quot;OPEN&quot;&gt;(&lt;/mo&gt;&lt;mn&gt;2&lt;/mn&gt;&lt;mi&gt;e&lt;/mi&gt;&lt;mo&gt;+&lt;/mo&gt;&lt;mn&gt;3&lt;/mn&gt;&lt;mo data-mjx-texclass=&quot;CLOSE&quot;&gt;)&lt;/mo&gt;&lt;/mrow&gt;&lt;mo&gt;=&lt;/mo&gt;&lt;mn&gt;4&lt;/mn&gt;&lt;mrow data-mjx-texclass=&quot;INNER&quot;&gt;&lt;mo data-mjx-texclass=&quot;OPEN&quot;&gt;(&lt;/mo&gt;&lt;mfrac&gt;&lt;mn&gt;1&lt;/mn&gt;&lt;mn&gt;4&lt;/mn&gt;&lt;/mfrac&gt;&lt;mi&gt;e&lt;/mi&gt;&lt;mo data-mjx-texclass=&quot;CLOSE&quot;&gt;)&lt;/mo&gt;&lt;/mrow&gt;&lt;/math&gt;" id="2207" name="Google Shape;2207;p160" title="4 times open paren 2 e plus 3 close paren equals 4 times one fourth 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1902" y="3489061"/>
            <a:ext cx="2397925" cy="704248"/>
          </a:xfrm>
          <a:prstGeom prst="rect">
            <a:avLst/>
          </a:prstGeom>
          <a:noFill/>
          <a:ln>
            <a:noFill/>
          </a:ln>
        </p:spPr>
      </p:pic>
      <p:sp>
        <p:nvSpPr>
          <p:cNvPr id="2208" name="Google Shape;2208;p160"/>
          <p:cNvSpPr txBox="1"/>
          <p:nvPr/>
        </p:nvSpPr>
        <p:spPr>
          <a:xfrm>
            <a:off x="1731709" y="4327034"/>
            <a:ext cx="1669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+ 12 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p16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14" name="Google Shape;2214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