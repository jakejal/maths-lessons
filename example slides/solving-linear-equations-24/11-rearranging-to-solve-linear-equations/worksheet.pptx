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  <p:sldMasterId id="2147483666" r:id="rId5"/>
  </p:sldMasterIdLst>
  <p:notesMasterIdLst>
    <p:notesMasterId r:id="rId6"/>
  </p:notesMasterIdLst>
  <p:sldIdLst>
    <p:sldId id="256" r:id="rId7"/>
    <p:sldId id="257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64899E-CF48-4EC1-AA8C-330DE69CCB94}">
  <a:tblStyle styleId="{8D64899E-CF48-4EC1-AA8C-330DE69CCB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0"/>
          <p:cNvGrpSpPr/>
          <p:nvPr/>
        </p:nvGrpSpPr>
        <p:grpSpPr>
          <a:xfrm>
            <a:off x="4139869" y="1723348"/>
            <a:ext cx="2907370" cy="1702498"/>
            <a:chOff x="3679000" y="1380975"/>
            <a:chExt cx="4343896" cy="2543700"/>
          </a:xfrm>
        </p:grpSpPr>
        <p:sp>
          <p:nvSpPr>
            <p:cNvPr id="160" name="Google Shape;160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1" name="Google Shape;161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2" name="Google Shape;162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3" name="Google Shape;163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" name="Google Shape;164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" name="Google Shape;165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6" name="Google Shape;166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Rearranging to solve linear equations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4168444" y="4495123"/>
            <a:ext cx="2907370" cy="1702498"/>
            <a:chOff x="3679000" y="1380975"/>
            <a:chExt cx="4343896" cy="2543700"/>
          </a:xfrm>
        </p:grpSpPr>
        <p:sp>
          <p:nvSpPr>
            <p:cNvPr id="169" name="Google Shape;169;p2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" name="Google Shape;170;p2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" name="Google Shape;171;p2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2" name="Google Shape;172;p2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3" name="Google Shape;173;p2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4" name="Google Shape;174;p2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" name="Google Shape;175;p20"/>
          <p:cNvSpPr txBox="1"/>
          <p:nvPr/>
        </p:nvSpPr>
        <p:spPr>
          <a:xfrm>
            <a:off x="468000" y="142177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Representing equations with unknowns on both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466875" y="1673700"/>
            <a:ext cx="371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Build an equation with unknowns on both sides.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6533885" y="1988912"/>
            <a:ext cx="192300" cy="190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178" name="Google Shape;178;p20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01458" y="2022364"/>
            <a:ext cx="58135" cy="130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9" name="Google Shape;179;p20"/>
          <p:cNvGrpSpPr/>
          <p:nvPr/>
        </p:nvGrpSpPr>
        <p:grpSpPr>
          <a:xfrm>
            <a:off x="6532488" y="2602360"/>
            <a:ext cx="192496" cy="191071"/>
            <a:chOff x="4237000" y="4025275"/>
            <a:chExt cx="283500" cy="281400"/>
          </a:xfrm>
        </p:grpSpPr>
        <p:sp>
          <p:nvSpPr>
            <p:cNvPr id="180" name="Google Shape;180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81" name="Google Shape;181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2" name="Google Shape;182;p20"/>
          <p:cNvGrpSpPr/>
          <p:nvPr/>
        </p:nvGrpSpPr>
        <p:grpSpPr>
          <a:xfrm>
            <a:off x="6532488" y="2395420"/>
            <a:ext cx="192496" cy="191071"/>
            <a:chOff x="4237000" y="4025275"/>
            <a:chExt cx="283500" cy="281400"/>
          </a:xfrm>
        </p:grpSpPr>
        <p:sp>
          <p:nvSpPr>
            <p:cNvPr id="183" name="Google Shape;183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84" name="Google Shape;184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5" name="Google Shape;185;p20"/>
          <p:cNvGrpSpPr/>
          <p:nvPr/>
        </p:nvGrpSpPr>
        <p:grpSpPr>
          <a:xfrm>
            <a:off x="6532488" y="2188480"/>
            <a:ext cx="192496" cy="191071"/>
            <a:chOff x="4237000" y="4025275"/>
            <a:chExt cx="283500" cy="281400"/>
          </a:xfrm>
        </p:grpSpPr>
        <p:sp>
          <p:nvSpPr>
            <p:cNvPr id="186" name="Google Shape;186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187" name="Google Shape;187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8" name="Google Shape;188;p20"/>
          <p:cNvGrpSpPr/>
          <p:nvPr/>
        </p:nvGrpSpPr>
        <p:grpSpPr>
          <a:xfrm>
            <a:off x="4256261" y="2409414"/>
            <a:ext cx="245866" cy="191071"/>
            <a:chOff x="6668990" y="3490075"/>
            <a:chExt cx="362100" cy="281400"/>
          </a:xfrm>
        </p:grpSpPr>
        <p:sp>
          <p:nvSpPr>
            <p:cNvPr id="189" name="Google Shape;189;p2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90" name="Google Shape;190;p20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1" name="Google Shape;191;p20"/>
          <p:cNvGrpSpPr/>
          <p:nvPr/>
        </p:nvGrpSpPr>
        <p:grpSpPr>
          <a:xfrm>
            <a:off x="4256261" y="2608729"/>
            <a:ext cx="245866" cy="191071"/>
            <a:chOff x="6668990" y="3490075"/>
            <a:chExt cx="362100" cy="281400"/>
          </a:xfrm>
        </p:grpSpPr>
        <p:sp>
          <p:nvSpPr>
            <p:cNvPr id="192" name="Google Shape;192;p20"/>
            <p:cNvSpPr/>
            <p:nvPr/>
          </p:nvSpPr>
          <p:spPr>
            <a:xfrm>
              <a:off x="6668990" y="3490075"/>
              <a:ext cx="3621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93" name="Google Shape;193;p20" title="x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773458" y="3572825"/>
              <a:ext cx="141700" cy="1293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4" name="Google Shape;194;p20"/>
          <p:cNvGrpSpPr/>
          <p:nvPr/>
        </p:nvGrpSpPr>
        <p:grpSpPr>
          <a:xfrm>
            <a:off x="6302873" y="1989052"/>
            <a:ext cx="194135" cy="804323"/>
            <a:chOff x="7789534" y="2230166"/>
            <a:chExt cx="285912" cy="1184570"/>
          </a:xfrm>
        </p:grpSpPr>
        <p:grpSp>
          <p:nvGrpSpPr>
            <p:cNvPr id="195" name="Google Shape;195;p20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196" name="Google Shape;196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197" name="Google Shape;197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98" name="Google Shape;198;p20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199" name="Google Shape;199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00" name="Google Shape;200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1" name="Google Shape;201;p20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202" name="Google Shape;202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03" name="Google Shape;203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04" name="Google Shape;204;p20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205" name="Google Shape;205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06" name="Google Shape;206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07" name="Google Shape;207;p20"/>
          <p:cNvSpPr txBox="1"/>
          <p:nvPr/>
        </p:nvSpPr>
        <p:spPr>
          <a:xfrm>
            <a:off x="466875" y="2009777"/>
            <a:ext cx="3140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Starting with this balance showing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8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show what you need to add to both sides to make the equation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= 5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+ 10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8" name="Google Shape;208;p20"/>
          <p:cNvGraphicFramePr/>
          <p:nvPr/>
        </p:nvGraphicFramePr>
        <p:xfrm>
          <a:off x="553384" y="26635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886050"/>
                <a:gridCol w="617475"/>
                <a:gridCol w="1100450"/>
              </a:tblGrid>
              <a:tr h="2479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9" name="Google Shape;209;p20"/>
          <p:cNvSpPr txBox="1"/>
          <p:nvPr/>
        </p:nvSpPr>
        <p:spPr>
          <a:xfrm>
            <a:off x="466875" y="4416900"/>
            <a:ext cx="43191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‘Un-do’ this balance model to solve this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566294" y="4779580"/>
            <a:ext cx="188100" cy="1869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&lt;math xmlns=&quot;http://www.w3.org/1998/Math/MathML&quot; display=&quot;block&quot; data-is-equatio=&quot;1&quot; data-latex=&quot;1&quot;&gt;&lt;mn&gt;1&lt;/mn&gt;&lt;/math&gt;" id="211" name="Google Shape;211;p20" title="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298" y="4812257"/>
            <a:ext cx="56785" cy="1277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2" name="Google Shape;212;p20"/>
          <p:cNvGrpSpPr/>
          <p:nvPr/>
        </p:nvGrpSpPr>
        <p:grpSpPr>
          <a:xfrm>
            <a:off x="6564760" y="5378603"/>
            <a:ext cx="188017" cy="186624"/>
            <a:chOff x="4237000" y="4025275"/>
            <a:chExt cx="283500" cy="281400"/>
          </a:xfrm>
        </p:grpSpPr>
        <p:sp>
          <p:nvSpPr>
            <p:cNvPr id="213" name="Google Shape;213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14" name="Google Shape;214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5" name="Google Shape;215;p20"/>
          <p:cNvGrpSpPr/>
          <p:nvPr/>
        </p:nvGrpSpPr>
        <p:grpSpPr>
          <a:xfrm>
            <a:off x="6564760" y="5176464"/>
            <a:ext cx="188017" cy="186624"/>
            <a:chOff x="4237000" y="4025275"/>
            <a:chExt cx="283500" cy="281400"/>
          </a:xfrm>
        </p:grpSpPr>
        <p:sp>
          <p:nvSpPr>
            <p:cNvPr id="216" name="Google Shape;216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17" name="Google Shape;217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8" name="Google Shape;218;p20"/>
          <p:cNvGrpSpPr/>
          <p:nvPr/>
        </p:nvGrpSpPr>
        <p:grpSpPr>
          <a:xfrm>
            <a:off x="6564760" y="4974324"/>
            <a:ext cx="188017" cy="186624"/>
            <a:chOff x="4237000" y="4025275"/>
            <a:chExt cx="283500" cy="281400"/>
          </a:xfrm>
        </p:grpSpPr>
        <p:sp>
          <p:nvSpPr>
            <p:cNvPr id="219" name="Google Shape;219;p20"/>
            <p:cNvSpPr/>
            <p:nvPr/>
          </p:nvSpPr>
          <p:spPr>
            <a:xfrm>
              <a:off x="4237000" y="4025275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20" name="Google Shape;220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336526" y="4074547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21" name="Google Shape;221;p20"/>
          <p:cNvGrpSpPr/>
          <p:nvPr/>
        </p:nvGrpSpPr>
        <p:grpSpPr>
          <a:xfrm>
            <a:off x="4255067" y="4995455"/>
            <a:ext cx="240145" cy="576015"/>
            <a:chOff x="4763990" y="2555627"/>
            <a:chExt cx="362100" cy="868539"/>
          </a:xfrm>
        </p:grpSpPr>
        <p:grpSp>
          <p:nvGrpSpPr>
            <p:cNvPr id="222" name="Google Shape;222;p20"/>
            <p:cNvGrpSpPr/>
            <p:nvPr/>
          </p:nvGrpSpPr>
          <p:grpSpPr>
            <a:xfrm>
              <a:off x="4763990" y="2849196"/>
              <a:ext cx="362100" cy="281400"/>
              <a:chOff x="6668990" y="3490075"/>
              <a:chExt cx="362100" cy="281400"/>
            </a:xfrm>
          </p:grpSpPr>
          <p:sp>
            <p:nvSpPr>
              <p:cNvPr id="223" name="Google Shape;223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4" name="Google Shape;224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5" name="Google Shape;225;p20"/>
            <p:cNvGrpSpPr/>
            <p:nvPr/>
          </p:nvGrpSpPr>
          <p:grpSpPr>
            <a:xfrm>
              <a:off x="4763990" y="3142766"/>
              <a:ext cx="362100" cy="281400"/>
              <a:chOff x="6668990" y="3490075"/>
              <a:chExt cx="362100" cy="281400"/>
            </a:xfrm>
          </p:grpSpPr>
          <p:sp>
            <p:nvSpPr>
              <p:cNvPr id="226" name="Google Shape;226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27" name="Google Shape;227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8" name="Google Shape;228;p20"/>
            <p:cNvGrpSpPr/>
            <p:nvPr/>
          </p:nvGrpSpPr>
          <p:grpSpPr>
            <a:xfrm>
              <a:off x="4763990" y="2555627"/>
              <a:ext cx="362100" cy="281400"/>
              <a:chOff x="6668990" y="3490075"/>
              <a:chExt cx="362100" cy="281400"/>
            </a:xfrm>
          </p:grpSpPr>
          <p:sp>
            <p:nvSpPr>
              <p:cNvPr id="229" name="Google Shape;229;p20"/>
              <p:cNvSpPr/>
              <p:nvPr/>
            </p:nvSpPr>
            <p:spPr>
              <a:xfrm>
                <a:off x="6668990" y="3490075"/>
                <a:ext cx="3621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x&quot;&gt;&lt;mi&gt;x&lt;/mi&gt;&lt;/math&gt;" id="230" name="Google Shape;230;p20" title="x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6773458" y="3572825"/>
                <a:ext cx="141700" cy="12937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31" name="Google Shape;231;p20"/>
          <p:cNvGrpSpPr/>
          <p:nvPr/>
        </p:nvGrpSpPr>
        <p:grpSpPr>
          <a:xfrm>
            <a:off x="6795146" y="4779609"/>
            <a:ext cx="189617" cy="785607"/>
            <a:chOff x="7789534" y="2230166"/>
            <a:chExt cx="285912" cy="1184570"/>
          </a:xfrm>
        </p:grpSpPr>
        <p:grpSp>
          <p:nvGrpSpPr>
            <p:cNvPr id="232" name="Google Shape;232;p20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233" name="Google Shape;233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34" name="Google Shape;234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5" name="Google Shape;235;p20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236" name="Google Shape;236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37" name="Google Shape;237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38" name="Google Shape;238;p20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239" name="Google Shape;239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40" name="Google Shape;240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1" name="Google Shape;241;p20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43" name="Google Shape;243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4" name="Google Shape;244;p20"/>
          <p:cNvGrpSpPr/>
          <p:nvPr/>
        </p:nvGrpSpPr>
        <p:grpSpPr>
          <a:xfrm>
            <a:off x="5076968" y="4787057"/>
            <a:ext cx="189617" cy="785607"/>
            <a:chOff x="7789534" y="2230166"/>
            <a:chExt cx="285912" cy="1184570"/>
          </a:xfrm>
        </p:grpSpPr>
        <p:grpSp>
          <p:nvGrpSpPr>
            <p:cNvPr id="245" name="Google Shape;245;p20"/>
            <p:cNvGrpSpPr/>
            <p:nvPr/>
          </p:nvGrpSpPr>
          <p:grpSpPr>
            <a:xfrm>
              <a:off x="7791946" y="2230166"/>
              <a:ext cx="283500" cy="281400"/>
              <a:chOff x="4237000" y="4025275"/>
              <a:chExt cx="283500" cy="281400"/>
            </a:xfrm>
          </p:grpSpPr>
          <p:sp>
            <p:nvSpPr>
              <p:cNvPr id="246" name="Google Shape;246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47" name="Google Shape;247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8" name="Google Shape;248;p20"/>
            <p:cNvGrpSpPr/>
            <p:nvPr/>
          </p:nvGrpSpPr>
          <p:grpSpPr>
            <a:xfrm>
              <a:off x="7789534" y="3133336"/>
              <a:ext cx="283500" cy="281400"/>
              <a:chOff x="4237000" y="4025275"/>
              <a:chExt cx="283500" cy="281400"/>
            </a:xfrm>
          </p:grpSpPr>
          <p:sp>
            <p:nvSpPr>
              <p:cNvPr id="249" name="Google Shape;249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50" name="Google Shape;250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1" name="Google Shape;251;p20"/>
            <p:cNvGrpSpPr/>
            <p:nvPr/>
          </p:nvGrpSpPr>
          <p:grpSpPr>
            <a:xfrm>
              <a:off x="7789534" y="2828536"/>
              <a:ext cx="283500" cy="281400"/>
              <a:chOff x="4237000" y="4025275"/>
              <a:chExt cx="283500" cy="281400"/>
            </a:xfrm>
          </p:grpSpPr>
          <p:sp>
            <p:nvSpPr>
              <p:cNvPr id="252" name="Google Shape;252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53" name="Google Shape;253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4" name="Google Shape;254;p20"/>
            <p:cNvGrpSpPr/>
            <p:nvPr/>
          </p:nvGrpSpPr>
          <p:grpSpPr>
            <a:xfrm>
              <a:off x="7789534" y="2523736"/>
              <a:ext cx="283500" cy="281400"/>
              <a:chOff x="4237000" y="4025275"/>
              <a:chExt cx="283500" cy="281400"/>
            </a:xfrm>
          </p:grpSpPr>
          <p:sp>
            <p:nvSpPr>
              <p:cNvPr id="255" name="Google Shape;255;p20"/>
              <p:cNvSpPr/>
              <p:nvPr/>
            </p:nvSpPr>
            <p:spPr>
              <a:xfrm>
                <a:off x="4237000" y="4025275"/>
                <a:ext cx="283500" cy="281400"/>
              </a:xfrm>
              <a:prstGeom prst="rect">
                <a:avLst/>
              </a:prstGeom>
              <a:solidFill>
                <a:schemeClr val="lt1"/>
              </a:solidFill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200"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pic>
            <p:nvPicPr>
              <p:cNvPr descr="&lt;math xmlns=&quot;http://www.w3.org/1998/Math/MathML&quot; display=&quot;block&quot; data-is-equatio=&quot;1&quot; data-latex=&quot;1&quot;&gt;&lt;mn&gt;1&lt;/mn&gt;&lt;/math&gt;" id="256" name="Google Shape;256;p20" title="1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36526" y="4074547"/>
                <a:ext cx="85625" cy="1926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57" name="Google Shape;257;p20"/>
          <p:cNvGrpSpPr/>
          <p:nvPr/>
        </p:nvGrpSpPr>
        <p:grpSpPr>
          <a:xfrm>
            <a:off x="6566421" y="4599810"/>
            <a:ext cx="188017" cy="186624"/>
            <a:chOff x="8096746" y="1947827"/>
            <a:chExt cx="283500" cy="281400"/>
          </a:xfrm>
        </p:grpSpPr>
        <p:sp>
          <p:nvSpPr>
            <p:cNvPr id="258" name="Google Shape;258;p20"/>
            <p:cNvSpPr/>
            <p:nvPr/>
          </p:nvSpPr>
          <p:spPr>
            <a:xfrm>
              <a:off x="8096746" y="1947827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59" name="Google Shape;259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9627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" name="Google Shape;260;p20"/>
          <p:cNvGrpSpPr/>
          <p:nvPr/>
        </p:nvGrpSpPr>
        <p:grpSpPr>
          <a:xfrm>
            <a:off x="6796756" y="4592362"/>
            <a:ext cx="188017" cy="186624"/>
            <a:chOff x="8455286" y="1947827"/>
            <a:chExt cx="283500" cy="281400"/>
          </a:xfrm>
        </p:grpSpPr>
        <p:sp>
          <p:nvSpPr>
            <p:cNvPr id="261" name="Google Shape;261;p20"/>
            <p:cNvSpPr/>
            <p:nvPr/>
          </p:nvSpPr>
          <p:spPr>
            <a:xfrm>
              <a:off x="8455286" y="1947827"/>
              <a:ext cx="283500" cy="281400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1&quot;&gt;&lt;mn&gt;1&lt;/mn&gt;&lt;/math&gt;" id="262" name="Google Shape;262;p20" title="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554812" y="1997099"/>
              <a:ext cx="85625" cy="192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3" name="Google Shape;263;p20"/>
          <p:cNvGrpSpPr/>
          <p:nvPr/>
        </p:nvGrpSpPr>
        <p:grpSpPr>
          <a:xfrm>
            <a:off x="4543384" y="4995455"/>
            <a:ext cx="1670044" cy="576015"/>
            <a:chOff x="5046329" y="2555627"/>
            <a:chExt cx="2518161" cy="868539"/>
          </a:xfrm>
        </p:grpSpPr>
        <p:grpSp>
          <p:nvGrpSpPr>
            <p:cNvPr id="264" name="Google Shape;264;p20"/>
            <p:cNvGrpSpPr/>
            <p:nvPr/>
          </p:nvGrpSpPr>
          <p:grpSpPr>
            <a:xfrm>
              <a:off x="5046329" y="2555627"/>
              <a:ext cx="362100" cy="868539"/>
              <a:chOff x="5198729" y="2555627"/>
              <a:chExt cx="362100" cy="868539"/>
            </a:xfrm>
          </p:grpSpPr>
          <p:grpSp>
            <p:nvGrpSpPr>
              <p:cNvPr id="265" name="Google Shape;265;p20"/>
              <p:cNvGrpSpPr/>
              <p:nvPr/>
            </p:nvGrpSpPr>
            <p:grpSpPr>
              <a:xfrm>
                <a:off x="5198729" y="2849196"/>
                <a:ext cx="362100" cy="281400"/>
                <a:chOff x="6668990" y="3490075"/>
                <a:chExt cx="362100" cy="281400"/>
              </a:xfrm>
            </p:grpSpPr>
            <p:sp>
              <p:nvSpPr>
                <p:cNvPr id="266" name="Google Shape;266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267" name="Google Shape;267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68" name="Google Shape;268;p20"/>
              <p:cNvGrpSpPr/>
              <p:nvPr/>
            </p:nvGrpSpPr>
            <p:grpSpPr>
              <a:xfrm>
                <a:off x="5198729" y="3142766"/>
                <a:ext cx="362100" cy="281400"/>
                <a:chOff x="6668990" y="3490075"/>
                <a:chExt cx="362100" cy="281400"/>
              </a:xfrm>
            </p:grpSpPr>
            <p:sp>
              <p:nvSpPr>
                <p:cNvPr id="269" name="Google Shape;269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270" name="Google Shape;270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1" name="Google Shape;271;p20"/>
              <p:cNvGrpSpPr/>
              <p:nvPr/>
            </p:nvGrpSpPr>
            <p:grpSpPr>
              <a:xfrm>
                <a:off x="5198729" y="2555627"/>
                <a:ext cx="362100" cy="281400"/>
                <a:chOff x="6668990" y="3490075"/>
                <a:chExt cx="362100" cy="281400"/>
              </a:xfrm>
            </p:grpSpPr>
            <p:sp>
              <p:nvSpPr>
                <p:cNvPr id="272" name="Google Shape;272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273" name="Google Shape;273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74" name="Google Shape;274;p20"/>
            <p:cNvGrpSpPr/>
            <p:nvPr/>
          </p:nvGrpSpPr>
          <p:grpSpPr>
            <a:xfrm>
              <a:off x="7202390" y="2555627"/>
              <a:ext cx="362100" cy="868539"/>
              <a:chOff x="7354790" y="2555627"/>
              <a:chExt cx="362100" cy="868539"/>
            </a:xfrm>
          </p:grpSpPr>
          <p:grpSp>
            <p:nvGrpSpPr>
              <p:cNvPr id="275" name="Google Shape;275;p20"/>
              <p:cNvGrpSpPr/>
              <p:nvPr/>
            </p:nvGrpSpPr>
            <p:grpSpPr>
              <a:xfrm>
                <a:off x="7354790" y="2849196"/>
                <a:ext cx="362100" cy="281400"/>
                <a:chOff x="6668990" y="3490075"/>
                <a:chExt cx="362100" cy="281400"/>
              </a:xfrm>
            </p:grpSpPr>
            <p:sp>
              <p:nvSpPr>
                <p:cNvPr id="276" name="Google Shape;276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277" name="Google Shape;277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78" name="Google Shape;278;p20"/>
              <p:cNvGrpSpPr/>
              <p:nvPr/>
            </p:nvGrpSpPr>
            <p:grpSpPr>
              <a:xfrm>
                <a:off x="7354790" y="3142766"/>
                <a:ext cx="362100" cy="281400"/>
                <a:chOff x="6668990" y="3490075"/>
                <a:chExt cx="362100" cy="281400"/>
              </a:xfrm>
            </p:grpSpPr>
            <p:sp>
              <p:nvSpPr>
                <p:cNvPr id="279" name="Google Shape;279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280" name="Google Shape;280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81" name="Google Shape;281;p20"/>
              <p:cNvGrpSpPr/>
              <p:nvPr/>
            </p:nvGrpSpPr>
            <p:grpSpPr>
              <a:xfrm>
                <a:off x="7354790" y="2555627"/>
                <a:ext cx="362100" cy="281400"/>
                <a:chOff x="6668990" y="3490075"/>
                <a:chExt cx="362100" cy="281400"/>
              </a:xfrm>
            </p:grpSpPr>
            <p:sp>
              <p:nvSpPr>
                <p:cNvPr id="282" name="Google Shape;282;p20"/>
                <p:cNvSpPr/>
                <p:nvPr/>
              </p:nvSpPr>
              <p:spPr>
                <a:xfrm>
                  <a:off x="6668990" y="3490075"/>
                  <a:ext cx="362100" cy="28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2857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i="1" sz="2200">
                    <a:latin typeface="Times"/>
                    <a:ea typeface="Times"/>
                    <a:cs typeface="Times"/>
                    <a:sym typeface="Times"/>
                  </a:endParaRPr>
                </a:p>
              </p:txBody>
            </p:sp>
            <p:pic>
              <p:nvPicPr>
                <p:cNvPr descr="&lt;math xmlns=&quot;http://www.w3.org/1998/Math/MathML&quot; display=&quot;block&quot; data-is-equatio=&quot;1&quot; data-latex=&quot;x&quot;&gt;&lt;mi&gt;x&lt;/mi&gt;&lt;/math&gt;" id="283" name="Google Shape;283;p20" title="x"/>
                <p:cNvPicPr preferRelativeResize="0"/>
                <p:nvPr/>
              </p:nvPicPr>
              <p:blipFill>
                <a:blip r:embed="rId4">
                  <a:alphaModFix/>
                </a:blip>
                <a:stretch>
                  <a:fillRect/>
                </a:stretch>
              </p:blipFill>
              <p:spPr>
                <a:xfrm>
                  <a:off x="6773458" y="3572825"/>
                  <a:ext cx="141700" cy="1293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</p:grpSp>
      <p:graphicFrame>
        <p:nvGraphicFramePr>
          <p:cNvPr id="284" name="Google Shape;284;p20"/>
          <p:cNvGraphicFramePr/>
          <p:nvPr/>
        </p:nvGraphicFramePr>
        <p:xfrm>
          <a:off x="500384" y="45971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1246700"/>
                <a:gridCol w="583800"/>
                <a:gridCol w="1285975"/>
              </a:tblGrid>
              <a:tr h="255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20"/>
          <p:cNvSpPr txBox="1"/>
          <p:nvPr/>
        </p:nvSpPr>
        <p:spPr>
          <a:xfrm>
            <a:off x="466875" y="6779100"/>
            <a:ext cx="3456000" cy="3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Use this bar model to solve this equation.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your algebraic notation alongside.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86" name="Google Shape;286;p20"/>
          <p:cNvGraphicFramePr/>
          <p:nvPr/>
        </p:nvGraphicFramePr>
        <p:xfrm>
          <a:off x="322259" y="73618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1318700"/>
                <a:gridCol w="430150"/>
                <a:gridCol w="1298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7" name="Google Shape;287;p20"/>
          <p:cNvSpPr/>
          <p:nvPr/>
        </p:nvSpPr>
        <p:spPr>
          <a:xfrm>
            <a:off x="6475522" y="7204614"/>
            <a:ext cx="5403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29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4063675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4367386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4670754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20"/>
          <p:cNvSpPr/>
          <p:nvPr/>
        </p:nvSpPr>
        <p:spPr>
          <a:xfrm>
            <a:off x="4976785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2" name="Google Shape;292;p20"/>
          <p:cNvSpPr/>
          <p:nvPr/>
        </p:nvSpPr>
        <p:spPr>
          <a:xfrm>
            <a:off x="4063675" y="6991630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4367386" y="6991630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4662900" y="6991630"/>
            <a:ext cx="23529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20"/>
          <p:cNvSpPr/>
          <p:nvPr/>
        </p:nvSpPr>
        <p:spPr>
          <a:xfrm>
            <a:off x="5274962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6" name="Google Shape;296;p20"/>
          <p:cNvSpPr/>
          <p:nvPr/>
        </p:nvSpPr>
        <p:spPr>
          <a:xfrm>
            <a:off x="5573138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p20"/>
          <p:cNvSpPr/>
          <p:nvPr/>
        </p:nvSpPr>
        <p:spPr>
          <a:xfrm>
            <a:off x="5871315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8" name="Google Shape;298;p20"/>
          <p:cNvSpPr/>
          <p:nvPr/>
        </p:nvSpPr>
        <p:spPr>
          <a:xfrm>
            <a:off x="6169491" y="7204614"/>
            <a:ext cx="301800" cy="2169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 i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9" name="Google Shape;299;p20"/>
          <p:cNvCxnSpPr/>
          <p:nvPr/>
        </p:nvCxnSpPr>
        <p:spPr>
          <a:xfrm>
            <a:off x="468000" y="997200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5" name="Google Shape;305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Rearranging to solve linear equations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21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Lexend Light"/>
                <a:ea typeface="Lexend Light"/>
                <a:cs typeface="Lexend Light"/>
                <a:sym typeface="Lexend Light"/>
              </a:rPr>
              <a:t>Mathematics in Education and Industry.</a:t>
            </a:r>
            <a:endParaRPr/>
          </a:p>
        </p:txBody>
      </p:sp>
      <p:graphicFrame>
        <p:nvGraphicFramePr>
          <p:cNvPr id="308" name="Google Shape;308;p21"/>
          <p:cNvGraphicFramePr/>
          <p:nvPr/>
        </p:nvGraphicFramePr>
        <p:xfrm>
          <a:off x="328557" y="140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1400650"/>
                <a:gridCol w="456900"/>
                <a:gridCol w="1379200"/>
              </a:tblGrid>
              <a:tr h="2013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9" name="Google Shape;309;p21"/>
          <p:cNvSpPr txBox="1"/>
          <p:nvPr/>
        </p:nvSpPr>
        <p:spPr>
          <a:xfrm>
            <a:off x="468000" y="945525"/>
            <a:ext cx="661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Solving equations with unknowns on both sides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476400" y="1216500"/>
            <a:ext cx="35355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this equation in two different ways: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 txBox="1"/>
          <p:nvPr/>
        </p:nvSpPr>
        <p:spPr>
          <a:xfrm>
            <a:off x="476400" y="1445100"/>
            <a:ext cx="240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12" name="Google Shape;312;p21"/>
          <p:cNvGraphicFramePr/>
          <p:nvPr/>
        </p:nvGraphicFramePr>
        <p:xfrm>
          <a:off x="3812712" y="1399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1445600"/>
                <a:gridCol w="471575"/>
                <a:gridCol w="1423475"/>
              </a:tblGrid>
              <a:tr h="2017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3" name="Google Shape;313;p21"/>
          <p:cNvGraphicFramePr/>
          <p:nvPr/>
        </p:nvGraphicFramePr>
        <p:xfrm>
          <a:off x="328557" y="3154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1400650"/>
                <a:gridCol w="456900"/>
                <a:gridCol w="1379200"/>
              </a:tblGrid>
              <a:tr h="17575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14" name="Google Shape;314;p21"/>
          <p:cNvGraphicFramePr/>
          <p:nvPr/>
        </p:nvGraphicFramePr>
        <p:xfrm>
          <a:off x="3286423" y="312590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{8D64899E-CF48-4EC1-AA8C-330DE69CCB94}</a:tableStyleId>
              </a:tblPr>
              <a:tblGrid>
                <a:gridCol w="1900625"/>
                <a:gridCol w="620000"/>
                <a:gridCol w="1871525"/>
              </a:tblGrid>
              <a:tr h="1725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23 − 5</a:t>
                      </a:r>
                      <a:r>
                        <a:rPr i="1"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15" name="Google Shape;315;p21"/>
          <p:cNvSpPr txBox="1"/>
          <p:nvPr/>
        </p:nvSpPr>
        <p:spPr>
          <a:xfrm>
            <a:off x="476400" y="3121500"/>
            <a:ext cx="240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66875" y="4950300"/>
            <a:ext cx="3535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perimeter of this rectangle.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21"/>
          <p:cNvSpPr/>
          <p:nvPr/>
        </p:nvSpPr>
        <p:spPr>
          <a:xfrm>
            <a:off x="1126096" y="5500300"/>
            <a:ext cx="1309800" cy="6441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8" name="Google Shape;318;p21"/>
          <p:cNvCxnSpPr/>
          <p:nvPr/>
        </p:nvCxnSpPr>
        <p:spPr>
          <a:xfrm>
            <a:off x="1128566" y="6228741"/>
            <a:ext cx="13149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19" name="Google Shape;319;p21"/>
          <p:cNvCxnSpPr/>
          <p:nvPr/>
        </p:nvCxnSpPr>
        <p:spPr>
          <a:xfrm>
            <a:off x="1128566" y="5412300"/>
            <a:ext cx="1314900" cy="3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20" name="Google Shape;320;p21"/>
          <p:cNvCxnSpPr/>
          <p:nvPr/>
        </p:nvCxnSpPr>
        <p:spPr>
          <a:xfrm rot="10800000">
            <a:off x="1031689" y="5501554"/>
            <a:ext cx="6300" cy="644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321" name="Google Shape;321;p21"/>
          <p:cNvSpPr txBox="1"/>
          <p:nvPr/>
        </p:nvSpPr>
        <p:spPr>
          <a:xfrm>
            <a:off x="1476000" y="5175750"/>
            <a:ext cx="6312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17 − 2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1498300" y="6242550"/>
            <a:ext cx="4881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i="1"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+ 2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875925" y="5742850"/>
            <a:ext cx="1557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476400" y="7693500"/>
            <a:ext cx="735300" cy="2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8}x-7=3-7x&quot;&gt;&lt;mfrac&gt;&lt;mn&gt;1&lt;/mn&gt;&lt;mn&gt;8&lt;/mn&gt;&lt;/mfrac&gt;&lt;mi&gt;x&lt;/mi&gt;&lt;mo&gt;−&lt;/mo&gt;&lt;mn&gt;7&lt;/mn&gt;&lt;mo&gt;=&lt;/mo&gt;&lt;mn&gt;3&lt;/mn&gt;&lt;mo&gt;−&lt;/mo&gt;&lt;mn&gt;7&lt;/mn&gt;&lt;mi&gt;x&lt;/mi&gt;&lt;/math&gt;" id="325" name="Google Shape;325;p21" title="one eighth x minus 7 equals 3 minus 7 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5504" y="7728501"/>
            <a:ext cx="1106231" cy="33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