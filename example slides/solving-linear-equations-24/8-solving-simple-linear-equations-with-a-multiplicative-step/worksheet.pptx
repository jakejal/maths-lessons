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8D83577-80CF-4EAF-8F2F-7DA323BCB997}">
  <a:tblStyle styleId="{B8D83577-80CF-4EAF-8F2F-7DA323BCB9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4" name="Shape 244"/>
        <p:cNvGrpSpPr/>
        <p:nvPr/>
      </p:nvGrpSpPr>
      <p:grpSpPr>
        <a:xfrm>
          <a:off x="0" y="0"/>
          <a:ext cx="0" cy="0"/>
        </a:xfrm>
      </p:grpSpPr>
      <p:sp>
        <p:nvSpPr>
          <p:cNvPr id="245" name="Google Shape;24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7200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Solving simple linear equations with a multiplicative step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5485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Multiplicative steps using representations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02198" y="2048282"/>
            <a:ext cx="65898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up the bar models with the calculations which will find the solution.  There may be more than one calculation for each diagram.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3870738" y="4097127"/>
            <a:ext cx="1728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302714" y="4096998"/>
            <a:ext cx="1296000" cy="368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 flipH="1">
            <a:off x="4304227" y="4087615"/>
            <a:ext cx="0" cy="41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6" name="Google Shape;166;p20"/>
          <p:cNvSpPr/>
          <p:nvPr/>
        </p:nvSpPr>
        <p:spPr>
          <a:xfrm>
            <a:off x="3870738" y="4462858"/>
            <a:ext cx="432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832175" y="3647475"/>
            <a:ext cx="4488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277274" y="3647475"/>
            <a:ext cx="4488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722374" y="3647475"/>
            <a:ext cx="4488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167473" y="3647475"/>
            <a:ext cx="4488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832175" y="3959829"/>
            <a:ext cx="1784100" cy="314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latin typeface="Times"/>
                <a:ea typeface="Times"/>
                <a:cs typeface="Times"/>
                <a:sym typeface="Times"/>
              </a:rPr>
              <a:t>8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72" name="Google Shape;172;p20" descr="&lt;math xmlns=&quot;http://www.w3.org/1998/Math/MathML&quot; display=&quot;block&quot; data-is-equatio=&quot;1&quot; data-latex=&quot;\frac{1}{4}x\ &quot;&gt;&lt;mfrac&gt;&lt;mn&gt;1&lt;/mn&gt;&lt;mn&gt;4&lt;/mn&gt;&lt;/mfrac&gt;&lt;mi&gt;x&lt;/mi&gt;&lt;mtext&gt;&lt;/mtext&gt;&lt;/math&gt;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032" y="4118237"/>
            <a:ext cx="195829" cy="321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&lt;math xmlns=&quot;http://www.w3.org/1998/Math/MathML&quot; display=&quot;block&quot; data-is-equatio=&quot;1&quot; data-latex=&quot;\frac{1}{2}x\ &quot;&gt;&lt;mfrac&gt;&lt;mn&gt;1&lt;/mn&gt;&lt;mn&gt;2&lt;/mn&gt;&lt;/mfrac&gt;&lt;mi&gt;x&lt;/mi&gt;&lt;mtext&gt;&lt;/mtext&gt;&lt;/math&gt;" title="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712" y="4557293"/>
            <a:ext cx="206216" cy="32254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832320" y="4534383"/>
            <a:ext cx="1728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649936" y="4534254"/>
            <a:ext cx="910200" cy="368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flipH="1">
            <a:off x="1654730" y="4524870"/>
            <a:ext cx="0" cy="41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7" name="Google Shape;177;p20"/>
          <p:cNvSpPr/>
          <p:nvPr/>
        </p:nvSpPr>
        <p:spPr>
          <a:xfrm>
            <a:off x="832320" y="4900114"/>
            <a:ext cx="8223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32325" y="2721400"/>
            <a:ext cx="895800" cy="312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720610" y="2721400"/>
            <a:ext cx="895800" cy="312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 i="1">
                <a:latin typeface="Times"/>
                <a:ea typeface="Times"/>
                <a:cs typeface="Times"/>
                <a:sym typeface="Times"/>
              </a:rPr>
              <a:t>x</a:t>
            </a:r>
            <a:endParaRPr sz="15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832325" y="3031290"/>
            <a:ext cx="1784100" cy="312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500">
                <a:latin typeface="Times"/>
                <a:ea typeface="Times"/>
                <a:cs typeface="Times"/>
                <a:sym typeface="Times"/>
              </a:rPr>
              <a:t>4</a:t>
            </a:r>
            <a:endParaRPr sz="15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81" name="Google Shape;181;p20" descr="&lt;math xmlns=&quot;http://www.w3.org/1998/Math/MathML&quot; display=&quot;block&quot; data-is-equatio=&quot;1&quot; data-latex=&quot;8\ \times\frac{1}{4}&quot;&gt;&lt;mn&gt;8&lt;/mn&gt;&lt;mtext&gt;&lt;/mtext&gt;&lt;mo&gt;×&lt;/mo&gt;&lt;mfrac&gt;&lt;mn&gt;1&lt;/mn&gt;&lt;mn&gt;4&lt;/mn&gt;&lt;/mfrac&gt;&lt;/math&gt;" title="8 times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7276" y="3799581"/>
            <a:ext cx="432000" cy="3505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4\ \times\frac{1}{2}&quot;&gt;&lt;mn&gt;4&lt;/mn&gt;&lt;mtext&gt;&lt;/mtext&gt;&lt;mo&gt;×&lt;/mo&gt;&lt;mfrac&gt;&lt;mn&gt;1&lt;/mn&gt;&lt;mn&gt;2&lt;/mn&gt;&lt;/mfrac&gt;&lt;/math&gt;" title="4 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0867" y="2682751"/>
            <a:ext cx="432000" cy="34484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3870738" y="2746139"/>
            <a:ext cx="1728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302714" y="2746011"/>
            <a:ext cx="1296000" cy="368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 flipH="1">
            <a:off x="4304227" y="2736627"/>
            <a:ext cx="0" cy="41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6" name="Google Shape;186;p20"/>
          <p:cNvSpPr/>
          <p:nvPr/>
        </p:nvSpPr>
        <p:spPr>
          <a:xfrm>
            <a:off x="3870738" y="3111870"/>
            <a:ext cx="432000" cy="3684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\frac{1}{4}x\ &quot;&gt;&lt;mfrac&gt;&lt;mn&gt;1&lt;/mn&gt;&lt;mn&gt;4&lt;/mn&gt;&lt;/mfrac&gt;&lt;mi&gt;x&lt;/mi&gt;&lt;mtext&gt;&lt;/mtext&gt;&lt;/math&gt;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032" y="2767250"/>
            <a:ext cx="195829" cy="32136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960867" y="4471236"/>
            <a:ext cx="6027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4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637276" y="3300062"/>
            <a:ext cx="602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 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960867" y="3285289"/>
            <a:ext cx="6027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 × 2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960867" y="5053232"/>
            <a:ext cx="6027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 × 4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637276" y="5053232"/>
            <a:ext cx="6027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4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 descr="&lt;math xmlns=&quot;http://www.w3.org/1998/Math/MathML&quot; display=&quot;block&quot; data-is-equatio=&quot;1&quot; data-latex=&quot;4\ \div\frac{1}{2}&quot;&gt;&lt;mn&gt;4&lt;/mn&gt;&lt;mtext&gt;&lt;/mtext&gt;&lt;mo&gt;÷&lt;/mo&gt;&lt;mfrac&gt;&lt;mn&gt;1&lt;/mn&gt;&lt;mn&gt;2&lt;/mn&gt;&lt;/mfrac&gt;&lt;/math&gt;" title="4 division sign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7276" y="4424958"/>
            <a:ext cx="432000" cy="353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4\ \div\frac{1}{4}&quot;&gt;&lt;mn&gt;4&lt;/mn&gt;&lt;mtext&gt;&lt;/mtext&gt;&lt;mo&gt;÷&lt;/mo&gt;&lt;mfrac&gt;&lt;mn&gt;1&lt;/mn&gt;&lt;mn&gt;4&lt;/mn&gt;&lt;/mfrac&gt;&lt;/math&gt;" title="4 division sign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7276" y="2682751"/>
            <a:ext cx="414000" cy="342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8\ \div\frac{1}{4}&quot;&gt;&lt;mn&gt;8&lt;/mn&gt;&lt;mtext&gt;&lt;/mtext&gt;&lt;mo&gt;÷&lt;/mo&gt;&lt;mfrac&gt;&lt;mn&gt;1&lt;/mn&gt;&lt;mn&gt;4&lt;/mn&gt;&lt;/mfrac&gt;&lt;/math&gt;" title="8 division sign one four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60867" y="3867286"/>
            <a:ext cx="414000" cy="34625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468000" y="3622055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68000" y="4507306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68000" y="2746011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421732" y="2746011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421732" y="4109606"/>
            <a:ext cx="3687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18437" y="5772184"/>
            <a:ext cx="64191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these bar models to find the value of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85125" y="7474425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85125" y="8585327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85125" y="6386521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632160" y="7502859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632160" y="8616271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632160" y="6397811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840010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840010" y="6658534"/>
            <a:ext cx="1784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196278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552546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908814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265082" y="6371520"/>
            <a:ext cx="3591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840010" y="7784660"/>
            <a:ext cx="578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840010" y="7489191"/>
            <a:ext cx="17436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422500" y="7784660"/>
            <a:ext cx="578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004990" y="7784660"/>
            <a:ext cx="578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025013" y="7777581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4025013" y="7482112"/>
            <a:ext cx="1904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500038" y="7777581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975062" y="7777581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450086" y="7777581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025013" y="6374862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025013" y="6673175"/>
            <a:ext cx="14298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500038" y="6374862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975062" y="6374862"/>
            <a:ext cx="4797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840010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840010" y="8569061"/>
            <a:ext cx="19044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1033568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219491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1415722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611953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795203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1991434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2187665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2370915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2554166" y="8864529"/>
            <a:ext cx="190500" cy="289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025013" y="8572740"/>
            <a:ext cx="2053500" cy="358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431297" y="8575145"/>
            <a:ext cx="1642800" cy="3591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100" i="1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0" name="Google Shape;240;p20"/>
          <p:cNvCxnSpPr/>
          <p:nvPr/>
        </p:nvCxnSpPr>
        <p:spPr>
          <a:xfrm flipH="1">
            <a:off x="4437414" y="8586431"/>
            <a:ext cx="0" cy="399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1" name="Google Shape;241;p20"/>
          <p:cNvSpPr/>
          <p:nvPr/>
        </p:nvSpPr>
        <p:spPr>
          <a:xfrm>
            <a:off x="4025013" y="8929008"/>
            <a:ext cx="410700" cy="358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42" name="Google Shape;242;p20" descr="&lt;math xmlns=&quot;http://www.w3.org/1998/Math/MathML&quot; display=&quot;block&quot; data-is-equatio=&quot;1&quot; data-latex=&quot;\frac{1}{5}x&quot;&gt;&lt;mfrac&gt;&lt;mn&gt;1&lt;/mn&gt;&lt;mn&gt;5&lt;/mn&gt;&lt;/mfrac&gt;&lt;mi&gt;x&lt;/mi&gt;&lt;/math&gt;" title="one fifth x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60794" y="8586443"/>
            <a:ext cx="190524" cy="3136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20"/>
          <p:cNvCxnSpPr/>
          <p:nvPr/>
        </p:nvCxnSpPr>
        <p:spPr>
          <a:xfrm>
            <a:off x="474745" y="9895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7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9" name="Google Shape;24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Solving simple linear equations with a multiplicative step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252" name="Google Shape;252;p21"/>
          <p:cNvGraphicFramePr>
            <a:graphicFrameLocks noGrp="1"/>
          </p:cNvGraphicFramePr>
          <p:nvPr/>
        </p:nvGraphicFramePr>
        <p:xfrm>
          <a:off x="4124500" y="4741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29250"/>
                <a:gridCol w="281075"/>
                <a:gridCol w="1277500"/>
              </a:tblGrid>
              <a:tr h="477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3" name="Google Shape;253;p21"/>
          <p:cNvGraphicFramePr>
            <a:graphicFrameLocks noGrp="1"/>
          </p:cNvGraphicFramePr>
          <p:nvPr/>
        </p:nvGraphicFramePr>
        <p:xfrm>
          <a:off x="4124500" y="34538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29250"/>
                <a:gridCol w="281075"/>
                <a:gridCol w="1277500"/>
              </a:tblGrid>
              <a:tr h="3976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4" name="Google Shape;254;p21"/>
          <p:cNvGraphicFramePr>
            <a:graphicFrameLocks noGrp="1"/>
          </p:cNvGraphicFramePr>
          <p:nvPr/>
        </p:nvGraphicFramePr>
        <p:xfrm>
          <a:off x="466813" y="218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29250"/>
                <a:gridCol w="281075"/>
                <a:gridCol w="1277500"/>
              </a:tblGrid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Writing solutions algebraically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6" name="Google Shape;256;p21"/>
          <p:cNvGraphicFramePr>
            <a:graphicFrameLocks noGrp="1"/>
          </p:cNvGraphicFramePr>
          <p:nvPr/>
        </p:nvGraphicFramePr>
        <p:xfrm>
          <a:off x="4124500" y="61079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76775"/>
                <a:gridCol w="291950"/>
                <a:gridCol w="1326875"/>
              </a:tblGrid>
              <a:tr h="320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−1.4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4.2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p21"/>
          <p:cNvSpPr txBox="1"/>
          <p:nvPr/>
        </p:nvSpPr>
        <p:spPr>
          <a:xfrm>
            <a:off x="468000" y="1300650"/>
            <a:ext cx="82377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Solve each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 flipH="1">
            <a:off x="3796250" y="1956372"/>
            <a:ext cx="0" cy="7067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1"/>
          <p:cNvSpPr/>
          <p:nvPr/>
        </p:nvSpPr>
        <p:spPr>
          <a:xfrm>
            <a:off x="473100" y="21367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73100" y="3457481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73100" y="4778188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2" name="Google Shape;262;p21"/>
          <p:cNvGraphicFramePr>
            <a:graphicFrameLocks noGrp="1"/>
          </p:cNvGraphicFramePr>
          <p:nvPr/>
        </p:nvGraphicFramePr>
        <p:xfrm>
          <a:off x="466813" y="3497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29250"/>
                <a:gridCol w="281075"/>
                <a:gridCol w="1277500"/>
              </a:tblGrid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3" name="Google Shape;263;p21"/>
          <p:cNvGraphicFramePr>
            <a:graphicFrameLocks noGrp="1"/>
          </p:cNvGraphicFramePr>
          <p:nvPr/>
        </p:nvGraphicFramePr>
        <p:xfrm>
          <a:off x="466813" y="480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29250"/>
                <a:gridCol w="281075"/>
                <a:gridCol w="1277500"/>
              </a:tblGrid>
              <a:tr h="324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4" name="Google Shape;264;p21"/>
          <p:cNvGraphicFramePr>
            <a:graphicFrameLocks noGrp="1"/>
          </p:cNvGraphicFramePr>
          <p:nvPr/>
        </p:nvGraphicFramePr>
        <p:xfrm>
          <a:off x="466813" y="6133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29250"/>
                <a:gridCol w="281075"/>
                <a:gridCol w="1277500"/>
              </a:tblGrid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−21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5" name="Google Shape;265;p21"/>
          <p:cNvGraphicFramePr>
            <a:graphicFrameLocks noGrp="1"/>
          </p:cNvGraphicFramePr>
          <p:nvPr/>
        </p:nvGraphicFramePr>
        <p:xfrm>
          <a:off x="466813" y="74444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29250"/>
                <a:gridCol w="281075"/>
                <a:gridCol w="1277500"/>
              </a:tblGrid>
              <a:tr h="3111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6" name="Google Shape;266;p21"/>
          <p:cNvGraphicFramePr>
            <a:graphicFrameLocks noGrp="1"/>
          </p:cNvGraphicFramePr>
          <p:nvPr/>
        </p:nvGraphicFramePr>
        <p:xfrm>
          <a:off x="4124500" y="218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{B8D83577-80CF-4EAF-8F2F-7DA323BCB997}</a:tableStyleId>
              </a:tblPr>
              <a:tblGrid>
                <a:gridCol w="1229250"/>
                <a:gridCol w="281075"/>
                <a:gridCol w="1277500"/>
              </a:tblGrid>
              <a:tr h="378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21"/>
          <p:cNvSpPr/>
          <p:nvPr/>
        </p:nvSpPr>
        <p:spPr>
          <a:xfrm>
            <a:off x="473100" y="6098894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73100" y="741960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170725" y="21367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170725" y="3457481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170725" y="4778188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170725" y="6098894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3" name="Google Shape;273;p21" descr="&lt;math xmlns=&quot;http://www.w3.org/1998/Math/MathML&quot; display=&quot;block&quot; data-is-equatio=&quot;1&quot; data-latex=&quot;\frac{1}{4}x&quot;&gt;&lt;mfrac&gt;&lt;mn&gt;1&lt;/mn&gt;&lt;mn&gt;4&lt;/mn&gt;&lt;/mfrac&gt;&lt;mi&gt;x&lt;/mi&gt;&lt;/math&gt;" title="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850" y="3405220"/>
            <a:ext cx="207246" cy="339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 descr="&lt;math xmlns=&quot;http://www.w3.org/1998/Math/MathML&quot; display=&quot;block&quot; data-is-equatio=&quot;1&quot; data-latex=&quot;\frac{2}{3}x&quot;&gt;&lt;mfrac&gt;&lt;mn&gt;2&lt;/mn&gt;&lt;mn&gt;3&lt;/mn&gt;&lt;/mfrac&gt;&lt;mi&gt;x&lt;/mi&gt;&lt;/math&gt;" title="two third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7371" y="4687514"/>
            <a:ext cx="216585" cy="3632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21"/>
          <p:cNvCxnSpPr/>
          <p:nvPr/>
        </p:nvCxnSpPr>
        <p:spPr>
          <a:xfrm>
            <a:off x="474745" y="91363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2024-02-06T09:58:54.643</cp:lastPrinted>
  <dcterms:created xsi:type="dcterms:W3CDTF">2024-02-06T09:58:54Z</dcterms:created>
  <dcterms:modified xsi:type="dcterms:W3CDTF">2024-02-06T09:59:03Z</dcterms:modified>
</cp:coreProperties>
</file>