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B9FD2B2-62C3-4FF1-9D27-0E6EE40735F9}">
  <a:tblStyle styleId="{5B9FD2B2-62C3-4FF1-9D27-0E6EE40735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8" name="Shape 268"/>
        <p:cNvGrpSpPr/>
        <p:nvPr/>
      </p:nvGrpSpPr>
      <p:grpSpPr>
        <a:xfrm>
          <a:off x="0" y="0"/>
          <a:ext cx="0" cy="0"/>
        </a:xfrm>
      </p:grpSpPr>
      <p:sp>
        <p:nvSpPr>
          <p:cNvPr id="269" name="Google Shape;26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9.png" /><Relationship Id="rId4" Type="http://schemas.openxmlformats.org/officeDocument/2006/relationships/image" Target="../media/image20.png" /><Relationship Id="rId5" Type="http://schemas.openxmlformats.org/officeDocument/2006/relationships/image" Target="../media/image21.png" /><Relationship Id="rId6" Type="http://schemas.openxmlformats.org/officeDocument/2006/relationships/image" Target="../media/image22.png" /><Relationship Id="rId7" Type="http://schemas.openxmlformats.org/officeDocument/2006/relationships/image" Target="../media/image23.png" /><Relationship Id="rId8" Type="http://schemas.openxmlformats.org/officeDocument/2006/relationships/image" Target="../media/image2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720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simple linear equations with a multiplicative step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5485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Multiplicative steps using representations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02198" y="2048282"/>
            <a:ext cx="65898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up the bar models with the calculations which will find the solution.  There may be more than one calculation for each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327938" y="4097127"/>
            <a:ext cx="1728000" cy="36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759914" y="4096998"/>
            <a:ext cx="1296000" cy="368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 flipH="1">
            <a:off x="4761427" y="4087615"/>
            <a:ext cx="0" cy="41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8" name="Google Shape;178;p20"/>
          <p:cNvSpPr/>
          <p:nvPr/>
        </p:nvSpPr>
        <p:spPr>
          <a:xfrm>
            <a:off x="4327938" y="4462858"/>
            <a:ext cx="432000" cy="36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832175" y="3647475"/>
            <a:ext cx="448800" cy="314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i="1">
                <a:latin typeface="Times"/>
                <a:ea typeface="Times"/>
                <a:cs typeface="Times"/>
                <a:sym typeface="Times"/>
              </a:rPr>
              <a:t>x</a:t>
            </a:r>
            <a:endParaRPr sz="15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277274" y="3647475"/>
            <a:ext cx="448800" cy="314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i="1">
                <a:latin typeface="Times"/>
                <a:ea typeface="Times"/>
                <a:cs typeface="Times"/>
                <a:sym typeface="Times"/>
              </a:rPr>
              <a:t>x</a:t>
            </a:r>
            <a:endParaRPr sz="15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722374" y="3647475"/>
            <a:ext cx="448800" cy="314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i="1">
                <a:latin typeface="Times"/>
                <a:ea typeface="Times"/>
                <a:cs typeface="Times"/>
                <a:sym typeface="Times"/>
              </a:rPr>
              <a:t>x</a:t>
            </a:r>
            <a:endParaRPr sz="15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167473" y="3647475"/>
            <a:ext cx="448800" cy="314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i="1">
                <a:latin typeface="Times"/>
                <a:ea typeface="Times"/>
                <a:cs typeface="Times"/>
                <a:sym typeface="Times"/>
              </a:rPr>
              <a:t>x</a:t>
            </a:r>
            <a:endParaRPr sz="15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832175" y="3959829"/>
            <a:ext cx="1784100" cy="314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latin typeface="Times"/>
                <a:ea typeface="Times"/>
                <a:cs typeface="Times"/>
                <a:sym typeface="Times"/>
              </a:rPr>
              <a:t>8</a:t>
            </a:r>
            <a:endParaRPr sz="15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84" name="Google Shape;184;p20" descr="&lt;math xmlns=&quot;http://www.w3.org/1998/Math/MathML&quot; display=&quot;block&quot; data-is-equatio=&quot;1&quot; data-latex=&quot;\frac{1}{4}x\ &quot;&gt;&lt;mfrac&gt;&lt;mn&gt;1&lt;/mn&gt;&lt;mn&gt;4&lt;/mn&gt;&lt;/mfrac&gt;&lt;mi&gt;x&lt;/mi&gt;&lt;mtext&gt;&lt;/mtext&gt;&lt;/math&gt;" title="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232" y="4118237"/>
            <a:ext cx="195829" cy="321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isplay=&quot;block&quot; data-is-equatio=&quot;1&quot; data-latex=&quot;\frac{1}{2}x\ &quot;&gt;&lt;mfrac&gt;&lt;mn&gt;1&lt;/mn&gt;&lt;mn&gt;2&lt;/mn&gt;&lt;/mfrac&gt;&lt;mi&gt;x&lt;/mi&gt;&lt;mtext&gt;&lt;/mtext&gt;&lt;/math&gt;" title="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712" y="4557293"/>
            <a:ext cx="206216" cy="32254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>
            <a:off x="832320" y="4534383"/>
            <a:ext cx="1728000" cy="36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649936" y="4534254"/>
            <a:ext cx="910200" cy="368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 flipH="1">
            <a:off x="1654730" y="4524870"/>
            <a:ext cx="0" cy="41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9" name="Google Shape;189;p20"/>
          <p:cNvSpPr/>
          <p:nvPr/>
        </p:nvSpPr>
        <p:spPr>
          <a:xfrm>
            <a:off x="832320" y="4900114"/>
            <a:ext cx="822300" cy="36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832325" y="2721400"/>
            <a:ext cx="895800" cy="312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i="1">
                <a:latin typeface="Times"/>
                <a:ea typeface="Times"/>
                <a:cs typeface="Times"/>
                <a:sym typeface="Times"/>
              </a:rPr>
              <a:t>x</a:t>
            </a:r>
            <a:endParaRPr sz="15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720610" y="2721400"/>
            <a:ext cx="895800" cy="312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i="1">
                <a:latin typeface="Times"/>
                <a:ea typeface="Times"/>
                <a:cs typeface="Times"/>
                <a:sym typeface="Times"/>
              </a:rPr>
              <a:t>x</a:t>
            </a:r>
            <a:endParaRPr sz="15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832325" y="3031290"/>
            <a:ext cx="1784100" cy="312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latin typeface="Times"/>
                <a:ea typeface="Times"/>
                <a:cs typeface="Times"/>
                <a:sym typeface="Times"/>
              </a:rPr>
              <a:t>4</a:t>
            </a:r>
            <a:endParaRPr sz="15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93" name="Google Shape;193;p20" descr="&lt;math xmlns=&quot;http://www.w3.org/1998/Math/MathML&quot; display=&quot;block&quot; data-is-equatio=&quot;1&quot; data-latex=&quot;8\ \times\frac{1}{4}&quot;&gt;&lt;mn&gt;8&lt;/mn&gt;&lt;mtext&gt;&lt;/mtext&gt;&lt;mo&gt;×&lt;/mo&gt;&lt;mfrac&gt;&lt;mn&gt;1&lt;/mn&gt;&lt;mn&gt;4&lt;/mn&gt;&lt;/mfrac&gt;&lt;/math&gt;" title="8 times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7872" y="3622547"/>
            <a:ext cx="432000" cy="350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4\ \times\frac{1}{2}&quot;&gt;&lt;mn&gt;4&lt;/mn&gt;&lt;mtext&gt;&lt;/mtext&gt;&lt;mo&gt;×&lt;/mo&gt;&lt;mfrac&gt;&lt;mn&gt;1&lt;/mn&gt;&lt;mn&gt;2&lt;/mn&gt;&lt;/mfrac&gt;&lt;/math&gt;" title="4 times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6084" y="2727551"/>
            <a:ext cx="432000" cy="34484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4327938" y="2746139"/>
            <a:ext cx="1728000" cy="36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759914" y="2746011"/>
            <a:ext cx="1296000" cy="368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7" name="Google Shape;197;p20"/>
          <p:cNvCxnSpPr/>
          <p:nvPr/>
        </p:nvCxnSpPr>
        <p:spPr>
          <a:xfrm flipH="1">
            <a:off x="4761427" y="2736627"/>
            <a:ext cx="0" cy="41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8" name="Google Shape;198;p20"/>
          <p:cNvSpPr/>
          <p:nvPr/>
        </p:nvSpPr>
        <p:spPr>
          <a:xfrm>
            <a:off x="4327938" y="3111870"/>
            <a:ext cx="432000" cy="36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99" name="Google Shape;199;p20" descr="&lt;math xmlns=&quot;http://www.w3.org/1998/Math/MathML&quot; display=&quot;block&quot; data-is-equatio=&quot;1&quot; data-latex=&quot;\frac{1}{4}x\ &quot;&gt;&lt;mfrac&gt;&lt;mn&gt;1&lt;/mn&gt;&lt;mn&gt;4&lt;/mn&gt;&lt;/mfrac&gt;&lt;mi&gt;x&lt;/mi&gt;&lt;mtext&gt;&lt;/mtext&gt;&lt;/math&gt;" title="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232" y="2767250"/>
            <a:ext cx="195829" cy="32136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2816084" y="4025323"/>
            <a:ext cx="6027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4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816075" y="3201565"/>
            <a:ext cx="6027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800809" y="4547641"/>
            <a:ext cx="6027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 × 2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274785" y="3177095"/>
            <a:ext cx="6027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 × 4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274768" y="4489911"/>
            <a:ext cx="6027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4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0" descr="&lt;math xmlns=&quot;http://www.w3.org/1998/Math/MathML&quot; display=&quot;block&quot; data-is-equatio=&quot;1&quot; data-latex=&quot;4\ \div\frac{1}{2}&quot;&gt;&lt;mn&gt;4&lt;/mn&gt;&lt;mtext&gt;&lt;/mtext&gt;&lt;mo&gt;÷&lt;/mo&gt;&lt;mfrac&gt;&lt;mn&gt;1&lt;/mn&gt;&lt;mn&gt;2&lt;/mn&gt;&lt;/mfrac&gt;&lt;/math&gt;" title="4 division sign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00809" y="4805251"/>
            <a:ext cx="432000" cy="353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&lt;math xmlns=&quot;http://www.w3.org/1998/Math/MathML&quot; display=&quot;block&quot; data-is-equatio=&quot;1&quot; data-latex=&quot;4\ \div\frac{1}{4}&quot;&gt;&lt;mn&gt;4&lt;/mn&gt;&lt;mtext&gt;&lt;/mtext&gt;&lt;mo&gt;÷&lt;/mo&gt;&lt;mfrac&gt;&lt;mn&gt;1&lt;/mn&gt;&lt;mn&gt;4&lt;/mn&gt;&lt;/mfrac&gt;&lt;/math&gt;" title="4 division sign 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74785" y="2734994"/>
            <a:ext cx="414000" cy="342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&lt;math xmlns=&quot;http://www.w3.org/1998/Math/MathML&quot; display=&quot;block&quot; data-is-equatio=&quot;1&quot; data-latex=&quot;8\ \div\frac{1}{4}&quot;&gt;&lt;mn&gt;8&lt;/mn&gt;&lt;mtext&gt;&lt;/mtext&gt;&lt;mo&gt;÷&lt;/mo&gt;&lt;mfrac&gt;&lt;mn&gt;1&lt;/mn&gt;&lt;mn&gt;4&lt;/mn&gt;&lt;/mfrac&gt;&lt;/math&gt;" title="8 division sign one four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75935" y="4067433"/>
            <a:ext cx="414000" cy="34625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468000" y="3622055"/>
            <a:ext cx="3687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68000" y="4507306"/>
            <a:ext cx="3687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68000" y="2746011"/>
            <a:ext cx="3687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878932" y="2746011"/>
            <a:ext cx="3687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878932" y="4109606"/>
            <a:ext cx="3687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18437" y="5772184"/>
            <a:ext cx="64191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these bar models to find the value of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85125" y="7474425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485125" y="8585327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485125" y="6386521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3632160" y="7502859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632160" y="8616271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632160" y="6397811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840010" y="6371520"/>
            <a:ext cx="3591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840010" y="6658534"/>
            <a:ext cx="17841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1196278" y="6371520"/>
            <a:ext cx="3591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1552546" y="6371520"/>
            <a:ext cx="3591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1908814" y="6371520"/>
            <a:ext cx="3591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2265082" y="6371520"/>
            <a:ext cx="3591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840010" y="7784660"/>
            <a:ext cx="578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840010" y="7489191"/>
            <a:ext cx="17436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1422500" y="7784660"/>
            <a:ext cx="578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004990" y="7784660"/>
            <a:ext cx="578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025013" y="7777581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025013" y="7482112"/>
            <a:ext cx="1904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500038" y="7777581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975062" y="7777581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5450086" y="7777581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025013" y="6374862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025013" y="6673175"/>
            <a:ext cx="14298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500038" y="6374862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4975062" y="6374862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840010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840010" y="8569061"/>
            <a:ext cx="19044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1033568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1219491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1415722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1611953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1795203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1991434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2187665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2370915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2554166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4025013" y="8572740"/>
            <a:ext cx="2053500" cy="358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4431297" y="8575145"/>
            <a:ext cx="1642800" cy="3591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2" name="Google Shape;252;p20"/>
          <p:cNvCxnSpPr/>
          <p:nvPr/>
        </p:nvCxnSpPr>
        <p:spPr>
          <a:xfrm flipH="1">
            <a:off x="4437414" y="8586431"/>
            <a:ext cx="0" cy="399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3" name="Google Shape;253;p20"/>
          <p:cNvSpPr/>
          <p:nvPr/>
        </p:nvSpPr>
        <p:spPr>
          <a:xfrm>
            <a:off x="4025013" y="8929008"/>
            <a:ext cx="410700" cy="358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54" name="Google Shape;254;p20" descr="&lt;math xmlns=&quot;http://www.w3.org/1998/Math/MathML&quot; display=&quot;block&quot; data-is-equatio=&quot;1&quot; data-latex=&quot;\frac{1}{5}x&quot;&gt;&lt;mfrac&gt;&lt;mn&gt;1&lt;/mn&gt;&lt;mn&gt;5&lt;/mn&gt;&lt;/mfrac&gt;&lt;mi&gt;x&lt;/mi&gt;&lt;/math&gt;" title="one fifth x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60794" y="8586443"/>
            <a:ext cx="190524" cy="313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&lt;math xmlns=&quot;http://www.w3.org/1998/Math/MathML&quot; display=&quot;block&quot; data-is-equatio=&quot;1&quot; data-latex=&quot;15\ \times\frac{1}{5}&quot;&gt;&lt;mn&gt;15&lt;/mn&gt;&lt;mtext&gt;&lt;/mtext&gt;&lt;mo&gt;×&lt;/mo&gt;&lt;mfrac&gt;&lt;mn&gt;1&lt;/mn&gt;&lt;mn&gt;5&lt;/mn&gt;&lt;/mfrac&gt;&lt;/math&gt;" title="15 times one fift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34184" y="6356279"/>
            <a:ext cx="471600" cy="32777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 txBox="1"/>
          <p:nvPr/>
        </p:nvSpPr>
        <p:spPr>
          <a:xfrm>
            <a:off x="2734184" y="7475866"/>
            <a:ext cx="5871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15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3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2862681" y="8557771"/>
            <a:ext cx="7665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30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6158537" y="7474413"/>
            <a:ext cx="7665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18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9" name="Google Shape;259;p20" descr="&lt;math xmlns=&quot;http://www.w3.org/1998/Math/MathML&quot; display=&quot;block&quot; data-is-equatio=&quot;1&quot; data-latex=&quot;5\times\frac{1}{3}&quot;&gt;&lt;mn&gt;5&lt;/mn&gt;&lt;mo&gt;×&lt;/mo&gt;&lt;mfrac&gt;&lt;mn&gt;1&lt;/mn&gt;&lt;mn&gt;3&lt;/mn&gt;&lt;/mfrac&gt;&lt;/math&gt;" title="5 times one thir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640128" y="6356268"/>
            <a:ext cx="399599" cy="360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 descr="&lt;math xmlns=&quot;http://www.w3.org/1998/Math/MathML&quot; display=&quot;block&quot; data-is-equatio=&quot;1&quot; data-latex=&quot;x=\frac{5}{3}&quot;&gt;&lt;mi&gt;x&lt;/mi&gt;&lt;mo&gt;=&lt;/mo&gt;&lt;mfrac&gt;&lt;mn&gt;5&lt;/mn&gt;&lt;mn&gt;3&lt;/mn&gt;&lt;/mfrac&gt;&lt;/math&gt;" title="x equals five third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623928" y="6793292"/>
            <a:ext cx="432000" cy="360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 descr="&lt;math xmlns=&quot;http://www.w3.org/1998/Math/MathML&quot; display=&quot;block&quot; data-is-equatio=&quot;1&quot; data-latex=&quot;x=\frac{9}{2}&quot;&gt;&lt;mi&gt;x&lt;/mi&gt;&lt;mo&gt;=&lt;/mo&gt;&lt;mfrac&gt;&lt;mn&gt;9&lt;/mn&gt;&lt;mn&gt;2&lt;/mn&gt;&lt;/mfrac&gt;&lt;/math&gt;" title="x equals nine halve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58537" y="7836292"/>
            <a:ext cx="406800" cy="33403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6153973" y="8541519"/>
            <a:ext cx="7665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6153973" y="8916645"/>
            <a:ext cx="7665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50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2734184" y="6719226"/>
            <a:ext cx="7665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3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2734184" y="7830715"/>
            <a:ext cx="7665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5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2862681" y="8914039"/>
            <a:ext cx="7665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7" name="Google Shape;267;p20"/>
          <p:cNvCxnSpPr/>
          <p:nvPr/>
        </p:nvCxnSpPr>
        <p:spPr>
          <a:xfrm>
            <a:off x="474745" y="98957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graphicFrame>
        <p:nvGraphicFramePr>
          <p:cNvPr id="272" name="Google Shape;272;p21"/>
          <p:cNvGraphicFramePr>
            <a:graphicFrameLocks noGrp="1"/>
          </p:cNvGraphicFramePr>
          <p:nvPr/>
        </p:nvGraphicFramePr>
        <p:xfrm>
          <a:off x="4178388" y="48756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{5B9FD2B2-62C3-4FF1-9D27-0E6EE40735F9}</a:tableStyleId>
              </a:tblPr>
              <a:tblGrid>
                <a:gridCol w="1229250"/>
                <a:gridCol w="281075"/>
                <a:gridCol w="1277500"/>
              </a:tblGrid>
              <a:tr h="477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37B7D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  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endParaRPr>
                        <a:solidFill>
                          <a:srgbClr val="037B7D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73" name="Google Shape;273;p21"/>
          <p:cNvGraphicFramePr>
            <a:graphicFrameLocks noGrp="1"/>
          </p:cNvGraphicFramePr>
          <p:nvPr/>
        </p:nvGraphicFramePr>
        <p:xfrm>
          <a:off x="4178388" y="3606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{5B9FD2B2-62C3-4FF1-9D27-0E6EE40735F9}</a:tableStyleId>
              </a:tblPr>
              <a:tblGrid>
                <a:gridCol w="1229250"/>
                <a:gridCol w="281075"/>
                <a:gridCol w="1277500"/>
              </a:tblGrid>
              <a:tr h="3976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4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 (4)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13 × (4)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74" name="Google Shape;274;p21"/>
          <p:cNvGraphicFramePr>
            <a:graphicFrameLocks noGrp="1"/>
          </p:cNvGraphicFramePr>
          <p:nvPr/>
        </p:nvGraphicFramePr>
        <p:xfrm>
          <a:off x="511188" y="220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{5B9FD2B2-62C3-4FF1-9D27-0E6EE40735F9}</a:tableStyleId>
              </a:tblPr>
              <a:tblGrid>
                <a:gridCol w="1229250"/>
                <a:gridCol w="281075"/>
                <a:gridCol w="1277500"/>
              </a:tblGrid>
              <a:tr h="3111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1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(2)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18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(2)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3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5" name="Google Shape;27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76" name="Google Shape;276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simple linear equations with a multiplicative step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Writing solutions algebraically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0" name="Google Shape;280;p21"/>
          <p:cNvGraphicFramePr>
            <a:graphicFrameLocks noGrp="1"/>
          </p:cNvGraphicFramePr>
          <p:nvPr/>
        </p:nvGraphicFramePr>
        <p:xfrm>
          <a:off x="4139988" y="6174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{5B9FD2B2-62C3-4FF1-9D27-0E6EE40735F9}</a:tableStyleId>
              </a:tblPr>
              <a:tblGrid>
                <a:gridCol w="1276775"/>
                <a:gridCol w="291950"/>
                <a:gridCol w="1326875"/>
              </a:tblGrid>
              <a:tr h="3203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−1.4</a:t>
                      </a:r>
                      <a:r>
                        <a:rPr lang="en-GB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4.2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−1.4</a:t>
                      </a:r>
                      <a:r>
                        <a:rPr lang="en-GB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(1.4)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4.2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(1.4)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1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 ÷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(14)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6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p21"/>
          <p:cNvSpPr txBox="1"/>
          <p:nvPr/>
        </p:nvSpPr>
        <p:spPr>
          <a:xfrm>
            <a:off x="468000" y="1300650"/>
            <a:ext cx="82377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Solve each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2" name="Google Shape;282;p21"/>
          <p:cNvCxnSpPr/>
          <p:nvPr/>
        </p:nvCxnSpPr>
        <p:spPr>
          <a:xfrm flipH="1">
            <a:off x="3796250" y="1956372"/>
            <a:ext cx="0" cy="7067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3" name="Google Shape;283;p21"/>
          <p:cNvSpPr/>
          <p:nvPr/>
        </p:nvSpPr>
        <p:spPr>
          <a:xfrm>
            <a:off x="473100" y="21367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473100" y="3457481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473100" y="4778188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6" name="Google Shape;286;p21"/>
          <p:cNvGraphicFramePr>
            <a:graphicFrameLocks noGrp="1"/>
          </p:cNvGraphicFramePr>
          <p:nvPr/>
        </p:nvGraphicFramePr>
        <p:xfrm>
          <a:off x="511188" y="3455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{5B9FD2B2-62C3-4FF1-9D27-0E6EE40735F9}</a:tableStyleId>
              </a:tblPr>
              <a:tblGrid>
                <a:gridCol w="1229250"/>
                <a:gridCol w="281075"/>
                <a:gridCol w="1277500"/>
              </a:tblGrid>
              <a:tr h="3111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r>
                        <a:rPr lang="en-GB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1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r>
                        <a:rPr lang="en-GB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(6)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30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(6)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3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87" name="Google Shape;287;p21"/>
          <p:cNvGraphicFramePr>
            <a:graphicFrameLocks noGrp="1"/>
          </p:cNvGraphicFramePr>
          <p:nvPr/>
        </p:nvGraphicFramePr>
        <p:xfrm>
          <a:off x="511188" y="4780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{5B9FD2B2-62C3-4FF1-9D27-0E6EE40735F9}</a:tableStyleId>
              </a:tblPr>
              <a:tblGrid>
                <a:gridCol w="1229250"/>
                <a:gridCol w="281075"/>
                <a:gridCol w="1277500"/>
              </a:tblGrid>
              <a:tr h="324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22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i="1">
                          <a:solidFill>
                            <a:srgbClr val="E6F2F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…</a:t>
                      </a:r>
                      <a:r>
                        <a:rPr lang="en-GB" i="1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.</a:t>
                      </a:r>
                      <a:r>
                        <a:rPr lang="en-GB">
                          <a:solidFill>
                            <a:srgbClr val="FFFFFF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>
                        <a:solidFill>
                          <a:srgbClr val="FFFFFF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9 </a:t>
                      </a:r>
                      <a:endParaRPr>
                        <a:solidFill>
                          <a:srgbClr val="845AD9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8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88" name="Google Shape;288;p21" descr="&lt;math xmlns=&quot;http://www.w3.org/1998/Math/MathML&quot; display=&quot;block&quot; data-is-equatio=&quot;1&quot; data-latex=&quot;\frac{9}{5}&quot;&gt;&lt;mfrac&gt;&lt;mn&gt;9&lt;/mn&gt;&lt;mn&gt;5&lt;/mn&gt;&lt;/mfrac&gt;&lt;/math&gt;" title="nin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416" y="5465781"/>
            <a:ext cx="108000" cy="351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9" name="Google Shape;289;p21"/>
          <p:cNvGraphicFramePr>
            <a:graphicFrameLocks noGrp="1"/>
          </p:cNvGraphicFramePr>
          <p:nvPr/>
        </p:nvGraphicFramePr>
        <p:xfrm>
          <a:off x="549288" y="6176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{5B9FD2B2-62C3-4FF1-9D27-0E6EE40735F9}</a:tableStyleId>
              </a:tblPr>
              <a:tblGrid>
                <a:gridCol w="1229250"/>
                <a:gridCol w="281075"/>
                <a:gridCol w="1277500"/>
              </a:tblGrid>
              <a:tr h="3111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</a:t>
                      </a:r>
                      <a:r>
                        <a:rPr lang="en-GB" i="1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2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−21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1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</a:t>
                      </a:r>
                      <a:r>
                        <a:rPr lang="en-GB" i="1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(21)</a:t>
                      </a:r>
                      <a:endParaRPr>
                        <a:solidFill>
                          <a:schemeClr val="dk2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2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−21 </a:t>
                      </a:r>
                      <a:r>
                        <a:rPr lang="en-GB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(21)</a:t>
                      </a:r>
                      <a:endParaRPr>
                        <a:solidFill>
                          <a:schemeClr val="dk2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3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2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0" name="Google Shape;290;p21"/>
          <p:cNvGraphicFramePr>
            <a:graphicFrameLocks noGrp="1"/>
          </p:cNvGraphicFramePr>
          <p:nvPr/>
        </p:nvGraphicFramePr>
        <p:xfrm>
          <a:off x="511188" y="74742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{5B9FD2B2-62C3-4FF1-9D27-0E6EE40735F9}</a:tableStyleId>
              </a:tblPr>
              <a:tblGrid>
                <a:gridCol w="1229250"/>
                <a:gridCol w="281075"/>
                <a:gridCol w="1277500"/>
              </a:tblGrid>
              <a:tr h="3111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</a:t>
                      </a:r>
                      <a:r>
                        <a:rPr lang="en-GB" i="1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2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−12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1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</a:t>
                      </a:r>
                      <a:r>
                        <a:rPr lang="en-GB" i="1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(−2)</a:t>
                      </a:r>
                      <a:endParaRPr>
                        <a:solidFill>
                          <a:schemeClr val="dk2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2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−12 </a:t>
                      </a:r>
                      <a:r>
                        <a:rPr lang="en-GB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(−2)</a:t>
                      </a:r>
                      <a:endParaRPr>
                        <a:solidFill>
                          <a:schemeClr val="dk2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3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2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1" name="Google Shape;291;p21"/>
          <p:cNvGraphicFramePr>
            <a:graphicFrameLocks noGrp="1"/>
          </p:cNvGraphicFramePr>
          <p:nvPr/>
        </p:nvGraphicFramePr>
        <p:xfrm>
          <a:off x="4246863" y="22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{5B9FD2B2-62C3-4FF1-9D27-0E6EE40735F9}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−8</a:t>
                      </a:r>
                      <a:r>
                        <a:rPr lang="en-GB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5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−8</a:t>
                      </a:r>
                      <a:r>
                        <a:rPr lang="en-GB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(−8)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18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÷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(−8)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39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92" name="Google Shape;292;p21" descr="&lt;math xmlns=&quot;http://www.w3.org/1998/Math/MathML&quot; display=&quot;block&quot; data-is-equatio=&quot;1&quot; data-latex=&quot;-\frac{9}{4}&quot;&gt;&lt;mo&gt;−&lt;/mo&gt;&lt;mfrac&gt;&lt;mn&gt;9&lt;/mn&gt;&lt;mn&gt;4&lt;/mn&gt;&lt;/mfrac&gt;&lt;/math&gt;" title="negative nin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7188" y="2913425"/>
            <a:ext cx="234000" cy="35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/>
          <p:nvPr/>
        </p:nvSpPr>
        <p:spPr>
          <a:xfrm>
            <a:off x="473100" y="6098894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473100" y="74196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4170725" y="21367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4170725" y="3457481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4170725" y="4778188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4170725" y="6098894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1" descr="&lt;math xmlns=&quot;http://www.w3.org/1998/Math/MathML&quot; display=&quot;block&quot; data-is-equatio=&quot;1&quot; data-latex=&quot;\frac{1}{4}x&quot;&gt;&lt;mfrac&gt;&lt;mn&gt;1&lt;/mn&gt;&lt;mn&gt;4&lt;/mn&gt;&lt;/mfrac&gt;&lt;mi&gt;x&lt;/mi&gt;&lt;/math&gt;" title="one fourth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9524" y="3527838"/>
            <a:ext cx="207246" cy="339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1" descr="&lt;math xmlns=&quot;http://www.w3.org/1998/Math/MathML&quot; display=&quot;block&quot; data-is-equatio=&quot;1&quot; data-latex=&quot;\frac{2}{3}x&quot;&gt;&lt;mfrac&gt;&lt;mn&gt;2&lt;/mn&gt;&lt;mn&gt;3&lt;/mn&gt;&lt;/mfrac&gt;&lt;mi&gt;x&lt;/mi&gt;&lt;/math&gt;" title="two thirds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2045" y="4825023"/>
            <a:ext cx="216585" cy="363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1" descr="&lt;math xmlns=&quot;http://www.w3.org/1998/Math/MathML&quot; display=&quot;block&quot; data-is-equatio=&quot;1&quot; data-latex=&quot;\frac{1}{4}x&quot;&gt;&lt;mfrac&gt;&lt;mn&gt;1&lt;/mn&gt;&lt;mn&gt;4&lt;/mn&gt;&lt;/mfrac&gt;&lt;mi&gt;x&lt;/mi&gt;&lt;/math&gt;" title="one fourth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0620" y="3919913"/>
            <a:ext cx="225369" cy="367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1" descr="&lt;math xmlns=&quot;http://www.w3.org/1998/Math/MathML&quot; display=&quot;block&quot; data-is-equatio=&quot;1&quot; data-latex=&quot;\frac{2}{3}x&quot;&gt;&lt;mfrac&gt;&lt;mn&gt;2&lt;/mn&gt;&lt;mn&gt;3&lt;/mn&gt;&lt;/mfrac&gt;&lt;mi&gt;x&lt;/mi&gt;&lt;/math&gt;" title="two thirds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0705" y="5282083"/>
            <a:ext cx="216585" cy="363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 descr="&lt;math xmlns=&quot;http://www.w3.org/1998/Math/MathML&quot; display=&quot;block&quot; data-is-equatio=&quot;1&quot; data-latex=&quot;\times\ \frac{1}{5}&quot;&gt;&lt;mo&gt;×&lt;/mo&gt;&lt;mtext&gt;&lt;/mtext&gt;&lt;mfrac&gt;&lt;mn&gt;1&lt;/mn&gt;&lt;mn&gt;5&lt;/mn&gt;&lt;/mfrac&gt;&lt;/math&gt;" title="times one fif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19338" y="5041604"/>
            <a:ext cx="259200" cy="342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 descr="&lt;math xmlns=&quot;http://www.w3.org/1998/Math/MathML&quot; display=&quot;block&quot; data-is-equatio=&quot;1&quot; data-latex=&quot;\times\ \frac{1}{5}&quot;&gt;&lt;mo&gt;×&lt;/mo&gt;&lt;mtext&gt;&lt;/mtext&gt;&lt;mfrac&gt;&lt;mn&gt;1&lt;/mn&gt;&lt;mn&gt;5&lt;/mn&gt;&lt;/mfrac&gt;&lt;/math&gt;" title="times one fif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05138" y="5041604"/>
            <a:ext cx="259200" cy="342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1" descr="&lt;math xmlns=&quot;http://www.w3.org/1998/Math/MathML&quot; display=&quot;block&quot; data-is-equatio=&quot;1&quot; data-latex=&quot;\left(\frac{3}{2}\right)&quot;&gt;&lt;mrow data-mjx-texclass=&quot;INNER&quot;&gt;&lt;mo data-mjx-texclass=&quot;OPEN&quot;&gt;(&lt;/mo&gt;&lt;mfrac&gt;&lt;mn&gt;3&lt;/mn&gt;&lt;mn&gt;2&lt;/mn&gt;&lt;/mfrac&gt;&lt;mo data-mjx-texclass=&quot;CLOSE&quot;&gt;)&lt;/mo&gt;&lt;/mrow&gt;&lt;/math&gt;" title="three halv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59575" y="5287588"/>
            <a:ext cx="306000" cy="37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1" descr="&lt;math xmlns=&quot;http://www.w3.org/1998/Math/MathML&quot; display=&quot;block&quot; data-is-equatio=&quot;1&quot; data-latex=&quot;\left(\frac{3}{2}\right)&quot;&gt;&lt;mrow data-mjx-texclass=&quot;INNER&quot;&gt;&lt;mo data-mjx-texclass=&quot;OPEN&quot;&gt;(&lt;/mo&gt;&lt;mfrac&gt;&lt;mn&gt;3&lt;/mn&gt;&lt;mn&gt;2&lt;/mn&gt;&lt;/mfrac&gt;&lt;mo data-mjx-texclass=&quot;CLOSE&quot;&gt;)&lt;/mo&gt;&lt;/mrow&gt;&lt;/math&gt;" title="three halv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36475" y="5287588"/>
            <a:ext cx="306000" cy="3712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21"/>
          <p:cNvCxnSpPr/>
          <p:nvPr/>
        </p:nvCxnSpPr>
        <p:spPr>
          <a:xfrm>
            <a:off x="474745" y="91363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Times New Roman</vt:lpstr>
      <vt:lpstr>simple-light-2</vt:lpstr>
      <vt:lpstr>Solving simple linear equations with a multiplicative step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2024-02-06T09:59:00.677</cp:lastPrinted>
  <dcterms:created xsi:type="dcterms:W3CDTF">2024-02-06T09:59:00Z</dcterms:created>
  <dcterms:modified xsi:type="dcterms:W3CDTF">2024-02-06T09:59:10Z</dcterms:modified>
</cp:coreProperties>
</file>