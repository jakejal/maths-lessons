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0">
          <p15:clr>
            <a:srgbClr val="747775"/>
          </p15:clr>
        </p15:guide>
        <p15:guide id="2" pos="283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A7EBF4-326A-44D5-849E-A7DC46B125C1}">
  <a:tblStyle styleId="{C9A7EBF4-326A-44D5-849E-A7DC46B125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0" orient="horz"/>
        <p:guide pos="283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112d211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112d211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a112d21106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a112d21106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a112d21106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a112d21106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a112d21106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a112d21106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a112d21106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a112d21106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a112d21106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a112d21106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a112d21106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a112d21106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a112d21106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a112d21106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a112d21106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a112d21106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a112d21106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a112d21106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a112d21106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a112d21106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a112d21106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a112d21106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a112d21106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a112d21106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a112d21106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a112d21106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a112d21106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a112d21106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a112d21106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a112d21106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a112d21106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a112d21106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a13ae7004e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a13ae7004e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a13ae7004e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a13ae7004e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a112d21106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a112d21106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a112d21106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a112d21106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a13ae7004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a13ae7004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a13ae7004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a13ae7004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a112d21106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a112d21106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a112d21106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a112d21106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a112d21106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a112d21106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a112d21106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a112d21106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a112d21106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a112d21106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2a112d21106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2a112d21106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a13ae7004e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a13ae7004e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a371e5bb6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a371e5bb6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a371e5bb6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2a371e5bb6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a371e5bb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2a371e5bb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a112d21106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a112d21106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a13ae7004e_1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a13ae7004e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2a13ae7004e_1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2a13ae7004e_1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a112d21106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a112d21106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2a112d21106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2a112d21106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2a13ae7004e_1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2a13ae7004e_1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Relationship Id="rId4" Type="http://schemas.openxmlformats.org/officeDocument/2006/relationships/image" Target="../media/image150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50.png"/><Relationship Id="rId4" Type="http://schemas.openxmlformats.org/officeDocument/2006/relationships/image" Target="../media/image25.png"/><Relationship Id="rId9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50.png"/><Relationship Id="rId4" Type="http://schemas.openxmlformats.org/officeDocument/2006/relationships/image" Target="../media/image31.png"/><Relationship Id="rId11" Type="http://schemas.openxmlformats.org/officeDocument/2006/relationships/image" Target="../media/image16.png"/><Relationship Id="rId10" Type="http://schemas.openxmlformats.org/officeDocument/2006/relationships/image" Target="../media/image42.png"/><Relationship Id="rId9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Relationship Id="rId6" Type="http://schemas.openxmlformats.org/officeDocument/2006/relationships/image" Target="../media/image63.png"/><Relationship Id="rId7" Type="http://schemas.openxmlformats.org/officeDocument/2006/relationships/image" Target="../media/image60.png"/><Relationship Id="rId8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Relationship Id="rId4" Type="http://schemas.openxmlformats.org/officeDocument/2006/relationships/image" Target="../media/image66.png"/><Relationship Id="rId5" Type="http://schemas.openxmlformats.org/officeDocument/2006/relationships/image" Target="../media/image62.png"/><Relationship Id="rId6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7.png"/><Relationship Id="rId4" Type="http://schemas.openxmlformats.org/officeDocument/2006/relationships/image" Target="../media/image66.png"/><Relationship Id="rId5" Type="http://schemas.openxmlformats.org/officeDocument/2006/relationships/image" Target="../media/image62.png"/><Relationship Id="rId6" Type="http://schemas.openxmlformats.org/officeDocument/2006/relationships/image" Target="../media/image65.png"/><Relationship Id="rId7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5.png"/><Relationship Id="rId4" Type="http://schemas.openxmlformats.org/officeDocument/2006/relationships/image" Target="../media/image69.png"/><Relationship Id="rId5" Type="http://schemas.openxmlformats.org/officeDocument/2006/relationships/image" Target="../media/image6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9" Type="http://schemas.openxmlformats.org/officeDocument/2006/relationships/image" Target="../media/image44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59.png"/><Relationship Id="rId8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9" Type="http://schemas.openxmlformats.org/officeDocument/2006/relationships/image" Target="../media/image86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9" Type="http://schemas.openxmlformats.org/officeDocument/2006/relationships/image" Target="../media/image86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5.png"/><Relationship Id="rId4" Type="http://schemas.openxmlformats.org/officeDocument/2006/relationships/image" Target="../media/image88.png"/><Relationship Id="rId5" Type="http://schemas.openxmlformats.org/officeDocument/2006/relationships/image" Target="../media/image87.png"/><Relationship Id="rId6" Type="http://schemas.openxmlformats.org/officeDocument/2006/relationships/image" Target="../media/image91.png"/><Relationship Id="rId7" Type="http://schemas.openxmlformats.org/officeDocument/2006/relationships/image" Target="../media/image8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Relationship Id="rId4" Type="http://schemas.openxmlformats.org/officeDocument/2006/relationships/image" Target="../media/image9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3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7.png"/><Relationship Id="rId4" Type="http://schemas.openxmlformats.org/officeDocument/2006/relationships/image" Target="../media/image57.png"/><Relationship Id="rId5" Type="http://schemas.openxmlformats.org/officeDocument/2006/relationships/image" Target="../media/image96.png"/><Relationship Id="rId6" Type="http://schemas.openxmlformats.org/officeDocument/2006/relationships/image" Target="../media/image5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0.png"/><Relationship Id="rId4" Type="http://schemas.openxmlformats.org/officeDocument/2006/relationships/image" Target="../media/image99.png"/><Relationship Id="rId5" Type="http://schemas.openxmlformats.org/officeDocument/2006/relationships/image" Target="../media/image103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6.png"/><Relationship Id="rId4" Type="http://schemas.openxmlformats.org/officeDocument/2006/relationships/image" Target="../media/image59.png"/><Relationship Id="rId5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0.png"/><Relationship Id="rId4" Type="http://schemas.openxmlformats.org/officeDocument/2006/relationships/image" Target="../media/image113.png"/><Relationship Id="rId9" Type="http://schemas.openxmlformats.org/officeDocument/2006/relationships/image" Target="../media/image115.png"/><Relationship Id="rId5" Type="http://schemas.openxmlformats.org/officeDocument/2006/relationships/image" Target="../media/image109.png"/><Relationship Id="rId6" Type="http://schemas.openxmlformats.org/officeDocument/2006/relationships/image" Target="../media/image111.png"/><Relationship Id="rId7" Type="http://schemas.openxmlformats.org/officeDocument/2006/relationships/image" Target="../media/image114.png"/><Relationship Id="rId8" Type="http://schemas.openxmlformats.org/officeDocument/2006/relationships/image" Target="../media/image112.png"/><Relationship Id="rId10" Type="http://schemas.openxmlformats.org/officeDocument/2006/relationships/image" Target="../media/image1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3.png"/><Relationship Id="rId4" Type="http://schemas.openxmlformats.org/officeDocument/2006/relationships/image" Target="../media/image57.png"/><Relationship Id="rId5" Type="http://schemas.openxmlformats.org/officeDocument/2006/relationships/image" Target="../media/image117.png"/><Relationship Id="rId6" Type="http://schemas.openxmlformats.org/officeDocument/2006/relationships/image" Target="../media/image119.png"/><Relationship Id="rId7" Type="http://schemas.openxmlformats.org/officeDocument/2006/relationships/image" Target="../media/image122.png"/><Relationship Id="rId8" Type="http://schemas.openxmlformats.org/officeDocument/2006/relationships/image" Target="../media/image1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9" Type="http://schemas.openxmlformats.org/officeDocument/2006/relationships/image" Target="../media/image127.png"/><Relationship Id="rId5" Type="http://schemas.openxmlformats.org/officeDocument/2006/relationships/image" Target="../media/image125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Relationship Id="rId4" Type="http://schemas.openxmlformats.org/officeDocument/2006/relationships/image" Target="../media/image147.png"/><Relationship Id="rId9" Type="http://schemas.openxmlformats.org/officeDocument/2006/relationships/image" Target="../media/image133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59.png"/><Relationship Id="rId8" Type="http://schemas.openxmlformats.org/officeDocument/2006/relationships/image" Target="../media/image1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7.png"/><Relationship Id="rId4" Type="http://schemas.openxmlformats.org/officeDocument/2006/relationships/image" Target="../media/image135.png"/><Relationship Id="rId5" Type="http://schemas.openxmlformats.org/officeDocument/2006/relationships/image" Target="../media/image138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6.png"/><Relationship Id="rId6" Type="http://schemas.openxmlformats.org/officeDocument/2006/relationships/image" Target="../media/image1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2.png"/><Relationship Id="rId4" Type="http://schemas.openxmlformats.org/officeDocument/2006/relationships/image" Target="../media/image148.png"/><Relationship Id="rId9" Type="http://schemas.openxmlformats.org/officeDocument/2006/relationships/image" Target="../media/image97.png"/><Relationship Id="rId5" Type="http://schemas.openxmlformats.org/officeDocument/2006/relationships/image" Target="../media/image151.png"/><Relationship Id="rId6" Type="http://schemas.openxmlformats.org/officeDocument/2006/relationships/image" Target="../media/image57.png"/><Relationship Id="rId7" Type="http://schemas.openxmlformats.org/officeDocument/2006/relationships/image" Target="../media/image149.png"/><Relationship Id="rId8" Type="http://schemas.openxmlformats.org/officeDocument/2006/relationships/image" Target="../media/image158.png"/><Relationship Id="rId10" Type="http://schemas.openxmlformats.org/officeDocument/2006/relationships/image" Target="../media/image1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2.png"/><Relationship Id="rId4" Type="http://schemas.openxmlformats.org/officeDocument/2006/relationships/image" Target="../media/image14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5.png"/><Relationship Id="rId4" Type="http://schemas.openxmlformats.org/officeDocument/2006/relationships/image" Target="../media/image154.png"/><Relationship Id="rId5" Type="http://schemas.openxmlformats.org/officeDocument/2006/relationships/image" Target="../media/image1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6.png"/><Relationship Id="rId4" Type="http://schemas.openxmlformats.org/officeDocument/2006/relationships/image" Target="../media/image160.png"/><Relationship Id="rId5" Type="http://schemas.openxmlformats.org/officeDocument/2006/relationships/image" Target="../media/image157.png"/><Relationship Id="rId6" Type="http://schemas.openxmlformats.org/officeDocument/2006/relationships/image" Target="../media/image161.png"/><Relationship Id="rId7" Type="http://schemas.openxmlformats.org/officeDocument/2006/relationships/image" Target="../media/image155.png"/><Relationship Id="rId8" Type="http://schemas.openxmlformats.org/officeDocument/2006/relationships/image" Target="../media/image1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linear equations with a multiplicative step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solve a linear equation requiring a single multiplicative step.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3" type="subTitle"/>
          </p:nvPr>
        </p:nvSpPr>
        <p:spPr>
          <a:xfrm>
            <a:off x="324001" y="10386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</a:rPr>
              <a:t>The solution(s) to an equality is/are the value(s) which, when substituted, maintain(s) the equality between the expressions. </a:t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771" name="Google Shape;771;p66"/>
          <p:cNvSpPr txBox="1"/>
          <p:nvPr>
            <p:ph idx="3" type="subTitle"/>
          </p:nvPr>
        </p:nvSpPr>
        <p:spPr>
          <a:xfrm>
            <a:off x="324001" y="226667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</a:rPr>
              <a:t>The process of finding a solution to an equation is called solving.</a:t>
            </a:r>
            <a:endParaRPr sz="2000">
              <a:solidFill>
                <a:srgbClr val="222222"/>
              </a:solidFill>
            </a:endParaRPr>
          </a:p>
        </p:txBody>
      </p:sp>
      <p:sp>
        <p:nvSpPr>
          <p:cNvPr id="772" name="Google Shape;772;p66"/>
          <p:cNvSpPr txBox="1"/>
          <p:nvPr>
            <p:ph idx="3" type="subTitle"/>
          </p:nvPr>
        </p:nvSpPr>
        <p:spPr>
          <a:xfrm>
            <a:off x="356625" y="3405600"/>
            <a:ext cx="84960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The reciprocal is the multiplicative inverse of any non-zero number. Any non-zero number multiplied by its reciprocal is equal to 1</a:t>
            </a:r>
            <a:endParaRPr sz="200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</a:t>
            </a:r>
            <a:r>
              <a:rPr lang="en-GB"/>
              <a:t> steps using representations</a:t>
            </a:r>
            <a:endParaRPr/>
          </a:p>
        </p:txBody>
      </p:sp>
      <p:sp>
        <p:nvSpPr>
          <p:cNvPr id="778" name="Google Shape;778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779" name="Google Shape;779;p67"/>
          <p:cNvSpPr txBox="1"/>
          <p:nvPr>
            <p:ph idx="3" type="title"/>
          </p:nvPr>
        </p:nvSpPr>
        <p:spPr>
          <a:xfrm>
            <a:off x="324000" y="657600"/>
            <a:ext cx="6852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linear equations with a multiplicative step</a:t>
            </a:r>
            <a:endParaRPr/>
          </a:p>
        </p:txBody>
      </p:sp>
      <p:pic>
        <p:nvPicPr>
          <p:cNvPr id="780" name="Google Shape;7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96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324000" y="759300"/>
            <a:ext cx="8496000" cy="48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equation with a multiplicative step can be represented with a bar model. </a:t>
            </a:r>
            <a:endParaRPr sz="1800"/>
          </a:p>
        </p:txBody>
      </p:sp>
      <p:grpSp>
        <p:nvGrpSpPr>
          <p:cNvPr id="787" name="Google Shape;787;p68"/>
          <p:cNvGrpSpPr/>
          <p:nvPr/>
        </p:nvGrpSpPr>
        <p:grpSpPr>
          <a:xfrm>
            <a:off x="324000" y="1313290"/>
            <a:ext cx="1814400" cy="613473"/>
            <a:chOff x="324000" y="1313325"/>
            <a:chExt cx="1814400" cy="613350"/>
          </a:xfrm>
        </p:grpSpPr>
        <p:sp>
          <p:nvSpPr>
            <p:cNvPr id="788" name="Google Shape;788;p68"/>
            <p:cNvSpPr/>
            <p:nvPr/>
          </p:nvSpPr>
          <p:spPr>
            <a:xfrm>
              <a:off x="3240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89" name="Google Shape;789;p68"/>
            <p:cNvSpPr/>
            <p:nvPr/>
          </p:nvSpPr>
          <p:spPr>
            <a:xfrm>
              <a:off x="324000" y="1620075"/>
              <a:ext cx="1814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0" name="Google Shape;790;p68"/>
            <p:cNvSpPr/>
            <p:nvPr/>
          </p:nvSpPr>
          <p:spPr>
            <a:xfrm>
              <a:off x="12312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791" name="Google Shape;791;p68"/>
          <p:cNvSpPr txBox="1"/>
          <p:nvPr>
            <p:ph idx="1" type="body"/>
          </p:nvPr>
        </p:nvSpPr>
        <p:spPr>
          <a:xfrm>
            <a:off x="324000" y="2217750"/>
            <a:ext cx="8496000" cy="48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equations can you write from this bar model?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792" name="Google Shape;792;p68"/>
          <p:cNvSpPr txBox="1"/>
          <p:nvPr>
            <p:ph idx="1" type="body"/>
          </p:nvPr>
        </p:nvSpPr>
        <p:spPr>
          <a:xfrm>
            <a:off x="324000" y="2676796"/>
            <a:ext cx="15486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14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793" name="Google Shape;793;p68"/>
          <p:cNvSpPr txBox="1"/>
          <p:nvPr>
            <p:ph idx="1" type="body"/>
          </p:nvPr>
        </p:nvSpPr>
        <p:spPr>
          <a:xfrm>
            <a:off x="2229000" y="2676796"/>
            <a:ext cx="15486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14 −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14 −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794" name="Google Shape;794;p68"/>
          <p:cNvSpPr txBox="1"/>
          <p:nvPr>
            <p:ph idx="1" type="body"/>
          </p:nvPr>
        </p:nvSpPr>
        <p:spPr>
          <a:xfrm>
            <a:off x="324000" y="3682427"/>
            <a:ext cx="84960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 any of these equations show us the solution?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795" name="Google Shape;795;p68"/>
          <p:cNvSpPr txBox="1"/>
          <p:nvPr>
            <p:ph idx="1" type="body"/>
          </p:nvPr>
        </p:nvSpPr>
        <p:spPr>
          <a:xfrm>
            <a:off x="324000" y="4130658"/>
            <a:ext cx="84960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14</a:t>
            </a:r>
            <a:r>
              <a:rPr lang="en-GB" sz="1800"/>
              <a:t>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might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give us the most information, but none of these show us how to calculate the solution yet.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324000" y="812017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find the solution we need to work out the </a:t>
            </a:r>
            <a:r>
              <a:rPr lang="en-GB" sz="1800"/>
              <a:t>value</a:t>
            </a:r>
            <a:r>
              <a:rPr lang="en-GB" sz="1800"/>
              <a:t> of one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802" name="Google Shape;802;p69"/>
          <p:cNvGrpSpPr/>
          <p:nvPr/>
        </p:nvGrpSpPr>
        <p:grpSpPr>
          <a:xfrm>
            <a:off x="324000" y="1313290"/>
            <a:ext cx="1814400" cy="613473"/>
            <a:chOff x="324000" y="1313325"/>
            <a:chExt cx="1814400" cy="613350"/>
          </a:xfrm>
        </p:grpSpPr>
        <p:sp>
          <p:nvSpPr>
            <p:cNvPr id="803" name="Google Shape;803;p69"/>
            <p:cNvSpPr/>
            <p:nvPr/>
          </p:nvSpPr>
          <p:spPr>
            <a:xfrm>
              <a:off x="3240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04" name="Google Shape;804;p69"/>
            <p:cNvSpPr/>
            <p:nvPr/>
          </p:nvSpPr>
          <p:spPr>
            <a:xfrm>
              <a:off x="324000" y="1620075"/>
              <a:ext cx="1814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12312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06" name="Google Shape;806;p69"/>
          <p:cNvSpPr txBox="1"/>
          <p:nvPr>
            <p:ph idx="1" type="body"/>
          </p:nvPr>
        </p:nvSpPr>
        <p:spPr>
          <a:xfrm>
            <a:off x="324000" y="2130900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isolate one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from this bar model? </a:t>
            </a:r>
            <a:endParaRPr sz="1800"/>
          </a:p>
        </p:txBody>
      </p:sp>
      <p:sp>
        <p:nvSpPr>
          <p:cNvPr id="807" name="Google Shape;807;p69"/>
          <p:cNvSpPr txBox="1"/>
          <p:nvPr>
            <p:ph idx="1" type="body"/>
          </p:nvPr>
        </p:nvSpPr>
        <p:spPr>
          <a:xfrm>
            <a:off x="324000" y="2626575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could split the bar in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08" name="Google Shape;808;p69"/>
          <p:cNvGrpSpPr/>
          <p:nvPr/>
        </p:nvGrpSpPr>
        <p:grpSpPr>
          <a:xfrm>
            <a:off x="324000" y="3082253"/>
            <a:ext cx="1924983" cy="613422"/>
            <a:chOff x="324000" y="3082253"/>
            <a:chExt cx="1924983" cy="613422"/>
          </a:xfrm>
        </p:grpSpPr>
        <p:sp>
          <p:nvSpPr>
            <p:cNvPr id="809" name="Google Shape;809;p69"/>
            <p:cNvSpPr/>
            <p:nvPr/>
          </p:nvSpPr>
          <p:spPr>
            <a:xfrm>
              <a:off x="324000" y="3082253"/>
              <a:ext cx="907200" cy="306661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0" name="Google Shape;810;p69"/>
            <p:cNvSpPr/>
            <p:nvPr/>
          </p:nvSpPr>
          <p:spPr>
            <a:xfrm>
              <a:off x="324000" y="338907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1" name="Google Shape;811;p69"/>
            <p:cNvSpPr/>
            <p:nvPr/>
          </p:nvSpPr>
          <p:spPr>
            <a:xfrm>
              <a:off x="1341783" y="3082253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2" name="Google Shape;812;p69"/>
            <p:cNvSpPr/>
            <p:nvPr/>
          </p:nvSpPr>
          <p:spPr>
            <a:xfrm>
              <a:off x="1341783" y="338907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324000" y="3959700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value of each half of the bottom bar</a:t>
            </a:r>
            <a:r>
              <a:rPr lang="en-GB" sz="1800"/>
              <a:t>? </a:t>
            </a:r>
            <a:endParaRPr sz="1800"/>
          </a:p>
        </p:txBody>
      </p:sp>
      <p:sp>
        <p:nvSpPr>
          <p:cNvPr id="814" name="Google Shape;814;p69"/>
          <p:cNvSpPr/>
          <p:nvPr/>
        </p:nvSpPr>
        <p:spPr>
          <a:xfrm>
            <a:off x="324000" y="3389075"/>
            <a:ext cx="907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5" name="Google Shape;815;p69"/>
          <p:cNvSpPr/>
          <p:nvPr/>
        </p:nvSpPr>
        <p:spPr>
          <a:xfrm>
            <a:off x="1328539" y="3389075"/>
            <a:ext cx="907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324000" y="4416900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there is a solution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is 7 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22" name="Google Shape;822;p70" title="one half"/>
          <p:cNvSpPr txBox="1"/>
          <p:nvPr>
            <p:ph idx="1" type="body"/>
          </p:nvPr>
        </p:nvSpPr>
        <p:spPr>
          <a:xfrm>
            <a:off x="324000" y="812017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operation have we used to isolate one</a:t>
            </a:r>
            <a:r>
              <a:rPr lang="en-GB" sz="1800"/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?</a:t>
            </a:r>
            <a:endParaRPr sz="1800"/>
          </a:p>
        </p:txBody>
      </p:sp>
      <p:grpSp>
        <p:nvGrpSpPr>
          <p:cNvPr id="823" name="Google Shape;823;p70"/>
          <p:cNvGrpSpPr/>
          <p:nvPr/>
        </p:nvGrpSpPr>
        <p:grpSpPr>
          <a:xfrm>
            <a:off x="324000" y="1313290"/>
            <a:ext cx="1814400" cy="613473"/>
            <a:chOff x="324000" y="1313325"/>
            <a:chExt cx="1814400" cy="613350"/>
          </a:xfrm>
        </p:grpSpPr>
        <p:sp>
          <p:nvSpPr>
            <p:cNvPr id="824" name="Google Shape;824;p70"/>
            <p:cNvSpPr/>
            <p:nvPr/>
          </p:nvSpPr>
          <p:spPr>
            <a:xfrm>
              <a:off x="3240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5" name="Google Shape;825;p70"/>
            <p:cNvSpPr/>
            <p:nvPr/>
          </p:nvSpPr>
          <p:spPr>
            <a:xfrm>
              <a:off x="324000" y="1620075"/>
              <a:ext cx="1814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6" name="Google Shape;826;p70"/>
            <p:cNvSpPr/>
            <p:nvPr/>
          </p:nvSpPr>
          <p:spPr>
            <a:xfrm>
              <a:off x="12312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324000" y="2160000"/>
            <a:ext cx="3996000" cy="8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Divided by 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Halved. Or multiplied by a half.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8" name="Google Shape;828;p70"/>
          <p:cNvSpPr/>
          <p:nvPr/>
        </p:nvSpPr>
        <p:spPr>
          <a:xfrm>
            <a:off x="2887200" y="1313328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2887200" y="1620150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0" name="Google Shape;830;p70"/>
          <p:cNvSpPr/>
          <p:nvPr/>
        </p:nvSpPr>
        <p:spPr>
          <a:xfrm>
            <a:off x="3794400" y="1313328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1" name="Google Shape;831;p70"/>
          <p:cNvSpPr/>
          <p:nvPr/>
        </p:nvSpPr>
        <p:spPr>
          <a:xfrm>
            <a:off x="3794400" y="1620150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2" name="Google Shape;832;p70"/>
          <p:cNvSpPr txBox="1"/>
          <p:nvPr>
            <p:ph idx="1" type="body"/>
          </p:nvPr>
        </p:nvSpPr>
        <p:spPr>
          <a:xfrm>
            <a:off x="324000" y="3087600"/>
            <a:ext cx="82377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Dividing by 2 and </a:t>
            </a:r>
            <a:r>
              <a:rPr lang="en-GB" sz="1800"/>
              <a:t>multiplying</a:t>
            </a:r>
            <a:r>
              <a:rPr lang="en-GB" sz="1800"/>
              <a:t> by     are the same operation.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833" name="Google Shape;83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6753" y="2963188"/>
            <a:ext cx="154800" cy="49536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0"/>
          <p:cNvSpPr txBox="1"/>
          <p:nvPr>
            <p:ph idx="1" type="body"/>
          </p:nvPr>
        </p:nvSpPr>
        <p:spPr>
          <a:xfrm>
            <a:off x="324000" y="3544800"/>
            <a:ext cx="8237700" cy="14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this bar model, either one will isolate one positive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solution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is 7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40" name="Google Shape;840;p71" title="one half"/>
          <p:cNvSpPr txBox="1"/>
          <p:nvPr>
            <p:ph idx="1" type="body"/>
          </p:nvPr>
        </p:nvSpPr>
        <p:spPr>
          <a:xfrm>
            <a:off x="324000" y="812017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check our answer by substituting into any of our equations.</a:t>
            </a:r>
            <a:endParaRPr sz="1800"/>
          </a:p>
        </p:txBody>
      </p:sp>
      <p:grpSp>
        <p:nvGrpSpPr>
          <p:cNvPr id="841" name="Google Shape;841;p71"/>
          <p:cNvGrpSpPr/>
          <p:nvPr/>
        </p:nvGrpSpPr>
        <p:grpSpPr>
          <a:xfrm>
            <a:off x="324000" y="1313290"/>
            <a:ext cx="1814400" cy="613473"/>
            <a:chOff x="324000" y="1313325"/>
            <a:chExt cx="1814400" cy="613350"/>
          </a:xfrm>
        </p:grpSpPr>
        <p:sp>
          <p:nvSpPr>
            <p:cNvPr id="842" name="Google Shape;842;p71"/>
            <p:cNvSpPr/>
            <p:nvPr/>
          </p:nvSpPr>
          <p:spPr>
            <a:xfrm>
              <a:off x="3240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3" name="Google Shape;843;p71"/>
            <p:cNvSpPr/>
            <p:nvPr/>
          </p:nvSpPr>
          <p:spPr>
            <a:xfrm>
              <a:off x="324000" y="1620075"/>
              <a:ext cx="1814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4" name="Google Shape;844;p71"/>
            <p:cNvSpPr/>
            <p:nvPr/>
          </p:nvSpPr>
          <p:spPr>
            <a:xfrm>
              <a:off x="1231200" y="1313325"/>
              <a:ext cx="907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45" name="Google Shape;845;p71"/>
          <p:cNvSpPr/>
          <p:nvPr/>
        </p:nvSpPr>
        <p:spPr>
          <a:xfrm>
            <a:off x="2887200" y="1313328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6" name="Google Shape;846;p71"/>
          <p:cNvSpPr/>
          <p:nvPr/>
        </p:nvSpPr>
        <p:spPr>
          <a:xfrm>
            <a:off x="2887200" y="1620150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7" name="Google Shape;847;p71"/>
          <p:cNvSpPr/>
          <p:nvPr/>
        </p:nvSpPr>
        <p:spPr>
          <a:xfrm>
            <a:off x="3794400" y="1313328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8" name="Google Shape;848;p71"/>
          <p:cNvSpPr/>
          <p:nvPr/>
        </p:nvSpPr>
        <p:spPr>
          <a:xfrm>
            <a:off x="3794400" y="1620150"/>
            <a:ext cx="9072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9" name="Google Shape;849;p71"/>
          <p:cNvSpPr txBox="1"/>
          <p:nvPr>
            <p:ph idx="1" type="body"/>
          </p:nvPr>
        </p:nvSpPr>
        <p:spPr>
          <a:xfrm>
            <a:off x="5595000" y="1290183"/>
            <a:ext cx="15486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14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7500000" y="1290183"/>
            <a:ext cx="15486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14 −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14 −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851" name="Google Shape;851;p71"/>
          <p:cNvGraphicFramePr/>
          <p:nvPr/>
        </p:nvGraphicFramePr>
        <p:xfrm>
          <a:off x="324000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057025"/>
                <a:gridCol w="272000"/>
                <a:gridCol w="1098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 + (7)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2" name="Google Shape;852;p71"/>
          <p:cNvSpPr/>
          <p:nvPr/>
        </p:nvSpPr>
        <p:spPr>
          <a:xfrm>
            <a:off x="5531075" y="1290175"/>
            <a:ext cx="12117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3" name="Google Shape;853;p71"/>
          <p:cNvGraphicFramePr/>
          <p:nvPr/>
        </p:nvGraphicFramePr>
        <p:xfrm>
          <a:off x="310061" y="33308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057025"/>
                <a:gridCol w="272000"/>
                <a:gridCol w="1098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4" name="Google Shape;854;p71"/>
          <p:cNvGraphicFramePr/>
          <p:nvPr/>
        </p:nvGraphicFramePr>
        <p:xfrm>
          <a:off x="3358061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057025"/>
                <a:gridCol w="272000"/>
                <a:gridCol w="1098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(7)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5" name="Google Shape;855;p71"/>
          <p:cNvSpPr/>
          <p:nvPr/>
        </p:nvSpPr>
        <p:spPr>
          <a:xfrm>
            <a:off x="5531075" y="1747375"/>
            <a:ext cx="12117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/>
          <p:nvPr/>
        </p:nvSpPr>
        <p:spPr>
          <a:xfrm>
            <a:off x="7408197" y="1747375"/>
            <a:ext cx="12117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/>
          <p:nvPr/>
        </p:nvSpPr>
        <p:spPr>
          <a:xfrm>
            <a:off x="7408197" y="1290175"/>
            <a:ext cx="12117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8" name="Google Shape;858;p71"/>
          <p:cNvGraphicFramePr/>
          <p:nvPr/>
        </p:nvGraphicFramePr>
        <p:xfrm>
          <a:off x="3358061" y="33308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057025"/>
                <a:gridCol w="272000"/>
                <a:gridCol w="1098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(7)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(7)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59" name="Google Shape;859;p71" title="one half"/>
          <p:cNvSpPr txBox="1"/>
          <p:nvPr>
            <p:ph idx="1" type="body"/>
          </p:nvPr>
        </p:nvSpPr>
        <p:spPr>
          <a:xfrm>
            <a:off x="324000" y="4317217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7</a:t>
            </a:r>
            <a:r>
              <a:rPr lang="en-GB" sz="1800"/>
              <a:t> is the correct solution for all these equations.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65" name="Google Shape;865;p72" title="one half"/>
          <p:cNvSpPr txBox="1"/>
          <p:nvPr>
            <p:ph idx="1" type="body"/>
          </p:nvPr>
        </p:nvSpPr>
        <p:spPr>
          <a:xfrm>
            <a:off x="324000" y="888248"/>
            <a:ext cx="8237700" cy="4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bar model represents the equation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30 </a:t>
            </a:r>
            <a:r>
              <a:rPr lang="en-GB" sz="1800"/>
              <a:t>or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30 = 5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s 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66" name="Google Shape;866;p72"/>
          <p:cNvGrpSpPr/>
          <p:nvPr/>
        </p:nvGrpSpPr>
        <p:grpSpPr>
          <a:xfrm>
            <a:off x="393600" y="1550225"/>
            <a:ext cx="2886673" cy="613200"/>
            <a:chOff x="393600" y="1321625"/>
            <a:chExt cx="2886673" cy="613200"/>
          </a:xfrm>
        </p:grpSpPr>
        <p:sp>
          <p:nvSpPr>
            <p:cNvPr id="867" name="Google Shape;867;p72"/>
            <p:cNvSpPr/>
            <p:nvPr/>
          </p:nvSpPr>
          <p:spPr>
            <a:xfrm>
              <a:off x="393600" y="1321625"/>
              <a:ext cx="2886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68" name="Google Shape;868;p72"/>
            <p:cNvSpPr/>
            <p:nvPr/>
          </p:nvSpPr>
          <p:spPr>
            <a:xfrm>
              <a:off x="393600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69" name="Google Shape;869;p72"/>
            <p:cNvSpPr/>
            <p:nvPr/>
          </p:nvSpPr>
          <p:spPr>
            <a:xfrm>
              <a:off x="975322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0" name="Google Shape;870;p72"/>
            <p:cNvSpPr/>
            <p:nvPr/>
          </p:nvSpPr>
          <p:spPr>
            <a:xfrm>
              <a:off x="1550539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1" name="Google Shape;871;p72"/>
            <p:cNvSpPr/>
            <p:nvPr/>
          </p:nvSpPr>
          <p:spPr>
            <a:xfrm>
              <a:off x="2125756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2" name="Google Shape;872;p72"/>
            <p:cNvSpPr/>
            <p:nvPr/>
          </p:nvSpPr>
          <p:spPr>
            <a:xfrm>
              <a:off x="2700973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73" name="Google Shape;873;p72" title="one half"/>
          <p:cNvSpPr txBox="1"/>
          <p:nvPr>
            <p:ph idx="1" type="body"/>
          </p:nvPr>
        </p:nvSpPr>
        <p:spPr>
          <a:xfrm>
            <a:off x="324000" y="3853524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is a multiplicative relationship as 5 lots of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1800"/>
              <a:t> have the value of 30 or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30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74" name="Google Shape;874;p72" title="one half"/>
          <p:cNvSpPr txBox="1"/>
          <p:nvPr>
            <p:ph idx="1" type="body"/>
          </p:nvPr>
        </p:nvSpPr>
        <p:spPr>
          <a:xfrm>
            <a:off x="324000" y="2615398"/>
            <a:ext cx="8237700" cy="8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 does not matter which bar the unknown is part of or which side of the equation the unknown is on.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80" name="Google Shape;880;p73" title="one half"/>
          <p:cNvSpPr txBox="1"/>
          <p:nvPr>
            <p:ph idx="1" type="body"/>
          </p:nvPr>
        </p:nvSpPr>
        <p:spPr>
          <a:xfrm>
            <a:off x="324000" y="1639800"/>
            <a:ext cx="84960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find the value of one positive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s </a:t>
            </a:r>
            <a:r>
              <a:rPr lang="en-GB" sz="1800"/>
              <a:t>we can split the bar into 5 sections. What do we need to do to the value 30? </a:t>
            </a:r>
            <a:endParaRPr sz="1800"/>
          </a:p>
        </p:txBody>
      </p:sp>
      <p:grpSp>
        <p:nvGrpSpPr>
          <p:cNvPr id="881" name="Google Shape;881;p73"/>
          <p:cNvGrpSpPr/>
          <p:nvPr/>
        </p:nvGrpSpPr>
        <p:grpSpPr>
          <a:xfrm>
            <a:off x="393600" y="864425"/>
            <a:ext cx="2886673" cy="613200"/>
            <a:chOff x="393600" y="1321625"/>
            <a:chExt cx="2886673" cy="613200"/>
          </a:xfrm>
        </p:grpSpPr>
        <p:sp>
          <p:nvSpPr>
            <p:cNvPr id="882" name="Google Shape;882;p73"/>
            <p:cNvSpPr/>
            <p:nvPr/>
          </p:nvSpPr>
          <p:spPr>
            <a:xfrm>
              <a:off x="393600" y="1321625"/>
              <a:ext cx="2886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3" name="Google Shape;883;p73"/>
            <p:cNvSpPr/>
            <p:nvPr/>
          </p:nvSpPr>
          <p:spPr>
            <a:xfrm>
              <a:off x="393600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4" name="Google Shape;884;p73"/>
            <p:cNvSpPr/>
            <p:nvPr/>
          </p:nvSpPr>
          <p:spPr>
            <a:xfrm>
              <a:off x="975322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5" name="Google Shape;885;p73"/>
            <p:cNvSpPr/>
            <p:nvPr/>
          </p:nvSpPr>
          <p:spPr>
            <a:xfrm>
              <a:off x="1550539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6" name="Google Shape;886;p73"/>
            <p:cNvSpPr/>
            <p:nvPr/>
          </p:nvSpPr>
          <p:spPr>
            <a:xfrm>
              <a:off x="2125756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87" name="Google Shape;887;p73"/>
            <p:cNvSpPr/>
            <p:nvPr/>
          </p:nvSpPr>
          <p:spPr>
            <a:xfrm>
              <a:off x="2700973" y="16282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88" name="Google Shape;888;p73"/>
          <p:cNvGrpSpPr/>
          <p:nvPr/>
        </p:nvGrpSpPr>
        <p:grpSpPr>
          <a:xfrm>
            <a:off x="4279800" y="1171025"/>
            <a:ext cx="2886673" cy="306600"/>
            <a:chOff x="4279800" y="1171025"/>
            <a:chExt cx="2886673" cy="306600"/>
          </a:xfrm>
        </p:grpSpPr>
        <p:sp>
          <p:nvSpPr>
            <p:cNvPr id="889" name="Google Shape;889;p73"/>
            <p:cNvSpPr/>
            <p:nvPr/>
          </p:nvSpPr>
          <p:spPr>
            <a:xfrm>
              <a:off x="4279800" y="11710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0" name="Google Shape;890;p73"/>
            <p:cNvSpPr/>
            <p:nvPr/>
          </p:nvSpPr>
          <p:spPr>
            <a:xfrm>
              <a:off x="4861522" y="11710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1" name="Google Shape;891;p73"/>
            <p:cNvSpPr/>
            <p:nvPr/>
          </p:nvSpPr>
          <p:spPr>
            <a:xfrm>
              <a:off x="5436739" y="11710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2" name="Google Shape;892;p73"/>
            <p:cNvSpPr/>
            <p:nvPr/>
          </p:nvSpPr>
          <p:spPr>
            <a:xfrm>
              <a:off x="6011956" y="11710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3" name="Google Shape;893;p73"/>
            <p:cNvSpPr/>
            <p:nvPr/>
          </p:nvSpPr>
          <p:spPr>
            <a:xfrm>
              <a:off x="6587173" y="11710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s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94" name="Google Shape;894;p73"/>
          <p:cNvSpPr txBox="1"/>
          <p:nvPr>
            <p:ph idx="1" type="body"/>
          </p:nvPr>
        </p:nvSpPr>
        <p:spPr>
          <a:xfrm>
            <a:off x="324000" y="2617200"/>
            <a:ext cx="2384700" cy="10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Divide 30 by 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Find a fifth of 30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895" name="Google Shape;895;p73" title="one half"/>
          <p:cNvSpPr txBox="1"/>
          <p:nvPr>
            <p:ph idx="1" type="body"/>
          </p:nvPr>
        </p:nvSpPr>
        <p:spPr>
          <a:xfrm>
            <a:off x="324000" y="3745800"/>
            <a:ext cx="84960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÷ 5 and         are the same operation, either will find the value of </a:t>
            </a:r>
            <a:r>
              <a:rPr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1900">
                <a:solidFill>
                  <a:srgbClr val="222222"/>
                </a:solidFill>
              </a:rPr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896" name="Google Shape;896;p73" title="times 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36" y="3675267"/>
            <a:ext cx="327600" cy="502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7" name="Google Shape;897;p73"/>
          <p:cNvGrpSpPr/>
          <p:nvPr/>
        </p:nvGrpSpPr>
        <p:grpSpPr>
          <a:xfrm>
            <a:off x="4279800" y="864425"/>
            <a:ext cx="2886673" cy="306600"/>
            <a:chOff x="4279800" y="864425"/>
            <a:chExt cx="2886673" cy="306600"/>
          </a:xfrm>
        </p:grpSpPr>
        <p:sp>
          <p:nvSpPr>
            <p:cNvPr id="898" name="Google Shape;898;p73"/>
            <p:cNvSpPr/>
            <p:nvPr/>
          </p:nvSpPr>
          <p:spPr>
            <a:xfrm>
              <a:off x="4279800" y="8644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9" name="Google Shape;899;p73"/>
            <p:cNvSpPr/>
            <p:nvPr/>
          </p:nvSpPr>
          <p:spPr>
            <a:xfrm>
              <a:off x="4861522" y="8644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0" name="Google Shape;900;p73"/>
            <p:cNvSpPr/>
            <p:nvPr/>
          </p:nvSpPr>
          <p:spPr>
            <a:xfrm>
              <a:off x="5436739" y="8644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1" name="Google Shape;901;p73"/>
            <p:cNvSpPr/>
            <p:nvPr/>
          </p:nvSpPr>
          <p:spPr>
            <a:xfrm>
              <a:off x="6011956" y="8644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2" name="Google Shape;902;p73"/>
            <p:cNvSpPr/>
            <p:nvPr/>
          </p:nvSpPr>
          <p:spPr>
            <a:xfrm>
              <a:off x="6587173" y="864425"/>
              <a:ext cx="579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3" name="Google Shape;903;p73"/>
            <p:cNvSpPr/>
            <p:nvPr/>
          </p:nvSpPr>
          <p:spPr>
            <a:xfrm>
              <a:off x="4279800" y="864425"/>
              <a:ext cx="5793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4" name="Google Shape;904;p73"/>
            <p:cNvSpPr/>
            <p:nvPr/>
          </p:nvSpPr>
          <p:spPr>
            <a:xfrm>
              <a:off x="4861522" y="864425"/>
              <a:ext cx="5793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5" name="Google Shape;905;p73"/>
            <p:cNvSpPr/>
            <p:nvPr/>
          </p:nvSpPr>
          <p:spPr>
            <a:xfrm>
              <a:off x="5436739" y="864425"/>
              <a:ext cx="5793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6" name="Google Shape;906;p73"/>
            <p:cNvSpPr/>
            <p:nvPr/>
          </p:nvSpPr>
          <p:spPr>
            <a:xfrm>
              <a:off x="6011956" y="864425"/>
              <a:ext cx="5793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7" name="Google Shape;907;p73"/>
            <p:cNvSpPr/>
            <p:nvPr/>
          </p:nvSpPr>
          <p:spPr>
            <a:xfrm>
              <a:off x="6587173" y="864425"/>
              <a:ext cx="5793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08" name="Google Shape;908;p73"/>
          <p:cNvSpPr txBox="1"/>
          <p:nvPr>
            <p:ph idx="1" type="body"/>
          </p:nvPr>
        </p:nvSpPr>
        <p:spPr>
          <a:xfrm>
            <a:off x="324000" y="4342456"/>
            <a:ext cx="8237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solution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1800"/>
              <a:t> is 6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914" name="Google Shape;914;p74" title="one half"/>
          <p:cNvSpPr txBox="1"/>
          <p:nvPr>
            <p:ph idx="1" type="body"/>
          </p:nvPr>
        </p:nvSpPr>
        <p:spPr>
          <a:xfrm>
            <a:off x="356000" y="810000"/>
            <a:ext cx="8463900" cy="7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Unknowns can have values which are non-integer.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could we find the value of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this time?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5" name="Google Shape;915;p74"/>
          <p:cNvSpPr txBox="1"/>
          <p:nvPr>
            <p:ph idx="1" type="body"/>
          </p:nvPr>
        </p:nvSpPr>
        <p:spPr>
          <a:xfrm>
            <a:off x="324000" y="3181350"/>
            <a:ext cx="2384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Divide by 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4"/>
          <p:cNvSpPr txBox="1"/>
          <p:nvPr>
            <p:ph idx="1" type="body"/>
          </p:nvPr>
        </p:nvSpPr>
        <p:spPr>
          <a:xfrm>
            <a:off x="324000" y="3656400"/>
            <a:ext cx="30480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/ multiply by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17" name="Google Shape;917;p74"/>
          <p:cNvGrpSpPr/>
          <p:nvPr/>
        </p:nvGrpSpPr>
        <p:grpSpPr>
          <a:xfrm>
            <a:off x="324000" y="1723207"/>
            <a:ext cx="1814400" cy="1134273"/>
            <a:chOff x="324000" y="1723207"/>
            <a:chExt cx="1814400" cy="1134273"/>
          </a:xfrm>
        </p:grpSpPr>
        <p:sp>
          <p:nvSpPr>
            <p:cNvPr id="918" name="Google Shape;918;p74"/>
            <p:cNvSpPr/>
            <p:nvPr/>
          </p:nvSpPr>
          <p:spPr>
            <a:xfrm>
              <a:off x="324000" y="1723207"/>
              <a:ext cx="907200" cy="566995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19" name="Google Shape;919;p74"/>
            <p:cNvSpPr/>
            <p:nvPr/>
          </p:nvSpPr>
          <p:spPr>
            <a:xfrm>
              <a:off x="324000" y="2290480"/>
              <a:ext cx="1814400" cy="567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0" name="Google Shape;920;p74"/>
            <p:cNvSpPr/>
            <p:nvPr/>
          </p:nvSpPr>
          <p:spPr>
            <a:xfrm>
              <a:off x="1231200" y="1723207"/>
              <a:ext cx="907200" cy="566995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pic>
        <p:nvPicPr>
          <p:cNvPr id="921" name="Google Shape;92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753" y="3572788"/>
            <a:ext cx="154800" cy="49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753" y="3572788"/>
            <a:ext cx="154800" cy="49536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4"/>
          <p:cNvSpPr txBox="1"/>
          <p:nvPr>
            <p:ph idx="1" type="body"/>
          </p:nvPr>
        </p:nvSpPr>
        <p:spPr>
          <a:xfrm>
            <a:off x="5124600" y="3146967"/>
            <a:ext cx="23847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2 =</a:t>
            </a:r>
            <a:r>
              <a:rPr lang="en-GB" sz="1900">
                <a:solidFill>
                  <a:srgbClr val="222222"/>
                </a:solidFill>
              </a:rPr>
              <a:t> 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7}{2}&quot;&gt;&lt;mfrac&gt;&lt;mn&gt;7&lt;/mn&gt;&lt;mn&gt;2&lt;/mn&gt;&lt;/mfrac&gt;&lt;/math&gt;" id="924" name="Google Shape;924;p74" title="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9980" y="3065579"/>
            <a:ext cx="154800" cy="490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 \times\frac{1}{2}=\frac{7}{2}&quot;&gt;&lt;mn&gt;7&lt;/mn&gt;&lt;mtext&gt;&lt;/mtext&gt;&lt;mo&gt;×&lt;/mo&gt;&lt;mfrac&gt;&lt;mn&gt;1&lt;/mn&gt;&lt;mn&gt;2&lt;/mn&gt;&lt;/mfrac&gt;&lt;mo&gt;=&lt;/mo&gt;&lt;mfrac&gt;&lt;mn&gt;7&lt;/mn&gt;&lt;mn&gt;2&lt;/mn&gt;&lt;/mfrac&gt;&lt;/math&gt;" id="925" name="Google Shape;925;p74" title="7 times one half equals seven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4600" y="3856526"/>
            <a:ext cx="1120861" cy="495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6" name="Google Shape;926;p74"/>
          <p:cNvGrpSpPr/>
          <p:nvPr/>
        </p:nvGrpSpPr>
        <p:grpSpPr>
          <a:xfrm>
            <a:off x="4819800" y="1723207"/>
            <a:ext cx="1814400" cy="1134268"/>
            <a:chOff x="3372000" y="1723207"/>
            <a:chExt cx="1814400" cy="1134268"/>
          </a:xfrm>
        </p:grpSpPr>
        <p:sp>
          <p:nvSpPr>
            <p:cNvPr id="927" name="Google Shape;927;p74"/>
            <p:cNvSpPr/>
            <p:nvPr/>
          </p:nvSpPr>
          <p:spPr>
            <a:xfrm>
              <a:off x="3372000" y="1723207"/>
              <a:ext cx="907200" cy="567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8" name="Google Shape;928;p74"/>
            <p:cNvSpPr/>
            <p:nvPr/>
          </p:nvSpPr>
          <p:spPr>
            <a:xfrm>
              <a:off x="3372000" y="2290475"/>
              <a:ext cx="907200" cy="567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9" name="Google Shape;929;p74"/>
            <p:cNvSpPr/>
            <p:nvPr/>
          </p:nvSpPr>
          <p:spPr>
            <a:xfrm>
              <a:off x="4279200" y="1723207"/>
              <a:ext cx="907200" cy="567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0" name="Google Shape;930;p74"/>
            <p:cNvSpPr/>
            <p:nvPr/>
          </p:nvSpPr>
          <p:spPr>
            <a:xfrm>
              <a:off x="4279200" y="2290475"/>
              <a:ext cx="907200" cy="567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7}{2}&quot;&gt;&lt;mfrac&gt;&lt;mn&gt;7&lt;/mn&gt;&lt;mn&gt;2&lt;/mn&gt;&lt;/mfrac&gt;&lt;/math&gt;" id="931" name="Google Shape;931;p74" title="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980" y="2317518"/>
            <a:ext cx="154800" cy="490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}&quot;&gt;&lt;mfrac&gt;&lt;mn&gt;7&lt;/mn&gt;&lt;mn&gt;2&lt;/mn&gt;&lt;/mfrac&gt;&lt;/math&gt;" id="932" name="Google Shape;932;p74" title="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4502" y="2317518"/>
            <a:ext cx="154800" cy="490687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933" name="Google Shape;933;p74" title="one half"/>
          <p:cNvSpPr txBox="1"/>
          <p:nvPr>
            <p:ph idx="1" type="body"/>
          </p:nvPr>
        </p:nvSpPr>
        <p:spPr>
          <a:xfrm>
            <a:off x="356000" y="4370225"/>
            <a:ext cx="8463900" cy="7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the solution is when</a:t>
            </a:r>
            <a:r>
              <a:rPr lang="en-GB" sz="1800"/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is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2}&quot;&gt;&lt;mfrac&gt;&lt;mn&gt;7&lt;/mn&gt;&lt;mn&gt;2&lt;/mn&gt;&lt;/mfrac&gt;&lt;/math&gt;" id="934" name="Google Shape;934;p74" title="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2328" y="4319162"/>
            <a:ext cx="154800" cy="490687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4"/>
          <p:cNvSpPr txBox="1"/>
          <p:nvPr>
            <p:ph idx="1" type="body"/>
          </p:nvPr>
        </p:nvSpPr>
        <p:spPr>
          <a:xfrm>
            <a:off x="6435200" y="3240000"/>
            <a:ext cx="429900" cy="23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or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pic>
        <p:nvPicPr>
          <p:cNvPr id="941" name="Google Shape;94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4677" y="1572049"/>
            <a:ext cx="683800" cy="661736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5"/>
          <p:cNvSpPr txBox="1"/>
          <p:nvPr/>
        </p:nvSpPr>
        <p:spPr>
          <a:xfrm>
            <a:off x="324001" y="2233792"/>
            <a:ext cx="1017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3" name="Google Shape;943;p7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070778" y="834425"/>
            <a:ext cx="4258452" cy="12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5"/>
          <p:cNvSpPr txBox="1"/>
          <p:nvPr/>
        </p:nvSpPr>
        <p:spPr>
          <a:xfrm>
            <a:off x="1365425" y="912800"/>
            <a:ext cx="40335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want to 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will this have the same solution as the previous question?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5" name="Google Shape;945;p75"/>
          <p:cNvGrpSpPr/>
          <p:nvPr/>
        </p:nvGrpSpPr>
        <p:grpSpPr>
          <a:xfrm>
            <a:off x="5551050" y="836225"/>
            <a:ext cx="2658103" cy="620286"/>
            <a:chOff x="5551050" y="836225"/>
            <a:chExt cx="2658103" cy="620286"/>
          </a:xfrm>
        </p:grpSpPr>
        <p:sp>
          <p:nvSpPr>
            <p:cNvPr id="946" name="Google Shape;946;p75"/>
            <p:cNvSpPr/>
            <p:nvPr/>
          </p:nvSpPr>
          <p:spPr>
            <a:xfrm>
              <a:off x="5551100" y="1149911"/>
              <a:ext cx="2658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7" name="Google Shape;947;p75"/>
            <p:cNvSpPr/>
            <p:nvPr/>
          </p:nvSpPr>
          <p:spPr>
            <a:xfrm>
              <a:off x="5551050" y="8362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8" name="Google Shape;948;p75"/>
            <p:cNvSpPr/>
            <p:nvPr/>
          </p:nvSpPr>
          <p:spPr>
            <a:xfrm>
              <a:off x="5931967" y="8362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9" name="Google Shape;949;p75"/>
            <p:cNvSpPr/>
            <p:nvPr/>
          </p:nvSpPr>
          <p:spPr>
            <a:xfrm>
              <a:off x="6312884" y="8362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0" name="Google Shape;950;p75"/>
            <p:cNvSpPr/>
            <p:nvPr/>
          </p:nvSpPr>
          <p:spPr>
            <a:xfrm>
              <a:off x="6693801" y="8362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1" name="Google Shape;951;p75"/>
            <p:cNvSpPr/>
            <p:nvPr/>
          </p:nvSpPr>
          <p:spPr>
            <a:xfrm>
              <a:off x="7074719" y="8362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2" name="Google Shape;952;p75"/>
            <p:cNvSpPr/>
            <p:nvPr/>
          </p:nvSpPr>
          <p:spPr>
            <a:xfrm>
              <a:off x="7455636" y="8362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3" name="Google Shape;953;p75"/>
            <p:cNvSpPr/>
            <p:nvPr/>
          </p:nvSpPr>
          <p:spPr>
            <a:xfrm>
              <a:off x="7836553" y="8362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954" name="Google Shape;954;p75" title="one half"/>
          <p:cNvSpPr txBox="1"/>
          <p:nvPr>
            <p:ph idx="1" type="body"/>
          </p:nvPr>
        </p:nvSpPr>
        <p:spPr>
          <a:xfrm>
            <a:off x="324000" y="2935200"/>
            <a:ext cx="84960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need to find     of 2 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955" name="Google Shape;955;p75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3542" y="2806385"/>
            <a:ext cx="165600" cy="544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\frac{1}{7}=\ \frac{2}{7}&quot;&gt;&lt;mn&gt;2&lt;/mn&gt;&lt;mo&gt;×&lt;/mo&gt;&lt;mfrac&gt;&lt;mn&gt;1&lt;/mn&gt;&lt;mn&gt;7&lt;/mn&gt;&lt;/mfrac&gt;&lt;mo&gt;=&lt;/mo&gt;&lt;mtext&gt;&lt;/mtext&gt;&lt;mfrac&gt;&lt;mn&gt;2&lt;/mn&gt;&lt;mn&gt;7&lt;/mn&gt;&lt;/mfrac&gt;&lt;/math&gt;" id="956" name="Google Shape;956;p75" title="2 times one seventh equals two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6817" y="2800581"/>
            <a:ext cx="1226215" cy="544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7" name="Google Shape;957;p75"/>
          <p:cNvGrpSpPr/>
          <p:nvPr/>
        </p:nvGrpSpPr>
        <p:grpSpPr>
          <a:xfrm>
            <a:off x="5550553" y="1674425"/>
            <a:ext cx="2659147" cy="620275"/>
            <a:chOff x="5550553" y="1674425"/>
            <a:chExt cx="2659147" cy="620275"/>
          </a:xfrm>
        </p:grpSpPr>
        <p:sp>
          <p:nvSpPr>
            <p:cNvPr id="958" name="Google Shape;958;p75"/>
            <p:cNvSpPr/>
            <p:nvPr/>
          </p:nvSpPr>
          <p:spPr>
            <a:xfrm>
              <a:off x="5551100" y="1988100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9" name="Google Shape;959;p75"/>
            <p:cNvSpPr/>
            <p:nvPr/>
          </p:nvSpPr>
          <p:spPr>
            <a:xfrm>
              <a:off x="7837050" y="16744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0" name="Google Shape;960;p75"/>
            <p:cNvSpPr/>
            <p:nvPr/>
          </p:nvSpPr>
          <p:spPr>
            <a:xfrm>
              <a:off x="5931967" y="16744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1" name="Google Shape;961;p75"/>
            <p:cNvSpPr/>
            <p:nvPr/>
          </p:nvSpPr>
          <p:spPr>
            <a:xfrm>
              <a:off x="6312884" y="16744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2" name="Google Shape;962;p75"/>
            <p:cNvSpPr/>
            <p:nvPr/>
          </p:nvSpPr>
          <p:spPr>
            <a:xfrm>
              <a:off x="6693801" y="16744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3" name="Google Shape;963;p75"/>
            <p:cNvSpPr/>
            <p:nvPr/>
          </p:nvSpPr>
          <p:spPr>
            <a:xfrm>
              <a:off x="7074719" y="16744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4" name="Google Shape;964;p75"/>
            <p:cNvSpPr/>
            <p:nvPr/>
          </p:nvSpPr>
          <p:spPr>
            <a:xfrm>
              <a:off x="7455636" y="16744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5" name="Google Shape;965;p75"/>
            <p:cNvSpPr/>
            <p:nvPr/>
          </p:nvSpPr>
          <p:spPr>
            <a:xfrm>
              <a:off x="5550553" y="1674425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6" name="Google Shape;966;p75"/>
            <p:cNvSpPr/>
            <p:nvPr/>
          </p:nvSpPr>
          <p:spPr>
            <a:xfrm>
              <a:off x="5932100" y="1988100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7" name="Google Shape;967;p75"/>
            <p:cNvSpPr/>
            <p:nvPr/>
          </p:nvSpPr>
          <p:spPr>
            <a:xfrm>
              <a:off x="6313100" y="1988100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8" name="Google Shape;968;p75"/>
            <p:cNvSpPr/>
            <p:nvPr/>
          </p:nvSpPr>
          <p:spPr>
            <a:xfrm>
              <a:off x="6694100" y="1988100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9" name="Google Shape;969;p75"/>
            <p:cNvSpPr/>
            <p:nvPr/>
          </p:nvSpPr>
          <p:spPr>
            <a:xfrm>
              <a:off x="7075100" y="1988100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70" name="Google Shape;970;p75"/>
            <p:cNvSpPr/>
            <p:nvPr/>
          </p:nvSpPr>
          <p:spPr>
            <a:xfrm>
              <a:off x="7456100" y="1988100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71" name="Google Shape;971;p75"/>
            <p:cNvSpPr/>
            <p:nvPr/>
          </p:nvSpPr>
          <p:spPr>
            <a:xfrm>
              <a:off x="7837100" y="1988100"/>
              <a:ext cx="3726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972" name="Google Shape;972;p75" title="one half"/>
          <p:cNvSpPr txBox="1"/>
          <p:nvPr>
            <p:ph idx="1" type="body"/>
          </p:nvPr>
        </p:nvSpPr>
        <p:spPr>
          <a:xfrm>
            <a:off x="324000" y="3621000"/>
            <a:ext cx="30456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the solution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973" name="Google Shape;973;p75" title="two sev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0625" y="3553686"/>
            <a:ext cx="165600" cy="544114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974" name="Google Shape;974;p75" title="one half"/>
          <p:cNvSpPr txBox="1"/>
          <p:nvPr>
            <p:ph idx="1" type="body"/>
          </p:nvPr>
        </p:nvSpPr>
        <p:spPr>
          <a:xfrm>
            <a:off x="324000" y="4306800"/>
            <a:ext cx="8496000" cy="3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different to the equation</a:t>
            </a:r>
            <a:r>
              <a:rPr lang="en-GB" sz="1800"/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7</a:t>
            </a:r>
            <a:r>
              <a:rPr lang="en-GB" sz="1800"/>
              <a:t> which had a solution of 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7}{2}&quot;&gt;&lt;mfrac&gt;&lt;mn&gt;7&lt;/mn&gt;&lt;mn&gt;2&lt;/mn&gt;&lt;/mfrac&gt;&lt;/math&gt;" id="975" name="Google Shape;975;p75" title="seven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4006" y="4222518"/>
            <a:ext cx="166182" cy="5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6"/>
          <p:cNvSpPr txBox="1"/>
          <p:nvPr>
            <p:ph idx="1" type="subTitle"/>
          </p:nvPr>
        </p:nvSpPr>
        <p:spPr>
          <a:xfrm>
            <a:off x="337825" y="810000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value of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for this bar model.</a:t>
            </a:r>
            <a:endParaRPr/>
          </a:p>
        </p:txBody>
      </p:sp>
      <p:sp>
        <p:nvSpPr>
          <p:cNvPr id="981" name="Google Shape;981;p7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grpSp>
        <p:nvGrpSpPr>
          <p:cNvPr id="982" name="Google Shape;982;p76"/>
          <p:cNvGrpSpPr/>
          <p:nvPr/>
        </p:nvGrpSpPr>
        <p:grpSpPr>
          <a:xfrm>
            <a:off x="355800" y="1308900"/>
            <a:ext cx="1753628" cy="615020"/>
            <a:chOff x="355800" y="1308900"/>
            <a:chExt cx="1753628" cy="615020"/>
          </a:xfrm>
        </p:grpSpPr>
        <p:sp>
          <p:nvSpPr>
            <p:cNvPr id="983" name="Google Shape;983;p76"/>
            <p:cNvSpPr/>
            <p:nvPr/>
          </p:nvSpPr>
          <p:spPr>
            <a:xfrm>
              <a:off x="355800" y="1617320"/>
              <a:ext cx="17535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84" name="Google Shape;984;p76"/>
            <p:cNvSpPr/>
            <p:nvPr/>
          </p:nvSpPr>
          <p:spPr>
            <a:xfrm>
              <a:off x="355800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85" name="Google Shape;985;p76"/>
            <p:cNvSpPr/>
            <p:nvPr/>
          </p:nvSpPr>
          <p:spPr>
            <a:xfrm>
              <a:off x="793943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86" name="Google Shape;986;p76"/>
            <p:cNvSpPr/>
            <p:nvPr/>
          </p:nvSpPr>
          <p:spPr>
            <a:xfrm>
              <a:off x="1232085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87" name="Google Shape;987;p76"/>
            <p:cNvSpPr/>
            <p:nvPr/>
          </p:nvSpPr>
          <p:spPr>
            <a:xfrm>
              <a:off x="1670228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88" name="Google Shape;988;p76"/>
          <p:cNvGrpSpPr/>
          <p:nvPr/>
        </p:nvGrpSpPr>
        <p:grpSpPr>
          <a:xfrm>
            <a:off x="2546500" y="1308900"/>
            <a:ext cx="1753517" cy="615025"/>
            <a:chOff x="2546500" y="1308900"/>
            <a:chExt cx="1753517" cy="615025"/>
          </a:xfrm>
        </p:grpSpPr>
        <p:sp>
          <p:nvSpPr>
            <p:cNvPr id="989" name="Google Shape;989;p76"/>
            <p:cNvSpPr/>
            <p:nvPr/>
          </p:nvSpPr>
          <p:spPr>
            <a:xfrm>
              <a:off x="2546500" y="1617325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0" name="Google Shape;990;p76"/>
            <p:cNvSpPr/>
            <p:nvPr/>
          </p:nvSpPr>
          <p:spPr>
            <a:xfrm>
              <a:off x="2546500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1" name="Google Shape;991;p76"/>
            <p:cNvSpPr/>
            <p:nvPr/>
          </p:nvSpPr>
          <p:spPr>
            <a:xfrm>
              <a:off x="2984605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2" name="Google Shape;992;p76"/>
            <p:cNvSpPr/>
            <p:nvPr/>
          </p:nvSpPr>
          <p:spPr>
            <a:xfrm>
              <a:off x="3422710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3" name="Google Shape;993;p76"/>
            <p:cNvSpPr/>
            <p:nvPr/>
          </p:nvSpPr>
          <p:spPr>
            <a:xfrm>
              <a:off x="3860816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4" name="Google Shape;994;p76"/>
            <p:cNvSpPr/>
            <p:nvPr/>
          </p:nvSpPr>
          <p:spPr>
            <a:xfrm>
              <a:off x="2984606" y="1617325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5" name="Google Shape;995;p76"/>
            <p:cNvSpPr/>
            <p:nvPr/>
          </p:nvSpPr>
          <p:spPr>
            <a:xfrm>
              <a:off x="3422711" y="1617325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6" name="Google Shape;996;p76"/>
            <p:cNvSpPr/>
            <p:nvPr/>
          </p:nvSpPr>
          <p:spPr>
            <a:xfrm>
              <a:off x="3860816" y="1617325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97" name="Google Shape;997;p76"/>
          <p:cNvSpPr txBox="1"/>
          <p:nvPr>
            <p:ph idx="1" type="subTitle"/>
          </p:nvPr>
        </p:nvSpPr>
        <p:spPr>
          <a:xfrm>
            <a:off x="337825" y="2220200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24 </a:t>
            </a:r>
            <a:r>
              <a:rPr lang="en-GB" sz="2100"/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     = 6 </a:t>
            </a:r>
            <a:r>
              <a:rPr lang="en-GB"/>
              <a:t>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998" name="Google Shape;998;p76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595" y="2158500"/>
            <a:ext cx="154800" cy="4965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9" name="Google Shape;999;p76"/>
          <p:cNvGrpSpPr/>
          <p:nvPr/>
        </p:nvGrpSpPr>
        <p:grpSpPr>
          <a:xfrm>
            <a:off x="2546500" y="1617325"/>
            <a:ext cx="1753516" cy="306600"/>
            <a:chOff x="2546500" y="1617325"/>
            <a:chExt cx="1753516" cy="306600"/>
          </a:xfrm>
        </p:grpSpPr>
        <p:sp>
          <p:nvSpPr>
            <p:cNvPr id="1000" name="Google Shape;1000;p76"/>
            <p:cNvSpPr/>
            <p:nvPr/>
          </p:nvSpPr>
          <p:spPr>
            <a:xfrm>
              <a:off x="2546500" y="1617325"/>
              <a:ext cx="4392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1" name="Google Shape;1001;p76"/>
            <p:cNvSpPr/>
            <p:nvPr/>
          </p:nvSpPr>
          <p:spPr>
            <a:xfrm>
              <a:off x="2984606" y="1617325"/>
              <a:ext cx="4392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2" name="Google Shape;1002;p76"/>
            <p:cNvSpPr/>
            <p:nvPr/>
          </p:nvSpPr>
          <p:spPr>
            <a:xfrm>
              <a:off x="3422711" y="1617325"/>
              <a:ext cx="4392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3" name="Google Shape;1003;p76"/>
            <p:cNvSpPr/>
            <p:nvPr/>
          </p:nvSpPr>
          <p:spPr>
            <a:xfrm>
              <a:off x="3860816" y="1617325"/>
              <a:ext cx="4392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04" name="Google Shape;1004;p76"/>
          <p:cNvSpPr txBox="1"/>
          <p:nvPr>
            <p:ph idx="1" type="subTitle"/>
          </p:nvPr>
        </p:nvSpPr>
        <p:spPr>
          <a:xfrm>
            <a:off x="337825" y="2807425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Solution when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/>
              <a:t>is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6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/>
              <a:t> </a:t>
            </a:r>
            <a:endParaRPr/>
          </a:p>
        </p:txBody>
      </p:sp>
      <p:sp>
        <p:nvSpPr>
          <p:cNvPr id="1005" name="Google Shape;1005;p76"/>
          <p:cNvSpPr txBox="1"/>
          <p:nvPr>
            <p:ph idx="1" type="subTitle"/>
          </p:nvPr>
        </p:nvSpPr>
        <p:spPr>
          <a:xfrm>
            <a:off x="337825" y="3285069"/>
            <a:ext cx="4234200" cy="16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check our answer.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(6) + (6) + (6) + (6) =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  4(6) =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           </a:t>
            </a:r>
            <a:r>
              <a:rPr lang="en-GB" sz="1400"/>
              <a:t> </a:t>
            </a:r>
            <a:r>
              <a:rPr lang="en-GB"/>
              <a:t>    24 = 24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</a:t>
            </a:r>
            <a:endParaRPr/>
          </a:p>
        </p:txBody>
      </p:sp>
      <p:sp>
        <p:nvSpPr>
          <p:cNvPr id="1006" name="Google Shape;1006;p76"/>
          <p:cNvSpPr txBox="1"/>
          <p:nvPr>
            <p:ph idx="1" type="subTitle"/>
          </p:nvPr>
        </p:nvSpPr>
        <p:spPr>
          <a:xfrm>
            <a:off x="4715608" y="810000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value of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for this bar model.</a:t>
            </a:r>
            <a:endParaRPr/>
          </a:p>
        </p:txBody>
      </p:sp>
      <p:grpSp>
        <p:nvGrpSpPr>
          <p:cNvPr id="1007" name="Google Shape;1007;p76"/>
          <p:cNvGrpSpPr/>
          <p:nvPr/>
        </p:nvGrpSpPr>
        <p:grpSpPr>
          <a:xfrm>
            <a:off x="4865533" y="1308900"/>
            <a:ext cx="1315500" cy="615025"/>
            <a:chOff x="4865533" y="1308900"/>
            <a:chExt cx="1315500" cy="615025"/>
          </a:xfrm>
        </p:grpSpPr>
        <p:sp>
          <p:nvSpPr>
            <p:cNvPr id="1008" name="Google Shape;1008;p76"/>
            <p:cNvSpPr/>
            <p:nvPr/>
          </p:nvSpPr>
          <p:spPr>
            <a:xfrm>
              <a:off x="4865533" y="1617325"/>
              <a:ext cx="13155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9" name="Google Shape;1009;p76"/>
            <p:cNvSpPr/>
            <p:nvPr/>
          </p:nvSpPr>
          <p:spPr>
            <a:xfrm>
              <a:off x="4865539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0" name="Google Shape;1010;p76"/>
            <p:cNvSpPr/>
            <p:nvPr/>
          </p:nvSpPr>
          <p:spPr>
            <a:xfrm>
              <a:off x="5303682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1" name="Google Shape;1011;p76"/>
            <p:cNvSpPr/>
            <p:nvPr/>
          </p:nvSpPr>
          <p:spPr>
            <a:xfrm>
              <a:off x="5741824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12" name="Google Shape;1012;p76"/>
          <p:cNvSpPr txBox="1"/>
          <p:nvPr>
            <p:ph idx="1" type="subTitle"/>
          </p:nvPr>
        </p:nvSpPr>
        <p:spPr>
          <a:xfrm>
            <a:off x="4847564" y="2220200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27 </a:t>
            </a:r>
            <a:r>
              <a:rPr lang="en-GB" sz="2100"/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     = 9 </a:t>
            </a:r>
            <a:r>
              <a:rPr lang="en-GB"/>
              <a:t> </a:t>
            </a:r>
            <a:endParaRPr/>
          </a:p>
        </p:txBody>
      </p:sp>
      <p:sp>
        <p:nvSpPr>
          <p:cNvPr id="1013" name="Google Shape;1013;p76"/>
          <p:cNvSpPr txBox="1"/>
          <p:nvPr>
            <p:ph idx="1" type="subTitle"/>
          </p:nvPr>
        </p:nvSpPr>
        <p:spPr>
          <a:xfrm>
            <a:off x="4847564" y="2731225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9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/>
              <a:t> </a:t>
            </a:r>
            <a:endParaRPr/>
          </a:p>
        </p:txBody>
      </p:sp>
      <p:sp>
        <p:nvSpPr>
          <p:cNvPr id="1014" name="Google Shape;1014;p76"/>
          <p:cNvSpPr txBox="1"/>
          <p:nvPr>
            <p:ph idx="1" type="subTitle"/>
          </p:nvPr>
        </p:nvSpPr>
        <p:spPr>
          <a:xfrm>
            <a:off x="4847575" y="3208870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 your answer by substitution.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</a:t>
            </a:r>
            <a:endParaRPr/>
          </a:p>
        </p:txBody>
      </p:sp>
      <p:grpSp>
        <p:nvGrpSpPr>
          <p:cNvPr id="1015" name="Google Shape;1015;p76"/>
          <p:cNvGrpSpPr/>
          <p:nvPr/>
        </p:nvGrpSpPr>
        <p:grpSpPr>
          <a:xfrm>
            <a:off x="6694332" y="1308900"/>
            <a:ext cx="1315492" cy="615025"/>
            <a:chOff x="6694332" y="1308900"/>
            <a:chExt cx="1315492" cy="615025"/>
          </a:xfrm>
        </p:grpSpPr>
        <p:sp>
          <p:nvSpPr>
            <p:cNvPr id="1016" name="Google Shape;1016;p76"/>
            <p:cNvSpPr/>
            <p:nvPr/>
          </p:nvSpPr>
          <p:spPr>
            <a:xfrm>
              <a:off x="6694332" y="1617325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7" name="Google Shape;1017;p76"/>
            <p:cNvSpPr/>
            <p:nvPr/>
          </p:nvSpPr>
          <p:spPr>
            <a:xfrm>
              <a:off x="6694339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8" name="Google Shape;1018;p76"/>
            <p:cNvSpPr/>
            <p:nvPr/>
          </p:nvSpPr>
          <p:spPr>
            <a:xfrm>
              <a:off x="7132482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9" name="Google Shape;1019;p76"/>
            <p:cNvSpPr/>
            <p:nvPr/>
          </p:nvSpPr>
          <p:spPr>
            <a:xfrm>
              <a:off x="7570624" y="1308900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0" name="Google Shape;1020;p76"/>
            <p:cNvSpPr/>
            <p:nvPr/>
          </p:nvSpPr>
          <p:spPr>
            <a:xfrm>
              <a:off x="7132482" y="1617325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1" name="Google Shape;1021;p76"/>
            <p:cNvSpPr/>
            <p:nvPr/>
          </p:nvSpPr>
          <p:spPr>
            <a:xfrm>
              <a:off x="7570624" y="1617325"/>
              <a:ext cx="43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22" name="Google Shape;1022;p76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9376" y="2161067"/>
            <a:ext cx="152006" cy="49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3" name="Google Shape;1023;p76"/>
          <p:cNvGrpSpPr/>
          <p:nvPr/>
        </p:nvGrpSpPr>
        <p:grpSpPr>
          <a:xfrm>
            <a:off x="6694325" y="1617325"/>
            <a:ext cx="1315411" cy="306600"/>
            <a:chOff x="2546500" y="1617325"/>
            <a:chExt cx="1315411" cy="306600"/>
          </a:xfrm>
        </p:grpSpPr>
        <p:sp>
          <p:nvSpPr>
            <p:cNvPr id="1024" name="Google Shape;1024;p76"/>
            <p:cNvSpPr/>
            <p:nvPr/>
          </p:nvSpPr>
          <p:spPr>
            <a:xfrm>
              <a:off x="2546500" y="1617325"/>
              <a:ext cx="4392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5" name="Google Shape;1025;p76"/>
            <p:cNvSpPr/>
            <p:nvPr/>
          </p:nvSpPr>
          <p:spPr>
            <a:xfrm>
              <a:off x="2984606" y="1617325"/>
              <a:ext cx="4392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6" name="Google Shape;1026;p76"/>
            <p:cNvSpPr/>
            <p:nvPr/>
          </p:nvSpPr>
          <p:spPr>
            <a:xfrm>
              <a:off x="3422711" y="1617325"/>
              <a:ext cx="4392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27" name="Google Shape;1027;p76"/>
          <p:cNvSpPr txBox="1"/>
          <p:nvPr>
            <p:ph idx="1" type="subTitle"/>
          </p:nvPr>
        </p:nvSpPr>
        <p:spPr>
          <a:xfrm>
            <a:off x="4847575" y="3686520"/>
            <a:ext cx="42342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(9) + (9) + (9) = 27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3(9) = 27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</a:t>
            </a:r>
            <a:r>
              <a:rPr lang="en-GB" sz="5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3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27 = 27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77"/>
          <p:cNvSpPr txBox="1"/>
          <p:nvPr>
            <p:ph idx="1" type="body"/>
          </p:nvPr>
        </p:nvSpPr>
        <p:spPr>
          <a:xfrm>
            <a:off x="324000" y="835500"/>
            <a:ext cx="84960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equation is represented in this bar model?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3" name="Google Shape;103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grpSp>
        <p:nvGrpSpPr>
          <p:cNvPr id="1034" name="Google Shape;1034;p77"/>
          <p:cNvGrpSpPr/>
          <p:nvPr/>
        </p:nvGrpSpPr>
        <p:grpSpPr>
          <a:xfrm>
            <a:off x="353875" y="1308900"/>
            <a:ext cx="1757342" cy="1223100"/>
            <a:chOff x="353875" y="1308900"/>
            <a:chExt cx="1757342" cy="1223100"/>
          </a:xfrm>
        </p:grpSpPr>
        <p:sp>
          <p:nvSpPr>
            <p:cNvPr id="1035" name="Google Shape;1035;p77"/>
            <p:cNvSpPr/>
            <p:nvPr/>
          </p:nvSpPr>
          <p:spPr>
            <a:xfrm>
              <a:off x="355800" y="1308900"/>
              <a:ext cx="1753500" cy="6135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x&quot;&gt;&lt;mfrac&gt;&lt;mn&gt;1&lt;/mn&gt;&lt;mn&gt;2&lt;/mn&gt;&lt;/mfrac&gt;&lt;mi&gt;x&lt;/mi&gt;&lt;/math&gt;" id="1036" name="Google Shape;1036;p77" title="one half 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7900" y="1342900"/>
              <a:ext cx="331200" cy="5455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7" name="Google Shape;1037;p77"/>
            <p:cNvSpPr/>
            <p:nvPr/>
          </p:nvSpPr>
          <p:spPr>
            <a:xfrm>
              <a:off x="353875" y="1918500"/>
              <a:ext cx="875400" cy="6135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5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38" name="Google Shape;1038;p77"/>
            <p:cNvCxnSpPr>
              <a:stCxn id="1035" idx="0"/>
              <a:endCxn id="1035" idx="2"/>
            </p:cNvCxnSpPr>
            <p:nvPr/>
          </p:nvCxnSpPr>
          <p:spPr>
            <a:xfrm>
              <a:off x="1232550" y="1308900"/>
              <a:ext cx="0" cy="61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39" name="Google Shape;1039;p77"/>
            <p:cNvSpPr/>
            <p:nvPr/>
          </p:nvSpPr>
          <p:spPr>
            <a:xfrm>
              <a:off x="1235817" y="1308900"/>
              <a:ext cx="875400" cy="61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x=6&quot;&gt;&lt;mfrac&gt;&lt;mn&gt;1&lt;/mn&gt;&lt;mn&gt;2&lt;/mn&gt;&lt;/mfrac&gt;&lt;mi&gt;x&lt;/mi&gt;&lt;mo&gt;=&lt;/mo&gt;&lt;mn&gt;6&lt;/mn&gt;&lt;/math&gt;" id="1040" name="Google Shape;1040;p77" title="one half x equal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3633" y="1308900"/>
            <a:ext cx="803526" cy="549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2}=6&quot;&gt;&lt;mfrac&gt;&lt;mi&gt;x&lt;/mi&gt;&lt;mn&gt;2&lt;/mn&gt;&lt;/mfrac&gt;&lt;mo&gt;=&lt;/mo&gt;&lt;mn&gt;6&lt;/mn&gt;&lt;/math&gt;" id="1041" name="Google Shape;1041;p77" title="x over 2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8685" y="2040917"/>
            <a:ext cx="684722" cy="501548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77"/>
          <p:cNvSpPr txBox="1"/>
          <p:nvPr>
            <p:ph idx="1" type="body"/>
          </p:nvPr>
        </p:nvSpPr>
        <p:spPr>
          <a:xfrm>
            <a:off x="324000" y="2816700"/>
            <a:ext cx="84960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could we do to work out the value of one positive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3" name="Google Shape;1043;p77"/>
          <p:cNvSpPr txBox="1"/>
          <p:nvPr>
            <p:ph idx="1" type="body"/>
          </p:nvPr>
        </p:nvSpPr>
        <p:spPr>
          <a:xfrm>
            <a:off x="324000" y="3303000"/>
            <a:ext cx="39960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Double/ multiply by 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4" name="Google Shape;1044;p77"/>
          <p:cNvSpPr/>
          <p:nvPr/>
        </p:nvSpPr>
        <p:spPr>
          <a:xfrm>
            <a:off x="4851600" y="1308900"/>
            <a:ext cx="1753500" cy="61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5" name="Google Shape;1045;p77"/>
          <p:cNvSpPr/>
          <p:nvPr/>
        </p:nvSpPr>
        <p:spPr>
          <a:xfrm>
            <a:off x="4849675" y="1918500"/>
            <a:ext cx="1753500" cy="61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x\times2\equiv x&quot;&gt;&lt;mfrac&gt;&lt;mn&gt;1&lt;/mn&gt;&lt;mn&gt;2&lt;/mn&gt;&lt;/mfrac&gt;&lt;mi&gt;x&lt;/mi&gt;&lt;mo&gt;×&lt;/mo&gt;&lt;mn&gt;2&lt;/mn&gt;&lt;mo&gt;≡&lt;/mo&gt;&lt;mi&gt;x&lt;/mi&gt;&lt;/math&gt;" id="1046" name="Google Shape;1046;p77" title="one half x times 2 is identical to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075" y="3733522"/>
            <a:ext cx="1237426" cy="5491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77"/>
          <p:cNvSpPr/>
          <p:nvPr/>
        </p:nvSpPr>
        <p:spPr>
          <a:xfrm>
            <a:off x="4849675" y="1313250"/>
            <a:ext cx="175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x</a:t>
            </a:r>
            <a:endParaRPr i="1" sz="2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8" name="Google Shape;1048;p77"/>
          <p:cNvSpPr txBox="1"/>
          <p:nvPr>
            <p:ph idx="1" type="body"/>
          </p:nvPr>
        </p:nvSpPr>
        <p:spPr>
          <a:xfrm>
            <a:off x="702925" y="4320000"/>
            <a:ext cx="2352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6 × 2 = 12</a:t>
            </a:r>
            <a:r>
              <a:rPr lang="en-GB" sz="1700"/>
              <a:t> 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49" name="Google Shape;1049;p77"/>
          <p:cNvSpPr/>
          <p:nvPr/>
        </p:nvSpPr>
        <p:spPr>
          <a:xfrm>
            <a:off x="4849675" y="1918500"/>
            <a:ext cx="175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"/>
                <a:ea typeface="Times"/>
                <a:cs typeface="Times"/>
                <a:sym typeface="Times"/>
              </a:rPr>
              <a:t>12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8"/>
          <p:cNvSpPr txBox="1"/>
          <p:nvPr>
            <p:ph idx="1" type="body"/>
          </p:nvPr>
        </p:nvSpPr>
        <p:spPr>
          <a:xfrm>
            <a:off x="324000" y="835500"/>
            <a:ext cx="84960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lang="en-GB" sz="1800"/>
              <a:t>solution</a:t>
            </a:r>
            <a:r>
              <a:rPr lang="en-GB" sz="1800"/>
              <a:t> to this equation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is 12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5" name="Google Shape;105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1056" name="Google Shape;1056;p78"/>
          <p:cNvSpPr/>
          <p:nvPr/>
        </p:nvSpPr>
        <p:spPr>
          <a:xfrm>
            <a:off x="355800" y="1308900"/>
            <a:ext cx="1753500" cy="61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x&quot;&gt;&lt;mfrac&gt;&lt;mn&gt;1&lt;/mn&gt;&lt;mn&gt;2&lt;/mn&gt;&lt;/mfrac&gt;&lt;mi&gt;x&lt;/mi&gt;&lt;/math&gt;" id="1057" name="Google Shape;1057;p78" title="one half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00" y="1342900"/>
            <a:ext cx="331200" cy="545506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78"/>
          <p:cNvSpPr/>
          <p:nvPr/>
        </p:nvSpPr>
        <p:spPr>
          <a:xfrm>
            <a:off x="353875" y="1918500"/>
            <a:ext cx="875400" cy="61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"/>
                <a:ea typeface="Times"/>
                <a:cs typeface="Times"/>
                <a:sym typeface="Times"/>
              </a:rPr>
              <a:t>6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59" name="Google Shape;1059;p78"/>
          <p:cNvCxnSpPr>
            <a:stCxn id="1056" idx="0"/>
            <a:endCxn id="1056" idx="2"/>
          </p:cNvCxnSpPr>
          <p:nvPr/>
        </p:nvCxnSpPr>
        <p:spPr>
          <a:xfrm>
            <a:off x="1232550" y="1308900"/>
            <a:ext cx="0" cy="61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60" name="Google Shape;1060;p78"/>
          <p:cNvSpPr/>
          <p:nvPr/>
        </p:nvSpPr>
        <p:spPr>
          <a:xfrm>
            <a:off x="1235817" y="1308900"/>
            <a:ext cx="875400" cy="61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1" name="Google Shape;1061;p78"/>
          <p:cNvSpPr txBox="1"/>
          <p:nvPr>
            <p:ph idx="1" type="body"/>
          </p:nvPr>
        </p:nvSpPr>
        <p:spPr>
          <a:xfrm>
            <a:off x="324000" y="2892900"/>
            <a:ext cx="8496000" cy="3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check our answers by substituting.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2" name="Google Shape;1062;p78"/>
          <p:cNvSpPr/>
          <p:nvPr/>
        </p:nvSpPr>
        <p:spPr>
          <a:xfrm>
            <a:off x="4851600" y="1308900"/>
            <a:ext cx="1753500" cy="61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3" name="Google Shape;1063;p78"/>
          <p:cNvSpPr/>
          <p:nvPr/>
        </p:nvSpPr>
        <p:spPr>
          <a:xfrm>
            <a:off x="4849675" y="1918500"/>
            <a:ext cx="1753500" cy="61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4" name="Google Shape;1064;p78"/>
          <p:cNvSpPr/>
          <p:nvPr/>
        </p:nvSpPr>
        <p:spPr>
          <a:xfrm>
            <a:off x="4849675" y="1313250"/>
            <a:ext cx="175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x</a:t>
            </a:r>
            <a:endParaRPr i="1" sz="2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5" name="Google Shape;1065;p78"/>
          <p:cNvSpPr/>
          <p:nvPr/>
        </p:nvSpPr>
        <p:spPr>
          <a:xfrm>
            <a:off x="4849675" y="1918500"/>
            <a:ext cx="175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"/>
                <a:ea typeface="Times"/>
                <a:cs typeface="Times"/>
                <a:sym typeface="Times"/>
              </a:rPr>
              <a:t>12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x=6&quot;&gt;&lt;mfrac&gt;&lt;mn&gt;1&lt;/mn&gt;&lt;mn&gt;2&lt;/mn&gt;&lt;/mfrac&gt;&lt;mi&gt;x&lt;/mi&gt;&lt;mo&gt;=&lt;/mo&gt;&lt;mn&gt;6&lt;/mn&gt;&lt;/math&gt;" id="1066" name="Google Shape;1066;p78" title="one half x equal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200" y="1308900"/>
            <a:ext cx="807840" cy="55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2}=6&quot;&gt;&lt;mfrac&gt;&lt;mi&gt;x&lt;/mi&gt;&lt;mn&gt;2&lt;/mn&gt;&lt;/mfrac&gt;&lt;mo&gt;=&lt;/mo&gt;&lt;mn&gt;6&lt;/mn&gt;&lt;/math&gt;" id="1067" name="Google Shape;1067;p78" title="x over 2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6584" y="2126764"/>
            <a:ext cx="681314" cy="5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left(12\right)=6&quot;&gt;&lt;mfrac&gt;&lt;mn&gt;1&lt;/mn&gt;&lt;mn&gt;2&lt;/mn&gt;&lt;/mfrac&gt;&lt;mrow data-mjx-texclass=&quot;INNER&quot;&gt;&lt;mo data-mjx-texclass=&quot;OPEN&quot;&gt;(&lt;/mo&gt;&lt;mn&gt;12&lt;/mn&gt;&lt;mo data-mjx-texclass=&quot;CLOSE&quot;&gt;)&lt;/mo&gt;&lt;/mrow&gt;&lt;mo&gt;=&lt;/mo&gt;&lt;mn&gt;6&lt;/mn&gt;&lt;/math&gt;" id="1068" name="Google Shape;1068;p78" title="one half times 12 equal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050" y="3544114"/>
            <a:ext cx="1078463" cy="539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8"/>
          <p:cNvSpPr txBox="1"/>
          <p:nvPr>
            <p:ph idx="1" type="body"/>
          </p:nvPr>
        </p:nvSpPr>
        <p:spPr>
          <a:xfrm>
            <a:off x="1118864" y="4237745"/>
            <a:ext cx="7665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\left(12\right)}{2}=6&quot;&gt;&lt;mfrac&gt;&lt;mrow data-mjx-texclass=&quot;INNER&quot;&gt;&lt;mo data-mjx-texclass=&quot;OPEN&quot;&gt;(&lt;/mo&gt;&lt;mn&gt;12&lt;/mn&gt;&lt;mo data-mjx-texclass=&quot;CLOSE&quot;&gt;)&lt;/mo&gt;&lt;/mrow&gt;&lt;mn&gt;2&lt;/mn&gt;&lt;/mfrac&gt;&lt;mo&gt;=&lt;/mo&gt;&lt;mn&gt;6&lt;/mn&gt;&lt;/math&gt;" id="1070" name="Google Shape;1070;p78" title="the fraction with numerator 12 and denominator 2 equals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0357" y="3539148"/>
            <a:ext cx="940762" cy="539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8"/>
          <p:cNvSpPr txBox="1"/>
          <p:nvPr>
            <p:ph idx="1" type="body"/>
          </p:nvPr>
        </p:nvSpPr>
        <p:spPr>
          <a:xfrm>
            <a:off x="2986887" y="4237745"/>
            <a:ext cx="7665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1077" name="Google Shape;1077;p79"/>
          <p:cNvSpPr txBox="1"/>
          <p:nvPr>
            <p:ph idx="1" type="body"/>
          </p:nvPr>
        </p:nvSpPr>
        <p:spPr>
          <a:xfrm>
            <a:off x="324000" y="820050"/>
            <a:ext cx="8496000" cy="4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could we do to work out the value of one positive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this time?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8" name="Google Shape;1078;p79"/>
          <p:cNvSpPr txBox="1"/>
          <p:nvPr>
            <p:ph idx="1" type="body"/>
          </p:nvPr>
        </p:nvSpPr>
        <p:spPr>
          <a:xfrm>
            <a:off x="324000" y="2850900"/>
            <a:ext cx="18132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ultiply by 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9" name="Google Shape;1079;p79"/>
          <p:cNvSpPr/>
          <p:nvPr/>
        </p:nvSpPr>
        <p:spPr>
          <a:xfrm>
            <a:off x="4824000" y="1918500"/>
            <a:ext cx="3240000" cy="61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0" name="Google Shape;1080;p79"/>
          <p:cNvSpPr/>
          <p:nvPr/>
        </p:nvSpPr>
        <p:spPr>
          <a:xfrm>
            <a:off x="4824000" y="1308900"/>
            <a:ext cx="3240000" cy="61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x</a:t>
            </a:r>
            <a:endParaRPr i="1" sz="25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81" name="Google Shape;1081;p79"/>
          <p:cNvGrpSpPr/>
          <p:nvPr/>
        </p:nvGrpSpPr>
        <p:grpSpPr>
          <a:xfrm>
            <a:off x="353875" y="1308900"/>
            <a:ext cx="3241925" cy="1223100"/>
            <a:chOff x="353875" y="1308900"/>
            <a:chExt cx="3241925" cy="1223100"/>
          </a:xfrm>
        </p:grpSpPr>
        <p:sp>
          <p:nvSpPr>
            <p:cNvPr id="1082" name="Google Shape;1082;p79"/>
            <p:cNvSpPr/>
            <p:nvPr/>
          </p:nvSpPr>
          <p:spPr>
            <a:xfrm>
              <a:off x="355800" y="1308900"/>
              <a:ext cx="3240000" cy="6135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3" name="Google Shape;1083;p79"/>
            <p:cNvSpPr/>
            <p:nvPr/>
          </p:nvSpPr>
          <p:spPr>
            <a:xfrm>
              <a:off x="353875" y="1918500"/>
              <a:ext cx="1083600" cy="6135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5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84" name="Google Shape;1084;p79"/>
            <p:cNvCxnSpPr/>
            <p:nvPr/>
          </p:nvCxnSpPr>
          <p:spPr>
            <a:xfrm>
              <a:off x="1437525" y="1313250"/>
              <a:ext cx="0" cy="61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85" name="Google Shape;1085;p79"/>
            <p:cNvSpPr/>
            <p:nvPr/>
          </p:nvSpPr>
          <p:spPr>
            <a:xfrm>
              <a:off x="1437537" y="1313250"/>
              <a:ext cx="2158200" cy="61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3}x&quot;&gt;&lt;mfrac&gt;&lt;mn&gt;1&lt;/mn&gt;&lt;mn&gt;3&lt;/mn&gt;&lt;/mfrac&gt;&lt;mi&gt;x&lt;/mi&gt;&lt;/math&gt;" id="1086" name="Google Shape;1086;p79" title="one third 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8164" y="1347601"/>
              <a:ext cx="331200" cy="54805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1}{3}x\times3\equiv x&quot;&gt;&lt;mfrac&gt;&lt;mn&gt;1&lt;/mn&gt;&lt;mn&gt;3&lt;/mn&gt;&lt;/mfrac&gt;&lt;mi&gt;x&lt;/mi&gt;&lt;mo&gt;×&lt;/mo&gt;&lt;mn&gt;3&lt;/mn&gt;&lt;mo&gt;≡&lt;/mo&gt;&lt;mi&gt;x&lt;/mi&gt;&lt;/math&gt;" id="1087" name="Google Shape;1087;p79" title="one third x times 3 is identical to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800" y="3710825"/>
            <a:ext cx="1207059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79"/>
          <p:cNvSpPr txBox="1"/>
          <p:nvPr>
            <p:ph idx="1" type="body"/>
          </p:nvPr>
        </p:nvSpPr>
        <p:spPr>
          <a:xfrm>
            <a:off x="534181" y="4422600"/>
            <a:ext cx="2352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× 3 = 21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9" name="Google Shape;1089;p79"/>
          <p:cNvSpPr/>
          <p:nvPr/>
        </p:nvSpPr>
        <p:spPr>
          <a:xfrm>
            <a:off x="4824000" y="1918500"/>
            <a:ext cx="3240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"/>
                <a:ea typeface="Times"/>
                <a:cs typeface="Times"/>
                <a:sym typeface="Times"/>
              </a:rPr>
              <a:t>21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0" name="Google Shape;1090;p79"/>
          <p:cNvSpPr txBox="1"/>
          <p:nvPr>
            <p:ph idx="1" type="body"/>
          </p:nvPr>
        </p:nvSpPr>
        <p:spPr>
          <a:xfrm>
            <a:off x="3790325" y="2850900"/>
            <a:ext cx="50298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solution to this equation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is 21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We can check by substituting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1" name="Google Shape;1091;p79"/>
          <p:cNvSpPr txBox="1"/>
          <p:nvPr>
            <p:ph idx="1" type="body"/>
          </p:nvPr>
        </p:nvSpPr>
        <p:spPr>
          <a:xfrm>
            <a:off x="4274666" y="4422601"/>
            <a:ext cx="9690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7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3}\left(21\right)=7&quot;&gt;&lt;mfrac&gt;&lt;mn&gt;1&lt;/mn&gt;&lt;mn&gt;3&lt;/mn&gt;&lt;/mfrac&gt;&lt;mrow data-mjx-texclass=&quot;INNER&quot;&gt;&lt;mo data-mjx-texclass=&quot;OPEN&quot;&gt;(&lt;/mo&gt;&lt;mn&gt;21&lt;/mn&gt;&lt;mo data-mjx-texclass=&quot;CLOSE&quot;&gt;)&lt;/mo&gt;&lt;/mrow&gt;&lt;mo&gt;=&lt;/mo&gt;&lt;mn&gt;7&lt;/mn&gt;&lt;/math&gt;" id="1092" name="Google Shape;1092;p79" title="one third times 21 equals 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4013" y="3719400"/>
            <a:ext cx="1070471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3" name="Google Shape;1093;p79"/>
          <p:cNvCxnSpPr/>
          <p:nvPr/>
        </p:nvCxnSpPr>
        <p:spPr>
          <a:xfrm>
            <a:off x="3487550" y="2755500"/>
            <a:ext cx="0" cy="2049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0"/>
          <p:cNvSpPr txBox="1"/>
          <p:nvPr>
            <p:ph idx="1" type="body"/>
          </p:nvPr>
        </p:nvSpPr>
        <p:spPr>
          <a:xfrm>
            <a:off x="324000" y="759300"/>
            <a:ext cx="8496000" cy="49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these calculations so they are equivalent to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9" name="Google Shape;109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x\ \times\ \ \ \ \ \equiv\ x&quot;&gt;&lt;mfrac&gt;&lt;mn&gt;1&lt;/mn&gt;&lt;mn&gt;2&lt;/mn&gt;&lt;/mfrac&gt;&lt;mi&gt;x&lt;/mi&gt;&lt;mtext&gt;&lt;/mtext&gt;&lt;mo&gt;×&lt;/mo&gt;&lt;mtext&gt;&lt;/mtext&gt;&lt;mtext&gt;&lt;/mtext&gt;&lt;mtext&gt;&lt;/mtext&gt;&lt;mtext&gt;&lt;/mtext&gt;&lt;mtext&gt;&lt;/mtext&gt;&lt;mo&gt;≡&lt;/mo&gt;&lt;mtext&gt;&lt;/mtext&gt;&lt;mi&gt;x&lt;/mi&gt;&lt;/math&gt;" id="1100" name="Google Shape;1100;p80" title="one half x times is identical to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950" y="1367812"/>
            <a:ext cx="1730814" cy="602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x\ \times\ \ \ \ \ \equiv\ x&quot;&gt;&lt;mn&gt;3&lt;/mn&gt;&lt;mi&gt;x&lt;/mi&gt;&lt;mtext&gt;&lt;/mtext&gt;&lt;mo&gt;×&lt;/mo&gt;&lt;mtext&gt;&lt;/mtext&gt;&lt;mtext&gt;&lt;/mtext&gt;&lt;mtext&gt;&lt;/mtext&gt;&lt;mtext&gt;&lt;/mtext&gt;&lt;mtext&gt;&lt;/mtext&gt;&lt;mo&gt;≡&lt;/mo&gt;&lt;mtext&gt;&lt;/mtext&gt;&lt;mi&gt;x&lt;/mi&gt;&lt;/math&gt;" id="1101" name="Google Shape;1101;p80" title="3 x times is identical to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9295" y="2491979"/>
            <a:ext cx="1692216" cy="213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x\ \times\ \ \ \ \ \equiv\ x&quot;&gt;&lt;mn&gt;7&lt;/mn&gt;&lt;mi&gt;x&lt;/mi&gt;&lt;mtext&gt;&lt;/mtext&gt;&lt;mo&gt;×&lt;/mo&gt;&lt;mtext&gt;&lt;/mtext&gt;&lt;mtext&gt;&lt;/mtext&gt;&lt;mtext&gt;&lt;/mtext&gt;&lt;mtext&gt;&lt;/mtext&gt;&lt;mtext&gt;&lt;/mtext&gt;&lt;mo&gt;≡&lt;/mo&gt;&lt;mtext&gt;&lt;/mtext&gt;&lt;mi&gt;x&lt;/mi&gt;&lt;/math&gt;" id="1102" name="Google Shape;1102;p80" title="7 x times is identical to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6661" y="3379492"/>
            <a:ext cx="1743067" cy="214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x\ \times\ \ \ \ \ \equiv\ x&quot;&gt;&lt;mfrac&gt;&lt;mn&gt;1&lt;/mn&gt;&lt;mn&gt;4&lt;/mn&gt;&lt;/mfrac&gt;&lt;mi&gt;x&lt;/mi&gt;&lt;mtext&gt;&lt;/mtext&gt;&lt;mo&gt;×&lt;/mo&gt;&lt;mtext&gt;&lt;/mtext&gt;&lt;mtext&gt;&lt;/mtext&gt;&lt;mtext&gt;&lt;/mtext&gt;&lt;mtext&gt;&lt;/mtext&gt;&lt;mtext&gt;&lt;/mtext&gt;&lt;mo&gt;≡&lt;/mo&gt;&lt;mtext&gt;&lt;/mtext&gt;&lt;mi&gt;x&lt;/mi&gt;&lt;/math&gt;" id="1103" name="Google Shape;1103;p80" title="one fourth x times is identical to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2251" y="4191657"/>
            <a:ext cx="1733263" cy="603956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80"/>
          <p:cNvSpPr txBox="1"/>
          <p:nvPr>
            <p:ph idx="1" type="body"/>
          </p:nvPr>
        </p:nvSpPr>
        <p:spPr>
          <a:xfrm>
            <a:off x="2000363" y="1500009"/>
            <a:ext cx="3660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400"/>
              <a:t> 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05" name="Google Shape;1105;p80"/>
          <p:cNvSpPr txBox="1"/>
          <p:nvPr>
            <p:ph idx="1" type="body"/>
          </p:nvPr>
        </p:nvSpPr>
        <p:spPr>
          <a:xfrm>
            <a:off x="2000363" y="4319991"/>
            <a:ext cx="3660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06" name="Google Shape;1106;p80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363" y="2318950"/>
            <a:ext cx="181961" cy="55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107" name="Google Shape;1107;p80" title="one seven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00363" y="3208890"/>
            <a:ext cx="181961" cy="5557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8" name="Google Shape;1108;p80"/>
          <p:cNvGrpSpPr/>
          <p:nvPr/>
        </p:nvGrpSpPr>
        <p:grpSpPr>
          <a:xfrm>
            <a:off x="323991" y="1395600"/>
            <a:ext cx="457200" cy="457200"/>
            <a:chOff x="1020916" y="1442088"/>
            <a:chExt cx="457200" cy="457200"/>
          </a:xfrm>
        </p:grpSpPr>
        <p:pic>
          <p:nvPicPr>
            <p:cNvPr id="1109" name="Google Shape;1109;p8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80"/>
          <p:cNvGrpSpPr/>
          <p:nvPr/>
        </p:nvGrpSpPr>
        <p:grpSpPr>
          <a:xfrm>
            <a:off x="323991" y="2352075"/>
            <a:ext cx="457200" cy="457200"/>
            <a:chOff x="1020916" y="1442088"/>
            <a:chExt cx="457200" cy="457200"/>
          </a:xfrm>
        </p:grpSpPr>
        <p:pic>
          <p:nvPicPr>
            <p:cNvPr id="1112" name="Google Shape;1112;p8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80"/>
          <p:cNvGrpSpPr/>
          <p:nvPr/>
        </p:nvGrpSpPr>
        <p:grpSpPr>
          <a:xfrm>
            <a:off x="323991" y="3308550"/>
            <a:ext cx="457200" cy="457200"/>
            <a:chOff x="1020916" y="1442088"/>
            <a:chExt cx="457200" cy="457200"/>
          </a:xfrm>
        </p:grpSpPr>
        <p:pic>
          <p:nvPicPr>
            <p:cNvPr id="1115" name="Google Shape;1115;p8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7" name="Google Shape;1117;p80"/>
          <p:cNvGrpSpPr/>
          <p:nvPr/>
        </p:nvGrpSpPr>
        <p:grpSpPr>
          <a:xfrm>
            <a:off x="323991" y="4265025"/>
            <a:ext cx="457200" cy="457200"/>
            <a:chOff x="1020916" y="1442088"/>
            <a:chExt cx="457200" cy="457200"/>
          </a:xfrm>
        </p:grpSpPr>
        <p:pic>
          <p:nvPicPr>
            <p:cNvPr id="1118" name="Google Shape;1118;p8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1125" name="Google Shape;1125;p81"/>
          <p:cNvSpPr txBox="1"/>
          <p:nvPr>
            <p:ph idx="1" type="body"/>
          </p:nvPr>
        </p:nvSpPr>
        <p:spPr>
          <a:xfrm>
            <a:off x="324000" y="759300"/>
            <a:ext cx="8496000" cy="5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up the bar models with the calculations which will find the solution.  There may be more than one calculation for each diagram.</a:t>
            </a:r>
            <a:endParaRPr sz="1800"/>
          </a:p>
        </p:txBody>
      </p:sp>
      <p:sp>
        <p:nvSpPr>
          <p:cNvPr id="1126" name="Google Shape;1126;p81"/>
          <p:cNvSpPr/>
          <p:nvPr/>
        </p:nvSpPr>
        <p:spPr>
          <a:xfrm>
            <a:off x="4173000" y="3320498"/>
            <a:ext cx="216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7" name="Google Shape;1127;p81"/>
          <p:cNvSpPr/>
          <p:nvPr/>
        </p:nvSpPr>
        <p:spPr>
          <a:xfrm>
            <a:off x="4713000" y="3320338"/>
            <a:ext cx="16200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28" name="Google Shape;1128;p81"/>
          <p:cNvCxnSpPr/>
          <p:nvPr/>
        </p:nvCxnSpPr>
        <p:spPr>
          <a:xfrm>
            <a:off x="4714891" y="3308607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29" name="Google Shape;1129;p81"/>
          <p:cNvSpPr/>
          <p:nvPr/>
        </p:nvSpPr>
        <p:spPr>
          <a:xfrm>
            <a:off x="4173000" y="3777688"/>
            <a:ext cx="54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0" name="Google Shape;1130;p81"/>
          <p:cNvSpPr/>
          <p:nvPr/>
        </p:nvSpPr>
        <p:spPr>
          <a:xfrm>
            <a:off x="736488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1" name="Google Shape;1131;p81"/>
          <p:cNvSpPr/>
          <p:nvPr/>
        </p:nvSpPr>
        <p:spPr>
          <a:xfrm>
            <a:off x="1393310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2" name="Google Shape;1132;p81"/>
          <p:cNvSpPr/>
          <p:nvPr/>
        </p:nvSpPr>
        <p:spPr>
          <a:xfrm>
            <a:off x="2050133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3" name="Google Shape;1133;p81"/>
          <p:cNvSpPr/>
          <p:nvPr/>
        </p:nvSpPr>
        <p:spPr>
          <a:xfrm>
            <a:off x="2706955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4" name="Google Shape;1134;p81"/>
          <p:cNvSpPr/>
          <p:nvPr/>
        </p:nvSpPr>
        <p:spPr>
          <a:xfrm>
            <a:off x="736488" y="3215600"/>
            <a:ext cx="26328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id="1135" name="Google Shape;1135;p81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626" y="3346887"/>
            <a:ext cx="244800" cy="401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\ &quot;&gt;&lt;mfrac&gt;&lt;mn&gt;1&lt;/mn&gt;&lt;mn&gt;2&lt;/mn&gt;&lt;/mfrac&gt;&lt;mi&gt;x&lt;/mi&gt;&lt;mtext&gt;&lt;/mtext&gt;&lt;/math&gt;" id="1136" name="Google Shape;1136;p81" title="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688" y="3895738"/>
            <a:ext cx="257784" cy="4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81"/>
          <p:cNvSpPr/>
          <p:nvPr/>
        </p:nvSpPr>
        <p:spPr>
          <a:xfrm>
            <a:off x="736675" y="3867098"/>
            <a:ext cx="216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8" name="Google Shape;1138;p81"/>
          <p:cNvSpPr/>
          <p:nvPr/>
        </p:nvSpPr>
        <p:spPr>
          <a:xfrm>
            <a:off x="1758750" y="3866938"/>
            <a:ext cx="11379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39" name="Google Shape;1139;p81"/>
          <p:cNvCxnSpPr/>
          <p:nvPr/>
        </p:nvCxnSpPr>
        <p:spPr>
          <a:xfrm>
            <a:off x="1764744" y="3855207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40" name="Google Shape;1140;p81"/>
          <p:cNvSpPr/>
          <p:nvPr/>
        </p:nvSpPr>
        <p:spPr>
          <a:xfrm>
            <a:off x="736675" y="4324288"/>
            <a:ext cx="1028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1" name="Google Shape;1141;p81"/>
          <p:cNvSpPr/>
          <p:nvPr/>
        </p:nvSpPr>
        <p:spPr>
          <a:xfrm>
            <a:off x="736675" y="1600750"/>
            <a:ext cx="1322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2" name="Google Shape;1142;p81"/>
          <p:cNvSpPr/>
          <p:nvPr/>
        </p:nvSpPr>
        <p:spPr>
          <a:xfrm>
            <a:off x="2047509" y="1600750"/>
            <a:ext cx="1322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3" name="Google Shape;1143;p81"/>
          <p:cNvSpPr/>
          <p:nvPr/>
        </p:nvSpPr>
        <p:spPr>
          <a:xfrm>
            <a:off x="736675" y="2057950"/>
            <a:ext cx="26325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8\ \times\frac{1}{4}&quot;&gt;&lt;mn&gt;8&lt;/mn&gt;&lt;mtext&gt;&lt;/mtext&gt;&lt;mo&gt;×&lt;/mo&gt;&lt;mfrac&gt;&lt;mn&gt;1&lt;/mn&gt;&lt;mn&gt;4&lt;/mn&gt;&lt;/mfrac&gt;&lt;/math&gt;" id="1144" name="Google Shape;1144;p81" title="8 times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3475" y="2814291"/>
            <a:ext cx="662400" cy="540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times\frac{1}{2}&quot;&gt;&lt;mn&gt;4&lt;/mn&gt;&lt;mtext&gt;&lt;/mtext&gt;&lt;mo&gt;×&lt;/mo&gt;&lt;mfrac&gt;&lt;mn&gt;1&lt;/mn&gt;&lt;mn&gt;2&lt;/mn&gt;&lt;/mfrac&gt;&lt;/math&gt;" id="1145" name="Google Shape;1145;p81" title="4 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9475" y="1350000"/>
            <a:ext cx="671786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81"/>
          <p:cNvSpPr/>
          <p:nvPr/>
        </p:nvSpPr>
        <p:spPr>
          <a:xfrm>
            <a:off x="4173000" y="1917436"/>
            <a:ext cx="216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7" name="Google Shape;1147;p81"/>
          <p:cNvSpPr/>
          <p:nvPr/>
        </p:nvSpPr>
        <p:spPr>
          <a:xfrm>
            <a:off x="4713000" y="1917275"/>
            <a:ext cx="16200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48" name="Google Shape;1148;p81"/>
          <p:cNvCxnSpPr/>
          <p:nvPr/>
        </p:nvCxnSpPr>
        <p:spPr>
          <a:xfrm>
            <a:off x="4714891" y="1905545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49" name="Google Shape;1149;p81"/>
          <p:cNvSpPr/>
          <p:nvPr/>
        </p:nvSpPr>
        <p:spPr>
          <a:xfrm>
            <a:off x="4173000" y="2374625"/>
            <a:ext cx="54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id="1150" name="Google Shape;1150;p81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626" y="1943825"/>
            <a:ext cx="244800" cy="401723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81"/>
          <p:cNvSpPr txBox="1"/>
          <p:nvPr>
            <p:ph idx="4294967295" type="body"/>
          </p:nvPr>
        </p:nvSpPr>
        <p:spPr>
          <a:xfrm>
            <a:off x="6599475" y="3716175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81"/>
          <p:cNvSpPr txBox="1"/>
          <p:nvPr>
            <p:ph idx="4294967295" type="body"/>
          </p:nvPr>
        </p:nvSpPr>
        <p:spPr>
          <a:xfrm>
            <a:off x="7793475" y="214867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÷ 2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81"/>
          <p:cNvSpPr txBox="1"/>
          <p:nvPr>
            <p:ph idx="4294967295" type="body"/>
          </p:nvPr>
        </p:nvSpPr>
        <p:spPr>
          <a:xfrm>
            <a:off x="6599475" y="2183625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81"/>
          <p:cNvSpPr txBox="1"/>
          <p:nvPr>
            <p:ph idx="4294967295" type="body"/>
          </p:nvPr>
        </p:nvSpPr>
        <p:spPr>
          <a:xfrm>
            <a:off x="6599475" y="441510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 × 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81"/>
          <p:cNvSpPr txBox="1"/>
          <p:nvPr>
            <p:ph idx="4294967295" type="body"/>
          </p:nvPr>
        </p:nvSpPr>
        <p:spPr>
          <a:xfrm>
            <a:off x="7793475" y="441510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× 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1}{2}&quot;&gt;&lt;mn&gt;4&lt;/mn&gt;&lt;mtext&gt;&lt;/mtext&gt;&lt;mo&gt;÷&lt;/mo&gt;&lt;mfrac&gt;&lt;mn&gt;1&lt;/mn&gt;&lt;mn&gt;2&lt;/mn&gt;&lt;/mfrac&gt;&lt;/math&gt;" id="1156" name="Google Shape;1156;p81" title="4 division sign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3475" y="3614780"/>
            <a:ext cx="65237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div\frac{1}{4}&quot;&gt;&lt;mn&gt;4&lt;/mn&gt;&lt;mtext&gt;&lt;/mtext&gt;&lt;mo&gt;÷&lt;/mo&gt;&lt;mfrac&gt;&lt;mn&gt;1&lt;/mn&gt;&lt;mn&gt;4&lt;/mn&gt;&lt;/mfrac&gt;&lt;/math&gt;" id="1157" name="Google Shape;1157;p81" title="4 division sign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3475" y="1348350"/>
            <a:ext cx="653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 \div\frac{1}{4}&quot;&gt;&lt;mn&gt;8&lt;/mn&gt;&lt;mtext&gt;&lt;/mtext&gt;&lt;mo&gt;÷&lt;/mo&gt;&lt;mfrac&gt;&lt;mn&gt;1&lt;/mn&gt;&lt;mn&gt;4&lt;/mn&gt;&lt;/mfrac&gt;&lt;/math&gt;" id="1158" name="Google Shape;1158;p81" title="8 division sign 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9475" y="2882550"/>
            <a:ext cx="6426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81"/>
          <p:cNvSpPr/>
          <p:nvPr/>
        </p:nvSpPr>
        <p:spPr>
          <a:xfrm>
            <a:off x="281250" y="2726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1"/>
          <p:cNvSpPr/>
          <p:nvPr/>
        </p:nvSpPr>
        <p:spPr>
          <a:xfrm>
            <a:off x="281250" y="38332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1"/>
          <p:cNvSpPr/>
          <p:nvPr/>
        </p:nvSpPr>
        <p:spPr>
          <a:xfrm>
            <a:off x="281250" y="1620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1"/>
          <p:cNvSpPr/>
          <p:nvPr/>
        </p:nvSpPr>
        <p:spPr>
          <a:xfrm>
            <a:off x="3611713" y="19172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1"/>
          <p:cNvSpPr/>
          <p:nvPr/>
        </p:nvSpPr>
        <p:spPr>
          <a:xfrm>
            <a:off x="3611713" y="3336098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1169" name="Google Shape;1169;p82"/>
          <p:cNvSpPr txBox="1"/>
          <p:nvPr>
            <p:ph idx="1" type="body"/>
          </p:nvPr>
        </p:nvSpPr>
        <p:spPr>
          <a:xfrm>
            <a:off x="324000" y="759300"/>
            <a:ext cx="8237700" cy="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Use these bar models to find the value of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</a:t>
            </a:r>
            <a:endParaRPr/>
          </a:p>
        </p:txBody>
      </p:sp>
      <p:sp>
        <p:nvSpPr>
          <p:cNvPr id="1170" name="Google Shape;1170;p82"/>
          <p:cNvSpPr/>
          <p:nvPr/>
        </p:nvSpPr>
        <p:spPr>
          <a:xfrm>
            <a:off x="281250" y="2726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2"/>
          <p:cNvSpPr/>
          <p:nvPr/>
        </p:nvSpPr>
        <p:spPr>
          <a:xfrm>
            <a:off x="281250" y="38332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2"/>
          <p:cNvSpPr/>
          <p:nvPr/>
        </p:nvSpPr>
        <p:spPr>
          <a:xfrm>
            <a:off x="281250" y="1620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2"/>
          <p:cNvSpPr/>
          <p:nvPr/>
        </p:nvSpPr>
        <p:spPr>
          <a:xfrm>
            <a:off x="4319850" y="2726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2"/>
          <p:cNvSpPr/>
          <p:nvPr/>
        </p:nvSpPr>
        <p:spPr>
          <a:xfrm>
            <a:off x="4319850" y="38332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2"/>
          <p:cNvSpPr/>
          <p:nvPr/>
        </p:nvSpPr>
        <p:spPr>
          <a:xfrm>
            <a:off x="4319850" y="1620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2"/>
          <p:cNvSpPr/>
          <p:nvPr/>
        </p:nvSpPr>
        <p:spPr>
          <a:xfrm>
            <a:off x="736675" y="1600750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7" name="Google Shape;1177;p82"/>
          <p:cNvSpPr/>
          <p:nvPr/>
        </p:nvSpPr>
        <p:spPr>
          <a:xfrm>
            <a:off x="736675" y="1969075"/>
            <a:ext cx="2289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8" name="Google Shape;1178;p82"/>
          <p:cNvSpPr/>
          <p:nvPr/>
        </p:nvSpPr>
        <p:spPr>
          <a:xfrm>
            <a:off x="1193875" y="1600750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9" name="Google Shape;1179;p82"/>
          <p:cNvSpPr/>
          <p:nvPr/>
        </p:nvSpPr>
        <p:spPr>
          <a:xfrm>
            <a:off x="1651075" y="1600750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0" name="Google Shape;1180;p82"/>
          <p:cNvSpPr/>
          <p:nvPr/>
        </p:nvSpPr>
        <p:spPr>
          <a:xfrm>
            <a:off x="2108275" y="1600750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1" name="Google Shape;1181;p82"/>
          <p:cNvSpPr/>
          <p:nvPr/>
        </p:nvSpPr>
        <p:spPr>
          <a:xfrm>
            <a:off x="2565475" y="1600750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2" name="Google Shape;1182;p82"/>
          <p:cNvSpPr/>
          <p:nvPr/>
        </p:nvSpPr>
        <p:spPr>
          <a:xfrm>
            <a:off x="736675" y="3124750"/>
            <a:ext cx="742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3" name="Google Shape;1183;p82"/>
          <p:cNvSpPr/>
          <p:nvPr/>
        </p:nvSpPr>
        <p:spPr>
          <a:xfrm>
            <a:off x="736675" y="2745575"/>
            <a:ext cx="22374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4" name="Google Shape;1184;p82"/>
          <p:cNvSpPr/>
          <p:nvPr/>
        </p:nvSpPr>
        <p:spPr>
          <a:xfrm>
            <a:off x="1484186" y="3124750"/>
            <a:ext cx="742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5" name="Google Shape;1185;p82"/>
          <p:cNvSpPr/>
          <p:nvPr/>
        </p:nvSpPr>
        <p:spPr>
          <a:xfrm>
            <a:off x="2231698" y="3124750"/>
            <a:ext cx="742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6" name="Google Shape;1186;p82"/>
          <p:cNvSpPr/>
          <p:nvPr/>
        </p:nvSpPr>
        <p:spPr>
          <a:xfrm>
            <a:off x="4824000" y="307917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7" name="Google Shape;1187;p82"/>
          <p:cNvSpPr/>
          <p:nvPr/>
        </p:nvSpPr>
        <p:spPr>
          <a:xfrm>
            <a:off x="4824000" y="2700000"/>
            <a:ext cx="24444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8" name="Google Shape;1188;p82"/>
          <p:cNvSpPr/>
          <p:nvPr/>
        </p:nvSpPr>
        <p:spPr>
          <a:xfrm>
            <a:off x="5433600" y="307917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9" name="Google Shape;1189;p82"/>
          <p:cNvSpPr/>
          <p:nvPr/>
        </p:nvSpPr>
        <p:spPr>
          <a:xfrm>
            <a:off x="6043200" y="307917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0" name="Google Shape;1190;p82"/>
          <p:cNvSpPr/>
          <p:nvPr/>
        </p:nvSpPr>
        <p:spPr>
          <a:xfrm>
            <a:off x="6652800" y="307917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1" name="Google Shape;1191;p82"/>
          <p:cNvSpPr/>
          <p:nvPr/>
        </p:nvSpPr>
        <p:spPr>
          <a:xfrm>
            <a:off x="4824000" y="1590550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2" name="Google Shape;1192;p82"/>
          <p:cNvSpPr/>
          <p:nvPr/>
        </p:nvSpPr>
        <p:spPr>
          <a:xfrm>
            <a:off x="4824000" y="1973375"/>
            <a:ext cx="1834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3" name="Google Shape;1193;p82"/>
          <p:cNvSpPr/>
          <p:nvPr/>
        </p:nvSpPr>
        <p:spPr>
          <a:xfrm>
            <a:off x="5433600" y="1590550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4" name="Google Shape;1194;p82"/>
          <p:cNvSpPr/>
          <p:nvPr/>
        </p:nvSpPr>
        <p:spPr>
          <a:xfrm>
            <a:off x="6043200" y="1590550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5" name="Google Shape;1195;p82"/>
          <p:cNvSpPr/>
          <p:nvPr/>
        </p:nvSpPr>
        <p:spPr>
          <a:xfrm>
            <a:off x="736675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6" name="Google Shape;1196;p82"/>
          <p:cNvSpPr/>
          <p:nvPr/>
        </p:nvSpPr>
        <p:spPr>
          <a:xfrm>
            <a:off x="736675" y="3812375"/>
            <a:ext cx="24441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7" name="Google Shape;1197;p82"/>
          <p:cNvSpPr/>
          <p:nvPr/>
        </p:nvSpPr>
        <p:spPr>
          <a:xfrm>
            <a:off x="985069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8" name="Google Shape;1198;p82"/>
          <p:cNvSpPr/>
          <p:nvPr/>
        </p:nvSpPr>
        <p:spPr>
          <a:xfrm>
            <a:off x="1223664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9" name="Google Shape;1199;p82"/>
          <p:cNvSpPr/>
          <p:nvPr/>
        </p:nvSpPr>
        <p:spPr>
          <a:xfrm>
            <a:off x="1475488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0" name="Google Shape;1200;p82"/>
          <p:cNvSpPr/>
          <p:nvPr/>
        </p:nvSpPr>
        <p:spPr>
          <a:xfrm>
            <a:off x="1727311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1" name="Google Shape;1201;p82"/>
          <p:cNvSpPr/>
          <p:nvPr/>
        </p:nvSpPr>
        <p:spPr>
          <a:xfrm>
            <a:off x="1962477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2" name="Google Shape;1202;p82"/>
          <p:cNvSpPr/>
          <p:nvPr/>
        </p:nvSpPr>
        <p:spPr>
          <a:xfrm>
            <a:off x="2214301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3" name="Google Shape;1203;p82"/>
          <p:cNvSpPr/>
          <p:nvPr/>
        </p:nvSpPr>
        <p:spPr>
          <a:xfrm>
            <a:off x="2466124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4" name="Google Shape;1204;p82"/>
          <p:cNvSpPr/>
          <p:nvPr/>
        </p:nvSpPr>
        <p:spPr>
          <a:xfrm>
            <a:off x="2701290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5" name="Google Shape;1205;p82"/>
          <p:cNvSpPr/>
          <p:nvPr/>
        </p:nvSpPr>
        <p:spPr>
          <a:xfrm>
            <a:off x="2936456" y="4191550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6" name="Google Shape;1206;p82"/>
          <p:cNvSpPr/>
          <p:nvPr/>
        </p:nvSpPr>
        <p:spPr>
          <a:xfrm>
            <a:off x="4824000" y="3791875"/>
            <a:ext cx="26352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7" name="Google Shape;1207;p82"/>
          <p:cNvSpPr/>
          <p:nvPr/>
        </p:nvSpPr>
        <p:spPr>
          <a:xfrm>
            <a:off x="5345385" y="3794961"/>
            <a:ext cx="21081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08" name="Google Shape;1208;p82"/>
          <p:cNvCxnSpPr/>
          <p:nvPr/>
        </p:nvCxnSpPr>
        <p:spPr>
          <a:xfrm>
            <a:off x="5353235" y="3809445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09" name="Google Shape;1209;p82"/>
          <p:cNvSpPr/>
          <p:nvPr/>
        </p:nvSpPr>
        <p:spPr>
          <a:xfrm>
            <a:off x="4824000" y="4249075"/>
            <a:ext cx="527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x&quot;&gt;&lt;mfrac&gt;&lt;mn&gt;1&lt;/mn&gt;&lt;mn&gt;5&lt;/mn&gt;&lt;/mfrac&gt;&lt;mi&gt;x&lt;/mi&gt;&lt;/math&gt;" id="1210" name="Google Shape;1210;p82" title="one fif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248" y="3809460"/>
            <a:ext cx="244500" cy="402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1216" name="Google Shape;1216;p83"/>
          <p:cNvSpPr txBox="1"/>
          <p:nvPr>
            <p:ph idx="1" type="body"/>
          </p:nvPr>
        </p:nvSpPr>
        <p:spPr>
          <a:xfrm>
            <a:off x="324000" y="759300"/>
            <a:ext cx="8237700" cy="7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up the bar models with the calculations which will find the solution.  There may be more than one calculation for each diagram.</a:t>
            </a:r>
            <a:endParaRPr sz="1800"/>
          </a:p>
        </p:txBody>
      </p:sp>
      <p:sp>
        <p:nvSpPr>
          <p:cNvPr id="1217" name="Google Shape;1217;p83"/>
          <p:cNvSpPr/>
          <p:nvPr/>
        </p:nvSpPr>
        <p:spPr>
          <a:xfrm>
            <a:off x="5392200" y="3320498"/>
            <a:ext cx="216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8" name="Google Shape;1218;p83"/>
          <p:cNvSpPr/>
          <p:nvPr/>
        </p:nvSpPr>
        <p:spPr>
          <a:xfrm>
            <a:off x="5932200" y="3320338"/>
            <a:ext cx="16200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19" name="Google Shape;1219;p83"/>
          <p:cNvCxnSpPr/>
          <p:nvPr/>
        </p:nvCxnSpPr>
        <p:spPr>
          <a:xfrm>
            <a:off x="5934091" y="3308607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0" name="Google Shape;1220;p83"/>
          <p:cNvSpPr/>
          <p:nvPr/>
        </p:nvSpPr>
        <p:spPr>
          <a:xfrm>
            <a:off x="5392200" y="3777688"/>
            <a:ext cx="54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1" name="Google Shape;1221;p83"/>
          <p:cNvSpPr/>
          <p:nvPr/>
        </p:nvSpPr>
        <p:spPr>
          <a:xfrm>
            <a:off x="736488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2" name="Google Shape;1222;p83"/>
          <p:cNvSpPr/>
          <p:nvPr/>
        </p:nvSpPr>
        <p:spPr>
          <a:xfrm>
            <a:off x="1393310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3" name="Google Shape;1223;p83"/>
          <p:cNvSpPr/>
          <p:nvPr/>
        </p:nvSpPr>
        <p:spPr>
          <a:xfrm>
            <a:off x="2050133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4" name="Google Shape;1224;p83"/>
          <p:cNvSpPr/>
          <p:nvPr/>
        </p:nvSpPr>
        <p:spPr>
          <a:xfrm>
            <a:off x="2706955" y="2758400"/>
            <a:ext cx="6624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5" name="Google Shape;1225;p83"/>
          <p:cNvSpPr/>
          <p:nvPr/>
        </p:nvSpPr>
        <p:spPr>
          <a:xfrm>
            <a:off x="736488" y="3215600"/>
            <a:ext cx="26328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id="1226" name="Google Shape;1226;p83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826" y="3346887"/>
            <a:ext cx="244800" cy="401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\ &quot;&gt;&lt;mfrac&gt;&lt;mn&gt;1&lt;/mn&gt;&lt;mn&gt;2&lt;/mn&gt;&lt;/mfrac&gt;&lt;mi&gt;x&lt;/mi&gt;&lt;mtext&gt;&lt;/mtext&gt;&lt;/math&gt;" id="1227" name="Google Shape;1227;p83" title="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688" y="3895738"/>
            <a:ext cx="257784" cy="4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83"/>
          <p:cNvSpPr/>
          <p:nvPr/>
        </p:nvSpPr>
        <p:spPr>
          <a:xfrm>
            <a:off x="736675" y="3867098"/>
            <a:ext cx="216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9" name="Google Shape;1229;p83"/>
          <p:cNvSpPr/>
          <p:nvPr/>
        </p:nvSpPr>
        <p:spPr>
          <a:xfrm>
            <a:off x="1758750" y="3866938"/>
            <a:ext cx="11379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30" name="Google Shape;1230;p83"/>
          <p:cNvCxnSpPr/>
          <p:nvPr/>
        </p:nvCxnSpPr>
        <p:spPr>
          <a:xfrm>
            <a:off x="1764744" y="3855207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31" name="Google Shape;1231;p83"/>
          <p:cNvSpPr/>
          <p:nvPr/>
        </p:nvSpPr>
        <p:spPr>
          <a:xfrm>
            <a:off x="736675" y="4324288"/>
            <a:ext cx="1028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2" name="Google Shape;1232;p83"/>
          <p:cNvSpPr/>
          <p:nvPr/>
        </p:nvSpPr>
        <p:spPr>
          <a:xfrm>
            <a:off x="736675" y="1600750"/>
            <a:ext cx="1322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3" name="Google Shape;1233;p83"/>
          <p:cNvSpPr/>
          <p:nvPr/>
        </p:nvSpPr>
        <p:spPr>
          <a:xfrm>
            <a:off x="2047509" y="1600750"/>
            <a:ext cx="1322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4" name="Google Shape;1234;p83"/>
          <p:cNvSpPr/>
          <p:nvPr/>
        </p:nvSpPr>
        <p:spPr>
          <a:xfrm>
            <a:off x="736675" y="2057950"/>
            <a:ext cx="26325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8\ \times\frac{1}{4}&quot;&gt;&lt;mn&gt;8&lt;/mn&gt;&lt;mtext&gt;&lt;/mtext&gt;&lt;mo&gt;×&lt;/mo&gt;&lt;mfrac&gt;&lt;mn&gt;1&lt;/mn&gt;&lt;mn&gt;4&lt;/mn&gt;&lt;/mfrac&gt;&lt;/math&gt;" id="1235" name="Google Shape;1235;p83" title="8 times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2000" y="2758391"/>
            <a:ext cx="662400" cy="540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times\frac{1}{2}&quot;&gt;&lt;mn&gt;4&lt;/mn&gt;&lt;mtext&gt;&lt;/mtext&gt;&lt;mo&gt;×&lt;/mo&gt;&lt;mfrac&gt;&lt;mn&gt;1&lt;/mn&gt;&lt;mn&gt;2&lt;/mn&gt;&lt;/mfrac&gt;&lt;/math&gt;" id="1236" name="Google Shape;1236;p83" title="4 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2000" y="1605511"/>
            <a:ext cx="671786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83"/>
          <p:cNvSpPr/>
          <p:nvPr/>
        </p:nvSpPr>
        <p:spPr>
          <a:xfrm>
            <a:off x="5392200" y="1917436"/>
            <a:ext cx="216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8" name="Google Shape;1238;p83"/>
          <p:cNvSpPr/>
          <p:nvPr/>
        </p:nvSpPr>
        <p:spPr>
          <a:xfrm>
            <a:off x="5932200" y="1917275"/>
            <a:ext cx="16200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39" name="Google Shape;1239;p83"/>
          <p:cNvCxnSpPr/>
          <p:nvPr/>
        </p:nvCxnSpPr>
        <p:spPr>
          <a:xfrm>
            <a:off x="5934091" y="1905545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40" name="Google Shape;1240;p83"/>
          <p:cNvSpPr/>
          <p:nvPr/>
        </p:nvSpPr>
        <p:spPr>
          <a:xfrm>
            <a:off x="5392200" y="2374625"/>
            <a:ext cx="5400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id="1241" name="Google Shape;1241;p83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826" y="1943825"/>
            <a:ext cx="244800" cy="401723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83"/>
          <p:cNvSpPr txBox="1"/>
          <p:nvPr>
            <p:ph idx="4294967295" type="body"/>
          </p:nvPr>
        </p:nvSpPr>
        <p:spPr>
          <a:xfrm>
            <a:off x="3522000" y="333865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3"/>
          <p:cNvSpPr txBox="1"/>
          <p:nvPr>
            <p:ph idx="4294967295" type="body"/>
          </p:nvPr>
        </p:nvSpPr>
        <p:spPr>
          <a:xfrm>
            <a:off x="3522000" y="219807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2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83"/>
          <p:cNvSpPr txBox="1"/>
          <p:nvPr>
            <p:ph idx="4294967295" type="body"/>
          </p:nvPr>
        </p:nvSpPr>
        <p:spPr>
          <a:xfrm>
            <a:off x="3522000" y="388150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 × 2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83"/>
          <p:cNvSpPr txBox="1"/>
          <p:nvPr>
            <p:ph idx="4294967295" type="body"/>
          </p:nvPr>
        </p:nvSpPr>
        <p:spPr>
          <a:xfrm>
            <a:off x="7678925" y="249735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 × 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3"/>
          <p:cNvSpPr txBox="1"/>
          <p:nvPr>
            <p:ph idx="4294967295" type="body"/>
          </p:nvPr>
        </p:nvSpPr>
        <p:spPr>
          <a:xfrm>
            <a:off x="7678925" y="3937200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4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1}{2}&quot;&gt;&lt;mn&gt;4&lt;/mn&gt;&lt;mtext&gt;&lt;/mtext&gt;&lt;mo&gt;÷&lt;/mo&gt;&lt;mfrac&gt;&lt;mn&gt;1&lt;/mn&gt;&lt;mn&gt;2&lt;/mn&gt;&lt;/mfrac&gt;&lt;/math&gt;" id="1247" name="Google Shape;1247;p83" title="4 division sign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2000" y="4271955"/>
            <a:ext cx="65237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div\frac{1}{4}&quot;&gt;&lt;mn&gt;4&lt;/mn&gt;&lt;mtext&gt;&lt;/mtext&gt;&lt;mo&gt;÷&lt;/mo&gt;&lt;mfrac&gt;&lt;mn&gt;1&lt;/mn&gt;&lt;mn&gt;4&lt;/mn&gt;&lt;/mfrac&gt;&lt;/math&gt;" id="1248" name="Google Shape;1248;p83" title="4 division sign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78925" y="1892200"/>
            <a:ext cx="653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 \div\frac{1}{4}&quot;&gt;&lt;mn&gt;8&lt;/mn&gt;&lt;mtext&gt;&lt;/mtext&gt;&lt;mo&gt;÷&lt;/mo&gt;&lt;mfrac&gt;&lt;mn&gt;1&lt;/mn&gt;&lt;mn&gt;4&lt;/mn&gt;&lt;/mfrac&gt;&lt;/math&gt;" id="1249" name="Google Shape;1249;p83" title="8 division sign 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78925" y="3295250"/>
            <a:ext cx="6426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83"/>
          <p:cNvSpPr/>
          <p:nvPr/>
        </p:nvSpPr>
        <p:spPr>
          <a:xfrm>
            <a:off x="281250" y="2726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3"/>
          <p:cNvSpPr/>
          <p:nvPr/>
        </p:nvSpPr>
        <p:spPr>
          <a:xfrm>
            <a:off x="281250" y="38332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3"/>
          <p:cNvSpPr/>
          <p:nvPr/>
        </p:nvSpPr>
        <p:spPr>
          <a:xfrm>
            <a:off x="281250" y="1620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3"/>
          <p:cNvSpPr/>
          <p:nvPr/>
        </p:nvSpPr>
        <p:spPr>
          <a:xfrm>
            <a:off x="4830913" y="19172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3"/>
          <p:cNvSpPr/>
          <p:nvPr/>
        </p:nvSpPr>
        <p:spPr>
          <a:xfrm>
            <a:off x="4830913" y="3336098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1260" name="Google Shape;1260;p84"/>
          <p:cNvSpPr txBox="1"/>
          <p:nvPr>
            <p:ph idx="1" type="body"/>
          </p:nvPr>
        </p:nvSpPr>
        <p:spPr>
          <a:xfrm>
            <a:off x="324000" y="683100"/>
            <a:ext cx="8237700" cy="5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Use these bar models to find the value of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</a:t>
            </a:r>
            <a:endParaRPr/>
          </a:p>
        </p:txBody>
      </p:sp>
      <p:sp>
        <p:nvSpPr>
          <p:cNvPr id="1261" name="Google Shape;1261;p84"/>
          <p:cNvSpPr/>
          <p:nvPr/>
        </p:nvSpPr>
        <p:spPr>
          <a:xfrm>
            <a:off x="281250" y="2574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4"/>
          <p:cNvSpPr/>
          <p:nvPr/>
        </p:nvSpPr>
        <p:spPr>
          <a:xfrm>
            <a:off x="281250" y="380427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4"/>
          <p:cNvSpPr/>
          <p:nvPr/>
        </p:nvSpPr>
        <p:spPr>
          <a:xfrm>
            <a:off x="281250" y="1373692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4"/>
          <p:cNvSpPr/>
          <p:nvPr/>
        </p:nvSpPr>
        <p:spPr>
          <a:xfrm>
            <a:off x="4319850" y="261071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4"/>
          <p:cNvSpPr/>
          <p:nvPr/>
        </p:nvSpPr>
        <p:spPr>
          <a:xfrm>
            <a:off x="4319850" y="3843982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4"/>
          <p:cNvSpPr/>
          <p:nvPr/>
        </p:nvSpPr>
        <p:spPr>
          <a:xfrm>
            <a:off x="4319850" y="13881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4"/>
          <p:cNvSpPr/>
          <p:nvPr/>
        </p:nvSpPr>
        <p:spPr>
          <a:xfrm>
            <a:off x="736675" y="1354442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8" name="Google Shape;1268;p84"/>
          <p:cNvSpPr/>
          <p:nvPr/>
        </p:nvSpPr>
        <p:spPr>
          <a:xfrm>
            <a:off x="736675" y="1722767"/>
            <a:ext cx="2289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9" name="Google Shape;1269;p84"/>
          <p:cNvSpPr/>
          <p:nvPr/>
        </p:nvSpPr>
        <p:spPr>
          <a:xfrm>
            <a:off x="1193875" y="1354442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0" name="Google Shape;1270;p84"/>
          <p:cNvSpPr/>
          <p:nvPr/>
        </p:nvSpPr>
        <p:spPr>
          <a:xfrm>
            <a:off x="1651075" y="1354442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1" name="Google Shape;1271;p84"/>
          <p:cNvSpPr/>
          <p:nvPr/>
        </p:nvSpPr>
        <p:spPr>
          <a:xfrm>
            <a:off x="2108275" y="1354442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2" name="Google Shape;1272;p84"/>
          <p:cNvSpPr/>
          <p:nvPr/>
        </p:nvSpPr>
        <p:spPr>
          <a:xfrm>
            <a:off x="2565475" y="1354442"/>
            <a:ext cx="460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3" name="Google Shape;1273;p84"/>
          <p:cNvSpPr/>
          <p:nvPr/>
        </p:nvSpPr>
        <p:spPr>
          <a:xfrm>
            <a:off x="736675" y="2972350"/>
            <a:ext cx="742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4" name="Google Shape;1274;p84"/>
          <p:cNvSpPr/>
          <p:nvPr/>
        </p:nvSpPr>
        <p:spPr>
          <a:xfrm>
            <a:off x="736675" y="2593175"/>
            <a:ext cx="22374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5" name="Google Shape;1275;p84"/>
          <p:cNvSpPr/>
          <p:nvPr/>
        </p:nvSpPr>
        <p:spPr>
          <a:xfrm>
            <a:off x="1484186" y="2972350"/>
            <a:ext cx="742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6" name="Google Shape;1276;p84"/>
          <p:cNvSpPr/>
          <p:nvPr/>
        </p:nvSpPr>
        <p:spPr>
          <a:xfrm>
            <a:off x="2231698" y="2972350"/>
            <a:ext cx="742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7" name="Google Shape;1277;p84"/>
          <p:cNvSpPr/>
          <p:nvPr/>
        </p:nvSpPr>
        <p:spPr>
          <a:xfrm>
            <a:off x="4824000" y="296326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8" name="Google Shape;1278;p84"/>
          <p:cNvSpPr/>
          <p:nvPr/>
        </p:nvSpPr>
        <p:spPr>
          <a:xfrm>
            <a:off x="4824000" y="2584090"/>
            <a:ext cx="24444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9" name="Google Shape;1279;p84"/>
          <p:cNvSpPr/>
          <p:nvPr/>
        </p:nvSpPr>
        <p:spPr>
          <a:xfrm>
            <a:off x="5433600" y="296326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0" name="Google Shape;1280;p84"/>
          <p:cNvSpPr/>
          <p:nvPr/>
        </p:nvSpPr>
        <p:spPr>
          <a:xfrm>
            <a:off x="6043200" y="296326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1" name="Google Shape;1281;p84"/>
          <p:cNvSpPr/>
          <p:nvPr/>
        </p:nvSpPr>
        <p:spPr>
          <a:xfrm>
            <a:off x="6652800" y="2963265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2" name="Google Shape;1282;p84"/>
          <p:cNvSpPr/>
          <p:nvPr/>
        </p:nvSpPr>
        <p:spPr>
          <a:xfrm>
            <a:off x="4824000" y="1358730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3" name="Google Shape;1283;p84"/>
          <p:cNvSpPr/>
          <p:nvPr/>
        </p:nvSpPr>
        <p:spPr>
          <a:xfrm>
            <a:off x="4824000" y="1741555"/>
            <a:ext cx="18348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4" name="Google Shape;1284;p84"/>
          <p:cNvSpPr/>
          <p:nvPr/>
        </p:nvSpPr>
        <p:spPr>
          <a:xfrm>
            <a:off x="5433600" y="1358730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5" name="Google Shape;1285;p84"/>
          <p:cNvSpPr/>
          <p:nvPr/>
        </p:nvSpPr>
        <p:spPr>
          <a:xfrm>
            <a:off x="6043200" y="1358730"/>
            <a:ext cx="6156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6" name="Google Shape;1286;p84"/>
          <p:cNvSpPr/>
          <p:nvPr/>
        </p:nvSpPr>
        <p:spPr>
          <a:xfrm>
            <a:off x="736675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7" name="Google Shape;1287;p84"/>
          <p:cNvSpPr/>
          <p:nvPr/>
        </p:nvSpPr>
        <p:spPr>
          <a:xfrm>
            <a:off x="736675" y="3783398"/>
            <a:ext cx="24441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8" name="Google Shape;1288;p84"/>
          <p:cNvSpPr/>
          <p:nvPr/>
        </p:nvSpPr>
        <p:spPr>
          <a:xfrm>
            <a:off x="985069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9" name="Google Shape;1289;p84"/>
          <p:cNvSpPr/>
          <p:nvPr/>
        </p:nvSpPr>
        <p:spPr>
          <a:xfrm>
            <a:off x="1223664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0" name="Google Shape;1290;p84"/>
          <p:cNvSpPr/>
          <p:nvPr/>
        </p:nvSpPr>
        <p:spPr>
          <a:xfrm>
            <a:off x="1475488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1" name="Google Shape;1291;p84"/>
          <p:cNvSpPr/>
          <p:nvPr/>
        </p:nvSpPr>
        <p:spPr>
          <a:xfrm>
            <a:off x="1727311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2" name="Google Shape;1292;p84"/>
          <p:cNvSpPr/>
          <p:nvPr/>
        </p:nvSpPr>
        <p:spPr>
          <a:xfrm>
            <a:off x="1962477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3" name="Google Shape;1293;p84"/>
          <p:cNvSpPr/>
          <p:nvPr/>
        </p:nvSpPr>
        <p:spPr>
          <a:xfrm>
            <a:off x="2214301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4" name="Google Shape;1294;p84"/>
          <p:cNvSpPr/>
          <p:nvPr/>
        </p:nvSpPr>
        <p:spPr>
          <a:xfrm>
            <a:off x="2466124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5" name="Google Shape;1295;p84"/>
          <p:cNvSpPr/>
          <p:nvPr/>
        </p:nvSpPr>
        <p:spPr>
          <a:xfrm>
            <a:off x="2701290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6" name="Google Shape;1296;p84"/>
          <p:cNvSpPr/>
          <p:nvPr/>
        </p:nvSpPr>
        <p:spPr>
          <a:xfrm>
            <a:off x="2936456" y="4162573"/>
            <a:ext cx="244500" cy="37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7" name="Google Shape;1297;p84"/>
          <p:cNvSpPr/>
          <p:nvPr/>
        </p:nvSpPr>
        <p:spPr>
          <a:xfrm>
            <a:off x="4824000" y="3788119"/>
            <a:ext cx="26352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8" name="Google Shape;1298;p84"/>
          <p:cNvSpPr/>
          <p:nvPr/>
        </p:nvSpPr>
        <p:spPr>
          <a:xfrm>
            <a:off x="5345385" y="3791205"/>
            <a:ext cx="2108100" cy="46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99" name="Google Shape;1299;p84"/>
          <p:cNvCxnSpPr/>
          <p:nvPr/>
        </p:nvCxnSpPr>
        <p:spPr>
          <a:xfrm>
            <a:off x="5353235" y="3805688"/>
            <a:ext cx="0" cy="51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0" name="Google Shape;1300;p84"/>
          <p:cNvSpPr/>
          <p:nvPr/>
        </p:nvSpPr>
        <p:spPr>
          <a:xfrm>
            <a:off x="4824000" y="4245319"/>
            <a:ext cx="527100" cy="46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x&quot;&gt;&lt;mfrac&gt;&lt;mn&gt;1&lt;/mn&gt;&lt;mn&gt;5&lt;/mn&gt;&lt;/mfrac&gt;&lt;mi&gt;x&lt;/mi&gt;&lt;/math&gt;" id="1301" name="Google Shape;1301;p84" title="one fif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248" y="3805704"/>
            <a:ext cx="244500" cy="402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\ \times\frac{1}{5}&quot;&gt;&lt;mn&gt;15&lt;/mn&gt;&lt;mtext&gt;&lt;/mtext&gt;&lt;mo&gt;×&lt;/mo&gt;&lt;mfrac&gt;&lt;mn&gt;1&lt;/mn&gt;&lt;mn&gt;5&lt;/mn&gt;&lt;/mfrac&gt;&lt;/math&gt;" id="1302" name="Google Shape;1302;p84" title="15 times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7475" y="1139307"/>
            <a:ext cx="742500" cy="51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84"/>
          <p:cNvSpPr txBox="1"/>
          <p:nvPr>
            <p:ph idx="4294967295" type="body"/>
          </p:nvPr>
        </p:nvSpPr>
        <p:spPr>
          <a:xfrm>
            <a:off x="3167475" y="2576075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3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84"/>
          <p:cNvSpPr txBox="1"/>
          <p:nvPr>
            <p:ph idx="4294967295" type="body"/>
          </p:nvPr>
        </p:nvSpPr>
        <p:spPr>
          <a:xfrm>
            <a:off x="3332375" y="3768909"/>
            <a:ext cx="983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84"/>
          <p:cNvSpPr txBox="1"/>
          <p:nvPr>
            <p:ph idx="4294967295" type="body"/>
          </p:nvPr>
        </p:nvSpPr>
        <p:spPr>
          <a:xfrm>
            <a:off x="7798150" y="2536353"/>
            <a:ext cx="983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times\frac{1}{3}&quot;&gt;&lt;mn&gt;5&lt;/mn&gt;&lt;mo&gt;×&lt;/mo&gt;&lt;mfrac&gt;&lt;mn&gt;1&lt;/mn&gt;&lt;mn&gt;3&lt;/mn&gt;&lt;/mfrac&gt;&lt;/math&gt;" id="1306" name="Google Shape;1306;p84" title="5 time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9800" y="1130118"/>
            <a:ext cx="599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5}{3}&quot;&gt;&lt;mi&gt;x&lt;/mi&gt;&lt;mo&gt;=&lt;/mo&gt;&lt;mfrac&gt;&lt;mn&gt;5&lt;/mn&gt;&lt;mn&gt;3&lt;/mn&gt;&lt;/mfrac&gt;&lt;/math&gt;" id="1307" name="Google Shape;1307;p84" title="x equals five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5500" y="1785268"/>
            <a:ext cx="648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9}{2}&quot;&gt;&lt;mi&gt;x&lt;/mi&gt;&lt;mo&gt;=&lt;/mo&gt;&lt;mfrac&gt;&lt;mn&gt;9&lt;/mn&gt;&lt;mn&gt;2&lt;/mn&gt;&lt;/mfrac&gt;&lt;/math&gt;" id="1308" name="Google Shape;1308;p84" title="x equals nin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8150" y="3000753"/>
            <a:ext cx="6588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84"/>
          <p:cNvSpPr txBox="1"/>
          <p:nvPr>
            <p:ph idx="4294967295" type="body"/>
          </p:nvPr>
        </p:nvSpPr>
        <p:spPr>
          <a:xfrm>
            <a:off x="7556100" y="3748052"/>
            <a:ext cx="983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0" name="Google Shape;1310;p84"/>
          <p:cNvSpPr txBox="1"/>
          <p:nvPr>
            <p:ph idx="4294967295" type="body"/>
          </p:nvPr>
        </p:nvSpPr>
        <p:spPr>
          <a:xfrm>
            <a:off x="7556100" y="4229452"/>
            <a:ext cx="983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50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1" name="Google Shape;1311;p84"/>
          <p:cNvSpPr txBox="1"/>
          <p:nvPr>
            <p:ph idx="4294967295" type="body"/>
          </p:nvPr>
        </p:nvSpPr>
        <p:spPr>
          <a:xfrm>
            <a:off x="3167475" y="1800652"/>
            <a:ext cx="983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3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2" name="Google Shape;1312;p84"/>
          <p:cNvSpPr txBox="1"/>
          <p:nvPr>
            <p:ph idx="4294967295" type="body"/>
          </p:nvPr>
        </p:nvSpPr>
        <p:spPr>
          <a:xfrm>
            <a:off x="3167475" y="3031452"/>
            <a:ext cx="983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5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3" name="Google Shape;1313;p84"/>
          <p:cNvSpPr txBox="1"/>
          <p:nvPr>
            <p:ph idx="4294967295" type="body"/>
          </p:nvPr>
        </p:nvSpPr>
        <p:spPr>
          <a:xfrm>
            <a:off x="3332375" y="4226109"/>
            <a:ext cx="983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steps using representations</a:t>
            </a:r>
            <a:endParaRPr/>
          </a:p>
        </p:txBody>
      </p:sp>
      <p:sp>
        <p:nvSpPr>
          <p:cNvPr id="1319" name="Google Shape;1319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320" name="Google Shape;1320;p85"/>
          <p:cNvSpPr txBox="1"/>
          <p:nvPr>
            <p:ph idx="3" type="title"/>
          </p:nvPr>
        </p:nvSpPr>
        <p:spPr>
          <a:xfrm>
            <a:off x="324000" y="657600"/>
            <a:ext cx="6852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linear equations with a multiplicative step</a:t>
            </a:r>
            <a:endParaRPr/>
          </a:p>
        </p:txBody>
      </p:sp>
      <p:pic>
        <p:nvPicPr>
          <p:cNvPr id="1321" name="Google Shape;132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50" y="299243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6" name="Google Shape;1326;p86"/>
          <p:cNvGraphicFramePr/>
          <p:nvPr/>
        </p:nvGraphicFramePr>
        <p:xfrm>
          <a:off x="324000" y="2393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42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7" name="Google Shape;132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328" name="Google Shape;1328;p86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use the same method for equations without representations.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329" name="Google Shape;1329;p86"/>
          <p:cNvGraphicFramePr/>
          <p:nvPr/>
        </p:nvGraphicFramePr>
        <p:xfrm>
          <a:off x="324000" y="185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0" name="Google Shape;1330;p86"/>
          <p:cNvSpPr txBox="1"/>
          <p:nvPr>
            <p:ph idx="1" type="body"/>
          </p:nvPr>
        </p:nvSpPr>
        <p:spPr>
          <a:xfrm>
            <a:off x="4256225" y="1950000"/>
            <a:ext cx="4500000" cy="14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 isolate one positive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, we need to multiply by the reciprocal of 7: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×     </a:t>
            </a:r>
            <a:r>
              <a:rPr lang="en-GB" sz="2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331" name="Google Shape;1331;p86" title="one sev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800" y="2889417"/>
            <a:ext cx="15456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86"/>
          <p:cNvSpPr txBox="1"/>
          <p:nvPr>
            <p:ph idx="1" type="body"/>
          </p:nvPr>
        </p:nvSpPr>
        <p:spPr>
          <a:xfrm>
            <a:off x="324000" y="3754500"/>
            <a:ext cx="8496000" cy="10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have written our working down the page and maintained equality by multiplying both sides of the equation by the same value.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We have found an equivalent equation where the solution is obvious.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333" name="Google Shape;1333;p86"/>
          <p:cNvGraphicFramePr/>
          <p:nvPr/>
        </p:nvGraphicFramePr>
        <p:xfrm>
          <a:off x="324000" y="2926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34" name="Google Shape;1334;p86"/>
          <p:cNvGrpSpPr/>
          <p:nvPr/>
        </p:nvGrpSpPr>
        <p:grpSpPr>
          <a:xfrm>
            <a:off x="1817012" y="2390581"/>
            <a:ext cx="1500136" cy="504000"/>
            <a:chOff x="1817012" y="2390581"/>
            <a:chExt cx="1500136" cy="504000"/>
          </a:xfrm>
        </p:grpSpPr>
        <p:pic>
          <p:nvPicPr>
            <p:cNvPr descr="&lt;math xmlns=&quot;http://www.w3.org/1998/Math/MathML&quot; display=&quot;block&quot; data-is-equatio=&quot;1&quot; data-latex=&quot;\textcolor{#037B7D}{\frac{1}{7}}&quot;&gt;&lt;mstyle mathcolor=&quot;#037B7D&quot;&gt;&lt;mfrac&gt;&lt;mn&gt;1&lt;/mn&gt;&lt;mn&gt;7&lt;/mn&gt;&lt;/mfrac&gt;&lt;/mstyle&gt;&lt;/math&gt;" id="1335" name="Google Shape;1335;p86" title="one sev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17012" y="2390581"/>
              <a:ext cx="156414" cy="50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037B7D}{\frac{1}{7}}&quot;&gt;&lt;mstyle mathcolor=&quot;#037B7D&quot;&gt;&lt;mfrac&gt;&lt;mn&gt;1&lt;/mn&gt;&lt;mn&gt;7&lt;/mn&gt;&lt;/mfrac&gt;&lt;/mstyle&gt;&lt;/math&gt;" id="1336" name="Google Shape;1336;p86" title="one sev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60734" y="2390581"/>
              <a:ext cx="156414" cy="50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342" name="Google Shape;1342;p87"/>
          <p:cNvSpPr txBox="1"/>
          <p:nvPr>
            <p:ph idx="1" type="body"/>
          </p:nvPr>
        </p:nvSpPr>
        <p:spPr>
          <a:xfrm>
            <a:off x="4824000" y="1328225"/>
            <a:ext cx="39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Is Sofia correct?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43" name="Google Shape;1343;p87"/>
          <p:cNvGrpSpPr/>
          <p:nvPr/>
        </p:nvGrpSpPr>
        <p:grpSpPr>
          <a:xfrm>
            <a:off x="323992" y="1361733"/>
            <a:ext cx="4248058" cy="1575094"/>
            <a:chOff x="323992" y="1361733"/>
            <a:chExt cx="4248058" cy="1575094"/>
          </a:xfrm>
        </p:grpSpPr>
        <p:sp>
          <p:nvSpPr>
            <p:cNvPr id="1344" name="Google Shape;1344;p87"/>
            <p:cNvSpPr txBox="1"/>
            <p:nvPr/>
          </p:nvSpPr>
          <p:spPr>
            <a:xfrm>
              <a:off x="323992" y="2614927"/>
              <a:ext cx="773700" cy="3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345" name="Google Shape;1345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16874" y="1893924"/>
              <a:ext cx="553041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6" name="Google Shape;1346;p8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020751" y="1361733"/>
              <a:ext cx="3551299" cy="128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7" name="Google Shape;1347;p87"/>
            <p:cNvSpPr/>
            <p:nvPr/>
          </p:nvSpPr>
          <p:spPr>
            <a:xfrm>
              <a:off x="1289150" y="1418484"/>
              <a:ext cx="32829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÷ 7 ≡ </a:t>
              </a:r>
              <a:r>
                <a:rPr i="1"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, so I could divide both sides of the equation by 7 to solve.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8" name="Google Shape;1348;p87"/>
          <p:cNvSpPr txBox="1"/>
          <p:nvPr>
            <p:ph idx="1" type="body"/>
          </p:nvPr>
        </p:nvSpPr>
        <p:spPr>
          <a:xfrm>
            <a:off x="324000" y="759300"/>
            <a:ext cx="84960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9" name="Google Shape;1349;p87"/>
          <p:cNvSpPr txBox="1"/>
          <p:nvPr>
            <p:ph idx="1" type="body"/>
          </p:nvPr>
        </p:nvSpPr>
        <p:spPr>
          <a:xfrm>
            <a:off x="328200" y="3233225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to solve this equation we could multiply by    or divide by 7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350" name="Google Shape;1350;p87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3754" y="3129096"/>
            <a:ext cx="158615" cy="518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1" name="Google Shape;1351;p87"/>
          <p:cNvGraphicFramePr/>
          <p:nvPr/>
        </p:nvGraphicFramePr>
        <p:xfrm>
          <a:off x="323988" y="3697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91722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(7)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(7)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2" name="Google Shape;1352;p87"/>
          <p:cNvGraphicFramePr/>
          <p:nvPr/>
        </p:nvGraphicFramePr>
        <p:xfrm>
          <a:off x="323988" y="3697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91722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(7)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42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(7)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3" name="Google Shape;1353;p87"/>
          <p:cNvGraphicFramePr/>
          <p:nvPr/>
        </p:nvGraphicFramePr>
        <p:xfrm>
          <a:off x="323988" y="3697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91722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359" name="Google Shape;1359;p88"/>
          <p:cNvSpPr txBox="1"/>
          <p:nvPr>
            <p:ph idx="1" type="body"/>
          </p:nvPr>
        </p:nvSpPr>
        <p:spPr>
          <a:xfrm>
            <a:off x="324000" y="1064100"/>
            <a:ext cx="8496000" cy="36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42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solution to this equation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6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We can check our answer by substituting the solution into the original. equation.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7(6) = 42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42 = 42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Both sides of the equation balance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6 so our solution must be correct.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365" name="Google Shape;1365;p89"/>
          <p:cNvSpPr txBox="1"/>
          <p:nvPr>
            <p:ph idx="1" type="body"/>
          </p:nvPr>
        </p:nvSpPr>
        <p:spPr>
          <a:xfrm>
            <a:off x="324000" y="2347075"/>
            <a:ext cx="8237700" cy="21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Should</a:t>
            </a:r>
            <a:r>
              <a:rPr lang="en-GB" sz="1800"/>
              <a:t> they get the same answer?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they are the same equation, it does not matter which side of the equals sign the unknown is on.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What do we need to do to isolate one positive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Multiply by the reciprocal of 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6" name="Google Shape;1366;p89"/>
          <p:cNvSpPr txBox="1"/>
          <p:nvPr/>
        </p:nvSpPr>
        <p:spPr>
          <a:xfrm>
            <a:off x="324004" y="1838102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7" name="Google Shape;136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302" y="1320688"/>
            <a:ext cx="443866" cy="5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8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244420" y="927588"/>
            <a:ext cx="2440755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89"/>
          <p:cNvSpPr/>
          <p:nvPr/>
        </p:nvSpPr>
        <p:spPr>
          <a:xfrm>
            <a:off x="1497250" y="966925"/>
            <a:ext cx="21879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want to 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7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70" name="Google Shape;1370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2404" y="1371362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89"/>
          <p:cNvSpPr txBox="1"/>
          <p:nvPr/>
        </p:nvSpPr>
        <p:spPr>
          <a:xfrm>
            <a:off x="7165203" y="192850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2" name="Google Shape;1372;p8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39050" y="924700"/>
            <a:ext cx="2530949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89"/>
          <p:cNvSpPr/>
          <p:nvPr/>
        </p:nvSpPr>
        <p:spPr>
          <a:xfrm flipH="1">
            <a:off x="5029275" y="964025"/>
            <a:ext cx="22650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solve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4" name="Google Shape;1374;p89"/>
          <p:cNvGrpSpPr/>
          <p:nvPr/>
        </p:nvGrpSpPr>
        <p:grpSpPr>
          <a:xfrm>
            <a:off x="3685150" y="3984553"/>
            <a:ext cx="1300925" cy="540000"/>
            <a:chOff x="3685150" y="4060753"/>
            <a:chExt cx="1300925" cy="540000"/>
          </a:xfrm>
        </p:grpSpPr>
        <p:pic>
          <p:nvPicPr>
            <p:cNvPr descr="&lt;math xmlns=&quot;http://www.w3.org/1998/Math/MathML&quot; display=&quot;block&quot; data-is-equatio=&quot;1&quot; data-latex=&quot;\times\frac{1}{5}&quot;&gt;&lt;mo&gt;×&lt;/mo&gt;&lt;mfrac&gt;&lt;mn&gt;1&lt;/mn&gt;&lt;mn&gt;5&lt;/mn&gt;&lt;/mfrac&gt;&lt;/math&gt;" id="1375" name="Google Shape;1375;p89" title="times one fif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38450" y="4060753"/>
              <a:ext cx="347625" cy="5400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76" name="Google Shape;1376;p89"/>
            <p:cNvCxnSpPr/>
            <p:nvPr/>
          </p:nvCxnSpPr>
          <p:spPr>
            <a:xfrm>
              <a:off x="3685150" y="4319999"/>
              <a:ext cx="850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77" name="Google Shape;1377;p89"/>
          <p:cNvSpPr txBox="1"/>
          <p:nvPr>
            <p:ph idx="1" type="body"/>
          </p:nvPr>
        </p:nvSpPr>
        <p:spPr>
          <a:xfrm>
            <a:off x="324000" y="4524475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 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ivide by 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78" name="Google Shape;1378;p89"/>
          <p:cNvCxnSpPr/>
          <p:nvPr/>
        </p:nvCxnSpPr>
        <p:spPr>
          <a:xfrm>
            <a:off x="3685150" y="4700999"/>
            <a:ext cx="8505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9" name="Google Shape;1379;p89"/>
          <p:cNvSpPr txBox="1"/>
          <p:nvPr>
            <p:ph idx="1" type="body"/>
          </p:nvPr>
        </p:nvSpPr>
        <p:spPr>
          <a:xfrm>
            <a:off x="4648200" y="4506475"/>
            <a:ext cx="7533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5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graphicFrame>
        <p:nvGraphicFramePr>
          <p:cNvPr id="1385" name="Google Shape;1385;p90"/>
          <p:cNvGraphicFramePr/>
          <p:nvPr/>
        </p:nvGraphicFramePr>
        <p:xfrm>
          <a:off x="324000" y="2271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1386" name="Google Shape;1386;p90" title="seven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103" y="3023652"/>
            <a:ext cx="164571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90"/>
          <p:cNvSpPr txBox="1"/>
          <p:nvPr>
            <p:ph idx="1" type="body"/>
          </p:nvPr>
        </p:nvSpPr>
        <p:spPr>
          <a:xfrm>
            <a:off x="324000" y="835500"/>
            <a:ext cx="4308300" cy="3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8" name="Google Shape;1388;p90"/>
          <p:cNvSpPr txBox="1"/>
          <p:nvPr>
            <p:ph idx="1" type="body"/>
          </p:nvPr>
        </p:nvSpPr>
        <p:spPr>
          <a:xfrm>
            <a:off x="324000" y="4224900"/>
            <a:ext cx="4308300" cy="3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solution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1389" name="Google Shape;1389;p90" title="seven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103" y="4120480"/>
            <a:ext cx="164571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90"/>
          <p:cNvSpPr txBox="1"/>
          <p:nvPr>
            <p:ph idx="1" type="body"/>
          </p:nvPr>
        </p:nvSpPr>
        <p:spPr>
          <a:xfrm>
            <a:off x="4632300" y="835500"/>
            <a:ext cx="4308300" cy="3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Checking by substituting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7=5\left(\frac{7}{5}\right)&quot;&gt;&lt;mn&gt;7&lt;/mn&gt;&lt;mo&gt;=&lt;/mo&gt;&lt;mn&gt;5&lt;/mn&gt;&lt;mrow data-mjx-texclass=&quot;INNER&quot;&gt;&lt;mo data-mjx-texclass=&quot;OPEN&quot;&gt;(&lt;/mo&gt;&lt;mfrac&gt;&lt;mn&gt;7&lt;/mn&gt;&lt;mn&gt;5&lt;/mn&gt;&lt;/mfrac&gt;&lt;mo data-mjx-texclass=&quot;CLOSE&quot;&gt;)&lt;/mo&gt;&lt;/mrow&gt;&lt;/math&gt;" id="1391" name="Google Shape;1391;p90" title="7 equals 5 times sev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1574100"/>
            <a:ext cx="106752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=\frac{35}{5}&quot;&gt;&lt;mn&gt;7&lt;/mn&gt;&lt;mo&gt;=&lt;/mo&gt;&lt;mfrac&gt;&lt;mn&gt;35&lt;/mn&gt;&lt;mn&gt;5&lt;/mn&gt;&lt;/mfrac&gt;&lt;/math&gt;" id="1392" name="Google Shape;1392;p90" title="7 equals 35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9238" y="2323206"/>
            <a:ext cx="702831" cy="4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=7&quot;&gt;&lt;mn&gt;7&lt;/mn&gt;&lt;mo&gt;=&lt;/mo&gt;&lt;mn&gt;7&lt;/mn&gt;&lt;/math&gt;" id="1393" name="Google Shape;1393;p90" title="7 equals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3999" y="3170025"/>
            <a:ext cx="514800" cy="166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4" name="Google Shape;1394;p90"/>
          <p:cNvCxnSpPr/>
          <p:nvPr/>
        </p:nvCxnSpPr>
        <p:spPr>
          <a:xfrm>
            <a:off x="4297875" y="831700"/>
            <a:ext cx="0" cy="400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95" name="Google Shape;1395;p90"/>
          <p:cNvGraphicFramePr/>
          <p:nvPr/>
        </p:nvGraphicFramePr>
        <p:xfrm>
          <a:off x="324000" y="161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6" name="Google Shape;1396;p90"/>
          <p:cNvGraphicFramePr/>
          <p:nvPr/>
        </p:nvGraphicFramePr>
        <p:xfrm>
          <a:off x="324000" y="3033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97" name="Google Shape;1397;p90"/>
          <p:cNvGrpSpPr/>
          <p:nvPr/>
        </p:nvGrpSpPr>
        <p:grpSpPr>
          <a:xfrm>
            <a:off x="1807870" y="2243400"/>
            <a:ext cx="1493457" cy="504000"/>
            <a:chOff x="1807870" y="2243400"/>
            <a:chExt cx="1493457" cy="504000"/>
          </a:xfrm>
        </p:grpSpPr>
        <p:pic>
          <p:nvPicPr>
            <p:cNvPr descr="&lt;math xmlns=&quot;http://www.w3.org/1998/Math/MathML&quot; display=&quot;block&quot; data-is-equatio=&quot;1&quot; data-latex=&quot;\textcolor{#037B7D}{\frac{1}{5}}&quot;&gt;&lt;mstyle mathcolor=&quot;#037B7D&quot;&gt;&lt;mfrac&gt;&lt;mn&gt;1&lt;/mn&gt;&lt;mn&gt;5&lt;/mn&gt;&lt;/mfrac&gt;&lt;/mstyle&gt;&lt;/math&gt;" id="1398" name="Google Shape;1398;p90" title="one fif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807870" y="2243400"/>
              <a:ext cx="156240" cy="50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037B7D}{\frac{1}{5}}&quot;&gt;&lt;mstyle mathcolor=&quot;#037B7D&quot;&gt;&lt;mfrac&gt;&lt;mn&gt;1&lt;/mn&gt;&lt;mn&gt;5&lt;/mn&gt;&lt;/mfrac&gt;&lt;/mstyle&gt;&lt;/math&gt;" id="1399" name="Google Shape;1399;p90" title="one fif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45087" y="2243400"/>
              <a:ext cx="156240" cy="50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91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−45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graphicFrame>
        <p:nvGraphicFramePr>
          <p:cNvPr id="1406" name="Google Shape;1406;p91"/>
          <p:cNvGraphicFramePr/>
          <p:nvPr/>
        </p:nvGraphicFramePr>
        <p:xfrm>
          <a:off x="170675" y="1923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  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−45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  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7" name="Google Shape;1407;p91"/>
          <p:cNvGraphicFramePr/>
          <p:nvPr/>
        </p:nvGraphicFramePr>
        <p:xfrm>
          <a:off x="320988" y="362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8" name="Google Shape;1408;p91"/>
          <p:cNvGraphicFramePr/>
          <p:nvPr/>
        </p:nvGraphicFramePr>
        <p:xfrm>
          <a:off x="170675" y="134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−45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9" name="Google Shape;1409;p91"/>
          <p:cNvGraphicFramePr/>
          <p:nvPr/>
        </p:nvGraphicFramePr>
        <p:xfrm>
          <a:off x="170675" y="2581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0" name="Google Shape;1410;p91"/>
          <p:cNvSpPr txBox="1"/>
          <p:nvPr>
            <p:ph idx="1" type="subTitle"/>
          </p:nvPr>
        </p:nvSpPr>
        <p:spPr>
          <a:xfrm>
            <a:off x="337825" y="31722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can check our answer: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91"/>
          <p:cNvSpPr txBox="1"/>
          <p:nvPr>
            <p:ph idx="1" type="subTitle"/>
          </p:nvPr>
        </p:nvSpPr>
        <p:spPr>
          <a:xfrm>
            <a:off x="48336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−28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12" name="Google Shape;1412;p91"/>
          <p:cNvGraphicFramePr/>
          <p:nvPr/>
        </p:nvGraphicFramePr>
        <p:xfrm>
          <a:off x="4666475" y="134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  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−28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  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3" name="Google Shape;1413;p91"/>
          <p:cNvGraphicFramePr/>
          <p:nvPr/>
        </p:nvGraphicFramePr>
        <p:xfrm>
          <a:off x="4816788" y="362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−7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28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28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4" name="Google Shape;1414;p91"/>
          <p:cNvGraphicFramePr/>
          <p:nvPr/>
        </p:nvGraphicFramePr>
        <p:xfrm>
          <a:off x="4666475" y="2581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5" name="Google Shape;1415;p91"/>
          <p:cNvSpPr txBox="1"/>
          <p:nvPr>
            <p:ph idx="1" type="subTitle"/>
          </p:nvPr>
        </p:nvSpPr>
        <p:spPr>
          <a:xfrm>
            <a:off x="4833625" y="31722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your answer by substituting.</a:t>
            </a:r>
            <a:endParaRPr/>
          </a:p>
        </p:txBody>
      </p:sp>
      <p:graphicFrame>
        <p:nvGraphicFramePr>
          <p:cNvPr id="1416" name="Google Shape;1416;p91"/>
          <p:cNvGraphicFramePr/>
          <p:nvPr/>
        </p:nvGraphicFramePr>
        <p:xfrm>
          <a:off x="320988" y="362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7" name="Google Shape;1417;p91"/>
          <p:cNvGraphicFramePr/>
          <p:nvPr/>
        </p:nvGraphicFramePr>
        <p:xfrm>
          <a:off x="4666475" y="134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8" name="Google Shape;1418;p91"/>
          <p:cNvGraphicFramePr/>
          <p:nvPr/>
        </p:nvGraphicFramePr>
        <p:xfrm>
          <a:off x="4816788" y="362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−7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19" name="Google Shape;1419;p91"/>
          <p:cNvGrpSpPr/>
          <p:nvPr/>
        </p:nvGrpSpPr>
        <p:grpSpPr>
          <a:xfrm>
            <a:off x="1518322" y="1918396"/>
            <a:ext cx="1895287" cy="504000"/>
            <a:chOff x="1518322" y="1918396"/>
            <a:chExt cx="1895287" cy="504000"/>
          </a:xfrm>
        </p:grpSpPr>
        <p:pic>
          <p:nvPicPr>
            <p:cNvPr descr="&lt;math xmlns=&quot;http://www.w3.org/1998/Math/MathML&quot; display=&quot;block&quot; data-is-equatio=&quot;1&quot; data-latex=&quot;\textcolor{#037B7D}{\frac{1}{15}}&quot;&gt;&lt;mstyle mathcolor=&quot;#037B7D&quot;&gt;&lt;mfrac&gt;&lt;mn&gt;1&lt;/mn&gt;&lt;mn&gt;15&lt;/mn&gt;&lt;/mfrac&gt;&lt;/mstyle&gt;&lt;/math&gt;" id="1420" name="Google Shape;1420;p91" title="1 over 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36409" y="1918396"/>
              <a:ext cx="277200" cy="50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037B7D}{\frac{1}{15}}&quot;&gt;&lt;mstyle mathcolor=&quot;#037B7D&quot;&gt;&lt;mfrac&gt;&lt;mn&gt;1&lt;/mn&gt;&lt;mn&gt;15&lt;/mn&gt;&lt;/mfrac&gt;&lt;/mstyle&gt;&lt;/math&gt;" id="1421" name="Google Shape;1421;p91" title="1 over 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8322" y="1918396"/>
              <a:ext cx="277200" cy="504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2" name="Google Shape;1422;p91"/>
          <p:cNvGrpSpPr/>
          <p:nvPr/>
        </p:nvGrpSpPr>
        <p:grpSpPr>
          <a:xfrm>
            <a:off x="6086623" y="1901978"/>
            <a:ext cx="1766305" cy="553939"/>
            <a:chOff x="6086623" y="1901978"/>
            <a:chExt cx="1766305" cy="553939"/>
          </a:xfrm>
        </p:grpSpPr>
        <p:pic>
          <p:nvPicPr>
            <p:cNvPr descr="&lt;math xmlns=&quot;http://www.w3.org/1998/Math/MathML&quot; display=&quot;block&quot; data-is-equatio=&quot;1&quot; data-latex=&quot;\textcolor{#037B7D}{\frac{1}{4}}&quot;&gt;&lt;mstyle mathcolor=&quot;#037B7D&quot;&gt;&lt;mfrac&gt;&lt;mn&gt;1&lt;/mn&gt;&lt;mn&gt;4&lt;/mn&gt;&lt;/mfrac&gt;&lt;/mstyle&gt;&lt;/math&gt;" id="1423" name="Google Shape;1423;p91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86623" y="1915917"/>
              <a:ext cx="165888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037B7D}{\frac{1}{4}}&quot;&gt;&lt;mstyle mathcolor=&quot;#037B7D&quot;&gt;&lt;mfrac&gt;&lt;mn&gt;1&lt;/mn&gt;&lt;mn&gt;4&lt;/mn&gt;&lt;/mfrac&gt;&lt;/mstyle&gt;&lt;/math&gt;" id="1424" name="Google Shape;1424;p91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87040" y="1901978"/>
              <a:ext cx="165888" cy="54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5" name="Google Shape;1425;p91"/>
          <p:cNvSpPr/>
          <p:nvPr/>
        </p:nvSpPr>
        <p:spPr>
          <a:xfrm>
            <a:off x="1551375" y="2595625"/>
            <a:ext cx="1449000" cy="44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91"/>
          <p:cNvSpPr/>
          <p:nvPr/>
        </p:nvSpPr>
        <p:spPr>
          <a:xfrm>
            <a:off x="5970975" y="2595625"/>
            <a:ext cx="1449000" cy="44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92"/>
          <p:cNvSpPr txBox="1"/>
          <p:nvPr>
            <p:ph idx="1" type="body"/>
          </p:nvPr>
        </p:nvSpPr>
        <p:spPr>
          <a:xfrm>
            <a:off x="324000" y="8100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solve equations where the coefficient of the variable is a fraction. </a:t>
            </a:r>
            <a:endParaRPr sz="1800"/>
          </a:p>
        </p:txBody>
      </p:sp>
      <p:sp>
        <p:nvSpPr>
          <p:cNvPr id="1432" name="Google Shape;143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433" name="Google Shape;1433;p92"/>
          <p:cNvSpPr txBox="1"/>
          <p:nvPr>
            <p:ph idx="4294967295" type="subTitle"/>
          </p:nvPr>
        </p:nvSpPr>
        <p:spPr>
          <a:xfrm>
            <a:off x="337825" y="13434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Solve the equation</a:t>
            </a:r>
            <a:r>
              <a:rPr lang="en-GB" sz="1900"/>
              <a:t> 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1}{3}x=6&quot;&gt;&lt;mfrac&gt;&lt;mn&gt;1&lt;/mn&gt;&lt;mn&gt;3&lt;/mn&gt;&lt;/mfrac&gt;&lt;mi&gt;x&lt;/mi&gt;&lt;mo&gt;=&lt;/mo&gt;&lt;mn&gt;6&lt;/mn&gt;&lt;/math&gt;" id="1434" name="Google Shape;1434;p92" title="one third x equal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319" y="1217941"/>
            <a:ext cx="752521" cy="5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92"/>
          <p:cNvSpPr txBox="1"/>
          <p:nvPr>
            <p:ph idx="1" type="body"/>
          </p:nvPr>
        </p:nvSpPr>
        <p:spPr>
          <a:xfrm>
            <a:off x="324000" y="21054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reciprocal of      is 3 . 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436" name="Google Shape;1436;p92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2729" y="1975006"/>
            <a:ext cx="165375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92"/>
          <p:cNvSpPr txBox="1"/>
          <p:nvPr>
            <p:ph idx="1" type="body"/>
          </p:nvPr>
        </p:nvSpPr>
        <p:spPr>
          <a:xfrm>
            <a:off x="324000" y="27912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isolate one positive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1800"/>
              <a:t>, we can multiply this equation by 3</a:t>
            </a:r>
            <a:r>
              <a:rPr lang="en-GB" sz="1800"/>
              <a:t>  </a:t>
            </a:r>
            <a:endParaRPr sz="1800"/>
          </a:p>
        </p:txBody>
      </p:sp>
      <p:graphicFrame>
        <p:nvGraphicFramePr>
          <p:cNvPr id="1438" name="Google Shape;1438;p92"/>
          <p:cNvGraphicFramePr/>
          <p:nvPr/>
        </p:nvGraphicFramePr>
        <p:xfrm>
          <a:off x="323988" y="323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672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3}x&quot;&gt;&lt;mfrac&gt;&lt;mn&gt;1&lt;/mn&gt;&lt;mn&gt;3&lt;/mn&gt;&lt;/mfrac&gt;&lt;mi&gt;x&lt;/mi&gt;&lt;/math&gt;" id="1439" name="Google Shape;1439;p92" title="one third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4537" y="3139475"/>
            <a:ext cx="326337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x&quot;&gt;&lt;mfrac&gt;&lt;mn&gt;1&lt;/mn&gt;&lt;mn&gt;3&lt;/mn&gt;&lt;/mfrac&gt;&lt;mi&gt;x&lt;/mi&gt;&lt;/math&gt;" id="1440" name="Google Shape;1440;p92" title="one third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737" y="3791767"/>
            <a:ext cx="326337" cy="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1" name="Google Shape;1441;p92"/>
          <p:cNvGraphicFramePr/>
          <p:nvPr/>
        </p:nvGraphicFramePr>
        <p:xfrm>
          <a:off x="323988" y="44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195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2" name="Google Shape;1442;p92"/>
          <p:cNvGraphicFramePr/>
          <p:nvPr/>
        </p:nvGraphicFramePr>
        <p:xfrm>
          <a:off x="323988" y="3909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538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(3)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(3)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93"/>
          <p:cNvSpPr txBox="1"/>
          <p:nvPr>
            <p:ph idx="1" type="body"/>
          </p:nvPr>
        </p:nvSpPr>
        <p:spPr>
          <a:xfrm>
            <a:off x="324000" y="987900"/>
            <a:ext cx="823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solve the equation               ?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448" name="Google Shape;144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7}x\ =9&quot;&gt;&lt;mfrac&gt;&lt;mn&gt;3&lt;/mn&gt;&lt;mn&gt;7&lt;/mn&gt;&lt;/mfrac&gt;&lt;mi&gt;x&lt;/mi&gt;&lt;mtext&gt;&lt;/mtext&gt;&lt;mo&gt;=&lt;/mo&gt;&lt;mn&gt;9&lt;/mn&gt;&lt;/math&gt;" id="1449" name="Google Shape;1449;p93" title="three sevenths x equal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736" y="871159"/>
            <a:ext cx="794336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93"/>
          <p:cNvSpPr txBox="1"/>
          <p:nvPr>
            <p:ph idx="1" type="body"/>
          </p:nvPr>
        </p:nvSpPr>
        <p:spPr>
          <a:xfrm>
            <a:off x="324000" y="1644723"/>
            <a:ext cx="823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we need to multiply     by to get 1?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451" name="Google Shape;1451;p93" title="three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043" y="1549519"/>
            <a:ext cx="140682" cy="4701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93"/>
          <p:cNvSpPr txBox="1"/>
          <p:nvPr>
            <p:ph idx="1" type="body"/>
          </p:nvPr>
        </p:nvSpPr>
        <p:spPr>
          <a:xfrm>
            <a:off x="324000" y="2207100"/>
            <a:ext cx="50892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reciprocal, which is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3}&quot;&gt;&lt;mfrac&gt;&lt;mn&gt;7&lt;/mn&gt;&lt;mn&gt;3&lt;/mn&gt;&lt;/mfrac&gt;&lt;/math&gt;" id="1453" name="Google Shape;1453;p93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9708" y="2127850"/>
            <a:ext cx="141626" cy="4701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4" name="Google Shape;1454;p93"/>
          <p:cNvGraphicFramePr/>
          <p:nvPr/>
        </p:nvGraphicFramePr>
        <p:xfrm>
          <a:off x="2610000" y="33753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5" name="Google Shape;1455;p93"/>
          <p:cNvGraphicFramePr/>
          <p:nvPr/>
        </p:nvGraphicFramePr>
        <p:xfrm>
          <a:off x="2610000" y="271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6" name="Google Shape;1456;p93"/>
          <p:cNvGraphicFramePr/>
          <p:nvPr/>
        </p:nvGraphicFramePr>
        <p:xfrm>
          <a:off x="2610000" y="3927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7}x&quot;&gt;&lt;mfrac&gt;&lt;mn&gt;3&lt;/mn&gt;&lt;mn&gt;7&lt;/mn&gt;&lt;/mfrac&gt;&lt;mi&gt;x&lt;/mi&gt;&lt;/math&gt;" id="1457" name="Google Shape;1457;p93" title="three seventh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3875" y="2700000"/>
            <a:ext cx="31248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x\ \textcolor{#037B7D}{\times\frac{7}{3}}&quot;&gt;&lt;mfrac&gt;&lt;mn&gt;3&lt;/mn&gt;&lt;mn&gt;7&lt;/mn&gt;&lt;/mfrac&gt;&lt;mi&gt;x&lt;/mi&gt;&lt;mtext&gt;&lt;/mtext&gt;&lt;mstyle mathcolor=&quot;#037B7D&quot;&gt;&lt;mo&gt;×&lt;/mo&gt;&lt;mfrac&gt;&lt;mn&gt;7&lt;/mn&gt;&lt;mn&gt;3&lt;/mn&gt;&lt;/mfrac&gt;&lt;/mstyle&gt;&lt;/math&gt;" id="1458" name="Google Shape;1458;p93" title="three sevenths x times seven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2563" y="3346256"/>
            <a:ext cx="81648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3}{3}&quot;&gt;&lt;mfrac&gt;&lt;mn&gt;63&lt;/mn&gt;&lt;mn&gt;3&lt;/mn&gt;&lt;/mfrac&gt;&lt;/math&gt;" id="1459" name="Google Shape;1459;p93" title="63 over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16623" y="3932564"/>
            <a:ext cx="271385" cy="50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0" name="Google Shape;1460;p93"/>
          <p:cNvGraphicFramePr/>
          <p:nvPr/>
        </p:nvGraphicFramePr>
        <p:xfrm>
          <a:off x="2610000" y="44421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1" name="Google Shape;1461;p93"/>
          <p:cNvSpPr txBox="1"/>
          <p:nvPr>
            <p:ph idx="1" type="body"/>
          </p:nvPr>
        </p:nvSpPr>
        <p:spPr>
          <a:xfrm>
            <a:off x="5905534" y="2597975"/>
            <a:ext cx="2871000" cy="36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Checking by substituting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62" name="Google Shape;1462;p93"/>
          <p:cNvCxnSpPr/>
          <p:nvPr/>
        </p:nvCxnSpPr>
        <p:spPr>
          <a:xfrm flipH="1">
            <a:off x="5767750" y="2545175"/>
            <a:ext cx="3600" cy="2287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3}{7}\left(21\right)=9&quot;&gt;&lt;mfrac&gt;&lt;mn&gt;3&lt;/mn&gt;&lt;mn&gt;7&lt;/mn&gt;&lt;/mfrac&gt;&lt;mrow data-mjx-texclass=&quot;INNER&quot;&gt;&lt;mo data-mjx-texclass=&quot;OPEN&quot;&gt;(&lt;/mo&gt;&lt;mn&gt;21&lt;/mn&gt;&lt;mo data-mjx-texclass=&quot;CLOSE&quot;&gt;)&lt;/mo&gt;&lt;/mrow&gt;&lt;mo&gt;=&lt;/mo&gt;&lt;mn&gt;9&lt;/mn&gt;&lt;/math&gt;" id="1463" name="Google Shape;1463;p93" title="three sevenths times 21 equals 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1718" y="3159113"/>
            <a:ext cx="1008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93"/>
          <p:cNvSpPr txBox="1"/>
          <p:nvPr>
            <p:ph idx="1" type="body"/>
          </p:nvPr>
        </p:nvSpPr>
        <p:spPr>
          <a:xfrm>
            <a:off x="6434752" y="3800311"/>
            <a:ext cx="18705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9 = 9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extcolor{#037B7D}{\times\ \frac{7}{3}}&quot;&gt;&lt;mstyle mathcolor=&quot;#037B7D&quot;&gt;&lt;mo&gt;×&lt;/mo&gt;&lt;mtext&gt;&lt;/mtext&gt;&lt;mfrac&gt;&lt;mn&gt;7&lt;/mn&gt;&lt;mn&gt;3&lt;/mn&gt;&lt;/mfrac&gt;&lt;/mstyle&gt;&lt;/math&gt;" id="1465" name="Google Shape;1465;p93" title="times seven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86990" y="3342577"/>
            <a:ext cx="39312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0" name="Google Shape;1470;p94"/>
          <p:cNvGraphicFramePr/>
          <p:nvPr/>
        </p:nvGraphicFramePr>
        <p:xfrm>
          <a:off x="301425" y="3349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1" name="Google Shape;1471;p94"/>
          <p:cNvSpPr txBox="1"/>
          <p:nvPr>
            <p:ph idx="1" type="body"/>
          </p:nvPr>
        </p:nvSpPr>
        <p:spPr>
          <a:xfrm>
            <a:off x="324000" y="787950"/>
            <a:ext cx="3472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Solve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0.3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2" name="Google Shape;147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473" name="Google Shape;1473;p94"/>
          <p:cNvSpPr txBox="1"/>
          <p:nvPr/>
        </p:nvSpPr>
        <p:spPr>
          <a:xfrm flipH="1">
            <a:off x="7624825" y="185705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4" name="Google Shape;147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602" y="1136049"/>
            <a:ext cx="55304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9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741200" y="832450"/>
            <a:ext cx="2763976" cy="9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94"/>
          <p:cNvSpPr/>
          <p:nvPr/>
        </p:nvSpPr>
        <p:spPr>
          <a:xfrm flipH="1">
            <a:off x="4882778" y="889200"/>
            <a:ext cx="28554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not sure what the reciprocal of 0.3 is…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94"/>
          <p:cNvSpPr txBox="1"/>
          <p:nvPr>
            <p:ph idx="1" type="body"/>
          </p:nvPr>
        </p:nvSpPr>
        <p:spPr>
          <a:xfrm>
            <a:off x="324000" y="1385400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could Sofia do?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8" name="Google Shape;1478;p94"/>
          <p:cNvSpPr txBox="1"/>
          <p:nvPr>
            <p:ph idx="1" type="body"/>
          </p:nvPr>
        </p:nvSpPr>
        <p:spPr>
          <a:xfrm>
            <a:off x="324000" y="2313000"/>
            <a:ext cx="4248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She could convert 0.3 into a fraction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9" name="Google Shape;1479;p94"/>
          <p:cNvSpPr txBox="1"/>
          <p:nvPr>
            <p:ph idx="1" type="body"/>
          </p:nvPr>
        </p:nvSpPr>
        <p:spPr>
          <a:xfrm>
            <a:off x="4572000" y="2313000"/>
            <a:ext cx="4248000" cy="8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0.3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÷ 0.3 ≡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 she could divide both sides of the equation by 0.3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480" name="Google Shape;1480;p94"/>
          <p:cNvCxnSpPr/>
          <p:nvPr/>
        </p:nvCxnSpPr>
        <p:spPr>
          <a:xfrm>
            <a:off x="4444650" y="2313000"/>
            <a:ext cx="0" cy="2506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81" name="Google Shape;1481;p94"/>
          <p:cNvGraphicFramePr/>
          <p:nvPr/>
        </p:nvGraphicFramePr>
        <p:xfrm>
          <a:off x="301425" y="2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10}x&quot;&gt;&lt;mfrac&gt;&lt;mn&gt;3&lt;/mn&gt;&lt;mn&gt;10&lt;/mn&gt;&lt;/mfrac&gt;&lt;mi&gt;x&lt;/mi&gt;&lt;/math&gt;" id="1482" name="Google Shape;1482;p94" title="three tenth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1275" y="2669967"/>
            <a:ext cx="428818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x\ \textcolor{#037B7D}{\times\frac{10}{3}}&quot;&gt;&lt;mfrac&gt;&lt;mn&gt;3&lt;/mn&gt;&lt;mn&gt;10&lt;/mn&gt;&lt;/mfrac&gt;&lt;mi&gt;x&lt;/mi&gt;&lt;mtext&gt;&lt;/mtext&gt;&lt;mstyle mathcolor=&quot;#037B7D&quot;&gt;&lt;mo&gt;×&lt;/mo&gt;&lt;mfrac&gt;&lt;mn&gt;10&lt;/mn&gt;&lt;mn&gt;3&lt;/mn&gt;&lt;/mfrac&gt;&lt;/mstyle&gt;&lt;/math&gt;" id="1483" name="Google Shape;1483;p94" title="three tenths x times ten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6650" y="3327532"/>
            <a:ext cx="106344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037B7D}{\times\frac{10}{3}}&quot;&gt;&lt;mstyle mathcolor=&quot;#037B7D&quot;&gt;&lt;mo&gt;×&lt;/mo&gt;&lt;mfrac&gt;&lt;mn&gt;10&lt;/mn&gt;&lt;mn&gt;3&lt;/mn&gt;&lt;/mfrac&gt;&lt;/mstyle&gt;&lt;/math&gt;" id="1484" name="Google Shape;1484;p94" title="times ten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0050" y="3327532"/>
            <a:ext cx="448560" cy="50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5" name="Google Shape;1485;p94"/>
          <p:cNvGraphicFramePr/>
          <p:nvPr/>
        </p:nvGraphicFramePr>
        <p:xfrm>
          <a:off x="301425" y="3882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60}{3}&quot;&gt;&lt;mfrac&gt;&lt;mn&gt;60&lt;/mn&gt;&lt;mn&gt;3&lt;/mn&gt;&lt;/mfrac&gt;&lt;/math&gt;" id="1486" name="Google Shape;1486;p94" title="60 over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65825" y="3910819"/>
            <a:ext cx="272160" cy="50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7" name="Google Shape;1487;p94"/>
          <p:cNvGraphicFramePr/>
          <p:nvPr/>
        </p:nvGraphicFramePr>
        <p:xfrm>
          <a:off x="301425" y="44161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8" name="Google Shape;1488;p94"/>
          <p:cNvGraphicFramePr/>
          <p:nvPr/>
        </p:nvGraphicFramePr>
        <p:xfrm>
          <a:off x="4568625" y="32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0.3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9" name="Google Shape;1489;p94"/>
          <p:cNvGraphicFramePr/>
          <p:nvPr/>
        </p:nvGraphicFramePr>
        <p:xfrm>
          <a:off x="4568625" y="36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6135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0.3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0.3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0.3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0" name="Google Shape;1490;p94"/>
          <p:cNvGraphicFramePr/>
          <p:nvPr/>
        </p:nvGraphicFramePr>
        <p:xfrm>
          <a:off x="4568625" y="39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6135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60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÷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1" name="Google Shape;1491;p94"/>
          <p:cNvGraphicFramePr/>
          <p:nvPr/>
        </p:nvGraphicFramePr>
        <p:xfrm>
          <a:off x="4568625" y="44161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705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2" name="Google Shape;1492;p94"/>
          <p:cNvSpPr txBox="1"/>
          <p:nvPr>
            <p:ph idx="1" type="body"/>
          </p:nvPr>
        </p:nvSpPr>
        <p:spPr>
          <a:xfrm>
            <a:off x="4304253" y="1925400"/>
            <a:ext cx="3861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500">
                <a:latin typeface="Kalam"/>
                <a:ea typeface="Kalam"/>
                <a:cs typeface="Kalam"/>
                <a:sym typeface="Kalam"/>
              </a:rPr>
              <a:t> 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7" name="Google Shape;1497;p95"/>
          <p:cNvGraphicFramePr/>
          <p:nvPr/>
        </p:nvGraphicFramePr>
        <p:xfrm>
          <a:off x="4816788" y="37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8" name="Google Shape;1498;p95"/>
          <p:cNvSpPr txBox="1"/>
          <p:nvPr>
            <p:ph idx="1" type="subTitle"/>
          </p:nvPr>
        </p:nvSpPr>
        <p:spPr>
          <a:xfrm>
            <a:off x="337825" y="33246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can check our answer: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95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the equation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graphicFrame>
        <p:nvGraphicFramePr>
          <p:cNvPr id="1501" name="Google Shape;1501;p95"/>
          <p:cNvGraphicFramePr/>
          <p:nvPr/>
        </p:nvGraphicFramePr>
        <p:xfrm>
          <a:off x="170675" y="2108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10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−20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2" name="Google Shape;1502;p95"/>
          <p:cNvGraphicFramePr/>
          <p:nvPr/>
        </p:nvGraphicFramePr>
        <p:xfrm>
          <a:off x="320988" y="37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3" name="Google Shape;1503;p95"/>
          <p:cNvGraphicFramePr/>
          <p:nvPr/>
        </p:nvGraphicFramePr>
        <p:xfrm>
          <a:off x="170675" y="150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4" name="Google Shape;1504;p95"/>
          <p:cNvGraphicFramePr/>
          <p:nvPr/>
        </p:nvGraphicFramePr>
        <p:xfrm>
          <a:off x="170675" y="27134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−200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5" name="Google Shape;1505;p95"/>
          <p:cNvSpPr txBox="1"/>
          <p:nvPr>
            <p:ph idx="1" type="subTitle"/>
          </p:nvPr>
        </p:nvSpPr>
        <p:spPr>
          <a:xfrm>
            <a:off x="48336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the equation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06" name="Google Shape;1506;p95"/>
          <p:cNvGraphicFramePr/>
          <p:nvPr/>
        </p:nvGraphicFramePr>
        <p:xfrm>
          <a:off x="4816788" y="42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7" name="Google Shape;1507;p95"/>
          <p:cNvGraphicFramePr/>
          <p:nvPr/>
        </p:nvGraphicFramePr>
        <p:xfrm>
          <a:off x="4666475" y="2734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8" name="Google Shape;1508;p95"/>
          <p:cNvSpPr txBox="1"/>
          <p:nvPr>
            <p:ph idx="1" type="subTitle"/>
          </p:nvPr>
        </p:nvSpPr>
        <p:spPr>
          <a:xfrm>
            <a:off x="4833625" y="33246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your answer by substituting.</a:t>
            </a:r>
            <a:endParaRPr/>
          </a:p>
        </p:txBody>
      </p:sp>
      <p:graphicFrame>
        <p:nvGraphicFramePr>
          <p:cNvPr id="1509" name="Google Shape;1509;p95"/>
          <p:cNvGraphicFramePr/>
          <p:nvPr/>
        </p:nvGraphicFramePr>
        <p:xfrm>
          <a:off x="4666475" y="134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10}x\ =\ -20&quot;&gt;&lt;mfrac&gt;&lt;mn&gt;1&lt;/mn&gt;&lt;mn&gt;10&lt;/mn&gt;&lt;/mfrac&gt;&lt;mi&gt;x&lt;/mi&gt;&lt;mtext&gt;&lt;/mtext&gt;&lt;mo&gt;=&lt;/mo&gt;&lt;mtext&gt;&lt;/mtext&gt;&lt;mo&gt;−&lt;/mo&gt;&lt;mn&gt;20&lt;/mn&gt;&lt;/math&gt;" id="1510" name="Google Shape;1510;p95" title="one tenth x equals negative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375" y="729018"/>
            <a:ext cx="1372659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x&quot;&gt;&lt;mfrac&gt;&lt;mn&gt;1&lt;/mn&gt;&lt;mn&gt;10&lt;/mn&gt;&lt;/mfrac&gt;&lt;mi&gt;x&lt;/mi&gt;&lt;/math&gt;" id="1511" name="Google Shape;1511;p95" title="one tenth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363" y="1498000"/>
            <a:ext cx="42887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x\textcolor{#037B7D}{\times10}&quot;&gt;&lt;mfrac&gt;&lt;mn&gt;1&lt;/mn&gt;&lt;mn&gt;10&lt;/mn&gt;&lt;/mfrac&gt;&lt;mi&gt;x&lt;/mi&gt;&lt;mstyle mathcolor=&quot;#037B7D&quot;&gt;&lt;mo&gt;×&lt;/mo&gt;&lt;mn&gt;10&lt;/mn&gt;&lt;/mstyle&gt;&lt;/math&gt;" id="1512" name="Google Shape;1512;p95" title="one tenth x times 10"/>
          <p:cNvPicPr preferRelativeResize="0"/>
          <p:nvPr/>
        </p:nvPicPr>
        <p:blipFill rotWithShape="1">
          <a:blip r:embed="rId5">
            <a:alphaModFix/>
          </a:blip>
          <a:srcRect b="0" l="0" r="46053" t="0"/>
          <a:stretch/>
        </p:blipFill>
        <p:spPr>
          <a:xfrm>
            <a:off x="918990" y="2173995"/>
            <a:ext cx="505725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left(-200\right)&quot;&gt;&lt;mfrac&gt;&lt;mn&gt;1&lt;/mn&gt;&lt;mn&gt;10&lt;/mn&gt;&lt;/mfrac&gt;&lt;mrow data-mjx-texclass=&quot;INNER&quot;&gt;&lt;mo data-mjx-texclass=&quot;OPEN&quot;&gt;(&lt;/mo&gt;&lt;mo&gt;−&lt;/mo&gt;&lt;mn&gt;200&lt;/mn&gt;&lt;mo data-mjx-texclass=&quot;CLOSE&quot;&gt;)&lt;/mo&gt;&lt;/mrow&gt;&lt;/math&gt;" id="1513" name="Google Shape;1513;p95" title="one tenth times negative 2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1436" y="3773642"/>
            <a:ext cx="979776" cy="50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4" name="Google Shape;1514;p95"/>
          <p:cNvGraphicFramePr/>
          <p:nvPr/>
        </p:nvGraphicFramePr>
        <p:xfrm>
          <a:off x="320988" y="42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651350"/>
                <a:gridCol w="354875"/>
                <a:gridCol w="1716175"/>
              </a:tblGrid>
              <a:tr h="440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5}x\ =\ -7&quot;&gt;&lt;mfrac&gt;&lt;mn&gt;1&lt;/mn&gt;&lt;mn&gt;5&lt;/mn&gt;&lt;/mfrac&gt;&lt;mi&gt;x&lt;/mi&gt;&lt;mtext&gt;&lt;/mtext&gt;&lt;mo&gt;=&lt;/mo&gt;&lt;mtext&gt;&lt;/mtext&gt;&lt;mo&gt;−&lt;/mo&gt;&lt;mn&gt;7&lt;/mn&gt;&lt;/math&gt;" id="1515" name="Google Shape;1515;p95" title="one fifth x equals negative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89925" y="729018"/>
            <a:ext cx="1119273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x\ &quot;&gt;&lt;mfrac&gt;&lt;mn&gt;1&lt;/mn&gt;&lt;mn&gt;5&lt;/mn&gt;&lt;/mfrac&gt;&lt;mi&gt;x&lt;/mi&gt;&lt;mtext&gt;&lt;/mtext&gt;&lt;/math&gt;" id="1516" name="Google Shape;1516;p95" title="one fifth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5400" y="1345600"/>
            <a:ext cx="307440" cy="50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7" name="Google Shape;1517;p95"/>
          <p:cNvGraphicFramePr/>
          <p:nvPr/>
        </p:nvGraphicFramePr>
        <p:xfrm>
          <a:off x="4666475" y="1956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5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5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5}x\ &quot;&gt;&lt;mfrac&gt;&lt;mn&gt;1&lt;/mn&gt;&lt;mn&gt;5&lt;/mn&gt;&lt;/mfrac&gt;&lt;mi&gt;x&lt;/mi&gt;&lt;mtext&gt;&lt;/mtext&gt;&lt;/math&gt;" id="1518" name="Google Shape;1518;p95" title="one fifth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22000" y="1984177"/>
            <a:ext cx="30744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left(-35\right)\ &quot;&gt;&lt;mfrac&gt;&lt;mn&gt;1&lt;/mn&gt;&lt;mn&gt;5&lt;/mn&gt;&lt;/mfrac&gt;&lt;mrow data-mjx-texclass=&quot;INNER&quot;&gt;&lt;mo data-mjx-texclass=&quot;OPEN&quot;&gt;(&lt;/mo&gt;&lt;mo&gt;−&lt;/mo&gt;&lt;mn&gt;35&lt;/mn&gt;&lt;mo data-mjx-texclass=&quot;CLOSE&quot;&gt;)&lt;/mo&gt;&lt;/mrow&gt;&lt;mtext&gt;&lt;/mtext&gt;&lt;/math&gt;" id="1519" name="Google Shape;1519;p95" title="one fifth times negative 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10088" y="3743231"/>
            <a:ext cx="74088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95"/>
          <p:cNvSpPr/>
          <p:nvPr/>
        </p:nvSpPr>
        <p:spPr>
          <a:xfrm>
            <a:off x="1627575" y="2748025"/>
            <a:ext cx="1449000" cy="44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95"/>
          <p:cNvSpPr/>
          <p:nvPr/>
        </p:nvSpPr>
        <p:spPr>
          <a:xfrm>
            <a:off x="6047175" y="2748025"/>
            <a:ext cx="1449000" cy="44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007150" y="1147700"/>
            <a:ext cx="2252099" cy="19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96"/>
          <p:cNvSpPr txBox="1"/>
          <p:nvPr>
            <p:ph idx="1" type="body"/>
          </p:nvPr>
        </p:nvSpPr>
        <p:spPr>
          <a:xfrm>
            <a:off x="324000" y="745550"/>
            <a:ext cx="6364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Lucas and </a:t>
            </a:r>
            <a:r>
              <a:rPr lang="en-GB" sz="1800"/>
              <a:t>Jacob</a:t>
            </a:r>
            <a:r>
              <a:rPr lang="en-GB" sz="1800"/>
              <a:t> are s</a:t>
            </a:r>
            <a:r>
              <a:rPr lang="en-GB" sz="1800"/>
              <a:t>olving the equation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8" name="Google Shape;152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529" name="Google Shape;1529;p96"/>
          <p:cNvSpPr/>
          <p:nvPr/>
        </p:nvSpPr>
        <p:spPr>
          <a:xfrm flipH="1">
            <a:off x="6104925" y="1257150"/>
            <a:ext cx="2049900" cy="1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don’t need to show my working out, it’s easy.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 × 4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so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0" name="Google Shape;153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9" y="2050284"/>
            <a:ext cx="1340875" cy="147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88214" y="2888650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96"/>
          <p:cNvSpPr txBox="1"/>
          <p:nvPr/>
        </p:nvSpPr>
        <p:spPr>
          <a:xfrm>
            <a:off x="7101150" y="4547400"/>
            <a:ext cx="996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6"/>
          <p:cNvSpPr txBox="1"/>
          <p:nvPr/>
        </p:nvSpPr>
        <p:spPr>
          <a:xfrm>
            <a:off x="448325" y="3861600"/>
            <a:ext cx="996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4" name="Google Shape;1534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38052" y="1178737"/>
            <a:ext cx="2431698" cy="97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3}=12&quot;&gt;&lt;mfrac&gt;&lt;mi&gt;x&lt;/mi&gt;&lt;mn&gt;3&lt;/mn&gt;&lt;/mfrac&gt;&lt;mo&gt;=&lt;/mo&gt;&lt;mn&gt;12&lt;/mn&gt;&lt;/math&gt;" id="1535" name="Google Shape;1535;p96" title="x over 3 equals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5900" y="745550"/>
            <a:ext cx="7085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96"/>
          <p:cNvSpPr/>
          <p:nvPr/>
        </p:nvSpPr>
        <p:spPr>
          <a:xfrm>
            <a:off x="1905200" y="2162175"/>
            <a:ext cx="2049900" cy="1895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6"/>
          <p:cNvSpPr/>
          <p:nvPr/>
        </p:nvSpPr>
        <p:spPr>
          <a:xfrm flipH="1">
            <a:off x="801300" y="1293575"/>
            <a:ext cx="20499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is my work.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x}{3}\times3=12\times3&quot;&gt;&lt;mfrac&gt;&lt;mi&gt;x&lt;/mi&gt;&lt;mn&gt;3&lt;/mn&gt;&lt;/mfrac&gt;&lt;mo&gt;×&lt;/mo&gt;&lt;mn&gt;3&lt;/mn&gt;&lt;mo&gt;=&lt;/mo&gt;&lt;mn&gt;12&lt;/mn&gt;&lt;mo&gt;×&lt;/mo&gt;&lt;mn&gt;3&lt;/mn&gt;&lt;/math&gt;" id="1538" name="Google Shape;1538;p96" title="x over 3 times 3 equals 12 time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1555" y="3022223"/>
            <a:ext cx="1481971" cy="445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x\times3=12\times3&quot;&gt;&lt;mfrac&gt;&lt;mn&gt;1&lt;/mn&gt;&lt;mn&gt;3&lt;/mn&gt;&lt;/mfrac&gt;&lt;mi&gt;x&lt;/mi&gt;&lt;mo&gt;×&lt;/mo&gt;&lt;mn&gt;3&lt;/mn&gt;&lt;mo&gt;=&lt;/mo&gt;&lt;mn&gt;12&lt;/mn&gt;&lt;mo&gt;×&lt;/mo&gt;&lt;mn&gt;3&lt;/mn&gt;&lt;/math&gt;" id="1539" name="Google Shape;1539;p96" title="one third x times 3 equals 12 time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29050" y="2390787"/>
            <a:ext cx="1681031" cy="526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36&quot;&gt;&lt;mi&gt;x&lt;/mi&gt;&lt;mo&gt;=&lt;/mo&gt;&lt;mn&gt;36&lt;/mn&gt;&lt;/math&gt;" id="1540" name="Google Shape;1540;p96" title="x equals 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15925" y="3572725"/>
            <a:ext cx="708500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96"/>
          <p:cNvSpPr txBox="1"/>
          <p:nvPr>
            <p:ph idx="1" type="body"/>
          </p:nvPr>
        </p:nvSpPr>
        <p:spPr>
          <a:xfrm>
            <a:off x="324000" y="4473750"/>
            <a:ext cx="63645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Who do you think is correct?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2" name="Google Shape;1542;p96"/>
          <p:cNvSpPr txBox="1"/>
          <p:nvPr>
            <p:ph idx="1" type="body"/>
          </p:nvPr>
        </p:nvSpPr>
        <p:spPr>
          <a:xfrm>
            <a:off x="4141950" y="3352800"/>
            <a:ext cx="2959200" cy="12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is correct.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has made a common mistake in thinking he needs to divide 12 by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97"/>
          <p:cNvSpPr txBox="1"/>
          <p:nvPr>
            <p:ph idx="1" type="body"/>
          </p:nvPr>
        </p:nvSpPr>
        <p:spPr>
          <a:xfrm>
            <a:off x="324000" y="745550"/>
            <a:ext cx="6364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</a:t>
            </a:r>
            <a:r>
              <a:rPr lang="en-GB" sz="1800"/>
              <a:t>solving equations like this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8" name="Google Shape;154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x}{3}=12&quot;&gt;&lt;mfrac&gt;&lt;mi&gt;x&lt;/mi&gt;&lt;mn&gt;3&lt;/mn&gt;&lt;/mfrac&gt;&lt;mo&gt;=&lt;/mo&gt;&lt;mn&gt;12&lt;/mn&gt;&lt;/math&gt;" id="1549" name="Google Shape;1549;p97" title="x over 3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675" y="713775"/>
            <a:ext cx="7085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97"/>
          <p:cNvSpPr/>
          <p:nvPr/>
        </p:nvSpPr>
        <p:spPr>
          <a:xfrm>
            <a:off x="6748900" y="1473925"/>
            <a:ext cx="2049900" cy="1895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x}{3}\times3=12\times3&quot;&gt;&lt;mfrac&gt;&lt;mi&gt;x&lt;/mi&gt;&lt;mn&gt;3&lt;/mn&gt;&lt;/mfrac&gt;&lt;mo&gt;×&lt;/mo&gt;&lt;mn&gt;3&lt;/mn&gt;&lt;mo&gt;=&lt;/mo&gt;&lt;mn&gt;12&lt;/mn&gt;&lt;mo&gt;×&lt;/mo&gt;&lt;mn&gt;3&lt;/mn&gt;&lt;/math&gt;" id="1551" name="Google Shape;1551;p97" title="x over 3 times 3 equals 12 time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5255" y="2333973"/>
            <a:ext cx="1481971" cy="445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x\times3=12\times3&quot;&gt;&lt;mfrac&gt;&lt;mn&gt;1&lt;/mn&gt;&lt;mn&gt;3&lt;/mn&gt;&lt;/mfrac&gt;&lt;mi&gt;x&lt;/mi&gt;&lt;mo&gt;×&lt;/mo&gt;&lt;mn&gt;3&lt;/mn&gt;&lt;mo&gt;=&lt;/mo&gt;&lt;mn&gt;12&lt;/mn&gt;&lt;mo&gt;×&lt;/mo&gt;&lt;mn&gt;3&lt;/mn&gt;&lt;/math&gt;" id="1552" name="Google Shape;1552;p97" title="one third x times 3 equals 12 time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2750" y="1702537"/>
            <a:ext cx="1681031" cy="526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36&quot;&gt;&lt;mi&gt;x&lt;/mi&gt;&lt;mo&gt;=&lt;/mo&gt;&lt;mn&gt;36&lt;/mn&gt;&lt;/math&gt;" id="1553" name="Google Shape;1553;p97" title="x equals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9625" y="2884475"/>
            <a:ext cx="708500" cy="1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97"/>
          <p:cNvSpPr txBox="1"/>
          <p:nvPr>
            <p:ph idx="1" type="body"/>
          </p:nvPr>
        </p:nvSpPr>
        <p:spPr>
          <a:xfrm>
            <a:off x="324000" y="3638825"/>
            <a:ext cx="68013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Both of these are different ways of saying the same thing.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5" name="Google Shape;1555;p97"/>
          <p:cNvSpPr txBox="1"/>
          <p:nvPr>
            <p:ph idx="1" type="body"/>
          </p:nvPr>
        </p:nvSpPr>
        <p:spPr>
          <a:xfrm>
            <a:off x="324000" y="1417075"/>
            <a:ext cx="6364500" cy="9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read it as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divided by 3 and remember that the inverse operation would be to multiply by 3, and do this to </a:t>
            </a:r>
            <a:r>
              <a:rPr lang="en-GB" sz="1800"/>
              <a:t>both sides of the equation.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6" name="Google Shape;1556;p97"/>
          <p:cNvSpPr txBox="1"/>
          <p:nvPr>
            <p:ph idx="1" type="body"/>
          </p:nvPr>
        </p:nvSpPr>
        <p:spPr>
          <a:xfrm>
            <a:off x="324000" y="2610900"/>
            <a:ext cx="6364500" cy="9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Or you can read it as    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so you multiply by the reciprocal of     which is    or just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/>
              <a:t>, like Lucas did.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7" name="Google Shape;1557;p97"/>
          <p:cNvSpPr txBox="1"/>
          <p:nvPr>
            <p:ph idx="1" type="body"/>
          </p:nvPr>
        </p:nvSpPr>
        <p:spPr>
          <a:xfrm>
            <a:off x="6842100" y="1142400"/>
            <a:ext cx="1977900" cy="3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Lucas’s work: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558" name="Google Shape;1558;p97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59250" y="2545275"/>
            <a:ext cx="129511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}&quot;&gt;&lt;mfrac&gt;&lt;mn&gt;3&lt;/mn&gt;&lt;mn&gt;1&lt;/mn&gt;&lt;/mfrac&gt;&lt;/math&gt;" id="1559" name="Google Shape;1559;p97" title="three one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80473" y="2970813"/>
            <a:ext cx="132594" cy="4224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560" name="Google Shape;1560;p97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1300" y="2967725"/>
            <a:ext cx="12951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98"/>
          <p:cNvSpPr txBox="1"/>
          <p:nvPr>
            <p:ph idx="1" type="subTitle"/>
          </p:nvPr>
        </p:nvSpPr>
        <p:spPr>
          <a:xfrm>
            <a:off x="337825" y="8862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the equation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567" name="Google Shape;1567;p98"/>
          <p:cNvSpPr txBox="1"/>
          <p:nvPr>
            <p:ph idx="1" type="subTitle"/>
          </p:nvPr>
        </p:nvSpPr>
        <p:spPr>
          <a:xfrm>
            <a:off x="4833625" y="8862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the equation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y}{6}=12&quot;&gt;&lt;mfrac&gt;&lt;mi&gt;y&lt;/mi&gt;&lt;mn&gt;6&lt;/mn&gt;&lt;/mfrac&gt;&lt;mo&gt;=&lt;/mo&gt;&lt;mn&gt;12&lt;/mn&gt;&lt;/math&gt;" id="1568" name="Google Shape;1568;p98" title="y over 6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7275" y="756675"/>
            <a:ext cx="844668" cy="529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h}{4}=20&quot;&gt;&lt;mfrac&gt;&lt;mi&gt;h&lt;/mi&gt;&lt;mn&gt;4&lt;/mn&gt;&lt;/mfrac&gt;&lt;mo&gt;=&lt;/mo&gt;&lt;mn&gt;20&lt;/mn&gt;&lt;/math&gt;" id="1569" name="Google Shape;1569;p98" title="h over 4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473" y="745538"/>
            <a:ext cx="8891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h}{4}\times4=20\times4&quot;&gt;&lt;mfrac&gt;&lt;mi&gt;h&lt;/mi&gt;&lt;mn&gt;4&lt;/mn&gt;&lt;/mfrac&gt;&lt;mo&gt;×&lt;/mo&gt;&lt;mn&gt;4&lt;/mn&gt;&lt;mo&gt;=&lt;/mo&gt;&lt;mn&gt;20&lt;/mn&gt;&lt;mo&gt;×&lt;/mo&gt;&lt;mn&gt;4&lt;/mn&gt;&lt;/math&gt;" id="1570" name="Google Shape;1570;p98" title="h over 4 times 4 equals 20 time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712" y="2371225"/>
            <a:ext cx="1997495" cy="667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=80&quot;&gt;&lt;mi&gt;h&lt;/mi&gt;&lt;mo&gt;=&lt;/mo&gt;&lt;mn&gt;80&lt;/mn&gt;&lt;/math&gt;" id="1571" name="Google Shape;1571;p98" title="h equals 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6550" y="3272954"/>
            <a:ext cx="881942" cy="227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y}{6}\times6=12\times6&quot;&gt;&lt;mfrac&gt;&lt;mi&gt;y&lt;/mi&gt;&lt;mn&gt;6&lt;/mn&gt;&lt;/mfrac&gt;&lt;mo&gt;×&lt;/mo&gt;&lt;mn&gt;6&lt;/mn&gt;&lt;mo&gt;=&lt;/mo&gt;&lt;mn&gt;12&lt;/mn&gt;&lt;mo&gt;×&lt;/mo&gt;&lt;mn&gt;6&lt;/mn&gt;&lt;/math&gt;" id="1572" name="Google Shape;1572;p98" title="y over 6 times 6 equals 12 times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3949" y="2412211"/>
            <a:ext cx="1891091" cy="575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72&quot;&gt;&lt;mi&gt;y&lt;/mi&gt;&lt;mo&gt;=&lt;/mo&gt;&lt;mn&gt;72&lt;/mn&gt;&lt;/math&gt;" id="1573" name="Google Shape;1573;p98" title="y equals 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37126" y="3245900"/>
            <a:ext cx="860299" cy="281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y}{6}=12&quot;&gt;&lt;mfrac&gt;&lt;mi&gt;y&lt;/mi&gt;&lt;mn&gt;6&lt;/mn&gt;&lt;/mfrac&gt;&lt;mo&gt;=&lt;/mo&gt;&lt;mn&gt;12&lt;/mn&gt;&lt;/math&gt;" id="1574" name="Google Shape;1574;p98" title="y over 6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363" y="1625050"/>
            <a:ext cx="844668" cy="529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h}{4}=20&quot;&gt;&lt;mfrac&gt;&lt;mi&gt;h&lt;/mi&gt;&lt;mn&gt;4&lt;/mn&gt;&lt;/mfrac&gt;&lt;mo&gt;=&lt;/mo&gt;&lt;mn&gt;20&lt;/mn&gt;&lt;/math&gt;" id="1575" name="Google Shape;1575;p98" title="h over 4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911" y="1598800"/>
            <a:ext cx="889125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0" name="Google Shape;1580;p99"/>
          <p:cNvGrpSpPr/>
          <p:nvPr/>
        </p:nvGrpSpPr>
        <p:grpSpPr>
          <a:xfrm>
            <a:off x="2582345" y="1826578"/>
            <a:ext cx="345609" cy="345609"/>
            <a:chOff x="875285" y="1302000"/>
            <a:chExt cx="488700" cy="488700"/>
          </a:xfrm>
        </p:grpSpPr>
        <p:sp>
          <p:nvSpPr>
            <p:cNvPr id="1581" name="Google Shape;1581;p99"/>
            <p:cNvSpPr/>
            <p:nvPr/>
          </p:nvSpPr>
          <p:spPr>
            <a:xfrm>
              <a:off x="875285" y="1302000"/>
              <a:ext cx="488700" cy="4887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582" name="Google Shape;1582;p99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72733" y="1422092"/>
              <a:ext cx="118400" cy="26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3" name="Google Shape;1583;p99"/>
          <p:cNvGrpSpPr/>
          <p:nvPr/>
        </p:nvGrpSpPr>
        <p:grpSpPr>
          <a:xfrm>
            <a:off x="3039545" y="1826578"/>
            <a:ext cx="345609" cy="345609"/>
            <a:chOff x="875285" y="1302000"/>
            <a:chExt cx="488700" cy="488700"/>
          </a:xfrm>
        </p:grpSpPr>
        <p:sp>
          <p:nvSpPr>
            <p:cNvPr id="1584" name="Google Shape;1584;p99"/>
            <p:cNvSpPr/>
            <p:nvPr/>
          </p:nvSpPr>
          <p:spPr>
            <a:xfrm>
              <a:off x="875285" y="1302000"/>
              <a:ext cx="488700" cy="4887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585" name="Google Shape;1585;p99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72733" y="1422092"/>
              <a:ext cx="118400" cy="26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6" name="Google Shape;1586;p99"/>
          <p:cNvGrpSpPr/>
          <p:nvPr/>
        </p:nvGrpSpPr>
        <p:grpSpPr>
          <a:xfrm>
            <a:off x="2810945" y="2221985"/>
            <a:ext cx="345609" cy="345609"/>
            <a:chOff x="875285" y="1302000"/>
            <a:chExt cx="488700" cy="488700"/>
          </a:xfrm>
        </p:grpSpPr>
        <p:sp>
          <p:nvSpPr>
            <p:cNvPr id="1587" name="Google Shape;1587;p99"/>
            <p:cNvSpPr/>
            <p:nvPr/>
          </p:nvSpPr>
          <p:spPr>
            <a:xfrm>
              <a:off x="875285" y="1302000"/>
              <a:ext cx="488700" cy="4887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588" name="Google Shape;1588;p99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72733" y="1422092"/>
              <a:ext cx="118400" cy="2664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89" name="Google Shape;1589;p99"/>
          <p:cNvGraphicFramePr/>
          <p:nvPr/>
        </p:nvGraphicFramePr>
        <p:xfrm>
          <a:off x="221100" y="1718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781550"/>
                <a:gridCol w="382850"/>
                <a:gridCol w="1851475"/>
              </a:tblGrid>
              <a:tr h="5804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0" name="Google Shape;1590;p99"/>
          <p:cNvSpPr txBox="1"/>
          <p:nvPr>
            <p:ph idx="1" type="body"/>
          </p:nvPr>
        </p:nvSpPr>
        <p:spPr>
          <a:xfrm>
            <a:off x="324000" y="759300"/>
            <a:ext cx="8496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also solve equations with negative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by using a multiplicative step.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591" name="Google Shape;159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grpSp>
        <p:nvGrpSpPr>
          <p:cNvPr id="1592" name="Google Shape;1592;p99"/>
          <p:cNvGrpSpPr/>
          <p:nvPr/>
        </p:nvGrpSpPr>
        <p:grpSpPr>
          <a:xfrm>
            <a:off x="633739" y="1814401"/>
            <a:ext cx="1323628" cy="345609"/>
            <a:chOff x="1366500" y="1300400"/>
            <a:chExt cx="1873500" cy="488700"/>
          </a:xfrm>
        </p:grpSpPr>
        <p:sp>
          <p:nvSpPr>
            <p:cNvPr id="1593" name="Google Shape;1593;p99"/>
            <p:cNvSpPr/>
            <p:nvPr/>
          </p:nvSpPr>
          <p:spPr>
            <a:xfrm>
              <a:off x="1366500" y="1300400"/>
              <a:ext cx="1873500" cy="4887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594" name="Google Shape;1594;p99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84188" y="1444738"/>
              <a:ext cx="219075" cy="200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5" name="Google Shape;1595;p99"/>
          <p:cNvGrpSpPr/>
          <p:nvPr/>
        </p:nvGrpSpPr>
        <p:grpSpPr>
          <a:xfrm>
            <a:off x="633747" y="1814401"/>
            <a:ext cx="1323628" cy="345609"/>
            <a:chOff x="4414500" y="1300400"/>
            <a:chExt cx="1873500" cy="488700"/>
          </a:xfrm>
        </p:grpSpPr>
        <p:sp>
          <p:nvSpPr>
            <p:cNvPr id="1596" name="Google Shape;1596;p99"/>
            <p:cNvSpPr/>
            <p:nvPr/>
          </p:nvSpPr>
          <p:spPr>
            <a:xfrm>
              <a:off x="4414500" y="1300400"/>
              <a:ext cx="1873500" cy="4887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-x&quot;&gt;&lt;mo&gt;−&lt;/mo&gt;&lt;mi&gt;x&lt;/mi&gt;&lt;/math&gt;" id="1597" name="Google Shape;1597;p99" title="negative x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41925" y="1475385"/>
              <a:ext cx="399600" cy="159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8" name="Google Shape;1598;p99"/>
          <p:cNvGrpSpPr/>
          <p:nvPr/>
        </p:nvGrpSpPr>
        <p:grpSpPr>
          <a:xfrm>
            <a:off x="2582322" y="1821627"/>
            <a:ext cx="802809" cy="748220"/>
            <a:chOff x="2582322" y="1821627"/>
            <a:chExt cx="802809" cy="748220"/>
          </a:xfrm>
        </p:grpSpPr>
        <p:grpSp>
          <p:nvGrpSpPr>
            <p:cNvPr id="1599" name="Google Shape;1599;p99"/>
            <p:cNvGrpSpPr/>
            <p:nvPr/>
          </p:nvGrpSpPr>
          <p:grpSpPr>
            <a:xfrm>
              <a:off x="2582322" y="1821627"/>
              <a:ext cx="345609" cy="345609"/>
              <a:chOff x="3923285" y="1302000"/>
              <a:chExt cx="488700" cy="488700"/>
            </a:xfrm>
          </p:grpSpPr>
          <p:sp>
            <p:nvSpPr>
              <p:cNvPr id="1600" name="Google Shape;1600;p99"/>
              <p:cNvSpPr/>
              <p:nvPr/>
            </p:nvSpPr>
            <p:spPr>
              <a:xfrm>
                <a:off x="3923285" y="1302000"/>
                <a:ext cx="488700" cy="4887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01" name="Google Shape;1601;p9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970275" y="1413150"/>
                <a:ext cx="399600" cy="266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02" name="Google Shape;1602;p99"/>
            <p:cNvGrpSpPr/>
            <p:nvPr/>
          </p:nvGrpSpPr>
          <p:grpSpPr>
            <a:xfrm>
              <a:off x="3039522" y="1821627"/>
              <a:ext cx="345609" cy="345609"/>
              <a:chOff x="3923285" y="1302000"/>
              <a:chExt cx="488700" cy="488700"/>
            </a:xfrm>
          </p:grpSpPr>
          <p:sp>
            <p:nvSpPr>
              <p:cNvPr id="1603" name="Google Shape;1603;p99"/>
              <p:cNvSpPr/>
              <p:nvPr/>
            </p:nvSpPr>
            <p:spPr>
              <a:xfrm>
                <a:off x="3923285" y="1302000"/>
                <a:ext cx="488700" cy="4887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04" name="Google Shape;1604;p9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970275" y="1413150"/>
                <a:ext cx="399600" cy="266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05" name="Google Shape;1605;p99"/>
            <p:cNvGrpSpPr/>
            <p:nvPr/>
          </p:nvGrpSpPr>
          <p:grpSpPr>
            <a:xfrm>
              <a:off x="2803718" y="2224238"/>
              <a:ext cx="345609" cy="345609"/>
              <a:chOff x="3923285" y="1302000"/>
              <a:chExt cx="488700" cy="488700"/>
            </a:xfrm>
          </p:grpSpPr>
          <p:sp>
            <p:nvSpPr>
              <p:cNvPr id="1606" name="Google Shape;1606;p99"/>
              <p:cNvSpPr/>
              <p:nvPr/>
            </p:nvSpPr>
            <p:spPr>
              <a:xfrm>
                <a:off x="3923285" y="1302000"/>
                <a:ext cx="488700" cy="4887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07" name="Google Shape;1607;p9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970275" y="1413150"/>
                <a:ext cx="399600" cy="266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08" name="Google Shape;1608;p99"/>
          <p:cNvSpPr txBox="1"/>
          <p:nvPr>
            <p:ph idx="1" type="body"/>
          </p:nvPr>
        </p:nvSpPr>
        <p:spPr>
          <a:xfrm>
            <a:off x="4320000" y="1578450"/>
            <a:ext cx="4500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can you multiply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by</a:t>
            </a:r>
            <a:r>
              <a:rPr lang="en-GB" sz="1800"/>
              <a:t> to make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609" name="Google Shape;1609;p99"/>
          <p:cNvSpPr txBox="1"/>
          <p:nvPr>
            <p:ph idx="1" type="body"/>
          </p:nvPr>
        </p:nvSpPr>
        <p:spPr>
          <a:xfrm>
            <a:off x="4320000" y="2456925"/>
            <a:ext cx="4015800" cy="4305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× (−1) or you could ÷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(−1)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1610" name="Google Shape;1610;p99"/>
          <p:cNvSpPr txBox="1"/>
          <p:nvPr>
            <p:ph idx="1" type="body"/>
          </p:nvPr>
        </p:nvSpPr>
        <p:spPr>
          <a:xfrm>
            <a:off x="324000" y="3167850"/>
            <a:ext cx="8496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I need to do to the right hand side to maintain equality?</a:t>
            </a:r>
            <a:endParaRPr sz="1800"/>
          </a:p>
        </p:txBody>
      </p:sp>
      <p:sp>
        <p:nvSpPr>
          <p:cNvPr id="1611" name="Google Shape;1611;p99"/>
          <p:cNvSpPr txBox="1"/>
          <p:nvPr>
            <p:ph idx="1" type="body"/>
          </p:nvPr>
        </p:nvSpPr>
        <p:spPr>
          <a:xfrm>
            <a:off x="324000" y="3598350"/>
            <a:ext cx="3045600" cy="4305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× (−1) or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÷ (−1)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1612" name="Google Shape;1612;p99"/>
          <p:cNvSpPr txBox="1"/>
          <p:nvPr>
            <p:ph idx="1" type="body"/>
          </p:nvPr>
        </p:nvSpPr>
        <p:spPr>
          <a:xfrm>
            <a:off x="3369600" y="3598350"/>
            <a:ext cx="4902600" cy="5424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using physical algebra tiles, you can flip all of the tiles over to multiply by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cxnSp>
        <p:nvCxnSpPr>
          <p:cNvPr id="1613" name="Google Shape;1613;p99"/>
          <p:cNvCxnSpPr/>
          <p:nvPr/>
        </p:nvCxnSpPr>
        <p:spPr>
          <a:xfrm flipH="1">
            <a:off x="2180075" y="1880175"/>
            <a:ext cx="53100" cy="1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00"/>
          <p:cNvSpPr txBox="1"/>
          <p:nvPr>
            <p:ph idx="1" type="body"/>
          </p:nvPr>
        </p:nvSpPr>
        <p:spPr>
          <a:xfrm>
            <a:off x="324000" y="752100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pupils are solving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35. </a:t>
            </a:r>
            <a:r>
              <a:rPr lang="en-GB" sz="1800"/>
              <a:t>Which method do you think is best?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619" name="Google Shape;161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graphicFrame>
        <p:nvGraphicFramePr>
          <p:cNvPr id="1620" name="Google Shape;1620;p100"/>
          <p:cNvGraphicFramePr/>
          <p:nvPr/>
        </p:nvGraphicFramePr>
        <p:xfrm>
          <a:off x="266738" y="139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336250"/>
                <a:gridCol w="272000"/>
                <a:gridCol w="13757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(−1)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   )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   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−7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1" name="Google Shape;1621;p100"/>
          <p:cNvGraphicFramePr/>
          <p:nvPr/>
        </p:nvGraphicFramePr>
        <p:xfrm>
          <a:off x="3086138" y="139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336250"/>
                <a:gridCol w="272000"/>
                <a:gridCol w="13757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(−1)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(5)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(5)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−7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2" name="Google Shape;1622;p100"/>
          <p:cNvGraphicFramePr/>
          <p:nvPr/>
        </p:nvGraphicFramePr>
        <p:xfrm>
          <a:off x="6134138" y="139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336250"/>
                <a:gridCol w="272000"/>
                <a:gridCol w="13757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     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23" name="Google Shape;1623;p100"/>
          <p:cNvGrpSpPr/>
          <p:nvPr/>
        </p:nvGrpSpPr>
        <p:grpSpPr>
          <a:xfrm>
            <a:off x="1326611" y="2469611"/>
            <a:ext cx="1503403" cy="432000"/>
            <a:chOff x="1326611" y="2469611"/>
            <a:chExt cx="1503403" cy="432000"/>
          </a:xfrm>
        </p:grpSpPr>
        <p:pic>
          <p:nvPicPr>
            <p:cNvPr descr="&lt;math xmlns=&quot;http://www.w3.org/1998/Math/MathML&quot; display=&quot;block&quot; data-is-equatio=&quot;1&quot; data-latex=&quot;\textcolor{#037B7D}{\frac{1}{5}}&quot;&gt;&lt;mstyle mathcolor=&quot;#037B7D&quot;&gt;&lt;mfrac&gt;&lt;mn&gt;1&lt;/mn&gt;&lt;mn&gt;5&lt;/mn&gt;&lt;/mfrac&gt;&lt;/mstyle&gt;&lt;/math&gt;" id="1624" name="Google Shape;1624;p100" title="one fif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26611" y="2469611"/>
              <a:ext cx="132923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037B7D}{\frac{1}{5}}&quot;&gt;&lt;mstyle mathcolor=&quot;#037B7D&quot;&gt;&lt;mfrac&gt;&lt;mn&gt;1&lt;/mn&gt;&lt;mn&gt;5&lt;/mn&gt;&lt;/mfrac&gt;&lt;/mstyle&gt;&lt;/math&gt;" id="1625" name="Google Shape;1625;p100" title="one fif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7091" y="2469611"/>
              <a:ext cx="132923" cy="43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6" name="Google Shape;1626;p100"/>
          <p:cNvGrpSpPr/>
          <p:nvPr/>
        </p:nvGrpSpPr>
        <p:grpSpPr>
          <a:xfrm>
            <a:off x="7046406" y="1737138"/>
            <a:ext cx="1623743" cy="432000"/>
            <a:chOff x="7046406" y="1737138"/>
            <a:chExt cx="1623743" cy="432000"/>
          </a:xfrm>
        </p:grpSpPr>
        <p:pic>
          <p:nvPicPr>
            <p:cNvPr descr="&lt;math xmlns=&quot;http://www.w3.org/1998/Math/MathML&quot; display=&quot;block&quot; data-is-equatio=&quot;1&quot; data-latex=&quot;\textcolor{#037B7D}{-\frac{1}{5}}&quot;&gt;&lt;mstyle mathcolor=&quot;#037B7D&quot;&gt;&lt;mo&gt;−&lt;/mo&gt;&lt;mfrac&gt;&lt;mn&gt;1&lt;/mn&gt;&lt;mn&gt;5&lt;/mn&gt;&lt;/mfrac&gt;&lt;/mstyle&gt;&lt;/math&gt;" id="1627" name="Google Shape;1627;p100" title="negative one fif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46406" y="1737138"/>
              <a:ext cx="285120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037B7D}{-\frac{1}{5}}&quot;&gt;&lt;mstyle mathcolor=&quot;#037B7D&quot;&gt;&lt;mo&gt;−&lt;/mo&gt;&lt;mfrac&gt;&lt;mn&gt;1&lt;/mn&gt;&lt;mn&gt;5&lt;/mn&gt;&lt;/mfrac&gt;&lt;/mstyle&gt;&lt;/math&gt;" id="1628" name="Google Shape;1628;p100" title="negative one fif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85029" y="1737138"/>
              <a:ext cx="285120" cy="432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29" name="Google Shape;1629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1308" y="3902839"/>
            <a:ext cx="483799" cy="62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100"/>
          <p:cNvSpPr txBox="1"/>
          <p:nvPr/>
        </p:nvSpPr>
        <p:spPr>
          <a:xfrm flipH="1">
            <a:off x="266750" y="4467589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1" name="Google Shape;1631;p100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743125" y="3209975"/>
            <a:ext cx="2393825" cy="119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100"/>
          <p:cNvSpPr txBox="1"/>
          <p:nvPr/>
        </p:nvSpPr>
        <p:spPr>
          <a:xfrm>
            <a:off x="966175" y="3321550"/>
            <a:ext cx="2026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multiplied by −1 then multiplied by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633" name="Google Shape;1633;p100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88363" y="3699600"/>
            <a:ext cx="1443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2787" y="3963000"/>
            <a:ext cx="439288" cy="5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00"/>
          <p:cNvSpPr txBox="1"/>
          <p:nvPr/>
        </p:nvSpPr>
        <p:spPr>
          <a:xfrm flipH="1">
            <a:off x="3217275" y="4508389"/>
            <a:ext cx="6903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6" name="Google Shape;1636;p100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3714924" y="3290375"/>
            <a:ext cx="2026501" cy="87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7" name="Google Shape;1637;p100"/>
          <p:cNvSpPr txBox="1"/>
          <p:nvPr/>
        </p:nvSpPr>
        <p:spPr>
          <a:xfrm>
            <a:off x="3937975" y="3321550"/>
            <a:ext cx="1760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divided by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 then by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00"/>
          <p:cNvSpPr txBox="1"/>
          <p:nvPr/>
        </p:nvSpPr>
        <p:spPr>
          <a:xfrm>
            <a:off x="5945567" y="452728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9" name="Google Shape;1639;p1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78865" y="4038664"/>
            <a:ext cx="443866" cy="5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00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387476" y="3214175"/>
            <a:ext cx="2203924" cy="98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00"/>
          <p:cNvSpPr txBox="1"/>
          <p:nvPr/>
        </p:nvSpPr>
        <p:spPr>
          <a:xfrm>
            <a:off x="6567175" y="3245350"/>
            <a:ext cx="1956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multiplied by  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5}&quot;&gt;&lt;mo&gt;−&lt;/mo&gt;&lt;mfrac&gt;&lt;mn&gt;1&lt;/mn&gt;&lt;mn&gt;5&lt;/mn&gt;&lt;/mfrac&gt;&lt;/math&gt;" id="1642" name="Google Shape;1642;p100" title="negative one fif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71507" y="3545401"/>
            <a:ext cx="308880" cy="46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3" name="Google Shape;1643;p100"/>
          <p:cNvGrpSpPr/>
          <p:nvPr/>
        </p:nvGrpSpPr>
        <p:grpSpPr>
          <a:xfrm>
            <a:off x="3226447" y="1432200"/>
            <a:ext cx="2819400" cy="1874400"/>
            <a:chOff x="3226447" y="1432200"/>
            <a:chExt cx="2819400" cy="1874400"/>
          </a:xfrm>
        </p:grpSpPr>
        <p:cxnSp>
          <p:nvCxnSpPr>
            <p:cNvPr id="1644" name="Google Shape;1644;p100"/>
            <p:cNvCxnSpPr/>
            <p:nvPr/>
          </p:nvCxnSpPr>
          <p:spPr>
            <a:xfrm>
              <a:off x="3226447" y="1432200"/>
              <a:ext cx="0" cy="1874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100"/>
            <p:cNvCxnSpPr/>
            <p:nvPr/>
          </p:nvCxnSpPr>
          <p:spPr>
            <a:xfrm>
              <a:off x="6045847" y="1432200"/>
              <a:ext cx="0" cy="1874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01"/>
          <p:cNvSpPr txBox="1"/>
          <p:nvPr>
            <p:ph idx="1" type="body"/>
          </p:nvPr>
        </p:nvSpPr>
        <p:spPr>
          <a:xfrm>
            <a:off x="324000" y="752100"/>
            <a:ext cx="84960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Three</a:t>
            </a:r>
            <a:r>
              <a:rPr lang="en-GB" sz="1800"/>
              <a:t> pupils are solving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method do you think is best? </a:t>
            </a:r>
            <a:endParaRPr sz="1800"/>
          </a:p>
        </p:txBody>
      </p:sp>
      <p:sp>
        <p:nvSpPr>
          <p:cNvPr id="1651" name="Google Shape;1651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graphicFrame>
        <p:nvGraphicFramePr>
          <p:cNvPr id="1652" name="Google Shape;1652;p101"/>
          <p:cNvGraphicFramePr/>
          <p:nvPr/>
        </p:nvGraphicFramePr>
        <p:xfrm>
          <a:off x="266738" y="139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336250"/>
                <a:gridCol w="272000"/>
                <a:gridCol w="13757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(−1)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   )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   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3" name="Google Shape;1653;p101"/>
          <p:cNvGraphicFramePr/>
          <p:nvPr/>
        </p:nvGraphicFramePr>
        <p:xfrm>
          <a:off x="3086138" y="139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336250"/>
                <a:gridCol w="272000"/>
                <a:gridCol w="13757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(−1)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(5)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(5)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4" name="Google Shape;1654;p101"/>
          <p:cNvGraphicFramePr/>
          <p:nvPr/>
        </p:nvGraphicFramePr>
        <p:xfrm>
          <a:off x="6134138" y="139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336250"/>
                <a:gridCol w="272000"/>
                <a:gridCol w="13757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 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     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037B7D}{\frac{1}{5}}&quot;&gt;&lt;mstyle mathcolor=&quot;#037B7D&quot;&gt;&lt;mfrac&gt;&lt;mn&gt;1&lt;/mn&gt;&lt;mn&gt;5&lt;/mn&gt;&lt;/mfrac&gt;&lt;/mstyle&gt;&lt;/math&gt;" id="1655" name="Google Shape;1655;p10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611" y="2469611"/>
            <a:ext cx="132923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037B7D}{\frac{1}{5}}&quot;&gt;&lt;mstyle mathcolor=&quot;#037B7D&quot;&gt;&lt;mfrac&gt;&lt;mn&gt;1&lt;/mn&gt;&lt;mn&gt;5&lt;/mn&gt;&lt;/mfrac&gt;&lt;/mstyle&gt;&lt;/math&gt;" id="1656" name="Google Shape;1656;p10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423" y="2469611"/>
            <a:ext cx="132923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037B7D}{-\frac{1}{5}}&quot;&gt;&lt;mstyle mathcolor=&quot;#037B7D&quot;&gt;&lt;mo&gt;−&lt;/mo&gt;&lt;mfrac&gt;&lt;mn&gt;1&lt;/mn&gt;&lt;mn&gt;5&lt;/mn&gt;&lt;/mfrac&gt;&lt;/mstyle&gt;&lt;/math&gt;" id="1657" name="Google Shape;1657;p101" title="negative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6406" y="1737138"/>
            <a:ext cx="2851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037B7D}{-\frac{1}{5}}&quot;&gt;&lt;mstyle mathcolor=&quot;#037B7D&quot;&gt;&lt;mo&gt;−&lt;/mo&gt;&lt;mfrac&gt;&lt;mn&gt;1&lt;/mn&gt;&lt;mn&gt;5&lt;/mn&gt;&lt;/mfrac&gt;&lt;/mstyle&gt;&lt;/math&gt;" id="1658" name="Google Shape;1658;p101" title="negative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5029" y="1737138"/>
            <a:ext cx="28512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101"/>
          <p:cNvSpPr txBox="1"/>
          <p:nvPr>
            <p:ph idx="1" type="body"/>
          </p:nvPr>
        </p:nvSpPr>
        <p:spPr>
          <a:xfrm>
            <a:off x="324000" y="3643525"/>
            <a:ext cx="8496000" cy="11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3 methods work perfectly so it is down to personal preference. Andeep and Jun have solved in 2 steps and Laura in 1 step. The pupils could also have divided both sides by −5 to solve the equation in one step.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02"/>
          <p:cNvSpPr txBox="1"/>
          <p:nvPr>
            <p:ph idx="1" type="body"/>
          </p:nvPr>
        </p:nvSpPr>
        <p:spPr>
          <a:xfrm>
            <a:off x="324000" y="680825"/>
            <a:ext cx="8496000" cy="41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Izzy has tried to solve the equation</a:t>
            </a:r>
            <a:r>
              <a:rPr lang="en-GB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−56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What has she done well?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Where has she made a mistake?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What is the correct solution?</a:t>
            </a:r>
            <a:endParaRPr sz="1800"/>
          </a:p>
        </p:txBody>
      </p:sp>
      <p:sp>
        <p:nvSpPr>
          <p:cNvPr id="1665" name="Google Shape;1665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pic>
        <p:nvPicPr>
          <p:cNvPr id="1666" name="Google Shape;166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1274" y="1097261"/>
            <a:ext cx="792216" cy="740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102"/>
          <p:cNvSpPr txBox="1"/>
          <p:nvPr/>
        </p:nvSpPr>
        <p:spPr>
          <a:xfrm flipH="1">
            <a:off x="7482725" y="1763089"/>
            <a:ext cx="14310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8" name="Google Shape;1668;p102"/>
          <p:cNvGraphicFramePr/>
          <p:nvPr/>
        </p:nvGraphicFramePr>
        <p:xfrm>
          <a:off x="385588" y="114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336250"/>
                <a:gridCol w="272000"/>
                <a:gridCol w="13757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−56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−56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(8)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69" name="Google Shape;1669;p10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741124" y="961300"/>
            <a:ext cx="2026501" cy="87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02"/>
          <p:cNvSpPr txBox="1"/>
          <p:nvPr/>
        </p:nvSpPr>
        <p:spPr>
          <a:xfrm flipH="1">
            <a:off x="5809299" y="961300"/>
            <a:ext cx="1760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solution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02"/>
          <p:cNvSpPr txBox="1"/>
          <p:nvPr>
            <p:ph idx="1" type="body"/>
          </p:nvPr>
        </p:nvSpPr>
        <p:spPr>
          <a:xfrm>
            <a:off x="324000" y="2723875"/>
            <a:ext cx="82377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she has maintained equality by dividing both sides by 8.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2" name="Google Shape;1672;p102"/>
          <p:cNvSpPr txBox="1"/>
          <p:nvPr>
            <p:ph idx="1" type="body"/>
          </p:nvPr>
        </p:nvSpPr>
        <p:spPr>
          <a:xfrm>
            <a:off x="324000" y="3401700"/>
            <a:ext cx="82377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All her working is correct but she hasn’t found the solution yet, she needs the value of 1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3" name="Google Shape;1673;p102"/>
          <p:cNvSpPr txBox="1"/>
          <p:nvPr>
            <p:ph idx="1" type="body"/>
          </p:nvPr>
        </p:nvSpPr>
        <p:spPr>
          <a:xfrm>
            <a:off x="324000" y="4505075"/>
            <a:ext cx="6858300" cy="3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Multiply both sides by −1, so the solution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679" name="Google Shape;1679;p103"/>
          <p:cNvSpPr txBox="1"/>
          <p:nvPr>
            <p:ph idx="1" type="body"/>
          </p:nvPr>
        </p:nvSpPr>
        <p:spPr>
          <a:xfrm>
            <a:off x="324000" y="683100"/>
            <a:ext cx="82377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Solve each equation.</a:t>
            </a:r>
            <a:endParaRPr sz="1800"/>
          </a:p>
        </p:txBody>
      </p:sp>
      <p:grpSp>
        <p:nvGrpSpPr>
          <p:cNvPr id="1680" name="Google Shape;1680;p103"/>
          <p:cNvGrpSpPr/>
          <p:nvPr/>
        </p:nvGrpSpPr>
        <p:grpSpPr>
          <a:xfrm>
            <a:off x="3162300" y="1122447"/>
            <a:ext cx="2819400" cy="3698004"/>
            <a:chOff x="3226447" y="1432200"/>
            <a:chExt cx="2819400" cy="1874400"/>
          </a:xfrm>
        </p:grpSpPr>
        <p:cxnSp>
          <p:nvCxnSpPr>
            <p:cNvPr id="1681" name="Google Shape;1681;p103"/>
            <p:cNvCxnSpPr/>
            <p:nvPr/>
          </p:nvCxnSpPr>
          <p:spPr>
            <a:xfrm>
              <a:off x="3226447" y="1432200"/>
              <a:ext cx="0" cy="1874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2" name="Google Shape;1682;p103"/>
            <p:cNvCxnSpPr/>
            <p:nvPr/>
          </p:nvCxnSpPr>
          <p:spPr>
            <a:xfrm>
              <a:off x="6045847" y="1432200"/>
              <a:ext cx="0" cy="1874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83" name="Google Shape;1683;p103"/>
          <p:cNvSpPr/>
          <p:nvPr/>
        </p:nvSpPr>
        <p:spPr>
          <a:xfrm>
            <a:off x="324000" y="1168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03"/>
          <p:cNvSpPr/>
          <p:nvPr/>
        </p:nvSpPr>
        <p:spPr>
          <a:xfrm>
            <a:off x="324050" y="2325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03"/>
          <p:cNvSpPr/>
          <p:nvPr/>
        </p:nvSpPr>
        <p:spPr>
          <a:xfrm>
            <a:off x="324050" y="3569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6" name="Google Shape;1686;p103"/>
          <p:cNvGraphicFramePr/>
          <p:nvPr/>
        </p:nvGraphicFramePr>
        <p:xfrm>
          <a:off x="323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7" name="Google Shape;1687;p103"/>
          <p:cNvGraphicFramePr/>
          <p:nvPr/>
        </p:nvGraphicFramePr>
        <p:xfrm>
          <a:off x="323988" y="23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8" name="Google Shape;1688;p103"/>
          <p:cNvGraphicFramePr/>
          <p:nvPr/>
        </p:nvGraphicFramePr>
        <p:xfrm>
          <a:off x="323988" y="356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3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9" name="Google Shape;1689;p103"/>
          <p:cNvGraphicFramePr/>
          <p:nvPr/>
        </p:nvGraphicFramePr>
        <p:xfrm>
          <a:off x="32957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0" name="Google Shape;1690;p103"/>
          <p:cNvGraphicFramePr/>
          <p:nvPr/>
        </p:nvGraphicFramePr>
        <p:xfrm>
          <a:off x="3295788" y="23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04200"/>
                <a:gridCol w="30612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1" name="Google Shape;1691;p103"/>
          <p:cNvGraphicFramePr/>
          <p:nvPr/>
        </p:nvGraphicFramePr>
        <p:xfrm>
          <a:off x="3295788" y="367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2" name="Google Shape;1692;p103"/>
          <p:cNvSpPr/>
          <p:nvPr/>
        </p:nvSpPr>
        <p:spPr>
          <a:xfrm>
            <a:off x="3219600" y="1168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03"/>
          <p:cNvSpPr/>
          <p:nvPr/>
        </p:nvSpPr>
        <p:spPr>
          <a:xfrm>
            <a:off x="3219650" y="2325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03"/>
          <p:cNvSpPr/>
          <p:nvPr/>
        </p:nvSpPr>
        <p:spPr>
          <a:xfrm>
            <a:off x="3219650" y="3569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03"/>
          <p:cNvSpPr/>
          <p:nvPr/>
        </p:nvSpPr>
        <p:spPr>
          <a:xfrm>
            <a:off x="6039000" y="1168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03"/>
          <p:cNvSpPr/>
          <p:nvPr/>
        </p:nvSpPr>
        <p:spPr>
          <a:xfrm>
            <a:off x="6039050" y="2325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03"/>
          <p:cNvSpPr/>
          <p:nvPr/>
        </p:nvSpPr>
        <p:spPr>
          <a:xfrm>
            <a:off x="6039050" y="3569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8" name="Google Shape;1698;p103"/>
          <p:cNvGraphicFramePr/>
          <p:nvPr/>
        </p:nvGraphicFramePr>
        <p:xfrm>
          <a:off x="61913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4}x&quot;&gt;&lt;mfrac&gt;&lt;mn&gt;1&lt;/mn&gt;&lt;mn&gt;4&lt;/mn&gt;&lt;/mfrac&gt;&lt;mi&gt;x&lt;/mi&gt;&lt;/math&gt;" id="1699" name="Google Shape;1699;p103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100" y="1122450"/>
            <a:ext cx="28548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x&quot;&gt;&lt;mfrac&gt;&lt;mn&gt;2&lt;/mn&gt;&lt;mn&gt;3&lt;/mn&gt;&lt;/mfrac&gt;&lt;mi&gt;x&lt;/mi&gt;&lt;/math&gt;" id="1700" name="Google Shape;1700;p103" title="two third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8438" y="2337750"/>
            <a:ext cx="2808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.4x&quot;&gt;&lt;mo&gt;−&lt;/mo&gt;&lt;mn&gt;1.4&lt;/mn&gt;&lt;mi&gt;x&lt;/mi&gt;&lt;/math&gt;" id="1701" name="Google Shape;1701;p103" title="negative 1.4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8442" y="3755661"/>
            <a:ext cx="585164" cy="172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2" name="Google Shape;1702;p103"/>
          <p:cNvGraphicFramePr/>
          <p:nvPr/>
        </p:nvGraphicFramePr>
        <p:xfrm>
          <a:off x="6191388" y="23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3" name="Google Shape;1703;p103"/>
          <p:cNvGraphicFramePr/>
          <p:nvPr/>
        </p:nvGraphicFramePr>
        <p:xfrm>
          <a:off x="6191388" y="367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textcolor{#037B7D}{\left(\frac{3}{2}\right)}&quot;&gt;&lt;mstyle mathcolor=&quot;#037B7D&quot;&gt;&lt;mrow data-mjx-texclass=&quot;INNER&quot;&gt;&lt;mo data-mjx-texclass=&quot;OPEN&quot;&gt;(&lt;/mo&gt;&lt;mfrac&gt;&lt;mn&gt;3&lt;/mn&gt;&lt;mn&gt;2&lt;/mn&gt;&lt;/mfrac&gt;&lt;mo data-mjx-texclass=&quot;CLOSE&quot;&gt;)&lt;/mo&gt;&lt;/mrow&gt;&lt;/mstyle&gt;&lt;/math&gt;" id="1708" name="Google Shape;1708;p104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255" y="2485458"/>
            <a:ext cx="3525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037B7D}{\left(\frac{3}{2}\right)}&quot;&gt;&lt;mstyle mathcolor=&quot;#037B7D&quot;&gt;&lt;mrow data-mjx-texclass=&quot;INNER&quot;&gt;&lt;mo data-mjx-texclass=&quot;OPEN&quot;&gt;(&lt;/mo&gt;&lt;mfrac&gt;&lt;mn&gt;3&lt;/mn&gt;&lt;mn&gt;2&lt;/mn&gt;&lt;/mfrac&gt;&lt;mo data-mjx-texclass=&quot;CLOSE&quot;&gt;)&lt;/mo&gt;&lt;/mrow&gt;&lt;/mstyle&gt;&lt;/math&gt;" id="1709" name="Google Shape;1709;p104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7730" y="2515788"/>
            <a:ext cx="352500" cy="43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0" name="Google Shape;1710;p104"/>
          <p:cNvGraphicFramePr/>
          <p:nvPr/>
        </p:nvGraphicFramePr>
        <p:xfrm>
          <a:off x="5924388" y="3391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76775"/>
                <a:gridCol w="291950"/>
                <a:gridCol w="1326875"/>
              </a:tblGrid>
              <a:tr h="320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−1.4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4.2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−1.4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(1.4)</a:t>
                      </a:r>
                      <a:endParaRPr sz="18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4.2 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(1.4)</a:t>
                      </a:r>
                      <a:endParaRPr sz="18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 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(14)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1" name="Google Shape;1711;p104"/>
          <p:cNvGraphicFramePr/>
          <p:nvPr/>
        </p:nvGraphicFramePr>
        <p:xfrm>
          <a:off x="5962788" y="2048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477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2" name="Google Shape;1712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713" name="Google Shape;1713;p104"/>
          <p:cNvSpPr txBox="1"/>
          <p:nvPr>
            <p:ph idx="1" type="body"/>
          </p:nvPr>
        </p:nvSpPr>
        <p:spPr>
          <a:xfrm>
            <a:off x="324000" y="683100"/>
            <a:ext cx="82377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Solve each equation.</a:t>
            </a:r>
            <a:endParaRPr sz="1800"/>
          </a:p>
        </p:txBody>
      </p:sp>
      <p:grpSp>
        <p:nvGrpSpPr>
          <p:cNvPr id="1714" name="Google Shape;1714;p104"/>
          <p:cNvGrpSpPr/>
          <p:nvPr/>
        </p:nvGrpSpPr>
        <p:grpSpPr>
          <a:xfrm>
            <a:off x="3162300" y="1122447"/>
            <a:ext cx="2819400" cy="3698004"/>
            <a:chOff x="3226447" y="1432200"/>
            <a:chExt cx="2819400" cy="1874400"/>
          </a:xfrm>
        </p:grpSpPr>
        <p:cxnSp>
          <p:nvCxnSpPr>
            <p:cNvPr id="1715" name="Google Shape;1715;p104"/>
            <p:cNvCxnSpPr/>
            <p:nvPr/>
          </p:nvCxnSpPr>
          <p:spPr>
            <a:xfrm>
              <a:off x="3226447" y="1432200"/>
              <a:ext cx="0" cy="1874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6" name="Google Shape;1716;p104"/>
            <p:cNvCxnSpPr/>
            <p:nvPr/>
          </p:nvCxnSpPr>
          <p:spPr>
            <a:xfrm>
              <a:off x="6045847" y="1432200"/>
              <a:ext cx="0" cy="1874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17" name="Google Shape;1717;p104"/>
          <p:cNvSpPr/>
          <p:nvPr/>
        </p:nvSpPr>
        <p:spPr>
          <a:xfrm>
            <a:off x="324000" y="1168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04"/>
          <p:cNvSpPr/>
          <p:nvPr/>
        </p:nvSpPr>
        <p:spPr>
          <a:xfrm>
            <a:off x="324050" y="2325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04"/>
          <p:cNvSpPr/>
          <p:nvPr/>
        </p:nvSpPr>
        <p:spPr>
          <a:xfrm>
            <a:off x="324050" y="3569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0" name="Google Shape;1720;p104"/>
          <p:cNvGraphicFramePr/>
          <p:nvPr/>
        </p:nvGraphicFramePr>
        <p:xfrm>
          <a:off x="323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1" name="Google Shape;1721;p104"/>
          <p:cNvGraphicFramePr/>
          <p:nvPr/>
        </p:nvGraphicFramePr>
        <p:xfrm>
          <a:off x="323988" y="23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(6)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30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(6)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2" name="Google Shape;1722;p104"/>
          <p:cNvGraphicFramePr/>
          <p:nvPr/>
        </p:nvGraphicFramePr>
        <p:xfrm>
          <a:off x="323988" y="356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3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i="1" lang="en-GB" sz="2000">
                          <a:solidFill>
                            <a:srgbClr val="E6F2F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…</a:t>
                      </a:r>
                      <a:r>
                        <a:rPr i="1" lang="en-GB" sz="20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</a:t>
                      </a:r>
                      <a:r>
                        <a:rPr lang="en-GB" sz="20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9 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037B7D}{\times\frac{1}{5}}&quot;&gt;&lt;mstyle mathcolor=&quot;#037B7D&quot;&gt;&lt;mo&gt;×&lt;/mo&gt;&lt;mfrac&gt;&lt;mn&gt;1&lt;/mn&gt;&lt;mn&gt;5&lt;/mn&gt;&lt;/mfrac&gt;&lt;/mstyle&gt;&lt;/math&gt;" id="1723" name="Google Shape;1723;p104" title="times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450" y="3880182"/>
            <a:ext cx="2808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037B7D}{\times\frac{1}{5}}&quot;&gt;&lt;mstyle mathcolor=&quot;#037B7D&quot;&gt;&lt;mo&gt;×&lt;/mo&gt;&lt;mfrac&gt;&lt;mn&gt;1&lt;/mn&gt;&lt;mn&gt;5&lt;/mn&gt;&lt;/mfrac&gt;&lt;/mstyle&gt;&lt;/math&gt;" id="1724" name="Google Shape;1724;p104" title="times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3175" y="3880182"/>
            <a:ext cx="2808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5}&quot;&gt;&lt;mfrac&gt;&lt;mn&gt;9&lt;/mn&gt;&lt;mn&gt;5&lt;/mn&gt;&lt;/mfrac&gt;&lt;/math&gt;" id="1725" name="Google Shape;1725;p104" title="nin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4325" y="4356027"/>
            <a:ext cx="145080" cy="46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6" name="Google Shape;1726;p104"/>
          <p:cNvGraphicFramePr/>
          <p:nvPr/>
        </p:nvGraphicFramePr>
        <p:xfrm>
          <a:off x="32957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(21)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(21)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7" name="Google Shape;1727;p104"/>
          <p:cNvGraphicFramePr/>
          <p:nvPr/>
        </p:nvGraphicFramePr>
        <p:xfrm>
          <a:off x="3295788" y="23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(−2)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−12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(−2)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8" name="Google Shape;1728;p104"/>
          <p:cNvGraphicFramePr/>
          <p:nvPr/>
        </p:nvGraphicFramePr>
        <p:xfrm>
          <a:off x="3295788" y="367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(−8)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(−8)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-\frac{9}{4}&quot;&gt;&lt;mo&gt;−&lt;/mo&gt;&lt;mfrac&gt;&lt;mn&gt;9&lt;/mn&gt;&lt;mn&gt;4&lt;/mn&gt;&lt;/mfrac&gt;&lt;/math&gt;" id="1729" name="Google Shape;1729;p104" title="negative nin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6113" y="4374025"/>
            <a:ext cx="28944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104"/>
          <p:cNvSpPr/>
          <p:nvPr/>
        </p:nvSpPr>
        <p:spPr>
          <a:xfrm>
            <a:off x="3219600" y="1168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04"/>
          <p:cNvSpPr/>
          <p:nvPr/>
        </p:nvSpPr>
        <p:spPr>
          <a:xfrm>
            <a:off x="3219650" y="2325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04"/>
          <p:cNvSpPr/>
          <p:nvPr/>
        </p:nvSpPr>
        <p:spPr>
          <a:xfrm>
            <a:off x="3219650" y="3569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04"/>
          <p:cNvSpPr/>
          <p:nvPr/>
        </p:nvSpPr>
        <p:spPr>
          <a:xfrm>
            <a:off x="6039000" y="787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04"/>
          <p:cNvSpPr/>
          <p:nvPr/>
        </p:nvSpPr>
        <p:spPr>
          <a:xfrm>
            <a:off x="6039000" y="2063448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04"/>
          <p:cNvSpPr/>
          <p:nvPr/>
        </p:nvSpPr>
        <p:spPr>
          <a:xfrm>
            <a:off x="6039000" y="3319164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6" name="Google Shape;1736;p104"/>
          <p:cNvGraphicFramePr/>
          <p:nvPr/>
        </p:nvGraphicFramePr>
        <p:xfrm>
          <a:off x="5962788" y="77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{C9A7EBF4-326A-44D5-849E-A7DC46B125C1}</a:tableStyleId>
              </a:tblPr>
              <a:tblGrid>
                <a:gridCol w="1229250"/>
                <a:gridCol w="281075"/>
                <a:gridCol w="1277500"/>
              </a:tblGrid>
              <a:tr h="397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(4)</a:t>
                      </a:r>
                      <a:endParaRPr sz="2000"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r>
                        <a:rPr lang="en-GB" sz="2000">
                          <a:solidFill>
                            <a:srgbClr val="845AD9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(4)</a:t>
                      </a:r>
                      <a:endParaRPr sz="2000"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4}x&quot;&gt;&lt;mfrac&gt;&lt;mn&gt;1&lt;/mn&gt;&lt;mn&gt;4&lt;/mn&gt;&lt;/mfrac&gt;&lt;mi&gt;x&lt;/mi&gt;&lt;/math&gt;" id="1737" name="Google Shape;1737;p104" title="one fourth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7500" y="741450"/>
            <a:ext cx="262523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x&quot;&gt;&lt;mfrac&gt;&lt;mn&gt;2&lt;/mn&gt;&lt;mn&gt;3&lt;/mn&gt;&lt;/mfrac&gt;&lt;mi&gt;x&lt;/mi&gt;&lt;/math&gt;" id="1738" name="Google Shape;1738;p104" title="two third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79838" y="1999973"/>
            <a:ext cx="2592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x&quot;&gt;&lt;mfrac&gt;&lt;mn&gt;1&lt;/mn&gt;&lt;mn&gt;4&lt;/mn&gt;&lt;/mfrac&gt;&lt;mi&gt;x&lt;/mi&gt;&lt;/math&gt;" id="1739" name="Google Shape;1739;p104" title="one fourth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8145" y="1100839"/>
            <a:ext cx="28548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x&quot;&gt;&lt;mfrac&gt;&lt;mn&gt;2&lt;/mn&gt;&lt;mn&gt;3&lt;/mn&gt;&lt;/mfrac&gt;&lt;mi&gt;x&lt;/mi&gt;&lt;/math&gt;" id="1740" name="Google Shape;1740;p104" title="two third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5830" y="2470118"/>
            <a:ext cx="2592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05"/>
          <p:cNvSpPr txBox="1"/>
          <p:nvPr>
            <p:ph idx="1" type="body"/>
          </p:nvPr>
        </p:nvSpPr>
        <p:spPr>
          <a:xfrm>
            <a:off x="324000" y="8298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Equations with a multiplicative step can be represented in a bar model.</a:t>
            </a:r>
            <a:endParaRPr sz="19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1900"/>
              <a:t>The solution can be found by considering how to isolate </a:t>
            </a:r>
            <a:r>
              <a:rPr lang="en-GB" sz="1900"/>
              <a:t>a single positive unknown.</a:t>
            </a:r>
            <a:endParaRPr sz="19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1900"/>
              <a:t>Equations with a multiplicative step can be solved by multiplying both sides of the equation by the reciprocal of </a:t>
            </a:r>
            <a:r>
              <a:rPr lang="en-GB" sz="1900"/>
              <a:t>the</a:t>
            </a:r>
            <a:r>
              <a:rPr lang="en-GB" sz="1900"/>
              <a:t> coefficient of the unknown. </a:t>
            </a:r>
            <a:endParaRPr sz="19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1900"/>
              <a:t>When coefficients are negative it is important to multiply by a negative value to isolate the single positive unknown. </a:t>
            </a:r>
            <a:endParaRPr sz="1900"/>
          </a:p>
        </p:txBody>
      </p:sp>
      <p:sp>
        <p:nvSpPr>
          <p:cNvPr id="1746" name="Google Shape;1746;p105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linear equations with a multiplicative step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52" name="Google Shape;1752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