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57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9CB251-2A0E-4C4B-804E-0D86DCC4554E}">
  <a:tblStyle styleId="{149CB251-2A0E-4C4B-804E-0D86DCC455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57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9f7193378e_0_1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9f7193378e_0_1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9f559b96f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29f559b96f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9f559b96f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9f559b96f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32cd41bca1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32cd41bca1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29f559b96f8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5" name="Google Shape;815;g29f559b96f8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29f559b96f8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29f559b96f8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29f559b96f8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0" name="Google Shape;860;g29f559b96f8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29f559b96f8_0_1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29f559b96f8_0_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29f559b96f8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9f559b96f8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9f559b96f8_0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9f559b96f8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29f559b96f8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29f559b96f8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9f559b96f8_0_3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29f559b96f8_0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9f559b96f8_0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9f559b96f8_0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3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4" name="Google Shape;1074;g29f559b96f8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5" name="Google Shape;1075;g29f559b96f8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1" name="Shape 1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Google Shape;1082;g29f559b96f8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3" name="Google Shape;1083;g29f559b96f8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g29f559b96f8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9" name="Google Shape;1099;g29f559b96f8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g29f559b96f8_0_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4" name="Google Shape;1134;g29f559b96f8_0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g29f559b96f8_0_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6" name="Google Shape;1176;g29f559b96f8_0_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29f559b96f8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29f559b96f8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g29f559b96f8_0_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6" name="Google Shape;1236;g29f559b96f8_0_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29f559b96f8_0_7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0" name="Google Shape;1270;g29f559b96f8_0_7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a2f00476f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a2f00476f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g29f559b96f8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5" name="Google Shape;1335;g29f559b96f8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29f7193378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9f7193378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" name="Google Shape;1423;g2a27aba152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4" name="Google Shape;1424;g2a27aba152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7" name="Shape 1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" name="Google Shape;1628;g2a27aba1525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9" name="Google Shape;1629;g2a27aba1525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g29f7193378e_0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8" name="Google Shape;1748;g29f7193378e_0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g29f559b96f8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7" name="Google Shape;1917;g29f559b96f8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4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5" name="Google Shape;1955;g29f7193378e_0_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6" name="Google Shape;1956;g29f7193378e_0_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g29f7193378e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3" name="Google Shape;2013;g29f7193378e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g29f7193378e_0_8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9" name="Google Shape;2059;g29f7193378e_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g29f7193378e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5" name="Google Shape;2105;g29f7193378e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2" name="Shape 2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3" name="Google Shape;2153;g29f7193378e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4" name="Google Shape;2154;g29f7193378e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8" name="Shape 2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9" name="Google Shape;2189;g2a2f00476f4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0" name="Google Shape;2190;g2a2f00476f4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0" name="Shape 2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1" name="Google Shape;2241;g2a2f00476f4_1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2" name="Google Shape;2242;g2a2f00476f4_1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5" name="Shape 2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6" name="Google Shape;226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7" name="Google Shape;226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1" name="Shape 2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2" name="Google Shape;2272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3" name="Google Shape;2273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20.png"/><Relationship Id="rId5" Type="http://schemas.openxmlformats.org/officeDocument/2006/relationships/image" Target="../media/image25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65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image" Target="../media/image2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5.png"/><Relationship Id="rId4" Type="http://schemas.openxmlformats.org/officeDocument/2006/relationships/image" Target="../media/image19.png"/><Relationship Id="rId9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32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65.png"/><Relationship Id="rId4" Type="http://schemas.openxmlformats.org/officeDocument/2006/relationships/image" Target="../media/image30.png"/><Relationship Id="rId11" Type="http://schemas.openxmlformats.org/officeDocument/2006/relationships/image" Target="../media/image22.png"/><Relationship Id="rId10" Type="http://schemas.openxmlformats.org/officeDocument/2006/relationships/image" Target="../media/image36.png"/><Relationship Id="rId9" Type="http://schemas.openxmlformats.org/officeDocument/2006/relationships/image" Target="../media/image29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32.png"/><Relationship Id="rId8" Type="http://schemas.openxmlformats.org/officeDocument/2006/relationships/image" Target="../media/image2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0.png"/><Relationship Id="rId4" Type="http://schemas.openxmlformats.org/officeDocument/2006/relationships/image" Target="../media/image49.png"/><Relationship Id="rId5" Type="http://schemas.openxmlformats.org/officeDocument/2006/relationships/image" Target="../media/image5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9.png"/><Relationship Id="rId4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5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Relationship Id="rId6" Type="http://schemas.openxmlformats.org/officeDocument/2006/relationships/image" Target="../media/image56.png"/><Relationship Id="rId7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1.png"/><Relationship Id="rId4" Type="http://schemas.openxmlformats.org/officeDocument/2006/relationships/image" Target="../media/image6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6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Equality in an equation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Solving linear equations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that in an equation the two sides of the equals sign balance.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24000" y="12984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An equation is used to show two expressions that are equal to each other.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776" name="Google Shape;776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777" name="Google Shape;777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Equality in an equation</a:t>
            </a:r>
            <a:endParaRPr/>
          </a:p>
        </p:txBody>
      </p:sp>
      <p:pic>
        <p:nvPicPr>
          <p:cNvPr id="778" name="Google Shape;778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17" y="2059146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784" name="Google Shape;784;p68"/>
          <p:cNvSpPr txBox="1"/>
          <p:nvPr>
            <p:ph idx="1" type="body"/>
          </p:nvPr>
        </p:nvSpPr>
        <p:spPr>
          <a:xfrm>
            <a:off x="324000" y="3573675"/>
            <a:ext cx="8237700" cy="47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Lucas has written the equation 28 + 49 = 77</a:t>
            </a:r>
            <a:endParaRPr sz="1800"/>
          </a:p>
        </p:txBody>
      </p:sp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3952125"/>
            <a:ext cx="8237700" cy="47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other equations can he write from this information?</a:t>
            </a:r>
            <a:endParaRPr sz="1800"/>
          </a:p>
        </p:txBody>
      </p:sp>
      <p:sp>
        <p:nvSpPr>
          <p:cNvPr id="786" name="Google Shape;786;p68"/>
          <p:cNvSpPr txBox="1"/>
          <p:nvPr>
            <p:ph idx="1" type="body"/>
          </p:nvPr>
        </p:nvSpPr>
        <p:spPr>
          <a:xfrm>
            <a:off x="324000" y="4401750"/>
            <a:ext cx="8237700" cy="47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77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− 49 = 28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77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− 28 = 49      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49 + 28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 = 77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787" name="Google Shape;787;p68"/>
          <p:cNvSpPr txBox="1"/>
          <p:nvPr>
            <p:ph idx="1" type="body"/>
          </p:nvPr>
        </p:nvSpPr>
        <p:spPr>
          <a:xfrm>
            <a:off x="324000" y="843150"/>
            <a:ext cx="8496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we write equations we can rearrange these to find other equations which are true for that relationship.</a:t>
            </a:r>
            <a:endParaRPr sz="1800"/>
          </a:p>
        </p:txBody>
      </p:sp>
      <p:sp>
        <p:nvSpPr>
          <p:cNvPr id="788" name="Google Shape;788;p68"/>
          <p:cNvSpPr txBox="1"/>
          <p:nvPr>
            <p:ph idx="1" type="body"/>
          </p:nvPr>
        </p:nvSpPr>
        <p:spPr>
          <a:xfrm>
            <a:off x="324000" y="1763550"/>
            <a:ext cx="8496000" cy="47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For example, if we know that 8 + 2 = 10 we also know that:</a:t>
            </a:r>
            <a:endParaRPr sz="1800"/>
          </a:p>
        </p:txBody>
      </p:sp>
      <p:sp>
        <p:nvSpPr>
          <p:cNvPr id="789" name="Google Shape;789;p68"/>
          <p:cNvSpPr txBox="1"/>
          <p:nvPr>
            <p:ph idx="1" type="body"/>
          </p:nvPr>
        </p:nvSpPr>
        <p:spPr>
          <a:xfrm>
            <a:off x="324000" y="2232675"/>
            <a:ext cx="13608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  2 + 8</a:t>
            </a:r>
            <a:r>
              <a:rPr lang="en-GB" sz="1800"/>
              <a:t> = 10 </a:t>
            </a:r>
            <a:endParaRPr sz="1800"/>
          </a:p>
        </p:txBody>
      </p:sp>
      <p:sp>
        <p:nvSpPr>
          <p:cNvPr id="790" name="Google Shape;790;p68"/>
          <p:cNvSpPr txBox="1"/>
          <p:nvPr>
            <p:ph idx="1" type="body"/>
          </p:nvPr>
        </p:nvSpPr>
        <p:spPr>
          <a:xfrm>
            <a:off x="324000" y="2651700"/>
            <a:ext cx="13608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10 − 8 = 2</a:t>
            </a:r>
            <a:endParaRPr sz="1800"/>
          </a:p>
        </p:txBody>
      </p:sp>
      <p:sp>
        <p:nvSpPr>
          <p:cNvPr id="791" name="Google Shape;791;p68"/>
          <p:cNvSpPr txBox="1"/>
          <p:nvPr>
            <p:ph idx="1" type="body"/>
          </p:nvPr>
        </p:nvSpPr>
        <p:spPr>
          <a:xfrm>
            <a:off x="324000" y="3016200"/>
            <a:ext cx="13608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10 − 2 = 8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797" name="Google Shape;797;p69"/>
          <p:cNvSpPr txBox="1"/>
          <p:nvPr/>
        </p:nvSpPr>
        <p:spPr>
          <a:xfrm>
            <a:off x="366800" y="2398950"/>
            <a:ext cx="894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8" name="Google Shape;798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25" y="1678025"/>
            <a:ext cx="614649" cy="68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9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085075" y="810000"/>
            <a:ext cx="3022674" cy="1162851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9"/>
          <p:cNvSpPr/>
          <p:nvPr/>
        </p:nvSpPr>
        <p:spPr>
          <a:xfrm flipH="1">
            <a:off x="1478735" y="985894"/>
            <a:ext cx="25047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can also show this with a bar model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9"/>
          <p:cNvSpPr txBox="1"/>
          <p:nvPr/>
        </p:nvSpPr>
        <p:spPr>
          <a:xfrm>
            <a:off x="5774400" y="941325"/>
            <a:ext cx="18432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49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2" name="Google Shape;802;p69"/>
          <p:cNvSpPr txBox="1"/>
          <p:nvPr/>
        </p:nvSpPr>
        <p:spPr>
          <a:xfrm>
            <a:off x="4572000" y="941325"/>
            <a:ext cx="1202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28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03" name="Google Shape;803;p69"/>
          <p:cNvSpPr txBox="1"/>
          <p:nvPr/>
        </p:nvSpPr>
        <p:spPr>
          <a:xfrm>
            <a:off x="4572000" y="1301325"/>
            <a:ext cx="30456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4" name="Google Shape;804;p69"/>
          <p:cNvSpPr/>
          <p:nvPr/>
        </p:nvSpPr>
        <p:spPr>
          <a:xfrm>
            <a:off x="4572000" y="941325"/>
            <a:ext cx="1202400" cy="360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69"/>
          <p:cNvSpPr/>
          <p:nvPr/>
        </p:nvSpPr>
        <p:spPr>
          <a:xfrm>
            <a:off x="5774400" y="941325"/>
            <a:ext cx="1843200" cy="360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/>
          <p:nvPr/>
        </p:nvSpPr>
        <p:spPr>
          <a:xfrm>
            <a:off x="4572000" y="1318125"/>
            <a:ext cx="3045600" cy="360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9"/>
          <p:cNvSpPr txBox="1"/>
          <p:nvPr>
            <p:ph idx="1" type="body"/>
          </p:nvPr>
        </p:nvSpPr>
        <p:spPr>
          <a:xfrm>
            <a:off x="4572000" y="1838100"/>
            <a:ext cx="13608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49 + 28 = 77 </a:t>
            </a:r>
            <a:endParaRPr sz="1800"/>
          </a:p>
        </p:txBody>
      </p:sp>
      <p:sp>
        <p:nvSpPr>
          <p:cNvPr id="808" name="Google Shape;808;p69"/>
          <p:cNvSpPr txBox="1"/>
          <p:nvPr>
            <p:ph idx="1" type="body"/>
          </p:nvPr>
        </p:nvSpPr>
        <p:spPr>
          <a:xfrm>
            <a:off x="4572000" y="2196450"/>
            <a:ext cx="13608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77 − 28 = 49</a:t>
            </a:r>
            <a:endParaRPr sz="1800"/>
          </a:p>
        </p:txBody>
      </p:sp>
      <p:sp>
        <p:nvSpPr>
          <p:cNvPr id="809" name="Google Shape;809;p69"/>
          <p:cNvSpPr txBox="1"/>
          <p:nvPr>
            <p:ph idx="1" type="body"/>
          </p:nvPr>
        </p:nvSpPr>
        <p:spPr>
          <a:xfrm>
            <a:off x="4572000" y="2554800"/>
            <a:ext cx="13608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77 − 49 = 28</a:t>
            </a:r>
            <a:endParaRPr sz="1800"/>
          </a:p>
        </p:txBody>
      </p:sp>
      <p:sp>
        <p:nvSpPr>
          <p:cNvPr id="810" name="Google Shape;810;p69"/>
          <p:cNvSpPr/>
          <p:nvPr/>
        </p:nvSpPr>
        <p:spPr>
          <a:xfrm flipH="1">
            <a:off x="324000" y="3240000"/>
            <a:ext cx="8496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Because 28 + 49 is equal to 77 the bars must be the same length.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1" name="Google Shape;811;p69"/>
          <p:cNvSpPr/>
          <p:nvPr/>
        </p:nvSpPr>
        <p:spPr>
          <a:xfrm flipH="1">
            <a:off x="324000" y="3770475"/>
            <a:ext cx="84960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could Lucas change his bar model to show that 28 + 49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+ 13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90?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2" name="Google Shape;812;p69"/>
          <p:cNvSpPr txBox="1"/>
          <p:nvPr>
            <p:ph idx="1" type="body"/>
          </p:nvPr>
        </p:nvSpPr>
        <p:spPr>
          <a:xfrm>
            <a:off x="4572000" y="2893800"/>
            <a:ext cx="19737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77 − 49 − 28 = 0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818" name="Google Shape;818;p70"/>
          <p:cNvSpPr txBox="1"/>
          <p:nvPr/>
        </p:nvSpPr>
        <p:spPr>
          <a:xfrm>
            <a:off x="5774400" y="941325"/>
            <a:ext cx="18432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49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9" name="Google Shape;819;p70"/>
          <p:cNvSpPr txBox="1"/>
          <p:nvPr/>
        </p:nvSpPr>
        <p:spPr>
          <a:xfrm>
            <a:off x="4572000" y="941325"/>
            <a:ext cx="1202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28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20" name="Google Shape;820;p70"/>
          <p:cNvSpPr txBox="1"/>
          <p:nvPr/>
        </p:nvSpPr>
        <p:spPr>
          <a:xfrm>
            <a:off x="4572000" y="1301325"/>
            <a:ext cx="30456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77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1" name="Google Shape;821;p70"/>
          <p:cNvSpPr txBox="1"/>
          <p:nvPr>
            <p:ph idx="1" type="body"/>
          </p:nvPr>
        </p:nvSpPr>
        <p:spPr>
          <a:xfrm>
            <a:off x="4572000" y="1838100"/>
            <a:ext cx="13608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49 + 28 = 77 </a:t>
            </a:r>
            <a:endParaRPr sz="1800"/>
          </a:p>
        </p:txBody>
      </p:sp>
      <p:sp>
        <p:nvSpPr>
          <p:cNvPr id="822" name="Google Shape;822;p70"/>
          <p:cNvSpPr txBox="1"/>
          <p:nvPr>
            <p:ph idx="1" type="body"/>
          </p:nvPr>
        </p:nvSpPr>
        <p:spPr>
          <a:xfrm>
            <a:off x="4572000" y="2196450"/>
            <a:ext cx="13608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77 − 28 = 49</a:t>
            </a:r>
            <a:endParaRPr sz="1800"/>
          </a:p>
        </p:txBody>
      </p:sp>
      <p:sp>
        <p:nvSpPr>
          <p:cNvPr id="823" name="Google Shape;823;p70"/>
          <p:cNvSpPr txBox="1"/>
          <p:nvPr>
            <p:ph idx="1" type="body"/>
          </p:nvPr>
        </p:nvSpPr>
        <p:spPr>
          <a:xfrm>
            <a:off x="4572000" y="2554800"/>
            <a:ext cx="13608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77 − 49 = 28</a:t>
            </a:r>
            <a:endParaRPr sz="1800"/>
          </a:p>
        </p:txBody>
      </p:sp>
      <p:sp>
        <p:nvSpPr>
          <p:cNvPr id="824" name="Google Shape;824;p70"/>
          <p:cNvSpPr/>
          <p:nvPr/>
        </p:nvSpPr>
        <p:spPr>
          <a:xfrm flipH="1">
            <a:off x="324000" y="3240000"/>
            <a:ext cx="8496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 txBox="1"/>
          <p:nvPr/>
        </p:nvSpPr>
        <p:spPr>
          <a:xfrm>
            <a:off x="7617600" y="941325"/>
            <a:ext cx="556200" cy="360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</a:t>
            </a:r>
            <a:endParaRPr sz="22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6" name="Google Shape;826;p70"/>
          <p:cNvSpPr txBox="1"/>
          <p:nvPr/>
        </p:nvSpPr>
        <p:spPr>
          <a:xfrm>
            <a:off x="7617600" y="1301325"/>
            <a:ext cx="556200" cy="360000"/>
          </a:xfrm>
          <a:prstGeom prst="rect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</a:t>
            </a:r>
            <a:endParaRPr sz="22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7" name="Google Shape;827;p70"/>
          <p:cNvSpPr txBox="1"/>
          <p:nvPr/>
        </p:nvSpPr>
        <p:spPr>
          <a:xfrm>
            <a:off x="4571988" y="1301313"/>
            <a:ext cx="3601800" cy="3768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90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8" name="Google Shape;828;p70"/>
          <p:cNvSpPr/>
          <p:nvPr/>
        </p:nvSpPr>
        <p:spPr>
          <a:xfrm flipH="1">
            <a:off x="324000" y="3770475"/>
            <a:ext cx="8496000" cy="4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could Lucas change his bar model to show that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 + 49 + 13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90?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9" name="Google Shape;829;p70"/>
          <p:cNvSpPr txBox="1"/>
          <p:nvPr>
            <p:ph idx="1" type="body"/>
          </p:nvPr>
        </p:nvSpPr>
        <p:spPr>
          <a:xfrm>
            <a:off x="4572000" y="2893800"/>
            <a:ext cx="1973700" cy="33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77 − 49 − 28 = 0</a:t>
            </a:r>
            <a:endParaRPr sz="1800"/>
          </a:p>
        </p:txBody>
      </p:sp>
      <p:sp>
        <p:nvSpPr>
          <p:cNvPr id="830" name="Google Shape;830;p70"/>
          <p:cNvSpPr txBox="1"/>
          <p:nvPr/>
        </p:nvSpPr>
        <p:spPr>
          <a:xfrm>
            <a:off x="366800" y="2398950"/>
            <a:ext cx="894900" cy="3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1" name="Google Shape;831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425" y="1678025"/>
            <a:ext cx="614649" cy="68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2" name="Google Shape;832;p70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>
            <a:off x="1085075" y="810000"/>
            <a:ext cx="3022674" cy="1162851"/>
          </a:xfrm>
          <a:prstGeom prst="rect">
            <a:avLst/>
          </a:prstGeom>
          <a:noFill/>
          <a:ln>
            <a:noFill/>
          </a:ln>
        </p:spPr>
      </p:pic>
      <p:sp>
        <p:nvSpPr>
          <p:cNvPr id="833" name="Google Shape;833;p70"/>
          <p:cNvSpPr/>
          <p:nvPr/>
        </p:nvSpPr>
        <p:spPr>
          <a:xfrm flipH="1">
            <a:off x="1478735" y="985894"/>
            <a:ext cx="25047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 can also show this with a bar model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models to rearrange equations</a:t>
            </a:r>
            <a:endParaRPr/>
          </a:p>
        </p:txBody>
      </p:sp>
      <p:grpSp>
        <p:nvGrpSpPr>
          <p:cNvPr id="839" name="Google Shape;839;p71"/>
          <p:cNvGrpSpPr/>
          <p:nvPr/>
        </p:nvGrpSpPr>
        <p:grpSpPr>
          <a:xfrm>
            <a:off x="3049200" y="1115525"/>
            <a:ext cx="3045600" cy="720000"/>
            <a:chOff x="3049200" y="1115525"/>
            <a:chExt cx="3045600" cy="720000"/>
          </a:xfrm>
        </p:grpSpPr>
        <p:sp>
          <p:nvSpPr>
            <p:cNvPr id="840" name="Google Shape;840;p71"/>
            <p:cNvSpPr txBox="1"/>
            <p:nvPr/>
          </p:nvSpPr>
          <p:spPr>
            <a:xfrm>
              <a:off x="4251600" y="1115525"/>
              <a:ext cx="18432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c</a:t>
              </a: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41" name="Google Shape;841;p71"/>
            <p:cNvSpPr txBox="1"/>
            <p:nvPr/>
          </p:nvSpPr>
          <p:spPr>
            <a:xfrm>
              <a:off x="3049200" y="1115525"/>
              <a:ext cx="12024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a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842" name="Google Shape;842;p71"/>
            <p:cNvSpPr txBox="1"/>
            <p:nvPr/>
          </p:nvSpPr>
          <p:spPr>
            <a:xfrm>
              <a:off x="3049200" y="1475525"/>
              <a:ext cx="30456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843" name="Google Shape;843;p71"/>
          <p:cNvSpPr/>
          <p:nvPr/>
        </p:nvSpPr>
        <p:spPr>
          <a:xfrm flipH="1">
            <a:off x="324000" y="3291525"/>
            <a:ext cx="84960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could Laura have written?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4" name="Google Shape;844;p71"/>
          <p:cNvSpPr/>
          <p:nvPr/>
        </p:nvSpPr>
        <p:spPr>
          <a:xfrm flipH="1">
            <a:off x="324000" y="3782250"/>
            <a:ext cx="1202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5" name="Google Shape;845;p71"/>
          <p:cNvSpPr txBox="1"/>
          <p:nvPr/>
        </p:nvSpPr>
        <p:spPr>
          <a:xfrm flipH="1">
            <a:off x="346300" y="2910894"/>
            <a:ext cx="10206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6" name="Google Shape;846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08" y="2268043"/>
            <a:ext cx="546034" cy="6161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47" name="Google Shape;847;p71"/>
          <p:cNvPicPr preferRelativeResize="0"/>
          <p:nvPr/>
        </p:nvPicPr>
        <p:blipFill rotWithShape="1">
          <a:blip r:embed="rId4">
            <a:alphaModFix/>
          </a:blip>
          <a:srcRect b="4760" l="40550" r="0" t="13015"/>
          <a:stretch/>
        </p:blipFill>
        <p:spPr>
          <a:xfrm flipH="1">
            <a:off x="4918100" y="2062159"/>
            <a:ext cx="3022674" cy="1162851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1"/>
          <p:cNvSpPr/>
          <p:nvPr/>
        </p:nvSpPr>
        <p:spPr>
          <a:xfrm>
            <a:off x="1516800" y="2153744"/>
            <a:ext cx="2740800" cy="7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a bar model for the equation</a:t>
            </a:r>
            <a:r>
              <a:rPr i="1"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50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49" name="Google Shape;849;p71"/>
          <p:cNvSpPr txBox="1"/>
          <p:nvPr/>
        </p:nvSpPr>
        <p:spPr>
          <a:xfrm>
            <a:off x="8016904" y="301593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50" name="Google Shape;850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8124175" y="2281564"/>
            <a:ext cx="546050" cy="715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851" name="Google Shape;851;p7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237392" y="2002853"/>
            <a:ext cx="2945597" cy="1029176"/>
          </a:xfrm>
          <a:prstGeom prst="rect">
            <a:avLst/>
          </a:prstGeom>
          <a:noFill/>
          <a:ln>
            <a:noFill/>
          </a:ln>
        </p:spPr>
      </p:pic>
      <p:sp>
        <p:nvSpPr>
          <p:cNvPr id="852" name="Google Shape;852;p71"/>
          <p:cNvSpPr/>
          <p:nvPr/>
        </p:nvSpPr>
        <p:spPr>
          <a:xfrm>
            <a:off x="5112075" y="2153750"/>
            <a:ext cx="2710500" cy="5814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I’ve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written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 different equation from this bar model.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1"/>
          <p:cNvSpPr/>
          <p:nvPr/>
        </p:nvSpPr>
        <p:spPr>
          <a:xfrm flipH="1">
            <a:off x="2416708" y="3782250"/>
            <a:ext cx="1202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54" name="Google Shape;854;p71"/>
          <p:cNvSpPr/>
          <p:nvPr/>
        </p:nvSpPr>
        <p:spPr>
          <a:xfrm flipH="1">
            <a:off x="4509417" y="3782250"/>
            <a:ext cx="1202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c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55" name="Google Shape;855;p71"/>
          <p:cNvSpPr/>
          <p:nvPr/>
        </p:nvSpPr>
        <p:spPr>
          <a:xfrm flipH="1">
            <a:off x="324000" y="695700"/>
            <a:ext cx="8496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same thing is true for bar models with variable terms.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6" name="Google Shape;856;p71"/>
          <p:cNvSpPr/>
          <p:nvPr/>
        </p:nvSpPr>
        <p:spPr>
          <a:xfrm flipH="1">
            <a:off x="6602125" y="3782250"/>
            <a:ext cx="1571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50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c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57" name="Google Shape;857;p71"/>
          <p:cNvSpPr/>
          <p:nvPr/>
        </p:nvSpPr>
        <p:spPr>
          <a:xfrm flipH="1">
            <a:off x="324000" y="4172750"/>
            <a:ext cx="8496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do not know the value of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c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so we do not know which bar should be bigger. Be aware that bar models are just a representation.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863" name="Google Shape;863;p72"/>
          <p:cNvSpPr txBox="1"/>
          <p:nvPr/>
        </p:nvSpPr>
        <p:spPr>
          <a:xfrm>
            <a:off x="6004200" y="1934946"/>
            <a:ext cx="18432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4" name="Google Shape;864;p72"/>
          <p:cNvSpPr txBox="1"/>
          <p:nvPr/>
        </p:nvSpPr>
        <p:spPr>
          <a:xfrm>
            <a:off x="4801800" y="1572725"/>
            <a:ext cx="30456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65" name="Google Shape;865;p72"/>
          <p:cNvSpPr txBox="1"/>
          <p:nvPr/>
        </p:nvSpPr>
        <p:spPr>
          <a:xfrm>
            <a:off x="4801800" y="1934946"/>
            <a:ext cx="1202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6" name="Google Shape;866;p72"/>
          <p:cNvSpPr/>
          <p:nvPr/>
        </p:nvSpPr>
        <p:spPr>
          <a:xfrm flipH="1">
            <a:off x="4572000" y="2535750"/>
            <a:ext cx="4248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other equations are true?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7" name="Google Shape;867;p72"/>
          <p:cNvSpPr/>
          <p:nvPr/>
        </p:nvSpPr>
        <p:spPr>
          <a:xfrm flipH="1">
            <a:off x="4572000" y="2891950"/>
            <a:ext cx="1202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68" name="Google Shape;868;p72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>
            <a:off x="1030825" y="728275"/>
            <a:ext cx="3378299" cy="1299663"/>
          </a:xfrm>
          <a:prstGeom prst="rect">
            <a:avLst/>
          </a:prstGeom>
          <a:noFill/>
          <a:ln>
            <a:noFill/>
          </a:ln>
        </p:spPr>
      </p:pic>
      <p:sp>
        <p:nvSpPr>
          <p:cNvPr id="869" name="Google Shape;869;p72"/>
          <p:cNvSpPr txBox="1"/>
          <p:nvPr/>
        </p:nvSpPr>
        <p:spPr>
          <a:xfrm flipH="1">
            <a:off x="247800" y="1908564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70" name="Google Shape;870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705" y="1190639"/>
            <a:ext cx="575398" cy="753601"/>
          </a:xfrm>
          <a:prstGeom prst="rect">
            <a:avLst/>
          </a:prstGeom>
          <a:noFill/>
          <a:ln>
            <a:noFill/>
          </a:ln>
        </p:spPr>
      </p:pic>
      <p:sp>
        <p:nvSpPr>
          <p:cNvPr id="871" name="Google Shape;871;p72"/>
          <p:cNvSpPr/>
          <p:nvPr/>
        </p:nvSpPr>
        <p:spPr>
          <a:xfrm flipH="1">
            <a:off x="1472121" y="861842"/>
            <a:ext cx="2710500" cy="8151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If I have the equation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 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5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what other equations are also true?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2" name="Google Shape;872;p72"/>
          <p:cNvSpPr/>
          <p:nvPr/>
        </p:nvSpPr>
        <p:spPr>
          <a:xfrm flipH="1">
            <a:off x="4649400" y="810000"/>
            <a:ext cx="4248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could we draw a bar model to show an equation with a subtraction?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/>
          <p:nvPr/>
        </p:nvSpPr>
        <p:spPr>
          <a:xfrm flipH="1">
            <a:off x="4572000" y="3392400"/>
            <a:ext cx="1202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4" name="Google Shape;874;p72"/>
          <p:cNvSpPr/>
          <p:nvPr/>
        </p:nvSpPr>
        <p:spPr>
          <a:xfrm flipH="1">
            <a:off x="6256800" y="2942125"/>
            <a:ext cx="12024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 =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5" name="Google Shape;875;p72"/>
          <p:cNvSpPr/>
          <p:nvPr/>
        </p:nvSpPr>
        <p:spPr>
          <a:xfrm flipH="1">
            <a:off x="6256800" y="3439375"/>
            <a:ext cx="14889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y =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876" name="Google Shape;876;p72"/>
          <p:cNvPicPr preferRelativeResize="0"/>
          <p:nvPr/>
        </p:nvPicPr>
        <p:blipFill rotWithShape="1">
          <a:blip r:embed="rId3">
            <a:alphaModFix/>
          </a:blip>
          <a:srcRect b="4760" l="40550" r="0" t="13015"/>
          <a:stretch/>
        </p:blipFill>
        <p:spPr>
          <a:xfrm flipH="1" rot="10800000">
            <a:off x="959875" y="2142726"/>
            <a:ext cx="3022674" cy="926674"/>
          </a:xfrm>
          <a:prstGeom prst="rect">
            <a:avLst/>
          </a:prstGeom>
          <a:noFill/>
          <a:ln>
            <a:noFill/>
          </a:ln>
        </p:spPr>
      </p:pic>
      <p:sp>
        <p:nvSpPr>
          <p:cNvPr id="877" name="Google Shape;877;p72"/>
          <p:cNvSpPr/>
          <p:nvPr/>
        </p:nvSpPr>
        <p:spPr>
          <a:xfrm flipH="1">
            <a:off x="1268319" y="2368460"/>
            <a:ext cx="2710500" cy="613500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 this case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has to be larger than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5</a:t>
            </a:r>
            <a:endParaRPr sz="23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78" name="Google Shape;878;p72"/>
          <p:cNvSpPr/>
          <p:nvPr/>
        </p:nvSpPr>
        <p:spPr>
          <a:xfrm flipH="1">
            <a:off x="324075" y="3688800"/>
            <a:ext cx="23886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Laura correct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72"/>
          <p:cNvSpPr/>
          <p:nvPr/>
        </p:nvSpPr>
        <p:spPr>
          <a:xfrm flipH="1">
            <a:off x="324000" y="4380200"/>
            <a:ext cx="8496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could be 3 and </a:t>
            </a: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could be −2 then 3 − (−2) = 5 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885" name="Google Shape;885;p73"/>
          <p:cNvSpPr/>
          <p:nvPr/>
        </p:nvSpPr>
        <p:spPr>
          <a:xfrm flipH="1">
            <a:off x="324000" y="1080000"/>
            <a:ext cx="8496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Bar models are just a representation of an expression or equation.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3"/>
          <p:cNvSpPr/>
          <p:nvPr/>
        </p:nvSpPr>
        <p:spPr>
          <a:xfrm flipH="1">
            <a:off x="324000" y="1746750"/>
            <a:ext cx="84960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They are great for showing the relationship between terms in an equation and making sense of rearranging equations into different forms.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3"/>
          <p:cNvSpPr/>
          <p:nvPr/>
        </p:nvSpPr>
        <p:spPr>
          <a:xfrm flipH="1">
            <a:off x="324000" y="2664925"/>
            <a:ext cx="84960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cannot always use the size of the bars to give us information about unknowns or variables, particularly involving negative values.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893" name="Google Shape;893;p74"/>
          <p:cNvSpPr txBox="1"/>
          <p:nvPr/>
        </p:nvSpPr>
        <p:spPr>
          <a:xfrm>
            <a:off x="3219600" y="1263250"/>
            <a:ext cx="4509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4" name="Google Shape;894;p74"/>
          <p:cNvSpPr txBox="1"/>
          <p:nvPr/>
        </p:nvSpPr>
        <p:spPr>
          <a:xfrm>
            <a:off x="5030350" y="1263246"/>
            <a:ext cx="1202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5" name="Google Shape;895;p74"/>
          <p:cNvSpPr/>
          <p:nvPr/>
        </p:nvSpPr>
        <p:spPr>
          <a:xfrm flipH="1">
            <a:off x="324000" y="814188"/>
            <a:ext cx="8496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How could we draw a bar model for the equation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+ 5 = 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+ 9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6" name="Google Shape;896;p74"/>
          <p:cNvSpPr txBox="1"/>
          <p:nvPr/>
        </p:nvSpPr>
        <p:spPr>
          <a:xfrm>
            <a:off x="3670500" y="1263250"/>
            <a:ext cx="4509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7" name="Google Shape;897;p74"/>
          <p:cNvSpPr txBox="1"/>
          <p:nvPr/>
        </p:nvSpPr>
        <p:spPr>
          <a:xfrm>
            <a:off x="4121400" y="1263250"/>
            <a:ext cx="4509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8" name="Google Shape;898;p74"/>
          <p:cNvSpPr txBox="1"/>
          <p:nvPr/>
        </p:nvSpPr>
        <p:spPr>
          <a:xfrm>
            <a:off x="3219600" y="1623250"/>
            <a:ext cx="4509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9" name="Google Shape;899;p74"/>
          <p:cNvSpPr txBox="1"/>
          <p:nvPr/>
        </p:nvSpPr>
        <p:spPr>
          <a:xfrm>
            <a:off x="4121400" y="1623250"/>
            <a:ext cx="2111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0" name="Google Shape;900;p74"/>
          <p:cNvSpPr txBox="1"/>
          <p:nvPr/>
        </p:nvSpPr>
        <p:spPr>
          <a:xfrm>
            <a:off x="3670500" y="1623250"/>
            <a:ext cx="4509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1" name="Google Shape;901;p74"/>
          <p:cNvSpPr txBox="1"/>
          <p:nvPr/>
        </p:nvSpPr>
        <p:spPr>
          <a:xfrm>
            <a:off x="4575863" y="1263250"/>
            <a:ext cx="4509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02" name="Google Shape;902;p74"/>
          <p:cNvSpPr txBox="1"/>
          <p:nvPr/>
        </p:nvSpPr>
        <p:spPr>
          <a:xfrm>
            <a:off x="2019145" y="3945689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3" name="Google Shape;903;p74"/>
          <p:cNvSpPr txBox="1"/>
          <p:nvPr/>
        </p:nvSpPr>
        <p:spPr>
          <a:xfrm>
            <a:off x="125875" y="3945689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4" name="Google Shape;904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2291867" y="3455226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987" y="3422123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906" name="Google Shape;906;p74"/>
          <p:cNvSpPr txBox="1"/>
          <p:nvPr/>
        </p:nvSpPr>
        <p:spPr>
          <a:xfrm flipH="1">
            <a:off x="4156125" y="3977650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07" name="Google Shape;90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194494" y="3445477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6325700" y="3337125"/>
            <a:ext cx="675955" cy="65415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4"/>
          <p:cNvSpPr txBox="1"/>
          <p:nvPr/>
        </p:nvSpPr>
        <p:spPr>
          <a:xfrm flipH="1">
            <a:off x="6129375" y="3977650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0" name="Google Shape;910;p74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 flipH="1">
            <a:off x="590048" y="2761375"/>
            <a:ext cx="1824077" cy="684099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4"/>
          <p:cNvSpPr/>
          <p:nvPr/>
        </p:nvSpPr>
        <p:spPr>
          <a:xfrm>
            <a:off x="756900" y="2886600"/>
            <a:ext cx="1744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 +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− 4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=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2" name="Google Shape;912;p74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 flipH="1">
            <a:off x="2647448" y="2761375"/>
            <a:ext cx="1824077" cy="684099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4"/>
          <p:cNvSpPr/>
          <p:nvPr/>
        </p:nvSpPr>
        <p:spPr>
          <a:xfrm>
            <a:off x="2814300" y="2886600"/>
            <a:ext cx="1744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−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9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4" name="Google Shape;914;p74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 flipH="1">
            <a:off x="4628651" y="2761375"/>
            <a:ext cx="1916974" cy="684099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74"/>
          <p:cNvSpPr/>
          <p:nvPr/>
        </p:nvSpPr>
        <p:spPr>
          <a:xfrm>
            <a:off x="4795500" y="2886600"/>
            <a:ext cx="17445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9 − 5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4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6" name="Google Shape;916;p74"/>
          <p:cNvPicPr preferRelativeResize="0"/>
          <p:nvPr/>
        </p:nvPicPr>
        <p:blipFill rotWithShape="1">
          <a:blip r:embed="rId7">
            <a:alphaModFix/>
          </a:blip>
          <a:srcRect b="43690" l="0" r="57905" t="0"/>
          <a:stretch/>
        </p:blipFill>
        <p:spPr>
          <a:xfrm flipH="1">
            <a:off x="6700477" y="2761375"/>
            <a:ext cx="2145623" cy="684099"/>
          </a:xfrm>
          <a:prstGeom prst="rect">
            <a:avLst/>
          </a:prstGeom>
          <a:noFill/>
          <a:ln>
            <a:noFill/>
          </a:ln>
        </p:spPr>
      </p:pic>
      <p:sp>
        <p:nvSpPr>
          <p:cNvPr id="917" name="Google Shape;917;p74"/>
          <p:cNvSpPr/>
          <p:nvPr/>
        </p:nvSpPr>
        <p:spPr>
          <a:xfrm>
            <a:off x="6852900" y="2886600"/>
            <a:ext cx="1917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5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9 −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= 0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8" name="Google Shape;918;p74"/>
          <p:cNvSpPr/>
          <p:nvPr/>
        </p:nvSpPr>
        <p:spPr>
          <a:xfrm flipH="1">
            <a:off x="324000" y="2333213"/>
            <a:ext cx="8496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Which of these equations are also correct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?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9" name="Google Shape;919;p74"/>
          <p:cNvSpPr/>
          <p:nvPr/>
        </p:nvSpPr>
        <p:spPr>
          <a:xfrm flipH="1">
            <a:off x="324000" y="4395038"/>
            <a:ext cx="8496000" cy="3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of them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− 17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endParaRPr i="1"/>
          </a:p>
        </p:txBody>
      </p:sp>
      <p:sp>
        <p:nvSpPr>
          <p:cNvPr id="925" name="Google Shape;925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926" name="Google Shape;926;p7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If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17</a:t>
            </a:r>
            <a:r>
              <a:rPr lang="en-GB" sz="2000"/>
              <a:t> which of the following are also true?</a:t>
            </a:r>
            <a:endParaRPr sz="2000"/>
          </a:p>
        </p:txBody>
      </p:sp>
      <p:sp>
        <p:nvSpPr>
          <p:cNvPr id="927" name="Google Shape;927;p75"/>
          <p:cNvSpPr txBox="1"/>
          <p:nvPr>
            <p:ph idx="3" type="subTitle"/>
          </p:nvPr>
        </p:nvSpPr>
        <p:spPr>
          <a:xfrm>
            <a:off x="1034425" y="2770122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− 17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endParaRPr/>
          </a:p>
        </p:txBody>
      </p:sp>
      <p:sp>
        <p:nvSpPr>
          <p:cNvPr id="928" name="Google Shape;928;p7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17 −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y</a:t>
            </a:r>
            <a:endParaRPr/>
          </a:p>
        </p:txBody>
      </p:sp>
      <p:grpSp>
        <p:nvGrpSpPr>
          <p:cNvPr id="929" name="Google Shape;929;p75"/>
          <p:cNvGrpSpPr/>
          <p:nvPr/>
        </p:nvGrpSpPr>
        <p:grpSpPr>
          <a:xfrm>
            <a:off x="5774400" y="1130400"/>
            <a:ext cx="3045600" cy="722221"/>
            <a:chOff x="5774400" y="1130400"/>
            <a:chExt cx="3045600" cy="722221"/>
          </a:xfrm>
        </p:grpSpPr>
        <p:sp>
          <p:nvSpPr>
            <p:cNvPr id="930" name="Google Shape;930;p75"/>
            <p:cNvSpPr txBox="1"/>
            <p:nvPr/>
          </p:nvSpPr>
          <p:spPr>
            <a:xfrm>
              <a:off x="6976800" y="1492621"/>
              <a:ext cx="18432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x</a:t>
              </a: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31" name="Google Shape;931;p75"/>
            <p:cNvSpPr txBox="1"/>
            <p:nvPr/>
          </p:nvSpPr>
          <p:spPr>
            <a:xfrm>
              <a:off x="5774400" y="1130400"/>
              <a:ext cx="30456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y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932" name="Google Shape;932;p75"/>
            <p:cNvSpPr txBox="1"/>
            <p:nvPr/>
          </p:nvSpPr>
          <p:spPr>
            <a:xfrm>
              <a:off x="5774400" y="1492621"/>
              <a:ext cx="12024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17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933" name="Google Shape;933;p75"/>
          <p:cNvSpPr txBox="1"/>
          <p:nvPr>
            <p:ph type="title"/>
          </p:nvPr>
        </p:nvSpPr>
        <p:spPr>
          <a:xfrm>
            <a:off x="324000" y="1130400"/>
            <a:ext cx="52071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You could draw a bar model to help.</a:t>
            </a:r>
            <a:endParaRPr sz="2000"/>
          </a:p>
        </p:txBody>
      </p:sp>
      <p:pic>
        <p:nvPicPr>
          <p:cNvPr id="934" name="Google Shape;934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7208" y="18377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76"/>
          <p:cNvSpPr/>
          <p:nvPr/>
        </p:nvSpPr>
        <p:spPr>
          <a:xfrm>
            <a:off x="3365700" y="2898175"/>
            <a:ext cx="2412600" cy="288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0" name="Google Shape;940;p76"/>
          <p:cNvSpPr/>
          <p:nvPr/>
        </p:nvSpPr>
        <p:spPr>
          <a:xfrm>
            <a:off x="6224925" y="2898175"/>
            <a:ext cx="2412600" cy="288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1" name="Google Shape;941;p76"/>
          <p:cNvSpPr/>
          <p:nvPr/>
        </p:nvSpPr>
        <p:spPr>
          <a:xfrm>
            <a:off x="506475" y="2898175"/>
            <a:ext cx="2412600" cy="288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2" name="Google Shape;942;p76"/>
          <p:cNvSpPr/>
          <p:nvPr/>
        </p:nvSpPr>
        <p:spPr>
          <a:xfrm>
            <a:off x="506475" y="3510000"/>
            <a:ext cx="2412600" cy="288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3" name="Google Shape;943;p76"/>
          <p:cNvSpPr/>
          <p:nvPr/>
        </p:nvSpPr>
        <p:spPr>
          <a:xfrm>
            <a:off x="3396275" y="3510000"/>
            <a:ext cx="2412600" cy="288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4" name="Google Shape;944;p76"/>
          <p:cNvSpPr/>
          <p:nvPr/>
        </p:nvSpPr>
        <p:spPr>
          <a:xfrm>
            <a:off x="6224925" y="3510000"/>
            <a:ext cx="2412600" cy="288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76"/>
          <p:cNvSpPr/>
          <p:nvPr/>
        </p:nvSpPr>
        <p:spPr>
          <a:xfrm>
            <a:off x="506475" y="4121825"/>
            <a:ext cx="2412600" cy="288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6" name="Google Shape;946;p76"/>
          <p:cNvSpPr/>
          <p:nvPr/>
        </p:nvSpPr>
        <p:spPr>
          <a:xfrm>
            <a:off x="6224925" y="4121825"/>
            <a:ext cx="2412600" cy="288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7" name="Google Shape;947;p7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948" name="Google Shape;948;p76"/>
          <p:cNvSpPr txBox="1"/>
          <p:nvPr>
            <p:ph idx="1" type="body"/>
          </p:nvPr>
        </p:nvSpPr>
        <p:spPr>
          <a:xfrm>
            <a:off x="324000" y="759300"/>
            <a:ext cx="8496000" cy="61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Match the equations to the bar models. Each bar model can match with </a:t>
            </a:r>
            <a:r>
              <a:rPr lang="en-GB" sz="1800"/>
              <a:t>multiple</a:t>
            </a:r>
            <a:r>
              <a:rPr lang="en-GB" sz="1800"/>
              <a:t> equations.</a:t>
            </a:r>
            <a:endParaRPr sz="1800"/>
          </a:p>
        </p:txBody>
      </p:sp>
      <p:sp>
        <p:nvSpPr>
          <p:cNvPr id="949" name="Google Shape;949;p76"/>
          <p:cNvSpPr txBox="1"/>
          <p:nvPr/>
        </p:nvSpPr>
        <p:spPr>
          <a:xfrm>
            <a:off x="543950" y="1772400"/>
            <a:ext cx="338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0" name="Google Shape;950;p76"/>
          <p:cNvSpPr txBox="1"/>
          <p:nvPr/>
        </p:nvSpPr>
        <p:spPr>
          <a:xfrm>
            <a:off x="1562134" y="1772400"/>
            <a:ext cx="12438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1" name="Google Shape;951;p76"/>
          <p:cNvSpPr txBox="1"/>
          <p:nvPr/>
        </p:nvSpPr>
        <p:spPr>
          <a:xfrm>
            <a:off x="882444" y="1772400"/>
            <a:ext cx="338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2" name="Google Shape;952;p76"/>
          <p:cNvSpPr txBox="1"/>
          <p:nvPr/>
        </p:nvSpPr>
        <p:spPr>
          <a:xfrm>
            <a:off x="1220938" y="1772400"/>
            <a:ext cx="338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3" name="Google Shape;953;p76"/>
          <p:cNvSpPr txBox="1"/>
          <p:nvPr/>
        </p:nvSpPr>
        <p:spPr>
          <a:xfrm>
            <a:off x="543951" y="2132400"/>
            <a:ext cx="22620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76"/>
          <p:cNvSpPr txBox="1"/>
          <p:nvPr/>
        </p:nvSpPr>
        <p:spPr>
          <a:xfrm>
            <a:off x="3369600" y="1772400"/>
            <a:ext cx="7746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5" name="Google Shape;955;p76"/>
          <p:cNvSpPr txBox="1"/>
          <p:nvPr/>
        </p:nvSpPr>
        <p:spPr>
          <a:xfrm>
            <a:off x="4820826" y="2132400"/>
            <a:ext cx="8721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6" name="Google Shape;956;p76"/>
          <p:cNvSpPr txBox="1"/>
          <p:nvPr/>
        </p:nvSpPr>
        <p:spPr>
          <a:xfrm>
            <a:off x="3369600" y="2132400"/>
            <a:ext cx="1451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7" name="Google Shape;957;p76"/>
          <p:cNvSpPr txBox="1"/>
          <p:nvPr/>
        </p:nvSpPr>
        <p:spPr>
          <a:xfrm>
            <a:off x="4144087" y="1772400"/>
            <a:ext cx="7746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8" name="Google Shape;958;p76"/>
          <p:cNvSpPr txBox="1"/>
          <p:nvPr/>
        </p:nvSpPr>
        <p:spPr>
          <a:xfrm>
            <a:off x="4918574" y="1772400"/>
            <a:ext cx="7746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59" name="Google Shape;959;p76"/>
          <p:cNvSpPr txBox="1"/>
          <p:nvPr/>
        </p:nvSpPr>
        <p:spPr>
          <a:xfrm>
            <a:off x="6256800" y="1772400"/>
            <a:ext cx="704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0" name="Google Shape;960;p76"/>
          <p:cNvSpPr txBox="1"/>
          <p:nvPr/>
        </p:nvSpPr>
        <p:spPr>
          <a:xfrm>
            <a:off x="7658871" y="1772400"/>
            <a:ext cx="9285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1" name="Google Shape;961;p76"/>
          <p:cNvSpPr txBox="1"/>
          <p:nvPr/>
        </p:nvSpPr>
        <p:spPr>
          <a:xfrm>
            <a:off x="6961200" y="2132400"/>
            <a:ext cx="16263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2" name="Google Shape;962;p76"/>
          <p:cNvSpPr txBox="1"/>
          <p:nvPr/>
        </p:nvSpPr>
        <p:spPr>
          <a:xfrm>
            <a:off x="6961200" y="1772400"/>
            <a:ext cx="704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3" name="Google Shape;963;p76"/>
          <p:cNvSpPr txBox="1"/>
          <p:nvPr/>
        </p:nvSpPr>
        <p:spPr>
          <a:xfrm>
            <a:off x="6256800" y="2132400"/>
            <a:ext cx="704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964" name="Google Shape;964;p76"/>
          <p:cNvSpPr txBox="1"/>
          <p:nvPr>
            <p:ph idx="4294967295" type="subTitle"/>
          </p:nvPr>
        </p:nvSpPr>
        <p:spPr>
          <a:xfrm>
            <a:off x="6577342" y="2862655"/>
            <a:ext cx="2339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42 − 27 − 2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965" name="Google Shape;965;p76"/>
          <p:cNvSpPr txBox="1"/>
          <p:nvPr>
            <p:ph idx="4294967295" type="subTitle"/>
          </p:nvPr>
        </p:nvSpPr>
        <p:spPr>
          <a:xfrm>
            <a:off x="6841952" y="3468426"/>
            <a:ext cx="171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42 −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27</a:t>
            </a:r>
            <a:endParaRPr i="1"/>
          </a:p>
        </p:txBody>
      </p:sp>
      <p:sp>
        <p:nvSpPr>
          <p:cNvPr id="966" name="Google Shape;966;p76"/>
          <p:cNvSpPr txBox="1"/>
          <p:nvPr>
            <p:ph idx="4294967295" type="subTitle"/>
          </p:nvPr>
        </p:nvSpPr>
        <p:spPr>
          <a:xfrm>
            <a:off x="1006213" y="4084816"/>
            <a:ext cx="171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27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42</a:t>
            </a:r>
            <a:endParaRPr i="1"/>
          </a:p>
        </p:txBody>
      </p:sp>
      <p:sp>
        <p:nvSpPr>
          <p:cNvPr id="967" name="Google Shape;967;p76"/>
          <p:cNvSpPr txBox="1"/>
          <p:nvPr>
            <p:ph idx="4294967295" type="subTitle"/>
          </p:nvPr>
        </p:nvSpPr>
        <p:spPr>
          <a:xfrm>
            <a:off x="3886675" y="2861575"/>
            <a:ext cx="171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42 + 27</a:t>
            </a:r>
            <a:endParaRPr i="1"/>
          </a:p>
        </p:txBody>
      </p:sp>
      <p:sp>
        <p:nvSpPr>
          <p:cNvPr id="968" name="Google Shape;968;p76"/>
          <p:cNvSpPr txBox="1"/>
          <p:nvPr>
            <p:ph idx="4294967295" type="subTitle"/>
          </p:nvPr>
        </p:nvSpPr>
        <p:spPr>
          <a:xfrm>
            <a:off x="1006213" y="2861575"/>
            <a:ext cx="171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42 = 27</a:t>
            </a:r>
            <a:endParaRPr i="1"/>
          </a:p>
        </p:txBody>
      </p:sp>
      <p:sp>
        <p:nvSpPr>
          <p:cNvPr id="969" name="Google Shape;969;p76"/>
          <p:cNvSpPr txBox="1"/>
          <p:nvPr>
            <p:ph idx="4294967295" type="subTitle"/>
          </p:nvPr>
        </p:nvSpPr>
        <p:spPr>
          <a:xfrm>
            <a:off x="6554950" y="4084816"/>
            <a:ext cx="211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+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42 + 27</a:t>
            </a:r>
            <a:endParaRPr i="1"/>
          </a:p>
        </p:txBody>
      </p:sp>
      <p:sp>
        <p:nvSpPr>
          <p:cNvPr id="970" name="Google Shape;970;p76"/>
          <p:cNvSpPr txBox="1"/>
          <p:nvPr>
            <p:ph idx="4294967295" type="subTitle"/>
          </p:nvPr>
        </p:nvSpPr>
        <p:spPr>
          <a:xfrm>
            <a:off x="3739846" y="3481093"/>
            <a:ext cx="211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27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42 </a:t>
            </a:r>
            <a:endParaRPr i="1"/>
          </a:p>
        </p:txBody>
      </p:sp>
      <p:sp>
        <p:nvSpPr>
          <p:cNvPr id="971" name="Google Shape;971;p76"/>
          <p:cNvSpPr txBox="1"/>
          <p:nvPr>
            <p:ph idx="4294967295" type="subTitle"/>
          </p:nvPr>
        </p:nvSpPr>
        <p:spPr>
          <a:xfrm>
            <a:off x="838188" y="3486390"/>
            <a:ext cx="211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27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42 −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i="1"/>
          </a:p>
        </p:txBody>
      </p:sp>
      <p:sp>
        <p:nvSpPr>
          <p:cNvPr id="972" name="Google Shape;972;p76"/>
          <p:cNvSpPr txBox="1"/>
          <p:nvPr>
            <p:ph idx="1" type="body"/>
          </p:nvPr>
        </p:nvSpPr>
        <p:spPr>
          <a:xfrm>
            <a:off x="324000" y="4515600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For each bar model write another equation which is also true.</a:t>
            </a:r>
            <a:endParaRPr sz="1800"/>
          </a:p>
        </p:txBody>
      </p:sp>
      <p:sp>
        <p:nvSpPr>
          <p:cNvPr id="973" name="Google Shape;973;p76"/>
          <p:cNvSpPr/>
          <p:nvPr/>
        </p:nvSpPr>
        <p:spPr>
          <a:xfrm>
            <a:off x="543950" y="1445250"/>
            <a:ext cx="252000" cy="25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6"/>
          <p:cNvSpPr/>
          <p:nvPr/>
        </p:nvSpPr>
        <p:spPr>
          <a:xfrm>
            <a:off x="3369600" y="1429300"/>
            <a:ext cx="252000" cy="25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6"/>
          <p:cNvSpPr/>
          <p:nvPr/>
        </p:nvSpPr>
        <p:spPr>
          <a:xfrm>
            <a:off x="6256800" y="1445250"/>
            <a:ext cx="252000" cy="25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6"/>
          <p:cNvSpPr/>
          <p:nvPr/>
        </p:nvSpPr>
        <p:spPr>
          <a:xfrm>
            <a:off x="506475" y="2898175"/>
            <a:ext cx="288000" cy="288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76"/>
          <p:cNvSpPr/>
          <p:nvPr/>
        </p:nvSpPr>
        <p:spPr>
          <a:xfrm>
            <a:off x="506475" y="3510000"/>
            <a:ext cx="288000" cy="288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G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8" name="Google Shape;978;p76"/>
          <p:cNvSpPr/>
          <p:nvPr/>
        </p:nvSpPr>
        <p:spPr>
          <a:xfrm>
            <a:off x="506475" y="4121825"/>
            <a:ext cx="288000" cy="288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6"/>
          <p:cNvSpPr/>
          <p:nvPr/>
        </p:nvSpPr>
        <p:spPr>
          <a:xfrm>
            <a:off x="3396275" y="3510000"/>
            <a:ext cx="288000" cy="288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H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6"/>
          <p:cNvSpPr/>
          <p:nvPr/>
        </p:nvSpPr>
        <p:spPr>
          <a:xfrm>
            <a:off x="3365700" y="2898175"/>
            <a:ext cx="288000" cy="288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6"/>
          <p:cNvSpPr/>
          <p:nvPr/>
        </p:nvSpPr>
        <p:spPr>
          <a:xfrm>
            <a:off x="6224925" y="2898175"/>
            <a:ext cx="288000" cy="288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6"/>
          <p:cNvSpPr/>
          <p:nvPr/>
        </p:nvSpPr>
        <p:spPr>
          <a:xfrm>
            <a:off x="6224925" y="3510000"/>
            <a:ext cx="288000" cy="288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6"/>
          <p:cNvSpPr/>
          <p:nvPr/>
        </p:nvSpPr>
        <p:spPr>
          <a:xfrm>
            <a:off x="6224925" y="4121825"/>
            <a:ext cx="288000" cy="288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8" name="Google Shape;988;p77"/>
          <p:cNvGrpSpPr/>
          <p:nvPr/>
        </p:nvGrpSpPr>
        <p:grpSpPr>
          <a:xfrm>
            <a:off x="6244388" y="2649740"/>
            <a:ext cx="2412600" cy="288000"/>
            <a:chOff x="506475" y="3510000"/>
            <a:chExt cx="2412600" cy="288000"/>
          </a:xfrm>
        </p:grpSpPr>
        <p:sp>
          <p:nvSpPr>
            <p:cNvPr id="989" name="Google Shape;989;p77"/>
            <p:cNvSpPr/>
            <p:nvPr/>
          </p:nvSpPr>
          <p:spPr>
            <a:xfrm>
              <a:off x="506475" y="3510000"/>
              <a:ext cx="2412600" cy="288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0" name="Google Shape;990;p77"/>
            <p:cNvSpPr/>
            <p:nvPr/>
          </p:nvSpPr>
          <p:spPr>
            <a:xfrm>
              <a:off x="506475" y="3510000"/>
              <a:ext cx="288000" cy="2880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1" name="Google Shape;991;p77"/>
          <p:cNvGrpSpPr/>
          <p:nvPr/>
        </p:nvGrpSpPr>
        <p:grpSpPr>
          <a:xfrm>
            <a:off x="6244388" y="3035593"/>
            <a:ext cx="2412600" cy="288000"/>
            <a:chOff x="3396275" y="3510000"/>
            <a:chExt cx="2412600" cy="288000"/>
          </a:xfrm>
        </p:grpSpPr>
        <p:sp>
          <p:nvSpPr>
            <p:cNvPr id="992" name="Google Shape;992;p77"/>
            <p:cNvSpPr/>
            <p:nvPr/>
          </p:nvSpPr>
          <p:spPr>
            <a:xfrm>
              <a:off x="3396275" y="3510000"/>
              <a:ext cx="2412600" cy="288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3" name="Google Shape;993;p77"/>
            <p:cNvSpPr/>
            <p:nvPr/>
          </p:nvSpPr>
          <p:spPr>
            <a:xfrm>
              <a:off x="3396275" y="3510000"/>
              <a:ext cx="288000" cy="2880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4" name="Google Shape;994;p77"/>
          <p:cNvGrpSpPr/>
          <p:nvPr/>
        </p:nvGrpSpPr>
        <p:grpSpPr>
          <a:xfrm>
            <a:off x="3319823" y="3035593"/>
            <a:ext cx="2412600" cy="288000"/>
            <a:chOff x="506475" y="2898175"/>
            <a:chExt cx="2412600" cy="288000"/>
          </a:xfrm>
        </p:grpSpPr>
        <p:sp>
          <p:nvSpPr>
            <p:cNvPr id="995" name="Google Shape;995;p77"/>
            <p:cNvSpPr/>
            <p:nvPr/>
          </p:nvSpPr>
          <p:spPr>
            <a:xfrm>
              <a:off x="506475" y="2898175"/>
              <a:ext cx="2412600" cy="288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6" name="Google Shape;996;p77"/>
            <p:cNvSpPr/>
            <p:nvPr/>
          </p:nvSpPr>
          <p:spPr>
            <a:xfrm>
              <a:off x="506475" y="2898175"/>
              <a:ext cx="288000" cy="2880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77"/>
          <p:cNvGrpSpPr/>
          <p:nvPr/>
        </p:nvGrpSpPr>
        <p:grpSpPr>
          <a:xfrm>
            <a:off x="3319823" y="2649740"/>
            <a:ext cx="2412600" cy="288000"/>
            <a:chOff x="3365700" y="2898175"/>
            <a:chExt cx="2412600" cy="288000"/>
          </a:xfrm>
        </p:grpSpPr>
        <p:sp>
          <p:nvSpPr>
            <p:cNvPr id="998" name="Google Shape;998;p77"/>
            <p:cNvSpPr/>
            <p:nvPr/>
          </p:nvSpPr>
          <p:spPr>
            <a:xfrm>
              <a:off x="3365700" y="2898175"/>
              <a:ext cx="2412600" cy="288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9" name="Google Shape;999;p77"/>
            <p:cNvSpPr/>
            <p:nvPr/>
          </p:nvSpPr>
          <p:spPr>
            <a:xfrm>
              <a:off x="3365700" y="2898175"/>
              <a:ext cx="288000" cy="2880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00" name="Google Shape;1000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1001" name="Google Shape;1001;p77"/>
          <p:cNvSpPr txBox="1"/>
          <p:nvPr>
            <p:ph idx="1" type="body"/>
          </p:nvPr>
        </p:nvSpPr>
        <p:spPr>
          <a:xfrm>
            <a:off x="324000" y="759300"/>
            <a:ext cx="8237700" cy="63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Match the equations to the bar models. Each bar model can match with multiple equations.</a:t>
            </a:r>
            <a:endParaRPr sz="1800"/>
          </a:p>
        </p:txBody>
      </p:sp>
      <p:sp>
        <p:nvSpPr>
          <p:cNvPr id="1002" name="Google Shape;1002;p77"/>
          <p:cNvSpPr/>
          <p:nvPr/>
        </p:nvSpPr>
        <p:spPr>
          <a:xfrm>
            <a:off x="3319823" y="3439275"/>
            <a:ext cx="2412600" cy="2880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7"/>
          <p:cNvSpPr txBox="1"/>
          <p:nvPr>
            <p:ph idx="4294967295" type="subTitle"/>
          </p:nvPr>
        </p:nvSpPr>
        <p:spPr>
          <a:xfrm>
            <a:off x="828805" y="2613140"/>
            <a:ext cx="2339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>
                <a:latin typeface="Times"/>
                <a:ea typeface="Times"/>
                <a:cs typeface="Times"/>
                <a:sym typeface="Times"/>
              </a:rPr>
              <a:t>x =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42 − 27 − 2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/>
          </a:p>
        </p:txBody>
      </p:sp>
      <p:sp>
        <p:nvSpPr>
          <p:cNvPr id="1004" name="Google Shape;1004;p77"/>
          <p:cNvSpPr txBox="1"/>
          <p:nvPr>
            <p:ph idx="4294967295" type="subTitle"/>
          </p:nvPr>
        </p:nvSpPr>
        <p:spPr>
          <a:xfrm>
            <a:off x="1093427" y="2998993"/>
            <a:ext cx="171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42 − 3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27</a:t>
            </a:r>
            <a:endParaRPr i="1"/>
          </a:p>
        </p:txBody>
      </p:sp>
      <p:sp>
        <p:nvSpPr>
          <p:cNvPr id="1005" name="Google Shape;1005;p77"/>
          <p:cNvSpPr txBox="1"/>
          <p:nvPr>
            <p:ph idx="4294967295" type="subTitle"/>
          </p:nvPr>
        </p:nvSpPr>
        <p:spPr>
          <a:xfrm>
            <a:off x="976138" y="3402675"/>
            <a:ext cx="171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27 + 3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42</a:t>
            </a:r>
            <a:endParaRPr i="1"/>
          </a:p>
        </p:txBody>
      </p:sp>
      <p:sp>
        <p:nvSpPr>
          <p:cNvPr id="1006" name="Google Shape;1006;p77"/>
          <p:cNvSpPr txBox="1"/>
          <p:nvPr>
            <p:ph idx="4294967295" type="subTitle"/>
          </p:nvPr>
        </p:nvSpPr>
        <p:spPr>
          <a:xfrm>
            <a:off x="3879886" y="2613140"/>
            <a:ext cx="171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42 + 27</a:t>
            </a:r>
            <a:endParaRPr i="1"/>
          </a:p>
        </p:txBody>
      </p:sp>
      <p:sp>
        <p:nvSpPr>
          <p:cNvPr id="1007" name="Google Shape;1007;p77"/>
          <p:cNvSpPr txBox="1"/>
          <p:nvPr>
            <p:ph idx="4294967295" type="subTitle"/>
          </p:nvPr>
        </p:nvSpPr>
        <p:spPr>
          <a:xfrm>
            <a:off x="3834261" y="2998993"/>
            <a:ext cx="171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− 42 = 27</a:t>
            </a:r>
            <a:endParaRPr i="1"/>
          </a:p>
        </p:txBody>
      </p:sp>
      <p:sp>
        <p:nvSpPr>
          <p:cNvPr id="1008" name="Google Shape;1008;p77"/>
          <p:cNvSpPr txBox="1"/>
          <p:nvPr>
            <p:ph idx="4294967295" type="subTitle"/>
          </p:nvPr>
        </p:nvSpPr>
        <p:spPr>
          <a:xfrm>
            <a:off x="3649848" y="3402675"/>
            <a:ext cx="211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+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42 + 27</a:t>
            </a:r>
            <a:endParaRPr i="1"/>
          </a:p>
        </p:txBody>
      </p:sp>
      <p:sp>
        <p:nvSpPr>
          <p:cNvPr id="1009" name="Google Shape;1009;p77"/>
          <p:cNvSpPr txBox="1"/>
          <p:nvPr>
            <p:ph idx="4294967295" type="subTitle"/>
          </p:nvPr>
        </p:nvSpPr>
        <p:spPr>
          <a:xfrm>
            <a:off x="6577365" y="3004290"/>
            <a:ext cx="211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27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42 </a:t>
            </a:r>
            <a:endParaRPr i="1"/>
          </a:p>
        </p:txBody>
      </p:sp>
      <p:sp>
        <p:nvSpPr>
          <p:cNvPr id="1010" name="Google Shape;1010;p77"/>
          <p:cNvSpPr txBox="1"/>
          <p:nvPr>
            <p:ph idx="4294967295" type="subTitle"/>
          </p:nvPr>
        </p:nvSpPr>
        <p:spPr>
          <a:xfrm>
            <a:off x="6586982" y="2618438"/>
            <a:ext cx="211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27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42 −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i="1"/>
          </a:p>
        </p:txBody>
      </p:sp>
      <p:grpSp>
        <p:nvGrpSpPr>
          <p:cNvPr id="1011" name="Google Shape;1011;p77"/>
          <p:cNvGrpSpPr/>
          <p:nvPr/>
        </p:nvGrpSpPr>
        <p:grpSpPr>
          <a:xfrm>
            <a:off x="476388" y="3439275"/>
            <a:ext cx="2412600" cy="288000"/>
            <a:chOff x="506475" y="4121825"/>
            <a:chExt cx="2412600" cy="288000"/>
          </a:xfrm>
        </p:grpSpPr>
        <p:sp>
          <p:nvSpPr>
            <p:cNvPr id="1012" name="Google Shape;1012;p77"/>
            <p:cNvSpPr/>
            <p:nvPr/>
          </p:nvSpPr>
          <p:spPr>
            <a:xfrm>
              <a:off x="506475" y="4121825"/>
              <a:ext cx="2412600" cy="288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3" name="Google Shape;1013;p77"/>
            <p:cNvSpPr/>
            <p:nvPr/>
          </p:nvSpPr>
          <p:spPr>
            <a:xfrm>
              <a:off x="506475" y="4121825"/>
              <a:ext cx="288000" cy="2880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J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4" name="Google Shape;1014;p77"/>
          <p:cNvGrpSpPr/>
          <p:nvPr/>
        </p:nvGrpSpPr>
        <p:grpSpPr>
          <a:xfrm>
            <a:off x="476388" y="2649740"/>
            <a:ext cx="2412600" cy="288000"/>
            <a:chOff x="6224925" y="2898175"/>
            <a:chExt cx="2412600" cy="288000"/>
          </a:xfrm>
        </p:grpSpPr>
        <p:sp>
          <p:nvSpPr>
            <p:cNvPr id="1015" name="Google Shape;1015;p77"/>
            <p:cNvSpPr/>
            <p:nvPr/>
          </p:nvSpPr>
          <p:spPr>
            <a:xfrm>
              <a:off x="6224925" y="2898175"/>
              <a:ext cx="2412600" cy="288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6" name="Google Shape;1016;p77"/>
            <p:cNvSpPr/>
            <p:nvPr/>
          </p:nvSpPr>
          <p:spPr>
            <a:xfrm>
              <a:off x="6224925" y="2898175"/>
              <a:ext cx="288000" cy="2880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7" name="Google Shape;1017;p77"/>
          <p:cNvGrpSpPr/>
          <p:nvPr/>
        </p:nvGrpSpPr>
        <p:grpSpPr>
          <a:xfrm>
            <a:off x="476388" y="3044508"/>
            <a:ext cx="2412600" cy="288000"/>
            <a:chOff x="6224925" y="3510000"/>
            <a:chExt cx="2412600" cy="288000"/>
          </a:xfrm>
        </p:grpSpPr>
        <p:sp>
          <p:nvSpPr>
            <p:cNvPr id="1018" name="Google Shape;1018;p77"/>
            <p:cNvSpPr/>
            <p:nvPr/>
          </p:nvSpPr>
          <p:spPr>
            <a:xfrm>
              <a:off x="6224925" y="3510000"/>
              <a:ext cx="2412600" cy="288000"/>
            </a:xfrm>
            <a:prstGeom prst="roundRect">
              <a:avLst>
                <a:gd fmla="val 50000" name="adj"/>
              </a:avLst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19" name="Google Shape;1019;p77"/>
            <p:cNvSpPr/>
            <p:nvPr/>
          </p:nvSpPr>
          <p:spPr>
            <a:xfrm>
              <a:off x="6224925" y="3510000"/>
              <a:ext cx="288000" cy="2880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20" name="Google Shape;1020;p77"/>
          <p:cNvSpPr/>
          <p:nvPr/>
        </p:nvSpPr>
        <p:spPr>
          <a:xfrm>
            <a:off x="3319823" y="3439275"/>
            <a:ext cx="288000" cy="288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K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1" name="Google Shape;1021;p77"/>
          <p:cNvSpPr/>
          <p:nvPr/>
        </p:nvSpPr>
        <p:spPr>
          <a:xfrm>
            <a:off x="543950" y="1445250"/>
            <a:ext cx="252000" cy="25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2" name="Google Shape;1022;p77"/>
          <p:cNvSpPr/>
          <p:nvPr/>
        </p:nvSpPr>
        <p:spPr>
          <a:xfrm>
            <a:off x="3369600" y="1429300"/>
            <a:ext cx="252000" cy="25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3" name="Google Shape;1023;p77"/>
          <p:cNvSpPr/>
          <p:nvPr/>
        </p:nvSpPr>
        <p:spPr>
          <a:xfrm>
            <a:off x="6256800" y="1445250"/>
            <a:ext cx="252000" cy="252000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7"/>
          <p:cNvSpPr txBox="1"/>
          <p:nvPr/>
        </p:nvSpPr>
        <p:spPr>
          <a:xfrm>
            <a:off x="543950" y="1772400"/>
            <a:ext cx="338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5" name="Google Shape;1025;p77"/>
          <p:cNvSpPr txBox="1"/>
          <p:nvPr/>
        </p:nvSpPr>
        <p:spPr>
          <a:xfrm>
            <a:off x="1562134" y="1772400"/>
            <a:ext cx="12438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6" name="Google Shape;1026;p77"/>
          <p:cNvSpPr txBox="1"/>
          <p:nvPr/>
        </p:nvSpPr>
        <p:spPr>
          <a:xfrm>
            <a:off x="882444" y="1772400"/>
            <a:ext cx="338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7" name="Google Shape;1027;p77"/>
          <p:cNvSpPr txBox="1"/>
          <p:nvPr/>
        </p:nvSpPr>
        <p:spPr>
          <a:xfrm>
            <a:off x="1220938" y="1772400"/>
            <a:ext cx="338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28" name="Google Shape;1028;p77"/>
          <p:cNvSpPr txBox="1"/>
          <p:nvPr/>
        </p:nvSpPr>
        <p:spPr>
          <a:xfrm>
            <a:off x="543951" y="2132400"/>
            <a:ext cx="22620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9" name="Google Shape;1029;p77"/>
          <p:cNvSpPr txBox="1"/>
          <p:nvPr/>
        </p:nvSpPr>
        <p:spPr>
          <a:xfrm>
            <a:off x="3369600" y="1772400"/>
            <a:ext cx="7746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0" name="Google Shape;1030;p77"/>
          <p:cNvSpPr txBox="1"/>
          <p:nvPr/>
        </p:nvSpPr>
        <p:spPr>
          <a:xfrm>
            <a:off x="4820826" y="2132400"/>
            <a:ext cx="8721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1" name="Google Shape;1031;p77"/>
          <p:cNvSpPr txBox="1"/>
          <p:nvPr/>
        </p:nvSpPr>
        <p:spPr>
          <a:xfrm>
            <a:off x="3369600" y="2132400"/>
            <a:ext cx="1451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2" name="Google Shape;1032;p77"/>
          <p:cNvSpPr txBox="1"/>
          <p:nvPr/>
        </p:nvSpPr>
        <p:spPr>
          <a:xfrm>
            <a:off x="4144087" y="1772400"/>
            <a:ext cx="7746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3" name="Google Shape;1033;p77"/>
          <p:cNvSpPr txBox="1"/>
          <p:nvPr/>
        </p:nvSpPr>
        <p:spPr>
          <a:xfrm>
            <a:off x="4918574" y="1772400"/>
            <a:ext cx="7746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4" name="Google Shape;1034;p77"/>
          <p:cNvSpPr txBox="1"/>
          <p:nvPr/>
        </p:nvSpPr>
        <p:spPr>
          <a:xfrm>
            <a:off x="6256800" y="1772400"/>
            <a:ext cx="704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5" name="Google Shape;1035;p77"/>
          <p:cNvSpPr txBox="1"/>
          <p:nvPr/>
        </p:nvSpPr>
        <p:spPr>
          <a:xfrm>
            <a:off x="7658871" y="1772400"/>
            <a:ext cx="9285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27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6" name="Google Shape;1036;p77"/>
          <p:cNvSpPr txBox="1"/>
          <p:nvPr/>
        </p:nvSpPr>
        <p:spPr>
          <a:xfrm>
            <a:off x="6961200" y="2132400"/>
            <a:ext cx="16263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 New Roman"/>
                <a:ea typeface="Times New Roman"/>
                <a:cs typeface="Times New Roman"/>
                <a:sym typeface="Times New Roman"/>
              </a:rPr>
              <a:t>42</a:t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7" name="Google Shape;1037;p77"/>
          <p:cNvSpPr txBox="1"/>
          <p:nvPr/>
        </p:nvSpPr>
        <p:spPr>
          <a:xfrm>
            <a:off x="6961200" y="1772400"/>
            <a:ext cx="704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038" name="Google Shape;1038;p77"/>
          <p:cNvSpPr txBox="1"/>
          <p:nvPr/>
        </p:nvSpPr>
        <p:spPr>
          <a:xfrm>
            <a:off x="6256800" y="2132400"/>
            <a:ext cx="704400" cy="360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bar models to rearrange equations</a:t>
            </a:r>
            <a:endParaRPr/>
          </a:p>
        </p:txBody>
      </p:sp>
      <p:grpSp>
        <p:nvGrpSpPr>
          <p:cNvPr id="1044" name="Google Shape;1044;p78"/>
          <p:cNvGrpSpPr/>
          <p:nvPr/>
        </p:nvGrpSpPr>
        <p:grpSpPr>
          <a:xfrm>
            <a:off x="333225" y="1350429"/>
            <a:ext cx="2262001" cy="720000"/>
            <a:chOff x="333225" y="1592400"/>
            <a:chExt cx="2262001" cy="720000"/>
          </a:xfrm>
        </p:grpSpPr>
        <p:sp>
          <p:nvSpPr>
            <p:cNvPr id="1045" name="Google Shape;1045;p78"/>
            <p:cNvSpPr txBox="1"/>
            <p:nvPr/>
          </p:nvSpPr>
          <p:spPr>
            <a:xfrm>
              <a:off x="333225" y="1592400"/>
              <a:ext cx="3384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6" name="Google Shape;1046;p78"/>
            <p:cNvSpPr txBox="1"/>
            <p:nvPr/>
          </p:nvSpPr>
          <p:spPr>
            <a:xfrm>
              <a:off x="1351409" y="1592400"/>
              <a:ext cx="12438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27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47" name="Google Shape;1047;p78"/>
            <p:cNvSpPr txBox="1"/>
            <p:nvPr/>
          </p:nvSpPr>
          <p:spPr>
            <a:xfrm>
              <a:off x="671719" y="1592400"/>
              <a:ext cx="3384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8" name="Google Shape;1048;p78"/>
            <p:cNvSpPr txBox="1"/>
            <p:nvPr/>
          </p:nvSpPr>
          <p:spPr>
            <a:xfrm>
              <a:off x="1010213" y="1592400"/>
              <a:ext cx="3384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49" name="Google Shape;1049;p78"/>
            <p:cNvSpPr txBox="1"/>
            <p:nvPr/>
          </p:nvSpPr>
          <p:spPr>
            <a:xfrm>
              <a:off x="333226" y="1952400"/>
              <a:ext cx="22620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42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050" name="Google Shape;1050;p78"/>
          <p:cNvGrpSpPr/>
          <p:nvPr/>
        </p:nvGrpSpPr>
        <p:grpSpPr>
          <a:xfrm>
            <a:off x="3369600" y="1350429"/>
            <a:ext cx="2323574" cy="720000"/>
            <a:chOff x="3369600" y="1579029"/>
            <a:chExt cx="2323574" cy="720000"/>
          </a:xfrm>
        </p:grpSpPr>
        <p:sp>
          <p:nvSpPr>
            <p:cNvPr id="1051" name="Google Shape;1051;p78"/>
            <p:cNvSpPr txBox="1"/>
            <p:nvPr/>
          </p:nvSpPr>
          <p:spPr>
            <a:xfrm>
              <a:off x="3369600" y="1579029"/>
              <a:ext cx="7746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52" name="Google Shape;1052;p78"/>
            <p:cNvSpPr txBox="1"/>
            <p:nvPr/>
          </p:nvSpPr>
          <p:spPr>
            <a:xfrm>
              <a:off x="4820826" y="1939029"/>
              <a:ext cx="8721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27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3" name="Google Shape;1053;p78"/>
            <p:cNvSpPr txBox="1"/>
            <p:nvPr/>
          </p:nvSpPr>
          <p:spPr>
            <a:xfrm>
              <a:off x="3369600" y="1939029"/>
              <a:ext cx="14514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42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4" name="Google Shape;1054;p78"/>
            <p:cNvSpPr txBox="1"/>
            <p:nvPr/>
          </p:nvSpPr>
          <p:spPr>
            <a:xfrm>
              <a:off x="4144087" y="1579029"/>
              <a:ext cx="7746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55" name="Google Shape;1055;p78"/>
            <p:cNvSpPr txBox="1"/>
            <p:nvPr/>
          </p:nvSpPr>
          <p:spPr>
            <a:xfrm>
              <a:off x="4918574" y="1579029"/>
              <a:ext cx="7746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056" name="Google Shape;1056;p78"/>
          <p:cNvGrpSpPr/>
          <p:nvPr/>
        </p:nvGrpSpPr>
        <p:grpSpPr>
          <a:xfrm>
            <a:off x="6256800" y="1350429"/>
            <a:ext cx="2330700" cy="720000"/>
            <a:chOff x="6256800" y="1586075"/>
            <a:chExt cx="2330700" cy="720000"/>
          </a:xfrm>
        </p:grpSpPr>
        <p:sp>
          <p:nvSpPr>
            <p:cNvPr id="1057" name="Google Shape;1057;p78"/>
            <p:cNvSpPr txBox="1"/>
            <p:nvPr/>
          </p:nvSpPr>
          <p:spPr>
            <a:xfrm>
              <a:off x="6256800" y="1586075"/>
              <a:ext cx="7044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58" name="Google Shape;1058;p78"/>
            <p:cNvSpPr txBox="1"/>
            <p:nvPr/>
          </p:nvSpPr>
          <p:spPr>
            <a:xfrm>
              <a:off x="7658871" y="1586075"/>
              <a:ext cx="9285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27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59" name="Google Shape;1059;p78"/>
            <p:cNvSpPr txBox="1"/>
            <p:nvPr/>
          </p:nvSpPr>
          <p:spPr>
            <a:xfrm>
              <a:off x="6961200" y="1946075"/>
              <a:ext cx="16263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 New Roman"/>
                  <a:ea typeface="Times New Roman"/>
                  <a:cs typeface="Times New Roman"/>
                  <a:sym typeface="Times New Roman"/>
                </a:rPr>
                <a:t>42</a:t>
              </a:r>
              <a:endParaRPr sz="22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60" name="Google Shape;1060;p78"/>
            <p:cNvSpPr txBox="1"/>
            <p:nvPr/>
          </p:nvSpPr>
          <p:spPr>
            <a:xfrm>
              <a:off x="6961200" y="1586075"/>
              <a:ext cx="7044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061" name="Google Shape;1061;p78"/>
            <p:cNvSpPr txBox="1"/>
            <p:nvPr/>
          </p:nvSpPr>
          <p:spPr>
            <a:xfrm>
              <a:off x="6256800" y="1946075"/>
              <a:ext cx="704400" cy="3600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062" name="Google Shape;1062;p78"/>
          <p:cNvSpPr txBox="1"/>
          <p:nvPr>
            <p:ph idx="4294967295" type="subTitle"/>
          </p:nvPr>
        </p:nvSpPr>
        <p:spPr>
          <a:xfrm>
            <a:off x="6256800" y="4154325"/>
            <a:ext cx="25632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27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x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− 42 = 0 </a:t>
            </a:r>
            <a:endParaRPr i="1"/>
          </a:p>
        </p:txBody>
      </p:sp>
      <p:sp>
        <p:nvSpPr>
          <p:cNvPr id="1063" name="Google Shape;1063;p78"/>
          <p:cNvSpPr txBox="1"/>
          <p:nvPr>
            <p:ph idx="4294967295" type="subTitle"/>
          </p:nvPr>
        </p:nvSpPr>
        <p:spPr>
          <a:xfrm>
            <a:off x="6271950" y="3591150"/>
            <a:ext cx="2112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+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42 −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27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</a:t>
            </a:r>
            <a:endParaRPr i="1"/>
          </a:p>
        </p:txBody>
      </p:sp>
      <p:sp>
        <p:nvSpPr>
          <p:cNvPr id="1064" name="Google Shape;1064;p78"/>
          <p:cNvSpPr txBox="1"/>
          <p:nvPr>
            <p:ph idx="1" type="body"/>
          </p:nvPr>
        </p:nvSpPr>
        <p:spPr>
          <a:xfrm>
            <a:off x="324000" y="755400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For each bar model write another equation which is also true.</a:t>
            </a:r>
            <a:endParaRPr sz="1800"/>
          </a:p>
        </p:txBody>
      </p:sp>
      <p:sp>
        <p:nvSpPr>
          <p:cNvPr id="1065" name="Google Shape;1065;p78"/>
          <p:cNvSpPr txBox="1"/>
          <p:nvPr>
            <p:ph idx="4294967295" type="subTitle"/>
          </p:nvPr>
        </p:nvSpPr>
        <p:spPr>
          <a:xfrm>
            <a:off x="306450" y="2464800"/>
            <a:ext cx="2374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+ 27 = 42</a:t>
            </a:r>
            <a:endParaRPr i="1"/>
          </a:p>
        </p:txBody>
      </p:sp>
      <p:sp>
        <p:nvSpPr>
          <p:cNvPr id="1066" name="Google Shape;1066;p78"/>
          <p:cNvSpPr txBox="1"/>
          <p:nvPr>
            <p:ph idx="4294967295" type="subTitle"/>
          </p:nvPr>
        </p:nvSpPr>
        <p:spPr>
          <a:xfrm>
            <a:off x="324000" y="2955250"/>
            <a:ext cx="17124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42 − 27 = 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endParaRPr i="1"/>
          </a:p>
        </p:txBody>
      </p:sp>
      <p:sp>
        <p:nvSpPr>
          <p:cNvPr id="1067" name="Google Shape;1067;p78"/>
          <p:cNvSpPr txBox="1"/>
          <p:nvPr>
            <p:ph idx="4294967295" type="subTitle"/>
          </p:nvPr>
        </p:nvSpPr>
        <p:spPr>
          <a:xfrm>
            <a:off x="324000" y="3498675"/>
            <a:ext cx="20787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42 − 27 − 3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 = 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0</a:t>
            </a:r>
            <a:endParaRPr/>
          </a:p>
        </p:txBody>
      </p:sp>
      <p:sp>
        <p:nvSpPr>
          <p:cNvPr id="1068" name="Google Shape;1068;p78"/>
          <p:cNvSpPr txBox="1"/>
          <p:nvPr>
            <p:ph idx="4294967295" type="subTitle"/>
          </p:nvPr>
        </p:nvSpPr>
        <p:spPr>
          <a:xfrm>
            <a:off x="3384750" y="2464800"/>
            <a:ext cx="2374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− 27 = 42</a:t>
            </a:r>
            <a:endParaRPr i="1"/>
          </a:p>
        </p:txBody>
      </p:sp>
      <p:sp>
        <p:nvSpPr>
          <p:cNvPr id="1069" name="Google Shape;1069;p78"/>
          <p:cNvSpPr txBox="1"/>
          <p:nvPr>
            <p:ph idx="4294967295" type="subTitle"/>
          </p:nvPr>
        </p:nvSpPr>
        <p:spPr>
          <a:xfrm>
            <a:off x="3384750" y="3031450"/>
            <a:ext cx="2374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− 27 − 42 = 0</a:t>
            </a:r>
            <a:endParaRPr i="1"/>
          </a:p>
        </p:txBody>
      </p:sp>
      <p:sp>
        <p:nvSpPr>
          <p:cNvPr id="1070" name="Google Shape;1070;p78"/>
          <p:cNvSpPr txBox="1"/>
          <p:nvPr>
            <p:ph idx="4294967295" type="subTitle"/>
          </p:nvPr>
        </p:nvSpPr>
        <p:spPr>
          <a:xfrm>
            <a:off x="6271950" y="2464800"/>
            <a:ext cx="2374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+ 27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+ 42</a:t>
            </a:r>
            <a:endParaRPr i="1"/>
          </a:p>
        </p:txBody>
      </p:sp>
      <p:sp>
        <p:nvSpPr>
          <p:cNvPr id="1071" name="Google Shape;1071;p78"/>
          <p:cNvSpPr txBox="1"/>
          <p:nvPr>
            <p:ph idx="4294967295" type="subTitle"/>
          </p:nvPr>
        </p:nvSpPr>
        <p:spPr>
          <a:xfrm>
            <a:off x="6271950" y="3027963"/>
            <a:ext cx="23745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>
                <a:latin typeface="Times"/>
                <a:ea typeface="Times"/>
                <a:cs typeface="Times"/>
                <a:sym typeface="Times"/>
              </a:rPr>
              <a:t> + 27 − 42 = 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x</a:t>
            </a:r>
            <a:endParaRPr i="1"/>
          </a:p>
        </p:txBody>
      </p:sp>
      <p:sp>
        <p:nvSpPr>
          <p:cNvPr id="1072" name="Google Shape;1072;p78"/>
          <p:cNvSpPr txBox="1"/>
          <p:nvPr>
            <p:ph idx="1" type="body"/>
          </p:nvPr>
        </p:nvSpPr>
        <p:spPr>
          <a:xfrm>
            <a:off x="324000" y="4380150"/>
            <a:ext cx="84960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many other possible answers.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7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bar models to rearrange equations</a:t>
            </a:r>
            <a:endParaRPr/>
          </a:p>
        </p:txBody>
      </p:sp>
      <p:sp>
        <p:nvSpPr>
          <p:cNvPr id="1078" name="Google Shape;1078;p7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079" name="Google Shape;1079;p7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Equality in an equation</a:t>
            </a:r>
            <a:endParaRPr/>
          </a:p>
        </p:txBody>
      </p:sp>
      <p:pic>
        <p:nvPicPr>
          <p:cNvPr id="1080" name="Google Shape;1080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317" y="298763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4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086" name="Google Shape;1086;p80"/>
          <p:cNvSpPr txBox="1"/>
          <p:nvPr>
            <p:ph idx="1" type="body"/>
          </p:nvPr>
        </p:nvSpPr>
        <p:spPr>
          <a:xfrm>
            <a:off x="324000" y="810000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can start to make sense of manipulating equations using a balance model.</a:t>
            </a:r>
            <a:endParaRPr sz="1800"/>
          </a:p>
        </p:txBody>
      </p:sp>
      <p:grpSp>
        <p:nvGrpSpPr>
          <p:cNvPr id="1087" name="Google Shape;1087;p80"/>
          <p:cNvGrpSpPr/>
          <p:nvPr/>
        </p:nvGrpSpPr>
        <p:grpSpPr>
          <a:xfrm>
            <a:off x="3116791" y="1183187"/>
            <a:ext cx="2910410" cy="1450926"/>
            <a:chOff x="3679000" y="1380975"/>
            <a:chExt cx="4343896" cy="2543700"/>
          </a:xfrm>
        </p:grpSpPr>
        <p:sp>
          <p:nvSpPr>
            <p:cNvPr id="1088" name="Google Shape;1088;p8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89" name="Google Shape;1089;p8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0" name="Google Shape;1090;p8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91" name="Google Shape;1091;p8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92" name="Google Shape;1092;p8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93" name="Google Shape;1093;p8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094" name="Google Shape;1094;p80"/>
          <p:cNvSpPr txBox="1"/>
          <p:nvPr>
            <p:ph idx="1" type="body"/>
          </p:nvPr>
        </p:nvSpPr>
        <p:spPr>
          <a:xfrm>
            <a:off x="324000" y="2668650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a balance scale. </a:t>
            </a:r>
            <a:endParaRPr sz="1800"/>
          </a:p>
        </p:txBody>
      </p:sp>
      <p:sp>
        <p:nvSpPr>
          <p:cNvPr id="1095" name="Google Shape;1095;p80"/>
          <p:cNvSpPr txBox="1"/>
          <p:nvPr>
            <p:ph idx="1" type="body"/>
          </p:nvPr>
        </p:nvSpPr>
        <p:spPr>
          <a:xfrm>
            <a:off x="324000" y="3159350"/>
            <a:ext cx="84960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can be used in real life to measure the mass of objects, often </a:t>
            </a:r>
            <a:r>
              <a:rPr lang="en-GB" sz="1800"/>
              <a:t>ingredients</a:t>
            </a:r>
            <a:r>
              <a:rPr lang="en-GB" sz="1800"/>
              <a:t> for cooking or baking or to compare the mass of objects. </a:t>
            </a:r>
            <a:endParaRPr sz="1800"/>
          </a:p>
        </p:txBody>
      </p:sp>
      <p:sp>
        <p:nvSpPr>
          <p:cNvPr id="1096" name="Google Shape;1096;p80"/>
          <p:cNvSpPr txBox="1"/>
          <p:nvPr>
            <p:ph idx="1" type="body"/>
          </p:nvPr>
        </p:nvSpPr>
        <p:spPr>
          <a:xfrm>
            <a:off x="324000" y="4208400"/>
            <a:ext cx="84960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They have two ‘scale pans’, one either side which objects can be placed on.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1" name="Google Shape;1101;p81"/>
          <p:cNvGrpSpPr/>
          <p:nvPr/>
        </p:nvGrpSpPr>
        <p:grpSpPr>
          <a:xfrm>
            <a:off x="3116791" y="1376558"/>
            <a:ext cx="2882293" cy="1714629"/>
            <a:chOff x="3116791" y="1376558"/>
            <a:chExt cx="2882293" cy="1714629"/>
          </a:xfrm>
        </p:grpSpPr>
        <p:sp>
          <p:nvSpPr>
            <p:cNvPr id="1102" name="Google Shape;1102;p81"/>
            <p:cNvSpPr/>
            <p:nvPr/>
          </p:nvSpPr>
          <p:spPr>
            <a:xfrm>
              <a:off x="4385972" y="1640387"/>
              <a:ext cx="372900" cy="14508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03" name="Google Shape;1103;p81"/>
            <p:cNvCxnSpPr/>
            <p:nvPr/>
          </p:nvCxnSpPr>
          <p:spPr>
            <a:xfrm rot="9778893">
              <a:off x="3680063" y="1640860"/>
              <a:ext cx="178454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4" name="Google Shape;1104;p81"/>
            <p:cNvSpPr/>
            <p:nvPr/>
          </p:nvSpPr>
          <p:spPr>
            <a:xfrm>
              <a:off x="3273413" y="1904217"/>
              <a:ext cx="875700" cy="9444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05" name="Google Shape;1105;p81"/>
            <p:cNvCxnSpPr/>
            <p:nvPr/>
          </p:nvCxnSpPr>
          <p:spPr>
            <a:xfrm>
              <a:off x="3116791" y="2869766"/>
              <a:ext cx="1132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06" name="Google Shape;1106;p81"/>
            <p:cNvSpPr/>
            <p:nvPr/>
          </p:nvSpPr>
          <p:spPr>
            <a:xfrm>
              <a:off x="4987976" y="1376558"/>
              <a:ext cx="875700" cy="9444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07" name="Google Shape;1107;p81"/>
            <p:cNvCxnSpPr/>
            <p:nvPr/>
          </p:nvCxnSpPr>
          <p:spPr>
            <a:xfrm>
              <a:off x="4866583" y="2328015"/>
              <a:ext cx="11325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08" name="Google Shape;1108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109" name="Google Shape;1109;p81"/>
          <p:cNvSpPr txBox="1"/>
          <p:nvPr>
            <p:ph idx="1" type="body"/>
          </p:nvPr>
        </p:nvSpPr>
        <p:spPr>
          <a:xfrm>
            <a:off x="324000" y="810000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scale pans are at the same height </a:t>
            </a:r>
            <a:r>
              <a:rPr lang="en-GB" sz="1800"/>
              <a:t>because</a:t>
            </a:r>
            <a:r>
              <a:rPr lang="en-GB" sz="1800"/>
              <a:t> the scale is balanced.</a:t>
            </a:r>
            <a:endParaRPr sz="1800"/>
          </a:p>
        </p:txBody>
      </p:sp>
      <p:grpSp>
        <p:nvGrpSpPr>
          <p:cNvPr id="1110" name="Google Shape;1110;p81"/>
          <p:cNvGrpSpPr/>
          <p:nvPr/>
        </p:nvGrpSpPr>
        <p:grpSpPr>
          <a:xfrm>
            <a:off x="3116791" y="1640387"/>
            <a:ext cx="2910410" cy="1450926"/>
            <a:chOff x="3679000" y="1380975"/>
            <a:chExt cx="4343896" cy="2543700"/>
          </a:xfrm>
        </p:grpSpPr>
        <p:sp>
          <p:nvSpPr>
            <p:cNvPr id="1111" name="Google Shape;1111;p8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12" name="Google Shape;1112;p8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3" name="Google Shape;1113;p8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14" name="Google Shape;1114;p8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15" name="Google Shape;1115;p8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16" name="Google Shape;1116;p8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17" name="Google Shape;1117;p81"/>
          <p:cNvSpPr txBox="1"/>
          <p:nvPr>
            <p:ph idx="1" type="body"/>
          </p:nvPr>
        </p:nvSpPr>
        <p:spPr>
          <a:xfrm>
            <a:off x="324000" y="3125850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there is nothing on either scale pan then the scale is balanced.</a:t>
            </a:r>
            <a:r>
              <a:rPr lang="en-GB" sz="1800"/>
              <a:t> </a:t>
            </a:r>
            <a:endParaRPr sz="1800"/>
          </a:p>
        </p:txBody>
      </p:sp>
      <p:grpSp>
        <p:nvGrpSpPr>
          <p:cNvPr id="1118" name="Google Shape;1118;p81"/>
          <p:cNvGrpSpPr/>
          <p:nvPr/>
        </p:nvGrpSpPr>
        <p:grpSpPr>
          <a:xfrm>
            <a:off x="3572902" y="2507025"/>
            <a:ext cx="276738" cy="341612"/>
            <a:chOff x="4396891" y="2255566"/>
            <a:chExt cx="368100" cy="475584"/>
          </a:xfrm>
        </p:grpSpPr>
        <p:grpSp>
          <p:nvGrpSpPr>
            <p:cNvPr id="1119" name="Google Shape;1119;p81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120" name="Google Shape;1120;p81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81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22" name="Google Shape;1122;p81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81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124" name="Google Shape;1124;p81"/>
          <p:cNvSpPr txBox="1"/>
          <p:nvPr>
            <p:ph idx="1" type="body"/>
          </p:nvPr>
        </p:nvSpPr>
        <p:spPr>
          <a:xfrm>
            <a:off x="324000" y="3661000"/>
            <a:ext cx="63222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think will happen when I put a mass of 5 g on the left hand side (LHS)? </a:t>
            </a:r>
            <a:endParaRPr sz="1800"/>
          </a:p>
        </p:txBody>
      </p:sp>
      <p:sp>
        <p:nvSpPr>
          <p:cNvPr id="1125" name="Google Shape;1125;p81"/>
          <p:cNvSpPr txBox="1"/>
          <p:nvPr>
            <p:ph idx="1" type="body"/>
          </p:nvPr>
        </p:nvSpPr>
        <p:spPr>
          <a:xfrm>
            <a:off x="324000" y="4362975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left hand side is now heavier so the scales are no longer balanced.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26" name="Google Shape;1126;p81"/>
          <p:cNvGrpSpPr/>
          <p:nvPr/>
        </p:nvGrpSpPr>
        <p:grpSpPr>
          <a:xfrm>
            <a:off x="6997752" y="3722925"/>
            <a:ext cx="276738" cy="341612"/>
            <a:chOff x="4396891" y="2255566"/>
            <a:chExt cx="368100" cy="475584"/>
          </a:xfrm>
        </p:grpSpPr>
        <p:grpSp>
          <p:nvGrpSpPr>
            <p:cNvPr id="1127" name="Google Shape;1127;p81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128" name="Google Shape;1128;p81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81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30" name="Google Shape;1130;p81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81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6" name="Google Shape;1136;p82"/>
          <p:cNvGrpSpPr/>
          <p:nvPr/>
        </p:nvGrpSpPr>
        <p:grpSpPr>
          <a:xfrm>
            <a:off x="3116791" y="1640387"/>
            <a:ext cx="2910410" cy="1450926"/>
            <a:chOff x="3116791" y="1640387"/>
            <a:chExt cx="2910410" cy="1450926"/>
          </a:xfrm>
        </p:grpSpPr>
        <p:grpSp>
          <p:nvGrpSpPr>
            <p:cNvPr id="1137" name="Google Shape;1137;p82"/>
            <p:cNvGrpSpPr/>
            <p:nvPr/>
          </p:nvGrpSpPr>
          <p:grpSpPr>
            <a:xfrm>
              <a:off x="3116791" y="1640387"/>
              <a:ext cx="2910410" cy="1450926"/>
              <a:chOff x="3679000" y="1380975"/>
              <a:chExt cx="4343896" cy="2543700"/>
            </a:xfrm>
          </p:grpSpPr>
          <p:sp>
            <p:nvSpPr>
              <p:cNvPr id="1138" name="Google Shape;1138;p82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39" name="Google Shape;1139;p82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0" name="Google Shape;1140;p82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41" name="Google Shape;1141;p82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42" name="Google Shape;1142;p82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43" name="Google Shape;1143;p82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44" name="Google Shape;1144;p82"/>
            <p:cNvGrpSpPr/>
            <p:nvPr/>
          </p:nvGrpSpPr>
          <p:grpSpPr>
            <a:xfrm>
              <a:off x="5325502" y="2216317"/>
              <a:ext cx="276738" cy="341612"/>
              <a:chOff x="4396891" y="2255566"/>
              <a:chExt cx="368100" cy="475584"/>
            </a:xfrm>
          </p:grpSpPr>
          <p:grpSp>
            <p:nvGrpSpPr>
              <p:cNvPr id="1145" name="Google Shape;1145;p82"/>
              <p:cNvGrpSpPr/>
              <p:nvPr/>
            </p:nvGrpSpPr>
            <p:grpSpPr>
              <a:xfrm>
                <a:off x="4495866" y="2255566"/>
                <a:ext cx="172800" cy="190800"/>
                <a:chOff x="4474729" y="2241474"/>
                <a:chExt cx="172800" cy="190800"/>
              </a:xfrm>
            </p:grpSpPr>
            <p:sp>
              <p:nvSpPr>
                <p:cNvPr id="1146" name="Google Shape;1146;p82"/>
                <p:cNvSpPr/>
                <p:nvPr/>
              </p:nvSpPr>
              <p:spPr>
                <a:xfrm>
                  <a:off x="4474729" y="2241474"/>
                  <a:ext cx="172800" cy="190800"/>
                </a:xfrm>
                <a:prstGeom prst="ellipse">
                  <a:avLst/>
                </a:prstGeom>
                <a:solidFill>
                  <a:srgbClr val="CCCCCC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7" name="Google Shape;1147;p82"/>
                <p:cNvSpPr/>
                <p:nvPr/>
              </p:nvSpPr>
              <p:spPr>
                <a:xfrm>
                  <a:off x="4490991" y="2260553"/>
                  <a:ext cx="138900" cy="1536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48" name="Google Shape;1148;p82"/>
              <p:cNvSpPr/>
              <p:nvPr/>
            </p:nvSpPr>
            <p:spPr>
              <a:xfrm>
                <a:off x="4431875" y="2420350"/>
                <a:ext cx="303000" cy="310800"/>
              </a:xfrm>
              <a:prstGeom prst="trapezoid">
                <a:avLst>
                  <a:gd fmla="val 25000" name="adj"/>
                </a:avLst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82"/>
              <p:cNvSpPr txBox="1"/>
              <p:nvPr/>
            </p:nvSpPr>
            <p:spPr>
              <a:xfrm>
                <a:off x="4396891" y="2512271"/>
                <a:ext cx="368100" cy="1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 </a:t>
                </a:r>
                <a:endParaRPr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  <p:grpSp>
          <p:nvGrpSpPr>
            <p:cNvPr id="1150" name="Google Shape;1150;p82"/>
            <p:cNvGrpSpPr/>
            <p:nvPr/>
          </p:nvGrpSpPr>
          <p:grpSpPr>
            <a:xfrm>
              <a:off x="3572902" y="2216317"/>
              <a:ext cx="276738" cy="341612"/>
              <a:chOff x="4396891" y="2255566"/>
              <a:chExt cx="368100" cy="475584"/>
            </a:xfrm>
          </p:grpSpPr>
          <p:grpSp>
            <p:nvGrpSpPr>
              <p:cNvPr id="1151" name="Google Shape;1151;p82"/>
              <p:cNvGrpSpPr/>
              <p:nvPr/>
            </p:nvGrpSpPr>
            <p:grpSpPr>
              <a:xfrm>
                <a:off x="4495866" y="2255566"/>
                <a:ext cx="172800" cy="190800"/>
                <a:chOff x="4474729" y="2241474"/>
                <a:chExt cx="172800" cy="190800"/>
              </a:xfrm>
            </p:grpSpPr>
            <p:sp>
              <p:nvSpPr>
                <p:cNvPr id="1152" name="Google Shape;1152;p82"/>
                <p:cNvSpPr/>
                <p:nvPr/>
              </p:nvSpPr>
              <p:spPr>
                <a:xfrm>
                  <a:off x="4474729" y="2241474"/>
                  <a:ext cx="172800" cy="190800"/>
                </a:xfrm>
                <a:prstGeom prst="ellipse">
                  <a:avLst/>
                </a:prstGeom>
                <a:solidFill>
                  <a:srgbClr val="CCCCCC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53" name="Google Shape;1153;p82"/>
                <p:cNvSpPr/>
                <p:nvPr/>
              </p:nvSpPr>
              <p:spPr>
                <a:xfrm>
                  <a:off x="4490991" y="2260553"/>
                  <a:ext cx="138900" cy="1536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54" name="Google Shape;1154;p82"/>
              <p:cNvSpPr/>
              <p:nvPr/>
            </p:nvSpPr>
            <p:spPr>
              <a:xfrm>
                <a:off x="4431875" y="2420350"/>
                <a:ext cx="303000" cy="310800"/>
              </a:xfrm>
              <a:prstGeom prst="trapezoid">
                <a:avLst>
                  <a:gd fmla="val 25000" name="adj"/>
                </a:avLst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82"/>
              <p:cNvSpPr txBox="1"/>
              <p:nvPr/>
            </p:nvSpPr>
            <p:spPr>
              <a:xfrm>
                <a:off x="4396891" y="2512271"/>
                <a:ext cx="368100" cy="1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 </a:t>
                </a:r>
                <a:endParaRPr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grpSp>
        <p:nvGrpSpPr>
          <p:cNvPr id="1156" name="Google Shape;1156;p82"/>
          <p:cNvGrpSpPr/>
          <p:nvPr/>
        </p:nvGrpSpPr>
        <p:grpSpPr>
          <a:xfrm>
            <a:off x="3116791" y="1376558"/>
            <a:ext cx="2882293" cy="1714629"/>
            <a:chOff x="3116791" y="1376558"/>
            <a:chExt cx="2882293" cy="1714629"/>
          </a:xfrm>
        </p:grpSpPr>
        <p:grpSp>
          <p:nvGrpSpPr>
            <p:cNvPr id="1157" name="Google Shape;1157;p82"/>
            <p:cNvGrpSpPr/>
            <p:nvPr/>
          </p:nvGrpSpPr>
          <p:grpSpPr>
            <a:xfrm>
              <a:off x="3116791" y="1376558"/>
              <a:ext cx="2882293" cy="1714629"/>
              <a:chOff x="3116791" y="1376558"/>
              <a:chExt cx="2882293" cy="1714629"/>
            </a:xfrm>
          </p:grpSpPr>
          <p:sp>
            <p:nvSpPr>
              <p:cNvPr id="1158" name="Google Shape;1158;p82"/>
              <p:cNvSpPr/>
              <p:nvPr/>
            </p:nvSpPr>
            <p:spPr>
              <a:xfrm>
                <a:off x="4385972" y="1640387"/>
                <a:ext cx="372900" cy="14508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59" name="Google Shape;1159;p82"/>
              <p:cNvCxnSpPr/>
              <p:nvPr/>
            </p:nvCxnSpPr>
            <p:spPr>
              <a:xfrm rot="9778893">
                <a:off x="3680063" y="1640860"/>
                <a:ext cx="178454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60" name="Google Shape;1160;p82"/>
              <p:cNvSpPr/>
              <p:nvPr/>
            </p:nvSpPr>
            <p:spPr>
              <a:xfrm>
                <a:off x="3273413" y="1904217"/>
                <a:ext cx="875700" cy="944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61" name="Google Shape;1161;p82"/>
              <p:cNvCxnSpPr/>
              <p:nvPr/>
            </p:nvCxnSpPr>
            <p:spPr>
              <a:xfrm>
                <a:off x="3116791" y="2869766"/>
                <a:ext cx="1132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62" name="Google Shape;1162;p82"/>
              <p:cNvSpPr/>
              <p:nvPr/>
            </p:nvSpPr>
            <p:spPr>
              <a:xfrm>
                <a:off x="4987976" y="1376558"/>
                <a:ext cx="875700" cy="944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63" name="Google Shape;1163;p82"/>
              <p:cNvCxnSpPr/>
              <p:nvPr/>
            </p:nvCxnSpPr>
            <p:spPr>
              <a:xfrm>
                <a:off x="4866583" y="2328015"/>
                <a:ext cx="1132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164" name="Google Shape;1164;p82"/>
            <p:cNvGrpSpPr/>
            <p:nvPr/>
          </p:nvGrpSpPr>
          <p:grpSpPr>
            <a:xfrm>
              <a:off x="3572902" y="2507025"/>
              <a:ext cx="276738" cy="341612"/>
              <a:chOff x="4396891" y="2255566"/>
              <a:chExt cx="368100" cy="475584"/>
            </a:xfrm>
          </p:grpSpPr>
          <p:grpSp>
            <p:nvGrpSpPr>
              <p:cNvPr id="1165" name="Google Shape;1165;p82"/>
              <p:cNvGrpSpPr/>
              <p:nvPr/>
            </p:nvGrpSpPr>
            <p:grpSpPr>
              <a:xfrm>
                <a:off x="4495866" y="2255566"/>
                <a:ext cx="172800" cy="190800"/>
                <a:chOff x="4474729" y="2241474"/>
                <a:chExt cx="172800" cy="190800"/>
              </a:xfrm>
            </p:grpSpPr>
            <p:sp>
              <p:nvSpPr>
                <p:cNvPr id="1166" name="Google Shape;1166;p82"/>
                <p:cNvSpPr/>
                <p:nvPr/>
              </p:nvSpPr>
              <p:spPr>
                <a:xfrm>
                  <a:off x="4474729" y="2241474"/>
                  <a:ext cx="172800" cy="190800"/>
                </a:xfrm>
                <a:prstGeom prst="ellipse">
                  <a:avLst/>
                </a:prstGeom>
                <a:solidFill>
                  <a:srgbClr val="CCCCCC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67" name="Google Shape;1167;p82"/>
                <p:cNvSpPr/>
                <p:nvPr/>
              </p:nvSpPr>
              <p:spPr>
                <a:xfrm>
                  <a:off x="4490991" y="2260553"/>
                  <a:ext cx="138900" cy="153600"/>
                </a:xfrm>
                <a:prstGeom prst="ellipse">
                  <a:avLst/>
                </a:prstGeom>
                <a:solidFill>
                  <a:srgbClr val="FFFFFF"/>
                </a:solidFill>
                <a:ln cap="flat" cmpd="sng" w="9525">
                  <a:solidFill>
                    <a:srgbClr val="59595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168" name="Google Shape;1168;p82"/>
              <p:cNvSpPr/>
              <p:nvPr/>
            </p:nvSpPr>
            <p:spPr>
              <a:xfrm>
                <a:off x="4431875" y="2420350"/>
                <a:ext cx="303000" cy="310800"/>
              </a:xfrm>
              <a:prstGeom prst="trapezoid">
                <a:avLst>
                  <a:gd fmla="val 25000" name="adj"/>
                </a:avLst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82"/>
              <p:cNvSpPr txBox="1"/>
              <p:nvPr/>
            </p:nvSpPr>
            <p:spPr>
              <a:xfrm>
                <a:off x="4396891" y="2512271"/>
                <a:ext cx="368100" cy="155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600">
                    <a:solidFill>
                      <a:srgbClr val="00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5 </a:t>
                </a:r>
                <a:endParaRPr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170" name="Google Shape;117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171" name="Google Shape;1171;p82"/>
          <p:cNvSpPr txBox="1"/>
          <p:nvPr>
            <p:ph idx="1" type="body"/>
          </p:nvPr>
        </p:nvSpPr>
        <p:spPr>
          <a:xfrm>
            <a:off x="324000" y="810000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think will happen if I put a mass of 5 g on the right hand side (RHS)?</a:t>
            </a:r>
            <a:endParaRPr sz="1800"/>
          </a:p>
        </p:txBody>
      </p:sp>
      <p:sp>
        <p:nvSpPr>
          <p:cNvPr id="1172" name="Google Shape;1172;p82"/>
          <p:cNvSpPr txBox="1"/>
          <p:nvPr>
            <p:ph idx="1" type="body"/>
          </p:nvPr>
        </p:nvSpPr>
        <p:spPr>
          <a:xfrm>
            <a:off x="324000" y="3240000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scales will balance again.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82"/>
          <p:cNvSpPr txBox="1"/>
          <p:nvPr>
            <p:ph idx="1" type="body"/>
          </p:nvPr>
        </p:nvSpPr>
        <p:spPr>
          <a:xfrm>
            <a:off x="324000" y="3769375"/>
            <a:ext cx="84960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the left and right hand sides have the same mass, the scales will be balanced.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8" name="Google Shape;1178;p83"/>
          <p:cNvGrpSpPr/>
          <p:nvPr/>
        </p:nvGrpSpPr>
        <p:grpSpPr>
          <a:xfrm>
            <a:off x="3116791" y="1411787"/>
            <a:ext cx="2910410" cy="1450926"/>
            <a:chOff x="3679000" y="1380975"/>
            <a:chExt cx="4343896" cy="2543700"/>
          </a:xfrm>
        </p:grpSpPr>
        <p:sp>
          <p:nvSpPr>
            <p:cNvPr id="1179" name="Google Shape;1179;p83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80" name="Google Shape;1180;p83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1" name="Google Shape;1181;p83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82" name="Google Shape;1182;p83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183" name="Google Shape;1183;p83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84" name="Google Shape;1184;p83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85" name="Google Shape;1185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186" name="Google Shape;1186;p83"/>
          <p:cNvSpPr txBox="1"/>
          <p:nvPr>
            <p:ph idx="1" type="body"/>
          </p:nvPr>
        </p:nvSpPr>
        <p:spPr>
          <a:xfrm>
            <a:off x="324000" y="827625"/>
            <a:ext cx="84960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can you tell me about the mass of the orange</a:t>
            </a:r>
            <a:r>
              <a:rPr lang="en-GB" sz="1800"/>
              <a:t> (LHS)</a:t>
            </a:r>
            <a:r>
              <a:rPr lang="en-GB" sz="1800"/>
              <a:t> and the lemons</a:t>
            </a:r>
            <a:r>
              <a:rPr lang="en-GB" sz="1800"/>
              <a:t> (RHS) 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187" name="Google Shape;1187;p83"/>
          <p:cNvSpPr txBox="1"/>
          <p:nvPr>
            <p:ph idx="1" type="body"/>
          </p:nvPr>
        </p:nvSpPr>
        <p:spPr>
          <a:xfrm>
            <a:off x="324000" y="3011400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orange has the same mass as the 2 lemons.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8" name="Google Shape;1188;p83"/>
          <p:cNvSpPr txBox="1"/>
          <p:nvPr>
            <p:ph idx="1" type="body"/>
          </p:nvPr>
        </p:nvSpPr>
        <p:spPr>
          <a:xfrm>
            <a:off x="324000" y="3939300"/>
            <a:ext cx="84960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will happen if I add a lemon to the LHS?</a:t>
            </a:r>
            <a:endParaRPr sz="1800"/>
          </a:p>
        </p:txBody>
      </p:sp>
      <p:pic>
        <p:nvPicPr>
          <p:cNvPr id="1189" name="Google Shape;1189;p83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5079650" y="1990350"/>
            <a:ext cx="252252" cy="3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0" name="Google Shape;1190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9600" y="1972000"/>
            <a:ext cx="333657" cy="3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1" name="Google Shape;1191;p83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5363963" y="1990350"/>
            <a:ext cx="252252" cy="3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83"/>
          <p:cNvSpPr txBox="1"/>
          <p:nvPr>
            <p:ph idx="1" type="body"/>
          </p:nvPr>
        </p:nvSpPr>
        <p:spPr>
          <a:xfrm>
            <a:off x="324000" y="4382750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scales will no longer be balanced. The LHS will be lower.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93" name="Google Shape;1193;p83"/>
          <p:cNvGrpSpPr/>
          <p:nvPr/>
        </p:nvGrpSpPr>
        <p:grpSpPr>
          <a:xfrm>
            <a:off x="3116791" y="1147958"/>
            <a:ext cx="2882293" cy="1714629"/>
            <a:chOff x="3116791" y="1147958"/>
            <a:chExt cx="2882293" cy="1714629"/>
          </a:xfrm>
        </p:grpSpPr>
        <p:grpSp>
          <p:nvGrpSpPr>
            <p:cNvPr id="1194" name="Google Shape;1194;p83"/>
            <p:cNvGrpSpPr/>
            <p:nvPr/>
          </p:nvGrpSpPr>
          <p:grpSpPr>
            <a:xfrm>
              <a:off x="3116791" y="1147958"/>
              <a:ext cx="2882293" cy="1714629"/>
              <a:chOff x="3116791" y="1376558"/>
              <a:chExt cx="2882293" cy="1714629"/>
            </a:xfrm>
          </p:grpSpPr>
          <p:sp>
            <p:nvSpPr>
              <p:cNvPr id="1195" name="Google Shape;1195;p83"/>
              <p:cNvSpPr/>
              <p:nvPr/>
            </p:nvSpPr>
            <p:spPr>
              <a:xfrm>
                <a:off x="4385972" y="1640387"/>
                <a:ext cx="372900" cy="14508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96" name="Google Shape;1196;p83"/>
              <p:cNvCxnSpPr/>
              <p:nvPr/>
            </p:nvCxnSpPr>
            <p:spPr>
              <a:xfrm rot="9778893">
                <a:off x="3680063" y="1640860"/>
                <a:ext cx="1784544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7" name="Google Shape;1197;p83"/>
              <p:cNvSpPr/>
              <p:nvPr/>
            </p:nvSpPr>
            <p:spPr>
              <a:xfrm>
                <a:off x="3273413" y="1904217"/>
                <a:ext cx="875700" cy="944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198" name="Google Shape;1198;p83"/>
              <p:cNvCxnSpPr/>
              <p:nvPr/>
            </p:nvCxnSpPr>
            <p:spPr>
              <a:xfrm>
                <a:off x="3116791" y="2869766"/>
                <a:ext cx="1132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199" name="Google Shape;1199;p83"/>
              <p:cNvSpPr/>
              <p:nvPr/>
            </p:nvSpPr>
            <p:spPr>
              <a:xfrm>
                <a:off x="4987976" y="1376558"/>
                <a:ext cx="875700" cy="9444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200" name="Google Shape;1200;p83"/>
              <p:cNvCxnSpPr/>
              <p:nvPr/>
            </p:nvCxnSpPr>
            <p:spPr>
              <a:xfrm>
                <a:off x="4866583" y="2328015"/>
                <a:ext cx="1132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id="1201" name="Google Shape;1201;p8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423350" y="2258275"/>
              <a:ext cx="333657" cy="380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2" name="Google Shape;1202;p83"/>
            <p:cNvPicPr preferRelativeResize="0"/>
            <p:nvPr/>
          </p:nvPicPr>
          <p:blipFill rotWithShape="1">
            <a:blip r:embed="rId3">
              <a:alphaModFix/>
            </a:blip>
            <a:srcRect b="11149" l="28431" r="17246" t="14765"/>
            <a:stretch/>
          </p:blipFill>
          <p:spPr>
            <a:xfrm>
              <a:off x="3757000" y="2276625"/>
              <a:ext cx="252252" cy="34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3" name="Google Shape;1203;p83"/>
            <p:cNvPicPr preferRelativeResize="0"/>
            <p:nvPr/>
          </p:nvPicPr>
          <p:blipFill rotWithShape="1">
            <a:blip r:embed="rId3">
              <a:alphaModFix/>
            </a:blip>
            <a:srcRect b="11149" l="28431" r="17246" t="14765"/>
            <a:stretch/>
          </p:blipFill>
          <p:spPr>
            <a:xfrm>
              <a:off x="5374213" y="1741125"/>
              <a:ext cx="252252" cy="344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4" name="Google Shape;1204;p83"/>
            <p:cNvPicPr preferRelativeResize="0"/>
            <p:nvPr/>
          </p:nvPicPr>
          <p:blipFill rotWithShape="1">
            <a:blip r:embed="rId3">
              <a:alphaModFix/>
            </a:blip>
            <a:srcRect b="11149" l="28431" r="17246" t="14765"/>
            <a:stretch/>
          </p:blipFill>
          <p:spPr>
            <a:xfrm>
              <a:off x="5048925" y="1741125"/>
              <a:ext cx="252252" cy="34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210" name="Google Shape;1210;p84"/>
          <p:cNvSpPr txBox="1"/>
          <p:nvPr>
            <p:ph idx="1" type="body"/>
          </p:nvPr>
        </p:nvSpPr>
        <p:spPr>
          <a:xfrm>
            <a:off x="324000" y="810000"/>
            <a:ext cx="84960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will happen if I add a mass of 7 g to each side?</a:t>
            </a:r>
            <a:endParaRPr sz="1800"/>
          </a:p>
        </p:txBody>
      </p:sp>
      <p:grpSp>
        <p:nvGrpSpPr>
          <p:cNvPr id="1211" name="Google Shape;1211;p84"/>
          <p:cNvGrpSpPr/>
          <p:nvPr/>
        </p:nvGrpSpPr>
        <p:grpSpPr>
          <a:xfrm>
            <a:off x="3116791" y="1411787"/>
            <a:ext cx="2910410" cy="1450926"/>
            <a:chOff x="3679000" y="1380975"/>
            <a:chExt cx="4343896" cy="2543700"/>
          </a:xfrm>
        </p:grpSpPr>
        <p:sp>
          <p:nvSpPr>
            <p:cNvPr id="1212" name="Google Shape;1212;p84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13" name="Google Shape;1213;p84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4" name="Google Shape;1214;p84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15" name="Google Shape;1215;p84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16" name="Google Shape;1216;p84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17" name="Google Shape;1217;p84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18" name="Google Shape;1218;p84"/>
          <p:cNvSpPr txBox="1"/>
          <p:nvPr>
            <p:ph idx="1" type="body"/>
          </p:nvPr>
        </p:nvSpPr>
        <p:spPr>
          <a:xfrm>
            <a:off x="324000" y="3163800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scales will remain balanced.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19" name="Google Shape;1219;p84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4966925" y="1990350"/>
            <a:ext cx="252252" cy="3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0" name="Google Shape;1220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6875" y="1972000"/>
            <a:ext cx="333657" cy="3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1" name="Google Shape;1221;p84"/>
          <p:cNvPicPr preferRelativeResize="0"/>
          <p:nvPr/>
        </p:nvPicPr>
        <p:blipFill rotWithShape="1">
          <a:blip r:embed="rId3">
            <a:alphaModFix/>
          </a:blip>
          <a:srcRect b="11149" l="28431" r="17246" t="14765"/>
          <a:stretch/>
        </p:blipFill>
        <p:spPr>
          <a:xfrm>
            <a:off x="5219163" y="1990350"/>
            <a:ext cx="252252" cy="34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2" name="Google Shape;1222;p84"/>
          <p:cNvGrpSpPr/>
          <p:nvPr/>
        </p:nvGrpSpPr>
        <p:grpSpPr>
          <a:xfrm>
            <a:off x="3590532" y="2089365"/>
            <a:ext cx="252259" cy="244973"/>
            <a:chOff x="4396891" y="2255566"/>
            <a:chExt cx="368100" cy="475584"/>
          </a:xfrm>
        </p:grpSpPr>
        <p:grpSp>
          <p:nvGrpSpPr>
            <p:cNvPr id="1223" name="Google Shape;1223;p84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224" name="Google Shape;1224;p84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84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26" name="Google Shape;1226;p84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84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28" name="Google Shape;1228;p84"/>
          <p:cNvGrpSpPr/>
          <p:nvPr/>
        </p:nvGrpSpPr>
        <p:grpSpPr>
          <a:xfrm>
            <a:off x="5575732" y="2089365"/>
            <a:ext cx="252259" cy="244973"/>
            <a:chOff x="4396891" y="2255566"/>
            <a:chExt cx="368100" cy="475584"/>
          </a:xfrm>
        </p:grpSpPr>
        <p:grpSp>
          <p:nvGrpSpPr>
            <p:cNvPr id="1229" name="Google Shape;1229;p84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230" name="Google Shape;1230;p84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84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32" name="Google Shape;1232;p84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84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85"/>
          <p:cNvSpPr/>
          <p:nvPr/>
        </p:nvSpPr>
        <p:spPr>
          <a:xfrm>
            <a:off x="5396301" y="2100064"/>
            <a:ext cx="375000" cy="248700"/>
          </a:xfrm>
          <a:prstGeom prst="trapezoid">
            <a:avLst>
              <a:gd fmla="val 25000" name="adj"/>
            </a:avLst>
          </a:prstGeom>
          <a:solidFill>
            <a:srgbClr val="CCCCC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9" name="Google Shape;123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240" name="Google Shape;1240;p85"/>
          <p:cNvSpPr txBox="1"/>
          <p:nvPr>
            <p:ph idx="1" type="body"/>
          </p:nvPr>
        </p:nvSpPr>
        <p:spPr>
          <a:xfrm>
            <a:off x="324000" y="810000"/>
            <a:ext cx="84960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can you tell me about the mass of the orange and lemon now? </a:t>
            </a:r>
            <a:endParaRPr sz="1800"/>
          </a:p>
        </p:txBody>
      </p:sp>
      <p:grpSp>
        <p:nvGrpSpPr>
          <p:cNvPr id="1241" name="Google Shape;1241;p85"/>
          <p:cNvGrpSpPr/>
          <p:nvPr/>
        </p:nvGrpSpPr>
        <p:grpSpPr>
          <a:xfrm>
            <a:off x="3116791" y="1418833"/>
            <a:ext cx="2910410" cy="1450926"/>
            <a:chOff x="3679000" y="1380975"/>
            <a:chExt cx="4343896" cy="2543700"/>
          </a:xfrm>
        </p:grpSpPr>
        <p:sp>
          <p:nvSpPr>
            <p:cNvPr id="1242" name="Google Shape;1242;p8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3" name="Google Shape;1243;p8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4" name="Google Shape;1244;p8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5" name="Google Shape;1245;p8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46" name="Google Shape;1246;p8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47" name="Google Shape;1247;p8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48" name="Google Shape;1248;p85"/>
          <p:cNvSpPr txBox="1"/>
          <p:nvPr>
            <p:ph idx="1" type="body"/>
          </p:nvPr>
        </p:nvSpPr>
        <p:spPr>
          <a:xfrm>
            <a:off x="324000" y="3097875"/>
            <a:ext cx="82377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Their combined mass is 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55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g.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249" name="Google Shape;124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875" y="1979046"/>
            <a:ext cx="333657" cy="3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85"/>
          <p:cNvPicPr preferRelativeResize="0"/>
          <p:nvPr/>
        </p:nvPicPr>
        <p:blipFill rotWithShape="1">
          <a:blip r:embed="rId4">
            <a:alphaModFix/>
          </a:blip>
          <a:srcRect b="11149" l="28431" r="17246" t="14765"/>
          <a:stretch/>
        </p:blipFill>
        <p:spPr>
          <a:xfrm>
            <a:off x="3590525" y="1997396"/>
            <a:ext cx="252252" cy="344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51" name="Google Shape;1251;p85"/>
          <p:cNvGrpSpPr/>
          <p:nvPr/>
        </p:nvGrpSpPr>
        <p:grpSpPr>
          <a:xfrm>
            <a:off x="4893782" y="1900217"/>
            <a:ext cx="455400" cy="448496"/>
            <a:chOff x="6648082" y="1837404"/>
            <a:chExt cx="455400" cy="448496"/>
          </a:xfrm>
        </p:grpSpPr>
        <p:grpSp>
          <p:nvGrpSpPr>
            <p:cNvPr id="1252" name="Google Shape;1252;p85"/>
            <p:cNvGrpSpPr/>
            <p:nvPr/>
          </p:nvGrpSpPr>
          <p:grpSpPr>
            <a:xfrm>
              <a:off x="6764983" y="1837404"/>
              <a:ext cx="221581" cy="182424"/>
              <a:chOff x="4496707" y="2241474"/>
              <a:chExt cx="172800" cy="190800"/>
            </a:xfrm>
          </p:grpSpPr>
          <p:sp>
            <p:nvSpPr>
              <p:cNvPr id="1253" name="Google Shape;1253;p85"/>
              <p:cNvSpPr/>
              <p:nvPr/>
            </p:nvSpPr>
            <p:spPr>
              <a:xfrm>
                <a:off x="4496707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4" name="Google Shape;1254;p85"/>
              <p:cNvSpPr/>
              <p:nvPr/>
            </p:nvSpPr>
            <p:spPr>
              <a:xfrm>
                <a:off x="4512970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55" name="Google Shape;1255;p85"/>
            <p:cNvSpPr/>
            <p:nvPr/>
          </p:nvSpPr>
          <p:spPr>
            <a:xfrm>
              <a:off x="6648082" y="1988600"/>
              <a:ext cx="455400" cy="2973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85"/>
            <p:cNvSpPr txBox="1"/>
            <p:nvPr/>
          </p:nvSpPr>
          <p:spPr>
            <a:xfrm>
              <a:off x="6668709" y="2074916"/>
              <a:ext cx="392100" cy="1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200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57" name="Google Shape;1257;p85"/>
          <p:cNvGrpSpPr/>
          <p:nvPr/>
        </p:nvGrpSpPr>
        <p:grpSpPr>
          <a:xfrm>
            <a:off x="5739282" y="2103740"/>
            <a:ext cx="252259" cy="244973"/>
            <a:chOff x="4396891" y="2255566"/>
            <a:chExt cx="368100" cy="475584"/>
          </a:xfrm>
        </p:grpSpPr>
        <p:grpSp>
          <p:nvGrpSpPr>
            <p:cNvPr id="1258" name="Google Shape;1258;p85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259" name="Google Shape;1259;p85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0" name="Google Shape;1260;p85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61" name="Google Shape;1261;p85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85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5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263" name="Google Shape;1263;p85"/>
          <p:cNvGrpSpPr/>
          <p:nvPr/>
        </p:nvGrpSpPr>
        <p:grpSpPr>
          <a:xfrm>
            <a:off x="5349168" y="1972992"/>
            <a:ext cx="455400" cy="313504"/>
            <a:chOff x="6476368" y="1794420"/>
            <a:chExt cx="455400" cy="313504"/>
          </a:xfrm>
        </p:grpSpPr>
        <p:sp>
          <p:nvSpPr>
            <p:cNvPr id="1264" name="Google Shape;1264;p85"/>
            <p:cNvSpPr txBox="1"/>
            <p:nvPr/>
          </p:nvSpPr>
          <p:spPr>
            <a:xfrm>
              <a:off x="6476368" y="1983724"/>
              <a:ext cx="455400" cy="12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grpSp>
          <p:nvGrpSpPr>
            <p:cNvPr id="1265" name="Google Shape;1265;p85"/>
            <p:cNvGrpSpPr/>
            <p:nvPr/>
          </p:nvGrpSpPr>
          <p:grpSpPr>
            <a:xfrm>
              <a:off x="6618003" y="1794420"/>
              <a:ext cx="172126" cy="148173"/>
              <a:chOff x="4474737" y="2247220"/>
              <a:chExt cx="172800" cy="185100"/>
            </a:xfrm>
          </p:grpSpPr>
          <p:sp>
            <p:nvSpPr>
              <p:cNvPr id="1266" name="Google Shape;1266;p85"/>
              <p:cNvSpPr/>
              <p:nvPr/>
            </p:nvSpPr>
            <p:spPr>
              <a:xfrm>
                <a:off x="4474737" y="2247220"/>
                <a:ext cx="172800" cy="1851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7" name="Google Shape;1267;p85"/>
              <p:cNvSpPr/>
              <p:nvPr/>
            </p:nvSpPr>
            <p:spPr>
              <a:xfrm>
                <a:off x="4490991" y="2269355"/>
                <a:ext cx="138900" cy="153600"/>
              </a:xfrm>
              <a:prstGeom prst="ellipse">
                <a:avLst/>
              </a:prstGeom>
              <a:solidFill>
                <a:srgbClr val="FFFFFF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2" name="Google Shape;1272;p86"/>
          <p:cNvGrpSpPr/>
          <p:nvPr/>
        </p:nvGrpSpPr>
        <p:grpSpPr>
          <a:xfrm>
            <a:off x="4995386" y="1749142"/>
            <a:ext cx="3839135" cy="2082018"/>
            <a:chOff x="3679000" y="1380975"/>
            <a:chExt cx="4343896" cy="2543700"/>
          </a:xfrm>
        </p:grpSpPr>
        <p:sp>
          <p:nvSpPr>
            <p:cNvPr id="1273" name="Google Shape;1273;p86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4" name="Google Shape;1274;p86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5" name="Google Shape;1275;p86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6" name="Google Shape;1276;p86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77" name="Google Shape;1277;p86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78" name="Google Shape;1278;p86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279" name="Google Shape;1279;p86"/>
          <p:cNvSpPr txBox="1"/>
          <p:nvPr>
            <p:ph idx="1" type="body"/>
          </p:nvPr>
        </p:nvSpPr>
        <p:spPr>
          <a:xfrm>
            <a:off x="324000" y="759300"/>
            <a:ext cx="84960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We can use balance scales to manipulate equations and maintain equality.  </a:t>
            </a:r>
            <a:endParaRPr sz="1900"/>
          </a:p>
        </p:txBody>
      </p:sp>
      <p:sp>
        <p:nvSpPr>
          <p:cNvPr id="1280" name="Google Shape;1280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281" name="Google Shape;1281;p86"/>
          <p:cNvSpPr/>
          <p:nvPr/>
        </p:nvSpPr>
        <p:spPr>
          <a:xfrm>
            <a:off x="5071762" y="2828100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2" name="Google Shape;1282;p86"/>
          <p:cNvSpPr/>
          <p:nvPr/>
        </p:nvSpPr>
        <p:spPr>
          <a:xfrm>
            <a:off x="5448775" y="2828100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3" name="Google Shape;1283;p86"/>
          <p:cNvSpPr/>
          <p:nvPr/>
        </p:nvSpPr>
        <p:spPr>
          <a:xfrm>
            <a:off x="5272111" y="2572367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4" name="Google Shape;1284;p86"/>
          <p:cNvSpPr/>
          <p:nvPr/>
        </p:nvSpPr>
        <p:spPr>
          <a:xfrm>
            <a:off x="5964414" y="28280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5" name="Google Shape;1285;p86"/>
          <p:cNvSpPr/>
          <p:nvPr/>
        </p:nvSpPr>
        <p:spPr>
          <a:xfrm>
            <a:off x="7676830" y="2828100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6" name="Google Shape;1286;p86"/>
          <p:cNvSpPr/>
          <p:nvPr/>
        </p:nvSpPr>
        <p:spPr>
          <a:xfrm>
            <a:off x="7676830" y="2572367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7" name="Google Shape;1287;p86"/>
          <p:cNvSpPr/>
          <p:nvPr/>
        </p:nvSpPr>
        <p:spPr>
          <a:xfrm>
            <a:off x="8181422" y="28280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8" name="Google Shape;1288;p86"/>
          <p:cNvSpPr/>
          <p:nvPr/>
        </p:nvSpPr>
        <p:spPr>
          <a:xfrm>
            <a:off x="8370724" y="28280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89" name="Google Shape;1289;p86"/>
          <p:cNvSpPr/>
          <p:nvPr/>
        </p:nvSpPr>
        <p:spPr>
          <a:xfrm>
            <a:off x="8256343" y="2572363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290" name="Google Shape;1290;p86"/>
          <p:cNvSpPr txBox="1"/>
          <p:nvPr>
            <p:ph idx="1" type="body"/>
          </p:nvPr>
        </p:nvSpPr>
        <p:spPr>
          <a:xfrm>
            <a:off x="324000" y="1620000"/>
            <a:ext cx="4500000" cy="25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As with any representation, there are limitations.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For this lesson we will assume the </a:t>
            </a:r>
            <a:r>
              <a:rPr i="1" lang="en-GB" sz="21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900"/>
              <a:t> tile has a positive mass.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Once we are confident balancing equations we will no longer need the representation.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5" name="Google Shape;1295;p87"/>
          <p:cNvGrpSpPr/>
          <p:nvPr/>
        </p:nvGrpSpPr>
        <p:grpSpPr>
          <a:xfrm>
            <a:off x="4995386" y="1749142"/>
            <a:ext cx="3839135" cy="2082018"/>
            <a:chOff x="3679000" y="1380975"/>
            <a:chExt cx="4343896" cy="2543700"/>
          </a:xfrm>
        </p:grpSpPr>
        <p:sp>
          <p:nvSpPr>
            <p:cNvPr id="1296" name="Google Shape;1296;p87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97" name="Google Shape;1297;p87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298" name="Google Shape;1298;p87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99" name="Google Shape;1299;p87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00" name="Google Shape;1300;p87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01" name="Google Shape;1301;p87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762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02" name="Google Shape;1302;p87"/>
          <p:cNvGrpSpPr/>
          <p:nvPr/>
        </p:nvGrpSpPr>
        <p:grpSpPr>
          <a:xfrm>
            <a:off x="5145607" y="1160701"/>
            <a:ext cx="3538691" cy="2670441"/>
            <a:chOff x="5145607" y="1160701"/>
            <a:chExt cx="3538691" cy="2670441"/>
          </a:xfrm>
        </p:grpSpPr>
        <p:grpSp>
          <p:nvGrpSpPr>
            <p:cNvPr id="1303" name="Google Shape;1303;p87"/>
            <p:cNvGrpSpPr/>
            <p:nvPr/>
          </p:nvGrpSpPr>
          <p:grpSpPr>
            <a:xfrm>
              <a:off x="5145607" y="1160701"/>
              <a:ext cx="3538691" cy="2670441"/>
              <a:chOff x="4897757" y="2111551"/>
              <a:chExt cx="3538691" cy="2670441"/>
            </a:xfrm>
          </p:grpSpPr>
          <p:sp>
            <p:nvSpPr>
              <p:cNvPr id="1304" name="Google Shape;1304;p87"/>
              <p:cNvSpPr/>
              <p:nvPr/>
            </p:nvSpPr>
            <p:spPr>
              <a:xfrm>
                <a:off x="6423993" y="2699992"/>
                <a:ext cx="491700" cy="20820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5" name="Google Shape;1305;p87"/>
              <p:cNvCxnSpPr/>
              <p:nvPr/>
            </p:nvCxnSpPr>
            <p:spPr>
              <a:xfrm rot="1800723">
                <a:off x="5492852" y="2700301"/>
                <a:ext cx="2354143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6" name="Google Shape;1306;p87"/>
              <p:cNvSpPr/>
              <p:nvPr/>
            </p:nvSpPr>
            <p:spPr>
              <a:xfrm>
                <a:off x="5067181" y="2111976"/>
                <a:ext cx="1155000" cy="13551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7" name="Google Shape;1307;p87"/>
              <p:cNvCxnSpPr/>
              <p:nvPr/>
            </p:nvCxnSpPr>
            <p:spPr>
              <a:xfrm>
                <a:off x="4897757" y="3467166"/>
                <a:ext cx="1493700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08" name="Google Shape;1308;p87"/>
              <p:cNvSpPr/>
              <p:nvPr/>
            </p:nvSpPr>
            <p:spPr>
              <a:xfrm>
                <a:off x="7112172" y="3288454"/>
                <a:ext cx="1155000" cy="13551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09" name="Google Shape;1309;p87"/>
              <p:cNvCxnSpPr/>
              <p:nvPr/>
            </p:nvCxnSpPr>
            <p:spPr>
              <a:xfrm>
                <a:off x="6942747" y="4643645"/>
                <a:ext cx="1493700" cy="0"/>
              </a:xfrm>
              <a:prstGeom prst="straightConnector1">
                <a:avLst/>
              </a:prstGeom>
              <a:noFill/>
              <a:ln cap="flat" cmpd="sng" w="762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10" name="Google Shape;1310;p87"/>
            <p:cNvSpPr/>
            <p:nvPr/>
          </p:nvSpPr>
          <p:spPr>
            <a:xfrm>
              <a:off x="5232487" y="22270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1" name="Google Shape;1311;p87"/>
            <p:cNvSpPr/>
            <p:nvPr/>
          </p:nvSpPr>
          <p:spPr>
            <a:xfrm>
              <a:off x="5609500" y="22270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2" name="Google Shape;1312;p87"/>
            <p:cNvSpPr/>
            <p:nvPr/>
          </p:nvSpPr>
          <p:spPr>
            <a:xfrm>
              <a:off x="6125139" y="2226996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3" name="Google Shape;1313;p87"/>
            <p:cNvSpPr/>
            <p:nvPr/>
          </p:nvSpPr>
          <p:spPr>
            <a:xfrm>
              <a:off x="7526255" y="34061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4" name="Google Shape;1314;p87"/>
            <p:cNvSpPr/>
            <p:nvPr/>
          </p:nvSpPr>
          <p:spPr>
            <a:xfrm>
              <a:off x="8030847" y="3406096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5" name="Google Shape;1315;p87"/>
            <p:cNvSpPr/>
            <p:nvPr/>
          </p:nvSpPr>
          <p:spPr>
            <a:xfrm>
              <a:off x="8220149" y="3406096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16" name="Google Shape;1316;p87"/>
            <p:cNvSpPr/>
            <p:nvPr/>
          </p:nvSpPr>
          <p:spPr>
            <a:xfrm>
              <a:off x="8105768" y="3150363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17" name="Google Shape;1317;p87"/>
          <p:cNvSpPr txBox="1"/>
          <p:nvPr>
            <p:ph idx="1" type="body"/>
          </p:nvPr>
        </p:nvSpPr>
        <p:spPr>
          <a:xfrm>
            <a:off x="324000" y="759300"/>
            <a:ext cx="84960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This balance scale represents the equation   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+ 1 = 2</a:t>
            </a:r>
            <a:r>
              <a:rPr i="1" lang="en-GB" sz="23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300">
                <a:latin typeface="Times"/>
                <a:ea typeface="Times"/>
                <a:cs typeface="Times"/>
                <a:sym typeface="Times"/>
              </a:rPr>
              <a:t> + 3</a:t>
            </a:r>
            <a:endParaRPr sz="2300"/>
          </a:p>
        </p:txBody>
      </p:sp>
      <p:sp>
        <p:nvSpPr>
          <p:cNvPr id="1318" name="Google Shape;131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319" name="Google Shape;1319;p87"/>
          <p:cNvSpPr/>
          <p:nvPr/>
        </p:nvSpPr>
        <p:spPr>
          <a:xfrm>
            <a:off x="5071762" y="2828100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0" name="Google Shape;1320;p87"/>
          <p:cNvSpPr/>
          <p:nvPr/>
        </p:nvSpPr>
        <p:spPr>
          <a:xfrm>
            <a:off x="5448775" y="2828100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1" name="Google Shape;1321;p87"/>
          <p:cNvSpPr/>
          <p:nvPr/>
        </p:nvSpPr>
        <p:spPr>
          <a:xfrm>
            <a:off x="5272111" y="2572367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2" name="Google Shape;1322;p87"/>
          <p:cNvSpPr/>
          <p:nvPr/>
        </p:nvSpPr>
        <p:spPr>
          <a:xfrm>
            <a:off x="5964414" y="28280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3" name="Google Shape;1323;p87"/>
          <p:cNvSpPr/>
          <p:nvPr/>
        </p:nvSpPr>
        <p:spPr>
          <a:xfrm>
            <a:off x="7676830" y="2828100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4" name="Google Shape;1324;p87"/>
          <p:cNvSpPr/>
          <p:nvPr/>
        </p:nvSpPr>
        <p:spPr>
          <a:xfrm>
            <a:off x="7676830" y="2572367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5" name="Google Shape;1325;p87"/>
          <p:cNvSpPr/>
          <p:nvPr/>
        </p:nvSpPr>
        <p:spPr>
          <a:xfrm>
            <a:off x="8181422" y="28280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6" name="Google Shape;1326;p87"/>
          <p:cNvSpPr/>
          <p:nvPr/>
        </p:nvSpPr>
        <p:spPr>
          <a:xfrm>
            <a:off x="8370724" y="28280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7" name="Google Shape;1327;p87"/>
          <p:cNvSpPr/>
          <p:nvPr/>
        </p:nvSpPr>
        <p:spPr>
          <a:xfrm>
            <a:off x="8256343" y="2572363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8" name="Google Shape;1328;p87"/>
          <p:cNvSpPr txBox="1"/>
          <p:nvPr>
            <p:ph idx="1" type="body"/>
          </p:nvPr>
        </p:nvSpPr>
        <p:spPr>
          <a:xfrm>
            <a:off x="361075" y="2288900"/>
            <a:ext cx="42321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will happen if I take an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1800"/>
              <a:t> tile off the left hand side?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29" name="Google Shape;1329;p87"/>
          <p:cNvSpPr txBox="1"/>
          <p:nvPr>
            <p:ph idx="1" type="body"/>
          </p:nvPr>
        </p:nvSpPr>
        <p:spPr>
          <a:xfrm>
            <a:off x="361825" y="3431875"/>
            <a:ext cx="51249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could I do to balance the scales again?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330" name="Google Shape;1330;p87"/>
          <p:cNvSpPr txBox="1"/>
          <p:nvPr>
            <p:ph idx="1" type="body"/>
          </p:nvPr>
        </p:nvSpPr>
        <p:spPr>
          <a:xfrm>
            <a:off x="324000" y="3013575"/>
            <a:ext cx="51249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scales will not be balanced.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1" name="Google Shape;1331;p87"/>
          <p:cNvSpPr txBox="1"/>
          <p:nvPr>
            <p:ph idx="1" type="body"/>
          </p:nvPr>
        </p:nvSpPr>
        <p:spPr>
          <a:xfrm>
            <a:off x="361825" y="3767750"/>
            <a:ext cx="54495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Take an</a:t>
            </a:r>
            <a:r>
              <a:rPr i="1" lang="en-GB">
                <a:latin typeface="Times"/>
                <a:ea typeface="Times"/>
                <a:cs typeface="Times"/>
                <a:sym typeface="Times"/>
              </a:rPr>
              <a:t> 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tile off the right hand side as well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2" name="Google Shape;1332;p87"/>
          <p:cNvSpPr/>
          <p:nvPr/>
        </p:nvSpPr>
        <p:spPr>
          <a:xfrm>
            <a:off x="7530680" y="3170975"/>
            <a:ext cx="377100" cy="247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88"/>
          <p:cNvSpPr txBox="1"/>
          <p:nvPr>
            <p:ph idx="1" type="body"/>
          </p:nvPr>
        </p:nvSpPr>
        <p:spPr>
          <a:xfrm>
            <a:off x="324000" y="759300"/>
            <a:ext cx="59328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Adding the same value to both sides of the scales will keep them balanced.</a:t>
            </a:r>
            <a:r>
              <a:rPr lang="en-GB" sz="1800"/>
              <a:t>  </a:t>
            </a:r>
            <a:endParaRPr sz="1800"/>
          </a:p>
        </p:txBody>
      </p:sp>
      <p:sp>
        <p:nvSpPr>
          <p:cNvPr id="1338" name="Google Shape;133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339" name="Google Shape;1339;p88"/>
          <p:cNvSpPr txBox="1"/>
          <p:nvPr>
            <p:ph idx="1" type="body"/>
          </p:nvPr>
        </p:nvSpPr>
        <p:spPr>
          <a:xfrm>
            <a:off x="324000" y="2203625"/>
            <a:ext cx="54504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Just like a</a:t>
            </a:r>
            <a:r>
              <a:rPr lang="en-GB" sz="1800"/>
              <a:t>dding the same value to both bars in a bar model maintains the equality of the bars.</a:t>
            </a:r>
            <a:endParaRPr sz="1800"/>
          </a:p>
        </p:txBody>
      </p:sp>
      <p:sp>
        <p:nvSpPr>
          <p:cNvPr id="1340" name="Google Shape;1340;p88"/>
          <p:cNvSpPr txBox="1"/>
          <p:nvPr>
            <p:ph idx="1" type="body"/>
          </p:nvPr>
        </p:nvSpPr>
        <p:spPr>
          <a:xfrm>
            <a:off x="324000" y="3570450"/>
            <a:ext cx="54504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Adding the same value to both sides of an equation maintains equality.</a:t>
            </a:r>
            <a:endParaRPr sz="1800"/>
          </a:p>
        </p:txBody>
      </p:sp>
      <p:grpSp>
        <p:nvGrpSpPr>
          <p:cNvPr id="1341" name="Google Shape;1341;p88"/>
          <p:cNvGrpSpPr/>
          <p:nvPr/>
        </p:nvGrpSpPr>
        <p:grpSpPr>
          <a:xfrm>
            <a:off x="5939664" y="810011"/>
            <a:ext cx="2602862" cy="1255570"/>
            <a:chOff x="5939664" y="810011"/>
            <a:chExt cx="2602862" cy="1255570"/>
          </a:xfrm>
        </p:grpSpPr>
        <p:grpSp>
          <p:nvGrpSpPr>
            <p:cNvPr id="1342" name="Google Shape;1342;p88"/>
            <p:cNvGrpSpPr/>
            <p:nvPr/>
          </p:nvGrpSpPr>
          <p:grpSpPr>
            <a:xfrm>
              <a:off x="5939664" y="810011"/>
              <a:ext cx="2602862" cy="1255570"/>
              <a:chOff x="3679000" y="1380975"/>
              <a:chExt cx="4343896" cy="2543700"/>
            </a:xfrm>
          </p:grpSpPr>
          <p:sp>
            <p:nvSpPr>
              <p:cNvPr id="1343" name="Google Shape;1343;p88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44" name="Google Shape;1344;p88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45" name="Google Shape;1345;p88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46" name="Google Shape;1346;p88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47" name="Google Shape;1347;p88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48" name="Google Shape;1348;p88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49" name="Google Shape;1349;p88"/>
            <p:cNvSpPr/>
            <p:nvPr/>
          </p:nvSpPr>
          <p:spPr>
            <a:xfrm>
              <a:off x="6068262" y="11221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0" name="Google Shape;1350;p88"/>
            <p:cNvSpPr/>
            <p:nvPr/>
          </p:nvSpPr>
          <p:spPr>
            <a:xfrm>
              <a:off x="6068250" y="13725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1" name="Google Shape;1351;p88"/>
            <p:cNvSpPr/>
            <p:nvPr/>
          </p:nvSpPr>
          <p:spPr>
            <a:xfrm>
              <a:off x="6536289" y="1372496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2" name="Google Shape;1352;p88"/>
            <p:cNvSpPr/>
            <p:nvPr/>
          </p:nvSpPr>
          <p:spPr>
            <a:xfrm>
              <a:off x="7569414" y="1372496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3" name="Google Shape;1353;p88"/>
            <p:cNvSpPr/>
            <p:nvPr/>
          </p:nvSpPr>
          <p:spPr>
            <a:xfrm>
              <a:off x="7841589" y="1372496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4" name="Google Shape;1354;p88"/>
            <p:cNvSpPr/>
            <p:nvPr/>
          </p:nvSpPr>
          <p:spPr>
            <a:xfrm>
              <a:off x="8113764" y="1372496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5" name="Google Shape;1355;p88"/>
            <p:cNvSpPr/>
            <p:nvPr/>
          </p:nvSpPr>
          <p:spPr>
            <a:xfrm flipH="1">
              <a:off x="7717502" y="1122100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6" name="Google Shape;1356;p88"/>
            <p:cNvSpPr/>
            <p:nvPr/>
          </p:nvSpPr>
          <p:spPr>
            <a:xfrm flipH="1">
              <a:off x="8004023" y="1122100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357" name="Google Shape;1357;p88"/>
          <p:cNvGrpSpPr/>
          <p:nvPr/>
        </p:nvGrpSpPr>
        <p:grpSpPr>
          <a:xfrm>
            <a:off x="6653464" y="1122096"/>
            <a:ext cx="1889050" cy="495000"/>
            <a:chOff x="6653464" y="1122096"/>
            <a:chExt cx="1889050" cy="495000"/>
          </a:xfrm>
        </p:grpSpPr>
        <p:sp>
          <p:nvSpPr>
            <p:cNvPr id="1358" name="Google Shape;1358;p88"/>
            <p:cNvSpPr/>
            <p:nvPr/>
          </p:nvSpPr>
          <p:spPr>
            <a:xfrm>
              <a:off x="6653464" y="1122096"/>
              <a:ext cx="1893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59" name="Google Shape;1359;p88"/>
            <p:cNvSpPr/>
            <p:nvPr/>
          </p:nvSpPr>
          <p:spPr>
            <a:xfrm>
              <a:off x="6763589" y="1369596"/>
              <a:ext cx="1893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0" name="Google Shape;1360;p88"/>
            <p:cNvSpPr/>
            <p:nvPr/>
          </p:nvSpPr>
          <p:spPr>
            <a:xfrm>
              <a:off x="8353214" y="1369596"/>
              <a:ext cx="1893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1" name="Google Shape;1361;p88"/>
            <p:cNvSpPr/>
            <p:nvPr/>
          </p:nvSpPr>
          <p:spPr>
            <a:xfrm>
              <a:off x="8273089" y="1122096"/>
              <a:ext cx="1893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362" name="Google Shape;1362;p88"/>
          <p:cNvGrpSpPr/>
          <p:nvPr/>
        </p:nvGrpSpPr>
        <p:grpSpPr>
          <a:xfrm>
            <a:off x="6256800" y="2279225"/>
            <a:ext cx="1607400" cy="613409"/>
            <a:chOff x="6256800" y="2736425"/>
            <a:chExt cx="1607400" cy="613409"/>
          </a:xfrm>
        </p:grpSpPr>
        <p:sp>
          <p:nvSpPr>
            <p:cNvPr id="1363" name="Google Shape;1363;p88"/>
            <p:cNvSpPr/>
            <p:nvPr/>
          </p:nvSpPr>
          <p:spPr>
            <a:xfrm>
              <a:off x="6256800" y="2736425"/>
              <a:ext cx="16074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5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4" name="Google Shape;1364;p88"/>
            <p:cNvSpPr/>
            <p:nvPr/>
          </p:nvSpPr>
          <p:spPr>
            <a:xfrm>
              <a:off x="6256800" y="3043225"/>
              <a:ext cx="627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5" name="Google Shape;1365;p88"/>
            <p:cNvSpPr/>
            <p:nvPr/>
          </p:nvSpPr>
          <p:spPr>
            <a:xfrm>
              <a:off x="7510800" y="3043234"/>
              <a:ext cx="3534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6" name="Google Shape;1366;p88"/>
            <p:cNvSpPr/>
            <p:nvPr/>
          </p:nvSpPr>
          <p:spPr>
            <a:xfrm>
              <a:off x="6883800" y="3043225"/>
              <a:ext cx="627000" cy="306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367" name="Google Shape;1367;p88"/>
          <p:cNvGrpSpPr/>
          <p:nvPr/>
        </p:nvGrpSpPr>
        <p:grpSpPr>
          <a:xfrm>
            <a:off x="7864200" y="2279225"/>
            <a:ext cx="683700" cy="613400"/>
            <a:chOff x="7864200" y="2736425"/>
            <a:chExt cx="683700" cy="613400"/>
          </a:xfrm>
        </p:grpSpPr>
        <p:sp>
          <p:nvSpPr>
            <p:cNvPr id="1368" name="Google Shape;1368;p88"/>
            <p:cNvSpPr/>
            <p:nvPr/>
          </p:nvSpPr>
          <p:spPr>
            <a:xfrm>
              <a:off x="7864200" y="2736425"/>
              <a:ext cx="683700" cy="306600"/>
            </a:xfrm>
            <a:prstGeom prst="rect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69" name="Google Shape;1369;p88"/>
            <p:cNvSpPr/>
            <p:nvPr/>
          </p:nvSpPr>
          <p:spPr>
            <a:xfrm>
              <a:off x="7864200" y="3043225"/>
              <a:ext cx="683700" cy="306600"/>
            </a:xfrm>
            <a:prstGeom prst="rect">
              <a:avLst/>
            </a:prstGeom>
            <a:noFill/>
            <a:ln cap="flat" cmpd="sng" w="1905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aphicFrame>
        <p:nvGraphicFramePr>
          <p:cNvPr id="1370" name="Google Shape;1370;p88"/>
          <p:cNvGraphicFramePr/>
          <p:nvPr/>
        </p:nvGraphicFramePr>
        <p:xfrm>
          <a:off x="5807700" y="340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1330950"/>
                <a:gridCol w="298150"/>
                <a:gridCol w="1383200"/>
              </a:tblGrid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1" name="Google Shape;1371;p88"/>
          <p:cNvGraphicFramePr/>
          <p:nvPr/>
        </p:nvGraphicFramePr>
        <p:xfrm>
          <a:off x="5807700" y="340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1330950"/>
                <a:gridCol w="298150"/>
                <a:gridCol w="1383200"/>
              </a:tblGrid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r>
                        <a:rPr lang="en-GB" sz="20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+ 2</a:t>
                      </a:r>
                      <a:endParaRPr sz="20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72" name="Google Shape;1372;p88"/>
          <p:cNvGraphicFramePr/>
          <p:nvPr/>
        </p:nvGraphicFramePr>
        <p:xfrm>
          <a:off x="5807700" y="340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1330950"/>
                <a:gridCol w="298150"/>
                <a:gridCol w="1383200"/>
              </a:tblGrid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7" name="Google Shape;1377;p89"/>
          <p:cNvGrpSpPr/>
          <p:nvPr/>
        </p:nvGrpSpPr>
        <p:grpSpPr>
          <a:xfrm>
            <a:off x="5939664" y="810011"/>
            <a:ext cx="2602862" cy="1255570"/>
            <a:chOff x="5939664" y="810011"/>
            <a:chExt cx="2602862" cy="1255570"/>
          </a:xfrm>
        </p:grpSpPr>
        <p:grpSp>
          <p:nvGrpSpPr>
            <p:cNvPr id="1378" name="Google Shape;1378;p89"/>
            <p:cNvGrpSpPr/>
            <p:nvPr/>
          </p:nvGrpSpPr>
          <p:grpSpPr>
            <a:xfrm>
              <a:off x="5939664" y="810011"/>
              <a:ext cx="2602862" cy="1255570"/>
              <a:chOff x="3679000" y="1380975"/>
              <a:chExt cx="4343896" cy="2543700"/>
            </a:xfrm>
          </p:grpSpPr>
          <p:sp>
            <p:nvSpPr>
              <p:cNvPr id="1379" name="Google Shape;1379;p89"/>
              <p:cNvSpPr/>
              <p:nvPr/>
            </p:nvSpPr>
            <p:spPr>
              <a:xfrm>
                <a:off x="5573300" y="1380975"/>
                <a:ext cx="556500" cy="2543700"/>
              </a:xfrm>
              <a:prstGeom prst="trapezoid">
                <a:avLst>
                  <a:gd fmla="val 25000" name="adj"/>
                </a:avLst>
              </a:prstGeom>
              <a:solidFill>
                <a:srgbClr val="000000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80" name="Google Shape;1380;p89"/>
              <p:cNvCxnSpPr/>
              <p:nvPr/>
            </p:nvCxnSpPr>
            <p:spPr>
              <a:xfrm>
                <a:off x="4519850" y="1380975"/>
                <a:ext cx="2663400" cy="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1" name="Google Shape;1381;p89"/>
              <p:cNvSpPr/>
              <p:nvPr/>
            </p:nvSpPr>
            <p:spPr>
              <a:xfrm>
                <a:off x="3870700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82" name="Google Shape;1382;p89"/>
              <p:cNvCxnSpPr/>
              <p:nvPr/>
            </p:nvCxnSpPr>
            <p:spPr>
              <a:xfrm>
                <a:off x="3679000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83" name="Google Shape;1383;p89"/>
              <p:cNvSpPr/>
              <p:nvPr/>
            </p:nvSpPr>
            <p:spPr>
              <a:xfrm>
                <a:off x="6524396" y="1380975"/>
                <a:ext cx="1306800" cy="16557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384" name="Google Shape;1384;p89"/>
              <p:cNvCxnSpPr/>
              <p:nvPr/>
            </p:nvCxnSpPr>
            <p:spPr>
              <a:xfrm>
                <a:off x="6332696" y="3036675"/>
                <a:ext cx="16902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85" name="Google Shape;1385;p89"/>
            <p:cNvSpPr/>
            <p:nvPr/>
          </p:nvSpPr>
          <p:spPr>
            <a:xfrm>
              <a:off x="6068250" y="1372500"/>
              <a:ext cx="377100" cy="247500"/>
            </a:xfrm>
            <a:prstGeom prst="rect">
              <a:avLst/>
            </a:prstGeom>
            <a:solidFill>
              <a:srgbClr val="D9EAD3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6" name="Google Shape;1386;p89"/>
            <p:cNvSpPr/>
            <p:nvPr/>
          </p:nvSpPr>
          <p:spPr>
            <a:xfrm>
              <a:off x="7569414" y="1372496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7" name="Google Shape;1387;p89"/>
            <p:cNvSpPr/>
            <p:nvPr/>
          </p:nvSpPr>
          <p:spPr>
            <a:xfrm>
              <a:off x="7841589" y="1372496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88" name="Google Shape;1388;p89"/>
            <p:cNvSpPr/>
            <p:nvPr/>
          </p:nvSpPr>
          <p:spPr>
            <a:xfrm>
              <a:off x="6546464" y="1372496"/>
              <a:ext cx="189300" cy="247500"/>
            </a:xfrm>
            <a:prstGeom prst="rect">
              <a:avLst/>
            </a:prstGeom>
            <a:solidFill>
              <a:srgbClr val="FFF2CC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389" name="Google Shape;1389;p89"/>
          <p:cNvSpPr txBox="1"/>
          <p:nvPr>
            <p:ph idx="1" type="body"/>
          </p:nvPr>
        </p:nvSpPr>
        <p:spPr>
          <a:xfrm>
            <a:off x="324000" y="1353600"/>
            <a:ext cx="59328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Multiplying </a:t>
            </a:r>
            <a:r>
              <a:rPr lang="en-GB" sz="1800"/>
              <a:t>both sides by the same value will keep the scales balanced. </a:t>
            </a:r>
            <a:endParaRPr sz="1800"/>
          </a:p>
        </p:txBody>
      </p:sp>
      <p:sp>
        <p:nvSpPr>
          <p:cNvPr id="1390" name="Google Shape;139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1391" name="Google Shape;1391;p89"/>
          <p:cNvSpPr txBox="1"/>
          <p:nvPr>
            <p:ph idx="1" type="body"/>
          </p:nvPr>
        </p:nvSpPr>
        <p:spPr>
          <a:xfrm>
            <a:off x="324000" y="2294550"/>
            <a:ext cx="54504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Multiplying both bars in a bar model by the same value ke</a:t>
            </a:r>
            <a:r>
              <a:rPr lang="en-GB" sz="1800"/>
              <a:t>eps the bars the same length. </a:t>
            </a:r>
            <a:endParaRPr sz="1800"/>
          </a:p>
        </p:txBody>
      </p:sp>
      <p:sp>
        <p:nvSpPr>
          <p:cNvPr id="1392" name="Google Shape;1392;p89"/>
          <p:cNvSpPr txBox="1"/>
          <p:nvPr>
            <p:ph idx="1" type="body"/>
          </p:nvPr>
        </p:nvSpPr>
        <p:spPr>
          <a:xfrm>
            <a:off x="324000" y="3235500"/>
            <a:ext cx="54504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Multiplying</a:t>
            </a:r>
            <a:r>
              <a:rPr lang="en-GB" sz="1800"/>
              <a:t> both sides of an equation by the same value maintains equality.</a:t>
            </a:r>
            <a:endParaRPr sz="1800"/>
          </a:p>
        </p:txBody>
      </p:sp>
      <p:graphicFrame>
        <p:nvGraphicFramePr>
          <p:cNvPr id="1393" name="Google Shape;1393;p89"/>
          <p:cNvGraphicFramePr/>
          <p:nvPr/>
        </p:nvGraphicFramePr>
        <p:xfrm>
          <a:off x="5869069" y="3332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1330950"/>
                <a:gridCol w="298150"/>
                <a:gridCol w="1383200"/>
              </a:tblGrid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394" name="Google Shape;1394;p89"/>
          <p:cNvGrpSpPr/>
          <p:nvPr/>
        </p:nvGrpSpPr>
        <p:grpSpPr>
          <a:xfrm>
            <a:off x="6111688" y="869250"/>
            <a:ext cx="2466176" cy="750746"/>
            <a:chOff x="6111688" y="869250"/>
            <a:chExt cx="2466176" cy="750746"/>
          </a:xfrm>
        </p:grpSpPr>
        <p:sp>
          <p:nvSpPr>
            <p:cNvPr id="1395" name="Google Shape;1395;p89"/>
            <p:cNvSpPr/>
            <p:nvPr/>
          </p:nvSpPr>
          <p:spPr>
            <a:xfrm>
              <a:off x="8136214" y="1372496"/>
              <a:ext cx="1893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96" name="Google Shape;1396;p89"/>
            <p:cNvSpPr/>
            <p:nvPr/>
          </p:nvSpPr>
          <p:spPr>
            <a:xfrm>
              <a:off x="8388564" y="1372496"/>
              <a:ext cx="1893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97" name="Google Shape;1397;p89"/>
            <p:cNvSpPr/>
            <p:nvPr/>
          </p:nvSpPr>
          <p:spPr>
            <a:xfrm>
              <a:off x="6111688" y="1125000"/>
              <a:ext cx="3771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98" name="Google Shape;1398;p89"/>
            <p:cNvSpPr/>
            <p:nvPr/>
          </p:nvSpPr>
          <p:spPr>
            <a:xfrm>
              <a:off x="6144313" y="869250"/>
              <a:ext cx="3771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399" name="Google Shape;1399;p89"/>
            <p:cNvSpPr/>
            <p:nvPr/>
          </p:nvSpPr>
          <p:spPr>
            <a:xfrm>
              <a:off x="7978589" y="1124996"/>
              <a:ext cx="1893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00" name="Google Shape;1400;p89"/>
            <p:cNvSpPr/>
            <p:nvPr/>
          </p:nvSpPr>
          <p:spPr>
            <a:xfrm>
              <a:off x="8250764" y="1124996"/>
              <a:ext cx="1893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01" name="Google Shape;1401;p89"/>
            <p:cNvSpPr/>
            <p:nvPr/>
          </p:nvSpPr>
          <p:spPr>
            <a:xfrm>
              <a:off x="6790826" y="1372496"/>
              <a:ext cx="1893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02" name="Google Shape;1402;p89"/>
            <p:cNvSpPr/>
            <p:nvPr/>
          </p:nvSpPr>
          <p:spPr>
            <a:xfrm>
              <a:off x="6647301" y="1124996"/>
              <a:ext cx="189300" cy="247500"/>
            </a:xfrm>
            <a:prstGeom prst="rect">
              <a:avLst/>
            </a:prstGeom>
            <a:solidFill>
              <a:srgbClr val="E6F2F2"/>
            </a:solidFill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200">
                <a:solidFill>
                  <a:schemeClr val="accent5"/>
                </a:solidFill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sp>
        <p:nvSpPr>
          <p:cNvPr id="1403" name="Google Shape;1403;p89"/>
          <p:cNvSpPr txBox="1"/>
          <p:nvPr>
            <p:ph idx="1" type="body"/>
          </p:nvPr>
        </p:nvSpPr>
        <p:spPr>
          <a:xfrm>
            <a:off x="324000" y="4017800"/>
            <a:ext cx="56157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/>
              <a:t>whole</a:t>
            </a:r>
            <a:r>
              <a:rPr lang="en-GB" sz="1800"/>
              <a:t> expression on each side needs to be × 3</a:t>
            </a:r>
            <a:endParaRPr sz="1800"/>
          </a:p>
        </p:txBody>
      </p:sp>
      <p:graphicFrame>
        <p:nvGraphicFramePr>
          <p:cNvPr id="1404" name="Google Shape;1404;p89"/>
          <p:cNvGraphicFramePr/>
          <p:nvPr/>
        </p:nvGraphicFramePr>
        <p:xfrm>
          <a:off x="5869069" y="3332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1330950"/>
                <a:gridCol w="298150"/>
                <a:gridCol w="1383200"/>
              </a:tblGrid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127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1)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(2)</a:t>
                      </a:r>
                      <a:endParaRPr sz="2000">
                        <a:solidFill>
                          <a:schemeClr val="accent4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05" name="Google Shape;1405;p89"/>
          <p:cNvGraphicFramePr/>
          <p:nvPr/>
        </p:nvGraphicFramePr>
        <p:xfrm>
          <a:off x="5869069" y="33323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1330950"/>
                <a:gridCol w="298150"/>
                <a:gridCol w="1383200"/>
              </a:tblGrid>
              <a:tr h="360725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 + 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r>
                        <a:rPr i="1"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72000" marB="72000" marR="36000" marL="3600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406" name="Google Shape;1406;p89"/>
          <p:cNvGrpSpPr/>
          <p:nvPr/>
        </p:nvGrpSpPr>
        <p:grpSpPr>
          <a:xfrm>
            <a:off x="5807700" y="2304000"/>
            <a:ext cx="1005699" cy="571431"/>
            <a:chOff x="5807700" y="2304000"/>
            <a:chExt cx="1005699" cy="571431"/>
          </a:xfrm>
        </p:grpSpPr>
        <p:sp>
          <p:nvSpPr>
            <p:cNvPr id="1407" name="Google Shape;1407;p89"/>
            <p:cNvSpPr/>
            <p:nvPr/>
          </p:nvSpPr>
          <p:spPr>
            <a:xfrm>
              <a:off x="5807700" y="2304000"/>
              <a:ext cx="1005600" cy="285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2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08" name="Google Shape;1408;p89"/>
            <p:cNvSpPr/>
            <p:nvPr/>
          </p:nvSpPr>
          <p:spPr>
            <a:xfrm>
              <a:off x="5807700" y="2589831"/>
              <a:ext cx="500400" cy="285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GB" sz="2100">
                  <a:latin typeface="Times"/>
                  <a:ea typeface="Times"/>
                  <a:cs typeface="Times"/>
                  <a:sym typeface="Times"/>
                </a:rPr>
                <a:t>x</a:t>
              </a:r>
              <a:endParaRPr i="1" sz="2100">
                <a:latin typeface="Times"/>
                <a:ea typeface="Times"/>
                <a:cs typeface="Times"/>
                <a:sym typeface="Times"/>
              </a:endParaRPr>
            </a:p>
          </p:txBody>
        </p:sp>
        <p:sp>
          <p:nvSpPr>
            <p:cNvPr id="1409" name="Google Shape;1409;p89"/>
            <p:cNvSpPr/>
            <p:nvPr/>
          </p:nvSpPr>
          <p:spPr>
            <a:xfrm>
              <a:off x="6312999" y="2589831"/>
              <a:ext cx="500400" cy="285600"/>
            </a:xfrm>
            <a:prstGeom prst="rect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100">
                  <a:latin typeface="Times"/>
                  <a:ea typeface="Times"/>
                  <a:cs typeface="Times"/>
                  <a:sym typeface="Times"/>
                </a:rPr>
                <a:t>1</a:t>
              </a:r>
              <a:endParaRPr sz="2100">
                <a:latin typeface="Times"/>
                <a:ea typeface="Times"/>
                <a:cs typeface="Times"/>
                <a:sym typeface="Times"/>
              </a:endParaRPr>
            </a:p>
          </p:txBody>
        </p:sp>
      </p:grpSp>
      <p:grpSp>
        <p:nvGrpSpPr>
          <p:cNvPr id="1410" name="Google Shape;1410;p89"/>
          <p:cNvGrpSpPr/>
          <p:nvPr/>
        </p:nvGrpSpPr>
        <p:grpSpPr>
          <a:xfrm>
            <a:off x="6812392" y="2304000"/>
            <a:ext cx="2017437" cy="571431"/>
            <a:chOff x="6812392" y="2304000"/>
            <a:chExt cx="2017437" cy="571431"/>
          </a:xfrm>
        </p:grpSpPr>
        <p:grpSp>
          <p:nvGrpSpPr>
            <p:cNvPr id="1411" name="Google Shape;1411;p89"/>
            <p:cNvGrpSpPr/>
            <p:nvPr/>
          </p:nvGrpSpPr>
          <p:grpSpPr>
            <a:xfrm>
              <a:off x="7824129" y="2304000"/>
              <a:ext cx="1005699" cy="571431"/>
              <a:chOff x="5807700" y="2304000"/>
              <a:chExt cx="1005699" cy="571431"/>
            </a:xfrm>
          </p:grpSpPr>
          <p:sp>
            <p:nvSpPr>
              <p:cNvPr id="1412" name="Google Shape;1412;p89"/>
              <p:cNvSpPr/>
              <p:nvPr/>
            </p:nvSpPr>
            <p:spPr>
              <a:xfrm>
                <a:off x="5807700" y="2304000"/>
                <a:ext cx="1005600" cy="285600"/>
              </a:xfrm>
              <a:prstGeom prst="rect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solidFill>
                      <a:schemeClr val="accent5"/>
                    </a:solidFill>
                    <a:latin typeface="Times"/>
                    <a:ea typeface="Times"/>
                    <a:cs typeface="Times"/>
                    <a:sym typeface="Times"/>
                  </a:rPr>
                  <a:t>2</a:t>
                </a:r>
                <a:endParaRPr sz="21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13" name="Google Shape;1413;p89"/>
              <p:cNvSpPr/>
              <p:nvPr/>
            </p:nvSpPr>
            <p:spPr>
              <a:xfrm>
                <a:off x="5807700" y="2589831"/>
                <a:ext cx="500400" cy="285600"/>
              </a:xfrm>
              <a:prstGeom prst="rect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100">
                    <a:solidFill>
                      <a:schemeClr val="accent5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21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14" name="Google Shape;1414;p89"/>
              <p:cNvSpPr/>
              <p:nvPr/>
            </p:nvSpPr>
            <p:spPr>
              <a:xfrm>
                <a:off x="6312999" y="2589831"/>
                <a:ext cx="500400" cy="285600"/>
              </a:xfrm>
              <a:prstGeom prst="rect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solidFill>
                      <a:schemeClr val="accent5"/>
                    </a:solidFill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1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  <p:grpSp>
          <p:nvGrpSpPr>
            <p:cNvPr id="1415" name="Google Shape;1415;p89"/>
            <p:cNvGrpSpPr/>
            <p:nvPr/>
          </p:nvGrpSpPr>
          <p:grpSpPr>
            <a:xfrm>
              <a:off x="6812392" y="2304000"/>
              <a:ext cx="1005699" cy="571431"/>
              <a:chOff x="5807700" y="2304000"/>
              <a:chExt cx="1005699" cy="571431"/>
            </a:xfrm>
          </p:grpSpPr>
          <p:sp>
            <p:nvSpPr>
              <p:cNvPr id="1416" name="Google Shape;1416;p89"/>
              <p:cNvSpPr/>
              <p:nvPr/>
            </p:nvSpPr>
            <p:spPr>
              <a:xfrm>
                <a:off x="5807700" y="2304000"/>
                <a:ext cx="1005600" cy="285600"/>
              </a:xfrm>
              <a:prstGeom prst="rect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solidFill>
                      <a:schemeClr val="accent5"/>
                    </a:solidFill>
                    <a:latin typeface="Times"/>
                    <a:ea typeface="Times"/>
                    <a:cs typeface="Times"/>
                    <a:sym typeface="Times"/>
                  </a:rPr>
                  <a:t>2</a:t>
                </a:r>
                <a:endParaRPr sz="21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17" name="Google Shape;1417;p89"/>
              <p:cNvSpPr/>
              <p:nvPr/>
            </p:nvSpPr>
            <p:spPr>
              <a:xfrm>
                <a:off x="5807700" y="2589831"/>
                <a:ext cx="500400" cy="285600"/>
              </a:xfrm>
              <a:prstGeom prst="rect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GB" sz="2100">
                    <a:solidFill>
                      <a:schemeClr val="accent5"/>
                    </a:solidFill>
                    <a:latin typeface="Times"/>
                    <a:ea typeface="Times"/>
                    <a:cs typeface="Times"/>
                    <a:sym typeface="Times"/>
                  </a:rPr>
                  <a:t>x</a:t>
                </a:r>
                <a:endParaRPr i="1" sz="21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  <p:sp>
            <p:nvSpPr>
              <p:cNvPr id="1418" name="Google Shape;1418;p89"/>
              <p:cNvSpPr/>
              <p:nvPr/>
            </p:nvSpPr>
            <p:spPr>
              <a:xfrm>
                <a:off x="6312999" y="2589831"/>
                <a:ext cx="500400" cy="285600"/>
              </a:xfrm>
              <a:prstGeom prst="rect">
                <a:avLst/>
              </a:prstGeom>
              <a:noFill/>
              <a:ln cap="flat" cmpd="sng" w="19050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2100">
                    <a:solidFill>
                      <a:schemeClr val="accent5"/>
                    </a:solidFill>
                    <a:latin typeface="Times"/>
                    <a:ea typeface="Times"/>
                    <a:cs typeface="Times"/>
                    <a:sym typeface="Times"/>
                  </a:rPr>
                  <a:t>1</a:t>
                </a:r>
                <a:endParaRPr sz="2100">
                  <a:solidFill>
                    <a:schemeClr val="accent5"/>
                  </a:solidFill>
                  <a:latin typeface="Times"/>
                  <a:ea typeface="Times"/>
                  <a:cs typeface="Times"/>
                  <a:sym typeface="Times"/>
                </a:endParaRPr>
              </a:p>
            </p:txBody>
          </p:sp>
        </p:grpSp>
      </p:grpSp>
      <p:sp>
        <p:nvSpPr>
          <p:cNvPr id="1419" name="Google Shape;1419;p89"/>
          <p:cNvSpPr txBox="1"/>
          <p:nvPr>
            <p:ph idx="1" type="body"/>
          </p:nvPr>
        </p:nvSpPr>
        <p:spPr>
          <a:xfrm>
            <a:off x="324000" y="4508400"/>
            <a:ext cx="5615700" cy="31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expand the bracket if desired.</a:t>
            </a:r>
            <a:endParaRPr sz="1800"/>
          </a:p>
        </p:txBody>
      </p:sp>
      <p:cxnSp>
        <p:nvCxnSpPr>
          <p:cNvPr id="1420" name="Google Shape;1420;p89"/>
          <p:cNvCxnSpPr/>
          <p:nvPr/>
        </p:nvCxnSpPr>
        <p:spPr>
          <a:xfrm flipH="1" rot="10800000">
            <a:off x="5902050" y="4017800"/>
            <a:ext cx="383700" cy="1305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21" name="Google Shape;1421;p89"/>
          <p:cNvSpPr txBox="1"/>
          <p:nvPr>
            <p:ph idx="1" type="body"/>
          </p:nvPr>
        </p:nvSpPr>
        <p:spPr>
          <a:xfrm>
            <a:off x="324000" y="781800"/>
            <a:ext cx="59328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is another equation represented with scales.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5" name="Shape 1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6" name="Google Shape;1426;p90"/>
          <p:cNvSpPr txBox="1"/>
          <p:nvPr>
            <p:ph idx="1" type="body"/>
          </p:nvPr>
        </p:nvSpPr>
        <p:spPr>
          <a:xfrm>
            <a:off x="324000" y="663963"/>
            <a:ext cx="84960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Complete each balance scale so the left and right hand sides are balanced.</a:t>
            </a:r>
            <a:endParaRPr sz="1800"/>
          </a:p>
        </p:txBody>
      </p:sp>
      <p:sp>
        <p:nvSpPr>
          <p:cNvPr id="1427" name="Google Shape;1427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grpSp>
        <p:nvGrpSpPr>
          <p:cNvPr id="1428" name="Google Shape;1428;p90"/>
          <p:cNvGrpSpPr/>
          <p:nvPr/>
        </p:nvGrpSpPr>
        <p:grpSpPr>
          <a:xfrm>
            <a:off x="857319" y="2587925"/>
            <a:ext cx="2343532" cy="1042917"/>
            <a:chOff x="3679000" y="1380975"/>
            <a:chExt cx="4343896" cy="2543700"/>
          </a:xfrm>
        </p:grpSpPr>
        <p:sp>
          <p:nvSpPr>
            <p:cNvPr id="1429" name="Google Shape;1429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0" name="Google Shape;1430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1" name="Google Shape;1431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2" name="Google Shape;1432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3" name="Google Shape;1433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4" name="Google Shape;1434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35" name="Google Shape;1435;p90"/>
          <p:cNvGrpSpPr/>
          <p:nvPr/>
        </p:nvGrpSpPr>
        <p:grpSpPr>
          <a:xfrm>
            <a:off x="6454825" y="2566875"/>
            <a:ext cx="2343532" cy="1042917"/>
            <a:chOff x="3679000" y="1380975"/>
            <a:chExt cx="4343896" cy="2543700"/>
          </a:xfrm>
        </p:grpSpPr>
        <p:sp>
          <p:nvSpPr>
            <p:cNvPr id="1436" name="Google Shape;1436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7" name="Google Shape;1437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38" name="Google Shape;1438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9" name="Google Shape;1439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0" name="Google Shape;1440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41" name="Google Shape;1441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42" name="Google Shape;1442;p90"/>
          <p:cNvGrpSpPr/>
          <p:nvPr/>
        </p:nvGrpSpPr>
        <p:grpSpPr>
          <a:xfrm>
            <a:off x="3607555" y="2451535"/>
            <a:ext cx="2343544" cy="1167036"/>
            <a:chOff x="5753726" y="3160998"/>
            <a:chExt cx="1886304" cy="1183606"/>
          </a:xfrm>
        </p:grpSpPr>
        <p:sp>
          <p:nvSpPr>
            <p:cNvPr id="1443" name="Google Shape;1443;p90"/>
            <p:cNvSpPr/>
            <p:nvPr/>
          </p:nvSpPr>
          <p:spPr>
            <a:xfrm>
              <a:off x="6578795" y="3315004"/>
              <a:ext cx="224700" cy="1029600"/>
            </a:xfrm>
            <a:prstGeom prst="trapezoid">
              <a:avLst>
                <a:gd fmla="val 25000" name="adj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44" name="Google Shape;1444;p90"/>
            <p:cNvCxnSpPr/>
            <p:nvPr/>
          </p:nvCxnSpPr>
          <p:spPr>
            <a:xfrm flipH="1">
              <a:off x="6094596" y="3160998"/>
              <a:ext cx="1202400" cy="325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5" name="Google Shape;1445;p90"/>
            <p:cNvSpPr/>
            <p:nvPr/>
          </p:nvSpPr>
          <p:spPr>
            <a:xfrm flipH="1">
              <a:off x="7034944" y="3160998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46" name="Google Shape;1446;p90"/>
            <p:cNvCxnSpPr/>
            <p:nvPr/>
          </p:nvCxnSpPr>
          <p:spPr>
            <a:xfrm rot="10800000">
              <a:off x="6957830" y="3831226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7" name="Google Shape;1447;p90"/>
            <p:cNvSpPr/>
            <p:nvPr/>
          </p:nvSpPr>
          <p:spPr>
            <a:xfrm flipH="1">
              <a:off x="5830833" y="3486179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48" name="Google Shape;1448;p90"/>
            <p:cNvCxnSpPr/>
            <p:nvPr/>
          </p:nvCxnSpPr>
          <p:spPr>
            <a:xfrm rot="10800000">
              <a:off x="5753726" y="4156401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49" name="Google Shape;1449;p90"/>
          <p:cNvGrpSpPr/>
          <p:nvPr/>
        </p:nvGrpSpPr>
        <p:grpSpPr>
          <a:xfrm>
            <a:off x="323991" y="1282525"/>
            <a:ext cx="457200" cy="457200"/>
            <a:chOff x="1020916" y="1442088"/>
            <a:chExt cx="457200" cy="457200"/>
          </a:xfrm>
        </p:grpSpPr>
        <p:pic>
          <p:nvPicPr>
            <p:cNvPr id="1450" name="Google Shape;1450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1" name="Google Shape;1451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2" name="Google Shape;1452;p90"/>
          <p:cNvGrpSpPr/>
          <p:nvPr/>
        </p:nvGrpSpPr>
        <p:grpSpPr>
          <a:xfrm>
            <a:off x="323991" y="2571750"/>
            <a:ext cx="457200" cy="457200"/>
            <a:chOff x="1020916" y="1442088"/>
            <a:chExt cx="457200" cy="457200"/>
          </a:xfrm>
        </p:grpSpPr>
        <p:pic>
          <p:nvPicPr>
            <p:cNvPr id="1453" name="Google Shape;1453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4" name="Google Shape;1454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5" name="Google Shape;1455;p90"/>
          <p:cNvGrpSpPr/>
          <p:nvPr/>
        </p:nvGrpSpPr>
        <p:grpSpPr>
          <a:xfrm>
            <a:off x="323991" y="3860975"/>
            <a:ext cx="457200" cy="457200"/>
            <a:chOff x="1020916" y="1442088"/>
            <a:chExt cx="457200" cy="457200"/>
          </a:xfrm>
        </p:grpSpPr>
        <p:pic>
          <p:nvPicPr>
            <p:cNvPr id="1456" name="Google Shape;1456;p9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7" name="Google Shape;1457;p9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58" name="Google Shape;1458;p90"/>
          <p:cNvSpPr/>
          <p:nvPr/>
        </p:nvSpPr>
        <p:spPr>
          <a:xfrm>
            <a:off x="899650" y="29915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59" name="Google Shape;1459;p90"/>
          <p:cNvSpPr/>
          <p:nvPr/>
        </p:nvSpPr>
        <p:spPr>
          <a:xfrm>
            <a:off x="925562" y="27500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460" name="Google Shape;1460;p90"/>
          <p:cNvGrpSpPr/>
          <p:nvPr/>
        </p:nvGrpSpPr>
        <p:grpSpPr>
          <a:xfrm>
            <a:off x="1183590" y="2785634"/>
            <a:ext cx="376934" cy="454896"/>
            <a:chOff x="4396891" y="2255566"/>
            <a:chExt cx="368100" cy="475584"/>
          </a:xfrm>
        </p:grpSpPr>
        <p:grpSp>
          <p:nvGrpSpPr>
            <p:cNvPr id="1461" name="Google Shape;1461;p90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462" name="Google Shape;1462;p90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3" name="Google Shape;1463;p90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64" name="Google Shape;1464;p90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90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66" name="Google Shape;1466;p90"/>
          <p:cNvGrpSpPr/>
          <p:nvPr/>
        </p:nvGrpSpPr>
        <p:grpSpPr>
          <a:xfrm>
            <a:off x="2569654" y="2807555"/>
            <a:ext cx="457217" cy="454896"/>
            <a:chOff x="4396891" y="2255566"/>
            <a:chExt cx="368100" cy="475584"/>
          </a:xfrm>
        </p:grpSpPr>
        <p:grpSp>
          <p:nvGrpSpPr>
            <p:cNvPr id="1467" name="Google Shape;1467;p90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468" name="Google Shape;1468;p90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9" name="Google Shape;1469;p90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70" name="Google Shape;1470;p90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90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80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72" name="Google Shape;1472;p90"/>
          <p:cNvSpPr/>
          <p:nvPr/>
        </p:nvSpPr>
        <p:spPr>
          <a:xfrm>
            <a:off x="3639206" y="31792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73" name="Google Shape;1473;p90"/>
          <p:cNvSpPr/>
          <p:nvPr/>
        </p:nvSpPr>
        <p:spPr>
          <a:xfrm>
            <a:off x="3665118" y="29377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474" name="Google Shape;1474;p90"/>
          <p:cNvGrpSpPr/>
          <p:nvPr/>
        </p:nvGrpSpPr>
        <p:grpSpPr>
          <a:xfrm>
            <a:off x="3891887" y="2973260"/>
            <a:ext cx="376934" cy="454896"/>
            <a:chOff x="4396891" y="2255566"/>
            <a:chExt cx="368100" cy="475584"/>
          </a:xfrm>
        </p:grpSpPr>
        <p:grpSp>
          <p:nvGrpSpPr>
            <p:cNvPr id="1475" name="Google Shape;1475;p90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476" name="Google Shape;1476;p90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7" name="Google Shape;1477;p90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78" name="Google Shape;1478;p90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90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80" name="Google Shape;1480;p90"/>
          <p:cNvGrpSpPr/>
          <p:nvPr/>
        </p:nvGrpSpPr>
        <p:grpSpPr>
          <a:xfrm>
            <a:off x="4190407" y="2973260"/>
            <a:ext cx="376934" cy="454896"/>
            <a:chOff x="4396891" y="2255566"/>
            <a:chExt cx="368100" cy="475584"/>
          </a:xfrm>
        </p:grpSpPr>
        <p:grpSp>
          <p:nvGrpSpPr>
            <p:cNvPr id="1481" name="Google Shape;1481;p90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482" name="Google Shape;1482;p90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3" name="Google Shape;1483;p90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84" name="Google Shape;1484;p90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90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86" name="Google Shape;1486;p90"/>
          <p:cNvSpPr/>
          <p:nvPr/>
        </p:nvSpPr>
        <p:spPr>
          <a:xfrm>
            <a:off x="6480885" y="29915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487" name="Google Shape;1487;p90"/>
          <p:cNvSpPr/>
          <p:nvPr/>
        </p:nvSpPr>
        <p:spPr>
          <a:xfrm>
            <a:off x="6506797" y="27500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488" name="Google Shape;1488;p90"/>
          <p:cNvGrpSpPr/>
          <p:nvPr/>
        </p:nvGrpSpPr>
        <p:grpSpPr>
          <a:xfrm>
            <a:off x="6733566" y="2785634"/>
            <a:ext cx="376934" cy="454896"/>
            <a:chOff x="4396891" y="2255566"/>
            <a:chExt cx="368100" cy="475584"/>
          </a:xfrm>
        </p:grpSpPr>
        <p:grpSp>
          <p:nvGrpSpPr>
            <p:cNvPr id="1489" name="Google Shape;1489;p90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490" name="Google Shape;1490;p90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1" name="Google Shape;1491;p90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92" name="Google Shape;1492;p90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90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494" name="Google Shape;1494;p90"/>
          <p:cNvGrpSpPr/>
          <p:nvPr/>
        </p:nvGrpSpPr>
        <p:grpSpPr>
          <a:xfrm>
            <a:off x="7032086" y="2785634"/>
            <a:ext cx="376934" cy="454896"/>
            <a:chOff x="4396891" y="2255566"/>
            <a:chExt cx="368100" cy="475584"/>
          </a:xfrm>
        </p:grpSpPr>
        <p:grpSp>
          <p:nvGrpSpPr>
            <p:cNvPr id="1495" name="Google Shape;1495;p90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496" name="Google Shape;1496;p90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7" name="Google Shape;1497;p90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498" name="Google Shape;1498;p90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90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00" name="Google Shape;1500;p90"/>
          <p:cNvGrpSpPr/>
          <p:nvPr/>
        </p:nvGrpSpPr>
        <p:grpSpPr>
          <a:xfrm>
            <a:off x="857319" y="1245140"/>
            <a:ext cx="2343532" cy="1042917"/>
            <a:chOff x="3679000" y="1380975"/>
            <a:chExt cx="4343896" cy="2543700"/>
          </a:xfrm>
        </p:grpSpPr>
        <p:sp>
          <p:nvSpPr>
            <p:cNvPr id="1501" name="Google Shape;1501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02" name="Google Shape;1502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3" name="Google Shape;1503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04" name="Google Shape;1504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05" name="Google Shape;1505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06" name="Google Shape;1506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07" name="Google Shape;1507;p90"/>
          <p:cNvGrpSpPr/>
          <p:nvPr/>
        </p:nvGrpSpPr>
        <p:grpSpPr>
          <a:xfrm>
            <a:off x="6454825" y="1224090"/>
            <a:ext cx="2343532" cy="1042917"/>
            <a:chOff x="3679000" y="1380975"/>
            <a:chExt cx="4343896" cy="2543700"/>
          </a:xfrm>
        </p:grpSpPr>
        <p:sp>
          <p:nvSpPr>
            <p:cNvPr id="1508" name="Google Shape;1508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09" name="Google Shape;1509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0" name="Google Shape;1510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1" name="Google Shape;1511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2" name="Google Shape;1512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3" name="Google Shape;1513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14" name="Google Shape;1514;p90"/>
          <p:cNvGrpSpPr/>
          <p:nvPr/>
        </p:nvGrpSpPr>
        <p:grpSpPr>
          <a:xfrm>
            <a:off x="3607555" y="1108750"/>
            <a:ext cx="2343544" cy="1167036"/>
            <a:chOff x="5753726" y="3160998"/>
            <a:chExt cx="1886304" cy="1183606"/>
          </a:xfrm>
        </p:grpSpPr>
        <p:sp>
          <p:nvSpPr>
            <p:cNvPr id="1515" name="Google Shape;1515;p90"/>
            <p:cNvSpPr/>
            <p:nvPr/>
          </p:nvSpPr>
          <p:spPr>
            <a:xfrm>
              <a:off x="6578795" y="3315004"/>
              <a:ext cx="224700" cy="1029600"/>
            </a:xfrm>
            <a:prstGeom prst="trapezoid">
              <a:avLst>
                <a:gd fmla="val 25000" name="adj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6" name="Google Shape;1516;p90"/>
            <p:cNvCxnSpPr/>
            <p:nvPr/>
          </p:nvCxnSpPr>
          <p:spPr>
            <a:xfrm flipH="1">
              <a:off x="6094596" y="3160998"/>
              <a:ext cx="1202400" cy="325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7" name="Google Shape;1517;p90"/>
            <p:cNvSpPr/>
            <p:nvPr/>
          </p:nvSpPr>
          <p:spPr>
            <a:xfrm flipH="1">
              <a:off x="7034944" y="3160998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18" name="Google Shape;1518;p90"/>
            <p:cNvCxnSpPr/>
            <p:nvPr/>
          </p:nvCxnSpPr>
          <p:spPr>
            <a:xfrm rot="10800000">
              <a:off x="6957830" y="3831226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19" name="Google Shape;1519;p90"/>
            <p:cNvSpPr/>
            <p:nvPr/>
          </p:nvSpPr>
          <p:spPr>
            <a:xfrm flipH="1">
              <a:off x="5830833" y="3486179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20" name="Google Shape;1520;p90"/>
            <p:cNvCxnSpPr/>
            <p:nvPr/>
          </p:nvCxnSpPr>
          <p:spPr>
            <a:xfrm rot="10800000">
              <a:off x="5753726" y="4156401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21" name="Google Shape;1521;p90"/>
          <p:cNvSpPr/>
          <p:nvPr/>
        </p:nvSpPr>
        <p:spPr>
          <a:xfrm>
            <a:off x="925547" y="16483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2" name="Google Shape;1522;p90"/>
          <p:cNvSpPr/>
          <p:nvPr/>
        </p:nvSpPr>
        <p:spPr>
          <a:xfrm>
            <a:off x="2388497" y="1655526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3" name="Google Shape;1523;p90"/>
          <p:cNvSpPr/>
          <p:nvPr/>
        </p:nvSpPr>
        <p:spPr>
          <a:xfrm>
            <a:off x="2745222" y="1655526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4" name="Google Shape;1524;p90"/>
          <p:cNvSpPr/>
          <p:nvPr/>
        </p:nvSpPr>
        <p:spPr>
          <a:xfrm>
            <a:off x="1277489" y="16453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5" name="Google Shape;1525;p90"/>
          <p:cNvSpPr/>
          <p:nvPr/>
        </p:nvSpPr>
        <p:spPr>
          <a:xfrm>
            <a:off x="1528289" y="16453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6" name="Google Shape;1526;p90"/>
          <p:cNvSpPr/>
          <p:nvPr/>
        </p:nvSpPr>
        <p:spPr>
          <a:xfrm>
            <a:off x="3652084" y="18147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7" name="Google Shape;1527;p90"/>
          <p:cNvSpPr/>
          <p:nvPr/>
        </p:nvSpPr>
        <p:spPr>
          <a:xfrm>
            <a:off x="3980439" y="18117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8" name="Google Shape;1528;p90"/>
          <p:cNvSpPr/>
          <p:nvPr/>
        </p:nvSpPr>
        <p:spPr>
          <a:xfrm>
            <a:off x="4231239" y="18117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29" name="Google Shape;1529;p90"/>
          <p:cNvSpPr/>
          <p:nvPr/>
        </p:nvSpPr>
        <p:spPr>
          <a:xfrm>
            <a:off x="3780822" y="1595984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0" name="Google Shape;1530;p90"/>
          <p:cNvSpPr/>
          <p:nvPr/>
        </p:nvSpPr>
        <p:spPr>
          <a:xfrm>
            <a:off x="3891864" y="13484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1" name="Google Shape;1531;p90"/>
          <p:cNvSpPr/>
          <p:nvPr/>
        </p:nvSpPr>
        <p:spPr>
          <a:xfrm>
            <a:off x="4127189" y="15929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2" name="Google Shape;1532;p90"/>
          <p:cNvSpPr/>
          <p:nvPr/>
        </p:nvSpPr>
        <p:spPr>
          <a:xfrm>
            <a:off x="5210922" y="149924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3" name="Google Shape;1533;p90"/>
          <p:cNvSpPr/>
          <p:nvPr/>
        </p:nvSpPr>
        <p:spPr>
          <a:xfrm>
            <a:off x="5567647" y="149924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4" name="Google Shape;1534;p90"/>
          <p:cNvSpPr/>
          <p:nvPr/>
        </p:nvSpPr>
        <p:spPr>
          <a:xfrm>
            <a:off x="1381539" y="14069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5" name="Google Shape;1535;p90"/>
          <p:cNvSpPr/>
          <p:nvPr/>
        </p:nvSpPr>
        <p:spPr>
          <a:xfrm>
            <a:off x="4127189" y="13484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6" name="Google Shape;1536;p90"/>
          <p:cNvSpPr/>
          <p:nvPr/>
        </p:nvSpPr>
        <p:spPr>
          <a:xfrm>
            <a:off x="3985689" y="11009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7" name="Google Shape;1537;p90"/>
          <p:cNvSpPr/>
          <p:nvPr/>
        </p:nvSpPr>
        <p:spPr>
          <a:xfrm>
            <a:off x="6537809" y="16453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8" name="Google Shape;1538;p90"/>
          <p:cNvSpPr/>
          <p:nvPr/>
        </p:nvSpPr>
        <p:spPr>
          <a:xfrm>
            <a:off x="6866164" y="16423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39" name="Google Shape;1539;p90"/>
          <p:cNvSpPr/>
          <p:nvPr/>
        </p:nvSpPr>
        <p:spPr>
          <a:xfrm>
            <a:off x="7116964" y="16423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0" name="Google Shape;1540;p90"/>
          <p:cNvSpPr/>
          <p:nvPr/>
        </p:nvSpPr>
        <p:spPr>
          <a:xfrm>
            <a:off x="6666547" y="1426509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1" name="Google Shape;1541;p90"/>
          <p:cNvSpPr/>
          <p:nvPr/>
        </p:nvSpPr>
        <p:spPr>
          <a:xfrm>
            <a:off x="6777589" y="11789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2" name="Google Shape;1542;p90"/>
          <p:cNvSpPr/>
          <p:nvPr/>
        </p:nvSpPr>
        <p:spPr>
          <a:xfrm>
            <a:off x="7012914" y="14234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3" name="Google Shape;1543;p90"/>
          <p:cNvSpPr/>
          <p:nvPr/>
        </p:nvSpPr>
        <p:spPr>
          <a:xfrm>
            <a:off x="7012914" y="11789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44" name="Google Shape;1544;p90"/>
          <p:cNvSpPr/>
          <p:nvPr/>
        </p:nvSpPr>
        <p:spPr>
          <a:xfrm>
            <a:off x="6871414" y="9314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45" name="Google Shape;1545;p90"/>
          <p:cNvGrpSpPr/>
          <p:nvPr/>
        </p:nvGrpSpPr>
        <p:grpSpPr>
          <a:xfrm>
            <a:off x="857319" y="3771896"/>
            <a:ext cx="2343532" cy="1042917"/>
            <a:chOff x="3679000" y="1380975"/>
            <a:chExt cx="4343896" cy="2543700"/>
          </a:xfrm>
        </p:grpSpPr>
        <p:sp>
          <p:nvSpPr>
            <p:cNvPr id="1546" name="Google Shape;1546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47" name="Google Shape;1547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48" name="Google Shape;1548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49" name="Google Shape;1549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0" name="Google Shape;1550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1" name="Google Shape;1551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52" name="Google Shape;1552;p90"/>
          <p:cNvGrpSpPr/>
          <p:nvPr/>
        </p:nvGrpSpPr>
        <p:grpSpPr>
          <a:xfrm>
            <a:off x="6454825" y="3750845"/>
            <a:ext cx="2343532" cy="1042917"/>
            <a:chOff x="3679000" y="1380975"/>
            <a:chExt cx="4343896" cy="2543700"/>
          </a:xfrm>
        </p:grpSpPr>
        <p:sp>
          <p:nvSpPr>
            <p:cNvPr id="1553" name="Google Shape;1553;p90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4" name="Google Shape;1554;p90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5" name="Google Shape;1555;p90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6" name="Google Shape;1556;p90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57" name="Google Shape;1557;p90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58" name="Google Shape;1558;p90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59" name="Google Shape;1559;p90"/>
          <p:cNvGrpSpPr/>
          <p:nvPr/>
        </p:nvGrpSpPr>
        <p:grpSpPr>
          <a:xfrm>
            <a:off x="3607555" y="3635505"/>
            <a:ext cx="2343544" cy="1167036"/>
            <a:chOff x="5753726" y="3160998"/>
            <a:chExt cx="1886304" cy="1183606"/>
          </a:xfrm>
        </p:grpSpPr>
        <p:sp>
          <p:nvSpPr>
            <p:cNvPr id="1560" name="Google Shape;1560;p90"/>
            <p:cNvSpPr/>
            <p:nvPr/>
          </p:nvSpPr>
          <p:spPr>
            <a:xfrm>
              <a:off x="6578795" y="3315004"/>
              <a:ext cx="224700" cy="1029600"/>
            </a:xfrm>
            <a:prstGeom prst="trapezoid">
              <a:avLst>
                <a:gd fmla="val 25000" name="adj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1" name="Google Shape;1561;p90"/>
            <p:cNvCxnSpPr/>
            <p:nvPr/>
          </p:nvCxnSpPr>
          <p:spPr>
            <a:xfrm flipH="1">
              <a:off x="6094596" y="3160998"/>
              <a:ext cx="1202400" cy="325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2" name="Google Shape;1562;p90"/>
            <p:cNvSpPr/>
            <p:nvPr/>
          </p:nvSpPr>
          <p:spPr>
            <a:xfrm flipH="1">
              <a:off x="7034944" y="3160998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3" name="Google Shape;1563;p90"/>
            <p:cNvCxnSpPr/>
            <p:nvPr/>
          </p:nvCxnSpPr>
          <p:spPr>
            <a:xfrm rot="10800000">
              <a:off x="6957830" y="3831226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564" name="Google Shape;1564;p90"/>
            <p:cNvSpPr/>
            <p:nvPr/>
          </p:nvSpPr>
          <p:spPr>
            <a:xfrm flipH="1">
              <a:off x="5830833" y="3486179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565" name="Google Shape;1565;p90"/>
            <p:cNvCxnSpPr/>
            <p:nvPr/>
          </p:nvCxnSpPr>
          <p:spPr>
            <a:xfrm rot="10800000">
              <a:off x="5753726" y="4156401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66" name="Google Shape;1566;p90"/>
          <p:cNvSpPr/>
          <p:nvPr/>
        </p:nvSpPr>
        <p:spPr>
          <a:xfrm>
            <a:off x="2236021" y="4182613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67" name="Google Shape;1567;p90"/>
          <p:cNvSpPr/>
          <p:nvPr/>
        </p:nvSpPr>
        <p:spPr>
          <a:xfrm>
            <a:off x="2271262" y="395951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68" name="Google Shape;1568;p90"/>
          <p:cNvGrpSpPr/>
          <p:nvPr/>
        </p:nvGrpSpPr>
        <p:grpSpPr>
          <a:xfrm>
            <a:off x="2816044" y="3980666"/>
            <a:ext cx="408256" cy="454888"/>
            <a:chOff x="4420145" y="2255566"/>
            <a:chExt cx="379844" cy="475575"/>
          </a:xfrm>
        </p:grpSpPr>
        <p:grpSp>
          <p:nvGrpSpPr>
            <p:cNvPr id="1569" name="Google Shape;1569;p90"/>
            <p:cNvGrpSpPr/>
            <p:nvPr/>
          </p:nvGrpSpPr>
          <p:grpSpPr>
            <a:xfrm>
              <a:off x="4537782" y="2255566"/>
              <a:ext cx="172800" cy="190800"/>
              <a:chOff x="4516645" y="2241474"/>
              <a:chExt cx="172800" cy="190800"/>
            </a:xfrm>
          </p:grpSpPr>
          <p:sp>
            <p:nvSpPr>
              <p:cNvPr id="1570" name="Google Shape;1570;p90"/>
              <p:cNvSpPr/>
              <p:nvPr/>
            </p:nvSpPr>
            <p:spPr>
              <a:xfrm>
                <a:off x="4516645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1" name="Google Shape;1571;p90"/>
              <p:cNvSpPr/>
              <p:nvPr/>
            </p:nvSpPr>
            <p:spPr>
              <a:xfrm>
                <a:off x="4532907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72" name="Google Shape;1572;p90"/>
            <p:cNvSpPr/>
            <p:nvPr/>
          </p:nvSpPr>
          <p:spPr>
            <a:xfrm>
              <a:off x="4431889" y="2420341"/>
              <a:ext cx="3681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90"/>
            <p:cNvSpPr txBox="1"/>
            <p:nvPr/>
          </p:nvSpPr>
          <p:spPr>
            <a:xfrm>
              <a:off x="4420145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100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74" name="Google Shape;1574;p90"/>
          <p:cNvSpPr/>
          <p:nvPr/>
        </p:nvSpPr>
        <p:spPr>
          <a:xfrm>
            <a:off x="2533924" y="419924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75" name="Google Shape;1575;p90"/>
          <p:cNvSpPr/>
          <p:nvPr/>
        </p:nvSpPr>
        <p:spPr>
          <a:xfrm>
            <a:off x="2526862" y="395951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76" name="Google Shape;1576;p90"/>
          <p:cNvSpPr/>
          <p:nvPr/>
        </p:nvSpPr>
        <p:spPr>
          <a:xfrm>
            <a:off x="858756" y="419924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77" name="Google Shape;1577;p90"/>
          <p:cNvSpPr/>
          <p:nvPr/>
        </p:nvSpPr>
        <p:spPr>
          <a:xfrm>
            <a:off x="896968" y="39595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78" name="Google Shape;1578;p90"/>
          <p:cNvSpPr/>
          <p:nvPr/>
        </p:nvSpPr>
        <p:spPr>
          <a:xfrm>
            <a:off x="5170437" y="404046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79" name="Google Shape;1579;p90"/>
          <p:cNvGrpSpPr/>
          <p:nvPr/>
        </p:nvGrpSpPr>
        <p:grpSpPr>
          <a:xfrm>
            <a:off x="5308467" y="2640780"/>
            <a:ext cx="457217" cy="454896"/>
            <a:chOff x="4396891" y="2255566"/>
            <a:chExt cx="368100" cy="475584"/>
          </a:xfrm>
        </p:grpSpPr>
        <p:grpSp>
          <p:nvGrpSpPr>
            <p:cNvPr id="1580" name="Google Shape;1580;p90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581" name="Google Shape;1581;p90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90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83" name="Google Shape;1583;p90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90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80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85" name="Google Shape;1585;p90"/>
          <p:cNvGrpSpPr/>
          <p:nvPr/>
        </p:nvGrpSpPr>
        <p:grpSpPr>
          <a:xfrm>
            <a:off x="1187919" y="3980666"/>
            <a:ext cx="408256" cy="454888"/>
            <a:chOff x="4420145" y="2255566"/>
            <a:chExt cx="379844" cy="475575"/>
          </a:xfrm>
        </p:grpSpPr>
        <p:grpSp>
          <p:nvGrpSpPr>
            <p:cNvPr id="1586" name="Google Shape;1586;p90"/>
            <p:cNvGrpSpPr/>
            <p:nvPr/>
          </p:nvGrpSpPr>
          <p:grpSpPr>
            <a:xfrm>
              <a:off x="4537782" y="2255566"/>
              <a:ext cx="172800" cy="190800"/>
              <a:chOff x="4516645" y="2241474"/>
              <a:chExt cx="172800" cy="190800"/>
            </a:xfrm>
          </p:grpSpPr>
          <p:sp>
            <p:nvSpPr>
              <p:cNvPr id="1587" name="Google Shape;1587;p90"/>
              <p:cNvSpPr/>
              <p:nvPr/>
            </p:nvSpPr>
            <p:spPr>
              <a:xfrm>
                <a:off x="4516645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8" name="Google Shape;1588;p90"/>
              <p:cNvSpPr/>
              <p:nvPr/>
            </p:nvSpPr>
            <p:spPr>
              <a:xfrm>
                <a:off x="4532907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89" name="Google Shape;1589;p90"/>
            <p:cNvSpPr/>
            <p:nvPr/>
          </p:nvSpPr>
          <p:spPr>
            <a:xfrm>
              <a:off x="4431889" y="2420341"/>
              <a:ext cx="3681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90"/>
            <p:cNvSpPr txBox="1"/>
            <p:nvPr/>
          </p:nvSpPr>
          <p:spPr>
            <a:xfrm>
              <a:off x="4420145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91" name="Google Shape;1591;p90"/>
          <p:cNvSpPr/>
          <p:nvPr/>
        </p:nvSpPr>
        <p:spPr>
          <a:xfrm>
            <a:off x="3553881" y="435164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592" name="Google Shape;1592;p90"/>
          <p:cNvSpPr/>
          <p:nvPr/>
        </p:nvSpPr>
        <p:spPr>
          <a:xfrm>
            <a:off x="3592093" y="41119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593" name="Google Shape;1593;p90"/>
          <p:cNvGrpSpPr/>
          <p:nvPr/>
        </p:nvGrpSpPr>
        <p:grpSpPr>
          <a:xfrm>
            <a:off x="3806844" y="4147354"/>
            <a:ext cx="408256" cy="454888"/>
            <a:chOff x="4420145" y="2255566"/>
            <a:chExt cx="379844" cy="475575"/>
          </a:xfrm>
        </p:grpSpPr>
        <p:grpSp>
          <p:nvGrpSpPr>
            <p:cNvPr id="1594" name="Google Shape;1594;p90"/>
            <p:cNvGrpSpPr/>
            <p:nvPr/>
          </p:nvGrpSpPr>
          <p:grpSpPr>
            <a:xfrm>
              <a:off x="4537782" y="2255566"/>
              <a:ext cx="172800" cy="190800"/>
              <a:chOff x="4516645" y="2241474"/>
              <a:chExt cx="172800" cy="190800"/>
            </a:xfrm>
          </p:grpSpPr>
          <p:sp>
            <p:nvSpPr>
              <p:cNvPr id="1595" name="Google Shape;1595;p90"/>
              <p:cNvSpPr/>
              <p:nvPr/>
            </p:nvSpPr>
            <p:spPr>
              <a:xfrm>
                <a:off x="4516645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6" name="Google Shape;1596;p90"/>
              <p:cNvSpPr/>
              <p:nvPr/>
            </p:nvSpPr>
            <p:spPr>
              <a:xfrm>
                <a:off x="4532907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97" name="Google Shape;1597;p90"/>
            <p:cNvSpPr/>
            <p:nvPr/>
          </p:nvSpPr>
          <p:spPr>
            <a:xfrm>
              <a:off x="4431889" y="2420341"/>
              <a:ext cx="3681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90"/>
            <p:cNvSpPr txBox="1"/>
            <p:nvPr/>
          </p:nvSpPr>
          <p:spPr>
            <a:xfrm>
              <a:off x="4420145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599" name="Google Shape;1599;p90"/>
          <p:cNvGrpSpPr/>
          <p:nvPr/>
        </p:nvGrpSpPr>
        <p:grpSpPr>
          <a:xfrm>
            <a:off x="8326014" y="4025953"/>
            <a:ext cx="376934" cy="382322"/>
            <a:chOff x="4396891" y="2255566"/>
            <a:chExt cx="368100" cy="475584"/>
          </a:xfrm>
        </p:grpSpPr>
        <p:grpSp>
          <p:nvGrpSpPr>
            <p:cNvPr id="1600" name="Google Shape;1600;p90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601" name="Google Shape;1601;p90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2" name="Google Shape;1602;p90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03" name="Google Shape;1603;p90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90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605" name="Google Shape;1605;p90"/>
          <p:cNvSpPr/>
          <p:nvPr/>
        </p:nvSpPr>
        <p:spPr>
          <a:xfrm>
            <a:off x="7975562" y="417059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6" name="Google Shape;1606;p90"/>
          <p:cNvSpPr/>
          <p:nvPr/>
        </p:nvSpPr>
        <p:spPr>
          <a:xfrm>
            <a:off x="5259162" y="379431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07" name="Google Shape;1607;p90"/>
          <p:cNvSpPr/>
          <p:nvPr/>
        </p:nvSpPr>
        <p:spPr>
          <a:xfrm>
            <a:off x="8022037" y="390966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08" name="Google Shape;1608;p90"/>
          <p:cNvGrpSpPr/>
          <p:nvPr/>
        </p:nvGrpSpPr>
        <p:grpSpPr>
          <a:xfrm>
            <a:off x="5542939" y="3898416"/>
            <a:ext cx="376934" cy="382322"/>
            <a:chOff x="4396891" y="2255566"/>
            <a:chExt cx="368100" cy="475584"/>
          </a:xfrm>
        </p:grpSpPr>
        <p:grpSp>
          <p:nvGrpSpPr>
            <p:cNvPr id="1609" name="Google Shape;1609;p90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610" name="Google Shape;1610;p90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1" name="Google Shape;1611;p90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12" name="Google Shape;1612;p90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90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614" name="Google Shape;1614;p90"/>
          <p:cNvCxnSpPr/>
          <p:nvPr/>
        </p:nvCxnSpPr>
        <p:spPr>
          <a:xfrm>
            <a:off x="3073750" y="13072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5" name="Google Shape;1615;p90"/>
          <p:cNvCxnSpPr/>
          <p:nvPr/>
        </p:nvCxnSpPr>
        <p:spPr>
          <a:xfrm>
            <a:off x="5873500" y="13072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6" name="Google Shape;1616;p90"/>
          <p:cNvCxnSpPr/>
          <p:nvPr/>
        </p:nvCxnSpPr>
        <p:spPr>
          <a:xfrm>
            <a:off x="3073750" y="26788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7" name="Google Shape;1617;p90"/>
          <p:cNvCxnSpPr/>
          <p:nvPr/>
        </p:nvCxnSpPr>
        <p:spPr>
          <a:xfrm>
            <a:off x="5873500" y="26788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8" name="Google Shape;1618;p90"/>
          <p:cNvCxnSpPr/>
          <p:nvPr/>
        </p:nvCxnSpPr>
        <p:spPr>
          <a:xfrm>
            <a:off x="3073750" y="38980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9" name="Google Shape;1619;p90"/>
          <p:cNvCxnSpPr/>
          <p:nvPr/>
        </p:nvCxnSpPr>
        <p:spPr>
          <a:xfrm>
            <a:off x="5873500" y="38980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0" name="Google Shape;1620;p90"/>
          <p:cNvSpPr/>
          <p:nvPr/>
        </p:nvSpPr>
        <p:spPr>
          <a:xfrm>
            <a:off x="6506793" y="41826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21" name="Google Shape;1621;p90"/>
          <p:cNvGrpSpPr/>
          <p:nvPr/>
        </p:nvGrpSpPr>
        <p:grpSpPr>
          <a:xfrm>
            <a:off x="6833446" y="3957497"/>
            <a:ext cx="408256" cy="454888"/>
            <a:chOff x="4420145" y="2255566"/>
            <a:chExt cx="379844" cy="475575"/>
          </a:xfrm>
        </p:grpSpPr>
        <p:grpSp>
          <p:nvGrpSpPr>
            <p:cNvPr id="1622" name="Google Shape;1622;p90"/>
            <p:cNvGrpSpPr/>
            <p:nvPr/>
          </p:nvGrpSpPr>
          <p:grpSpPr>
            <a:xfrm>
              <a:off x="4537782" y="2255566"/>
              <a:ext cx="172800" cy="190800"/>
              <a:chOff x="4516645" y="2241474"/>
              <a:chExt cx="172800" cy="190800"/>
            </a:xfrm>
          </p:grpSpPr>
          <p:sp>
            <p:nvSpPr>
              <p:cNvPr id="1623" name="Google Shape;1623;p90"/>
              <p:cNvSpPr/>
              <p:nvPr/>
            </p:nvSpPr>
            <p:spPr>
              <a:xfrm>
                <a:off x="4516645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4" name="Google Shape;1624;p90"/>
              <p:cNvSpPr/>
              <p:nvPr/>
            </p:nvSpPr>
            <p:spPr>
              <a:xfrm>
                <a:off x="4532907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625" name="Google Shape;1625;p90"/>
            <p:cNvSpPr/>
            <p:nvPr/>
          </p:nvSpPr>
          <p:spPr>
            <a:xfrm>
              <a:off x="4431889" y="2420341"/>
              <a:ext cx="3681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90"/>
            <p:cNvSpPr txBox="1"/>
            <p:nvPr/>
          </p:nvSpPr>
          <p:spPr>
            <a:xfrm>
              <a:off x="4420145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?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0" name="Shape 1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1" name="Google Shape;1631;p91"/>
          <p:cNvSpPr txBox="1"/>
          <p:nvPr>
            <p:ph idx="1" type="body"/>
          </p:nvPr>
        </p:nvSpPr>
        <p:spPr>
          <a:xfrm>
            <a:off x="324000" y="740163"/>
            <a:ext cx="84960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Complete each balance scale so the left and right hand sides are balanced.</a:t>
            </a:r>
            <a:endParaRPr sz="1800"/>
          </a:p>
        </p:txBody>
      </p:sp>
      <p:sp>
        <p:nvSpPr>
          <p:cNvPr id="1632" name="Google Shape;163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grpSp>
        <p:nvGrpSpPr>
          <p:cNvPr id="1633" name="Google Shape;1633;p91"/>
          <p:cNvGrpSpPr/>
          <p:nvPr/>
        </p:nvGrpSpPr>
        <p:grpSpPr>
          <a:xfrm>
            <a:off x="323991" y="1511125"/>
            <a:ext cx="457200" cy="457200"/>
            <a:chOff x="1020916" y="1442088"/>
            <a:chExt cx="457200" cy="457200"/>
          </a:xfrm>
        </p:grpSpPr>
        <p:pic>
          <p:nvPicPr>
            <p:cNvPr id="1634" name="Google Shape;1634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35" name="Google Shape;163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36" name="Google Shape;1636;p91"/>
          <p:cNvGrpSpPr/>
          <p:nvPr/>
        </p:nvGrpSpPr>
        <p:grpSpPr>
          <a:xfrm>
            <a:off x="857319" y="1473740"/>
            <a:ext cx="2343532" cy="1042917"/>
            <a:chOff x="3679000" y="1380975"/>
            <a:chExt cx="4343896" cy="2543700"/>
          </a:xfrm>
        </p:grpSpPr>
        <p:sp>
          <p:nvSpPr>
            <p:cNvPr id="1637" name="Google Shape;1637;p9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38" name="Google Shape;1638;p9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39" name="Google Shape;1639;p9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0" name="Google Shape;1640;p9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1" name="Google Shape;1641;p9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2" name="Google Shape;1642;p9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43" name="Google Shape;1643;p91"/>
          <p:cNvGrpSpPr/>
          <p:nvPr/>
        </p:nvGrpSpPr>
        <p:grpSpPr>
          <a:xfrm>
            <a:off x="6454825" y="1452690"/>
            <a:ext cx="2343532" cy="1042917"/>
            <a:chOff x="3679000" y="1380975"/>
            <a:chExt cx="4343896" cy="2543700"/>
          </a:xfrm>
        </p:grpSpPr>
        <p:sp>
          <p:nvSpPr>
            <p:cNvPr id="1644" name="Google Shape;1644;p9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5" name="Google Shape;1645;p9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6" name="Google Shape;1646;p9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7" name="Google Shape;1647;p9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48" name="Google Shape;1648;p9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9" name="Google Shape;1649;p9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50" name="Google Shape;1650;p91"/>
          <p:cNvGrpSpPr/>
          <p:nvPr/>
        </p:nvGrpSpPr>
        <p:grpSpPr>
          <a:xfrm>
            <a:off x="3607555" y="1337350"/>
            <a:ext cx="2343544" cy="1167036"/>
            <a:chOff x="5753726" y="3160998"/>
            <a:chExt cx="1886304" cy="1183606"/>
          </a:xfrm>
        </p:grpSpPr>
        <p:sp>
          <p:nvSpPr>
            <p:cNvPr id="1651" name="Google Shape;1651;p91"/>
            <p:cNvSpPr/>
            <p:nvPr/>
          </p:nvSpPr>
          <p:spPr>
            <a:xfrm>
              <a:off x="6578795" y="3315004"/>
              <a:ext cx="224700" cy="1029600"/>
            </a:xfrm>
            <a:prstGeom prst="trapezoid">
              <a:avLst>
                <a:gd fmla="val 25000" name="adj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52" name="Google Shape;1652;p91"/>
            <p:cNvCxnSpPr/>
            <p:nvPr/>
          </p:nvCxnSpPr>
          <p:spPr>
            <a:xfrm flipH="1">
              <a:off x="6094596" y="3160998"/>
              <a:ext cx="1202400" cy="325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3" name="Google Shape;1653;p91"/>
            <p:cNvSpPr/>
            <p:nvPr/>
          </p:nvSpPr>
          <p:spPr>
            <a:xfrm flipH="1">
              <a:off x="7034944" y="3160998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54" name="Google Shape;1654;p91"/>
            <p:cNvCxnSpPr/>
            <p:nvPr/>
          </p:nvCxnSpPr>
          <p:spPr>
            <a:xfrm rot="10800000">
              <a:off x="6957830" y="3831226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55" name="Google Shape;1655;p91"/>
            <p:cNvSpPr/>
            <p:nvPr/>
          </p:nvSpPr>
          <p:spPr>
            <a:xfrm flipH="1">
              <a:off x="5830833" y="3486179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56" name="Google Shape;1656;p91"/>
            <p:cNvCxnSpPr/>
            <p:nvPr/>
          </p:nvCxnSpPr>
          <p:spPr>
            <a:xfrm rot="10800000">
              <a:off x="5753726" y="4156401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657" name="Google Shape;1657;p91"/>
          <p:cNvSpPr/>
          <p:nvPr/>
        </p:nvSpPr>
        <p:spPr>
          <a:xfrm>
            <a:off x="925547" y="18769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58" name="Google Shape;1658;p91"/>
          <p:cNvSpPr/>
          <p:nvPr/>
        </p:nvSpPr>
        <p:spPr>
          <a:xfrm>
            <a:off x="2388497" y="1884126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59" name="Google Shape;1659;p91"/>
          <p:cNvSpPr/>
          <p:nvPr/>
        </p:nvSpPr>
        <p:spPr>
          <a:xfrm>
            <a:off x="2745222" y="1884126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0" name="Google Shape;1660;p91"/>
          <p:cNvSpPr/>
          <p:nvPr/>
        </p:nvSpPr>
        <p:spPr>
          <a:xfrm>
            <a:off x="1277489" y="18739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1" name="Google Shape;1661;p91"/>
          <p:cNvSpPr/>
          <p:nvPr/>
        </p:nvSpPr>
        <p:spPr>
          <a:xfrm>
            <a:off x="1528289" y="18739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2" name="Google Shape;1662;p91"/>
          <p:cNvSpPr/>
          <p:nvPr/>
        </p:nvSpPr>
        <p:spPr>
          <a:xfrm>
            <a:off x="3652084" y="20433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3" name="Google Shape;1663;p91"/>
          <p:cNvSpPr/>
          <p:nvPr/>
        </p:nvSpPr>
        <p:spPr>
          <a:xfrm>
            <a:off x="3980439" y="20403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4" name="Google Shape;1664;p91"/>
          <p:cNvSpPr/>
          <p:nvPr/>
        </p:nvSpPr>
        <p:spPr>
          <a:xfrm>
            <a:off x="4231239" y="20403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5" name="Google Shape;1665;p91"/>
          <p:cNvSpPr/>
          <p:nvPr/>
        </p:nvSpPr>
        <p:spPr>
          <a:xfrm>
            <a:off x="3780822" y="1824584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6" name="Google Shape;1666;p91"/>
          <p:cNvSpPr/>
          <p:nvPr/>
        </p:nvSpPr>
        <p:spPr>
          <a:xfrm>
            <a:off x="3891864" y="15770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7" name="Google Shape;1667;p91"/>
          <p:cNvSpPr/>
          <p:nvPr/>
        </p:nvSpPr>
        <p:spPr>
          <a:xfrm>
            <a:off x="4127189" y="18215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8" name="Google Shape;1668;p91"/>
          <p:cNvSpPr/>
          <p:nvPr/>
        </p:nvSpPr>
        <p:spPr>
          <a:xfrm>
            <a:off x="5210922" y="172784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69" name="Google Shape;1669;p91"/>
          <p:cNvSpPr/>
          <p:nvPr/>
        </p:nvSpPr>
        <p:spPr>
          <a:xfrm>
            <a:off x="5567647" y="172784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0" name="Google Shape;1670;p91"/>
          <p:cNvSpPr/>
          <p:nvPr/>
        </p:nvSpPr>
        <p:spPr>
          <a:xfrm>
            <a:off x="1381539" y="16355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1" name="Google Shape;1671;p91"/>
          <p:cNvSpPr/>
          <p:nvPr/>
        </p:nvSpPr>
        <p:spPr>
          <a:xfrm>
            <a:off x="4127189" y="15770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2" name="Google Shape;1672;p91"/>
          <p:cNvSpPr/>
          <p:nvPr/>
        </p:nvSpPr>
        <p:spPr>
          <a:xfrm>
            <a:off x="3985689" y="13295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3" name="Google Shape;1673;p91"/>
          <p:cNvSpPr/>
          <p:nvPr/>
        </p:nvSpPr>
        <p:spPr>
          <a:xfrm>
            <a:off x="6537809" y="18739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4" name="Google Shape;1674;p91"/>
          <p:cNvSpPr/>
          <p:nvPr/>
        </p:nvSpPr>
        <p:spPr>
          <a:xfrm>
            <a:off x="6866164" y="18709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5" name="Google Shape;1675;p91"/>
          <p:cNvSpPr/>
          <p:nvPr/>
        </p:nvSpPr>
        <p:spPr>
          <a:xfrm>
            <a:off x="7116964" y="18709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6" name="Google Shape;1676;p91"/>
          <p:cNvSpPr/>
          <p:nvPr/>
        </p:nvSpPr>
        <p:spPr>
          <a:xfrm>
            <a:off x="6666547" y="1655109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7" name="Google Shape;1677;p91"/>
          <p:cNvSpPr/>
          <p:nvPr/>
        </p:nvSpPr>
        <p:spPr>
          <a:xfrm>
            <a:off x="6777589" y="14075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8" name="Google Shape;1678;p91"/>
          <p:cNvSpPr/>
          <p:nvPr/>
        </p:nvSpPr>
        <p:spPr>
          <a:xfrm>
            <a:off x="7012914" y="16520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79" name="Google Shape;1679;p91"/>
          <p:cNvSpPr/>
          <p:nvPr/>
        </p:nvSpPr>
        <p:spPr>
          <a:xfrm>
            <a:off x="7012914" y="14075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0" name="Google Shape;1680;p91"/>
          <p:cNvSpPr/>
          <p:nvPr/>
        </p:nvSpPr>
        <p:spPr>
          <a:xfrm>
            <a:off x="6871414" y="11600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1" name="Google Shape;1681;p91"/>
          <p:cNvSpPr/>
          <p:nvPr/>
        </p:nvSpPr>
        <p:spPr>
          <a:xfrm>
            <a:off x="8070197" y="18739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2" name="Google Shape;1682;p91"/>
          <p:cNvSpPr/>
          <p:nvPr/>
        </p:nvSpPr>
        <p:spPr>
          <a:xfrm>
            <a:off x="8426922" y="18739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683" name="Google Shape;1683;p91"/>
          <p:cNvCxnSpPr/>
          <p:nvPr/>
        </p:nvCxnSpPr>
        <p:spPr>
          <a:xfrm>
            <a:off x="3073750" y="15358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4" name="Google Shape;1684;p91"/>
          <p:cNvCxnSpPr/>
          <p:nvPr/>
        </p:nvCxnSpPr>
        <p:spPr>
          <a:xfrm>
            <a:off x="5873500" y="15358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85" name="Google Shape;1685;p91"/>
          <p:cNvSpPr txBox="1"/>
          <p:nvPr>
            <p:ph idx="1" type="body"/>
          </p:nvPr>
        </p:nvSpPr>
        <p:spPr>
          <a:xfrm>
            <a:off x="5974363" y="1186925"/>
            <a:ext cx="4572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6" name="Google Shape;1686;p91"/>
          <p:cNvSpPr/>
          <p:nvPr/>
        </p:nvSpPr>
        <p:spPr>
          <a:xfrm>
            <a:off x="8122172" y="161897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687" name="Google Shape;1687;p91"/>
          <p:cNvSpPr/>
          <p:nvPr/>
        </p:nvSpPr>
        <p:spPr>
          <a:xfrm>
            <a:off x="8478897" y="161897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688" name="Google Shape;1688;p91"/>
          <p:cNvGrpSpPr/>
          <p:nvPr/>
        </p:nvGrpSpPr>
        <p:grpSpPr>
          <a:xfrm>
            <a:off x="323991" y="3339925"/>
            <a:ext cx="457200" cy="457200"/>
            <a:chOff x="1020916" y="1442088"/>
            <a:chExt cx="457200" cy="457200"/>
          </a:xfrm>
        </p:grpSpPr>
        <p:pic>
          <p:nvPicPr>
            <p:cNvPr id="1689" name="Google Shape;1689;p9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0" name="Google Shape;1690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91" name="Google Shape;1691;p91"/>
          <p:cNvGrpSpPr/>
          <p:nvPr/>
        </p:nvGrpSpPr>
        <p:grpSpPr>
          <a:xfrm>
            <a:off x="857319" y="3302540"/>
            <a:ext cx="2343532" cy="1042917"/>
            <a:chOff x="3679000" y="1380975"/>
            <a:chExt cx="4343896" cy="2543700"/>
          </a:xfrm>
        </p:grpSpPr>
        <p:sp>
          <p:nvSpPr>
            <p:cNvPr id="1692" name="Google Shape;1692;p9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3" name="Google Shape;1693;p9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4" name="Google Shape;1694;p9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5" name="Google Shape;1695;p9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696" name="Google Shape;1696;p9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97" name="Google Shape;1697;p9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98" name="Google Shape;1698;p91"/>
          <p:cNvGrpSpPr/>
          <p:nvPr/>
        </p:nvGrpSpPr>
        <p:grpSpPr>
          <a:xfrm>
            <a:off x="6454825" y="3281490"/>
            <a:ext cx="2343532" cy="1042917"/>
            <a:chOff x="3679000" y="1380975"/>
            <a:chExt cx="4343896" cy="2543700"/>
          </a:xfrm>
        </p:grpSpPr>
        <p:sp>
          <p:nvSpPr>
            <p:cNvPr id="1699" name="Google Shape;1699;p91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0" name="Google Shape;1700;p91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1" name="Google Shape;1701;p91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2" name="Google Shape;1702;p91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3" name="Google Shape;1703;p91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4" name="Google Shape;1704;p91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05" name="Google Shape;1705;p91"/>
          <p:cNvGrpSpPr/>
          <p:nvPr/>
        </p:nvGrpSpPr>
        <p:grpSpPr>
          <a:xfrm>
            <a:off x="3607555" y="3166150"/>
            <a:ext cx="2343544" cy="1167036"/>
            <a:chOff x="5753726" y="3160998"/>
            <a:chExt cx="1886304" cy="1183606"/>
          </a:xfrm>
        </p:grpSpPr>
        <p:sp>
          <p:nvSpPr>
            <p:cNvPr id="1706" name="Google Shape;1706;p91"/>
            <p:cNvSpPr/>
            <p:nvPr/>
          </p:nvSpPr>
          <p:spPr>
            <a:xfrm>
              <a:off x="6578795" y="3315004"/>
              <a:ext cx="224700" cy="1029600"/>
            </a:xfrm>
            <a:prstGeom prst="trapezoid">
              <a:avLst>
                <a:gd fmla="val 25000" name="adj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7" name="Google Shape;1707;p91"/>
            <p:cNvCxnSpPr/>
            <p:nvPr/>
          </p:nvCxnSpPr>
          <p:spPr>
            <a:xfrm flipH="1">
              <a:off x="6094596" y="3160998"/>
              <a:ext cx="1202400" cy="325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08" name="Google Shape;1708;p91"/>
            <p:cNvSpPr/>
            <p:nvPr/>
          </p:nvSpPr>
          <p:spPr>
            <a:xfrm flipH="1">
              <a:off x="7034944" y="3160998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09" name="Google Shape;1709;p91"/>
            <p:cNvCxnSpPr/>
            <p:nvPr/>
          </p:nvCxnSpPr>
          <p:spPr>
            <a:xfrm rot="10800000">
              <a:off x="6957830" y="3831226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10" name="Google Shape;1710;p91"/>
            <p:cNvSpPr/>
            <p:nvPr/>
          </p:nvSpPr>
          <p:spPr>
            <a:xfrm flipH="1">
              <a:off x="5830833" y="3486179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11" name="Google Shape;1711;p91"/>
            <p:cNvCxnSpPr/>
            <p:nvPr/>
          </p:nvCxnSpPr>
          <p:spPr>
            <a:xfrm rot="10800000">
              <a:off x="5753726" y="4156401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12" name="Google Shape;1712;p91"/>
          <p:cNvSpPr/>
          <p:nvPr/>
        </p:nvSpPr>
        <p:spPr>
          <a:xfrm>
            <a:off x="925547" y="37057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3" name="Google Shape;1713;p91"/>
          <p:cNvSpPr/>
          <p:nvPr/>
        </p:nvSpPr>
        <p:spPr>
          <a:xfrm>
            <a:off x="2388497" y="3712926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4" name="Google Shape;1714;p91"/>
          <p:cNvSpPr/>
          <p:nvPr/>
        </p:nvSpPr>
        <p:spPr>
          <a:xfrm>
            <a:off x="2745222" y="3712926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5" name="Google Shape;1715;p91"/>
          <p:cNvSpPr/>
          <p:nvPr/>
        </p:nvSpPr>
        <p:spPr>
          <a:xfrm>
            <a:off x="1277489" y="37027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6" name="Google Shape;1716;p91"/>
          <p:cNvSpPr/>
          <p:nvPr/>
        </p:nvSpPr>
        <p:spPr>
          <a:xfrm>
            <a:off x="1528289" y="37027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7" name="Google Shape;1717;p91"/>
          <p:cNvSpPr/>
          <p:nvPr/>
        </p:nvSpPr>
        <p:spPr>
          <a:xfrm>
            <a:off x="3652084" y="38721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8" name="Google Shape;1718;p91"/>
          <p:cNvSpPr/>
          <p:nvPr/>
        </p:nvSpPr>
        <p:spPr>
          <a:xfrm>
            <a:off x="3980439" y="38691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19" name="Google Shape;1719;p91"/>
          <p:cNvSpPr/>
          <p:nvPr/>
        </p:nvSpPr>
        <p:spPr>
          <a:xfrm>
            <a:off x="4231239" y="38691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0" name="Google Shape;1720;p91"/>
          <p:cNvSpPr/>
          <p:nvPr/>
        </p:nvSpPr>
        <p:spPr>
          <a:xfrm>
            <a:off x="3780822" y="3653384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1" name="Google Shape;1721;p91"/>
          <p:cNvSpPr/>
          <p:nvPr/>
        </p:nvSpPr>
        <p:spPr>
          <a:xfrm>
            <a:off x="3891864" y="34058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2" name="Google Shape;1722;p91"/>
          <p:cNvSpPr/>
          <p:nvPr/>
        </p:nvSpPr>
        <p:spPr>
          <a:xfrm>
            <a:off x="4127189" y="36503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3" name="Google Shape;1723;p91"/>
          <p:cNvSpPr/>
          <p:nvPr/>
        </p:nvSpPr>
        <p:spPr>
          <a:xfrm>
            <a:off x="5210922" y="355664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4" name="Google Shape;1724;p91"/>
          <p:cNvSpPr/>
          <p:nvPr/>
        </p:nvSpPr>
        <p:spPr>
          <a:xfrm>
            <a:off x="5567647" y="355664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5" name="Google Shape;1725;p91"/>
          <p:cNvSpPr/>
          <p:nvPr/>
        </p:nvSpPr>
        <p:spPr>
          <a:xfrm>
            <a:off x="1381539" y="34643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6" name="Google Shape;1726;p91"/>
          <p:cNvSpPr/>
          <p:nvPr/>
        </p:nvSpPr>
        <p:spPr>
          <a:xfrm>
            <a:off x="4127189" y="34058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7" name="Google Shape;1727;p91"/>
          <p:cNvSpPr/>
          <p:nvPr/>
        </p:nvSpPr>
        <p:spPr>
          <a:xfrm>
            <a:off x="3985689" y="31583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8" name="Google Shape;1728;p91"/>
          <p:cNvSpPr/>
          <p:nvPr/>
        </p:nvSpPr>
        <p:spPr>
          <a:xfrm>
            <a:off x="6537809" y="37027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29" name="Google Shape;1729;p91"/>
          <p:cNvSpPr/>
          <p:nvPr/>
        </p:nvSpPr>
        <p:spPr>
          <a:xfrm>
            <a:off x="6866164" y="36997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0" name="Google Shape;1730;p91"/>
          <p:cNvSpPr/>
          <p:nvPr/>
        </p:nvSpPr>
        <p:spPr>
          <a:xfrm>
            <a:off x="7116964" y="36997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1" name="Google Shape;1731;p91"/>
          <p:cNvSpPr/>
          <p:nvPr/>
        </p:nvSpPr>
        <p:spPr>
          <a:xfrm>
            <a:off x="6666547" y="3483909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2" name="Google Shape;1732;p91"/>
          <p:cNvSpPr/>
          <p:nvPr/>
        </p:nvSpPr>
        <p:spPr>
          <a:xfrm>
            <a:off x="6777589" y="32363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3" name="Google Shape;1733;p91"/>
          <p:cNvSpPr/>
          <p:nvPr/>
        </p:nvSpPr>
        <p:spPr>
          <a:xfrm>
            <a:off x="7012914" y="34808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4" name="Google Shape;1734;p91"/>
          <p:cNvSpPr/>
          <p:nvPr/>
        </p:nvSpPr>
        <p:spPr>
          <a:xfrm>
            <a:off x="7012914" y="32363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5" name="Google Shape;1735;p91"/>
          <p:cNvSpPr/>
          <p:nvPr/>
        </p:nvSpPr>
        <p:spPr>
          <a:xfrm>
            <a:off x="6871414" y="2988896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6" name="Google Shape;1736;p91"/>
          <p:cNvSpPr/>
          <p:nvPr/>
        </p:nvSpPr>
        <p:spPr>
          <a:xfrm>
            <a:off x="8070197" y="37027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37" name="Google Shape;1737;p91"/>
          <p:cNvSpPr/>
          <p:nvPr/>
        </p:nvSpPr>
        <p:spPr>
          <a:xfrm>
            <a:off x="8426922" y="37027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cxnSp>
        <p:nvCxnSpPr>
          <p:cNvPr id="1738" name="Google Shape;1738;p91"/>
          <p:cNvCxnSpPr/>
          <p:nvPr/>
        </p:nvCxnSpPr>
        <p:spPr>
          <a:xfrm>
            <a:off x="3073750" y="33646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9" name="Google Shape;1739;p91"/>
          <p:cNvCxnSpPr/>
          <p:nvPr/>
        </p:nvCxnSpPr>
        <p:spPr>
          <a:xfrm>
            <a:off x="5873500" y="33646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40" name="Google Shape;1740;p91"/>
          <p:cNvSpPr txBox="1"/>
          <p:nvPr>
            <p:ph idx="1" type="body"/>
          </p:nvPr>
        </p:nvSpPr>
        <p:spPr>
          <a:xfrm>
            <a:off x="5774400" y="3015725"/>
            <a:ext cx="9171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(</a:t>
            </a:r>
            <a:r>
              <a:rPr i="1"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x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3)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1" name="Google Shape;1741;p91"/>
          <p:cNvSpPr/>
          <p:nvPr/>
        </p:nvSpPr>
        <p:spPr>
          <a:xfrm>
            <a:off x="8122172" y="344777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2" name="Google Shape;1742;p91"/>
          <p:cNvSpPr/>
          <p:nvPr/>
        </p:nvSpPr>
        <p:spPr>
          <a:xfrm>
            <a:off x="8205289" y="31868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3" name="Google Shape;1743;p91"/>
          <p:cNvSpPr/>
          <p:nvPr/>
        </p:nvSpPr>
        <p:spPr>
          <a:xfrm>
            <a:off x="8474164" y="344477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4" name="Google Shape;1744;p91"/>
          <p:cNvSpPr/>
          <p:nvPr/>
        </p:nvSpPr>
        <p:spPr>
          <a:xfrm>
            <a:off x="8526139" y="3186821"/>
            <a:ext cx="189300" cy="247500"/>
          </a:xfrm>
          <a:prstGeom prst="rect">
            <a:avLst/>
          </a:prstGeom>
          <a:solidFill>
            <a:srgbClr val="FFF2CC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Times"/>
                <a:ea typeface="Times"/>
                <a:cs typeface="Times"/>
                <a:sym typeface="Times"/>
              </a:rPr>
              <a:t>1</a:t>
            </a:r>
            <a:endParaRPr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45" name="Google Shape;1745;p91"/>
          <p:cNvSpPr txBox="1"/>
          <p:nvPr>
            <p:ph idx="1" type="body"/>
          </p:nvPr>
        </p:nvSpPr>
        <p:spPr>
          <a:xfrm>
            <a:off x="4595388" y="2700000"/>
            <a:ext cx="4572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or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grpSp>
        <p:nvGrpSpPr>
          <p:cNvPr id="1751" name="Google Shape;1751;p92"/>
          <p:cNvGrpSpPr/>
          <p:nvPr/>
        </p:nvGrpSpPr>
        <p:grpSpPr>
          <a:xfrm>
            <a:off x="857319" y="1597325"/>
            <a:ext cx="2343532" cy="1042917"/>
            <a:chOff x="3679000" y="1380975"/>
            <a:chExt cx="4343896" cy="2543700"/>
          </a:xfrm>
        </p:grpSpPr>
        <p:sp>
          <p:nvSpPr>
            <p:cNvPr id="1752" name="Google Shape;1752;p92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53" name="Google Shape;1753;p92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4" name="Google Shape;1754;p92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55" name="Google Shape;1755;p92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56" name="Google Shape;1756;p92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57" name="Google Shape;1757;p92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58" name="Google Shape;1758;p92"/>
          <p:cNvGrpSpPr/>
          <p:nvPr/>
        </p:nvGrpSpPr>
        <p:grpSpPr>
          <a:xfrm>
            <a:off x="6454825" y="1576275"/>
            <a:ext cx="2343532" cy="1042917"/>
            <a:chOff x="3679000" y="1380975"/>
            <a:chExt cx="4343896" cy="2543700"/>
          </a:xfrm>
        </p:grpSpPr>
        <p:sp>
          <p:nvSpPr>
            <p:cNvPr id="1759" name="Google Shape;1759;p92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60" name="Google Shape;1760;p92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1" name="Google Shape;1761;p92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62" name="Google Shape;1762;p92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3" name="Google Shape;1763;p92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64" name="Google Shape;1764;p92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65" name="Google Shape;1765;p92"/>
          <p:cNvGrpSpPr/>
          <p:nvPr/>
        </p:nvGrpSpPr>
        <p:grpSpPr>
          <a:xfrm>
            <a:off x="3607555" y="1460935"/>
            <a:ext cx="2343544" cy="1167036"/>
            <a:chOff x="5753726" y="3160998"/>
            <a:chExt cx="1886304" cy="1183606"/>
          </a:xfrm>
        </p:grpSpPr>
        <p:sp>
          <p:nvSpPr>
            <p:cNvPr id="1766" name="Google Shape;1766;p92"/>
            <p:cNvSpPr/>
            <p:nvPr/>
          </p:nvSpPr>
          <p:spPr>
            <a:xfrm>
              <a:off x="6578795" y="3315004"/>
              <a:ext cx="224700" cy="1029600"/>
            </a:xfrm>
            <a:prstGeom prst="trapezoid">
              <a:avLst>
                <a:gd fmla="val 25000" name="adj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67" name="Google Shape;1767;p92"/>
            <p:cNvCxnSpPr/>
            <p:nvPr/>
          </p:nvCxnSpPr>
          <p:spPr>
            <a:xfrm flipH="1">
              <a:off x="6094596" y="3160998"/>
              <a:ext cx="1202400" cy="325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8" name="Google Shape;1768;p92"/>
            <p:cNvSpPr/>
            <p:nvPr/>
          </p:nvSpPr>
          <p:spPr>
            <a:xfrm flipH="1">
              <a:off x="7034944" y="3160998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69" name="Google Shape;1769;p92"/>
            <p:cNvCxnSpPr/>
            <p:nvPr/>
          </p:nvCxnSpPr>
          <p:spPr>
            <a:xfrm rot="10800000">
              <a:off x="6957830" y="3831226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70" name="Google Shape;1770;p92"/>
            <p:cNvSpPr/>
            <p:nvPr/>
          </p:nvSpPr>
          <p:spPr>
            <a:xfrm flipH="1">
              <a:off x="5830833" y="3486179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771" name="Google Shape;1771;p92"/>
            <p:cNvCxnSpPr/>
            <p:nvPr/>
          </p:nvCxnSpPr>
          <p:spPr>
            <a:xfrm rot="10800000">
              <a:off x="5753726" y="4156401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72" name="Google Shape;1772;p92"/>
          <p:cNvGrpSpPr/>
          <p:nvPr/>
        </p:nvGrpSpPr>
        <p:grpSpPr>
          <a:xfrm>
            <a:off x="323991" y="1581150"/>
            <a:ext cx="457200" cy="457200"/>
            <a:chOff x="1020916" y="1442088"/>
            <a:chExt cx="457200" cy="457200"/>
          </a:xfrm>
        </p:grpSpPr>
        <p:pic>
          <p:nvPicPr>
            <p:cNvPr id="1773" name="Google Shape;1773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4" name="Google Shape;177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775" name="Google Shape;1775;p92"/>
          <p:cNvGrpSpPr/>
          <p:nvPr/>
        </p:nvGrpSpPr>
        <p:grpSpPr>
          <a:xfrm>
            <a:off x="323991" y="3632375"/>
            <a:ext cx="457200" cy="457200"/>
            <a:chOff x="1020916" y="1442088"/>
            <a:chExt cx="457200" cy="457200"/>
          </a:xfrm>
        </p:grpSpPr>
        <p:pic>
          <p:nvPicPr>
            <p:cNvPr id="1776" name="Google Shape;1776;p9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7" name="Google Shape;177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778" name="Google Shape;1778;p92"/>
          <p:cNvSpPr/>
          <p:nvPr/>
        </p:nvSpPr>
        <p:spPr>
          <a:xfrm>
            <a:off x="899650" y="20009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79" name="Google Shape;1779;p92"/>
          <p:cNvSpPr/>
          <p:nvPr/>
        </p:nvSpPr>
        <p:spPr>
          <a:xfrm>
            <a:off x="925562" y="17594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80" name="Google Shape;1780;p92"/>
          <p:cNvGrpSpPr/>
          <p:nvPr/>
        </p:nvGrpSpPr>
        <p:grpSpPr>
          <a:xfrm>
            <a:off x="1183590" y="1795034"/>
            <a:ext cx="376934" cy="454896"/>
            <a:chOff x="4396891" y="2255566"/>
            <a:chExt cx="368100" cy="475584"/>
          </a:xfrm>
        </p:grpSpPr>
        <p:grpSp>
          <p:nvGrpSpPr>
            <p:cNvPr id="1781" name="Google Shape;1781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782" name="Google Shape;1782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3" name="Google Shape;1783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84" name="Google Shape;1784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786" name="Google Shape;1786;p92"/>
          <p:cNvGrpSpPr/>
          <p:nvPr/>
        </p:nvGrpSpPr>
        <p:grpSpPr>
          <a:xfrm>
            <a:off x="2569654" y="1816955"/>
            <a:ext cx="457217" cy="454896"/>
            <a:chOff x="4396891" y="2255566"/>
            <a:chExt cx="368100" cy="475584"/>
          </a:xfrm>
        </p:grpSpPr>
        <p:grpSp>
          <p:nvGrpSpPr>
            <p:cNvPr id="1787" name="Google Shape;1787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788" name="Google Shape;1788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9" name="Google Shape;1789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0" name="Google Shape;1790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8</a:t>
              </a: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92" name="Google Shape;1792;p92"/>
          <p:cNvSpPr/>
          <p:nvPr/>
        </p:nvSpPr>
        <p:spPr>
          <a:xfrm>
            <a:off x="3639206" y="21886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793" name="Google Shape;1793;p92"/>
          <p:cNvSpPr/>
          <p:nvPr/>
        </p:nvSpPr>
        <p:spPr>
          <a:xfrm>
            <a:off x="3665118" y="19471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794" name="Google Shape;1794;p92"/>
          <p:cNvGrpSpPr/>
          <p:nvPr/>
        </p:nvGrpSpPr>
        <p:grpSpPr>
          <a:xfrm>
            <a:off x="3891887" y="1982660"/>
            <a:ext cx="376934" cy="454896"/>
            <a:chOff x="4396891" y="2255566"/>
            <a:chExt cx="368100" cy="475584"/>
          </a:xfrm>
        </p:grpSpPr>
        <p:grpSp>
          <p:nvGrpSpPr>
            <p:cNvPr id="1795" name="Google Shape;1795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796" name="Google Shape;1796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7" name="Google Shape;1797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8" name="Google Shape;1798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00" name="Google Shape;1800;p92"/>
          <p:cNvGrpSpPr/>
          <p:nvPr/>
        </p:nvGrpSpPr>
        <p:grpSpPr>
          <a:xfrm>
            <a:off x="4190407" y="1982660"/>
            <a:ext cx="376934" cy="454896"/>
            <a:chOff x="4396891" y="2255566"/>
            <a:chExt cx="368100" cy="475584"/>
          </a:xfrm>
        </p:grpSpPr>
        <p:grpSp>
          <p:nvGrpSpPr>
            <p:cNvPr id="1801" name="Google Shape;1801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802" name="Google Shape;1802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3" name="Google Shape;1803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04" name="Google Shape;1804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06" name="Google Shape;1806;p92"/>
          <p:cNvSpPr/>
          <p:nvPr/>
        </p:nvSpPr>
        <p:spPr>
          <a:xfrm>
            <a:off x="6480885" y="20009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07" name="Google Shape;1807;p92"/>
          <p:cNvSpPr/>
          <p:nvPr/>
        </p:nvSpPr>
        <p:spPr>
          <a:xfrm>
            <a:off x="6506797" y="175949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08" name="Google Shape;1808;p92"/>
          <p:cNvGrpSpPr/>
          <p:nvPr/>
        </p:nvGrpSpPr>
        <p:grpSpPr>
          <a:xfrm>
            <a:off x="6733566" y="1795034"/>
            <a:ext cx="376934" cy="454896"/>
            <a:chOff x="4396891" y="2255566"/>
            <a:chExt cx="368100" cy="475584"/>
          </a:xfrm>
        </p:grpSpPr>
        <p:grpSp>
          <p:nvGrpSpPr>
            <p:cNvPr id="1809" name="Google Shape;1809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810" name="Google Shape;1810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1" name="Google Shape;1811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12" name="Google Shape;1812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14" name="Google Shape;1814;p92"/>
          <p:cNvGrpSpPr/>
          <p:nvPr/>
        </p:nvGrpSpPr>
        <p:grpSpPr>
          <a:xfrm>
            <a:off x="7032086" y="1795034"/>
            <a:ext cx="376934" cy="454896"/>
            <a:chOff x="4396891" y="2255566"/>
            <a:chExt cx="368100" cy="475584"/>
          </a:xfrm>
        </p:grpSpPr>
        <p:grpSp>
          <p:nvGrpSpPr>
            <p:cNvPr id="1815" name="Google Shape;1815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816" name="Google Shape;1816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18" name="Google Shape;1818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20" name="Google Shape;1820;p92"/>
          <p:cNvGrpSpPr/>
          <p:nvPr/>
        </p:nvGrpSpPr>
        <p:grpSpPr>
          <a:xfrm>
            <a:off x="857319" y="3543296"/>
            <a:ext cx="2343532" cy="1042917"/>
            <a:chOff x="3679000" y="1380975"/>
            <a:chExt cx="4343896" cy="2543700"/>
          </a:xfrm>
        </p:grpSpPr>
        <p:sp>
          <p:nvSpPr>
            <p:cNvPr id="1821" name="Google Shape;1821;p92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22" name="Google Shape;1822;p92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23" name="Google Shape;1823;p92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24" name="Google Shape;1824;p92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25" name="Google Shape;1825;p92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26" name="Google Shape;1826;p92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827" name="Google Shape;1827;p92"/>
          <p:cNvGrpSpPr/>
          <p:nvPr/>
        </p:nvGrpSpPr>
        <p:grpSpPr>
          <a:xfrm>
            <a:off x="6454825" y="3522245"/>
            <a:ext cx="2343532" cy="1042917"/>
            <a:chOff x="3679000" y="1380975"/>
            <a:chExt cx="4343896" cy="2543700"/>
          </a:xfrm>
        </p:grpSpPr>
        <p:sp>
          <p:nvSpPr>
            <p:cNvPr id="1828" name="Google Shape;1828;p92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29" name="Google Shape;1829;p92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0" name="Google Shape;1830;p92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31" name="Google Shape;1831;p92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2" name="Google Shape;1832;p92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33" name="Google Shape;1833;p92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34" name="Google Shape;1834;p92"/>
          <p:cNvSpPr txBox="1"/>
          <p:nvPr>
            <p:ph idx="1" type="body"/>
          </p:nvPr>
        </p:nvSpPr>
        <p:spPr>
          <a:xfrm>
            <a:off x="324000" y="663963"/>
            <a:ext cx="8496000" cy="50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Complete each balance scale so the left and right hand sides are balanced.</a:t>
            </a:r>
            <a:endParaRPr sz="1800"/>
          </a:p>
        </p:txBody>
      </p:sp>
      <p:grpSp>
        <p:nvGrpSpPr>
          <p:cNvPr id="1835" name="Google Shape;1835;p92"/>
          <p:cNvGrpSpPr/>
          <p:nvPr/>
        </p:nvGrpSpPr>
        <p:grpSpPr>
          <a:xfrm>
            <a:off x="3607555" y="3406905"/>
            <a:ext cx="2343544" cy="1167036"/>
            <a:chOff x="5753726" y="3160998"/>
            <a:chExt cx="1886304" cy="1183606"/>
          </a:xfrm>
        </p:grpSpPr>
        <p:sp>
          <p:nvSpPr>
            <p:cNvPr id="1836" name="Google Shape;1836;p92"/>
            <p:cNvSpPr/>
            <p:nvPr/>
          </p:nvSpPr>
          <p:spPr>
            <a:xfrm>
              <a:off x="6578795" y="3315004"/>
              <a:ext cx="224700" cy="1029600"/>
            </a:xfrm>
            <a:prstGeom prst="trapezoid">
              <a:avLst>
                <a:gd fmla="val 25000" name="adj"/>
              </a:avLst>
            </a:prstGeom>
            <a:solidFill>
              <a:srgbClr val="037B7D"/>
            </a:solidFill>
            <a:ln cap="flat" cmpd="sng" w="9525">
              <a:solidFill>
                <a:srgbClr val="037B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37" name="Google Shape;1837;p92"/>
            <p:cNvCxnSpPr/>
            <p:nvPr/>
          </p:nvCxnSpPr>
          <p:spPr>
            <a:xfrm flipH="1">
              <a:off x="6094596" y="3160998"/>
              <a:ext cx="1202400" cy="3252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8" name="Google Shape;1838;p92"/>
            <p:cNvSpPr/>
            <p:nvPr/>
          </p:nvSpPr>
          <p:spPr>
            <a:xfrm flipH="1">
              <a:off x="7034944" y="3160998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39" name="Google Shape;1839;p92"/>
            <p:cNvCxnSpPr/>
            <p:nvPr/>
          </p:nvCxnSpPr>
          <p:spPr>
            <a:xfrm rot="10800000">
              <a:off x="6957830" y="3831226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40" name="Google Shape;1840;p92"/>
            <p:cNvSpPr/>
            <p:nvPr/>
          </p:nvSpPr>
          <p:spPr>
            <a:xfrm flipH="1">
              <a:off x="5830833" y="3486179"/>
              <a:ext cx="527700" cy="6702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841" name="Google Shape;1841;p92"/>
            <p:cNvCxnSpPr/>
            <p:nvPr/>
          </p:nvCxnSpPr>
          <p:spPr>
            <a:xfrm rot="10800000">
              <a:off x="5753726" y="4156401"/>
              <a:ext cx="682200" cy="0"/>
            </a:xfrm>
            <a:prstGeom prst="straightConnector1">
              <a:avLst/>
            </a:prstGeom>
            <a:noFill/>
            <a:ln cap="flat" cmpd="sng" w="38100">
              <a:solidFill>
                <a:srgbClr val="037B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842" name="Google Shape;1842;p92"/>
          <p:cNvSpPr/>
          <p:nvPr/>
        </p:nvSpPr>
        <p:spPr>
          <a:xfrm>
            <a:off x="2236021" y="3954013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43" name="Google Shape;1843;p92"/>
          <p:cNvSpPr/>
          <p:nvPr/>
        </p:nvSpPr>
        <p:spPr>
          <a:xfrm>
            <a:off x="2271262" y="373091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44" name="Google Shape;1844;p92"/>
          <p:cNvGrpSpPr/>
          <p:nvPr/>
        </p:nvGrpSpPr>
        <p:grpSpPr>
          <a:xfrm>
            <a:off x="2816044" y="3752066"/>
            <a:ext cx="408256" cy="454888"/>
            <a:chOff x="4420145" y="2255566"/>
            <a:chExt cx="379844" cy="475575"/>
          </a:xfrm>
        </p:grpSpPr>
        <p:grpSp>
          <p:nvGrpSpPr>
            <p:cNvPr id="1845" name="Google Shape;1845;p92"/>
            <p:cNvGrpSpPr/>
            <p:nvPr/>
          </p:nvGrpSpPr>
          <p:grpSpPr>
            <a:xfrm>
              <a:off x="4537782" y="2255566"/>
              <a:ext cx="172800" cy="190800"/>
              <a:chOff x="4516645" y="2241474"/>
              <a:chExt cx="172800" cy="190800"/>
            </a:xfrm>
          </p:grpSpPr>
          <p:sp>
            <p:nvSpPr>
              <p:cNvPr id="1846" name="Google Shape;1846;p92"/>
              <p:cNvSpPr/>
              <p:nvPr/>
            </p:nvSpPr>
            <p:spPr>
              <a:xfrm>
                <a:off x="4516645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7" name="Google Shape;1847;p92"/>
              <p:cNvSpPr/>
              <p:nvPr/>
            </p:nvSpPr>
            <p:spPr>
              <a:xfrm>
                <a:off x="4532907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48" name="Google Shape;1848;p92"/>
            <p:cNvSpPr/>
            <p:nvPr/>
          </p:nvSpPr>
          <p:spPr>
            <a:xfrm>
              <a:off x="4431889" y="2420341"/>
              <a:ext cx="3681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92"/>
            <p:cNvSpPr txBox="1"/>
            <p:nvPr/>
          </p:nvSpPr>
          <p:spPr>
            <a:xfrm>
              <a:off x="4420145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50" name="Google Shape;1850;p92"/>
          <p:cNvSpPr/>
          <p:nvPr/>
        </p:nvSpPr>
        <p:spPr>
          <a:xfrm>
            <a:off x="2533924" y="397064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1" name="Google Shape;1851;p92"/>
          <p:cNvSpPr/>
          <p:nvPr/>
        </p:nvSpPr>
        <p:spPr>
          <a:xfrm>
            <a:off x="2526862" y="373091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2" name="Google Shape;1852;p92"/>
          <p:cNvSpPr/>
          <p:nvPr/>
        </p:nvSpPr>
        <p:spPr>
          <a:xfrm>
            <a:off x="858756" y="397064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3" name="Google Shape;1853;p92"/>
          <p:cNvSpPr/>
          <p:nvPr/>
        </p:nvSpPr>
        <p:spPr>
          <a:xfrm>
            <a:off x="896968" y="37309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54" name="Google Shape;1854;p92"/>
          <p:cNvSpPr/>
          <p:nvPr/>
        </p:nvSpPr>
        <p:spPr>
          <a:xfrm>
            <a:off x="5170437" y="381186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55" name="Google Shape;1855;p92"/>
          <p:cNvGrpSpPr/>
          <p:nvPr/>
        </p:nvGrpSpPr>
        <p:grpSpPr>
          <a:xfrm>
            <a:off x="5308467" y="1650180"/>
            <a:ext cx="457217" cy="454896"/>
            <a:chOff x="4396891" y="2255566"/>
            <a:chExt cx="368100" cy="475584"/>
          </a:xfrm>
        </p:grpSpPr>
        <p:grpSp>
          <p:nvGrpSpPr>
            <p:cNvPr id="1856" name="Google Shape;1856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857" name="Google Shape;1857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8" name="Google Shape;1858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59" name="Google Shape;1859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80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61" name="Google Shape;1861;p92"/>
          <p:cNvGrpSpPr/>
          <p:nvPr/>
        </p:nvGrpSpPr>
        <p:grpSpPr>
          <a:xfrm>
            <a:off x="1187919" y="3752066"/>
            <a:ext cx="408256" cy="454888"/>
            <a:chOff x="4420145" y="2255566"/>
            <a:chExt cx="379844" cy="475575"/>
          </a:xfrm>
        </p:grpSpPr>
        <p:grpSp>
          <p:nvGrpSpPr>
            <p:cNvPr id="1862" name="Google Shape;1862;p92"/>
            <p:cNvGrpSpPr/>
            <p:nvPr/>
          </p:nvGrpSpPr>
          <p:grpSpPr>
            <a:xfrm>
              <a:off x="4537782" y="2255566"/>
              <a:ext cx="172800" cy="190800"/>
              <a:chOff x="4516645" y="2241474"/>
              <a:chExt cx="172800" cy="190800"/>
            </a:xfrm>
          </p:grpSpPr>
          <p:sp>
            <p:nvSpPr>
              <p:cNvPr id="1863" name="Google Shape;1863;p92"/>
              <p:cNvSpPr/>
              <p:nvPr/>
            </p:nvSpPr>
            <p:spPr>
              <a:xfrm>
                <a:off x="4516645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4" name="Google Shape;1864;p92"/>
              <p:cNvSpPr/>
              <p:nvPr/>
            </p:nvSpPr>
            <p:spPr>
              <a:xfrm>
                <a:off x="4532907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65" name="Google Shape;1865;p92"/>
            <p:cNvSpPr/>
            <p:nvPr/>
          </p:nvSpPr>
          <p:spPr>
            <a:xfrm>
              <a:off x="4431889" y="2420341"/>
              <a:ext cx="3681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92"/>
            <p:cNvSpPr txBox="1"/>
            <p:nvPr/>
          </p:nvSpPr>
          <p:spPr>
            <a:xfrm>
              <a:off x="4420145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67" name="Google Shape;1867;p92"/>
          <p:cNvSpPr/>
          <p:nvPr/>
        </p:nvSpPr>
        <p:spPr>
          <a:xfrm>
            <a:off x="3553881" y="412304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68" name="Google Shape;1868;p92"/>
          <p:cNvSpPr/>
          <p:nvPr/>
        </p:nvSpPr>
        <p:spPr>
          <a:xfrm>
            <a:off x="3592093" y="38833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69" name="Google Shape;1869;p92"/>
          <p:cNvGrpSpPr/>
          <p:nvPr/>
        </p:nvGrpSpPr>
        <p:grpSpPr>
          <a:xfrm>
            <a:off x="3806844" y="3918754"/>
            <a:ext cx="408256" cy="454888"/>
            <a:chOff x="4420145" y="2255566"/>
            <a:chExt cx="379844" cy="475575"/>
          </a:xfrm>
        </p:grpSpPr>
        <p:grpSp>
          <p:nvGrpSpPr>
            <p:cNvPr id="1870" name="Google Shape;1870;p92"/>
            <p:cNvGrpSpPr/>
            <p:nvPr/>
          </p:nvGrpSpPr>
          <p:grpSpPr>
            <a:xfrm>
              <a:off x="4537782" y="2255566"/>
              <a:ext cx="172800" cy="190800"/>
              <a:chOff x="4516645" y="2241474"/>
              <a:chExt cx="172800" cy="190800"/>
            </a:xfrm>
          </p:grpSpPr>
          <p:sp>
            <p:nvSpPr>
              <p:cNvPr id="1871" name="Google Shape;1871;p92"/>
              <p:cNvSpPr/>
              <p:nvPr/>
            </p:nvSpPr>
            <p:spPr>
              <a:xfrm>
                <a:off x="4516645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2" name="Google Shape;1872;p92"/>
              <p:cNvSpPr/>
              <p:nvPr/>
            </p:nvSpPr>
            <p:spPr>
              <a:xfrm>
                <a:off x="4532907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73" name="Google Shape;1873;p92"/>
            <p:cNvSpPr/>
            <p:nvPr/>
          </p:nvSpPr>
          <p:spPr>
            <a:xfrm>
              <a:off x="4431889" y="2420341"/>
              <a:ext cx="3681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92"/>
            <p:cNvSpPr txBox="1"/>
            <p:nvPr/>
          </p:nvSpPr>
          <p:spPr>
            <a:xfrm>
              <a:off x="4420145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75" name="Google Shape;1875;p92"/>
          <p:cNvGrpSpPr/>
          <p:nvPr/>
        </p:nvGrpSpPr>
        <p:grpSpPr>
          <a:xfrm>
            <a:off x="8326014" y="3797353"/>
            <a:ext cx="376934" cy="382322"/>
            <a:chOff x="4396891" y="2255566"/>
            <a:chExt cx="368100" cy="475584"/>
          </a:xfrm>
        </p:grpSpPr>
        <p:grpSp>
          <p:nvGrpSpPr>
            <p:cNvPr id="1876" name="Google Shape;1876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877" name="Google Shape;1877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8" name="Google Shape;1878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79" name="Google Shape;1879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81" name="Google Shape;1881;p92"/>
          <p:cNvSpPr/>
          <p:nvPr/>
        </p:nvSpPr>
        <p:spPr>
          <a:xfrm>
            <a:off x="7975562" y="394199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82" name="Google Shape;1882;p92"/>
          <p:cNvGrpSpPr/>
          <p:nvPr/>
        </p:nvGrpSpPr>
        <p:grpSpPr>
          <a:xfrm>
            <a:off x="7998129" y="1790880"/>
            <a:ext cx="457217" cy="454896"/>
            <a:chOff x="4396891" y="2255566"/>
            <a:chExt cx="368100" cy="475584"/>
          </a:xfrm>
        </p:grpSpPr>
        <p:grpSp>
          <p:nvGrpSpPr>
            <p:cNvPr id="1883" name="Google Shape;1883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884" name="Google Shape;1884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5" name="Google Shape;1885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86" name="Google Shape;1886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80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888" name="Google Shape;1888;p92"/>
          <p:cNvGrpSpPr/>
          <p:nvPr/>
        </p:nvGrpSpPr>
        <p:grpSpPr>
          <a:xfrm>
            <a:off x="8375207" y="1790885"/>
            <a:ext cx="376934" cy="454896"/>
            <a:chOff x="4396891" y="2255566"/>
            <a:chExt cx="368100" cy="475584"/>
          </a:xfrm>
        </p:grpSpPr>
        <p:grpSp>
          <p:nvGrpSpPr>
            <p:cNvPr id="1889" name="Google Shape;1889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890" name="Google Shape;1890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1" name="Google Shape;1891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92" name="Google Shape;1892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894" name="Google Shape;1894;p92"/>
          <p:cNvSpPr/>
          <p:nvPr/>
        </p:nvSpPr>
        <p:spPr>
          <a:xfrm>
            <a:off x="5259162" y="356571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895" name="Google Shape;1895;p92"/>
          <p:cNvSpPr/>
          <p:nvPr/>
        </p:nvSpPr>
        <p:spPr>
          <a:xfrm>
            <a:off x="8022037" y="3681067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896" name="Google Shape;1896;p92"/>
          <p:cNvGrpSpPr/>
          <p:nvPr/>
        </p:nvGrpSpPr>
        <p:grpSpPr>
          <a:xfrm>
            <a:off x="5542939" y="3669816"/>
            <a:ext cx="376934" cy="382322"/>
            <a:chOff x="4396891" y="2255566"/>
            <a:chExt cx="368100" cy="475584"/>
          </a:xfrm>
        </p:grpSpPr>
        <p:grpSp>
          <p:nvGrpSpPr>
            <p:cNvPr id="1897" name="Google Shape;1897;p92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898" name="Google Shape;1898;p92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9" name="Google Shape;1899;p92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00" name="Google Shape;1900;p92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92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50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cxnSp>
        <p:nvCxnSpPr>
          <p:cNvPr id="1902" name="Google Shape;1902;p92"/>
          <p:cNvCxnSpPr/>
          <p:nvPr/>
        </p:nvCxnSpPr>
        <p:spPr>
          <a:xfrm>
            <a:off x="3073750" y="16882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3" name="Google Shape;1903;p92"/>
          <p:cNvCxnSpPr/>
          <p:nvPr/>
        </p:nvCxnSpPr>
        <p:spPr>
          <a:xfrm>
            <a:off x="5873500" y="16882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4" name="Google Shape;1904;p92"/>
          <p:cNvCxnSpPr/>
          <p:nvPr/>
        </p:nvCxnSpPr>
        <p:spPr>
          <a:xfrm>
            <a:off x="3073750" y="36694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5" name="Google Shape;1905;p92"/>
          <p:cNvCxnSpPr/>
          <p:nvPr/>
        </p:nvCxnSpPr>
        <p:spPr>
          <a:xfrm>
            <a:off x="5873500" y="3669450"/>
            <a:ext cx="633300" cy="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6" name="Google Shape;1906;p92"/>
          <p:cNvSpPr/>
          <p:nvPr/>
        </p:nvSpPr>
        <p:spPr>
          <a:xfrm>
            <a:off x="6537793" y="3954022"/>
            <a:ext cx="283800" cy="241500"/>
          </a:xfrm>
          <a:prstGeom prst="rect">
            <a:avLst/>
          </a:prstGeom>
          <a:solidFill>
            <a:srgbClr val="D9EAD3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x</a:t>
            </a:r>
            <a:endParaRPr i="1" sz="2200">
              <a:latin typeface="Times"/>
              <a:ea typeface="Times"/>
              <a:cs typeface="Times"/>
              <a:sym typeface="Times"/>
            </a:endParaRPr>
          </a:p>
        </p:txBody>
      </p:sp>
      <p:grpSp>
        <p:nvGrpSpPr>
          <p:cNvPr id="1907" name="Google Shape;1907;p92"/>
          <p:cNvGrpSpPr/>
          <p:nvPr/>
        </p:nvGrpSpPr>
        <p:grpSpPr>
          <a:xfrm>
            <a:off x="6841169" y="3728897"/>
            <a:ext cx="408256" cy="454888"/>
            <a:chOff x="4420145" y="2255566"/>
            <a:chExt cx="379844" cy="475575"/>
          </a:xfrm>
        </p:grpSpPr>
        <p:grpSp>
          <p:nvGrpSpPr>
            <p:cNvPr id="1908" name="Google Shape;1908;p92"/>
            <p:cNvGrpSpPr/>
            <p:nvPr/>
          </p:nvGrpSpPr>
          <p:grpSpPr>
            <a:xfrm>
              <a:off x="4537782" y="2255566"/>
              <a:ext cx="172800" cy="190800"/>
              <a:chOff x="4516645" y="2241474"/>
              <a:chExt cx="172800" cy="190800"/>
            </a:xfrm>
          </p:grpSpPr>
          <p:sp>
            <p:nvSpPr>
              <p:cNvPr id="1909" name="Google Shape;1909;p92"/>
              <p:cNvSpPr/>
              <p:nvPr/>
            </p:nvSpPr>
            <p:spPr>
              <a:xfrm>
                <a:off x="4516645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92"/>
              <p:cNvSpPr/>
              <p:nvPr/>
            </p:nvSpPr>
            <p:spPr>
              <a:xfrm>
                <a:off x="4532907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11" name="Google Shape;1911;p92"/>
            <p:cNvSpPr/>
            <p:nvPr/>
          </p:nvSpPr>
          <p:spPr>
            <a:xfrm>
              <a:off x="4431889" y="2420341"/>
              <a:ext cx="3681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92"/>
            <p:cNvSpPr txBox="1"/>
            <p:nvPr/>
          </p:nvSpPr>
          <p:spPr>
            <a:xfrm>
              <a:off x="4420145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Times New Roman"/>
                  <a:ea typeface="Times New Roman"/>
                  <a:cs typeface="Times New Roman"/>
                  <a:sym typeface="Times New Roman"/>
                </a:rPr>
                <a:t>100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13" name="Google Shape;1913;p92"/>
          <p:cNvSpPr txBox="1"/>
          <p:nvPr>
            <p:ph idx="1" type="body"/>
          </p:nvPr>
        </p:nvSpPr>
        <p:spPr>
          <a:xfrm>
            <a:off x="5908453" y="1318225"/>
            <a:ext cx="5634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+ 20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4" name="Google Shape;1914;p92"/>
          <p:cNvSpPr txBox="1"/>
          <p:nvPr>
            <p:ph idx="1" type="body"/>
          </p:nvPr>
        </p:nvSpPr>
        <p:spPr>
          <a:xfrm>
            <a:off x="5942190" y="3285000"/>
            <a:ext cx="563400" cy="53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÷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8" name="Shape 1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9" name="Google Shape;1919;p93"/>
          <p:cNvSpPr txBox="1"/>
          <p:nvPr>
            <p:ph idx="1" type="body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Choose one expression from the box to place on each scale pan. </a:t>
            </a:r>
            <a:endParaRPr sz="2000"/>
          </a:p>
        </p:txBody>
      </p:sp>
      <p:sp>
        <p:nvSpPr>
          <p:cNvPr id="1920" name="Google Shape;1920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grpSp>
        <p:nvGrpSpPr>
          <p:cNvPr id="1921" name="Google Shape;1921;p93"/>
          <p:cNvGrpSpPr/>
          <p:nvPr/>
        </p:nvGrpSpPr>
        <p:grpSpPr>
          <a:xfrm>
            <a:off x="615954" y="1296302"/>
            <a:ext cx="3499877" cy="999674"/>
            <a:chOff x="3679000" y="1380975"/>
            <a:chExt cx="4343896" cy="2543700"/>
          </a:xfrm>
        </p:grpSpPr>
        <p:sp>
          <p:nvSpPr>
            <p:cNvPr id="1922" name="Google Shape;1922;p93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3" name="Google Shape;1923;p93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24" name="Google Shape;1924;p93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5" name="Google Shape;1925;p93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26" name="Google Shape;1926;p93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27" name="Google Shape;1927;p93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28" name="Google Shape;1928;p93"/>
          <p:cNvGrpSpPr/>
          <p:nvPr/>
        </p:nvGrpSpPr>
        <p:grpSpPr>
          <a:xfrm>
            <a:off x="672747" y="2495777"/>
            <a:ext cx="3386430" cy="1140419"/>
            <a:chOff x="3316500" y="457975"/>
            <a:chExt cx="4672871" cy="2924150"/>
          </a:xfrm>
        </p:grpSpPr>
        <p:sp>
          <p:nvSpPr>
            <p:cNvPr id="1929" name="Google Shape;1929;p93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0" name="Google Shape;1930;p93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1" name="Google Shape;1931;p93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2" name="Google Shape;1932;p93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33" name="Google Shape;1933;p93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34" name="Google Shape;1934;p93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35" name="Google Shape;1935;p93"/>
          <p:cNvGrpSpPr/>
          <p:nvPr/>
        </p:nvGrpSpPr>
        <p:grpSpPr>
          <a:xfrm>
            <a:off x="729425" y="3680024"/>
            <a:ext cx="3386195" cy="1140385"/>
            <a:chOff x="385691" y="2731154"/>
            <a:chExt cx="2658341" cy="1796448"/>
          </a:xfrm>
        </p:grpSpPr>
        <p:sp>
          <p:nvSpPr>
            <p:cNvPr id="1936" name="Google Shape;1936;p93"/>
            <p:cNvSpPr/>
            <p:nvPr/>
          </p:nvSpPr>
          <p:spPr>
            <a:xfrm>
              <a:off x="1548524" y="2964902"/>
              <a:ext cx="316500" cy="1562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37" name="Google Shape;1937;p93"/>
            <p:cNvGrpSpPr/>
            <p:nvPr/>
          </p:nvGrpSpPr>
          <p:grpSpPr>
            <a:xfrm flipH="1">
              <a:off x="385691" y="2731154"/>
              <a:ext cx="2658341" cy="1510855"/>
              <a:chOff x="385636" y="2731154"/>
              <a:chExt cx="2658341" cy="1510855"/>
            </a:xfrm>
          </p:grpSpPr>
          <p:cxnSp>
            <p:nvCxnSpPr>
              <p:cNvPr id="1938" name="Google Shape;1938;p93"/>
              <p:cNvCxnSpPr/>
              <p:nvPr/>
            </p:nvCxnSpPr>
            <p:spPr>
              <a:xfrm>
                <a:off x="869044" y="2731154"/>
                <a:ext cx="1694400" cy="493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39" name="Google Shape;1939;p93"/>
              <p:cNvSpPr/>
              <p:nvPr/>
            </p:nvSpPr>
            <p:spPr>
              <a:xfrm>
                <a:off x="494689" y="2731154"/>
                <a:ext cx="743400" cy="10173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40" name="Google Shape;1940;p93"/>
              <p:cNvCxnSpPr/>
              <p:nvPr/>
            </p:nvCxnSpPr>
            <p:spPr>
              <a:xfrm>
                <a:off x="385636" y="3748416"/>
                <a:ext cx="96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941" name="Google Shape;1941;p93"/>
              <p:cNvSpPr/>
              <p:nvPr/>
            </p:nvSpPr>
            <p:spPr>
              <a:xfrm>
                <a:off x="2191540" y="3224709"/>
                <a:ext cx="743400" cy="10173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1942" name="Google Shape;1942;p93"/>
              <p:cNvCxnSpPr/>
              <p:nvPr/>
            </p:nvCxnSpPr>
            <p:spPr>
              <a:xfrm>
                <a:off x="2082477" y="4241964"/>
                <a:ext cx="96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943" name="Google Shape;1943;p93"/>
          <p:cNvSpPr/>
          <p:nvPr/>
        </p:nvSpPr>
        <p:spPr>
          <a:xfrm>
            <a:off x="6591450" y="1231500"/>
            <a:ext cx="2158800" cy="249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4" name="Google Shape;1944;p93"/>
          <p:cNvSpPr txBox="1"/>
          <p:nvPr>
            <p:ph idx="4294967295" type="body"/>
          </p:nvPr>
        </p:nvSpPr>
        <p:spPr>
          <a:xfrm>
            <a:off x="6652350" y="2655900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+ 10 + 12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5" name="Google Shape;1945;p93"/>
          <p:cNvSpPr txBox="1"/>
          <p:nvPr>
            <p:ph idx="4294967295" type="body"/>
          </p:nvPr>
        </p:nvSpPr>
        <p:spPr>
          <a:xfrm>
            <a:off x="6871000" y="2169025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6" name="Google Shape;1946;p93"/>
          <p:cNvSpPr txBox="1"/>
          <p:nvPr>
            <p:ph idx="4294967295" type="body"/>
          </p:nvPr>
        </p:nvSpPr>
        <p:spPr>
          <a:xfrm>
            <a:off x="7404025" y="3031025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 ×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7" name="Google Shape;1947;p93"/>
          <p:cNvSpPr txBox="1"/>
          <p:nvPr>
            <p:ph idx="4294967295" type="body"/>
          </p:nvPr>
        </p:nvSpPr>
        <p:spPr>
          <a:xfrm>
            <a:off x="6864000" y="1363275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 10 + 13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8" name="Google Shape;1948;p93"/>
          <p:cNvSpPr txBox="1"/>
          <p:nvPr>
            <p:ph idx="1" type="body"/>
          </p:nvPr>
        </p:nvSpPr>
        <p:spPr>
          <a:xfrm>
            <a:off x="4572000" y="4483200"/>
            <a:ext cx="3861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Explain your reasoning.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949" name="Google Shape;1949;p93"/>
          <p:cNvSpPr txBox="1"/>
          <p:nvPr>
            <p:ph idx="4294967295" type="body"/>
          </p:nvPr>
        </p:nvSpPr>
        <p:spPr>
          <a:xfrm>
            <a:off x="6799125" y="3240000"/>
            <a:ext cx="34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0" name="Google Shape;1950;p93"/>
          <p:cNvSpPr txBox="1"/>
          <p:nvPr>
            <p:ph idx="4294967295" type="body"/>
          </p:nvPr>
        </p:nvSpPr>
        <p:spPr>
          <a:xfrm>
            <a:off x="6720400" y="1766138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1" name="Google Shape;1951;p93"/>
          <p:cNvSpPr txBox="1"/>
          <p:nvPr>
            <p:ph idx="4294967295" type="body"/>
          </p:nvPr>
        </p:nvSpPr>
        <p:spPr>
          <a:xfrm>
            <a:off x="7941650" y="2125513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2" name="Google Shape;1952;p93"/>
          <p:cNvSpPr txBox="1"/>
          <p:nvPr>
            <p:ph idx="4294967295" type="body"/>
          </p:nvPr>
        </p:nvSpPr>
        <p:spPr>
          <a:xfrm>
            <a:off x="8022025" y="1690363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 + b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953" name="Google Shape;1953;p93"/>
          <p:cNvGraphicFramePr/>
          <p:nvPr/>
        </p:nvGraphicFramePr>
        <p:xfrm>
          <a:off x="324000" y="1416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535875"/>
              </a:tblGrid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94"/>
          <p:cNvSpPr txBox="1"/>
          <p:nvPr>
            <p:ph idx="1" type="body"/>
          </p:nvPr>
        </p:nvSpPr>
        <p:spPr>
          <a:xfrm>
            <a:off x="324000" y="715650"/>
            <a:ext cx="40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</a:t>
            </a:r>
            <a:endParaRPr sz="2000"/>
          </a:p>
        </p:txBody>
      </p:sp>
      <p:sp>
        <p:nvSpPr>
          <p:cNvPr id="1959" name="Google Shape;1959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grpSp>
        <p:nvGrpSpPr>
          <p:cNvPr id="1960" name="Google Shape;1960;p94"/>
          <p:cNvGrpSpPr/>
          <p:nvPr/>
        </p:nvGrpSpPr>
        <p:grpSpPr>
          <a:xfrm>
            <a:off x="615812" y="1067701"/>
            <a:ext cx="2856112" cy="999674"/>
            <a:chOff x="3679000" y="1380975"/>
            <a:chExt cx="4343896" cy="2543700"/>
          </a:xfrm>
        </p:grpSpPr>
        <p:sp>
          <p:nvSpPr>
            <p:cNvPr id="1961" name="Google Shape;1961;p94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2" name="Google Shape;1962;p94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3" name="Google Shape;1963;p94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4" name="Google Shape;1964;p94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65" name="Google Shape;1965;p94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6" name="Google Shape;1966;p94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967" name="Google Shape;1967;p94"/>
          <p:cNvGrpSpPr/>
          <p:nvPr/>
        </p:nvGrpSpPr>
        <p:grpSpPr>
          <a:xfrm>
            <a:off x="662190" y="3443150"/>
            <a:ext cx="2763536" cy="1140418"/>
            <a:chOff x="3316500" y="457975"/>
            <a:chExt cx="4672871" cy="2924150"/>
          </a:xfrm>
        </p:grpSpPr>
        <p:sp>
          <p:nvSpPr>
            <p:cNvPr id="1968" name="Google Shape;1968;p94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69" name="Google Shape;1969;p94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70" name="Google Shape;1970;p94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71" name="Google Shape;1971;p94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72" name="Google Shape;1972;p94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73" name="Google Shape;1973;p94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74" name="Google Shape;1974;p94"/>
          <p:cNvSpPr txBox="1"/>
          <p:nvPr>
            <p:ph idx="1" type="body"/>
          </p:nvPr>
        </p:nvSpPr>
        <p:spPr>
          <a:xfrm>
            <a:off x="3471900" y="998150"/>
            <a:ext cx="5341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scales are balanced. What might the mass of the triangle and circle be? Is there more than one answer?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1975" name="Google Shape;1975;p94"/>
          <p:cNvGraphicFramePr/>
          <p:nvPr/>
        </p:nvGraphicFramePr>
        <p:xfrm>
          <a:off x="324000" y="118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535875"/>
              </a:tblGrid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76" name="Google Shape;1976;p94"/>
          <p:cNvSpPr txBox="1"/>
          <p:nvPr>
            <p:ph idx="1" type="body"/>
          </p:nvPr>
        </p:nvSpPr>
        <p:spPr>
          <a:xfrm>
            <a:off x="3471900" y="2343150"/>
            <a:ext cx="5341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scales are still balanced. What might the </a:t>
            </a:r>
            <a:r>
              <a:rPr lang="en-GB" sz="1800"/>
              <a:t>mass of the </a:t>
            </a:r>
            <a:r>
              <a:rPr lang="en-GB" sz="1800"/>
              <a:t>triangle and circle be? Is there more than one answer now? </a:t>
            </a:r>
            <a:endParaRPr sz="1800"/>
          </a:p>
        </p:txBody>
      </p:sp>
      <p:sp>
        <p:nvSpPr>
          <p:cNvPr id="1977" name="Google Shape;1977;p94"/>
          <p:cNvSpPr txBox="1"/>
          <p:nvPr>
            <p:ph idx="1" type="body"/>
          </p:nvPr>
        </p:nvSpPr>
        <p:spPr>
          <a:xfrm>
            <a:off x="3425725" y="3551400"/>
            <a:ext cx="5388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scales are no longer balanced. What could be </a:t>
            </a:r>
            <a:r>
              <a:rPr lang="en-GB" sz="1800"/>
              <a:t>done </a:t>
            </a:r>
            <a:r>
              <a:rPr lang="en-GB" sz="1800"/>
              <a:t>to balance them? Is there more than one answer?</a:t>
            </a:r>
            <a:endParaRPr sz="1800"/>
          </a:p>
        </p:txBody>
      </p:sp>
      <p:grpSp>
        <p:nvGrpSpPr>
          <p:cNvPr id="1978" name="Google Shape;1978;p94"/>
          <p:cNvGrpSpPr/>
          <p:nvPr/>
        </p:nvGrpSpPr>
        <p:grpSpPr>
          <a:xfrm>
            <a:off x="615812" y="2286901"/>
            <a:ext cx="2856112" cy="999674"/>
            <a:chOff x="3679000" y="1380975"/>
            <a:chExt cx="4343896" cy="2543700"/>
          </a:xfrm>
        </p:grpSpPr>
        <p:sp>
          <p:nvSpPr>
            <p:cNvPr id="1979" name="Google Shape;1979;p94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80" name="Google Shape;1980;p94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81" name="Google Shape;1981;p94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82" name="Google Shape;1982;p94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983" name="Google Shape;1983;p94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84" name="Google Shape;1984;p94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985" name="Google Shape;1985;p94"/>
          <p:cNvSpPr/>
          <p:nvPr/>
        </p:nvSpPr>
        <p:spPr>
          <a:xfrm>
            <a:off x="804875" y="1416488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6" name="Google Shape;1986;p94"/>
          <p:cNvSpPr/>
          <p:nvPr/>
        </p:nvSpPr>
        <p:spPr>
          <a:xfrm>
            <a:off x="1147175" y="1416488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987" name="Google Shape;1987;p94"/>
          <p:cNvGrpSpPr/>
          <p:nvPr/>
        </p:nvGrpSpPr>
        <p:grpSpPr>
          <a:xfrm>
            <a:off x="2768415" y="1263709"/>
            <a:ext cx="376934" cy="454896"/>
            <a:chOff x="4396891" y="2255566"/>
            <a:chExt cx="368100" cy="475584"/>
          </a:xfrm>
        </p:grpSpPr>
        <p:grpSp>
          <p:nvGrpSpPr>
            <p:cNvPr id="1988" name="Google Shape;1988;p94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989" name="Google Shape;1989;p94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0" name="Google Shape;1990;p94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91" name="Google Shape;1991;p94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94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1993" name="Google Shape;1993;p94"/>
          <p:cNvGrpSpPr/>
          <p:nvPr/>
        </p:nvGrpSpPr>
        <p:grpSpPr>
          <a:xfrm>
            <a:off x="2737342" y="2472505"/>
            <a:ext cx="436493" cy="454896"/>
            <a:chOff x="4396891" y="2255566"/>
            <a:chExt cx="368100" cy="475584"/>
          </a:xfrm>
        </p:grpSpPr>
        <p:grpSp>
          <p:nvGrpSpPr>
            <p:cNvPr id="1994" name="Google Shape;1994;p94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1995" name="Google Shape;1995;p94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94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97" name="Google Shape;1997;p94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94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999" name="Google Shape;1999;p94"/>
          <p:cNvSpPr/>
          <p:nvPr/>
        </p:nvSpPr>
        <p:spPr>
          <a:xfrm>
            <a:off x="804875" y="2635675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0" name="Google Shape;2000;p94"/>
          <p:cNvSpPr/>
          <p:nvPr/>
        </p:nvSpPr>
        <p:spPr>
          <a:xfrm>
            <a:off x="1152069" y="2642084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1" name="Google Shape;2001;p94"/>
          <p:cNvSpPr/>
          <p:nvPr/>
        </p:nvSpPr>
        <p:spPr>
          <a:xfrm>
            <a:off x="978900" y="2322675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2" name="Google Shape;2002;p94"/>
          <p:cNvSpPr/>
          <p:nvPr/>
        </p:nvSpPr>
        <p:spPr>
          <a:xfrm>
            <a:off x="825100" y="3782250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3" name="Google Shape;2003;p94"/>
          <p:cNvSpPr/>
          <p:nvPr/>
        </p:nvSpPr>
        <p:spPr>
          <a:xfrm>
            <a:off x="1172294" y="3788659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4" name="Google Shape;2004;p94"/>
          <p:cNvSpPr/>
          <p:nvPr/>
        </p:nvSpPr>
        <p:spPr>
          <a:xfrm>
            <a:off x="999125" y="3469250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05" name="Google Shape;2005;p94"/>
          <p:cNvGrpSpPr/>
          <p:nvPr/>
        </p:nvGrpSpPr>
        <p:grpSpPr>
          <a:xfrm>
            <a:off x="2669822" y="3825310"/>
            <a:ext cx="504260" cy="552723"/>
            <a:chOff x="4396891" y="2255566"/>
            <a:chExt cx="368100" cy="475584"/>
          </a:xfrm>
        </p:grpSpPr>
        <p:grpSp>
          <p:nvGrpSpPr>
            <p:cNvPr id="2006" name="Google Shape;2006;p94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2007" name="Google Shape;2007;p94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8" name="Google Shape;2008;p94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chemeClr val="lt1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009" name="Google Shape;2009;p94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94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4" name="Shape 2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5" name="Google Shape;2015;p95"/>
          <p:cNvSpPr txBox="1"/>
          <p:nvPr>
            <p:ph idx="1" type="body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1a) </a:t>
            </a:r>
            <a:r>
              <a:rPr lang="en-GB" sz="2000"/>
              <a:t>Choose one expression from the box to place on each scale pan. </a:t>
            </a:r>
            <a:endParaRPr sz="2000"/>
          </a:p>
        </p:txBody>
      </p:sp>
      <p:sp>
        <p:nvSpPr>
          <p:cNvPr id="2016" name="Google Shape;2016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grpSp>
        <p:nvGrpSpPr>
          <p:cNvPr id="2017" name="Google Shape;2017;p95"/>
          <p:cNvGrpSpPr/>
          <p:nvPr/>
        </p:nvGrpSpPr>
        <p:grpSpPr>
          <a:xfrm>
            <a:off x="311154" y="1601102"/>
            <a:ext cx="3499877" cy="999674"/>
            <a:chOff x="3679000" y="1380975"/>
            <a:chExt cx="4343896" cy="2543700"/>
          </a:xfrm>
        </p:grpSpPr>
        <p:sp>
          <p:nvSpPr>
            <p:cNvPr id="2018" name="Google Shape;2018;p9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19" name="Google Shape;2019;p9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20" name="Google Shape;2020;p9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21" name="Google Shape;2021;p9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22" name="Google Shape;2022;p9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23" name="Google Shape;2023;p9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24" name="Google Shape;2024;p95"/>
          <p:cNvSpPr/>
          <p:nvPr/>
        </p:nvSpPr>
        <p:spPr>
          <a:xfrm>
            <a:off x="6591450" y="1231500"/>
            <a:ext cx="2158800" cy="249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5" name="Google Shape;2025;p95"/>
          <p:cNvSpPr txBox="1"/>
          <p:nvPr>
            <p:ph idx="4294967295" type="body"/>
          </p:nvPr>
        </p:nvSpPr>
        <p:spPr>
          <a:xfrm>
            <a:off x="6652350" y="2655900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+ 10 + 12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6" name="Google Shape;2026;p95"/>
          <p:cNvSpPr txBox="1"/>
          <p:nvPr>
            <p:ph idx="4294967295" type="body"/>
          </p:nvPr>
        </p:nvSpPr>
        <p:spPr>
          <a:xfrm>
            <a:off x="6871000" y="2169025"/>
            <a:ext cx="79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7" name="Google Shape;2027;p95"/>
          <p:cNvSpPr txBox="1"/>
          <p:nvPr>
            <p:ph idx="4294967295" type="body"/>
          </p:nvPr>
        </p:nvSpPr>
        <p:spPr>
          <a:xfrm>
            <a:off x="7365700" y="3052625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 ×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8" name="Google Shape;2028;p95"/>
          <p:cNvSpPr txBox="1"/>
          <p:nvPr>
            <p:ph idx="4294967295" type="body"/>
          </p:nvPr>
        </p:nvSpPr>
        <p:spPr>
          <a:xfrm>
            <a:off x="6864000" y="1363275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 + 13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29" name="Google Shape;2029;p95"/>
          <p:cNvSpPr txBox="1"/>
          <p:nvPr>
            <p:ph idx="4294967295" type="body"/>
          </p:nvPr>
        </p:nvSpPr>
        <p:spPr>
          <a:xfrm>
            <a:off x="6799125" y="3240000"/>
            <a:ext cx="34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0" name="Google Shape;2030;p95"/>
          <p:cNvSpPr txBox="1"/>
          <p:nvPr>
            <p:ph idx="4294967295" type="body"/>
          </p:nvPr>
        </p:nvSpPr>
        <p:spPr>
          <a:xfrm>
            <a:off x="6720400" y="1766138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1" name="Google Shape;2031;p95"/>
          <p:cNvSpPr txBox="1"/>
          <p:nvPr>
            <p:ph idx="4294967295" type="body"/>
          </p:nvPr>
        </p:nvSpPr>
        <p:spPr>
          <a:xfrm>
            <a:off x="7941650" y="2125513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2" name="Google Shape;2032;p95"/>
          <p:cNvSpPr txBox="1"/>
          <p:nvPr>
            <p:ph idx="4294967295" type="body"/>
          </p:nvPr>
        </p:nvSpPr>
        <p:spPr>
          <a:xfrm>
            <a:off x="8022025" y="1690363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b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3" name="Google Shape;2033;p95"/>
          <p:cNvSpPr txBox="1"/>
          <p:nvPr>
            <p:ph idx="4294967295" type="body"/>
          </p:nvPr>
        </p:nvSpPr>
        <p:spPr>
          <a:xfrm>
            <a:off x="612050" y="1966975"/>
            <a:ext cx="79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4" name="Google Shape;2034;p95"/>
          <p:cNvSpPr txBox="1"/>
          <p:nvPr>
            <p:ph idx="4294967295" type="body"/>
          </p:nvPr>
        </p:nvSpPr>
        <p:spPr>
          <a:xfrm>
            <a:off x="2706300" y="1966975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 ×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35" name="Google Shape;2035;p95"/>
          <p:cNvSpPr txBox="1"/>
          <p:nvPr>
            <p:ph idx="4294967295" type="body"/>
          </p:nvPr>
        </p:nvSpPr>
        <p:spPr>
          <a:xfrm>
            <a:off x="4002750" y="1612500"/>
            <a:ext cx="22542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both expressions are the same as    6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5 = 30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6" name="Google Shape;2036;p95"/>
          <p:cNvSpPr txBox="1"/>
          <p:nvPr>
            <p:ph idx="4294967295" type="body"/>
          </p:nvPr>
        </p:nvSpPr>
        <p:spPr>
          <a:xfrm>
            <a:off x="4010725" y="3011400"/>
            <a:ext cx="2588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This would balance if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30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37" name="Google Shape;2037;p95"/>
          <p:cNvGrpSpPr/>
          <p:nvPr/>
        </p:nvGrpSpPr>
        <p:grpSpPr>
          <a:xfrm>
            <a:off x="311154" y="2690552"/>
            <a:ext cx="3499877" cy="999674"/>
            <a:chOff x="3679000" y="1380975"/>
            <a:chExt cx="4343896" cy="2543700"/>
          </a:xfrm>
        </p:grpSpPr>
        <p:sp>
          <p:nvSpPr>
            <p:cNvPr id="2038" name="Google Shape;2038;p9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39" name="Google Shape;2039;p9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0" name="Google Shape;2040;p9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41" name="Google Shape;2041;p9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42" name="Google Shape;2042;p9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43" name="Google Shape;2043;p9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44" name="Google Shape;2044;p95"/>
          <p:cNvSpPr txBox="1"/>
          <p:nvPr>
            <p:ph idx="4294967295" type="body"/>
          </p:nvPr>
        </p:nvSpPr>
        <p:spPr>
          <a:xfrm>
            <a:off x="837050" y="3055328"/>
            <a:ext cx="34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5" name="Google Shape;2045;p95"/>
          <p:cNvSpPr txBox="1"/>
          <p:nvPr>
            <p:ph idx="4294967295" type="body"/>
          </p:nvPr>
        </p:nvSpPr>
        <p:spPr>
          <a:xfrm>
            <a:off x="2752700" y="3055340"/>
            <a:ext cx="79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46" name="Google Shape;2046;p95"/>
          <p:cNvSpPr txBox="1"/>
          <p:nvPr>
            <p:ph idx="4294967295" type="body"/>
          </p:nvPr>
        </p:nvSpPr>
        <p:spPr>
          <a:xfrm>
            <a:off x="311150" y="1181400"/>
            <a:ext cx="57471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Many possible answers.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47" name="Google Shape;2047;p95"/>
          <p:cNvGrpSpPr/>
          <p:nvPr/>
        </p:nvGrpSpPr>
        <p:grpSpPr>
          <a:xfrm>
            <a:off x="311154" y="3779989"/>
            <a:ext cx="3499877" cy="999674"/>
            <a:chOff x="3679000" y="1380975"/>
            <a:chExt cx="4343896" cy="2543700"/>
          </a:xfrm>
        </p:grpSpPr>
        <p:sp>
          <p:nvSpPr>
            <p:cNvPr id="2048" name="Google Shape;2048;p95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49" name="Google Shape;2049;p95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0" name="Google Shape;2050;p95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51" name="Google Shape;2051;p95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52" name="Google Shape;2052;p95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53" name="Google Shape;2053;p95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54" name="Google Shape;2054;p95"/>
          <p:cNvSpPr txBox="1"/>
          <p:nvPr>
            <p:ph idx="4294967295" type="body"/>
          </p:nvPr>
        </p:nvSpPr>
        <p:spPr>
          <a:xfrm>
            <a:off x="612050" y="4147738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5" name="Google Shape;2055;p95"/>
          <p:cNvSpPr txBox="1"/>
          <p:nvPr>
            <p:ph idx="4294967295" type="body"/>
          </p:nvPr>
        </p:nvSpPr>
        <p:spPr>
          <a:xfrm>
            <a:off x="2826950" y="4145888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b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56" name="Google Shape;2056;p95"/>
          <p:cNvSpPr txBox="1"/>
          <p:nvPr>
            <p:ph idx="4294967295" type="body"/>
          </p:nvPr>
        </p:nvSpPr>
        <p:spPr>
          <a:xfrm>
            <a:off x="4063650" y="4021050"/>
            <a:ext cx="2588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This would balance if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 = 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96"/>
          <p:cNvSpPr txBox="1"/>
          <p:nvPr>
            <p:ph idx="1" type="body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1b) </a:t>
            </a:r>
            <a:r>
              <a:rPr lang="en-GB" sz="2000"/>
              <a:t>Choose one expression from the box to place on each scale pan. </a:t>
            </a:r>
            <a:endParaRPr sz="2000"/>
          </a:p>
        </p:txBody>
      </p:sp>
      <p:sp>
        <p:nvSpPr>
          <p:cNvPr id="2062" name="Google Shape;2062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grpSp>
        <p:nvGrpSpPr>
          <p:cNvPr id="2063" name="Google Shape;2063;p96"/>
          <p:cNvGrpSpPr/>
          <p:nvPr/>
        </p:nvGrpSpPr>
        <p:grpSpPr>
          <a:xfrm>
            <a:off x="410060" y="1459837"/>
            <a:ext cx="3386430" cy="1116148"/>
            <a:chOff x="3316500" y="457975"/>
            <a:chExt cx="4672871" cy="2924150"/>
          </a:xfrm>
        </p:grpSpPr>
        <p:sp>
          <p:nvSpPr>
            <p:cNvPr id="2064" name="Google Shape;2064;p96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65" name="Google Shape;2065;p96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66" name="Google Shape;2066;p96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67" name="Google Shape;2067;p96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68" name="Google Shape;2068;p96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69" name="Google Shape;2069;p96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70" name="Google Shape;2070;p96"/>
          <p:cNvSpPr/>
          <p:nvPr/>
        </p:nvSpPr>
        <p:spPr>
          <a:xfrm>
            <a:off x="6591450" y="1231500"/>
            <a:ext cx="2158800" cy="249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1" name="Google Shape;2071;p96"/>
          <p:cNvSpPr txBox="1"/>
          <p:nvPr>
            <p:ph idx="4294967295" type="body"/>
          </p:nvPr>
        </p:nvSpPr>
        <p:spPr>
          <a:xfrm>
            <a:off x="6652350" y="2655900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+ 10 + 12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2" name="Google Shape;2072;p96"/>
          <p:cNvSpPr txBox="1"/>
          <p:nvPr>
            <p:ph idx="4294967295" type="body"/>
          </p:nvPr>
        </p:nvSpPr>
        <p:spPr>
          <a:xfrm>
            <a:off x="6871000" y="2169025"/>
            <a:ext cx="79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3" name="Google Shape;2073;p96"/>
          <p:cNvSpPr txBox="1"/>
          <p:nvPr>
            <p:ph idx="4294967295" type="body"/>
          </p:nvPr>
        </p:nvSpPr>
        <p:spPr>
          <a:xfrm>
            <a:off x="7365700" y="3052625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 ×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4" name="Google Shape;2074;p96"/>
          <p:cNvSpPr txBox="1"/>
          <p:nvPr>
            <p:ph idx="4294967295" type="body"/>
          </p:nvPr>
        </p:nvSpPr>
        <p:spPr>
          <a:xfrm>
            <a:off x="6864000" y="1363275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 + 13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5" name="Google Shape;2075;p96"/>
          <p:cNvSpPr txBox="1"/>
          <p:nvPr>
            <p:ph idx="4294967295" type="body"/>
          </p:nvPr>
        </p:nvSpPr>
        <p:spPr>
          <a:xfrm>
            <a:off x="6799125" y="3240000"/>
            <a:ext cx="34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6" name="Google Shape;2076;p96"/>
          <p:cNvSpPr txBox="1"/>
          <p:nvPr>
            <p:ph idx="4294967295" type="body"/>
          </p:nvPr>
        </p:nvSpPr>
        <p:spPr>
          <a:xfrm>
            <a:off x="6720400" y="1766138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+ 6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7" name="Google Shape;2077;p96"/>
          <p:cNvSpPr txBox="1"/>
          <p:nvPr>
            <p:ph idx="4294967295" type="body"/>
          </p:nvPr>
        </p:nvSpPr>
        <p:spPr>
          <a:xfrm>
            <a:off x="7941650" y="2125513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8" name="Google Shape;2078;p96"/>
          <p:cNvSpPr txBox="1"/>
          <p:nvPr>
            <p:ph idx="4294967295" type="body"/>
          </p:nvPr>
        </p:nvSpPr>
        <p:spPr>
          <a:xfrm>
            <a:off x="8022025" y="1690363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b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79" name="Google Shape;2079;p96"/>
          <p:cNvSpPr txBox="1"/>
          <p:nvPr>
            <p:ph idx="4294967295" type="body"/>
          </p:nvPr>
        </p:nvSpPr>
        <p:spPr>
          <a:xfrm>
            <a:off x="4002750" y="1321038"/>
            <a:ext cx="2158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The right hand side is one bigger.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80" name="Google Shape;2080;p96"/>
          <p:cNvSpPr txBox="1"/>
          <p:nvPr>
            <p:ph idx="4294967295" type="body"/>
          </p:nvPr>
        </p:nvSpPr>
        <p:spPr>
          <a:xfrm>
            <a:off x="3899625" y="2902125"/>
            <a:ext cx="2588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positive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then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will be larger than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081" name="Google Shape;2081;p96"/>
          <p:cNvGrpSpPr/>
          <p:nvPr/>
        </p:nvGrpSpPr>
        <p:grpSpPr>
          <a:xfrm>
            <a:off x="410060" y="2579034"/>
            <a:ext cx="3386430" cy="1116148"/>
            <a:chOff x="3316500" y="457975"/>
            <a:chExt cx="4672871" cy="2924150"/>
          </a:xfrm>
        </p:grpSpPr>
        <p:sp>
          <p:nvSpPr>
            <p:cNvPr id="2082" name="Google Shape;2082;p96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83" name="Google Shape;2083;p96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84" name="Google Shape;2084;p96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85" name="Google Shape;2085;p96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86" name="Google Shape;2086;p96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87" name="Google Shape;2087;p96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088" name="Google Shape;2088;p96"/>
          <p:cNvGrpSpPr/>
          <p:nvPr/>
        </p:nvGrpSpPr>
        <p:grpSpPr>
          <a:xfrm>
            <a:off x="410060" y="3704262"/>
            <a:ext cx="3386430" cy="1116148"/>
            <a:chOff x="3316500" y="457975"/>
            <a:chExt cx="4672871" cy="2924150"/>
          </a:xfrm>
        </p:grpSpPr>
        <p:sp>
          <p:nvSpPr>
            <p:cNvPr id="2089" name="Google Shape;2089;p96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90" name="Google Shape;2090;p96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91" name="Google Shape;2091;p96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92" name="Google Shape;2092;p96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093" name="Google Shape;2093;p96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094" name="Google Shape;2094;p96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095" name="Google Shape;2095;p96"/>
          <p:cNvSpPr txBox="1"/>
          <p:nvPr>
            <p:ph idx="4294967295" type="body"/>
          </p:nvPr>
        </p:nvSpPr>
        <p:spPr>
          <a:xfrm>
            <a:off x="2598750" y="2102250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 + 13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6" name="Google Shape;2096;p96"/>
          <p:cNvSpPr txBox="1"/>
          <p:nvPr>
            <p:ph idx="4294967295" type="body"/>
          </p:nvPr>
        </p:nvSpPr>
        <p:spPr>
          <a:xfrm>
            <a:off x="378950" y="1796250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+ 10 + 12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7" name="Google Shape;2097;p96"/>
          <p:cNvSpPr txBox="1"/>
          <p:nvPr>
            <p:ph idx="4294967295" type="body"/>
          </p:nvPr>
        </p:nvSpPr>
        <p:spPr>
          <a:xfrm>
            <a:off x="857125" y="2924173"/>
            <a:ext cx="34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8" name="Google Shape;2098;p96"/>
          <p:cNvSpPr txBox="1"/>
          <p:nvPr>
            <p:ph idx="4294967295" type="body"/>
          </p:nvPr>
        </p:nvSpPr>
        <p:spPr>
          <a:xfrm>
            <a:off x="2928950" y="3228810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099" name="Google Shape;2099;p96"/>
          <p:cNvSpPr txBox="1"/>
          <p:nvPr>
            <p:ph idx="4294967295" type="body"/>
          </p:nvPr>
        </p:nvSpPr>
        <p:spPr>
          <a:xfrm>
            <a:off x="857125" y="4052100"/>
            <a:ext cx="34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0" name="Google Shape;2100;p96"/>
          <p:cNvSpPr txBox="1"/>
          <p:nvPr>
            <p:ph idx="4294967295" type="body"/>
          </p:nvPr>
        </p:nvSpPr>
        <p:spPr>
          <a:xfrm>
            <a:off x="2887200" y="4375038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+ 6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01" name="Google Shape;2101;p96"/>
          <p:cNvSpPr txBox="1"/>
          <p:nvPr>
            <p:ph idx="4294967295" type="body"/>
          </p:nvPr>
        </p:nvSpPr>
        <p:spPr>
          <a:xfrm>
            <a:off x="3943950" y="4107150"/>
            <a:ext cx="2588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True for any value of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02" name="Google Shape;2102;p96"/>
          <p:cNvSpPr txBox="1"/>
          <p:nvPr>
            <p:ph idx="4294967295" type="body"/>
          </p:nvPr>
        </p:nvSpPr>
        <p:spPr>
          <a:xfrm>
            <a:off x="336300" y="1115163"/>
            <a:ext cx="57471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Many possible answers.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6" name="Shape 2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7" name="Google Shape;2107;p97"/>
          <p:cNvSpPr txBox="1"/>
          <p:nvPr>
            <p:ph idx="1" type="body"/>
          </p:nvPr>
        </p:nvSpPr>
        <p:spPr>
          <a:xfrm>
            <a:off x="324000" y="759300"/>
            <a:ext cx="849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1c) </a:t>
            </a:r>
            <a:r>
              <a:rPr lang="en-GB" sz="2000"/>
              <a:t>Choose one expression from the box to place on each scale pan. </a:t>
            </a:r>
            <a:endParaRPr sz="2000"/>
          </a:p>
        </p:txBody>
      </p:sp>
      <p:sp>
        <p:nvSpPr>
          <p:cNvPr id="2108" name="Google Shape;2108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grpSp>
        <p:nvGrpSpPr>
          <p:cNvPr id="2109" name="Google Shape;2109;p97"/>
          <p:cNvGrpSpPr/>
          <p:nvPr/>
        </p:nvGrpSpPr>
        <p:grpSpPr>
          <a:xfrm>
            <a:off x="446225" y="1435012"/>
            <a:ext cx="3386195" cy="1140385"/>
            <a:chOff x="385691" y="2731154"/>
            <a:chExt cx="2658341" cy="1796448"/>
          </a:xfrm>
        </p:grpSpPr>
        <p:sp>
          <p:nvSpPr>
            <p:cNvPr id="2110" name="Google Shape;2110;p97"/>
            <p:cNvSpPr/>
            <p:nvPr/>
          </p:nvSpPr>
          <p:spPr>
            <a:xfrm>
              <a:off x="1548524" y="2964902"/>
              <a:ext cx="316500" cy="1562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11" name="Google Shape;2111;p97"/>
            <p:cNvGrpSpPr/>
            <p:nvPr/>
          </p:nvGrpSpPr>
          <p:grpSpPr>
            <a:xfrm flipH="1">
              <a:off x="385691" y="2731154"/>
              <a:ext cx="2658341" cy="1510855"/>
              <a:chOff x="385636" y="2731154"/>
              <a:chExt cx="2658341" cy="1510855"/>
            </a:xfrm>
          </p:grpSpPr>
          <p:cxnSp>
            <p:nvCxnSpPr>
              <p:cNvPr id="2112" name="Google Shape;2112;p97"/>
              <p:cNvCxnSpPr/>
              <p:nvPr/>
            </p:nvCxnSpPr>
            <p:spPr>
              <a:xfrm>
                <a:off x="869044" y="2731154"/>
                <a:ext cx="1694400" cy="493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13" name="Google Shape;2113;p97"/>
              <p:cNvSpPr/>
              <p:nvPr/>
            </p:nvSpPr>
            <p:spPr>
              <a:xfrm>
                <a:off x="494689" y="2731154"/>
                <a:ext cx="743400" cy="10173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14" name="Google Shape;2114;p97"/>
              <p:cNvCxnSpPr/>
              <p:nvPr/>
            </p:nvCxnSpPr>
            <p:spPr>
              <a:xfrm>
                <a:off x="385636" y="3748416"/>
                <a:ext cx="96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15" name="Google Shape;2115;p97"/>
              <p:cNvSpPr/>
              <p:nvPr/>
            </p:nvSpPr>
            <p:spPr>
              <a:xfrm>
                <a:off x="2191540" y="3224709"/>
                <a:ext cx="743400" cy="10173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16" name="Google Shape;2116;p97"/>
              <p:cNvCxnSpPr/>
              <p:nvPr/>
            </p:nvCxnSpPr>
            <p:spPr>
              <a:xfrm>
                <a:off x="2082477" y="4241964"/>
                <a:ext cx="96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117" name="Google Shape;2117;p97"/>
          <p:cNvSpPr/>
          <p:nvPr/>
        </p:nvSpPr>
        <p:spPr>
          <a:xfrm>
            <a:off x="6591450" y="1231500"/>
            <a:ext cx="2158800" cy="24927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8" name="Google Shape;2118;p97"/>
          <p:cNvSpPr txBox="1"/>
          <p:nvPr>
            <p:ph idx="4294967295" type="body"/>
          </p:nvPr>
        </p:nvSpPr>
        <p:spPr>
          <a:xfrm>
            <a:off x="6652350" y="2655900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+ 10 + 12</a:t>
            </a:r>
            <a:endParaRPr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19" name="Google Shape;2119;p97"/>
          <p:cNvSpPr txBox="1"/>
          <p:nvPr>
            <p:ph idx="4294967295" type="body"/>
          </p:nvPr>
        </p:nvSpPr>
        <p:spPr>
          <a:xfrm>
            <a:off x="6871000" y="2169025"/>
            <a:ext cx="79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0" name="Google Shape;2120;p97"/>
          <p:cNvSpPr txBox="1"/>
          <p:nvPr>
            <p:ph idx="4294967295" type="body"/>
          </p:nvPr>
        </p:nvSpPr>
        <p:spPr>
          <a:xfrm>
            <a:off x="7365700" y="3052625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3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 × 2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1" name="Google Shape;2121;p97"/>
          <p:cNvSpPr txBox="1"/>
          <p:nvPr>
            <p:ph idx="4294967295" type="body"/>
          </p:nvPr>
        </p:nvSpPr>
        <p:spPr>
          <a:xfrm>
            <a:off x="6864000" y="1363275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 + 13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2" name="Google Shape;2122;p97"/>
          <p:cNvSpPr txBox="1"/>
          <p:nvPr>
            <p:ph idx="4294967295" type="body"/>
          </p:nvPr>
        </p:nvSpPr>
        <p:spPr>
          <a:xfrm>
            <a:off x="6799125" y="3240000"/>
            <a:ext cx="34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3" name="Google Shape;2123;p97"/>
          <p:cNvSpPr txBox="1"/>
          <p:nvPr>
            <p:ph idx="4294967295" type="body"/>
          </p:nvPr>
        </p:nvSpPr>
        <p:spPr>
          <a:xfrm>
            <a:off x="6720400" y="1766138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+ 6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4" name="Google Shape;2124;p97"/>
          <p:cNvSpPr txBox="1"/>
          <p:nvPr>
            <p:ph idx="4294967295" type="body"/>
          </p:nvPr>
        </p:nvSpPr>
        <p:spPr>
          <a:xfrm>
            <a:off x="7941650" y="2125513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5" name="Google Shape;2125;p97"/>
          <p:cNvSpPr txBox="1"/>
          <p:nvPr>
            <p:ph idx="4294967295" type="body"/>
          </p:nvPr>
        </p:nvSpPr>
        <p:spPr>
          <a:xfrm>
            <a:off x="8022025" y="1690363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b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26" name="Google Shape;2126;p97"/>
          <p:cNvSpPr txBox="1"/>
          <p:nvPr>
            <p:ph idx="4294967295" type="body"/>
          </p:nvPr>
        </p:nvSpPr>
        <p:spPr>
          <a:xfrm>
            <a:off x="4002750" y="1612225"/>
            <a:ext cx="2420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E.g.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8 + 10 + 13 =31 and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6 </a:t>
            </a:r>
            <a:r>
              <a:rPr lang="en-GB" sz="2000">
                <a:solidFill>
                  <a:srgbClr val="222222"/>
                </a:solidFill>
                <a:latin typeface="Kalam"/>
                <a:ea typeface="Kalam"/>
                <a:cs typeface="Kalam"/>
                <a:sym typeface="Kalam"/>
              </a:rPr>
              <a:t>× 5 = 30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2127" name="Google Shape;2127;p97"/>
          <p:cNvGrpSpPr/>
          <p:nvPr/>
        </p:nvGrpSpPr>
        <p:grpSpPr>
          <a:xfrm>
            <a:off x="490575" y="2592365"/>
            <a:ext cx="3386195" cy="1140385"/>
            <a:chOff x="385691" y="2731154"/>
            <a:chExt cx="2658341" cy="1796448"/>
          </a:xfrm>
        </p:grpSpPr>
        <p:sp>
          <p:nvSpPr>
            <p:cNvPr id="2128" name="Google Shape;2128;p97"/>
            <p:cNvSpPr/>
            <p:nvPr/>
          </p:nvSpPr>
          <p:spPr>
            <a:xfrm>
              <a:off x="1548524" y="2964902"/>
              <a:ext cx="316500" cy="1562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29" name="Google Shape;2129;p97"/>
            <p:cNvGrpSpPr/>
            <p:nvPr/>
          </p:nvGrpSpPr>
          <p:grpSpPr>
            <a:xfrm flipH="1">
              <a:off x="385691" y="2731154"/>
              <a:ext cx="2658341" cy="1510855"/>
              <a:chOff x="385636" y="2731154"/>
              <a:chExt cx="2658341" cy="1510855"/>
            </a:xfrm>
          </p:grpSpPr>
          <p:cxnSp>
            <p:nvCxnSpPr>
              <p:cNvPr id="2130" name="Google Shape;2130;p97"/>
              <p:cNvCxnSpPr/>
              <p:nvPr/>
            </p:nvCxnSpPr>
            <p:spPr>
              <a:xfrm>
                <a:off x="869044" y="2731154"/>
                <a:ext cx="1694400" cy="493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31" name="Google Shape;2131;p97"/>
              <p:cNvSpPr/>
              <p:nvPr/>
            </p:nvSpPr>
            <p:spPr>
              <a:xfrm>
                <a:off x="494689" y="2731154"/>
                <a:ext cx="743400" cy="10173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32" name="Google Shape;2132;p97"/>
              <p:cNvCxnSpPr/>
              <p:nvPr/>
            </p:nvCxnSpPr>
            <p:spPr>
              <a:xfrm>
                <a:off x="385636" y="3748416"/>
                <a:ext cx="96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33" name="Google Shape;2133;p97"/>
              <p:cNvSpPr/>
              <p:nvPr/>
            </p:nvSpPr>
            <p:spPr>
              <a:xfrm>
                <a:off x="2191540" y="3224709"/>
                <a:ext cx="743400" cy="10173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34" name="Google Shape;2134;p97"/>
              <p:cNvCxnSpPr/>
              <p:nvPr/>
            </p:nvCxnSpPr>
            <p:spPr>
              <a:xfrm>
                <a:off x="2082477" y="4241964"/>
                <a:ext cx="96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135" name="Google Shape;2135;p97"/>
          <p:cNvGrpSpPr/>
          <p:nvPr/>
        </p:nvGrpSpPr>
        <p:grpSpPr>
          <a:xfrm>
            <a:off x="490575" y="3689504"/>
            <a:ext cx="3386195" cy="1140385"/>
            <a:chOff x="385691" y="2731154"/>
            <a:chExt cx="2658341" cy="1796448"/>
          </a:xfrm>
        </p:grpSpPr>
        <p:sp>
          <p:nvSpPr>
            <p:cNvPr id="2136" name="Google Shape;2136;p97"/>
            <p:cNvSpPr/>
            <p:nvPr/>
          </p:nvSpPr>
          <p:spPr>
            <a:xfrm>
              <a:off x="1548524" y="2964902"/>
              <a:ext cx="316500" cy="1562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37" name="Google Shape;2137;p97"/>
            <p:cNvGrpSpPr/>
            <p:nvPr/>
          </p:nvGrpSpPr>
          <p:grpSpPr>
            <a:xfrm flipH="1">
              <a:off x="385691" y="2731154"/>
              <a:ext cx="2658341" cy="1510855"/>
              <a:chOff x="385636" y="2731154"/>
              <a:chExt cx="2658341" cy="1510855"/>
            </a:xfrm>
          </p:grpSpPr>
          <p:cxnSp>
            <p:nvCxnSpPr>
              <p:cNvPr id="2138" name="Google Shape;2138;p97"/>
              <p:cNvCxnSpPr/>
              <p:nvPr/>
            </p:nvCxnSpPr>
            <p:spPr>
              <a:xfrm>
                <a:off x="869044" y="2731154"/>
                <a:ext cx="1694400" cy="4935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39" name="Google Shape;2139;p97"/>
              <p:cNvSpPr/>
              <p:nvPr/>
            </p:nvSpPr>
            <p:spPr>
              <a:xfrm>
                <a:off x="494689" y="2731154"/>
                <a:ext cx="743400" cy="10173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40" name="Google Shape;2140;p97"/>
              <p:cNvCxnSpPr/>
              <p:nvPr/>
            </p:nvCxnSpPr>
            <p:spPr>
              <a:xfrm>
                <a:off x="385636" y="3748416"/>
                <a:ext cx="96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2141" name="Google Shape;2141;p97"/>
              <p:cNvSpPr/>
              <p:nvPr/>
            </p:nvSpPr>
            <p:spPr>
              <a:xfrm>
                <a:off x="2191540" y="3224709"/>
                <a:ext cx="743400" cy="1017300"/>
              </a:xfrm>
              <a:prstGeom prst="triangle">
                <a:avLst>
                  <a:gd fmla="val 50000" name="adj"/>
                </a:avLst>
              </a:prstGeom>
              <a:noFill/>
              <a:ln cap="flat" cmpd="sng" w="9525">
                <a:solidFill>
                  <a:srgbClr val="00000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142" name="Google Shape;2142;p97"/>
              <p:cNvCxnSpPr/>
              <p:nvPr/>
            </p:nvCxnSpPr>
            <p:spPr>
              <a:xfrm>
                <a:off x="2082477" y="4241964"/>
                <a:ext cx="961500" cy="0"/>
              </a:xfrm>
              <a:prstGeom prst="straightConnector1">
                <a:avLst/>
              </a:prstGeom>
              <a:noFill/>
              <a:ln cap="flat" cmpd="sng" w="3810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2143" name="Google Shape;2143;p97"/>
          <p:cNvSpPr txBox="1"/>
          <p:nvPr>
            <p:ph idx="4294967295" type="body"/>
          </p:nvPr>
        </p:nvSpPr>
        <p:spPr>
          <a:xfrm>
            <a:off x="446451" y="2112376"/>
            <a:ext cx="1613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8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+ 10 + 13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4" name="Google Shape;2144;p97"/>
          <p:cNvSpPr txBox="1"/>
          <p:nvPr>
            <p:ph idx="4294967295" type="body"/>
          </p:nvPr>
        </p:nvSpPr>
        <p:spPr>
          <a:xfrm>
            <a:off x="2887200" y="1792501"/>
            <a:ext cx="79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6 </a:t>
            </a:r>
            <a:r>
              <a:rPr lang="en-GB" sz="2000">
                <a:solidFill>
                  <a:srgbClr val="222222"/>
                </a:solidFill>
                <a:latin typeface="Times"/>
                <a:ea typeface="Times"/>
                <a:cs typeface="Times"/>
                <a:sym typeface="Times"/>
              </a:rPr>
              <a:t>× 5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5" name="Google Shape;2145;p97"/>
          <p:cNvSpPr txBox="1"/>
          <p:nvPr>
            <p:ph idx="4294967295" type="body"/>
          </p:nvPr>
        </p:nvSpPr>
        <p:spPr>
          <a:xfrm>
            <a:off x="324000" y="1079988"/>
            <a:ext cx="57471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Many possible answers – same as b)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6" name="Google Shape;2146;p97"/>
          <p:cNvSpPr txBox="1"/>
          <p:nvPr>
            <p:ph idx="4294967295" type="body"/>
          </p:nvPr>
        </p:nvSpPr>
        <p:spPr>
          <a:xfrm>
            <a:off x="783325" y="3269088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b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7" name="Google Shape;2147;p97"/>
          <p:cNvSpPr txBox="1"/>
          <p:nvPr>
            <p:ph idx="4294967295" type="body"/>
          </p:nvPr>
        </p:nvSpPr>
        <p:spPr>
          <a:xfrm>
            <a:off x="3112200" y="2972100"/>
            <a:ext cx="3438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48" name="Google Shape;2148;p97"/>
          <p:cNvSpPr txBox="1"/>
          <p:nvPr>
            <p:ph idx="4294967295" type="body"/>
          </p:nvPr>
        </p:nvSpPr>
        <p:spPr>
          <a:xfrm>
            <a:off x="3876775" y="3320525"/>
            <a:ext cx="27807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True when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positive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49" name="Google Shape;2149;p97"/>
          <p:cNvSpPr txBox="1"/>
          <p:nvPr>
            <p:ph idx="4294967295" type="body"/>
          </p:nvPr>
        </p:nvSpPr>
        <p:spPr>
          <a:xfrm>
            <a:off x="783325" y="4360613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</a:t>
            </a:r>
            <a:r>
              <a:rPr lang="en-GB" sz="2000">
                <a:latin typeface="Times"/>
                <a:ea typeface="Times"/>
                <a:cs typeface="Times"/>
                <a:sym typeface="Times"/>
              </a:rPr>
              <a:t>6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0" name="Google Shape;2150;p97"/>
          <p:cNvSpPr txBox="1"/>
          <p:nvPr>
            <p:ph idx="4294967295" type="body"/>
          </p:nvPr>
        </p:nvSpPr>
        <p:spPr>
          <a:xfrm>
            <a:off x="2961450" y="4052088"/>
            <a:ext cx="6453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a + b</a:t>
            </a:r>
            <a:endParaRPr i="1" sz="2000"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2151" name="Google Shape;2151;p97"/>
          <p:cNvSpPr txBox="1"/>
          <p:nvPr>
            <p:ph idx="4294967295" type="body"/>
          </p:nvPr>
        </p:nvSpPr>
        <p:spPr>
          <a:xfrm>
            <a:off x="4002750" y="4360625"/>
            <a:ext cx="3107400" cy="26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True when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is less than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5" name="Shape 2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6" name="Google Shape;2156;p98"/>
          <p:cNvSpPr txBox="1"/>
          <p:nvPr>
            <p:ph idx="1" type="body"/>
          </p:nvPr>
        </p:nvSpPr>
        <p:spPr>
          <a:xfrm>
            <a:off x="324000" y="759300"/>
            <a:ext cx="4365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</a:t>
            </a:r>
            <a:endParaRPr sz="2000"/>
          </a:p>
        </p:txBody>
      </p:sp>
      <p:sp>
        <p:nvSpPr>
          <p:cNvPr id="2157" name="Google Shape;2157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grpSp>
        <p:nvGrpSpPr>
          <p:cNvPr id="2158" name="Google Shape;2158;p98"/>
          <p:cNvGrpSpPr/>
          <p:nvPr/>
        </p:nvGrpSpPr>
        <p:grpSpPr>
          <a:xfrm>
            <a:off x="471135" y="1067701"/>
            <a:ext cx="2856112" cy="999674"/>
            <a:chOff x="3679000" y="1380975"/>
            <a:chExt cx="4343896" cy="2543700"/>
          </a:xfrm>
        </p:grpSpPr>
        <p:sp>
          <p:nvSpPr>
            <p:cNvPr id="2159" name="Google Shape;2159;p98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60" name="Google Shape;2160;p98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61" name="Google Shape;2161;p98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62" name="Google Shape;2162;p98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63" name="Google Shape;2163;p98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64" name="Google Shape;2164;p98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65" name="Google Shape;2165;p98"/>
          <p:cNvSpPr txBox="1"/>
          <p:nvPr>
            <p:ph idx="1" type="body"/>
          </p:nvPr>
        </p:nvSpPr>
        <p:spPr>
          <a:xfrm>
            <a:off x="3471925" y="759300"/>
            <a:ext cx="5341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These scales are balanced.</a:t>
            </a:r>
            <a:r>
              <a:rPr lang="en-GB" sz="1800"/>
              <a:t> What might the mass of the triangle and circle be? </a:t>
            </a:r>
            <a:r>
              <a:rPr lang="en-GB" sz="1800"/>
              <a:t>Is there more than one answer? </a:t>
            </a:r>
            <a:endParaRPr sz="1800"/>
          </a:p>
        </p:txBody>
      </p:sp>
      <p:sp>
        <p:nvSpPr>
          <p:cNvPr id="2166" name="Google Shape;2166;p98"/>
          <p:cNvSpPr/>
          <p:nvPr/>
        </p:nvSpPr>
        <p:spPr>
          <a:xfrm>
            <a:off x="660198" y="1416488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7" name="Google Shape;2167;p98"/>
          <p:cNvSpPr/>
          <p:nvPr/>
        </p:nvSpPr>
        <p:spPr>
          <a:xfrm>
            <a:off x="1002498" y="1416488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168" name="Google Shape;2168;p98"/>
          <p:cNvGrpSpPr/>
          <p:nvPr/>
        </p:nvGrpSpPr>
        <p:grpSpPr>
          <a:xfrm>
            <a:off x="2623738" y="1263709"/>
            <a:ext cx="376934" cy="454896"/>
            <a:chOff x="4396891" y="2255566"/>
            <a:chExt cx="368100" cy="475584"/>
          </a:xfrm>
        </p:grpSpPr>
        <p:grpSp>
          <p:nvGrpSpPr>
            <p:cNvPr id="2169" name="Google Shape;2169;p98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2170" name="Google Shape;2170;p98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1" name="Google Shape;2171;p98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172" name="Google Shape;2172;p98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98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74" name="Google Shape;2174;p98"/>
          <p:cNvSpPr txBox="1"/>
          <p:nvPr>
            <p:ph idx="1" type="body"/>
          </p:nvPr>
        </p:nvSpPr>
        <p:spPr>
          <a:xfrm>
            <a:off x="3471925" y="1779100"/>
            <a:ext cx="5341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6 integer possibilities. e.g.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(Infinite non-integer answers)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175" name="Google Shape;2175;p98"/>
          <p:cNvSpPr/>
          <p:nvPr/>
        </p:nvSpPr>
        <p:spPr>
          <a:xfrm>
            <a:off x="3443725" y="2139039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6" name="Google Shape;2176;p98"/>
          <p:cNvSpPr/>
          <p:nvPr/>
        </p:nvSpPr>
        <p:spPr>
          <a:xfrm>
            <a:off x="3786025" y="2139039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7" name="Google Shape;2177;p98"/>
          <p:cNvSpPr/>
          <p:nvPr/>
        </p:nvSpPr>
        <p:spPr>
          <a:xfrm>
            <a:off x="4339525" y="2113227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8" name="Google Shape;2178;p98"/>
          <p:cNvSpPr/>
          <p:nvPr/>
        </p:nvSpPr>
        <p:spPr>
          <a:xfrm>
            <a:off x="4681825" y="2113227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9" name="Google Shape;2179;p98"/>
          <p:cNvSpPr/>
          <p:nvPr/>
        </p:nvSpPr>
        <p:spPr>
          <a:xfrm>
            <a:off x="5218051" y="2139052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98"/>
          <p:cNvSpPr/>
          <p:nvPr/>
        </p:nvSpPr>
        <p:spPr>
          <a:xfrm>
            <a:off x="5560351" y="2139052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1" name="Google Shape;2181;p98"/>
          <p:cNvSpPr/>
          <p:nvPr/>
        </p:nvSpPr>
        <p:spPr>
          <a:xfrm>
            <a:off x="6086700" y="2139039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2" name="Google Shape;2182;p98"/>
          <p:cNvSpPr/>
          <p:nvPr/>
        </p:nvSpPr>
        <p:spPr>
          <a:xfrm>
            <a:off x="6429000" y="2139039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3" name="Google Shape;2183;p98"/>
          <p:cNvSpPr/>
          <p:nvPr/>
        </p:nvSpPr>
        <p:spPr>
          <a:xfrm>
            <a:off x="6966600" y="2139039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4" name="Google Shape;2184;p98"/>
          <p:cNvSpPr/>
          <p:nvPr/>
        </p:nvSpPr>
        <p:spPr>
          <a:xfrm>
            <a:off x="7308900" y="2139039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5" name="Google Shape;2185;p98"/>
          <p:cNvSpPr/>
          <p:nvPr/>
        </p:nvSpPr>
        <p:spPr>
          <a:xfrm>
            <a:off x="7899375" y="2139052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6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6" name="Google Shape;2186;p98"/>
          <p:cNvSpPr/>
          <p:nvPr/>
        </p:nvSpPr>
        <p:spPr>
          <a:xfrm>
            <a:off x="8241675" y="2139052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87" name="Google Shape;2187;p98"/>
          <p:cNvGraphicFramePr/>
          <p:nvPr/>
        </p:nvGraphicFramePr>
        <p:xfrm>
          <a:off x="324000" y="118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535875"/>
              </a:tblGrid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1" name="Shape 2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Google Shape;2192;p99"/>
          <p:cNvSpPr txBox="1"/>
          <p:nvPr>
            <p:ph idx="1" type="body"/>
          </p:nvPr>
        </p:nvSpPr>
        <p:spPr>
          <a:xfrm>
            <a:off x="324000" y="759300"/>
            <a:ext cx="4365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</a:t>
            </a:r>
            <a:endParaRPr sz="2000"/>
          </a:p>
        </p:txBody>
      </p:sp>
      <p:sp>
        <p:nvSpPr>
          <p:cNvPr id="2193" name="Google Shape;2193;p9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sp>
        <p:nvSpPr>
          <p:cNvPr id="2194" name="Google Shape;2194;p99"/>
          <p:cNvSpPr txBox="1"/>
          <p:nvPr>
            <p:ph idx="1" type="body"/>
          </p:nvPr>
        </p:nvSpPr>
        <p:spPr>
          <a:xfrm>
            <a:off x="3365838" y="742950"/>
            <a:ext cx="5341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 scales are still balanced. What might the mass of the triangle and circle be?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Is there more than one answer now? </a:t>
            </a:r>
            <a:endParaRPr sz="1800"/>
          </a:p>
        </p:txBody>
      </p:sp>
      <p:grpSp>
        <p:nvGrpSpPr>
          <p:cNvPr id="2195" name="Google Shape;2195;p99"/>
          <p:cNvGrpSpPr/>
          <p:nvPr/>
        </p:nvGrpSpPr>
        <p:grpSpPr>
          <a:xfrm>
            <a:off x="471135" y="2286901"/>
            <a:ext cx="2856112" cy="999674"/>
            <a:chOff x="3679000" y="1380975"/>
            <a:chExt cx="4343896" cy="2543700"/>
          </a:xfrm>
        </p:grpSpPr>
        <p:sp>
          <p:nvSpPr>
            <p:cNvPr id="2196" name="Google Shape;2196;p99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97" name="Google Shape;2197;p99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198" name="Google Shape;2198;p99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199" name="Google Shape;2199;p99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00" name="Google Shape;2200;p99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01" name="Google Shape;2201;p99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02" name="Google Shape;2202;p99"/>
          <p:cNvGrpSpPr/>
          <p:nvPr/>
        </p:nvGrpSpPr>
        <p:grpSpPr>
          <a:xfrm>
            <a:off x="2592665" y="2472505"/>
            <a:ext cx="436493" cy="454896"/>
            <a:chOff x="4396891" y="2255566"/>
            <a:chExt cx="368100" cy="475584"/>
          </a:xfrm>
        </p:grpSpPr>
        <p:grpSp>
          <p:nvGrpSpPr>
            <p:cNvPr id="2203" name="Google Shape;2203;p99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2204" name="Google Shape;2204;p99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5" name="Google Shape;2205;p99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06" name="Google Shape;2206;p99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99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 New Roman"/>
                  <a:ea typeface="Times New Roman"/>
                  <a:cs typeface="Times New Roman"/>
                  <a:sym typeface="Times New Roman"/>
                </a:rPr>
                <a:t>10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08" name="Google Shape;2208;p99"/>
          <p:cNvSpPr/>
          <p:nvPr/>
        </p:nvSpPr>
        <p:spPr>
          <a:xfrm>
            <a:off x="660198" y="2635675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9" name="Google Shape;2209;p99"/>
          <p:cNvSpPr/>
          <p:nvPr/>
        </p:nvSpPr>
        <p:spPr>
          <a:xfrm>
            <a:off x="1007392" y="2642084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0" name="Google Shape;2210;p99"/>
          <p:cNvSpPr/>
          <p:nvPr/>
        </p:nvSpPr>
        <p:spPr>
          <a:xfrm>
            <a:off x="834223" y="2322675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1" name="Google Shape;2211;p99"/>
          <p:cNvSpPr txBox="1"/>
          <p:nvPr>
            <p:ph idx="1" type="body"/>
          </p:nvPr>
        </p:nvSpPr>
        <p:spPr>
          <a:xfrm>
            <a:off x="3365850" y="2322675"/>
            <a:ext cx="3856500" cy="11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when the triangle was added, a mass of 3 was added. So the extra triangle is worth 3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12" name="Google Shape;2212;p99"/>
          <p:cNvSpPr/>
          <p:nvPr/>
        </p:nvSpPr>
        <p:spPr>
          <a:xfrm>
            <a:off x="5043164" y="1487388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200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3" name="Google Shape;2213;p99"/>
          <p:cNvSpPr/>
          <p:nvPr/>
        </p:nvSpPr>
        <p:spPr>
          <a:xfrm>
            <a:off x="5385464" y="1487388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14" name="Google Shape;2214;p99"/>
          <p:cNvGraphicFramePr/>
          <p:nvPr/>
        </p:nvGraphicFramePr>
        <p:xfrm>
          <a:off x="324000" y="2331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535875"/>
              </a:tblGrid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215" name="Google Shape;2215;p99"/>
          <p:cNvGrpSpPr/>
          <p:nvPr/>
        </p:nvGrpSpPr>
        <p:grpSpPr>
          <a:xfrm>
            <a:off x="471135" y="1067701"/>
            <a:ext cx="2856112" cy="999674"/>
            <a:chOff x="3679000" y="1380975"/>
            <a:chExt cx="4343896" cy="2543700"/>
          </a:xfrm>
        </p:grpSpPr>
        <p:sp>
          <p:nvSpPr>
            <p:cNvPr id="2216" name="Google Shape;2216;p99"/>
            <p:cNvSpPr/>
            <p:nvPr/>
          </p:nvSpPr>
          <p:spPr>
            <a:xfrm>
              <a:off x="5573300" y="138097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17" name="Google Shape;2217;p99"/>
            <p:cNvCxnSpPr/>
            <p:nvPr/>
          </p:nvCxnSpPr>
          <p:spPr>
            <a:xfrm>
              <a:off x="4519850" y="1380975"/>
              <a:ext cx="266340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18" name="Google Shape;2218;p99"/>
            <p:cNvSpPr/>
            <p:nvPr/>
          </p:nvSpPr>
          <p:spPr>
            <a:xfrm>
              <a:off x="3870700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19" name="Google Shape;2219;p99"/>
            <p:cNvCxnSpPr/>
            <p:nvPr/>
          </p:nvCxnSpPr>
          <p:spPr>
            <a:xfrm>
              <a:off x="3679000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20" name="Google Shape;2220;p99"/>
            <p:cNvSpPr/>
            <p:nvPr/>
          </p:nvSpPr>
          <p:spPr>
            <a:xfrm>
              <a:off x="6524396" y="1380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21" name="Google Shape;2221;p99"/>
            <p:cNvCxnSpPr/>
            <p:nvPr/>
          </p:nvCxnSpPr>
          <p:spPr>
            <a:xfrm>
              <a:off x="6332696" y="3036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222" name="Google Shape;2222;p99"/>
          <p:cNvSpPr/>
          <p:nvPr/>
        </p:nvSpPr>
        <p:spPr>
          <a:xfrm>
            <a:off x="660198" y="1416488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3" name="Google Shape;2223;p99"/>
          <p:cNvSpPr/>
          <p:nvPr/>
        </p:nvSpPr>
        <p:spPr>
          <a:xfrm>
            <a:off x="1002498" y="1416488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24" name="Google Shape;2224;p99"/>
          <p:cNvGrpSpPr/>
          <p:nvPr/>
        </p:nvGrpSpPr>
        <p:grpSpPr>
          <a:xfrm>
            <a:off x="2623738" y="1263709"/>
            <a:ext cx="376934" cy="454896"/>
            <a:chOff x="4396891" y="2255566"/>
            <a:chExt cx="368100" cy="475584"/>
          </a:xfrm>
        </p:grpSpPr>
        <p:grpSp>
          <p:nvGrpSpPr>
            <p:cNvPr id="2225" name="Google Shape;2225;p99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2226" name="Google Shape;2226;p99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7" name="Google Shape;2227;p99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28" name="Google Shape;2228;p99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99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 New Roman"/>
                  <a:ea typeface="Times New Roman"/>
                  <a:cs typeface="Times New Roman"/>
                  <a:sym typeface="Times New Roman"/>
                </a:rPr>
                <a:t>7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aphicFrame>
        <p:nvGraphicFramePr>
          <p:cNvPr id="2230" name="Google Shape;2230;p99"/>
          <p:cNvGraphicFramePr/>
          <p:nvPr/>
        </p:nvGraphicFramePr>
        <p:xfrm>
          <a:off x="324000" y="118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535875"/>
              </a:tblGrid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231" name="Google Shape;2231;p99"/>
          <p:cNvGrpSpPr/>
          <p:nvPr/>
        </p:nvGrpSpPr>
        <p:grpSpPr>
          <a:xfrm>
            <a:off x="434225" y="1032650"/>
            <a:ext cx="2913975" cy="1069200"/>
            <a:chOff x="434225" y="1032650"/>
            <a:chExt cx="2913975" cy="1069200"/>
          </a:xfrm>
        </p:grpSpPr>
        <p:sp>
          <p:nvSpPr>
            <p:cNvPr id="2232" name="Google Shape;2232;p99"/>
            <p:cNvSpPr/>
            <p:nvPr/>
          </p:nvSpPr>
          <p:spPr>
            <a:xfrm>
              <a:off x="660200" y="1032650"/>
              <a:ext cx="2688000" cy="1069200"/>
            </a:xfrm>
            <a:prstGeom prst="rect">
              <a:avLst/>
            </a:prstGeom>
            <a:solidFill>
              <a:srgbClr val="E6F2F2">
                <a:alpha val="53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33" name="Google Shape;2233;p99"/>
            <p:cNvSpPr/>
            <p:nvPr/>
          </p:nvSpPr>
          <p:spPr>
            <a:xfrm>
              <a:off x="434225" y="1602600"/>
              <a:ext cx="225900" cy="302100"/>
            </a:xfrm>
            <a:prstGeom prst="rect">
              <a:avLst/>
            </a:prstGeom>
            <a:solidFill>
              <a:srgbClr val="E6F2F2">
                <a:alpha val="538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34" name="Google Shape;2234;p99"/>
          <p:cNvGrpSpPr/>
          <p:nvPr/>
        </p:nvGrpSpPr>
        <p:grpSpPr>
          <a:xfrm>
            <a:off x="660375" y="1377926"/>
            <a:ext cx="669900" cy="1322024"/>
            <a:chOff x="660375" y="1377926"/>
            <a:chExt cx="669900" cy="1322024"/>
          </a:xfrm>
        </p:grpSpPr>
        <p:cxnSp>
          <p:nvCxnSpPr>
            <p:cNvPr id="2235" name="Google Shape;2235;p99"/>
            <p:cNvCxnSpPr/>
            <p:nvPr/>
          </p:nvCxnSpPr>
          <p:spPr>
            <a:xfrm flipH="1">
              <a:off x="992487" y="1377926"/>
              <a:ext cx="5700" cy="752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36" name="Google Shape;2236;p99"/>
            <p:cNvSpPr/>
            <p:nvPr/>
          </p:nvSpPr>
          <p:spPr>
            <a:xfrm>
              <a:off x="660375" y="2196550"/>
              <a:ext cx="669900" cy="5034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37" name="Google Shape;2237;p99"/>
          <p:cNvGrpSpPr/>
          <p:nvPr/>
        </p:nvGrpSpPr>
        <p:grpSpPr>
          <a:xfrm>
            <a:off x="2475963" y="1793950"/>
            <a:ext cx="669900" cy="1157750"/>
            <a:chOff x="2475963" y="1793950"/>
            <a:chExt cx="669900" cy="1157750"/>
          </a:xfrm>
        </p:grpSpPr>
        <p:sp>
          <p:nvSpPr>
            <p:cNvPr id="2238" name="Google Shape;2238;p99"/>
            <p:cNvSpPr/>
            <p:nvPr/>
          </p:nvSpPr>
          <p:spPr>
            <a:xfrm>
              <a:off x="2475963" y="2448300"/>
              <a:ext cx="669900" cy="503400"/>
            </a:xfrm>
            <a:prstGeom prst="ellipse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39" name="Google Shape;2239;p99"/>
            <p:cNvCxnSpPr/>
            <p:nvPr/>
          </p:nvCxnSpPr>
          <p:spPr>
            <a:xfrm>
              <a:off x="2800400" y="1793950"/>
              <a:ext cx="2100" cy="578400"/>
            </a:xfrm>
            <a:prstGeom prst="straightConnector1">
              <a:avLst/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3" name="Shape 2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4" name="Google Shape;2244;p100"/>
          <p:cNvSpPr txBox="1"/>
          <p:nvPr>
            <p:ph idx="1" type="body"/>
          </p:nvPr>
        </p:nvSpPr>
        <p:spPr>
          <a:xfrm>
            <a:off x="324000" y="759300"/>
            <a:ext cx="436500" cy="42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2)  </a:t>
            </a:r>
            <a:endParaRPr sz="2000"/>
          </a:p>
        </p:txBody>
      </p:sp>
      <p:sp>
        <p:nvSpPr>
          <p:cNvPr id="2245" name="Google Shape;2245;p10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balances to represent equations</a:t>
            </a:r>
            <a:endParaRPr/>
          </a:p>
        </p:txBody>
      </p:sp>
      <p:grpSp>
        <p:nvGrpSpPr>
          <p:cNvPr id="2246" name="Google Shape;2246;p100"/>
          <p:cNvGrpSpPr/>
          <p:nvPr/>
        </p:nvGrpSpPr>
        <p:grpSpPr>
          <a:xfrm>
            <a:off x="517513" y="3443150"/>
            <a:ext cx="2763536" cy="1140418"/>
            <a:chOff x="3316500" y="457975"/>
            <a:chExt cx="4672871" cy="2924150"/>
          </a:xfrm>
        </p:grpSpPr>
        <p:sp>
          <p:nvSpPr>
            <p:cNvPr id="2247" name="Google Shape;2247;p100"/>
            <p:cNvSpPr/>
            <p:nvPr/>
          </p:nvSpPr>
          <p:spPr>
            <a:xfrm>
              <a:off x="5360600" y="838425"/>
              <a:ext cx="556500" cy="2543700"/>
            </a:xfrm>
            <a:prstGeom prst="trapezoid">
              <a:avLst>
                <a:gd fmla="val 25000" name="adj"/>
              </a:avLst>
            </a:prstGeom>
            <a:solidFill>
              <a:srgbClr val="000000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48" name="Google Shape;2248;p100"/>
            <p:cNvCxnSpPr/>
            <p:nvPr/>
          </p:nvCxnSpPr>
          <p:spPr>
            <a:xfrm>
              <a:off x="4166225" y="457975"/>
              <a:ext cx="2978400" cy="80340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49" name="Google Shape;2249;p100"/>
            <p:cNvSpPr/>
            <p:nvPr/>
          </p:nvSpPr>
          <p:spPr>
            <a:xfrm>
              <a:off x="3508192" y="457975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50" name="Google Shape;2250;p100"/>
            <p:cNvCxnSpPr/>
            <p:nvPr/>
          </p:nvCxnSpPr>
          <p:spPr>
            <a:xfrm>
              <a:off x="3316500" y="21136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251" name="Google Shape;2251;p100"/>
            <p:cNvSpPr/>
            <p:nvPr/>
          </p:nvSpPr>
          <p:spPr>
            <a:xfrm>
              <a:off x="6490879" y="1261287"/>
              <a:ext cx="1306800" cy="1655700"/>
            </a:xfrm>
            <a:prstGeom prst="triangle">
              <a:avLst>
                <a:gd fmla="val 50000" name="adj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252" name="Google Shape;2252;p100"/>
            <p:cNvCxnSpPr/>
            <p:nvPr/>
          </p:nvCxnSpPr>
          <p:spPr>
            <a:xfrm>
              <a:off x="6299171" y="2916975"/>
              <a:ext cx="1690200" cy="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aphicFrame>
        <p:nvGraphicFramePr>
          <p:cNvPr id="2253" name="Google Shape;2253;p100"/>
          <p:cNvGraphicFramePr/>
          <p:nvPr/>
        </p:nvGraphicFramePr>
        <p:xfrm>
          <a:off x="324000" y="1188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{149CB251-2A0E-4C4B-804E-0D86DCC4554E}</a:tableStyleId>
              </a:tblPr>
              <a:tblGrid>
                <a:gridCol w="535875"/>
              </a:tblGrid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34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4" name="Google Shape;2254;p100"/>
          <p:cNvSpPr txBox="1"/>
          <p:nvPr>
            <p:ph idx="1" type="body"/>
          </p:nvPr>
        </p:nvSpPr>
        <p:spPr>
          <a:xfrm>
            <a:off x="3343195" y="3000100"/>
            <a:ext cx="5388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scales are no longer balanced. What could be done to balance them and is there more than one answer?</a:t>
            </a:r>
            <a:endParaRPr sz="1800"/>
          </a:p>
        </p:txBody>
      </p:sp>
      <p:sp>
        <p:nvSpPr>
          <p:cNvPr id="2255" name="Google Shape;2255;p100"/>
          <p:cNvSpPr/>
          <p:nvPr/>
        </p:nvSpPr>
        <p:spPr>
          <a:xfrm>
            <a:off x="680423" y="3782250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6" name="Google Shape;2256;p100"/>
          <p:cNvSpPr/>
          <p:nvPr/>
        </p:nvSpPr>
        <p:spPr>
          <a:xfrm>
            <a:off x="1027617" y="3788659"/>
            <a:ext cx="302700" cy="302100"/>
          </a:xfrm>
          <a:prstGeom prst="ellipse">
            <a:avLst/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57" name="Google Shape;2257;p100"/>
          <p:cNvSpPr/>
          <p:nvPr/>
        </p:nvSpPr>
        <p:spPr>
          <a:xfrm>
            <a:off x="854448" y="3469250"/>
            <a:ext cx="342300" cy="302100"/>
          </a:xfrm>
          <a:prstGeom prst="triangle">
            <a:avLst>
              <a:gd fmla="val 50000" name="adj"/>
            </a:avLst>
          </a:prstGeom>
          <a:solidFill>
            <a:schemeClr val="accent5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8" name="Google Shape;2258;p100"/>
          <p:cNvGrpSpPr/>
          <p:nvPr/>
        </p:nvGrpSpPr>
        <p:grpSpPr>
          <a:xfrm>
            <a:off x="2525145" y="3825310"/>
            <a:ext cx="504260" cy="552723"/>
            <a:chOff x="4396891" y="2255566"/>
            <a:chExt cx="368100" cy="475584"/>
          </a:xfrm>
        </p:grpSpPr>
        <p:grpSp>
          <p:nvGrpSpPr>
            <p:cNvPr id="2259" name="Google Shape;2259;p100"/>
            <p:cNvGrpSpPr/>
            <p:nvPr/>
          </p:nvGrpSpPr>
          <p:grpSpPr>
            <a:xfrm>
              <a:off x="4495866" y="2255566"/>
              <a:ext cx="172800" cy="190800"/>
              <a:chOff x="4474729" y="2241474"/>
              <a:chExt cx="172800" cy="190800"/>
            </a:xfrm>
          </p:grpSpPr>
          <p:sp>
            <p:nvSpPr>
              <p:cNvPr id="2260" name="Google Shape;2260;p100"/>
              <p:cNvSpPr/>
              <p:nvPr/>
            </p:nvSpPr>
            <p:spPr>
              <a:xfrm>
                <a:off x="4474729" y="2241474"/>
                <a:ext cx="172800" cy="190800"/>
              </a:xfrm>
              <a:prstGeom prst="ellipse">
                <a:avLst/>
              </a:prstGeom>
              <a:solidFill>
                <a:srgbClr val="CCCCCC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1" name="Google Shape;2261;p100"/>
              <p:cNvSpPr/>
              <p:nvPr/>
            </p:nvSpPr>
            <p:spPr>
              <a:xfrm>
                <a:off x="4490991" y="2260553"/>
                <a:ext cx="138900" cy="153600"/>
              </a:xfrm>
              <a:prstGeom prst="ellipse">
                <a:avLst/>
              </a:prstGeom>
              <a:solidFill>
                <a:srgbClr val="E6F2F2"/>
              </a:solidFill>
              <a:ln cap="flat" cmpd="sng" w="9525">
                <a:solidFill>
                  <a:srgbClr val="59595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262" name="Google Shape;2262;p100"/>
            <p:cNvSpPr/>
            <p:nvPr/>
          </p:nvSpPr>
          <p:spPr>
            <a:xfrm>
              <a:off x="4431875" y="2420350"/>
              <a:ext cx="303000" cy="310800"/>
            </a:xfrm>
            <a:prstGeom prst="trapezoid">
              <a:avLst>
                <a:gd fmla="val 25000" name="adj"/>
              </a:avLst>
            </a:prstGeom>
            <a:solidFill>
              <a:srgbClr val="CCCCCC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100"/>
            <p:cNvSpPr txBox="1"/>
            <p:nvPr/>
          </p:nvSpPr>
          <p:spPr>
            <a:xfrm>
              <a:off x="4396891" y="2512271"/>
              <a:ext cx="368100" cy="155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Times New Roman"/>
                  <a:ea typeface="Times New Roman"/>
                  <a:cs typeface="Times New Roman"/>
                  <a:sym typeface="Times New Roman"/>
                </a:rPr>
                <a:t>20</a:t>
              </a:r>
              <a:r>
                <a:rPr lang="en-GB" sz="1600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endParaRPr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264" name="Google Shape;2264;p100"/>
          <p:cNvSpPr txBox="1"/>
          <p:nvPr>
            <p:ph idx="1" type="body"/>
          </p:nvPr>
        </p:nvSpPr>
        <p:spPr>
          <a:xfrm>
            <a:off x="3369600" y="3950625"/>
            <a:ext cx="5082900" cy="30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you could a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dd 10 to left hand side or double the left hand side.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8" name="Shape 2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9" name="Google Shape;2269;p101"/>
          <p:cNvSpPr txBox="1"/>
          <p:nvPr>
            <p:ph idx="1" type="body"/>
          </p:nvPr>
        </p:nvSpPr>
        <p:spPr>
          <a:xfrm>
            <a:off x="324000" y="8298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Bar models can be used to </a:t>
            </a:r>
            <a:r>
              <a:rPr lang="en-GB" sz="2000"/>
              <a:t>rearrange</a:t>
            </a:r>
            <a:r>
              <a:rPr lang="en-GB" sz="2000"/>
              <a:t> equations with an additive relationship.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Equations can be represented with balances. If the expressions on both sides are equal the scales will be balanced.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In order to keep a scale balanced, the same </a:t>
            </a:r>
            <a:r>
              <a:rPr lang="en-GB" sz="2000"/>
              <a:t>operation</a:t>
            </a:r>
            <a:r>
              <a:rPr lang="en-GB" sz="2000"/>
              <a:t> must be done to the expressions on both scale pans.</a:t>
            </a:r>
            <a:endParaRPr sz="2000"/>
          </a:p>
        </p:txBody>
      </p:sp>
      <p:sp>
        <p:nvSpPr>
          <p:cNvPr id="2270" name="Google Shape;2270;p101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Equality in an equation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p102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276" name="Google Shape;2276;p10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