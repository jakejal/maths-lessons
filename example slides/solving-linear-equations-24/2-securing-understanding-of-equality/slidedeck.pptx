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70" r:id="rId5"/>
    <p:sldMasterId id="21474837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64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833448-99D4-4451-8679-C93C0DF53621}">
  <a:tblStyle styleId="{98833448-99D4-4451-8679-C93C0DF5362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643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5" name="Google Shape;1485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1" name="Google Shape;1491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6" name="Google Shape;1496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g2a615e6b01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1" name="Google Shape;1501;g2a615e6b01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g29dcf48e374_0_1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9" name="Google Shape;1509;g29dcf48e374_0_1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g29dcf48e374_0_1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7" name="Google Shape;1517;g29dcf48e374_0_1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g29ddf7f5e52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1" name="Google Shape;1561;g29ddf7f5e52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g29ddf7f5e52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4" name="Google Shape;1584;g29ddf7f5e52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g29ddf7f5e52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6" name="Google Shape;1606;g29ddf7f5e52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4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g29ddf7f5e52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6" name="Google Shape;1626;g29ddf7f5e52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g29ddf7f5e52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5" name="Google Shape;1655;g29ddf7f5e52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g29ddf7f5e52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1" name="Google Shape;1681;g29ddf7f5e52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Google Shape;1719;g29ddf7f5e52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0" name="Google Shape;1720;g29ddf7f5e52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g29ddf7f5e52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3" name="Google Shape;1743;g29ddf7f5e52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5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Google Shape;1766;g29ddf7f5e52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7" name="Google Shape;1767;g29ddf7f5e52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g29ddf7f5e52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9" name="Google Shape;1789;g29ddf7f5e52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6" name="Shape 1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7" name="Google Shape;1837;g29ddf7f5e52_0_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8" name="Google Shape;1838;g29ddf7f5e52_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5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g29ddf7f5e52_0_5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7" name="Google Shape;1857;g29ddf7f5e52_0_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g29ddf7f5e52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8" name="Google Shape;1878;g29ddf7f5e52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5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g29dcf48e374_0_15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7" name="Google Shape;1947;g29dcf48e374_0_1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3" name="Shape 1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Google Shape;1994;g29ddf7f5e52_0_7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5" name="Google Shape;1995;g29ddf7f5e52_0_7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4" name="Shape 2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" name="Google Shape;2075;g29ddf7f5e52_0_9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6" name="Google Shape;2076;g29ddf7f5e52_0_9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9" name="Shape 2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" name="Google Shape;2150;g29ddf7f5e52_0_1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1" name="Google Shape;2151;g29ddf7f5e52_0_1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5" name="Shape 2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6" name="Google Shape;2196;g29ddf7f5e52_0_10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7" name="Google Shape;2197;g29ddf7f5e52_0_10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2" name="Shape 2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3" name="Google Shape;2243;g29dcf48e374_0_1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4" name="Google Shape;2244;g29dcf48e374_0_1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0" name="Shape 2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1" name="Google Shape;2251;g29dcf48e374_0_1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2" name="Google Shape;2252;g29dcf48e374_0_1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8" name="Shape 2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9" name="Google Shape;2259;g29e3c2561e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0" name="Google Shape;2260;g29e3c2561e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9" name="Shape 2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0" name="Google Shape;2270;g29e3c2561e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1" name="Google Shape;2271;g29e3c2561e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3" name="Shape 2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4" name="Google Shape;2284;g29e3c2561e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5" name="Google Shape;2285;g29e3c2561e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7" name="Shape 2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8" name="Google Shape;2298;g29e3c2561e8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9" name="Google Shape;2299;g29e3c2561e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9" name="Shape 2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0" name="Google Shape;2320;g29e3c2561e8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1" name="Google Shape;2321;g29e3c2561e8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1" name="Shape 2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2" name="Google Shape;2342;g29e3c2561e8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3" name="Google Shape;2343;g29e3c2561e8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3" name="Shape 2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4" name="Google Shape;2354;g29e3c2561e8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5" name="Google Shape;2355;g29e3c2561e8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7" name="Shape 2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8" name="Google Shape;2378;g29e3c2561e8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9" name="Google Shape;2379;g29e3c2561e8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8" name="Shape 2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9" name="Google Shape;2399;g29e3c2561e8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0" name="Google Shape;2400;g29e3c2561e8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7" name="Shape 2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8" name="Google Shape;2438;g29dcf48e374_0_15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9" name="Google Shape;2439;g29dcf48e374_0_1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4" name="Shape 2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5" name="Google Shape;2465;g29e3c2561e8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6" name="Google Shape;2466;g29e3c2561e8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8" name="Shape 2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9" name="Google Shape;2509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0" name="Google Shape;2510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4" name="Shape 2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5" name="Google Shape;2515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6" name="Google Shape;2516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34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34.png"/><Relationship Id="rId4" Type="http://schemas.openxmlformats.org/officeDocument/2006/relationships/image" Target="../media/image24.png"/><Relationship Id="rId9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30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11" Type="http://schemas.openxmlformats.org/officeDocument/2006/relationships/image" Target="../media/image23.png"/><Relationship Id="rId10" Type="http://schemas.openxmlformats.org/officeDocument/2006/relationships/image" Target="../media/image37.png"/><Relationship Id="rId9" Type="http://schemas.openxmlformats.org/officeDocument/2006/relationships/image" Target="../media/image27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30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8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8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36.png"/><Relationship Id="rId4" Type="http://schemas.openxmlformats.org/officeDocument/2006/relationships/image" Target="../media/image43.png"/><Relationship Id="rId5" Type="http://schemas.openxmlformats.org/officeDocument/2006/relationships/image" Target="../media/image45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3.png"/><Relationship Id="rId4" Type="http://schemas.openxmlformats.org/officeDocument/2006/relationships/image" Target="../media/image45.png"/><Relationship Id="rId5" Type="http://schemas.openxmlformats.org/officeDocument/2006/relationships/image" Target="../media/image4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3.png"/><Relationship Id="rId4" Type="http://schemas.openxmlformats.org/officeDocument/2006/relationships/image" Target="../media/image45.png"/><Relationship Id="rId5" Type="http://schemas.openxmlformats.org/officeDocument/2006/relationships/image" Target="../media/image4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3.png"/><Relationship Id="rId4" Type="http://schemas.openxmlformats.org/officeDocument/2006/relationships/image" Target="../media/image45.png"/><Relationship Id="rId5" Type="http://schemas.openxmlformats.org/officeDocument/2006/relationships/image" Target="../media/image4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3.png"/><Relationship Id="rId4" Type="http://schemas.openxmlformats.org/officeDocument/2006/relationships/image" Target="../media/image45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3.png"/><Relationship Id="rId4" Type="http://schemas.openxmlformats.org/officeDocument/2006/relationships/image" Target="../media/image45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3.png"/><Relationship Id="rId4" Type="http://schemas.openxmlformats.org/officeDocument/2006/relationships/image" Target="../media/image45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3.png"/><Relationship Id="rId4" Type="http://schemas.openxmlformats.org/officeDocument/2006/relationships/image" Target="../media/image45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3.png"/><Relationship Id="rId4" Type="http://schemas.openxmlformats.org/officeDocument/2006/relationships/image" Target="../media/image45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3.png"/><Relationship Id="rId4" Type="http://schemas.openxmlformats.org/officeDocument/2006/relationships/image" Target="../media/image45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3.png"/><Relationship Id="rId4" Type="http://schemas.openxmlformats.org/officeDocument/2006/relationships/image" Target="../media/image45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3.png"/><Relationship Id="rId4" Type="http://schemas.openxmlformats.org/officeDocument/2006/relationships/image" Target="../media/image45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3.png"/><Relationship Id="rId4" Type="http://schemas.openxmlformats.org/officeDocument/2006/relationships/image" Target="../media/image45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3.png"/><Relationship Id="rId4" Type="http://schemas.openxmlformats.org/officeDocument/2006/relationships/image" Target="../media/image45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3.png"/><Relationship Id="rId4" Type="http://schemas.openxmlformats.org/officeDocument/2006/relationships/image" Target="../media/image45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3.png"/><Relationship Id="rId4" Type="http://schemas.openxmlformats.org/officeDocument/2006/relationships/image" Target="../media/image45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3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3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6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7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7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34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3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34.png"/><Relationship Id="rId4" Type="http://schemas.openxmlformats.org/officeDocument/2006/relationships/image" Target="../media/image24.png"/><Relationship Id="rId9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30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11" Type="http://schemas.openxmlformats.org/officeDocument/2006/relationships/image" Target="../media/image23.png"/><Relationship Id="rId10" Type="http://schemas.openxmlformats.org/officeDocument/2006/relationships/image" Target="../media/image37.png"/><Relationship Id="rId9" Type="http://schemas.openxmlformats.org/officeDocument/2006/relationships/image" Target="../media/image27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30.png"/><Relationship Id="rId8" Type="http://schemas.openxmlformats.org/officeDocument/2006/relationships/image" Target="../media/image26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8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8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38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36.png"/><Relationship Id="rId4" Type="http://schemas.openxmlformats.org/officeDocument/2006/relationships/image" Target="../media/image43.png"/><Relationship Id="rId5" Type="http://schemas.openxmlformats.org/officeDocument/2006/relationships/image" Target="../media/image45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3.png"/><Relationship Id="rId4" Type="http://schemas.openxmlformats.org/officeDocument/2006/relationships/image" Target="../media/image45.png"/><Relationship Id="rId5" Type="http://schemas.openxmlformats.org/officeDocument/2006/relationships/image" Target="../media/image44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3.png"/><Relationship Id="rId4" Type="http://schemas.openxmlformats.org/officeDocument/2006/relationships/image" Target="../media/image45.png"/><Relationship Id="rId5" Type="http://schemas.openxmlformats.org/officeDocument/2006/relationships/image" Target="../media/image44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3.png"/><Relationship Id="rId4" Type="http://schemas.openxmlformats.org/officeDocument/2006/relationships/image" Target="../media/image45.png"/><Relationship Id="rId5" Type="http://schemas.openxmlformats.org/officeDocument/2006/relationships/image" Target="../media/image44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3.png"/><Relationship Id="rId4" Type="http://schemas.openxmlformats.org/officeDocument/2006/relationships/image" Target="../media/image45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3.png"/><Relationship Id="rId4" Type="http://schemas.openxmlformats.org/officeDocument/2006/relationships/image" Target="../media/image45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3.png"/><Relationship Id="rId4" Type="http://schemas.openxmlformats.org/officeDocument/2006/relationships/image" Target="../media/image45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3.png"/><Relationship Id="rId4" Type="http://schemas.openxmlformats.org/officeDocument/2006/relationships/image" Target="../media/image45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3.png"/><Relationship Id="rId4" Type="http://schemas.openxmlformats.org/officeDocument/2006/relationships/image" Target="../media/image45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3.png"/><Relationship Id="rId4" Type="http://schemas.openxmlformats.org/officeDocument/2006/relationships/image" Target="../media/image45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3.png"/><Relationship Id="rId4" Type="http://schemas.openxmlformats.org/officeDocument/2006/relationships/image" Target="../media/image45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3.png"/><Relationship Id="rId4" Type="http://schemas.openxmlformats.org/officeDocument/2006/relationships/image" Target="../media/image45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3.png"/><Relationship Id="rId4" Type="http://schemas.openxmlformats.org/officeDocument/2006/relationships/image" Target="../media/image45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3.png"/><Relationship Id="rId4" Type="http://schemas.openxmlformats.org/officeDocument/2006/relationships/image" Target="../media/image45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3.png"/><Relationship Id="rId4" Type="http://schemas.openxmlformats.org/officeDocument/2006/relationships/image" Target="../media/image45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3.png"/><Relationship Id="rId4" Type="http://schemas.openxmlformats.org/officeDocument/2006/relationships/image" Target="../media/image45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3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3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3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3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6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7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7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2" name="Google Shape;652;p48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3" name="Google Shape;653;p4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4" name="Google Shape;65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1" name="Google Shape;661;p49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2" name="Google Shape;662;p4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3" name="Google Shape;66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9" name="Google Shape;669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0" name="Google Shape;670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1" name="Google Shape;67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7" name="Google Shape;677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8" name="Google Shape;678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9" name="Google Shape;67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4" name="Google Shape;684;p52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5" name="Google Shape;685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6" name="Google Shape;68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3" name="Google Shape;693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4" name="Google Shape;694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5" name="Google Shape;69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1" name="Google Shape;701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2" name="Google Shape;702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3" name="Google Shape;70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9" name="Google Shape;709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0" name="Google Shape;710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1" name="Google Shape;711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" name="Google Shape;747;p6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6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9" name="Google Shape;749;p63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0" name="Google Shape;750;p63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1" name="Google Shape;751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6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5" name="Google Shape;755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7" name="Google Shape;757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8" name="Google Shape;758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9" name="Google Shape;759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1" name="Google Shape;761;p6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3" name="Google Shape;763;p6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6" name="Google Shape;766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7" name="Google Shape;767;p65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8" name="Google Shape;768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1" name="Google Shape;771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3" name="Google Shape;773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4" name="Google Shape;774;p66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5" name="Google Shape;775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77" name="Google Shape;777;p6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78" name="Google Shape;778;p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9" name="Google Shape;779;p66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0" name="Google Shape;780;p6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2" name="Google Shape;782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4" name="Google Shape;784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5" name="Google Shape;785;p67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6" name="Google Shape;786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88" name="Google Shape;788;p6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1" name="Google Shape;791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2" name="Google Shape;792;p68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3" name="Google Shape;793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5" name="Google Shape;795;p68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6" name="Google Shape;796;p6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7" name="Google Shape;797;p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8" name="Google Shape;798;p68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99" name="Google Shape;799;p6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1" name="Google Shape;801;p6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4" name="Google Shape;804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5" name="Google Shape;805;p69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6" name="Google Shape;806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" name="Google Shape;809;p7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1" name="Google Shape;811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70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3" name="Google Shape;813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15" name="Google Shape;815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16" name="Google Shape;816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7" name="Google Shape;817;p70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8" name="Google Shape;818;p7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" name="Google Shape;820;p7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3" name="Google Shape;823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1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5" name="Google Shape;825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72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73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3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3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3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3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7" name="Google Shape;837;p73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38" name="Google Shape;838;p7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39" name="Google Shape;839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0" name="Google Shape;840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1" name="Google Shape;841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42" name="Google Shape;842;p73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6" name="Google Shape;846;p7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7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74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49" name="Google Shape;849;p74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0" name="Google Shape;850;p74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3" name="Google Shape;853;p7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75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6" name="Google Shape;856;p75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7" name="Google Shape;857;p75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0" name="Google Shape;860;p7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76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2" name="Google Shape;862;p76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3" name="Google Shape;863;p76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4" name="Google Shape;864;p76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5" name="Google Shape;865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8" name="Google Shape;868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77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0" name="Google Shape;870;p77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1" name="Google Shape;871;p77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2" name="Google Shape;872;p77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3" name="Google Shape;873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6" name="Google Shape;876;p7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78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8" name="Google Shape;878;p78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9" name="Google Shape;879;p78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78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1" name="Google Shape;881;p78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2" name="Google Shape;882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5" name="Google Shape;885;p7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79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7" name="Google Shape;887;p79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8" name="Google Shape;888;p79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89" name="Google Shape;889;p79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0" name="Google Shape;890;p79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1" name="Google Shape;891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8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4" name="Google Shape;894;p80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p80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80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7" name="Google Shape;897;p80"/>
          <p:cNvCxnSpPr>
            <a:endCxn id="89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99" name="Google Shape;899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8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1" name="Google Shape;901;p8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98" name="Google Shape;898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80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8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8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6" name="Google Shape;906;p8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81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8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2" name="Google Shape;912;p81"/>
          <p:cNvCxnSpPr>
            <a:endCxn id="91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3" name="Google Shape;913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81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6" name="Google Shape;916;p81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7" name="Google Shape;917;p81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8" name="Google Shape;918;p8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8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0" name="Google Shape;920;p81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p8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81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4" name="Google Shape;924;p82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82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82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82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2" name="Google Shape;932;p82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3" name="Google Shape;933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8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82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7" name="Google Shape;937;p82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8" name="Google Shape;938;p82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9" name="Google Shape;939;p82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40" name="Google Shape;940;p8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82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2" name="Google Shape;942;p82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82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82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6" name="Google Shape;946;p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83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49" name="Google Shape;949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0" name="Google Shape;95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8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3" name="Google Shape;953;p8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8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6" name="Google Shape;956;p8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8" name="Google Shape;958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0" name="Google Shape;960;p8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3" name="Google Shape;963;p8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5" name="Google Shape;965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7" name="Google Shape;967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8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0" name="Google Shape;970;p8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72" name="Google Shape;972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8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5" name="Google Shape;975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8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8" name="Google Shape;978;p8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9" name="Google Shape;979;p87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0" name="Google Shape;980;p8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1" name="Google Shape;981;p8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2" name="Google Shape;982;p8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3" name="Google Shape;983;p8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4" name="Google Shape;984;p8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5" name="Google Shape;985;p8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8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8" name="Google Shape;988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8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1" name="Google Shape;991;p8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2" name="Google Shape;992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3" name="Google Shape;993;p8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4" name="Google Shape;994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5" name="Google Shape;995;p8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6" name="Google Shape;996;p8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7" name="Google Shape;997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8" name="Google Shape;998;p8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89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1" name="Google Shape;1001;p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8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4" name="Google Shape;1004;p8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5" name="Google Shape;1005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6" name="Google Shape;1006;p8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7" name="Google Shape;1007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8" name="Google Shape;1008;p8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9" name="Google Shape;1009;p8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0" name="Google Shape;1010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1" name="Google Shape;1011;p8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9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4" name="Google Shape;1014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9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9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7" name="Google Shape;1017;p9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8" name="Google Shape;1018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19" name="Google Shape;1019;p9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20" name="Google Shape;1020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1" name="Google Shape;1021;p9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2" name="Google Shape;1022;p9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23" name="Google Shape;1023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4" name="Google Shape;1024;p9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Google Shape;1026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7" name="Google Shape;1027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9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1" name="Google Shape;1031;p9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9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91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4" name="Google Shape;1034;p9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5" name="Google Shape;1035;p9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36" name="Google Shape;1036;p9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7" name="Google Shape;1037;p9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9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9" name="Google Shape;1039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42" name="Google Shape;1042;p9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43" name="Google Shape;1043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4" name="Google Shape;1044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5" name="Google Shape;1045;p9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46" name="Google Shape;1046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7" name="Google Shape;1047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9" name="Google Shape;1049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9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9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9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9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5" name="Google Shape;1055;p9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56" name="Google Shape;1056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9" name="Google Shape;1059;p9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0" name="Google Shape;1060;p9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61" name="Google Shape;1061;p9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62" name="Google Shape;1062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3" name="Google Shape;1063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4" name="Google Shape;1064;p9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65" name="Google Shape;1065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6" name="Google Shape;1066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67" name="Google Shape;1067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8" name="Google Shape;1068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9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9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2" name="Google Shape;1072;p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9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9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9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9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78" name="Google Shape;1078;p9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79" name="Google Shape;1079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2" name="Google Shape;1082;p9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3" name="Google Shape;1083;p9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4" name="Google Shape;1084;p9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85" name="Google Shape;1085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7" name="Google Shape;1087;p9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88" name="Google Shape;1088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9" name="Google Shape;1089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90" name="Google Shape;1090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1" name="Google Shape;1091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9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9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" name="Google Shape;1095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9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8" name="Google Shape;1098;p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94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1" name="Google Shape;1101;p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02" name="Google Shape;1102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3" name="Google Shape;1103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5" name="Google Shape;1105;p94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6" name="Google Shape;1106;p9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07" name="Google Shape;1107;p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08" name="Google Shape;1108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9" name="Google Shape;1109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0" name="Google Shape;1110;p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11" name="Google Shape;1111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2" name="Google Shape;1112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3" name="Google Shape;1113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4" name="Google Shape;1114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p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6" name="Google Shape;1116;p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8" name="Google Shape;1118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9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1" name="Google Shape;1121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9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4" name="Google Shape;1124;p9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5" name="Google Shape;1125;p9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6" name="Google Shape;1126;p9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27" name="Google Shape;1127;p9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28" name="Google Shape;1128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9" name="Google Shape;1129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0" name="Google Shape;1130;p9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1" name="Google Shape;1131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2" name="Google Shape;1132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3" name="Google Shape;1133;p9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34" name="Google Shape;1134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5" name="Google Shape;1135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7" name="Google Shape;1137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0" name="Google Shape;1140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1" name="Google Shape;1141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2" name="Google Shape;1142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3" name="Google Shape;1143;p9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4" name="Google Shape;1144;p9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5" name="Google Shape;1145;p9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46" name="Google Shape;1146;p9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47" name="Google Shape;1147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8" name="Google Shape;1148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9" name="Google Shape;1149;p9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0" name="Google Shape;1150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1" name="Google Shape;1151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2" name="Google Shape;1152;p9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53" name="Google Shape;1153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4" name="Google Shape;1154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6" name="Google Shape;1156;p9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9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59" name="Google Shape;1159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0" name="Google Shape;1160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2" name="Google Shape;1162;p9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3" name="Google Shape;1163;p9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4" name="Google Shape;1164;p9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65" name="Google Shape;1165;p9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66" name="Google Shape;1166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7" name="Google Shape;1167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8" name="Google Shape;1168;p9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69" name="Google Shape;1169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0" name="Google Shape;1170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1" name="Google Shape;1171;p9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72" name="Google Shape;1172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3" name="Google Shape;1173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5" name="Google Shape;1175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9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78" name="Google Shape;1178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9" name="Google Shape;1179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0" name="Google Shape;1180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1" name="Google Shape;1181;p9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2" name="Google Shape;1182;p9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3" name="Google Shape;1183;p9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4" name="Google Shape;1184;p9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85" name="Google Shape;1185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6" name="Google Shape;1186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7" name="Google Shape;1187;p9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88" name="Google Shape;1188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9" name="Google Shape;1189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0" name="Google Shape;1190;p9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91" name="Google Shape;1191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2" name="Google Shape;1192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4" name="Google Shape;1194;p9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9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97" name="Google Shape;1197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8" name="Google Shape;1198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0" name="Google Shape;1200;p9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1" name="Google Shape;1201;p9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2" name="Google Shape;1202;p9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3" name="Google Shape;1203;p9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4" name="Google Shape;1204;p9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05" name="Google Shape;1205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6" name="Google Shape;1206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7" name="Google Shape;1207;p9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08" name="Google Shape;1208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9" name="Google Shape;1209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0" name="Google Shape;1210;p9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11" name="Google Shape;1211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2" name="Google Shape;1212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3" name="Google Shape;1213;p9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14" name="Google Shape;1214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5" name="Google Shape;1215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7" name="Google Shape;1217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8" name="Google Shape;1218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10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0" name="Google Shape;1220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1" name="Google Shape;1221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2" name="Google Shape;1222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3" name="Google Shape;1223;p10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4" name="Google Shape;1224;p10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5" name="Google Shape;1225;p10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6" name="Google Shape;1226;p10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27" name="Google Shape;1227;p10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28" name="Google Shape;1228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9" name="Google Shape;1229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0" name="Google Shape;1230;p10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31" name="Google Shape;1231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2" name="Google Shape;1232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3" name="Google Shape;1233;p10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34" name="Google Shape;1234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5" name="Google Shape;1235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6" name="Google Shape;1236;p10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37" name="Google Shape;1237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8" name="Google Shape;1238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0" name="Google Shape;1240;p10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1" name="Google Shape;1241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10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3" name="Google Shape;1243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4" name="Google Shape;1244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6" name="Google Shape;1246;p10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7" name="Google Shape;1247;p10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8" name="Google Shape;1248;p10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9" name="Google Shape;1249;p10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50" name="Google Shape;1250;p10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51" name="Google Shape;1251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2" name="Google Shape;1252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3" name="Google Shape;1253;p10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54" name="Google Shape;1254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5" name="Google Shape;1255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6" name="Google Shape;1256;p10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57" name="Google Shape;1257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8" name="Google Shape;1258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9" name="Google Shape;1259;p10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60" name="Google Shape;1260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1" name="Google Shape;1261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3" name="Google Shape;1263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4" name="Google Shape;1264;p10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10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66" name="Google Shape;1266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7" name="Google Shape;1267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69" name="Google Shape;1269;p10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0" name="Google Shape;1270;p10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1" name="Google Shape;1271;p10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2" name="Google Shape;1272;p10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3" name="Google Shape;1273;p10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74" name="Google Shape;1274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5" name="Google Shape;1275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6" name="Google Shape;1276;p10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77" name="Google Shape;1277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8" name="Google Shape;1278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9" name="Google Shape;1279;p10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80" name="Google Shape;1280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1" name="Google Shape;1281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2" name="Google Shape;1282;p10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83" name="Google Shape;1283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4" name="Google Shape;1284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6" name="Google Shape;1286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7" name="Google Shape;1287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10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89" name="Google Shape;1289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0" name="Google Shape;1290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2" name="Google Shape;1292;p10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3" name="Google Shape;1293;p10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4" name="Google Shape;1294;p10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95" name="Google Shape;1295;p10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96" name="Google Shape;1296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7" name="Google Shape;1297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8" name="Google Shape;1298;p10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99" name="Google Shape;1299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0" name="Google Shape;1300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1" name="Google Shape;1301;p10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02" name="Google Shape;1302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3" name="Google Shape;1303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5" name="Google Shape;1305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06" name="Google Shape;1306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08" name="Google Shape;1308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9" name="Google Shape;1309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0" name="Google Shape;1310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1" name="Google Shape;1311;p10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2" name="Google Shape;1312;p10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3" name="Google Shape;1313;p10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14" name="Google Shape;1314;p10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15" name="Google Shape;1315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6" name="Google Shape;1316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7" name="Google Shape;1317;p10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18" name="Google Shape;1318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9" name="Google Shape;1319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0" name="Google Shape;1320;p10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1" name="Google Shape;1321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2" name="Google Shape;1322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4" name="Google Shape;1324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5" name="Google Shape;1325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10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27" name="Google Shape;1327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8" name="Google Shape;1328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9" name="Google Shape;1329;p10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0" name="Google Shape;1330;p10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1" name="Google Shape;1331;p10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2" name="Google Shape;1332;p10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33" name="Google Shape;1333;p10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34" name="Google Shape;1334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5" name="Google Shape;1335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6" name="Google Shape;1336;p10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37" name="Google Shape;1337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8" name="Google Shape;1338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9" name="Google Shape;1339;p10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40" name="Google Shape;1340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1" name="Google Shape;1341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3" name="Google Shape;1343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4" name="Google Shape;1344;p10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46" name="Google Shape;1346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7" name="Google Shape;1347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8" name="Google Shape;1348;p10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9" name="Google Shape;1349;p10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0" name="Google Shape;1350;p10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1" name="Google Shape;1351;p10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52" name="Google Shape;1352;p10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53" name="Google Shape;1353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4" name="Google Shape;1354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5" name="Google Shape;1355;p10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56" name="Google Shape;1356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8" name="Google Shape;1358;p10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59" name="Google Shape;1359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0" name="Google Shape;1360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2" name="Google Shape;1362;p1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3" name="Google Shape;1363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10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5" name="Google Shape;1365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6" name="Google Shape;1366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7" name="Google Shape;1367;p1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9" name="Google Shape;1369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0" name="Google Shape;1370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10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2" name="Google Shape;1372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3" name="Google Shape;1373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4" name="Google Shape;1374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6" name="Google Shape;1376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7" name="Google Shape;1377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9" name="Google Shape;1379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0" name="Google Shape;1380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1" name="Google Shape;1381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3" name="Google Shape;1383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11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6" name="Google Shape;1386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7" name="Google Shape;1387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8" name="Google Shape;1388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0" name="Google Shape;1390;p1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1" name="Google Shape;1391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3" name="Google Shape;1393;p11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4" name="Google Shape;1394;p11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95" name="Google Shape;1395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8" name="Google Shape;1398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9" name="Google Shape;1399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1" name="Google Shape;1401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2" name="Google Shape;1402;p11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3" name="Google Shape;1403;p11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4" name="Google Shape;1404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6" name="Google Shape;1406;p11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7" name="Google Shape;1407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9" name="Google Shape;1409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0" name="Google Shape;1410;p11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1" name="Google Shape;1411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2" name="Google Shape;1412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4" name="Google Shape;1414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5" name="Google Shape;1415;p1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7" name="Google Shape;1417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8" name="Google Shape;1418;p114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0" name="Google Shape;1420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2" name="Google Shape;1422;p1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3" name="Google Shape;1423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5" name="Google Shape;1425;p115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6" name="Google Shape;1426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7" name="Google Shape;1427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0" name="Google Shape;1430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1" name="Google Shape;1431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3" name="Google Shape;1433;p11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5" name="Google Shape;1435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6" name="Google Shape;1436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Google Shape;1438;p11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9" name="Google Shape;1439;p1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1" name="Google Shape;1441;p11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2" name="Google Shape;1442;p11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3" name="Google Shape;1443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4" name="Google Shape;1444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6" name="Google Shape;1446;p11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7" name="Google Shape;1447;p1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9" name="Google Shape;1449;p118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0" name="Google Shape;1450;p11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1" name="Google Shape;1451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2" name="Google Shape;1452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119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5" name="Google Shape;1455;p11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6" name="Google Shape;1456;p11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7" name="Google Shape;1457;p11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8" name="Google Shape;1458;p119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120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1" name="Google Shape;1461;p12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2" name="Google Shape;1462;p120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3" name="Google Shape;1463;p120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4" name="Google Shape;1464;p120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6" name="Google Shape;1466;p1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67" name="Google Shape;1467;p121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122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0" name="Google Shape;1470;p122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p122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2" name="Google Shape;1472;p122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122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122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5" name="Google Shape;1475;p122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6" name="Google Shape;1476;p122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122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9" name="Google Shape;1479;p1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0" name="Google Shape;1480;p123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124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2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9.xml"/><Relationship Id="rId42" Type="http://schemas.openxmlformats.org/officeDocument/2006/relationships/slideLayout" Target="../slideLayouts/slideLayout101.xml"/><Relationship Id="rId41" Type="http://schemas.openxmlformats.org/officeDocument/2006/relationships/slideLayout" Target="../slideLayouts/slideLayout100.xml"/><Relationship Id="rId44" Type="http://schemas.openxmlformats.org/officeDocument/2006/relationships/slideLayout" Target="../slideLayouts/slideLayout103.xml"/><Relationship Id="rId43" Type="http://schemas.openxmlformats.org/officeDocument/2006/relationships/slideLayout" Target="../slideLayouts/slideLayout102.xml"/><Relationship Id="rId46" Type="http://schemas.openxmlformats.org/officeDocument/2006/relationships/slideLayout" Target="../slideLayouts/slideLayout105.xml"/><Relationship Id="rId45" Type="http://schemas.openxmlformats.org/officeDocument/2006/relationships/slideLayout" Target="../slideLayouts/slideLayout10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48" Type="http://schemas.openxmlformats.org/officeDocument/2006/relationships/slideLayout" Target="../slideLayouts/slideLayout107.xml"/><Relationship Id="rId47" Type="http://schemas.openxmlformats.org/officeDocument/2006/relationships/slideLayout" Target="../slideLayouts/slideLayout106.xml"/><Relationship Id="rId49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90.xml"/><Relationship Id="rId30" Type="http://schemas.openxmlformats.org/officeDocument/2006/relationships/slideLayout" Target="../slideLayouts/slideLayout89.xml"/><Relationship Id="rId33" Type="http://schemas.openxmlformats.org/officeDocument/2006/relationships/slideLayout" Target="../slideLayouts/slideLayout92.xml"/><Relationship Id="rId32" Type="http://schemas.openxmlformats.org/officeDocument/2006/relationships/slideLayout" Target="../slideLayouts/slideLayout91.xml"/><Relationship Id="rId35" Type="http://schemas.openxmlformats.org/officeDocument/2006/relationships/slideLayout" Target="../slideLayouts/slideLayout94.xml"/><Relationship Id="rId34" Type="http://schemas.openxmlformats.org/officeDocument/2006/relationships/slideLayout" Target="../slideLayouts/slideLayout93.xml"/><Relationship Id="rId37" Type="http://schemas.openxmlformats.org/officeDocument/2006/relationships/slideLayout" Target="../slideLayouts/slideLayout96.xml"/><Relationship Id="rId36" Type="http://schemas.openxmlformats.org/officeDocument/2006/relationships/slideLayout" Target="../slideLayouts/slideLayout95.xml"/><Relationship Id="rId39" Type="http://schemas.openxmlformats.org/officeDocument/2006/relationships/slideLayout" Target="../slideLayouts/slideLayout98.xml"/><Relationship Id="rId38" Type="http://schemas.openxmlformats.org/officeDocument/2006/relationships/slideLayout" Target="../slideLayouts/slideLayout97.xml"/><Relationship Id="rId62" Type="http://schemas.openxmlformats.org/officeDocument/2006/relationships/slideLayout" Target="../slideLayouts/slideLayout121.xml"/><Relationship Id="rId61" Type="http://schemas.openxmlformats.org/officeDocument/2006/relationships/slideLayout" Target="../slideLayouts/slideLayout120.xml"/><Relationship Id="rId20" Type="http://schemas.openxmlformats.org/officeDocument/2006/relationships/slideLayout" Target="../slideLayouts/slideLayout7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122.xml"/><Relationship Id="rId22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0.xml"/><Relationship Id="rId24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2.xml"/><Relationship Id="rId60" Type="http://schemas.openxmlformats.org/officeDocument/2006/relationships/slideLayout" Target="../slideLayouts/slideLayout119.xml"/><Relationship Id="rId26" Type="http://schemas.openxmlformats.org/officeDocument/2006/relationships/slideLayout" Target="../slideLayouts/slideLayout85.xml"/><Relationship Id="rId25" Type="http://schemas.openxmlformats.org/officeDocument/2006/relationships/slideLayout" Target="../slideLayouts/slideLayout84.xml"/><Relationship Id="rId28" Type="http://schemas.openxmlformats.org/officeDocument/2006/relationships/slideLayout" Target="../slideLayouts/slideLayout87.xml"/><Relationship Id="rId27" Type="http://schemas.openxmlformats.org/officeDocument/2006/relationships/slideLayout" Target="../slideLayouts/slideLayout86.xml"/><Relationship Id="rId29" Type="http://schemas.openxmlformats.org/officeDocument/2006/relationships/slideLayout" Target="../slideLayouts/slideLayout88.xml"/><Relationship Id="rId51" Type="http://schemas.openxmlformats.org/officeDocument/2006/relationships/slideLayout" Target="../slideLayouts/slideLayout110.xml"/><Relationship Id="rId50" Type="http://schemas.openxmlformats.org/officeDocument/2006/relationships/slideLayout" Target="../slideLayouts/slideLayout109.xml"/><Relationship Id="rId53" Type="http://schemas.openxmlformats.org/officeDocument/2006/relationships/slideLayout" Target="../slideLayouts/slideLayout112.xml"/><Relationship Id="rId52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70.xml"/><Relationship Id="rId55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69.xml"/><Relationship Id="rId54" Type="http://schemas.openxmlformats.org/officeDocument/2006/relationships/slideLayout" Target="../slideLayouts/slideLayout113.xml"/><Relationship Id="rId13" Type="http://schemas.openxmlformats.org/officeDocument/2006/relationships/slideLayout" Target="../slideLayouts/slideLayout72.xml"/><Relationship Id="rId5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71.xml"/><Relationship Id="rId56" Type="http://schemas.openxmlformats.org/officeDocument/2006/relationships/slideLayout" Target="../slideLayouts/slideLayout115.xml"/><Relationship Id="rId15" Type="http://schemas.openxmlformats.org/officeDocument/2006/relationships/slideLayout" Target="../slideLayouts/slideLayout74.xml"/><Relationship Id="rId5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73.xml"/><Relationship Id="rId58" Type="http://schemas.openxmlformats.org/officeDocument/2006/relationships/slideLayout" Target="../slideLayouts/slideLayout117.xml"/><Relationship Id="rId17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5.xml"/><Relationship Id="rId19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44" name="Google Shape;744;p62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45" name="Google Shape;745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  <p:sldLayoutId id="2147483735" r:id="rId29"/>
    <p:sldLayoutId id="2147483736" r:id="rId30"/>
    <p:sldLayoutId id="2147483737" r:id="rId31"/>
    <p:sldLayoutId id="2147483738" r:id="rId32"/>
    <p:sldLayoutId id="2147483739" r:id="rId33"/>
    <p:sldLayoutId id="2147483740" r:id="rId34"/>
    <p:sldLayoutId id="2147483741" r:id="rId35"/>
    <p:sldLayoutId id="2147483742" r:id="rId36"/>
    <p:sldLayoutId id="2147483743" r:id="rId37"/>
    <p:sldLayoutId id="2147483744" r:id="rId38"/>
    <p:sldLayoutId id="2147483745" r:id="rId39"/>
    <p:sldLayoutId id="2147483746" r:id="rId40"/>
    <p:sldLayoutId id="2147483747" r:id="rId41"/>
    <p:sldLayoutId id="2147483748" r:id="rId42"/>
    <p:sldLayoutId id="2147483749" r:id="rId43"/>
    <p:sldLayoutId id="2147483750" r:id="rId44"/>
    <p:sldLayoutId id="2147483751" r:id="rId45"/>
    <p:sldLayoutId id="2147483752" r:id="rId46"/>
    <p:sldLayoutId id="2147483753" r:id="rId47"/>
    <p:sldLayoutId id="2147483754" r:id="rId48"/>
    <p:sldLayoutId id="2147483755" r:id="rId49"/>
    <p:sldLayoutId id="2147483756" r:id="rId50"/>
    <p:sldLayoutId id="2147483757" r:id="rId51"/>
    <p:sldLayoutId id="2147483758" r:id="rId52"/>
    <p:sldLayoutId id="2147483759" r:id="rId53"/>
    <p:sldLayoutId id="2147483760" r:id="rId54"/>
    <p:sldLayoutId id="2147483761" r:id="rId55"/>
    <p:sldLayoutId id="2147483762" r:id="rId56"/>
    <p:sldLayoutId id="2147483763" r:id="rId57"/>
    <p:sldLayoutId id="2147483764" r:id="rId58"/>
    <p:sldLayoutId id="2147483765" r:id="rId59"/>
    <p:sldLayoutId id="2147483766" r:id="rId60"/>
    <p:sldLayoutId id="2147483767" r:id="rId61"/>
    <p:sldLayoutId id="2147483768" r:id="rId62"/>
    <p:sldLayoutId id="214748376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8.png"/><Relationship Id="rId4" Type="http://schemas.openxmlformats.org/officeDocument/2006/relationships/image" Target="../media/image96.png"/><Relationship Id="rId5" Type="http://schemas.openxmlformats.org/officeDocument/2006/relationships/image" Target="../media/image101.png"/><Relationship Id="rId6" Type="http://schemas.openxmlformats.org/officeDocument/2006/relationships/image" Target="../media/image10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2.png"/><Relationship Id="rId4" Type="http://schemas.openxmlformats.org/officeDocument/2006/relationships/image" Target="../media/image9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3.png"/><Relationship Id="rId4" Type="http://schemas.openxmlformats.org/officeDocument/2006/relationships/image" Target="../media/image95.png"/><Relationship Id="rId9" Type="http://schemas.openxmlformats.org/officeDocument/2006/relationships/image" Target="../media/image107.png"/><Relationship Id="rId5" Type="http://schemas.openxmlformats.org/officeDocument/2006/relationships/image" Target="../media/image99.png"/><Relationship Id="rId6" Type="http://schemas.openxmlformats.org/officeDocument/2006/relationships/image" Target="../media/image104.png"/><Relationship Id="rId7" Type="http://schemas.openxmlformats.org/officeDocument/2006/relationships/image" Target="../media/image112.png"/><Relationship Id="rId8" Type="http://schemas.openxmlformats.org/officeDocument/2006/relationships/image" Target="../media/image109.png"/><Relationship Id="rId10" Type="http://schemas.openxmlformats.org/officeDocument/2006/relationships/image" Target="../media/image10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3.png"/><Relationship Id="rId4" Type="http://schemas.openxmlformats.org/officeDocument/2006/relationships/image" Target="../media/image95.png"/><Relationship Id="rId5" Type="http://schemas.openxmlformats.org/officeDocument/2006/relationships/image" Target="../media/image105.png"/><Relationship Id="rId6" Type="http://schemas.openxmlformats.org/officeDocument/2006/relationships/image" Target="../media/image111.png"/><Relationship Id="rId7" Type="http://schemas.openxmlformats.org/officeDocument/2006/relationships/image" Target="../media/image107.png"/><Relationship Id="rId8" Type="http://schemas.openxmlformats.org/officeDocument/2006/relationships/image" Target="../media/image11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0.png"/><Relationship Id="rId4" Type="http://schemas.openxmlformats.org/officeDocument/2006/relationships/image" Target="../media/image115.png"/><Relationship Id="rId5" Type="http://schemas.openxmlformats.org/officeDocument/2006/relationships/image" Target="../media/image113.png"/><Relationship Id="rId6" Type="http://schemas.openxmlformats.org/officeDocument/2006/relationships/image" Target="../media/image4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12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equality</a:t>
            </a:r>
            <a:endParaRPr/>
          </a:p>
        </p:txBody>
      </p:sp>
      <p:sp>
        <p:nvSpPr>
          <p:cNvPr id="1488" name="Google Shape;1488;p125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linear equations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126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127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appreciate how to maintain equality between two statements.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128"/>
          <p:cNvSpPr txBox="1"/>
          <p:nvPr>
            <p:ph idx="2" type="subTitle"/>
          </p:nvPr>
        </p:nvSpPr>
        <p:spPr>
          <a:xfrm>
            <a:off x="324001" y="9112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An equation is used to show two expressions that are equal to each other. </a:t>
            </a:r>
            <a:endParaRPr sz="2000"/>
          </a:p>
        </p:txBody>
      </p:sp>
      <p:sp>
        <p:nvSpPr>
          <p:cNvPr id="1504" name="Google Shape;1504;p128"/>
          <p:cNvSpPr txBox="1"/>
          <p:nvPr>
            <p:ph idx="3" type="subTitle"/>
          </p:nvPr>
        </p:nvSpPr>
        <p:spPr>
          <a:xfrm>
            <a:off x="324001" y="18074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variable is a quantity that can take on a range of values, often denoted by a letter.</a:t>
            </a:r>
            <a:endParaRPr sz="2000"/>
          </a:p>
        </p:txBody>
      </p:sp>
      <p:sp>
        <p:nvSpPr>
          <p:cNvPr id="1505" name="Google Shape;1505;p128"/>
          <p:cNvSpPr txBox="1"/>
          <p:nvPr>
            <p:ph idx="3" type="subTitle"/>
          </p:nvPr>
        </p:nvSpPr>
        <p:spPr>
          <a:xfrm>
            <a:off x="324001" y="28194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constant is a term that does not change; it contains no variables. </a:t>
            </a:r>
            <a:endParaRPr sz="2000"/>
          </a:p>
        </p:txBody>
      </p:sp>
      <p:sp>
        <p:nvSpPr>
          <p:cNvPr id="1506" name="Google Shape;1506;p128"/>
          <p:cNvSpPr txBox="1"/>
          <p:nvPr>
            <p:ph idx="3" type="subTitle"/>
          </p:nvPr>
        </p:nvSpPr>
        <p:spPr>
          <a:xfrm>
            <a:off x="356626" y="3634200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Like terms are terms that have the same set of variables and corresponding exponents.  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p12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Maintaining equality in bar models</a:t>
            </a:r>
            <a:endParaRPr/>
          </a:p>
        </p:txBody>
      </p:sp>
      <p:sp>
        <p:nvSpPr>
          <p:cNvPr id="1512" name="Google Shape;1512;p12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Maintaining equality in equations</a:t>
            </a:r>
            <a:endParaRPr/>
          </a:p>
        </p:txBody>
      </p:sp>
      <p:sp>
        <p:nvSpPr>
          <p:cNvPr id="1513" name="Google Shape;1513;p12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equality</a:t>
            </a:r>
            <a:endParaRPr/>
          </a:p>
        </p:txBody>
      </p:sp>
      <p:pic>
        <p:nvPicPr>
          <p:cNvPr id="1514" name="Google Shape;1514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275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1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Maintaining equality in bar models</a:t>
            </a:r>
            <a:endParaRPr/>
          </a:p>
        </p:txBody>
      </p:sp>
      <p:sp>
        <p:nvSpPr>
          <p:cNvPr id="1520" name="Google Shape;1520;p130"/>
          <p:cNvSpPr txBox="1"/>
          <p:nvPr>
            <p:ph idx="1" type="body"/>
          </p:nvPr>
        </p:nvSpPr>
        <p:spPr>
          <a:xfrm>
            <a:off x="324000" y="7670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Bar models can be used to represent expressions with variable terms, constant terms or both. </a:t>
            </a:r>
            <a:endParaRPr sz="1800"/>
          </a:p>
        </p:txBody>
      </p:sp>
      <p:grpSp>
        <p:nvGrpSpPr>
          <p:cNvPr id="1521" name="Google Shape;1521;p130"/>
          <p:cNvGrpSpPr/>
          <p:nvPr/>
        </p:nvGrpSpPr>
        <p:grpSpPr>
          <a:xfrm>
            <a:off x="430100" y="1477804"/>
            <a:ext cx="2905650" cy="387600"/>
            <a:chOff x="430100" y="1477804"/>
            <a:chExt cx="2905650" cy="387600"/>
          </a:xfrm>
        </p:grpSpPr>
        <p:sp>
          <p:nvSpPr>
            <p:cNvPr id="1522" name="Google Shape;1522;p130"/>
            <p:cNvSpPr/>
            <p:nvPr/>
          </p:nvSpPr>
          <p:spPr>
            <a:xfrm>
              <a:off x="2615750" y="1477804"/>
              <a:ext cx="72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23" name="Google Shape;1523;p130"/>
            <p:cNvSpPr/>
            <p:nvPr/>
          </p:nvSpPr>
          <p:spPr>
            <a:xfrm>
              <a:off x="430100" y="1477804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24" name="Google Shape;1524;p130"/>
            <p:cNvSpPr/>
            <p:nvPr/>
          </p:nvSpPr>
          <p:spPr>
            <a:xfrm>
              <a:off x="973400" y="1477804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25" name="Google Shape;1525;p130"/>
            <p:cNvSpPr/>
            <p:nvPr/>
          </p:nvSpPr>
          <p:spPr>
            <a:xfrm>
              <a:off x="1520850" y="1477804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26" name="Google Shape;1526;p130"/>
            <p:cNvSpPr/>
            <p:nvPr/>
          </p:nvSpPr>
          <p:spPr>
            <a:xfrm>
              <a:off x="2068300" y="1477804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527" name="Google Shape;1527;p130"/>
          <p:cNvGrpSpPr/>
          <p:nvPr/>
        </p:nvGrpSpPr>
        <p:grpSpPr>
          <a:xfrm>
            <a:off x="6336000" y="1467600"/>
            <a:ext cx="2484000" cy="387600"/>
            <a:chOff x="6336000" y="1467600"/>
            <a:chExt cx="2484000" cy="387600"/>
          </a:xfrm>
        </p:grpSpPr>
        <p:sp>
          <p:nvSpPr>
            <p:cNvPr id="1528" name="Google Shape;1528;p130"/>
            <p:cNvSpPr/>
            <p:nvPr/>
          </p:nvSpPr>
          <p:spPr>
            <a:xfrm>
              <a:off x="7545000" y="1467600"/>
              <a:ext cx="1275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8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29" name="Google Shape;1529;p130"/>
            <p:cNvSpPr/>
            <p:nvPr/>
          </p:nvSpPr>
          <p:spPr>
            <a:xfrm>
              <a:off x="6336000" y="1467600"/>
              <a:ext cx="1209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7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530" name="Google Shape;1530;p130"/>
          <p:cNvGrpSpPr/>
          <p:nvPr/>
        </p:nvGrpSpPr>
        <p:grpSpPr>
          <a:xfrm>
            <a:off x="3855700" y="1467594"/>
            <a:ext cx="1941302" cy="387606"/>
            <a:chOff x="3855700" y="1467594"/>
            <a:chExt cx="1941302" cy="387606"/>
          </a:xfrm>
        </p:grpSpPr>
        <p:sp>
          <p:nvSpPr>
            <p:cNvPr id="1531" name="Google Shape;1531;p130"/>
            <p:cNvSpPr/>
            <p:nvPr/>
          </p:nvSpPr>
          <p:spPr>
            <a:xfrm>
              <a:off x="5402202" y="1467600"/>
              <a:ext cx="3948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32" name="Google Shape;1532;p130"/>
            <p:cNvSpPr/>
            <p:nvPr/>
          </p:nvSpPr>
          <p:spPr>
            <a:xfrm>
              <a:off x="3855700" y="1467594"/>
              <a:ext cx="1542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y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533" name="Google Shape;1533;p130"/>
          <p:cNvGrpSpPr/>
          <p:nvPr/>
        </p:nvGrpSpPr>
        <p:grpSpPr>
          <a:xfrm>
            <a:off x="4593938" y="2419350"/>
            <a:ext cx="3740325" cy="387600"/>
            <a:chOff x="4593938" y="2419350"/>
            <a:chExt cx="3740325" cy="387600"/>
          </a:xfrm>
        </p:grpSpPr>
        <p:sp>
          <p:nvSpPr>
            <p:cNvPr id="1534" name="Google Shape;1534;p130"/>
            <p:cNvSpPr/>
            <p:nvPr/>
          </p:nvSpPr>
          <p:spPr>
            <a:xfrm>
              <a:off x="6465488" y="2419350"/>
              <a:ext cx="8478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35" name="Google Shape;1535;p130"/>
            <p:cNvSpPr/>
            <p:nvPr/>
          </p:nvSpPr>
          <p:spPr>
            <a:xfrm>
              <a:off x="7316063" y="2419350"/>
              <a:ext cx="10182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b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36" name="Google Shape;1536;p130"/>
            <p:cNvSpPr/>
            <p:nvPr/>
          </p:nvSpPr>
          <p:spPr>
            <a:xfrm>
              <a:off x="5444513" y="2419350"/>
              <a:ext cx="10182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b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37" name="Google Shape;1537;p130"/>
            <p:cNvSpPr/>
            <p:nvPr/>
          </p:nvSpPr>
          <p:spPr>
            <a:xfrm>
              <a:off x="4593938" y="2419350"/>
              <a:ext cx="8478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538" name="Google Shape;1538;p130"/>
          <p:cNvGrpSpPr/>
          <p:nvPr/>
        </p:nvGrpSpPr>
        <p:grpSpPr>
          <a:xfrm>
            <a:off x="465000" y="2419350"/>
            <a:ext cx="2544600" cy="387600"/>
            <a:chOff x="465000" y="2419350"/>
            <a:chExt cx="2544600" cy="387600"/>
          </a:xfrm>
        </p:grpSpPr>
        <p:sp>
          <p:nvSpPr>
            <p:cNvPr id="1539" name="Google Shape;1539;p130"/>
            <p:cNvSpPr/>
            <p:nvPr/>
          </p:nvSpPr>
          <p:spPr>
            <a:xfrm>
              <a:off x="465000" y="2419350"/>
              <a:ext cx="5082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40" name="Google Shape;1540;p130"/>
            <p:cNvSpPr/>
            <p:nvPr/>
          </p:nvSpPr>
          <p:spPr>
            <a:xfrm>
              <a:off x="971450" y="2419350"/>
              <a:ext cx="5082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41" name="Google Shape;1541;p130"/>
            <p:cNvSpPr/>
            <p:nvPr/>
          </p:nvSpPr>
          <p:spPr>
            <a:xfrm>
              <a:off x="1483200" y="2419350"/>
              <a:ext cx="5082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42" name="Google Shape;1542;p130"/>
            <p:cNvSpPr/>
            <p:nvPr/>
          </p:nvSpPr>
          <p:spPr>
            <a:xfrm>
              <a:off x="1991400" y="2419350"/>
              <a:ext cx="5082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43" name="Google Shape;1543;p130"/>
            <p:cNvSpPr/>
            <p:nvPr/>
          </p:nvSpPr>
          <p:spPr>
            <a:xfrm>
              <a:off x="2501400" y="2419350"/>
              <a:ext cx="5082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544" name="Google Shape;1544;p130"/>
          <p:cNvSpPr txBox="1"/>
          <p:nvPr>
            <p:ph idx="1" type="body"/>
          </p:nvPr>
        </p:nvSpPr>
        <p:spPr>
          <a:xfrm>
            <a:off x="430100" y="1931254"/>
            <a:ext cx="847800" cy="4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+ 5</a:t>
            </a:r>
            <a:endParaRPr sz="24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45" name="Google Shape;1545;p130"/>
          <p:cNvSpPr txBox="1"/>
          <p:nvPr>
            <p:ph idx="1" type="body"/>
          </p:nvPr>
        </p:nvSpPr>
        <p:spPr>
          <a:xfrm>
            <a:off x="3855700" y="1906044"/>
            <a:ext cx="847800" cy="4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+ 1</a:t>
            </a:r>
            <a:endParaRPr sz="24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46" name="Google Shape;1546;p130"/>
          <p:cNvSpPr txBox="1"/>
          <p:nvPr>
            <p:ph idx="1" type="body"/>
          </p:nvPr>
        </p:nvSpPr>
        <p:spPr>
          <a:xfrm>
            <a:off x="6336000" y="1907075"/>
            <a:ext cx="847800" cy="4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"/>
                <a:ea typeface="Times"/>
                <a:cs typeface="Times"/>
                <a:sym typeface="Times"/>
              </a:rPr>
              <a:t>7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+ 8</a:t>
            </a:r>
            <a:endParaRPr sz="24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47" name="Google Shape;1547;p130"/>
          <p:cNvSpPr txBox="1"/>
          <p:nvPr>
            <p:ph idx="1" type="body"/>
          </p:nvPr>
        </p:nvSpPr>
        <p:spPr>
          <a:xfrm>
            <a:off x="462225" y="2867150"/>
            <a:ext cx="2094000" cy="4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+ 2 + 2 + 2 + 2</a:t>
            </a:r>
            <a:endParaRPr sz="24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48" name="Google Shape;1548;p130"/>
          <p:cNvSpPr txBox="1"/>
          <p:nvPr>
            <p:ph idx="1" type="body"/>
          </p:nvPr>
        </p:nvSpPr>
        <p:spPr>
          <a:xfrm>
            <a:off x="4572000" y="2879425"/>
            <a:ext cx="3784200" cy="4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 + b + a + b </a:t>
            </a:r>
            <a:r>
              <a:rPr lang="en-GB" sz="24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2</a:t>
            </a:r>
            <a:r>
              <a:rPr i="1" lang="en-GB" sz="24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4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i="1" lang="en-GB" sz="24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endParaRPr i="1" sz="29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49" name="Google Shape;1549;p130"/>
          <p:cNvSpPr txBox="1"/>
          <p:nvPr>
            <p:ph idx="1" type="body"/>
          </p:nvPr>
        </p:nvSpPr>
        <p:spPr>
          <a:xfrm>
            <a:off x="378700" y="3454100"/>
            <a:ext cx="8496000" cy="38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When the bars are equal length, we can write an equation. </a:t>
            </a:r>
            <a:endParaRPr sz="1800"/>
          </a:p>
        </p:txBody>
      </p:sp>
      <p:grpSp>
        <p:nvGrpSpPr>
          <p:cNvPr id="1550" name="Google Shape;1550;p130"/>
          <p:cNvGrpSpPr/>
          <p:nvPr/>
        </p:nvGrpSpPr>
        <p:grpSpPr>
          <a:xfrm>
            <a:off x="324000" y="3982200"/>
            <a:ext cx="2905800" cy="775200"/>
            <a:chOff x="324000" y="3982200"/>
            <a:chExt cx="2905800" cy="775200"/>
          </a:xfrm>
        </p:grpSpPr>
        <p:sp>
          <p:nvSpPr>
            <p:cNvPr id="1551" name="Google Shape;1551;p130"/>
            <p:cNvSpPr/>
            <p:nvPr/>
          </p:nvSpPr>
          <p:spPr>
            <a:xfrm>
              <a:off x="2509650" y="3982200"/>
              <a:ext cx="72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52" name="Google Shape;1552;p130"/>
            <p:cNvSpPr/>
            <p:nvPr/>
          </p:nvSpPr>
          <p:spPr>
            <a:xfrm>
              <a:off x="324000" y="3982200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53" name="Google Shape;1553;p130"/>
            <p:cNvSpPr/>
            <p:nvPr/>
          </p:nvSpPr>
          <p:spPr>
            <a:xfrm>
              <a:off x="867300" y="3982200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54" name="Google Shape;1554;p130"/>
            <p:cNvSpPr/>
            <p:nvPr/>
          </p:nvSpPr>
          <p:spPr>
            <a:xfrm>
              <a:off x="1414750" y="3982200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55" name="Google Shape;1555;p130"/>
            <p:cNvSpPr/>
            <p:nvPr/>
          </p:nvSpPr>
          <p:spPr>
            <a:xfrm>
              <a:off x="1962200" y="3982200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56" name="Google Shape;1556;p130"/>
            <p:cNvSpPr/>
            <p:nvPr/>
          </p:nvSpPr>
          <p:spPr>
            <a:xfrm>
              <a:off x="1899900" y="4369800"/>
              <a:ext cx="13299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8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57" name="Google Shape;1557;p130"/>
            <p:cNvSpPr/>
            <p:nvPr/>
          </p:nvSpPr>
          <p:spPr>
            <a:xfrm>
              <a:off x="324000" y="4369800"/>
              <a:ext cx="15759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10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558" name="Google Shape;1558;p130"/>
          <p:cNvSpPr txBox="1"/>
          <p:nvPr>
            <p:ph idx="1" type="body"/>
          </p:nvPr>
        </p:nvSpPr>
        <p:spPr>
          <a:xfrm>
            <a:off x="3369600" y="3956100"/>
            <a:ext cx="2194800" cy="4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+ 5 = 10 + 8 </a:t>
            </a:r>
            <a:endParaRPr sz="24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2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Google Shape;1563;p1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Maintaining equality in bar models</a:t>
            </a:r>
            <a:endParaRPr/>
          </a:p>
        </p:txBody>
      </p:sp>
      <p:sp>
        <p:nvSpPr>
          <p:cNvPr id="1564" name="Google Shape;1564;p131"/>
          <p:cNvSpPr txBox="1"/>
          <p:nvPr>
            <p:ph idx="1" type="body"/>
          </p:nvPr>
        </p:nvSpPr>
        <p:spPr>
          <a:xfrm>
            <a:off x="324000" y="741450"/>
            <a:ext cx="8496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bar model below shows the expressions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8 + 2</a:t>
            </a:r>
            <a:r>
              <a:rPr lang="en-GB" sz="1800"/>
              <a:t> and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7 + 3</a:t>
            </a:r>
            <a:r>
              <a:rPr lang="en-GB" sz="1800"/>
              <a:t>   </a:t>
            </a:r>
            <a:endParaRPr sz="1800"/>
          </a:p>
        </p:txBody>
      </p:sp>
      <p:grpSp>
        <p:nvGrpSpPr>
          <p:cNvPr id="1565" name="Google Shape;1565;p131"/>
          <p:cNvGrpSpPr/>
          <p:nvPr/>
        </p:nvGrpSpPr>
        <p:grpSpPr>
          <a:xfrm>
            <a:off x="354900" y="1197150"/>
            <a:ext cx="2340900" cy="613350"/>
            <a:chOff x="354900" y="1197150"/>
            <a:chExt cx="2340900" cy="613350"/>
          </a:xfrm>
        </p:grpSpPr>
        <p:sp>
          <p:nvSpPr>
            <p:cNvPr id="1566" name="Google Shape;1566;p131"/>
            <p:cNvSpPr/>
            <p:nvPr/>
          </p:nvSpPr>
          <p:spPr>
            <a:xfrm>
              <a:off x="2163000" y="1197150"/>
              <a:ext cx="5328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67" name="Google Shape;1567;p131"/>
            <p:cNvSpPr/>
            <p:nvPr/>
          </p:nvSpPr>
          <p:spPr>
            <a:xfrm>
              <a:off x="354900" y="1197150"/>
              <a:ext cx="18081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8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68" name="Google Shape;1568;p131"/>
            <p:cNvSpPr/>
            <p:nvPr/>
          </p:nvSpPr>
          <p:spPr>
            <a:xfrm>
              <a:off x="354900" y="1503900"/>
              <a:ext cx="15450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7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69" name="Google Shape;1569;p131"/>
            <p:cNvSpPr/>
            <p:nvPr/>
          </p:nvSpPr>
          <p:spPr>
            <a:xfrm>
              <a:off x="1899900" y="1503900"/>
              <a:ext cx="7959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570" name="Google Shape;1570;p131"/>
          <p:cNvSpPr txBox="1"/>
          <p:nvPr>
            <p:ph idx="1" type="body"/>
          </p:nvPr>
        </p:nvSpPr>
        <p:spPr>
          <a:xfrm>
            <a:off x="2887200" y="1267470"/>
            <a:ext cx="59328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These are equal (both expressions equal 10) so we can write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8 + 2 = 7 + 3</a:t>
            </a:r>
            <a:r>
              <a:rPr lang="en-GB" sz="1800"/>
              <a:t>   </a:t>
            </a:r>
            <a:endParaRPr sz="1800"/>
          </a:p>
        </p:txBody>
      </p:sp>
      <p:sp>
        <p:nvSpPr>
          <p:cNvPr id="1571" name="Google Shape;1571;p131"/>
          <p:cNvSpPr txBox="1"/>
          <p:nvPr>
            <p:ph idx="1" type="body"/>
          </p:nvPr>
        </p:nvSpPr>
        <p:spPr>
          <a:xfrm>
            <a:off x="324000" y="2343900"/>
            <a:ext cx="8496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Because expressions on both sides of an equals sign are equal, we could also write this as</a:t>
            </a:r>
            <a:r>
              <a:rPr lang="en-GB" sz="1800"/>
              <a:t>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7 + 3 = 8 + 2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72" name="Google Shape;1572;p131"/>
          <p:cNvSpPr txBox="1"/>
          <p:nvPr>
            <p:ph idx="1" type="body"/>
          </p:nvPr>
        </p:nvSpPr>
        <p:spPr>
          <a:xfrm>
            <a:off x="324000" y="3240000"/>
            <a:ext cx="8496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refer to the expressions as the left and right hand side: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73" name="Google Shape;1573;p131"/>
          <p:cNvSpPr txBox="1"/>
          <p:nvPr>
            <p:ph idx="1" type="body"/>
          </p:nvPr>
        </p:nvSpPr>
        <p:spPr>
          <a:xfrm>
            <a:off x="3915350" y="3585475"/>
            <a:ext cx="1545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8 + 2 = 7 + 3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574" name="Google Shape;1574;p131"/>
          <p:cNvGrpSpPr/>
          <p:nvPr/>
        </p:nvGrpSpPr>
        <p:grpSpPr>
          <a:xfrm>
            <a:off x="3212625" y="3585475"/>
            <a:ext cx="1359375" cy="608025"/>
            <a:chOff x="3212625" y="3585475"/>
            <a:chExt cx="1359375" cy="608025"/>
          </a:xfrm>
        </p:grpSpPr>
        <p:sp>
          <p:nvSpPr>
            <p:cNvPr id="1575" name="Google Shape;1575;p131"/>
            <p:cNvSpPr/>
            <p:nvPr/>
          </p:nvSpPr>
          <p:spPr>
            <a:xfrm>
              <a:off x="3815100" y="3585475"/>
              <a:ext cx="756900" cy="3399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76" name="Google Shape;1576;p131"/>
            <p:cNvCxnSpPr/>
            <p:nvPr/>
          </p:nvCxnSpPr>
          <p:spPr>
            <a:xfrm flipH="1">
              <a:off x="3212625" y="3931000"/>
              <a:ext cx="826500" cy="2625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77" name="Google Shape;1577;p131"/>
          <p:cNvSpPr txBox="1"/>
          <p:nvPr>
            <p:ph idx="1" type="body"/>
          </p:nvPr>
        </p:nvSpPr>
        <p:spPr>
          <a:xfrm>
            <a:off x="324000" y="4168350"/>
            <a:ext cx="45123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left hand side (LHS): the whole expression left of the equals sign</a:t>
            </a:r>
            <a:endParaRPr sz="1800"/>
          </a:p>
        </p:txBody>
      </p:sp>
      <p:sp>
        <p:nvSpPr>
          <p:cNvPr id="1578" name="Google Shape;1578;p131"/>
          <p:cNvSpPr txBox="1"/>
          <p:nvPr>
            <p:ph idx="1" type="body"/>
          </p:nvPr>
        </p:nvSpPr>
        <p:spPr>
          <a:xfrm>
            <a:off x="4703450" y="4193500"/>
            <a:ext cx="3857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right</a:t>
            </a:r>
            <a:r>
              <a:rPr lang="en-GB" sz="1800"/>
              <a:t> hand side (RHS): the expression right of the equals sign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579" name="Google Shape;1579;p131"/>
          <p:cNvGrpSpPr/>
          <p:nvPr/>
        </p:nvGrpSpPr>
        <p:grpSpPr>
          <a:xfrm>
            <a:off x="4703450" y="3585475"/>
            <a:ext cx="1563150" cy="604800"/>
            <a:chOff x="4703450" y="3585475"/>
            <a:chExt cx="1563150" cy="604800"/>
          </a:xfrm>
        </p:grpSpPr>
        <p:cxnSp>
          <p:nvCxnSpPr>
            <p:cNvPr id="1580" name="Google Shape;1580;p131"/>
            <p:cNvCxnSpPr>
              <a:stCxn id="1581" idx="2"/>
            </p:cNvCxnSpPr>
            <p:nvPr/>
          </p:nvCxnSpPr>
          <p:spPr>
            <a:xfrm>
              <a:off x="5081900" y="3925375"/>
              <a:ext cx="1184700" cy="264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81" name="Google Shape;1581;p131"/>
            <p:cNvSpPr/>
            <p:nvPr/>
          </p:nvSpPr>
          <p:spPr>
            <a:xfrm>
              <a:off x="4703450" y="3585475"/>
              <a:ext cx="756900" cy="3399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p132"/>
          <p:cNvSpPr txBox="1"/>
          <p:nvPr>
            <p:ph idx="1" type="body"/>
          </p:nvPr>
        </p:nvSpPr>
        <p:spPr>
          <a:xfrm>
            <a:off x="4312277" y="1251327"/>
            <a:ext cx="233400" cy="30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=</a:t>
            </a:r>
            <a:r>
              <a:rPr lang="en-GB" sz="1800"/>
              <a:t>   </a:t>
            </a:r>
            <a:endParaRPr sz="1800"/>
          </a:p>
        </p:txBody>
      </p:sp>
      <p:sp>
        <p:nvSpPr>
          <p:cNvPr id="1587" name="Google Shape;1587;p132"/>
          <p:cNvSpPr txBox="1"/>
          <p:nvPr>
            <p:ph idx="1" type="body"/>
          </p:nvPr>
        </p:nvSpPr>
        <p:spPr>
          <a:xfrm>
            <a:off x="4312277" y="1265623"/>
            <a:ext cx="233400" cy="30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</a:rPr>
              <a:t>≠</a:t>
            </a:r>
            <a:r>
              <a:rPr lang="en-GB" sz="1800"/>
              <a:t>   </a:t>
            </a:r>
            <a:endParaRPr sz="1800"/>
          </a:p>
        </p:txBody>
      </p:sp>
      <p:sp>
        <p:nvSpPr>
          <p:cNvPr id="1588" name="Google Shape;1588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Maintaining equality in bar models</a:t>
            </a:r>
            <a:endParaRPr/>
          </a:p>
        </p:txBody>
      </p:sp>
      <p:grpSp>
        <p:nvGrpSpPr>
          <p:cNvPr id="1589" name="Google Shape;1589;p132"/>
          <p:cNvGrpSpPr/>
          <p:nvPr/>
        </p:nvGrpSpPr>
        <p:grpSpPr>
          <a:xfrm>
            <a:off x="354900" y="892350"/>
            <a:ext cx="2340900" cy="613350"/>
            <a:chOff x="354900" y="892350"/>
            <a:chExt cx="2340900" cy="613350"/>
          </a:xfrm>
        </p:grpSpPr>
        <p:sp>
          <p:nvSpPr>
            <p:cNvPr id="1590" name="Google Shape;1590;p132"/>
            <p:cNvSpPr/>
            <p:nvPr/>
          </p:nvSpPr>
          <p:spPr>
            <a:xfrm>
              <a:off x="2163000" y="892350"/>
              <a:ext cx="5328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91" name="Google Shape;1591;p132"/>
            <p:cNvSpPr/>
            <p:nvPr/>
          </p:nvSpPr>
          <p:spPr>
            <a:xfrm>
              <a:off x="354900" y="892350"/>
              <a:ext cx="18081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8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92" name="Google Shape;1592;p132"/>
            <p:cNvSpPr/>
            <p:nvPr/>
          </p:nvSpPr>
          <p:spPr>
            <a:xfrm>
              <a:off x="354900" y="1199100"/>
              <a:ext cx="15450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7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593" name="Google Shape;1593;p132"/>
            <p:cNvSpPr/>
            <p:nvPr/>
          </p:nvSpPr>
          <p:spPr>
            <a:xfrm>
              <a:off x="1899900" y="1199100"/>
              <a:ext cx="7959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594" name="Google Shape;1594;p132"/>
          <p:cNvSpPr txBox="1"/>
          <p:nvPr>
            <p:ph idx="1" type="body"/>
          </p:nvPr>
        </p:nvSpPr>
        <p:spPr>
          <a:xfrm>
            <a:off x="3369600" y="859500"/>
            <a:ext cx="28971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8 + 2 = 7 + 3</a:t>
            </a:r>
            <a:r>
              <a:rPr lang="en-GB" sz="1800"/>
              <a:t>   </a:t>
            </a:r>
            <a:endParaRPr sz="1800"/>
          </a:p>
        </p:txBody>
      </p:sp>
      <p:sp>
        <p:nvSpPr>
          <p:cNvPr id="1595" name="Google Shape;1595;p132"/>
          <p:cNvSpPr txBox="1"/>
          <p:nvPr>
            <p:ph idx="1" type="body"/>
          </p:nvPr>
        </p:nvSpPr>
        <p:spPr>
          <a:xfrm>
            <a:off x="324000" y="1763025"/>
            <a:ext cx="8496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I add 1 to the left hand side of this equation, what happens to my values?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96" name="Google Shape;1596;p132"/>
          <p:cNvSpPr txBox="1"/>
          <p:nvPr>
            <p:ph idx="1" type="body"/>
          </p:nvPr>
        </p:nvSpPr>
        <p:spPr>
          <a:xfrm>
            <a:off x="324000" y="2261900"/>
            <a:ext cx="1931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8 + 2 + 1 = 11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97" name="Google Shape;1597;p132"/>
          <p:cNvSpPr txBox="1"/>
          <p:nvPr>
            <p:ph idx="1" type="body"/>
          </p:nvPr>
        </p:nvSpPr>
        <p:spPr>
          <a:xfrm>
            <a:off x="324000" y="2706600"/>
            <a:ext cx="8496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is no longer an equation as I haven’t maintained the </a:t>
            </a:r>
            <a:r>
              <a:rPr lang="en-GB" sz="1800"/>
              <a:t>equality</a:t>
            </a:r>
            <a:r>
              <a:rPr lang="en-GB" sz="1800"/>
              <a:t> of both sides of the original equation.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98" name="Google Shape;1598;p132"/>
          <p:cNvSpPr txBox="1"/>
          <p:nvPr>
            <p:ph idx="1" type="body"/>
          </p:nvPr>
        </p:nvSpPr>
        <p:spPr>
          <a:xfrm>
            <a:off x="3375450" y="1259050"/>
            <a:ext cx="28971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8 + 2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+ 1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7 + 3</a:t>
            </a:r>
            <a:r>
              <a:rPr lang="en-GB" sz="1800"/>
              <a:t>   </a:t>
            </a:r>
            <a:endParaRPr sz="1800"/>
          </a:p>
        </p:txBody>
      </p:sp>
      <p:sp>
        <p:nvSpPr>
          <p:cNvPr id="1599" name="Google Shape;1599;p132"/>
          <p:cNvSpPr txBox="1"/>
          <p:nvPr>
            <p:ph idx="1" type="body"/>
          </p:nvPr>
        </p:nvSpPr>
        <p:spPr>
          <a:xfrm>
            <a:off x="324000" y="3367000"/>
            <a:ext cx="28971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8 + 2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+ 1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 7 + 3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+ 1</a:t>
            </a:r>
            <a:r>
              <a:rPr lang="en-GB" sz="1800"/>
              <a:t>   </a:t>
            </a:r>
            <a:endParaRPr sz="1800"/>
          </a:p>
        </p:txBody>
      </p:sp>
      <p:sp>
        <p:nvSpPr>
          <p:cNvPr id="1600" name="Google Shape;1600;p132"/>
          <p:cNvSpPr txBox="1"/>
          <p:nvPr>
            <p:ph idx="1" type="body"/>
          </p:nvPr>
        </p:nvSpPr>
        <p:spPr>
          <a:xfrm>
            <a:off x="324000" y="3780000"/>
            <a:ext cx="8496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have I done differently this time? </a:t>
            </a:r>
            <a:r>
              <a:rPr lang="en-GB" sz="1800"/>
              <a:t>Have I maintained equality?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01" name="Google Shape;1601;p132"/>
          <p:cNvSpPr txBox="1"/>
          <p:nvPr>
            <p:ph idx="1" type="body"/>
          </p:nvPr>
        </p:nvSpPr>
        <p:spPr>
          <a:xfrm>
            <a:off x="324000" y="4154150"/>
            <a:ext cx="8496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Yes, both sides have remained equal. One has been added to both sides of the equation.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02" name="Google Shape;1602;p132"/>
          <p:cNvSpPr/>
          <p:nvPr/>
        </p:nvSpPr>
        <p:spPr>
          <a:xfrm>
            <a:off x="2695800" y="892350"/>
            <a:ext cx="269700" cy="3066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03" name="Google Shape;1603;p132"/>
          <p:cNvSpPr/>
          <p:nvPr/>
        </p:nvSpPr>
        <p:spPr>
          <a:xfrm>
            <a:off x="2695800" y="1199100"/>
            <a:ext cx="269700" cy="3066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p1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Maintaining equality in bar models</a:t>
            </a:r>
            <a:endParaRPr/>
          </a:p>
        </p:txBody>
      </p:sp>
      <p:sp>
        <p:nvSpPr>
          <p:cNvPr id="1609" name="Google Shape;1609;p133"/>
          <p:cNvSpPr txBox="1"/>
          <p:nvPr>
            <p:ph idx="1" type="body"/>
          </p:nvPr>
        </p:nvSpPr>
        <p:spPr>
          <a:xfrm>
            <a:off x="324000" y="902675"/>
            <a:ext cx="8496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To maintain equality, if a value is added to one side of an equation, it must also be added to the other side of the equation.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10" name="Google Shape;1610;p133"/>
          <p:cNvSpPr txBox="1"/>
          <p:nvPr>
            <p:ph idx="1" type="body"/>
          </p:nvPr>
        </p:nvSpPr>
        <p:spPr>
          <a:xfrm>
            <a:off x="324000" y="1932150"/>
            <a:ext cx="8496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can we write an equation for this bar model?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611" name="Google Shape;1611;p133"/>
          <p:cNvGrpSpPr/>
          <p:nvPr/>
        </p:nvGrpSpPr>
        <p:grpSpPr>
          <a:xfrm>
            <a:off x="324000" y="2393325"/>
            <a:ext cx="2604000" cy="613350"/>
            <a:chOff x="324000" y="2393325"/>
            <a:chExt cx="2604000" cy="613350"/>
          </a:xfrm>
        </p:grpSpPr>
        <p:sp>
          <p:nvSpPr>
            <p:cNvPr id="1612" name="Google Shape;1612;p133"/>
            <p:cNvSpPr/>
            <p:nvPr/>
          </p:nvSpPr>
          <p:spPr>
            <a:xfrm>
              <a:off x="2132100" y="2393325"/>
              <a:ext cx="7959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13" name="Google Shape;1613;p133"/>
            <p:cNvSpPr/>
            <p:nvPr/>
          </p:nvSpPr>
          <p:spPr>
            <a:xfrm>
              <a:off x="324000" y="2393325"/>
              <a:ext cx="18081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14" name="Google Shape;1614;p133"/>
            <p:cNvSpPr/>
            <p:nvPr/>
          </p:nvSpPr>
          <p:spPr>
            <a:xfrm>
              <a:off x="324000" y="2700075"/>
              <a:ext cx="26040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1</a:t>
              </a: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7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615" name="Google Shape;1615;p133"/>
          <p:cNvSpPr txBox="1"/>
          <p:nvPr>
            <p:ph idx="1" type="body"/>
          </p:nvPr>
        </p:nvSpPr>
        <p:spPr>
          <a:xfrm>
            <a:off x="5774400" y="2318775"/>
            <a:ext cx="16515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 = 17</a:t>
            </a:r>
            <a:r>
              <a:rPr lang="en-GB" sz="1800"/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16" name="Google Shape;1616;p133"/>
          <p:cNvSpPr/>
          <p:nvPr/>
        </p:nvSpPr>
        <p:spPr>
          <a:xfrm>
            <a:off x="2928000" y="2393325"/>
            <a:ext cx="1808100" cy="3066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17" name="Google Shape;1617;p133"/>
          <p:cNvSpPr txBox="1"/>
          <p:nvPr>
            <p:ph idx="1" type="body"/>
          </p:nvPr>
        </p:nvSpPr>
        <p:spPr>
          <a:xfrm>
            <a:off x="324000" y="3240000"/>
            <a:ext cx="8496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can we maintain equality in this bar model now</a:t>
            </a:r>
            <a:r>
              <a:rPr lang="en-GB" sz="1800"/>
              <a:t>?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18" name="Google Shape;1618;p133"/>
          <p:cNvSpPr/>
          <p:nvPr/>
        </p:nvSpPr>
        <p:spPr>
          <a:xfrm>
            <a:off x="2928000" y="2705400"/>
            <a:ext cx="1808100" cy="3066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19" name="Google Shape;1619;p133"/>
          <p:cNvSpPr txBox="1"/>
          <p:nvPr>
            <p:ph idx="1" type="body"/>
          </p:nvPr>
        </p:nvSpPr>
        <p:spPr>
          <a:xfrm>
            <a:off x="324000" y="3600925"/>
            <a:ext cx="8496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Add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to the other bar as well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0" name="Google Shape;1620;p133"/>
          <p:cNvSpPr txBox="1"/>
          <p:nvPr>
            <p:ph idx="1" type="body"/>
          </p:nvPr>
        </p:nvSpPr>
        <p:spPr>
          <a:xfrm>
            <a:off x="324000" y="4092150"/>
            <a:ext cx="8496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would the equation look like now?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21" name="Google Shape;1621;p133"/>
          <p:cNvSpPr txBox="1"/>
          <p:nvPr>
            <p:ph idx="1" type="body"/>
          </p:nvPr>
        </p:nvSpPr>
        <p:spPr>
          <a:xfrm>
            <a:off x="324000" y="4425075"/>
            <a:ext cx="2379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i="1"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17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i="1"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 sz="20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22" name="Google Shape;1622;p133"/>
          <p:cNvSpPr txBox="1"/>
          <p:nvPr>
            <p:ph idx="1" type="body"/>
          </p:nvPr>
        </p:nvSpPr>
        <p:spPr>
          <a:xfrm>
            <a:off x="3382500" y="4425075"/>
            <a:ext cx="2379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 =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+ 17 </a:t>
            </a:r>
            <a:endParaRPr i="1" sz="20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23" name="Google Shape;1623;p133"/>
          <p:cNvSpPr txBox="1"/>
          <p:nvPr>
            <p:ph idx="1" type="body"/>
          </p:nvPr>
        </p:nvSpPr>
        <p:spPr>
          <a:xfrm>
            <a:off x="2704500" y="4425075"/>
            <a:ext cx="3654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or</a:t>
            </a:r>
            <a:endParaRPr sz="2000">
              <a:solidFill>
                <a:schemeClr val="accent4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7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p1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Maintaining equality in bar models</a:t>
            </a:r>
            <a:endParaRPr/>
          </a:p>
        </p:txBody>
      </p:sp>
      <p:sp>
        <p:nvSpPr>
          <p:cNvPr id="1629" name="Google Shape;1629;p134"/>
          <p:cNvSpPr txBox="1"/>
          <p:nvPr>
            <p:ph idx="1" type="body"/>
          </p:nvPr>
        </p:nvSpPr>
        <p:spPr>
          <a:xfrm>
            <a:off x="324000" y="871775"/>
            <a:ext cx="8496000" cy="71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Would these operations maintain equality?</a:t>
            </a:r>
            <a:r>
              <a:rPr lang="en-GB" sz="1800"/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630" name="Google Shape;1630;p134"/>
          <p:cNvGrpSpPr/>
          <p:nvPr/>
        </p:nvGrpSpPr>
        <p:grpSpPr>
          <a:xfrm>
            <a:off x="324000" y="1355500"/>
            <a:ext cx="2604000" cy="613350"/>
            <a:chOff x="324000" y="1355500"/>
            <a:chExt cx="2604000" cy="613350"/>
          </a:xfrm>
        </p:grpSpPr>
        <p:sp>
          <p:nvSpPr>
            <p:cNvPr id="1631" name="Google Shape;1631;p134"/>
            <p:cNvSpPr/>
            <p:nvPr/>
          </p:nvSpPr>
          <p:spPr>
            <a:xfrm>
              <a:off x="2132100" y="1355500"/>
              <a:ext cx="7959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32" name="Google Shape;1632;p134"/>
            <p:cNvSpPr/>
            <p:nvPr/>
          </p:nvSpPr>
          <p:spPr>
            <a:xfrm>
              <a:off x="324000" y="1355500"/>
              <a:ext cx="18081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33" name="Google Shape;1633;p134"/>
            <p:cNvSpPr/>
            <p:nvPr/>
          </p:nvSpPr>
          <p:spPr>
            <a:xfrm>
              <a:off x="324000" y="1662250"/>
              <a:ext cx="26040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17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634" name="Google Shape;1634;p134"/>
          <p:cNvSpPr txBox="1"/>
          <p:nvPr>
            <p:ph idx="1" type="body"/>
          </p:nvPr>
        </p:nvSpPr>
        <p:spPr>
          <a:xfrm>
            <a:off x="4824000" y="1315200"/>
            <a:ext cx="16515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 = 17</a:t>
            </a:r>
            <a:r>
              <a:rPr lang="en-GB" sz="1800"/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35" name="Google Shape;1635;p134"/>
          <p:cNvSpPr/>
          <p:nvPr/>
        </p:nvSpPr>
        <p:spPr>
          <a:xfrm>
            <a:off x="2928000" y="1355500"/>
            <a:ext cx="795900" cy="3066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</a:t>
            </a:r>
            <a:endParaRPr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36" name="Google Shape;1636;p134"/>
          <p:cNvSpPr/>
          <p:nvPr/>
        </p:nvSpPr>
        <p:spPr>
          <a:xfrm>
            <a:off x="2928000" y="1662250"/>
            <a:ext cx="701700" cy="3066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37" name="Google Shape;1637;p134"/>
          <p:cNvSpPr txBox="1"/>
          <p:nvPr>
            <p:ph idx="1" type="body"/>
          </p:nvPr>
        </p:nvSpPr>
        <p:spPr>
          <a:xfrm>
            <a:off x="4824000" y="1699275"/>
            <a:ext cx="21345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i="1"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17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lang="en-GB" sz="1800"/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38" name="Google Shape;1638;p134"/>
          <p:cNvSpPr txBox="1"/>
          <p:nvPr>
            <p:ph idx="1" type="body"/>
          </p:nvPr>
        </p:nvSpPr>
        <p:spPr>
          <a:xfrm>
            <a:off x="324000" y="2373125"/>
            <a:ext cx="8496000" cy="71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No, different values are added to each side.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c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is a variable term so it is not always equal to 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9" name="Google Shape;1639;p134"/>
          <p:cNvSpPr txBox="1"/>
          <p:nvPr>
            <p:ph idx="1" type="body"/>
          </p:nvPr>
        </p:nvSpPr>
        <p:spPr>
          <a:xfrm>
            <a:off x="324000" y="3240800"/>
            <a:ext cx="8496000" cy="71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Would these operations maintain equality?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640" name="Google Shape;1640;p134"/>
          <p:cNvGrpSpPr/>
          <p:nvPr/>
        </p:nvGrpSpPr>
        <p:grpSpPr>
          <a:xfrm>
            <a:off x="324000" y="3717700"/>
            <a:ext cx="2604000" cy="613350"/>
            <a:chOff x="324000" y="3717700"/>
            <a:chExt cx="2604000" cy="613350"/>
          </a:xfrm>
        </p:grpSpPr>
        <p:sp>
          <p:nvSpPr>
            <p:cNvPr id="1641" name="Google Shape;1641;p134"/>
            <p:cNvSpPr/>
            <p:nvPr/>
          </p:nvSpPr>
          <p:spPr>
            <a:xfrm>
              <a:off x="2132100" y="3717700"/>
              <a:ext cx="7959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42" name="Google Shape;1642;p134"/>
            <p:cNvSpPr/>
            <p:nvPr/>
          </p:nvSpPr>
          <p:spPr>
            <a:xfrm>
              <a:off x="324000" y="3717700"/>
              <a:ext cx="18081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43" name="Google Shape;1643;p134"/>
            <p:cNvSpPr/>
            <p:nvPr/>
          </p:nvSpPr>
          <p:spPr>
            <a:xfrm>
              <a:off x="324000" y="4024450"/>
              <a:ext cx="26040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17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644" name="Google Shape;1644;p134"/>
          <p:cNvSpPr txBox="1"/>
          <p:nvPr>
            <p:ph idx="1" type="body"/>
          </p:nvPr>
        </p:nvSpPr>
        <p:spPr>
          <a:xfrm>
            <a:off x="4824000" y="3677400"/>
            <a:ext cx="16515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 = 17</a:t>
            </a:r>
            <a:r>
              <a:rPr lang="en-GB" sz="1800"/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45" name="Google Shape;1645;p134"/>
          <p:cNvSpPr txBox="1"/>
          <p:nvPr>
            <p:ph idx="1" type="body"/>
          </p:nvPr>
        </p:nvSpPr>
        <p:spPr>
          <a:xfrm>
            <a:off x="4824000" y="4061475"/>
            <a:ext cx="33852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i="1"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b +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17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+ b + 5</a:t>
            </a:r>
            <a:r>
              <a:rPr lang="en-GB" sz="1800"/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646" name="Google Shape;1646;p134"/>
          <p:cNvGrpSpPr/>
          <p:nvPr/>
        </p:nvGrpSpPr>
        <p:grpSpPr>
          <a:xfrm>
            <a:off x="2928000" y="3717700"/>
            <a:ext cx="1451400" cy="613350"/>
            <a:chOff x="2928000" y="3717700"/>
            <a:chExt cx="1451400" cy="613350"/>
          </a:xfrm>
        </p:grpSpPr>
        <p:sp>
          <p:nvSpPr>
            <p:cNvPr id="1647" name="Google Shape;1647;p134"/>
            <p:cNvSpPr/>
            <p:nvPr/>
          </p:nvSpPr>
          <p:spPr>
            <a:xfrm>
              <a:off x="2928000" y="3717700"/>
              <a:ext cx="655500" cy="3066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b</a:t>
              </a:r>
              <a:endParaRPr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48" name="Google Shape;1648;p134"/>
            <p:cNvSpPr/>
            <p:nvPr/>
          </p:nvSpPr>
          <p:spPr>
            <a:xfrm>
              <a:off x="3583500" y="3717700"/>
              <a:ext cx="795900" cy="3066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49" name="Google Shape;1649;p134"/>
            <p:cNvSpPr/>
            <p:nvPr/>
          </p:nvSpPr>
          <p:spPr>
            <a:xfrm>
              <a:off x="2928000" y="4024450"/>
              <a:ext cx="655500" cy="3066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b</a:t>
              </a:r>
              <a:endParaRPr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50" name="Google Shape;1650;p134"/>
            <p:cNvSpPr/>
            <p:nvPr/>
          </p:nvSpPr>
          <p:spPr>
            <a:xfrm>
              <a:off x="3583500" y="4024450"/>
              <a:ext cx="795900" cy="3066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651" name="Google Shape;1651;p134"/>
          <p:cNvSpPr txBox="1"/>
          <p:nvPr>
            <p:ph idx="1" type="body"/>
          </p:nvPr>
        </p:nvSpPr>
        <p:spPr>
          <a:xfrm>
            <a:off x="324000" y="4464750"/>
            <a:ext cx="8496000" cy="35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Yes, the same values have been added to both sides of the equation.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652" name="Google Shape;1652;p134"/>
          <p:cNvCxnSpPr/>
          <p:nvPr/>
        </p:nvCxnSpPr>
        <p:spPr>
          <a:xfrm flipH="1" rot="10800000">
            <a:off x="5846550" y="1771275"/>
            <a:ext cx="44700" cy="21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p1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Maintaining equality in bar models</a:t>
            </a:r>
            <a:endParaRPr/>
          </a:p>
        </p:txBody>
      </p:sp>
      <p:sp>
        <p:nvSpPr>
          <p:cNvPr id="1658" name="Google Shape;1658;p135"/>
          <p:cNvSpPr txBox="1"/>
          <p:nvPr>
            <p:ph idx="1" type="body"/>
          </p:nvPr>
        </p:nvSpPr>
        <p:spPr>
          <a:xfrm>
            <a:off x="324000" y="871775"/>
            <a:ext cx="8496000" cy="71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Would these operations maintain equality?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59" name="Google Shape;1659;p135"/>
          <p:cNvSpPr/>
          <p:nvPr/>
        </p:nvSpPr>
        <p:spPr>
          <a:xfrm>
            <a:off x="2132100" y="1355500"/>
            <a:ext cx="795900" cy="306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5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60" name="Google Shape;1660;p135"/>
          <p:cNvSpPr/>
          <p:nvPr/>
        </p:nvSpPr>
        <p:spPr>
          <a:xfrm>
            <a:off x="324000" y="1355500"/>
            <a:ext cx="1808100" cy="306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61" name="Google Shape;1661;p135"/>
          <p:cNvSpPr/>
          <p:nvPr/>
        </p:nvSpPr>
        <p:spPr>
          <a:xfrm>
            <a:off x="324000" y="1662250"/>
            <a:ext cx="2604000" cy="306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17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62" name="Google Shape;1662;p135"/>
          <p:cNvSpPr txBox="1"/>
          <p:nvPr>
            <p:ph idx="1" type="body"/>
          </p:nvPr>
        </p:nvSpPr>
        <p:spPr>
          <a:xfrm>
            <a:off x="4824000" y="1315200"/>
            <a:ext cx="16515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 = 17</a:t>
            </a:r>
            <a:r>
              <a:rPr lang="en-GB" sz="1800"/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63" name="Google Shape;1663;p135"/>
          <p:cNvSpPr/>
          <p:nvPr/>
        </p:nvSpPr>
        <p:spPr>
          <a:xfrm>
            <a:off x="2928000" y="1355500"/>
            <a:ext cx="995400" cy="3066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endParaRPr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64" name="Google Shape;1664;p135"/>
          <p:cNvSpPr/>
          <p:nvPr/>
        </p:nvSpPr>
        <p:spPr>
          <a:xfrm>
            <a:off x="2928000" y="1662250"/>
            <a:ext cx="995400" cy="3066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−6</a:t>
            </a:r>
            <a:endParaRPr sz="23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65" name="Google Shape;1665;p135"/>
          <p:cNvSpPr txBox="1"/>
          <p:nvPr>
            <p:ph idx="1" type="body"/>
          </p:nvPr>
        </p:nvSpPr>
        <p:spPr>
          <a:xfrm>
            <a:off x="4824000" y="1699275"/>
            <a:ext cx="2505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17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+ (</a:t>
            </a: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−6)</a:t>
            </a:r>
            <a:r>
              <a:rPr lang="en-GB" sz="1800"/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66" name="Google Shape;1666;p135"/>
          <p:cNvSpPr txBox="1"/>
          <p:nvPr>
            <p:ph idx="1" type="body"/>
          </p:nvPr>
        </p:nvSpPr>
        <p:spPr>
          <a:xfrm>
            <a:off x="324000" y="2680563"/>
            <a:ext cx="8496000" cy="71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bar model is misleading here. Adding −6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/>
              <a:t>is the same as subtracting 6</a:t>
            </a: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/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667" name="Google Shape;1667;p135"/>
          <p:cNvGrpSpPr/>
          <p:nvPr/>
        </p:nvGrpSpPr>
        <p:grpSpPr>
          <a:xfrm>
            <a:off x="324000" y="3544800"/>
            <a:ext cx="3599400" cy="306600"/>
            <a:chOff x="324000" y="3544800"/>
            <a:chExt cx="3599400" cy="306600"/>
          </a:xfrm>
        </p:grpSpPr>
        <p:sp>
          <p:nvSpPr>
            <p:cNvPr id="1668" name="Google Shape;1668;p135"/>
            <p:cNvSpPr/>
            <p:nvPr/>
          </p:nvSpPr>
          <p:spPr>
            <a:xfrm>
              <a:off x="2132100" y="3544800"/>
              <a:ext cx="7959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69" name="Google Shape;1669;p135"/>
            <p:cNvSpPr/>
            <p:nvPr/>
          </p:nvSpPr>
          <p:spPr>
            <a:xfrm>
              <a:off x="324000" y="3544800"/>
              <a:ext cx="18081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70" name="Google Shape;1670;p135"/>
            <p:cNvSpPr/>
            <p:nvPr/>
          </p:nvSpPr>
          <p:spPr>
            <a:xfrm>
              <a:off x="2928000" y="3544800"/>
              <a:ext cx="995400" cy="3066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671" name="Google Shape;1671;p135"/>
          <p:cNvGrpSpPr/>
          <p:nvPr/>
        </p:nvGrpSpPr>
        <p:grpSpPr>
          <a:xfrm>
            <a:off x="324000" y="4084875"/>
            <a:ext cx="2604000" cy="613200"/>
            <a:chOff x="324000" y="4084875"/>
            <a:chExt cx="2604000" cy="613200"/>
          </a:xfrm>
        </p:grpSpPr>
        <p:sp>
          <p:nvSpPr>
            <p:cNvPr id="1672" name="Google Shape;1672;p135"/>
            <p:cNvSpPr/>
            <p:nvPr/>
          </p:nvSpPr>
          <p:spPr>
            <a:xfrm>
              <a:off x="324000" y="4391475"/>
              <a:ext cx="26040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17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73" name="Google Shape;1673;p135"/>
            <p:cNvSpPr/>
            <p:nvPr/>
          </p:nvSpPr>
          <p:spPr>
            <a:xfrm>
              <a:off x="1932600" y="4084875"/>
              <a:ext cx="995400" cy="3066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sz="23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cxnSp>
        <p:nvCxnSpPr>
          <p:cNvPr id="1674" name="Google Shape;1674;p135"/>
          <p:cNvCxnSpPr/>
          <p:nvPr/>
        </p:nvCxnSpPr>
        <p:spPr>
          <a:xfrm>
            <a:off x="324000" y="4185200"/>
            <a:ext cx="1600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75" name="Google Shape;1675;p135"/>
          <p:cNvCxnSpPr/>
          <p:nvPr/>
        </p:nvCxnSpPr>
        <p:spPr>
          <a:xfrm>
            <a:off x="324000" y="3410825"/>
            <a:ext cx="3591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76" name="Google Shape;1676;p135"/>
          <p:cNvSpPr txBox="1"/>
          <p:nvPr>
            <p:ph idx="1" type="body"/>
          </p:nvPr>
        </p:nvSpPr>
        <p:spPr>
          <a:xfrm>
            <a:off x="4320000" y="3549825"/>
            <a:ext cx="4400400" cy="12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length of the bars shown by the arrows are no longer the same. A different value was added to each bar.</a:t>
            </a: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/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77" name="Google Shape;1677;p135"/>
          <p:cNvSpPr txBox="1"/>
          <p:nvPr>
            <p:ph idx="1" type="body"/>
          </p:nvPr>
        </p:nvSpPr>
        <p:spPr>
          <a:xfrm>
            <a:off x="324000" y="2175788"/>
            <a:ext cx="8496000" cy="34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No, different values are being added. </a:t>
            </a:r>
            <a:r>
              <a:rPr lang="en-GB" sz="23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678" name="Google Shape;1678;p135"/>
          <p:cNvCxnSpPr/>
          <p:nvPr/>
        </p:nvCxnSpPr>
        <p:spPr>
          <a:xfrm flipH="1" rot="9999994">
            <a:off x="5813368" y="1779829"/>
            <a:ext cx="148297" cy="198103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136"/>
          <p:cNvSpPr txBox="1"/>
          <p:nvPr>
            <p:ph idx="1" type="body"/>
          </p:nvPr>
        </p:nvSpPr>
        <p:spPr>
          <a:xfrm>
            <a:off x="324000" y="759300"/>
            <a:ext cx="8237700" cy="53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Complete the bar models to maintain equality. </a:t>
            </a:r>
            <a:endParaRPr sz="1800"/>
          </a:p>
        </p:txBody>
      </p:sp>
      <p:sp>
        <p:nvSpPr>
          <p:cNvPr id="1684" name="Google Shape;1684;p1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Maintaining equality in bar models</a:t>
            </a:r>
            <a:endParaRPr/>
          </a:p>
        </p:txBody>
      </p:sp>
      <p:grpSp>
        <p:nvGrpSpPr>
          <p:cNvPr id="1685" name="Google Shape;1685;p136"/>
          <p:cNvGrpSpPr/>
          <p:nvPr/>
        </p:nvGrpSpPr>
        <p:grpSpPr>
          <a:xfrm>
            <a:off x="323991" y="1568275"/>
            <a:ext cx="457200" cy="457200"/>
            <a:chOff x="1020916" y="1442088"/>
            <a:chExt cx="457200" cy="457200"/>
          </a:xfrm>
        </p:grpSpPr>
        <p:pic>
          <p:nvPicPr>
            <p:cNvPr id="1686" name="Google Shape;1686;p1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7" name="Google Shape;1687;p1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88" name="Google Shape;1688;p136"/>
          <p:cNvSpPr/>
          <p:nvPr/>
        </p:nvSpPr>
        <p:spPr>
          <a:xfrm>
            <a:off x="2811725" y="1568275"/>
            <a:ext cx="795900" cy="306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3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89" name="Google Shape;1689;p136"/>
          <p:cNvSpPr/>
          <p:nvPr/>
        </p:nvSpPr>
        <p:spPr>
          <a:xfrm>
            <a:off x="1003625" y="1568275"/>
            <a:ext cx="1808100" cy="306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90" name="Google Shape;1690;p136"/>
          <p:cNvSpPr/>
          <p:nvPr/>
        </p:nvSpPr>
        <p:spPr>
          <a:xfrm>
            <a:off x="1003625" y="1875025"/>
            <a:ext cx="2604000" cy="306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91" name="Google Shape;1691;p136"/>
          <p:cNvSpPr/>
          <p:nvPr/>
        </p:nvSpPr>
        <p:spPr>
          <a:xfrm>
            <a:off x="3607625" y="1568275"/>
            <a:ext cx="795900" cy="3066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692" name="Google Shape;1692;p136"/>
          <p:cNvGrpSpPr/>
          <p:nvPr/>
        </p:nvGrpSpPr>
        <p:grpSpPr>
          <a:xfrm>
            <a:off x="323991" y="2795200"/>
            <a:ext cx="457200" cy="457200"/>
            <a:chOff x="1020916" y="1442088"/>
            <a:chExt cx="457200" cy="457200"/>
          </a:xfrm>
        </p:grpSpPr>
        <p:pic>
          <p:nvPicPr>
            <p:cNvPr id="1693" name="Google Shape;1693;p1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4" name="Google Shape;1694;p1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95" name="Google Shape;1695;p136"/>
          <p:cNvGrpSpPr/>
          <p:nvPr/>
        </p:nvGrpSpPr>
        <p:grpSpPr>
          <a:xfrm>
            <a:off x="323991" y="4022125"/>
            <a:ext cx="457200" cy="457200"/>
            <a:chOff x="1020916" y="1442088"/>
            <a:chExt cx="457200" cy="457200"/>
          </a:xfrm>
        </p:grpSpPr>
        <p:pic>
          <p:nvPicPr>
            <p:cNvPr id="1696" name="Google Shape;1696;p1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7" name="Google Shape;1697;p1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98" name="Google Shape;1698;p136"/>
          <p:cNvSpPr/>
          <p:nvPr/>
        </p:nvSpPr>
        <p:spPr>
          <a:xfrm>
            <a:off x="2811725" y="2829650"/>
            <a:ext cx="795900" cy="306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3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99" name="Google Shape;1699;p136"/>
          <p:cNvSpPr/>
          <p:nvPr/>
        </p:nvSpPr>
        <p:spPr>
          <a:xfrm>
            <a:off x="1003625" y="2829650"/>
            <a:ext cx="1808100" cy="306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00" name="Google Shape;1700;p136"/>
          <p:cNvSpPr/>
          <p:nvPr/>
        </p:nvSpPr>
        <p:spPr>
          <a:xfrm>
            <a:off x="1003625" y="3136400"/>
            <a:ext cx="2604000" cy="306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01" name="Google Shape;1701;p136"/>
          <p:cNvSpPr/>
          <p:nvPr/>
        </p:nvSpPr>
        <p:spPr>
          <a:xfrm>
            <a:off x="3607625" y="3136400"/>
            <a:ext cx="1165200" cy="3066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endParaRPr i="1"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02" name="Google Shape;1702;p136"/>
          <p:cNvSpPr/>
          <p:nvPr/>
        </p:nvSpPr>
        <p:spPr>
          <a:xfrm>
            <a:off x="4619825" y="4013325"/>
            <a:ext cx="795900" cy="306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3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03" name="Google Shape;1703;p136"/>
          <p:cNvSpPr/>
          <p:nvPr/>
        </p:nvSpPr>
        <p:spPr>
          <a:xfrm>
            <a:off x="1003625" y="4013325"/>
            <a:ext cx="1808100" cy="306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04" name="Google Shape;1704;p136"/>
          <p:cNvSpPr/>
          <p:nvPr/>
        </p:nvSpPr>
        <p:spPr>
          <a:xfrm>
            <a:off x="1003625" y="4320075"/>
            <a:ext cx="2604000" cy="306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10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05" name="Google Shape;1705;p136"/>
          <p:cNvSpPr/>
          <p:nvPr/>
        </p:nvSpPr>
        <p:spPr>
          <a:xfrm>
            <a:off x="2811725" y="4013325"/>
            <a:ext cx="1808100" cy="3066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06" name="Google Shape;1706;p136"/>
          <p:cNvSpPr txBox="1"/>
          <p:nvPr>
            <p:ph idx="1" type="body"/>
          </p:nvPr>
        </p:nvSpPr>
        <p:spPr>
          <a:xfrm>
            <a:off x="6079200" y="1493725"/>
            <a:ext cx="1651500" cy="30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 = 10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707" name="Google Shape;1707;p136"/>
          <p:cNvSpPr txBox="1"/>
          <p:nvPr>
            <p:ph idx="1" type="body"/>
          </p:nvPr>
        </p:nvSpPr>
        <p:spPr>
          <a:xfrm>
            <a:off x="6079200" y="2716250"/>
            <a:ext cx="16515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 = 10</a:t>
            </a:r>
            <a:r>
              <a:rPr lang="en-GB" sz="1800"/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08" name="Google Shape;1708;p136"/>
          <p:cNvSpPr txBox="1"/>
          <p:nvPr>
            <p:ph idx="1" type="body"/>
          </p:nvPr>
        </p:nvSpPr>
        <p:spPr>
          <a:xfrm>
            <a:off x="6079200" y="3938775"/>
            <a:ext cx="16515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 = 10</a:t>
            </a:r>
            <a:r>
              <a:rPr lang="en-GB" sz="1800"/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09" name="Google Shape;1709;p136"/>
          <p:cNvSpPr/>
          <p:nvPr/>
        </p:nvSpPr>
        <p:spPr>
          <a:xfrm>
            <a:off x="3607625" y="1875025"/>
            <a:ext cx="795900" cy="3066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10" name="Google Shape;1710;p136"/>
          <p:cNvSpPr/>
          <p:nvPr/>
        </p:nvSpPr>
        <p:spPr>
          <a:xfrm>
            <a:off x="3607625" y="2829650"/>
            <a:ext cx="1165200" cy="3066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endParaRPr i="1"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11" name="Google Shape;1711;p136"/>
          <p:cNvSpPr/>
          <p:nvPr/>
        </p:nvSpPr>
        <p:spPr>
          <a:xfrm>
            <a:off x="3607625" y="4320075"/>
            <a:ext cx="1808100" cy="3066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12" name="Google Shape;1712;p136"/>
          <p:cNvSpPr txBox="1"/>
          <p:nvPr/>
        </p:nvSpPr>
        <p:spPr>
          <a:xfrm>
            <a:off x="5686675" y="1827500"/>
            <a:ext cx="150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+ 3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10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/>
          </a:p>
        </p:txBody>
      </p:sp>
      <p:sp>
        <p:nvSpPr>
          <p:cNvPr id="1713" name="Google Shape;1713;p136"/>
          <p:cNvSpPr txBox="1"/>
          <p:nvPr/>
        </p:nvSpPr>
        <p:spPr>
          <a:xfrm>
            <a:off x="7194475" y="1827500"/>
            <a:ext cx="150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/>
          </a:p>
        </p:txBody>
      </p:sp>
      <p:sp>
        <p:nvSpPr>
          <p:cNvPr id="1714" name="Google Shape;1714;p136"/>
          <p:cNvSpPr txBox="1"/>
          <p:nvPr/>
        </p:nvSpPr>
        <p:spPr>
          <a:xfrm>
            <a:off x="5648375" y="3044625"/>
            <a:ext cx="233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+ 3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10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i="1"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/>
          </a:p>
        </p:txBody>
      </p:sp>
      <p:sp>
        <p:nvSpPr>
          <p:cNvPr id="1715" name="Google Shape;1715;p136"/>
          <p:cNvSpPr txBox="1"/>
          <p:nvPr/>
        </p:nvSpPr>
        <p:spPr>
          <a:xfrm>
            <a:off x="6222900" y="3044625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i="1"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/>
          </a:p>
        </p:txBody>
      </p:sp>
      <p:sp>
        <p:nvSpPr>
          <p:cNvPr id="1716" name="Google Shape;1716;p136"/>
          <p:cNvSpPr txBox="1"/>
          <p:nvPr/>
        </p:nvSpPr>
        <p:spPr>
          <a:xfrm>
            <a:off x="5686675" y="4261750"/>
            <a:ext cx="150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i="1"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+ 3 = 10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/>
          </a:p>
        </p:txBody>
      </p:sp>
      <p:sp>
        <p:nvSpPr>
          <p:cNvPr id="1717" name="Google Shape;1717;p136"/>
          <p:cNvSpPr txBox="1"/>
          <p:nvPr/>
        </p:nvSpPr>
        <p:spPr>
          <a:xfrm>
            <a:off x="7194475" y="4261750"/>
            <a:ext cx="150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i="1"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p1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Maintaining equality in bar models</a:t>
            </a:r>
            <a:endParaRPr/>
          </a:p>
        </p:txBody>
      </p:sp>
      <p:sp>
        <p:nvSpPr>
          <p:cNvPr id="1723" name="Google Shape;1723;p137"/>
          <p:cNvSpPr txBox="1"/>
          <p:nvPr>
            <p:ph idx="1" type="body"/>
          </p:nvPr>
        </p:nvSpPr>
        <p:spPr>
          <a:xfrm>
            <a:off x="324000" y="741450"/>
            <a:ext cx="8496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Here we have the equation we looked at earlier</a:t>
            </a:r>
            <a:r>
              <a:rPr lang="en-GB" sz="18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8 + 2 = 7 + 3</a:t>
            </a:r>
            <a:r>
              <a:rPr lang="en-GB" sz="1800"/>
              <a:t>   </a:t>
            </a:r>
            <a:endParaRPr sz="1800"/>
          </a:p>
        </p:txBody>
      </p:sp>
      <p:grpSp>
        <p:nvGrpSpPr>
          <p:cNvPr id="1724" name="Google Shape;1724;p137"/>
          <p:cNvGrpSpPr/>
          <p:nvPr/>
        </p:nvGrpSpPr>
        <p:grpSpPr>
          <a:xfrm>
            <a:off x="354900" y="1197150"/>
            <a:ext cx="2340900" cy="613350"/>
            <a:chOff x="354900" y="1197150"/>
            <a:chExt cx="2340900" cy="613350"/>
          </a:xfrm>
        </p:grpSpPr>
        <p:sp>
          <p:nvSpPr>
            <p:cNvPr id="1725" name="Google Shape;1725;p137"/>
            <p:cNvSpPr/>
            <p:nvPr/>
          </p:nvSpPr>
          <p:spPr>
            <a:xfrm>
              <a:off x="2163000" y="1197150"/>
              <a:ext cx="5328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26" name="Google Shape;1726;p137"/>
            <p:cNvSpPr/>
            <p:nvPr/>
          </p:nvSpPr>
          <p:spPr>
            <a:xfrm>
              <a:off x="354900" y="1197150"/>
              <a:ext cx="18081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8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27" name="Google Shape;1727;p137"/>
            <p:cNvSpPr/>
            <p:nvPr/>
          </p:nvSpPr>
          <p:spPr>
            <a:xfrm>
              <a:off x="354900" y="1503900"/>
              <a:ext cx="15450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7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28" name="Google Shape;1728;p137"/>
            <p:cNvSpPr/>
            <p:nvPr/>
          </p:nvSpPr>
          <p:spPr>
            <a:xfrm>
              <a:off x="1899900" y="1503900"/>
              <a:ext cx="7959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729" name="Google Shape;1729;p137"/>
          <p:cNvSpPr txBox="1"/>
          <p:nvPr>
            <p:ph idx="1" type="body"/>
          </p:nvPr>
        </p:nvSpPr>
        <p:spPr>
          <a:xfrm>
            <a:off x="324000" y="2191500"/>
            <a:ext cx="8496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</a:t>
            </a:r>
            <a:r>
              <a:rPr lang="en-GB" sz="1800"/>
              <a:t>operation</a:t>
            </a:r>
            <a:r>
              <a:rPr lang="en-GB" sz="1800"/>
              <a:t> have I done to the top bar?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730" name="Google Shape;1730;p137"/>
          <p:cNvGrpSpPr/>
          <p:nvPr/>
        </p:nvGrpSpPr>
        <p:grpSpPr>
          <a:xfrm>
            <a:off x="2695800" y="1197150"/>
            <a:ext cx="2340900" cy="306600"/>
            <a:chOff x="354900" y="1197150"/>
            <a:chExt cx="2340900" cy="306600"/>
          </a:xfrm>
        </p:grpSpPr>
        <p:sp>
          <p:nvSpPr>
            <p:cNvPr id="1731" name="Google Shape;1731;p137"/>
            <p:cNvSpPr/>
            <p:nvPr/>
          </p:nvSpPr>
          <p:spPr>
            <a:xfrm>
              <a:off x="2163000" y="1197150"/>
              <a:ext cx="532800" cy="3066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32" name="Google Shape;1732;p137"/>
            <p:cNvSpPr/>
            <p:nvPr/>
          </p:nvSpPr>
          <p:spPr>
            <a:xfrm>
              <a:off x="354900" y="1197150"/>
              <a:ext cx="1808100" cy="3066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8</a:t>
              </a:r>
              <a:endParaRPr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733" name="Google Shape;1733;p137"/>
          <p:cNvSpPr txBox="1"/>
          <p:nvPr>
            <p:ph idx="1" type="body"/>
          </p:nvPr>
        </p:nvSpPr>
        <p:spPr>
          <a:xfrm>
            <a:off x="324000" y="2516875"/>
            <a:ext cx="8496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Added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(8 + 2)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4" name="Google Shape;1734;p137"/>
          <p:cNvSpPr txBox="1"/>
          <p:nvPr>
            <p:ph idx="1" type="body"/>
          </p:nvPr>
        </p:nvSpPr>
        <p:spPr>
          <a:xfrm>
            <a:off x="324000" y="2972575"/>
            <a:ext cx="8496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Doubled the length of the bar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5" name="Google Shape;1735;p137"/>
          <p:cNvSpPr txBox="1"/>
          <p:nvPr>
            <p:ph idx="1" type="body"/>
          </p:nvPr>
        </p:nvSpPr>
        <p:spPr>
          <a:xfrm>
            <a:off x="324000" y="3695425"/>
            <a:ext cx="8496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could I do to maintain equality?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36" name="Google Shape;1736;p137"/>
          <p:cNvSpPr txBox="1"/>
          <p:nvPr>
            <p:ph idx="1" type="body"/>
          </p:nvPr>
        </p:nvSpPr>
        <p:spPr>
          <a:xfrm>
            <a:off x="324000" y="4092150"/>
            <a:ext cx="8496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Add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(8 + 2)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to the bottom bar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7" name="Google Shape;1737;p137"/>
          <p:cNvSpPr txBox="1"/>
          <p:nvPr>
            <p:ph idx="1" type="body"/>
          </p:nvPr>
        </p:nvSpPr>
        <p:spPr>
          <a:xfrm>
            <a:off x="324000" y="4466725"/>
            <a:ext cx="8496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Double the bottom bar, this is the same as adding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(7 + 3)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738" name="Google Shape;1738;p137"/>
          <p:cNvGrpSpPr/>
          <p:nvPr/>
        </p:nvGrpSpPr>
        <p:grpSpPr>
          <a:xfrm>
            <a:off x="2695800" y="1502871"/>
            <a:ext cx="2340900" cy="306600"/>
            <a:chOff x="354900" y="1503900"/>
            <a:chExt cx="2340900" cy="306600"/>
          </a:xfrm>
        </p:grpSpPr>
        <p:sp>
          <p:nvSpPr>
            <p:cNvPr id="1739" name="Google Shape;1739;p137"/>
            <p:cNvSpPr/>
            <p:nvPr/>
          </p:nvSpPr>
          <p:spPr>
            <a:xfrm>
              <a:off x="354900" y="1503900"/>
              <a:ext cx="1545000" cy="3066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7</a:t>
              </a:r>
              <a:endParaRPr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40" name="Google Shape;1740;p137"/>
            <p:cNvSpPr/>
            <p:nvPr/>
          </p:nvSpPr>
          <p:spPr>
            <a:xfrm>
              <a:off x="1899900" y="1503900"/>
              <a:ext cx="795900" cy="3066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4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p1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Maintaining equality in bar models</a:t>
            </a:r>
            <a:endParaRPr/>
          </a:p>
        </p:txBody>
      </p:sp>
      <p:sp>
        <p:nvSpPr>
          <p:cNvPr id="1746" name="Google Shape;1746;p138"/>
          <p:cNvSpPr txBox="1"/>
          <p:nvPr>
            <p:ph idx="1" type="body"/>
          </p:nvPr>
        </p:nvSpPr>
        <p:spPr>
          <a:xfrm>
            <a:off x="324000" y="810000"/>
            <a:ext cx="8496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we doubled the top and bottom bars, how could we write that as an equation?</a:t>
            </a:r>
            <a:r>
              <a:rPr lang="en-GB" sz="1800"/>
              <a:t>   </a:t>
            </a:r>
            <a:endParaRPr sz="1800"/>
          </a:p>
        </p:txBody>
      </p:sp>
      <p:grpSp>
        <p:nvGrpSpPr>
          <p:cNvPr id="1747" name="Google Shape;1747;p138"/>
          <p:cNvGrpSpPr/>
          <p:nvPr/>
        </p:nvGrpSpPr>
        <p:grpSpPr>
          <a:xfrm>
            <a:off x="354900" y="1578150"/>
            <a:ext cx="2340900" cy="613350"/>
            <a:chOff x="354900" y="1197150"/>
            <a:chExt cx="2340900" cy="613350"/>
          </a:xfrm>
        </p:grpSpPr>
        <p:sp>
          <p:nvSpPr>
            <p:cNvPr id="1748" name="Google Shape;1748;p138"/>
            <p:cNvSpPr/>
            <p:nvPr/>
          </p:nvSpPr>
          <p:spPr>
            <a:xfrm>
              <a:off x="2163000" y="1197150"/>
              <a:ext cx="5328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49" name="Google Shape;1749;p138"/>
            <p:cNvSpPr/>
            <p:nvPr/>
          </p:nvSpPr>
          <p:spPr>
            <a:xfrm>
              <a:off x="354900" y="1197150"/>
              <a:ext cx="18081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8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50" name="Google Shape;1750;p138"/>
            <p:cNvSpPr/>
            <p:nvPr/>
          </p:nvSpPr>
          <p:spPr>
            <a:xfrm>
              <a:off x="354900" y="1503900"/>
              <a:ext cx="15450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7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51" name="Google Shape;1751;p138"/>
            <p:cNvSpPr/>
            <p:nvPr/>
          </p:nvSpPr>
          <p:spPr>
            <a:xfrm>
              <a:off x="1899900" y="1503900"/>
              <a:ext cx="7959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752" name="Google Shape;1752;p138"/>
          <p:cNvSpPr txBox="1"/>
          <p:nvPr>
            <p:ph idx="1" type="body"/>
          </p:nvPr>
        </p:nvSpPr>
        <p:spPr>
          <a:xfrm>
            <a:off x="324000" y="2588975"/>
            <a:ext cx="8496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need to use brackets here, as the whole expression has been multiplied by 2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753" name="Google Shape;1753;p138"/>
          <p:cNvGrpSpPr/>
          <p:nvPr/>
        </p:nvGrpSpPr>
        <p:grpSpPr>
          <a:xfrm>
            <a:off x="2695800" y="1578150"/>
            <a:ext cx="2340900" cy="306600"/>
            <a:chOff x="354900" y="1197150"/>
            <a:chExt cx="2340900" cy="306600"/>
          </a:xfrm>
        </p:grpSpPr>
        <p:sp>
          <p:nvSpPr>
            <p:cNvPr id="1754" name="Google Shape;1754;p138"/>
            <p:cNvSpPr/>
            <p:nvPr/>
          </p:nvSpPr>
          <p:spPr>
            <a:xfrm>
              <a:off x="2163000" y="1197150"/>
              <a:ext cx="532800" cy="3066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55" name="Google Shape;1755;p138"/>
            <p:cNvSpPr/>
            <p:nvPr/>
          </p:nvSpPr>
          <p:spPr>
            <a:xfrm>
              <a:off x="354900" y="1197150"/>
              <a:ext cx="1808100" cy="3066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8</a:t>
              </a:r>
              <a:endParaRPr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756" name="Google Shape;1756;p138"/>
          <p:cNvGrpSpPr/>
          <p:nvPr/>
        </p:nvGrpSpPr>
        <p:grpSpPr>
          <a:xfrm>
            <a:off x="2695800" y="1883871"/>
            <a:ext cx="2340900" cy="306600"/>
            <a:chOff x="354900" y="1503900"/>
            <a:chExt cx="2340900" cy="306600"/>
          </a:xfrm>
        </p:grpSpPr>
        <p:sp>
          <p:nvSpPr>
            <p:cNvPr id="1757" name="Google Shape;1757;p138"/>
            <p:cNvSpPr/>
            <p:nvPr/>
          </p:nvSpPr>
          <p:spPr>
            <a:xfrm>
              <a:off x="354900" y="1503900"/>
              <a:ext cx="1545000" cy="3066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7</a:t>
              </a:r>
              <a:endParaRPr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58" name="Google Shape;1758;p138"/>
            <p:cNvSpPr/>
            <p:nvPr/>
          </p:nvSpPr>
          <p:spPr>
            <a:xfrm>
              <a:off x="1899900" y="1503900"/>
              <a:ext cx="795900" cy="3066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759" name="Google Shape;1759;p138"/>
          <p:cNvSpPr txBox="1"/>
          <p:nvPr>
            <p:ph idx="1" type="body"/>
          </p:nvPr>
        </p:nvSpPr>
        <p:spPr>
          <a:xfrm>
            <a:off x="5758954" y="1555650"/>
            <a:ext cx="14964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8 + 2 = 7 + 3</a:t>
            </a:r>
            <a:r>
              <a:rPr lang="en-GB" sz="1800"/>
              <a:t>   </a:t>
            </a:r>
            <a:endParaRPr sz="1800"/>
          </a:p>
        </p:txBody>
      </p:sp>
      <p:sp>
        <p:nvSpPr>
          <p:cNvPr id="1760" name="Google Shape;1760;p138"/>
          <p:cNvSpPr txBox="1"/>
          <p:nvPr>
            <p:ph idx="1" type="body"/>
          </p:nvPr>
        </p:nvSpPr>
        <p:spPr>
          <a:xfrm>
            <a:off x="5457756" y="1932150"/>
            <a:ext cx="25818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8 + 2) =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(7 + 3)</a:t>
            </a:r>
            <a:r>
              <a:rPr lang="en-GB" sz="1800"/>
              <a:t>   </a:t>
            </a:r>
            <a:endParaRPr sz="1800"/>
          </a:p>
        </p:txBody>
      </p:sp>
      <p:sp>
        <p:nvSpPr>
          <p:cNvPr id="1761" name="Google Shape;1761;p138"/>
          <p:cNvSpPr txBox="1"/>
          <p:nvPr>
            <p:ph idx="1" type="body"/>
          </p:nvPr>
        </p:nvSpPr>
        <p:spPr>
          <a:xfrm>
            <a:off x="291050" y="3384650"/>
            <a:ext cx="8496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convention is to</a:t>
            </a:r>
            <a:r>
              <a:rPr lang="en-GB" sz="1800"/>
              <a:t> write the multiplier in front of the brackets.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62" name="Google Shape;1762;p138"/>
          <p:cNvSpPr txBox="1"/>
          <p:nvPr>
            <p:ph idx="1" type="body"/>
          </p:nvPr>
        </p:nvSpPr>
        <p:spPr>
          <a:xfrm>
            <a:off x="324000" y="3840350"/>
            <a:ext cx="25818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(8 + 2) =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(7 + 3)</a:t>
            </a:r>
            <a:r>
              <a:rPr lang="en-GB" sz="1800"/>
              <a:t>   </a:t>
            </a:r>
            <a:endParaRPr sz="1800"/>
          </a:p>
        </p:txBody>
      </p:sp>
      <p:sp>
        <p:nvSpPr>
          <p:cNvPr id="1763" name="Google Shape;1763;p138"/>
          <p:cNvSpPr txBox="1"/>
          <p:nvPr>
            <p:ph idx="1" type="body"/>
          </p:nvPr>
        </p:nvSpPr>
        <p:spPr>
          <a:xfrm>
            <a:off x="324000" y="4247600"/>
            <a:ext cx="25818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(10) =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(10)</a:t>
            </a:r>
            <a:r>
              <a:rPr lang="en-GB" sz="1800"/>
              <a:t>   </a:t>
            </a:r>
            <a:endParaRPr sz="1800"/>
          </a:p>
        </p:txBody>
      </p:sp>
      <p:sp>
        <p:nvSpPr>
          <p:cNvPr id="1764" name="Google Shape;1764;p138"/>
          <p:cNvSpPr txBox="1"/>
          <p:nvPr>
            <p:ph idx="1" type="body"/>
          </p:nvPr>
        </p:nvSpPr>
        <p:spPr>
          <a:xfrm>
            <a:off x="2887200" y="4247600"/>
            <a:ext cx="60897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Both sides of the equation equal 20 so we have maintained equality.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8" name="Shape 1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9" name="Google Shape;1769;p1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Maintaining equality in bar models</a:t>
            </a:r>
            <a:endParaRPr/>
          </a:p>
        </p:txBody>
      </p:sp>
      <p:sp>
        <p:nvSpPr>
          <p:cNvPr id="1770" name="Google Shape;1770;p139"/>
          <p:cNvSpPr txBox="1"/>
          <p:nvPr>
            <p:ph idx="1" type="body"/>
          </p:nvPr>
        </p:nvSpPr>
        <p:spPr>
          <a:xfrm>
            <a:off x="324000" y="810000"/>
            <a:ext cx="8496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happens if we only double one term in the expression?</a:t>
            </a:r>
            <a:r>
              <a:rPr lang="en-GB" sz="1800"/>
              <a:t>   </a:t>
            </a:r>
            <a:endParaRPr sz="1800"/>
          </a:p>
        </p:txBody>
      </p:sp>
      <p:grpSp>
        <p:nvGrpSpPr>
          <p:cNvPr id="1771" name="Google Shape;1771;p139"/>
          <p:cNvGrpSpPr/>
          <p:nvPr/>
        </p:nvGrpSpPr>
        <p:grpSpPr>
          <a:xfrm>
            <a:off x="354900" y="1425750"/>
            <a:ext cx="2340900" cy="613350"/>
            <a:chOff x="354900" y="1197150"/>
            <a:chExt cx="2340900" cy="613350"/>
          </a:xfrm>
        </p:grpSpPr>
        <p:sp>
          <p:nvSpPr>
            <p:cNvPr id="1772" name="Google Shape;1772;p139"/>
            <p:cNvSpPr/>
            <p:nvPr/>
          </p:nvSpPr>
          <p:spPr>
            <a:xfrm>
              <a:off x="2163000" y="1197150"/>
              <a:ext cx="5328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73" name="Google Shape;1773;p139"/>
            <p:cNvSpPr/>
            <p:nvPr/>
          </p:nvSpPr>
          <p:spPr>
            <a:xfrm>
              <a:off x="354900" y="1197150"/>
              <a:ext cx="18081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8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74" name="Google Shape;1774;p139"/>
            <p:cNvSpPr/>
            <p:nvPr/>
          </p:nvSpPr>
          <p:spPr>
            <a:xfrm>
              <a:off x="354900" y="1503900"/>
              <a:ext cx="15450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7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75" name="Google Shape;1775;p139"/>
            <p:cNvSpPr/>
            <p:nvPr/>
          </p:nvSpPr>
          <p:spPr>
            <a:xfrm>
              <a:off x="1899900" y="1503900"/>
              <a:ext cx="7959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776" name="Google Shape;1776;p139"/>
          <p:cNvSpPr txBox="1"/>
          <p:nvPr>
            <p:ph idx="1" type="body"/>
          </p:nvPr>
        </p:nvSpPr>
        <p:spPr>
          <a:xfrm>
            <a:off x="324000" y="2436575"/>
            <a:ext cx="8496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Can we maintain equality by doubling one term on the other side?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77" name="Google Shape;1777;p139"/>
          <p:cNvSpPr/>
          <p:nvPr/>
        </p:nvSpPr>
        <p:spPr>
          <a:xfrm>
            <a:off x="2695800" y="1425750"/>
            <a:ext cx="1808100" cy="3066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endParaRPr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78" name="Google Shape;1778;p139"/>
          <p:cNvSpPr txBox="1"/>
          <p:nvPr>
            <p:ph idx="1" type="body"/>
          </p:nvPr>
        </p:nvSpPr>
        <p:spPr>
          <a:xfrm>
            <a:off x="5758954" y="1327050"/>
            <a:ext cx="14964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8 + 2 = 7 + 3</a:t>
            </a:r>
            <a:r>
              <a:rPr lang="en-GB" sz="1800"/>
              <a:t>   </a:t>
            </a:r>
            <a:endParaRPr sz="1800"/>
          </a:p>
        </p:txBody>
      </p:sp>
      <p:sp>
        <p:nvSpPr>
          <p:cNvPr id="1779" name="Google Shape;1779;p139"/>
          <p:cNvSpPr txBox="1"/>
          <p:nvPr>
            <p:ph idx="1" type="body"/>
          </p:nvPr>
        </p:nvSpPr>
        <p:spPr>
          <a:xfrm>
            <a:off x="5457739" y="1656150"/>
            <a:ext cx="2581800" cy="30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(8) + 2 =</a:t>
            </a:r>
            <a:r>
              <a:rPr lang="en-GB" sz="1800"/>
              <a:t>   </a:t>
            </a:r>
            <a:endParaRPr sz="1800"/>
          </a:p>
        </p:txBody>
      </p:sp>
      <p:sp>
        <p:nvSpPr>
          <p:cNvPr id="1780" name="Google Shape;1780;p139"/>
          <p:cNvSpPr txBox="1"/>
          <p:nvPr>
            <p:ph idx="1" type="body"/>
          </p:nvPr>
        </p:nvSpPr>
        <p:spPr>
          <a:xfrm>
            <a:off x="324000" y="2892275"/>
            <a:ext cx="8496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No, the left hand side is now equal to 18 and the right hand side equals 17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81" name="Google Shape;1781;p139"/>
          <p:cNvSpPr txBox="1"/>
          <p:nvPr>
            <p:ph idx="1" type="body"/>
          </p:nvPr>
        </p:nvSpPr>
        <p:spPr>
          <a:xfrm>
            <a:off x="6539689" y="1656150"/>
            <a:ext cx="12372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(7) + 3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782" name="Google Shape;1782;p139"/>
          <p:cNvCxnSpPr/>
          <p:nvPr/>
        </p:nvCxnSpPr>
        <p:spPr>
          <a:xfrm flipH="1" rot="10800000">
            <a:off x="6380918" y="1720496"/>
            <a:ext cx="83100" cy="208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3" name="Google Shape;1783;p139"/>
          <p:cNvSpPr txBox="1"/>
          <p:nvPr>
            <p:ph idx="1" type="body"/>
          </p:nvPr>
        </p:nvSpPr>
        <p:spPr>
          <a:xfrm>
            <a:off x="324000" y="3399750"/>
            <a:ext cx="8496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Can we maintain equality by doubling the entire expression on the other side?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84" name="Google Shape;1784;p139"/>
          <p:cNvSpPr txBox="1"/>
          <p:nvPr>
            <p:ph idx="1" type="body"/>
          </p:nvPr>
        </p:nvSpPr>
        <p:spPr>
          <a:xfrm>
            <a:off x="5457739" y="2008263"/>
            <a:ext cx="2581800" cy="30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(8) + 2 =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(7 + 3)</a:t>
            </a:r>
            <a:r>
              <a:rPr lang="en-GB" sz="1800"/>
              <a:t>   </a:t>
            </a:r>
            <a:endParaRPr sz="1800"/>
          </a:p>
        </p:txBody>
      </p:sp>
      <p:sp>
        <p:nvSpPr>
          <p:cNvPr id="1785" name="Google Shape;1785;p139"/>
          <p:cNvSpPr txBox="1"/>
          <p:nvPr>
            <p:ph idx="1" type="body"/>
          </p:nvPr>
        </p:nvSpPr>
        <p:spPr>
          <a:xfrm>
            <a:off x="324000" y="4110425"/>
            <a:ext cx="8496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No, when multiplying an expression, we need to multiply the whole expression on each side of the equals sign.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786" name="Google Shape;1786;p139"/>
          <p:cNvCxnSpPr/>
          <p:nvPr/>
        </p:nvCxnSpPr>
        <p:spPr>
          <a:xfrm flipH="1" rot="10800000">
            <a:off x="6380918" y="2057158"/>
            <a:ext cx="83100" cy="208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0" name="Shape 1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Google Shape;1791;p1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Maintaining equality in bar models</a:t>
            </a:r>
            <a:endParaRPr/>
          </a:p>
        </p:txBody>
      </p:sp>
      <p:sp>
        <p:nvSpPr>
          <p:cNvPr id="1792" name="Google Shape;1792;p140"/>
          <p:cNvSpPr txBox="1"/>
          <p:nvPr>
            <p:ph idx="1" type="body"/>
          </p:nvPr>
        </p:nvSpPr>
        <p:spPr>
          <a:xfrm>
            <a:off x="324000" y="657600"/>
            <a:ext cx="8496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is the same for expressions with </a:t>
            </a:r>
            <a:r>
              <a:rPr lang="en-GB" sz="1800"/>
              <a:t>variable</a:t>
            </a:r>
            <a:r>
              <a:rPr lang="en-GB" sz="1800"/>
              <a:t> terms.</a:t>
            </a:r>
            <a:r>
              <a:rPr lang="en-GB" sz="1800"/>
              <a:t>   </a:t>
            </a:r>
            <a:endParaRPr sz="1800"/>
          </a:p>
        </p:txBody>
      </p:sp>
      <p:sp>
        <p:nvSpPr>
          <p:cNvPr id="1793" name="Google Shape;1793;p140"/>
          <p:cNvSpPr txBox="1"/>
          <p:nvPr>
            <p:ph idx="1" type="body"/>
          </p:nvPr>
        </p:nvSpPr>
        <p:spPr>
          <a:xfrm>
            <a:off x="324000" y="1826975"/>
            <a:ext cx="8496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operation have we done to the top bar</a:t>
            </a:r>
            <a:r>
              <a:rPr lang="en-GB" sz="1800"/>
              <a:t>?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94" name="Google Shape;1794;p140"/>
          <p:cNvSpPr txBox="1"/>
          <p:nvPr>
            <p:ph idx="1" type="body"/>
          </p:nvPr>
        </p:nvSpPr>
        <p:spPr>
          <a:xfrm>
            <a:off x="6518075" y="1050700"/>
            <a:ext cx="14964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 =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q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+ 7 </a:t>
            </a:r>
            <a:r>
              <a:rPr lang="en-GB" sz="1800"/>
              <a:t>  </a:t>
            </a:r>
            <a:endParaRPr sz="1800"/>
          </a:p>
        </p:txBody>
      </p:sp>
      <p:sp>
        <p:nvSpPr>
          <p:cNvPr id="1795" name="Google Shape;1795;p140"/>
          <p:cNvSpPr txBox="1"/>
          <p:nvPr>
            <p:ph idx="1" type="body"/>
          </p:nvPr>
        </p:nvSpPr>
        <p:spPr>
          <a:xfrm>
            <a:off x="6222754" y="1427575"/>
            <a:ext cx="2581800" cy="30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+ 2) =</a:t>
            </a:r>
            <a:r>
              <a:rPr lang="en-GB" sz="1800"/>
              <a:t>   </a:t>
            </a:r>
            <a:endParaRPr sz="1800"/>
          </a:p>
        </p:txBody>
      </p:sp>
      <p:sp>
        <p:nvSpPr>
          <p:cNvPr id="1796" name="Google Shape;1796;p140"/>
          <p:cNvSpPr txBox="1"/>
          <p:nvPr>
            <p:ph idx="1" type="body"/>
          </p:nvPr>
        </p:nvSpPr>
        <p:spPr>
          <a:xfrm>
            <a:off x="324000" y="2206475"/>
            <a:ext cx="8496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Multiplied by 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7" name="Google Shape;1797;p140"/>
          <p:cNvSpPr txBox="1"/>
          <p:nvPr>
            <p:ph idx="1" type="body"/>
          </p:nvPr>
        </p:nvSpPr>
        <p:spPr>
          <a:xfrm>
            <a:off x="7389729" y="1427563"/>
            <a:ext cx="12372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q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+ 7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98" name="Google Shape;1798;p140"/>
          <p:cNvSpPr txBox="1"/>
          <p:nvPr>
            <p:ph idx="1" type="body"/>
          </p:nvPr>
        </p:nvSpPr>
        <p:spPr>
          <a:xfrm>
            <a:off x="324000" y="2637750"/>
            <a:ext cx="8496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do we need to do to the bottom bar?</a:t>
            </a:r>
            <a:r>
              <a:rPr lang="en-GB" sz="1800"/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799" name="Google Shape;1799;p140"/>
          <p:cNvGrpSpPr/>
          <p:nvPr/>
        </p:nvGrpSpPr>
        <p:grpSpPr>
          <a:xfrm>
            <a:off x="2224200" y="1050700"/>
            <a:ext cx="3800400" cy="306600"/>
            <a:chOff x="2224200" y="1050700"/>
            <a:chExt cx="3800400" cy="306600"/>
          </a:xfrm>
        </p:grpSpPr>
        <p:sp>
          <p:nvSpPr>
            <p:cNvPr id="1800" name="Google Shape;1800;p140"/>
            <p:cNvSpPr/>
            <p:nvPr/>
          </p:nvSpPr>
          <p:spPr>
            <a:xfrm>
              <a:off x="3646200" y="1050700"/>
              <a:ext cx="478200" cy="3066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01" name="Google Shape;1801;p140"/>
            <p:cNvSpPr/>
            <p:nvPr/>
          </p:nvSpPr>
          <p:spPr>
            <a:xfrm>
              <a:off x="2224200" y="1050700"/>
              <a:ext cx="711000" cy="3066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p</a:t>
              </a:r>
              <a:endParaRPr i="1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02" name="Google Shape;1802;p140"/>
            <p:cNvSpPr/>
            <p:nvPr/>
          </p:nvSpPr>
          <p:spPr>
            <a:xfrm>
              <a:off x="2935200" y="1050700"/>
              <a:ext cx="711000" cy="3066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p</a:t>
              </a:r>
              <a:endParaRPr i="1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03" name="Google Shape;1803;p140"/>
            <p:cNvSpPr/>
            <p:nvPr/>
          </p:nvSpPr>
          <p:spPr>
            <a:xfrm>
              <a:off x="5546400" y="1050700"/>
              <a:ext cx="478200" cy="3066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04" name="Google Shape;1804;p140"/>
            <p:cNvSpPr/>
            <p:nvPr/>
          </p:nvSpPr>
          <p:spPr>
            <a:xfrm>
              <a:off x="4124400" y="1050700"/>
              <a:ext cx="711000" cy="3066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p</a:t>
              </a:r>
              <a:endParaRPr i="1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05" name="Google Shape;1805;p140"/>
            <p:cNvSpPr/>
            <p:nvPr/>
          </p:nvSpPr>
          <p:spPr>
            <a:xfrm>
              <a:off x="4835400" y="1050700"/>
              <a:ext cx="711000" cy="3066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p</a:t>
              </a:r>
              <a:endParaRPr i="1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806" name="Google Shape;1806;p140"/>
          <p:cNvGrpSpPr/>
          <p:nvPr/>
        </p:nvGrpSpPr>
        <p:grpSpPr>
          <a:xfrm>
            <a:off x="324000" y="1050700"/>
            <a:ext cx="1900325" cy="613200"/>
            <a:chOff x="324000" y="1050700"/>
            <a:chExt cx="1900325" cy="613200"/>
          </a:xfrm>
        </p:grpSpPr>
        <p:sp>
          <p:nvSpPr>
            <p:cNvPr id="1807" name="Google Shape;1807;p140"/>
            <p:cNvSpPr/>
            <p:nvPr/>
          </p:nvSpPr>
          <p:spPr>
            <a:xfrm>
              <a:off x="1746000" y="1050700"/>
              <a:ext cx="4782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08" name="Google Shape;1808;p140"/>
            <p:cNvSpPr/>
            <p:nvPr/>
          </p:nvSpPr>
          <p:spPr>
            <a:xfrm>
              <a:off x="324000" y="1050700"/>
              <a:ext cx="7110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p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09" name="Google Shape;1809;p140"/>
            <p:cNvSpPr/>
            <p:nvPr/>
          </p:nvSpPr>
          <p:spPr>
            <a:xfrm>
              <a:off x="1035000" y="1050700"/>
              <a:ext cx="7110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p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10" name="Google Shape;1810;p140"/>
            <p:cNvSpPr/>
            <p:nvPr/>
          </p:nvSpPr>
          <p:spPr>
            <a:xfrm>
              <a:off x="727925" y="1357300"/>
              <a:ext cx="14964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7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11" name="Google Shape;1811;p140"/>
            <p:cNvSpPr/>
            <p:nvPr/>
          </p:nvSpPr>
          <p:spPr>
            <a:xfrm>
              <a:off x="324000" y="1357300"/>
              <a:ext cx="4038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q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812" name="Google Shape;1812;p140"/>
          <p:cNvGrpSpPr/>
          <p:nvPr/>
        </p:nvGrpSpPr>
        <p:grpSpPr>
          <a:xfrm>
            <a:off x="2224450" y="1357300"/>
            <a:ext cx="3800127" cy="306600"/>
            <a:chOff x="2224450" y="1357300"/>
            <a:chExt cx="3800127" cy="306600"/>
          </a:xfrm>
        </p:grpSpPr>
        <p:sp>
          <p:nvSpPr>
            <p:cNvPr id="1813" name="Google Shape;1813;p140"/>
            <p:cNvSpPr/>
            <p:nvPr/>
          </p:nvSpPr>
          <p:spPr>
            <a:xfrm>
              <a:off x="2628375" y="1357300"/>
              <a:ext cx="1496400" cy="3066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7</a:t>
              </a:r>
              <a:endParaRPr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14" name="Google Shape;1814;p140"/>
            <p:cNvSpPr/>
            <p:nvPr/>
          </p:nvSpPr>
          <p:spPr>
            <a:xfrm>
              <a:off x="2224450" y="1357300"/>
              <a:ext cx="403800" cy="3066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q</a:t>
              </a:r>
              <a:endParaRPr i="1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15" name="Google Shape;1815;p140"/>
            <p:cNvSpPr/>
            <p:nvPr/>
          </p:nvSpPr>
          <p:spPr>
            <a:xfrm>
              <a:off x="4528177" y="1357300"/>
              <a:ext cx="1496400" cy="3066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7</a:t>
              </a:r>
              <a:endParaRPr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16" name="Google Shape;1816;p140"/>
            <p:cNvSpPr/>
            <p:nvPr/>
          </p:nvSpPr>
          <p:spPr>
            <a:xfrm>
              <a:off x="4124252" y="1357300"/>
              <a:ext cx="403800" cy="3066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q</a:t>
              </a:r>
              <a:endParaRPr i="1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817" name="Google Shape;1817;p140"/>
          <p:cNvSpPr txBox="1"/>
          <p:nvPr>
            <p:ph idx="1" type="body"/>
          </p:nvPr>
        </p:nvSpPr>
        <p:spPr>
          <a:xfrm>
            <a:off x="324000" y="2941800"/>
            <a:ext cx="8496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Multiply by 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818" name="Google Shape;1818;p140"/>
          <p:cNvGrpSpPr/>
          <p:nvPr/>
        </p:nvGrpSpPr>
        <p:grpSpPr>
          <a:xfrm>
            <a:off x="324000" y="4210525"/>
            <a:ext cx="5730533" cy="619123"/>
            <a:chOff x="324000" y="4210525"/>
            <a:chExt cx="5730533" cy="619123"/>
          </a:xfrm>
        </p:grpSpPr>
        <p:sp>
          <p:nvSpPr>
            <p:cNvPr id="1819" name="Google Shape;1819;p140"/>
            <p:cNvSpPr/>
            <p:nvPr/>
          </p:nvSpPr>
          <p:spPr>
            <a:xfrm>
              <a:off x="324000" y="4210525"/>
              <a:ext cx="7110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p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20" name="Google Shape;1820;p140"/>
            <p:cNvSpPr/>
            <p:nvPr/>
          </p:nvSpPr>
          <p:spPr>
            <a:xfrm>
              <a:off x="1035000" y="4210525"/>
              <a:ext cx="7110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p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21" name="Google Shape;1821;p140"/>
            <p:cNvSpPr/>
            <p:nvPr/>
          </p:nvSpPr>
          <p:spPr>
            <a:xfrm>
              <a:off x="1544988" y="4515325"/>
              <a:ext cx="14964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7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22" name="Google Shape;1822;p140"/>
            <p:cNvSpPr/>
            <p:nvPr/>
          </p:nvSpPr>
          <p:spPr>
            <a:xfrm>
              <a:off x="5574150" y="4210525"/>
              <a:ext cx="478200" cy="3066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23" name="Google Shape;1823;p140"/>
            <p:cNvSpPr/>
            <p:nvPr/>
          </p:nvSpPr>
          <p:spPr>
            <a:xfrm>
              <a:off x="1751554" y="4210525"/>
              <a:ext cx="711000" cy="3066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p</a:t>
              </a:r>
              <a:endParaRPr i="1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24" name="Google Shape;1824;p140"/>
            <p:cNvSpPr/>
            <p:nvPr/>
          </p:nvSpPr>
          <p:spPr>
            <a:xfrm>
              <a:off x="2462554" y="4210525"/>
              <a:ext cx="711000" cy="3066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p</a:t>
              </a:r>
              <a:endParaRPr i="1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25" name="Google Shape;1825;p140"/>
            <p:cNvSpPr/>
            <p:nvPr/>
          </p:nvSpPr>
          <p:spPr>
            <a:xfrm>
              <a:off x="5090400" y="4210525"/>
              <a:ext cx="478200" cy="3066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26" name="Google Shape;1826;p140"/>
            <p:cNvSpPr/>
            <p:nvPr/>
          </p:nvSpPr>
          <p:spPr>
            <a:xfrm>
              <a:off x="3179108" y="4210525"/>
              <a:ext cx="711000" cy="3066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p</a:t>
              </a:r>
              <a:endParaRPr i="1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27" name="Google Shape;1827;p140"/>
            <p:cNvSpPr/>
            <p:nvPr/>
          </p:nvSpPr>
          <p:spPr>
            <a:xfrm>
              <a:off x="3890108" y="4210525"/>
              <a:ext cx="711000" cy="3066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p</a:t>
              </a:r>
              <a:endParaRPr i="1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28" name="Google Shape;1828;p140"/>
            <p:cNvSpPr/>
            <p:nvPr/>
          </p:nvSpPr>
          <p:spPr>
            <a:xfrm>
              <a:off x="324000" y="4517125"/>
              <a:ext cx="4038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q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29" name="Google Shape;1829;p140"/>
            <p:cNvSpPr/>
            <p:nvPr/>
          </p:nvSpPr>
          <p:spPr>
            <a:xfrm>
              <a:off x="3051431" y="4515325"/>
              <a:ext cx="1496400" cy="3066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7</a:t>
              </a:r>
              <a:endParaRPr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30" name="Google Shape;1830;p140"/>
            <p:cNvSpPr/>
            <p:nvPr/>
          </p:nvSpPr>
          <p:spPr>
            <a:xfrm>
              <a:off x="727925" y="4523048"/>
              <a:ext cx="403800" cy="3066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q</a:t>
              </a:r>
              <a:endParaRPr i="1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31" name="Google Shape;1831;p140"/>
            <p:cNvSpPr/>
            <p:nvPr/>
          </p:nvSpPr>
          <p:spPr>
            <a:xfrm>
              <a:off x="4558133" y="4515325"/>
              <a:ext cx="1496400" cy="3066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7</a:t>
              </a:r>
              <a:endParaRPr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32" name="Google Shape;1832;p140"/>
            <p:cNvSpPr/>
            <p:nvPr/>
          </p:nvSpPr>
          <p:spPr>
            <a:xfrm>
              <a:off x="1131852" y="4523048"/>
              <a:ext cx="403800" cy="3066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q</a:t>
              </a:r>
              <a:endParaRPr i="1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33" name="Google Shape;1833;p140"/>
            <p:cNvSpPr/>
            <p:nvPr/>
          </p:nvSpPr>
          <p:spPr>
            <a:xfrm>
              <a:off x="4606650" y="4210525"/>
              <a:ext cx="4782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834" name="Google Shape;1834;p140"/>
          <p:cNvSpPr txBox="1"/>
          <p:nvPr>
            <p:ph idx="1" type="body"/>
          </p:nvPr>
        </p:nvSpPr>
        <p:spPr>
          <a:xfrm>
            <a:off x="324000" y="3511350"/>
            <a:ext cx="8496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we group </a:t>
            </a:r>
            <a:r>
              <a:rPr lang="en-GB" sz="1800">
                <a:solidFill>
                  <a:schemeClr val="accent4"/>
                </a:solidFill>
              </a:rPr>
              <a:t>like terms</a:t>
            </a:r>
            <a:r>
              <a:rPr lang="en-GB" sz="1800"/>
              <a:t> in our bar model, we can see every term has been multiplied by 3 </a:t>
            </a:r>
            <a:r>
              <a:rPr lang="en-GB" sz="1800"/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35" name="Google Shape;1835;p140"/>
          <p:cNvSpPr txBox="1"/>
          <p:nvPr>
            <p:ph idx="1" type="body"/>
          </p:nvPr>
        </p:nvSpPr>
        <p:spPr>
          <a:xfrm>
            <a:off x="6256804" y="4166700"/>
            <a:ext cx="2581800" cy="30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+ 6 = 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q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+ 21</a:t>
            </a:r>
            <a:r>
              <a:rPr lang="en-GB" sz="1800"/>
              <a:t>  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9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0" name="Google Shape;1840;p14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Maintaining equality in bar models</a:t>
            </a:r>
            <a:endParaRPr/>
          </a:p>
        </p:txBody>
      </p:sp>
      <p:sp>
        <p:nvSpPr>
          <p:cNvPr id="1841" name="Google Shape;1841;p141"/>
          <p:cNvSpPr txBox="1"/>
          <p:nvPr>
            <p:ph idx="1" type="body"/>
          </p:nvPr>
        </p:nvSpPr>
        <p:spPr>
          <a:xfrm>
            <a:off x="324000" y="741450"/>
            <a:ext cx="8496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do the same for division. </a:t>
            </a:r>
            <a:r>
              <a:rPr lang="en-GB" sz="1800"/>
              <a:t>   </a:t>
            </a:r>
            <a:endParaRPr sz="1800"/>
          </a:p>
        </p:txBody>
      </p:sp>
      <p:sp>
        <p:nvSpPr>
          <p:cNvPr id="1842" name="Google Shape;1842;p141"/>
          <p:cNvSpPr txBox="1"/>
          <p:nvPr>
            <p:ph idx="1" type="body"/>
          </p:nvPr>
        </p:nvSpPr>
        <p:spPr>
          <a:xfrm>
            <a:off x="3477725" y="1171325"/>
            <a:ext cx="30456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8 + 2 = 7 + 3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43" name="Google Shape;1843;p141"/>
          <p:cNvSpPr txBox="1"/>
          <p:nvPr>
            <p:ph idx="1" type="body"/>
          </p:nvPr>
        </p:nvSpPr>
        <p:spPr>
          <a:xfrm>
            <a:off x="324000" y="2416800"/>
            <a:ext cx="8496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need to divide the whole expression by 2. This is the same as dividing each term by 2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8\ +\ 2}{2}&quot;&gt;&lt;mfrac&gt;&lt;mrow&gt;&lt;mn&gt;8&lt;/mn&gt;&lt;mtext&gt;&lt;/mtext&gt;&lt;mo&gt;+&lt;/mo&gt;&lt;mtext&gt;&lt;/mtext&gt;&lt;mn&gt;2&lt;/mn&gt;&lt;/mrow&gt;&lt;mn&gt;2&lt;/mn&gt;&lt;/mfrac&gt;&lt;/math&gt;" id="1844" name="Google Shape;1844;p141" title="the fraction with numerator 8 plus 2 and denominator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9600" y="1558751"/>
            <a:ext cx="641309" cy="480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\ +\ 2}{2}&quot;&gt;&lt;mfrac&gt;&lt;mrow&gt;&lt;mn&gt;8&lt;/mn&gt;&lt;mtext&gt;&lt;/mtext&gt;&lt;mo&gt;+&lt;/mo&gt;&lt;mtext&gt;&lt;/mtext&gt;&lt;mn&gt;2&lt;/mn&gt;&lt;/mrow&gt;&lt;mn&gt;2&lt;/mn&gt;&lt;/mfrac&gt;&lt;/math&gt;" id="1845" name="Google Shape;1845;p141" title="the fraction with numerator 8 plus 2 and denominator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3305451"/>
            <a:ext cx="641309" cy="480112"/>
          </a:xfrm>
          <a:prstGeom prst="rect">
            <a:avLst/>
          </a:prstGeom>
          <a:noFill/>
          <a:ln>
            <a:noFill/>
          </a:ln>
        </p:spPr>
      </p:pic>
      <p:sp>
        <p:nvSpPr>
          <p:cNvPr id="1846" name="Google Shape;1846;p141"/>
          <p:cNvSpPr txBox="1"/>
          <p:nvPr>
            <p:ph idx="1" type="body"/>
          </p:nvPr>
        </p:nvSpPr>
        <p:spPr>
          <a:xfrm>
            <a:off x="1022725" y="3317675"/>
            <a:ext cx="1899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=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0}{2}&quot;&gt;&lt;mfrac&gt;&lt;mn&gt;10&lt;/mn&gt;&lt;mn&gt;2&lt;/mn&gt;&lt;/mfrac&gt;&lt;/math&gt;" id="1847" name="Google Shape;1847;p141" title="ten halve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0050" y="3285537"/>
            <a:ext cx="288457" cy="51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8" name="Google Shape;1848;p141"/>
          <p:cNvSpPr txBox="1"/>
          <p:nvPr>
            <p:ph idx="1" type="body"/>
          </p:nvPr>
        </p:nvSpPr>
        <p:spPr>
          <a:xfrm>
            <a:off x="1684800" y="3317675"/>
            <a:ext cx="4467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= 5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8}{2}+\ \frac{2}{2}&quot;&gt;&lt;mfrac&gt;&lt;mn&gt;8&lt;/mn&gt;&lt;mn&gt;2&lt;/mn&gt;&lt;/mfrac&gt;&lt;mo&gt;+&lt;/mo&gt;&lt;mtext&gt;&lt;/mtext&gt;&lt;mfrac&gt;&lt;mn&gt;2&lt;/mn&gt;&lt;mn&gt;2&lt;/mn&gt;&lt;/mfrac&gt;&lt;/math&gt;" id="1849" name="Google Shape;1849;p141" title="eight halves plus two halve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26692" y="3292424"/>
            <a:ext cx="721139" cy="51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0" name="Google Shape;1850;p141"/>
          <p:cNvSpPr txBox="1"/>
          <p:nvPr>
            <p:ph idx="1" type="body"/>
          </p:nvPr>
        </p:nvSpPr>
        <p:spPr>
          <a:xfrm>
            <a:off x="4221019" y="3316849"/>
            <a:ext cx="9432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= 4 + 1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51" name="Google Shape;1851;p141"/>
          <p:cNvSpPr txBox="1"/>
          <p:nvPr>
            <p:ph idx="1" type="body"/>
          </p:nvPr>
        </p:nvSpPr>
        <p:spPr>
          <a:xfrm>
            <a:off x="5062844" y="3316836"/>
            <a:ext cx="4467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= 5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descr="&lt;math xmlns=&quot;http://www.w3.org/1998/Math/MathML&quot; display=&quot;block&quot; data-is-equatio=&quot;1&quot; data-latex=&quot;=\frac{7\ +\ 3}{2}&quot;&gt;&lt;mo&gt;=&lt;/mo&gt;&lt;mfrac&gt;&lt;mrow&gt;&lt;mn&gt;7&lt;/mn&gt;&lt;mtext&gt;&lt;/mtext&gt;&lt;mo&gt;+&lt;/mo&gt;&lt;mtext&gt;&lt;/mtext&gt;&lt;mn&gt;3&lt;/mn&gt;&lt;/mrow&gt;&lt;mn&gt;2&lt;/mn&gt;&lt;/mfrac&gt;&lt;/math&gt;" id="1852" name="Google Shape;1852;p141" title="equals the fraction with numerator 7 plus 3 and denominator 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96050" y="1561997"/>
            <a:ext cx="907200" cy="493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53" name="Google Shape;1853;p141"/>
          <p:cNvCxnSpPr/>
          <p:nvPr/>
        </p:nvCxnSpPr>
        <p:spPr>
          <a:xfrm>
            <a:off x="2887963" y="3192400"/>
            <a:ext cx="0" cy="10287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4" name="Google Shape;1854;p141"/>
          <p:cNvSpPr txBox="1"/>
          <p:nvPr>
            <p:ph idx="1" type="body"/>
          </p:nvPr>
        </p:nvSpPr>
        <p:spPr>
          <a:xfrm>
            <a:off x="324000" y="4280400"/>
            <a:ext cx="8496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Make sure we also divide the whole of the right hand side by 2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8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1859;p142"/>
          <p:cNvSpPr/>
          <p:nvPr/>
        </p:nvSpPr>
        <p:spPr>
          <a:xfrm>
            <a:off x="1066200" y="1906974"/>
            <a:ext cx="1360500" cy="5025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0" name="Google Shape;1860;p142"/>
          <p:cNvSpPr/>
          <p:nvPr/>
        </p:nvSpPr>
        <p:spPr>
          <a:xfrm>
            <a:off x="1066200" y="1404425"/>
            <a:ext cx="1360500" cy="5025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1" name="Google Shape;1861;p142"/>
          <p:cNvSpPr/>
          <p:nvPr/>
        </p:nvSpPr>
        <p:spPr>
          <a:xfrm>
            <a:off x="385800" y="1906974"/>
            <a:ext cx="2040900" cy="502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12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62" name="Google Shape;1862;p142"/>
          <p:cNvSpPr/>
          <p:nvPr/>
        </p:nvSpPr>
        <p:spPr>
          <a:xfrm>
            <a:off x="385800" y="1404350"/>
            <a:ext cx="2040900" cy="502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p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63" name="Google Shape;1863;p1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Maintaining equality in bar models</a:t>
            </a:r>
            <a:endParaRPr/>
          </a:p>
        </p:txBody>
      </p:sp>
      <p:sp>
        <p:nvSpPr>
          <p:cNvPr id="1864" name="Google Shape;1864;p142"/>
          <p:cNvSpPr txBox="1"/>
          <p:nvPr>
            <p:ph idx="1" type="body"/>
          </p:nvPr>
        </p:nvSpPr>
        <p:spPr>
          <a:xfrm>
            <a:off x="324000" y="962400"/>
            <a:ext cx="8496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is the same for expressions with variable terms.   </a:t>
            </a:r>
            <a:endParaRPr sz="1800"/>
          </a:p>
        </p:txBody>
      </p:sp>
      <p:sp>
        <p:nvSpPr>
          <p:cNvPr descr="&lt;math xmlns=&quot;http://www.w3.org/1998/Math/MathML&quot; display=&quot;block&quot; data-is-equatio=&quot;1&quot; data-latex=&quot;\frac{p}{3}&quot;&gt;&lt;mfrac&gt;&lt;mi&gt;p&lt;/mi&gt;&lt;mn&gt;3&lt;/mn&gt;&lt;/mfrac&gt;&lt;/math&gt;" id="1865" name="Google Shape;1865;p142" title="p over 3"/>
          <p:cNvSpPr txBox="1"/>
          <p:nvPr>
            <p:ph idx="1" type="body"/>
          </p:nvPr>
        </p:nvSpPr>
        <p:spPr>
          <a:xfrm>
            <a:off x="3369600" y="1609350"/>
            <a:ext cx="14964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/>
              <a:t>  </a:t>
            </a:r>
            <a:endParaRPr sz="1800"/>
          </a:p>
        </p:txBody>
      </p:sp>
      <p:cxnSp>
        <p:nvCxnSpPr>
          <p:cNvPr id="1866" name="Google Shape;1866;p142"/>
          <p:cNvCxnSpPr/>
          <p:nvPr/>
        </p:nvCxnSpPr>
        <p:spPr>
          <a:xfrm>
            <a:off x="1065900" y="1524404"/>
            <a:ext cx="3600" cy="422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867" name="Google Shape;1867;p142"/>
          <p:cNvCxnSpPr/>
          <p:nvPr/>
        </p:nvCxnSpPr>
        <p:spPr>
          <a:xfrm>
            <a:off x="1065900" y="1923946"/>
            <a:ext cx="3600" cy="422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868" name="Google Shape;1868;p142"/>
          <p:cNvSpPr txBox="1"/>
          <p:nvPr>
            <p:ph idx="1" type="body"/>
          </p:nvPr>
        </p:nvSpPr>
        <p:spPr>
          <a:xfrm>
            <a:off x="324000" y="2813850"/>
            <a:ext cx="84960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To maintain equality we need to divide the bottom bar by 3 as well.    </a:t>
            </a:r>
            <a:endParaRPr sz="1800"/>
          </a:p>
        </p:txBody>
      </p:sp>
      <p:pic>
        <p:nvPicPr>
          <p:cNvPr id="1869" name="Google Shape;1869;p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0975" y="2065050"/>
            <a:ext cx="167525" cy="502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70" name="Google Shape;1870;p142"/>
          <p:cNvCxnSpPr/>
          <p:nvPr/>
        </p:nvCxnSpPr>
        <p:spPr>
          <a:xfrm>
            <a:off x="1744800" y="1517802"/>
            <a:ext cx="3600" cy="452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871" name="Google Shape;1871;p142"/>
          <p:cNvCxnSpPr/>
          <p:nvPr/>
        </p:nvCxnSpPr>
        <p:spPr>
          <a:xfrm>
            <a:off x="1744800" y="1894631"/>
            <a:ext cx="3600" cy="452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frac{12}{3}&quot;&gt;&lt;mfrac&gt;&lt;mn&gt;12&lt;/mn&gt;&lt;mn&gt;3&lt;/mn&gt;&lt;/mfrac&gt;&lt;/math&gt;" id="1872" name="Google Shape;1872;p142" title="twelve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1692" y="2065050"/>
            <a:ext cx="271174" cy="502575"/>
          </a:xfrm>
          <a:prstGeom prst="rect">
            <a:avLst/>
          </a:prstGeom>
          <a:noFill/>
          <a:ln>
            <a:noFill/>
          </a:ln>
        </p:spPr>
      </p:pic>
      <p:sp>
        <p:nvSpPr>
          <p:cNvPr descr="&lt;math xmlns=&quot;http://www.w3.org/1998/Math/MathML&quot; display=&quot;block&quot; data-is-equatio=&quot;1&quot; data-latex=&quot;\frac{p}{3}&quot;&gt;&lt;mfrac&gt;&lt;mi&gt;p&lt;/mi&gt;&lt;mn&gt;3&lt;/mn&gt;&lt;/mfrac&gt;&lt;/math&gt;" id="1873" name="Google Shape;1873;p142" title="p over 3"/>
          <p:cNvSpPr txBox="1"/>
          <p:nvPr>
            <p:ph idx="1" type="body"/>
          </p:nvPr>
        </p:nvSpPr>
        <p:spPr>
          <a:xfrm>
            <a:off x="3498490" y="2154825"/>
            <a:ext cx="3531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 = </a:t>
            </a:r>
            <a:r>
              <a:rPr lang="en-GB" sz="1800"/>
              <a:t>  </a:t>
            </a:r>
            <a:endParaRPr sz="1800"/>
          </a:p>
        </p:txBody>
      </p:sp>
      <p:pic>
        <p:nvPicPr>
          <p:cNvPr id="1874" name="Google Shape;1874;p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050" y="1465202"/>
            <a:ext cx="133200" cy="3946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3}&quot;&gt;&lt;mfrac&gt;&lt;mn&gt;12&lt;/mn&gt;&lt;mn&gt;3&lt;/mn&gt;&lt;/mfrac&gt;&lt;/math&gt;" id="1875" name="Google Shape;1875;p142" title="twelve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642" y="1978129"/>
            <a:ext cx="198000" cy="368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9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0" name="Google Shape;1880;p143"/>
          <p:cNvSpPr txBox="1"/>
          <p:nvPr>
            <p:ph idx="1" type="body"/>
          </p:nvPr>
        </p:nvSpPr>
        <p:spPr>
          <a:xfrm>
            <a:off x="324000" y="810000"/>
            <a:ext cx="8496000" cy="35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Match the bar models to the equations.</a:t>
            </a:r>
            <a:endParaRPr sz="1800"/>
          </a:p>
        </p:txBody>
      </p:sp>
      <p:sp>
        <p:nvSpPr>
          <p:cNvPr id="1881" name="Google Shape;1881;p14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Maintaining equality in bar models</a:t>
            </a:r>
            <a:endParaRPr/>
          </a:p>
        </p:txBody>
      </p:sp>
      <p:grpSp>
        <p:nvGrpSpPr>
          <p:cNvPr id="1882" name="Google Shape;1882;p143"/>
          <p:cNvGrpSpPr/>
          <p:nvPr/>
        </p:nvGrpSpPr>
        <p:grpSpPr>
          <a:xfrm>
            <a:off x="847400" y="1536338"/>
            <a:ext cx="3397965" cy="561910"/>
            <a:chOff x="542600" y="1536338"/>
            <a:chExt cx="3397965" cy="561910"/>
          </a:xfrm>
        </p:grpSpPr>
        <p:sp>
          <p:nvSpPr>
            <p:cNvPr id="1883" name="Google Shape;1883;p143"/>
            <p:cNvSpPr/>
            <p:nvPr/>
          </p:nvSpPr>
          <p:spPr>
            <a:xfrm>
              <a:off x="1934928" y="1536338"/>
              <a:ext cx="306300" cy="2808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84" name="Google Shape;1884;p143"/>
            <p:cNvSpPr/>
            <p:nvPr/>
          </p:nvSpPr>
          <p:spPr>
            <a:xfrm>
              <a:off x="542600" y="1536338"/>
              <a:ext cx="696300" cy="2808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85" name="Google Shape;1885;p143"/>
            <p:cNvSpPr/>
            <p:nvPr/>
          </p:nvSpPr>
          <p:spPr>
            <a:xfrm>
              <a:off x="542600" y="1817448"/>
              <a:ext cx="1699200" cy="2808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17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86" name="Google Shape;1886;p143"/>
            <p:cNvSpPr/>
            <p:nvPr/>
          </p:nvSpPr>
          <p:spPr>
            <a:xfrm>
              <a:off x="1238764" y="1536338"/>
              <a:ext cx="696300" cy="2808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87" name="Google Shape;1887;p143"/>
            <p:cNvSpPr/>
            <p:nvPr/>
          </p:nvSpPr>
          <p:spPr>
            <a:xfrm>
              <a:off x="3633714" y="1536338"/>
              <a:ext cx="306300" cy="2808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88" name="Google Shape;1888;p143"/>
            <p:cNvSpPr/>
            <p:nvPr/>
          </p:nvSpPr>
          <p:spPr>
            <a:xfrm>
              <a:off x="2241386" y="1536338"/>
              <a:ext cx="696300" cy="2808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89" name="Google Shape;1889;p143"/>
            <p:cNvSpPr/>
            <p:nvPr/>
          </p:nvSpPr>
          <p:spPr>
            <a:xfrm>
              <a:off x="2937550" y="1536338"/>
              <a:ext cx="696300" cy="2808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90" name="Google Shape;1890;p143"/>
            <p:cNvSpPr/>
            <p:nvPr/>
          </p:nvSpPr>
          <p:spPr>
            <a:xfrm>
              <a:off x="2241365" y="1817448"/>
              <a:ext cx="1699200" cy="2808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17</a:t>
              </a:r>
              <a:endParaRPr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891" name="Google Shape;1891;p143"/>
          <p:cNvGrpSpPr/>
          <p:nvPr/>
        </p:nvGrpSpPr>
        <p:grpSpPr>
          <a:xfrm>
            <a:off x="847400" y="2394676"/>
            <a:ext cx="3397476" cy="561910"/>
            <a:chOff x="542600" y="2458857"/>
            <a:chExt cx="3397476" cy="561910"/>
          </a:xfrm>
        </p:grpSpPr>
        <p:sp>
          <p:nvSpPr>
            <p:cNvPr id="1892" name="Google Shape;1892;p143"/>
            <p:cNvSpPr/>
            <p:nvPr/>
          </p:nvSpPr>
          <p:spPr>
            <a:xfrm>
              <a:off x="1934928" y="2458857"/>
              <a:ext cx="306300" cy="2808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93" name="Google Shape;1893;p143"/>
            <p:cNvSpPr/>
            <p:nvPr/>
          </p:nvSpPr>
          <p:spPr>
            <a:xfrm>
              <a:off x="542600" y="2458857"/>
              <a:ext cx="696300" cy="2808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94" name="Google Shape;1894;p143"/>
            <p:cNvSpPr/>
            <p:nvPr/>
          </p:nvSpPr>
          <p:spPr>
            <a:xfrm>
              <a:off x="542600" y="2739968"/>
              <a:ext cx="1699200" cy="2808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17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95" name="Google Shape;1895;p143"/>
            <p:cNvSpPr/>
            <p:nvPr/>
          </p:nvSpPr>
          <p:spPr>
            <a:xfrm>
              <a:off x="1238764" y="2458857"/>
              <a:ext cx="696300" cy="2808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96" name="Google Shape;1896;p143"/>
            <p:cNvSpPr/>
            <p:nvPr/>
          </p:nvSpPr>
          <p:spPr>
            <a:xfrm>
              <a:off x="2241383" y="2458857"/>
              <a:ext cx="696300" cy="2808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97" name="Google Shape;1897;p143"/>
            <p:cNvSpPr/>
            <p:nvPr/>
          </p:nvSpPr>
          <p:spPr>
            <a:xfrm>
              <a:off x="3633776" y="2458857"/>
              <a:ext cx="306300" cy="2808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98" name="Google Shape;1898;p143"/>
            <p:cNvSpPr/>
            <p:nvPr/>
          </p:nvSpPr>
          <p:spPr>
            <a:xfrm>
              <a:off x="2937611" y="2458857"/>
              <a:ext cx="696300" cy="2808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99" name="Google Shape;1899;p143"/>
            <p:cNvSpPr/>
            <p:nvPr/>
          </p:nvSpPr>
          <p:spPr>
            <a:xfrm>
              <a:off x="3633714" y="2739968"/>
              <a:ext cx="306300" cy="2808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00" name="Google Shape;1900;p143"/>
            <p:cNvSpPr/>
            <p:nvPr/>
          </p:nvSpPr>
          <p:spPr>
            <a:xfrm>
              <a:off x="2241386" y="2739968"/>
              <a:ext cx="696300" cy="2808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01" name="Google Shape;1901;p143"/>
            <p:cNvSpPr/>
            <p:nvPr/>
          </p:nvSpPr>
          <p:spPr>
            <a:xfrm>
              <a:off x="2937550" y="2739968"/>
              <a:ext cx="696300" cy="2808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902" name="Google Shape;1902;p143"/>
          <p:cNvGrpSpPr/>
          <p:nvPr/>
        </p:nvGrpSpPr>
        <p:grpSpPr>
          <a:xfrm>
            <a:off x="871930" y="3273165"/>
            <a:ext cx="2701247" cy="561910"/>
            <a:chOff x="567130" y="4111365"/>
            <a:chExt cx="2701247" cy="561910"/>
          </a:xfrm>
        </p:grpSpPr>
        <p:sp>
          <p:nvSpPr>
            <p:cNvPr id="1903" name="Google Shape;1903;p143"/>
            <p:cNvSpPr/>
            <p:nvPr/>
          </p:nvSpPr>
          <p:spPr>
            <a:xfrm>
              <a:off x="1959459" y="4111365"/>
              <a:ext cx="306300" cy="2808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04" name="Google Shape;1904;p143"/>
            <p:cNvSpPr/>
            <p:nvPr/>
          </p:nvSpPr>
          <p:spPr>
            <a:xfrm>
              <a:off x="567130" y="4111365"/>
              <a:ext cx="696300" cy="2808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05" name="Google Shape;1905;p143"/>
            <p:cNvSpPr/>
            <p:nvPr/>
          </p:nvSpPr>
          <p:spPr>
            <a:xfrm>
              <a:off x="567130" y="4392475"/>
              <a:ext cx="1699200" cy="2808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17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06" name="Google Shape;1906;p143"/>
            <p:cNvSpPr/>
            <p:nvPr/>
          </p:nvSpPr>
          <p:spPr>
            <a:xfrm>
              <a:off x="1263294" y="4111365"/>
              <a:ext cx="696300" cy="2808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07" name="Google Shape;1907;p143"/>
            <p:cNvSpPr/>
            <p:nvPr/>
          </p:nvSpPr>
          <p:spPr>
            <a:xfrm>
              <a:off x="2962077" y="4111365"/>
              <a:ext cx="306300" cy="2808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08" name="Google Shape;1908;p143"/>
            <p:cNvSpPr/>
            <p:nvPr/>
          </p:nvSpPr>
          <p:spPr>
            <a:xfrm>
              <a:off x="2265913" y="4111365"/>
              <a:ext cx="696300" cy="2808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909" name="Google Shape;1909;p143"/>
          <p:cNvGrpSpPr/>
          <p:nvPr/>
        </p:nvGrpSpPr>
        <p:grpSpPr>
          <a:xfrm>
            <a:off x="847400" y="4015014"/>
            <a:ext cx="5096766" cy="561923"/>
            <a:chOff x="542600" y="3236499"/>
            <a:chExt cx="5096766" cy="561923"/>
          </a:xfrm>
        </p:grpSpPr>
        <p:sp>
          <p:nvSpPr>
            <p:cNvPr id="1910" name="Google Shape;1910;p143"/>
            <p:cNvSpPr/>
            <p:nvPr/>
          </p:nvSpPr>
          <p:spPr>
            <a:xfrm>
              <a:off x="1934928" y="3236512"/>
              <a:ext cx="306300" cy="2808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11" name="Google Shape;1911;p143"/>
            <p:cNvSpPr/>
            <p:nvPr/>
          </p:nvSpPr>
          <p:spPr>
            <a:xfrm>
              <a:off x="542600" y="3236512"/>
              <a:ext cx="696300" cy="2808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12" name="Google Shape;1912;p143"/>
            <p:cNvSpPr/>
            <p:nvPr/>
          </p:nvSpPr>
          <p:spPr>
            <a:xfrm>
              <a:off x="542600" y="3517622"/>
              <a:ext cx="1699200" cy="2808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17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13" name="Google Shape;1913;p143"/>
            <p:cNvSpPr/>
            <p:nvPr/>
          </p:nvSpPr>
          <p:spPr>
            <a:xfrm>
              <a:off x="1238764" y="3236512"/>
              <a:ext cx="696300" cy="2808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14" name="Google Shape;1914;p143"/>
            <p:cNvSpPr/>
            <p:nvPr/>
          </p:nvSpPr>
          <p:spPr>
            <a:xfrm>
              <a:off x="3633991" y="3236524"/>
              <a:ext cx="306300" cy="2808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15" name="Google Shape;1915;p143"/>
            <p:cNvSpPr/>
            <p:nvPr/>
          </p:nvSpPr>
          <p:spPr>
            <a:xfrm>
              <a:off x="2241663" y="3236524"/>
              <a:ext cx="696300" cy="2808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16" name="Google Shape;1916;p143"/>
            <p:cNvSpPr/>
            <p:nvPr/>
          </p:nvSpPr>
          <p:spPr>
            <a:xfrm>
              <a:off x="2937826" y="3236524"/>
              <a:ext cx="696300" cy="2808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17" name="Google Shape;1917;p143"/>
            <p:cNvSpPr/>
            <p:nvPr/>
          </p:nvSpPr>
          <p:spPr>
            <a:xfrm>
              <a:off x="5333066" y="3236499"/>
              <a:ext cx="306300" cy="2808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18" name="Google Shape;1918;p143"/>
            <p:cNvSpPr/>
            <p:nvPr/>
          </p:nvSpPr>
          <p:spPr>
            <a:xfrm>
              <a:off x="3940738" y="3236524"/>
              <a:ext cx="696300" cy="2808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19" name="Google Shape;1919;p143"/>
            <p:cNvSpPr/>
            <p:nvPr/>
          </p:nvSpPr>
          <p:spPr>
            <a:xfrm>
              <a:off x="4636901" y="3236524"/>
              <a:ext cx="696300" cy="2808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descr="&lt;math xmlns=&quot;http://www.w3.org/1998/Math/MathML&quot; display=&quot;block&quot; data-is-equatio=&quot;1&quot; data-latex=&quot;\frac{p}{3}&quot;&gt;&lt;mfrac&gt;&lt;mi&gt;p&lt;/mi&gt;&lt;mn&gt;3&lt;/mn&gt;&lt;/mfrac&gt;&lt;/math&gt;" id="1920" name="Google Shape;1920;p143" title="p over 3"/>
          <p:cNvSpPr txBox="1"/>
          <p:nvPr>
            <p:ph idx="1" type="body"/>
          </p:nvPr>
        </p:nvSpPr>
        <p:spPr>
          <a:xfrm>
            <a:off x="6460415" y="2338895"/>
            <a:ext cx="24381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3)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(17) </a:t>
            </a:r>
            <a:r>
              <a:rPr lang="en-GB" sz="1800"/>
              <a:t>  </a:t>
            </a:r>
            <a:endParaRPr sz="1800"/>
          </a:p>
        </p:txBody>
      </p:sp>
      <p:sp>
        <p:nvSpPr>
          <p:cNvPr descr="&lt;math xmlns=&quot;http://www.w3.org/1998/Math/MathML&quot; display=&quot;block&quot; data-is-equatio=&quot;1&quot; data-latex=&quot;\frac{p}{3}&quot;&gt;&lt;mfrac&gt;&lt;mi&gt;p&lt;/mi&gt;&lt;mn&gt;3&lt;/mn&gt;&lt;/mfrac&gt;&lt;/math&gt;" id="1921" name="Google Shape;1921;p143" title="p over 3"/>
          <p:cNvSpPr txBox="1"/>
          <p:nvPr>
            <p:ph idx="1" type="body"/>
          </p:nvPr>
        </p:nvSpPr>
        <p:spPr>
          <a:xfrm>
            <a:off x="5842439" y="3260883"/>
            <a:ext cx="30504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i="1"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+ 3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17 +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+ 3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/>
              <a:t>  </a:t>
            </a:r>
            <a:endParaRPr sz="1800"/>
          </a:p>
        </p:txBody>
      </p:sp>
      <p:sp>
        <p:nvSpPr>
          <p:cNvPr descr="&lt;math xmlns=&quot;http://www.w3.org/1998/Math/MathML&quot; display=&quot;block&quot; data-is-equatio=&quot;1&quot; data-latex=&quot;\frac{p}{3}&quot;&gt;&lt;mfrac&gt;&lt;mi&gt;p&lt;/mi&gt;&lt;mn&gt;3&lt;/mn&gt;&lt;/mfrac&gt;&lt;/math&gt;" id="1922" name="Google Shape;1922;p143" title="p over 3"/>
          <p:cNvSpPr txBox="1"/>
          <p:nvPr>
            <p:ph idx="1" type="body"/>
          </p:nvPr>
        </p:nvSpPr>
        <p:spPr>
          <a:xfrm>
            <a:off x="6467386" y="4062800"/>
            <a:ext cx="20043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3) =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(17) </a:t>
            </a:r>
            <a:r>
              <a:rPr lang="en-GB" sz="1800"/>
              <a:t>  </a:t>
            </a:r>
            <a:endParaRPr sz="1800"/>
          </a:p>
        </p:txBody>
      </p:sp>
      <p:sp>
        <p:nvSpPr>
          <p:cNvPr descr="&lt;math xmlns=&quot;http://www.w3.org/1998/Math/MathML&quot; display=&quot;block&quot; data-is-equatio=&quot;1&quot; data-latex=&quot;\frac{p}{3}&quot;&gt;&lt;mfrac&gt;&lt;mi&gt;p&lt;/mi&gt;&lt;mn&gt;3&lt;/mn&gt;&lt;/mfrac&gt;&lt;/math&gt;" id="1923" name="Google Shape;1923;p143" title="p over 3"/>
          <p:cNvSpPr txBox="1"/>
          <p:nvPr>
            <p:ph idx="1" type="body"/>
          </p:nvPr>
        </p:nvSpPr>
        <p:spPr>
          <a:xfrm>
            <a:off x="5978347" y="1525088"/>
            <a:ext cx="29208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 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i="1"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+ 3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17 + </a:t>
            </a:r>
            <a:r>
              <a:rPr i="1"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 + 3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/>
              <a:t>  </a:t>
            </a:r>
            <a:endParaRPr sz="1800"/>
          </a:p>
        </p:txBody>
      </p:sp>
      <p:grpSp>
        <p:nvGrpSpPr>
          <p:cNvPr id="1924" name="Google Shape;1924;p143"/>
          <p:cNvGrpSpPr/>
          <p:nvPr/>
        </p:nvGrpSpPr>
        <p:grpSpPr>
          <a:xfrm>
            <a:off x="323991" y="1520890"/>
            <a:ext cx="457200" cy="457200"/>
            <a:chOff x="1020916" y="1442088"/>
            <a:chExt cx="457200" cy="457200"/>
          </a:xfrm>
        </p:grpSpPr>
        <p:pic>
          <p:nvPicPr>
            <p:cNvPr id="1925" name="Google Shape;1925;p1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26" name="Google Shape;1926;p1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27" name="Google Shape;1927;p143"/>
          <p:cNvGrpSpPr/>
          <p:nvPr/>
        </p:nvGrpSpPr>
        <p:grpSpPr>
          <a:xfrm>
            <a:off x="323991" y="2414200"/>
            <a:ext cx="457200" cy="457200"/>
            <a:chOff x="1020916" y="1442088"/>
            <a:chExt cx="457200" cy="457200"/>
          </a:xfrm>
        </p:grpSpPr>
        <p:pic>
          <p:nvPicPr>
            <p:cNvPr id="1928" name="Google Shape;1928;p1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29" name="Google Shape;1929;p1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30" name="Google Shape;1930;p143"/>
          <p:cNvGrpSpPr/>
          <p:nvPr/>
        </p:nvGrpSpPr>
        <p:grpSpPr>
          <a:xfrm>
            <a:off x="323991" y="3260125"/>
            <a:ext cx="457200" cy="457200"/>
            <a:chOff x="1020916" y="1442088"/>
            <a:chExt cx="457200" cy="457200"/>
          </a:xfrm>
        </p:grpSpPr>
        <p:pic>
          <p:nvPicPr>
            <p:cNvPr id="1931" name="Google Shape;1931;p1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2" name="Google Shape;1932;p1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33" name="Google Shape;1933;p143"/>
          <p:cNvGrpSpPr/>
          <p:nvPr/>
        </p:nvGrpSpPr>
        <p:grpSpPr>
          <a:xfrm>
            <a:off x="323991" y="4106050"/>
            <a:ext cx="457200" cy="457200"/>
            <a:chOff x="1020916" y="1442088"/>
            <a:chExt cx="457200" cy="457200"/>
          </a:xfrm>
        </p:grpSpPr>
        <p:pic>
          <p:nvPicPr>
            <p:cNvPr id="1934" name="Google Shape;1934;p1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5" name="Google Shape;1935;p1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36" name="Google Shape;1936;p143"/>
          <p:cNvSpPr/>
          <p:nvPr/>
        </p:nvSpPr>
        <p:spPr>
          <a:xfrm>
            <a:off x="2546188" y="4296137"/>
            <a:ext cx="16992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17</a:t>
            </a:r>
            <a:endParaRPr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37" name="Google Shape;1937;p143"/>
          <p:cNvSpPr/>
          <p:nvPr/>
        </p:nvSpPr>
        <p:spPr>
          <a:xfrm>
            <a:off x="4245388" y="4296137"/>
            <a:ext cx="16992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17</a:t>
            </a:r>
            <a:endParaRPr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938" name="Google Shape;1938;p143"/>
          <p:cNvGrpSpPr/>
          <p:nvPr/>
        </p:nvGrpSpPr>
        <p:grpSpPr>
          <a:xfrm>
            <a:off x="2570714" y="3554276"/>
            <a:ext cx="1002465" cy="280800"/>
            <a:chOff x="1238764" y="3236512"/>
            <a:chExt cx="1002465" cy="280800"/>
          </a:xfrm>
        </p:grpSpPr>
        <p:sp>
          <p:nvSpPr>
            <p:cNvPr id="1939" name="Google Shape;1939;p143"/>
            <p:cNvSpPr/>
            <p:nvPr/>
          </p:nvSpPr>
          <p:spPr>
            <a:xfrm>
              <a:off x="1934928" y="3236512"/>
              <a:ext cx="306300" cy="2808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40" name="Google Shape;1940;p143"/>
            <p:cNvSpPr/>
            <p:nvPr/>
          </p:nvSpPr>
          <p:spPr>
            <a:xfrm>
              <a:off x="1238764" y="3236512"/>
              <a:ext cx="696300" cy="280800"/>
            </a:xfrm>
            <a:prstGeom prst="rec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solidFill>
                    <a:schemeClr val="accent4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cxnSp>
        <p:nvCxnSpPr>
          <p:cNvPr id="1941" name="Google Shape;1941;p143"/>
          <p:cNvCxnSpPr/>
          <p:nvPr/>
        </p:nvCxnSpPr>
        <p:spPr>
          <a:xfrm rot="10800000">
            <a:off x="4311500" y="2727025"/>
            <a:ext cx="1202700" cy="640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2" name="Google Shape;1942;p143"/>
          <p:cNvCxnSpPr/>
          <p:nvPr/>
        </p:nvCxnSpPr>
        <p:spPr>
          <a:xfrm flipH="1">
            <a:off x="4303000" y="1714500"/>
            <a:ext cx="1311600" cy="1902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3" name="Google Shape;1943;p143"/>
          <p:cNvCxnSpPr/>
          <p:nvPr/>
        </p:nvCxnSpPr>
        <p:spPr>
          <a:xfrm rot="10800000">
            <a:off x="4404550" y="1807225"/>
            <a:ext cx="1464900" cy="687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4" name="Google Shape;1944;p143"/>
          <p:cNvCxnSpPr>
            <a:endCxn id="1922" idx="1"/>
          </p:cNvCxnSpPr>
          <p:nvPr/>
        </p:nvCxnSpPr>
        <p:spPr>
          <a:xfrm>
            <a:off x="5977486" y="4255250"/>
            <a:ext cx="489900" cy="35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8" name="Shape 1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" name="Google Shape;1949;p144"/>
          <p:cNvSpPr txBox="1"/>
          <p:nvPr>
            <p:ph idx="1" type="body"/>
          </p:nvPr>
        </p:nvSpPr>
        <p:spPr>
          <a:xfrm>
            <a:off x="324000" y="759300"/>
            <a:ext cx="6126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Complete each bar model so it maintains equality, given that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 + 3 =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0" name="Google Shape;1950;p14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Maintaining equality in bar models</a:t>
            </a:r>
            <a:endParaRPr/>
          </a:p>
        </p:txBody>
      </p:sp>
      <p:sp>
        <p:nvSpPr>
          <p:cNvPr id="1951" name="Google Shape;1951;p144"/>
          <p:cNvSpPr/>
          <p:nvPr/>
        </p:nvSpPr>
        <p:spPr>
          <a:xfrm>
            <a:off x="1979225" y="1620000"/>
            <a:ext cx="6429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3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52" name="Google Shape;1952;p144"/>
          <p:cNvSpPr/>
          <p:nvPr/>
        </p:nvSpPr>
        <p:spPr>
          <a:xfrm>
            <a:off x="796975" y="1620000"/>
            <a:ext cx="5790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53" name="Google Shape;1953;p144"/>
          <p:cNvSpPr/>
          <p:nvPr/>
        </p:nvSpPr>
        <p:spPr>
          <a:xfrm>
            <a:off x="1188625" y="1901100"/>
            <a:ext cx="14337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54" name="Google Shape;1954;p144"/>
          <p:cNvSpPr/>
          <p:nvPr/>
        </p:nvSpPr>
        <p:spPr>
          <a:xfrm>
            <a:off x="1388096" y="1620000"/>
            <a:ext cx="5790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55" name="Google Shape;1955;p144"/>
          <p:cNvSpPr/>
          <p:nvPr/>
        </p:nvSpPr>
        <p:spPr>
          <a:xfrm>
            <a:off x="796975" y="1901100"/>
            <a:ext cx="3918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b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56" name="Google Shape;1956;p144"/>
          <p:cNvSpPr/>
          <p:nvPr/>
        </p:nvSpPr>
        <p:spPr>
          <a:xfrm>
            <a:off x="2634250" y="1620000"/>
            <a:ext cx="8667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endParaRPr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57" name="Google Shape;1957;p144"/>
          <p:cNvSpPr/>
          <p:nvPr/>
        </p:nvSpPr>
        <p:spPr>
          <a:xfrm>
            <a:off x="1979225" y="2700000"/>
            <a:ext cx="6429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3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58" name="Google Shape;1958;p144"/>
          <p:cNvSpPr/>
          <p:nvPr/>
        </p:nvSpPr>
        <p:spPr>
          <a:xfrm>
            <a:off x="796975" y="2700000"/>
            <a:ext cx="5790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59" name="Google Shape;1959;p144"/>
          <p:cNvSpPr/>
          <p:nvPr/>
        </p:nvSpPr>
        <p:spPr>
          <a:xfrm>
            <a:off x="1188625" y="2981100"/>
            <a:ext cx="14337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60" name="Google Shape;1960;p144"/>
          <p:cNvSpPr/>
          <p:nvPr/>
        </p:nvSpPr>
        <p:spPr>
          <a:xfrm>
            <a:off x="1388096" y="2700000"/>
            <a:ext cx="5790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61" name="Google Shape;1961;p144"/>
          <p:cNvSpPr/>
          <p:nvPr/>
        </p:nvSpPr>
        <p:spPr>
          <a:xfrm>
            <a:off x="796975" y="2981100"/>
            <a:ext cx="3918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b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62" name="Google Shape;1962;p144"/>
          <p:cNvSpPr/>
          <p:nvPr/>
        </p:nvSpPr>
        <p:spPr>
          <a:xfrm>
            <a:off x="2627046" y="2977092"/>
            <a:ext cx="5790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63" name="Google Shape;1963;p144"/>
          <p:cNvSpPr/>
          <p:nvPr/>
        </p:nvSpPr>
        <p:spPr>
          <a:xfrm>
            <a:off x="1979225" y="3868150"/>
            <a:ext cx="6429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3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64" name="Google Shape;1964;p144"/>
          <p:cNvSpPr/>
          <p:nvPr/>
        </p:nvSpPr>
        <p:spPr>
          <a:xfrm>
            <a:off x="796975" y="3868150"/>
            <a:ext cx="5790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65" name="Google Shape;1965;p144"/>
          <p:cNvSpPr/>
          <p:nvPr/>
        </p:nvSpPr>
        <p:spPr>
          <a:xfrm>
            <a:off x="1188625" y="4149250"/>
            <a:ext cx="14337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66" name="Google Shape;1966;p144"/>
          <p:cNvSpPr/>
          <p:nvPr/>
        </p:nvSpPr>
        <p:spPr>
          <a:xfrm>
            <a:off x="1388096" y="3868150"/>
            <a:ext cx="5790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67" name="Google Shape;1967;p144"/>
          <p:cNvSpPr/>
          <p:nvPr/>
        </p:nvSpPr>
        <p:spPr>
          <a:xfrm>
            <a:off x="796975" y="4149250"/>
            <a:ext cx="3918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b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68" name="Google Shape;1968;p144"/>
          <p:cNvSpPr/>
          <p:nvPr/>
        </p:nvSpPr>
        <p:spPr>
          <a:xfrm>
            <a:off x="3816500" y="3868150"/>
            <a:ext cx="6429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69" name="Google Shape;1969;p144"/>
          <p:cNvSpPr/>
          <p:nvPr/>
        </p:nvSpPr>
        <p:spPr>
          <a:xfrm>
            <a:off x="2634250" y="3868150"/>
            <a:ext cx="5790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70" name="Google Shape;1970;p144"/>
          <p:cNvSpPr/>
          <p:nvPr/>
        </p:nvSpPr>
        <p:spPr>
          <a:xfrm>
            <a:off x="3225371" y="3868150"/>
            <a:ext cx="5790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71" name="Google Shape;1971;p144"/>
          <p:cNvSpPr/>
          <p:nvPr/>
        </p:nvSpPr>
        <p:spPr>
          <a:xfrm>
            <a:off x="5754250" y="1620000"/>
            <a:ext cx="6429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3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72" name="Google Shape;1972;p144"/>
          <p:cNvSpPr/>
          <p:nvPr/>
        </p:nvSpPr>
        <p:spPr>
          <a:xfrm>
            <a:off x="4572000" y="1620000"/>
            <a:ext cx="5790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73" name="Google Shape;1973;p144"/>
          <p:cNvSpPr/>
          <p:nvPr/>
        </p:nvSpPr>
        <p:spPr>
          <a:xfrm>
            <a:off x="5358850" y="1901100"/>
            <a:ext cx="14337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74" name="Google Shape;1974;p144"/>
          <p:cNvSpPr/>
          <p:nvPr/>
        </p:nvSpPr>
        <p:spPr>
          <a:xfrm>
            <a:off x="5163121" y="1620000"/>
            <a:ext cx="5790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75" name="Google Shape;1975;p144"/>
          <p:cNvSpPr/>
          <p:nvPr/>
        </p:nvSpPr>
        <p:spPr>
          <a:xfrm>
            <a:off x="4572000" y="1901100"/>
            <a:ext cx="3918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b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76" name="Google Shape;1976;p144"/>
          <p:cNvSpPr/>
          <p:nvPr/>
        </p:nvSpPr>
        <p:spPr>
          <a:xfrm>
            <a:off x="4963800" y="1901100"/>
            <a:ext cx="3918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endParaRPr i="1"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77" name="Google Shape;1977;p144"/>
          <p:cNvSpPr/>
          <p:nvPr/>
        </p:nvSpPr>
        <p:spPr>
          <a:xfrm>
            <a:off x="6936500" y="2678100"/>
            <a:ext cx="642900" cy="280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 sz="21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78" name="Google Shape;1978;p144"/>
          <p:cNvSpPr/>
          <p:nvPr/>
        </p:nvSpPr>
        <p:spPr>
          <a:xfrm>
            <a:off x="4572000" y="2678100"/>
            <a:ext cx="5790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79" name="Google Shape;1979;p144"/>
          <p:cNvSpPr/>
          <p:nvPr/>
        </p:nvSpPr>
        <p:spPr>
          <a:xfrm>
            <a:off x="4963800" y="2959200"/>
            <a:ext cx="14337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80" name="Google Shape;1980;p144"/>
          <p:cNvSpPr/>
          <p:nvPr/>
        </p:nvSpPr>
        <p:spPr>
          <a:xfrm>
            <a:off x="5163121" y="2678100"/>
            <a:ext cx="5790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81" name="Google Shape;1981;p144"/>
          <p:cNvSpPr/>
          <p:nvPr/>
        </p:nvSpPr>
        <p:spPr>
          <a:xfrm>
            <a:off x="4572000" y="2959200"/>
            <a:ext cx="3918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b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82" name="Google Shape;1982;p144"/>
          <p:cNvSpPr/>
          <p:nvPr/>
        </p:nvSpPr>
        <p:spPr>
          <a:xfrm>
            <a:off x="5653775" y="3868150"/>
            <a:ext cx="6429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83" name="Google Shape;1983;p144"/>
          <p:cNvSpPr/>
          <p:nvPr/>
        </p:nvSpPr>
        <p:spPr>
          <a:xfrm>
            <a:off x="4471525" y="3868150"/>
            <a:ext cx="5790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84" name="Google Shape;1984;p144"/>
          <p:cNvSpPr/>
          <p:nvPr/>
        </p:nvSpPr>
        <p:spPr>
          <a:xfrm>
            <a:off x="5062646" y="3868150"/>
            <a:ext cx="5790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85" name="Google Shape;1985;p144"/>
          <p:cNvSpPr/>
          <p:nvPr/>
        </p:nvSpPr>
        <p:spPr>
          <a:xfrm>
            <a:off x="5754250" y="2678100"/>
            <a:ext cx="5790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86" name="Google Shape;1986;p144"/>
          <p:cNvSpPr/>
          <p:nvPr/>
        </p:nvSpPr>
        <p:spPr>
          <a:xfrm>
            <a:off x="6345371" y="2678100"/>
            <a:ext cx="5790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87" name="Google Shape;1987;p144"/>
          <p:cNvSpPr/>
          <p:nvPr/>
        </p:nvSpPr>
        <p:spPr>
          <a:xfrm>
            <a:off x="7591525" y="2678100"/>
            <a:ext cx="6429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88" name="Google Shape;1988;p144"/>
          <p:cNvSpPr/>
          <p:nvPr/>
        </p:nvSpPr>
        <p:spPr>
          <a:xfrm>
            <a:off x="324000" y="162000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9" name="Google Shape;1989;p144"/>
          <p:cNvSpPr/>
          <p:nvPr/>
        </p:nvSpPr>
        <p:spPr>
          <a:xfrm>
            <a:off x="324050" y="270000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0" name="Google Shape;1990;p144"/>
          <p:cNvSpPr/>
          <p:nvPr/>
        </p:nvSpPr>
        <p:spPr>
          <a:xfrm>
            <a:off x="324050" y="386815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1" name="Google Shape;1991;p144"/>
          <p:cNvSpPr/>
          <p:nvPr/>
        </p:nvSpPr>
        <p:spPr>
          <a:xfrm>
            <a:off x="4010725" y="162000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2" name="Google Shape;1992;p144"/>
          <p:cNvSpPr/>
          <p:nvPr/>
        </p:nvSpPr>
        <p:spPr>
          <a:xfrm>
            <a:off x="4035175" y="267810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6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Google Shape;1997;p145"/>
          <p:cNvSpPr txBox="1"/>
          <p:nvPr>
            <p:ph idx="1" type="body"/>
          </p:nvPr>
        </p:nvSpPr>
        <p:spPr>
          <a:xfrm>
            <a:off x="324000" y="7428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The bar models are not drawn to scale. Given that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 + 18 = 3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 + 21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Which bar models will maintain equality</a:t>
            </a:r>
            <a:r>
              <a:rPr lang="en-GB" sz="1800"/>
              <a:t>, and should be the same length</a:t>
            </a:r>
            <a:r>
              <a:rPr lang="en-GB" sz="1800"/>
              <a:t>? </a:t>
            </a:r>
            <a:endParaRPr sz="1800"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Explain your reasoning.</a:t>
            </a:r>
            <a:endParaRPr sz="1800"/>
          </a:p>
        </p:txBody>
      </p:sp>
      <p:sp>
        <p:nvSpPr>
          <p:cNvPr id="1998" name="Google Shape;1998;p14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Maintaining equality in bar models</a:t>
            </a:r>
            <a:endParaRPr/>
          </a:p>
        </p:txBody>
      </p:sp>
      <p:sp>
        <p:nvSpPr>
          <p:cNvPr id="1999" name="Google Shape;1999;p145"/>
          <p:cNvSpPr/>
          <p:nvPr/>
        </p:nvSpPr>
        <p:spPr>
          <a:xfrm>
            <a:off x="1833225" y="2011475"/>
            <a:ext cx="7299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00" name="Google Shape;2000;p145"/>
          <p:cNvSpPr/>
          <p:nvPr/>
        </p:nvSpPr>
        <p:spPr>
          <a:xfrm>
            <a:off x="1641425" y="2290197"/>
            <a:ext cx="9213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21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01" name="Google Shape;2001;p145"/>
          <p:cNvSpPr/>
          <p:nvPr/>
        </p:nvSpPr>
        <p:spPr>
          <a:xfrm>
            <a:off x="618225" y="200985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02" name="Google Shape;2002;p145"/>
          <p:cNvSpPr/>
          <p:nvPr/>
        </p:nvSpPr>
        <p:spPr>
          <a:xfrm>
            <a:off x="618228" y="229095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03" name="Google Shape;2003;p145"/>
          <p:cNvSpPr/>
          <p:nvPr/>
        </p:nvSpPr>
        <p:spPr>
          <a:xfrm>
            <a:off x="1225725" y="200985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04" name="Google Shape;2004;p145"/>
          <p:cNvSpPr/>
          <p:nvPr/>
        </p:nvSpPr>
        <p:spPr>
          <a:xfrm>
            <a:off x="957703" y="229095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05" name="Google Shape;2005;p145"/>
          <p:cNvSpPr/>
          <p:nvPr/>
        </p:nvSpPr>
        <p:spPr>
          <a:xfrm>
            <a:off x="1297178" y="229018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06" name="Google Shape;2006;p145"/>
          <p:cNvSpPr/>
          <p:nvPr/>
        </p:nvSpPr>
        <p:spPr>
          <a:xfrm>
            <a:off x="1798325" y="2999525"/>
            <a:ext cx="7299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07" name="Google Shape;2007;p145"/>
          <p:cNvSpPr/>
          <p:nvPr/>
        </p:nvSpPr>
        <p:spPr>
          <a:xfrm>
            <a:off x="1606525" y="3278247"/>
            <a:ext cx="9213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21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08" name="Google Shape;2008;p145"/>
          <p:cNvSpPr/>
          <p:nvPr/>
        </p:nvSpPr>
        <p:spPr>
          <a:xfrm>
            <a:off x="583325" y="299790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09" name="Google Shape;2009;p145"/>
          <p:cNvSpPr/>
          <p:nvPr/>
        </p:nvSpPr>
        <p:spPr>
          <a:xfrm>
            <a:off x="583328" y="327900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10" name="Google Shape;2010;p145"/>
          <p:cNvSpPr/>
          <p:nvPr/>
        </p:nvSpPr>
        <p:spPr>
          <a:xfrm>
            <a:off x="1190825" y="299790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11" name="Google Shape;2011;p145"/>
          <p:cNvSpPr/>
          <p:nvPr/>
        </p:nvSpPr>
        <p:spPr>
          <a:xfrm>
            <a:off x="922803" y="327900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12" name="Google Shape;2012;p145"/>
          <p:cNvSpPr/>
          <p:nvPr/>
        </p:nvSpPr>
        <p:spPr>
          <a:xfrm>
            <a:off x="1262278" y="327823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13" name="Google Shape;2013;p145"/>
          <p:cNvSpPr/>
          <p:nvPr/>
        </p:nvSpPr>
        <p:spPr>
          <a:xfrm>
            <a:off x="2528225" y="299790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14" name="Google Shape;2014;p145"/>
          <p:cNvSpPr/>
          <p:nvPr/>
        </p:nvSpPr>
        <p:spPr>
          <a:xfrm>
            <a:off x="3135725" y="299790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15" name="Google Shape;2015;p145"/>
          <p:cNvSpPr/>
          <p:nvPr/>
        </p:nvSpPr>
        <p:spPr>
          <a:xfrm>
            <a:off x="2532475" y="327825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16" name="Google Shape;2016;p145"/>
          <p:cNvSpPr/>
          <p:nvPr/>
        </p:nvSpPr>
        <p:spPr>
          <a:xfrm>
            <a:off x="3139975" y="327825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17" name="Google Shape;2017;p145"/>
          <p:cNvSpPr/>
          <p:nvPr/>
        </p:nvSpPr>
        <p:spPr>
          <a:xfrm>
            <a:off x="2563125" y="2009838"/>
            <a:ext cx="7299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18" name="Google Shape;2018;p145"/>
          <p:cNvSpPr/>
          <p:nvPr/>
        </p:nvSpPr>
        <p:spPr>
          <a:xfrm>
            <a:off x="2567378" y="2291334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19" name="Google Shape;2019;p145"/>
          <p:cNvSpPr/>
          <p:nvPr/>
        </p:nvSpPr>
        <p:spPr>
          <a:xfrm>
            <a:off x="2906853" y="2290564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20" name="Google Shape;2020;p145"/>
          <p:cNvSpPr/>
          <p:nvPr/>
        </p:nvSpPr>
        <p:spPr>
          <a:xfrm>
            <a:off x="3749600" y="4039050"/>
            <a:ext cx="7299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21" name="Google Shape;2021;p145"/>
          <p:cNvSpPr/>
          <p:nvPr/>
        </p:nvSpPr>
        <p:spPr>
          <a:xfrm>
            <a:off x="1604400" y="4319397"/>
            <a:ext cx="9213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21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22" name="Google Shape;2022;p145"/>
          <p:cNvSpPr/>
          <p:nvPr/>
        </p:nvSpPr>
        <p:spPr>
          <a:xfrm>
            <a:off x="581200" y="403905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23" name="Google Shape;2023;p145"/>
          <p:cNvSpPr/>
          <p:nvPr/>
        </p:nvSpPr>
        <p:spPr>
          <a:xfrm>
            <a:off x="581203" y="432015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24" name="Google Shape;2024;p145"/>
          <p:cNvSpPr/>
          <p:nvPr/>
        </p:nvSpPr>
        <p:spPr>
          <a:xfrm>
            <a:off x="1188700" y="403905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25" name="Google Shape;2025;p145"/>
          <p:cNvSpPr/>
          <p:nvPr/>
        </p:nvSpPr>
        <p:spPr>
          <a:xfrm>
            <a:off x="920678" y="432015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26" name="Google Shape;2026;p145"/>
          <p:cNvSpPr/>
          <p:nvPr/>
        </p:nvSpPr>
        <p:spPr>
          <a:xfrm>
            <a:off x="1260153" y="431938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27" name="Google Shape;2027;p145"/>
          <p:cNvSpPr/>
          <p:nvPr/>
        </p:nvSpPr>
        <p:spPr>
          <a:xfrm>
            <a:off x="1798325" y="403905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28" name="Google Shape;2028;p145"/>
          <p:cNvSpPr/>
          <p:nvPr/>
        </p:nvSpPr>
        <p:spPr>
          <a:xfrm>
            <a:off x="2407950" y="403935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29" name="Google Shape;2029;p145"/>
          <p:cNvSpPr/>
          <p:nvPr/>
        </p:nvSpPr>
        <p:spPr>
          <a:xfrm>
            <a:off x="2530350" y="431940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30" name="Google Shape;2030;p145"/>
          <p:cNvSpPr/>
          <p:nvPr/>
        </p:nvSpPr>
        <p:spPr>
          <a:xfrm>
            <a:off x="3137850" y="431940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31" name="Google Shape;2031;p145"/>
          <p:cNvSpPr/>
          <p:nvPr/>
        </p:nvSpPr>
        <p:spPr>
          <a:xfrm>
            <a:off x="3017575" y="4039050"/>
            <a:ext cx="7299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32" name="Google Shape;2032;p145"/>
          <p:cNvSpPr/>
          <p:nvPr/>
        </p:nvSpPr>
        <p:spPr>
          <a:xfrm>
            <a:off x="3749600" y="4320150"/>
            <a:ext cx="7299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33" name="Google Shape;2033;p145"/>
          <p:cNvSpPr/>
          <p:nvPr/>
        </p:nvSpPr>
        <p:spPr>
          <a:xfrm>
            <a:off x="7330200" y="2009850"/>
            <a:ext cx="7299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34" name="Google Shape;2034;p145"/>
          <p:cNvSpPr/>
          <p:nvPr/>
        </p:nvSpPr>
        <p:spPr>
          <a:xfrm>
            <a:off x="6937300" y="2291697"/>
            <a:ext cx="9213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21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35" name="Google Shape;2035;p145"/>
          <p:cNvSpPr/>
          <p:nvPr/>
        </p:nvSpPr>
        <p:spPr>
          <a:xfrm>
            <a:off x="4900200" y="200985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36" name="Google Shape;2036;p145"/>
          <p:cNvSpPr/>
          <p:nvPr/>
        </p:nvSpPr>
        <p:spPr>
          <a:xfrm>
            <a:off x="4900203" y="229095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37" name="Google Shape;2037;p145"/>
          <p:cNvSpPr/>
          <p:nvPr/>
        </p:nvSpPr>
        <p:spPr>
          <a:xfrm>
            <a:off x="5507700" y="200985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38" name="Google Shape;2038;p145"/>
          <p:cNvSpPr/>
          <p:nvPr/>
        </p:nvSpPr>
        <p:spPr>
          <a:xfrm>
            <a:off x="5239678" y="229095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39" name="Google Shape;2039;p145"/>
          <p:cNvSpPr/>
          <p:nvPr/>
        </p:nvSpPr>
        <p:spPr>
          <a:xfrm>
            <a:off x="5579153" y="229018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40" name="Google Shape;2040;p145"/>
          <p:cNvSpPr/>
          <p:nvPr/>
        </p:nvSpPr>
        <p:spPr>
          <a:xfrm>
            <a:off x="5918753" y="229170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41" name="Google Shape;2041;p145"/>
          <p:cNvSpPr/>
          <p:nvPr/>
        </p:nvSpPr>
        <p:spPr>
          <a:xfrm>
            <a:off x="6258228" y="229170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42" name="Google Shape;2042;p145"/>
          <p:cNvSpPr/>
          <p:nvPr/>
        </p:nvSpPr>
        <p:spPr>
          <a:xfrm>
            <a:off x="6597703" y="229093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43" name="Google Shape;2043;p145"/>
          <p:cNvSpPr/>
          <p:nvPr/>
        </p:nvSpPr>
        <p:spPr>
          <a:xfrm>
            <a:off x="6115200" y="200985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44" name="Google Shape;2044;p145"/>
          <p:cNvSpPr/>
          <p:nvPr/>
        </p:nvSpPr>
        <p:spPr>
          <a:xfrm>
            <a:off x="6722700" y="200985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45" name="Google Shape;2045;p145"/>
          <p:cNvSpPr/>
          <p:nvPr/>
        </p:nvSpPr>
        <p:spPr>
          <a:xfrm>
            <a:off x="6454800" y="4039050"/>
            <a:ext cx="7299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46" name="Google Shape;2046;p145"/>
          <p:cNvSpPr/>
          <p:nvPr/>
        </p:nvSpPr>
        <p:spPr>
          <a:xfrm>
            <a:off x="6271300" y="4320147"/>
            <a:ext cx="9213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21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47" name="Google Shape;2047;p145"/>
          <p:cNvSpPr/>
          <p:nvPr/>
        </p:nvSpPr>
        <p:spPr>
          <a:xfrm>
            <a:off x="4900200" y="403905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48" name="Google Shape;2048;p145"/>
          <p:cNvSpPr/>
          <p:nvPr/>
        </p:nvSpPr>
        <p:spPr>
          <a:xfrm>
            <a:off x="5507700" y="403905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49" name="Google Shape;2049;p145"/>
          <p:cNvSpPr/>
          <p:nvPr/>
        </p:nvSpPr>
        <p:spPr>
          <a:xfrm>
            <a:off x="5239678" y="432015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50" name="Google Shape;2050;p145"/>
          <p:cNvSpPr/>
          <p:nvPr/>
        </p:nvSpPr>
        <p:spPr>
          <a:xfrm>
            <a:off x="5579153" y="431938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51" name="Google Shape;2051;p145"/>
          <p:cNvSpPr/>
          <p:nvPr/>
        </p:nvSpPr>
        <p:spPr>
          <a:xfrm>
            <a:off x="4901410" y="432015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52" name="Google Shape;2052;p145"/>
          <p:cNvSpPr/>
          <p:nvPr/>
        </p:nvSpPr>
        <p:spPr>
          <a:xfrm>
            <a:off x="5925228" y="432013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53" name="Google Shape;2053;p145"/>
          <p:cNvSpPr/>
          <p:nvPr/>
        </p:nvSpPr>
        <p:spPr>
          <a:xfrm>
            <a:off x="6115203" y="403903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54" name="Google Shape;2054;p145"/>
          <p:cNvSpPr/>
          <p:nvPr/>
        </p:nvSpPr>
        <p:spPr>
          <a:xfrm>
            <a:off x="7340950" y="2939550"/>
            <a:ext cx="7299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55" name="Google Shape;2055;p145"/>
          <p:cNvSpPr/>
          <p:nvPr/>
        </p:nvSpPr>
        <p:spPr>
          <a:xfrm>
            <a:off x="6941500" y="3219897"/>
            <a:ext cx="9213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21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56" name="Google Shape;2056;p145"/>
          <p:cNvSpPr/>
          <p:nvPr/>
        </p:nvSpPr>
        <p:spPr>
          <a:xfrm>
            <a:off x="4900200" y="293955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57" name="Google Shape;2057;p145"/>
          <p:cNvSpPr/>
          <p:nvPr/>
        </p:nvSpPr>
        <p:spPr>
          <a:xfrm>
            <a:off x="5507700" y="293955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58" name="Google Shape;2058;p145"/>
          <p:cNvSpPr/>
          <p:nvPr/>
        </p:nvSpPr>
        <p:spPr>
          <a:xfrm>
            <a:off x="5239678" y="322065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59" name="Google Shape;2059;p145"/>
          <p:cNvSpPr/>
          <p:nvPr/>
        </p:nvSpPr>
        <p:spPr>
          <a:xfrm>
            <a:off x="5579153" y="321988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60" name="Google Shape;2060;p145"/>
          <p:cNvSpPr/>
          <p:nvPr/>
        </p:nvSpPr>
        <p:spPr>
          <a:xfrm>
            <a:off x="6120575" y="293955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61" name="Google Shape;2061;p145"/>
          <p:cNvSpPr/>
          <p:nvPr/>
        </p:nvSpPr>
        <p:spPr>
          <a:xfrm>
            <a:off x="6728075" y="293955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62" name="Google Shape;2062;p145"/>
          <p:cNvSpPr/>
          <p:nvPr/>
        </p:nvSpPr>
        <p:spPr>
          <a:xfrm>
            <a:off x="8076225" y="2939550"/>
            <a:ext cx="7299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63" name="Google Shape;2063;p145"/>
          <p:cNvSpPr/>
          <p:nvPr/>
        </p:nvSpPr>
        <p:spPr>
          <a:xfrm>
            <a:off x="4900203" y="322065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64" name="Google Shape;2064;p145"/>
          <p:cNvSpPr/>
          <p:nvPr/>
        </p:nvSpPr>
        <p:spPr>
          <a:xfrm>
            <a:off x="6267603" y="3221034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65" name="Google Shape;2065;p145"/>
          <p:cNvSpPr/>
          <p:nvPr/>
        </p:nvSpPr>
        <p:spPr>
          <a:xfrm>
            <a:off x="6607078" y="3220264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66" name="Google Shape;2066;p145"/>
          <p:cNvSpPr/>
          <p:nvPr/>
        </p:nvSpPr>
        <p:spPr>
          <a:xfrm>
            <a:off x="5928128" y="3221034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67" name="Google Shape;2067;p145"/>
          <p:cNvSpPr/>
          <p:nvPr/>
        </p:nvSpPr>
        <p:spPr>
          <a:xfrm>
            <a:off x="7862800" y="3221022"/>
            <a:ext cx="9213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21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68" name="Google Shape;2068;p145"/>
          <p:cNvSpPr/>
          <p:nvPr/>
        </p:nvSpPr>
        <p:spPr>
          <a:xfrm>
            <a:off x="224375" y="195675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9" name="Google Shape;2069;p145"/>
          <p:cNvSpPr/>
          <p:nvPr/>
        </p:nvSpPr>
        <p:spPr>
          <a:xfrm>
            <a:off x="224375" y="293955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0" name="Google Shape;2070;p145"/>
          <p:cNvSpPr/>
          <p:nvPr/>
        </p:nvSpPr>
        <p:spPr>
          <a:xfrm>
            <a:off x="224375" y="403905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1" name="Google Shape;2071;p145"/>
          <p:cNvSpPr/>
          <p:nvPr/>
        </p:nvSpPr>
        <p:spPr>
          <a:xfrm>
            <a:off x="4430775" y="200985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2" name="Google Shape;2072;p145"/>
          <p:cNvSpPr/>
          <p:nvPr/>
        </p:nvSpPr>
        <p:spPr>
          <a:xfrm>
            <a:off x="4430775" y="299265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3" name="Google Shape;2073;p145"/>
          <p:cNvSpPr/>
          <p:nvPr/>
        </p:nvSpPr>
        <p:spPr>
          <a:xfrm>
            <a:off x="4430775" y="409215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7" name="Shape 2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" name="Google Shape;2078;p146"/>
          <p:cNvSpPr txBox="1"/>
          <p:nvPr>
            <p:ph idx="1" type="body"/>
          </p:nvPr>
        </p:nvSpPr>
        <p:spPr>
          <a:xfrm>
            <a:off x="324000" y="759300"/>
            <a:ext cx="6163200" cy="50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Complete each bar model so it maintains equality</a:t>
            </a:r>
            <a:r>
              <a:rPr lang="en-GB" sz="1800"/>
              <a:t>, given that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 + 3 =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endParaRPr sz="1800"/>
          </a:p>
        </p:txBody>
      </p:sp>
      <p:sp>
        <p:nvSpPr>
          <p:cNvPr id="2079" name="Google Shape;2079;p14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Maintaining equality in bar models</a:t>
            </a:r>
            <a:endParaRPr/>
          </a:p>
        </p:txBody>
      </p:sp>
      <p:sp>
        <p:nvSpPr>
          <p:cNvPr id="2080" name="Google Shape;2080;p146"/>
          <p:cNvSpPr/>
          <p:nvPr/>
        </p:nvSpPr>
        <p:spPr>
          <a:xfrm>
            <a:off x="1979225" y="1543800"/>
            <a:ext cx="6429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3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81" name="Google Shape;2081;p146"/>
          <p:cNvSpPr/>
          <p:nvPr/>
        </p:nvSpPr>
        <p:spPr>
          <a:xfrm>
            <a:off x="796975" y="1543800"/>
            <a:ext cx="5790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82" name="Google Shape;2082;p146"/>
          <p:cNvSpPr/>
          <p:nvPr/>
        </p:nvSpPr>
        <p:spPr>
          <a:xfrm>
            <a:off x="1188625" y="1824900"/>
            <a:ext cx="14337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83" name="Google Shape;2083;p146"/>
          <p:cNvSpPr/>
          <p:nvPr/>
        </p:nvSpPr>
        <p:spPr>
          <a:xfrm>
            <a:off x="1388096" y="1543800"/>
            <a:ext cx="5790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84" name="Google Shape;2084;p146"/>
          <p:cNvSpPr/>
          <p:nvPr/>
        </p:nvSpPr>
        <p:spPr>
          <a:xfrm>
            <a:off x="796975" y="1824900"/>
            <a:ext cx="3918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b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85" name="Google Shape;2085;p146"/>
          <p:cNvSpPr/>
          <p:nvPr/>
        </p:nvSpPr>
        <p:spPr>
          <a:xfrm>
            <a:off x="2634250" y="1543800"/>
            <a:ext cx="8667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endParaRPr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86" name="Google Shape;2086;p146"/>
          <p:cNvSpPr/>
          <p:nvPr/>
        </p:nvSpPr>
        <p:spPr>
          <a:xfrm>
            <a:off x="1979225" y="2623800"/>
            <a:ext cx="6429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3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87" name="Google Shape;2087;p146"/>
          <p:cNvSpPr/>
          <p:nvPr/>
        </p:nvSpPr>
        <p:spPr>
          <a:xfrm>
            <a:off x="796975" y="2623800"/>
            <a:ext cx="5790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88" name="Google Shape;2088;p146"/>
          <p:cNvSpPr/>
          <p:nvPr/>
        </p:nvSpPr>
        <p:spPr>
          <a:xfrm>
            <a:off x="1188625" y="2904900"/>
            <a:ext cx="14337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89" name="Google Shape;2089;p146"/>
          <p:cNvSpPr/>
          <p:nvPr/>
        </p:nvSpPr>
        <p:spPr>
          <a:xfrm>
            <a:off x="1388096" y="2623800"/>
            <a:ext cx="5790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90" name="Google Shape;2090;p146"/>
          <p:cNvSpPr/>
          <p:nvPr/>
        </p:nvSpPr>
        <p:spPr>
          <a:xfrm>
            <a:off x="796975" y="2904900"/>
            <a:ext cx="3918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b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91" name="Google Shape;2091;p146"/>
          <p:cNvSpPr/>
          <p:nvPr/>
        </p:nvSpPr>
        <p:spPr>
          <a:xfrm>
            <a:off x="2627046" y="2900892"/>
            <a:ext cx="5790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92" name="Google Shape;2092;p146"/>
          <p:cNvSpPr/>
          <p:nvPr/>
        </p:nvSpPr>
        <p:spPr>
          <a:xfrm>
            <a:off x="1979225" y="3563350"/>
            <a:ext cx="6429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3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93" name="Google Shape;2093;p146"/>
          <p:cNvSpPr/>
          <p:nvPr/>
        </p:nvSpPr>
        <p:spPr>
          <a:xfrm>
            <a:off x="796975" y="3563350"/>
            <a:ext cx="5790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94" name="Google Shape;2094;p146"/>
          <p:cNvSpPr/>
          <p:nvPr/>
        </p:nvSpPr>
        <p:spPr>
          <a:xfrm>
            <a:off x="1188625" y="3844450"/>
            <a:ext cx="14337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95" name="Google Shape;2095;p146"/>
          <p:cNvSpPr/>
          <p:nvPr/>
        </p:nvSpPr>
        <p:spPr>
          <a:xfrm>
            <a:off x="1388096" y="3563350"/>
            <a:ext cx="5790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96" name="Google Shape;2096;p146"/>
          <p:cNvSpPr/>
          <p:nvPr/>
        </p:nvSpPr>
        <p:spPr>
          <a:xfrm>
            <a:off x="796975" y="3844450"/>
            <a:ext cx="3918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b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97" name="Google Shape;2097;p146"/>
          <p:cNvSpPr/>
          <p:nvPr/>
        </p:nvSpPr>
        <p:spPr>
          <a:xfrm>
            <a:off x="3816500" y="3563350"/>
            <a:ext cx="6429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98" name="Google Shape;2098;p146"/>
          <p:cNvSpPr/>
          <p:nvPr/>
        </p:nvSpPr>
        <p:spPr>
          <a:xfrm>
            <a:off x="2634250" y="3563350"/>
            <a:ext cx="5790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99" name="Google Shape;2099;p146"/>
          <p:cNvSpPr/>
          <p:nvPr/>
        </p:nvSpPr>
        <p:spPr>
          <a:xfrm>
            <a:off x="3225371" y="3563350"/>
            <a:ext cx="5790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00" name="Google Shape;2100;p146"/>
          <p:cNvSpPr/>
          <p:nvPr/>
        </p:nvSpPr>
        <p:spPr>
          <a:xfrm>
            <a:off x="5754250" y="1543800"/>
            <a:ext cx="6429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3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01" name="Google Shape;2101;p146"/>
          <p:cNvSpPr/>
          <p:nvPr/>
        </p:nvSpPr>
        <p:spPr>
          <a:xfrm>
            <a:off x="4572000" y="1543800"/>
            <a:ext cx="5790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02" name="Google Shape;2102;p146"/>
          <p:cNvSpPr/>
          <p:nvPr/>
        </p:nvSpPr>
        <p:spPr>
          <a:xfrm>
            <a:off x="5358850" y="1824900"/>
            <a:ext cx="14337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03" name="Google Shape;2103;p146"/>
          <p:cNvSpPr/>
          <p:nvPr/>
        </p:nvSpPr>
        <p:spPr>
          <a:xfrm>
            <a:off x="5163121" y="1543800"/>
            <a:ext cx="5790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04" name="Google Shape;2104;p146"/>
          <p:cNvSpPr/>
          <p:nvPr/>
        </p:nvSpPr>
        <p:spPr>
          <a:xfrm>
            <a:off x="4572000" y="1824900"/>
            <a:ext cx="3918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b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05" name="Google Shape;2105;p146"/>
          <p:cNvSpPr/>
          <p:nvPr/>
        </p:nvSpPr>
        <p:spPr>
          <a:xfrm>
            <a:off x="4963800" y="1824900"/>
            <a:ext cx="3918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endParaRPr i="1"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06" name="Google Shape;2106;p146"/>
          <p:cNvSpPr/>
          <p:nvPr/>
        </p:nvSpPr>
        <p:spPr>
          <a:xfrm>
            <a:off x="6936500" y="2678100"/>
            <a:ext cx="642900" cy="280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 sz="21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07" name="Google Shape;2107;p146"/>
          <p:cNvSpPr/>
          <p:nvPr/>
        </p:nvSpPr>
        <p:spPr>
          <a:xfrm>
            <a:off x="4572000" y="2678100"/>
            <a:ext cx="5790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08" name="Google Shape;2108;p146"/>
          <p:cNvSpPr/>
          <p:nvPr/>
        </p:nvSpPr>
        <p:spPr>
          <a:xfrm>
            <a:off x="4963800" y="2959200"/>
            <a:ext cx="14337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09" name="Google Shape;2109;p146"/>
          <p:cNvSpPr/>
          <p:nvPr/>
        </p:nvSpPr>
        <p:spPr>
          <a:xfrm>
            <a:off x="5163121" y="2678100"/>
            <a:ext cx="5790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10" name="Google Shape;2110;p146"/>
          <p:cNvSpPr/>
          <p:nvPr/>
        </p:nvSpPr>
        <p:spPr>
          <a:xfrm>
            <a:off x="4572000" y="2959200"/>
            <a:ext cx="3918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b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11" name="Google Shape;2111;p146"/>
          <p:cNvSpPr/>
          <p:nvPr/>
        </p:nvSpPr>
        <p:spPr>
          <a:xfrm>
            <a:off x="5653775" y="3563350"/>
            <a:ext cx="6429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12" name="Google Shape;2112;p146"/>
          <p:cNvSpPr/>
          <p:nvPr/>
        </p:nvSpPr>
        <p:spPr>
          <a:xfrm>
            <a:off x="4471525" y="3563350"/>
            <a:ext cx="5790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13" name="Google Shape;2113;p146"/>
          <p:cNvSpPr/>
          <p:nvPr/>
        </p:nvSpPr>
        <p:spPr>
          <a:xfrm>
            <a:off x="5062646" y="3563350"/>
            <a:ext cx="5790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14" name="Google Shape;2114;p146"/>
          <p:cNvSpPr/>
          <p:nvPr/>
        </p:nvSpPr>
        <p:spPr>
          <a:xfrm>
            <a:off x="5754250" y="2678100"/>
            <a:ext cx="5790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15" name="Google Shape;2115;p146"/>
          <p:cNvSpPr/>
          <p:nvPr/>
        </p:nvSpPr>
        <p:spPr>
          <a:xfrm>
            <a:off x="6345371" y="2678100"/>
            <a:ext cx="5790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16" name="Google Shape;2116;p146"/>
          <p:cNvSpPr/>
          <p:nvPr/>
        </p:nvSpPr>
        <p:spPr>
          <a:xfrm>
            <a:off x="7591525" y="2678100"/>
            <a:ext cx="6429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17" name="Google Shape;2117;p146"/>
          <p:cNvSpPr/>
          <p:nvPr/>
        </p:nvSpPr>
        <p:spPr>
          <a:xfrm>
            <a:off x="324000" y="154380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8" name="Google Shape;2118;p146"/>
          <p:cNvSpPr/>
          <p:nvPr/>
        </p:nvSpPr>
        <p:spPr>
          <a:xfrm>
            <a:off x="324050" y="262380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9" name="Google Shape;2119;p146"/>
          <p:cNvSpPr/>
          <p:nvPr/>
        </p:nvSpPr>
        <p:spPr>
          <a:xfrm>
            <a:off x="324050" y="356335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0" name="Google Shape;2120;p146"/>
          <p:cNvSpPr/>
          <p:nvPr/>
        </p:nvSpPr>
        <p:spPr>
          <a:xfrm>
            <a:off x="4010725" y="154380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1" name="Google Shape;2121;p146"/>
          <p:cNvSpPr/>
          <p:nvPr/>
        </p:nvSpPr>
        <p:spPr>
          <a:xfrm>
            <a:off x="4035175" y="2373300"/>
            <a:ext cx="10275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e)  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e.g.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2" name="Google Shape;2122;p146"/>
          <p:cNvSpPr/>
          <p:nvPr/>
        </p:nvSpPr>
        <p:spPr>
          <a:xfrm>
            <a:off x="2634250" y="1824900"/>
            <a:ext cx="8667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endParaRPr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23" name="Google Shape;2123;p146"/>
          <p:cNvSpPr/>
          <p:nvPr/>
        </p:nvSpPr>
        <p:spPr>
          <a:xfrm>
            <a:off x="2626523" y="2623792"/>
            <a:ext cx="5790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24" name="Google Shape;2124;p146"/>
          <p:cNvSpPr/>
          <p:nvPr/>
        </p:nvSpPr>
        <p:spPr>
          <a:xfrm>
            <a:off x="3025900" y="3844450"/>
            <a:ext cx="14337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endParaRPr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25" name="Google Shape;2125;p146"/>
          <p:cNvSpPr/>
          <p:nvPr/>
        </p:nvSpPr>
        <p:spPr>
          <a:xfrm>
            <a:off x="2634250" y="3844450"/>
            <a:ext cx="3918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endParaRPr i="1"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26" name="Google Shape;2126;p146"/>
          <p:cNvSpPr/>
          <p:nvPr/>
        </p:nvSpPr>
        <p:spPr>
          <a:xfrm>
            <a:off x="4863175" y="3844450"/>
            <a:ext cx="14337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endParaRPr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27" name="Google Shape;2127;p146"/>
          <p:cNvSpPr/>
          <p:nvPr/>
        </p:nvSpPr>
        <p:spPr>
          <a:xfrm>
            <a:off x="4471525" y="3844450"/>
            <a:ext cx="3918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endParaRPr i="1"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28" name="Google Shape;2128;p146"/>
          <p:cNvSpPr/>
          <p:nvPr/>
        </p:nvSpPr>
        <p:spPr>
          <a:xfrm>
            <a:off x="1947175" y="4258500"/>
            <a:ext cx="6429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3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29" name="Google Shape;2129;p146"/>
          <p:cNvSpPr/>
          <p:nvPr/>
        </p:nvSpPr>
        <p:spPr>
          <a:xfrm>
            <a:off x="764925" y="4258500"/>
            <a:ext cx="5790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30" name="Google Shape;2130;p146"/>
          <p:cNvSpPr/>
          <p:nvPr/>
        </p:nvSpPr>
        <p:spPr>
          <a:xfrm>
            <a:off x="1156575" y="4539600"/>
            <a:ext cx="14337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31" name="Google Shape;2131;p146"/>
          <p:cNvSpPr/>
          <p:nvPr/>
        </p:nvSpPr>
        <p:spPr>
          <a:xfrm>
            <a:off x="1356046" y="4258500"/>
            <a:ext cx="5790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32" name="Google Shape;2132;p146"/>
          <p:cNvSpPr/>
          <p:nvPr/>
        </p:nvSpPr>
        <p:spPr>
          <a:xfrm>
            <a:off x="764925" y="4539600"/>
            <a:ext cx="3918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b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33" name="Google Shape;2133;p146"/>
          <p:cNvSpPr/>
          <p:nvPr/>
        </p:nvSpPr>
        <p:spPr>
          <a:xfrm>
            <a:off x="3784450" y="4258500"/>
            <a:ext cx="6429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34" name="Google Shape;2134;p146"/>
          <p:cNvSpPr/>
          <p:nvPr/>
        </p:nvSpPr>
        <p:spPr>
          <a:xfrm>
            <a:off x="2602200" y="4258500"/>
            <a:ext cx="5790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35" name="Google Shape;2135;p146"/>
          <p:cNvSpPr/>
          <p:nvPr/>
        </p:nvSpPr>
        <p:spPr>
          <a:xfrm>
            <a:off x="3193321" y="4258500"/>
            <a:ext cx="5790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36" name="Google Shape;2136;p146"/>
          <p:cNvSpPr/>
          <p:nvPr/>
        </p:nvSpPr>
        <p:spPr>
          <a:xfrm>
            <a:off x="5621725" y="4258500"/>
            <a:ext cx="6429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37" name="Google Shape;2137;p146"/>
          <p:cNvSpPr/>
          <p:nvPr/>
        </p:nvSpPr>
        <p:spPr>
          <a:xfrm>
            <a:off x="4439475" y="4258500"/>
            <a:ext cx="5790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38" name="Google Shape;2138;p146"/>
          <p:cNvSpPr/>
          <p:nvPr/>
        </p:nvSpPr>
        <p:spPr>
          <a:xfrm>
            <a:off x="5030596" y="4258500"/>
            <a:ext cx="5790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39" name="Google Shape;2139;p146"/>
          <p:cNvSpPr/>
          <p:nvPr/>
        </p:nvSpPr>
        <p:spPr>
          <a:xfrm>
            <a:off x="3780481" y="4546746"/>
            <a:ext cx="6429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40" name="Google Shape;2140;p146"/>
          <p:cNvSpPr/>
          <p:nvPr/>
        </p:nvSpPr>
        <p:spPr>
          <a:xfrm>
            <a:off x="2598231" y="4546746"/>
            <a:ext cx="5790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41" name="Google Shape;2141;p146"/>
          <p:cNvSpPr/>
          <p:nvPr/>
        </p:nvSpPr>
        <p:spPr>
          <a:xfrm>
            <a:off x="3189352" y="4546746"/>
            <a:ext cx="5790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42" name="Google Shape;2142;p146"/>
          <p:cNvSpPr/>
          <p:nvPr/>
        </p:nvSpPr>
        <p:spPr>
          <a:xfrm>
            <a:off x="5617756" y="4546746"/>
            <a:ext cx="6429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43" name="Google Shape;2143;p146"/>
          <p:cNvSpPr/>
          <p:nvPr/>
        </p:nvSpPr>
        <p:spPr>
          <a:xfrm>
            <a:off x="4435506" y="4546746"/>
            <a:ext cx="5790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44" name="Google Shape;2144;p146"/>
          <p:cNvSpPr/>
          <p:nvPr/>
        </p:nvSpPr>
        <p:spPr>
          <a:xfrm>
            <a:off x="5026627" y="4546746"/>
            <a:ext cx="5790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45" name="Google Shape;2145;p146"/>
          <p:cNvSpPr/>
          <p:nvPr/>
        </p:nvSpPr>
        <p:spPr>
          <a:xfrm>
            <a:off x="6401552" y="1543800"/>
            <a:ext cx="3918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endParaRPr i="1"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46" name="Google Shape;2146;p146"/>
          <p:cNvSpPr/>
          <p:nvPr/>
        </p:nvSpPr>
        <p:spPr>
          <a:xfrm>
            <a:off x="6801075" y="2959200"/>
            <a:ext cx="14337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endParaRPr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47" name="Google Shape;2147;p146"/>
          <p:cNvSpPr/>
          <p:nvPr/>
        </p:nvSpPr>
        <p:spPr>
          <a:xfrm>
            <a:off x="6409275" y="2959200"/>
            <a:ext cx="391800" cy="280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endParaRPr i="1" sz="21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48" name="Google Shape;2148;p146"/>
          <p:cNvSpPr/>
          <p:nvPr/>
        </p:nvSpPr>
        <p:spPr>
          <a:xfrm>
            <a:off x="292000" y="425850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2" name="Shape 2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" name="Google Shape;2153;p147"/>
          <p:cNvSpPr txBox="1"/>
          <p:nvPr>
            <p:ph idx="1" type="body"/>
          </p:nvPr>
        </p:nvSpPr>
        <p:spPr>
          <a:xfrm>
            <a:off x="324000" y="744899"/>
            <a:ext cx="8237700" cy="77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The bar models are not drawn to scale. Given that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 + 18 = 3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 + 21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Which bar models will maintain equality, and should be the same length? </a:t>
            </a:r>
            <a:endParaRPr sz="1800"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Explain your reasoning.</a:t>
            </a:r>
            <a:endParaRPr sz="1800"/>
          </a:p>
        </p:txBody>
      </p:sp>
      <p:sp>
        <p:nvSpPr>
          <p:cNvPr id="2154" name="Google Shape;2154;p14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Maintaining equality in bar models</a:t>
            </a:r>
            <a:endParaRPr/>
          </a:p>
        </p:txBody>
      </p:sp>
      <p:sp>
        <p:nvSpPr>
          <p:cNvPr id="2155" name="Google Shape;2155;p147"/>
          <p:cNvSpPr/>
          <p:nvPr/>
        </p:nvSpPr>
        <p:spPr>
          <a:xfrm>
            <a:off x="1833225" y="2011475"/>
            <a:ext cx="7299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56" name="Google Shape;2156;p147"/>
          <p:cNvSpPr/>
          <p:nvPr/>
        </p:nvSpPr>
        <p:spPr>
          <a:xfrm>
            <a:off x="1641425" y="2290197"/>
            <a:ext cx="9213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21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57" name="Google Shape;2157;p147"/>
          <p:cNvSpPr/>
          <p:nvPr/>
        </p:nvSpPr>
        <p:spPr>
          <a:xfrm>
            <a:off x="618225" y="200985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58" name="Google Shape;2158;p147"/>
          <p:cNvSpPr/>
          <p:nvPr/>
        </p:nvSpPr>
        <p:spPr>
          <a:xfrm>
            <a:off x="618228" y="229095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59" name="Google Shape;2159;p147"/>
          <p:cNvSpPr/>
          <p:nvPr/>
        </p:nvSpPr>
        <p:spPr>
          <a:xfrm>
            <a:off x="1225725" y="200985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60" name="Google Shape;2160;p147"/>
          <p:cNvSpPr/>
          <p:nvPr/>
        </p:nvSpPr>
        <p:spPr>
          <a:xfrm>
            <a:off x="957703" y="229095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61" name="Google Shape;2161;p147"/>
          <p:cNvSpPr/>
          <p:nvPr/>
        </p:nvSpPr>
        <p:spPr>
          <a:xfrm>
            <a:off x="1297178" y="229018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62" name="Google Shape;2162;p147"/>
          <p:cNvSpPr/>
          <p:nvPr/>
        </p:nvSpPr>
        <p:spPr>
          <a:xfrm>
            <a:off x="1798325" y="2999525"/>
            <a:ext cx="7299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63" name="Google Shape;2163;p147"/>
          <p:cNvSpPr/>
          <p:nvPr/>
        </p:nvSpPr>
        <p:spPr>
          <a:xfrm>
            <a:off x="1606525" y="3278247"/>
            <a:ext cx="9213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21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64" name="Google Shape;2164;p147"/>
          <p:cNvSpPr/>
          <p:nvPr/>
        </p:nvSpPr>
        <p:spPr>
          <a:xfrm>
            <a:off x="583325" y="299790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65" name="Google Shape;2165;p147"/>
          <p:cNvSpPr/>
          <p:nvPr/>
        </p:nvSpPr>
        <p:spPr>
          <a:xfrm>
            <a:off x="583328" y="327900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66" name="Google Shape;2166;p147"/>
          <p:cNvSpPr/>
          <p:nvPr/>
        </p:nvSpPr>
        <p:spPr>
          <a:xfrm>
            <a:off x="1190825" y="299790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67" name="Google Shape;2167;p147"/>
          <p:cNvSpPr/>
          <p:nvPr/>
        </p:nvSpPr>
        <p:spPr>
          <a:xfrm>
            <a:off x="922803" y="327900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68" name="Google Shape;2168;p147"/>
          <p:cNvSpPr/>
          <p:nvPr/>
        </p:nvSpPr>
        <p:spPr>
          <a:xfrm>
            <a:off x="1262278" y="327823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69" name="Google Shape;2169;p147"/>
          <p:cNvSpPr/>
          <p:nvPr/>
        </p:nvSpPr>
        <p:spPr>
          <a:xfrm>
            <a:off x="2528225" y="299790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70" name="Google Shape;2170;p147"/>
          <p:cNvSpPr/>
          <p:nvPr/>
        </p:nvSpPr>
        <p:spPr>
          <a:xfrm>
            <a:off x="3135725" y="299790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71" name="Google Shape;2171;p147"/>
          <p:cNvSpPr/>
          <p:nvPr/>
        </p:nvSpPr>
        <p:spPr>
          <a:xfrm>
            <a:off x="2532475" y="327825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72" name="Google Shape;2172;p147"/>
          <p:cNvSpPr/>
          <p:nvPr/>
        </p:nvSpPr>
        <p:spPr>
          <a:xfrm>
            <a:off x="3139975" y="327825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73" name="Google Shape;2173;p147"/>
          <p:cNvSpPr/>
          <p:nvPr/>
        </p:nvSpPr>
        <p:spPr>
          <a:xfrm>
            <a:off x="2563125" y="2009838"/>
            <a:ext cx="7299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74" name="Google Shape;2174;p147"/>
          <p:cNvSpPr/>
          <p:nvPr/>
        </p:nvSpPr>
        <p:spPr>
          <a:xfrm>
            <a:off x="2567378" y="2291334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75" name="Google Shape;2175;p147"/>
          <p:cNvSpPr/>
          <p:nvPr/>
        </p:nvSpPr>
        <p:spPr>
          <a:xfrm>
            <a:off x="2906853" y="2290564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76" name="Google Shape;2176;p147"/>
          <p:cNvSpPr/>
          <p:nvPr/>
        </p:nvSpPr>
        <p:spPr>
          <a:xfrm>
            <a:off x="3749600" y="4039050"/>
            <a:ext cx="7299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77" name="Google Shape;2177;p147"/>
          <p:cNvSpPr/>
          <p:nvPr/>
        </p:nvSpPr>
        <p:spPr>
          <a:xfrm>
            <a:off x="1604400" y="4319397"/>
            <a:ext cx="9213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21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78" name="Google Shape;2178;p147"/>
          <p:cNvSpPr/>
          <p:nvPr/>
        </p:nvSpPr>
        <p:spPr>
          <a:xfrm>
            <a:off x="581200" y="403905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79" name="Google Shape;2179;p147"/>
          <p:cNvSpPr/>
          <p:nvPr/>
        </p:nvSpPr>
        <p:spPr>
          <a:xfrm>
            <a:off x="581203" y="432015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80" name="Google Shape;2180;p147"/>
          <p:cNvSpPr/>
          <p:nvPr/>
        </p:nvSpPr>
        <p:spPr>
          <a:xfrm>
            <a:off x="1188700" y="403905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81" name="Google Shape;2181;p147"/>
          <p:cNvSpPr/>
          <p:nvPr/>
        </p:nvSpPr>
        <p:spPr>
          <a:xfrm>
            <a:off x="920678" y="432015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82" name="Google Shape;2182;p147"/>
          <p:cNvSpPr/>
          <p:nvPr/>
        </p:nvSpPr>
        <p:spPr>
          <a:xfrm>
            <a:off x="1260153" y="431938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83" name="Google Shape;2183;p147"/>
          <p:cNvSpPr/>
          <p:nvPr/>
        </p:nvSpPr>
        <p:spPr>
          <a:xfrm>
            <a:off x="1798325" y="403905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84" name="Google Shape;2184;p147"/>
          <p:cNvSpPr/>
          <p:nvPr/>
        </p:nvSpPr>
        <p:spPr>
          <a:xfrm>
            <a:off x="2407950" y="403935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85" name="Google Shape;2185;p147"/>
          <p:cNvSpPr/>
          <p:nvPr/>
        </p:nvSpPr>
        <p:spPr>
          <a:xfrm>
            <a:off x="2530350" y="431940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86" name="Google Shape;2186;p147"/>
          <p:cNvSpPr/>
          <p:nvPr/>
        </p:nvSpPr>
        <p:spPr>
          <a:xfrm>
            <a:off x="3137850" y="431940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87" name="Google Shape;2187;p147"/>
          <p:cNvSpPr/>
          <p:nvPr/>
        </p:nvSpPr>
        <p:spPr>
          <a:xfrm>
            <a:off x="3017575" y="4039050"/>
            <a:ext cx="7299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88" name="Google Shape;2188;p147"/>
          <p:cNvSpPr/>
          <p:nvPr/>
        </p:nvSpPr>
        <p:spPr>
          <a:xfrm>
            <a:off x="3749600" y="4320150"/>
            <a:ext cx="7299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89" name="Google Shape;2189;p147"/>
          <p:cNvSpPr/>
          <p:nvPr/>
        </p:nvSpPr>
        <p:spPr>
          <a:xfrm>
            <a:off x="224375" y="195675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0" name="Google Shape;2190;p147"/>
          <p:cNvSpPr/>
          <p:nvPr/>
        </p:nvSpPr>
        <p:spPr>
          <a:xfrm>
            <a:off x="224375" y="293955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1" name="Google Shape;2191;p147"/>
          <p:cNvSpPr/>
          <p:nvPr/>
        </p:nvSpPr>
        <p:spPr>
          <a:xfrm>
            <a:off x="224375" y="403905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2" name="Google Shape;2192;p147"/>
          <p:cNvSpPr txBox="1"/>
          <p:nvPr>
            <p:ph idx="1" type="body"/>
          </p:nvPr>
        </p:nvSpPr>
        <p:spPr>
          <a:xfrm>
            <a:off x="4572000" y="2009850"/>
            <a:ext cx="4247700" cy="77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No, 18 is added to the top but</a:t>
            </a:r>
            <a:r>
              <a:rPr lang="en-GB" sz="18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added to the bottom.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3" name="Google Shape;2193;p147"/>
          <p:cNvSpPr txBox="1"/>
          <p:nvPr>
            <p:ph idx="1" type="body"/>
          </p:nvPr>
        </p:nvSpPr>
        <p:spPr>
          <a:xfrm>
            <a:off x="4572000" y="2939550"/>
            <a:ext cx="4247700" cy="77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,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c</a:t>
            </a:r>
            <a:r>
              <a:rPr lang="en-GB" sz="1800"/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added to both. These should be equal.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4" name="Google Shape;2194;p147"/>
          <p:cNvSpPr txBox="1"/>
          <p:nvPr>
            <p:ph idx="1" type="body"/>
          </p:nvPr>
        </p:nvSpPr>
        <p:spPr>
          <a:xfrm>
            <a:off x="4572000" y="3985225"/>
            <a:ext cx="4247700" cy="77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Yes,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c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18</a:t>
            </a:r>
            <a:r>
              <a:rPr lang="en-GB" sz="1800"/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added to both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 These should be equal.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8" name="Shape 2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9" name="Google Shape;2199;p148"/>
          <p:cNvSpPr txBox="1"/>
          <p:nvPr>
            <p:ph idx="1" type="body"/>
          </p:nvPr>
        </p:nvSpPr>
        <p:spPr>
          <a:xfrm>
            <a:off x="324000" y="744899"/>
            <a:ext cx="8237700" cy="77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The bar models are not drawn to scale. Given that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 + 18 = 3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 + 21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Which bar models will maintain equality, and should be the same length? </a:t>
            </a:r>
            <a:endParaRPr sz="1800"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Explain your reasoning.</a:t>
            </a:r>
            <a:endParaRPr sz="1800"/>
          </a:p>
        </p:txBody>
      </p:sp>
      <p:sp>
        <p:nvSpPr>
          <p:cNvPr id="2200" name="Google Shape;2200;p14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Maintaining equality in bar models</a:t>
            </a:r>
            <a:endParaRPr/>
          </a:p>
        </p:txBody>
      </p:sp>
      <p:sp>
        <p:nvSpPr>
          <p:cNvPr id="2201" name="Google Shape;2201;p148"/>
          <p:cNvSpPr/>
          <p:nvPr/>
        </p:nvSpPr>
        <p:spPr>
          <a:xfrm>
            <a:off x="7330200" y="2009850"/>
            <a:ext cx="7299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02" name="Google Shape;2202;p148"/>
          <p:cNvSpPr/>
          <p:nvPr/>
        </p:nvSpPr>
        <p:spPr>
          <a:xfrm>
            <a:off x="6937300" y="2291697"/>
            <a:ext cx="9213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21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03" name="Google Shape;2203;p148"/>
          <p:cNvSpPr/>
          <p:nvPr/>
        </p:nvSpPr>
        <p:spPr>
          <a:xfrm>
            <a:off x="4900200" y="200985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04" name="Google Shape;2204;p148"/>
          <p:cNvSpPr/>
          <p:nvPr/>
        </p:nvSpPr>
        <p:spPr>
          <a:xfrm>
            <a:off x="4900203" y="229095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05" name="Google Shape;2205;p148"/>
          <p:cNvSpPr/>
          <p:nvPr/>
        </p:nvSpPr>
        <p:spPr>
          <a:xfrm>
            <a:off x="5507700" y="200985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06" name="Google Shape;2206;p148"/>
          <p:cNvSpPr/>
          <p:nvPr/>
        </p:nvSpPr>
        <p:spPr>
          <a:xfrm>
            <a:off x="5239678" y="229095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07" name="Google Shape;2207;p148"/>
          <p:cNvSpPr/>
          <p:nvPr/>
        </p:nvSpPr>
        <p:spPr>
          <a:xfrm>
            <a:off x="5579153" y="229018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08" name="Google Shape;2208;p148"/>
          <p:cNvSpPr/>
          <p:nvPr/>
        </p:nvSpPr>
        <p:spPr>
          <a:xfrm>
            <a:off x="5918753" y="229170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09" name="Google Shape;2209;p148"/>
          <p:cNvSpPr/>
          <p:nvPr/>
        </p:nvSpPr>
        <p:spPr>
          <a:xfrm>
            <a:off x="6258228" y="229170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10" name="Google Shape;2210;p148"/>
          <p:cNvSpPr/>
          <p:nvPr/>
        </p:nvSpPr>
        <p:spPr>
          <a:xfrm>
            <a:off x="6597703" y="229093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11" name="Google Shape;2211;p148"/>
          <p:cNvSpPr/>
          <p:nvPr/>
        </p:nvSpPr>
        <p:spPr>
          <a:xfrm>
            <a:off x="6115200" y="200985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12" name="Google Shape;2212;p148"/>
          <p:cNvSpPr/>
          <p:nvPr/>
        </p:nvSpPr>
        <p:spPr>
          <a:xfrm>
            <a:off x="6722700" y="200985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13" name="Google Shape;2213;p148"/>
          <p:cNvSpPr/>
          <p:nvPr/>
        </p:nvSpPr>
        <p:spPr>
          <a:xfrm>
            <a:off x="6454800" y="4039050"/>
            <a:ext cx="781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14" name="Google Shape;2214;p148"/>
          <p:cNvSpPr/>
          <p:nvPr/>
        </p:nvSpPr>
        <p:spPr>
          <a:xfrm>
            <a:off x="6271300" y="4320150"/>
            <a:ext cx="9573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21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15" name="Google Shape;2215;p148"/>
          <p:cNvSpPr/>
          <p:nvPr/>
        </p:nvSpPr>
        <p:spPr>
          <a:xfrm>
            <a:off x="4900200" y="403905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16" name="Google Shape;2216;p148"/>
          <p:cNvSpPr/>
          <p:nvPr/>
        </p:nvSpPr>
        <p:spPr>
          <a:xfrm>
            <a:off x="5507700" y="403905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17" name="Google Shape;2217;p148"/>
          <p:cNvSpPr/>
          <p:nvPr/>
        </p:nvSpPr>
        <p:spPr>
          <a:xfrm>
            <a:off x="5239678" y="432015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18" name="Google Shape;2218;p148"/>
          <p:cNvSpPr/>
          <p:nvPr/>
        </p:nvSpPr>
        <p:spPr>
          <a:xfrm>
            <a:off x="5579153" y="431938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19" name="Google Shape;2219;p148"/>
          <p:cNvSpPr/>
          <p:nvPr/>
        </p:nvSpPr>
        <p:spPr>
          <a:xfrm>
            <a:off x="4901410" y="432015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20" name="Google Shape;2220;p148"/>
          <p:cNvSpPr/>
          <p:nvPr/>
        </p:nvSpPr>
        <p:spPr>
          <a:xfrm>
            <a:off x="5925228" y="432013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21" name="Google Shape;2221;p148"/>
          <p:cNvSpPr/>
          <p:nvPr/>
        </p:nvSpPr>
        <p:spPr>
          <a:xfrm>
            <a:off x="6115203" y="403903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22" name="Google Shape;2222;p148"/>
          <p:cNvSpPr/>
          <p:nvPr/>
        </p:nvSpPr>
        <p:spPr>
          <a:xfrm>
            <a:off x="7340950" y="2939550"/>
            <a:ext cx="7299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23" name="Google Shape;2223;p148"/>
          <p:cNvSpPr/>
          <p:nvPr/>
        </p:nvSpPr>
        <p:spPr>
          <a:xfrm>
            <a:off x="6941500" y="3219897"/>
            <a:ext cx="9213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21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24" name="Google Shape;2224;p148"/>
          <p:cNvSpPr/>
          <p:nvPr/>
        </p:nvSpPr>
        <p:spPr>
          <a:xfrm>
            <a:off x="4900200" y="293955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25" name="Google Shape;2225;p148"/>
          <p:cNvSpPr/>
          <p:nvPr/>
        </p:nvSpPr>
        <p:spPr>
          <a:xfrm>
            <a:off x="5507700" y="293955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26" name="Google Shape;2226;p148"/>
          <p:cNvSpPr/>
          <p:nvPr/>
        </p:nvSpPr>
        <p:spPr>
          <a:xfrm>
            <a:off x="5239678" y="322065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27" name="Google Shape;2227;p148"/>
          <p:cNvSpPr/>
          <p:nvPr/>
        </p:nvSpPr>
        <p:spPr>
          <a:xfrm>
            <a:off x="5579153" y="321988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28" name="Google Shape;2228;p148"/>
          <p:cNvSpPr/>
          <p:nvPr/>
        </p:nvSpPr>
        <p:spPr>
          <a:xfrm>
            <a:off x="6120575" y="293955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29" name="Google Shape;2229;p148"/>
          <p:cNvSpPr/>
          <p:nvPr/>
        </p:nvSpPr>
        <p:spPr>
          <a:xfrm>
            <a:off x="6728075" y="2939559"/>
            <a:ext cx="6075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c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30" name="Google Shape;2230;p148"/>
          <p:cNvSpPr/>
          <p:nvPr/>
        </p:nvSpPr>
        <p:spPr>
          <a:xfrm>
            <a:off x="8076225" y="2939550"/>
            <a:ext cx="7440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18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31" name="Google Shape;2231;p148"/>
          <p:cNvSpPr/>
          <p:nvPr/>
        </p:nvSpPr>
        <p:spPr>
          <a:xfrm>
            <a:off x="4900203" y="3220659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32" name="Google Shape;2232;p148"/>
          <p:cNvSpPr/>
          <p:nvPr/>
        </p:nvSpPr>
        <p:spPr>
          <a:xfrm>
            <a:off x="6267603" y="3221034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33" name="Google Shape;2233;p148"/>
          <p:cNvSpPr/>
          <p:nvPr/>
        </p:nvSpPr>
        <p:spPr>
          <a:xfrm>
            <a:off x="6607078" y="3220264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34" name="Google Shape;2234;p148"/>
          <p:cNvSpPr/>
          <p:nvPr/>
        </p:nvSpPr>
        <p:spPr>
          <a:xfrm>
            <a:off x="5928128" y="3221034"/>
            <a:ext cx="3396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endParaRPr i="1"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35" name="Google Shape;2235;p148"/>
          <p:cNvSpPr/>
          <p:nvPr/>
        </p:nvSpPr>
        <p:spPr>
          <a:xfrm>
            <a:off x="7862800" y="3221025"/>
            <a:ext cx="957300" cy="280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21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36" name="Google Shape;2236;p148"/>
          <p:cNvSpPr/>
          <p:nvPr/>
        </p:nvSpPr>
        <p:spPr>
          <a:xfrm>
            <a:off x="4430775" y="200985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7" name="Google Shape;2237;p148"/>
          <p:cNvSpPr/>
          <p:nvPr/>
        </p:nvSpPr>
        <p:spPr>
          <a:xfrm>
            <a:off x="4430775" y="299265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8" name="Google Shape;2238;p148"/>
          <p:cNvSpPr/>
          <p:nvPr/>
        </p:nvSpPr>
        <p:spPr>
          <a:xfrm>
            <a:off x="4430775" y="409215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9" name="Google Shape;2239;p148"/>
          <p:cNvSpPr txBox="1"/>
          <p:nvPr>
            <p:ph idx="1" type="body"/>
          </p:nvPr>
        </p:nvSpPr>
        <p:spPr>
          <a:xfrm>
            <a:off x="313025" y="1972450"/>
            <a:ext cx="4247700" cy="77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No,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c</a:t>
            </a:r>
            <a:r>
              <a:rPr lang="en-GB" sz="1800"/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added to the top and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added to bottom. The whole expression hasn’t been doubled.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0" name="Google Shape;2240;p148"/>
          <p:cNvSpPr txBox="1"/>
          <p:nvPr>
            <p:ph idx="1" type="body"/>
          </p:nvPr>
        </p:nvSpPr>
        <p:spPr>
          <a:xfrm>
            <a:off x="303650" y="3111775"/>
            <a:ext cx="4247700" cy="77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Yes, both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expressions have been doubled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 These should be equal.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1" name="Google Shape;2241;p148"/>
          <p:cNvSpPr txBox="1"/>
          <p:nvPr>
            <p:ph idx="1" type="body"/>
          </p:nvPr>
        </p:nvSpPr>
        <p:spPr>
          <a:xfrm>
            <a:off x="324000" y="4072200"/>
            <a:ext cx="4247700" cy="77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Yes,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has been added to both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 These should be equal.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5" name="Shape 2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6" name="Google Shape;2246;p14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Maintaining equality in bar models</a:t>
            </a:r>
            <a:endParaRPr/>
          </a:p>
        </p:txBody>
      </p:sp>
      <p:sp>
        <p:nvSpPr>
          <p:cNvPr id="2247" name="Google Shape;2247;p14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Maintaining equality in equations</a:t>
            </a:r>
            <a:endParaRPr/>
          </a:p>
        </p:txBody>
      </p:sp>
      <p:sp>
        <p:nvSpPr>
          <p:cNvPr id="2248" name="Google Shape;2248;p14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equality</a:t>
            </a:r>
            <a:endParaRPr/>
          </a:p>
        </p:txBody>
      </p:sp>
      <p:pic>
        <p:nvPicPr>
          <p:cNvPr id="2249" name="Google Shape;2249;p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321" y="2987638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3" name="Shape 2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" name="Google Shape;2254;p1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Maintaining equality in equations</a:t>
            </a:r>
            <a:endParaRPr/>
          </a:p>
        </p:txBody>
      </p:sp>
      <p:sp>
        <p:nvSpPr>
          <p:cNvPr id="2255" name="Google Shape;2255;p150"/>
          <p:cNvSpPr txBox="1"/>
          <p:nvPr>
            <p:ph idx="1" type="body"/>
          </p:nvPr>
        </p:nvSpPr>
        <p:spPr>
          <a:xfrm>
            <a:off x="324000" y="759300"/>
            <a:ext cx="8496000" cy="82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have seen that expressions on both sides of an equals sign have the same value.</a:t>
            </a:r>
            <a:endParaRPr sz="2000"/>
          </a:p>
        </p:txBody>
      </p:sp>
      <p:sp>
        <p:nvSpPr>
          <p:cNvPr id="2256" name="Google Shape;2256;p150"/>
          <p:cNvSpPr txBox="1"/>
          <p:nvPr>
            <p:ph idx="1" type="body"/>
          </p:nvPr>
        </p:nvSpPr>
        <p:spPr>
          <a:xfrm>
            <a:off x="324000" y="1823025"/>
            <a:ext cx="8496000" cy="82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With a bar model, we can add the same value to both bars to maintain equality. </a:t>
            </a:r>
            <a:endParaRPr sz="2000"/>
          </a:p>
        </p:txBody>
      </p:sp>
      <p:sp>
        <p:nvSpPr>
          <p:cNvPr id="2257" name="Google Shape;2257;p150"/>
          <p:cNvSpPr txBox="1"/>
          <p:nvPr>
            <p:ph idx="1" type="body"/>
          </p:nvPr>
        </p:nvSpPr>
        <p:spPr>
          <a:xfrm>
            <a:off x="324000" y="2828100"/>
            <a:ext cx="8496000" cy="41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can do the same with any equation.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1" name="Shape 2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2" name="Google Shape;2262;p1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Maintaining equality in equations</a:t>
            </a:r>
            <a:endParaRPr/>
          </a:p>
        </p:txBody>
      </p:sp>
      <p:sp>
        <p:nvSpPr>
          <p:cNvPr id="2263" name="Google Shape;2263;p151"/>
          <p:cNvSpPr txBox="1"/>
          <p:nvPr>
            <p:ph idx="1" type="body"/>
          </p:nvPr>
        </p:nvSpPr>
        <p:spPr>
          <a:xfrm>
            <a:off x="324000" y="733800"/>
            <a:ext cx="84960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Alex is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800"/>
              <a:t> years old, Sam is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800"/>
              <a:t> years old.</a:t>
            </a:r>
            <a:endParaRPr sz="1800"/>
          </a:p>
        </p:txBody>
      </p:sp>
      <p:sp>
        <p:nvSpPr>
          <p:cNvPr id="2264" name="Google Shape;2264;p151"/>
          <p:cNvSpPr txBox="1"/>
          <p:nvPr>
            <p:ph idx="1" type="body"/>
          </p:nvPr>
        </p:nvSpPr>
        <p:spPr>
          <a:xfrm>
            <a:off x="324000" y="1202100"/>
            <a:ext cx="84960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old will they be in 5 years time?</a:t>
            </a:r>
            <a:endParaRPr sz="1800"/>
          </a:p>
        </p:txBody>
      </p:sp>
      <p:sp>
        <p:nvSpPr>
          <p:cNvPr id="2265" name="Google Shape;2265;p151"/>
          <p:cNvSpPr txBox="1"/>
          <p:nvPr>
            <p:ph idx="1" type="body"/>
          </p:nvPr>
        </p:nvSpPr>
        <p:spPr>
          <a:xfrm>
            <a:off x="324000" y="1660350"/>
            <a:ext cx="4248000" cy="99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Alex: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800"/>
              <a:t>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Sam: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8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+ 5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66" name="Google Shape;2266;p151"/>
          <p:cNvSpPr txBox="1"/>
          <p:nvPr>
            <p:ph idx="1" type="body"/>
          </p:nvPr>
        </p:nvSpPr>
        <p:spPr>
          <a:xfrm>
            <a:off x="324000" y="2700000"/>
            <a:ext cx="84960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Alex and Sam are the same age now, will they be the same age in 5 years time? </a:t>
            </a:r>
            <a:endParaRPr sz="1800"/>
          </a:p>
        </p:txBody>
      </p:sp>
      <p:sp>
        <p:nvSpPr>
          <p:cNvPr id="2267" name="Google Shape;2267;p151"/>
          <p:cNvSpPr txBox="1"/>
          <p:nvPr>
            <p:ph idx="1" type="body"/>
          </p:nvPr>
        </p:nvSpPr>
        <p:spPr>
          <a:xfrm>
            <a:off x="324000" y="3431675"/>
            <a:ext cx="84960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Were they the same age 5 years ago?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2268" name="Google Shape;2268;p151"/>
          <p:cNvSpPr txBox="1"/>
          <p:nvPr>
            <p:ph idx="1" type="body"/>
          </p:nvPr>
        </p:nvSpPr>
        <p:spPr>
          <a:xfrm>
            <a:off x="324000" y="3849575"/>
            <a:ext cx="8496000" cy="119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Yes. If</a:t>
            </a:r>
            <a:r>
              <a:rPr lang="en-GB" sz="1800"/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 = b</a:t>
            </a:r>
            <a:r>
              <a:rPr lang="en-GB" sz="1800"/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then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    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 =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</a:t>
            </a:r>
            <a:r>
              <a:rPr lang="en-GB" sz="1800"/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and</a:t>
            </a:r>
            <a:r>
              <a:rPr lang="en-GB" sz="1800"/>
              <a:t> 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    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5 =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5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2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p15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Maintaining equality in equations</a:t>
            </a:r>
            <a:endParaRPr/>
          </a:p>
        </p:txBody>
      </p:sp>
      <p:sp>
        <p:nvSpPr>
          <p:cNvPr id="2274" name="Google Shape;2274;p152"/>
          <p:cNvSpPr txBox="1"/>
          <p:nvPr>
            <p:ph idx="1" type="body"/>
          </p:nvPr>
        </p:nvSpPr>
        <p:spPr>
          <a:xfrm>
            <a:off x="324000" y="733800"/>
            <a:ext cx="8496000" cy="8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In general if </a:t>
            </a:r>
            <a:r>
              <a:rPr lang="en-GB" sz="2000"/>
              <a:t>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a = b </a:t>
            </a:r>
            <a:endParaRPr i="1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then </a:t>
            </a:r>
            <a:r>
              <a:rPr lang="en-GB" sz="2000"/>
              <a:t>        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c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c</a:t>
            </a:r>
            <a:endParaRPr i="1" sz="2000"/>
          </a:p>
        </p:txBody>
      </p:sp>
      <p:sp>
        <p:nvSpPr>
          <p:cNvPr id="2275" name="Google Shape;2275;p152"/>
          <p:cNvSpPr txBox="1"/>
          <p:nvPr>
            <p:ph idx="1" type="body"/>
          </p:nvPr>
        </p:nvSpPr>
        <p:spPr>
          <a:xfrm>
            <a:off x="324000" y="1868113"/>
            <a:ext cx="84960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Here is an equation:</a:t>
            </a:r>
            <a:r>
              <a:rPr lang="en-GB" sz="1800"/>
              <a:t> </a:t>
            </a:r>
            <a:endParaRPr sz="1800"/>
          </a:p>
        </p:txBody>
      </p:sp>
      <p:graphicFrame>
        <p:nvGraphicFramePr>
          <p:cNvPr id="2276" name="Google Shape;2276;p152"/>
          <p:cNvGraphicFramePr/>
          <p:nvPr/>
        </p:nvGraphicFramePr>
        <p:xfrm>
          <a:off x="457500" y="228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781550"/>
                <a:gridCol w="382850"/>
                <a:gridCol w="1851475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− 7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+ 5</a:t>
                      </a:r>
                      <a:endParaRPr sz="20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+ 5.2</a:t>
                      </a:r>
                      <a:endParaRPr sz="20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+ 8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+ 5.2</a:t>
                      </a:r>
                      <a:endParaRPr sz="20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+ 3.2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+ 13.2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77" name="Google Shape;2277;p152"/>
          <p:cNvSpPr txBox="1"/>
          <p:nvPr>
            <p:ph idx="1" type="body"/>
          </p:nvPr>
        </p:nvSpPr>
        <p:spPr>
          <a:xfrm>
            <a:off x="4671600" y="2288100"/>
            <a:ext cx="41484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add 5 to both sides of the equation and equality is maintained.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2278" name="Google Shape;2278;p152"/>
          <p:cNvSpPr txBox="1"/>
          <p:nvPr>
            <p:ph idx="1" type="body"/>
          </p:nvPr>
        </p:nvSpPr>
        <p:spPr>
          <a:xfrm>
            <a:off x="4671600" y="3247425"/>
            <a:ext cx="41484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As long as we add the same value to the expressions on both sides of the equation, the expressions will remain equal to each other.</a:t>
            </a:r>
            <a:r>
              <a:rPr lang="en-GB" sz="1800"/>
              <a:t> </a:t>
            </a:r>
            <a:endParaRPr sz="1800"/>
          </a:p>
        </p:txBody>
      </p:sp>
      <p:graphicFrame>
        <p:nvGraphicFramePr>
          <p:cNvPr id="2279" name="Google Shape;2279;p152"/>
          <p:cNvGraphicFramePr/>
          <p:nvPr/>
        </p:nvGraphicFramePr>
        <p:xfrm>
          <a:off x="457500" y="228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781550"/>
                <a:gridCol w="382850"/>
                <a:gridCol w="1851475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− 7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+ 5</a:t>
                      </a:r>
                      <a:endParaRPr sz="20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+ 5</a:t>
                      </a:r>
                      <a:endParaRPr sz="20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+ 5.2</a:t>
                      </a:r>
                      <a:endParaRPr sz="20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+ 8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+ 5.2</a:t>
                      </a:r>
                      <a:endParaRPr sz="20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80" name="Google Shape;2280;p152"/>
          <p:cNvGraphicFramePr/>
          <p:nvPr/>
        </p:nvGraphicFramePr>
        <p:xfrm>
          <a:off x="457500" y="228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781550"/>
                <a:gridCol w="382850"/>
                <a:gridCol w="1851475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− 7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+ 5</a:t>
                      </a:r>
                      <a:endParaRPr sz="20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+ 5</a:t>
                      </a:r>
                      <a:endParaRPr sz="20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81" name="Google Shape;2281;p152"/>
          <p:cNvGraphicFramePr/>
          <p:nvPr/>
        </p:nvGraphicFramePr>
        <p:xfrm>
          <a:off x="457500" y="228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781550"/>
                <a:gridCol w="382850"/>
                <a:gridCol w="1851475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− 7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+ 5</a:t>
                      </a:r>
                      <a:endParaRPr sz="20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+ 5</a:t>
                      </a:r>
                      <a:endParaRPr sz="20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82" name="Google Shape;2282;p152"/>
          <p:cNvGraphicFramePr/>
          <p:nvPr/>
        </p:nvGraphicFramePr>
        <p:xfrm>
          <a:off x="457500" y="228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781550"/>
                <a:gridCol w="382850"/>
                <a:gridCol w="1851475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6" name="Shape 2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7" name="Google Shape;2287;p15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Maintaining equality in equations</a:t>
            </a:r>
            <a:endParaRPr/>
          </a:p>
        </p:txBody>
      </p:sp>
      <p:sp>
        <p:nvSpPr>
          <p:cNvPr id="2288" name="Google Shape;2288;p153"/>
          <p:cNvSpPr txBox="1"/>
          <p:nvPr>
            <p:ph idx="1" type="body"/>
          </p:nvPr>
        </p:nvSpPr>
        <p:spPr>
          <a:xfrm>
            <a:off x="324000" y="733800"/>
            <a:ext cx="8496000" cy="8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is true for any value we wish to add including negative values and variables. </a:t>
            </a:r>
            <a:endParaRPr sz="1800"/>
          </a:p>
        </p:txBody>
      </p:sp>
      <p:sp>
        <p:nvSpPr>
          <p:cNvPr id="2289" name="Google Shape;2289;p153"/>
          <p:cNvSpPr txBox="1"/>
          <p:nvPr>
            <p:ph idx="1" type="body"/>
          </p:nvPr>
        </p:nvSpPr>
        <p:spPr>
          <a:xfrm>
            <a:off x="354900" y="1619988"/>
            <a:ext cx="84960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would I maintain equality this time?</a:t>
            </a:r>
            <a:endParaRPr sz="1800"/>
          </a:p>
        </p:txBody>
      </p:sp>
      <p:graphicFrame>
        <p:nvGraphicFramePr>
          <p:cNvPr id="2290" name="Google Shape;2290;p153"/>
          <p:cNvGraphicFramePr/>
          <p:nvPr/>
        </p:nvGraphicFramePr>
        <p:xfrm>
          <a:off x="457500" y="213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781550"/>
                <a:gridCol w="382850"/>
                <a:gridCol w="1851475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− 7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(−5)</a:t>
                      </a:r>
                      <a:endParaRPr sz="20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− 12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91" name="Google Shape;2291;p153"/>
          <p:cNvGraphicFramePr/>
          <p:nvPr/>
        </p:nvGraphicFramePr>
        <p:xfrm>
          <a:off x="594725" y="3577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781550"/>
                <a:gridCol w="382850"/>
                <a:gridCol w="1851475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 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− 7 </a:t>
                      </a:r>
                      <a:r>
                        <a:rPr lang="en-GB" sz="2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..</a:t>
                      </a:r>
                      <a:r>
                        <a:rPr lang="en-GB" sz="2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…….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i="1"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− 2</a:t>
                      </a:r>
                      <a:endParaRPr sz="20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− 9 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92" name="Google Shape;2292;p153"/>
          <p:cNvGraphicFramePr/>
          <p:nvPr/>
        </p:nvGraphicFramePr>
        <p:xfrm>
          <a:off x="457500" y="213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781550"/>
                <a:gridCol w="382850"/>
                <a:gridCol w="1851475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− 7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(−5)</a:t>
                      </a:r>
                      <a:endParaRPr sz="20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93" name="Google Shape;2293;p153"/>
          <p:cNvGraphicFramePr/>
          <p:nvPr/>
        </p:nvGraphicFramePr>
        <p:xfrm>
          <a:off x="594725" y="3577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781550"/>
                <a:gridCol w="382850"/>
                <a:gridCol w="1851475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 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− 7 </a:t>
                      </a:r>
                      <a:r>
                        <a:rPr lang="en-GB" sz="2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..…….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i="1"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− 2</a:t>
                      </a:r>
                      <a:endParaRPr sz="20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94" name="Google Shape;2294;p153"/>
          <p:cNvSpPr txBox="1"/>
          <p:nvPr>
            <p:ph idx="1" type="body"/>
          </p:nvPr>
        </p:nvSpPr>
        <p:spPr>
          <a:xfrm>
            <a:off x="3205050" y="2455475"/>
            <a:ext cx="7722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(−5)</a:t>
            </a:r>
            <a:endParaRPr sz="1800">
              <a:solidFill>
                <a:schemeClr val="accent5"/>
              </a:solidFill>
            </a:endParaRPr>
          </a:p>
        </p:txBody>
      </p:sp>
      <p:sp>
        <p:nvSpPr>
          <p:cNvPr id="2295" name="Google Shape;2295;p153"/>
          <p:cNvSpPr txBox="1"/>
          <p:nvPr>
            <p:ph idx="1" type="body"/>
          </p:nvPr>
        </p:nvSpPr>
        <p:spPr>
          <a:xfrm>
            <a:off x="324000" y="3239988"/>
            <a:ext cx="84960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would I maintain equality this time?</a:t>
            </a:r>
            <a:endParaRPr sz="1800"/>
          </a:p>
        </p:txBody>
      </p:sp>
      <p:sp>
        <p:nvSpPr>
          <p:cNvPr id="2296" name="Google Shape;2296;p153"/>
          <p:cNvSpPr txBox="1"/>
          <p:nvPr>
            <p:ph idx="1" type="body"/>
          </p:nvPr>
        </p:nvSpPr>
        <p:spPr>
          <a:xfrm>
            <a:off x="1664370" y="3897625"/>
            <a:ext cx="772200" cy="41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i="1"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− 2</a:t>
            </a:r>
            <a:endParaRPr sz="1800">
              <a:solidFill>
                <a:schemeClr val="accent5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0" name="Shape 2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1" name="Google Shape;2301;p15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Maintaining equality in equations</a:t>
            </a:r>
            <a:endParaRPr/>
          </a:p>
        </p:txBody>
      </p:sp>
      <p:sp>
        <p:nvSpPr>
          <p:cNvPr id="2302" name="Google Shape;2302;p154"/>
          <p:cNvSpPr txBox="1"/>
          <p:nvPr>
            <p:ph idx="4294967295"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/>
              <a:t>Fill in the blanks to maintain equality.</a:t>
            </a:r>
            <a:endParaRPr b="0"/>
          </a:p>
        </p:txBody>
      </p:sp>
      <p:graphicFrame>
        <p:nvGraphicFramePr>
          <p:cNvPr id="2303" name="Google Shape;2303;p154"/>
          <p:cNvGraphicFramePr/>
          <p:nvPr/>
        </p:nvGraphicFramePr>
        <p:xfrm>
          <a:off x="1034425" y="1574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115200"/>
                <a:gridCol w="339225"/>
                <a:gridCol w="1059400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i="1"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b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i="1"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____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04" name="Google Shape;2304;p154"/>
          <p:cNvGraphicFramePr/>
          <p:nvPr/>
        </p:nvGraphicFramePr>
        <p:xfrm>
          <a:off x="1034425" y="3503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115200"/>
                <a:gridCol w="339225"/>
                <a:gridCol w="1059400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i="1"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b  </a:t>
                      </a:r>
                      <a:endParaRPr i="1"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b ____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05" name="Google Shape;2305;p154"/>
          <p:cNvGraphicFramePr/>
          <p:nvPr/>
        </p:nvGraphicFramePr>
        <p:xfrm>
          <a:off x="5256950" y="1619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497200"/>
                <a:gridCol w="455425"/>
                <a:gridCol w="1422300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i="1"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b  </a:t>
                      </a:r>
                      <a:endParaRPr i="1"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2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______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b + a +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06" name="Google Shape;2306;p154"/>
          <p:cNvGraphicFramePr/>
          <p:nvPr/>
        </p:nvGraphicFramePr>
        <p:xfrm>
          <a:off x="5388225" y="35035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361875"/>
                <a:gridCol w="414250"/>
                <a:gridCol w="1293750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i="1"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b  </a:t>
                      </a:r>
                      <a:endParaRPr i="1"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________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 </a:t>
                      </a:r>
                      <a:r>
                        <a:rPr lang="en-GB" sz="2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307" name="Google Shape;2307;p154"/>
          <p:cNvGrpSpPr/>
          <p:nvPr/>
        </p:nvGrpSpPr>
        <p:grpSpPr>
          <a:xfrm>
            <a:off x="323991" y="1620000"/>
            <a:ext cx="457200" cy="457200"/>
            <a:chOff x="1020916" y="1442088"/>
            <a:chExt cx="457200" cy="457200"/>
          </a:xfrm>
        </p:grpSpPr>
        <p:pic>
          <p:nvPicPr>
            <p:cNvPr id="2308" name="Google Shape;2308;p15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9" name="Google Shape;2309;p1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10" name="Google Shape;2310;p154"/>
          <p:cNvGrpSpPr/>
          <p:nvPr/>
        </p:nvGrpSpPr>
        <p:grpSpPr>
          <a:xfrm>
            <a:off x="323991" y="3551400"/>
            <a:ext cx="457200" cy="457200"/>
            <a:chOff x="1020916" y="1442088"/>
            <a:chExt cx="457200" cy="457200"/>
          </a:xfrm>
        </p:grpSpPr>
        <p:pic>
          <p:nvPicPr>
            <p:cNvPr id="2311" name="Google Shape;2311;p15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12" name="Google Shape;2312;p1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13" name="Google Shape;2313;p154"/>
          <p:cNvGrpSpPr/>
          <p:nvPr/>
        </p:nvGrpSpPr>
        <p:grpSpPr>
          <a:xfrm>
            <a:off x="4823991" y="1620000"/>
            <a:ext cx="457200" cy="457200"/>
            <a:chOff x="1020916" y="1442088"/>
            <a:chExt cx="457200" cy="457200"/>
          </a:xfrm>
        </p:grpSpPr>
        <p:pic>
          <p:nvPicPr>
            <p:cNvPr id="2314" name="Google Shape;2314;p15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15" name="Google Shape;2315;p1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16" name="Google Shape;2316;p154"/>
          <p:cNvGrpSpPr/>
          <p:nvPr/>
        </p:nvGrpSpPr>
        <p:grpSpPr>
          <a:xfrm>
            <a:off x="4823991" y="3503550"/>
            <a:ext cx="457200" cy="457200"/>
            <a:chOff x="1020916" y="1442088"/>
            <a:chExt cx="457200" cy="457200"/>
          </a:xfrm>
        </p:grpSpPr>
        <p:pic>
          <p:nvPicPr>
            <p:cNvPr id="2317" name="Google Shape;2317;p15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18" name="Google Shape;2318;p1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2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p1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Maintaining equality in equations</a:t>
            </a:r>
            <a:endParaRPr/>
          </a:p>
        </p:txBody>
      </p:sp>
      <p:sp>
        <p:nvSpPr>
          <p:cNvPr id="2324" name="Google Shape;2324;p155"/>
          <p:cNvSpPr txBox="1"/>
          <p:nvPr>
            <p:ph idx="4294967295"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Fill in the blanks to maintain equality.</a:t>
            </a:r>
            <a:endParaRPr b="0"/>
          </a:p>
        </p:txBody>
      </p:sp>
      <p:graphicFrame>
        <p:nvGraphicFramePr>
          <p:cNvPr id="2325" name="Google Shape;2325;p155"/>
          <p:cNvGraphicFramePr/>
          <p:nvPr/>
        </p:nvGraphicFramePr>
        <p:xfrm>
          <a:off x="1034425" y="1574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115200"/>
                <a:gridCol w="339225"/>
                <a:gridCol w="1059400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i="1"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b  </a:t>
                      </a:r>
                      <a:endParaRPr i="1"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b </a:t>
                      </a:r>
                      <a:r>
                        <a:rPr lang="en-GB" sz="24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+ 5</a:t>
                      </a:r>
                      <a:endParaRPr sz="24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26" name="Google Shape;2326;p155"/>
          <p:cNvGraphicFramePr/>
          <p:nvPr/>
        </p:nvGraphicFramePr>
        <p:xfrm>
          <a:off x="1034425" y="3503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115200"/>
                <a:gridCol w="339225"/>
                <a:gridCol w="1059400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i="1"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b  </a:t>
                      </a:r>
                      <a:endParaRPr i="1"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b </a:t>
                      </a:r>
                      <a:r>
                        <a:rPr lang="en-GB" sz="24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</a:t>
                      </a:r>
                      <a:endParaRPr sz="24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27" name="Google Shape;2327;p155"/>
          <p:cNvGraphicFramePr/>
          <p:nvPr/>
        </p:nvGraphicFramePr>
        <p:xfrm>
          <a:off x="5256950" y="1619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493150"/>
                <a:gridCol w="459475"/>
                <a:gridCol w="1422300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i="1"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b  </a:t>
                      </a:r>
                      <a:endParaRPr i="1"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3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i="1" lang="en-GB" sz="23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23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b + a +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28" name="Google Shape;2328;p155"/>
          <p:cNvGraphicFramePr/>
          <p:nvPr/>
        </p:nvGraphicFramePr>
        <p:xfrm>
          <a:off x="5388225" y="35035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361875"/>
                <a:gridCol w="414250"/>
                <a:gridCol w="1293750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i="1"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b  </a:t>
                      </a:r>
                      <a:endParaRPr i="1"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23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i="1" lang="en-GB" sz="23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lang="en-GB" sz="23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3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3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6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 </a:t>
                      </a:r>
                      <a:r>
                        <a:rPr lang="en-GB" sz="2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329" name="Google Shape;2329;p155"/>
          <p:cNvGrpSpPr/>
          <p:nvPr/>
        </p:nvGrpSpPr>
        <p:grpSpPr>
          <a:xfrm>
            <a:off x="323991" y="1620000"/>
            <a:ext cx="457200" cy="457200"/>
            <a:chOff x="1020916" y="1442088"/>
            <a:chExt cx="457200" cy="457200"/>
          </a:xfrm>
        </p:grpSpPr>
        <p:pic>
          <p:nvPicPr>
            <p:cNvPr id="2330" name="Google Shape;2330;p15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1" name="Google Shape;2331;p15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32" name="Google Shape;2332;p155"/>
          <p:cNvGrpSpPr/>
          <p:nvPr/>
        </p:nvGrpSpPr>
        <p:grpSpPr>
          <a:xfrm>
            <a:off x="323991" y="3551400"/>
            <a:ext cx="457200" cy="457200"/>
            <a:chOff x="1020916" y="1442088"/>
            <a:chExt cx="457200" cy="457200"/>
          </a:xfrm>
        </p:grpSpPr>
        <p:pic>
          <p:nvPicPr>
            <p:cNvPr id="2333" name="Google Shape;2333;p15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4" name="Google Shape;2334;p15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35" name="Google Shape;2335;p155"/>
          <p:cNvGrpSpPr/>
          <p:nvPr/>
        </p:nvGrpSpPr>
        <p:grpSpPr>
          <a:xfrm>
            <a:off x="4823991" y="1620000"/>
            <a:ext cx="457200" cy="457200"/>
            <a:chOff x="1020916" y="1442088"/>
            <a:chExt cx="457200" cy="457200"/>
          </a:xfrm>
        </p:grpSpPr>
        <p:pic>
          <p:nvPicPr>
            <p:cNvPr id="2336" name="Google Shape;2336;p15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7" name="Google Shape;2337;p15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38" name="Google Shape;2338;p155"/>
          <p:cNvGrpSpPr/>
          <p:nvPr/>
        </p:nvGrpSpPr>
        <p:grpSpPr>
          <a:xfrm>
            <a:off x="4823991" y="3503550"/>
            <a:ext cx="457200" cy="457200"/>
            <a:chOff x="1020916" y="1442088"/>
            <a:chExt cx="457200" cy="457200"/>
          </a:xfrm>
        </p:grpSpPr>
        <p:pic>
          <p:nvPicPr>
            <p:cNvPr id="2339" name="Google Shape;2339;p15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40" name="Google Shape;2340;p15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4" name="Shape 2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5" name="Google Shape;2345;p1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Maintaining equality in equations</a:t>
            </a:r>
            <a:endParaRPr/>
          </a:p>
        </p:txBody>
      </p:sp>
      <p:sp>
        <p:nvSpPr>
          <p:cNvPr id="2346" name="Google Shape;2346;p156"/>
          <p:cNvSpPr txBox="1"/>
          <p:nvPr>
            <p:ph idx="1" type="body"/>
          </p:nvPr>
        </p:nvSpPr>
        <p:spPr>
          <a:xfrm>
            <a:off x="324000" y="733800"/>
            <a:ext cx="8496000" cy="8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multiply both sides of an equation by the same value to maintain equality.</a:t>
            </a:r>
            <a:endParaRPr sz="1800"/>
          </a:p>
        </p:txBody>
      </p:sp>
      <p:sp>
        <p:nvSpPr>
          <p:cNvPr id="2347" name="Google Shape;2347;p156"/>
          <p:cNvSpPr txBox="1"/>
          <p:nvPr>
            <p:ph idx="1" type="body"/>
          </p:nvPr>
        </p:nvSpPr>
        <p:spPr>
          <a:xfrm>
            <a:off x="324000" y="1661400"/>
            <a:ext cx="8496000" cy="8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In general if 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 = b </a:t>
            </a:r>
            <a:r>
              <a:rPr lang="en-GB" sz="1800"/>
              <a:t>then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                    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ac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bc</a:t>
            </a:r>
            <a:endParaRPr i="1" sz="1800"/>
          </a:p>
        </p:txBody>
      </p:sp>
      <p:graphicFrame>
        <p:nvGraphicFramePr>
          <p:cNvPr id="2348" name="Google Shape;2348;p156"/>
          <p:cNvGraphicFramePr/>
          <p:nvPr/>
        </p:nvGraphicFramePr>
        <p:xfrm>
          <a:off x="123202" y="2801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781550"/>
                <a:gridCol w="382850"/>
                <a:gridCol w="1851475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− 35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49" name="Google Shape;2349;p156"/>
          <p:cNvSpPr txBox="1"/>
          <p:nvPr>
            <p:ph idx="1" type="body"/>
          </p:nvPr>
        </p:nvSpPr>
        <p:spPr>
          <a:xfrm>
            <a:off x="3334275" y="2796900"/>
            <a:ext cx="5068800" cy="8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Remember the whole expression needs to be multiplied.</a:t>
            </a:r>
            <a:endParaRPr sz="1800"/>
          </a:p>
        </p:txBody>
      </p:sp>
      <p:sp>
        <p:nvSpPr>
          <p:cNvPr id="2350" name="Google Shape;2350;p156"/>
          <p:cNvSpPr txBox="1"/>
          <p:nvPr>
            <p:ph idx="1" type="body"/>
          </p:nvPr>
        </p:nvSpPr>
        <p:spPr>
          <a:xfrm>
            <a:off x="3369600" y="3760475"/>
            <a:ext cx="5450400" cy="8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expand the brackets to give an expression </a:t>
            </a:r>
            <a:r>
              <a:rPr lang="en-GB" sz="1800"/>
              <a:t>without</a:t>
            </a:r>
            <a:r>
              <a:rPr lang="en-GB" sz="1800"/>
              <a:t> brackets if desired.</a:t>
            </a:r>
            <a:endParaRPr sz="1800"/>
          </a:p>
        </p:txBody>
      </p:sp>
      <p:graphicFrame>
        <p:nvGraphicFramePr>
          <p:cNvPr id="2351" name="Google Shape;2351;p156"/>
          <p:cNvGraphicFramePr/>
          <p:nvPr/>
        </p:nvGraphicFramePr>
        <p:xfrm>
          <a:off x="126821" y="28001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781550"/>
                <a:gridCol w="382850"/>
                <a:gridCol w="1851475"/>
              </a:tblGrid>
              <a:tr h="319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− 7)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+ 3)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52" name="Google Shape;2352;p156"/>
          <p:cNvGraphicFramePr/>
          <p:nvPr/>
        </p:nvGraphicFramePr>
        <p:xfrm>
          <a:off x="126821" y="28001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781550"/>
                <a:gridCol w="382850"/>
                <a:gridCol w="1851475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6" name="Shape 2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7" name="Google Shape;2357;p1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Maintaining equality in equations</a:t>
            </a:r>
            <a:endParaRPr/>
          </a:p>
        </p:txBody>
      </p:sp>
      <p:sp>
        <p:nvSpPr>
          <p:cNvPr id="2358" name="Google Shape;2358;p157"/>
          <p:cNvSpPr txBox="1"/>
          <p:nvPr/>
        </p:nvSpPr>
        <p:spPr>
          <a:xfrm flipH="1">
            <a:off x="324000" y="2739039"/>
            <a:ext cx="9105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59" name="Google Shape;2359;p1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155" y="1862909"/>
            <a:ext cx="564196" cy="8124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60" name="Google Shape;2360;p157"/>
          <p:cNvGraphicFramePr/>
          <p:nvPr/>
        </p:nvGraphicFramePr>
        <p:xfrm>
          <a:off x="4828513" y="1297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088750"/>
                <a:gridCol w="233975"/>
                <a:gridCol w="1131500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361" name="Google Shape;2361;p157"/>
          <p:cNvGrpSpPr/>
          <p:nvPr/>
        </p:nvGrpSpPr>
        <p:grpSpPr>
          <a:xfrm>
            <a:off x="1234440" y="775322"/>
            <a:ext cx="3337438" cy="1715732"/>
            <a:chOff x="1902376" y="1675949"/>
            <a:chExt cx="2242299" cy="1316250"/>
          </a:xfrm>
        </p:grpSpPr>
        <p:pic>
          <p:nvPicPr>
            <p:cNvPr id="2362" name="Google Shape;2362;p157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902376" y="1675949"/>
              <a:ext cx="2242299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63" name="Google Shape;2363;p157"/>
            <p:cNvSpPr txBox="1"/>
            <p:nvPr/>
          </p:nvSpPr>
          <p:spPr>
            <a:xfrm flipH="1">
              <a:off x="2090963" y="1965505"/>
              <a:ext cx="19551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have written this equation. Can I </a:t>
              </a:r>
              <a:r>
                <a:rPr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divide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it all by the same value and maintain equality?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64" name="Google Shape;2364;p157"/>
          <p:cNvSpPr txBox="1"/>
          <p:nvPr>
            <p:ph idx="1" type="body"/>
          </p:nvPr>
        </p:nvSpPr>
        <p:spPr>
          <a:xfrm>
            <a:off x="324000" y="3613750"/>
            <a:ext cx="8496000" cy="4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Let’s try dividing this equation by 4 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2365" name="Google Shape;2365;p157"/>
          <p:cNvSpPr txBox="1"/>
          <p:nvPr>
            <p:ph idx="1" type="body"/>
          </p:nvPr>
        </p:nvSpPr>
        <p:spPr>
          <a:xfrm>
            <a:off x="324000" y="4044175"/>
            <a:ext cx="8496000" cy="4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4x+\ 1}{4}&quot;&gt;&lt;mfrac&gt;&lt;mrow&gt;&lt;mn&gt;4&lt;/mn&gt;&lt;mi&gt;x&lt;/mi&gt;&lt;mo&gt;+&lt;/mo&gt;&lt;mtext&gt;&lt;/mtext&gt;&lt;mn&gt;1&lt;/mn&gt;&lt;/mrow&gt;&lt;mn&gt;4&lt;/mn&gt;&lt;/mfrac&gt;&lt;/math&gt;" id="2366" name="Google Shape;2366;p157" title="the fraction with numerator 4 x plus 1 and denominator 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73023" y="1855198"/>
            <a:ext cx="710350" cy="4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7" name="Google Shape;2367;p157"/>
          <p:cNvSpPr txBox="1"/>
          <p:nvPr>
            <p:ph idx="1" type="body"/>
          </p:nvPr>
        </p:nvSpPr>
        <p:spPr>
          <a:xfrm>
            <a:off x="324000" y="4080300"/>
            <a:ext cx="8496000" cy="4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Remember the whole expression needs to be divided by 4 </a:t>
            </a:r>
            <a:r>
              <a:rPr lang="en-GB" sz="1800"/>
              <a:t> 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2y+\ 6}{4}&quot;&gt;&lt;mfrac&gt;&lt;mrow&gt;&lt;mn&gt;2&lt;/mn&gt;&lt;mi&gt;y&lt;/mi&gt;&lt;mo&gt;+&lt;/mo&gt;&lt;mtext&gt;&lt;/mtext&gt;&lt;mn&gt;6&lt;/mn&gt;&lt;/mrow&gt;&lt;mn&gt;4&lt;/mn&gt;&lt;/mfrac&gt;&lt;/math&gt;" id="2368" name="Google Shape;2368;p157" title="the fraction with numerator 2 y plus 6 and denominator 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07899" y="1847740"/>
            <a:ext cx="710350" cy="494310"/>
          </a:xfrm>
          <a:prstGeom prst="rect">
            <a:avLst/>
          </a:prstGeom>
          <a:noFill/>
          <a:ln>
            <a:noFill/>
          </a:ln>
        </p:spPr>
      </p:pic>
      <p:sp>
        <p:nvSpPr>
          <p:cNvPr id="2369" name="Google Shape;2369;p157"/>
          <p:cNvSpPr txBox="1"/>
          <p:nvPr>
            <p:ph idx="1" type="body"/>
          </p:nvPr>
        </p:nvSpPr>
        <p:spPr>
          <a:xfrm>
            <a:off x="324000" y="4523575"/>
            <a:ext cx="8496000" cy="4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we want, we can divide the individual terms by 4 </a:t>
            </a:r>
            <a:r>
              <a:rPr lang="en-GB" sz="1800"/>
              <a:t>  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4x}{4}+\frac{1}{4}&quot;&gt;&lt;mfrac&gt;&lt;mrow&gt;&lt;mn&gt;4&lt;/mn&gt;&lt;mi&gt;x&lt;/mi&gt;&lt;/mrow&gt;&lt;mn&gt;4&lt;/mn&gt;&lt;/mfrac&gt;&lt;mo&gt;+&lt;/mo&gt;&lt;mfrac&gt;&lt;mn&gt;1&lt;/mn&gt;&lt;mn&gt;4&lt;/mn&gt;&lt;/mfrac&gt;&lt;/math&gt;" id="2370" name="Google Shape;2370;p157" title="4 x over 4 plus one four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47555" y="2462657"/>
            <a:ext cx="761294" cy="49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y}{4}+\frac{6}{4}&quot;&gt;&lt;mfrac&gt;&lt;mrow&gt;&lt;mn&gt;2&lt;/mn&gt;&lt;mi&gt;y&lt;/mi&gt;&lt;/mrow&gt;&lt;mn&gt;4&lt;/mn&gt;&lt;/mfrac&gt;&lt;mo&gt;+&lt;/mo&gt;&lt;mfrac&gt;&lt;mn&gt;6&lt;/mn&gt;&lt;mn&gt;4&lt;/mn&gt;&lt;/mfrac&gt;&lt;/math&gt;" id="2371" name="Google Shape;2371;p157" title="2 y over 4 plus six four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56800" y="2462664"/>
            <a:ext cx="741450" cy="49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\ +\ \frac{1}{4}&quot;&gt;&lt;mi&gt;x&lt;/mi&gt;&lt;mtext&gt;&lt;/mtext&gt;&lt;mo&gt;+&lt;/mo&gt;&lt;mtext&gt;&lt;/mtext&gt;&lt;mfrac&gt;&lt;mn&gt;1&lt;/mn&gt;&lt;mn&gt;4&lt;/mn&gt;&lt;/mfrac&gt;&lt;/math&gt;" id="2372" name="Google Shape;2372;p157" title="x plus one fourth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173024" y="3084138"/>
            <a:ext cx="710350" cy="5042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y}{2}\ +\ \frac{3}{2}&quot;&gt;&lt;mfrac&gt;&lt;mi&gt;y&lt;/mi&gt;&lt;mn&gt;2&lt;/mn&gt;&lt;/mfrac&gt;&lt;mtext&gt;&lt;/mtext&gt;&lt;mo&gt;+&lt;/mo&gt;&lt;mtext&gt;&lt;/mtext&gt;&lt;mfrac&gt;&lt;mn&gt;3&lt;/mn&gt;&lt;mn&gt;2&lt;/mn&gt;&lt;/mfrac&gt;&lt;/math&gt;" id="2373" name="Google Shape;2373;p157" title="y over 2 plus three halve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303901" y="3101176"/>
            <a:ext cx="710350" cy="470137"/>
          </a:xfrm>
          <a:prstGeom prst="rect">
            <a:avLst/>
          </a:prstGeom>
          <a:noFill/>
          <a:ln>
            <a:noFill/>
          </a:ln>
        </p:spPr>
      </p:pic>
      <p:sp>
        <p:nvSpPr>
          <p:cNvPr id="2374" name="Google Shape;2374;p157"/>
          <p:cNvSpPr txBox="1"/>
          <p:nvPr>
            <p:ph idx="1" type="body"/>
          </p:nvPr>
        </p:nvSpPr>
        <p:spPr>
          <a:xfrm>
            <a:off x="5917275" y="1920300"/>
            <a:ext cx="234000" cy="50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800"/>
              <a:t>  </a:t>
            </a:r>
            <a:endParaRPr sz="1800"/>
          </a:p>
        </p:txBody>
      </p:sp>
      <p:sp>
        <p:nvSpPr>
          <p:cNvPr id="2375" name="Google Shape;2375;p157"/>
          <p:cNvSpPr txBox="1"/>
          <p:nvPr>
            <p:ph idx="1" type="body"/>
          </p:nvPr>
        </p:nvSpPr>
        <p:spPr>
          <a:xfrm>
            <a:off x="5917275" y="2545275"/>
            <a:ext cx="2340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800"/>
              <a:t>  </a:t>
            </a:r>
            <a:endParaRPr sz="1800"/>
          </a:p>
        </p:txBody>
      </p:sp>
      <p:sp>
        <p:nvSpPr>
          <p:cNvPr id="2376" name="Google Shape;2376;p157"/>
          <p:cNvSpPr txBox="1"/>
          <p:nvPr>
            <p:ph idx="1" type="body"/>
          </p:nvPr>
        </p:nvSpPr>
        <p:spPr>
          <a:xfrm>
            <a:off x="5917275" y="3205025"/>
            <a:ext cx="234000" cy="4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800"/>
              <a:t> 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0" name="Shape 2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1" name="Google Shape;2381;p15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Maintaining equality in equations</a:t>
            </a:r>
            <a:endParaRPr/>
          </a:p>
        </p:txBody>
      </p:sp>
      <p:sp>
        <p:nvSpPr>
          <p:cNvPr id="2382" name="Google Shape;2382;p158"/>
          <p:cNvSpPr txBox="1"/>
          <p:nvPr/>
        </p:nvSpPr>
        <p:spPr>
          <a:xfrm flipH="1">
            <a:off x="324000" y="2662839"/>
            <a:ext cx="9105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83" name="Google Shape;2383;p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155" y="1786709"/>
            <a:ext cx="564196" cy="8124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84" name="Google Shape;2384;p158"/>
          <p:cNvGraphicFramePr/>
          <p:nvPr/>
        </p:nvGraphicFramePr>
        <p:xfrm>
          <a:off x="4828513" y="1221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088750"/>
                <a:gridCol w="233975"/>
                <a:gridCol w="1131500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385" name="Google Shape;2385;p158"/>
          <p:cNvGrpSpPr/>
          <p:nvPr/>
        </p:nvGrpSpPr>
        <p:grpSpPr>
          <a:xfrm>
            <a:off x="1234440" y="699122"/>
            <a:ext cx="3337438" cy="1715732"/>
            <a:chOff x="1902376" y="1675949"/>
            <a:chExt cx="2242299" cy="1316250"/>
          </a:xfrm>
        </p:grpSpPr>
        <p:pic>
          <p:nvPicPr>
            <p:cNvPr id="2386" name="Google Shape;2386;p158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902376" y="1675949"/>
              <a:ext cx="2242299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87" name="Google Shape;2387;p158"/>
            <p:cNvSpPr txBox="1"/>
            <p:nvPr/>
          </p:nvSpPr>
          <p:spPr>
            <a:xfrm flipH="1">
              <a:off x="2090963" y="1965505"/>
              <a:ext cx="19551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Isn’t dividing by 4 the same as multiplying by a quarter? Does this give the same answer?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88" name="Google Shape;2388;p158"/>
          <p:cNvSpPr txBox="1"/>
          <p:nvPr>
            <p:ph idx="1" type="body"/>
          </p:nvPr>
        </p:nvSpPr>
        <p:spPr>
          <a:xfrm>
            <a:off x="324000" y="3274750"/>
            <a:ext cx="8496000" cy="4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expand the brackets if we wish.</a:t>
            </a:r>
            <a:r>
              <a:rPr lang="en-GB" sz="1800"/>
              <a:t>  </a:t>
            </a:r>
            <a:endParaRPr sz="1800"/>
          </a:p>
        </p:txBody>
      </p:sp>
      <p:sp>
        <p:nvSpPr>
          <p:cNvPr id="2389" name="Google Shape;2389;p158"/>
          <p:cNvSpPr txBox="1"/>
          <p:nvPr>
            <p:ph idx="1" type="body"/>
          </p:nvPr>
        </p:nvSpPr>
        <p:spPr>
          <a:xfrm>
            <a:off x="324000" y="4044175"/>
            <a:ext cx="8496000" cy="4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 </a:t>
            </a:r>
            <a:endParaRPr sz="1800"/>
          </a:p>
        </p:txBody>
      </p:sp>
      <p:sp>
        <p:nvSpPr>
          <p:cNvPr id="2390" name="Google Shape;2390;p158"/>
          <p:cNvSpPr txBox="1"/>
          <p:nvPr>
            <p:ph idx="1" type="body"/>
          </p:nvPr>
        </p:nvSpPr>
        <p:spPr>
          <a:xfrm>
            <a:off x="324000" y="3754150"/>
            <a:ext cx="8496000" cy="4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gives us the same expressions as before; Sam is correct.</a:t>
            </a:r>
            <a:r>
              <a:rPr lang="en-GB" sz="1800"/>
              <a:t>   </a:t>
            </a:r>
            <a:endParaRPr sz="1800"/>
          </a:p>
        </p:txBody>
      </p:sp>
      <p:sp>
        <p:nvSpPr>
          <p:cNvPr id="2391" name="Google Shape;2391;p158"/>
          <p:cNvSpPr txBox="1"/>
          <p:nvPr>
            <p:ph idx="1" type="body"/>
          </p:nvPr>
        </p:nvSpPr>
        <p:spPr>
          <a:xfrm>
            <a:off x="324000" y="4237850"/>
            <a:ext cx="8496000" cy="4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Different ways of writing expressions can be useful at different times. Generally, fractions are easier to work with than decimals.</a:t>
            </a:r>
            <a:r>
              <a:rPr lang="en-GB" sz="1800"/>
              <a:t>   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4}\left(4x\ +1\right)&quot;&gt;&lt;mfrac&gt;&lt;mn&gt;1&lt;/mn&gt;&lt;mn&gt;4&lt;/mn&gt;&lt;/mfrac&gt;&lt;mrow data-mjx-texclass=&quot;INNER&quot;&gt;&lt;mo data-mjx-texclass=&quot;OPEN&quot;&gt;(&lt;/mo&gt;&lt;mn&gt;4&lt;/mn&gt;&lt;mi&gt;x&lt;/mi&gt;&lt;mtext&gt;&lt;/mtext&gt;&lt;mo&gt;+&lt;/mo&gt;&lt;mn&gt;1&lt;/mn&gt;&lt;mo data-mjx-texclass=&quot;CLOSE&quot;&gt;)&lt;/mo&gt;&lt;/mrow&gt;&lt;/math&gt;" id="2392" name="Google Shape;2392;p158" title="one fourth times open paren 4 x positive 1 close pare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8517" y="1715488"/>
            <a:ext cx="1045500" cy="5008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left(2y\ +6\right)&quot;&gt;&lt;mfrac&gt;&lt;mn&gt;1&lt;/mn&gt;&lt;mn&gt;4&lt;/mn&gt;&lt;/mfrac&gt;&lt;mrow data-mjx-texclass=&quot;INNER&quot;&gt;&lt;mo data-mjx-texclass=&quot;OPEN&quot;&gt;(&lt;/mo&gt;&lt;mn&gt;2&lt;/mn&gt;&lt;mi&gt;y&lt;/mi&gt;&lt;mtext&gt;&lt;/mtext&gt;&lt;mo&gt;+&lt;/mo&gt;&lt;mn&gt;6&lt;/mn&gt;&lt;mo data-mjx-texclass=&quot;CLOSE&quot;&gt;)&lt;/mo&gt;&lt;/mrow&gt;&lt;/math&gt;" id="2393" name="Google Shape;2393;p158" title="one fourth times open paren 2 y positive 6 close pare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92450" y="1726192"/>
            <a:ext cx="986794" cy="47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\ +\ \frac{1}{4}&quot;&gt;&lt;mi&gt;x&lt;/mi&gt;&lt;mtext&gt;&lt;/mtext&gt;&lt;mo&gt;+&lt;/mo&gt;&lt;mtext&gt;&lt;/mtext&gt;&lt;mfrac&gt;&lt;mn&gt;1&lt;/mn&gt;&lt;mn&gt;4&lt;/mn&gt;&lt;/mfrac&gt;&lt;/math&gt;" id="2394" name="Google Shape;2394;p158" title="x plus one four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98674" y="2394826"/>
            <a:ext cx="675360" cy="47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y\ +\ \frac{3}{2}&quot;&gt;&lt;mfrac&gt;&lt;mn&gt;1&lt;/mn&gt;&lt;mn&gt;2&lt;/mn&gt;&lt;/mfrac&gt;&lt;mi&gt;y&lt;/mi&gt;&lt;mtext&gt;&lt;/mtext&gt;&lt;mo&gt;+&lt;/mo&gt;&lt;mtext&gt;&lt;/mtext&gt;&lt;mfrac&gt;&lt;mn&gt;3&lt;/mn&gt;&lt;mn&gt;2&lt;/mn&gt;&lt;/mfrac&gt;&lt;/math&gt;" id="2395" name="Google Shape;2395;p158" title="one half y plus three halve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92450" y="2394826"/>
            <a:ext cx="839838" cy="4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6" name="Google Shape;2396;p158"/>
          <p:cNvSpPr txBox="1"/>
          <p:nvPr>
            <p:ph idx="1" type="body"/>
          </p:nvPr>
        </p:nvSpPr>
        <p:spPr>
          <a:xfrm>
            <a:off x="5917275" y="1828583"/>
            <a:ext cx="2340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800"/>
              <a:t>  </a:t>
            </a:r>
            <a:endParaRPr sz="1800"/>
          </a:p>
        </p:txBody>
      </p:sp>
      <p:sp>
        <p:nvSpPr>
          <p:cNvPr id="2397" name="Google Shape;2397;p158"/>
          <p:cNvSpPr txBox="1"/>
          <p:nvPr>
            <p:ph idx="1" type="body"/>
          </p:nvPr>
        </p:nvSpPr>
        <p:spPr>
          <a:xfrm>
            <a:off x="5917275" y="2488333"/>
            <a:ext cx="234000" cy="4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800"/>
              <a:t> 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1" name="Shape 2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2" name="Google Shape;2402;p159"/>
          <p:cNvSpPr txBox="1"/>
          <p:nvPr>
            <p:ph idx="1" type="body"/>
          </p:nvPr>
        </p:nvSpPr>
        <p:spPr>
          <a:xfrm>
            <a:off x="324000" y="759300"/>
            <a:ext cx="82377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Which of these maintain equality?</a:t>
            </a:r>
            <a:endParaRPr sz="2000"/>
          </a:p>
        </p:txBody>
      </p:sp>
      <p:sp>
        <p:nvSpPr>
          <p:cNvPr id="2403" name="Google Shape;2403;p15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Maintaining equality in equations</a:t>
            </a:r>
            <a:endParaRPr/>
          </a:p>
        </p:txBody>
      </p:sp>
      <p:graphicFrame>
        <p:nvGraphicFramePr>
          <p:cNvPr id="2404" name="Google Shape;2404;p159"/>
          <p:cNvGraphicFramePr/>
          <p:nvPr/>
        </p:nvGraphicFramePr>
        <p:xfrm>
          <a:off x="1031675" y="152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088750"/>
                <a:gridCol w="233975"/>
                <a:gridCol w="1131500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− 1)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7(6)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05" name="Google Shape;2405;p159"/>
          <p:cNvGraphicFramePr/>
          <p:nvPr/>
        </p:nvGraphicFramePr>
        <p:xfrm>
          <a:off x="1031675" y="2730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088750"/>
                <a:gridCol w="233975"/>
                <a:gridCol w="1131500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− 1)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2406" name="Google Shape;2406;p159" title="one four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2800" y="3009450"/>
            <a:ext cx="144725" cy="461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07" name="Google Shape;2407;p159"/>
          <p:cNvGraphicFramePr/>
          <p:nvPr/>
        </p:nvGraphicFramePr>
        <p:xfrm>
          <a:off x="1031675" y="3866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088750"/>
                <a:gridCol w="233975"/>
                <a:gridCol w="1131500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08" name="Google Shape;2408;p159"/>
          <p:cNvGraphicFramePr/>
          <p:nvPr/>
        </p:nvGraphicFramePr>
        <p:xfrm>
          <a:off x="4824000" y="2730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088750"/>
                <a:gridCol w="233975"/>
                <a:gridCol w="1131500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x-1}{2}&quot;&gt;&lt;mfrac&gt;&lt;mrow&gt;&lt;mi&gt;x&lt;/mi&gt;&lt;mo&gt;−&lt;/mo&gt;&lt;mn&gt;1&lt;/mn&gt;&lt;/mrow&gt;&lt;mn&gt;2&lt;/mn&gt;&lt;/mfrac&gt;&lt;/math&gt;" id="2409" name="Google Shape;2409;p159" title="the fraction with numerator x minus 1 and denominator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4425" y="3097025"/>
            <a:ext cx="518317" cy="461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10" name="Google Shape;2410;p159"/>
          <p:cNvGraphicFramePr/>
          <p:nvPr/>
        </p:nvGraphicFramePr>
        <p:xfrm>
          <a:off x="4824000" y="3827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088750"/>
                <a:gridCol w="233975"/>
                <a:gridCol w="1131500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x}{2}-1&quot;&gt;&lt;mfrac&gt;&lt;mi&gt;x&lt;/mi&gt;&lt;mn&gt;2&lt;/mn&gt;&lt;/mfrac&gt;&lt;mo&gt;−&lt;/mo&gt;&lt;mn&gt;1&lt;/mn&gt;&lt;/math&gt;" id="2411" name="Google Shape;2411;p159" title="x over 2 minus 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48100" y="4229291"/>
            <a:ext cx="518325" cy="40848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12" name="Google Shape;2412;p159"/>
          <p:cNvGraphicFramePr/>
          <p:nvPr/>
        </p:nvGraphicFramePr>
        <p:xfrm>
          <a:off x="4824000" y="152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088750"/>
                <a:gridCol w="233975"/>
                <a:gridCol w="1131500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− 9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413" name="Google Shape;2413;p159"/>
          <p:cNvGrpSpPr/>
          <p:nvPr/>
        </p:nvGrpSpPr>
        <p:grpSpPr>
          <a:xfrm>
            <a:off x="323991" y="1520450"/>
            <a:ext cx="457200" cy="457200"/>
            <a:chOff x="1020916" y="1442088"/>
            <a:chExt cx="457200" cy="457200"/>
          </a:xfrm>
        </p:grpSpPr>
        <p:pic>
          <p:nvPicPr>
            <p:cNvPr id="2414" name="Google Shape;2414;p15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5" name="Google Shape;2415;p15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16" name="Google Shape;2416;p159"/>
          <p:cNvGrpSpPr/>
          <p:nvPr/>
        </p:nvGrpSpPr>
        <p:grpSpPr>
          <a:xfrm>
            <a:off x="323991" y="2730900"/>
            <a:ext cx="457200" cy="457200"/>
            <a:chOff x="1020916" y="1442088"/>
            <a:chExt cx="457200" cy="457200"/>
          </a:xfrm>
        </p:grpSpPr>
        <p:pic>
          <p:nvPicPr>
            <p:cNvPr id="2417" name="Google Shape;2417;p15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8" name="Google Shape;2418;p15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19" name="Google Shape;2419;p159"/>
          <p:cNvGrpSpPr/>
          <p:nvPr/>
        </p:nvGrpSpPr>
        <p:grpSpPr>
          <a:xfrm>
            <a:off x="323991" y="3908350"/>
            <a:ext cx="457200" cy="457200"/>
            <a:chOff x="1020916" y="1442088"/>
            <a:chExt cx="457200" cy="457200"/>
          </a:xfrm>
        </p:grpSpPr>
        <p:pic>
          <p:nvPicPr>
            <p:cNvPr id="2420" name="Google Shape;2420;p15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1" name="Google Shape;2421;p15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2" name="Google Shape;2422;p159"/>
          <p:cNvGrpSpPr/>
          <p:nvPr/>
        </p:nvGrpSpPr>
        <p:grpSpPr>
          <a:xfrm>
            <a:off x="4591191" y="1520450"/>
            <a:ext cx="457200" cy="457200"/>
            <a:chOff x="1020916" y="1442088"/>
            <a:chExt cx="457200" cy="457200"/>
          </a:xfrm>
        </p:grpSpPr>
        <p:pic>
          <p:nvPicPr>
            <p:cNvPr id="2423" name="Google Shape;2423;p15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4" name="Google Shape;2424;p15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5" name="Google Shape;2425;p159"/>
          <p:cNvGrpSpPr/>
          <p:nvPr/>
        </p:nvGrpSpPr>
        <p:grpSpPr>
          <a:xfrm>
            <a:off x="4591191" y="2714388"/>
            <a:ext cx="457200" cy="457200"/>
            <a:chOff x="1020916" y="1442088"/>
            <a:chExt cx="457200" cy="457200"/>
          </a:xfrm>
        </p:grpSpPr>
        <p:pic>
          <p:nvPicPr>
            <p:cNvPr id="2426" name="Google Shape;2426;p15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7" name="Google Shape;2427;p15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8" name="Google Shape;2428;p159"/>
          <p:cNvGrpSpPr/>
          <p:nvPr/>
        </p:nvGrpSpPr>
        <p:grpSpPr>
          <a:xfrm>
            <a:off x="4591191" y="3908338"/>
            <a:ext cx="457200" cy="457200"/>
            <a:chOff x="1020916" y="1442088"/>
            <a:chExt cx="457200" cy="457200"/>
          </a:xfrm>
        </p:grpSpPr>
        <p:pic>
          <p:nvPicPr>
            <p:cNvPr id="2429" name="Google Shape;2429;p15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30" name="Google Shape;2430;p15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31" name="Google Shape;2431;p159"/>
          <p:cNvSpPr/>
          <p:nvPr/>
        </p:nvSpPr>
        <p:spPr>
          <a:xfrm>
            <a:off x="1104375" y="1467375"/>
            <a:ext cx="1899900" cy="818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2" name="Google Shape;2432;p159"/>
          <p:cNvSpPr/>
          <p:nvPr/>
        </p:nvSpPr>
        <p:spPr>
          <a:xfrm>
            <a:off x="5101173" y="1445925"/>
            <a:ext cx="1579200" cy="818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3" name="Google Shape;2433;p159"/>
          <p:cNvSpPr/>
          <p:nvPr/>
        </p:nvSpPr>
        <p:spPr>
          <a:xfrm>
            <a:off x="5101175" y="2700002"/>
            <a:ext cx="1579200" cy="956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4" name="Google Shape;2434;p159"/>
          <p:cNvSpPr txBox="1"/>
          <p:nvPr>
            <p:ph idx="1" type="body"/>
          </p:nvPr>
        </p:nvSpPr>
        <p:spPr>
          <a:xfrm>
            <a:off x="2893675" y="2759450"/>
            <a:ext cx="15240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One quarter of 6 is not 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35" name="Google Shape;2435;p159"/>
          <p:cNvSpPr txBox="1"/>
          <p:nvPr>
            <p:ph idx="1" type="body"/>
          </p:nvPr>
        </p:nvSpPr>
        <p:spPr>
          <a:xfrm>
            <a:off x="2816575" y="3780000"/>
            <a:ext cx="16782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entire LHS has not been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multiplied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by 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36" name="Google Shape;2436;p159"/>
          <p:cNvSpPr txBox="1"/>
          <p:nvPr>
            <p:ph idx="1" type="body"/>
          </p:nvPr>
        </p:nvSpPr>
        <p:spPr>
          <a:xfrm>
            <a:off x="6719750" y="3807100"/>
            <a:ext cx="16782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entire LHS has not been divided by 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0" name="Shape 2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1" name="Google Shape;2441;p160"/>
          <p:cNvSpPr txBox="1"/>
          <p:nvPr>
            <p:ph idx="1" type="body"/>
          </p:nvPr>
        </p:nvSpPr>
        <p:spPr>
          <a:xfrm>
            <a:off x="324000" y="759300"/>
            <a:ext cx="8237700" cy="4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Fill in the blanks in these equations so they maintain equality. </a:t>
            </a:r>
            <a:endParaRPr sz="2000"/>
          </a:p>
        </p:txBody>
      </p:sp>
      <p:sp>
        <p:nvSpPr>
          <p:cNvPr id="2442" name="Google Shape;2442;p16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Maintaining equality in equations</a:t>
            </a:r>
            <a:endParaRPr/>
          </a:p>
        </p:txBody>
      </p:sp>
      <p:graphicFrame>
        <p:nvGraphicFramePr>
          <p:cNvPr id="2443" name="Google Shape;2443;p160"/>
          <p:cNvGraphicFramePr/>
          <p:nvPr/>
        </p:nvGraphicFramePr>
        <p:xfrm>
          <a:off x="324000" y="1446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154575"/>
                <a:gridCol w="248100"/>
                <a:gridCol w="1199875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+ 8</a:t>
                      </a:r>
                      <a:r>
                        <a:rPr lang="en-GB" sz="20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b______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b______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44" name="Google Shape;2444;p160"/>
          <p:cNvGraphicFramePr/>
          <p:nvPr/>
        </p:nvGraphicFramePr>
        <p:xfrm>
          <a:off x="324000" y="2760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154575"/>
                <a:gridCol w="248100"/>
                <a:gridCol w="1199875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a______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 + r +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a______   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 + r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45" name="Google Shape;2445;p160"/>
          <p:cNvGraphicFramePr/>
          <p:nvPr/>
        </p:nvGraphicFramePr>
        <p:xfrm>
          <a:off x="422350" y="4074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154575"/>
                <a:gridCol w="248100"/>
                <a:gridCol w="1199875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______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46" name="Google Shape;2446;p160"/>
          <p:cNvGraphicFramePr/>
          <p:nvPr/>
        </p:nvGraphicFramePr>
        <p:xfrm>
          <a:off x="3074863" y="1454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280850"/>
                <a:gridCol w="275250"/>
                <a:gridCol w="1331100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+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+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______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47" name="Google Shape;2447;p160"/>
          <p:cNvGraphicFramePr/>
          <p:nvPr/>
        </p:nvGraphicFramePr>
        <p:xfrm>
          <a:off x="3217200" y="270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154575"/>
                <a:gridCol w="248100"/>
                <a:gridCol w="1199875"/>
              </a:tblGrid>
              <a:tr h="327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+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________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+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1)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48" name="Google Shape;2448;p160"/>
          <p:cNvGraphicFramePr/>
          <p:nvPr/>
        </p:nvGraphicFramePr>
        <p:xfrm>
          <a:off x="2774150" y="3953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571625"/>
                <a:gridCol w="337700"/>
                <a:gridCol w="1633300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+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+ (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5)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GB" sz="20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________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49" name="Google Shape;2449;p160"/>
          <p:cNvGraphicFramePr/>
          <p:nvPr/>
        </p:nvGraphicFramePr>
        <p:xfrm>
          <a:off x="6415188" y="1454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280850"/>
                <a:gridCol w="275250"/>
                <a:gridCol w="1331100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+ q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______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p+\ q}{5}&quot;&gt;&lt;mfrac&gt;&lt;mrow&gt;&lt;mi&gt;p&lt;/mi&gt;&lt;mo&gt;+&lt;/mo&gt;&lt;mtext&gt;&lt;/mtext&gt;&lt;mi&gt;q&lt;/mi&gt;&lt;/mrow&gt;&lt;mn&gt;5&lt;/mn&gt;&lt;/mfrac&gt;&lt;/math&gt;" id="2450" name="Google Shape;2450;p160" title="the fraction with numerator p plus q and denominator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81225" y="1863225"/>
            <a:ext cx="614825" cy="4949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51" name="Google Shape;2451;p160"/>
          <p:cNvGraphicFramePr/>
          <p:nvPr/>
        </p:nvGraphicFramePr>
        <p:xfrm>
          <a:off x="6359063" y="266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280850"/>
                <a:gridCol w="275250"/>
                <a:gridCol w="1331100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+ q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______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52" name="Google Shape;2452;p160"/>
          <p:cNvGraphicFramePr/>
          <p:nvPr/>
        </p:nvGraphicFramePr>
        <p:xfrm>
          <a:off x="6164113" y="3689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443800"/>
                <a:gridCol w="290350"/>
                <a:gridCol w="1404125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+ q 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+ q + p + q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______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453" name="Google Shape;2453;p160"/>
          <p:cNvCxnSpPr/>
          <p:nvPr/>
        </p:nvCxnSpPr>
        <p:spPr>
          <a:xfrm>
            <a:off x="2811150" y="1351525"/>
            <a:ext cx="0" cy="34677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4" name="Google Shape;2454;p160"/>
          <p:cNvCxnSpPr/>
          <p:nvPr/>
        </p:nvCxnSpPr>
        <p:spPr>
          <a:xfrm>
            <a:off x="6090325" y="1403550"/>
            <a:ext cx="0" cy="34677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55" name="Google Shape;2455;p160"/>
          <p:cNvSpPr/>
          <p:nvPr/>
        </p:nvSpPr>
        <p:spPr>
          <a:xfrm>
            <a:off x="324000" y="14540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6" name="Google Shape;2456;p160"/>
          <p:cNvSpPr/>
          <p:nvPr/>
        </p:nvSpPr>
        <p:spPr>
          <a:xfrm>
            <a:off x="324050" y="27626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7" name="Google Shape;2457;p160"/>
          <p:cNvSpPr/>
          <p:nvPr/>
        </p:nvSpPr>
        <p:spPr>
          <a:xfrm>
            <a:off x="324050" y="408317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8" name="Google Shape;2458;p160"/>
          <p:cNvSpPr/>
          <p:nvPr/>
        </p:nvSpPr>
        <p:spPr>
          <a:xfrm>
            <a:off x="2811150" y="144805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9" name="Google Shape;2459;p160"/>
          <p:cNvSpPr/>
          <p:nvPr/>
        </p:nvSpPr>
        <p:spPr>
          <a:xfrm>
            <a:off x="2811200" y="268045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0" name="Google Shape;2460;p160"/>
          <p:cNvSpPr/>
          <p:nvPr/>
        </p:nvSpPr>
        <p:spPr>
          <a:xfrm>
            <a:off x="2811200" y="392480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1" name="Google Shape;2461;p160"/>
          <p:cNvSpPr/>
          <p:nvPr/>
        </p:nvSpPr>
        <p:spPr>
          <a:xfrm>
            <a:off x="6110400" y="144207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2" name="Google Shape;2462;p160"/>
          <p:cNvSpPr/>
          <p:nvPr/>
        </p:nvSpPr>
        <p:spPr>
          <a:xfrm>
            <a:off x="6110450" y="267447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3" name="Google Shape;2463;p160"/>
          <p:cNvSpPr/>
          <p:nvPr/>
        </p:nvSpPr>
        <p:spPr>
          <a:xfrm>
            <a:off x="6110450" y="36902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7" name="Shape 2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8" name="Google Shape;2468;p161"/>
          <p:cNvSpPr txBox="1"/>
          <p:nvPr>
            <p:ph idx="1" type="body"/>
          </p:nvPr>
        </p:nvSpPr>
        <p:spPr>
          <a:xfrm>
            <a:off x="324000" y="759600"/>
            <a:ext cx="82377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Fill in the blanks in these equations so they maintain equality. </a:t>
            </a:r>
            <a:endParaRPr sz="2000"/>
          </a:p>
        </p:txBody>
      </p:sp>
      <p:sp>
        <p:nvSpPr>
          <p:cNvPr id="2469" name="Google Shape;2469;p16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Maintaining equality in equations</a:t>
            </a:r>
            <a:endParaRPr/>
          </a:p>
        </p:txBody>
      </p:sp>
      <p:graphicFrame>
        <p:nvGraphicFramePr>
          <p:cNvPr id="2470" name="Google Shape;2470;p161"/>
          <p:cNvGraphicFramePr/>
          <p:nvPr/>
        </p:nvGraphicFramePr>
        <p:xfrm>
          <a:off x="247800" y="11425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154575"/>
                <a:gridCol w="248100"/>
                <a:gridCol w="1199875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+ 8</a:t>
                      </a:r>
                      <a:r>
                        <a:rPr lang="en-GB" sz="20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+ 8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71" name="Google Shape;2471;p161"/>
          <p:cNvGraphicFramePr/>
          <p:nvPr/>
        </p:nvGraphicFramePr>
        <p:xfrm>
          <a:off x="247800" y="24565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154575"/>
                <a:gridCol w="248100"/>
                <a:gridCol w="1199875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r +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 + r +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r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 + r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72" name="Google Shape;2472;p161"/>
          <p:cNvGraphicFramePr/>
          <p:nvPr/>
        </p:nvGraphicFramePr>
        <p:xfrm>
          <a:off x="346150" y="37706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154575"/>
                <a:gridCol w="248100"/>
                <a:gridCol w="1199875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 sz="20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73" name="Google Shape;2473;p161"/>
          <p:cNvGraphicFramePr/>
          <p:nvPr/>
        </p:nvGraphicFramePr>
        <p:xfrm>
          <a:off x="3074863" y="1150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280850"/>
                <a:gridCol w="275250"/>
                <a:gridCol w="1331100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+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+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74" name="Google Shape;2474;p161"/>
          <p:cNvGraphicFramePr/>
          <p:nvPr/>
        </p:nvGraphicFramePr>
        <p:xfrm>
          <a:off x="3141000" y="23962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154575"/>
                <a:gridCol w="248100"/>
                <a:gridCol w="1199875"/>
              </a:tblGrid>
              <a:tr h="327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+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8(3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4)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+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1)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75" name="Google Shape;2475;p161"/>
          <p:cNvGraphicFramePr/>
          <p:nvPr/>
        </p:nvGraphicFramePr>
        <p:xfrm>
          <a:off x="2697950" y="34975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571625"/>
                <a:gridCol w="337700"/>
                <a:gridCol w="1633300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+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+ (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5)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GB" sz="20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+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+ (−5)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or</a:t>
                      </a:r>
                      <a:r>
                        <a:rPr lang="en-GB" sz="2000">
                          <a:solidFill>
                            <a:srgbClr val="E6F2F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….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− 4</a:t>
                      </a:r>
                      <a:endParaRPr i="1"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76" name="Google Shape;2476;p161"/>
          <p:cNvGraphicFramePr/>
          <p:nvPr/>
        </p:nvGraphicFramePr>
        <p:xfrm>
          <a:off x="6415188" y="10740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280850"/>
                <a:gridCol w="275250"/>
                <a:gridCol w="1331100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+ q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4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or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p+\ q}{5}&quot;&gt;&lt;mfrac&gt;&lt;mrow&gt;&lt;mi&gt;p&lt;/mi&gt;&lt;mo&gt;+&lt;/mo&gt;&lt;mtext&gt;&lt;/mtext&gt;&lt;mi&gt;q&lt;/mi&gt;&lt;/mrow&gt;&lt;mn&gt;5&lt;/mn&gt;&lt;/mfrac&gt;&lt;/math&gt;" id="2477" name="Google Shape;2477;p161" title="the fraction with numerator p plus q and denominator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81225" y="1483255"/>
            <a:ext cx="614825" cy="4949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78" name="Google Shape;2478;p161"/>
          <p:cNvGraphicFramePr/>
          <p:nvPr/>
        </p:nvGraphicFramePr>
        <p:xfrm>
          <a:off x="6359063" y="23551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248850"/>
                <a:gridCol w="307250"/>
                <a:gridCol w="1331100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+ q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+ q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or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endParaRPr i="1"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or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p + q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+ 20</a:t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79" name="Google Shape;2479;p161"/>
          <p:cNvGraphicFramePr/>
          <p:nvPr/>
        </p:nvGraphicFramePr>
        <p:xfrm>
          <a:off x="6011713" y="38425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{98833448-99D4-4451-8679-C93C0DF53621}</a:tableStyleId>
              </a:tblPr>
              <a:tblGrid>
                <a:gridCol w="1443800"/>
                <a:gridCol w="290350"/>
                <a:gridCol w="1404125"/>
              </a:tblGrid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+ q 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+ q + p + q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+ 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+ q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or</a:t>
                      </a:r>
                      <a:r>
                        <a:rPr lang="en-GB" sz="2000">
                          <a:solidFill>
                            <a:srgbClr val="E6F2F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.</a:t>
                      </a:r>
                      <a:endParaRPr sz="2000">
                        <a:solidFill>
                          <a:srgbClr val="E6F2F2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480" name="Google Shape;2480;p161"/>
          <p:cNvCxnSpPr/>
          <p:nvPr/>
        </p:nvCxnSpPr>
        <p:spPr>
          <a:xfrm>
            <a:off x="2734950" y="1047755"/>
            <a:ext cx="0" cy="34677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1" name="Google Shape;2481;p161"/>
          <p:cNvCxnSpPr/>
          <p:nvPr/>
        </p:nvCxnSpPr>
        <p:spPr>
          <a:xfrm>
            <a:off x="5938955" y="1099780"/>
            <a:ext cx="0" cy="34677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82" name="Google Shape;2482;p161"/>
          <p:cNvSpPr/>
          <p:nvPr/>
        </p:nvSpPr>
        <p:spPr>
          <a:xfrm>
            <a:off x="324000" y="115025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3" name="Google Shape;2483;p161"/>
          <p:cNvSpPr/>
          <p:nvPr/>
        </p:nvSpPr>
        <p:spPr>
          <a:xfrm>
            <a:off x="247850" y="245885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4" name="Google Shape;2484;p161"/>
          <p:cNvSpPr/>
          <p:nvPr/>
        </p:nvSpPr>
        <p:spPr>
          <a:xfrm>
            <a:off x="247850" y="377940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5" name="Google Shape;2485;p161"/>
          <p:cNvSpPr/>
          <p:nvPr/>
        </p:nvSpPr>
        <p:spPr>
          <a:xfrm>
            <a:off x="2734950" y="114428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6" name="Google Shape;2486;p161"/>
          <p:cNvSpPr/>
          <p:nvPr/>
        </p:nvSpPr>
        <p:spPr>
          <a:xfrm>
            <a:off x="2735000" y="237668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7" name="Google Shape;2487;p161"/>
          <p:cNvSpPr/>
          <p:nvPr/>
        </p:nvSpPr>
        <p:spPr>
          <a:xfrm>
            <a:off x="2735000" y="346863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8" name="Google Shape;2488;p161"/>
          <p:cNvSpPr/>
          <p:nvPr/>
        </p:nvSpPr>
        <p:spPr>
          <a:xfrm>
            <a:off x="5958050" y="113830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9" name="Google Shape;2489;p161"/>
          <p:cNvSpPr/>
          <p:nvPr/>
        </p:nvSpPr>
        <p:spPr>
          <a:xfrm>
            <a:off x="5958050" y="2440211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0" name="Google Shape;2490;p161"/>
          <p:cNvSpPr/>
          <p:nvPr/>
        </p:nvSpPr>
        <p:spPr>
          <a:xfrm>
            <a:off x="5958050" y="384365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0}{5}&quot;&gt;&lt;mfrac&gt;&lt;mn&gt;10&lt;/mn&gt;&lt;mn&gt;5&lt;/mn&gt;&lt;/mfrac&gt;&lt;/math&gt;" id="2491" name="Google Shape;2491;p161" title="ten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1300" y="1393822"/>
            <a:ext cx="271292" cy="494925"/>
          </a:xfrm>
          <a:prstGeom prst="rect">
            <a:avLst/>
          </a:prstGeom>
          <a:noFill/>
          <a:ln>
            <a:noFill/>
          </a:ln>
        </p:spPr>
      </p:pic>
      <p:sp>
        <p:nvSpPr>
          <p:cNvPr id="2492" name="Google Shape;2492;p161"/>
          <p:cNvSpPr/>
          <p:nvPr/>
        </p:nvSpPr>
        <p:spPr>
          <a:xfrm>
            <a:off x="1811050" y="1479600"/>
            <a:ext cx="786900" cy="280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3" name="Google Shape;2493;p161"/>
          <p:cNvSpPr/>
          <p:nvPr/>
        </p:nvSpPr>
        <p:spPr>
          <a:xfrm>
            <a:off x="1811050" y="1789800"/>
            <a:ext cx="786900" cy="280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4" name="Google Shape;2494;p161"/>
          <p:cNvSpPr/>
          <p:nvPr/>
        </p:nvSpPr>
        <p:spPr>
          <a:xfrm>
            <a:off x="646025" y="2795838"/>
            <a:ext cx="786900" cy="280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5" name="Google Shape;2495;p161"/>
          <p:cNvSpPr/>
          <p:nvPr/>
        </p:nvSpPr>
        <p:spPr>
          <a:xfrm>
            <a:off x="646025" y="3114725"/>
            <a:ext cx="786900" cy="280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6" name="Google Shape;2496;p161"/>
          <p:cNvSpPr/>
          <p:nvPr/>
        </p:nvSpPr>
        <p:spPr>
          <a:xfrm>
            <a:off x="1149175" y="4127425"/>
            <a:ext cx="373500" cy="280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7" name="Google Shape;2497;p161"/>
          <p:cNvSpPr/>
          <p:nvPr/>
        </p:nvSpPr>
        <p:spPr>
          <a:xfrm>
            <a:off x="5177150" y="1481800"/>
            <a:ext cx="420300" cy="280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8" name="Google Shape;2498;p161"/>
          <p:cNvSpPr/>
          <p:nvPr/>
        </p:nvSpPr>
        <p:spPr>
          <a:xfrm>
            <a:off x="3229750" y="2739350"/>
            <a:ext cx="1090200" cy="280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9" name="Google Shape;2499;p161"/>
          <p:cNvSpPr/>
          <p:nvPr/>
        </p:nvSpPr>
        <p:spPr>
          <a:xfrm>
            <a:off x="4519400" y="3856275"/>
            <a:ext cx="1346700" cy="280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0" name="Google Shape;2500;p161"/>
          <p:cNvSpPr/>
          <p:nvPr/>
        </p:nvSpPr>
        <p:spPr>
          <a:xfrm>
            <a:off x="4519400" y="4179600"/>
            <a:ext cx="703200" cy="280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1" name="Google Shape;2501;p161"/>
          <p:cNvSpPr/>
          <p:nvPr/>
        </p:nvSpPr>
        <p:spPr>
          <a:xfrm>
            <a:off x="7924250" y="1965300"/>
            <a:ext cx="420300" cy="280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2" name="Google Shape;2502;p161"/>
          <p:cNvSpPr/>
          <p:nvPr/>
        </p:nvSpPr>
        <p:spPr>
          <a:xfrm>
            <a:off x="7924250" y="1354850"/>
            <a:ext cx="420300" cy="570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3" name="Google Shape;2503;p161"/>
          <p:cNvSpPr/>
          <p:nvPr/>
        </p:nvSpPr>
        <p:spPr>
          <a:xfrm>
            <a:off x="6649025" y="2693294"/>
            <a:ext cx="1005300" cy="303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4" name="Google Shape;2504;p161"/>
          <p:cNvSpPr/>
          <p:nvPr/>
        </p:nvSpPr>
        <p:spPr>
          <a:xfrm>
            <a:off x="6649025" y="3096782"/>
            <a:ext cx="1005300" cy="303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5" name="Google Shape;2505;p161"/>
          <p:cNvSpPr/>
          <p:nvPr/>
        </p:nvSpPr>
        <p:spPr>
          <a:xfrm>
            <a:off x="7722706" y="4516598"/>
            <a:ext cx="339300" cy="280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6" name="Google Shape;2506;p161"/>
          <p:cNvSpPr/>
          <p:nvPr/>
        </p:nvSpPr>
        <p:spPr>
          <a:xfrm>
            <a:off x="7745875" y="4192375"/>
            <a:ext cx="1143300" cy="303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7" name="Google Shape;2507;p161"/>
          <p:cNvSpPr/>
          <p:nvPr/>
        </p:nvSpPr>
        <p:spPr>
          <a:xfrm>
            <a:off x="6496625" y="3438480"/>
            <a:ext cx="1143300" cy="280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1" name="Shape 2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2" name="Google Shape;2512;p162"/>
          <p:cNvSpPr txBox="1"/>
          <p:nvPr>
            <p:ph idx="1" type="body"/>
          </p:nvPr>
        </p:nvSpPr>
        <p:spPr>
          <a:xfrm>
            <a:off x="324000" y="829800"/>
            <a:ext cx="84960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If two expressions in a bar model are equal in length then the expressions are equal in value.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Operations can be performed on the bars to maintain equality.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In an equation, </a:t>
            </a:r>
            <a:r>
              <a:rPr lang="en-GB" sz="2000"/>
              <a:t>adding</a:t>
            </a:r>
            <a:r>
              <a:rPr lang="en-GB" sz="2000"/>
              <a:t> the same value to the left hand side and right hand side maintains equality.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Multiplying the left and right hand side in an equation by the same value maintains equality.</a:t>
            </a:r>
            <a:endParaRPr sz="2000"/>
          </a:p>
        </p:txBody>
      </p:sp>
      <p:sp>
        <p:nvSpPr>
          <p:cNvPr id="2513" name="Google Shape;2513;p162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equality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7" name="Shape 2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8" name="Google Shape;2518;p163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519" name="Google Shape;2519;p1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