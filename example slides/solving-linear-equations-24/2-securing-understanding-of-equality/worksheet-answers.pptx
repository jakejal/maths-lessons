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59">
          <p15:clr>
            <a:srgbClr val="747775"/>
          </p15:clr>
        </p15:guide>
        <p15:guide id="2" pos="3817">
          <p15:clr>
            <a:srgbClr val="747775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2A219904-1D39-43E7-A8B7-426E5734A1D3}">
  <a:tblStyle styleId="{2A219904-1D39-43E7-A8B7-426E5734A1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 showOutlineIcons="0" horzBarState="maximized">
    <p:restoredLeft sz="16000"/>
    <p:restoredTop sz="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4359"/>
        <p:guide pos="3817"/>
      </p:guideLst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327" name="Shape 327"/>
        <p:cNvGrpSpPr/>
        <p:nvPr/>
      </p:nvGrpSpPr>
      <p:grpSpPr>
        <a:xfrm>
          <a:off x="0" y="0"/>
          <a:ext cx="0" cy="0"/>
        </a:xfrm>
      </p:grpSpPr>
      <p:sp>
        <p:nvSpPr>
          <p:cNvPr id="328" name="Google Shape;328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equality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393147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Maintaining equality in bar models </a:t>
            </a:r>
            <a:endParaRPr sz="17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1173" y="1771415"/>
            <a:ext cx="6624000" cy="4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each bar model so it maintains equality, given that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+ 3 =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+ 8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1856500" y="2199399"/>
            <a:ext cx="5382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867032" y="2199399"/>
            <a:ext cx="4845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1194818" y="2434662"/>
            <a:ext cx="12000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1361763" y="2199399"/>
            <a:ext cx="4845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867032" y="2434662"/>
            <a:ext cx="3279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b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2404715" y="2199399"/>
            <a:ext cx="7254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856500" y="3027091"/>
            <a:ext cx="5382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867032" y="3027091"/>
            <a:ext cx="4845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1194818" y="3262354"/>
            <a:ext cx="12000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1361763" y="3027091"/>
            <a:ext cx="4845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867032" y="3262354"/>
            <a:ext cx="3279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b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2398686" y="3259000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1856500" y="3813436"/>
            <a:ext cx="5382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867032" y="3813436"/>
            <a:ext cx="4845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1194818" y="4048699"/>
            <a:ext cx="12000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1361763" y="3813436"/>
            <a:ext cx="4845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867032" y="4048699"/>
            <a:ext cx="3279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b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3394183" y="3813436"/>
            <a:ext cx="5382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2404715" y="3813436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2899446" y="3813436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015958" y="2199399"/>
            <a:ext cx="5382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026489" y="2199399"/>
            <a:ext cx="4845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4685033" y="2434662"/>
            <a:ext cx="12000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4521220" y="2199399"/>
            <a:ext cx="4845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4026489" y="2434662"/>
            <a:ext cx="3279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b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4354401" y="2434662"/>
            <a:ext cx="3279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6005426" y="3072537"/>
            <a:ext cx="5382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4026489" y="3072537"/>
            <a:ext cx="4845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4354401" y="3307800"/>
            <a:ext cx="12000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4521220" y="3072537"/>
            <a:ext cx="4845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4026489" y="3307800"/>
            <a:ext cx="3279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b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4931866" y="3813436"/>
            <a:ext cx="5382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3942398" y="3813436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4437129" y="3813436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5015958" y="3072537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5510689" y="3072537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6553640" y="3072537"/>
            <a:ext cx="5382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471182" y="2199399"/>
            <a:ext cx="3858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471224" y="3027091"/>
            <a:ext cx="3858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471224" y="3813436"/>
            <a:ext cx="3858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3556737" y="2199399"/>
            <a:ext cx="3858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3577201" y="2817438"/>
            <a:ext cx="8601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  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2404715" y="2434662"/>
            <a:ext cx="7254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2398248" y="3027085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2732501" y="4048699"/>
            <a:ext cx="12000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2404715" y="4048699"/>
            <a:ext cx="3279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4270184" y="4048699"/>
            <a:ext cx="12000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3942398" y="4048699"/>
            <a:ext cx="3279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1829677" y="4395233"/>
            <a:ext cx="5382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840208" y="4395233"/>
            <a:ext cx="4845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1167995" y="4630496"/>
            <a:ext cx="12000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1334939" y="4395233"/>
            <a:ext cx="4845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840208" y="4630496"/>
            <a:ext cx="327900" cy="234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b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3367360" y="4395233"/>
            <a:ext cx="5382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2377891" y="4395233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2872622" y="4395233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4905042" y="4395233"/>
            <a:ext cx="5382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3915574" y="4395233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4410305" y="4395233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3364038" y="4636477"/>
            <a:ext cx="5382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2374569" y="4636477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2869301" y="4636477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4901721" y="4636477"/>
            <a:ext cx="5382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endParaRPr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3912252" y="4636477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4406983" y="4636477"/>
            <a:ext cx="4845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a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5557708" y="2199399"/>
            <a:ext cx="3279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5892084" y="3307800"/>
            <a:ext cx="12000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endParaRPr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5564172" y="3307800"/>
            <a:ext cx="327900" cy="234900"/>
          </a:xfrm>
          <a:prstGeom prst="rect">
            <a:avLst/>
          </a:prstGeom>
          <a:noFill/>
          <a:ln w="19050" cap="flat" cmpd="sng">
            <a:solidFill>
              <a:srgbClr val="845A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solidFill>
                  <a:srgbClr val="845AD9"/>
                </a:solidFill>
                <a:latin typeface="Times"/>
                <a:ea typeface="Times"/>
                <a:cs typeface="Times"/>
                <a:sym typeface="Times"/>
              </a:rPr>
              <a:t>b</a:t>
            </a:r>
            <a:endParaRPr i="1">
              <a:solidFill>
                <a:srgbClr val="845AD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444400" y="4395233"/>
            <a:ext cx="385800" cy="23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or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471173" y="5215020"/>
            <a:ext cx="6336600" cy="5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bar models are not drawn to scale. Given that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+ 18 = 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+ 21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bar models will maintain equality, and should be the same length?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your reasoning.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1690525" y="6189288"/>
            <a:ext cx="5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1542990" y="6403685"/>
            <a:ext cx="7086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755930" y="6188045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755932" y="6404271"/>
            <a:ext cx="2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1223228" y="6188045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1017061" y="6404271"/>
            <a:ext cx="2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1278190" y="6403679"/>
            <a:ext cx="2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1663680" y="7482710"/>
            <a:ext cx="5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1516145" y="7697107"/>
            <a:ext cx="7086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729085" y="7481467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729087" y="7697693"/>
            <a:ext cx="2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1196382" y="7481467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990216" y="7697693"/>
            <a:ext cx="2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1251345" y="7697101"/>
            <a:ext cx="2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59" name="Google Shape;259;p20"/>
          <p:cNvSpPr/>
          <p:nvPr/>
        </p:nvSpPr>
        <p:spPr>
          <a:xfrm>
            <a:off x="2225130" y="7481467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0" name="Google Shape;260;p20"/>
          <p:cNvSpPr/>
          <p:nvPr/>
        </p:nvSpPr>
        <p:spPr>
          <a:xfrm>
            <a:off x="2692428" y="7481467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1" name="Google Shape;261;p20"/>
          <p:cNvSpPr/>
          <p:nvPr/>
        </p:nvSpPr>
        <p:spPr>
          <a:xfrm>
            <a:off x="2228399" y="7697116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2" name="Google Shape;262;p20"/>
          <p:cNvSpPr/>
          <p:nvPr/>
        </p:nvSpPr>
        <p:spPr>
          <a:xfrm>
            <a:off x="2695697" y="7697116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3" name="Google Shape;263;p20"/>
          <p:cNvSpPr/>
          <p:nvPr/>
        </p:nvSpPr>
        <p:spPr>
          <a:xfrm>
            <a:off x="2251975" y="6188028"/>
            <a:ext cx="5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4" name="Google Shape;264;p20"/>
          <p:cNvSpPr/>
          <p:nvPr/>
        </p:nvSpPr>
        <p:spPr>
          <a:xfrm>
            <a:off x="2255247" y="6404560"/>
            <a:ext cx="2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2516376" y="6403967"/>
            <a:ext cx="2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3164629" y="8663328"/>
            <a:ext cx="5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1514510" y="8878974"/>
            <a:ext cx="7086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727450" y="8663335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69" name="Google Shape;269;p20"/>
          <p:cNvSpPr/>
          <p:nvPr/>
        </p:nvSpPr>
        <p:spPr>
          <a:xfrm>
            <a:off x="727452" y="8879561"/>
            <a:ext cx="2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1194748" y="8663335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1" name="Google Shape;271;p20"/>
          <p:cNvSpPr/>
          <p:nvPr/>
        </p:nvSpPr>
        <p:spPr>
          <a:xfrm>
            <a:off x="988581" y="8879561"/>
            <a:ext cx="2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2" name="Google Shape;272;p20"/>
          <p:cNvSpPr/>
          <p:nvPr/>
        </p:nvSpPr>
        <p:spPr>
          <a:xfrm>
            <a:off x="1249710" y="8878968"/>
            <a:ext cx="2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3" name="Google Shape;273;p20"/>
          <p:cNvSpPr/>
          <p:nvPr/>
        </p:nvSpPr>
        <p:spPr>
          <a:xfrm>
            <a:off x="1663680" y="8663335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2132613" y="8663565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5" name="Google Shape;275;p20"/>
          <p:cNvSpPr/>
          <p:nvPr/>
        </p:nvSpPr>
        <p:spPr>
          <a:xfrm>
            <a:off x="2226764" y="8878984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2694062" y="8878984"/>
            <a:ext cx="4674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7" name="Google Shape;277;p20"/>
          <p:cNvSpPr/>
          <p:nvPr/>
        </p:nvSpPr>
        <p:spPr>
          <a:xfrm>
            <a:off x="2601545" y="8663328"/>
            <a:ext cx="5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3164629" y="8879554"/>
            <a:ext cx="561300" cy="216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452975" y="6147193"/>
            <a:ext cx="354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452975" y="7436576"/>
            <a:ext cx="354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452975" y="8663328"/>
            <a:ext cx="3546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493656" y="6730063"/>
            <a:ext cx="3267300" cy="5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No, 18 is added to the top but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added to the bottom.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493656" y="8046176"/>
            <a:ext cx="3267300" cy="5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Yes,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added to both. These should be equal.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493656" y="9248200"/>
            <a:ext cx="3267300" cy="59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Yes,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 +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added to both. These should be equal. 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5930205" y="6180152"/>
            <a:ext cx="5685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5624110" y="6399730"/>
            <a:ext cx="7179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4037072" y="6180159"/>
            <a:ext cx="4734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4037074" y="6399155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4510355" y="6180159"/>
            <a:ext cx="4734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0" name="Google Shape;290;p20"/>
          <p:cNvSpPr/>
          <p:nvPr/>
        </p:nvSpPr>
        <p:spPr>
          <a:xfrm>
            <a:off x="4301548" y="6399155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4566022" y="6398555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4830593" y="6399739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5095067" y="6399739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5359541" y="6399139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4983638" y="6180159"/>
            <a:ext cx="4734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5456922" y="6180159"/>
            <a:ext cx="4734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5248209" y="8675435"/>
            <a:ext cx="5685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5105251" y="8894429"/>
            <a:ext cx="7179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4037072" y="8675443"/>
            <a:ext cx="4734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4510355" y="8675443"/>
            <a:ext cx="4734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4301548" y="8894438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4566022" y="8893838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3" name="Google Shape;303;p20"/>
          <p:cNvSpPr/>
          <p:nvPr/>
        </p:nvSpPr>
        <p:spPr>
          <a:xfrm>
            <a:off x="4038015" y="8894438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4" name="Google Shape;304;p20"/>
          <p:cNvSpPr/>
          <p:nvPr/>
        </p:nvSpPr>
        <p:spPr>
          <a:xfrm>
            <a:off x="4835637" y="8894423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5" name="Google Shape;305;p20"/>
          <p:cNvSpPr/>
          <p:nvPr/>
        </p:nvSpPr>
        <p:spPr>
          <a:xfrm>
            <a:off x="4983641" y="8675427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6" name="Google Shape;306;p20"/>
          <p:cNvSpPr/>
          <p:nvPr/>
        </p:nvSpPr>
        <p:spPr>
          <a:xfrm>
            <a:off x="5938580" y="7437851"/>
            <a:ext cx="5685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7" name="Google Shape;307;p20"/>
          <p:cNvSpPr/>
          <p:nvPr/>
        </p:nvSpPr>
        <p:spPr>
          <a:xfrm>
            <a:off x="5627382" y="7656260"/>
            <a:ext cx="7179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8" name="Google Shape;308;p20"/>
          <p:cNvSpPr/>
          <p:nvPr/>
        </p:nvSpPr>
        <p:spPr>
          <a:xfrm>
            <a:off x="4037072" y="7437858"/>
            <a:ext cx="4734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09" name="Google Shape;309;p20"/>
          <p:cNvSpPr/>
          <p:nvPr/>
        </p:nvSpPr>
        <p:spPr>
          <a:xfrm>
            <a:off x="4510355" y="7437858"/>
            <a:ext cx="4734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4301548" y="7656854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1" name="Google Shape;311;p20"/>
          <p:cNvSpPr/>
          <p:nvPr/>
        </p:nvSpPr>
        <p:spPr>
          <a:xfrm>
            <a:off x="4566022" y="7656254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2" name="Google Shape;312;p20"/>
          <p:cNvSpPr/>
          <p:nvPr/>
        </p:nvSpPr>
        <p:spPr>
          <a:xfrm>
            <a:off x="4987826" y="7437858"/>
            <a:ext cx="4734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3" name="Google Shape;313;p20"/>
          <p:cNvSpPr/>
          <p:nvPr/>
        </p:nvSpPr>
        <p:spPr>
          <a:xfrm>
            <a:off x="5461109" y="7437858"/>
            <a:ext cx="4734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c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4" name="Google Shape;314;p20"/>
          <p:cNvSpPr/>
          <p:nvPr/>
        </p:nvSpPr>
        <p:spPr>
          <a:xfrm>
            <a:off x="6511409" y="7437851"/>
            <a:ext cx="5685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18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5" name="Google Shape;315;p20"/>
          <p:cNvSpPr/>
          <p:nvPr/>
        </p:nvSpPr>
        <p:spPr>
          <a:xfrm>
            <a:off x="4037074" y="7656854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6" name="Google Shape;316;p20"/>
          <p:cNvSpPr/>
          <p:nvPr/>
        </p:nvSpPr>
        <p:spPr>
          <a:xfrm>
            <a:off x="5102370" y="7657146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7" name="Google Shape;317;p20"/>
          <p:cNvSpPr/>
          <p:nvPr/>
        </p:nvSpPr>
        <p:spPr>
          <a:xfrm>
            <a:off x="5366844" y="7656546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4837897" y="7657146"/>
            <a:ext cx="2646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"/>
                <a:ea typeface="Times"/>
                <a:cs typeface="Times"/>
                <a:sym typeface="Times"/>
              </a:rPr>
              <a:t>x</a:t>
            </a:r>
            <a:endParaRPr i="1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19" name="Google Shape;319;p20"/>
          <p:cNvSpPr/>
          <p:nvPr/>
        </p:nvSpPr>
        <p:spPr>
          <a:xfrm>
            <a:off x="6345136" y="7657137"/>
            <a:ext cx="717900" cy="2187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21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20" name="Google Shape;320;p20"/>
          <p:cNvSpPr/>
          <p:nvPr/>
        </p:nvSpPr>
        <p:spPr>
          <a:xfrm>
            <a:off x="3671358" y="6147193"/>
            <a:ext cx="3591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0"/>
          <p:cNvSpPr/>
          <p:nvPr/>
        </p:nvSpPr>
        <p:spPr>
          <a:xfrm>
            <a:off x="3671358" y="7436576"/>
            <a:ext cx="3591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0"/>
          <p:cNvSpPr/>
          <p:nvPr/>
        </p:nvSpPr>
        <p:spPr>
          <a:xfrm>
            <a:off x="3671358" y="8716804"/>
            <a:ext cx="359100" cy="2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0"/>
          <p:cNvSpPr txBox="1"/>
          <p:nvPr/>
        </p:nvSpPr>
        <p:spPr>
          <a:xfrm>
            <a:off x="3801600" y="6726215"/>
            <a:ext cx="33093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No,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added to the top and </a:t>
            </a:r>
            <a:r>
              <a:rPr lang="en-GB" sz="12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added to bottom. The whole expression hasn’t been doubled.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4" name="Google Shape;324;p20"/>
          <p:cNvSpPr txBox="1"/>
          <p:nvPr/>
        </p:nvSpPr>
        <p:spPr>
          <a:xfrm>
            <a:off x="3801600" y="8042651"/>
            <a:ext cx="33093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Yes, both expressions have been doubled. These should be equal.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3801600" y="9259712"/>
            <a:ext cx="3309300" cy="6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Yes, </a:t>
            </a:r>
            <a:r>
              <a:rPr lang="en-GB" sz="1200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has been added to both. These should be equal.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26" name="Google Shape;326;p20"/>
          <p:cNvCxnSpPr/>
          <p:nvPr/>
        </p:nvCxnSpPr>
        <p:spPr>
          <a:xfrm>
            <a:off x="460045" y="9854815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30" name="Shape 330"/>
        <p:cNvGrpSpPr/>
        <p:nvPr/>
      </p:nvGrpSpPr>
      <p:grpSpPr>
        <a:xfrm>
          <a:off x="0" y="0"/>
          <a:ext cx="0" cy="0"/>
        </a:xfrm>
      </p:grpSpPr>
      <p:sp>
        <p:nvSpPr>
          <p:cNvPr id="331" name="Google Shape;331;p21"/>
          <p:cNvSpPr/>
          <p:nvPr/>
        </p:nvSpPr>
        <p:spPr>
          <a:xfrm>
            <a:off x="6152454" y="2303205"/>
            <a:ext cx="331200" cy="448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2" name="Google Shape;33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33" name="Google Shape;333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equality</a:t>
            </a:r>
            <a:endParaRPr/>
          </a:p>
        </p:txBody>
      </p:sp>
      <p:sp>
        <p:nvSpPr>
          <p:cNvPr id="334" name="Google Shape;33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336" name="Google Shape;336;p21"/>
          <p:cNvSpPr txBox="1"/>
          <p:nvPr/>
        </p:nvSpPr>
        <p:spPr>
          <a:xfrm>
            <a:off x="467998" y="1248950"/>
            <a:ext cx="6790200" cy="4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blanks in these equations so they maintain equality.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37" name="Google Shape;337;p21"/>
          <p:cNvGraphicFramePr>
            <a:graphicFrameLocks noGrp="1"/>
          </p:cNvGraphicFramePr>
          <p:nvPr/>
        </p:nvGraphicFramePr>
        <p:xfrm>
          <a:off x="549675" y="19558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{2A219904-1D39-43E7-A8B7-426E5734A1D3}</a:tableStyleId>
              </a:tblPr>
              <a:tblGrid>
                <a:gridCol w="617575"/>
                <a:gridCol w="248100"/>
                <a:gridCol w="1199875"/>
              </a:tblGrid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</a:t>
                      </a:r>
                      <a:r>
                        <a:rPr lang="en-GB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+ 8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38" name="Google Shape;338;p21"/>
          <p:cNvGraphicFramePr>
            <a:graphicFrameLocks noGrp="1"/>
          </p:cNvGraphicFramePr>
          <p:nvPr/>
        </p:nvGraphicFramePr>
        <p:xfrm>
          <a:off x="19725" y="33374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{2A219904-1D39-43E7-A8B7-426E5734A1D3}</a:tableStyleId>
              </a:tblPr>
              <a:tblGrid>
                <a:gridCol w="1154575"/>
                <a:gridCol w="248100"/>
                <a:gridCol w="1199875"/>
              </a:tblGrid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+ r +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+ r +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+ r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 + r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39" name="Google Shape;339;p21"/>
          <p:cNvGraphicFramePr>
            <a:graphicFrameLocks noGrp="1"/>
          </p:cNvGraphicFramePr>
          <p:nvPr/>
        </p:nvGraphicFramePr>
        <p:xfrm>
          <a:off x="21925" y="46019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{2A219904-1D39-43E7-A8B7-426E5734A1D3}</a:tableStyleId>
              </a:tblPr>
              <a:tblGrid>
                <a:gridCol w="1154575"/>
                <a:gridCol w="248100"/>
                <a:gridCol w="1199875"/>
              </a:tblGrid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40" name="Google Shape;340;p21"/>
          <p:cNvGraphicFramePr>
            <a:graphicFrameLocks noGrp="1"/>
          </p:cNvGraphicFramePr>
          <p:nvPr/>
        </p:nvGraphicFramePr>
        <p:xfrm>
          <a:off x="2066400" y="19558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{2A219904-1D39-43E7-A8B7-426E5734A1D3}</a:tableStyleId>
              </a:tblPr>
              <a:tblGrid>
                <a:gridCol w="1280850"/>
                <a:gridCol w="275250"/>
                <a:gridCol w="1331100"/>
              </a:tblGrid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+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+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1 − 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41" name="Google Shape;341;p21"/>
          <p:cNvGraphicFramePr>
            <a:graphicFrameLocks noGrp="1"/>
          </p:cNvGraphicFramePr>
          <p:nvPr/>
        </p:nvGraphicFramePr>
        <p:xfrm>
          <a:off x="2207425" y="33569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{2A219904-1D39-43E7-A8B7-426E5734A1D3}</a:tableStyleId>
              </a:tblPr>
              <a:tblGrid>
                <a:gridCol w="1154575"/>
                <a:gridCol w="248100"/>
                <a:gridCol w="1199875"/>
              </a:tblGrid>
              <a:tr h="3275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+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4)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+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1)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42" name="Google Shape;342;p21"/>
          <p:cNvGraphicFramePr>
            <a:graphicFrameLocks noGrp="1"/>
          </p:cNvGraphicFramePr>
          <p:nvPr/>
        </p:nvGraphicFramePr>
        <p:xfrm>
          <a:off x="1818188" y="46019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{2A219904-1D39-43E7-A8B7-426E5734A1D3}</a:tableStyleId>
              </a:tblPr>
              <a:tblGrid>
                <a:gridCol w="1571625"/>
                <a:gridCol w="337700"/>
                <a:gridCol w="1633300"/>
              </a:tblGrid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+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+ (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5)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r>
                        <a:rPr lang="en-GB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+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+ (−5)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or</a:t>
                      </a:r>
                      <a:r>
                        <a:rPr lang="en-GB">
                          <a:solidFill>
                            <a:srgbClr val="E6F2F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….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− 4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43" name="Google Shape;343;p21"/>
          <p:cNvGraphicFramePr>
            <a:graphicFrameLocks noGrp="1"/>
          </p:cNvGraphicFramePr>
          <p:nvPr/>
        </p:nvGraphicFramePr>
        <p:xfrm>
          <a:off x="4701813" y="19261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{2A219904-1D39-43E7-A8B7-426E5734A1D3}</a:tableStyleId>
              </a:tblPr>
              <a:tblGrid>
                <a:gridCol w="1280850"/>
                <a:gridCol w="275250"/>
                <a:gridCol w="1331100"/>
              </a:tblGrid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q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34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or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344" name="Google Shape;344;p21" descr="&lt;math xmlns=&quot;http://www.w3.org/1998/Math/MathML&quot; display=&quot;block&quot; data-is-equatio=&quot;1&quot; data-latex=&quot;\frac{p+\ q}{5}&quot;&gt;&lt;mfrac&gt;&lt;mrow&gt;&lt;mi&gt;p&lt;/mi&gt;&lt;mo&gt;+&lt;/mo&gt;&lt;mtext&gt;&lt;/mtext&gt;&lt;mi&gt;q&lt;/mi&gt;&lt;/mrow&gt;&lt;mn&gt;5&lt;/mn&gt;&lt;/mfrac&gt;&lt;/math&gt;" title="the fraction with numerator p plus q and denominator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9575" y="2397660"/>
            <a:ext cx="450684" cy="3652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5" name="Google Shape;345;p21"/>
          <p:cNvGraphicFramePr>
            <a:graphicFrameLocks noGrp="1"/>
          </p:cNvGraphicFramePr>
          <p:nvPr/>
        </p:nvGraphicFramePr>
        <p:xfrm>
          <a:off x="4714713" y="33907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{2A219904-1D39-43E7-A8B7-426E5734A1D3}</a:tableStyleId>
              </a:tblPr>
              <a:tblGrid>
                <a:gridCol w="1248850"/>
                <a:gridCol w="307250"/>
                <a:gridCol w="1331100"/>
              </a:tblGrid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q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q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or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or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 + q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+ 20</a:t>
                      </a:r>
                      <a:endParaRPr>
                        <a:solidFill>
                          <a:srgbClr val="000000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346" name="Google Shape;346;p21"/>
          <p:cNvGraphicFramePr>
            <a:graphicFrameLocks noGrp="1"/>
          </p:cNvGraphicFramePr>
          <p:nvPr/>
        </p:nvGraphicFramePr>
        <p:xfrm>
          <a:off x="4521163" y="51246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{2A219904-1D39-43E7-A8B7-426E5734A1D3}</a:tableStyleId>
              </a:tblPr>
              <a:tblGrid>
                <a:gridCol w="1443800"/>
                <a:gridCol w="290350"/>
                <a:gridCol w="1404125"/>
              </a:tblGrid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q </a:t>
                      </a:r>
                      <a:endParaRPr i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q + p + q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>
                          <a:solidFill>
                            <a:srgbClr val="845AD9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+ 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 + q</a:t>
                      </a:r>
                      <a:endParaRPr>
                        <a:solidFill>
                          <a:srgbClr val="845AD9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97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or</a:t>
                      </a:r>
                      <a:r>
                        <a:rPr lang="en-GB">
                          <a:solidFill>
                            <a:srgbClr val="E6F2F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.</a:t>
                      </a:r>
                      <a:endParaRPr>
                        <a:solidFill>
                          <a:srgbClr val="E6F2F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cxnSp>
        <p:nvCxnSpPr>
          <p:cNvPr id="347" name="Google Shape;347;p21"/>
          <p:cNvCxnSpPr/>
          <p:nvPr/>
        </p:nvCxnSpPr>
        <p:spPr>
          <a:xfrm flipH="1">
            <a:off x="2240775" y="1689150"/>
            <a:ext cx="0" cy="4394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8" name="Google Shape;348;p21"/>
          <p:cNvCxnSpPr/>
          <p:nvPr/>
        </p:nvCxnSpPr>
        <p:spPr>
          <a:xfrm flipH="1">
            <a:off x="4787550" y="1689150"/>
            <a:ext cx="0" cy="4394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9" name="Google Shape;349;p21"/>
          <p:cNvSpPr/>
          <p:nvPr/>
        </p:nvSpPr>
        <p:spPr>
          <a:xfrm>
            <a:off x="468050" y="170625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468050" y="302083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468050" y="434138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2240775" y="170625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21"/>
          <p:cNvSpPr/>
          <p:nvPr/>
        </p:nvSpPr>
        <p:spPr>
          <a:xfrm>
            <a:off x="2240775" y="302083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4" name="Google Shape;354;p21"/>
          <p:cNvSpPr/>
          <p:nvPr/>
        </p:nvSpPr>
        <p:spPr>
          <a:xfrm>
            <a:off x="2240775" y="434138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5" name="Google Shape;355;p21"/>
          <p:cNvSpPr/>
          <p:nvPr/>
        </p:nvSpPr>
        <p:spPr>
          <a:xfrm>
            <a:off x="4806650" y="1706255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21"/>
          <p:cNvSpPr/>
          <p:nvPr/>
        </p:nvSpPr>
        <p:spPr>
          <a:xfrm>
            <a:off x="4806650" y="302083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21"/>
          <p:cNvSpPr/>
          <p:nvPr/>
        </p:nvSpPr>
        <p:spPr>
          <a:xfrm>
            <a:off x="4806650" y="4950980"/>
            <a:ext cx="460800" cy="2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8" name="Google Shape;358;p21" descr="&lt;math xmlns=&quot;http://www.w3.org/1998/Math/MathML&quot; display=&quot;block&quot; data-is-equatio=&quot;1&quot; data-latex=&quot;\frac{10}{5}&quot;&gt;&lt;mfrac&gt;&lt;mn&gt;10&lt;/mn&gt;&lt;mn&gt;5&lt;/mn&gt;&lt;/mfrac&gt;&lt;/math&gt;" title="ten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7436" y="2350685"/>
            <a:ext cx="198864" cy="36523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1"/>
          <p:cNvSpPr/>
          <p:nvPr/>
        </p:nvSpPr>
        <p:spPr>
          <a:xfrm>
            <a:off x="1525500" y="2275575"/>
            <a:ext cx="483300" cy="24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1526425" y="2568500"/>
            <a:ext cx="483300" cy="24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21"/>
          <p:cNvSpPr/>
          <p:nvPr/>
        </p:nvSpPr>
        <p:spPr>
          <a:xfrm>
            <a:off x="650675" y="3635975"/>
            <a:ext cx="547200" cy="24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650675" y="3969625"/>
            <a:ext cx="547200" cy="244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1"/>
          <p:cNvSpPr/>
          <p:nvPr/>
        </p:nvSpPr>
        <p:spPr>
          <a:xfrm>
            <a:off x="928850" y="4911300"/>
            <a:ext cx="326100" cy="244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1"/>
          <p:cNvSpPr/>
          <p:nvPr/>
        </p:nvSpPr>
        <p:spPr>
          <a:xfrm>
            <a:off x="4007475" y="2275575"/>
            <a:ext cx="326100" cy="24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5" name="Google Shape;365;p21"/>
          <p:cNvSpPr/>
          <p:nvPr/>
        </p:nvSpPr>
        <p:spPr>
          <a:xfrm>
            <a:off x="2616701" y="3679900"/>
            <a:ext cx="815400" cy="24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3622500" y="4910550"/>
            <a:ext cx="1092300" cy="264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21"/>
          <p:cNvSpPr/>
          <p:nvPr/>
        </p:nvSpPr>
        <p:spPr>
          <a:xfrm>
            <a:off x="3622508" y="5241492"/>
            <a:ext cx="613800" cy="24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6171500" y="2879575"/>
            <a:ext cx="263700" cy="24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1"/>
          <p:cNvSpPr/>
          <p:nvPr/>
        </p:nvSpPr>
        <p:spPr>
          <a:xfrm>
            <a:off x="5267449" y="3698725"/>
            <a:ext cx="765600" cy="264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1"/>
          <p:cNvSpPr/>
          <p:nvPr/>
        </p:nvSpPr>
        <p:spPr>
          <a:xfrm>
            <a:off x="6217416" y="5764202"/>
            <a:ext cx="296100" cy="24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1" name="Google Shape;371;p21"/>
          <p:cNvSpPr/>
          <p:nvPr/>
        </p:nvSpPr>
        <p:spPr>
          <a:xfrm>
            <a:off x="5181327" y="4324850"/>
            <a:ext cx="877500" cy="264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1"/>
          <p:cNvSpPr/>
          <p:nvPr/>
        </p:nvSpPr>
        <p:spPr>
          <a:xfrm>
            <a:off x="6217426" y="5444425"/>
            <a:ext cx="877500" cy="2451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1"/>
          <p:cNvSpPr/>
          <p:nvPr/>
        </p:nvSpPr>
        <p:spPr>
          <a:xfrm>
            <a:off x="5267449" y="4003525"/>
            <a:ext cx="765600" cy="2646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Maintaining equality in equations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5" name="Google Shape;375;p21"/>
          <p:cNvCxnSpPr/>
          <p:nvPr/>
        </p:nvCxnSpPr>
        <p:spPr>
          <a:xfrm>
            <a:off x="460045" y="616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172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Times</vt:lpstr>
      <vt:lpstr>simple-light-2</vt:lpstr>
      <vt:lpstr>Securing understanding of equality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2024-01-08T16:53:36.280</cp:lastPrinted>
  <dcterms:created xsi:type="dcterms:W3CDTF">2024-01-08T16:53:36Z</dcterms:created>
  <dcterms:modified xsi:type="dcterms:W3CDTF">2024-01-08T16:53:30Z</dcterms:modified>
</cp:coreProperties>
</file>