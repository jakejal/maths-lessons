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68" r:id="rId4"/>
    <p:sldMasterId id="21474837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4E34FA-2889-4FDF-9DCE-3FEFEEEE8FDE}">
  <a:tblStyle styleId="{F14E34FA-2889-4FDF-9DCE-3FEFEEEE8F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2a22e82a0de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2a22e82a0de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a22e82a0de_0_1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a22e82a0de_0_1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2a22e82a0de_0_1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2a22e82a0de_0_1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a22e82a0de_0_2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a22e82a0de_0_2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2a22e82a0de_0_2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2a22e82a0de_0_2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2a22e82a0de_0_2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2a22e82a0de_0_2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2a22e82a0de_0_2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2a22e82a0de_0_2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1ec76dd862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1ec76dd862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1ec76dd862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1ec76dd862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1ec76dd862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1ec76dd862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1ec76dd862e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1ec76dd862e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1ec76dd862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1ec76dd862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1ec76dd862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1ec76dd862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1ec76dd862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1ec76dd862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1ec76dd862e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1ec76dd862e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1ec76dd862e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1ec76dd862e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1ec76dd862e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1ec76dd862e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1ec76dd862e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1ec76dd862e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1ec76dd862e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1ec76dd862e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1ec76dd862e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1ec76dd862e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1ec76dd862e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1ec76dd862e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1ec76dd862e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1ec76dd862e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1ec76dd862e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1ec76dd862e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1ec76dd862e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1ec76dd862e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1ec76dd862e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1ec76dd862e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g1ec76dd862e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1" name="Google Shape;1881;g1ec76dd862e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1ec76dd862e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1ec76dd862e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g1ec76dd862e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1ec76dd862e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1ec76dd862e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1ec76dd862e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1ec76dd862e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1ec76dd862e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1ec76dd862e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1ec76dd862e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g1ec76dd862e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8" name="Google Shape;1988;g1ec76dd862e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1ec76dd862e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1ec76dd862e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1ec76dd862e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1ec76dd862e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1ec76dd862e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1ec76dd862e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1ec76dd862e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1ec76dd862e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g1ec76dd862e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2" name="Google Shape;2042;g1ec76dd862e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1ec76dd862e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1ec76dd862e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1ec76dd862e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3" name="Google Shape;2073;g1ec76dd862e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g1ec76dd862e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1" name="Google Shape;2101;g1ec76dd862e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88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8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8.png"/><Relationship Id="rId4" Type="http://schemas.openxmlformats.org/officeDocument/2006/relationships/image" Target="../media/image32.png"/><Relationship Id="rId11" Type="http://schemas.openxmlformats.org/officeDocument/2006/relationships/image" Target="../media/image26.png"/><Relationship Id="rId10" Type="http://schemas.openxmlformats.org/officeDocument/2006/relationships/image" Target="../media/image36.png"/><Relationship Id="rId9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88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8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8.png"/><Relationship Id="rId4" Type="http://schemas.openxmlformats.org/officeDocument/2006/relationships/image" Target="../media/image32.png"/><Relationship Id="rId11" Type="http://schemas.openxmlformats.org/officeDocument/2006/relationships/image" Target="../media/image26.png"/><Relationship Id="rId10" Type="http://schemas.openxmlformats.org/officeDocument/2006/relationships/image" Target="../media/image36.png"/><Relationship Id="rId9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5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78"/>
          <p:cNvCxnSpPr>
            <a:endCxn id="89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6" name="Google Shape;89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8" name="Google Shape;898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5" name="Google Shape;895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7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79"/>
          <p:cNvCxnSpPr>
            <a:endCxn id="910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0" name="Google Shape;91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7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7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5" name="Google Shape;915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8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0" name="Google Shape;930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4" name="Google Shape;934;p8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5" name="Google Shape;935;p8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8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9" name="Google Shape;939;p8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2" name="Google Shape;972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8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5" name="Google Shape;975;p8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7" name="Google Shape;97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8" name="Google Shape;97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1" name="Google Shape;98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5" name="Google Shape;985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0" name="Google Shape;99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1" name="Google Shape;99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4" name="Google Shape;99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8" name="Google Shape;998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1" name="Google Shape;1001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3" name="Google Shape;1003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4" name="Google Shape;1004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7" name="Google Shape;1007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1" name="Google Shape;101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5" name="Google Shape;10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6" name="Google Shape;1016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7" name="Google Shape;1017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0" name="Google Shape;1020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Google Shape;1023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9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1" name="Google Shape;1031;p8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2" name="Google Shape;1032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3" name="Google Shape;1033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9" name="Google Shape;1039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3" name="Google Shape;1043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3" name="Google Shape;105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8" name="Google Shape;105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9" name="Google Shape;1059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2" name="Google Shape;106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5" name="Google Shape;107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6" name="Google Shape;1076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9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1" name="Google Shape;1081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2" name="Google Shape;108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5" name="Google Shape;108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7" name="Google Shape;108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9" name="Google Shape;109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2" name="Google Shape;1102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4" name="Google Shape;1104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5" name="Google Shape;110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0" name="Google Shape;111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8" name="Google Shape;1118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p9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3" name="Google Shape;1123;p9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4" name="Google Shape;1124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5" name="Google Shape;112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8" name="Google Shape;112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1" name="Google Shape;113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" name="Google Shape;1134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7" name="Google Shape;113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0" name="Google Shape;1140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4" name="Google Shape;1144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47" name="Google Shape;1147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0" name="Google Shape;1150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2" name="Google Shape;1162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3" name="Google Shape;116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6" name="Google Shape;116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9" name="Google Shape;116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2" name="Google Shape;1172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5" name="Google Shape;1175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8" name="Google Shape;1178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9" name="Google Shape;1179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0" name="Google Shape;1180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1" name="Google Shape;1181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5" name="Google Shape;118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1" name="Google Shape;1191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4" name="Google Shape;119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7" name="Google Shape;1197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0" name="Google Shape;1200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1" name="Google Shape;120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2" name="Google Shape;120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5" name="Google Shape;120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8" name="Google Shape;120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1" name="Google Shape;121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Google Shape;121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7" name="Google Shape;121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0" name="Google Shape;1220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1" name="Google Shape;1221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4" name="Google Shape;122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5" name="Google Shape;122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8" name="Google Shape;122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1" name="Google Shape;123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4" name="Google Shape;123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7" name="Google Shape;1237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7" name="Google Shape;1247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8" name="Google Shape;124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1" name="Google Shape;125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7" name="Google Shape;125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Google Shape;1260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3" name="Google Shape;126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6" name="Google Shape;1266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7" name="Google Shape;1267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0" name="Google Shape;1270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1283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6" name="Google Shape;128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9" name="Google Shape;1289;p10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0" name="Google Shape;1290;p10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1" name="Google Shape;1291;p10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2" name="Google Shape;1292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2" name="Google Shape;1302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5" name="Google Shape;1305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8" name="Google Shape;1308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9" name="Google Shape;1309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0" name="Google Shape;1310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1" name="Google Shape;1311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4" name="Google Shape;132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7" name="Google Shape;1327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8" name="Google Shape;1328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0" name="Google Shape;1330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3" name="Google Shape;134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6" name="Google Shape;1346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7" name="Google Shape;1347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8" name="Google Shape;1348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9" name="Google Shape;1349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9" name="Google Shape;1359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2" name="Google Shape;136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0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2" name="Google Shape;139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7" name="Google Shape;141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8" name="Google Shape;14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9" name="Google Shape;144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1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2" name="Google Shape;1452;p1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1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1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8" name="Google Shape;1458;p1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3" name="Google Shape;1463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1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2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2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2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6" name="Google Shape;147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2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3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3.png"/><Relationship Id="rId4" Type="http://schemas.openxmlformats.org/officeDocument/2006/relationships/image" Target="../media/image106.png"/><Relationship Id="rId5" Type="http://schemas.openxmlformats.org/officeDocument/2006/relationships/image" Target="../media/image10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3.png"/><Relationship Id="rId4" Type="http://schemas.openxmlformats.org/officeDocument/2006/relationships/image" Target="../media/image106.png"/><Relationship Id="rId5" Type="http://schemas.openxmlformats.org/officeDocument/2006/relationships/image" Target="../media/image10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3.png"/><Relationship Id="rId4" Type="http://schemas.openxmlformats.org/officeDocument/2006/relationships/image" Target="../media/image10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3.png"/><Relationship Id="rId4" Type="http://schemas.openxmlformats.org/officeDocument/2006/relationships/image" Target="../media/image106.png"/><Relationship Id="rId5" Type="http://schemas.openxmlformats.org/officeDocument/2006/relationships/image" Target="../media/image10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3.png"/><Relationship Id="rId4" Type="http://schemas.openxmlformats.org/officeDocument/2006/relationships/image" Target="../media/image102.png"/><Relationship Id="rId5" Type="http://schemas.openxmlformats.org/officeDocument/2006/relationships/image" Target="../media/image10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3.png"/><Relationship Id="rId4" Type="http://schemas.openxmlformats.org/officeDocument/2006/relationships/image" Target="../media/image102.png"/><Relationship Id="rId5" Type="http://schemas.openxmlformats.org/officeDocument/2006/relationships/image" Target="../media/image108.png"/><Relationship Id="rId6" Type="http://schemas.openxmlformats.org/officeDocument/2006/relationships/image" Target="../media/image1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7.png"/><Relationship Id="rId4" Type="http://schemas.openxmlformats.org/officeDocument/2006/relationships/image" Target="../media/image111.png"/><Relationship Id="rId5" Type="http://schemas.openxmlformats.org/officeDocument/2006/relationships/image" Target="../media/image10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7.png"/><Relationship Id="rId4" Type="http://schemas.openxmlformats.org/officeDocument/2006/relationships/image" Target="../media/image111.png"/><Relationship Id="rId5" Type="http://schemas.openxmlformats.org/officeDocument/2006/relationships/image" Target="../media/image109.png"/><Relationship Id="rId6" Type="http://schemas.openxmlformats.org/officeDocument/2006/relationships/image" Target="../media/image1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6.png"/><Relationship Id="rId4" Type="http://schemas.openxmlformats.org/officeDocument/2006/relationships/image" Target="../media/image10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3.png"/><Relationship Id="rId4" Type="http://schemas.openxmlformats.org/officeDocument/2006/relationships/image" Target="../media/image118.png"/><Relationship Id="rId5" Type="http://schemas.openxmlformats.org/officeDocument/2006/relationships/image" Target="../media/image10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3.png"/><Relationship Id="rId4" Type="http://schemas.openxmlformats.org/officeDocument/2006/relationships/image" Target="../media/image118.png"/><Relationship Id="rId5" Type="http://schemas.openxmlformats.org/officeDocument/2006/relationships/image" Target="../media/image10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6.png"/><Relationship Id="rId4" Type="http://schemas.openxmlformats.org/officeDocument/2006/relationships/image" Target="../media/image10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6.png"/><Relationship Id="rId4" Type="http://schemas.openxmlformats.org/officeDocument/2006/relationships/image" Target="../media/image101.png"/><Relationship Id="rId5" Type="http://schemas.openxmlformats.org/officeDocument/2006/relationships/image" Target="../media/image119.png"/><Relationship Id="rId6" Type="http://schemas.openxmlformats.org/officeDocument/2006/relationships/image" Target="../media/image1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3.png"/><Relationship Id="rId4" Type="http://schemas.openxmlformats.org/officeDocument/2006/relationships/image" Target="../media/image118.png"/><Relationship Id="rId5" Type="http://schemas.openxmlformats.org/officeDocument/2006/relationships/image" Target="../media/image100.png"/><Relationship Id="rId6" Type="http://schemas.openxmlformats.org/officeDocument/2006/relationships/image" Target="../media/image11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3.png"/><Relationship Id="rId4" Type="http://schemas.openxmlformats.org/officeDocument/2006/relationships/image" Target="../media/image118.png"/><Relationship Id="rId5" Type="http://schemas.openxmlformats.org/officeDocument/2006/relationships/image" Target="../media/image10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2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linear </a:t>
            </a:r>
            <a:r>
              <a:rPr lang="en-GB"/>
              <a:t>equations</a:t>
            </a:r>
            <a:endParaRPr/>
          </a:p>
        </p:txBody>
      </p:sp>
      <p:sp>
        <p:nvSpPr>
          <p:cNvPr id="1485" name="Google Shape;1485;p12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2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solving linear equations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26"/>
          <p:cNvSpPr txBox="1"/>
          <p:nvPr/>
        </p:nvSpPr>
        <p:spPr>
          <a:xfrm>
            <a:off x="324000" y="131697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equation is used to show two expressions that are equal to each other.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126"/>
          <p:cNvSpPr txBox="1"/>
          <p:nvPr/>
        </p:nvSpPr>
        <p:spPr>
          <a:xfrm>
            <a:off x="324000" y="253617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solution to an equality is the value which, when substituted, maintains the equality between the expressions.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2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507" name="Google Shape;1507;p12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508" name="Google Shape;1508;p127"/>
          <p:cNvSpPr txBox="1"/>
          <p:nvPr>
            <p:ph idx="3" type="title"/>
          </p:nvPr>
        </p:nvSpPr>
        <p:spPr>
          <a:xfrm>
            <a:off x="324000" y="657600"/>
            <a:ext cx="6450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linear equations</a:t>
            </a:r>
            <a:endParaRPr/>
          </a:p>
        </p:txBody>
      </p:sp>
      <p:pic>
        <p:nvPicPr>
          <p:cNvPr id="1509" name="Google Shape;1509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05110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28"/>
          <p:cNvSpPr txBox="1"/>
          <p:nvPr>
            <p:ph idx="1" type="body"/>
          </p:nvPr>
        </p:nvSpPr>
        <p:spPr>
          <a:xfrm>
            <a:off x="324000" y="759300"/>
            <a:ext cx="71352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will encounter many examples where we use our knowledge of algebra to solve geometric problems.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5" name="Google Shape;1515;p1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516" name="Google Shape;1516;p128"/>
          <p:cNvSpPr/>
          <p:nvPr/>
        </p:nvSpPr>
        <p:spPr>
          <a:xfrm>
            <a:off x="1142923" y="2276193"/>
            <a:ext cx="2322900" cy="1142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7" name="Google Shape;1517;p128"/>
          <p:cNvCxnSpPr/>
          <p:nvPr/>
        </p:nvCxnSpPr>
        <p:spPr>
          <a:xfrm>
            <a:off x="1147305" y="3567943"/>
            <a:ext cx="2331600" cy="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8" name="Google Shape;1518;p128"/>
          <p:cNvCxnSpPr/>
          <p:nvPr/>
        </p:nvCxnSpPr>
        <p:spPr>
          <a:xfrm rot="10800000">
            <a:off x="975584" y="2278668"/>
            <a:ext cx="11100" cy="114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9" name="Google Shape;1519;p128"/>
          <p:cNvSpPr txBox="1"/>
          <p:nvPr/>
        </p:nvSpPr>
        <p:spPr>
          <a:xfrm>
            <a:off x="319198" y="2669968"/>
            <a:ext cx="625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28"/>
          <p:cNvSpPr txBox="1"/>
          <p:nvPr/>
        </p:nvSpPr>
        <p:spPr>
          <a:xfrm>
            <a:off x="1899347" y="3584368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28"/>
          <p:cNvSpPr txBox="1"/>
          <p:nvPr>
            <p:ph idx="1" type="body"/>
          </p:nvPr>
        </p:nvSpPr>
        <p:spPr>
          <a:xfrm>
            <a:off x="324000" y="1597500"/>
            <a:ext cx="84960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example,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/>
              <a:t>, find the perimeter of this rectangle.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2" name="Google Shape;1522;p128"/>
          <p:cNvSpPr txBox="1"/>
          <p:nvPr>
            <p:ph idx="1" type="body"/>
          </p:nvPr>
        </p:nvSpPr>
        <p:spPr>
          <a:xfrm>
            <a:off x="4320100" y="3632429"/>
            <a:ext cx="2698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perimeter is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i="1"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3" name="Google Shape;1523;p128"/>
          <p:cNvSpPr txBox="1"/>
          <p:nvPr/>
        </p:nvSpPr>
        <p:spPr>
          <a:xfrm>
            <a:off x="4315289" y="2176672"/>
            <a:ext cx="43287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− 1) +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128"/>
          <p:cNvSpPr txBox="1"/>
          <p:nvPr/>
        </p:nvSpPr>
        <p:spPr>
          <a:xfrm>
            <a:off x="4315292" y="2633875"/>
            <a:ext cx="1279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128"/>
          <p:cNvSpPr txBox="1"/>
          <p:nvPr/>
        </p:nvSpPr>
        <p:spPr>
          <a:xfrm>
            <a:off x="4315304" y="3079845"/>
            <a:ext cx="1886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10(3)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= 32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128"/>
          <p:cNvSpPr txBox="1"/>
          <p:nvPr>
            <p:ph idx="1" type="body"/>
          </p:nvPr>
        </p:nvSpPr>
        <p:spPr>
          <a:xfrm>
            <a:off x="4320100" y="4120904"/>
            <a:ext cx="4026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But what if we had to work backwards in such a problem?</a:t>
            </a:r>
            <a:endParaRPr i="1"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532" name="Google Shape;1532;p129"/>
          <p:cNvSpPr/>
          <p:nvPr/>
        </p:nvSpPr>
        <p:spPr>
          <a:xfrm>
            <a:off x="1371523" y="1632902"/>
            <a:ext cx="2322900" cy="1142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3" name="Google Shape;1533;p129"/>
          <p:cNvCxnSpPr/>
          <p:nvPr/>
        </p:nvCxnSpPr>
        <p:spPr>
          <a:xfrm>
            <a:off x="1375905" y="2924652"/>
            <a:ext cx="2331600" cy="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4" name="Google Shape;1534;p129"/>
          <p:cNvCxnSpPr/>
          <p:nvPr/>
        </p:nvCxnSpPr>
        <p:spPr>
          <a:xfrm rot="10800000">
            <a:off x="1204184" y="1635377"/>
            <a:ext cx="11100" cy="114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5" name="Google Shape;1535;p129"/>
          <p:cNvSpPr txBox="1"/>
          <p:nvPr/>
        </p:nvSpPr>
        <p:spPr>
          <a:xfrm>
            <a:off x="324001" y="2026689"/>
            <a:ext cx="849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29"/>
          <p:cNvSpPr txBox="1"/>
          <p:nvPr/>
        </p:nvSpPr>
        <p:spPr>
          <a:xfrm>
            <a:off x="2127947" y="2941077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29"/>
          <p:cNvSpPr txBox="1"/>
          <p:nvPr>
            <p:ph idx="1" type="body"/>
          </p:nvPr>
        </p:nvSpPr>
        <p:spPr>
          <a:xfrm>
            <a:off x="324000" y="824270"/>
            <a:ext cx="84960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perimeter of this rectangle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000"/>
              <a:t>. Find the value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38" name="Google Shape;1538;p129"/>
          <p:cNvGraphicFramePr/>
          <p:nvPr/>
        </p:nvGraphicFramePr>
        <p:xfrm>
          <a:off x="403894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 + 2(5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14 + 10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9" name="Google Shape;1539;p129"/>
          <p:cNvSpPr txBox="1"/>
          <p:nvPr>
            <p:ph idx="1" type="body"/>
          </p:nvPr>
        </p:nvSpPr>
        <p:spPr>
          <a:xfrm>
            <a:off x="324000" y="3524955"/>
            <a:ext cx="470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First, we need to form an equation that represents the situation.</a:t>
            </a:r>
            <a:endParaRPr i="1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40" name="Google Shape;1540;p129"/>
          <p:cNvGraphicFramePr/>
          <p:nvPr/>
        </p:nvGraphicFramePr>
        <p:xfrm>
          <a:off x="403894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 + 2(5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1" name="Google Shape;1541;p129"/>
          <p:cNvGraphicFramePr/>
          <p:nvPr/>
        </p:nvGraphicFramePr>
        <p:xfrm>
          <a:off x="403894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 + 2(5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− 14 + 10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2" name="Google Shape;1542;p129"/>
          <p:cNvGraphicFramePr/>
          <p:nvPr/>
        </p:nvGraphicFramePr>
        <p:xfrm>
          <a:off x="403894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 + 2(5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− 14 + 10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30"/>
          <p:cNvSpPr txBox="1"/>
          <p:nvPr>
            <p:ph type="title"/>
          </p:nvPr>
        </p:nvSpPr>
        <p:spPr>
          <a:xfrm>
            <a:off x="324000" y="748775"/>
            <a:ext cx="6629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equation will help us to 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if we know that the perimeter of this rectangle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548" name="Google Shape;1548;p13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549" name="Google Shape;1549;p130"/>
          <p:cNvSpPr txBox="1"/>
          <p:nvPr>
            <p:ph idx="1" type="subTitle"/>
          </p:nvPr>
        </p:nvSpPr>
        <p:spPr>
          <a:xfrm>
            <a:off x="1034425" y="1913975"/>
            <a:ext cx="3841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− 7) + (4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+ 1) = 80</a:t>
            </a:r>
            <a:endParaRPr/>
          </a:p>
        </p:txBody>
      </p:sp>
      <p:sp>
        <p:nvSpPr>
          <p:cNvPr id="1550" name="Google Shape;1550;p130"/>
          <p:cNvSpPr txBox="1"/>
          <p:nvPr>
            <p:ph idx="3" type="subTitle"/>
          </p:nvPr>
        </p:nvSpPr>
        <p:spPr>
          <a:xfrm>
            <a:off x="1034425" y="2870450"/>
            <a:ext cx="4290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− 7) + (4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+ 1) + 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− 7) + (4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endParaRPr/>
          </a:p>
        </p:txBody>
      </p:sp>
      <p:sp>
        <p:nvSpPr>
          <p:cNvPr id="1551" name="Google Shape;1551;p130"/>
          <p:cNvSpPr txBox="1"/>
          <p:nvPr>
            <p:ph idx="4" type="subTitle"/>
          </p:nvPr>
        </p:nvSpPr>
        <p:spPr>
          <a:xfrm>
            <a:off x="1034425" y="3843174"/>
            <a:ext cx="3820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− 7) + 2(4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+ 1) = 80</a:t>
            </a:r>
            <a:endParaRPr/>
          </a:p>
        </p:txBody>
      </p:sp>
      <p:sp>
        <p:nvSpPr>
          <p:cNvPr id="1552" name="Google Shape;1552;p130"/>
          <p:cNvSpPr/>
          <p:nvPr/>
        </p:nvSpPr>
        <p:spPr>
          <a:xfrm>
            <a:off x="6095925" y="1171200"/>
            <a:ext cx="2322900" cy="613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3" name="Google Shape;1553;p130"/>
          <p:cNvCxnSpPr/>
          <p:nvPr/>
        </p:nvCxnSpPr>
        <p:spPr>
          <a:xfrm>
            <a:off x="6100305" y="1934052"/>
            <a:ext cx="2331600" cy="6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4" name="Google Shape;1554;p130"/>
          <p:cNvCxnSpPr/>
          <p:nvPr/>
        </p:nvCxnSpPr>
        <p:spPr>
          <a:xfrm rot="10800000">
            <a:off x="5962801" y="1198389"/>
            <a:ext cx="600" cy="589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5" name="Google Shape;1555;p130"/>
          <p:cNvSpPr txBox="1"/>
          <p:nvPr/>
        </p:nvSpPr>
        <p:spPr>
          <a:xfrm>
            <a:off x="5308279" y="1298391"/>
            <a:ext cx="70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130"/>
          <p:cNvSpPr txBox="1"/>
          <p:nvPr/>
        </p:nvSpPr>
        <p:spPr>
          <a:xfrm>
            <a:off x="6852347" y="1950477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7" name="Google Shape;1557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765" y="384558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0350" y="284582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0150" y="1897738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130"/>
          <p:cNvSpPr txBox="1"/>
          <p:nvPr>
            <p:ph idx="4294967295" type="body"/>
          </p:nvPr>
        </p:nvSpPr>
        <p:spPr>
          <a:xfrm>
            <a:off x="1064125" y="3325200"/>
            <a:ext cx="7755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Whilst b) is an expression for the perimeter, it is not an equation.</a:t>
            </a:r>
            <a:endParaRPr i="1"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1" name="Google Shape;1561;p130"/>
          <p:cNvSpPr txBox="1"/>
          <p:nvPr>
            <p:ph idx="4294967295" type="body"/>
          </p:nvPr>
        </p:nvSpPr>
        <p:spPr>
          <a:xfrm>
            <a:off x="1064125" y="4315800"/>
            <a:ext cx="632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Two lots of each length being equal to the perimeter.</a:t>
            </a:r>
            <a:endParaRPr i="1" sz="2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" name="Google Shape;1566;p13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251800" y="3229841"/>
            <a:ext cx="4569098" cy="10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3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332324" y="1846996"/>
            <a:ext cx="5278776" cy="15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569" name="Google Shape;1569;p131"/>
          <p:cNvSpPr/>
          <p:nvPr/>
        </p:nvSpPr>
        <p:spPr>
          <a:xfrm>
            <a:off x="7315125" y="1175700"/>
            <a:ext cx="1202400" cy="1142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0" name="Google Shape;1570;p131"/>
          <p:cNvCxnSpPr/>
          <p:nvPr/>
        </p:nvCxnSpPr>
        <p:spPr>
          <a:xfrm flipH="1" rot="10800000">
            <a:off x="7300547" y="2488596"/>
            <a:ext cx="1263300" cy="3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1" name="Google Shape;1571;p131"/>
          <p:cNvCxnSpPr/>
          <p:nvPr/>
        </p:nvCxnSpPr>
        <p:spPr>
          <a:xfrm rot="10800000">
            <a:off x="7170245" y="1178177"/>
            <a:ext cx="11100" cy="114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2" name="Google Shape;1572;p131"/>
          <p:cNvSpPr txBox="1"/>
          <p:nvPr/>
        </p:nvSpPr>
        <p:spPr>
          <a:xfrm>
            <a:off x="6399952" y="1547029"/>
            <a:ext cx="849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1"/>
          <p:cNvSpPr txBox="1"/>
          <p:nvPr/>
        </p:nvSpPr>
        <p:spPr>
          <a:xfrm>
            <a:off x="7519097" y="2519980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31"/>
          <p:cNvSpPr txBox="1"/>
          <p:nvPr>
            <p:ph idx="1" type="body"/>
          </p:nvPr>
        </p:nvSpPr>
        <p:spPr>
          <a:xfrm>
            <a:off x="324000" y="824275"/>
            <a:ext cx="84960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is helping Sam solve this problem.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Find the perimeter of this square.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5" name="Google Shape;1575;p131"/>
          <p:cNvSpPr txBox="1"/>
          <p:nvPr>
            <p:ph idx="1" type="body"/>
          </p:nvPr>
        </p:nvSpPr>
        <p:spPr>
          <a:xfrm>
            <a:off x="781200" y="1924755"/>
            <a:ext cx="470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I know that an expression for the perimeter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2(4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+ 7) + 2(5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− 3) </a:t>
            </a:r>
            <a:r>
              <a:rPr lang="en-GB" sz="2100"/>
              <a:t>but I don’t know where to go from there?</a:t>
            </a:r>
            <a:endParaRPr i="1"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6" name="Google Shape;1576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126" y="3250900"/>
            <a:ext cx="824404" cy="118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09074" y="3774319"/>
            <a:ext cx="932277" cy="1046481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31"/>
          <p:cNvSpPr txBox="1"/>
          <p:nvPr>
            <p:ph idx="1" type="body"/>
          </p:nvPr>
        </p:nvSpPr>
        <p:spPr>
          <a:xfrm>
            <a:off x="3448200" y="3296350"/>
            <a:ext cx="4021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else do you know about the properties of a square</a:t>
            </a:r>
            <a:r>
              <a:rPr lang="en-GB" sz="2100"/>
              <a:t>?</a:t>
            </a:r>
            <a:endParaRPr i="1"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9" name="Google Shape;1579;p131"/>
          <p:cNvSpPr txBox="1"/>
          <p:nvPr>
            <p:ph idx="1" type="body"/>
          </p:nvPr>
        </p:nvSpPr>
        <p:spPr>
          <a:xfrm>
            <a:off x="1686782" y="4481875"/>
            <a:ext cx="52788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think </a:t>
            </a:r>
            <a:r>
              <a:rPr lang="en-GB"/>
              <a:t>Lucas is hinting at?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4" name="Google Shape;1584;p13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715723" y="1999400"/>
            <a:ext cx="3510702" cy="118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586" name="Google Shape;1586;p132"/>
          <p:cNvSpPr/>
          <p:nvPr/>
        </p:nvSpPr>
        <p:spPr>
          <a:xfrm>
            <a:off x="7315125" y="1175700"/>
            <a:ext cx="1202400" cy="1142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7" name="Google Shape;1587;p132"/>
          <p:cNvCxnSpPr/>
          <p:nvPr/>
        </p:nvCxnSpPr>
        <p:spPr>
          <a:xfrm flipH="1" rot="10800000">
            <a:off x="7300547" y="2488596"/>
            <a:ext cx="1263300" cy="3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8" name="Google Shape;1588;p132"/>
          <p:cNvCxnSpPr/>
          <p:nvPr/>
        </p:nvCxnSpPr>
        <p:spPr>
          <a:xfrm rot="10800000">
            <a:off x="7170245" y="1178177"/>
            <a:ext cx="11100" cy="114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9" name="Google Shape;1589;p132"/>
          <p:cNvSpPr txBox="1"/>
          <p:nvPr/>
        </p:nvSpPr>
        <p:spPr>
          <a:xfrm>
            <a:off x="6399952" y="1547029"/>
            <a:ext cx="849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2"/>
          <p:cNvSpPr txBox="1"/>
          <p:nvPr/>
        </p:nvSpPr>
        <p:spPr>
          <a:xfrm>
            <a:off x="7519097" y="2519980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32"/>
          <p:cNvSpPr txBox="1"/>
          <p:nvPr>
            <p:ph idx="1" type="body"/>
          </p:nvPr>
        </p:nvSpPr>
        <p:spPr>
          <a:xfrm>
            <a:off x="324000" y="824275"/>
            <a:ext cx="84960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is helping Sam solve this problem.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Find the perimeter of this square.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2" name="Google Shape;1592;p132"/>
          <p:cNvSpPr txBox="1"/>
          <p:nvPr>
            <p:ph idx="1" type="body"/>
          </p:nvPr>
        </p:nvSpPr>
        <p:spPr>
          <a:xfrm>
            <a:off x="1086000" y="2077150"/>
            <a:ext cx="29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Equal lengths! That means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+ 7 = 5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3" name="Google Shape;1593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126" y="3250900"/>
            <a:ext cx="824404" cy="118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09074" y="3774319"/>
            <a:ext cx="932277" cy="10464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5" name="Google Shape;1595;p132"/>
          <p:cNvGraphicFramePr/>
          <p:nvPr/>
        </p:nvGraphicFramePr>
        <p:xfrm>
          <a:off x="980070" y="3073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1868450"/>
                <a:gridCol w="272000"/>
                <a:gridCol w="112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6" name="Google Shape;1596;p132"/>
          <p:cNvSpPr txBox="1"/>
          <p:nvPr/>
        </p:nvSpPr>
        <p:spPr>
          <a:xfrm>
            <a:off x="4887181" y="3147225"/>
            <a:ext cx="1865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4(10)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+ 7 = 47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32"/>
          <p:cNvSpPr txBox="1"/>
          <p:nvPr/>
        </p:nvSpPr>
        <p:spPr>
          <a:xfrm>
            <a:off x="4887181" y="3680625"/>
            <a:ext cx="1865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× 47 = 188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2"/>
          <p:cNvSpPr txBox="1"/>
          <p:nvPr/>
        </p:nvSpPr>
        <p:spPr>
          <a:xfrm>
            <a:off x="4887173" y="4214025"/>
            <a:ext cx="2571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Perimeter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188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33"/>
          <p:cNvSpPr txBox="1"/>
          <p:nvPr>
            <p:ph type="title"/>
          </p:nvPr>
        </p:nvSpPr>
        <p:spPr>
          <a:xfrm>
            <a:off x="324000" y="748775"/>
            <a:ext cx="5450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find</a:t>
            </a:r>
            <a:r>
              <a:rPr lang="en-GB"/>
              <a:t> the perimeter of this square which is a useful starting point?</a:t>
            </a:r>
            <a:endParaRPr/>
          </a:p>
        </p:txBody>
      </p:sp>
      <p:sp>
        <p:nvSpPr>
          <p:cNvPr id="1604" name="Google Shape;1604;p1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605" name="Google Shape;1605;p133"/>
          <p:cNvSpPr txBox="1"/>
          <p:nvPr>
            <p:ph idx="1" type="subTitle"/>
          </p:nvPr>
        </p:nvSpPr>
        <p:spPr>
          <a:xfrm>
            <a:off x="958225" y="1761575"/>
            <a:ext cx="3841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− 46 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/>
          </a:p>
        </p:txBody>
      </p:sp>
      <p:sp>
        <p:nvSpPr>
          <p:cNvPr id="1606" name="Google Shape;1606;p133"/>
          <p:cNvSpPr txBox="1"/>
          <p:nvPr>
            <p:ph idx="3" type="subTitle"/>
          </p:nvPr>
        </p:nvSpPr>
        <p:spPr>
          <a:xfrm>
            <a:off x="958225" y="3708650"/>
            <a:ext cx="4796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− 23) + (2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− 23) + (2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endParaRPr/>
          </a:p>
        </p:txBody>
      </p:sp>
      <p:sp>
        <p:nvSpPr>
          <p:cNvPr id="1607" name="Google Shape;1607;p133"/>
          <p:cNvSpPr txBox="1"/>
          <p:nvPr>
            <p:ph idx="4" type="subTitle"/>
          </p:nvPr>
        </p:nvSpPr>
        <p:spPr>
          <a:xfrm>
            <a:off x="958225" y="2722636"/>
            <a:ext cx="2078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 =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− 23</a:t>
            </a:r>
            <a:endParaRPr/>
          </a:p>
        </p:txBody>
      </p:sp>
      <p:pic>
        <p:nvPicPr>
          <p:cNvPr id="1608" name="Google Shape;160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4887" y="26913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3641" y="374899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0" name="Google Shape;1610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350" y="1745338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133"/>
          <p:cNvSpPr txBox="1"/>
          <p:nvPr>
            <p:ph idx="4294967295" type="body"/>
          </p:nvPr>
        </p:nvSpPr>
        <p:spPr>
          <a:xfrm>
            <a:off x="987925" y="4075970"/>
            <a:ext cx="611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a) and c)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are expressions for the perimeter but we can’t move forward without an equation to solve.</a:t>
            </a:r>
            <a:endParaRPr i="1"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2" name="Google Shape;1612;p133"/>
          <p:cNvSpPr/>
          <p:nvPr/>
        </p:nvSpPr>
        <p:spPr>
          <a:xfrm>
            <a:off x="7315125" y="1175700"/>
            <a:ext cx="1202400" cy="1142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3" name="Google Shape;1613;p133"/>
          <p:cNvCxnSpPr/>
          <p:nvPr/>
        </p:nvCxnSpPr>
        <p:spPr>
          <a:xfrm flipH="1" rot="10800000">
            <a:off x="7300547" y="2488596"/>
            <a:ext cx="1263300" cy="3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4" name="Google Shape;1614;p133"/>
          <p:cNvCxnSpPr/>
          <p:nvPr/>
        </p:nvCxnSpPr>
        <p:spPr>
          <a:xfrm rot="10800000">
            <a:off x="7170245" y="1178177"/>
            <a:ext cx="11100" cy="1143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15" name="Google Shape;1615;p133"/>
          <p:cNvSpPr txBox="1"/>
          <p:nvPr/>
        </p:nvSpPr>
        <p:spPr>
          <a:xfrm>
            <a:off x="6399952" y="1547029"/>
            <a:ext cx="849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33"/>
          <p:cNvSpPr txBox="1"/>
          <p:nvPr/>
        </p:nvSpPr>
        <p:spPr>
          <a:xfrm>
            <a:off x="7519097" y="2519980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33"/>
          <p:cNvSpPr txBox="1"/>
          <p:nvPr>
            <p:ph idx="4294967295" type="body"/>
          </p:nvPr>
        </p:nvSpPr>
        <p:spPr>
          <a:xfrm>
            <a:off x="976695" y="3161575"/>
            <a:ext cx="6455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n equation based on the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property of ‘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equal lengths’.</a:t>
            </a:r>
            <a:endParaRPr i="1" sz="2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34"/>
          <p:cNvSpPr txBox="1"/>
          <p:nvPr>
            <p:ph idx="1" type="body"/>
          </p:nvPr>
        </p:nvSpPr>
        <p:spPr>
          <a:xfrm>
            <a:off x="324000" y="759300"/>
            <a:ext cx="767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The perimeter of this re</a:t>
            </a:r>
            <a:r>
              <a:rPr lang="en-GB" sz="2000"/>
              <a:t>ctangle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/>
              <a:t>. </a:t>
            </a:r>
            <a:r>
              <a:rPr lang="en-GB" sz="2000"/>
              <a:t>Work out the value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3" name="Google Shape;1623;p13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624" name="Google Shape;1624;p134"/>
          <p:cNvSpPr/>
          <p:nvPr/>
        </p:nvSpPr>
        <p:spPr>
          <a:xfrm>
            <a:off x="1687555" y="1550401"/>
            <a:ext cx="2322900" cy="615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5" name="Google Shape;1625;p134"/>
          <p:cNvCxnSpPr/>
          <p:nvPr/>
        </p:nvCxnSpPr>
        <p:spPr>
          <a:xfrm flipH="1" rot="10800000">
            <a:off x="1940498" y="3232511"/>
            <a:ext cx="765000" cy="1391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6" name="Google Shape;1626;p134"/>
          <p:cNvCxnSpPr/>
          <p:nvPr/>
        </p:nvCxnSpPr>
        <p:spPr>
          <a:xfrm rot="10800000">
            <a:off x="1558205" y="1559275"/>
            <a:ext cx="1800" cy="621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7" name="Google Shape;1627;p134"/>
          <p:cNvSpPr txBox="1"/>
          <p:nvPr/>
        </p:nvSpPr>
        <p:spPr>
          <a:xfrm>
            <a:off x="792430" y="1674275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34"/>
          <p:cNvSpPr txBox="1"/>
          <p:nvPr/>
        </p:nvSpPr>
        <p:spPr>
          <a:xfrm>
            <a:off x="2443977" y="2286555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34"/>
          <p:cNvSpPr txBox="1"/>
          <p:nvPr>
            <p:ph idx="1" type="body"/>
          </p:nvPr>
        </p:nvSpPr>
        <p:spPr>
          <a:xfrm>
            <a:off x="324000" y="2720450"/>
            <a:ext cx="767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Find the perimeter of this equilateral triangle.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0" name="Google Shape;1630;p134"/>
          <p:cNvSpPr/>
          <p:nvPr/>
        </p:nvSpPr>
        <p:spPr>
          <a:xfrm>
            <a:off x="2057400" y="3286250"/>
            <a:ext cx="1560900" cy="13902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1" name="Google Shape;1631;p134"/>
          <p:cNvCxnSpPr/>
          <p:nvPr/>
        </p:nvCxnSpPr>
        <p:spPr>
          <a:xfrm rot="10800000">
            <a:off x="2984838" y="3232511"/>
            <a:ext cx="765000" cy="1391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2" name="Google Shape;1632;p134"/>
          <p:cNvSpPr txBox="1"/>
          <p:nvPr/>
        </p:nvSpPr>
        <p:spPr>
          <a:xfrm>
            <a:off x="3434577" y="3626877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3" name="Google Shape;1633;p134"/>
          <p:cNvCxnSpPr/>
          <p:nvPr/>
        </p:nvCxnSpPr>
        <p:spPr>
          <a:xfrm>
            <a:off x="1680705" y="2281361"/>
            <a:ext cx="2331600" cy="6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4" name="Google Shape;1634;p134"/>
          <p:cNvSpPr txBox="1"/>
          <p:nvPr/>
        </p:nvSpPr>
        <p:spPr>
          <a:xfrm>
            <a:off x="1450325" y="3626875"/>
            <a:ext cx="917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35"/>
          <p:cNvSpPr txBox="1"/>
          <p:nvPr>
            <p:ph idx="1" type="body"/>
          </p:nvPr>
        </p:nvSpPr>
        <p:spPr>
          <a:xfrm>
            <a:off x="324000" y="759300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Two identical rectangles make this </a:t>
            </a:r>
            <a:r>
              <a:rPr lang="en-GB"/>
              <a:t>compound</a:t>
            </a:r>
            <a:r>
              <a:rPr lang="en-GB"/>
              <a:t> shape with perimeter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r>
              <a:rPr lang="en-GB"/>
              <a:t>. Work out the value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0" name="Google Shape;1640;p13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641" name="Google Shape;1641;p135"/>
          <p:cNvSpPr/>
          <p:nvPr/>
        </p:nvSpPr>
        <p:spPr>
          <a:xfrm>
            <a:off x="1387269" y="3737739"/>
            <a:ext cx="1682700" cy="615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35"/>
          <p:cNvSpPr txBox="1"/>
          <p:nvPr/>
        </p:nvSpPr>
        <p:spPr>
          <a:xfrm>
            <a:off x="1916977" y="4473889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3" name="Google Shape;1643;p135"/>
          <p:cNvCxnSpPr/>
          <p:nvPr/>
        </p:nvCxnSpPr>
        <p:spPr>
          <a:xfrm>
            <a:off x="1382307" y="4468689"/>
            <a:ext cx="1689000" cy="6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4" name="Google Shape;1644;p135"/>
          <p:cNvSpPr/>
          <p:nvPr/>
        </p:nvSpPr>
        <p:spPr>
          <a:xfrm rot="5400000">
            <a:off x="1920669" y="2589977"/>
            <a:ext cx="1682700" cy="615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135"/>
          <p:cNvSpPr txBox="1"/>
          <p:nvPr/>
        </p:nvSpPr>
        <p:spPr>
          <a:xfrm>
            <a:off x="1535977" y="3254689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6" name="Google Shape;1646;p135"/>
          <p:cNvCxnSpPr/>
          <p:nvPr/>
        </p:nvCxnSpPr>
        <p:spPr>
          <a:xfrm>
            <a:off x="1382307" y="3640368"/>
            <a:ext cx="1033200" cy="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36"/>
          <p:cNvSpPr txBox="1"/>
          <p:nvPr>
            <p:ph idx="1" type="body"/>
          </p:nvPr>
        </p:nvSpPr>
        <p:spPr>
          <a:xfrm>
            <a:off x="324000" y="759300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r>
              <a:rPr lang="en-GB"/>
              <a:t>) The rectangle and the square have equal perimeters. Work out this perimeter.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2" name="Google Shape;1652;p13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653" name="Google Shape;1653;p136"/>
          <p:cNvSpPr/>
          <p:nvPr/>
        </p:nvSpPr>
        <p:spPr>
          <a:xfrm>
            <a:off x="5757434" y="1632900"/>
            <a:ext cx="1202400" cy="1142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4" name="Google Shape;1654;p136"/>
          <p:cNvCxnSpPr/>
          <p:nvPr/>
        </p:nvCxnSpPr>
        <p:spPr>
          <a:xfrm rot="10800000">
            <a:off x="5635014" y="1635377"/>
            <a:ext cx="11100" cy="1143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5" name="Google Shape;1655;p136"/>
          <p:cNvSpPr txBox="1"/>
          <p:nvPr/>
        </p:nvSpPr>
        <p:spPr>
          <a:xfrm>
            <a:off x="4864722" y="2004229"/>
            <a:ext cx="849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36"/>
          <p:cNvSpPr/>
          <p:nvPr/>
        </p:nvSpPr>
        <p:spPr>
          <a:xfrm>
            <a:off x="2105495" y="1636268"/>
            <a:ext cx="1811400" cy="891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7" name="Google Shape;1657;p136"/>
          <p:cNvCxnSpPr/>
          <p:nvPr/>
        </p:nvCxnSpPr>
        <p:spPr>
          <a:xfrm>
            <a:off x="2108912" y="2632409"/>
            <a:ext cx="1818300" cy="48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8" name="Google Shape;1658;p136"/>
          <p:cNvCxnSpPr/>
          <p:nvPr/>
        </p:nvCxnSpPr>
        <p:spPr>
          <a:xfrm rot="10800000">
            <a:off x="1974951" y="1638266"/>
            <a:ext cx="8700" cy="891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9" name="Google Shape;1659;p136"/>
          <p:cNvSpPr txBox="1"/>
          <p:nvPr/>
        </p:nvSpPr>
        <p:spPr>
          <a:xfrm>
            <a:off x="1318616" y="1896738"/>
            <a:ext cx="625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36"/>
          <p:cNvSpPr txBox="1"/>
          <p:nvPr/>
        </p:nvSpPr>
        <p:spPr>
          <a:xfrm>
            <a:off x="2670167" y="2625054"/>
            <a:ext cx="791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5" name="Google Shape;1665;p137"/>
          <p:cNvGraphicFramePr/>
          <p:nvPr/>
        </p:nvGraphicFramePr>
        <p:xfrm>
          <a:off x="449614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 + 2(8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 + 16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66" name="Google Shape;1666;p137"/>
          <p:cNvGraphicFramePr/>
          <p:nvPr/>
        </p:nvGraphicFramePr>
        <p:xfrm>
          <a:off x="449614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 + 2(8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 + 16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7" name="Google Shape;1667;p137"/>
          <p:cNvSpPr txBox="1"/>
          <p:nvPr>
            <p:ph idx="1" type="body"/>
          </p:nvPr>
        </p:nvSpPr>
        <p:spPr>
          <a:xfrm>
            <a:off x="324000" y="759300"/>
            <a:ext cx="82377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The perimeter of this rectangle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/>
              <a:t>. Work out the value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8" name="Google Shape;1668;p13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669" name="Google Shape;1669;p137"/>
          <p:cNvSpPr/>
          <p:nvPr/>
        </p:nvSpPr>
        <p:spPr>
          <a:xfrm>
            <a:off x="1687555" y="1550401"/>
            <a:ext cx="2322900" cy="615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0" name="Google Shape;1670;p137"/>
          <p:cNvCxnSpPr/>
          <p:nvPr/>
        </p:nvCxnSpPr>
        <p:spPr>
          <a:xfrm rot="10800000">
            <a:off x="1558205" y="1559275"/>
            <a:ext cx="1800" cy="621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1" name="Google Shape;1671;p137"/>
          <p:cNvSpPr txBox="1"/>
          <p:nvPr/>
        </p:nvSpPr>
        <p:spPr>
          <a:xfrm>
            <a:off x="792430" y="1674275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7"/>
          <p:cNvSpPr txBox="1"/>
          <p:nvPr/>
        </p:nvSpPr>
        <p:spPr>
          <a:xfrm>
            <a:off x="2443977" y="2286555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3" name="Google Shape;1673;p137"/>
          <p:cNvCxnSpPr/>
          <p:nvPr/>
        </p:nvCxnSpPr>
        <p:spPr>
          <a:xfrm>
            <a:off x="1680705" y="2281361"/>
            <a:ext cx="2331600" cy="6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x=\frac{7}{28}=\frac{1}{4}&quot;&gt;&lt;mi&gt;x&lt;/mi&gt;&lt;mo&gt;=&lt;/mo&gt;&lt;mfrac&gt;&lt;mn&gt;7&lt;/mn&gt;&lt;mn&gt;28&lt;/mn&gt;&lt;/mfrac&gt;&lt;mo&gt;=&lt;/mo&gt;&lt;mfrac&gt;&lt;mn&gt;1&lt;/mn&gt;&lt;mn&gt;4&lt;/mn&gt;&lt;/mfrac&gt;&lt;/math&gt;" id="1674" name="Google Shape;1674;p137" title="x equals 7 over 28 equals 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8072" y="3033779"/>
            <a:ext cx="1332536" cy="542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5" name="Google Shape;1675;p137"/>
          <p:cNvGraphicFramePr/>
          <p:nvPr/>
        </p:nvGraphicFramePr>
        <p:xfrm>
          <a:off x="449614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 + 2(8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3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cxnSp>
        <p:nvCxnSpPr>
          <p:cNvPr id="1681" name="Google Shape;1681;p138"/>
          <p:cNvCxnSpPr/>
          <p:nvPr/>
        </p:nvCxnSpPr>
        <p:spPr>
          <a:xfrm flipH="1" rot="10800000">
            <a:off x="1940498" y="1327511"/>
            <a:ext cx="765000" cy="1391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2" name="Google Shape;1682;p138"/>
          <p:cNvSpPr txBox="1"/>
          <p:nvPr>
            <p:ph idx="1" type="body"/>
          </p:nvPr>
        </p:nvSpPr>
        <p:spPr>
          <a:xfrm>
            <a:off x="324000" y="815452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Find the perimeter of this equilateral triangle.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3" name="Google Shape;1683;p138"/>
          <p:cNvSpPr/>
          <p:nvPr/>
        </p:nvSpPr>
        <p:spPr>
          <a:xfrm>
            <a:off x="2057400" y="1381250"/>
            <a:ext cx="1560900" cy="13902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4" name="Google Shape;1684;p138"/>
          <p:cNvCxnSpPr/>
          <p:nvPr/>
        </p:nvCxnSpPr>
        <p:spPr>
          <a:xfrm rot="10800000">
            <a:off x="2984838" y="1327511"/>
            <a:ext cx="765000" cy="1391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5" name="Google Shape;1685;p138"/>
          <p:cNvSpPr txBox="1"/>
          <p:nvPr/>
        </p:nvSpPr>
        <p:spPr>
          <a:xfrm>
            <a:off x="3434577" y="1721877"/>
            <a:ext cx="1122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38"/>
          <p:cNvSpPr txBox="1"/>
          <p:nvPr/>
        </p:nvSpPr>
        <p:spPr>
          <a:xfrm>
            <a:off x="1450325" y="1721875"/>
            <a:ext cx="917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87" name="Google Shape;1687;p138"/>
          <p:cNvGraphicFramePr/>
          <p:nvPr/>
        </p:nvGraphicFramePr>
        <p:xfrm>
          <a:off x="5101830" y="146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1103500"/>
                <a:gridCol w="272000"/>
                <a:gridCol w="111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8" name="Google Shape;1688;p138"/>
          <p:cNvGraphicFramePr/>
          <p:nvPr/>
        </p:nvGraphicFramePr>
        <p:xfrm>
          <a:off x="5101830" y="146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1103500"/>
                <a:gridCol w="272000"/>
                <a:gridCol w="111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9" name="Google Shape;1689;p138"/>
          <p:cNvSpPr txBox="1"/>
          <p:nvPr>
            <p:ph idx="4294967295" type="body"/>
          </p:nvPr>
        </p:nvSpPr>
        <p:spPr>
          <a:xfrm>
            <a:off x="671899" y="2986714"/>
            <a:ext cx="4794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An equilateral triangle has equal lengths.</a:t>
            </a:r>
            <a:endParaRPr i="1" sz="23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690" name="Google Shape;1690;p138"/>
          <p:cNvGraphicFramePr/>
          <p:nvPr/>
        </p:nvGraphicFramePr>
        <p:xfrm>
          <a:off x="5101830" y="146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1103500"/>
                <a:gridCol w="272000"/>
                <a:gridCol w="111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1" name="Google Shape;1691;p138"/>
          <p:cNvGraphicFramePr/>
          <p:nvPr/>
        </p:nvGraphicFramePr>
        <p:xfrm>
          <a:off x="5101830" y="146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1103500"/>
                <a:gridCol w="272000"/>
                <a:gridCol w="111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2" name="Google Shape;1692;p138"/>
          <p:cNvSpPr txBox="1"/>
          <p:nvPr/>
        </p:nvSpPr>
        <p:spPr>
          <a:xfrm>
            <a:off x="681721" y="3463250"/>
            <a:ext cx="26880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5(9) + 20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38"/>
          <p:cNvSpPr txBox="1"/>
          <p:nvPr/>
        </p:nvSpPr>
        <p:spPr>
          <a:xfrm>
            <a:off x="681714" y="3463245"/>
            <a:ext cx="4593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5(9) + 20 = 45 + 20 = 65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38"/>
          <p:cNvSpPr txBox="1"/>
          <p:nvPr>
            <p:ph idx="4294967295" type="body"/>
          </p:nvPr>
        </p:nvSpPr>
        <p:spPr>
          <a:xfrm>
            <a:off x="671900" y="4031064"/>
            <a:ext cx="390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perimeter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65 = 195</a:t>
            </a:r>
            <a:endParaRPr i="1" sz="2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139"/>
          <p:cNvSpPr txBox="1"/>
          <p:nvPr>
            <p:ph idx="1" type="body"/>
          </p:nvPr>
        </p:nvSpPr>
        <p:spPr>
          <a:xfrm>
            <a:off x="324000" y="759300"/>
            <a:ext cx="69105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Two identical rectangles make this compound shape with perimeter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r>
              <a:rPr lang="en-GB" sz="2000"/>
              <a:t>. </a:t>
            </a:r>
            <a:r>
              <a:rPr lang="en-GB" sz="2000"/>
              <a:t>Work out the value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0" name="Google Shape;1700;p13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701" name="Google Shape;1701;p139"/>
          <p:cNvSpPr/>
          <p:nvPr/>
        </p:nvSpPr>
        <p:spPr>
          <a:xfrm>
            <a:off x="1387269" y="3737739"/>
            <a:ext cx="1682700" cy="615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139"/>
          <p:cNvSpPr txBox="1"/>
          <p:nvPr/>
        </p:nvSpPr>
        <p:spPr>
          <a:xfrm>
            <a:off x="1916977" y="4473889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3" name="Google Shape;1703;p139"/>
          <p:cNvCxnSpPr/>
          <p:nvPr/>
        </p:nvCxnSpPr>
        <p:spPr>
          <a:xfrm>
            <a:off x="1382307" y="4468689"/>
            <a:ext cx="1689000" cy="6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04" name="Google Shape;1704;p139"/>
          <p:cNvSpPr/>
          <p:nvPr/>
        </p:nvSpPr>
        <p:spPr>
          <a:xfrm rot="5400000">
            <a:off x="1920669" y="2589977"/>
            <a:ext cx="1682700" cy="615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39"/>
          <p:cNvSpPr txBox="1"/>
          <p:nvPr/>
        </p:nvSpPr>
        <p:spPr>
          <a:xfrm>
            <a:off x="1535977" y="3254689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6" name="Google Shape;1706;p139"/>
          <p:cNvCxnSpPr/>
          <p:nvPr/>
        </p:nvCxnSpPr>
        <p:spPr>
          <a:xfrm>
            <a:off x="1393719" y="3639168"/>
            <a:ext cx="978900" cy="1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07" name="Google Shape;1707;p139"/>
          <p:cNvSpPr txBox="1"/>
          <p:nvPr/>
        </p:nvSpPr>
        <p:spPr>
          <a:xfrm>
            <a:off x="491638" y="3864289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39"/>
          <p:cNvSpPr txBox="1"/>
          <p:nvPr/>
        </p:nvSpPr>
        <p:spPr>
          <a:xfrm>
            <a:off x="2374177" y="1578289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9" name="Google Shape;1709;p139"/>
          <p:cNvCxnSpPr/>
          <p:nvPr/>
        </p:nvCxnSpPr>
        <p:spPr>
          <a:xfrm>
            <a:off x="2467938" y="1963113"/>
            <a:ext cx="581100" cy="1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0" name="Google Shape;1710;p139"/>
          <p:cNvCxnSpPr/>
          <p:nvPr/>
        </p:nvCxnSpPr>
        <p:spPr>
          <a:xfrm rot="10800000">
            <a:off x="1287096" y="3735384"/>
            <a:ext cx="1800" cy="621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1" name="Google Shape;1711;p139"/>
          <p:cNvCxnSpPr/>
          <p:nvPr/>
        </p:nvCxnSpPr>
        <p:spPr>
          <a:xfrm>
            <a:off x="2467938" y="3639513"/>
            <a:ext cx="581100" cy="1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12" name="Google Shape;1712;p139"/>
          <p:cNvSpPr txBox="1"/>
          <p:nvPr/>
        </p:nvSpPr>
        <p:spPr>
          <a:xfrm>
            <a:off x="4572742" y="1555839"/>
            <a:ext cx="21300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39"/>
          <p:cNvSpPr txBox="1"/>
          <p:nvPr/>
        </p:nvSpPr>
        <p:spPr>
          <a:xfrm>
            <a:off x="4572742" y="1952477"/>
            <a:ext cx="21300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39"/>
          <p:cNvSpPr txBox="1"/>
          <p:nvPr/>
        </p:nvSpPr>
        <p:spPr>
          <a:xfrm>
            <a:off x="4572739" y="2349114"/>
            <a:ext cx="1093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39"/>
          <p:cNvSpPr txBox="1"/>
          <p:nvPr/>
        </p:nvSpPr>
        <p:spPr>
          <a:xfrm>
            <a:off x="3311038" y="3864289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6" name="Google Shape;1716;p139"/>
          <p:cNvCxnSpPr/>
          <p:nvPr/>
        </p:nvCxnSpPr>
        <p:spPr>
          <a:xfrm rot="10800000">
            <a:off x="3192096" y="3735384"/>
            <a:ext cx="1800" cy="621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17" name="Google Shape;1717;p139"/>
          <p:cNvSpPr txBox="1"/>
          <p:nvPr/>
        </p:nvSpPr>
        <p:spPr>
          <a:xfrm>
            <a:off x="1569668" y="2591350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8" name="Google Shape;1718;p139"/>
          <p:cNvCxnSpPr/>
          <p:nvPr/>
        </p:nvCxnSpPr>
        <p:spPr>
          <a:xfrm flipH="1" rot="10800000">
            <a:off x="2367925" y="2057288"/>
            <a:ext cx="1800" cy="1592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9" name="Google Shape;1719;p139"/>
          <p:cNvCxnSpPr/>
          <p:nvPr/>
        </p:nvCxnSpPr>
        <p:spPr>
          <a:xfrm flipH="1" rot="10800000">
            <a:off x="3187075" y="2057288"/>
            <a:ext cx="1800" cy="1592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0" name="Google Shape;1720;p139"/>
          <p:cNvSpPr txBox="1"/>
          <p:nvPr/>
        </p:nvSpPr>
        <p:spPr>
          <a:xfrm>
            <a:off x="3265118" y="2591350"/>
            <a:ext cx="73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139"/>
          <p:cNvSpPr txBox="1"/>
          <p:nvPr/>
        </p:nvSpPr>
        <p:spPr>
          <a:xfrm>
            <a:off x="4572730" y="2907402"/>
            <a:ext cx="4013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(6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2) +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− 6)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+ 4) = 48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139"/>
          <p:cNvSpPr txBox="1"/>
          <p:nvPr/>
        </p:nvSpPr>
        <p:spPr>
          <a:xfrm>
            <a:off x="4572735" y="2908683"/>
            <a:ext cx="35307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3(6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2) +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− 6)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39"/>
          <p:cNvSpPr txBox="1"/>
          <p:nvPr/>
        </p:nvSpPr>
        <p:spPr>
          <a:xfrm>
            <a:off x="4572730" y="3318079"/>
            <a:ext cx="4013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− 18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 = 48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39"/>
          <p:cNvSpPr txBox="1"/>
          <p:nvPr/>
        </p:nvSpPr>
        <p:spPr>
          <a:xfrm>
            <a:off x="4572733" y="3728756"/>
            <a:ext cx="1834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34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39"/>
          <p:cNvSpPr txBox="1"/>
          <p:nvPr/>
        </p:nvSpPr>
        <p:spPr>
          <a:xfrm>
            <a:off x="4572735" y="4139433"/>
            <a:ext cx="128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34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39"/>
          <p:cNvSpPr txBox="1"/>
          <p:nvPr/>
        </p:nvSpPr>
        <p:spPr>
          <a:xfrm>
            <a:off x="4572735" y="4550111"/>
            <a:ext cx="128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40"/>
          <p:cNvSpPr txBox="1"/>
          <p:nvPr>
            <p:ph idx="1" type="body"/>
          </p:nvPr>
        </p:nvSpPr>
        <p:spPr>
          <a:xfrm>
            <a:off x="324000" y="759300"/>
            <a:ext cx="5596800" cy="7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4) The rectangle and the square have equal perimeters. Work out this perimeter.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2" name="Google Shape;1732;p14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733" name="Google Shape;1733;p140"/>
          <p:cNvSpPr/>
          <p:nvPr/>
        </p:nvSpPr>
        <p:spPr>
          <a:xfrm>
            <a:off x="5749781" y="1536652"/>
            <a:ext cx="1006200" cy="95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4" name="Google Shape;1734;p140"/>
          <p:cNvCxnSpPr/>
          <p:nvPr/>
        </p:nvCxnSpPr>
        <p:spPr>
          <a:xfrm rot="10800000">
            <a:off x="5647327" y="1538802"/>
            <a:ext cx="9300" cy="9564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5" name="Google Shape;1735;p140"/>
          <p:cNvSpPr txBox="1"/>
          <p:nvPr/>
        </p:nvSpPr>
        <p:spPr>
          <a:xfrm>
            <a:off x="4918461" y="1851829"/>
            <a:ext cx="849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40"/>
          <p:cNvSpPr/>
          <p:nvPr/>
        </p:nvSpPr>
        <p:spPr>
          <a:xfrm>
            <a:off x="2084191" y="1539470"/>
            <a:ext cx="1515900" cy="74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7" name="Google Shape;1737;p140"/>
          <p:cNvCxnSpPr/>
          <p:nvPr/>
        </p:nvCxnSpPr>
        <p:spPr>
          <a:xfrm>
            <a:off x="2087050" y="2373054"/>
            <a:ext cx="1521600" cy="3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8" name="Google Shape;1738;p140"/>
          <p:cNvCxnSpPr/>
          <p:nvPr/>
        </p:nvCxnSpPr>
        <p:spPr>
          <a:xfrm rot="10800000">
            <a:off x="1975030" y="1541194"/>
            <a:ext cx="7200" cy="7458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9" name="Google Shape;1739;p140"/>
          <p:cNvSpPr txBox="1"/>
          <p:nvPr/>
        </p:nvSpPr>
        <p:spPr>
          <a:xfrm>
            <a:off x="1341077" y="1724289"/>
            <a:ext cx="625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40"/>
          <p:cNvSpPr txBox="1"/>
          <p:nvPr/>
        </p:nvSpPr>
        <p:spPr>
          <a:xfrm>
            <a:off x="2464028" y="2365175"/>
            <a:ext cx="791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1" name="Google Shape;1741;p140"/>
          <p:cNvGraphicFramePr/>
          <p:nvPr/>
        </p:nvGraphicFramePr>
        <p:xfrm>
          <a:off x="410211" y="2704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+ 2(5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+ 20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2" name="Google Shape;1742;p140"/>
          <p:cNvGraphicFramePr/>
          <p:nvPr/>
        </p:nvGraphicFramePr>
        <p:xfrm>
          <a:off x="410211" y="2704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+ 2(5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3" name="Google Shape;1743;p140"/>
          <p:cNvGraphicFramePr/>
          <p:nvPr/>
        </p:nvGraphicFramePr>
        <p:xfrm>
          <a:off x="410211" y="2704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+ 2(5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4" name="Google Shape;1744;p140"/>
          <p:cNvGraphicFramePr/>
          <p:nvPr/>
        </p:nvGraphicFramePr>
        <p:xfrm>
          <a:off x="410211" y="2704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{F14E34FA-2889-4FDF-9DCE-3FEFEEEE8FDE}</a:tableStyleId>
              </a:tblPr>
              <a:tblGrid>
                <a:gridCol w="2705700"/>
                <a:gridCol w="365425"/>
                <a:gridCol w="1636050"/>
              </a:tblGrid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+ 2(5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+ 20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5" name="Google Shape;1745;p140"/>
          <p:cNvSpPr txBox="1"/>
          <p:nvPr/>
        </p:nvSpPr>
        <p:spPr>
          <a:xfrm>
            <a:off x="5779132" y="2710073"/>
            <a:ext cx="27357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 = 6(2.5)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 = 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40"/>
          <p:cNvSpPr txBox="1"/>
          <p:nvPr/>
        </p:nvSpPr>
        <p:spPr>
          <a:xfrm>
            <a:off x="5779132" y="3212195"/>
            <a:ext cx="27357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×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 = 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40"/>
          <p:cNvSpPr txBox="1"/>
          <p:nvPr>
            <p:ph idx="4294967295" type="body"/>
          </p:nvPr>
        </p:nvSpPr>
        <p:spPr>
          <a:xfrm>
            <a:off x="5779132" y="3802475"/>
            <a:ext cx="2404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perimeter of both shapes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i="1" sz="2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4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geometric problems</a:t>
            </a:r>
            <a:endParaRPr/>
          </a:p>
        </p:txBody>
      </p:sp>
      <p:sp>
        <p:nvSpPr>
          <p:cNvPr id="1753" name="Google Shape;1753;p14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754" name="Google Shape;1754;p141"/>
          <p:cNvSpPr txBox="1"/>
          <p:nvPr>
            <p:ph idx="3" type="title"/>
          </p:nvPr>
        </p:nvSpPr>
        <p:spPr>
          <a:xfrm>
            <a:off x="324000" y="657600"/>
            <a:ext cx="6450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linear equations</a:t>
            </a:r>
            <a:endParaRPr/>
          </a:p>
        </p:txBody>
      </p:sp>
      <p:pic>
        <p:nvPicPr>
          <p:cNvPr id="1755" name="Google Shape;1755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9879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42"/>
          <p:cNvSpPr txBox="1"/>
          <p:nvPr>
            <p:ph idx="1" type="body"/>
          </p:nvPr>
        </p:nvSpPr>
        <p:spPr>
          <a:xfrm>
            <a:off x="324000" y="759300"/>
            <a:ext cx="71352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plumber charges a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£100</a:t>
            </a:r>
            <a:r>
              <a:rPr lang="en-GB"/>
              <a:t> call out fee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£65</a:t>
            </a:r>
            <a:r>
              <a:rPr lang="en-GB"/>
              <a:t> for every hour of labour.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would a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/>
              <a:t> hour job cost?</a:t>
            </a:r>
            <a:endParaRPr/>
          </a:p>
        </p:txBody>
      </p:sp>
      <p:sp>
        <p:nvSpPr>
          <p:cNvPr id="1761" name="Google Shape;1761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</a:t>
            </a:r>
            <a:r>
              <a:rPr lang="en-GB"/>
              <a:t>equations</a:t>
            </a:r>
            <a:r>
              <a:rPr lang="en-GB"/>
              <a:t> from worded problems</a:t>
            </a:r>
            <a:endParaRPr/>
          </a:p>
        </p:txBody>
      </p:sp>
      <p:sp>
        <p:nvSpPr>
          <p:cNvPr id="1762" name="Google Shape;1762;p142"/>
          <p:cNvSpPr txBox="1"/>
          <p:nvPr>
            <p:ph idx="1" type="body"/>
          </p:nvPr>
        </p:nvSpPr>
        <p:spPr>
          <a:xfrm>
            <a:off x="324000" y="2404421"/>
            <a:ext cx="4922700" cy="4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£100 + 5 × £65 = £100 + £325 = £425</a:t>
            </a:r>
            <a:endParaRPr sz="2400"/>
          </a:p>
        </p:txBody>
      </p:sp>
      <p:sp>
        <p:nvSpPr>
          <p:cNvPr id="1763" name="Google Shape;1763;p142"/>
          <p:cNvSpPr txBox="1"/>
          <p:nvPr>
            <p:ph idx="1" type="body"/>
          </p:nvPr>
        </p:nvSpPr>
        <p:spPr>
          <a:xfrm>
            <a:off x="324000" y="2404425"/>
            <a:ext cx="2081700" cy="4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£100 + 5 × £65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43"/>
          <p:cNvSpPr txBox="1"/>
          <p:nvPr>
            <p:ph idx="1" type="body"/>
          </p:nvPr>
        </p:nvSpPr>
        <p:spPr>
          <a:xfrm>
            <a:off x="324000" y="759300"/>
            <a:ext cx="849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Another plumber has a different call out fee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charges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£60</a:t>
            </a:r>
            <a:r>
              <a:rPr lang="en-GB"/>
              <a:t> for every hour of labour.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/>
              <a:t> hour job costs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r>
              <a:rPr lang="en-GB"/>
              <a:t>. How much is the call out fee?</a:t>
            </a:r>
            <a:endParaRPr/>
          </a:p>
        </p:txBody>
      </p:sp>
      <p:sp>
        <p:nvSpPr>
          <p:cNvPr id="1769" name="Google Shape;1769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770" name="Google Shape;1770;p143"/>
          <p:cNvSpPr txBox="1"/>
          <p:nvPr>
            <p:ph idx="1" type="body"/>
          </p:nvPr>
        </p:nvSpPr>
        <p:spPr>
          <a:xfrm>
            <a:off x="324000" y="2641850"/>
            <a:ext cx="7998300" cy="10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problem is</a:t>
            </a:r>
            <a:r>
              <a:rPr lang="en-GB"/>
              <a:t> different because </a:t>
            </a:r>
            <a:r>
              <a:rPr lang="en-GB"/>
              <a:t>the call out fee is now</a:t>
            </a:r>
            <a:r>
              <a:rPr lang="en-GB"/>
              <a:t> the </a:t>
            </a:r>
            <a:r>
              <a:rPr lang="en-GB">
                <a:solidFill>
                  <a:schemeClr val="accent5"/>
                </a:solidFill>
              </a:rPr>
              <a:t>unknown</a:t>
            </a:r>
            <a:r>
              <a:rPr lang="en-GB"/>
              <a:t>. By forming and solving an equation we can find its value.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144"/>
          <p:cNvSpPr txBox="1"/>
          <p:nvPr>
            <p:ph idx="1" type="body"/>
          </p:nvPr>
        </p:nvSpPr>
        <p:spPr>
          <a:xfrm>
            <a:off x="324000" y="759300"/>
            <a:ext cx="849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Another plumber has a different call out fee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charges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£60</a:t>
            </a:r>
            <a:r>
              <a:rPr lang="en-GB"/>
              <a:t> for every hour of labour.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/>
              <a:t> hour job costs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r>
              <a:rPr lang="en-GB"/>
              <a:t>. How much is the call out fee?</a:t>
            </a:r>
            <a:endParaRPr/>
          </a:p>
        </p:txBody>
      </p:sp>
      <p:sp>
        <p:nvSpPr>
          <p:cNvPr id="1776" name="Google Shape;1776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777" name="Google Shape;1777;p144"/>
          <p:cNvSpPr txBox="1"/>
          <p:nvPr>
            <p:ph idx="1" type="body"/>
          </p:nvPr>
        </p:nvSpPr>
        <p:spPr>
          <a:xfrm>
            <a:off x="1695600" y="2478200"/>
            <a:ext cx="5990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all out fee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£60</a:t>
            </a:r>
            <a:r>
              <a:rPr lang="en-GB"/>
              <a:t> per hour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Total cost</a:t>
            </a:r>
            <a:endParaRPr/>
          </a:p>
        </p:txBody>
      </p:sp>
      <p:sp>
        <p:nvSpPr>
          <p:cNvPr id="1778" name="Google Shape;1778;p144"/>
          <p:cNvSpPr txBox="1"/>
          <p:nvPr>
            <p:ph idx="1" type="body"/>
          </p:nvPr>
        </p:nvSpPr>
        <p:spPr>
          <a:xfrm>
            <a:off x="1695600" y="2979125"/>
            <a:ext cx="46758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Call out fee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£60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endParaRPr/>
          </a:p>
        </p:txBody>
      </p:sp>
      <p:sp>
        <p:nvSpPr>
          <p:cNvPr id="1779" name="Google Shape;1779;p144"/>
          <p:cNvSpPr txBox="1"/>
          <p:nvPr>
            <p:ph idx="1" type="body"/>
          </p:nvPr>
        </p:nvSpPr>
        <p:spPr>
          <a:xfrm>
            <a:off x="1695600" y="3480042"/>
            <a:ext cx="25632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£60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endParaRPr/>
          </a:p>
        </p:txBody>
      </p:sp>
      <p:sp>
        <p:nvSpPr>
          <p:cNvPr id="1780" name="Google Shape;1780;p144"/>
          <p:cNvSpPr txBox="1"/>
          <p:nvPr>
            <p:ph idx="1" type="body"/>
          </p:nvPr>
        </p:nvSpPr>
        <p:spPr>
          <a:xfrm>
            <a:off x="1695600" y="3980958"/>
            <a:ext cx="25632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£240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endParaRPr/>
          </a:p>
        </p:txBody>
      </p:sp>
      <p:sp>
        <p:nvSpPr>
          <p:cNvPr id="1781" name="Google Shape;1781;p144"/>
          <p:cNvSpPr txBox="1"/>
          <p:nvPr>
            <p:ph idx="1" type="body"/>
          </p:nvPr>
        </p:nvSpPr>
        <p:spPr>
          <a:xfrm>
            <a:off x="1695600" y="4481875"/>
            <a:ext cx="14751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£130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45"/>
          <p:cNvSpPr txBox="1"/>
          <p:nvPr>
            <p:ph type="title"/>
          </p:nvPr>
        </p:nvSpPr>
        <p:spPr>
          <a:xfrm>
            <a:off x="324000" y="748775"/>
            <a:ext cx="8496000" cy="7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 taxi driver has a fixed charge then charges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 sz="1900"/>
              <a:t> per mile. A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900"/>
              <a:t> mile journey is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£11</a:t>
            </a:r>
            <a:r>
              <a:rPr lang="en-GB" sz="1900"/>
              <a:t>.</a:t>
            </a:r>
            <a:r>
              <a:rPr lang="en-GB" sz="1900"/>
              <a:t> Which equations would help work out the fixed charge?</a:t>
            </a:r>
            <a:endParaRPr sz="1900"/>
          </a:p>
        </p:txBody>
      </p:sp>
      <p:sp>
        <p:nvSpPr>
          <p:cNvPr id="1787" name="Google Shape;1787;p1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788" name="Google Shape;1788;p145"/>
          <p:cNvSpPr txBox="1"/>
          <p:nvPr>
            <p:ph idx="1" type="subTitle"/>
          </p:nvPr>
        </p:nvSpPr>
        <p:spPr>
          <a:xfrm>
            <a:off x="1034425" y="1837775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£11</a:t>
            </a:r>
            <a:endParaRPr/>
          </a:p>
        </p:txBody>
      </p:sp>
      <p:sp>
        <p:nvSpPr>
          <p:cNvPr id="1789" name="Google Shape;1789;p145"/>
          <p:cNvSpPr txBox="1"/>
          <p:nvPr>
            <p:ph idx="3" type="subTitle"/>
          </p:nvPr>
        </p:nvSpPr>
        <p:spPr>
          <a:xfrm>
            <a:off x="1034425" y="2794250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 +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£11</a:t>
            </a:r>
            <a:endParaRPr/>
          </a:p>
        </p:txBody>
      </p:sp>
      <p:sp>
        <p:nvSpPr>
          <p:cNvPr id="1790" name="Google Shape;1790;p145"/>
          <p:cNvSpPr txBox="1"/>
          <p:nvPr>
            <p:ph idx="4" type="subTitle"/>
          </p:nvPr>
        </p:nvSpPr>
        <p:spPr>
          <a:xfrm>
            <a:off x="1034425" y="3766975"/>
            <a:ext cx="2381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£11</a:t>
            </a:r>
            <a:endParaRPr/>
          </a:p>
        </p:txBody>
      </p:sp>
      <p:pic>
        <p:nvPicPr>
          <p:cNvPr id="1791" name="Google Shape;1791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765" y="376938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2" name="Google Shape;1792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9211" y="276962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3" name="Google Shape;1793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765" y="1821871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145"/>
          <p:cNvSpPr txBox="1"/>
          <p:nvPr>
            <p:ph idx="4294967295" type="body"/>
          </p:nvPr>
        </p:nvSpPr>
        <p:spPr>
          <a:xfrm>
            <a:off x="4319999" y="1745075"/>
            <a:ext cx="2970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Our unknown plus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lots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making the total cost.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5" name="Google Shape;1795;p145"/>
          <p:cNvSpPr txBox="1"/>
          <p:nvPr>
            <p:ph idx="4294967295" type="body"/>
          </p:nvPr>
        </p:nvSpPr>
        <p:spPr>
          <a:xfrm>
            <a:off x="4320000" y="3280305"/>
            <a:ext cx="450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unknown does not have to be referred to as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In contextual problems you will see lots of other, more relevant, letters used.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146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Jun </a:t>
            </a:r>
            <a:r>
              <a:rPr lang="en-GB"/>
              <a:t>are making up number problems.</a:t>
            </a:r>
            <a:endParaRPr/>
          </a:p>
        </p:txBody>
      </p:sp>
      <p:sp>
        <p:nvSpPr>
          <p:cNvPr id="1801" name="Google Shape;1801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1802" name="Google Shape;1802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625575" y="3744747"/>
            <a:ext cx="827732" cy="103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3" name="Google Shape;1803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3181" y="2951677"/>
            <a:ext cx="897367" cy="115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146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499284" y="1068225"/>
            <a:ext cx="5828050" cy="17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5" name="Google Shape;1805;p146"/>
          <p:cNvSpPr txBox="1"/>
          <p:nvPr/>
        </p:nvSpPr>
        <p:spPr>
          <a:xfrm>
            <a:off x="972825" y="1326525"/>
            <a:ext cx="51453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have a number whereby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add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146"/>
          <p:cNvSpPr txBox="1"/>
          <p:nvPr/>
        </p:nvSpPr>
        <p:spPr>
          <a:xfrm>
            <a:off x="2447425" y="4416900"/>
            <a:ext cx="3631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Will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Jun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’s method work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7" name="Google Shape;1807;p146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>
            <a:off x="2947023" y="2516025"/>
            <a:ext cx="4792003" cy="17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8" name="Google Shape;1808;p146"/>
          <p:cNvSpPr txBox="1"/>
          <p:nvPr/>
        </p:nvSpPr>
        <p:spPr>
          <a:xfrm>
            <a:off x="3296650" y="2774325"/>
            <a:ext cx="42612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can use trial and improvement to find your number. My starting guess is that your number is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147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Jun are making up number problems.</a:t>
            </a:r>
            <a:endParaRPr/>
          </a:p>
        </p:txBody>
      </p:sp>
      <p:sp>
        <p:nvSpPr>
          <p:cNvPr id="1814" name="Google Shape;1814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1815" name="Google Shape;1815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625575" y="3744747"/>
            <a:ext cx="827732" cy="103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3181" y="2951677"/>
            <a:ext cx="897367" cy="115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7" name="Google Shape;1817;p147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499284" y="1068225"/>
            <a:ext cx="5828050" cy="17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147"/>
          <p:cNvSpPr txBox="1"/>
          <p:nvPr/>
        </p:nvSpPr>
        <p:spPr>
          <a:xfrm>
            <a:off x="972825" y="1326525"/>
            <a:ext cx="51453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have a number whereby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add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47"/>
          <p:cNvSpPr txBox="1"/>
          <p:nvPr>
            <p:ph idx="1" type="body"/>
          </p:nvPr>
        </p:nvSpPr>
        <p:spPr>
          <a:xfrm>
            <a:off x="1695600" y="2946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(5)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/>
          </a:p>
        </p:txBody>
      </p:sp>
      <p:sp>
        <p:nvSpPr>
          <p:cNvPr id="1820" name="Google Shape;1820;p147"/>
          <p:cNvSpPr txBox="1"/>
          <p:nvPr>
            <p:ph idx="1" type="body"/>
          </p:nvPr>
        </p:nvSpPr>
        <p:spPr>
          <a:xfrm>
            <a:off x="4842261" y="2946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(5)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− 11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1821" name="Google Shape;1821;p147"/>
          <p:cNvSpPr txBox="1"/>
          <p:nvPr>
            <p:ph idx="1" type="body"/>
          </p:nvPr>
        </p:nvSpPr>
        <p:spPr>
          <a:xfrm>
            <a:off x="1695600" y="3454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(10)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43</a:t>
            </a:r>
            <a:endParaRPr/>
          </a:p>
        </p:txBody>
      </p:sp>
      <p:sp>
        <p:nvSpPr>
          <p:cNvPr id="1822" name="Google Shape;1822;p147"/>
          <p:cNvSpPr txBox="1"/>
          <p:nvPr>
            <p:ph idx="1" type="body"/>
          </p:nvPr>
        </p:nvSpPr>
        <p:spPr>
          <a:xfrm>
            <a:off x="4842261" y="3454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(10)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5 − 11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39</a:t>
            </a:r>
            <a:endParaRPr/>
          </a:p>
        </p:txBody>
      </p:sp>
      <p:sp>
        <p:nvSpPr>
          <p:cNvPr id="1823" name="Google Shape;1823;p147"/>
          <p:cNvSpPr txBox="1"/>
          <p:nvPr>
            <p:ph idx="1" type="body"/>
          </p:nvPr>
        </p:nvSpPr>
        <p:spPr>
          <a:xfrm>
            <a:off x="1695600" y="3962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(11)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46</a:t>
            </a:r>
            <a:endParaRPr/>
          </a:p>
        </p:txBody>
      </p:sp>
      <p:sp>
        <p:nvSpPr>
          <p:cNvPr id="1824" name="Google Shape;1824;p147"/>
          <p:cNvSpPr txBox="1"/>
          <p:nvPr>
            <p:ph idx="1" type="body"/>
          </p:nvPr>
        </p:nvSpPr>
        <p:spPr>
          <a:xfrm>
            <a:off x="4842261" y="3962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(11)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5 − 11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44</a:t>
            </a:r>
            <a:endParaRPr/>
          </a:p>
        </p:txBody>
      </p:sp>
      <p:sp>
        <p:nvSpPr>
          <p:cNvPr id="1825" name="Google Shape;1825;p147"/>
          <p:cNvSpPr txBox="1"/>
          <p:nvPr>
            <p:ph idx="1" type="body"/>
          </p:nvPr>
        </p:nvSpPr>
        <p:spPr>
          <a:xfrm>
            <a:off x="1695600" y="4470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(12)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endParaRPr/>
          </a:p>
        </p:txBody>
      </p:sp>
      <p:sp>
        <p:nvSpPr>
          <p:cNvPr id="1826" name="Google Shape;1826;p147"/>
          <p:cNvSpPr txBox="1"/>
          <p:nvPr>
            <p:ph idx="1" type="body"/>
          </p:nvPr>
        </p:nvSpPr>
        <p:spPr>
          <a:xfrm>
            <a:off x="4842261" y="4470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(12)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5 − 11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48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Jun are making up number problems.</a:t>
            </a:r>
            <a:endParaRPr/>
          </a:p>
        </p:txBody>
      </p:sp>
      <p:sp>
        <p:nvSpPr>
          <p:cNvPr id="1832" name="Google Shape;1832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1833" name="Google Shape;1833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625575" y="3744747"/>
            <a:ext cx="827732" cy="103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3181" y="2951677"/>
            <a:ext cx="897367" cy="1157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48"/>
          <p:cNvSpPr txBox="1"/>
          <p:nvPr>
            <p:ph idx="1" type="body"/>
          </p:nvPr>
        </p:nvSpPr>
        <p:spPr>
          <a:xfrm>
            <a:off x="1695600" y="2946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(5)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/>
          </a:p>
        </p:txBody>
      </p:sp>
      <p:sp>
        <p:nvSpPr>
          <p:cNvPr id="1836" name="Google Shape;1836;p148"/>
          <p:cNvSpPr txBox="1"/>
          <p:nvPr>
            <p:ph idx="1" type="body"/>
          </p:nvPr>
        </p:nvSpPr>
        <p:spPr>
          <a:xfrm>
            <a:off x="4842261" y="2946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(5)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5 − 11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1837" name="Google Shape;1837;p148"/>
          <p:cNvSpPr txBox="1"/>
          <p:nvPr>
            <p:ph idx="1" type="body"/>
          </p:nvPr>
        </p:nvSpPr>
        <p:spPr>
          <a:xfrm>
            <a:off x="1695600" y="3454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(10)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43</a:t>
            </a:r>
            <a:endParaRPr/>
          </a:p>
        </p:txBody>
      </p:sp>
      <p:sp>
        <p:nvSpPr>
          <p:cNvPr id="1838" name="Google Shape;1838;p148"/>
          <p:cNvSpPr txBox="1"/>
          <p:nvPr>
            <p:ph idx="1" type="body"/>
          </p:nvPr>
        </p:nvSpPr>
        <p:spPr>
          <a:xfrm>
            <a:off x="4842261" y="3454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(10)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5 − 11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39</a:t>
            </a:r>
            <a:endParaRPr/>
          </a:p>
        </p:txBody>
      </p:sp>
      <p:sp>
        <p:nvSpPr>
          <p:cNvPr id="1839" name="Google Shape;1839;p148"/>
          <p:cNvSpPr txBox="1"/>
          <p:nvPr>
            <p:ph idx="1" type="body"/>
          </p:nvPr>
        </p:nvSpPr>
        <p:spPr>
          <a:xfrm>
            <a:off x="1695600" y="3962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(11)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46</a:t>
            </a:r>
            <a:endParaRPr/>
          </a:p>
        </p:txBody>
      </p:sp>
      <p:sp>
        <p:nvSpPr>
          <p:cNvPr id="1840" name="Google Shape;1840;p148"/>
          <p:cNvSpPr txBox="1"/>
          <p:nvPr>
            <p:ph idx="1" type="body"/>
          </p:nvPr>
        </p:nvSpPr>
        <p:spPr>
          <a:xfrm>
            <a:off x="4842261" y="3962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(11)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5 − 11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44</a:t>
            </a:r>
            <a:endParaRPr/>
          </a:p>
        </p:txBody>
      </p:sp>
      <p:sp>
        <p:nvSpPr>
          <p:cNvPr id="1841" name="Google Shape;1841;p148"/>
          <p:cNvSpPr txBox="1"/>
          <p:nvPr>
            <p:ph idx="1" type="body"/>
          </p:nvPr>
        </p:nvSpPr>
        <p:spPr>
          <a:xfrm>
            <a:off x="1695600" y="4470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(12)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endParaRPr/>
          </a:p>
        </p:txBody>
      </p:sp>
      <p:sp>
        <p:nvSpPr>
          <p:cNvPr id="1842" name="Google Shape;1842;p148"/>
          <p:cNvSpPr txBox="1"/>
          <p:nvPr>
            <p:ph idx="1" type="body"/>
          </p:nvPr>
        </p:nvSpPr>
        <p:spPr>
          <a:xfrm>
            <a:off x="4842261" y="4470650"/>
            <a:ext cx="22983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(12)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5 − 11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endParaRPr/>
          </a:p>
        </p:txBody>
      </p:sp>
      <p:sp>
        <p:nvSpPr>
          <p:cNvPr id="1843" name="Google Shape;1843;p148"/>
          <p:cNvSpPr txBox="1"/>
          <p:nvPr>
            <p:ph idx="1" type="body"/>
          </p:nvPr>
        </p:nvSpPr>
        <p:spPr>
          <a:xfrm>
            <a:off x="324000" y="135767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Jun’s method worked but it was very inefficient. One of the many reasons we use algebra in problem solving is because it can be really efficient.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1849" name="Google Shape;1849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625575" y="3744747"/>
            <a:ext cx="827732" cy="103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3181" y="2570677"/>
            <a:ext cx="897367" cy="115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49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499284" y="687225"/>
            <a:ext cx="5828050" cy="17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2" name="Google Shape;1852;p149"/>
          <p:cNvSpPr txBox="1"/>
          <p:nvPr/>
        </p:nvSpPr>
        <p:spPr>
          <a:xfrm>
            <a:off x="972825" y="945525"/>
            <a:ext cx="51453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have a number whereby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add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49"/>
          <p:cNvSpPr txBox="1"/>
          <p:nvPr>
            <p:ph idx="4294967295" type="subTitle"/>
          </p:nvPr>
        </p:nvSpPr>
        <p:spPr>
          <a:xfrm>
            <a:off x="2197473" y="2568500"/>
            <a:ext cx="600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/>
          </a:p>
        </p:txBody>
      </p:sp>
      <p:sp>
        <p:nvSpPr>
          <p:cNvPr id="1854" name="Google Shape;1854;p149"/>
          <p:cNvSpPr/>
          <p:nvPr/>
        </p:nvSpPr>
        <p:spPr>
          <a:xfrm>
            <a:off x="1770475" y="872050"/>
            <a:ext cx="1376400" cy="5097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149"/>
          <p:cNvSpPr txBox="1"/>
          <p:nvPr>
            <p:ph idx="4294967295" type="subTitle"/>
          </p:nvPr>
        </p:nvSpPr>
        <p:spPr>
          <a:xfrm>
            <a:off x="2197471" y="2568500"/>
            <a:ext cx="1858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endParaRPr sz="2400"/>
          </a:p>
        </p:txBody>
      </p:sp>
      <p:sp>
        <p:nvSpPr>
          <p:cNvPr id="1856" name="Google Shape;1856;p149"/>
          <p:cNvSpPr txBox="1"/>
          <p:nvPr>
            <p:ph idx="4294967295" type="subTitle"/>
          </p:nvPr>
        </p:nvSpPr>
        <p:spPr>
          <a:xfrm>
            <a:off x="2197471" y="2568500"/>
            <a:ext cx="221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/>
              <a:t> </a:t>
            </a:r>
            <a:endParaRPr sz="2400"/>
          </a:p>
        </p:txBody>
      </p:sp>
      <p:sp>
        <p:nvSpPr>
          <p:cNvPr id="1857" name="Google Shape;1857;p149"/>
          <p:cNvSpPr txBox="1"/>
          <p:nvPr>
            <p:ph idx="4294967295" type="subTitle"/>
          </p:nvPr>
        </p:nvSpPr>
        <p:spPr>
          <a:xfrm>
            <a:off x="2197473" y="2568496"/>
            <a:ext cx="3359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 + 13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/>
              <a:t>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5 − 11</a:t>
            </a:r>
            <a:endParaRPr sz="2400"/>
          </a:p>
        </p:txBody>
      </p:sp>
      <p:sp>
        <p:nvSpPr>
          <p:cNvPr id="1858" name="Google Shape;1858;p149"/>
          <p:cNvSpPr/>
          <p:nvPr/>
        </p:nvSpPr>
        <p:spPr>
          <a:xfrm>
            <a:off x="822050" y="1221775"/>
            <a:ext cx="2477100" cy="5097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49"/>
          <p:cNvSpPr/>
          <p:nvPr/>
        </p:nvSpPr>
        <p:spPr>
          <a:xfrm>
            <a:off x="3588045" y="1230600"/>
            <a:ext cx="1658700" cy="5097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49"/>
          <p:cNvSpPr/>
          <p:nvPr/>
        </p:nvSpPr>
        <p:spPr>
          <a:xfrm>
            <a:off x="864564" y="1613995"/>
            <a:ext cx="3865800" cy="5097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49"/>
          <p:cNvSpPr txBox="1"/>
          <p:nvPr>
            <p:ph idx="4294967295" type="subTitle"/>
          </p:nvPr>
        </p:nvSpPr>
        <p:spPr>
          <a:xfrm>
            <a:off x="2547199" y="3050360"/>
            <a:ext cx="254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+ 13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− 11</a:t>
            </a:r>
            <a:endParaRPr sz="2400"/>
          </a:p>
        </p:txBody>
      </p:sp>
      <p:sp>
        <p:nvSpPr>
          <p:cNvPr id="1862" name="Google Shape;1862;p149"/>
          <p:cNvSpPr txBox="1"/>
          <p:nvPr>
            <p:ph idx="4294967295" type="subTitle"/>
          </p:nvPr>
        </p:nvSpPr>
        <p:spPr>
          <a:xfrm>
            <a:off x="2547198" y="3532223"/>
            <a:ext cx="193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+ 24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/>
          </a:p>
        </p:txBody>
      </p:sp>
      <p:sp>
        <p:nvSpPr>
          <p:cNvPr id="1863" name="Google Shape;1863;p149"/>
          <p:cNvSpPr txBox="1"/>
          <p:nvPr>
            <p:ph idx="4294967295" type="subTitle"/>
          </p:nvPr>
        </p:nvSpPr>
        <p:spPr>
          <a:xfrm>
            <a:off x="3210531" y="4014087"/>
            <a:ext cx="1204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/>
          </a:p>
        </p:txBody>
      </p:sp>
      <p:sp>
        <p:nvSpPr>
          <p:cNvPr id="1864" name="Google Shape;1864;p149"/>
          <p:cNvSpPr txBox="1"/>
          <p:nvPr>
            <p:ph idx="4294967295" type="subTitle"/>
          </p:nvPr>
        </p:nvSpPr>
        <p:spPr>
          <a:xfrm>
            <a:off x="3396625" y="4495950"/>
            <a:ext cx="1376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12</a:t>
            </a:r>
            <a:endParaRPr sz="2400"/>
          </a:p>
        </p:txBody>
      </p:sp>
      <p:sp>
        <p:nvSpPr>
          <p:cNvPr id="1865" name="Google Shape;1865;p149"/>
          <p:cNvSpPr txBox="1"/>
          <p:nvPr/>
        </p:nvSpPr>
        <p:spPr>
          <a:xfrm>
            <a:off x="5697225" y="2774325"/>
            <a:ext cx="30465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Algebra has enabled us to solve this problem more efficiently.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50"/>
          <p:cNvSpPr txBox="1"/>
          <p:nvPr>
            <p:ph type="title"/>
          </p:nvPr>
        </p:nvSpPr>
        <p:spPr>
          <a:xfrm>
            <a:off x="324000" y="748775"/>
            <a:ext cx="8496000" cy="7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There is </a:t>
            </a:r>
            <a:r>
              <a:rPr lang="en-GB" sz="1800"/>
              <a:t>a number whereby if you multiply it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800"/>
              <a:t> and minus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800"/>
              <a:t> it’s the same as if you multiply it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/>
              <a:t> and add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800"/>
              <a:t>. Which equation represents this problem?</a:t>
            </a:r>
            <a:endParaRPr sz="1800"/>
          </a:p>
        </p:txBody>
      </p:sp>
      <p:sp>
        <p:nvSpPr>
          <p:cNvPr id="1871" name="Google Shape;1871;p1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872" name="Google Shape;1872;p150"/>
          <p:cNvSpPr txBox="1"/>
          <p:nvPr>
            <p:ph idx="1" type="subTitle"/>
          </p:nvPr>
        </p:nvSpPr>
        <p:spPr>
          <a:xfrm>
            <a:off x="1034425" y="1837775"/>
            <a:ext cx="26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7 − 9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+ 8</a:t>
            </a:r>
            <a:endParaRPr/>
          </a:p>
        </p:txBody>
      </p:sp>
      <p:sp>
        <p:nvSpPr>
          <p:cNvPr id="1873" name="Google Shape;1873;p150"/>
          <p:cNvSpPr txBox="1"/>
          <p:nvPr>
            <p:ph idx="3" type="subTitle"/>
          </p:nvPr>
        </p:nvSpPr>
        <p:spPr>
          <a:xfrm>
            <a:off x="1034425" y="2794250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− 9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/>
          </a:p>
        </p:txBody>
      </p:sp>
      <p:sp>
        <p:nvSpPr>
          <p:cNvPr id="1874" name="Google Shape;1874;p150"/>
          <p:cNvSpPr txBox="1"/>
          <p:nvPr>
            <p:ph idx="4" type="subTitle"/>
          </p:nvPr>
        </p:nvSpPr>
        <p:spPr>
          <a:xfrm>
            <a:off x="1034425" y="3766975"/>
            <a:ext cx="3013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(7 − 9)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(5 + 8)</a:t>
            </a:r>
            <a:endParaRPr/>
          </a:p>
        </p:txBody>
      </p:sp>
      <p:pic>
        <p:nvPicPr>
          <p:cNvPr id="1875" name="Google Shape;1875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565" y="277878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6" name="Google Shape;1876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8532" y="379392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7" name="Google Shape;187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1965" y="1821871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8" name="Google Shape;1878;p150"/>
          <p:cNvSpPr txBox="1"/>
          <p:nvPr>
            <p:ph idx="4294967295" type="body"/>
          </p:nvPr>
        </p:nvSpPr>
        <p:spPr>
          <a:xfrm>
            <a:off x="4320000" y="1668875"/>
            <a:ext cx="2499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correct equation, just not yet simplified.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151"/>
          <p:cNvSpPr txBox="1"/>
          <p:nvPr>
            <p:ph type="title"/>
          </p:nvPr>
        </p:nvSpPr>
        <p:spPr>
          <a:xfrm>
            <a:off x="324000" y="748775"/>
            <a:ext cx="8496000" cy="7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There is a number whereby if you </a:t>
            </a:r>
            <a:r>
              <a:rPr lang="en-GB" sz="1800"/>
              <a:t>minus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800"/>
              <a:t> and multiply it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800"/>
              <a:t> it’s the same as if you multiply it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/>
              <a:t> and add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800"/>
              <a:t>. Which equation represents this problem?</a:t>
            </a:r>
            <a:endParaRPr sz="1800"/>
          </a:p>
        </p:txBody>
      </p:sp>
      <p:sp>
        <p:nvSpPr>
          <p:cNvPr id="1884" name="Google Shape;1884;p1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885" name="Google Shape;1885;p151"/>
          <p:cNvSpPr txBox="1"/>
          <p:nvPr>
            <p:ph idx="1" type="subTitle"/>
          </p:nvPr>
        </p:nvSpPr>
        <p:spPr>
          <a:xfrm>
            <a:off x="1034425" y="1837775"/>
            <a:ext cx="26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− 9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+ 8</a:t>
            </a:r>
            <a:endParaRPr/>
          </a:p>
        </p:txBody>
      </p:sp>
      <p:sp>
        <p:nvSpPr>
          <p:cNvPr id="1886" name="Google Shape;1886;p151"/>
          <p:cNvSpPr txBox="1"/>
          <p:nvPr>
            <p:ph idx="3" type="subTitle"/>
          </p:nvPr>
        </p:nvSpPr>
        <p:spPr>
          <a:xfrm>
            <a:off x="1034425" y="2794250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− 9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/>
          </a:p>
        </p:txBody>
      </p:sp>
      <p:sp>
        <p:nvSpPr>
          <p:cNvPr id="1887" name="Google Shape;1887;p151"/>
          <p:cNvSpPr txBox="1"/>
          <p:nvPr>
            <p:ph idx="4" type="subTitle"/>
          </p:nvPr>
        </p:nvSpPr>
        <p:spPr>
          <a:xfrm>
            <a:off x="1034425" y="3766975"/>
            <a:ext cx="3013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− 9)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/>
          </a:p>
        </p:txBody>
      </p:sp>
      <p:pic>
        <p:nvPicPr>
          <p:cNvPr id="1888" name="Google Shape;1888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1732" y="280332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9" name="Google Shape;1889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0965" y="3780611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0" name="Google Shape;1890;p151"/>
          <p:cNvSpPr txBox="1"/>
          <p:nvPr>
            <p:ph idx="4294967295" type="body"/>
          </p:nvPr>
        </p:nvSpPr>
        <p:spPr>
          <a:xfrm>
            <a:off x="4091400" y="3726275"/>
            <a:ext cx="4116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Accurate use of brackets is vital in modelling problems algebraically.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91" name="Google Shape;1891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1380" y="1832769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52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Laura, Sam and Alex are </a:t>
            </a:r>
            <a:r>
              <a:rPr lang="en-GB"/>
              <a:t>buying</a:t>
            </a:r>
            <a:r>
              <a:rPr lang="en-GB"/>
              <a:t> presents for their teacher.</a:t>
            </a:r>
            <a:endParaRPr/>
          </a:p>
        </p:txBody>
      </p:sp>
      <p:sp>
        <p:nvSpPr>
          <p:cNvPr id="1897" name="Google Shape;1897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898" name="Google Shape;1898;p152"/>
          <p:cNvSpPr txBox="1"/>
          <p:nvPr>
            <p:ph idx="1" type="body"/>
          </p:nvPr>
        </p:nvSpPr>
        <p:spPr>
          <a:xfrm>
            <a:off x="1684800" y="1250200"/>
            <a:ext cx="6392100" cy="11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Sam spends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£15</a:t>
            </a:r>
            <a:r>
              <a:rPr lang="en-GB" sz="2000"/>
              <a:t> more than Laura and Alex spends twice as much as Laura. In total they spend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£95</a:t>
            </a:r>
            <a:r>
              <a:rPr lang="en-GB" sz="2000"/>
              <a:t>. How much does Sam spend?</a:t>
            </a:r>
            <a:endParaRPr sz="2000"/>
          </a:p>
        </p:txBody>
      </p:sp>
      <p:pic>
        <p:nvPicPr>
          <p:cNvPr id="1899" name="Google Shape;1899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41" y="1190925"/>
            <a:ext cx="840634" cy="1221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0" name="Google Shape;1900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676" y="2398166"/>
            <a:ext cx="734680" cy="1174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1" name="Google Shape;1901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1850" y="3711906"/>
            <a:ext cx="808637" cy="1034967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152"/>
          <p:cNvSpPr txBox="1"/>
          <p:nvPr>
            <p:ph idx="1" type="body"/>
          </p:nvPr>
        </p:nvSpPr>
        <p:spPr>
          <a:xfrm>
            <a:off x="1684800" y="2621800"/>
            <a:ext cx="5706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Sometimes</a:t>
            </a:r>
            <a:r>
              <a:rPr lang="en-GB" sz="2000"/>
              <a:t> a visual representation can support us in writing our equations.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153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Laura, Sam and Alex are buying presents for their teacher.</a:t>
            </a:r>
            <a:endParaRPr/>
          </a:p>
        </p:txBody>
      </p:sp>
      <p:sp>
        <p:nvSpPr>
          <p:cNvPr id="1908" name="Google Shape;1908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909" name="Google Shape;1909;p153"/>
          <p:cNvSpPr txBox="1"/>
          <p:nvPr>
            <p:ph idx="1" type="body"/>
          </p:nvPr>
        </p:nvSpPr>
        <p:spPr>
          <a:xfrm>
            <a:off x="1684800" y="1250200"/>
            <a:ext cx="6392100" cy="11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Sam spends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£15</a:t>
            </a:r>
            <a:r>
              <a:rPr lang="en-GB" sz="2000"/>
              <a:t> more than Laura and Alex spends twice as much as Laura. In total they spend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£95</a:t>
            </a:r>
            <a:r>
              <a:rPr lang="en-GB" sz="2000"/>
              <a:t>. How much does Sam spend?</a:t>
            </a:r>
            <a:endParaRPr sz="2000"/>
          </a:p>
        </p:txBody>
      </p:sp>
      <p:pic>
        <p:nvPicPr>
          <p:cNvPr id="1910" name="Google Shape;1910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41" y="1190925"/>
            <a:ext cx="840634" cy="1221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" name="Google Shape;1911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676" y="2398166"/>
            <a:ext cx="734680" cy="1174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1850" y="3711906"/>
            <a:ext cx="808637" cy="1034967"/>
          </a:xfrm>
          <a:prstGeom prst="rect">
            <a:avLst/>
          </a:prstGeom>
          <a:noFill/>
          <a:ln>
            <a:noFill/>
          </a:ln>
        </p:spPr>
      </p:pic>
      <p:sp>
        <p:nvSpPr>
          <p:cNvPr id="1913" name="Google Shape;1913;p153"/>
          <p:cNvSpPr/>
          <p:nvPr/>
        </p:nvSpPr>
        <p:spPr>
          <a:xfrm>
            <a:off x="2882326" y="2476900"/>
            <a:ext cx="12108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4" name="Google Shape;1914;p153"/>
          <p:cNvSpPr txBox="1"/>
          <p:nvPr>
            <p:ph idx="1" type="body"/>
          </p:nvPr>
        </p:nvSpPr>
        <p:spPr>
          <a:xfrm>
            <a:off x="1684800" y="2545600"/>
            <a:ext cx="10500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Laura</a:t>
            </a:r>
            <a:endParaRPr sz="2000"/>
          </a:p>
        </p:txBody>
      </p:sp>
      <p:grpSp>
        <p:nvGrpSpPr>
          <p:cNvPr id="1915" name="Google Shape;1915;p153"/>
          <p:cNvGrpSpPr/>
          <p:nvPr/>
        </p:nvGrpSpPr>
        <p:grpSpPr>
          <a:xfrm>
            <a:off x="2882326" y="2869130"/>
            <a:ext cx="2047047" cy="387600"/>
            <a:chOff x="4307665" y="2985427"/>
            <a:chExt cx="2047047" cy="387600"/>
          </a:xfrm>
        </p:grpSpPr>
        <p:sp>
          <p:nvSpPr>
            <p:cNvPr id="1916" name="Google Shape;1916;p153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15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7" name="Google Shape;1917;p153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18" name="Google Shape;1918;p153"/>
          <p:cNvSpPr txBox="1"/>
          <p:nvPr>
            <p:ph idx="1" type="body"/>
          </p:nvPr>
        </p:nvSpPr>
        <p:spPr>
          <a:xfrm>
            <a:off x="1684800" y="2937830"/>
            <a:ext cx="10500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Sam</a:t>
            </a:r>
            <a:endParaRPr sz="2000"/>
          </a:p>
        </p:txBody>
      </p:sp>
      <p:sp>
        <p:nvSpPr>
          <p:cNvPr id="1919" name="Google Shape;1919;p153"/>
          <p:cNvSpPr txBox="1"/>
          <p:nvPr>
            <p:ph idx="1" type="body"/>
          </p:nvPr>
        </p:nvSpPr>
        <p:spPr>
          <a:xfrm>
            <a:off x="1684800" y="3327648"/>
            <a:ext cx="10500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Alex</a:t>
            </a:r>
            <a:endParaRPr sz="2000"/>
          </a:p>
        </p:txBody>
      </p:sp>
      <p:grpSp>
        <p:nvGrpSpPr>
          <p:cNvPr id="1920" name="Google Shape;1920;p153"/>
          <p:cNvGrpSpPr/>
          <p:nvPr/>
        </p:nvGrpSpPr>
        <p:grpSpPr>
          <a:xfrm>
            <a:off x="2882326" y="3258948"/>
            <a:ext cx="2418770" cy="387600"/>
            <a:chOff x="2882326" y="3487548"/>
            <a:chExt cx="2418770" cy="387600"/>
          </a:xfrm>
        </p:grpSpPr>
        <p:sp>
          <p:nvSpPr>
            <p:cNvPr id="1921" name="Google Shape;1921;p153"/>
            <p:cNvSpPr/>
            <p:nvPr/>
          </p:nvSpPr>
          <p:spPr>
            <a:xfrm>
              <a:off x="2882326" y="3487548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22" name="Google Shape;1922;p153"/>
            <p:cNvSpPr/>
            <p:nvPr/>
          </p:nvSpPr>
          <p:spPr>
            <a:xfrm>
              <a:off x="4090296" y="3487548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pic>
        <p:nvPicPr>
          <p:cNvPr id="1923" name="Google Shape;1923;p1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6599" y="2373425"/>
            <a:ext cx="289338" cy="13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4" name="Google Shape;1924;p153"/>
          <p:cNvSpPr txBox="1"/>
          <p:nvPr>
            <p:ph idx="4294967295" type="subTitle"/>
          </p:nvPr>
        </p:nvSpPr>
        <p:spPr>
          <a:xfrm>
            <a:off x="5758825" y="2839605"/>
            <a:ext cx="542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£95</a:t>
            </a:r>
            <a:endParaRPr sz="2300"/>
          </a:p>
        </p:txBody>
      </p:sp>
      <p:sp>
        <p:nvSpPr>
          <p:cNvPr id="1925" name="Google Shape;1925;p153"/>
          <p:cNvSpPr txBox="1"/>
          <p:nvPr>
            <p:ph idx="4294967295" type="subTitle"/>
          </p:nvPr>
        </p:nvSpPr>
        <p:spPr>
          <a:xfrm>
            <a:off x="3156798" y="3780871"/>
            <a:ext cx="193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+ 15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95</a:t>
            </a:r>
            <a:endParaRPr/>
          </a:p>
        </p:txBody>
      </p:sp>
      <p:sp>
        <p:nvSpPr>
          <p:cNvPr id="1926" name="Google Shape;1926;p153"/>
          <p:cNvSpPr txBox="1"/>
          <p:nvPr>
            <p:ph idx="4294967295" type="subTitle"/>
          </p:nvPr>
        </p:nvSpPr>
        <p:spPr>
          <a:xfrm>
            <a:off x="3800086" y="4159661"/>
            <a:ext cx="1376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80</a:t>
            </a:r>
            <a:endParaRPr/>
          </a:p>
        </p:txBody>
      </p:sp>
      <p:sp>
        <p:nvSpPr>
          <p:cNvPr id="1927" name="Google Shape;1927;p153"/>
          <p:cNvSpPr txBox="1"/>
          <p:nvPr>
            <p:ph idx="4294967295" type="subTitle"/>
          </p:nvPr>
        </p:nvSpPr>
        <p:spPr>
          <a:xfrm>
            <a:off x="3952478" y="4538450"/>
            <a:ext cx="97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20</a:t>
            </a:r>
            <a:endParaRPr/>
          </a:p>
        </p:txBody>
      </p:sp>
      <p:sp>
        <p:nvSpPr>
          <p:cNvPr id="1928" name="Google Shape;1928;p153"/>
          <p:cNvSpPr txBox="1"/>
          <p:nvPr>
            <p:ph idx="1" type="body"/>
          </p:nvPr>
        </p:nvSpPr>
        <p:spPr>
          <a:xfrm>
            <a:off x="5463000" y="3997393"/>
            <a:ext cx="3357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Sam spends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+ 15 = £35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3" name="Google Shape;1933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94320" y="3511839"/>
            <a:ext cx="1263301" cy="122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934" name="Google Shape;1934;p154"/>
          <p:cNvSpPr txBox="1"/>
          <p:nvPr>
            <p:ph idx="1" type="body"/>
          </p:nvPr>
        </p:nvSpPr>
        <p:spPr>
          <a:xfrm>
            <a:off x="324000" y="759300"/>
            <a:ext cx="8237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Sofia</a:t>
            </a:r>
            <a:r>
              <a:rPr lang="en-GB"/>
              <a:t>, Jacob and Izzy are buying presents for their teacher.</a:t>
            </a:r>
            <a:endParaRPr/>
          </a:p>
        </p:txBody>
      </p:sp>
      <p:sp>
        <p:nvSpPr>
          <p:cNvPr id="1935" name="Google Shape;1935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936" name="Google Shape;1936;p154"/>
          <p:cNvSpPr txBox="1"/>
          <p:nvPr>
            <p:ph idx="1" type="body"/>
          </p:nvPr>
        </p:nvSpPr>
        <p:spPr>
          <a:xfrm>
            <a:off x="1684800" y="1250200"/>
            <a:ext cx="6392100" cy="11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Jacob</a:t>
            </a:r>
            <a:r>
              <a:rPr lang="en-GB" sz="2000"/>
              <a:t> spends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£10</a:t>
            </a:r>
            <a:r>
              <a:rPr lang="en-GB" sz="2000"/>
              <a:t> more than Sofia and Izzy spends three times as much as Jacob. In total they spend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£130</a:t>
            </a:r>
            <a:r>
              <a:rPr lang="en-GB" sz="2000"/>
              <a:t>. How much does Izzy spend?</a:t>
            </a:r>
            <a:endParaRPr sz="2000"/>
          </a:p>
        </p:txBody>
      </p:sp>
      <p:sp>
        <p:nvSpPr>
          <p:cNvPr id="1937" name="Google Shape;1937;p154"/>
          <p:cNvSpPr/>
          <p:nvPr/>
        </p:nvSpPr>
        <p:spPr>
          <a:xfrm>
            <a:off x="2577524" y="2476900"/>
            <a:ext cx="9993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 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8" name="Google Shape;1938;p154"/>
          <p:cNvSpPr txBox="1"/>
          <p:nvPr>
            <p:ph idx="1" type="body"/>
          </p:nvPr>
        </p:nvSpPr>
        <p:spPr>
          <a:xfrm>
            <a:off x="1380000" y="2545600"/>
            <a:ext cx="10500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Sofia</a:t>
            </a:r>
            <a:endParaRPr sz="2000"/>
          </a:p>
        </p:txBody>
      </p:sp>
      <p:grpSp>
        <p:nvGrpSpPr>
          <p:cNvPr id="1939" name="Google Shape;1939;p154"/>
          <p:cNvGrpSpPr/>
          <p:nvPr/>
        </p:nvGrpSpPr>
        <p:grpSpPr>
          <a:xfrm>
            <a:off x="2577358" y="2869142"/>
            <a:ext cx="1689633" cy="387600"/>
            <a:chOff x="4307665" y="2985427"/>
            <a:chExt cx="2047047" cy="387600"/>
          </a:xfrm>
        </p:grpSpPr>
        <p:sp>
          <p:nvSpPr>
            <p:cNvPr id="1940" name="Google Shape;1940;p154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41" name="Google Shape;1941;p154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42" name="Google Shape;1942;p154"/>
          <p:cNvSpPr txBox="1"/>
          <p:nvPr>
            <p:ph idx="1" type="body"/>
          </p:nvPr>
        </p:nvSpPr>
        <p:spPr>
          <a:xfrm>
            <a:off x="1380000" y="2937830"/>
            <a:ext cx="10500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Jacob</a:t>
            </a:r>
            <a:endParaRPr sz="2000"/>
          </a:p>
        </p:txBody>
      </p:sp>
      <p:sp>
        <p:nvSpPr>
          <p:cNvPr id="1943" name="Google Shape;1943;p154"/>
          <p:cNvSpPr txBox="1"/>
          <p:nvPr>
            <p:ph idx="1" type="body"/>
          </p:nvPr>
        </p:nvSpPr>
        <p:spPr>
          <a:xfrm>
            <a:off x="1380000" y="3327648"/>
            <a:ext cx="10500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Izzy</a:t>
            </a:r>
            <a:endParaRPr sz="2000"/>
          </a:p>
        </p:txBody>
      </p:sp>
      <p:pic>
        <p:nvPicPr>
          <p:cNvPr id="1944" name="Google Shape;1944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2515" y="2344679"/>
            <a:ext cx="824446" cy="10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5" name="Google Shape;1945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6808" y="1210671"/>
            <a:ext cx="915812" cy="10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946" name="Google Shape;1946;p154"/>
          <p:cNvSpPr txBox="1"/>
          <p:nvPr>
            <p:ph idx="1" type="body"/>
          </p:nvPr>
        </p:nvSpPr>
        <p:spPr>
          <a:xfrm>
            <a:off x="1695600" y="3784850"/>
            <a:ext cx="59544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Draw a model to represent this situation. Write the accompanying equation and solve.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Some of the model is drawn for you.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1" name="Google Shape;1951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94320" y="3511839"/>
            <a:ext cx="1263301" cy="122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952" name="Google Shape;1952;p155"/>
          <p:cNvSpPr txBox="1"/>
          <p:nvPr>
            <p:ph idx="1" type="body"/>
          </p:nvPr>
        </p:nvSpPr>
        <p:spPr>
          <a:xfrm>
            <a:off x="324000" y="759300"/>
            <a:ext cx="8237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Sofia, Jacob and Izzy are buying presents for their teacher.</a:t>
            </a:r>
            <a:endParaRPr/>
          </a:p>
        </p:txBody>
      </p:sp>
      <p:sp>
        <p:nvSpPr>
          <p:cNvPr id="1953" name="Google Shape;1953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954" name="Google Shape;1954;p155"/>
          <p:cNvSpPr txBox="1"/>
          <p:nvPr>
            <p:ph idx="1" type="body"/>
          </p:nvPr>
        </p:nvSpPr>
        <p:spPr>
          <a:xfrm>
            <a:off x="1684800" y="1250200"/>
            <a:ext cx="6392100" cy="11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Jacob spends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£10</a:t>
            </a:r>
            <a:r>
              <a:rPr lang="en-GB" sz="2000"/>
              <a:t> more than Sofia and Izzy spends three times as much as Jacob. In total they spend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£130</a:t>
            </a:r>
            <a:r>
              <a:rPr lang="en-GB" sz="2000"/>
              <a:t>. How much does Izzy spend?</a:t>
            </a:r>
            <a:endParaRPr sz="2000"/>
          </a:p>
        </p:txBody>
      </p:sp>
      <p:sp>
        <p:nvSpPr>
          <p:cNvPr id="1955" name="Google Shape;1955;p155"/>
          <p:cNvSpPr/>
          <p:nvPr/>
        </p:nvSpPr>
        <p:spPr>
          <a:xfrm>
            <a:off x="2577524" y="2476900"/>
            <a:ext cx="9993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6" name="Google Shape;1956;p155"/>
          <p:cNvSpPr txBox="1"/>
          <p:nvPr>
            <p:ph idx="1" type="body"/>
          </p:nvPr>
        </p:nvSpPr>
        <p:spPr>
          <a:xfrm>
            <a:off x="1380000" y="2545600"/>
            <a:ext cx="10500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Sofia</a:t>
            </a:r>
            <a:endParaRPr sz="2000"/>
          </a:p>
        </p:txBody>
      </p:sp>
      <p:grpSp>
        <p:nvGrpSpPr>
          <p:cNvPr id="1957" name="Google Shape;1957;p155"/>
          <p:cNvGrpSpPr/>
          <p:nvPr/>
        </p:nvGrpSpPr>
        <p:grpSpPr>
          <a:xfrm>
            <a:off x="2577358" y="2869142"/>
            <a:ext cx="1689633" cy="387600"/>
            <a:chOff x="4307665" y="2985427"/>
            <a:chExt cx="2047047" cy="387600"/>
          </a:xfrm>
        </p:grpSpPr>
        <p:sp>
          <p:nvSpPr>
            <p:cNvPr id="1958" name="Google Shape;1958;p155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10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59" name="Google Shape;1959;p155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60" name="Google Shape;1960;p155"/>
          <p:cNvSpPr txBox="1"/>
          <p:nvPr>
            <p:ph idx="1" type="body"/>
          </p:nvPr>
        </p:nvSpPr>
        <p:spPr>
          <a:xfrm>
            <a:off x="1380000" y="2937830"/>
            <a:ext cx="10500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Jacob</a:t>
            </a:r>
            <a:endParaRPr sz="2000"/>
          </a:p>
        </p:txBody>
      </p:sp>
      <p:sp>
        <p:nvSpPr>
          <p:cNvPr id="1961" name="Google Shape;1961;p155"/>
          <p:cNvSpPr txBox="1"/>
          <p:nvPr>
            <p:ph idx="1" type="body"/>
          </p:nvPr>
        </p:nvSpPr>
        <p:spPr>
          <a:xfrm>
            <a:off x="1380000" y="3327648"/>
            <a:ext cx="10500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Izzy</a:t>
            </a:r>
            <a:endParaRPr sz="2000"/>
          </a:p>
        </p:txBody>
      </p:sp>
      <p:sp>
        <p:nvSpPr>
          <p:cNvPr id="1962" name="Google Shape;1962;p155"/>
          <p:cNvSpPr txBox="1"/>
          <p:nvPr>
            <p:ph idx="4294967295" type="subTitle"/>
          </p:nvPr>
        </p:nvSpPr>
        <p:spPr>
          <a:xfrm>
            <a:off x="8044825" y="2839600"/>
            <a:ext cx="794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£130</a:t>
            </a:r>
            <a:endParaRPr sz="2300"/>
          </a:p>
        </p:txBody>
      </p:sp>
      <p:sp>
        <p:nvSpPr>
          <p:cNvPr id="1963" name="Google Shape;1963;p155"/>
          <p:cNvSpPr txBox="1"/>
          <p:nvPr>
            <p:ph idx="4294967295" type="subTitle"/>
          </p:nvPr>
        </p:nvSpPr>
        <p:spPr>
          <a:xfrm>
            <a:off x="3156798" y="3780871"/>
            <a:ext cx="193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+ 40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130</a:t>
            </a:r>
            <a:endParaRPr/>
          </a:p>
        </p:txBody>
      </p:sp>
      <p:sp>
        <p:nvSpPr>
          <p:cNvPr id="1964" name="Google Shape;1964;p155"/>
          <p:cNvSpPr txBox="1"/>
          <p:nvPr>
            <p:ph idx="4294967295" type="subTitle"/>
          </p:nvPr>
        </p:nvSpPr>
        <p:spPr>
          <a:xfrm>
            <a:off x="3800086" y="4159661"/>
            <a:ext cx="1376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90</a:t>
            </a:r>
            <a:endParaRPr/>
          </a:p>
        </p:txBody>
      </p:sp>
      <p:sp>
        <p:nvSpPr>
          <p:cNvPr id="1965" name="Google Shape;1965;p155"/>
          <p:cNvSpPr txBox="1"/>
          <p:nvPr>
            <p:ph idx="4294967295" type="subTitle"/>
          </p:nvPr>
        </p:nvSpPr>
        <p:spPr>
          <a:xfrm>
            <a:off x="3952478" y="4538450"/>
            <a:ext cx="97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18</a:t>
            </a:r>
            <a:endParaRPr/>
          </a:p>
        </p:txBody>
      </p:sp>
      <p:sp>
        <p:nvSpPr>
          <p:cNvPr id="1966" name="Google Shape;1966;p155"/>
          <p:cNvSpPr txBox="1"/>
          <p:nvPr>
            <p:ph idx="1" type="body"/>
          </p:nvPr>
        </p:nvSpPr>
        <p:spPr>
          <a:xfrm>
            <a:off x="5310600" y="3921200"/>
            <a:ext cx="3579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Izzy spends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× 18 + 30 = £84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67" name="Google Shape;1967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2515" y="2344679"/>
            <a:ext cx="824446" cy="10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8" name="Google Shape;1968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6808" y="1210671"/>
            <a:ext cx="915812" cy="101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9" name="Google Shape;1969;p1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50100" y="2373375"/>
            <a:ext cx="336925" cy="1336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0" name="Google Shape;1970;p155"/>
          <p:cNvGrpSpPr/>
          <p:nvPr/>
        </p:nvGrpSpPr>
        <p:grpSpPr>
          <a:xfrm>
            <a:off x="2577358" y="3250142"/>
            <a:ext cx="1689633" cy="387600"/>
            <a:chOff x="4307665" y="2985427"/>
            <a:chExt cx="2047047" cy="387600"/>
          </a:xfrm>
        </p:grpSpPr>
        <p:sp>
          <p:nvSpPr>
            <p:cNvPr id="1971" name="Google Shape;1971;p155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10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72" name="Google Shape;1972;p155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973" name="Google Shape;1973;p155"/>
          <p:cNvGrpSpPr/>
          <p:nvPr/>
        </p:nvGrpSpPr>
        <p:grpSpPr>
          <a:xfrm>
            <a:off x="4264989" y="3250142"/>
            <a:ext cx="1689633" cy="387600"/>
            <a:chOff x="4307665" y="2985427"/>
            <a:chExt cx="2047047" cy="387600"/>
          </a:xfrm>
        </p:grpSpPr>
        <p:sp>
          <p:nvSpPr>
            <p:cNvPr id="1974" name="Google Shape;1974;p155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10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75" name="Google Shape;1975;p155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976" name="Google Shape;1976;p155"/>
          <p:cNvGrpSpPr/>
          <p:nvPr/>
        </p:nvGrpSpPr>
        <p:grpSpPr>
          <a:xfrm>
            <a:off x="5952619" y="3250142"/>
            <a:ext cx="1689633" cy="387600"/>
            <a:chOff x="4307665" y="2985427"/>
            <a:chExt cx="2047047" cy="387600"/>
          </a:xfrm>
        </p:grpSpPr>
        <p:sp>
          <p:nvSpPr>
            <p:cNvPr id="1977" name="Google Shape;1977;p155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10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78" name="Google Shape;1978;p155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156"/>
          <p:cNvSpPr txBox="1"/>
          <p:nvPr>
            <p:ph idx="1" type="body"/>
          </p:nvPr>
        </p:nvSpPr>
        <p:spPr>
          <a:xfrm>
            <a:off x="324000" y="759300"/>
            <a:ext cx="8237700" cy="13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a) An electrician has a call out fee and then charges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£45</a:t>
            </a:r>
            <a:r>
              <a:rPr lang="en-GB"/>
              <a:t> per hour. For an eight hour job they charge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£385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Form an equation and calculate their call out fee.</a:t>
            </a:r>
            <a:endParaRPr/>
          </a:p>
        </p:txBody>
      </p:sp>
      <p:sp>
        <p:nvSpPr>
          <p:cNvPr id="1984" name="Google Shape;1984;p1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1985" name="Google Shape;1985;p156"/>
          <p:cNvSpPr txBox="1"/>
          <p:nvPr>
            <p:ph idx="1" type="body"/>
          </p:nvPr>
        </p:nvSpPr>
        <p:spPr>
          <a:xfrm>
            <a:off x="324000" y="2969100"/>
            <a:ext cx="8237700" cy="13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) Another electrician has a call out fee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£50</a:t>
            </a:r>
            <a:r>
              <a:rPr lang="en-GB"/>
              <a:t> and for an eight hour job they charge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Form an equation and calculate their hourly rate.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57"/>
          <p:cNvSpPr txBox="1"/>
          <p:nvPr>
            <p:ph idx="1" type="body"/>
          </p:nvPr>
        </p:nvSpPr>
        <p:spPr>
          <a:xfrm>
            <a:off x="324000" y="759300"/>
            <a:ext cx="82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Andeep has made two number problems. Write an equation and find the number in each case.</a:t>
            </a:r>
            <a:endParaRPr/>
          </a:p>
        </p:txBody>
      </p:sp>
      <p:sp>
        <p:nvSpPr>
          <p:cNvPr id="1991" name="Google Shape;1991;p1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1992" name="Google Shape;1992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3175" y="2342075"/>
            <a:ext cx="1005475" cy="12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3" name="Google Shape;1993;p157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922788" y="1491725"/>
            <a:ext cx="8091776" cy="11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4" name="Google Shape;1994;p157"/>
          <p:cNvSpPr txBox="1"/>
          <p:nvPr/>
        </p:nvSpPr>
        <p:spPr>
          <a:xfrm>
            <a:off x="1506225" y="1631325"/>
            <a:ext cx="71490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have a number whereby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add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5" name="Google Shape;1995;p157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rot="10800000">
            <a:off x="91336" y="3605450"/>
            <a:ext cx="8585574" cy="10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6" name="Google Shape;1996;p157"/>
          <p:cNvSpPr txBox="1"/>
          <p:nvPr/>
        </p:nvSpPr>
        <p:spPr>
          <a:xfrm>
            <a:off x="744225" y="3764925"/>
            <a:ext cx="75084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I have another number whereby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158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3</a:t>
            </a:r>
            <a:r>
              <a:rPr lang="en-GB" sz="2100"/>
              <a:t>) a) Jun, Aisha and Jacob are buying a present for a classmate.</a:t>
            </a:r>
            <a:endParaRPr sz="2100"/>
          </a:p>
        </p:txBody>
      </p:sp>
      <p:sp>
        <p:nvSpPr>
          <p:cNvPr id="2002" name="Google Shape;2002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2003" name="Google Shape;2003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1" y="1617566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4" name="Google Shape;2004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70" y="2617879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5" name="Google Shape;2005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181" y="3924057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2006" name="Google Shape;2006;p158"/>
          <p:cNvSpPr txBox="1"/>
          <p:nvPr>
            <p:ph idx="1" type="body"/>
          </p:nvPr>
        </p:nvSpPr>
        <p:spPr>
          <a:xfrm>
            <a:off x="1695600" y="1346439"/>
            <a:ext cx="7124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Aisha spends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 sz="2100"/>
              <a:t> more than Jun and Jacob spends three times as much as Jun. In total they spend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£39.50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How much does Jacob spend?</a:t>
            </a:r>
            <a:endParaRPr sz="2100"/>
          </a:p>
        </p:txBody>
      </p:sp>
      <p:sp>
        <p:nvSpPr>
          <p:cNvPr id="2007" name="Google Shape;2007;p158"/>
          <p:cNvSpPr txBox="1"/>
          <p:nvPr>
            <p:ph idx="1" type="body"/>
          </p:nvPr>
        </p:nvSpPr>
        <p:spPr>
          <a:xfrm>
            <a:off x="1695600" y="3175239"/>
            <a:ext cx="7124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 might choose to use a visual representation of this problem to help you write your equation.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159"/>
          <p:cNvSpPr txBox="1"/>
          <p:nvPr>
            <p:ph idx="1" type="body"/>
          </p:nvPr>
        </p:nvSpPr>
        <p:spPr>
          <a:xfrm>
            <a:off x="324000" y="759300"/>
            <a:ext cx="75843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3) b) Jun, Aisha and Jacob are buying a present for a second classmate.</a:t>
            </a:r>
            <a:endParaRPr sz="2100"/>
          </a:p>
        </p:txBody>
      </p:sp>
      <p:sp>
        <p:nvSpPr>
          <p:cNvPr id="2013" name="Google Shape;2013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2014" name="Google Shape;2014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1" y="1617566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5" name="Google Shape;2015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70" y="2617879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181" y="3924057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2017" name="Google Shape;2017;p159"/>
          <p:cNvSpPr txBox="1"/>
          <p:nvPr>
            <p:ph idx="1" type="body"/>
          </p:nvPr>
        </p:nvSpPr>
        <p:spPr>
          <a:xfrm>
            <a:off x="1695600" y="1651250"/>
            <a:ext cx="67296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Aisha spends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£5</a:t>
            </a:r>
            <a:r>
              <a:rPr lang="en-GB" sz="2100"/>
              <a:t> more than Jun and Jacob spends four times as much as Aisha. Jacob spends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£33 </a:t>
            </a:r>
            <a:r>
              <a:rPr lang="en-GB" sz="2100"/>
              <a:t>more than Aisha.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How much does Jun spend?</a:t>
            </a:r>
            <a:endParaRPr sz="2100"/>
          </a:p>
        </p:txBody>
      </p:sp>
      <p:sp>
        <p:nvSpPr>
          <p:cNvPr id="2018" name="Google Shape;2018;p159"/>
          <p:cNvSpPr txBox="1"/>
          <p:nvPr>
            <p:ph idx="1" type="body"/>
          </p:nvPr>
        </p:nvSpPr>
        <p:spPr>
          <a:xfrm>
            <a:off x="1695600" y="3708650"/>
            <a:ext cx="64488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 might choose to use a visual representation of this problem to help you write your equation.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160"/>
          <p:cNvSpPr txBox="1"/>
          <p:nvPr>
            <p:ph idx="1" type="body"/>
          </p:nvPr>
        </p:nvSpPr>
        <p:spPr>
          <a:xfrm>
            <a:off x="324000" y="759300"/>
            <a:ext cx="8237700" cy="13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a) An electrician has a call out fee and then charges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£45</a:t>
            </a:r>
            <a:r>
              <a:rPr lang="en-GB"/>
              <a:t> per hour. For an eight hour job they charge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£385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Form an equation and calculate their call out fee.</a:t>
            </a:r>
            <a:endParaRPr/>
          </a:p>
        </p:txBody>
      </p:sp>
      <p:sp>
        <p:nvSpPr>
          <p:cNvPr id="2024" name="Google Shape;2024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2025" name="Google Shape;2025;p160"/>
          <p:cNvSpPr txBox="1"/>
          <p:nvPr>
            <p:ph idx="4294967295" type="subTitle"/>
          </p:nvPr>
        </p:nvSpPr>
        <p:spPr>
          <a:xfrm>
            <a:off x="1742686" y="2261284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 ×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£45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£385</a:t>
            </a:r>
            <a:endParaRPr/>
          </a:p>
        </p:txBody>
      </p:sp>
      <p:sp>
        <p:nvSpPr>
          <p:cNvPr id="2026" name="Google Shape;2026;p160"/>
          <p:cNvSpPr txBox="1"/>
          <p:nvPr>
            <p:ph idx="4294967295" type="subTitle"/>
          </p:nvPr>
        </p:nvSpPr>
        <p:spPr>
          <a:xfrm>
            <a:off x="2058716" y="2718484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£360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£385</a:t>
            </a:r>
            <a:endParaRPr/>
          </a:p>
        </p:txBody>
      </p:sp>
      <p:sp>
        <p:nvSpPr>
          <p:cNvPr id="2027" name="Google Shape;2027;p160"/>
          <p:cNvSpPr txBox="1"/>
          <p:nvPr>
            <p:ph idx="4294967295" type="subTitle"/>
          </p:nvPr>
        </p:nvSpPr>
        <p:spPr>
          <a:xfrm>
            <a:off x="2984351" y="3175675"/>
            <a:ext cx="1189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£25</a:t>
            </a:r>
            <a:endParaRPr/>
          </a:p>
        </p:txBody>
      </p:sp>
      <p:sp>
        <p:nvSpPr>
          <p:cNvPr id="2028" name="Google Shape;2028;p160"/>
          <p:cNvSpPr txBox="1"/>
          <p:nvPr>
            <p:ph idx="4294967295" type="body"/>
          </p:nvPr>
        </p:nvSpPr>
        <p:spPr>
          <a:xfrm>
            <a:off x="1717970" y="4039909"/>
            <a:ext cx="3579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Their call out fee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£25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161"/>
          <p:cNvSpPr txBox="1"/>
          <p:nvPr>
            <p:ph idx="1" type="body"/>
          </p:nvPr>
        </p:nvSpPr>
        <p:spPr>
          <a:xfrm>
            <a:off x="324000" y="759300"/>
            <a:ext cx="8237700" cy="13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endParaRPr/>
          </a:p>
        </p:txBody>
      </p:sp>
      <p:sp>
        <p:nvSpPr>
          <p:cNvPr id="2034" name="Google Shape;2034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sp>
        <p:nvSpPr>
          <p:cNvPr id="2035" name="Google Shape;2035;p161"/>
          <p:cNvSpPr txBox="1"/>
          <p:nvPr>
            <p:ph idx="1" type="body"/>
          </p:nvPr>
        </p:nvSpPr>
        <p:spPr>
          <a:xfrm>
            <a:off x="324000" y="1140300"/>
            <a:ext cx="8237700" cy="13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Another electrician has a call out fee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£50</a:t>
            </a:r>
            <a:r>
              <a:rPr lang="en-GB"/>
              <a:t> and for an eight hour job they charge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Form an equation to calculate their hourly rate.</a:t>
            </a:r>
            <a:endParaRPr/>
          </a:p>
        </p:txBody>
      </p:sp>
      <p:sp>
        <p:nvSpPr>
          <p:cNvPr id="2036" name="Google Shape;2036;p161"/>
          <p:cNvSpPr txBox="1"/>
          <p:nvPr>
            <p:ph idx="4294967295" type="subTitle"/>
          </p:nvPr>
        </p:nvSpPr>
        <p:spPr>
          <a:xfrm>
            <a:off x="2211104" y="2707250"/>
            <a:ext cx="2195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£50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endParaRPr/>
          </a:p>
        </p:txBody>
      </p:sp>
      <p:sp>
        <p:nvSpPr>
          <p:cNvPr id="2037" name="Google Shape;2037;p161"/>
          <p:cNvSpPr txBox="1"/>
          <p:nvPr>
            <p:ph idx="4294967295" type="subTitle"/>
          </p:nvPr>
        </p:nvSpPr>
        <p:spPr>
          <a:xfrm>
            <a:off x="2995582" y="3164450"/>
            <a:ext cx="1485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£320</a:t>
            </a:r>
            <a:endParaRPr/>
          </a:p>
        </p:txBody>
      </p:sp>
      <p:sp>
        <p:nvSpPr>
          <p:cNvPr id="2038" name="Google Shape;2038;p161"/>
          <p:cNvSpPr txBox="1"/>
          <p:nvPr>
            <p:ph idx="4294967295" type="subTitle"/>
          </p:nvPr>
        </p:nvSpPr>
        <p:spPr>
          <a:xfrm>
            <a:off x="3159212" y="3621645"/>
            <a:ext cx="1189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£40</a:t>
            </a:r>
            <a:endParaRPr/>
          </a:p>
        </p:txBody>
      </p:sp>
      <p:sp>
        <p:nvSpPr>
          <p:cNvPr id="2039" name="Google Shape;2039;p161"/>
          <p:cNvSpPr txBox="1"/>
          <p:nvPr>
            <p:ph idx="4294967295" type="body"/>
          </p:nvPr>
        </p:nvSpPr>
        <p:spPr>
          <a:xfrm>
            <a:off x="2175174" y="4302196"/>
            <a:ext cx="2814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Their hourly rate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£40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162"/>
          <p:cNvSpPr txBox="1"/>
          <p:nvPr>
            <p:ph idx="1" type="body"/>
          </p:nvPr>
        </p:nvSpPr>
        <p:spPr>
          <a:xfrm>
            <a:off x="324000" y="759300"/>
            <a:ext cx="8237700" cy="7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Andeep has made two number problems. Write an equation and find the number in each case.</a:t>
            </a:r>
            <a:endParaRPr/>
          </a:p>
        </p:txBody>
      </p:sp>
      <p:sp>
        <p:nvSpPr>
          <p:cNvPr id="2045" name="Google Shape;2045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2046" name="Google Shape;2046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3175" y="2342075"/>
            <a:ext cx="1005475" cy="12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7" name="Google Shape;2047;p162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922788" y="1491725"/>
            <a:ext cx="8091776" cy="11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8" name="Google Shape;2048;p162"/>
          <p:cNvSpPr txBox="1"/>
          <p:nvPr/>
        </p:nvSpPr>
        <p:spPr>
          <a:xfrm>
            <a:off x="1506225" y="1631325"/>
            <a:ext cx="71490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 I have a number whereby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add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162"/>
          <p:cNvSpPr txBox="1"/>
          <p:nvPr>
            <p:ph idx="4294967295" type="subTitle"/>
          </p:nvPr>
        </p:nvSpPr>
        <p:spPr>
          <a:xfrm>
            <a:off x="2883273" y="2568496"/>
            <a:ext cx="3359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 + 60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/>
              <a:t>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endParaRPr sz="2400"/>
          </a:p>
        </p:txBody>
      </p:sp>
      <p:sp>
        <p:nvSpPr>
          <p:cNvPr id="2050" name="Google Shape;2050;p162"/>
          <p:cNvSpPr txBox="1"/>
          <p:nvPr>
            <p:ph idx="4294967295" type="subTitle"/>
          </p:nvPr>
        </p:nvSpPr>
        <p:spPr>
          <a:xfrm>
            <a:off x="3232999" y="3050360"/>
            <a:ext cx="254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+ 60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endParaRPr sz="2400"/>
          </a:p>
        </p:txBody>
      </p:sp>
      <p:sp>
        <p:nvSpPr>
          <p:cNvPr id="2051" name="Google Shape;2051;p162"/>
          <p:cNvSpPr txBox="1"/>
          <p:nvPr>
            <p:ph idx="4294967295" type="subTitle"/>
          </p:nvPr>
        </p:nvSpPr>
        <p:spPr>
          <a:xfrm>
            <a:off x="3232998" y="3532223"/>
            <a:ext cx="193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+ 68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/>
          </a:p>
        </p:txBody>
      </p:sp>
      <p:sp>
        <p:nvSpPr>
          <p:cNvPr id="2052" name="Google Shape;2052;p162"/>
          <p:cNvSpPr txBox="1"/>
          <p:nvPr>
            <p:ph idx="4294967295" type="subTitle"/>
          </p:nvPr>
        </p:nvSpPr>
        <p:spPr>
          <a:xfrm>
            <a:off x="3896331" y="4014087"/>
            <a:ext cx="1204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68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/>
          </a:p>
        </p:txBody>
      </p:sp>
      <p:sp>
        <p:nvSpPr>
          <p:cNvPr id="2053" name="Google Shape;2053;p162"/>
          <p:cNvSpPr txBox="1"/>
          <p:nvPr>
            <p:ph idx="4294967295" type="subTitle"/>
          </p:nvPr>
        </p:nvSpPr>
        <p:spPr>
          <a:xfrm>
            <a:off x="4082425" y="4495950"/>
            <a:ext cx="1376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17</a:t>
            </a:r>
            <a:endParaRPr sz="2400"/>
          </a:p>
        </p:txBody>
      </p:sp>
      <p:sp>
        <p:nvSpPr>
          <p:cNvPr id="2054" name="Google Shape;2054;p162"/>
          <p:cNvSpPr txBox="1"/>
          <p:nvPr>
            <p:ph idx="4294967295" type="body"/>
          </p:nvPr>
        </p:nvSpPr>
        <p:spPr>
          <a:xfrm>
            <a:off x="5767804" y="3997396"/>
            <a:ext cx="2814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Andeep’s number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163"/>
          <p:cNvSpPr txBox="1"/>
          <p:nvPr>
            <p:ph idx="1" type="body"/>
          </p:nvPr>
        </p:nvSpPr>
        <p:spPr>
          <a:xfrm>
            <a:off x="324000" y="759300"/>
            <a:ext cx="8237700" cy="7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Andeep has made two number problems. Write an equation and find the number in each case.</a:t>
            </a:r>
            <a:endParaRPr/>
          </a:p>
        </p:txBody>
      </p:sp>
      <p:sp>
        <p:nvSpPr>
          <p:cNvPr id="2060" name="Google Shape;2060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2061" name="Google Shape;2061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3175" y="2342075"/>
            <a:ext cx="1005475" cy="12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163"/>
          <p:cNvSpPr txBox="1"/>
          <p:nvPr>
            <p:ph idx="4294967295" type="subTitle"/>
          </p:nvPr>
        </p:nvSpPr>
        <p:spPr>
          <a:xfrm>
            <a:off x="2883273" y="1535387"/>
            <a:ext cx="3359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/>
              <a:t>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2400"/>
          </a:p>
        </p:txBody>
      </p:sp>
      <p:sp>
        <p:nvSpPr>
          <p:cNvPr id="2063" name="Google Shape;2063;p163"/>
          <p:cNvSpPr txBox="1"/>
          <p:nvPr>
            <p:ph idx="4294967295" type="subTitle"/>
          </p:nvPr>
        </p:nvSpPr>
        <p:spPr>
          <a:xfrm>
            <a:off x="3232999" y="1949939"/>
            <a:ext cx="254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2400"/>
          </a:p>
        </p:txBody>
      </p:sp>
      <p:sp>
        <p:nvSpPr>
          <p:cNvPr id="2064" name="Google Shape;2064;p163"/>
          <p:cNvSpPr txBox="1"/>
          <p:nvPr>
            <p:ph idx="4294967295" type="subTitle"/>
          </p:nvPr>
        </p:nvSpPr>
        <p:spPr>
          <a:xfrm>
            <a:off x="3232998" y="2364491"/>
            <a:ext cx="193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r>
              <a:rPr lang="en-GB" sz="2400"/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endParaRPr sz="2400"/>
          </a:p>
        </p:txBody>
      </p:sp>
      <p:sp>
        <p:nvSpPr>
          <p:cNvPr id="2065" name="Google Shape;2065;p163"/>
          <p:cNvSpPr txBox="1"/>
          <p:nvPr>
            <p:ph idx="4294967295" type="body"/>
          </p:nvPr>
        </p:nvSpPr>
        <p:spPr>
          <a:xfrm>
            <a:off x="5767804" y="2690766"/>
            <a:ext cx="2814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Andeep’s number is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66" name="Google Shape;2066;p163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rot="10800000">
            <a:off x="15136" y="3757850"/>
            <a:ext cx="8585574" cy="10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7" name="Google Shape;2067;p163"/>
          <p:cNvSpPr txBox="1"/>
          <p:nvPr/>
        </p:nvSpPr>
        <p:spPr>
          <a:xfrm>
            <a:off x="668025" y="3917325"/>
            <a:ext cx="75084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 I have another number whereby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163"/>
          <p:cNvSpPr txBox="1"/>
          <p:nvPr>
            <p:ph idx="4294967295" type="subTitle"/>
          </p:nvPr>
        </p:nvSpPr>
        <p:spPr>
          <a:xfrm>
            <a:off x="3732708" y="2779043"/>
            <a:ext cx="1086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x=\frac{2}{3}&quot;&gt;&lt;mi&gt;x&lt;/mi&gt;&lt;mo&gt;=&lt;/mo&gt;&lt;mfrac&gt;&lt;mn&gt;2&lt;/mn&gt;&lt;mn&gt;3&lt;/mn&gt;&lt;/mfrac&gt;&lt;/math&gt;" id="2069" name="Google Shape;2069;p163" title="x equal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0174" y="3236329"/>
            <a:ext cx="749225" cy="61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2070" name="Google Shape;2070;p163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4805" y="2528068"/>
            <a:ext cx="187303" cy="6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164"/>
          <p:cNvSpPr txBox="1"/>
          <p:nvPr>
            <p:ph idx="1" type="body"/>
          </p:nvPr>
        </p:nvSpPr>
        <p:spPr>
          <a:xfrm>
            <a:off x="324000" y="759300"/>
            <a:ext cx="8496000" cy="5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3) a) Jun, Aisha and Jacob are buying a present for a classmate.</a:t>
            </a:r>
            <a:endParaRPr sz="2100"/>
          </a:p>
        </p:txBody>
      </p:sp>
      <p:sp>
        <p:nvSpPr>
          <p:cNvPr id="2076" name="Google Shape;2076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2077" name="Google Shape;2077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1" y="1617566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8" name="Google Shape;2078;p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70" y="2617879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9" name="Google Shape;2079;p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181" y="3924057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164"/>
          <p:cNvSpPr txBox="1"/>
          <p:nvPr>
            <p:ph idx="1" type="body"/>
          </p:nvPr>
        </p:nvSpPr>
        <p:spPr>
          <a:xfrm>
            <a:off x="1695600" y="1270239"/>
            <a:ext cx="7124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Aisha spends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 sz="2100"/>
              <a:t> more than Jun and Jacob spends three times as much as Jun. In total they spend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£39.50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How much does Jacob spend?</a:t>
            </a:r>
            <a:endParaRPr sz="2100"/>
          </a:p>
        </p:txBody>
      </p:sp>
      <p:sp>
        <p:nvSpPr>
          <p:cNvPr id="2081" name="Google Shape;2081;p164"/>
          <p:cNvSpPr/>
          <p:nvPr/>
        </p:nvSpPr>
        <p:spPr>
          <a:xfrm>
            <a:off x="2882327" y="2571750"/>
            <a:ext cx="1210800" cy="356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2" name="Google Shape;2082;p164"/>
          <p:cNvSpPr txBox="1"/>
          <p:nvPr>
            <p:ph idx="4294967295" type="body"/>
          </p:nvPr>
        </p:nvSpPr>
        <p:spPr>
          <a:xfrm>
            <a:off x="1684800" y="2634885"/>
            <a:ext cx="105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Jun</a:t>
            </a:r>
            <a:endParaRPr sz="2000"/>
          </a:p>
        </p:txBody>
      </p:sp>
      <p:grpSp>
        <p:nvGrpSpPr>
          <p:cNvPr id="2083" name="Google Shape;2083;p164"/>
          <p:cNvGrpSpPr/>
          <p:nvPr/>
        </p:nvGrpSpPr>
        <p:grpSpPr>
          <a:xfrm>
            <a:off x="2882322" y="2932231"/>
            <a:ext cx="2047047" cy="356204"/>
            <a:chOff x="4307665" y="2985427"/>
            <a:chExt cx="2047047" cy="387600"/>
          </a:xfrm>
        </p:grpSpPr>
        <p:sp>
          <p:nvSpPr>
            <p:cNvPr id="2084" name="Google Shape;2084;p164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85" name="Google Shape;2085;p164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086" name="Google Shape;2086;p164"/>
          <p:cNvSpPr txBox="1"/>
          <p:nvPr>
            <p:ph idx="4294967295" type="body"/>
          </p:nvPr>
        </p:nvSpPr>
        <p:spPr>
          <a:xfrm>
            <a:off x="1684800" y="2995341"/>
            <a:ext cx="105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Aisha</a:t>
            </a:r>
            <a:endParaRPr sz="2000"/>
          </a:p>
        </p:txBody>
      </p:sp>
      <p:sp>
        <p:nvSpPr>
          <p:cNvPr id="2087" name="Google Shape;2087;p164"/>
          <p:cNvSpPr txBox="1"/>
          <p:nvPr>
            <p:ph idx="4294967295" type="body"/>
          </p:nvPr>
        </p:nvSpPr>
        <p:spPr>
          <a:xfrm>
            <a:off x="1684800" y="3353581"/>
            <a:ext cx="105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Jacob</a:t>
            </a:r>
            <a:endParaRPr sz="2000"/>
          </a:p>
        </p:txBody>
      </p:sp>
      <p:sp>
        <p:nvSpPr>
          <p:cNvPr id="2088" name="Google Shape;2088;p164"/>
          <p:cNvSpPr txBox="1"/>
          <p:nvPr>
            <p:ph idx="4294967295" type="subTitle"/>
          </p:nvPr>
        </p:nvSpPr>
        <p:spPr>
          <a:xfrm>
            <a:off x="6978025" y="2839600"/>
            <a:ext cx="1121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£39.50</a:t>
            </a:r>
            <a:endParaRPr sz="2300"/>
          </a:p>
        </p:txBody>
      </p:sp>
      <p:sp>
        <p:nvSpPr>
          <p:cNvPr id="2089" name="Google Shape;2089;p164"/>
          <p:cNvSpPr txBox="1"/>
          <p:nvPr>
            <p:ph idx="4294967295" type="subTitle"/>
          </p:nvPr>
        </p:nvSpPr>
        <p:spPr>
          <a:xfrm>
            <a:off x="2535967" y="3738221"/>
            <a:ext cx="193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39.50</a:t>
            </a:r>
            <a:endParaRPr/>
          </a:p>
        </p:txBody>
      </p:sp>
      <p:sp>
        <p:nvSpPr>
          <p:cNvPr id="2090" name="Google Shape;2090;p164"/>
          <p:cNvSpPr txBox="1"/>
          <p:nvPr>
            <p:ph idx="4294967295" type="subTitle"/>
          </p:nvPr>
        </p:nvSpPr>
        <p:spPr>
          <a:xfrm>
            <a:off x="3026855" y="4117011"/>
            <a:ext cx="1376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37.50</a:t>
            </a:r>
            <a:endParaRPr/>
          </a:p>
        </p:txBody>
      </p:sp>
      <p:sp>
        <p:nvSpPr>
          <p:cNvPr id="2091" name="Google Shape;2091;p164"/>
          <p:cNvSpPr txBox="1"/>
          <p:nvPr>
            <p:ph idx="4294967295" type="subTitle"/>
          </p:nvPr>
        </p:nvSpPr>
        <p:spPr>
          <a:xfrm>
            <a:off x="3179244" y="4495800"/>
            <a:ext cx="1283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7.50</a:t>
            </a:r>
            <a:endParaRPr/>
          </a:p>
        </p:txBody>
      </p:sp>
      <p:sp>
        <p:nvSpPr>
          <p:cNvPr id="2092" name="Google Shape;2092;p164"/>
          <p:cNvSpPr txBox="1"/>
          <p:nvPr>
            <p:ph idx="4294967295" type="body"/>
          </p:nvPr>
        </p:nvSpPr>
        <p:spPr>
          <a:xfrm>
            <a:off x="4824000" y="3974939"/>
            <a:ext cx="39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Jacob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spends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£7.50 = £22.50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93" name="Google Shape;2093;p1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3300" y="2514550"/>
            <a:ext cx="306150" cy="113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4" name="Google Shape;2094;p164"/>
          <p:cNvGrpSpPr/>
          <p:nvPr/>
        </p:nvGrpSpPr>
        <p:grpSpPr>
          <a:xfrm>
            <a:off x="2882324" y="3290474"/>
            <a:ext cx="3626739" cy="356204"/>
            <a:chOff x="2882324" y="3290474"/>
            <a:chExt cx="3626739" cy="356204"/>
          </a:xfrm>
        </p:grpSpPr>
        <p:grpSp>
          <p:nvGrpSpPr>
            <p:cNvPr id="2095" name="Google Shape;2095;p164"/>
            <p:cNvGrpSpPr/>
            <p:nvPr/>
          </p:nvGrpSpPr>
          <p:grpSpPr>
            <a:xfrm>
              <a:off x="2882324" y="3290474"/>
              <a:ext cx="2418770" cy="356204"/>
              <a:chOff x="2882326" y="3487548"/>
              <a:chExt cx="2418770" cy="387600"/>
            </a:xfrm>
          </p:grpSpPr>
          <p:sp>
            <p:nvSpPr>
              <p:cNvPr id="2096" name="Google Shape;2096;p164"/>
              <p:cNvSpPr/>
              <p:nvPr/>
            </p:nvSpPr>
            <p:spPr>
              <a:xfrm>
                <a:off x="2882326" y="3487548"/>
                <a:ext cx="1210800" cy="3876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400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097" name="Google Shape;2097;p164"/>
              <p:cNvSpPr/>
              <p:nvPr/>
            </p:nvSpPr>
            <p:spPr>
              <a:xfrm>
                <a:off x="4090296" y="3487548"/>
                <a:ext cx="1210800" cy="3876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400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24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2098" name="Google Shape;2098;p164"/>
            <p:cNvSpPr/>
            <p:nvPr/>
          </p:nvSpPr>
          <p:spPr>
            <a:xfrm>
              <a:off x="5298263" y="3290474"/>
              <a:ext cx="1210800" cy="356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165"/>
          <p:cNvSpPr txBox="1"/>
          <p:nvPr>
            <p:ph idx="1" type="body"/>
          </p:nvPr>
        </p:nvSpPr>
        <p:spPr>
          <a:xfrm>
            <a:off x="324000" y="759300"/>
            <a:ext cx="93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3) b)</a:t>
            </a:r>
            <a:endParaRPr sz="2100"/>
          </a:p>
        </p:txBody>
      </p:sp>
      <p:sp>
        <p:nvSpPr>
          <p:cNvPr id="2104" name="Google Shape;2104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Forming and solving equations from worded problems</a:t>
            </a:r>
            <a:endParaRPr/>
          </a:p>
        </p:txBody>
      </p:sp>
      <p:pic>
        <p:nvPicPr>
          <p:cNvPr id="2105" name="Google Shape;2105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1" y="1617566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6" name="Google Shape;2106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70" y="2617879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7" name="Google Shape;2107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181" y="3924057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2108" name="Google Shape;2108;p165"/>
          <p:cNvSpPr txBox="1"/>
          <p:nvPr>
            <p:ph idx="1" type="body"/>
          </p:nvPr>
        </p:nvSpPr>
        <p:spPr>
          <a:xfrm>
            <a:off x="1695600" y="813050"/>
            <a:ext cx="67296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Aisha spends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£5</a:t>
            </a:r>
            <a:r>
              <a:rPr lang="en-GB" sz="2100"/>
              <a:t> more than Jun and Jacob spends four times as much as Aisha. Jacob spends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£33 </a:t>
            </a:r>
            <a:r>
              <a:rPr lang="en-GB" sz="2100"/>
              <a:t>more than Aisha.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/>
              <a:t>How much does Jun spend?</a:t>
            </a:r>
            <a:endParaRPr sz="2100"/>
          </a:p>
        </p:txBody>
      </p:sp>
      <p:sp>
        <p:nvSpPr>
          <p:cNvPr id="2109" name="Google Shape;2109;p165"/>
          <p:cNvSpPr/>
          <p:nvPr/>
        </p:nvSpPr>
        <p:spPr>
          <a:xfrm>
            <a:off x="2729859" y="2179520"/>
            <a:ext cx="855000" cy="356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0" name="Google Shape;2110;p165"/>
          <p:cNvSpPr txBox="1"/>
          <p:nvPr>
            <p:ph idx="4294967295" type="body"/>
          </p:nvPr>
        </p:nvSpPr>
        <p:spPr>
          <a:xfrm>
            <a:off x="1532400" y="2242654"/>
            <a:ext cx="105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Jun</a:t>
            </a:r>
            <a:endParaRPr sz="2000"/>
          </a:p>
        </p:txBody>
      </p:sp>
      <p:grpSp>
        <p:nvGrpSpPr>
          <p:cNvPr id="2111" name="Google Shape;2111;p165"/>
          <p:cNvGrpSpPr/>
          <p:nvPr/>
        </p:nvGrpSpPr>
        <p:grpSpPr>
          <a:xfrm>
            <a:off x="2729138" y="2540012"/>
            <a:ext cx="1445625" cy="356204"/>
            <a:chOff x="4307665" y="2985427"/>
            <a:chExt cx="2047047" cy="387600"/>
          </a:xfrm>
        </p:grpSpPr>
        <p:sp>
          <p:nvSpPr>
            <p:cNvPr id="2112" name="Google Shape;2112;p165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13" name="Google Shape;2113;p165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114" name="Google Shape;2114;p165"/>
          <p:cNvSpPr txBox="1"/>
          <p:nvPr>
            <p:ph idx="4294967295" type="body"/>
          </p:nvPr>
        </p:nvSpPr>
        <p:spPr>
          <a:xfrm>
            <a:off x="1532400" y="2603111"/>
            <a:ext cx="105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Aisha</a:t>
            </a:r>
            <a:endParaRPr sz="2000"/>
          </a:p>
        </p:txBody>
      </p:sp>
      <p:sp>
        <p:nvSpPr>
          <p:cNvPr id="2115" name="Google Shape;2115;p165"/>
          <p:cNvSpPr txBox="1"/>
          <p:nvPr>
            <p:ph idx="4294967295" type="body"/>
          </p:nvPr>
        </p:nvSpPr>
        <p:spPr>
          <a:xfrm>
            <a:off x="1532400" y="2961350"/>
            <a:ext cx="10500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Jacob</a:t>
            </a:r>
            <a:endParaRPr sz="2000"/>
          </a:p>
        </p:txBody>
      </p:sp>
      <p:sp>
        <p:nvSpPr>
          <p:cNvPr id="2116" name="Google Shape;2116;p165"/>
          <p:cNvSpPr txBox="1"/>
          <p:nvPr>
            <p:ph idx="4294967295" type="subTitle"/>
          </p:nvPr>
        </p:nvSpPr>
        <p:spPr>
          <a:xfrm>
            <a:off x="1850167" y="3467254"/>
            <a:ext cx="193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+ 5)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33</a:t>
            </a:r>
            <a:endParaRPr/>
          </a:p>
        </p:txBody>
      </p:sp>
      <p:sp>
        <p:nvSpPr>
          <p:cNvPr id="2117" name="Google Shape;2117;p165"/>
          <p:cNvSpPr txBox="1"/>
          <p:nvPr>
            <p:ph idx="4294967295" type="subTitle"/>
          </p:nvPr>
        </p:nvSpPr>
        <p:spPr>
          <a:xfrm>
            <a:off x="2211116" y="3911012"/>
            <a:ext cx="1376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11</a:t>
            </a:r>
            <a:endParaRPr/>
          </a:p>
        </p:txBody>
      </p:sp>
      <p:sp>
        <p:nvSpPr>
          <p:cNvPr id="2118" name="Google Shape;2118;p165"/>
          <p:cNvSpPr txBox="1"/>
          <p:nvPr>
            <p:ph idx="4294967295" type="subTitle"/>
          </p:nvPr>
        </p:nvSpPr>
        <p:spPr>
          <a:xfrm>
            <a:off x="2679532" y="4379632"/>
            <a:ext cx="798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/>
          </a:p>
        </p:txBody>
      </p:sp>
      <p:sp>
        <p:nvSpPr>
          <p:cNvPr id="2119" name="Google Shape;2119;p165"/>
          <p:cNvSpPr txBox="1"/>
          <p:nvPr>
            <p:ph idx="4294967295" type="body"/>
          </p:nvPr>
        </p:nvSpPr>
        <p:spPr>
          <a:xfrm>
            <a:off x="4366800" y="3974950"/>
            <a:ext cx="193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Jun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spends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£6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20" name="Google Shape;2120;p165"/>
          <p:cNvGrpSpPr/>
          <p:nvPr/>
        </p:nvGrpSpPr>
        <p:grpSpPr>
          <a:xfrm>
            <a:off x="2729138" y="2898551"/>
            <a:ext cx="1445625" cy="356204"/>
            <a:chOff x="4307665" y="2985427"/>
            <a:chExt cx="2047047" cy="387600"/>
          </a:xfrm>
        </p:grpSpPr>
        <p:sp>
          <p:nvSpPr>
            <p:cNvPr id="2121" name="Google Shape;2121;p165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22" name="Google Shape;2122;p165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123" name="Google Shape;2123;p165"/>
          <p:cNvGrpSpPr/>
          <p:nvPr/>
        </p:nvGrpSpPr>
        <p:grpSpPr>
          <a:xfrm>
            <a:off x="4176938" y="2898551"/>
            <a:ext cx="1445625" cy="356204"/>
            <a:chOff x="4307665" y="2985427"/>
            <a:chExt cx="2047047" cy="387600"/>
          </a:xfrm>
        </p:grpSpPr>
        <p:sp>
          <p:nvSpPr>
            <p:cNvPr id="2124" name="Google Shape;2124;p165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25" name="Google Shape;2125;p165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126" name="Google Shape;2126;p165"/>
          <p:cNvGrpSpPr/>
          <p:nvPr/>
        </p:nvGrpSpPr>
        <p:grpSpPr>
          <a:xfrm>
            <a:off x="5624738" y="2898551"/>
            <a:ext cx="1445625" cy="356204"/>
            <a:chOff x="4307665" y="2985427"/>
            <a:chExt cx="2047047" cy="387600"/>
          </a:xfrm>
        </p:grpSpPr>
        <p:sp>
          <p:nvSpPr>
            <p:cNvPr id="2127" name="Google Shape;2127;p165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28" name="Google Shape;2128;p165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129" name="Google Shape;2129;p165"/>
          <p:cNvGrpSpPr/>
          <p:nvPr/>
        </p:nvGrpSpPr>
        <p:grpSpPr>
          <a:xfrm>
            <a:off x="7072538" y="2898551"/>
            <a:ext cx="1445625" cy="356204"/>
            <a:chOff x="4307665" y="2985427"/>
            <a:chExt cx="2047047" cy="387600"/>
          </a:xfrm>
        </p:grpSpPr>
        <p:sp>
          <p:nvSpPr>
            <p:cNvPr id="2130" name="Google Shape;2130;p165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31" name="Google Shape;2131;p165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cxnSp>
        <p:nvCxnSpPr>
          <p:cNvPr id="2132" name="Google Shape;2132;p165"/>
          <p:cNvCxnSpPr/>
          <p:nvPr/>
        </p:nvCxnSpPr>
        <p:spPr>
          <a:xfrm>
            <a:off x="4238493" y="2818484"/>
            <a:ext cx="4233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33" name="Google Shape;2133;p165"/>
          <p:cNvSpPr txBox="1"/>
          <p:nvPr>
            <p:ph idx="4294967295" type="body"/>
          </p:nvPr>
        </p:nvSpPr>
        <p:spPr>
          <a:xfrm>
            <a:off x="6076891" y="2417259"/>
            <a:ext cx="623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£33</a:t>
            </a:r>
            <a:endParaRPr i="1"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66"/>
          <p:cNvSpPr txBox="1"/>
          <p:nvPr>
            <p:ph idx="1" type="body"/>
          </p:nvPr>
        </p:nvSpPr>
        <p:spPr>
          <a:xfrm>
            <a:off x="324000" y="1080000"/>
            <a:ext cx="7640700" cy="15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apply our knowledge of solving linear equations to efficiently solve a variety of problems from geometric ones </a:t>
            </a:r>
            <a:r>
              <a:rPr lang="en-GB"/>
              <a:t>to number/monetary ones.</a:t>
            </a:r>
            <a:endParaRPr/>
          </a:p>
        </p:txBody>
      </p:sp>
      <p:sp>
        <p:nvSpPr>
          <p:cNvPr id="2139" name="Google Shape;2139;p16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linear equations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16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45" name="Google Shape;2145;p1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