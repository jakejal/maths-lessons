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BADF35-9B4D-43EF-B767-EBCBA2B9FFA3}">
  <a:tblStyle styleId="{3FBADF35-9B4D-43EF-B767-EBCBA2B9FF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9dcd289b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9dcd289b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9dcd289bf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9dcd289bf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dcd289bf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dcd289bf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9dcd289bf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9dcd289bf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9dcd289bf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9dcd289bf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29dea09628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29dea09628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9dea096286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9dea096286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9dea096286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9dea096286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9dea096286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9dea096286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9dea096286_2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9dea096286_2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9dea096286_2_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9dea096286_2_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29dea096286_2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29dea096286_2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29dea096286_2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Google Shape;1218;g29dea096286_2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9dea096286_2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9dea096286_2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9dea096286_2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9dea096286_2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29dea096286_2_1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8" name="Google Shape;1278;g29dea096286_2_1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29dea096286_2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29dea096286_2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9dea096286_2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9dea096286_2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9dea096286_2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9dea096286_2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dea096286_2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dea096286_2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9dea096286_2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9dea096286_2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9dea096286_2_1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9dea096286_2_1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29dea096286_2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29dea096286_2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29dea096286_2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29dea096286_2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9dea096286_2_1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9dea096286_2_1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29dea096286_2_1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9dea096286_2_1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29dea096286_2_2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29dea096286_2_2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29dea096286_2_1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29dea096286_2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29dea096286_2_1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29dea096286_2_1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29dea096286_2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29dea096286_2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9dea096286_2_2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9dea096286_2_2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8" name="Google Shape;151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5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6.png"/><Relationship Id="rId4" Type="http://schemas.openxmlformats.org/officeDocument/2006/relationships/image" Target="../media/image23.png"/><Relationship Id="rId9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56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32.png"/><Relationship Id="rId8" Type="http://schemas.openxmlformats.org/officeDocument/2006/relationships/image" Target="../media/image2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Relationship Id="rId4" Type="http://schemas.openxmlformats.org/officeDocument/2006/relationships/image" Target="../media/image68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6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9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67.png"/><Relationship Id="rId7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Relationship Id="rId4" Type="http://schemas.openxmlformats.org/officeDocument/2006/relationships/image" Target="../media/image72.png"/><Relationship Id="rId5" Type="http://schemas.openxmlformats.org/officeDocument/2006/relationships/image" Target="../media/image67.png"/><Relationship Id="rId6" Type="http://schemas.openxmlformats.org/officeDocument/2006/relationships/image" Target="../media/image7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2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0.png"/><Relationship Id="rId4" Type="http://schemas.openxmlformats.org/officeDocument/2006/relationships/image" Target="../media/image7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4.png"/><Relationship Id="rId4" Type="http://schemas.openxmlformats.org/officeDocument/2006/relationships/image" Target="../media/image69.png"/><Relationship Id="rId5" Type="http://schemas.openxmlformats.org/officeDocument/2006/relationships/image" Target="../media/image67.png"/><Relationship Id="rId6" Type="http://schemas.openxmlformats.org/officeDocument/2006/relationships/image" Target="../media/image75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Relationship Id="rId4" Type="http://schemas.openxmlformats.org/officeDocument/2006/relationships/image" Target="../media/image67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9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81.png"/><Relationship Id="rId7" Type="http://schemas.openxmlformats.org/officeDocument/2006/relationships/image" Target="../media/image85.png"/><Relationship Id="rId8" Type="http://schemas.openxmlformats.org/officeDocument/2006/relationships/image" Target="../media/image83.png"/><Relationship Id="rId11" Type="http://schemas.openxmlformats.org/officeDocument/2006/relationships/image" Target="../media/image88.png"/><Relationship Id="rId10" Type="http://schemas.openxmlformats.org/officeDocument/2006/relationships/image" Target="../media/image86.png"/><Relationship Id="rId13" Type="http://schemas.openxmlformats.org/officeDocument/2006/relationships/image" Target="../media/image89.png"/><Relationship Id="rId12" Type="http://schemas.openxmlformats.org/officeDocument/2006/relationships/image" Target="../media/image87.png"/><Relationship Id="rId14" Type="http://schemas.openxmlformats.org/officeDocument/2006/relationships/image" Target="../media/image9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4.png"/><Relationship Id="rId4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0.png"/><Relationship Id="rId4" Type="http://schemas.openxmlformats.org/officeDocument/2006/relationships/image" Target="../media/image98.png"/><Relationship Id="rId5" Type="http://schemas.openxmlformats.org/officeDocument/2006/relationships/image" Target="../media/image97.png"/><Relationship Id="rId6" Type="http://schemas.openxmlformats.org/officeDocument/2006/relationships/image" Target="../media/image10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equations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see that when an additive step and a multiplicative step are required to solve an equation, the order of operations will not affect the solution.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sp>
        <p:nvSpPr>
          <p:cNvPr id="768" name="Google Shape;768;p6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769" name="Google Shape;769;p6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linear equations</a:t>
            </a:r>
            <a:endParaRPr/>
          </a:p>
        </p:txBody>
      </p:sp>
      <p:pic>
        <p:nvPicPr>
          <p:cNvPr id="770" name="Google Shape;77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05110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5" name="Google Shape;775;p67"/>
          <p:cNvGraphicFramePr/>
          <p:nvPr/>
        </p:nvGraphicFramePr>
        <p:xfrm>
          <a:off x="46995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439925"/>
                <a:gridCol w="361850"/>
                <a:gridCol w="41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6" name="Google Shape;776;p67"/>
          <p:cNvGraphicFramePr/>
          <p:nvPr/>
        </p:nvGraphicFramePr>
        <p:xfrm>
          <a:off x="3814102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632350"/>
                <a:gridCol w="416950"/>
                <a:gridCol w="1258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77" name="Google Shape;777;p67"/>
          <p:cNvSpPr txBox="1"/>
          <p:nvPr>
            <p:ph idx="1" type="body"/>
          </p:nvPr>
        </p:nvSpPr>
        <p:spPr>
          <a:xfrm>
            <a:off x="324000" y="7593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these one step equations.</a:t>
            </a:r>
            <a:endParaRPr/>
          </a:p>
        </p:txBody>
      </p:sp>
      <p:sp>
        <p:nvSpPr>
          <p:cNvPr id="778" name="Google Shape;778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779" name="Google Shape;779;p67"/>
          <p:cNvGraphicFramePr/>
          <p:nvPr/>
        </p:nvGraphicFramePr>
        <p:xfrm>
          <a:off x="46995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439925"/>
                <a:gridCol w="361850"/>
                <a:gridCol w="41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5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}{2}&quot;&gt;&lt;mfrac&gt;&lt;mrow&gt;&lt;mn&gt;2&lt;/mn&gt;&lt;mi&gt;x&lt;/mi&gt;&lt;/mrow&gt;&lt;mn&gt;2&lt;/mn&gt;&lt;/mfrac&gt;&lt;/math&gt;" id="780" name="Google Shape;780;p67" title="2 x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116" y="1704930"/>
            <a:ext cx="3492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2}&quot;&gt;&lt;mfrac&gt;&lt;mn&gt;10&lt;/mn&gt;&lt;mn&gt;2&lt;/mn&gt;&lt;/mfrac&gt;&lt;/math&gt;" id="781" name="Google Shape;781;p67" title="t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6588" y="1704930"/>
            <a:ext cx="340343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82" name="Google Shape;782;p67"/>
          <p:cNvGraphicFramePr/>
          <p:nvPr/>
        </p:nvGraphicFramePr>
        <p:xfrm>
          <a:off x="3814102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632350"/>
                <a:gridCol w="416950"/>
                <a:gridCol w="1258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3" name="Google Shape;783;p67"/>
          <p:cNvSpPr txBox="1"/>
          <p:nvPr>
            <p:ph idx="1" type="body"/>
          </p:nvPr>
        </p:nvSpPr>
        <p:spPr>
          <a:xfrm>
            <a:off x="324000" y="3240209"/>
            <a:ext cx="56865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different about this</a:t>
            </a:r>
            <a:r>
              <a:rPr lang="en-GB"/>
              <a:t> equation?</a:t>
            </a:r>
            <a:endParaRPr/>
          </a:p>
        </p:txBody>
      </p:sp>
      <p:graphicFrame>
        <p:nvGraphicFramePr>
          <p:cNvPr id="784" name="Google Shape;784;p67"/>
          <p:cNvGraphicFramePr/>
          <p:nvPr/>
        </p:nvGraphicFramePr>
        <p:xfrm>
          <a:off x="-291880" y="3665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632350"/>
                <a:gridCol w="416950"/>
                <a:gridCol w="1258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5" name="Google Shape;785;p67"/>
          <p:cNvSpPr txBox="1"/>
          <p:nvPr>
            <p:ph idx="1" type="body"/>
          </p:nvPr>
        </p:nvSpPr>
        <p:spPr>
          <a:xfrm>
            <a:off x="2895089" y="3762384"/>
            <a:ext cx="3956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It is a two step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equation.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6" name="Google Shape;786;p67"/>
          <p:cNvSpPr txBox="1"/>
          <p:nvPr>
            <p:ph idx="1" type="body"/>
          </p:nvPr>
        </p:nvSpPr>
        <p:spPr>
          <a:xfrm>
            <a:off x="2889951" y="4340700"/>
            <a:ext cx="43782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two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operations to ‘</a:t>
            </a:r>
            <a:r>
              <a:rPr lang="en-GB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undo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’.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1" name="Google Shape;791;p68"/>
          <p:cNvGraphicFramePr/>
          <p:nvPr/>
        </p:nvGraphicFramePr>
        <p:xfrm>
          <a:off x="311971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2" name="Google Shape;792;p68"/>
          <p:cNvSpPr txBox="1"/>
          <p:nvPr>
            <p:ph idx="1" type="body"/>
          </p:nvPr>
        </p:nvSpPr>
        <p:spPr>
          <a:xfrm>
            <a:off x="324000" y="7593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Two </a:t>
            </a:r>
            <a:r>
              <a:rPr lang="en-GB"/>
              <a:t>step equations: </a:t>
            </a:r>
            <a:r>
              <a:rPr lang="en-GB">
                <a:solidFill>
                  <a:schemeClr val="accent4"/>
                </a:solidFill>
              </a:rPr>
              <a:t>Undo</a:t>
            </a:r>
            <a:r>
              <a:rPr lang="en-GB"/>
              <a:t> both operations.</a:t>
            </a:r>
            <a:endParaRPr/>
          </a:p>
        </p:txBody>
      </p:sp>
      <p:sp>
        <p:nvSpPr>
          <p:cNvPr id="793" name="Google Shape;79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sp>
        <p:nvSpPr>
          <p:cNvPr id="794" name="Google Shape;794;p68"/>
          <p:cNvSpPr txBox="1"/>
          <p:nvPr>
            <p:ph idx="1" type="body"/>
          </p:nvPr>
        </p:nvSpPr>
        <p:spPr>
          <a:xfrm>
            <a:off x="315519" y="3762384"/>
            <a:ext cx="3956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Check: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+ 4 = 2(3) + 4 = 10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extcolor{#2E3F51}{\textcolor{#354A5F}{\textcolor{#2E3F51}{\frac{2x}{2}}}}&quot;&gt;&lt;mstyle mathcolor=&quot;#2E3F51&quot;&gt;&lt;mstyle mathcolor=&quot;#354A5F&quot;&gt;&lt;mstyle mathcolor=&quot;#2E3F51&quot;&gt;&lt;mfrac&gt;&lt;mrow&gt;&lt;mn&gt;2&lt;/mn&gt;&lt;mi&gt;x&lt;/mi&gt;&lt;/mrow&gt;&lt;mn&gt;2&lt;/mn&gt;&lt;/mfrac&gt;&lt;/mstyle&gt;&lt;/mstyle&gt;&lt;/mstyle&gt;&lt;/math&gt;" id="795" name="Google Shape;795;p68" title="2 x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977" y="2518516"/>
            <a:ext cx="34929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6}{2}}}}&quot;&gt;&lt;mstyle mathcolor=&quot;#2E3F51&quot;&gt;&lt;mstyle mathcolor=&quot;#354A5F&quot;&gt;&lt;mstyle mathcolor=&quot;#2E3F51&quot;&gt;&lt;mfrac&gt;&lt;mn&gt;6&lt;/mn&gt;&lt;mn&gt;2&lt;/mn&gt;&lt;/mfrac&gt;&lt;/mstyle&gt;&lt;/mstyle&gt;&lt;/mstyle&gt;&lt;/math&gt;" id="796" name="Google Shape;796;p68" title="six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427" y="2518516"/>
            <a:ext cx="192558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7" name="Google Shape;797;p68"/>
          <p:cNvGraphicFramePr/>
          <p:nvPr/>
        </p:nvGraphicFramePr>
        <p:xfrm>
          <a:off x="31438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8" name="Google Shape;798;p68"/>
          <p:cNvSpPr txBox="1"/>
          <p:nvPr>
            <p:ph idx="1" type="body"/>
          </p:nvPr>
        </p:nvSpPr>
        <p:spPr>
          <a:xfrm>
            <a:off x="4320100" y="1781163"/>
            <a:ext cx="3795600" cy="10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After undoing one operation we have </a:t>
            </a:r>
            <a:r>
              <a:rPr lang="en-GB" sz="2000">
                <a:solidFill>
                  <a:schemeClr val="accent4"/>
                </a:solidFill>
              </a:rPr>
              <a:t>isolated the term with the unknown</a:t>
            </a:r>
            <a:r>
              <a:rPr lang="en-GB" sz="2000"/>
              <a:t> and now have a one </a:t>
            </a:r>
            <a:r>
              <a:rPr lang="en-GB" sz="2000"/>
              <a:t>step equation to solve.</a:t>
            </a:r>
            <a:endParaRPr sz="2000"/>
          </a:p>
        </p:txBody>
      </p:sp>
      <p:cxnSp>
        <p:nvCxnSpPr>
          <p:cNvPr id="799" name="Google Shape;799;p68"/>
          <p:cNvCxnSpPr>
            <a:stCxn id="798" idx="1"/>
          </p:cNvCxnSpPr>
          <p:nvPr/>
        </p:nvCxnSpPr>
        <p:spPr>
          <a:xfrm rot="10800000">
            <a:off x="2854600" y="2273163"/>
            <a:ext cx="1465500" cy="12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00" name="Google Shape;800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17983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01" name="Google Shape;801;p68"/>
          <p:cNvGraphicFramePr/>
          <p:nvPr/>
        </p:nvGraphicFramePr>
        <p:xfrm>
          <a:off x="31438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6" name="Google Shape;806;p69"/>
          <p:cNvGraphicFramePr/>
          <p:nvPr/>
        </p:nvGraphicFramePr>
        <p:xfrm>
          <a:off x="311971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07" name="Google Shape;807;p69"/>
          <p:cNvGrpSpPr/>
          <p:nvPr/>
        </p:nvGrpSpPr>
        <p:grpSpPr>
          <a:xfrm>
            <a:off x="4319687" y="1619150"/>
            <a:ext cx="4246593" cy="2507834"/>
            <a:chOff x="3679000" y="1380975"/>
            <a:chExt cx="4343896" cy="2543700"/>
          </a:xfrm>
        </p:grpSpPr>
        <p:sp>
          <p:nvSpPr>
            <p:cNvPr id="808" name="Google Shape;808;p69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09" name="Google Shape;809;p69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0" name="Google Shape;810;p69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1" name="Google Shape;811;p69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12" name="Google Shape;812;p69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13" name="Google Shape;813;p69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4" name="Google Shape;814;p69"/>
          <p:cNvSpPr txBox="1"/>
          <p:nvPr>
            <p:ph idx="1" type="body"/>
          </p:nvPr>
        </p:nvSpPr>
        <p:spPr>
          <a:xfrm>
            <a:off x="324000" y="759300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see both steps undo on our ‘balance’ model:</a:t>
            </a:r>
            <a:endParaRPr/>
          </a:p>
        </p:txBody>
      </p:sp>
      <p:sp>
        <p:nvSpPr>
          <p:cNvPr id="815" name="Google Shape;815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using an additive step first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textcolor{#2E3F51}{\textcolor{#354A5F}{\textcolor{#2E3F51}{\frac{2x}{2}}}}&quot;&gt;&lt;mstyle mathcolor=&quot;#2E3F51&quot;&gt;&lt;mstyle mathcolor=&quot;#354A5F&quot;&gt;&lt;mstyle mathcolor=&quot;#2E3F51&quot;&gt;&lt;mfrac&gt;&lt;mrow&gt;&lt;mn&gt;2&lt;/mn&gt;&lt;mi&gt;x&lt;/mi&gt;&lt;/mrow&gt;&lt;mn&gt;2&lt;/mn&gt;&lt;/mfrac&gt;&lt;/mstyle&gt;&lt;/mstyle&gt;&lt;/mstyle&gt;&lt;/math&gt;" id="816" name="Google Shape;816;p69" title="2 x ove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1977" y="2518516"/>
            <a:ext cx="34929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6}{2}}}}&quot;&gt;&lt;mstyle mathcolor=&quot;#2E3F51&quot;&gt;&lt;mstyle mathcolor=&quot;#354A5F&quot;&gt;&lt;mstyle mathcolor=&quot;#2E3F51&quot;&gt;&lt;mfrac&gt;&lt;mn&gt;6&lt;/mn&gt;&lt;mn&gt;2&lt;/mn&gt;&lt;/mfrac&gt;&lt;/mstyle&gt;&lt;/mstyle&gt;&lt;/mstyle&gt;&lt;/math&gt;" id="817" name="Google Shape;817;p69" title="six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6427" y="2518516"/>
            <a:ext cx="192558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8" name="Google Shape;818;p69"/>
          <p:cNvGraphicFramePr/>
          <p:nvPr/>
        </p:nvGraphicFramePr>
        <p:xfrm>
          <a:off x="31438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19" name="Google Shape;819;p69"/>
          <p:cNvGrpSpPr/>
          <p:nvPr/>
        </p:nvGrpSpPr>
        <p:grpSpPr>
          <a:xfrm>
            <a:off x="4535390" y="2651875"/>
            <a:ext cx="362100" cy="281400"/>
            <a:chOff x="6668990" y="3490075"/>
            <a:chExt cx="362100" cy="281400"/>
          </a:xfrm>
        </p:grpSpPr>
        <p:sp>
          <p:nvSpPr>
            <p:cNvPr id="820" name="Google Shape;820;p69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821" name="Google Shape;821;p69" title="x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2" name="Google Shape;822;p69"/>
          <p:cNvGrpSpPr/>
          <p:nvPr/>
        </p:nvGrpSpPr>
        <p:grpSpPr>
          <a:xfrm>
            <a:off x="5108891" y="2032845"/>
            <a:ext cx="283500" cy="1195800"/>
            <a:chOff x="5108891" y="2032845"/>
            <a:chExt cx="283500" cy="1195800"/>
          </a:xfrm>
        </p:grpSpPr>
        <p:grpSp>
          <p:nvGrpSpPr>
            <p:cNvPr id="823" name="Google Shape;823;p69"/>
            <p:cNvGrpSpPr/>
            <p:nvPr/>
          </p:nvGrpSpPr>
          <p:grpSpPr>
            <a:xfrm>
              <a:off x="5108891" y="2947245"/>
              <a:ext cx="283500" cy="281400"/>
              <a:chOff x="4237000" y="4025275"/>
              <a:chExt cx="283500" cy="281400"/>
            </a:xfrm>
          </p:grpSpPr>
          <p:sp>
            <p:nvSpPr>
              <p:cNvPr id="824" name="Google Shape;824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25" name="Google Shape;825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6" name="Google Shape;826;p69"/>
            <p:cNvGrpSpPr/>
            <p:nvPr/>
          </p:nvGrpSpPr>
          <p:grpSpPr>
            <a:xfrm>
              <a:off x="5108891" y="2642445"/>
              <a:ext cx="283500" cy="281400"/>
              <a:chOff x="4237000" y="4025275"/>
              <a:chExt cx="283500" cy="281400"/>
            </a:xfrm>
          </p:grpSpPr>
          <p:sp>
            <p:nvSpPr>
              <p:cNvPr id="827" name="Google Shape;827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28" name="Google Shape;828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29" name="Google Shape;829;p69"/>
            <p:cNvGrpSpPr/>
            <p:nvPr/>
          </p:nvGrpSpPr>
          <p:grpSpPr>
            <a:xfrm>
              <a:off x="5108891" y="2337645"/>
              <a:ext cx="283500" cy="281400"/>
              <a:chOff x="4237000" y="4025275"/>
              <a:chExt cx="283500" cy="281400"/>
            </a:xfrm>
          </p:grpSpPr>
          <p:sp>
            <p:nvSpPr>
              <p:cNvPr id="830" name="Google Shape;830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31" name="Google Shape;831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32" name="Google Shape;832;p69"/>
            <p:cNvGrpSpPr/>
            <p:nvPr/>
          </p:nvGrpSpPr>
          <p:grpSpPr>
            <a:xfrm>
              <a:off x="5108891" y="2032845"/>
              <a:ext cx="283500" cy="281400"/>
              <a:chOff x="4237000" y="4025275"/>
              <a:chExt cx="283500" cy="281400"/>
            </a:xfrm>
          </p:grpSpPr>
          <p:sp>
            <p:nvSpPr>
              <p:cNvPr id="833" name="Google Shape;833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34" name="Google Shape;834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35" name="Google Shape;835;p69"/>
          <p:cNvGrpSpPr/>
          <p:nvPr/>
        </p:nvGrpSpPr>
        <p:grpSpPr>
          <a:xfrm>
            <a:off x="4535390" y="2956675"/>
            <a:ext cx="362100" cy="281400"/>
            <a:chOff x="6668990" y="3490075"/>
            <a:chExt cx="362100" cy="281400"/>
          </a:xfrm>
        </p:grpSpPr>
        <p:sp>
          <p:nvSpPr>
            <p:cNvPr id="836" name="Google Shape;836;p69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837" name="Google Shape;837;p69" title="x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38" name="Google Shape;838;p69"/>
          <p:cNvGrpSpPr/>
          <p:nvPr/>
        </p:nvGrpSpPr>
        <p:grpSpPr>
          <a:xfrm>
            <a:off x="7090091" y="2337645"/>
            <a:ext cx="283500" cy="891000"/>
            <a:chOff x="7318691" y="2337645"/>
            <a:chExt cx="283500" cy="891000"/>
          </a:xfrm>
        </p:grpSpPr>
        <p:grpSp>
          <p:nvGrpSpPr>
            <p:cNvPr id="839" name="Google Shape;839;p69"/>
            <p:cNvGrpSpPr/>
            <p:nvPr/>
          </p:nvGrpSpPr>
          <p:grpSpPr>
            <a:xfrm>
              <a:off x="7318691" y="2947245"/>
              <a:ext cx="283500" cy="281400"/>
              <a:chOff x="4237000" y="4025275"/>
              <a:chExt cx="283500" cy="281400"/>
            </a:xfrm>
          </p:grpSpPr>
          <p:sp>
            <p:nvSpPr>
              <p:cNvPr id="840" name="Google Shape;840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41" name="Google Shape;841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42" name="Google Shape;842;p69"/>
            <p:cNvGrpSpPr/>
            <p:nvPr/>
          </p:nvGrpSpPr>
          <p:grpSpPr>
            <a:xfrm>
              <a:off x="7318691" y="2642445"/>
              <a:ext cx="283500" cy="281400"/>
              <a:chOff x="4237000" y="4025275"/>
              <a:chExt cx="283500" cy="281400"/>
            </a:xfrm>
          </p:grpSpPr>
          <p:sp>
            <p:nvSpPr>
              <p:cNvPr id="843" name="Google Shape;843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44" name="Google Shape;844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45" name="Google Shape;845;p69"/>
            <p:cNvGrpSpPr/>
            <p:nvPr/>
          </p:nvGrpSpPr>
          <p:grpSpPr>
            <a:xfrm>
              <a:off x="7318691" y="2337645"/>
              <a:ext cx="283500" cy="281400"/>
              <a:chOff x="4237000" y="4025275"/>
              <a:chExt cx="283500" cy="281400"/>
            </a:xfrm>
          </p:grpSpPr>
          <p:sp>
            <p:nvSpPr>
              <p:cNvPr id="846" name="Google Shape;846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47" name="Google Shape;847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48" name="Google Shape;848;p69"/>
          <p:cNvGrpSpPr/>
          <p:nvPr/>
        </p:nvGrpSpPr>
        <p:grpSpPr>
          <a:xfrm>
            <a:off x="7547291" y="2337645"/>
            <a:ext cx="283500" cy="891000"/>
            <a:chOff x="7775891" y="2337645"/>
            <a:chExt cx="283500" cy="891000"/>
          </a:xfrm>
        </p:grpSpPr>
        <p:grpSp>
          <p:nvGrpSpPr>
            <p:cNvPr id="849" name="Google Shape;849;p69"/>
            <p:cNvGrpSpPr/>
            <p:nvPr/>
          </p:nvGrpSpPr>
          <p:grpSpPr>
            <a:xfrm>
              <a:off x="7775891" y="2947245"/>
              <a:ext cx="283500" cy="281400"/>
              <a:chOff x="4237000" y="4025275"/>
              <a:chExt cx="283500" cy="281400"/>
            </a:xfrm>
          </p:grpSpPr>
          <p:sp>
            <p:nvSpPr>
              <p:cNvPr id="850" name="Google Shape;850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51" name="Google Shape;851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2" name="Google Shape;852;p69"/>
            <p:cNvGrpSpPr/>
            <p:nvPr/>
          </p:nvGrpSpPr>
          <p:grpSpPr>
            <a:xfrm>
              <a:off x="7775891" y="2642445"/>
              <a:ext cx="283500" cy="281400"/>
              <a:chOff x="4237000" y="4025275"/>
              <a:chExt cx="283500" cy="281400"/>
            </a:xfrm>
          </p:grpSpPr>
          <p:sp>
            <p:nvSpPr>
              <p:cNvPr id="853" name="Google Shape;853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54" name="Google Shape;854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55" name="Google Shape;855;p69"/>
            <p:cNvGrpSpPr/>
            <p:nvPr/>
          </p:nvGrpSpPr>
          <p:grpSpPr>
            <a:xfrm>
              <a:off x="7775891" y="2337645"/>
              <a:ext cx="283500" cy="281400"/>
              <a:chOff x="4237000" y="4025275"/>
              <a:chExt cx="283500" cy="281400"/>
            </a:xfrm>
          </p:grpSpPr>
          <p:sp>
            <p:nvSpPr>
              <p:cNvPr id="856" name="Google Shape;856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57" name="Google Shape;857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58" name="Google Shape;858;p69"/>
          <p:cNvGrpSpPr/>
          <p:nvPr/>
        </p:nvGrpSpPr>
        <p:grpSpPr>
          <a:xfrm>
            <a:off x="7090091" y="1739275"/>
            <a:ext cx="740700" cy="574970"/>
            <a:chOff x="7318691" y="1739275"/>
            <a:chExt cx="740700" cy="574970"/>
          </a:xfrm>
        </p:grpSpPr>
        <p:grpSp>
          <p:nvGrpSpPr>
            <p:cNvPr id="859" name="Google Shape;859;p69"/>
            <p:cNvGrpSpPr/>
            <p:nvPr/>
          </p:nvGrpSpPr>
          <p:grpSpPr>
            <a:xfrm>
              <a:off x="7318691" y="2032845"/>
              <a:ext cx="283500" cy="281400"/>
              <a:chOff x="4237000" y="4025275"/>
              <a:chExt cx="283500" cy="281400"/>
            </a:xfrm>
          </p:grpSpPr>
          <p:sp>
            <p:nvSpPr>
              <p:cNvPr id="860" name="Google Shape;860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61" name="Google Shape;861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2" name="Google Shape;862;p69"/>
            <p:cNvGrpSpPr/>
            <p:nvPr/>
          </p:nvGrpSpPr>
          <p:grpSpPr>
            <a:xfrm>
              <a:off x="7775891" y="2032845"/>
              <a:ext cx="283500" cy="281400"/>
              <a:chOff x="4237000" y="4025275"/>
              <a:chExt cx="283500" cy="281400"/>
            </a:xfrm>
          </p:grpSpPr>
          <p:sp>
            <p:nvSpPr>
              <p:cNvPr id="863" name="Google Shape;863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64" name="Google Shape;864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5" name="Google Shape;865;p69"/>
            <p:cNvGrpSpPr/>
            <p:nvPr/>
          </p:nvGrpSpPr>
          <p:grpSpPr>
            <a:xfrm>
              <a:off x="7318691" y="1739275"/>
              <a:ext cx="283500" cy="281400"/>
              <a:chOff x="4237000" y="4025275"/>
              <a:chExt cx="283500" cy="281400"/>
            </a:xfrm>
          </p:grpSpPr>
          <p:sp>
            <p:nvSpPr>
              <p:cNvPr id="866" name="Google Shape;866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67" name="Google Shape;867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8" name="Google Shape;868;p69"/>
            <p:cNvGrpSpPr/>
            <p:nvPr/>
          </p:nvGrpSpPr>
          <p:grpSpPr>
            <a:xfrm>
              <a:off x="7775891" y="1739275"/>
              <a:ext cx="283500" cy="281400"/>
              <a:chOff x="4237000" y="4025275"/>
              <a:chExt cx="283500" cy="281400"/>
            </a:xfrm>
          </p:grpSpPr>
          <p:sp>
            <p:nvSpPr>
              <p:cNvPr id="869" name="Google Shape;869;p69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870" name="Google Shape;870;p69" title="1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71" name="Google Shape;871;p69"/>
          <p:cNvGrpSpPr/>
          <p:nvPr/>
        </p:nvGrpSpPr>
        <p:grpSpPr>
          <a:xfrm>
            <a:off x="5497388" y="2029896"/>
            <a:ext cx="290214" cy="1198038"/>
            <a:chOff x="5497388" y="2029896"/>
            <a:chExt cx="290214" cy="1198038"/>
          </a:xfrm>
        </p:grpSpPr>
        <p:grpSp>
          <p:nvGrpSpPr>
            <p:cNvPr id="872" name="Google Shape;872;p69"/>
            <p:cNvGrpSpPr/>
            <p:nvPr/>
          </p:nvGrpSpPr>
          <p:grpSpPr>
            <a:xfrm>
              <a:off x="5497388" y="2944296"/>
              <a:ext cx="290214" cy="283638"/>
              <a:chOff x="3801148" y="1460200"/>
              <a:chExt cx="332471" cy="324900"/>
            </a:xfrm>
          </p:grpSpPr>
          <p:sp>
            <p:nvSpPr>
              <p:cNvPr id="873" name="Google Shape;873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74" name="Google Shape;874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5" name="Google Shape;875;p69"/>
            <p:cNvGrpSpPr/>
            <p:nvPr/>
          </p:nvGrpSpPr>
          <p:grpSpPr>
            <a:xfrm>
              <a:off x="5497388" y="2639496"/>
              <a:ext cx="290214" cy="283638"/>
              <a:chOff x="3801148" y="1460200"/>
              <a:chExt cx="332471" cy="324900"/>
            </a:xfrm>
          </p:grpSpPr>
          <p:sp>
            <p:nvSpPr>
              <p:cNvPr id="876" name="Google Shape;876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77" name="Google Shape;877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78" name="Google Shape;878;p69"/>
            <p:cNvGrpSpPr/>
            <p:nvPr/>
          </p:nvGrpSpPr>
          <p:grpSpPr>
            <a:xfrm>
              <a:off x="5497388" y="2334696"/>
              <a:ext cx="290214" cy="283638"/>
              <a:chOff x="3801148" y="1460200"/>
              <a:chExt cx="332471" cy="324900"/>
            </a:xfrm>
          </p:grpSpPr>
          <p:sp>
            <p:nvSpPr>
              <p:cNvPr id="879" name="Google Shape;879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80" name="Google Shape;880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1" name="Google Shape;881;p69"/>
            <p:cNvGrpSpPr/>
            <p:nvPr/>
          </p:nvGrpSpPr>
          <p:grpSpPr>
            <a:xfrm>
              <a:off x="5497388" y="2029896"/>
              <a:ext cx="290214" cy="283638"/>
              <a:chOff x="3801148" y="1460200"/>
              <a:chExt cx="332471" cy="324900"/>
            </a:xfrm>
          </p:grpSpPr>
          <p:sp>
            <p:nvSpPr>
              <p:cNvPr id="882" name="Google Shape;882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83" name="Google Shape;883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884" name="Google Shape;884;p69"/>
          <p:cNvGrpSpPr/>
          <p:nvPr/>
        </p:nvGrpSpPr>
        <p:grpSpPr>
          <a:xfrm>
            <a:off x="7935788" y="2639496"/>
            <a:ext cx="671214" cy="588438"/>
            <a:chOff x="7935788" y="2639496"/>
            <a:chExt cx="671214" cy="588438"/>
          </a:xfrm>
        </p:grpSpPr>
        <p:grpSp>
          <p:nvGrpSpPr>
            <p:cNvPr id="885" name="Google Shape;885;p69"/>
            <p:cNvGrpSpPr/>
            <p:nvPr/>
          </p:nvGrpSpPr>
          <p:grpSpPr>
            <a:xfrm>
              <a:off x="7935788" y="2944296"/>
              <a:ext cx="290214" cy="283638"/>
              <a:chOff x="3801148" y="1460200"/>
              <a:chExt cx="332471" cy="324900"/>
            </a:xfrm>
          </p:grpSpPr>
          <p:sp>
            <p:nvSpPr>
              <p:cNvPr id="886" name="Google Shape;886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87" name="Google Shape;887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88" name="Google Shape;888;p69"/>
            <p:cNvGrpSpPr/>
            <p:nvPr/>
          </p:nvGrpSpPr>
          <p:grpSpPr>
            <a:xfrm>
              <a:off x="7935788" y="2639496"/>
              <a:ext cx="290214" cy="283638"/>
              <a:chOff x="3801148" y="1460200"/>
              <a:chExt cx="332471" cy="324900"/>
            </a:xfrm>
          </p:grpSpPr>
          <p:sp>
            <p:nvSpPr>
              <p:cNvPr id="889" name="Google Shape;889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90" name="Google Shape;890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91" name="Google Shape;891;p69"/>
            <p:cNvGrpSpPr/>
            <p:nvPr/>
          </p:nvGrpSpPr>
          <p:grpSpPr>
            <a:xfrm>
              <a:off x="8316788" y="2944296"/>
              <a:ext cx="290214" cy="283638"/>
              <a:chOff x="3801148" y="1460200"/>
              <a:chExt cx="332471" cy="324900"/>
            </a:xfrm>
          </p:grpSpPr>
          <p:sp>
            <p:nvSpPr>
              <p:cNvPr id="892" name="Google Shape;892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93" name="Google Shape;893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94" name="Google Shape;894;p69"/>
            <p:cNvGrpSpPr/>
            <p:nvPr/>
          </p:nvGrpSpPr>
          <p:grpSpPr>
            <a:xfrm>
              <a:off x="8316788" y="2639496"/>
              <a:ext cx="290214" cy="283638"/>
              <a:chOff x="3801148" y="1460200"/>
              <a:chExt cx="332471" cy="324900"/>
            </a:xfrm>
          </p:grpSpPr>
          <p:sp>
            <p:nvSpPr>
              <p:cNvPr id="895" name="Google Shape;895;p69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96" name="Google Shape;896;p6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897" name="Google Shape;897;p69"/>
          <p:cNvGraphicFramePr/>
          <p:nvPr/>
        </p:nvGraphicFramePr>
        <p:xfrm>
          <a:off x="314384" y="108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2" name="Google Shape;902;p70"/>
          <p:cNvGraphicFramePr/>
          <p:nvPr/>
        </p:nvGraphicFramePr>
        <p:xfrm>
          <a:off x="3248923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(−10)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(−10)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21}{7}}}}&quot;&gt;&lt;mstyle mathcolor=&quot;#2E3F51&quot;&gt;&lt;mstyle mathcolor=&quot;#354A5F&quot;&gt;&lt;mstyle mathcolor=&quot;#2E3F51&quot;&gt;&lt;mfrac&gt;&lt;mn&gt;21&lt;/mn&gt;&lt;mn&gt;7&lt;/mn&gt;&lt;/mfrac&gt;&lt;/mstyle&gt;&lt;/mstyle&gt;&lt;/mstyle&gt;&lt;/math&gt;" id="903" name="Google Shape;903;p70" title="21 over 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9782" y="3206800"/>
            <a:ext cx="330700" cy="608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7x}{7}}}}&quot;&gt;&lt;mstyle mathcolor=&quot;#2E3F51&quot;&gt;&lt;mstyle mathcolor=&quot;#354A5F&quot;&gt;&lt;mstyle mathcolor=&quot;#2E3F51&quot;&gt;&lt;mfrac&gt;&lt;mrow&gt;&lt;mn&gt;7&lt;/mn&gt;&lt;mi&gt;x&lt;/mi&gt;&lt;/mrow&gt;&lt;mn&gt;7&lt;/mn&gt;&lt;/mfrac&gt;&lt;/mstyle&gt;&lt;/mstyle&gt;&lt;/mstyle&gt;&lt;/math&gt;" id="904" name="Google Shape;904;p70" title="7 x over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4965" y="3211813"/>
            <a:ext cx="348336" cy="608487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0"/>
          <p:cNvSpPr txBox="1"/>
          <p:nvPr>
            <p:ph type="title"/>
          </p:nvPr>
        </p:nvSpPr>
        <p:spPr>
          <a:xfrm>
            <a:off x="324000" y="748775"/>
            <a:ext cx="74133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first step will isolate the term with the unknown when solving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+ 10 = 31 </a:t>
            </a:r>
            <a:r>
              <a:rPr lang="en-GB"/>
              <a:t>?</a:t>
            </a:r>
            <a:endParaRPr/>
          </a:p>
        </p:txBody>
      </p:sp>
      <p:sp>
        <p:nvSpPr>
          <p:cNvPr id="906" name="Google Shape;906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using an additive step first</a:t>
            </a:r>
            <a:endParaRPr/>
          </a:p>
        </p:txBody>
      </p:sp>
      <p:sp>
        <p:nvSpPr>
          <p:cNvPr id="907" name="Google Shape;907;p70"/>
          <p:cNvSpPr txBox="1"/>
          <p:nvPr>
            <p:ph idx="1" type="subTitle"/>
          </p:nvPr>
        </p:nvSpPr>
        <p:spPr>
          <a:xfrm>
            <a:off x="1034425" y="1837775"/>
            <a:ext cx="1326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(−7)</a:t>
            </a:r>
            <a:endParaRPr/>
          </a:p>
        </p:txBody>
      </p:sp>
      <p:sp>
        <p:nvSpPr>
          <p:cNvPr id="908" name="Google Shape;908;p70"/>
          <p:cNvSpPr txBox="1"/>
          <p:nvPr>
            <p:ph idx="3" type="subTitle"/>
          </p:nvPr>
        </p:nvSpPr>
        <p:spPr>
          <a:xfrm>
            <a:off x="1034425" y="2794251"/>
            <a:ext cx="1326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(−10)</a:t>
            </a:r>
            <a:endParaRPr/>
          </a:p>
        </p:txBody>
      </p:sp>
      <p:sp>
        <p:nvSpPr>
          <p:cNvPr id="909" name="Google Shape;909;p70"/>
          <p:cNvSpPr txBox="1"/>
          <p:nvPr>
            <p:ph idx="4" type="subTitle"/>
          </p:nvPr>
        </p:nvSpPr>
        <p:spPr>
          <a:xfrm>
            <a:off x="1034425" y="3766974"/>
            <a:ext cx="1318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(−31)</a:t>
            </a:r>
            <a:endParaRPr/>
          </a:p>
        </p:txBody>
      </p:sp>
      <p:pic>
        <p:nvPicPr>
          <p:cNvPr id="910" name="Google Shape;910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83" y="2790011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11" name="Google Shape;911;p70"/>
          <p:cNvGraphicFramePr/>
          <p:nvPr/>
        </p:nvGraphicFramePr>
        <p:xfrm>
          <a:off x="3248923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(−10)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(−10)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1"/>
          <p:cNvSpPr txBox="1"/>
          <p:nvPr>
            <p:ph idx="1" type="subTitle"/>
          </p:nvPr>
        </p:nvSpPr>
        <p:spPr>
          <a:xfrm>
            <a:off x="337825" y="8100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sp>
        <p:nvSpPr>
          <p:cNvPr id="917" name="Google Shape;917;p71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918" name="Google Shape;918;p71"/>
          <p:cNvGraphicFramePr/>
          <p:nvPr/>
        </p:nvGraphicFramePr>
        <p:xfrm>
          <a:off x="6255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9" name="Google Shape;919;p71"/>
          <p:cNvSpPr txBox="1"/>
          <p:nvPr>
            <p:ph idx="1" type="subTitle"/>
          </p:nvPr>
        </p:nvSpPr>
        <p:spPr>
          <a:xfrm>
            <a:off x="337825" y="31722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graphicFrame>
        <p:nvGraphicFramePr>
          <p:cNvPr id="920" name="Google Shape;920;p71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x=\frac{19}{6}}}}&quot;&gt;&lt;mstyle mathcolor=&quot;#2E3F51&quot;&gt;&lt;mstyle mathcolor=&quot;#354A5F&quot;&gt;&lt;mstyle mathcolor=&quot;#2E3F51&quot;&gt;&lt;mi&gt;x&lt;/mi&gt;&lt;mo&gt;=&lt;/mo&gt;&lt;mfrac&gt;&lt;mn&gt;19&lt;/mn&gt;&lt;mn&gt;6&lt;/mn&gt;&lt;/mfrac&gt;&lt;/mstyle&gt;&lt;/mstyle&gt;&lt;/mstyle&gt;&lt;/math&gt;" id="921" name="Google Shape;921;p71" title="x equals nineteen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236" y="2101490"/>
            <a:ext cx="8861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6x}{6}=\frac{19}{6}}}}&quot;&gt;&lt;mstyle mathcolor=&quot;#2E3F51&quot;&gt;&lt;mstyle mathcolor=&quot;#354A5F&quot;&gt;&lt;mstyle mathcolor=&quot;#2E3F51&quot;&gt;&lt;mfrac&gt;&lt;mrow&gt;&lt;mn&gt;6&lt;/mn&gt;&lt;mi&gt;x&lt;/mi&gt;&lt;/mrow&gt;&lt;mn&gt;6&lt;/mn&gt;&lt;/mfrac&gt;&lt;mo&gt;=&lt;/mo&gt;&lt;mfrac&gt;&lt;mn&gt;19&lt;/mn&gt;&lt;mn&gt;6&lt;/mn&gt;&lt;/mfrac&gt;&lt;/mstyle&gt;&lt;/mstyle&gt;&lt;/mstyle&gt;&lt;/math&gt;" id="922" name="Google Shape;922;p71" title="6 x over 6 equals nineteen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491" y="2101490"/>
            <a:ext cx="1117909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3" name="Google Shape;923;p71"/>
          <p:cNvGraphicFramePr/>
          <p:nvPr/>
        </p:nvGraphicFramePr>
        <p:xfrm>
          <a:off x="6255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4" name="Google Shape;924;p71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5" name="Google Shape;925;p71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2"/>
          <p:cNvSpPr txBox="1"/>
          <p:nvPr>
            <p:ph idx="1" type="subTitle"/>
          </p:nvPr>
        </p:nvSpPr>
        <p:spPr>
          <a:xfrm>
            <a:off x="337825" y="8100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sp>
        <p:nvSpPr>
          <p:cNvPr id="931" name="Google Shape;931;p72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932" name="Google Shape;932;p72"/>
          <p:cNvGraphicFramePr/>
          <p:nvPr/>
        </p:nvGraphicFramePr>
        <p:xfrm>
          <a:off x="6255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+ 13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3" name="Google Shape;933;p72"/>
          <p:cNvSpPr txBox="1"/>
          <p:nvPr>
            <p:ph idx="1" type="subTitle"/>
          </p:nvPr>
        </p:nvSpPr>
        <p:spPr>
          <a:xfrm>
            <a:off x="337825" y="31722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graphicFrame>
        <p:nvGraphicFramePr>
          <p:cNvPr id="934" name="Google Shape;934;p72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x=\frac{19}{6}}}}&quot;&gt;&lt;mstyle mathcolor=&quot;#2E3F51&quot;&gt;&lt;mstyle mathcolor=&quot;#354A5F&quot;&gt;&lt;mstyle mathcolor=&quot;#2E3F51&quot;&gt;&lt;mi&gt;x&lt;/mi&gt;&lt;mo&gt;=&lt;/mo&gt;&lt;mfrac&gt;&lt;mn&gt;19&lt;/mn&gt;&lt;mn&gt;6&lt;/mn&gt;&lt;/mfrac&gt;&lt;/mstyle&gt;&lt;/mstyle&gt;&lt;/mstyle&gt;&lt;/math&gt;" id="935" name="Google Shape;935;p72" title="x equals nineteen six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236" y="2101490"/>
            <a:ext cx="88614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6x}{6}=\frac{19}{6}}}}&quot;&gt;&lt;mstyle mathcolor=&quot;#2E3F51&quot;&gt;&lt;mstyle mathcolor=&quot;#354A5F&quot;&gt;&lt;mstyle mathcolor=&quot;#2E3F51&quot;&gt;&lt;mfrac&gt;&lt;mrow&gt;&lt;mn&gt;6&lt;/mn&gt;&lt;mi&gt;x&lt;/mi&gt;&lt;/mrow&gt;&lt;mn&gt;6&lt;/mn&gt;&lt;/mfrac&gt;&lt;mo&gt;=&lt;/mo&gt;&lt;mfrac&gt;&lt;mn&gt;19&lt;/mn&gt;&lt;mn&gt;6&lt;/mn&gt;&lt;/mfrac&gt;&lt;/mstyle&gt;&lt;/mstyle&gt;&lt;/mstyle&gt;&lt;/math&gt;" id="936" name="Google Shape;936;p72" title="6 x over 6 equals nineteen six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1491" y="2101490"/>
            <a:ext cx="1117909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7" name="Google Shape;937;p72"/>
          <p:cNvGraphicFramePr/>
          <p:nvPr/>
        </p:nvGraphicFramePr>
        <p:xfrm>
          <a:off x="6255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8" name="Google Shape;938;p72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9" name="Google Shape;939;p72"/>
          <p:cNvGraphicFramePr/>
          <p:nvPr/>
        </p:nvGraphicFramePr>
        <p:xfrm>
          <a:off x="2428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(−24)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0" name="Google Shape;940;p72"/>
          <p:cNvSpPr txBox="1"/>
          <p:nvPr>
            <p:ph idx="1" type="subTitle"/>
          </p:nvPr>
        </p:nvSpPr>
        <p:spPr>
          <a:xfrm>
            <a:off x="4833625" y="8100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graphicFrame>
        <p:nvGraphicFramePr>
          <p:cNvPr id="941" name="Google Shape;941;p72"/>
          <p:cNvGraphicFramePr/>
          <p:nvPr/>
        </p:nvGraphicFramePr>
        <p:xfrm>
          <a:off x="51213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+ 11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+ 11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2" name="Google Shape;942;p72"/>
          <p:cNvSpPr txBox="1"/>
          <p:nvPr>
            <p:ph idx="1" type="subTitle"/>
          </p:nvPr>
        </p:nvSpPr>
        <p:spPr>
          <a:xfrm>
            <a:off x="4833625" y="3172200"/>
            <a:ext cx="708900" cy="3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endParaRPr/>
          </a:p>
        </p:txBody>
      </p:sp>
      <p:graphicFrame>
        <p:nvGraphicFramePr>
          <p:cNvPr id="943" name="Google Shape;943;p72"/>
          <p:cNvGraphicFramePr/>
          <p:nvPr/>
        </p:nvGraphicFramePr>
        <p:xfrm>
          <a:off x="47386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(−12)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(−12)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x=\frac{18}{5}}}}&quot;&gt;&lt;mstyle mathcolor=&quot;#2E3F51&quot;&gt;&lt;mstyle mathcolor=&quot;#354A5F&quot;&gt;&lt;mstyle mathcolor=&quot;#2E3F51&quot;&gt;&lt;mi&gt;x&lt;/mi&gt;&lt;mo&gt;=&lt;/mo&gt;&lt;mfrac&gt;&lt;mn&gt;18&lt;/mn&gt;&lt;mn&gt;5&lt;/mn&gt;&lt;/mfrac&gt;&lt;/mstyle&gt;&lt;/mstyle&gt;&lt;/mstyle&gt;&lt;/math&gt;" id="944" name="Google Shape;944;p72" title="x equals eighteen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3170" y="2104872"/>
            <a:ext cx="883959" cy="6119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5x}{5}=\frac{18}{5}}}}&quot;&gt;&lt;mstyle mathcolor=&quot;#2E3F51&quot;&gt;&lt;mstyle mathcolor=&quot;#354A5F&quot;&gt;&lt;mstyle mathcolor=&quot;#2E3F51&quot;&gt;&lt;mfrac&gt;&lt;mrow&gt;&lt;mn&gt;5&lt;/mn&gt;&lt;mi&gt;x&lt;/mi&gt;&lt;/mrow&gt;&lt;mn&gt;5&lt;/mn&gt;&lt;/mfrac&gt;&lt;mo&gt;=&lt;/mo&gt;&lt;mfrac&gt;&lt;mn&gt;18&lt;/mn&gt;&lt;mn&gt;5&lt;/mn&gt;&lt;/mfrac&gt;&lt;/mstyle&gt;&lt;/mstyle&gt;&lt;/mstyle&gt;&lt;/math&gt;" id="945" name="Google Shape;945;p72" title="5 x over 5 equals eighteen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9941" y="2106393"/>
            <a:ext cx="1103409" cy="6119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46" name="Google Shape;946;p72"/>
          <p:cNvGraphicFramePr/>
          <p:nvPr/>
        </p:nvGraphicFramePr>
        <p:xfrm>
          <a:off x="5121389" y="6623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7" name="Google Shape;947;p72"/>
          <p:cNvGraphicFramePr/>
          <p:nvPr/>
        </p:nvGraphicFramePr>
        <p:xfrm>
          <a:off x="47386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8" name="Google Shape;948;p72"/>
          <p:cNvGraphicFramePr/>
          <p:nvPr/>
        </p:nvGraphicFramePr>
        <p:xfrm>
          <a:off x="4738609" y="30245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(−12)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(−12)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3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Manipulate the balance scale to 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 = 2</a:t>
            </a:r>
            <a:endParaRPr/>
          </a:p>
        </p:txBody>
      </p:sp>
      <p:sp>
        <p:nvSpPr>
          <p:cNvPr id="954" name="Google Shape;954;p7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pSp>
        <p:nvGrpSpPr>
          <p:cNvPr id="955" name="Google Shape;955;p73"/>
          <p:cNvGrpSpPr/>
          <p:nvPr/>
        </p:nvGrpSpPr>
        <p:grpSpPr>
          <a:xfrm>
            <a:off x="4091087" y="1771550"/>
            <a:ext cx="4246593" cy="2507834"/>
            <a:chOff x="3679000" y="1380975"/>
            <a:chExt cx="4343896" cy="2543700"/>
          </a:xfrm>
        </p:grpSpPr>
        <p:sp>
          <p:nvSpPr>
            <p:cNvPr id="956" name="Google Shape;956;p7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57" name="Google Shape;957;p7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8" name="Google Shape;958;p7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59" name="Google Shape;959;p7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0" name="Google Shape;960;p7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61" name="Google Shape;961;p7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2" name="Google Shape;962;p73"/>
          <p:cNvGrpSpPr/>
          <p:nvPr/>
        </p:nvGrpSpPr>
        <p:grpSpPr>
          <a:xfrm>
            <a:off x="4306790" y="2826736"/>
            <a:ext cx="362100" cy="281400"/>
            <a:chOff x="6668990" y="3490075"/>
            <a:chExt cx="362100" cy="281400"/>
          </a:xfrm>
        </p:grpSpPr>
        <p:sp>
          <p:nvSpPr>
            <p:cNvPr id="963" name="Google Shape;963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964" name="Google Shape;964;p73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5" name="Google Shape;965;p73"/>
          <p:cNvGrpSpPr/>
          <p:nvPr/>
        </p:nvGrpSpPr>
        <p:grpSpPr>
          <a:xfrm>
            <a:off x="4306790" y="3109075"/>
            <a:ext cx="362100" cy="281400"/>
            <a:chOff x="6668990" y="3490075"/>
            <a:chExt cx="362100" cy="281400"/>
          </a:xfrm>
        </p:grpSpPr>
        <p:sp>
          <p:nvSpPr>
            <p:cNvPr id="966" name="Google Shape;966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967" name="Google Shape;967;p73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8" name="Google Shape;968;p73"/>
          <p:cNvGrpSpPr/>
          <p:nvPr/>
        </p:nvGrpSpPr>
        <p:grpSpPr>
          <a:xfrm>
            <a:off x="4306790" y="2544396"/>
            <a:ext cx="362100" cy="281400"/>
            <a:chOff x="6668990" y="3490075"/>
            <a:chExt cx="362100" cy="281400"/>
          </a:xfrm>
        </p:grpSpPr>
        <p:sp>
          <p:nvSpPr>
            <p:cNvPr id="969" name="Google Shape;969;p73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970" name="Google Shape;970;p73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1" name="Google Shape;971;p73"/>
          <p:cNvGrpSpPr/>
          <p:nvPr/>
        </p:nvGrpSpPr>
        <p:grpSpPr>
          <a:xfrm>
            <a:off x="5268788" y="1922418"/>
            <a:ext cx="290214" cy="1457916"/>
            <a:chOff x="4887788" y="2074818"/>
            <a:chExt cx="290214" cy="1457916"/>
          </a:xfrm>
        </p:grpSpPr>
        <p:grpSp>
          <p:nvGrpSpPr>
            <p:cNvPr id="972" name="Google Shape;972;p73"/>
            <p:cNvGrpSpPr/>
            <p:nvPr/>
          </p:nvGrpSpPr>
          <p:grpSpPr>
            <a:xfrm>
              <a:off x="4887788" y="3249096"/>
              <a:ext cx="290214" cy="283638"/>
              <a:chOff x="3801148" y="1460200"/>
              <a:chExt cx="332471" cy="324900"/>
            </a:xfrm>
          </p:grpSpPr>
          <p:sp>
            <p:nvSpPr>
              <p:cNvPr id="973" name="Google Shape;973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74" name="Google Shape;974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75" name="Google Shape;975;p73"/>
            <p:cNvGrpSpPr/>
            <p:nvPr/>
          </p:nvGrpSpPr>
          <p:grpSpPr>
            <a:xfrm>
              <a:off x="4887788" y="2955527"/>
              <a:ext cx="290214" cy="283638"/>
              <a:chOff x="3801148" y="1460200"/>
              <a:chExt cx="332471" cy="324900"/>
            </a:xfrm>
          </p:grpSpPr>
          <p:sp>
            <p:nvSpPr>
              <p:cNvPr id="976" name="Google Shape;976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77" name="Google Shape;977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78" name="Google Shape;978;p73"/>
            <p:cNvGrpSpPr/>
            <p:nvPr/>
          </p:nvGrpSpPr>
          <p:grpSpPr>
            <a:xfrm>
              <a:off x="4887788" y="2661957"/>
              <a:ext cx="290214" cy="283638"/>
              <a:chOff x="3801148" y="1460200"/>
              <a:chExt cx="332471" cy="324900"/>
            </a:xfrm>
          </p:grpSpPr>
          <p:sp>
            <p:nvSpPr>
              <p:cNvPr id="979" name="Google Shape;979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80" name="Google Shape;980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81" name="Google Shape;981;p73"/>
            <p:cNvGrpSpPr/>
            <p:nvPr/>
          </p:nvGrpSpPr>
          <p:grpSpPr>
            <a:xfrm>
              <a:off x="4887788" y="2368387"/>
              <a:ext cx="290214" cy="283638"/>
              <a:chOff x="3801148" y="1460200"/>
              <a:chExt cx="332471" cy="324900"/>
            </a:xfrm>
          </p:grpSpPr>
          <p:sp>
            <p:nvSpPr>
              <p:cNvPr id="982" name="Google Shape;982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83" name="Google Shape;983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84" name="Google Shape;984;p73"/>
            <p:cNvGrpSpPr/>
            <p:nvPr/>
          </p:nvGrpSpPr>
          <p:grpSpPr>
            <a:xfrm>
              <a:off x="4887788" y="2074818"/>
              <a:ext cx="290214" cy="283638"/>
              <a:chOff x="3801148" y="1460200"/>
              <a:chExt cx="332471" cy="324900"/>
            </a:xfrm>
          </p:grpSpPr>
          <p:sp>
            <p:nvSpPr>
              <p:cNvPr id="985" name="Google Shape;985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86" name="Google Shape;986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87" name="Google Shape;987;p73"/>
          <p:cNvGrpSpPr/>
          <p:nvPr/>
        </p:nvGrpSpPr>
        <p:grpSpPr>
          <a:xfrm>
            <a:off x="4811588" y="1922418"/>
            <a:ext cx="290214" cy="1457916"/>
            <a:chOff x="4887788" y="2074818"/>
            <a:chExt cx="290214" cy="1457916"/>
          </a:xfrm>
        </p:grpSpPr>
        <p:grpSp>
          <p:nvGrpSpPr>
            <p:cNvPr id="988" name="Google Shape;988;p73"/>
            <p:cNvGrpSpPr/>
            <p:nvPr/>
          </p:nvGrpSpPr>
          <p:grpSpPr>
            <a:xfrm>
              <a:off x="4887788" y="3249096"/>
              <a:ext cx="290214" cy="283638"/>
              <a:chOff x="3801148" y="1460200"/>
              <a:chExt cx="332471" cy="324900"/>
            </a:xfrm>
          </p:grpSpPr>
          <p:sp>
            <p:nvSpPr>
              <p:cNvPr id="989" name="Google Shape;989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90" name="Google Shape;990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1" name="Google Shape;991;p73"/>
            <p:cNvGrpSpPr/>
            <p:nvPr/>
          </p:nvGrpSpPr>
          <p:grpSpPr>
            <a:xfrm>
              <a:off x="4887788" y="2955527"/>
              <a:ext cx="290214" cy="283638"/>
              <a:chOff x="3801148" y="1460200"/>
              <a:chExt cx="332471" cy="324900"/>
            </a:xfrm>
          </p:grpSpPr>
          <p:sp>
            <p:nvSpPr>
              <p:cNvPr id="992" name="Google Shape;992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93" name="Google Shape;993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4" name="Google Shape;994;p73"/>
            <p:cNvGrpSpPr/>
            <p:nvPr/>
          </p:nvGrpSpPr>
          <p:grpSpPr>
            <a:xfrm>
              <a:off x="4887788" y="2661957"/>
              <a:ext cx="290214" cy="283638"/>
              <a:chOff x="3801148" y="1460200"/>
              <a:chExt cx="332471" cy="324900"/>
            </a:xfrm>
          </p:grpSpPr>
          <p:sp>
            <p:nvSpPr>
              <p:cNvPr id="995" name="Google Shape;995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96" name="Google Shape;996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7" name="Google Shape;997;p73"/>
            <p:cNvGrpSpPr/>
            <p:nvPr/>
          </p:nvGrpSpPr>
          <p:grpSpPr>
            <a:xfrm>
              <a:off x="4887788" y="2368387"/>
              <a:ext cx="290214" cy="283638"/>
              <a:chOff x="3801148" y="1460200"/>
              <a:chExt cx="332471" cy="324900"/>
            </a:xfrm>
          </p:grpSpPr>
          <p:sp>
            <p:nvSpPr>
              <p:cNvPr id="998" name="Google Shape;998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999" name="Google Shape;999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00" name="Google Shape;1000;p73"/>
            <p:cNvGrpSpPr/>
            <p:nvPr/>
          </p:nvGrpSpPr>
          <p:grpSpPr>
            <a:xfrm>
              <a:off x="4887788" y="2074818"/>
              <a:ext cx="290214" cy="283638"/>
              <a:chOff x="3801148" y="1460200"/>
              <a:chExt cx="332471" cy="324900"/>
            </a:xfrm>
          </p:grpSpPr>
          <p:sp>
            <p:nvSpPr>
              <p:cNvPr id="1001" name="Google Shape;1001;p73"/>
              <p:cNvSpPr/>
              <p:nvPr/>
            </p:nvSpPr>
            <p:spPr>
              <a:xfrm>
                <a:off x="3808719" y="1460200"/>
                <a:ext cx="324900" cy="324900"/>
              </a:xfrm>
              <a:prstGeom prst="rect">
                <a:avLst/>
              </a:prstGeom>
              <a:solidFill>
                <a:srgbClr val="F4CC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02" name="Google Shape;1002;p7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801148" y="1523572"/>
                <a:ext cx="302755" cy="2018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03" name="Google Shape;1003;p73"/>
          <p:cNvGrpSpPr/>
          <p:nvPr/>
        </p:nvGrpSpPr>
        <p:grpSpPr>
          <a:xfrm>
            <a:off x="7090091" y="2794845"/>
            <a:ext cx="283500" cy="586200"/>
            <a:chOff x="7090091" y="4014045"/>
            <a:chExt cx="283500" cy="586200"/>
          </a:xfrm>
        </p:grpSpPr>
        <p:grpSp>
          <p:nvGrpSpPr>
            <p:cNvPr id="1004" name="Google Shape;1004;p73"/>
            <p:cNvGrpSpPr/>
            <p:nvPr/>
          </p:nvGrpSpPr>
          <p:grpSpPr>
            <a:xfrm>
              <a:off x="7090091" y="4318845"/>
              <a:ext cx="283500" cy="281400"/>
              <a:chOff x="4237000" y="4025275"/>
              <a:chExt cx="283500" cy="281400"/>
            </a:xfrm>
          </p:grpSpPr>
          <p:sp>
            <p:nvSpPr>
              <p:cNvPr id="1005" name="Google Shape;1005;p7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006" name="Google Shape;1006;p73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07" name="Google Shape;1007;p73"/>
            <p:cNvGrpSpPr/>
            <p:nvPr/>
          </p:nvGrpSpPr>
          <p:grpSpPr>
            <a:xfrm>
              <a:off x="7090091" y="4014045"/>
              <a:ext cx="283500" cy="281400"/>
              <a:chOff x="4237000" y="4025275"/>
              <a:chExt cx="283500" cy="281400"/>
            </a:xfrm>
          </p:grpSpPr>
          <p:sp>
            <p:nvSpPr>
              <p:cNvPr id="1008" name="Google Shape;1008;p73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009" name="Google Shape;1009;p73" title="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74"/>
          <p:cNvSpPr txBox="1"/>
          <p:nvPr>
            <p:ph idx="1" type="body"/>
          </p:nvPr>
        </p:nvSpPr>
        <p:spPr>
          <a:xfrm>
            <a:off x="477425" y="720925"/>
            <a:ext cx="5932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Solve the following equations: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7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1016" name="Google Shape;1016;p74"/>
          <p:cNvGraphicFramePr/>
          <p:nvPr/>
        </p:nvGraphicFramePr>
        <p:xfrm>
          <a:off x="1218938" y="11573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7" name="Google Shape;1017;p74"/>
          <p:cNvGraphicFramePr/>
          <p:nvPr/>
        </p:nvGraphicFramePr>
        <p:xfrm>
          <a:off x="1218938" y="27547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1018" name="Google Shape;1018;p74" title="one half x plus 7 equal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5609" y="2672975"/>
            <a:ext cx="1543375" cy="6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74"/>
          <p:cNvSpPr txBox="1"/>
          <p:nvPr>
            <p:ph idx="1" type="body"/>
          </p:nvPr>
        </p:nvSpPr>
        <p:spPr>
          <a:xfrm>
            <a:off x="477425" y="1234277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0" name="Google Shape;1020;p74"/>
          <p:cNvSpPr txBox="1"/>
          <p:nvPr>
            <p:ph idx="1" type="body"/>
          </p:nvPr>
        </p:nvSpPr>
        <p:spPr>
          <a:xfrm>
            <a:off x="477425" y="2834477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1" name="Google Shape;1021;p74"/>
          <p:cNvSpPr txBox="1"/>
          <p:nvPr>
            <p:ph idx="1" type="body"/>
          </p:nvPr>
        </p:nvSpPr>
        <p:spPr>
          <a:xfrm>
            <a:off x="4820825" y="1158077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2" name="Google Shape;1022;p74"/>
          <p:cNvSpPr txBox="1"/>
          <p:nvPr>
            <p:ph idx="1" type="body"/>
          </p:nvPr>
        </p:nvSpPr>
        <p:spPr>
          <a:xfrm>
            <a:off x="4820825" y="2834477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3" name="Google Shape;1023;p74"/>
          <p:cNvGraphicFramePr/>
          <p:nvPr/>
        </p:nvGraphicFramePr>
        <p:xfrm>
          <a:off x="4952738" y="10755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5"/>
          <p:cNvSpPr txBox="1"/>
          <p:nvPr>
            <p:ph idx="1" type="body"/>
          </p:nvPr>
        </p:nvSpPr>
        <p:spPr>
          <a:xfrm>
            <a:off x="324000" y="720950"/>
            <a:ext cx="849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Manipulate the balance scale to solve the equation</a:t>
            </a:r>
            <a:r>
              <a:rPr lang="en-GB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− 10 = 2</a:t>
            </a:r>
            <a:endParaRPr sz="2100"/>
          </a:p>
        </p:txBody>
      </p:sp>
      <p:sp>
        <p:nvSpPr>
          <p:cNvPr id="1029" name="Google Shape;1029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pSp>
        <p:nvGrpSpPr>
          <p:cNvPr id="1030" name="Google Shape;1030;p75"/>
          <p:cNvGrpSpPr/>
          <p:nvPr/>
        </p:nvGrpSpPr>
        <p:grpSpPr>
          <a:xfrm>
            <a:off x="4091087" y="1771550"/>
            <a:ext cx="4246593" cy="2507834"/>
            <a:chOff x="3679000" y="1380975"/>
            <a:chExt cx="4343896" cy="2543700"/>
          </a:xfrm>
        </p:grpSpPr>
        <p:sp>
          <p:nvSpPr>
            <p:cNvPr id="1031" name="Google Shape;1031;p7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2" name="Google Shape;1032;p7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3" name="Google Shape;1033;p7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4" name="Google Shape;1034;p7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35" name="Google Shape;1035;p7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6" name="Google Shape;1036;p7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75"/>
          <p:cNvGrpSpPr/>
          <p:nvPr/>
        </p:nvGrpSpPr>
        <p:grpSpPr>
          <a:xfrm>
            <a:off x="7547291" y="1891675"/>
            <a:ext cx="664500" cy="1489370"/>
            <a:chOff x="7547291" y="1891675"/>
            <a:chExt cx="664500" cy="1489370"/>
          </a:xfrm>
        </p:grpSpPr>
        <p:grpSp>
          <p:nvGrpSpPr>
            <p:cNvPr id="1038" name="Google Shape;1038;p75"/>
            <p:cNvGrpSpPr/>
            <p:nvPr/>
          </p:nvGrpSpPr>
          <p:grpSpPr>
            <a:xfrm>
              <a:off x="7547291" y="1891675"/>
              <a:ext cx="283500" cy="1489370"/>
              <a:chOff x="6480491" y="2044075"/>
              <a:chExt cx="283500" cy="1489370"/>
            </a:xfrm>
          </p:grpSpPr>
          <p:grpSp>
            <p:nvGrpSpPr>
              <p:cNvPr id="1039" name="Google Shape;1039;p75"/>
              <p:cNvGrpSpPr/>
              <p:nvPr/>
            </p:nvGrpSpPr>
            <p:grpSpPr>
              <a:xfrm>
                <a:off x="64804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40" name="Google Shape;1040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41" name="Google Shape;1041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42" name="Google Shape;1042;p75"/>
              <p:cNvGrpSpPr/>
              <p:nvPr/>
            </p:nvGrpSpPr>
            <p:grpSpPr>
              <a:xfrm>
                <a:off x="64804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43" name="Google Shape;1043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44" name="Google Shape;1044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45" name="Google Shape;1045;p75"/>
              <p:cNvGrpSpPr/>
              <p:nvPr/>
            </p:nvGrpSpPr>
            <p:grpSpPr>
              <a:xfrm>
                <a:off x="64804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46" name="Google Shape;1046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47" name="Google Shape;1047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48" name="Google Shape;1048;p75"/>
              <p:cNvGrpSpPr/>
              <p:nvPr/>
            </p:nvGrpSpPr>
            <p:grpSpPr>
              <a:xfrm>
                <a:off x="64804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49" name="Google Shape;1049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50" name="Google Shape;1050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51" name="Google Shape;1051;p75"/>
              <p:cNvGrpSpPr/>
              <p:nvPr/>
            </p:nvGrpSpPr>
            <p:grpSpPr>
              <a:xfrm>
                <a:off x="64804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52" name="Google Shape;1052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53" name="Google Shape;1053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054" name="Google Shape;1054;p75"/>
            <p:cNvGrpSpPr/>
            <p:nvPr/>
          </p:nvGrpSpPr>
          <p:grpSpPr>
            <a:xfrm>
              <a:off x="7928291" y="1891675"/>
              <a:ext cx="283500" cy="1489370"/>
              <a:chOff x="6937691" y="2044075"/>
              <a:chExt cx="283500" cy="1489370"/>
            </a:xfrm>
          </p:grpSpPr>
          <p:grpSp>
            <p:nvGrpSpPr>
              <p:cNvPr id="1055" name="Google Shape;1055;p75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56" name="Google Shape;1056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57" name="Google Shape;1057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58" name="Google Shape;1058;p75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59" name="Google Shape;1059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60" name="Google Shape;1060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61" name="Google Shape;1061;p75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62" name="Google Shape;1062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63" name="Google Shape;1063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64" name="Google Shape;1064;p75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65" name="Google Shape;1065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66" name="Google Shape;1066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67" name="Google Shape;1067;p75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1068" name="Google Shape;1068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069" name="Google Shape;1069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070" name="Google Shape;1070;p75"/>
          <p:cNvGrpSpPr/>
          <p:nvPr/>
        </p:nvGrpSpPr>
        <p:grpSpPr>
          <a:xfrm>
            <a:off x="4071541" y="2819065"/>
            <a:ext cx="362100" cy="281400"/>
            <a:chOff x="6668990" y="3490075"/>
            <a:chExt cx="362100" cy="281400"/>
          </a:xfrm>
        </p:grpSpPr>
        <p:sp>
          <p:nvSpPr>
            <p:cNvPr id="1071" name="Google Shape;1071;p75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2" name="Google Shape;1072;p75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3" name="Google Shape;1073;p75"/>
          <p:cNvGrpSpPr/>
          <p:nvPr/>
        </p:nvGrpSpPr>
        <p:grpSpPr>
          <a:xfrm>
            <a:off x="4078190" y="3109075"/>
            <a:ext cx="362100" cy="281400"/>
            <a:chOff x="6668990" y="3490075"/>
            <a:chExt cx="362100" cy="281400"/>
          </a:xfrm>
        </p:grpSpPr>
        <p:sp>
          <p:nvSpPr>
            <p:cNvPr id="1074" name="Google Shape;1074;p75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5" name="Google Shape;1075;p75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6" name="Google Shape;1076;p75"/>
          <p:cNvGrpSpPr/>
          <p:nvPr/>
        </p:nvGrpSpPr>
        <p:grpSpPr>
          <a:xfrm>
            <a:off x="4070533" y="2530260"/>
            <a:ext cx="362100" cy="281400"/>
            <a:chOff x="6668990" y="3490075"/>
            <a:chExt cx="362100" cy="281400"/>
          </a:xfrm>
        </p:grpSpPr>
        <p:sp>
          <p:nvSpPr>
            <p:cNvPr id="1077" name="Google Shape;1077;p75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78" name="Google Shape;1078;p75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79" name="Google Shape;1079;p75"/>
          <p:cNvGrpSpPr/>
          <p:nvPr/>
        </p:nvGrpSpPr>
        <p:grpSpPr>
          <a:xfrm>
            <a:off x="4506788" y="1922418"/>
            <a:ext cx="659984" cy="1457916"/>
            <a:chOff x="4506788" y="1922418"/>
            <a:chExt cx="659984" cy="1457916"/>
          </a:xfrm>
        </p:grpSpPr>
        <p:grpSp>
          <p:nvGrpSpPr>
            <p:cNvPr id="1080" name="Google Shape;1080;p75"/>
            <p:cNvGrpSpPr/>
            <p:nvPr/>
          </p:nvGrpSpPr>
          <p:grpSpPr>
            <a:xfrm>
              <a:off x="4876557" y="1922418"/>
              <a:ext cx="290214" cy="1457916"/>
              <a:chOff x="4887788" y="2074818"/>
              <a:chExt cx="290214" cy="1457916"/>
            </a:xfrm>
          </p:grpSpPr>
          <p:grpSp>
            <p:nvGrpSpPr>
              <p:cNvPr id="1081" name="Google Shape;1081;p75"/>
              <p:cNvGrpSpPr/>
              <p:nvPr/>
            </p:nvGrpSpPr>
            <p:grpSpPr>
              <a:xfrm>
                <a:off x="4887788" y="3249096"/>
                <a:ext cx="290214" cy="283638"/>
                <a:chOff x="3801148" y="1460200"/>
                <a:chExt cx="332471" cy="324900"/>
              </a:xfrm>
            </p:grpSpPr>
            <p:sp>
              <p:nvSpPr>
                <p:cNvPr id="1082" name="Google Shape;1082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83" name="Google Shape;1083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84" name="Google Shape;1084;p75"/>
              <p:cNvGrpSpPr/>
              <p:nvPr/>
            </p:nvGrpSpPr>
            <p:grpSpPr>
              <a:xfrm>
                <a:off x="4887788" y="2955527"/>
                <a:ext cx="290214" cy="283638"/>
                <a:chOff x="3801148" y="1460200"/>
                <a:chExt cx="332471" cy="324900"/>
              </a:xfrm>
            </p:grpSpPr>
            <p:sp>
              <p:nvSpPr>
                <p:cNvPr id="1085" name="Google Shape;1085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86" name="Google Shape;1086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87" name="Google Shape;1087;p75"/>
              <p:cNvGrpSpPr/>
              <p:nvPr/>
            </p:nvGrpSpPr>
            <p:grpSpPr>
              <a:xfrm>
                <a:off x="4887788" y="2661957"/>
                <a:ext cx="290214" cy="283638"/>
                <a:chOff x="3801148" y="1460200"/>
                <a:chExt cx="332471" cy="324900"/>
              </a:xfrm>
            </p:grpSpPr>
            <p:sp>
              <p:nvSpPr>
                <p:cNvPr id="1088" name="Google Shape;1088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89" name="Google Shape;1089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90" name="Google Shape;1090;p75"/>
              <p:cNvGrpSpPr/>
              <p:nvPr/>
            </p:nvGrpSpPr>
            <p:grpSpPr>
              <a:xfrm>
                <a:off x="4887788" y="2368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091" name="Google Shape;1091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92" name="Google Shape;1092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093" name="Google Shape;1093;p75"/>
              <p:cNvGrpSpPr/>
              <p:nvPr/>
            </p:nvGrpSpPr>
            <p:grpSpPr>
              <a:xfrm>
                <a:off x="4887788" y="2074818"/>
                <a:ext cx="290214" cy="283638"/>
                <a:chOff x="3801148" y="1460200"/>
                <a:chExt cx="332471" cy="324900"/>
              </a:xfrm>
            </p:grpSpPr>
            <p:sp>
              <p:nvSpPr>
                <p:cNvPr id="1094" name="Google Shape;1094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95" name="Google Shape;1095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096" name="Google Shape;1096;p75"/>
            <p:cNvGrpSpPr/>
            <p:nvPr/>
          </p:nvGrpSpPr>
          <p:grpSpPr>
            <a:xfrm>
              <a:off x="4506788" y="1922418"/>
              <a:ext cx="290214" cy="1457916"/>
              <a:chOff x="4887788" y="2074818"/>
              <a:chExt cx="290214" cy="1457916"/>
            </a:xfrm>
          </p:grpSpPr>
          <p:grpSp>
            <p:nvGrpSpPr>
              <p:cNvPr id="1097" name="Google Shape;1097;p75"/>
              <p:cNvGrpSpPr/>
              <p:nvPr/>
            </p:nvGrpSpPr>
            <p:grpSpPr>
              <a:xfrm>
                <a:off x="4887788" y="3249096"/>
                <a:ext cx="290214" cy="283638"/>
                <a:chOff x="3801148" y="1460200"/>
                <a:chExt cx="332471" cy="324900"/>
              </a:xfrm>
            </p:grpSpPr>
            <p:sp>
              <p:nvSpPr>
                <p:cNvPr id="1098" name="Google Shape;1098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099" name="Google Shape;1099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00" name="Google Shape;1100;p75"/>
              <p:cNvGrpSpPr/>
              <p:nvPr/>
            </p:nvGrpSpPr>
            <p:grpSpPr>
              <a:xfrm>
                <a:off x="4887788" y="295552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01" name="Google Shape;1101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02" name="Google Shape;1102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03" name="Google Shape;1103;p75"/>
              <p:cNvGrpSpPr/>
              <p:nvPr/>
            </p:nvGrpSpPr>
            <p:grpSpPr>
              <a:xfrm>
                <a:off x="4887788" y="266195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04" name="Google Shape;1104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05" name="Google Shape;1105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06" name="Google Shape;1106;p75"/>
              <p:cNvGrpSpPr/>
              <p:nvPr/>
            </p:nvGrpSpPr>
            <p:grpSpPr>
              <a:xfrm>
                <a:off x="4887788" y="2368387"/>
                <a:ext cx="290214" cy="283638"/>
                <a:chOff x="3801148" y="1460200"/>
                <a:chExt cx="332471" cy="324900"/>
              </a:xfrm>
            </p:grpSpPr>
            <p:sp>
              <p:nvSpPr>
                <p:cNvPr id="1107" name="Google Shape;1107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08" name="Google Shape;1108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09" name="Google Shape;1109;p75"/>
              <p:cNvGrpSpPr/>
              <p:nvPr/>
            </p:nvGrpSpPr>
            <p:grpSpPr>
              <a:xfrm>
                <a:off x="4887788" y="2074818"/>
                <a:ext cx="290214" cy="283638"/>
                <a:chOff x="3801148" y="1460200"/>
                <a:chExt cx="332471" cy="324900"/>
              </a:xfrm>
            </p:grpSpPr>
            <p:sp>
              <p:nvSpPr>
                <p:cNvPr id="1110" name="Google Shape;1110;p75"/>
                <p:cNvSpPr/>
                <p:nvPr/>
              </p:nvSpPr>
              <p:spPr>
                <a:xfrm>
                  <a:off x="3808719" y="1460200"/>
                  <a:ext cx="324900" cy="324900"/>
                </a:xfrm>
                <a:prstGeom prst="rect">
                  <a:avLst/>
                </a:prstGeom>
                <a:solidFill>
                  <a:srgbClr val="F4CC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1111" name="Google Shape;1111;p7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3801148" y="1523572"/>
                  <a:ext cx="302755" cy="20186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1112" name="Google Shape;1112;p75"/>
          <p:cNvGrpSpPr/>
          <p:nvPr/>
        </p:nvGrpSpPr>
        <p:grpSpPr>
          <a:xfrm>
            <a:off x="7090091" y="2794845"/>
            <a:ext cx="283500" cy="586200"/>
            <a:chOff x="7090091" y="4014045"/>
            <a:chExt cx="283500" cy="586200"/>
          </a:xfrm>
        </p:grpSpPr>
        <p:grpSp>
          <p:nvGrpSpPr>
            <p:cNvPr id="1113" name="Google Shape;1113;p75"/>
            <p:cNvGrpSpPr/>
            <p:nvPr/>
          </p:nvGrpSpPr>
          <p:grpSpPr>
            <a:xfrm>
              <a:off x="7090091" y="4318845"/>
              <a:ext cx="283500" cy="281400"/>
              <a:chOff x="4237000" y="4025275"/>
              <a:chExt cx="283500" cy="281400"/>
            </a:xfrm>
          </p:grpSpPr>
          <p:sp>
            <p:nvSpPr>
              <p:cNvPr id="1114" name="Google Shape;1114;p7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15" name="Google Shape;1115;p7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16" name="Google Shape;1116;p75"/>
            <p:cNvGrpSpPr/>
            <p:nvPr/>
          </p:nvGrpSpPr>
          <p:grpSpPr>
            <a:xfrm>
              <a:off x="7090091" y="4014045"/>
              <a:ext cx="283500" cy="281400"/>
              <a:chOff x="4237000" y="4025275"/>
              <a:chExt cx="283500" cy="281400"/>
            </a:xfrm>
          </p:grpSpPr>
          <p:sp>
            <p:nvSpPr>
              <p:cNvPr id="1117" name="Google Shape;1117;p75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18" name="Google Shape;1118;p75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19" name="Google Shape;1119;p75"/>
          <p:cNvGrpSpPr/>
          <p:nvPr/>
        </p:nvGrpSpPr>
        <p:grpSpPr>
          <a:xfrm>
            <a:off x="5250061" y="1902905"/>
            <a:ext cx="653270" cy="1489370"/>
            <a:chOff x="5250061" y="1902905"/>
            <a:chExt cx="653270" cy="1489370"/>
          </a:xfrm>
        </p:grpSpPr>
        <p:grpSp>
          <p:nvGrpSpPr>
            <p:cNvPr id="1120" name="Google Shape;1120;p75"/>
            <p:cNvGrpSpPr/>
            <p:nvPr/>
          </p:nvGrpSpPr>
          <p:grpSpPr>
            <a:xfrm>
              <a:off x="5250061" y="1902905"/>
              <a:ext cx="283500" cy="1489370"/>
              <a:chOff x="6937691" y="2044075"/>
              <a:chExt cx="283500" cy="1489370"/>
            </a:xfrm>
          </p:grpSpPr>
          <p:grpSp>
            <p:nvGrpSpPr>
              <p:cNvPr id="1121" name="Google Shape;1121;p75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22" name="Google Shape;1122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23" name="Google Shape;1123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24" name="Google Shape;1124;p75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25" name="Google Shape;1125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26" name="Google Shape;1126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27" name="Google Shape;1127;p75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28" name="Google Shape;1128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29" name="Google Shape;1129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30" name="Google Shape;1130;p75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31" name="Google Shape;1131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32" name="Google Shape;1132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33" name="Google Shape;1133;p75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34" name="Google Shape;1134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35" name="Google Shape;1135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136" name="Google Shape;1136;p75"/>
            <p:cNvGrpSpPr/>
            <p:nvPr/>
          </p:nvGrpSpPr>
          <p:grpSpPr>
            <a:xfrm>
              <a:off x="5619830" y="1902905"/>
              <a:ext cx="283500" cy="1489370"/>
              <a:chOff x="6937691" y="2044075"/>
              <a:chExt cx="283500" cy="1489370"/>
            </a:xfrm>
          </p:grpSpPr>
          <p:grpSp>
            <p:nvGrpSpPr>
              <p:cNvPr id="1137" name="Google Shape;1137;p75"/>
              <p:cNvGrpSpPr/>
              <p:nvPr/>
            </p:nvGrpSpPr>
            <p:grpSpPr>
              <a:xfrm>
                <a:off x="6937691" y="32520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38" name="Google Shape;1138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39" name="Google Shape;1139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40" name="Google Shape;1140;p75"/>
              <p:cNvGrpSpPr/>
              <p:nvPr/>
            </p:nvGrpSpPr>
            <p:grpSpPr>
              <a:xfrm>
                <a:off x="6937691" y="29472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41" name="Google Shape;1141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42" name="Google Shape;1142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43" name="Google Shape;1143;p75"/>
              <p:cNvGrpSpPr/>
              <p:nvPr/>
            </p:nvGrpSpPr>
            <p:grpSpPr>
              <a:xfrm>
                <a:off x="6937691" y="26424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44" name="Google Shape;1144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45" name="Google Shape;1145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46" name="Google Shape;1146;p75"/>
              <p:cNvGrpSpPr/>
              <p:nvPr/>
            </p:nvGrpSpPr>
            <p:grpSpPr>
              <a:xfrm>
                <a:off x="6937691" y="233764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47" name="Google Shape;1147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48" name="Google Shape;1148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149" name="Google Shape;1149;p75"/>
              <p:cNvGrpSpPr/>
              <p:nvPr/>
            </p:nvGrpSpPr>
            <p:grpSpPr>
              <a:xfrm>
                <a:off x="6937691" y="2044075"/>
                <a:ext cx="283500" cy="281400"/>
                <a:chOff x="4237000" y="4025275"/>
                <a:chExt cx="283500" cy="281400"/>
              </a:xfrm>
            </p:grpSpPr>
            <p:sp>
              <p:nvSpPr>
                <p:cNvPr id="1150" name="Google Shape;1150;p75"/>
                <p:cNvSpPr/>
                <p:nvPr/>
              </p:nvSpPr>
              <p:spPr>
                <a:xfrm>
                  <a:off x="4237000" y="4025275"/>
                  <a:ext cx="283500" cy="281400"/>
                </a:xfrm>
                <a:prstGeom prst="rect">
                  <a:avLst/>
                </a:prstGeom>
                <a:solidFill>
                  <a:srgbClr val="FFF2CC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1&quot;&gt;&lt;mn&gt;1&lt;/mn&gt;&lt;/math&gt;" id="1151" name="Google Shape;1151;p75" title="1"/>
                <p:cNvPicPr preferRelativeResize="0"/>
                <p:nvPr/>
              </p:nvPicPr>
              <p:blipFill>
                <a:blip r:embed="rId3">
                  <a:alphaModFix/>
                </a:blip>
                <a:stretch>
                  <a:fillRect/>
                </a:stretch>
              </p:blipFill>
              <p:spPr>
                <a:xfrm>
                  <a:off x="4336526" y="4074547"/>
                  <a:ext cx="85625" cy="19264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1152" name="Google Shape;1152;p75"/>
          <p:cNvGraphicFramePr/>
          <p:nvPr/>
        </p:nvGraphicFramePr>
        <p:xfrm>
          <a:off x="0" y="161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3" name="Google Shape;1153;p75"/>
          <p:cNvGraphicFramePr/>
          <p:nvPr/>
        </p:nvGraphicFramePr>
        <p:xfrm>
          <a:off x="0" y="161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pSp>
        <p:nvGrpSpPr>
          <p:cNvPr id="1159" name="Google Shape;1159;p76"/>
          <p:cNvGrpSpPr/>
          <p:nvPr/>
        </p:nvGrpSpPr>
        <p:grpSpPr>
          <a:xfrm>
            <a:off x="4091087" y="1771550"/>
            <a:ext cx="4246593" cy="2507834"/>
            <a:chOff x="3679000" y="1380975"/>
            <a:chExt cx="4343896" cy="2543700"/>
          </a:xfrm>
        </p:grpSpPr>
        <p:sp>
          <p:nvSpPr>
            <p:cNvPr id="1160" name="Google Shape;1160;p7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1" name="Google Shape;1161;p7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2" name="Google Shape;1162;p7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3" name="Google Shape;1163;p7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64" name="Google Shape;1164;p7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65" name="Google Shape;1165;p7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66" name="Google Shape;1166;p76"/>
          <p:cNvGrpSpPr/>
          <p:nvPr/>
        </p:nvGrpSpPr>
        <p:grpSpPr>
          <a:xfrm>
            <a:off x="4078190" y="3109075"/>
            <a:ext cx="362100" cy="281400"/>
            <a:chOff x="6668990" y="3490075"/>
            <a:chExt cx="362100" cy="281400"/>
          </a:xfrm>
        </p:grpSpPr>
        <p:sp>
          <p:nvSpPr>
            <p:cNvPr id="1167" name="Google Shape;1167;p76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168" name="Google Shape;1168;p76" title="x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69" name="Google Shape;1169;p76"/>
          <p:cNvGrpSpPr/>
          <p:nvPr/>
        </p:nvGrpSpPr>
        <p:grpSpPr>
          <a:xfrm>
            <a:off x="7547291" y="3099645"/>
            <a:ext cx="283500" cy="281400"/>
            <a:chOff x="4237000" y="4025275"/>
            <a:chExt cx="283500" cy="281400"/>
          </a:xfrm>
        </p:grpSpPr>
        <p:sp>
          <p:nvSpPr>
            <p:cNvPr id="1170" name="Google Shape;1170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171" name="Google Shape;1171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2" name="Google Shape;1172;p76"/>
          <p:cNvGrpSpPr/>
          <p:nvPr/>
        </p:nvGrpSpPr>
        <p:grpSpPr>
          <a:xfrm>
            <a:off x="7928291" y="3099645"/>
            <a:ext cx="283500" cy="281400"/>
            <a:chOff x="4237000" y="4025275"/>
            <a:chExt cx="283500" cy="281400"/>
          </a:xfrm>
        </p:grpSpPr>
        <p:sp>
          <p:nvSpPr>
            <p:cNvPr id="1173" name="Google Shape;1173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174" name="Google Shape;1174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5" name="Google Shape;1175;p76"/>
          <p:cNvGrpSpPr/>
          <p:nvPr/>
        </p:nvGrpSpPr>
        <p:grpSpPr>
          <a:xfrm>
            <a:off x="6785291" y="3099645"/>
            <a:ext cx="283500" cy="281400"/>
            <a:chOff x="4237000" y="4025275"/>
            <a:chExt cx="283500" cy="281400"/>
          </a:xfrm>
        </p:grpSpPr>
        <p:sp>
          <p:nvSpPr>
            <p:cNvPr id="1176" name="Google Shape;1176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177" name="Google Shape;1177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78" name="Google Shape;1178;p76"/>
          <p:cNvGrpSpPr/>
          <p:nvPr/>
        </p:nvGrpSpPr>
        <p:grpSpPr>
          <a:xfrm>
            <a:off x="4078190" y="2544396"/>
            <a:ext cx="362100" cy="563739"/>
            <a:chOff x="4154390" y="2544396"/>
            <a:chExt cx="362100" cy="563739"/>
          </a:xfrm>
        </p:grpSpPr>
        <p:grpSp>
          <p:nvGrpSpPr>
            <p:cNvPr id="1179" name="Google Shape;1179;p76"/>
            <p:cNvGrpSpPr/>
            <p:nvPr/>
          </p:nvGrpSpPr>
          <p:grpSpPr>
            <a:xfrm>
              <a:off x="4154390" y="2826736"/>
              <a:ext cx="362100" cy="281400"/>
              <a:chOff x="6668990" y="3490075"/>
              <a:chExt cx="362100" cy="281400"/>
            </a:xfrm>
          </p:grpSpPr>
          <p:sp>
            <p:nvSpPr>
              <p:cNvPr id="1180" name="Google Shape;1180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81" name="Google Shape;1181;p76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82" name="Google Shape;1182;p76"/>
            <p:cNvGrpSpPr/>
            <p:nvPr/>
          </p:nvGrpSpPr>
          <p:grpSpPr>
            <a:xfrm>
              <a:off x="4154390" y="2544396"/>
              <a:ext cx="362100" cy="281400"/>
              <a:chOff x="6668990" y="3490075"/>
              <a:chExt cx="362100" cy="281400"/>
            </a:xfrm>
          </p:grpSpPr>
          <p:sp>
            <p:nvSpPr>
              <p:cNvPr id="1183" name="Google Shape;1183;p76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rgbClr val="D9EAD3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1184" name="Google Shape;1184;p76" title="x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85" name="Google Shape;1185;p76"/>
          <p:cNvGrpSpPr/>
          <p:nvPr/>
        </p:nvGrpSpPr>
        <p:grpSpPr>
          <a:xfrm>
            <a:off x="7166291" y="3099645"/>
            <a:ext cx="283500" cy="281400"/>
            <a:chOff x="4237000" y="4025275"/>
            <a:chExt cx="283500" cy="281400"/>
          </a:xfrm>
        </p:grpSpPr>
        <p:sp>
          <p:nvSpPr>
            <p:cNvPr id="1186" name="Google Shape;1186;p76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187" name="Google Shape;1187;p76" title="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8" name="Google Shape;1188;p76"/>
          <p:cNvGrpSpPr/>
          <p:nvPr/>
        </p:nvGrpSpPr>
        <p:grpSpPr>
          <a:xfrm>
            <a:off x="6785291" y="2490045"/>
            <a:ext cx="1426500" cy="586200"/>
            <a:chOff x="6785291" y="2490045"/>
            <a:chExt cx="1426500" cy="586200"/>
          </a:xfrm>
        </p:grpSpPr>
        <p:grpSp>
          <p:nvGrpSpPr>
            <p:cNvPr id="1189" name="Google Shape;1189;p76"/>
            <p:cNvGrpSpPr/>
            <p:nvPr/>
          </p:nvGrpSpPr>
          <p:grpSpPr>
            <a:xfrm>
              <a:off x="7547291" y="2794845"/>
              <a:ext cx="283500" cy="281400"/>
              <a:chOff x="4237000" y="4025275"/>
              <a:chExt cx="283500" cy="281400"/>
            </a:xfrm>
          </p:grpSpPr>
          <p:sp>
            <p:nvSpPr>
              <p:cNvPr id="1190" name="Google Shape;1190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91" name="Google Shape;1191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92" name="Google Shape;1192;p76"/>
            <p:cNvGrpSpPr/>
            <p:nvPr/>
          </p:nvGrpSpPr>
          <p:grpSpPr>
            <a:xfrm>
              <a:off x="7547291" y="2490045"/>
              <a:ext cx="283500" cy="281400"/>
              <a:chOff x="4237000" y="4025275"/>
              <a:chExt cx="283500" cy="281400"/>
            </a:xfrm>
          </p:grpSpPr>
          <p:sp>
            <p:nvSpPr>
              <p:cNvPr id="1193" name="Google Shape;1193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94" name="Google Shape;1194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95" name="Google Shape;1195;p76"/>
            <p:cNvGrpSpPr/>
            <p:nvPr/>
          </p:nvGrpSpPr>
          <p:grpSpPr>
            <a:xfrm>
              <a:off x="6785291" y="2501275"/>
              <a:ext cx="283500" cy="281400"/>
              <a:chOff x="4237000" y="4025275"/>
              <a:chExt cx="283500" cy="281400"/>
            </a:xfrm>
          </p:grpSpPr>
          <p:sp>
            <p:nvSpPr>
              <p:cNvPr id="1196" name="Google Shape;1196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197" name="Google Shape;1197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198" name="Google Shape;1198;p76"/>
            <p:cNvGrpSpPr/>
            <p:nvPr/>
          </p:nvGrpSpPr>
          <p:grpSpPr>
            <a:xfrm>
              <a:off x="7166291" y="2501275"/>
              <a:ext cx="283500" cy="281400"/>
              <a:chOff x="4237000" y="4025275"/>
              <a:chExt cx="283500" cy="281400"/>
            </a:xfrm>
          </p:grpSpPr>
          <p:sp>
            <p:nvSpPr>
              <p:cNvPr id="1199" name="Google Shape;1199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200" name="Google Shape;1200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01" name="Google Shape;1201;p76"/>
            <p:cNvGrpSpPr/>
            <p:nvPr/>
          </p:nvGrpSpPr>
          <p:grpSpPr>
            <a:xfrm>
              <a:off x="7928291" y="2794845"/>
              <a:ext cx="283500" cy="281400"/>
              <a:chOff x="4237000" y="4025275"/>
              <a:chExt cx="283500" cy="281400"/>
            </a:xfrm>
          </p:grpSpPr>
          <p:sp>
            <p:nvSpPr>
              <p:cNvPr id="1202" name="Google Shape;1202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203" name="Google Shape;1203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04" name="Google Shape;1204;p76"/>
            <p:cNvGrpSpPr/>
            <p:nvPr/>
          </p:nvGrpSpPr>
          <p:grpSpPr>
            <a:xfrm>
              <a:off x="7928291" y="2490045"/>
              <a:ext cx="283500" cy="281400"/>
              <a:chOff x="4237000" y="4025275"/>
              <a:chExt cx="283500" cy="281400"/>
            </a:xfrm>
          </p:grpSpPr>
          <p:sp>
            <p:nvSpPr>
              <p:cNvPr id="1205" name="Google Shape;1205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206" name="Google Shape;1206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07" name="Google Shape;1207;p76"/>
            <p:cNvGrpSpPr/>
            <p:nvPr/>
          </p:nvGrpSpPr>
          <p:grpSpPr>
            <a:xfrm>
              <a:off x="6785291" y="2794845"/>
              <a:ext cx="283500" cy="281400"/>
              <a:chOff x="4237000" y="4025275"/>
              <a:chExt cx="283500" cy="281400"/>
            </a:xfrm>
          </p:grpSpPr>
          <p:sp>
            <p:nvSpPr>
              <p:cNvPr id="1208" name="Google Shape;1208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209" name="Google Shape;1209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210" name="Google Shape;1210;p76"/>
            <p:cNvGrpSpPr/>
            <p:nvPr/>
          </p:nvGrpSpPr>
          <p:grpSpPr>
            <a:xfrm>
              <a:off x="7166291" y="2794845"/>
              <a:ext cx="283500" cy="281400"/>
              <a:chOff x="4237000" y="4025275"/>
              <a:chExt cx="283500" cy="281400"/>
            </a:xfrm>
          </p:grpSpPr>
          <p:sp>
            <p:nvSpPr>
              <p:cNvPr id="1211" name="Google Shape;1211;p76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rgbClr val="FFF2CC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212" name="Google Shape;1212;p76" title="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213" name="Google Shape;1213;p76"/>
          <p:cNvGraphicFramePr/>
          <p:nvPr/>
        </p:nvGraphicFramePr>
        <p:xfrm>
          <a:off x="0" y="161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4" name="Google Shape;1214;p76"/>
          <p:cNvGraphicFramePr/>
          <p:nvPr/>
        </p:nvGraphicFramePr>
        <p:xfrm>
          <a:off x="0" y="1616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37300"/>
                <a:gridCol w="520375"/>
                <a:gridCol w="1570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i="1"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+ 10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5" name="Google Shape;1215;p76"/>
          <p:cNvSpPr txBox="1"/>
          <p:nvPr>
            <p:ph idx="1" type="body"/>
          </p:nvPr>
        </p:nvSpPr>
        <p:spPr>
          <a:xfrm>
            <a:off x="324000" y="720950"/>
            <a:ext cx="8496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Manipulate the balance scale to solve the equation</a:t>
            </a:r>
            <a:r>
              <a:rPr lang="en-GB"/>
              <a:t>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− 10 = 2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77"/>
          <p:cNvSpPr txBox="1"/>
          <p:nvPr>
            <p:ph idx="1" type="body"/>
          </p:nvPr>
        </p:nvSpPr>
        <p:spPr>
          <a:xfrm>
            <a:off x="324000" y="759300"/>
            <a:ext cx="53475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 the following equations: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1222" name="Google Shape;1222;p77"/>
          <p:cNvGraphicFramePr/>
          <p:nvPr/>
        </p:nvGraphicFramePr>
        <p:xfrm>
          <a:off x="4568082" y="967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63525"/>
                <a:gridCol w="419200"/>
                <a:gridCol w="1364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(−7)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(−7)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3" name="Google Shape;1223;p77"/>
          <p:cNvGraphicFramePr/>
          <p:nvPr/>
        </p:nvGraphicFramePr>
        <p:xfrm>
          <a:off x="1051870" y="1195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4" name="Google Shape;1224;p77"/>
          <p:cNvGraphicFramePr/>
          <p:nvPr/>
        </p:nvGraphicFramePr>
        <p:xfrm>
          <a:off x="1051870" y="2183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5" name="Google Shape;1225;p77"/>
          <p:cNvGraphicFramePr/>
          <p:nvPr/>
        </p:nvGraphicFramePr>
        <p:xfrm>
          <a:off x="442270" y="3171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1226" name="Google Shape;1226;p77" title="one half x plus 7 equal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553" y="4159150"/>
            <a:ext cx="1543375" cy="6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77"/>
          <p:cNvSpPr txBox="1"/>
          <p:nvPr>
            <p:ph idx="1" type="body"/>
          </p:nvPr>
        </p:nvSpPr>
        <p:spPr>
          <a:xfrm>
            <a:off x="324000" y="1272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8" name="Google Shape;1228;p77"/>
          <p:cNvSpPr txBox="1"/>
          <p:nvPr>
            <p:ph idx="1" type="body"/>
          </p:nvPr>
        </p:nvSpPr>
        <p:spPr>
          <a:xfrm>
            <a:off x="324000" y="22632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9" name="Google Shape;1229;p77"/>
          <p:cNvSpPr txBox="1"/>
          <p:nvPr>
            <p:ph idx="1" type="body"/>
          </p:nvPr>
        </p:nvSpPr>
        <p:spPr>
          <a:xfrm>
            <a:off x="324000" y="32538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0" name="Google Shape;1230;p77"/>
          <p:cNvSpPr txBox="1"/>
          <p:nvPr>
            <p:ph idx="1" type="body"/>
          </p:nvPr>
        </p:nvSpPr>
        <p:spPr>
          <a:xfrm>
            <a:off x="324000" y="4320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1" name="Google Shape;1231;p77"/>
          <p:cNvGraphicFramePr/>
          <p:nvPr/>
        </p:nvGraphicFramePr>
        <p:xfrm>
          <a:off x="4568082" y="2872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63525"/>
                <a:gridCol w="419200"/>
                <a:gridCol w="1364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2" name="Google Shape;1232;p77"/>
          <p:cNvSpPr txBox="1"/>
          <p:nvPr>
            <p:ph idx="1" type="body"/>
          </p:nvPr>
        </p:nvSpPr>
        <p:spPr>
          <a:xfrm>
            <a:off x="4588788" y="1010361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3" name="Google Shape;1233;p77"/>
          <p:cNvSpPr txBox="1"/>
          <p:nvPr>
            <p:ph idx="1" type="body"/>
          </p:nvPr>
        </p:nvSpPr>
        <p:spPr>
          <a:xfrm>
            <a:off x="4588788" y="2915361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extcolor{#2E3F51}{\textcolor{#354A5F}{\textcolor{#2E3F51}{x=\frac{32}{9}}}}&quot;&gt;&lt;mstyle mathcolor=&quot;#2E3F51&quot;&gt;&lt;mstyle mathcolor=&quot;#354A5F&quot;&gt;&lt;mstyle mathcolor=&quot;#2E3F51&quot;&gt;&lt;mi&gt;x&lt;/mi&gt;&lt;mo&gt;=&lt;/mo&gt;&lt;mfrac&gt;&lt;mn&gt;32&lt;/mn&gt;&lt;mn&gt;9&lt;/mn&gt;&lt;/mfrac&gt;&lt;/mstyle&gt;&lt;/mstyle&gt;&lt;/mstyle&gt;&lt;/math&gt;" id="1234" name="Google Shape;1234;p77" title="x equals 32 over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1656" y="4251969"/>
            <a:ext cx="832025" cy="57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35" name="Google Shape;1235;p77"/>
          <p:cNvGraphicFramePr/>
          <p:nvPr/>
        </p:nvGraphicFramePr>
        <p:xfrm>
          <a:off x="4568082" y="967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63525"/>
                <a:gridCol w="419200"/>
                <a:gridCol w="1364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(−7)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(−7)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36" name="Google Shape;1236;p77"/>
          <p:cNvGraphicFramePr/>
          <p:nvPr/>
        </p:nvGraphicFramePr>
        <p:xfrm>
          <a:off x="4568082" y="28721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63525"/>
                <a:gridCol w="419200"/>
                <a:gridCol w="1364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1242" name="Google Shape;1242;p78"/>
          <p:cNvGraphicFramePr/>
          <p:nvPr/>
        </p:nvGraphicFramePr>
        <p:xfrm>
          <a:off x="4926622" y="989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90825"/>
                <a:gridCol w="446150"/>
                <a:gridCol w="2123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(−19)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(−19)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3" name="Google Shape;1243;p78"/>
          <p:cNvGraphicFramePr/>
          <p:nvPr/>
        </p:nvGraphicFramePr>
        <p:xfrm>
          <a:off x="1051870" y="1195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4" name="Google Shape;1244;p78"/>
          <p:cNvGraphicFramePr/>
          <p:nvPr/>
        </p:nvGraphicFramePr>
        <p:xfrm>
          <a:off x="1051870" y="2183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45" name="Google Shape;1245;p78"/>
          <p:cNvGraphicFramePr/>
          <p:nvPr/>
        </p:nvGraphicFramePr>
        <p:xfrm>
          <a:off x="442270" y="3171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1246" name="Google Shape;1246;p78" title="one half x plus 7 equal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553" y="4159150"/>
            <a:ext cx="1543375" cy="6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78"/>
          <p:cNvSpPr txBox="1"/>
          <p:nvPr>
            <p:ph idx="1" type="body"/>
          </p:nvPr>
        </p:nvSpPr>
        <p:spPr>
          <a:xfrm>
            <a:off x="324000" y="1272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8" name="Google Shape;1248;p78"/>
          <p:cNvSpPr txBox="1"/>
          <p:nvPr>
            <p:ph idx="1" type="body"/>
          </p:nvPr>
        </p:nvSpPr>
        <p:spPr>
          <a:xfrm>
            <a:off x="324000" y="22632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9" name="Google Shape;1249;p78"/>
          <p:cNvSpPr txBox="1"/>
          <p:nvPr>
            <p:ph idx="1" type="body"/>
          </p:nvPr>
        </p:nvSpPr>
        <p:spPr>
          <a:xfrm>
            <a:off x="324000" y="32538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0" name="Google Shape;1250;p78"/>
          <p:cNvSpPr txBox="1"/>
          <p:nvPr>
            <p:ph idx="1" type="body"/>
          </p:nvPr>
        </p:nvSpPr>
        <p:spPr>
          <a:xfrm>
            <a:off x="324000" y="4320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1" name="Google Shape;1251;p78"/>
          <p:cNvSpPr txBox="1"/>
          <p:nvPr>
            <p:ph idx="1" type="body"/>
          </p:nvPr>
        </p:nvSpPr>
        <p:spPr>
          <a:xfrm>
            <a:off x="4947327" y="1032821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2" name="Google Shape;1252;p78"/>
          <p:cNvSpPr txBox="1"/>
          <p:nvPr>
            <p:ph idx="1" type="body"/>
          </p:nvPr>
        </p:nvSpPr>
        <p:spPr>
          <a:xfrm>
            <a:off x="6352618" y="2829511"/>
            <a:ext cx="9225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−3</a:t>
            </a:r>
            <a:endParaRPr/>
          </a:p>
        </p:txBody>
      </p:sp>
      <p:graphicFrame>
        <p:nvGraphicFramePr>
          <p:cNvPr id="1253" name="Google Shape;1253;p78"/>
          <p:cNvGraphicFramePr/>
          <p:nvPr/>
        </p:nvGraphicFramePr>
        <p:xfrm>
          <a:off x="4926622" y="9896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90825"/>
                <a:gridCol w="446150"/>
                <a:gridCol w="2123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(−19)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 </a:t>
                      </a:r>
                      <a:r>
                        <a:rPr lang="en-GB" sz="2400">
                          <a:solidFill>
                            <a:schemeClr val="accent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(−19)</a:t>
                      </a:r>
                      <a:endParaRPr sz="24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4" name="Google Shape;1254;p78"/>
          <p:cNvSpPr txBox="1"/>
          <p:nvPr>
            <p:ph idx="1" type="body"/>
          </p:nvPr>
        </p:nvSpPr>
        <p:spPr>
          <a:xfrm>
            <a:off x="4608325" y="2873150"/>
            <a:ext cx="1543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write…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5" name="Google Shape;1255;p78"/>
          <p:cNvSpPr txBox="1"/>
          <p:nvPr>
            <p:ph idx="1" type="body"/>
          </p:nvPr>
        </p:nvSpPr>
        <p:spPr>
          <a:xfrm>
            <a:off x="324000" y="759300"/>
            <a:ext cx="53475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 the following equations: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graphicFrame>
        <p:nvGraphicFramePr>
          <p:cNvPr id="1261" name="Google Shape;1261;p79"/>
          <p:cNvGraphicFramePr/>
          <p:nvPr/>
        </p:nvGraphicFramePr>
        <p:xfrm>
          <a:off x="1051870" y="1195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2" name="Google Shape;1262;p79"/>
          <p:cNvGraphicFramePr/>
          <p:nvPr/>
        </p:nvGraphicFramePr>
        <p:xfrm>
          <a:off x="1051870" y="2183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63" name="Google Shape;1263;p79"/>
          <p:cNvGraphicFramePr/>
          <p:nvPr/>
        </p:nvGraphicFramePr>
        <p:xfrm>
          <a:off x="442270" y="3171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426875"/>
                <a:gridCol w="339175"/>
                <a:gridCol w="1104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1264" name="Google Shape;1264;p79" title="one half x plus 7 equal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553" y="4159150"/>
            <a:ext cx="1543375" cy="62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79"/>
          <p:cNvSpPr txBox="1"/>
          <p:nvPr>
            <p:ph idx="1" type="body"/>
          </p:nvPr>
        </p:nvSpPr>
        <p:spPr>
          <a:xfrm>
            <a:off x="324000" y="1272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79"/>
          <p:cNvSpPr txBox="1"/>
          <p:nvPr>
            <p:ph idx="1" type="body"/>
          </p:nvPr>
        </p:nvSpPr>
        <p:spPr>
          <a:xfrm>
            <a:off x="324000" y="22632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7" name="Google Shape;1267;p79"/>
          <p:cNvSpPr txBox="1"/>
          <p:nvPr>
            <p:ph idx="1" type="body"/>
          </p:nvPr>
        </p:nvSpPr>
        <p:spPr>
          <a:xfrm>
            <a:off x="324000" y="32538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8" name="Google Shape;1268;p79"/>
          <p:cNvSpPr txBox="1"/>
          <p:nvPr>
            <p:ph idx="1" type="body"/>
          </p:nvPr>
        </p:nvSpPr>
        <p:spPr>
          <a:xfrm>
            <a:off x="324000" y="4320652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79"/>
          <p:cNvSpPr txBox="1"/>
          <p:nvPr>
            <p:ph idx="1" type="body"/>
          </p:nvPr>
        </p:nvSpPr>
        <p:spPr>
          <a:xfrm>
            <a:off x="4741188" y="1010361"/>
            <a:ext cx="4308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d)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extcolor{#2E3F51}{\textcolor{#354A5F}{\textcolor{#2E3F51}{\frac{1}{2}x+7=25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o&gt;=&lt;/mo&gt;&lt;mn&gt;25&lt;/mn&gt;&lt;/mstyle&gt;&lt;/mstyle&gt;&lt;/mstyle&gt;&lt;/math&gt;" id="1270" name="Google Shape;1270;p79" title="one half x plus 7 equals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784" y="1034950"/>
            <a:ext cx="1543375" cy="62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1}{2}x+7\ +\left(-7\right)=25\ +\ \left(-7\right)}}}&quot;&gt;&lt;mstyle mathcolor=&quot;#2E3F51&quot;&gt;&lt;mstyle mathcolor=&quot;#354A5F&quot;&gt;&lt;mstyle mathcolor=&quot;#2E3F51&quot;&gt;&lt;mfrac&gt;&lt;mn&gt;1&lt;/mn&gt;&lt;mn&gt;2&lt;/mn&gt;&lt;/mfrac&gt;&lt;mi&gt;x&lt;/mi&gt;&lt;mo&gt;+&lt;/mo&gt;&lt;mn&gt;7&lt;/mn&gt;&lt;mtext&gt;&lt;/mtext&gt;&lt;mo&gt;+&lt;/mo&gt;&lt;mrow data-mjx-texclass=&quot;INNER&quot;&gt;&lt;mo data-mjx-texclass=&quot;OPEN&quot;&gt;(&lt;/mo&gt;&lt;mo&gt;−&lt;/mo&gt;&lt;mn&gt;7&lt;/mn&gt;&lt;mo data-mjx-texclass=&quot;CLOSE&quot;&gt;)&lt;/mo&gt;&lt;/mrow&gt;&lt;mo&gt;=&lt;/mo&gt;&lt;mn&gt;25&lt;/mn&gt;&lt;mtext&gt;&lt;/mtext&gt;&lt;mo&gt;+&lt;/mo&gt;&lt;mtext&gt;&lt;/mtext&gt;&lt;mrow data-mjx-texclass=&quot;INNER&quot;&gt;&lt;mo data-mjx-texclass=&quot;OPEN&quot;&gt;(&lt;/mo&gt;&lt;mo&gt;−&lt;/mo&gt;&lt;mn&gt;7&lt;/mn&gt;&lt;mo data-mjx-texclass=&quot;CLOSE&quot;&gt;)&lt;/mo&gt;&lt;/mrow&gt;&lt;/mstyle&gt;&lt;/mstyle&gt;&lt;/mstyle&gt;&lt;/math&gt;" id="1271" name="Google Shape;1271;p79" title="one half x plus 7 positive negative 7 equals 25 plus negative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6129" y="1826500"/>
            <a:ext cx="3623979" cy="62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1}{2}x=}18}}&quot;&gt;&lt;mstyle mathcolor=&quot;#2E3F51&quot;&gt;&lt;mstyle mathcolor=&quot;#354A5F&quot;&gt;&lt;mstyle mathcolor=&quot;#2E3F51&quot;&gt;&lt;mfrac&gt;&lt;mn&gt;1&lt;/mn&gt;&lt;mn&gt;2&lt;/mn&gt;&lt;/mfrac&gt;&lt;mi&gt;x&lt;/mi&gt;&lt;mo&gt;=&lt;/mo&gt;&lt;/mstyle&gt;&lt;mn&gt;18&lt;/mn&gt;&lt;/mstyle&gt;&lt;/mstyle&gt;&lt;/math&gt;" id="1272" name="Google Shape;1272;p79" title="one half x equals 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161" y="2618050"/>
            <a:ext cx="1053420" cy="622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2\textcolor{#354A5F}{\textcolor{#2E3F51}{\left(\frac{1}{2}x\right)=}2\left(18\right)}}&quot;&gt;&lt;mstyle mathcolor=&quot;#2E3F51&quot;&gt;&lt;mn&gt;2&lt;/mn&gt;&lt;mstyle mathcolor=&quot;#354A5F&quot;&gt;&lt;mstyle mathcolor=&quot;#2E3F51&quot;&gt;&lt;mrow data-mjx-texclass=&quot;INNER&quot;&gt;&lt;mo data-mjx-texclass=&quot;OPEN&quot;&gt;(&lt;/mo&gt;&lt;mfrac&gt;&lt;mn&gt;1&lt;/mn&gt;&lt;mn&gt;2&lt;/mn&gt;&lt;/mfrac&gt;&lt;mi&gt;x&lt;/mi&gt;&lt;mo data-mjx-texclass=&quot;CLOSE&quot;&gt;)&lt;/mo&gt;&lt;/mrow&gt;&lt;mo&gt;=&lt;/mo&gt;&lt;/mstyle&gt;&lt;mn&gt;2&lt;/mn&gt;&lt;mrow data-mjx-texclass=&quot;INNER&quot;&gt;&lt;mo data-mjx-texclass=&quot;OPEN&quot;&gt;(&lt;/mo&gt;&lt;mn&gt;18&lt;/mn&gt;&lt;mo data-mjx-texclass=&quot;CLOSE&quot;&gt;)&lt;/mo&gt;&lt;/mrow&gt;&lt;/mstyle&gt;&lt;/mstyle&gt;&lt;/math&gt;" id="1273" name="Google Shape;1273;p79" title="2 one half x equals 2 times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2296" y="3407938"/>
            <a:ext cx="2115922" cy="740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x=36}&quot;&gt;&lt;mstyle mathcolor=&quot;#2E3F51&quot;&gt;&lt;mi&gt;x&lt;/mi&gt;&lt;mo&gt;=&lt;/mo&gt;&lt;mn&gt;36&lt;/mn&gt;&lt;/mstyle&gt;&lt;/math&gt;" id="1274" name="Google Shape;1274;p79" title="x equals 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13964" y="4392082"/>
            <a:ext cx="897350" cy="232854"/>
          </a:xfrm>
          <a:prstGeom prst="rect">
            <a:avLst/>
          </a:prstGeom>
          <a:noFill/>
          <a:ln>
            <a:noFill/>
          </a:ln>
        </p:spPr>
      </p:pic>
      <p:sp>
        <p:nvSpPr>
          <p:cNvPr id="1275" name="Google Shape;1275;p79"/>
          <p:cNvSpPr txBox="1"/>
          <p:nvPr>
            <p:ph idx="1" type="body"/>
          </p:nvPr>
        </p:nvSpPr>
        <p:spPr>
          <a:xfrm>
            <a:off x="324000" y="759300"/>
            <a:ext cx="5347500" cy="4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 the following equations: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using an additive step first</a:t>
            </a:r>
            <a:endParaRPr/>
          </a:p>
        </p:txBody>
      </p:sp>
      <p:sp>
        <p:nvSpPr>
          <p:cNvPr id="1281" name="Google Shape;1281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282" name="Google Shape;1282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linear equations</a:t>
            </a:r>
            <a:endParaRPr/>
          </a:p>
        </p:txBody>
      </p:sp>
      <p:pic>
        <p:nvPicPr>
          <p:cNvPr id="1283" name="Google Shape;128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98555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1288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246525" y="1203700"/>
            <a:ext cx="3840000" cy="138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290" name="Google Shape;1290;p81"/>
          <p:cNvSpPr txBox="1"/>
          <p:nvPr>
            <p:ph idx="1" type="body"/>
          </p:nvPr>
        </p:nvSpPr>
        <p:spPr>
          <a:xfrm>
            <a:off x="324000" y="759300"/>
            <a:ext cx="6899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Alex is explaining to Izzy how he did this equation we saw earlier.</a:t>
            </a:r>
            <a:endParaRPr sz="2000"/>
          </a:p>
        </p:txBody>
      </p:sp>
      <p:graphicFrame>
        <p:nvGraphicFramePr>
          <p:cNvPr id="1291" name="Google Shape;1291;p81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8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2x}{2}}}}&quot;&gt;&lt;mstyle mathcolor=&quot;#2E3F51&quot;&gt;&lt;mstyle mathcolor=&quot;#354A5F&quot;&gt;&lt;mstyle mathcolor=&quot;#2E3F51&quot;&gt;&lt;mfrac&gt;&lt;mrow&gt;&lt;mn&gt;2&lt;/mn&gt;&lt;mi&gt;x&lt;/mi&gt;&lt;/mrow&gt;&lt;mn&gt;2&lt;/mn&gt;&lt;/mfrac&gt;&lt;/mstyle&gt;&lt;/mstyle&gt;&lt;/mstyle&gt;&lt;/math&gt;" id="1292" name="Google Shape;1292;p81" title="2 x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977" y="2899516"/>
            <a:ext cx="34929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2E3F51}{\textcolor{#354A5F}{\textcolor{#2E3F51}{\frac{6}{2}}}}&quot;&gt;&lt;mstyle mathcolor=&quot;#2E3F51&quot;&gt;&lt;mstyle mathcolor=&quot;#354A5F&quot;&gt;&lt;mstyle mathcolor=&quot;#2E3F51&quot;&gt;&lt;mfrac&gt;&lt;mn&gt;6&lt;/mn&gt;&lt;mn&gt;2&lt;/mn&gt;&lt;/mfrac&gt;&lt;/mstyle&gt;&lt;/mstyle&gt;&lt;/mstyle&gt;&lt;/math&gt;" id="1293" name="Google Shape;1293;p81" title="six halve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06427" y="2899516"/>
            <a:ext cx="192558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4" name="Google Shape;1294;p81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5" name="Google Shape;1295;p81"/>
          <p:cNvSpPr txBox="1"/>
          <p:nvPr>
            <p:ph idx="1" type="body"/>
          </p:nvPr>
        </p:nvSpPr>
        <p:spPr>
          <a:xfrm>
            <a:off x="4375725" y="1267800"/>
            <a:ext cx="3240000" cy="10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First I added </a:t>
            </a:r>
            <a:r>
              <a:rPr lang="en-GB" sz="2000">
                <a:solidFill>
                  <a:schemeClr val="accent5"/>
                </a:solidFill>
              </a:rPr>
              <a:t>the additive inverse</a:t>
            </a:r>
            <a:r>
              <a:rPr lang="en-GB" sz="2000"/>
              <a:t> to</a:t>
            </a:r>
            <a:r>
              <a:rPr lang="en-GB" sz="2000"/>
              <a:t> isolate the variable term</a:t>
            </a:r>
            <a:r>
              <a:rPr lang="en-GB" sz="2000"/>
              <a:t>.</a:t>
            </a:r>
            <a:endParaRPr sz="2000"/>
          </a:p>
        </p:txBody>
      </p:sp>
      <p:pic>
        <p:nvPicPr>
          <p:cNvPr id="1296" name="Google Shape;1296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4200" y="2847425"/>
            <a:ext cx="1182844" cy="11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48547" y="2845753"/>
            <a:ext cx="992575" cy="11446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8" name="Google Shape;1298;p81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i="1"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(−4)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299" name="Google Shape;1299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494875" y="2609000"/>
            <a:ext cx="3982049" cy="133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81"/>
          <p:cNvSpPr txBox="1"/>
          <p:nvPr>
            <p:ph idx="1" type="body"/>
          </p:nvPr>
        </p:nvSpPr>
        <p:spPr>
          <a:xfrm>
            <a:off x="3634300" y="2639400"/>
            <a:ext cx="3514500" cy="8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Then</a:t>
            </a:r>
            <a:r>
              <a:rPr lang="en-GB" sz="2000"/>
              <a:t> I multiplied by </a:t>
            </a:r>
            <a:r>
              <a:rPr lang="en-GB" sz="2000">
                <a:solidFill>
                  <a:schemeClr val="accent5"/>
                </a:solidFill>
              </a:rPr>
              <a:t>the multiplicative inverse</a:t>
            </a:r>
            <a:r>
              <a:rPr lang="en-GB" sz="2000"/>
              <a:t> to find the value of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1" name="Google Shape;1301;p8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218275" y="3881939"/>
            <a:ext cx="6603300" cy="93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81"/>
          <p:cNvSpPr txBox="1"/>
          <p:nvPr>
            <p:ph idx="1" type="body"/>
          </p:nvPr>
        </p:nvSpPr>
        <p:spPr>
          <a:xfrm>
            <a:off x="712250" y="4087200"/>
            <a:ext cx="62313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don’t think we always have to use that order. I think we could do the </a:t>
            </a:r>
            <a:r>
              <a:rPr lang="en-GB" sz="2000">
                <a:solidFill>
                  <a:schemeClr val="accent5"/>
                </a:solidFill>
              </a:rPr>
              <a:t>multiplicative step </a:t>
            </a:r>
            <a:r>
              <a:rPr lang="en-GB" sz="2000"/>
              <a:t>first!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371525" y="2499100"/>
            <a:ext cx="4181601" cy="1385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309" name="Google Shape;1309;p82"/>
          <p:cNvSpPr txBox="1"/>
          <p:nvPr>
            <p:ph idx="1" type="body"/>
          </p:nvPr>
        </p:nvSpPr>
        <p:spPr>
          <a:xfrm>
            <a:off x="324000" y="759300"/>
            <a:ext cx="6899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Izzy</a:t>
            </a:r>
            <a:r>
              <a:rPr lang="en-GB" sz="2000"/>
              <a:t> is now explaining </a:t>
            </a:r>
            <a:r>
              <a:rPr lang="en-GB" sz="2000"/>
              <a:t>how she solved it.</a:t>
            </a:r>
            <a:endParaRPr sz="2000"/>
          </a:p>
        </p:txBody>
      </p:sp>
      <p:graphicFrame>
        <p:nvGraphicFramePr>
          <p:cNvPr id="1310" name="Google Shape;1310;p82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1" name="Google Shape;1311;p82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12" name="Google Shape;1312;p82"/>
          <p:cNvGraphicFramePr/>
          <p:nvPr/>
        </p:nvGraphicFramePr>
        <p:xfrm>
          <a:off x="314384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+4}{2}=\frac{10}{2}&quot;&gt;&lt;mfrac&gt;&lt;mrow&gt;&lt;mn&gt;2&lt;/mn&gt;&lt;mi&gt;x&lt;/mi&gt;&lt;mo&gt;+&lt;/mo&gt;&lt;mn&gt;4&lt;/mn&gt;&lt;/mrow&gt;&lt;mn&gt;2&lt;/mn&gt;&lt;/mfrac&gt;&lt;mo&gt;=&lt;/mo&gt;&lt;mfrac&gt;&lt;mn&gt;10&lt;/mn&gt;&lt;mn&gt;2&lt;/mn&gt;&lt;/mfrac&gt;&lt;/math&gt;" id="1313" name="Google Shape;1313;p82" title="the fraction with numerator 2 x plus 4 and denominator 2 equals t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9987" y="2068141"/>
            <a:ext cx="160486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4" name="Google Shape;1314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4200" y="2847425"/>
            <a:ext cx="1182844" cy="11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8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rot="10800000">
            <a:off x="218275" y="3881939"/>
            <a:ext cx="6603300" cy="937726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2"/>
          <p:cNvSpPr txBox="1"/>
          <p:nvPr>
            <p:ph idx="1" type="body"/>
          </p:nvPr>
        </p:nvSpPr>
        <p:spPr>
          <a:xfrm>
            <a:off x="940850" y="4239600"/>
            <a:ext cx="5507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the </a:t>
            </a:r>
            <a:r>
              <a:rPr lang="en-GB" sz="2000">
                <a:solidFill>
                  <a:schemeClr val="accent5"/>
                </a:solidFill>
              </a:rPr>
              <a:t>multiplicative step </a:t>
            </a:r>
            <a:r>
              <a:rPr lang="en-GB" sz="2000"/>
              <a:t>first. Like this!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7" name="Google Shape;1317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48547" y="2845753"/>
            <a:ext cx="992575" cy="114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82"/>
          <p:cNvSpPr txBox="1"/>
          <p:nvPr>
            <p:ph idx="1" type="body"/>
          </p:nvPr>
        </p:nvSpPr>
        <p:spPr>
          <a:xfrm>
            <a:off x="3439150" y="1696800"/>
            <a:ext cx="35241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 you think Izzy’s idea will work?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19" name="Google Shape;1319;p82"/>
          <p:cNvGraphicFramePr/>
          <p:nvPr/>
        </p:nvGraphicFramePr>
        <p:xfrm>
          <a:off x="314384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0" name="Google Shape;1320;p82"/>
          <p:cNvSpPr txBox="1"/>
          <p:nvPr>
            <p:ph idx="1" type="body"/>
          </p:nvPr>
        </p:nvSpPr>
        <p:spPr>
          <a:xfrm>
            <a:off x="3531650" y="2563200"/>
            <a:ext cx="3709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That’s awesome Izzy! I think sometimes this might be the most efficient method.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1" name="Google Shape;1321;p82"/>
          <p:cNvSpPr txBox="1"/>
          <p:nvPr/>
        </p:nvSpPr>
        <p:spPr>
          <a:xfrm>
            <a:off x="4257125" y="1976600"/>
            <a:ext cx="42378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Yes, you get the same answer!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327" name="Google Shape;1327;p83"/>
          <p:cNvSpPr txBox="1"/>
          <p:nvPr>
            <p:ph idx="1" type="body"/>
          </p:nvPr>
        </p:nvSpPr>
        <p:spPr>
          <a:xfrm>
            <a:off x="324000" y="759300"/>
            <a:ext cx="6899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might see it written in factorised form first.</a:t>
            </a:r>
            <a:endParaRPr sz="2000"/>
          </a:p>
        </p:txBody>
      </p:sp>
      <p:graphicFrame>
        <p:nvGraphicFramePr>
          <p:cNvPr id="1328" name="Google Shape;1328;p83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29" name="Google Shape;1329;p83"/>
          <p:cNvGraphicFramePr/>
          <p:nvPr/>
        </p:nvGraphicFramePr>
        <p:xfrm>
          <a:off x="3143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0" name="Google Shape;1330;p83"/>
          <p:cNvGraphicFramePr/>
          <p:nvPr/>
        </p:nvGraphicFramePr>
        <p:xfrm>
          <a:off x="314384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+4}{2}=\frac{10}{2}&quot;&gt;&lt;mfrac&gt;&lt;mrow&gt;&lt;mn&gt;2&lt;/mn&gt;&lt;mi&gt;x&lt;/mi&gt;&lt;mo&gt;+&lt;/mo&gt;&lt;mn&gt;4&lt;/mn&gt;&lt;/mrow&gt;&lt;mn&gt;2&lt;/mn&gt;&lt;/mfrac&gt;&lt;mo&gt;=&lt;/mo&gt;&lt;mfrac&gt;&lt;mn&gt;10&lt;/mn&gt;&lt;mn&gt;2&lt;/mn&gt;&lt;/mfrac&gt;&lt;/math&gt;" id="1331" name="Google Shape;1331;p83" title="the fraction with numerator 2 x plus 4 and denominator 2 equals t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987" y="2068141"/>
            <a:ext cx="160486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200" y="2847425"/>
            <a:ext cx="1182844" cy="11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8547" y="2845753"/>
            <a:ext cx="992575" cy="11446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34" name="Google Shape;1334;p83"/>
          <p:cNvGraphicFramePr/>
          <p:nvPr/>
        </p:nvGraphicFramePr>
        <p:xfrm>
          <a:off x="314384" y="276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5" name="Google Shape;1335;p83"/>
          <p:cNvGraphicFramePr/>
          <p:nvPr/>
        </p:nvGraphicFramePr>
        <p:xfrm>
          <a:off x="36671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6" name="Google Shape;1336;p83"/>
          <p:cNvGraphicFramePr/>
          <p:nvPr/>
        </p:nvGraphicFramePr>
        <p:xfrm>
          <a:off x="36671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7" name="Google Shape;1337;p83"/>
          <p:cNvGraphicFramePr/>
          <p:nvPr/>
        </p:nvGraphicFramePr>
        <p:xfrm>
          <a:off x="3667184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700500"/>
                <a:gridCol w="434350"/>
                <a:gridCol w="13111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4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do the multiplicative inverse first to start solving this equation.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/>
              <a:t>What will we write next?</a:t>
            </a:r>
            <a:endParaRPr/>
          </a:p>
        </p:txBody>
      </p:sp>
      <p:sp>
        <p:nvSpPr>
          <p:cNvPr id="1343" name="Google Shape;1343;p8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344" name="Google Shape;1344;p84"/>
          <p:cNvSpPr txBox="1"/>
          <p:nvPr>
            <p:ph idx="1" type="subTitle"/>
          </p:nvPr>
        </p:nvSpPr>
        <p:spPr>
          <a:xfrm>
            <a:off x="1034425" y="1837775"/>
            <a:ext cx="1180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= 12</a:t>
            </a:r>
            <a:endParaRPr/>
          </a:p>
        </p:txBody>
      </p:sp>
      <p:sp>
        <p:nvSpPr>
          <p:cNvPr id="1345" name="Google Shape;1345;p84"/>
          <p:cNvSpPr txBox="1"/>
          <p:nvPr>
            <p:ph idx="3" type="subTitle"/>
          </p:nvPr>
        </p:nvSpPr>
        <p:spPr>
          <a:xfrm>
            <a:off x="1034425" y="2794250"/>
            <a:ext cx="14073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− 10 = 12</a:t>
            </a:r>
            <a:endParaRPr/>
          </a:p>
        </p:txBody>
      </p:sp>
      <p:sp>
        <p:nvSpPr>
          <p:cNvPr id="1346" name="Google Shape;1346;p84"/>
          <p:cNvSpPr txBox="1"/>
          <p:nvPr>
            <p:ph idx="4" type="subTitle"/>
          </p:nvPr>
        </p:nvSpPr>
        <p:spPr>
          <a:xfrm>
            <a:off x="1034425" y="3766975"/>
            <a:ext cx="16461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− 5 = 12</a:t>
            </a:r>
            <a:endParaRPr/>
          </a:p>
        </p:txBody>
      </p:sp>
      <p:pic>
        <p:nvPicPr>
          <p:cNvPr id="1347" name="Google Shape;134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583" y="3780611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8" name="Google Shape;1348;p84"/>
          <p:cNvGraphicFramePr/>
          <p:nvPr/>
        </p:nvGraphicFramePr>
        <p:xfrm>
          <a:off x="3040371" y="29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49" name="Google Shape;1349;p84"/>
          <p:cNvGraphicFramePr/>
          <p:nvPr/>
        </p:nvGraphicFramePr>
        <p:xfrm>
          <a:off x="3040371" y="177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2E3F51}{\textcolor{#354A5F}{\textcolor{#2E3F51}{\frac{2x-10}{2}}=\frac{24}{2}}}&quot;&gt;&lt;mstyle mathcolor=&quot;#2E3F51&quot;&gt;&lt;mstyle mathcolor=&quot;#354A5F&quot;&gt;&lt;mstyle mathcolor=&quot;#2E3F51&quot;&gt;&lt;mfrac&gt;&lt;mrow&gt;&lt;mn&gt;2&lt;/mn&gt;&lt;mi&gt;x&lt;/mi&gt;&lt;mo&gt;−&lt;/mo&gt;&lt;mn&gt;10&lt;/mn&gt;&lt;/mrow&gt;&lt;mn&gt;2&lt;/mn&gt;&lt;/mfrac&gt;&lt;/mstyle&gt;&lt;mo&gt;=&lt;/mo&gt;&lt;mfrac&gt;&lt;mn&gt;24&lt;/mn&gt;&lt;mn&gt;2&lt;/mn&gt;&lt;/mfrac&gt;&lt;/mstyle&gt;&lt;/mstyle&gt;&lt;/math&gt;" id="1350" name="Google Shape;1350;p84" title="the fraction with numerator 2 x minus 10 and denominator 2 equals 24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2659" y="2347618"/>
            <a:ext cx="1646100" cy="576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85"/>
          <p:cNvSpPr txBox="1"/>
          <p:nvPr>
            <p:ph idx="1" type="body"/>
          </p:nvPr>
        </p:nvSpPr>
        <p:spPr>
          <a:xfrm>
            <a:off x="324000" y="759300"/>
            <a:ext cx="8237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Izzy and Alex are </a:t>
            </a:r>
            <a:r>
              <a:rPr lang="en-GB"/>
              <a:t>comparing</a:t>
            </a:r>
            <a:r>
              <a:rPr lang="en-GB"/>
              <a:t> methods</a:t>
            </a:r>
            <a:endParaRPr/>
          </a:p>
        </p:txBody>
      </p:sp>
      <p:sp>
        <p:nvSpPr>
          <p:cNvPr id="1356" name="Google Shape;135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id="1357" name="Google Shape;1357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817495" y="3151209"/>
            <a:ext cx="4181601" cy="856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5050" y="3919569"/>
            <a:ext cx="1182844" cy="114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8378" y="3683953"/>
            <a:ext cx="992575" cy="114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85"/>
          <p:cNvSpPr txBox="1"/>
          <p:nvPr>
            <p:ph idx="1" type="body"/>
          </p:nvPr>
        </p:nvSpPr>
        <p:spPr>
          <a:xfrm>
            <a:off x="3912650" y="3172800"/>
            <a:ext cx="37758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I’ll do the additive inverse first. Let’s see who is more </a:t>
            </a:r>
            <a:r>
              <a:rPr lang="en-GB" sz="1900"/>
              <a:t>efficient</a:t>
            </a:r>
            <a:r>
              <a:rPr lang="en-GB" sz="1900"/>
              <a:t>.</a:t>
            </a:r>
            <a:endParaRPr i="1"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1" name="Google Shape;1361;p85"/>
          <p:cNvSpPr txBox="1"/>
          <p:nvPr>
            <p:ph idx="1" type="body"/>
          </p:nvPr>
        </p:nvSpPr>
        <p:spPr>
          <a:xfrm>
            <a:off x="246025" y="3448275"/>
            <a:ext cx="3028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I’ll do the multiplicative inverse first.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2" name="Google Shape;1362;p8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84600" y="3406817"/>
            <a:ext cx="3351050" cy="8561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3" name="Google Shape;1363;p85"/>
          <p:cNvGraphicFramePr/>
          <p:nvPr/>
        </p:nvGraphicFramePr>
        <p:xfrm>
          <a:off x="373371" y="110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4" name="Google Shape;1364;p85"/>
          <p:cNvGraphicFramePr/>
          <p:nvPr/>
        </p:nvGraphicFramePr>
        <p:xfrm>
          <a:off x="4183371" y="110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(−35)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x+35}{5}=\frac{20}{5}&quot;&gt;&lt;mfrac&gt;&lt;mrow&gt;&lt;mn&gt;5&lt;/mn&gt;&lt;mi&gt;x&lt;/mi&gt;&lt;mo&gt;+&lt;/mo&gt;&lt;mn&gt;35&lt;/mn&gt;&lt;/mrow&gt;&lt;mn&gt;5&lt;/mn&gt;&lt;/mfrac&gt;&lt;mo&gt;=&lt;/mo&gt;&lt;mfrac&gt;&lt;mn&gt;20&lt;/mn&gt;&lt;mn&gt;5&lt;/mn&gt;&lt;/mfrac&gt;&lt;/math&gt;" id="1365" name="Google Shape;1365;p85" title="the fraction with numerator 5 x plus 35 and denominator 5 equals 20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3645" y="1646120"/>
            <a:ext cx="1724295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66" name="Google Shape;1366;p85"/>
          <p:cNvGraphicFramePr/>
          <p:nvPr/>
        </p:nvGraphicFramePr>
        <p:xfrm>
          <a:off x="373371" y="110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7" name="Google Shape;1367;p85"/>
          <p:cNvGraphicFramePr/>
          <p:nvPr/>
        </p:nvGraphicFramePr>
        <p:xfrm>
          <a:off x="4183371" y="110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8" name="Google Shape;1368;p85"/>
          <p:cNvGraphicFramePr/>
          <p:nvPr/>
        </p:nvGraphicFramePr>
        <p:xfrm>
          <a:off x="4183371" y="11083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35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(−35)</a:t>
                      </a:r>
                      <a:endParaRPr sz="24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 </a:t>
                      </a:r>
                      <a:r>
                        <a:rPr lang="en-GB" sz="24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9" name="Google Shape;1369;p85"/>
          <p:cNvSpPr txBox="1"/>
          <p:nvPr>
            <p:ph idx="1" type="body"/>
          </p:nvPr>
        </p:nvSpPr>
        <p:spPr>
          <a:xfrm>
            <a:off x="4579970" y="4092052"/>
            <a:ext cx="1812300" cy="6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Both methods are efficient.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4" name="Google Shape;1374;p86"/>
          <p:cNvGraphicFramePr/>
          <p:nvPr/>
        </p:nvGraphicFramePr>
        <p:xfrm>
          <a:off x="373371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x+40}{8}=\frac{96}{8}&quot;&gt;&lt;mfrac&gt;&lt;mrow&gt;&lt;mn&gt;8&lt;/mn&gt;&lt;mi&gt;x&lt;/mi&gt;&lt;mo&gt;+&lt;/mo&gt;&lt;mn&gt;40&lt;/mn&gt;&lt;/mrow&gt;&lt;mn&gt;8&lt;/mn&gt;&lt;/mfrac&gt;&lt;mo&gt;=&lt;/mo&gt;&lt;mfrac&gt;&lt;mn&gt;96&lt;/mn&gt;&lt;mn&gt;8&lt;/mn&gt;&lt;/mfrac&gt;&lt;/math&gt;" id="1375" name="Google Shape;1375;p86" title="the fraction with numerator 8 x plus 40 and denominator 8 equals 96 over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294" y="1243441"/>
            <a:ext cx="1690297" cy="5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8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323525" y="2998800"/>
            <a:ext cx="3665500" cy="85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id="1378" name="Google Shape;1378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400" y="3533225"/>
            <a:ext cx="1182844" cy="114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6"/>
          <p:cNvSpPr txBox="1"/>
          <p:nvPr>
            <p:ph idx="1" type="body"/>
          </p:nvPr>
        </p:nvSpPr>
        <p:spPr>
          <a:xfrm>
            <a:off x="407450" y="3009170"/>
            <a:ext cx="3351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think I will always do the multiplicative step first.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80" name="Google Shape;1380;p86"/>
          <p:cNvGraphicFramePr/>
          <p:nvPr/>
        </p:nvGraphicFramePr>
        <p:xfrm>
          <a:off x="4564371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x+7}{8}=\frac{11}{8}&quot;&gt;&lt;mfrac&gt;&lt;mrow&gt;&lt;mn&gt;8&lt;/mn&gt;&lt;mi&gt;x&lt;/mi&gt;&lt;mo&gt;+&lt;/mo&gt;&lt;mn&gt;7&lt;/mn&gt;&lt;/mrow&gt;&lt;mn&gt;8&lt;/mn&gt;&lt;/mfrac&gt;&lt;mo&gt;=&lt;/mo&gt;&lt;mfrac&gt;&lt;mn&gt;11&lt;/mn&gt;&lt;mn&gt;8&lt;/mn&gt;&lt;/mfrac&gt;&lt;/math&gt;" id="1381" name="Google Shape;1381;p86" title="the fraction with numerator 8 x plus 7 and denominator 8 equals el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0121" y="1316552"/>
            <a:ext cx="1545925" cy="59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\frac{7}{8}=\frac{11}{8}&quot;&gt;&lt;mi&gt;x&lt;/mi&gt;&lt;mo&gt;+&lt;/mo&gt;&lt;mfrac&gt;&lt;mn&gt;7&lt;/mn&gt;&lt;mn&gt;8&lt;/mn&gt;&lt;/mfrac&gt;&lt;mo&gt;=&lt;/mo&gt;&lt;mfrac&gt;&lt;mn&gt;11&lt;/mn&gt;&lt;mn&gt;8&lt;/mn&gt;&lt;/mfrac&gt;&lt;/math&gt;" id="1382" name="Google Shape;1382;p86" title="x plus seven eighths equals eleven eigh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1979" y="2038376"/>
            <a:ext cx="1427008" cy="59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4}{8}=\frac{1}{2}&quot;&gt;&lt;mi&gt;x&lt;/mi&gt;&lt;mo&gt;=&lt;/mo&gt;&lt;mfrac&gt;&lt;mn&gt;4&lt;/mn&gt;&lt;mn&gt;8&lt;/mn&gt;&lt;/mfrac&gt;&lt;mo&gt;=&lt;/mo&gt;&lt;mfrac&gt;&lt;mn&gt;1&lt;/mn&gt;&lt;mn&gt;2&lt;/mn&gt;&lt;/mfrac&gt;&lt;/math&gt;" id="1383" name="Google Shape;1383;p86" title="x equals four eighths equals one hal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48461" y="2793484"/>
            <a:ext cx="1316585" cy="5945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4" name="Google Shape;1384;p86"/>
          <p:cNvGraphicFramePr/>
          <p:nvPr/>
        </p:nvGraphicFramePr>
        <p:xfrm>
          <a:off x="373371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5" name="Google Shape;1385;p86"/>
          <p:cNvSpPr txBox="1"/>
          <p:nvPr>
            <p:ph idx="1" type="body"/>
          </p:nvPr>
        </p:nvSpPr>
        <p:spPr>
          <a:xfrm>
            <a:off x="5131850" y="3542586"/>
            <a:ext cx="3351000" cy="10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can be awkward if not all terms share that factor.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0" name="Google Shape;1390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23525" y="2998800"/>
            <a:ext cx="3665500" cy="85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id="1392" name="Google Shape;1392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9400" y="3533225"/>
            <a:ext cx="1182844" cy="1144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87"/>
          <p:cNvSpPr txBox="1"/>
          <p:nvPr>
            <p:ph idx="1" type="body"/>
          </p:nvPr>
        </p:nvSpPr>
        <p:spPr>
          <a:xfrm>
            <a:off x="407450" y="3009170"/>
            <a:ext cx="3351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 think I will always do the multiplicative step first.</a:t>
            </a:r>
            <a:endParaRPr sz="2000"/>
          </a:p>
        </p:txBody>
      </p:sp>
      <p:graphicFrame>
        <p:nvGraphicFramePr>
          <p:cNvPr id="1394" name="Google Shape;1394;p87"/>
          <p:cNvGraphicFramePr/>
          <p:nvPr/>
        </p:nvGraphicFramePr>
        <p:xfrm>
          <a:off x="4564371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8x+7}{8}=\frac{11}{8}&quot;&gt;&lt;mfrac&gt;&lt;mrow&gt;&lt;mn&gt;8&lt;/mn&gt;&lt;mi&gt;x&lt;/mi&gt;&lt;mo&gt;+&lt;/mo&gt;&lt;mn&gt;7&lt;/mn&gt;&lt;/mrow&gt;&lt;mn&gt;8&lt;/mn&gt;&lt;/mfrac&gt;&lt;mo&gt;=&lt;/mo&gt;&lt;mfrac&gt;&lt;mn&gt;11&lt;/mn&gt;&lt;mn&gt;8&lt;/mn&gt;&lt;/mfrac&gt;&lt;/math&gt;" id="1395" name="Google Shape;1395;p87" title="the fraction with numerator 8 x plus 7 and denominator 8 equals elev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0121" y="1316552"/>
            <a:ext cx="1545925" cy="59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\frac{7}{8}=\frac{11}{8}&quot;&gt;&lt;mi&gt;x&lt;/mi&gt;&lt;mo&gt;+&lt;/mo&gt;&lt;mfrac&gt;&lt;mn&gt;7&lt;/mn&gt;&lt;mn&gt;8&lt;/mn&gt;&lt;/mfrac&gt;&lt;mo&gt;=&lt;/mo&gt;&lt;mfrac&gt;&lt;mn&gt;11&lt;/mn&gt;&lt;mn&gt;8&lt;/mn&gt;&lt;/mfrac&gt;&lt;/math&gt;" id="1396" name="Google Shape;1396;p87" title="x plus seven eighths equals el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1979" y="2038376"/>
            <a:ext cx="1427008" cy="594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4}{8}=\frac{1}{2}&quot;&gt;&lt;mi&gt;x&lt;/mi&gt;&lt;mo&gt;=&lt;/mo&gt;&lt;mfrac&gt;&lt;mn&gt;4&lt;/mn&gt;&lt;mn&gt;8&lt;/mn&gt;&lt;/mfrac&gt;&lt;mo&gt;=&lt;/mo&gt;&lt;mfrac&gt;&lt;mn&gt;1&lt;/mn&gt;&lt;mn&gt;2&lt;/mn&gt;&lt;/mfrac&gt;&lt;/math&gt;" id="1397" name="Google Shape;1397;p87" title="x equals four eighths equal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8461" y="2793484"/>
            <a:ext cx="1316585" cy="5945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87"/>
          <p:cNvSpPr txBox="1"/>
          <p:nvPr>
            <p:ph idx="1" type="body"/>
          </p:nvPr>
        </p:nvSpPr>
        <p:spPr>
          <a:xfrm>
            <a:off x="5131850" y="3542570"/>
            <a:ext cx="3351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This can be awkward if not all terms share that factor.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99" name="Google Shape;1399;p87"/>
          <p:cNvGraphicFramePr/>
          <p:nvPr/>
        </p:nvGraphicFramePr>
        <p:xfrm>
          <a:off x="328450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0" name="Google Shape;1400;p87"/>
          <p:cNvGraphicFramePr/>
          <p:nvPr/>
        </p:nvGraphicFramePr>
        <p:xfrm>
          <a:off x="328450" y="6511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08625"/>
                <a:gridCol w="513050"/>
                <a:gridCol w="154875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x=\frac{4}{8}=\frac{1}{2}&quot;&gt;&lt;mi&gt;x&lt;/mi&gt;&lt;mo&gt;=&lt;/mo&gt;&lt;mfrac&gt;&lt;mn&gt;4&lt;/mn&gt;&lt;mn&gt;8&lt;/mn&gt;&lt;/mfrac&gt;&lt;mo&gt;=&lt;/mo&gt;&lt;mfrac&gt;&lt;mn&gt;1&lt;/mn&gt;&lt;mn&gt;2&lt;/mn&gt;&lt;/mfrac&gt;&lt;/math&gt;" id="1401" name="Google Shape;1401;p87" title="x equals four eighths equal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0031" y="1859036"/>
            <a:ext cx="1316585" cy="594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87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 rot="10800000">
            <a:off x="323525" y="3966939"/>
            <a:ext cx="3665500" cy="85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87"/>
          <p:cNvSpPr txBox="1"/>
          <p:nvPr>
            <p:ph idx="1" type="body"/>
          </p:nvPr>
        </p:nvSpPr>
        <p:spPr>
          <a:xfrm>
            <a:off x="407450" y="4152170"/>
            <a:ext cx="3351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should take time to think which method will work best.</a:t>
            </a:r>
            <a:endParaRPr i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87"/>
          <p:cNvSpPr txBox="1"/>
          <p:nvPr>
            <p:ph idx="1" type="body"/>
          </p:nvPr>
        </p:nvSpPr>
        <p:spPr>
          <a:xfrm>
            <a:off x="1855250" y="2551975"/>
            <a:ext cx="20055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More efficient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88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which of the following </a:t>
            </a:r>
            <a:r>
              <a:rPr lang="en-GB"/>
              <a:t>equations</a:t>
            </a:r>
            <a:r>
              <a:rPr lang="en-GB"/>
              <a:t> are you most likely to start with the multiplicative step and divide by 3 first?</a:t>
            </a:r>
            <a:endParaRPr/>
          </a:p>
        </p:txBody>
      </p:sp>
      <p:sp>
        <p:nvSpPr>
          <p:cNvPr id="1410" name="Google Shape;1410;p8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411" name="Google Shape;1411;p88"/>
          <p:cNvSpPr txBox="1"/>
          <p:nvPr>
            <p:ph idx="1" type="subTitle"/>
          </p:nvPr>
        </p:nvSpPr>
        <p:spPr>
          <a:xfrm>
            <a:off x="1034425" y="1837775"/>
            <a:ext cx="1730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+ 21 = 33</a:t>
            </a:r>
            <a:endParaRPr sz="2600"/>
          </a:p>
        </p:txBody>
      </p:sp>
      <p:sp>
        <p:nvSpPr>
          <p:cNvPr id="1412" name="Google Shape;1412;p88"/>
          <p:cNvSpPr txBox="1"/>
          <p:nvPr>
            <p:ph idx="3" type="subTitle"/>
          </p:nvPr>
        </p:nvSpPr>
        <p:spPr>
          <a:xfrm>
            <a:off x="1034425" y="2794250"/>
            <a:ext cx="1730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+ 7 = 13</a:t>
            </a:r>
            <a:endParaRPr/>
          </a:p>
        </p:txBody>
      </p:sp>
      <p:sp>
        <p:nvSpPr>
          <p:cNvPr id="1413" name="Google Shape;1413;p88"/>
          <p:cNvSpPr txBox="1"/>
          <p:nvPr>
            <p:ph idx="4" type="subTitle"/>
          </p:nvPr>
        </p:nvSpPr>
        <p:spPr>
          <a:xfrm>
            <a:off x="1034425" y="3766973"/>
            <a:ext cx="1720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+ 23 = 31</a:t>
            </a:r>
            <a:endParaRPr/>
          </a:p>
        </p:txBody>
      </p:sp>
      <p:pic>
        <p:nvPicPr>
          <p:cNvPr id="1414" name="Google Shape;141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553" y="1821871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5" name="Google Shape;1415;p88"/>
          <p:cNvSpPr txBox="1"/>
          <p:nvPr>
            <p:ph type="title"/>
          </p:nvPr>
        </p:nvSpPr>
        <p:spPr>
          <a:xfrm>
            <a:off x="3372000" y="1846854"/>
            <a:ext cx="4195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All three terms have a factor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6" name="Google Shape;1416;p88"/>
          <p:cNvSpPr txBox="1"/>
          <p:nvPr>
            <p:ph type="title"/>
          </p:nvPr>
        </p:nvSpPr>
        <p:spPr>
          <a:xfrm>
            <a:off x="3081275" y="2944925"/>
            <a:ext cx="57864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not a common factor in all terms. 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could divide by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but that would introduce fractions.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89"/>
          <p:cNvSpPr txBox="1"/>
          <p:nvPr>
            <p:ph idx="1" type="subTitle"/>
          </p:nvPr>
        </p:nvSpPr>
        <p:spPr>
          <a:xfrm>
            <a:off x="337825" y="756261"/>
            <a:ext cx="7200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</a:t>
            </a:r>
            <a:endParaRPr/>
          </a:p>
        </p:txBody>
      </p:sp>
      <p:sp>
        <p:nvSpPr>
          <p:cNvPr id="1422" name="Google Shape;142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0\left(\frac{x}{20}+\frac{17}{10}\right)=20\left(\frac{3}{5}\right)&quot;&gt;&lt;mn&gt;20&lt;/mn&gt;&lt;mrow data-mjx-texclass=&quot;INNER&quot;&gt;&lt;mo data-mjx-texclass=&quot;OPEN&quot;&gt;(&lt;/mo&gt;&lt;mfrac&gt;&lt;mi&gt;x&lt;/mi&gt;&lt;mn&gt;20&lt;/mn&gt;&lt;/mfrac&gt;&lt;mo&gt;+&lt;/mo&gt;&lt;mfrac&gt;&lt;mn&gt;17&lt;/mn&gt;&lt;mn&gt;10&lt;/mn&gt;&lt;/mfrac&gt;&lt;mo data-mjx-texclass=&quot;CLOSE&quot;&gt;)&lt;/mo&gt;&lt;/mrow&gt;&lt;mo&gt;=&lt;/mo&gt;&lt;mn&gt;20&lt;/mn&gt;&lt;mrow data-mjx-texclass=&quot;INNER&quot;&gt;&lt;mo data-mjx-texclass=&quot;OPEN&quot;&gt;(&lt;/mo&gt;&lt;mfrac&gt;&lt;mn&gt;3&lt;/mn&gt;&lt;mn&gt;5&lt;/mn&gt;&lt;/mfrac&gt;&lt;mo data-mjx-texclass=&quot;CLOSE&quot;&gt;)&lt;/mo&gt;&lt;/mrow&gt;&lt;/math&gt;" id="1423" name="Google Shape;1423;p89" title="20 times open paren x over 20 plus seventeen tenths close paren equals 20 times 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875" y="1627506"/>
            <a:ext cx="2898669" cy="6472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34=12&quot;&gt;&lt;mi&gt;x&lt;/mi&gt;&lt;mo&gt;+&lt;/mo&gt;&lt;mn&gt;34&lt;/mn&gt;&lt;mo&gt;=&lt;/mo&gt;&lt;mn&gt;12&lt;/mn&gt;&lt;/math&gt;" id="1424" name="Google Shape;1424;p89" title="x plus 34 equals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135" y="3357415"/>
            <a:ext cx="1374510" cy="20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0x}{20}+\frac{340}{10}=\frac{60}{5}&quot;&gt;&lt;mfrac&gt;&lt;mrow&gt;&lt;mn&gt;20&lt;/mn&gt;&lt;mi&gt;x&lt;/mi&gt;&lt;/mrow&gt;&lt;mn&gt;20&lt;/mn&gt;&lt;/mfrac&gt;&lt;mo&gt;+&lt;/mo&gt;&lt;mfrac&gt;&lt;mn&gt;340&lt;/mn&gt;&lt;mn&gt;10&lt;/mn&gt;&lt;/mfrac&gt;&lt;mo&gt;=&lt;/mo&gt;&lt;mfrac&gt;&lt;mn&gt;60&lt;/mn&gt;&lt;mn&gt;5&lt;/mn&gt;&lt;/mfrac&gt;&lt;/math&gt;" id="1425" name="Google Shape;1425;p89" title="20 x over 20 plus 340 over 10 equals 60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069" y="2560369"/>
            <a:ext cx="1882138" cy="5400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22&quot;&gt;&lt;mi&gt;x&lt;/mi&gt;&lt;mo&gt;=&lt;/mo&gt;&lt;mo&gt;−&lt;/mo&gt;&lt;mn&gt;22&lt;/mn&gt;&lt;/math&gt;" id="1426" name="Google Shape;1426;p89" title="x equals negative 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51214" y="4318892"/>
            <a:ext cx="997999" cy="20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+34+\left(-34\right)=12+\left(-34\right)&quot;&gt;&lt;mi&gt;x&lt;/mi&gt;&lt;mo&gt;+&lt;/mo&gt;&lt;mn&gt;34&lt;/mn&gt;&lt;mo&gt;+&lt;/mo&gt;&lt;mrow data-mjx-texclass=&quot;INNER&quot;&gt;&lt;mo data-mjx-texclass=&quot;OPEN&quot;&gt;(&lt;/mo&gt;&lt;mo&gt;−&lt;/mo&gt;&lt;mn&gt;34&lt;/mn&gt;&lt;mo data-mjx-texclass=&quot;CLOSE&quot;&gt;)&lt;/mo&gt;&lt;/mrow&gt;&lt;mo&gt;=&lt;/mo&gt;&lt;mn&gt;12&lt;/mn&gt;&lt;mo&gt;+&lt;/mo&gt;&lt;mrow data-mjx-texclass=&quot;INNER&quot;&gt;&lt;mo data-mjx-texclass=&quot;OPEN&quot;&gt;(&lt;/mo&gt;&lt;mo&gt;−&lt;/mo&gt;&lt;mn&gt;34&lt;/mn&gt;&lt;mo data-mjx-texclass=&quot;CLOSE&quot;&gt;)&lt;/mo&gt;&lt;/mrow&gt;&lt;/math&gt;" id="1427" name="Google Shape;1427;p89" title="x plus 34 plus negative 34 equals 12 plus negative 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4013" y="3850400"/>
            <a:ext cx="3302749" cy="24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20}+\frac{17}{10}=\frac{3}{5}&quot;&gt;&lt;mfrac&gt;&lt;mi&gt;x&lt;/mi&gt;&lt;mn&gt;20&lt;/mn&gt;&lt;/mfrac&gt;&lt;mo&gt;+&lt;/mo&gt;&lt;mfrac&gt;&lt;mn&gt;17&lt;/mn&gt;&lt;mn&gt;10&lt;/mn&gt;&lt;/mfrac&gt;&lt;mo&gt;=&lt;/mo&gt;&lt;mfrac&gt;&lt;mn&gt;3&lt;/mn&gt;&lt;mn&gt;5&lt;/mn&gt;&lt;/mfrac&gt;&lt;/math&gt;" id="1428" name="Google Shape;1428;p89" title="x over 20 plus seventeen tenths equals three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62200" y="801821"/>
            <a:ext cx="1485072" cy="540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89"/>
          <p:cNvSpPr txBox="1"/>
          <p:nvPr>
            <p:ph idx="1" type="subTitle"/>
          </p:nvPr>
        </p:nvSpPr>
        <p:spPr>
          <a:xfrm>
            <a:off x="4822395" y="756261"/>
            <a:ext cx="720000" cy="3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x}{12}-\frac{1}{6}=\frac{2}{3}&quot;&gt;&lt;mfrac&gt;&lt;mi&gt;x&lt;/mi&gt;&lt;mn&gt;12&lt;/mn&gt;&lt;/mfrac&gt;&lt;mo&gt;−&lt;/mo&gt;&lt;mfrac&gt;&lt;mn&gt;1&lt;/mn&gt;&lt;mn&gt;6&lt;/mn&gt;&lt;/mfrac&gt;&lt;mo&gt;=&lt;/mo&gt;&lt;mfrac&gt;&lt;mn&gt;2&lt;/mn&gt;&lt;mn&gt;3&lt;/mn&gt;&lt;/mfrac&gt;&lt;/math&gt;" id="1430" name="Google Shape;1430;p89" title="x over 12 minus one sixth equals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37248" y="755911"/>
            <a:ext cx="1374510" cy="549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left(\frac{x}{12}-\frac{1}{6}\right)=12\left(\frac{2}{3}\right)&quot;&gt;&lt;mn&gt;12&lt;/mn&gt;&lt;mrow data-mjx-texclass=&quot;INNER&quot;&gt;&lt;mo data-mjx-texclass=&quot;OPEN&quot;&gt;(&lt;/mo&gt;&lt;mfrac&gt;&lt;mi&gt;x&lt;/mi&gt;&lt;mn&gt;12&lt;/mn&gt;&lt;/mfrac&gt;&lt;mo&gt;−&lt;/mo&gt;&lt;mfrac&gt;&lt;mn&gt;1&lt;/mn&gt;&lt;mn&gt;6&lt;/mn&gt;&lt;/mfrac&gt;&lt;mo data-mjx-texclass=&quot;CLOSE&quot;&gt;)&lt;/mo&gt;&lt;/mrow&gt;&lt;mo&gt;=&lt;/mo&gt;&lt;mn&gt;12&lt;/mn&gt;&lt;mrow data-mjx-texclass=&quot;INNER&quot;&gt;&lt;mo data-mjx-texclass=&quot;OPEN&quot;&gt;(&lt;/mo&gt;&lt;mfrac&gt;&lt;mn&gt;2&lt;/mn&gt;&lt;mn&gt;3&lt;/mn&gt;&lt;/mfrac&gt;&lt;mo data-mjx-texclass=&quot;CLOSE&quot;&gt;)&lt;/mo&gt;&lt;/mrow&gt;&lt;/math&gt;" id="1431" name="Google Shape;1431;p89" title="12 times open paren x over 12 minus one sixth close paren equals 12 times two third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49128" y="1427227"/>
            <a:ext cx="2739797" cy="647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x}{12}-\frac{12}{6}=\frac{24}{3}&quot;&gt;&lt;mfrac&gt;&lt;mrow&gt;&lt;mn&gt;12&lt;/mn&gt;&lt;mi&gt;x&lt;/mi&gt;&lt;/mrow&gt;&lt;mn&gt;12&lt;/mn&gt;&lt;/mfrac&gt;&lt;mo&gt;−&lt;/mo&gt;&lt;mfrac&gt;&lt;mn&gt;12&lt;/mn&gt;&lt;mn&gt;6&lt;/mn&gt;&lt;/mfrac&gt;&lt;mo&gt;=&lt;/mo&gt;&lt;mfrac&gt;&lt;mn&gt;24&lt;/mn&gt;&lt;mn&gt;3&lt;/mn&gt;&lt;/mfrac&gt;&lt;/math&gt;" id="1432" name="Google Shape;1432;p89" title="12 x over 12 minus twelve sixths equals 24 over 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364683" y="2229383"/>
            <a:ext cx="1784223" cy="548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-2=8&quot;&gt;&lt;mi&gt;x&lt;/mi&gt;&lt;mo&gt;−&lt;/mo&gt;&lt;mn&gt;2&lt;/mn&gt;&lt;mo&gt;=&lt;/mo&gt;&lt;mn&gt;8&lt;/mn&gt;&lt;/math&gt;" id="1433" name="Google Shape;1433;p89" title="x minus 2 equals 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5026" y="2975665"/>
            <a:ext cx="1118963" cy="20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10&quot;&gt;&lt;mi&gt;x&lt;/mi&gt;&lt;mo&gt;=&lt;/mo&gt;&lt;mn&gt;10&lt;/mn&gt;&lt;/math&gt;" id="1434" name="Google Shape;1434;p89" title="x equals 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347474" y="3850400"/>
            <a:ext cx="801418" cy="206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-2+2=8+2&quot;&gt;&lt;mi&gt;x&lt;/mi&gt;&lt;mo&gt;−&lt;/mo&gt;&lt;mn&gt;2&lt;/mn&gt;&lt;mo&gt;+&lt;/mo&gt;&lt;mn&gt;2&lt;/mn&gt;&lt;mo&gt;=&lt;/mo&gt;&lt;mn&gt;8&lt;/mn&gt;&lt;mo&gt;+&lt;/mo&gt;&lt;mn&gt;2&lt;/mn&gt;&lt;/math&gt;" id="1435" name="Google Shape;1435;p89" title="x minus 2 plus 2 equals 8 plus 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453887" y="3426300"/>
            <a:ext cx="2027141" cy="2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90"/>
          <p:cNvSpPr txBox="1"/>
          <p:nvPr>
            <p:ph idx="1" type="body"/>
          </p:nvPr>
        </p:nvSpPr>
        <p:spPr>
          <a:xfrm>
            <a:off x="324000" y="759300"/>
            <a:ext cx="61245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these equations two different ways.</a:t>
            </a:r>
            <a:endParaRPr/>
          </a:p>
        </p:txBody>
      </p:sp>
      <p:sp>
        <p:nvSpPr>
          <p:cNvPr id="1441" name="Google Shape;144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442" name="Google Shape;1442;p90"/>
          <p:cNvSpPr txBox="1"/>
          <p:nvPr>
            <p:ph idx="1" type="body"/>
          </p:nvPr>
        </p:nvSpPr>
        <p:spPr>
          <a:xfrm>
            <a:off x="324000" y="1335209"/>
            <a:ext cx="21153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r>
              <a:rPr lang="en-GB"/>
              <a:t>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+ 18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90"/>
          <p:cNvSpPr txBox="1"/>
          <p:nvPr>
            <p:ph idx="1" type="body"/>
          </p:nvPr>
        </p:nvSpPr>
        <p:spPr>
          <a:xfrm>
            <a:off x="324000" y="2554409"/>
            <a:ext cx="20478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</a:t>
            </a:r>
            <a:r>
              <a:rPr lang="en-GB"/>
              <a:t>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− 27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90"/>
          <p:cNvSpPr txBox="1"/>
          <p:nvPr>
            <p:ph idx="1" type="body"/>
          </p:nvPr>
        </p:nvSpPr>
        <p:spPr>
          <a:xfrm>
            <a:off x="324000" y="3773609"/>
            <a:ext cx="20478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</a:t>
            </a:r>
            <a:r>
              <a:rPr lang="en-GB"/>
              <a:t>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21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91"/>
          <p:cNvSpPr txBox="1"/>
          <p:nvPr>
            <p:ph idx="1" type="body"/>
          </p:nvPr>
        </p:nvSpPr>
        <p:spPr>
          <a:xfrm>
            <a:off x="324000" y="759300"/>
            <a:ext cx="73710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Solve: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3}{4}-\frac{x}{8}=\frac{7}{2}&quot;&gt;&lt;mfrac&gt;&lt;mn&gt;13&lt;/mn&gt;&lt;mn&gt;4&lt;/mn&gt;&lt;/mfrac&gt;&lt;mo&gt;−&lt;/mo&gt;&lt;mfrac&gt;&lt;mi&gt;x&lt;/mi&gt;&lt;mn&gt;8&lt;/mn&gt;&lt;/mfrac&gt;&lt;mo&gt;=&lt;/mo&gt;&lt;mfrac&gt;&lt;mn&gt;7&lt;/mn&gt;&lt;mn&gt;2&lt;/mn&gt;&lt;/mfrac&gt;&lt;/math&gt;" id="1451" name="Google Shape;1451;p91" title="thirteen fourths minus x over 8 equals s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709" y="817550"/>
            <a:ext cx="1826375" cy="7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2"/>
          <p:cNvSpPr txBox="1"/>
          <p:nvPr>
            <p:ph idx="1" type="body"/>
          </p:nvPr>
        </p:nvSpPr>
        <p:spPr>
          <a:xfrm>
            <a:off x="324000" y="759300"/>
            <a:ext cx="60459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these equations two different ways.</a:t>
            </a:r>
            <a:endParaRPr/>
          </a:p>
        </p:txBody>
      </p:sp>
      <p:sp>
        <p:nvSpPr>
          <p:cNvPr id="1457" name="Google Shape;1457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458" name="Google Shape;1458;p92"/>
          <p:cNvSpPr txBox="1"/>
          <p:nvPr>
            <p:ph idx="1" type="body"/>
          </p:nvPr>
        </p:nvSpPr>
        <p:spPr>
          <a:xfrm>
            <a:off x="324000" y="1335209"/>
            <a:ext cx="21153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+ 18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30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59" name="Google Shape;1459;p92"/>
          <p:cNvGraphicFramePr/>
          <p:nvPr/>
        </p:nvGraphicFramePr>
        <p:xfrm>
          <a:off x="-299618" y="2544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+18}{2}&quot;&gt;&lt;mfrac&gt;&lt;mrow&gt;&lt;mn&gt;2&lt;/mn&gt;&lt;mi&gt;x&lt;/mi&gt;&lt;mo&gt;+&lt;/mo&gt;&lt;mn&gt;18&lt;/mn&gt;&lt;/mrow&gt;&lt;mn&gt;2&lt;/mn&gt;&lt;/mfrac&gt;&lt;/math&gt;" id="1460" name="Google Shape;1460;p92" title="the fraction with numerator 2 x plus 18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73" y="3142582"/>
            <a:ext cx="907625" cy="5651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0}{2}&quot;&gt;&lt;mfrac&gt;&lt;mn&gt;30&lt;/mn&gt;&lt;mn&gt;2&lt;/mn&gt;&lt;/mfrac&gt;&lt;/math&gt;" id="1461" name="Google Shape;1461;p92" title="30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0951" y="3141725"/>
            <a:ext cx="313543" cy="5651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2" name="Google Shape;1462;p92"/>
          <p:cNvGraphicFramePr/>
          <p:nvPr/>
        </p:nvGraphicFramePr>
        <p:xfrm>
          <a:off x="2595982" y="2544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2(15)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3" name="Google Shape;1463;p92"/>
          <p:cNvSpPr txBox="1"/>
          <p:nvPr>
            <p:ph idx="1" type="body"/>
          </p:nvPr>
        </p:nvSpPr>
        <p:spPr>
          <a:xfrm>
            <a:off x="324000" y="2283300"/>
            <a:ext cx="45000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</a:t>
            </a:r>
            <a:r>
              <a:rPr lang="en-GB" sz="1800"/>
              <a:t> a multiplicative step:</a:t>
            </a:r>
            <a:endParaRPr sz="1800"/>
          </a:p>
        </p:txBody>
      </p:sp>
      <p:graphicFrame>
        <p:nvGraphicFramePr>
          <p:cNvPr id="1464" name="Google Shape;1464;p92"/>
          <p:cNvGraphicFramePr/>
          <p:nvPr/>
        </p:nvGraphicFramePr>
        <p:xfrm>
          <a:off x="5094505" y="1247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44775"/>
                <a:gridCol w="351950"/>
                <a:gridCol w="141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18 + (−18)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(−18)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5" name="Google Shape;1465;p92"/>
          <p:cNvSpPr txBox="1"/>
          <p:nvPr>
            <p:ph idx="1" type="body"/>
          </p:nvPr>
        </p:nvSpPr>
        <p:spPr>
          <a:xfrm>
            <a:off x="3829200" y="1216500"/>
            <a:ext cx="19467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an additive step:</a:t>
            </a:r>
            <a:endParaRPr sz="1800"/>
          </a:p>
        </p:txBody>
      </p:sp>
      <p:sp>
        <p:nvSpPr>
          <p:cNvPr id="1466" name="Google Shape;1466;p92"/>
          <p:cNvSpPr/>
          <p:nvPr/>
        </p:nvSpPr>
        <p:spPr>
          <a:xfrm>
            <a:off x="911900" y="437762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92"/>
          <p:cNvSpPr/>
          <p:nvPr/>
        </p:nvSpPr>
        <p:spPr>
          <a:xfrm>
            <a:off x="3807500" y="42364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92"/>
          <p:cNvSpPr/>
          <p:nvPr/>
        </p:nvSpPr>
        <p:spPr>
          <a:xfrm>
            <a:off x="6768070" y="29410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2"/>
          <p:cNvSpPr txBox="1"/>
          <p:nvPr>
            <p:ph idx="1" type="body"/>
          </p:nvPr>
        </p:nvSpPr>
        <p:spPr>
          <a:xfrm>
            <a:off x="5396000" y="3505650"/>
            <a:ext cx="33477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many different methods but correct methods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will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always give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same result.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93"/>
          <p:cNvSpPr txBox="1"/>
          <p:nvPr>
            <p:ph idx="1" type="body"/>
          </p:nvPr>
        </p:nvSpPr>
        <p:spPr>
          <a:xfrm>
            <a:off x="324000" y="759300"/>
            <a:ext cx="60459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these equations two different ways.</a:t>
            </a:r>
            <a:endParaRPr/>
          </a:p>
        </p:txBody>
      </p:sp>
      <p:sp>
        <p:nvSpPr>
          <p:cNvPr id="1475" name="Google Shape;1475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graphicFrame>
        <p:nvGraphicFramePr>
          <p:cNvPr id="1476" name="Google Shape;1476;p93"/>
          <p:cNvGraphicFramePr/>
          <p:nvPr/>
        </p:nvGraphicFramePr>
        <p:xfrm>
          <a:off x="233782" y="2544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722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9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7" name="Google Shape;1477;p93"/>
          <p:cNvGraphicFramePr/>
          <p:nvPr/>
        </p:nvGraphicFramePr>
        <p:xfrm>
          <a:off x="3129382" y="2544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(3)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− 9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8" name="Google Shape;1478;p93"/>
          <p:cNvSpPr txBox="1"/>
          <p:nvPr>
            <p:ph idx="1" type="body"/>
          </p:nvPr>
        </p:nvSpPr>
        <p:spPr>
          <a:xfrm>
            <a:off x="324000" y="2283300"/>
            <a:ext cx="45000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a multiplicative step:</a:t>
            </a:r>
            <a:endParaRPr sz="1800"/>
          </a:p>
        </p:txBody>
      </p:sp>
      <p:graphicFrame>
        <p:nvGraphicFramePr>
          <p:cNvPr id="1479" name="Google Shape;1479;p93"/>
          <p:cNvGraphicFramePr/>
          <p:nvPr/>
        </p:nvGraphicFramePr>
        <p:xfrm>
          <a:off x="5094505" y="1247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44775"/>
                <a:gridCol w="351950"/>
                <a:gridCol w="141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− 27 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0" name="Google Shape;1480;p93"/>
          <p:cNvSpPr txBox="1"/>
          <p:nvPr>
            <p:ph idx="1" type="body"/>
          </p:nvPr>
        </p:nvSpPr>
        <p:spPr>
          <a:xfrm>
            <a:off x="3829200" y="1216500"/>
            <a:ext cx="19467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an additive step:</a:t>
            </a:r>
            <a:endParaRPr sz="1800"/>
          </a:p>
        </p:txBody>
      </p:sp>
      <p:sp>
        <p:nvSpPr>
          <p:cNvPr id="1481" name="Google Shape;1481;p93"/>
          <p:cNvSpPr/>
          <p:nvPr/>
        </p:nvSpPr>
        <p:spPr>
          <a:xfrm>
            <a:off x="1445300" y="437762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3"/>
          <p:cNvSpPr/>
          <p:nvPr/>
        </p:nvSpPr>
        <p:spPr>
          <a:xfrm>
            <a:off x="4340900" y="42364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3" name="Google Shape;1483;p93"/>
          <p:cNvSpPr/>
          <p:nvPr/>
        </p:nvSpPr>
        <p:spPr>
          <a:xfrm>
            <a:off x="6768070" y="29410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3"/>
          <p:cNvSpPr txBox="1"/>
          <p:nvPr>
            <p:ph idx="1" type="body"/>
          </p:nvPr>
        </p:nvSpPr>
        <p:spPr>
          <a:xfrm>
            <a:off x="324000" y="1335209"/>
            <a:ext cx="20478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− 27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9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1485" name="Google Shape;1485;p93"/>
          <p:cNvGrpSpPr/>
          <p:nvPr/>
        </p:nvGrpSpPr>
        <p:grpSpPr>
          <a:xfrm>
            <a:off x="478262" y="3110575"/>
            <a:ext cx="1823550" cy="487025"/>
            <a:chOff x="478262" y="3110575"/>
            <a:chExt cx="1823550" cy="487025"/>
          </a:xfrm>
        </p:grpSpPr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486" name="Google Shape;1486;p93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8262" y="3110575"/>
              <a:ext cx="147150" cy="487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3}&quot;&gt;&lt;mfrac&gt;&lt;mn&gt;1&lt;/mn&gt;&lt;mn&gt;3&lt;/mn&gt;&lt;/mfrac&gt;&lt;/math&gt;" id="1487" name="Google Shape;1487;p93" title="one third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154662" y="3110575"/>
              <a:ext cx="147150" cy="487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94"/>
          <p:cNvSpPr txBox="1"/>
          <p:nvPr>
            <p:ph idx="1" type="body"/>
          </p:nvPr>
        </p:nvSpPr>
        <p:spPr>
          <a:xfrm>
            <a:off x="324000" y="759300"/>
            <a:ext cx="60459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Solve these equations two different ways.</a:t>
            </a:r>
            <a:endParaRPr/>
          </a:p>
        </p:txBody>
      </p:sp>
      <p:sp>
        <p:nvSpPr>
          <p:cNvPr id="1493" name="Google Shape;1493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sp>
        <p:nvSpPr>
          <p:cNvPr id="1494" name="Google Shape;1494;p94"/>
          <p:cNvSpPr txBox="1"/>
          <p:nvPr>
            <p:ph idx="1" type="body"/>
          </p:nvPr>
        </p:nvSpPr>
        <p:spPr>
          <a:xfrm>
            <a:off x="324000" y="1335209"/>
            <a:ext cx="2115300" cy="4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c)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35 − 7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95" name="Google Shape;1495;p94"/>
          <p:cNvGraphicFramePr/>
          <p:nvPr/>
        </p:nvGraphicFramePr>
        <p:xfrm>
          <a:off x="-299618" y="2160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276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6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5 − 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6" name="Google Shape;1496;p94"/>
          <p:cNvGraphicFramePr/>
          <p:nvPr/>
        </p:nvGraphicFramePr>
        <p:xfrm>
          <a:off x="2595982" y="2163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1569150"/>
                <a:gridCol w="400800"/>
                <a:gridCol w="120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−7(−3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 + 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7" name="Google Shape;1497;p94"/>
          <p:cNvSpPr txBox="1"/>
          <p:nvPr>
            <p:ph idx="1" type="body"/>
          </p:nvPr>
        </p:nvSpPr>
        <p:spPr>
          <a:xfrm>
            <a:off x="324000" y="1848561"/>
            <a:ext cx="45000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a multiplicative step:</a:t>
            </a:r>
            <a:endParaRPr sz="1800"/>
          </a:p>
        </p:txBody>
      </p:sp>
      <p:graphicFrame>
        <p:nvGraphicFramePr>
          <p:cNvPr id="1498" name="Google Shape;1498;p94"/>
          <p:cNvGraphicFramePr/>
          <p:nvPr/>
        </p:nvGraphicFramePr>
        <p:xfrm>
          <a:off x="5094505" y="12470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{3FBADF35-9B4D-43EF-B767-EBCBA2B9FFA3}</a:tableStyleId>
              </a:tblPr>
              <a:tblGrid>
                <a:gridCol w="2044775"/>
                <a:gridCol w="351950"/>
                <a:gridCol w="1419900"/>
              </a:tblGrid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35 − 7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(−35)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(−35)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6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 sz="24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9" name="Google Shape;1499;p94"/>
          <p:cNvSpPr txBox="1"/>
          <p:nvPr>
            <p:ph idx="1" type="body"/>
          </p:nvPr>
        </p:nvSpPr>
        <p:spPr>
          <a:xfrm>
            <a:off x="3829200" y="1185221"/>
            <a:ext cx="1946700" cy="2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Starting with an additive step:</a:t>
            </a:r>
            <a:endParaRPr sz="1800"/>
          </a:p>
        </p:txBody>
      </p:sp>
      <p:sp>
        <p:nvSpPr>
          <p:cNvPr id="1500" name="Google Shape;1500;p94"/>
          <p:cNvSpPr/>
          <p:nvPr/>
        </p:nvSpPr>
        <p:spPr>
          <a:xfrm>
            <a:off x="878214" y="4454112"/>
            <a:ext cx="1190700" cy="385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1" name="Google Shape;1501;p94"/>
          <p:cNvSpPr/>
          <p:nvPr/>
        </p:nvSpPr>
        <p:spPr>
          <a:xfrm>
            <a:off x="3807500" y="38554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2" name="Google Shape;1502;p94"/>
          <p:cNvSpPr/>
          <p:nvPr/>
        </p:nvSpPr>
        <p:spPr>
          <a:xfrm>
            <a:off x="6768070" y="2941055"/>
            <a:ext cx="1190700" cy="516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3" name="Google Shape;1503;p94"/>
          <p:cNvGrpSpPr/>
          <p:nvPr/>
        </p:nvGrpSpPr>
        <p:grpSpPr>
          <a:xfrm>
            <a:off x="355714" y="2697584"/>
            <a:ext cx="1686480" cy="569002"/>
            <a:chOff x="355714" y="2697584"/>
            <a:chExt cx="1686480" cy="569002"/>
          </a:xfrm>
        </p:grpSpPr>
        <p:pic>
          <p:nvPicPr>
            <p:cNvPr descr="&lt;math xmlns=&quot;http://www.w3.org/1998/Math/MathML&quot; display=&quot;block&quot; data-is-equatio=&quot;1&quot; data-latex=&quot;\frac{35-7x}{7}&quot;&gt;&lt;mfrac&gt;&lt;mrow&gt;&lt;mn&gt;35&lt;/mn&gt;&lt;mo&gt;−&lt;/mo&gt;&lt;mn&gt;7&lt;/mn&gt;&lt;mi&gt;x&lt;/mi&gt;&lt;/mrow&gt;&lt;mn&gt;7&lt;/mn&gt;&lt;/mfrac&gt;&lt;/math&gt;" id="1504" name="Google Shape;1504;p94" title="the fraction with numerator 35 minus 7 x and denominator 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5714" y="2697584"/>
              <a:ext cx="909665" cy="5659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21}{7}&quot;&gt;&lt;mfrac&gt;&lt;mn&gt;21&lt;/mn&gt;&lt;mn&gt;7&lt;/mn&gt;&lt;/mfrac&gt;&lt;/math&gt;" id="1505" name="Google Shape;1505;p94" title="21 over 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34629" y="2700655"/>
              <a:ext cx="307566" cy="56593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95"/>
          <p:cNvSpPr txBox="1"/>
          <p:nvPr>
            <p:ph idx="1" type="body"/>
          </p:nvPr>
        </p:nvSpPr>
        <p:spPr>
          <a:xfrm>
            <a:off x="324000" y="759300"/>
            <a:ext cx="1245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r>
              <a:rPr lang="en-GB"/>
              <a:t>) Solve: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Multiple approaches to solving the same equation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3}{4}-\frac{x}{8}=\frac{7}{2}&quot;&gt;&lt;mfrac&gt;&lt;mn&gt;13&lt;/mn&gt;&lt;mn&gt;4&lt;/mn&gt;&lt;/mfrac&gt;&lt;mo&gt;−&lt;/mo&gt;&lt;mfrac&gt;&lt;mi&gt;x&lt;/mi&gt;&lt;mn&gt;8&lt;/mn&gt;&lt;/mfrac&gt;&lt;mo&gt;=&lt;/mo&gt;&lt;mfrac&gt;&lt;mn&gt;7&lt;/mn&gt;&lt;mn&gt;2&lt;/mn&gt;&lt;/mfrac&gt;&lt;/math&gt;" id="1512" name="Google Shape;1512;p95" title="thirteen fourths minus x over 8 equals seven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2709" y="817550"/>
            <a:ext cx="1826375" cy="72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\left(\frac{13}{4}-\frac{x}{8}\right)=8\left(\frac{7}{2}\right)&quot;&gt;&lt;mn&gt;8&lt;/mn&gt;&lt;mrow data-mjx-texclass=&quot;INNER&quot;&gt;&lt;mo data-mjx-texclass=&quot;OPEN&quot;&gt;(&lt;/mo&gt;&lt;mfrac&gt;&lt;mn&gt;13&lt;/mn&gt;&lt;mn&gt;4&lt;/mn&gt;&lt;/mfrac&gt;&lt;mo&gt;−&lt;/mo&gt;&lt;mfrac&gt;&lt;mi&gt;x&lt;/mi&gt;&lt;mn&gt;8&lt;/mn&gt;&lt;/mfrac&gt;&lt;mo data-mjx-texclass=&quot;CLOSE&quot;&gt;)&lt;/mo&gt;&lt;/mrow&gt;&lt;mo&gt;=&lt;/mo&gt;&lt;mn&gt;8&lt;/mn&gt;&lt;mrow data-mjx-texclass=&quot;INNER&quot;&gt;&lt;mo data-mjx-texclass=&quot;OPEN&quot;&gt;(&lt;/mo&gt;&lt;mfrac&gt;&lt;mn&gt;7&lt;/mn&gt;&lt;mn&gt;2&lt;/mn&gt;&lt;/mfrac&gt;&lt;mo data-mjx-texclass=&quot;CLOSE&quot;&gt;)&lt;/mo&gt;&lt;/mrow&gt;&lt;/math&gt;" id="1513" name="Google Shape;1513;p95" title="8 times open paren thirteen fourths minus x over 8 close paren equals 8 times seven halve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716" y="1766536"/>
            <a:ext cx="3316674" cy="8554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6-x=28&quot;&gt;&lt;mn&gt;26&lt;/mn&gt;&lt;mo&gt;−&lt;/mo&gt;&lt;mi&gt;x&lt;/mi&gt;&lt;mo&gt;=&lt;/mo&gt;&lt;mn&gt;28&lt;/mn&gt;&lt;/math&gt;" id="1514" name="Google Shape;1514;p95" title="26 minus x equals 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5854" y="3025229"/>
            <a:ext cx="1653037" cy="242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2&quot;&gt;&lt;mi&gt;x&lt;/mi&gt;&lt;mo&gt;=&lt;/mo&gt;&lt;mo&gt;−&lt;/mo&gt;&lt;mn&gt;2&lt;/mn&gt;&lt;/math&gt;" id="1515" name="Google Shape;1515;p95" title="x equals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07654" y="3732027"/>
            <a:ext cx="997726" cy="24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96"/>
          <p:cNvSpPr txBox="1"/>
          <p:nvPr>
            <p:ph idx="1" type="body"/>
          </p:nvPr>
        </p:nvSpPr>
        <p:spPr>
          <a:xfrm>
            <a:off x="400200" y="2121475"/>
            <a:ext cx="8113800" cy="238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order of operations does not affect our answer as long as we are accurate in our working.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We have multiple methods to get to the solution, some are more </a:t>
            </a:r>
            <a:r>
              <a:rPr lang="en-GB" sz="2000"/>
              <a:t>efficient</a:t>
            </a:r>
            <a:r>
              <a:rPr lang="en-GB" sz="2000"/>
              <a:t> for some equations than others.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 can check your solution is correct by substituting it back into the original equation. </a:t>
            </a:r>
            <a:endParaRPr sz="2000"/>
          </a:p>
        </p:txBody>
      </p:sp>
      <p:sp>
        <p:nvSpPr>
          <p:cNvPr id="1521" name="Google Shape;1521;p9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two step linear equations</a:t>
            </a:r>
            <a:endParaRPr/>
          </a:p>
        </p:txBody>
      </p:sp>
      <p:sp>
        <p:nvSpPr>
          <p:cNvPr id="1522" name="Google Shape;1522;p96"/>
          <p:cNvSpPr txBox="1"/>
          <p:nvPr/>
        </p:nvSpPr>
        <p:spPr>
          <a:xfrm>
            <a:off x="324000" y="810000"/>
            <a:ext cx="849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solve two step equations by undoing the two steps, sometimes by undoing the additive step first, sometimes by undoing the multiplicative step first.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9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28" name="Google Shape;152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