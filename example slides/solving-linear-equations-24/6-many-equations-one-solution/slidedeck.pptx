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/>
  <p:notesSz cx="6858000" cy="9144000"/>
  <p:embeddedFontLst>
    <p:embeddedFont>
      <p:font typeface="Lexend" panose="00000000000000000000"/>
      <p:regular r:id="rId40"/>
    </p:embeddedFont>
    <p:embeddedFont>
      <p:font typeface="Lexend Medium" panose="00000000000000000000"/>
      <p:regular r:id="rId41"/>
    </p:embeddedFont>
    <p:embeddedFont>
      <p:font typeface="Kalam" panose="02000000000000000000"/>
      <p:regular r:id="rId42"/>
    </p:embeddedFont>
    <p:embeddedFont>
      <p:font typeface="Lexend Light" panose="00000000000000000000"/>
      <p:regular r:id="rId43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729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29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tags" Target="tags/tag1.xml" /><Relationship Id="rId4" Type="http://schemas.openxmlformats.org/officeDocument/2006/relationships/slide" Target="slides/slide2.xml" /><Relationship Id="rId40" Type="http://schemas.openxmlformats.org/officeDocument/2006/relationships/font" Target="fonts/font1.fntdata" /><Relationship Id="rId41" Type="http://schemas.openxmlformats.org/officeDocument/2006/relationships/font" Target="fonts/font2.fntdata" /><Relationship Id="rId42" Type="http://schemas.openxmlformats.org/officeDocument/2006/relationships/font" Target="fonts/font3.fntdata" /><Relationship Id="rId43" Type="http://schemas.openxmlformats.org/officeDocument/2006/relationships/font" Target="fonts/font4.fntdata" /><Relationship Id="rId44" Type="http://schemas.openxmlformats.org/officeDocument/2006/relationships/presProps" Target="presProps.xml" /><Relationship Id="rId45" Type="http://schemas.openxmlformats.org/officeDocument/2006/relationships/viewProps" Target="viewProps.xml" /><Relationship Id="rId46" Type="http://schemas.openxmlformats.org/officeDocument/2006/relationships/theme" Target="theme/theme1.xml" /><Relationship Id="rId47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1ec46005e6f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ec46005e6f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1ec46005e6f_0_7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c46005e6f_0_7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1ec46005e6f_0_7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ec46005e6f_0_7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g1ec46005e6f_0_7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ec46005e6f_0_7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g1ec46005e6f_0_11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ec46005e6f_0_11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sp>
        <p:nvSpPr>
          <p:cNvPr id="838" name="Google Shape;838;g1ec46005e6f_0_8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1ec46005e6f_0_8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g1ec46005e6f_0_8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1ec46005e6f_0_8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g1ec46005e6f_0_9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ec46005e6f_0_9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sp>
        <p:nvSpPr>
          <p:cNvPr id="893" name="Google Shape;893;g1ec46005e6f_0_9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ec46005e6f_0_9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8" name="Shape 918"/>
        <p:cNvGrpSpPr/>
        <p:nvPr/>
      </p:nvGrpSpPr>
      <p:grpSpPr>
        <a:xfrm>
          <a:off x="0" y="0"/>
          <a:ext cx="0" cy="0"/>
        </a:xfrm>
      </p:grpSpPr>
      <p:sp>
        <p:nvSpPr>
          <p:cNvPr id="919" name="Google Shape;919;g1ec46005e6f_0_9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ec46005e6f_0_9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0" name="Shape 950"/>
        <p:cNvGrpSpPr/>
        <p:nvPr/>
      </p:nvGrpSpPr>
      <p:grpSpPr>
        <a:xfrm>
          <a:off x="0" y="0"/>
          <a:ext cx="0" cy="0"/>
        </a:xfrm>
      </p:grpSpPr>
      <p:sp>
        <p:nvSpPr>
          <p:cNvPr id="951" name="Google Shape;951;g2a31b6af0e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a31b6af0e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7" name="Shape 977"/>
        <p:cNvGrpSpPr/>
        <p:nvPr/>
      </p:nvGrpSpPr>
      <p:grpSpPr>
        <a:xfrm>
          <a:off x="0" y="0"/>
          <a:ext cx="0" cy="0"/>
        </a:xfrm>
      </p:grpSpPr>
      <p:sp>
        <p:nvSpPr>
          <p:cNvPr id="978" name="Google Shape;978;g2a31b6af0e8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a31b6af0e8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2" name="Shape 1012"/>
        <p:cNvGrpSpPr/>
        <p:nvPr/>
      </p:nvGrpSpPr>
      <p:grpSpPr>
        <a:xfrm>
          <a:off x="0" y="0"/>
          <a:ext cx="0" cy="0"/>
        </a:xfrm>
      </p:grpSpPr>
      <p:sp>
        <p:nvSpPr>
          <p:cNvPr id="1013" name="Google Shape;1013;g1ec46005e6f_0_9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1ec46005e6f_0_9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6" name="Shape 1046"/>
        <p:cNvGrpSpPr/>
        <p:nvPr/>
      </p:nvGrpSpPr>
      <p:grpSpPr>
        <a:xfrm>
          <a:off x="0" y="0"/>
          <a:ext cx="0" cy="0"/>
        </a:xfrm>
      </p:grpSpPr>
      <p:sp>
        <p:nvSpPr>
          <p:cNvPr id="1047" name="Google Shape;1047;g1ec47912785_0_3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ec47912785_0_3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4" name="Shape 1064"/>
        <p:cNvGrpSpPr/>
        <p:nvPr/>
      </p:nvGrpSpPr>
      <p:grpSpPr>
        <a:xfrm>
          <a:off x="0" y="0"/>
          <a:ext cx="0" cy="0"/>
        </a:xfrm>
      </p:grpSpPr>
      <p:sp>
        <p:nvSpPr>
          <p:cNvPr id="1065" name="Google Shape;1065;g1ec47912785_0_4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ec47912785_0_4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3" name="Shape 1083"/>
        <p:cNvGrpSpPr/>
        <p:nvPr/>
      </p:nvGrpSpPr>
      <p:grpSpPr>
        <a:xfrm>
          <a:off x="0" y="0"/>
          <a:ext cx="0" cy="0"/>
        </a:xfrm>
      </p:grpSpPr>
      <p:sp>
        <p:nvSpPr>
          <p:cNvPr id="1084" name="Google Shape;1084;g1ec47912785_0_4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1ec47912785_0_4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1" name="Shape 1101"/>
        <p:cNvGrpSpPr/>
        <p:nvPr/>
      </p:nvGrpSpPr>
      <p:grpSpPr>
        <a:xfrm>
          <a:off x="0" y="0"/>
          <a:ext cx="0" cy="0"/>
        </a:xfrm>
      </p:grpSpPr>
      <p:sp>
        <p:nvSpPr>
          <p:cNvPr id="1102" name="Google Shape;1102;g1ec46005e6f_0_10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1ec46005e6f_0_10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sp>
        <p:nvSpPr>
          <p:cNvPr id="1135" name="Google Shape;1135;g1ec46ab3421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ec46ab3421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g1ec46ab3421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1ec46ab3421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0" name="Shape 1210"/>
        <p:cNvGrpSpPr/>
        <p:nvPr/>
      </p:nvGrpSpPr>
      <p:grpSpPr>
        <a:xfrm>
          <a:off x="0" y="0"/>
          <a:ext cx="0" cy="0"/>
        </a:xfrm>
      </p:grpSpPr>
      <p:sp>
        <p:nvSpPr>
          <p:cNvPr id="1211" name="Google Shape;1211;g2a28450b5e4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a28450b5e4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5" name="Shape 1255"/>
        <p:cNvGrpSpPr/>
        <p:nvPr/>
      </p:nvGrpSpPr>
      <p:grpSpPr>
        <a:xfrm>
          <a:off x="0" y="0"/>
          <a:ext cx="0" cy="0"/>
        </a:xfrm>
      </p:grpSpPr>
      <p:sp>
        <p:nvSpPr>
          <p:cNvPr id="1256" name="Google Shape;1256;g1ec47912785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ec47912785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sp>
        <p:nvSpPr>
          <p:cNvPr id="1264" name="Google Shape;1264;g1ec47912785_0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1ec47912785_0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6" name="Shape 1296"/>
        <p:cNvGrpSpPr/>
        <p:nvPr/>
      </p:nvGrpSpPr>
      <p:grpSpPr>
        <a:xfrm>
          <a:off x="0" y="0"/>
          <a:ext cx="0" cy="0"/>
        </a:xfrm>
      </p:grpSpPr>
      <p:sp>
        <p:nvSpPr>
          <p:cNvPr id="1297" name="Google Shape;1297;g1ec47912785_0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1ec47912785_0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g1ec47912785_0_1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1ec47912785_0_1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9" name="Shape 1369"/>
        <p:cNvGrpSpPr/>
        <p:nvPr/>
      </p:nvGrpSpPr>
      <p:grpSpPr>
        <a:xfrm>
          <a:off x="0" y="0"/>
          <a:ext cx="0" cy="0"/>
        </a:xfrm>
      </p:grpSpPr>
      <p:sp>
        <p:nvSpPr>
          <p:cNvPr id="1370" name="Google Shape;1370;g1ec47912785_0_2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1ec47912785_0_2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3" name="Shape 1393"/>
        <p:cNvGrpSpPr/>
        <p:nvPr/>
      </p:nvGrpSpPr>
      <p:grpSpPr>
        <a:xfrm>
          <a:off x="0" y="0"/>
          <a:ext cx="0" cy="0"/>
        </a:xfrm>
      </p:grpSpPr>
      <p:sp>
        <p:nvSpPr>
          <p:cNvPr id="1394" name="Google Shape;1394;g1ec47912785_0_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1ec47912785_0_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6" name="Shape 1416"/>
        <p:cNvGrpSpPr/>
        <p:nvPr/>
      </p:nvGrpSpPr>
      <p:grpSpPr>
        <a:xfrm>
          <a:off x="0" y="0"/>
          <a:ext cx="0" cy="0"/>
        </a:xfrm>
      </p:grpSpPr>
      <p:sp>
        <p:nvSpPr>
          <p:cNvPr id="1417" name="Google Shape;1417;g1ec47912785_0_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1ec47912785_0_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3" name="Shape 1443"/>
        <p:cNvGrpSpPr/>
        <p:nvPr/>
      </p:nvGrpSpPr>
      <p:grpSpPr>
        <a:xfrm>
          <a:off x="0" y="0"/>
          <a:ext cx="0" cy="0"/>
        </a:xfrm>
      </p:grpSpPr>
      <p:sp>
        <p:nvSpPr>
          <p:cNvPr id="1444" name="Google Shape;1444;g1ec47912785_0_5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1ec47912785_0_5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sp>
        <p:nvSpPr>
          <p:cNvPr id="1479" name="Google Shape;1479;g1ec47912785_0_5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ec47912785_0_5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g1ec47912785_0_5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ec47912785_0_5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sp>
        <p:nvSpPr>
          <p:cNvPr id="1559" name="Google Shape;1559;g1ec47912785_0_6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1ec47912785_0_6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5" name="Shape 1605"/>
        <p:cNvGrpSpPr/>
        <p:nvPr/>
      </p:nvGrpSpPr>
      <p:grpSpPr>
        <a:xfrm>
          <a:off x="0" y="0"/>
          <a:ext cx="0" cy="0"/>
        </a:xfrm>
      </p:grpSpPr>
      <p:sp>
        <p:nvSpPr>
          <p:cNvPr id="1606" name="Google Shape;1606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Relationship Id="rId6" Type="http://schemas.openxmlformats.org/officeDocument/2006/relationships/image" Target="../media/image5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Relationship Id="rId5" Type="http://schemas.openxmlformats.org/officeDocument/2006/relationships/image" Target="../media/image57.png" /><Relationship Id="rId6" Type="http://schemas.openxmlformats.org/officeDocument/2006/relationships/image" Target="../media/image58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39.png" /><Relationship Id="rId4" Type="http://schemas.openxmlformats.org/officeDocument/2006/relationships/image" Target="../media/image5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0.png" /><Relationship Id="rId4" Type="http://schemas.openxmlformats.org/officeDocument/2006/relationships/image" Target="../media/image60.png" /><Relationship Id="rId5" Type="http://schemas.openxmlformats.org/officeDocument/2006/relationships/image" Target="../media/image6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0.png" /><Relationship Id="rId4" Type="http://schemas.openxmlformats.org/officeDocument/2006/relationships/image" Target="../media/image62.png" /><Relationship Id="rId5" Type="http://schemas.openxmlformats.org/officeDocument/2006/relationships/image" Target="../media/image63.png" /><Relationship Id="rId6" Type="http://schemas.openxmlformats.org/officeDocument/2006/relationships/image" Target="../media/image6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8.png" /><Relationship Id="rId4" Type="http://schemas.openxmlformats.org/officeDocument/2006/relationships/image" Target="../media/image4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8.png" /><Relationship Id="rId4" Type="http://schemas.openxmlformats.org/officeDocument/2006/relationships/image" Target="../media/image4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39.png" /><Relationship Id="rId4" Type="http://schemas.openxmlformats.org/officeDocument/2006/relationships/image" Target="../media/image5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0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71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0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72.png" /><Relationship Id="rId7" Type="http://schemas.openxmlformats.org/officeDocument/2006/relationships/image" Target="../media/image73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6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that a family of linear equations can all have the same solution.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>
            <p:ph type="subTitle" idx="1"/>
          </p:nvPr>
        </p:nvSpPr>
        <p:spPr>
          <a:xfrm>
            <a:off x="324000" y="2542375"/>
            <a:ext cx="8496000" cy="111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solution to an equality with one variable is a value for the variable which, when substituted, maintains the equality between the expressions.  </a:t>
            </a:r>
            <a:endParaRPr/>
          </a:p>
        </p:txBody>
      </p:sp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123240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equation is used to show two expressions that are equal to each other.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759300"/>
            <a:ext cx="8237700" cy="124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we know two expressions are equal we can form an equation.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If we perform the same operation to both expressions they remain equal to each other.</a:t>
            </a:r>
            <a:endParaRPr sz="1800"/>
          </a:p>
        </p:txBody>
      </p:sp>
      <p:sp>
        <p:nvSpPr>
          <p:cNvPr id="786" name="Google Shape;786;p68"/>
          <p:cNvSpPr/>
          <p:nvPr/>
        </p:nvSpPr>
        <p:spPr>
          <a:xfrm>
            <a:off x="3639650" y="17793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7" name="Google Shape;787;p68"/>
          <p:cNvSpPr txBox="1"/>
          <p:nvPr>
            <p:ph type="body" idx="1"/>
          </p:nvPr>
        </p:nvSpPr>
        <p:spPr>
          <a:xfrm>
            <a:off x="453150" y="2962200"/>
            <a:ext cx="8237700" cy="82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know that 8 + 4 and 12 are equal to each other.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happens if I add 1 to the expression on the left hand side? </a:t>
            </a:r>
            <a:endParaRPr sz="1800"/>
          </a:p>
        </p:txBody>
      </p:sp>
      <p:cxnSp>
        <p:nvCxnSpPr>
          <p:cNvPr id="788" name="Google Shape;788;p68"/>
          <p:cNvCxnSpPr/>
          <p:nvPr/>
        </p:nvCxnSpPr>
        <p:spPr>
          <a:xfrm>
            <a:off x="5230700" y="2091275"/>
            <a:ext cx="636900" cy="18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89" name="Google Shape;789;p68"/>
          <p:cNvSpPr/>
          <p:nvPr/>
        </p:nvSpPr>
        <p:spPr>
          <a:xfrm flipH="1">
            <a:off x="5358975" y="1881775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+ 1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0" name="Google Shape;790;p68"/>
          <p:cNvSpPr/>
          <p:nvPr/>
        </p:nvSpPr>
        <p:spPr>
          <a:xfrm flipH="1">
            <a:off x="5408475" y="22766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1" name="Google Shape;791;p68"/>
          <p:cNvSpPr txBox="1"/>
          <p:nvPr>
            <p:ph type="body" idx="1"/>
          </p:nvPr>
        </p:nvSpPr>
        <p:spPr>
          <a:xfrm>
            <a:off x="453150" y="3776525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no longer equal to 12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792" name="Google Shape;792;p68"/>
          <p:cNvSpPr txBox="1"/>
          <p:nvPr>
            <p:ph type="body" idx="1"/>
          </p:nvPr>
        </p:nvSpPr>
        <p:spPr>
          <a:xfrm>
            <a:off x="453150" y="4220825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we need to do to the right hand side to maintain equality? </a:t>
            </a:r>
            <a:endParaRPr sz="1800"/>
          </a:p>
        </p:txBody>
      </p:sp>
      <p:sp>
        <p:nvSpPr>
          <p:cNvPr id="793" name="Google Shape;793;p68"/>
          <p:cNvSpPr txBox="1"/>
          <p:nvPr>
            <p:ph type="body" idx="1"/>
          </p:nvPr>
        </p:nvSpPr>
        <p:spPr>
          <a:xfrm>
            <a:off x="453150" y="4526275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1 to 12 as well.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794" name="Google Shape;794;p68"/>
          <p:cNvSpPr/>
          <p:nvPr/>
        </p:nvSpPr>
        <p:spPr>
          <a:xfrm flipH="1">
            <a:off x="6622150" y="22766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795" name="Google Shape;795;p68"/>
          <p:cNvCxnSpPr/>
          <p:nvPr/>
        </p:nvCxnSpPr>
        <p:spPr>
          <a:xfrm>
            <a:off x="6603750" y="2514375"/>
            <a:ext cx="946200" cy="3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6" name="Google Shape;796;p68"/>
          <p:cNvSpPr/>
          <p:nvPr/>
        </p:nvSpPr>
        <p:spPr>
          <a:xfrm flipH="1">
            <a:off x="6774050" y="28163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13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sp>
        <p:nvSpPr>
          <p:cNvPr id="801" name="Google Shape;80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02" name="Google Shape;802;p69"/>
          <p:cNvSpPr txBox="1"/>
          <p:nvPr>
            <p:ph type="body" idx="1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I need to do to maintain equality this time?</a:t>
            </a:r>
            <a:endParaRPr sz="1800"/>
          </a:p>
        </p:txBody>
      </p:sp>
      <p:sp>
        <p:nvSpPr>
          <p:cNvPr id="803" name="Google Shape;803;p69"/>
          <p:cNvSpPr/>
          <p:nvPr/>
        </p:nvSpPr>
        <p:spPr>
          <a:xfrm>
            <a:off x="3639650" y="11697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4" name="Google Shape;804;p69"/>
          <p:cNvSpPr/>
          <p:nvPr/>
        </p:nvSpPr>
        <p:spPr>
          <a:xfrm flipH="1">
            <a:off x="5358975" y="1272175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+ 1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5" name="Google Shape;805;p69"/>
          <p:cNvSpPr/>
          <p:nvPr/>
        </p:nvSpPr>
        <p:spPr>
          <a:xfrm flipH="1">
            <a:off x="5408475" y="16670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6" name="Google Shape;806;p69"/>
          <p:cNvSpPr/>
          <p:nvPr/>
        </p:nvSpPr>
        <p:spPr>
          <a:xfrm flipH="1">
            <a:off x="6622150" y="16670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7" name="Google Shape;807;p69"/>
          <p:cNvSpPr/>
          <p:nvPr/>
        </p:nvSpPr>
        <p:spPr>
          <a:xfrm flipH="1">
            <a:off x="6774050" y="22067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13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08" name="Google Shape;808;p69"/>
          <p:cNvCxnSpPr>
            <a:stCxn id="803" idx="3"/>
          </p:cNvCxnSpPr>
          <p:nvPr/>
        </p:nvCxnSpPr>
        <p:spPr>
          <a:xfrm flipH="1">
            <a:off x="3022901" y="1631172"/>
            <a:ext cx="852000" cy="16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09" name="Google Shape;809;p69"/>
          <p:cNvSpPr/>
          <p:nvPr/>
        </p:nvSpPr>
        <p:spPr>
          <a:xfrm>
            <a:off x="2695325" y="1333188"/>
            <a:ext cx="772800" cy="286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10)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0" name="Google Shape;810;p69"/>
          <p:cNvSpPr/>
          <p:nvPr/>
        </p:nvSpPr>
        <p:spPr>
          <a:xfrm flipH="1">
            <a:off x="1345875" y="1749875"/>
            <a:ext cx="1783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(−10)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1" name="Google Shape;811;p69"/>
          <p:cNvSpPr/>
          <p:nvPr/>
        </p:nvSpPr>
        <p:spPr>
          <a:xfrm flipH="1">
            <a:off x="3125638" y="17498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(−10)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12" name="Google Shape;812;p69"/>
          <p:cNvCxnSpPr/>
          <p:nvPr/>
        </p:nvCxnSpPr>
        <p:spPr>
          <a:xfrm flipH="1">
            <a:off x="1684800" y="2028138"/>
            <a:ext cx="746100" cy="26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3" name="Google Shape;813;p69"/>
          <p:cNvSpPr/>
          <p:nvPr/>
        </p:nvSpPr>
        <p:spPr>
          <a:xfrm flipH="1">
            <a:off x="749125" y="2301363"/>
            <a:ext cx="1783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4" name="Google Shape;814;p69"/>
          <p:cNvSpPr txBox="1"/>
          <p:nvPr>
            <p:ph type="body" idx="1"/>
          </p:nvPr>
        </p:nvSpPr>
        <p:spPr>
          <a:xfrm>
            <a:off x="324000" y="312385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check that we have maintained equality by seeing if both sides of the equation are still equal. </a:t>
            </a:r>
            <a:endParaRPr sz="1800"/>
          </a:p>
        </p:txBody>
      </p:sp>
      <p:sp>
        <p:nvSpPr>
          <p:cNvPr id="815" name="Google Shape;815;p69"/>
          <p:cNvSpPr/>
          <p:nvPr/>
        </p:nvSpPr>
        <p:spPr>
          <a:xfrm flipH="1">
            <a:off x="324000" y="3856200"/>
            <a:ext cx="17838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7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12 −10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 = 2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6" name="Google Shape;816;p69"/>
          <p:cNvSpPr txBox="1"/>
          <p:nvPr>
            <p:ph type="body" idx="1"/>
          </p:nvPr>
        </p:nvSpPr>
        <p:spPr>
          <a:xfrm>
            <a:off x="2871750" y="4031650"/>
            <a:ext cx="59484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Yes, we have maintained equality.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This equation is equivalent to our initial equation. </a:t>
            </a:r>
            <a:endParaRPr sz="1800"/>
          </a:p>
        </p:txBody>
      </p:sp>
      <p:cxnSp>
        <p:nvCxnSpPr>
          <p:cNvPr id="817" name="Google Shape;817;p69"/>
          <p:cNvCxnSpPr>
            <a:stCxn id="803" idx="5"/>
          </p:cNvCxnSpPr>
          <p:nvPr/>
        </p:nvCxnSpPr>
        <p:spPr>
          <a:xfrm>
            <a:off x="5010791" y="1631172"/>
            <a:ext cx="813600" cy="6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18" name="Google Shape;818;p69"/>
          <p:cNvCxnSpPr/>
          <p:nvPr/>
        </p:nvCxnSpPr>
        <p:spPr>
          <a:xfrm>
            <a:off x="6560525" y="1926175"/>
            <a:ext cx="946200" cy="30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24" name="Google Shape;824;p70"/>
          <p:cNvSpPr txBox="1"/>
          <p:nvPr>
            <p:ph type="body" idx="1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will happen if I double the expression on the right hand side?</a:t>
            </a:r>
            <a:endParaRPr sz="1800"/>
          </a:p>
        </p:txBody>
      </p:sp>
      <p:sp>
        <p:nvSpPr>
          <p:cNvPr id="825" name="Google Shape;825;p70"/>
          <p:cNvSpPr/>
          <p:nvPr/>
        </p:nvSpPr>
        <p:spPr>
          <a:xfrm>
            <a:off x="3639650" y="12459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26" name="Google Shape;826;p70"/>
          <p:cNvCxnSpPr/>
          <p:nvPr/>
        </p:nvCxnSpPr>
        <p:spPr>
          <a:xfrm>
            <a:off x="5230700" y="1557875"/>
            <a:ext cx="509700" cy="22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27" name="Google Shape;827;p70"/>
          <p:cNvSpPr/>
          <p:nvPr/>
        </p:nvSpPr>
        <p:spPr>
          <a:xfrm flipH="1">
            <a:off x="5358975" y="1348375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8" name="Google Shape;828;p70"/>
          <p:cNvSpPr txBox="1"/>
          <p:nvPr>
            <p:ph type="body" idx="1"/>
          </p:nvPr>
        </p:nvSpPr>
        <p:spPr>
          <a:xfrm>
            <a:off x="324000" y="281905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we need to do to maintain equality? </a:t>
            </a:r>
            <a:endParaRPr sz="1800"/>
          </a:p>
        </p:txBody>
      </p:sp>
      <p:sp>
        <p:nvSpPr>
          <p:cNvPr id="829" name="Google Shape;829;p70"/>
          <p:cNvSpPr txBox="1"/>
          <p:nvPr>
            <p:ph type="body" idx="1"/>
          </p:nvPr>
        </p:nvSpPr>
        <p:spPr>
          <a:xfrm>
            <a:off x="324000" y="3240300"/>
            <a:ext cx="84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 the whole expression on the left hand side by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70"/>
          <p:cNvSpPr/>
          <p:nvPr/>
        </p:nvSpPr>
        <p:spPr>
          <a:xfrm flipH="1">
            <a:off x="6089100" y="17528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31" name="Google Shape;831;p70"/>
          <p:cNvCxnSpPr>
            <a:endCxn id="832" idx="0"/>
          </p:cNvCxnSpPr>
          <p:nvPr/>
        </p:nvCxnSpPr>
        <p:spPr>
          <a:xfrm>
            <a:off x="6185300" y="1984775"/>
            <a:ext cx="621000" cy="28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3" name="Google Shape;833;p70"/>
          <p:cNvSpPr/>
          <p:nvPr/>
        </p:nvSpPr>
        <p:spPr>
          <a:xfrm flipH="1">
            <a:off x="6177125" y="22667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8 + 4 + 1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24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4" name="Google Shape;834;p70"/>
          <p:cNvSpPr/>
          <p:nvPr/>
        </p:nvSpPr>
        <p:spPr>
          <a:xfrm flipH="1">
            <a:off x="4937375" y="17528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5" name="Google Shape;835;p70"/>
          <p:cNvSpPr txBox="1"/>
          <p:nvPr>
            <p:ph type="body" idx="1"/>
          </p:nvPr>
        </p:nvSpPr>
        <p:spPr>
          <a:xfrm>
            <a:off x="324000" y="3712850"/>
            <a:ext cx="84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Notice that brackets are necessary to ensure the whole expression is multiplied by 2</a:t>
            </a:r>
            <a:endParaRPr sz="1800"/>
          </a:p>
        </p:txBody>
      </p:sp>
      <p:sp>
        <p:nvSpPr>
          <p:cNvPr id="832" name="Google Shape;832;p70"/>
          <p:cNvSpPr/>
          <p:nvPr/>
        </p:nvSpPr>
        <p:spPr>
          <a:xfrm flipH="1">
            <a:off x="6307700" y="2266775"/>
            <a:ext cx="997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6" name="Google Shape;836;p70"/>
          <p:cNvSpPr txBox="1"/>
          <p:nvPr>
            <p:ph type="body" idx="1"/>
          </p:nvPr>
        </p:nvSpPr>
        <p:spPr>
          <a:xfrm>
            <a:off x="324000" y="4458875"/>
            <a:ext cx="84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Convention is to write the multiplier at the front of the bracket.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sp>
        <p:nvSpPr>
          <p:cNvPr id="841" name="Google Shape;84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42" name="Google Shape;842;p71"/>
          <p:cNvSpPr txBox="1"/>
          <p:nvPr>
            <p:ph type="body" idx="1"/>
          </p:nvPr>
        </p:nvSpPr>
        <p:spPr>
          <a:xfrm>
            <a:off x="324000" y="6069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will happen if I double the expression on the right hand side?</a:t>
            </a:r>
            <a:endParaRPr sz="1800"/>
          </a:p>
        </p:txBody>
      </p:sp>
      <p:sp>
        <p:nvSpPr>
          <p:cNvPr id="843" name="Google Shape;843;p71"/>
          <p:cNvSpPr/>
          <p:nvPr/>
        </p:nvSpPr>
        <p:spPr>
          <a:xfrm>
            <a:off x="3639650" y="1093500"/>
            <a:ext cx="1606500" cy="540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4" name="Google Shape;844;p71"/>
          <p:cNvSpPr/>
          <p:nvPr/>
        </p:nvSpPr>
        <p:spPr>
          <a:xfrm flipH="1">
            <a:off x="5358975" y="1195975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5" name="Google Shape;845;p71"/>
          <p:cNvSpPr/>
          <p:nvPr/>
        </p:nvSpPr>
        <p:spPr>
          <a:xfrm flipH="1">
            <a:off x="6089100" y="16004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6" name="Google Shape;846;p71"/>
          <p:cNvSpPr/>
          <p:nvPr/>
        </p:nvSpPr>
        <p:spPr>
          <a:xfrm flipH="1">
            <a:off x="6177125" y="21143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8 + 4 + 1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24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7" name="Google Shape;847;p71"/>
          <p:cNvSpPr/>
          <p:nvPr/>
        </p:nvSpPr>
        <p:spPr>
          <a:xfrm flipH="1">
            <a:off x="4937375" y="16004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8" name="Google Shape;848;p71"/>
          <p:cNvSpPr/>
          <p:nvPr/>
        </p:nvSpPr>
        <p:spPr>
          <a:xfrm flipH="1">
            <a:off x="6307700" y="2114375"/>
            <a:ext cx="997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199350" y="2073295"/>
            <a:ext cx="10602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0" name="Google Shape;850;p71"/>
          <p:cNvGrpSpPr/>
          <p:nvPr/>
        </p:nvGrpSpPr>
        <p:grpSpPr>
          <a:xfrm>
            <a:off x="1051564" y="1003787"/>
            <a:ext cx="2375178" cy="1218367"/>
            <a:chOff x="1902396" y="1783895"/>
            <a:chExt cx="1938130" cy="1144114"/>
          </a:xfrm>
        </p:grpSpPr>
        <p:pic>
          <p:nvPicPr>
            <p:cNvPr id="851" name="Google Shape;851;p7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96" y="1783895"/>
              <a:ext cx="1938130" cy="1144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71"/>
            <p:cNvSpPr txBox="1"/>
            <p:nvPr/>
          </p:nvSpPr>
          <p:spPr>
            <a:xfrm flipH="1">
              <a:off x="2045642" y="1810224"/>
              <a:ext cx="1677000" cy="10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To check we could calculate 8 + 4 then multiply by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3" name="Google Shape;85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75" y="1405500"/>
            <a:ext cx="527968" cy="6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1"/>
          <p:cNvSpPr txBox="1"/>
          <p:nvPr/>
        </p:nvSpPr>
        <p:spPr>
          <a:xfrm>
            <a:off x="3639650" y="3081600"/>
            <a:ext cx="15024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6451" y="2557956"/>
            <a:ext cx="527974" cy="608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1"/>
          <p:cNvGrpSpPr/>
          <p:nvPr/>
        </p:nvGrpSpPr>
        <p:grpSpPr>
          <a:xfrm flipH="1">
            <a:off x="1722141" y="2083804"/>
            <a:ext cx="2409574" cy="1281633"/>
            <a:chOff x="1902376" y="1608375"/>
            <a:chExt cx="2242299" cy="1316250"/>
          </a:xfrm>
        </p:grpSpPr>
        <p:pic>
          <p:nvPicPr>
            <p:cNvPr id="857" name="Google Shape;857;p71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76" y="1608375"/>
              <a:ext cx="2242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71"/>
            <p:cNvSpPr txBox="1"/>
            <p:nvPr/>
          </p:nvSpPr>
          <p:spPr>
            <a:xfrm flipH="1">
              <a:off x="2076525" y="1750458"/>
              <a:ext cx="1955100" cy="93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should do 2 × 8 and 2 × 4 and add them together.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9" name="Google Shape;859;p71"/>
          <p:cNvSpPr txBox="1"/>
          <p:nvPr>
            <p:ph type="body" idx="1"/>
          </p:nvPr>
        </p:nvSpPr>
        <p:spPr>
          <a:xfrm>
            <a:off x="324000" y="3477463"/>
            <a:ext cx="42093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agree with either statement?</a:t>
            </a:r>
            <a:endParaRPr sz="1800"/>
          </a:p>
        </p:txBody>
      </p:sp>
      <p:sp>
        <p:nvSpPr>
          <p:cNvPr id="860" name="Google Shape;860;p71"/>
          <p:cNvSpPr/>
          <p:nvPr/>
        </p:nvSpPr>
        <p:spPr>
          <a:xfrm flipH="1">
            <a:off x="4989600" y="2778600"/>
            <a:ext cx="17379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24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12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24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24 = 24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1" name="Google Shape;861;p71"/>
          <p:cNvSpPr/>
          <p:nvPr/>
        </p:nvSpPr>
        <p:spPr>
          <a:xfrm flipH="1">
            <a:off x="6957000" y="2626200"/>
            <a:ext cx="1863000" cy="11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4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24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16 + 8 = 24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   </a:t>
            </a:r>
            <a:r>
              <a:rPr lang="en-GB" sz="17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24 = 24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2" name="Google Shape;862;p71"/>
          <p:cNvSpPr txBox="1"/>
          <p:nvPr>
            <p:ph type="body" idx="1"/>
          </p:nvPr>
        </p:nvSpPr>
        <p:spPr>
          <a:xfrm>
            <a:off x="317400" y="3780000"/>
            <a:ext cx="8190300" cy="10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methods work and show that we have maintained equality. Alex uses the distributive property and Laura evaluates according to the priority of operations.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63" name="Google Shape;863;p71"/>
          <p:cNvCxnSpPr/>
          <p:nvPr/>
        </p:nvCxnSpPr>
        <p:spPr>
          <a:xfrm>
            <a:off x="5230700" y="1405475"/>
            <a:ext cx="509700" cy="22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64" name="Google Shape;864;p71"/>
          <p:cNvCxnSpPr/>
          <p:nvPr/>
        </p:nvCxnSpPr>
        <p:spPr>
          <a:xfrm>
            <a:off x="6185275" y="1832250"/>
            <a:ext cx="621000" cy="28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70" name="Google Shape;870;p72"/>
          <p:cNvSpPr txBox="1"/>
          <p:nvPr>
            <p:ph type="body" idx="1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mistake has been made here? How could you show that equality has not been maintained?</a:t>
            </a:r>
            <a:endParaRPr sz="1800"/>
          </a:p>
        </p:txBody>
      </p:sp>
      <p:sp>
        <p:nvSpPr>
          <p:cNvPr id="871" name="Google Shape;871;p72"/>
          <p:cNvSpPr/>
          <p:nvPr/>
        </p:nvSpPr>
        <p:spPr>
          <a:xfrm>
            <a:off x="3639650" y="17031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2" name="Google Shape;872;p72"/>
          <p:cNvSpPr/>
          <p:nvPr/>
        </p:nvSpPr>
        <p:spPr>
          <a:xfrm flipH="1">
            <a:off x="3175500" y="1857625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4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3" name="Google Shape;873;p72"/>
          <p:cNvSpPr/>
          <p:nvPr/>
        </p:nvSpPr>
        <p:spPr>
          <a:xfrm flipH="1">
            <a:off x="1976325" y="2281788"/>
            <a:ext cx="2059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 4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74" name="Google Shape;874;p72"/>
          <p:cNvCxnSpPr/>
          <p:nvPr/>
        </p:nvCxnSpPr>
        <p:spPr>
          <a:xfrm flipH="1">
            <a:off x="3118200" y="2077200"/>
            <a:ext cx="548700" cy="24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875" name="Google Shape;875;p72" descr="&lt;math xmlns=&quot;http://www.w3.org/1998/Math/MathML&quot; display=&quot;block&quot; data-is-equatio=&quot;1&quot; data-latex=&quot;8+\frac{4}{4}=\frac{12}{4}&quot;&gt;&lt;mn&gt;8&lt;/mn&gt;&lt;mo&gt;+&lt;/mo&gt;&lt;mfrac&gt;&lt;mn&gt;4&lt;/mn&gt;&lt;mn&gt;4&lt;/mn&gt;&lt;/mfrac&gt;&lt;mo&gt;=&lt;/mo&gt;&lt;mfrac&gt;&lt;mn&gt;12&lt;/mn&gt;&lt;mn&gt;4&lt;/mn&gt;&lt;/mfrac&gt;&lt;/math&gt;" title="8 plus four fourths equals twelv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175" y="2834045"/>
            <a:ext cx="1204475" cy="5046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6" name="Google Shape;876;p72"/>
          <p:cNvCxnSpPr/>
          <p:nvPr/>
        </p:nvCxnSpPr>
        <p:spPr>
          <a:xfrm flipH="1">
            <a:off x="2075825" y="2551450"/>
            <a:ext cx="512700" cy="23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7" name="Google Shape;877;p72"/>
          <p:cNvSpPr txBox="1"/>
          <p:nvPr>
            <p:ph type="body" idx="1"/>
          </p:nvPr>
        </p:nvSpPr>
        <p:spPr>
          <a:xfrm>
            <a:off x="324000" y="3600975"/>
            <a:ext cx="8496000" cy="12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whole expression on the left hand side should be divided by 4 not just the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LHS evaluates to 8 + 1 = 9 and the right hand side evaluates to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1" name="Shape 881"/>
        <p:cNvGrpSpPr/>
        <p:nvPr/>
      </p:nvGrpSpPr>
      <p:grpSpPr>
        <a:xfrm>
          <a:off x="0" y="0"/>
          <a:ext cx="0" cy="0"/>
        </a:xfrm>
      </p:grpSpPr>
      <p:sp>
        <p:nvSpPr>
          <p:cNvPr id="882" name="Google Shape;88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83" name="Google Shape;883;p73"/>
          <p:cNvSpPr txBox="1"/>
          <p:nvPr>
            <p:ph type="body" idx="1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Dividing the equation by 4 should look like this:</a:t>
            </a:r>
            <a:endParaRPr sz="1800"/>
          </a:p>
        </p:txBody>
      </p:sp>
      <p:sp>
        <p:nvSpPr>
          <p:cNvPr id="884" name="Google Shape;884;p73"/>
          <p:cNvSpPr/>
          <p:nvPr/>
        </p:nvSpPr>
        <p:spPr>
          <a:xfrm>
            <a:off x="3639650" y="17031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+ 4 = 12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5" name="Google Shape;885;p73"/>
          <p:cNvSpPr/>
          <p:nvPr/>
        </p:nvSpPr>
        <p:spPr>
          <a:xfrm flipH="1">
            <a:off x="3175500" y="1918613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4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6" name="Google Shape;886;p73"/>
          <p:cNvSpPr/>
          <p:nvPr/>
        </p:nvSpPr>
        <p:spPr>
          <a:xfrm flipH="1">
            <a:off x="2111775" y="2426863"/>
            <a:ext cx="2059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+ 4)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 4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 4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87" name="Google Shape;887;p73"/>
          <p:cNvCxnSpPr/>
          <p:nvPr/>
        </p:nvCxnSpPr>
        <p:spPr>
          <a:xfrm flipH="1">
            <a:off x="3298384" y="2077200"/>
            <a:ext cx="368400" cy="33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8" name="Google Shape;888;p73"/>
          <p:cNvCxnSpPr/>
          <p:nvPr/>
        </p:nvCxnSpPr>
        <p:spPr>
          <a:xfrm flipH="1">
            <a:off x="2689175" y="2636200"/>
            <a:ext cx="339000" cy="29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9" name="Google Shape;889;p73" descr="&lt;math xmlns=&quot;http://www.w3.org/1998/Math/MathML&quot; display=&quot;block&quot; data-is-equatio=&quot;1&quot; data-latex=&quot;\frac{8+4}{4}=\frac{12}{4}&quot;&gt;&lt;mfrac&gt;&lt;mrow&gt;&lt;mn&gt;8&lt;/mn&gt;&lt;mo&gt;+&lt;/mo&gt;&lt;mn&gt;4&lt;/mn&gt;&lt;/mrow&gt;&lt;mn&gt;4&lt;/mn&gt;&lt;/mfrac&gt;&lt;mo&gt;=&lt;/mo&gt;&lt;mfrac&gt;&lt;mn&gt;12&lt;/mn&gt;&lt;mn&gt;4&lt;/mn&gt;&lt;/mfrac&gt;&lt;/math&gt;" title="the fraction with numerator 8 plus 4 and denominator 4 equals twelv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950" y="2841575"/>
            <a:ext cx="1186450" cy="5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3" descr="&lt;math xmlns=&quot;http://www.w3.org/1998/Math/MathML&quot; display=&quot;block&quot; data-is-equatio=&quot;1&quot; data-latex=&quot;\frac{8+4}{4}=3&quot;&gt;&lt;mfrac&gt;&lt;mrow&gt;&lt;mn&gt;8&lt;/mn&gt;&lt;mo&gt;+&lt;/mo&gt;&lt;mn&gt;4&lt;/mn&gt;&lt;/mrow&gt;&lt;mn&gt;4&lt;/mn&gt;&lt;/mfrac&gt;&lt;mo&gt;=&lt;/mo&gt;&lt;mn&gt;3&lt;/mn&gt;&lt;/math&gt;" title="the fraction with numerator 8 plus 4 and denominator 4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050" y="3784500"/>
            <a:ext cx="988067" cy="503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1" name="Google Shape;891;p73"/>
          <p:cNvCxnSpPr/>
          <p:nvPr/>
        </p:nvCxnSpPr>
        <p:spPr>
          <a:xfrm flipH="1">
            <a:off x="1825575" y="3441350"/>
            <a:ext cx="286200" cy="24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897" name="Google Shape;897;p74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do the same thing with equations that have variable terms.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This is an equation where the solution is clearly when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5 </a:t>
            </a:r>
            <a:endParaRPr sz="1800"/>
          </a:p>
        </p:txBody>
      </p:sp>
      <p:sp>
        <p:nvSpPr>
          <p:cNvPr id="898" name="Google Shape;898;p74"/>
          <p:cNvSpPr/>
          <p:nvPr/>
        </p:nvSpPr>
        <p:spPr>
          <a:xfrm>
            <a:off x="3639650" y="17793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99" name="Google Shape;899;p74"/>
          <p:cNvCxnSpPr/>
          <p:nvPr/>
        </p:nvCxnSpPr>
        <p:spPr>
          <a:xfrm flipH="1">
            <a:off x="3072300" y="2183613"/>
            <a:ext cx="594600" cy="16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00" name="Google Shape;900;p74"/>
          <p:cNvSpPr/>
          <p:nvPr/>
        </p:nvSpPr>
        <p:spPr>
          <a:xfrm>
            <a:off x="3150575" y="19740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1" name="Google Shape;901;p74"/>
          <p:cNvSpPr/>
          <p:nvPr/>
        </p:nvSpPr>
        <p:spPr>
          <a:xfrm flipH="1">
            <a:off x="1791050" y="24739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2" name="Google Shape;902;p74"/>
          <p:cNvSpPr txBox="1"/>
          <p:nvPr>
            <p:ph type="body" idx="1"/>
          </p:nvPr>
        </p:nvSpPr>
        <p:spPr>
          <a:xfrm>
            <a:off x="324000" y="413595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create an equivalent equation by adding the same value to both sides of the initial equation. </a:t>
            </a:r>
            <a:endParaRPr sz="1800"/>
          </a:p>
        </p:txBody>
      </p:sp>
      <p:sp>
        <p:nvSpPr>
          <p:cNvPr id="903" name="Google Shape;903;p74"/>
          <p:cNvSpPr/>
          <p:nvPr/>
        </p:nvSpPr>
        <p:spPr>
          <a:xfrm flipH="1">
            <a:off x="2564525" y="24739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04" name="Google Shape;904;p74"/>
          <p:cNvCxnSpPr/>
          <p:nvPr/>
        </p:nvCxnSpPr>
        <p:spPr>
          <a:xfrm flipH="1">
            <a:off x="1791050" y="2777638"/>
            <a:ext cx="594600" cy="16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74"/>
          <p:cNvSpPr/>
          <p:nvPr/>
        </p:nvSpPr>
        <p:spPr>
          <a:xfrm flipH="1">
            <a:off x="6316850" y="28163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6" name="Google Shape;906;p74"/>
          <p:cNvSpPr/>
          <p:nvPr/>
        </p:nvSpPr>
        <p:spPr>
          <a:xfrm flipH="1">
            <a:off x="1015550" y="30120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07" name="Google Shape;907;p74"/>
          <p:cNvCxnSpPr/>
          <p:nvPr/>
        </p:nvCxnSpPr>
        <p:spPr>
          <a:xfrm>
            <a:off x="5246050" y="2157650"/>
            <a:ext cx="594600" cy="16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08" name="Google Shape;908;p74"/>
          <p:cNvSpPr/>
          <p:nvPr/>
        </p:nvSpPr>
        <p:spPr>
          <a:xfrm flipH="1">
            <a:off x="5395350" y="1920775"/>
            <a:ext cx="758100" cy="257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−7)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9" name="Google Shape;909;p74"/>
          <p:cNvSpPr/>
          <p:nvPr/>
        </p:nvSpPr>
        <p:spPr>
          <a:xfrm flipH="1">
            <a:off x="5374050" y="23459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(−7)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0" name="Google Shape;910;p74"/>
          <p:cNvSpPr/>
          <p:nvPr/>
        </p:nvSpPr>
        <p:spPr>
          <a:xfrm flipH="1">
            <a:off x="6452325" y="23459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(−7)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11" name="Google Shape;911;p74"/>
          <p:cNvCxnSpPr/>
          <p:nvPr/>
        </p:nvCxnSpPr>
        <p:spPr>
          <a:xfrm flipH="1">
            <a:off x="4525788" y="2319950"/>
            <a:ext cx="0" cy="43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12" name="Google Shape;912;p74"/>
          <p:cNvSpPr/>
          <p:nvPr/>
        </p:nvSpPr>
        <p:spPr>
          <a:xfrm flipH="1">
            <a:off x="4053450" y="2345925"/>
            <a:ext cx="3549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3" name="Google Shape;913;p74"/>
          <p:cNvSpPr/>
          <p:nvPr/>
        </p:nvSpPr>
        <p:spPr>
          <a:xfrm flipH="1">
            <a:off x="3883125" y="2833513"/>
            <a:ext cx="8217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4" name="Google Shape;914;p74"/>
          <p:cNvSpPr/>
          <p:nvPr/>
        </p:nvSpPr>
        <p:spPr>
          <a:xfrm flipH="1">
            <a:off x="4672350" y="28335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 i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15" name="Google Shape;915;p74"/>
          <p:cNvCxnSpPr/>
          <p:nvPr/>
        </p:nvCxnSpPr>
        <p:spPr>
          <a:xfrm>
            <a:off x="6415050" y="2615788"/>
            <a:ext cx="594600" cy="16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74"/>
          <p:cNvCxnSpPr/>
          <p:nvPr/>
        </p:nvCxnSpPr>
        <p:spPr>
          <a:xfrm flipH="1">
            <a:off x="4525788" y="3065113"/>
            <a:ext cx="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7" name="Google Shape;917;p74"/>
          <p:cNvSpPr/>
          <p:nvPr/>
        </p:nvSpPr>
        <p:spPr>
          <a:xfrm flipH="1">
            <a:off x="4141086" y="3420264"/>
            <a:ext cx="1414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1" name="Shape 921"/>
        <p:cNvGrpSpPr/>
        <p:nvPr/>
      </p:nvGrpSpPr>
      <p:grpSpPr>
        <a:xfrm>
          <a:off x="0" y="0"/>
          <a:ext cx="0" cy="0"/>
        </a:xfrm>
      </p:grpSpPr>
      <p:sp>
        <p:nvSpPr>
          <p:cNvPr id="922" name="Google Shape;92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923" name="Google Shape;923;p75"/>
          <p:cNvSpPr/>
          <p:nvPr/>
        </p:nvSpPr>
        <p:spPr>
          <a:xfrm>
            <a:off x="3639650" y="15507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4" name="Google Shape;924;p75"/>
          <p:cNvSpPr/>
          <p:nvPr/>
        </p:nvSpPr>
        <p:spPr>
          <a:xfrm>
            <a:off x="3150575" y="17454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5" name="Google Shape;925;p75"/>
          <p:cNvSpPr/>
          <p:nvPr/>
        </p:nvSpPr>
        <p:spPr>
          <a:xfrm flipH="1">
            <a:off x="1791050" y="2245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6" name="Google Shape;926;p75"/>
          <p:cNvSpPr txBox="1"/>
          <p:nvPr>
            <p:ph type="body" idx="1"/>
          </p:nvPr>
        </p:nvSpPr>
        <p:spPr>
          <a:xfrm>
            <a:off x="324000" y="8100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also create equivalent equations by multiplying both sides of the equation by the same value. </a:t>
            </a:r>
            <a:endParaRPr sz="1800"/>
          </a:p>
        </p:txBody>
      </p:sp>
      <p:sp>
        <p:nvSpPr>
          <p:cNvPr id="927" name="Google Shape;927;p75"/>
          <p:cNvSpPr/>
          <p:nvPr/>
        </p:nvSpPr>
        <p:spPr>
          <a:xfrm flipH="1">
            <a:off x="2564525" y="2245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3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8" name="Google Shape;928;p75"/>
          <p:cNvSpPr/>
          <p:nvPr/>
        </p:nvSpPr>
        <p:spPr>
          <a:xfrm flipH="1">
            <a:off x="6469250" y="26639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9" name="Google Shape;929;p75"/>
          <p:cNvSpPr/>
          <p:nvPr/>
        </p:nvSpPr>
        <p:spPr>
          <a:xfrm flipH="1">
            <a:off x="1015550" y="27834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0" name="Google Shape;930;p75"/>
          <p:cNvSpPr/>
          <p:nvPr/>
        </p:nvSpPr>
        <p:spPr>
          <a:xfrm flipH="1">
            <a:off x="5506500" y="1732450"/>
            <a:ext cx="750300" cy="257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1" name="Google Shape;931;p75"/>
          <p:cNvSpPr/>
          <p:nvPr/>
        </p:nvSpPr>
        <p:spPr>
          <a:xfrm flipH="1">
            <a:off x="5374050" y="2117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(−4)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2" name="Google Shape;932;p75"/>
          <p:cNvSpPr/>
          <p:nvPr/>
        </p:nvSpPr>
        <p:spPr>
          <a:xfrm flipH="1">
            <a:off x="6452325" y="2117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(−4)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3" name="Google Shape;933;p75"/>
          <p:cNvSpPr/>
          <p:nvPr/>
        </p:nvSpPr>
        <p:spPr>
          <a:xfrm flipH="1">
            <a:off x="4047225" y="2096125"/>
            <a:ext cx="388200" cy="504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4" name="Google Shape;934;p75"/>
          <p:cNvSpPr/>
          <p:nvPr/>
        </p:nvSpPr>
        <p:spPr>
          <a:xfrm flipH="1">
            <a:off x="3883125" y="2833513"/>
            <a:ext cx="8217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sz="2000" i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5" name="Google Shape;935;p75"/>
          <p:cNvSpPr/>
          <p:nvPr/>
        </p:nvSpPr>
        <p:spPr>
          <a:xfrm flipH="1">
            <a:off x="4672350" y="28335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36" name="Google Shape;936;p7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963" y="2129587"/>
            <a:ext cx="132064" cy="4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75" descr="&lt;math xmlns=&quot;http://www.w3.org/1998/Math/MathML&quot; display=&quot;block&quot; data-is-equatio=&quot;1&quot; data-latex=&quot;\frac{1}{3}x=\frac{5}{3}&quot;&gt;&lt;mfrac&gt;&lt;mn&gt;1&lt;/mn&gt;&lt;mn&gt;3&lt;/mn&gt;&lt;/mfrac&gt;&lt;mi&gt;x&lt;/mi&gt;&lt;mo&gt;=&lt;/mo&gt;&lt;mfrac&gt;&lt;mn&gt;5&lt;/mn&gt;&lt;mn&gt;3&lt;/mn&gt;&lt;/mfrac&gt;&lt;/math&gt;" title="one third x equals fi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9800" y="3374688"/>
            <a:ext cx="792000" cy="50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5" descr="&lt;math xmlns=&quot;http://www.w3.org/1998/Math/MathML&quot; display=&quot;block&quot; data-is-equatio=&quot;1&quot; data-latex=&quot;\frac{x}{3}=\frac{5}{3}&quot;&gt;&lt;mfrac&gt;&lt;mi&gt;x&lt;/mi&gt;&lt;mn&gt;3&lt;/mn&gt;&lt;/mfrac&gt;&lt;mo&gt;=&lt;/mo&gt;&lt;mfrac&gt;&lt;mn&gt;5&lt;/mn&gt;&lt;mn&gt;3&lt;/mn&gt;&lt;/mfrac&gt;&lt;/math&gt;" title="x over 3 equals five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4800" y="4374779"/>
            <a:ext cx="594600" cy="44594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5"/>
          <p:cNvSpPr txBox="1"/>
          <p:nvPr>
            <p:ph type="body" idx="1"/>
          </p:nvPr>
        </p:nvSpPr>
        <p:spPr>
          <a:xfrm>
            <a:off x="406950" y="40634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As multiplying by a third is the same as dividing by 3, this could also be written as: </a:t>
            </a:r>
            <a:endParaRPr sz="1800"/>
          </a:p>
        </p:txBody>
      </p:sp>
      <p:sp>
        <p:nvSpPr>
          <p:cNvPr id="940" name="Google Shape;940;p75"/>
          <p:cNvSpPr/>
          <p:nvPr/>
        </p:nvSpPr>
        <p:spPr>
          <a:xfrm>
            <a:off x="3904050" y="3308888"/>
            <a:ext cx="1243500" cy="61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1" name="Google Shape;941;p75"/>
          <p:cNvGrpSpPr/>
          <p:nvPr/>
        </p:nvGrpSpPr>
        <p:grpSpPr>
          <a:xfrm>
            <a:off x="4264021" y="2754317"/>
            <a:ext cx="937988" cy="435600"/>
            <a:chOff x="4264021" y="2754317"/>
            <a:chExt cx="937988" cy="435600"/>
          </a:xfrm>
        </p:grpSpPr>
        <p:pic>
          <p:nvPicPr>
            <p:cNvPr id="942" name="Google Shape;942;p75" descr="&lt;math xmlns=&quot;http://www.w3.org/1998/Math/MathML&quot; display=&quot;block&quot; data-is-equatio=&quot;1&quot; data-latex=&quot;\textcolor{#845ad9}{\frac{1}{3}}&quot;&gt;&lt;mstyle mathcolor=&quot;#845ad9&quot;&gt;&lt;mfrac&gt;&lt;mn&gt;1&lt;/mn&gt;&lt;mn&gt;3&lt;/mn&gt;&lt;/mfrac&gt;&lt;/mstyle&gt;&lt;/math&gt;" title="one third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64021" y="2754317"/>
              <a:ext cx="130680" cy="43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3" name="Google Shape;943;p75" descr="&lt;math xmlns=&quot;http://www.w3.org/1998/Math/MathML&quot; display=&quot;block&quot; data-is-equatio=&quot;1&quot; data-latex=&quot;\textcolor{#845ad9}{\frac{1}{3}}&quot;&gt;&lt;mstyle mathcolor=&quot;#845ad9&quot;&gt;&lt;mfrac&gt;&lt;mn&gt;1&lt;/mn&gt;&lt;mn&gt;3&lt;/mn&gt;&lt;/mfrac&gt;&lt;/mstyle&gt;&lt;/math&gt;" title="one third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71329" y="2754317"/>
              <a:ext cx="130680" cy="435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44" name="Google Shape;944;p75"/>
          <p:cNvCxnSpPr>
            <a:stCxn id="923" idx="3"/>
          </p:cNvCxnSpPr>
          <p:nvPr/>
        </p:nvCxnSpPr>
        <p:spPr>
          <a:xfrm flipH="1">
            <a:off x="2885201" y="2012172"/>
            <a:ext cx="989700" cy="21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5" name="Google Shape;945;p75"/>
          <p:cNvCxnSpPr/>
          <p:nvPr/>
        </p:nvCxnSpPr>
        <p:spPr>
          <a:xfrm flipH="1">
            <a:off x="1513225" y="2514375"/>
            <a:ext cx="540300" cy="19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6" name="Google Shape;946;p75"/>
          <p:cNvCxnSpPr>
            <a:stCxn id="923" idx="5"/>
          </p:cNvCxnSpPr>
          <p:nvPr/>
        </p:nvCxnSpPr>
        <p:spPr>
          <a:xfrm>
            <a:off x="5010791" y="2012172"/>
            <a:ext cx="808800" cy="13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7" name="Google Shape;947;p75"/>
          <p:cNvCxnSpPr/>
          <p:nvPr/>
        </p:nvCxnSpPr>
        <p:spPr>
          <a:xfrm flipH="1">
            <a:off x="4525788" y="2091350"/>
            <a:ext cx="0" cy="66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48" name="Google Shape;948;p75"/>
          <p:cNvCxnSpPr/>
          <p:nvPr/>
        </p:nvCxnSpPr>
        <p:spPr>
          <a:xfrm>
            <a:off x="6603750" y="2408425"/>
            <a:ext cx="556200" cy="20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75"/>
          <p:cNvCxnSpPr>
            <a:endCxn id="940" idx="0"/>
          </p:cNvCxnSpPr>
          <p:nvPr/>
        </p:nvCxnSpPr>
        <p:spPr>
          <a:xfrm flipH="1">
            <a:off x="4525800" y="3064988"/>
            <a:ext cx="0" cy="24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p76"/>
          <p:cNvSpPr/>
          <p:nvPr/>
        </p:nvSpPr>
        <p:spPr>
          <a:xfrm>
            <a:off x="6272875" y="2607675"/>
            <a:ext cx="20049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956" name="Google Shape;956;p76"/>
          <p:cNvSpPr txBox="1"/>
          <p:nvPr>
            <p:ph type="body" idx="1"/>
          </p:nvPr>
        </p:nvSpPr>
        <p:spPr>
          <a:xfrm>
            <a:off x="324000" y="8100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Complete the diagram:</a:t>
            </a:r>
            <a:endParaRPr sz="1800"/>
          </a:p>
        </p:txBody>
      </p:sp>
      <p:sp>
        <p:nvSpPr>
          <p:cNvPr id="957" name="Google Shape;957;p76"/>
          <p:cNvSpPr/>
          <p:nvPr/>
        </p:nvSpPr>
        <p:spPr>
          <a:xfrm flipH="1">
            <a:off x="7156575" y="287062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8" name="Google Shape;958;p76"/>
          <p:cNvSpPr/>
          <p:nvPr/>
        </p:nvSpPr>
        <p:spPr>
          <a:xfrm flipH="1">
            <a:off x="3877825" y="2793025"/>
            <a:ext cx="8217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000" i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9" name="Google Shape;959;p76"/>
          <p:cNvSpPr/>
          <p:nvPr/>
        </p:nvSpPr>
        <p:spPr>
          <a:xfrm>
            <a:off x="575625" y="2711350"/>
            <a:ext cx="18753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6"/>
          <p:cNvSpPr/>
          <p:nvPr/>
        </p:nvSpPr>
        <p:spPr>
          <a:xfrm>
            <a:off x="3339300" y="3458850"/>
            <a:ext cx="21108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/>
          <p:nvPr/>
        </p:nvSpPr>
        <p:spPr>
          <a:xfrm flipH="1">
            <a:off x="4342200" y="37218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2" name="Google Shape;962;p76"/>
          <p:cNvSpPr/>
          <p:nvPr/>
        </p:nvSpPr>
        <p:spPr>
          <a:xfrm flipH="1">
            <a:off x="1344725" y="2925625"/>
            <a:ext cx="269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3" name="Google Shape;963;p76"/>
          <p:cNvSpPr/>
          <p:nvPr/>
        </p:nvSpPr>
        <p:spPr>
          <a:xfrm>
            <a:off x="3639650" y="15507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4" name="Google Shape;964;p76"/>
          <p:cNvSpPr/>
          <p:nvPr/>
        </p:nvSpPr>
        <p:spPr>
          <a:xfrm>
            <a:off x="3150575" y="17454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360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5" name="Google Shape;965;p76"/>
          <p:cNvSpPr/>
          <p:nvPr/>
        </p:nvSpPr>
        <p:spPr>
          <a:xfrm flipH="1">
            <a:off x="1791050" y="2245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6" name="Google Shape;966;p76"/>
          <p:cNvSpPr/>
          <p:nvPr/>
        </p:nvSpPr>
        <p:spPr>
          <a:xfrm flipH="1">
            <a:off x="2564525" y="2245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(−18)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7" name="Google Shape;967;p76"/>
          <p:cNvSpPr/>
          <p:nvPr/>
        </p:nvSpPr>
        <p:spPr>
          <a:xfrm flipH="1">
            <a:off x="5506500" y="1732450"/>
            <a:ext cx="750300" cy="257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360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(−6)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8" name="Google Shape;968;p76"/>
          <p:cNvSpPr/>
          <p:nvPr/>
        </p:nvSpPr>
        <p:spPr>
          <a:xfrm flipH="1">
            <a:off x="5374050" y="2117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÷(</a:t>
            </a:r>
            <a:r>
              <a:rPr lang="en-GB" sz="2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−6)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9" name="Google Shape;969;p76"/>
          <p:cNvSpPr/>
          <p:nvPr/>
        </p:nvSpPr>
        <p:spPr>
          <a:xfrm flipH="1">
            <a:off x="6452325" y="2117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18)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÷(</a:t>
            </a:r>
            <a:r>
              <a:rPr lang="en-GB" sz="2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−6)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0" name="Google Shape;970;p76"/>
          <p:cNvSpPr/>
          <p:nvPr/>
        </p:nvSpPr>
        <p:spPr>
          <a:xfrm flipH="1">
            <a:off x="4094575" y="2160075"/>
            <a:ext cx="388200" cy="316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71" name="Google Shape;971;p76"/>
          <p:cNvCxnSpPr/>
          <p:nvPr/>
        </p:nvCxnSpPr>
        <p:spPr>
          <a:xfrm flipH="1">
            <a:off x="2885100" y="1951250"/>
            <a:ext cx="852900" cy="27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2" name="Google Shape;972;p76"/>
          <p:cNvCxnSpPr/>
          <p:nvPr/>
        </p:nvCxnSpPr>
        <p:spPr>
          <a:xfrm flipH="1">
            <a:off x="1513225" y="2514375"/>
            <a:ext cx="540300" cy="19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3" name="Google Shape;973;p76"/>
          <p:cNvCxnSpPr/>
          <p:nvPr/>
        </p:nvCxnSpPr>
        <p:spPr>
          <a:xfrm>
            <a:off x="5180742" y="1928449"/>
            <a:ext cx="636000" cy="206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4" name="Google Shape;974;p76"/>
          <p:cNvCxnSpPr/>
          <p:nvPr/>
        </p:nvCxnSpPr>
        <p:spPr>
          <a:xfrm flipH="1">
            <a:off x="4525788" y="2091350"/>
            <a:ext cx="0" cy="66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5" name="Google Shape;975;p76"/>
          <p:cNvCxnSpPr/>
          <p:nvPr/>
        </p:nvCxnSpPr>
        <p:spPr>
          <a:xfrm>
            <a:off x="6603750" y="2408425"/>
            <a:ext cx="556200" cy="20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976;p76"/>
          <p:cNvCxnSpPr/>
          <p:nvPr/>
        </p:nvCxnSpPr>
        <p:spPr>
          <a:xfrm flipH="1">
            <a:off x="4525788" y="3065113"/>
            <a:ext cx="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sp>
        <p:nvSpPr>
          <p:cNvPr id="981" name="Google Shape;981;p77"/>
          <p:cNvSpPr/>
          <p:nvPr/>
        </p:nvSpPr>
        <p:spPr>
          <a:xfrm>
            <a:off x="6272875" y="2607675"/>
            <a:ext cx="20049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983" name="Google Shape;983;p77"/>
          <p:cNvSpPr/>
          <p:nvPr/>
        </p:nvSpPr>
        <p:spPr>
          <a:xfrm>
            <a:off x="3639650" y="155070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84" name="Google Shape;984;p77"/>
          <p:cNvCxnSpPr/>
          <p:nvPr/>
        </p:nvCxnSpPr>
        <p:spPr>
          <a:xfrm flipH="1">
            <a:off x="2978700" y="1977100"/>
            <a:ext cx="781800" cy="2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85" name="Google Shape;985;p77"/>
          <p:cNvSpPr/>
          <p:nvPr/>
        </p:nvSpPr>
        <p:spPr>
          <a:xfrm>
            <a:off x="3150575" y="17454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360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6" name="Google Shape;986;p77"/>
          <p:cNvSpPr/>
          <p:nvPr/>
        </p:nvSpPr>
        <p:spPr>
          <a:xfrm flipH="1">
            <a:off x="1791050" y="2245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7" name="Google Shape;987;p77"/>
          <p:cNvSpPr txBox="1"/>
          <p:nvPr>
            <p:ph type="body" idx="1"/>
          </p:nvPr>
        </p:nvSpPr>
        <p:spPr>
          <a:xfrm>
            <a:off x="324000" y="810000"/>
            <a:ext cx="82377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Complete the diagram:</a:t>
            </a:r>
            <a:endParaRPr sz="1800"/>
          </a:p>
        </p:txBody>
      </p:sp>
      <p:sp>
        <p:nvSpPr>
          <p:cNvPr id="988" name="Google Shape;988;p77"/>
          <p:cNvSpPr/>
          <p:nvPr/>
        </p:nvSpPr>
        <p:spPr>
          <a:xfrm flipH="1">
            <a:off x="2564525" y="2245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(−18)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× 2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89" name="Google Shape;989;p77"/>
          <p:cNvCxnSpPr/>
          <p:nvPr/>
        </p:nvCxnSpPr>
        <p:spPr>
          <a:xfrm flipH="1">
            <a:off x="1513225" y="2514375"/>
            <a:ext cx="540300" cy="197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0" name="Google Shape;990;p77"/>
          <p:cNvSpPr/>
          <p:nvPr/>
        </p:nvSpPr>
        <p:spPr>
          <a:xfrm flipH="1">
            <a:off x="7156575" y="287062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91" name="Google Shape;991;p77"/>
          <p:cNvCxnSpPr/>
          <p:nvPr/>
        </p:nvCxnSpPr>
        <p:spPr>
          <a:xfrm>
            <a:off x="5173700" y="1938575"/>
            <a:ext cx="645900" cy="20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92" name="Google Shape;992;p77"/>
          <p:cNvSpPr/>
          <p:nvPr/>
        </p:nvSpPr>
        <p:spPr>
          <a:xfrm flipH="1">
            <a:off x="5506500" y="1732450"/>
            <a:ext cx="750300" cy="257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0" bIns="360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(−6)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3" name="Google Shape;993;p77"/>
          <p:cNvSpPr/>
          <p:nvPr/>
        </p:nvSpPr>
        <p:spPr>
          <a:xfrm flipH="1">
            <a:off x="5374050" y="21173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÷(</a:t>
            </a:r>
            <a:r>
              <a:rPr lang="en-GB" sz="2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−6)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4" name="Google Shape;994;p77"/>
          <p:cNvSpPr/>
          <p:nvPr/>
        </p:nvSpPr>
        <p:spPr>
          <a:xfrm flipH="1">
            <a:off x="6452325" y="2117313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18)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÷(</a:t>
            </a:r>
            <a:r>
              <a:rPr lang="en-GB" sz="2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−6)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95" name="Google Shape;995;p77"/>
          <p:cNvCxnSpPr/>
          <p:nvPr/>
        </p:nvCxnSpPr>
        <p:spPr>
          <a:xfrm flipH="1">
            <a:off x="4525788" y="2091350"/>
            <a:ext cx="0" cy="66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96" name="Google Shape;996;p77"/>
          <p:cNvSpPr/>
          <p:nvPr/>
        </p:nvSpPr>
        <p:spPr>
          <a:xfrm flipH="1">
            <a:off x="4094575" y="2160075"/>
            <a:ext cx="388200" cy="316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7" name="Google Shape;997;p77"/>
          <p:cNvSpPr/>
          <p:nvPr/>
        </p:nvSpPr>
        <p:spPr>
          <a:xfrm flipH="1">
            <a:off x="3877825" y="2793025"/>
            <a:ext cx="8217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100" i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98" name="Google Shape;998;p77"/>
          <p:cNvCxnSpPr/>
          <p:nvPr/>
        </p:nvCxnSpPr>
        <p:spPr>
          <a:xfrm>
            <a:off x="6603750" y="2408425"/>
            <a:ext cx="556200" cy="201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77"/>
          <p:cNvCxnSpPr/>
          <p:nvPr/>
        </p:nvCxnSpPr>
        <p:spPr>
          <a:xfrm flipH="1">
            <a:off x="4525788" y="3065113"/>
            <a:ext cx="0" cy="33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0" name="Google Shape;1000;p77"/>
          <p:cNvSpPr/>
          <p:nvPr/>
        </p:nvSpPr>
        <p:spPr>
          <a:xfrm>
            <a:off x="575625" y="2711350"/>
            <a:ext cx="18753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7"/>
          <p:cNvSpPr/>
          <p:nvPr/>
        </p:nvSpPr>
        <p:spPr>
          <a:xfrm>
            <a:off x="3339300" y="3458850"/>
            <a:ext cx="2110800" cy="7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7"/>
          <p:cNvSpPr/>
          <p:nvPr/>
        </p:nvSpPr>
        <p:spPr>
          <a:xfrm flipH="1">
            <a:off x="4342200" y="37218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3" name="Google Shape;1003;p77"/>
          <p:cNvSpPr/>
          <p:nvPr/>
        </p:nvSpPr>
        <p:spPr>
          <a:xfrm flipH="1">
            <a:off x="1344725" y="2925625"/>
            <a:ext cx="269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4" name="Google Shape;1004;p77"/>
          <p:cNvSpPr/>
          <p:nvPr/>
        </p:nvSpPr>
        <p:spPr>
          <a:xfrm flipH="1">
            <a:off x="803775" y="2889323"/>
            <a:ext cx="4287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5" name="Google Shape;1005;p77"/>
          <p:cNvSpPr/>
          <p:nvPr/>
        </p:nvSpPr>
        <p:spPr>
          <a:xfrm flipH="1">
            <a:off x="1726075" y="2889323"/>
            <a:ext cx="4287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−36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6" name="Google Shape;1006;p77"/>
          <p:cNvSpPr/>
          <p:nvPr/>
        </p:nvSpPr>
        <p:spPr>
          <a:xfrm flipH="1">
            <a:off x="3666900" y="2761163"/>
            <a:ext cx="75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7" name="Google Shape;1007;p77"/>
          <p:cNvSpPr/>
          <p:nvPr/>
        </p:nvSpPr>
        <p:spPr>
          <a:xfrm flipH="1">
            <a:off x="7502285" y="2828025"/>
            <a:ext cx="4287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8" name="Google Shape;1008;p77"/>
          <p:cNvSpPr/>
          <p:nvPr/>
        </p:nvSpPr>
        <p:spPr>
          <a:xfrm flipH="1">
            <a:off x="4695675" y="2745488"/>
            <a:ext cx="1407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18)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+ 9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9" name="Google Shape;1009;p77"/>
          <p:cNvSpPr/>
          <p:nvPr/>
        </p:nvSpPr>
        <p:spPr>
          <a:xfrm flipH="1">
            <a:off x="3628826" y="3679448"/>
            <a:ext cx="750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0" name="Google Shape;1010;p77"/>
          <p:cNvSpPr/>
          <p:nvPr/>
        </p:nvSpPr>
        <p:spPr>
          <a:xfrm flipH="1">
            <a:off x="4699525" y="3679448"/>
            <a:ext cx="5079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11" name="Google Shape;1011;p77" descr="&lt;math xmlns=&quot;http://www.w3.org/1998/Math/MathML&quot; display=&quot;block&quot; data-is-equatio=&quot;1&quot; data-latex=&quot;\frac{x}{-6}&quot;&gt;&lt;mfrac&gt;&lt;mi&gt;x&lt;/mi&gt;&lt;mrow&gt;&lt;mo&gt;−&lt;/mo&gt;&lt;mn&gt;6&lt;/mn&gt;&lt;/mrow&gt;&lt;/mfrac&gt;&lt;/math&gt;" title="x over negative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150" y="2811981"/>
            <a:ext cx="323475" cy="45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5" name="Shape 1015"/>
        <p:cNvGrpSpPr/>
        <p:nvPr/>
      </p:nvGrpSpPr>
      <p:grpSpPr>
        <a:xfrm>
          <a:off x="0" y="0"/>
          <a:ext cx="0" cy="0"/>
        </a:xfrm>
      </p:grpSpPr>
      <p:sp>
        <p:nvSpPr>
          <p:cNvPr id="1016" name="Google Shape;101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017" name="Google Shape;1017;p78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initial equation in the centre of our diagram has a solution when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5. Therefore, all the equivalent equations will have a solution of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1018" name="Google Shape;1018;p78"/>
          <p:cNvGrpSpPr/>
          <p:nvPr/>
        </p:nvGrpSpPr>
        <p:grpSpPr>
          <a:xfrm>
            <a:off x="2371152" y="1925438"/>
            <a:ext cx="4905700" cy="2070739"/>
            <a:chOff x="2369450" y="1909788"/>
            <a:chExt cx="4905700" cy="2070739"/>
          </a:xfrm>
        </p:grpSpPr>
        <p:sp>
          <p:nvSpPr>
            <p:cNvPr id="1019" name="Google Shape;1019;p78"/>
            <p:cNvSpPr/>
            <p:nvPr/>
          </p:nvSpPr>
          <p:spPr>
            <a:xfrm>
              <a:off x="3840425" y="2724150"/>
              <a:ext cx="1606392" cy="540648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5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20" name="Google Shape;1020;p78"/>
            <p:cNvCxnSpPr/>
            <p:nvPr/>
          </p:nvCxnSpPr>
          <p:spPr>
            <a:xfrm flipH="1">
              <a:off x="3272973" y="3108550"/>
              <a:ext cx="632700" cy="182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021" name="Google Shape;1021;p78"/>
            <p:cNvSpPr/>
            <p:nvPr/>
          </p:nvSpPr>
          <p:spPr>
            <a:xfrm>
              <a:off x="3351350" y="2918938"/>
              <a:ext cx="388200" cy="231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+ 3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2" name="Google Shape;1022;p78"/>
            <p:cNvSpPr/>
            <p:nvPr/>
          </p:nvSpPr>
          <p:spPr>
            <a:xfrm flipH="1">
              <a:off x="2369450" y="3354550"/>
              <a:ext cx="1370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+ 3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8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23" name="Google Shape;1023;p78"/>
            <p:cNvCxnSpPr/>
            <p:nvPr/>
          </p:nvCxnSpPr>
          <p:spPr>
            <a:xfrm flipH="1">
              <a:off x="4595313" y="3266438"/>
              <a:ext cx="0" cy="437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024" name="Google Shape;1024;p78"/>
            <p:cNvSpPr/>
            <p:nvPr/>
          </p:nvSpPr>
          <p:spPr>
            <a:xfrm flipH="1">
              <a:off x="4123074" y="3292425"/>
              <a:ext cx="388200" cy="231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+ </a:t>
              </a: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5" name="Google Shape;1025;p78"/>
            <p:cNvSpPr/>
            <p:nvPr/>
          </p:nvSpPr>
          <p:spPr>
            <a:xfrm flipH="1">
              <a:off x="3986636" y="3748927"/>
              <a:ext cx="14148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+ 5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26" name="Google Shape;1026;p78"/>
            <p:cNvSpPr/>
            <p:nvPr/>
          </p:nvSpPr>
          <p:spPr>
            <a:xfrm flipH="1">
              <a:off x="5451100" y="3471950"/>
              <a:ext cx="160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− 7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−2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27" name="Google Shape;1027;p78"/>
            <p:cNvCxnSpPr/>
            <p:nvPr/>
          </p:nvCxnSpPr>
          <p:spPr>
            <a:xfrm>
              <a:off x="5298423" y="3138175"/>
              <a:ext cx="702300" cy="26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028" name="Google Shape;1028;p78"/>
            <p:cNvSpPr/>
            <p:nvPr/>
          </p:nvSpPr>
          <p:spPr>
            <a:xfrm flipH="1">
              <a:off x="5578598" y="2978625"/>
              <a:ext cx="7194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+ (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−7)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29" name="Google Shape;1029;p78"/>
            <p:cNvCxnSpPr/>
            <p:nvPr/>
          </p:nvCxnSpPr>
          <p:spPr>
            <a:xfrm rot="10800000">
              <a:off x="3466175" y="2486675"/>
              <a:ext cx="596100" cy="314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030" name="Google Shape;1030;p78"/>
            <p:cNvSpPr/>
            <p:nvPr/>
          </p:nvSpPr>
          <p:spPr>
            <a:xfrm>
              <a:off x="3840425" y="2408750"/>
              <a:ext cx="388200" cy="231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3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1" name="Google Shape;1031;p78"/>
            <p:cNvSpPr/>
            <p:nvPr/>
          </p:nvSpPr>
          <p:spPr>
            <a:xfrm flipH="1">
              <a:off x="2860400" y="2211025"/>
              <a:ext cx="1370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15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2" name="Google Shape;1032;p78"/>
            <p:cNvSpPr/>
            <p:nvPr/>
          </p:nvSpPr>
          <p:spPr>
            <a:xfrm flipH="1">
              <a:off x="5668650" y="1909788"/>
              <a:ext cx="16065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−20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033" name="Google Shape;1033;p78"/>
            <p:cNvCxnSpPr/>
            <p:nvPr/>
          </p:nvCxnSpPr>
          <p:spPr>
            <a:xfrm rot="10800000" flipH="1">
              <a:off x="5259350" y="2285900"/>
              <a:ext cx="743100" cy="523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034" name="Google Shape;1034;p78"/>
            <p:cNvSpPr/>
            <p:nvPr/>
          </p:nvSpPr>
          <p:spPr>
            <a:xfrm flipH="1">
              <a:off x="4810173" y="2285425"/>
              <a:ext cx="7194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(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−4)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35" name="Google Shape;1035;p78"/>
          <p:cNvSpPr txBox="1"/>
          <p:nvPr>
            <p:ph type="body" idx="1"/>
          </p:nvPr>
        </p:nvSpPr>
        <p:spPr>
          <a:xfrm>
            <a:off x="324000" y="4548825"/>
            <a:ext cx="8237700" cy="30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substitute the solution (5) in each equation to check. </a:t>
            </a:r>
            <a:endParaRPr sz="1800"/>
          </a:p>
        </p:txBody>
      </p:sp>
      <p:sp>
        <p:nvSpPr>
          <p:cNvPr id="1036" name="Google Shape;1036;p78"/>
          <p:cNvSpPr/>
          <p:nvPr/>
        </p:nvSpPr>
        <p:spPr>
          <a:xfrm flipH="1">
            <a:off x="1108450" y="1518600"/>
            <a:ext cx="13701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15 = 15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7" name="Google Shape;1037;p78"/>
          <p:cNvSpPr/>
          <p:nvPr/>
        </p:nvSpPr>
        <p:spPr>
          <a:xfrm>
            <a:off x="2818875" y="2160000"/>
            <a:ext cx="927000" cy="34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8"/>
          <p:cNvSpPr/>
          <p:nvPr/>
        </p:nvSpPr>
        <p:spPr>
          <a:xfrm flipH="1">
            <a:off x="398744" y="2760338"/>
            <a:ext cx="13701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 + 3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8 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9" name="Google Shape;1039;p78"/>
          <p:cNvSpPr/>
          <p:nvPr/>
        </p:nvSpPr>
        <p:spPr>
          <a:xfrm>
            <a:off x="2337975" y="3323525"/>
            <a:ext cx="1031700" cy="34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8"/>
          <p:cNvSpPr/>
          <p:nvPr/>
        </p:nvSpPr>
        <p:spPr>
          <a:xfrm flipH="1">
            <a:off x="743652" y="3878125"/>
            <a:ext cx="17349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(5)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 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1" name="Google Shape;1041;p78"/>
          <p:cNvSpPr/>
          <p:nvPr/>
        </p:nvSpPr>
        <p:spPr>
          <a:xfrm>
            <a:off x="3965450" y="3707625"/>
            <a:ext cx="1139400" cy="34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8"/>
          <p:cNvSpPr/>
          <p:nvPr/>
        </p:nvSpPr>
        <p:spPr>
          <a:xfrm flipH="1">
            <a:off x="7047402" y="3878125"/>
            <a:ext cx="17349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3" name="Google Shape;1043;p78"/>
          <p:cNvSpPr/>
          <p:nvPr/>
        </p:nvSpPr>
        <p:spPr>
          <a:xfrm>
            <a:off x="5384425" y="3437700"/>
            <a:ext cx="1272900" cy="34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8"/>
          <p:cNvSpPr/>
          <p:nvPr/>
        </p:nvSpPr>
        <p:spPr>
          <a:xfrm>
            <a:off x="5620350" y="1854450"/>
            <a:ext cx="1272900" cy="342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8"/>
          <p:cNvSpPr/>
          <p:nvPr/>
        </p:nvSpPr>
        <p:spPr>
          <a:xfrm flipH="1">
            <a:off x="7208631" y="1738650"/>
            <a:ext cx="17349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5)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sp>
        <p:nvSpPr>
          <p:cNvPr id="1050" name="Google Shape;10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051" name="Google Shape;1051;p79"/>
          <p:cNvSpPr txBox="1"/>
          <p:nvPr>
            <p:ph type="body" idx="1"/>
          </p:nvPr>
        </p:nvSpPr>
        <p:spPr>
          <a:xfrm>
            <a:off x="324000" y="759300"/>
            <a:ext cx="8439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perform multiple operations to an equation. As long as we perform the same operation to the expressions on both sides of the equation, we will maintain equality. </a:t>
            </a:r>
            <a:endParaRPr sz="1800"/>
          </a:p>
        </p:txBody>
      </p:sp>
      <p:sp>
        <p:nvSpPr>
          <p:cNvPr id="1052" name="Google Shape;1052;p79"/>
          <p:cNvSpPr/>
          <p:nvPr/>
        </p:nvSpPr>
        <p:spPr>
          <a:xfrm>
            <a:off x="3854252" y="249555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53" name="Google Shape;1053;p79"/>
          <p:cNvCxnSpPr/>
          <p:nvPr/>
        </p:nvCxnSpPr>
        <p:spPr>
          <a:xfrm rot="10800000">
            <a:off x="3243752" y="2441488"/>
            <a:ext cx="610500" cy="26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54" name="Google Shape;1054;p79"/>
          <p:cNvSpPr/>
          <p:nvPr/>
        </p:nvSpPr>
        <p:spPr>
          <a:xfrm>
            <a:off x="3626077" y="23555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5" name="Google Shape;1055;p79"/>
          <p:cNvSpPr/>
          <p:nvPr/>
        </p:nvSpPr>
        <p:spPr>
          <a:xfrm flipH="1">
            <a:off x="2331752" y="21438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11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56" name="Google Shape;1056;p79"/>
          <p:cNvCxnSpPr>
            <a:stCxn id="1055" idx="3"/>
          </p:cNvCxnSpPr>
          <p:nvPr/>
        </p:nvCxnSpPr>
        <p:spPr>
          <a:xfrm rot="10800000">
            <a:off x="1706852" y="2078400"/>
            <a:ext cx="624900" cy="18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57" name="Google Shape;1057;p79"/>
          <p:cNvSpPr/>
          <p:nvPr/>
        </p:nvSpPr>
        <p:spPr>
          <a:xfrm>
            <a:off x="2045452" y="19313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8" name="Google Shape;1058;p79"/>
          <p:cNvSpPr/>
          <p:nvPr/>
        </p:nvSpPr>
        <p:spPr>
          <a:xfrm flipH="1">
            <a:off x="179322" y="1815900"/>
            <a:ext cx="1765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9" name="Google Shape;1059;p79"/>
          <p:cNvSpPr/>
          <p:nvPr/>
        </p:nvSpPr>
        <p:spPr>
          <a:xfrm flipH="1">
            <a:off x="324000" y="3271050"/>
            <a:ext cx="8496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brackets ensures the whole expression is being multiplied by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0" name="Google Shape;1060;p79"/>
          <p:cNvSpPr/>
          <p:nvPr/>
        </p:nvSpPr>
        <p:spPr>
          <a:xfrm flipH="1">
            <a:off x="324000" y="3685475"/>
            <a:ext cx="8496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expand the brackets by multiplying every term by 2 if we wish.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79"/>
          <p:cNvSpPr/>
          <p:nvPr/>
        </p:nvSpPr>
        <p:spPr>
          <a:xfrm flipH="1">
            <a:off x="279947" y="2203200"/>
            <a:ext cx="1765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2" name="Google Shape;1062;p79"/>
          <p:cNvSpPr/>
          <p:nvPr/>
        </p:nvSpPr>
        <p:spPr>
          <a:xfrm flipH="1">
            <a:off x="324000" y="4298400"/>
            <a:ext cx="8496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expanding brackets, no operation has been performed, the expression is just written in a different format. The right hand side remains the same.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3" name="Google Shape;1063;p79"/>
          <p:cNvSpPr/>
          <p:nvPr/>
        </p:nvSpPr>
        <p:spPr>
          <a:xfrm flipH="1">
            <a:off x="1414461" y="2117175"/>
            <a:ext cx="388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7" name="Shape 1067"/>
        <p:cNvGrpSpPr/>
        <p:nvPr/>
      </p:nvGrpSpPr>
      <p:grpSpPr>
        <a:xfrm>
          <a:off x="0" y="0"/>
          <a:ext cx="0" cy="0"/>
        </a:xfrm>
      </p:grpSpPr>
      <p:sp>
        <p:nvSpPr>
          <p:cNvPr id="1068" name="Google Shape;106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069" name="Google Shape;1069;p80"/>
          <p:cNvSpPr/>
          <p:nvPr/>
        </p:nvSpPr>
        <p:spPr>
          <a:xfrm>
            <a:off x="1949252" y="249555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70" name="Google Shape;1070;p80"/>
          <p:cNvCxnSpPr/>
          <p:nvPr/>
        </p:nvCxnSpPr>
        <p:spPr>
          <a:xfrm rot="10800000" flipH="1">
            <a:off x="3437727" y="2253425"/>
            <a:ext cx="627000" cy="32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71" name="Google Shape;1071;p80"/>
          <p:cNvCxnSpPr/>
          <p:nvPr/>
        </p:nvCxnSpPr>
        <p:spPr>
          <a:xfrm rot="10800000" flipH="1">
            <a:off x="4757025" y="1845338"/>
            <a:ext cx="721200" cy="22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72" name="Google Shape;1072;p80"/>
          <p:cNvSpPr/>
          <p:nvPr/>
        </p:nvSpPr>
        <p:spPr>
          <a:xfrm flipH="1">
            <a:off x="3666752" y="19680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3" name="Google Shape;1073;p80"/>
          <p:cNvSpPr/>
          <p:nvPr/>
        </p:nvSpPr>
        <p:spPr>
          <a:xfrm>
            <a:off x="3366577" y="21629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4" name="Google Shape;1074;p80"/>
          <p:cNvSpPr/>
          <p:nvPr/>
        </p:nvSpPr>
        <p:spPr>
          <a:xfrm>
            <a:off x="4742977" y="16997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5" name="Google Shape;1075;p80"/>
          <p:cNvSpPr/>
          <p:nvPr/>
        </p:nvSpPr>
        <p:spPr>
          <a:xfrm flipH="1">
            <a:off x="5290152" y="15843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 = 19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6" name="Google Shape;1076;p80"/>
          <p:cNvSpPr/>
          <p:nvPr/>
        </p:nvSpPr>
        <p:spPr>
          <a:xfrm flipH="1">
            <a:off x="324000" y="3431150"/>
            <a:ext cx="78852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would we maintain equality for this next step?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77" name="Google Shape;1077;p80"/>
          <p:cNvCxnSpPr/>
          <p:nvPr/>
        </p:nvCxnSpPr>
        <p:spPr>
          <a:xfrm rot="10800000" flipH="1">
            <a:off x="6304200" y="1251138"/>
            <a:ext cx="916800" cy="23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78" name="Google Shape;1078;p80"/>
          <p:cNvSpPr/>
          <p:nvPr/>
        </p:nvSpPr>
        <p:spPr>
          <a:xfrm flipH="1">
            <a:off x="7492377" y="11282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57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9" name="Google Shape;1079;p80"/>
          <p:cNvSpPr/>
          <p:nvPr/>
        </p:nvSpPr>
        <p:spPr>
          <a:xfrm>
            <a:off x="6206577" y="11281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0" name="Google Shape;1080;p80"/>
          <p:cNvSpPr/>
          <p:nvPr/>
        </p:nvSpPr>
        <p:spPr>
          <a:xfrm flipH="1">
            <a:off x="7052127" y="11282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1" name="Google Shape;1081;p80"/>
          <p:cNvSpPr/>
          <p:nvPr/>
        </p:nvSpPr>
        <p:spPr>
          <a:xfrm flipH="1">
            <a:off x="324000" y="3856200"/>
            <a:ext cx="78852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whole expression should be multiplied by 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the same as multiplying each term by 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80"/>
          <p:cNvSpPr/>
          <p:nvPr/>
        </p:nvSpPr>
        <p:spPr>
          <a:xfrm flipH="1">
            <a:off x="7461481" y="15042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 = 57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088" name="Google Shape;1088;p81"/>
          <p:cNvSpPr/>
          <p:nvPr/>
        </p:nvSpPr>
        <p:spPr>
          <a:xfrm>
            <a:off x="1949252" y="249555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89" name="Google Shape;1089;p81"/>
          <p:cNvCxnSpPr/>
          <p:nvPr/>
        </p:nvCxnSpPr>
        <p:spPr>
          <a:xfrm rot="10800000" flipH="1">
            <a:off x="3437727" y="2253425"/>
            <a:ext cx="627000" cy="32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90" name="Google Shape;1090;p81"/>
          <p:cNvCxnSpPr/>
          <p:nvPr/>
        </p:nvCxnSpPr>
        <p:spPr>
          <a:xfrm rot="10800000" flipH="1">
            <a:off x="4757025" y="1845338"/>
            <a:ext cx="721200" cy="22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91" name="Google Shape;1091;p81"/>
          <p:cNvSpPr/>
          <p:nvPr/>
        </p:nvSpPr>
        <p:spPr>
          <a:xfrm flipH="1">
            <a:off x="3666752" y="19680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2" name="Google Shape;1092;p81"/>
          <p:cNvSpPr/>
          <p:nvPr/>
        </p:nvSpPr>
        <p:spPr>
          <a:xfrm>
            <a:off x="3366577" y="21629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3" name="Google Shape;1093;p81"/>
          <p:cNvSpPr/>
          <p:nvPr/>
        </p:nvSpPr>
        <p:spPr>
          <a:xfrm>
            <a:off x="4742977" y="16997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4" name="Google Shape;1094;p81"/>
          <p:cNvSpPr/>
          <p:nvPr/>
        </p:nvSpPr>
        <p:spPr>
          <a:xfrm flipH="1">
            <a:off x="5290152" y="15843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 = 19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95" name="Google Shape;1095;p81"/>
          <p:cNvCxnSpPr/>
          <p:nvPr/>
        </p:nvCxnSpPr>
        <p:spPr>
          <a:xfrm rot="10800000" flipH="1">
            <a:off x="6224725" y="1251025"/>
            <a:ext cx="996300" cy="33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96" name="Google Shape;1096;p81"/>
          <p:cNvSpPr/>
          <p:nvPr/>
        </p:nvSpPr>
        <p:spPr>
          <a:xfrm flipH="1">
            <a:off x="324000" y="3493788"/>
            <a:ext cx="78852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would we maintain equality if the next step was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instead?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7" name="Google Shape;1097;p81"/>
          <p:cNvSpPr/>
          <p:nvPr/>
        </p:nvSpPr>
        <p:spPr>
          <a:xfrm flipH="1">
            <a:off x="324000" y="3989500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Adding 3 to the whole expression is the same as adding 3 to the constant term.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81"/>
          <p:cNvSpPr/>
          <p:nvPr/>
        </p:nvSpPr>
        <p:spPr>
          <a:xfrm>
            <a:off x="6272052" y="1213163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81"/>
          <p:cNvSpPr/>
          <p:nvPr/>
        </p:nvSpPr>
        <p:spPr>
          <a:xfrm flipH="1">
            <a:off x="6660300" y="910600"/>
            <a:ext cx="21597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3)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19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endParaRPr sz="2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0" name="Google Shape;1100;p81"/>
          <p:cNvSpPr/>
          <p:nvPr/>
        </p:nvSpPr>
        <p:spPr>
          <a:xfrm flipH="1">
            <a:off x="7134827" y="13051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 = 22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4" name="Shape 1104"/>
        <p:cNvGrpSpPr/>
        <p:nvPr/>
      </p:nvGrpSpPr>
      <p:grpSpPr>
        <a:xfrm>
          <a:off x="0" y="0"/>
          <a:ext cx="0" cy="0"/>
        </a:xfrm>
      </p:grpSpPr>
      <p:sp>
        <p:nvSpPr>
          <p:cNvPr id="1105" name="Google Shape;110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106" name="Google Shape;1106;p82"/>
          <p:cNvSpPr txBox="1"/>
          <p:nvPr>
            <p:ph type="body" idx="1"/>
          </p:nvPr>
        </p:nvSpPr>
        <p:spPr>
          <a:xfrm>
            <a:off x="324000" y="759300"/>
            <a:ext cx="8439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You can start with more complex equations too. </a:t>
            </a:r>
            <a:endParaRPr sz="1800"/>
          </a:p>
        </p:txBody>
      </p:sp>
      <p:sp>
        <p:nvSpPr>
          <p:cNvPr id="1107" name="Google Shape;1107;p82"/>
          <p:cNvSpPr/>
          <p:nvPr/>
        </p:nvSpPr>
        <p:spPr>
          <a:xfrm>
            <a:off x="3854252" y="2419350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08" name="Google Shape;1108;p82"/>
          <p:cNvCxnSpPr/>
          <p:nvPr/>
        </p:nvCxnSpPr>
        <p:spPr>
          <a:xfrm rot="10800000">
            <a:off x="3243752" y="2365288"/>
            <a:ext cx="610500" cy="26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09" name="Google Shape;1109;p82"/>
          <p:cNvSpPr/>
          <p:nvPr/>
        </p:nvSpPr>
        <p:spPr>
          <a:xfrm>
            <a:off x="3626077" y="22793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+ 3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0" name="Google Shape;1110;p82"/>
          <p:cNvSpPr/>
          <p:nvPr/>
        </p:nvSpPr>
        <p:spPr>
          <a:xfrm flipH="1">
            <a:off x="2331752" y="20676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11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1" name="Google Shape;1111;p82"/>
          <p:cNvSpPr/>
          <p:nvPr/>
        </p:nvSpPr>
        <p:spPr>
          <a:xfrm flipH="1">
            <a:off x="5250302" y="1724975"/>
            <a:ext cx="1606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8 − 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12" name="Google Shape;1112;p82"/>
          <p:cNvCxnSpPr/>
          <p:nvPr/>
        </p:nvCxnSpPr>
        <p:spPr>
          <a:xfrm rot="10800000" flipH="1">
            <a:off x="5147402" y="2023400"/>
            <a:ext cx="451800" cy="41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13" name="Google Shape;1113;p82"/>
          <p:cNvSpPr/>
          <p:nvPr/>
        </p:nvSpPr>
        <p:spPr>
          <a:xfrm flipH="1">
            <a:off x="4502073" y="2021250"/>
            <a:ext cx="734700" cy="26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14" name="Google Shape;1114;p82"/>
          <p:cNvCxnSpPr>
            <a:stCxn id="1110" idx="3"/>
          </p:cNvCxnSpPr>
          <p:nvPr/>
        </p:nvCxnSpPr>
        <p:spPr>
          <a:xfrm rot="10800000">
            <a:off x="1706852" y="2002200"/>
            <a:ext cx="624900" cy="18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15" name="Google Shape;1115;p82"/>
          <p:cNvSpPr/>
          <p:nvPr/>
        </p:nvSpPr>
        <p:spPr>
          <a:xfrm>
            <a:off x="2045452" y="1855188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16" name="Google Shape;1116;p82"/>
          <p:cNvCxnSpPr/>
          <p:nvPr/>
        </p:nvCxnSpPr>
        <p:spPr>
          <a:xfrm rot="10800000" flipH="1">
            <a:off x="6348275" y="1305300"/>
            <a:ext cx="579300" cy="42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17" name="Google Shape;1117;p82"/>
          <p:cNvSpPr/>
          <p:nvPr/>
        </p:nvSpPr>
        <p:spPr>
          <a:xfrm flipH="1">
            <a:off x="179322" y="1739700"/>
            <a:ext cx="1765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18" name="Google Shape;1118;p82"/>
          <p:cNvGrpSpPr/>
          <p:nvPr/>
        </p:nvGrpSpPr>
        <p:grpSpPr>
          <a:xfrm>
            <a:off x="6065600" y="889858"/>
            <a:ext cx="443100" cy="539700"/>
            <a:chOff x="6370400" y="1118458"/>
            <a:chExt cx="443100" cy="539700"/>
          </a:xfrm>
        </p:grpSpPr>
        <p:sp>
          <p:nvSpPr>
            <p:cNvPr id="1119" name="Google Shape;1119;p82"/>
            <p:cNvSpPr/>
            <p:nvPr/>
          </p:nvSpPr>
          <p:spPr>
            <a:xfrm flipH="1">
              <a:off x="6370400" y="1118458"/>
              <a:ext cx="443100" cy="53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</a:t>
              </a:r>
              <a:r>
                <a:rPr lang="en-GB" sz="18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id="1120" name="Google Shape;1120;p8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20525" y="1156608"/>
              <a:ext cx="145440" cy="46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1" name="Google Shape;1121;p82" descr="&lt;math xmlns=&quot;http://www.w3.org/1998/Math/MathML&quot; display=&quot;block&quot; data-is-equatio=&quot;1&quot; data-latex=&quot;\frac{1}{2}\left(2x-2\right)=\frac{1}{2}\left(8-x\right)&quot;&gt;&lt;mfrac&gt;&lt;mn&gt;1&lt;/mn&gt;&lt;mn&gt;2&lt;/mn&gt;&lt;/mfrac&gt;&lt;mrow data-mjx-texclass=&quot;INNER&quot;&gt;&lt;mo data-mjx-texclass=&quot;OPEN&quot;&gt;(&lt;/mo&gt;&lt;mn&gt;2&lt;/mn&gt;&lt;mi&gt;x&lt;/mi&gt;&lt;mo&gt;−&lt;/mo&gt;&lt;mn&gt;2&lt;/mn&gt;&lt;mo data-mjx-texclass=&quot;CLOSE&quot;&gt;)&lt;/mo&gt;&lt;/mrow&gt;&lt;mo&gt;=&lt;/mo&gt;&lt;mfrac&gt;&lt;mn&gt;1&lt;/mn&gt;&lt;mn&gt;2&lt;/mn&gt;&lt;/mfrac&gt;&lt;mrow data-mjx-texclass=&quot;INNER&quot;&gt;&lt;mo data-mjx-texclass=&quot;OPEN&quot;&gt;(&lt;/mo&gt;&lt;mn&gt;8&lt;/mn&gt;&lt;mo&gt;−&lt;/mo&gt;&lt;mi&gt;x&lt;/mi&gt;&lt;mo data-mjx-texclass=&quot;CLOSE&quot;&gt;)&lt;/mo&gt;&lt;/mrow&gt;&lt;/math&gt;" title="one half times open paren 2 x minus 2 close paren equals one half times open paren 8 minus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2357" y="1031791"/>
            <a:ext cx="1765501" cy="40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2" descr="&lt;math xmlns=&quot;http://www.w3.org/1998/Math/MathML&quot; display=&quot;block&quot; data-is-equatio=&quot;1&quot; data-latex=&quot;\frac{2x-2}{2}=\frac{8-x}{2}&quot;&gt;&lt;mfrac&gt;&lt;mrow&gt;&lt;mn&gt;2&lt;/mn&gt;&lt;mi&gt;x&lt;/mi&gt;&lt;mo&gt;−&lt;/mo&gt;&lt;mn&gt;2&lt;/mn&gt;&lt;/mrow&gt;&lt;mn&gt;2&lt;/mn&gt;&lt;/mfrac&gt;&lt;mo&gt;=&lt;/mo&gt;&lt;mfrac&gt;&lt;mrow&gt;&lt;mn&gt;8&lt;/mn&gt;&lt;mo&gt;−&lt;/mo&gt;&lt;mi&gt;x&lt;/mi&gt;&lt;/mrow&gt;&lt;mn&gt;2&lt;/mn&gt;&lt;/mfrac&gt;&lt;/math&gt;" title="the fraction with numerator 2 x minus 2 and denominator 2 equals the fraction with numerator 8 minus x and denominator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8181" y="1671199"/>
            <a:ext cx="1370100" cy="429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2" descr="&lt;math xmlns=&quot;http://www.w3.org/1998/Math/MathML&quot; display=&quot;block&quot; data-is-equatio=&quot;1&quot; data-latex=&quot;x-1=4-\frac{x}{2}&quot;&gt;&lt;mi&gt;x&lt;/mi&gt;&lt;mo&gt;−&lt;/mo&gt;&lt;mn&gt;1&lt;/mn&gt;&lt;mo&gt;=&lt;/mo&gt;&lt;mn&gt;4&lt;/mn&gt;&lt;mo&gt;−&lt;/mo&gt;&lt;mfrac&gt;&lt;mi&gt;x&lt;/mi&gt;&lt;mn&gt;2&lt;/mn&gt;&lt;/mfrac&gt;&lt;/math&gt;" title="x minus 1 equals 4 minus x ove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5362" y="2338178"/>
            <a:ext cx="1256450" cy="394508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2"/>
          <p:cNvSpPr/>
          <p:nvPr/>
        </p:nvSpPr>
        <p:spPr>
          <a:xfrm flipH="1">
            <a:off x="331722" y="2163500"/>
            <a:ext cx="1765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25" name="Google Shape;1125;p82"/>
          <p:cNvCxnSpPr/>
          <p:nvPr/>
        </p:nvCxnSpPr>
        <p:spPr>
          <a:xfrm flipH="1">
            <a:off x="4062977" y="2931375"/>
            <a:ext cx="174300" cy="43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26" name="Google Shape;1126;p82"/>
          <p:cNvSpPr/>
          <p:nvPr/>
        </p:nvSpPr>
        <p:spPr>
          <a:xfrm>
            <a:off x="3740977" y="2931363"/>
            <a:ext cx="3882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5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7" name="Google Shape;1127;p82"/>
          <p:cNvSpPr/>
          <p:nvPr/>
        </p:nvSpPr>
        <p:spPr>
          <a:xfrm flipH="1">
            <a:off x="2996147" y="3385800"/>
            <a:ext cx="1765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40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28" name="Google Shape;1128;p82"/>
          <p:cNvCxnSpPr/>
          <p:nvPr/>
        </p:nvCxnSpPr>
        <p:spPr>
          <a:xfrm flipH="1">
            <a:off x="3701852" y="3701500"/>
            <a:ext cx="275400" cy="43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29" name="Google Shape;1129;p82"/>
          <p:cNvSpPr/>
          <p:nvPr/>
        </p:nvSpPr>
        <p:spPr>
          <a:xfrm flipH="1">
            <a:off x="3405450" y="3684675"/>
            <a:ext cx="448800" cy="2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0" name="Google Shape;1130;p82"/>
          <p:cNvSpPr/>
          <p:nvPr/>
        </p:nvSpPr>
        <p:spPr>
          <a:xfrm flipH="1">
            <a:off x="2045438" y="4130200"/>
            <a:ext cx="2694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5(3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40 + 2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1" name="Google Shape;1131;p82"/>
          <p:cNvSpPr/>
          <p:nvPr/>
        </p:nvSpPr>
        <p:spPr>
          <a:xfrm flipH="1">
            <a:off x="2367616" y="4438000"/>
            <a:ext cx="3472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 = 40 + 2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2" name="Google Shape;1132;p82"/>
          <p:cNvSpPr txBox="1"/>
          <p:nvPr>
            <p:ph type="body" idx="1"/>
          </p:nvPr>
        </p:nvSpPr>
        <p:spPr>
          <a:xfrm>
            <a:off x="5774400" y="3068050"/>
            <a:ext cx="3053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Multiplying by a half is the same as dividing by 2. </a:t>
            </a:r>
            <a:endParaRPr sz="1800"/>
          </a:p>
        </p:txBody>
      </p:sp>
      <p:sp>
        <p:nvSpPr>
          <p:cNvPr id="1133" name="Google Shape;1133;p82"/>
          <p:cNvSpPr txBox="1"/>
          <p:nvPr>
            <p:ph type="body" idx="1"/>
          </p:nvPr>
        </p:nvSpPr>
        <p:spPr>
          <a:xfrm>
            <a:off x="5774400" y="3869750"/>
            <a:ext cx="3053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Each term can be divided by 2 separately if we wish.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7" name="Shape 1137"/>
        <p:cNvGrpSpPr/>
        <p:nvPr/>
      </p:nvGrpSpPr>
      <p:grpSpPr>
        <a:xfrm>
          <a:off x="0" y="0"/>
          <a:ext cx="0" cy="0"/>
        </a:xfrm>
      </p:grpSpPr>
      <p:sp>
        <p:nvSpPr>
          <p:cNvPr id="1138" name="Google Shape;1138;p83"/>
          <p:cNvSpPr txBox="1"/>
          <p:nvPr>
            <p:ph type="body" idx="1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Given that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+ 11 = 10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/>
              <a:t>, which of these are true? </a:t>
            </a:r>
            <a:endParaRPr/>
          </a:p>
        </p:txBody>
      </p:sp>
      <p:sp>
        <p:nvSpPr>
          <p:cNvPr id="1139" name="Google Shape;113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grpSp>
        <p:nvGrpSpPr>
          <p:cNvPr id="1140" name="Google Shape;1140;p83"/>
          <p:cNvGrpSpPr/>
          <p:nvPr/>
        </p:nvGrpSpPr>
        <p:grpSpPr>
          <a:xfrm>
            <a:off x="323991" y="1391400"/>
            <a:ext cx="457200" cy="457200"/>
            <a:chOff x="1020916" y="1442088"/>
            <a:chExt cx="457200" cy="457200"/>
          </a:xfrm>
        </p:grpSpPr>
        <p:pic>
          <p:nvPicPr>
            <p:cNvPr id="1141" name="Google Shape;1141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3" name="Google Shape;1143;p83"/>
          <p:cNvGrpSpPr/>
          <p:nvPr/>
        </p:nvGrpSpPr>
        <p:grpSpPr>
          <a:xfrm>
            <a:off x="323991" y="2114909"/>
            <a:ext cx="457200" cy="457200"/>
            <a:chOff x="1020916" y="1442088"/>
            <a:chExt cx="457200" cy="457200"/>
          </a:xfrm>
        </p:grpSpPr>
        <p:pic>
          <p:nvPicPr>
            <p:cNvPr id="1144" name="Google Shape;1144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83"/>
          <p:cNvGrpSpPr/>
          <p:nvPr/>
        </p:nvGrpSpPr>
        <p:grpSpPr>
          <a:xfrm>
            <a:off x="323991" y="2838419"/>
            <a:ext cx="457200" cy="457200"/>
            <a:chOff x="1020916" y="1442088"/>
            <a:chExt cx="457200" cy="457200"/>
          </a:xfrm>
        </p:grpSpPr>
        <p:pic>
          <p:nvPicPr>
            <p:cNvPr id="1147" name="Google Shape;1147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83"/>
          <p:cNvGrpSpPr/>
          <p:nvPr/>
        </p:nvGrpSpPr>
        <p:grpSpPr>
          <a:xfrm>
            <a:off x="323991" y="3561928"/>
            <a:ext cx="457200" cy="457200"/>
            <a:chOff x="1020916" y="1442088"/>
            <a:chExt cx="457200" cy="457200"/>
          </a:xfrm>
        </p:grpSpPr>
        <p:pic>
          <p:nvPicPr>
            <p:cNvPr id="1150" name="Google Shape;1150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83"/>
          <p:cNvGrpSpPr/>
          <p:nvPr/>
        </p:nvGrpSpPr>
        <p:grpSpPr>
          <a:xfrm>
            <a:off x="323991" y="42854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5" name="Google Shape;1155;p83"/>
          <p:cNvSpPr txBox="1"/>
          <p:nvPr>
            <p:ph type="body" idx="1"/>
          </p:nvPr>
        </p:nvSpPr>
        <p:spPr>
          <a:xfrm>
            <a:off x="920050" y="1389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+ 12 = 10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/>
              <a:t> </a:t>
            </a:r>
            <a:endParaRPr/>
          </a:p>
        </p:txBody>
      </p:sp>
      <p:sp>
        <p:nvSpPr>
          <p:cNvPr id="1156" name="Google Shape;1156;p83"/>
          <p:cNvSpPr txBox="1"/>
          <p:nvPr>
            <p:ph type="body" idx="1"/>
          </p:nvPr>
        </p:nvSpPr>
        <p:spPr>
          <a:xfrm>
            <a:off x="920050" y="21131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+ 22 = 20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/>
              <a:t> </a:t>
            </a:r>
            <a:endParaRPr/>
          </a:p>
        </p:txBody>
      </p:sp>
      <p:sp>
        <p:nvSpPr>
          <p:cNvPr id="1157" name="Google Shape;1157;p83"/>
          <p:cNvSpPr txBox="1"/>
          <p:nvPr>
            <p:ph type="body" idx="1"/>
          </p:nvPr>
        </p:nvSpPr>
        <p:spPr>
          <a:xfrm>
            <a:off x="920050" y="2836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+ 11 = 10 + 5</a:t>
            </a:r>
            <a:r>
              <a:rPr lang="en-GB"/>
              <a:t> </a:t>
            </a:r>
            <a:endParaRPr/>
          </a:p>
        </p:txBody>
      </p:sp>
      <p:sp>
        <p:nvSpPr>
          <p:cNvPr id="1158" name="Google Shape;1158;p83"/>
          <p:cNvSpPr txBox="1"/>
          <p:nvPr>
            <p:ph type="body" idx="1"/>
          </p:nvPr>
        </p:nvSpPr>
        <p:spPr>
          <a:xfrm>
            <a:off x="920050" y="3549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+ 11 = 9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/>
              <a:t> </a:t>
            </a:r>
            <a:endParaRPr/>
          </a:p>
        </p:txBody>
      </p:sp>
      <p:sp>
        <p:nvSpPr>
          <p:cNvPr id="1159" name="Google Shape;1159;p83"/>
          <p:cNvSpPr txBox="1"/>
          <p:nvPr>
            <p:ph type="body" idx="1"/>
          </p:nvPr>
        </p:nvSpPr>
        <p:spPr>
          <a:xfrm>
            <a:off x="920050" y="4262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+ 11 = 20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/>
              <a:t> </a:t>
            </a:r>
            <a:endParaRPr/>
          </a:p>
        </p:txBody>
      </p:sp>
      <p:pic>
        <p:nvPicPr>
          <p:cNvPr id="1160" name="Google Shape;116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1365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2133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3560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83"/>
          <p:cNvSpPr txBox="1"/>
          <p:nvPr>
            <p:ph type="body" idx="1"/>
          </p:nvPr>
        </p:nvSpPr>
        <p:spPr>
          <a:xfrm>
            <a:off x="4572000" y="1365900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added to both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3"/>
          <p:cNvSpPr txBox="1"/>
          <p:nvPr>
            <p:ph type="body" idx="1"/>
          </p:nvPr>
        </p:nvSpPr>
        <p:spPr>
          <a:xfrm>
            <a:off x="4572000" y="2125200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sides have been doubled.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83"/>
          <p:cNvSpPr txBox="1"/>
          <p:nvPr>
            <p:ph type="body" idx="1"/>
          </p:nvPr>
        </p:nvSpPr>
        <p:spPr>
          <a:xfrm>
            <a:off x="4572000" y="3561925"/>
            <a:ext cx="4248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subtracted from both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9" name="Shape 1169"/>
        <p:cNvGrpSpPr/>
        <p:nvPr/>
      </p:nvGrpSpPr>
      <p:grpSpPr>
        <a:xfrm>
          <a:off x="0" y="0"/>
          <a:ext cx="0" cy="0"/>
        </a:xfrm>
      </p:grpSpPr>
      <p:sp>
        <p:nvSpPr>
          <p:cNvPr id="1170" name="Google Shape;1170;p84"/>
          <p:cNvSpPr txBox="1"/>
          <p:nvPr>
            <p:ph type="body" idx="1"/>
          </p:nvPr>
        </p:nvSpPr>
        <p:spPr>
          <a:xfrm>
            <a:off x="395650" y="654688"/>
            <a:ext cx="84960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Complete the equations in this diagram. The arrows show the operation that is being applied to the whole equation.</a:t>
            </a:r>
            <a:endParaRPr sz="1800"/>
          </a:p>
        </p:txBody>
      </p:sp>
      <p:sp>
        <p:nvSpPr>
          <p:cNvPr id="1171" name="Google Shape;1171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172" name="Google Shape;1172;p84"/>
          <p:cNvSpPr/>
          <p:nvPr/>
        </p:nvSpPr>
        <p:spPr>
          <a:xfrm>
            <a:off x="4154150" y="2941375"/>
            <a:ext cx="835704" cy="47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73" name="Google Shape;1173;p84"/>
          <p:cNvCxnSpPr/>
          <p:nvPr/>
        </p:nvCxnSpPr>
        <p:spPr>
          <a:xfrm rot="10800000">
            <a:off x="4232691" y="2655248"/>
            <a:ext cx="174600" cy="31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74" name="Google Shape;1174;p84"/>
          <p:cNvCxnSpPr/>
          <p:nvPr/>
        </p:nvCxnSpPr>
        <p:spPr>
          <a:xfrm rot="10800000" flipH="1">
            <a:off x="4942500" y="2777700"/>
            <a:ext cx="627300" cy="29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75" name="Google Shape;1175;p84"/>
          <p:cNvCxnSpPr>
            <a:stCxn id="1172" idx="5"/>
          </p:cNvCxnSpPr>
          <p:nvPr/>
        </p:nvCxnSpPr>
        <p:spPr>
          <a:xfrm>
            <a:off x="4867468" y="3346984"/>
            <a:ext cx="593100" cy="36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76" name="Google Shape;1176;p84"/>
          <p:cNvCxnSpPr/>
          <p:nvPr/>
        </p:nvCxnSpPr>
        <p:spPr>
          <a:xfrm flipH="1">
            <a:off x="3940502" y="3369663"/>
            <a:ext cx="379500" cy="17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77" name="Google Shape;1177;p84"/>
          <p:cNvSpPr/>
          <p:nvPr/>
        </p:nvSpPr>
        <p:spPr>
          <a:xfrm flipH="1">
            <a:off x="3448841" y="2336048"/>
            <a:ext cx="1370100" cy="319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___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78" name="Google Shape;1178;p84"/>
          <p:cNvCxnSpPr/>
          <p:nvPr/>
        </p:nvCxnSpPr>
        <p:spPr>
          <a:xfrm rot="10800000">
            <a:off x="3234550" y="1997350"/>
            <a:ext cx="475500" cy="33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79" name="Google Shape;1179;p84"/>
          <p:cNvSpPr/>
          <p:nvPr/>
        </p:nvSpPr>
        <p:spPr>
          <a:xfrm flipH="1">
            <a:off x="2339950" y="1649663"/>
            <a:ext cx="13701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 = 35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80" name="Google Shape;1180;p84"/>
          <p:cNvCxnSpPr>
            <a:endCxn id="1181" idx="1"/>
          </p:cNvCxnSpPr>
          <p:nvPr/>
        </p:nvCxnSpPr>
        <p:spPr>
          <a:xfrm rot="10800000">
            <a:off x="2017050" y="1480900"/>
            <a:ext cx="461100" cy="16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81" name="Google Shape;1181;p84"/>
          <p:cNvSpPr/>
          <p:nvPr/>
        </p:nvSpPr>
        <p:spPr>
          <a:xfrm flipH="1">
            <a:off x="395550" y="1311550"/>
            <a:ext cx="1621500" cy="3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 = ____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2" name="Google Shape;1182;p84"/>
          <p:cNvSpPr/>
          <p:nvPr/>
        </p:nvSpPr>
        <p:spPr>
          <a:xfrm flipH="1">
            <a:off x="5493600" y="2413088"/>
            <a:ext cx="15264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3 + 5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83" name="Google Shape;1183;p84"/>
          <p:cNvCxnSpPr>
            <a:stCxn id="1182" idx="0"/>
          </p:cNvCxnSpPr>
          <p:nvPr/>
        </p:nvCxnSpPr>
        <p:spPr>
          <a:xfrm rot="10800000" flipH="1">
            <a:off x="6256800" y="2161988"/>
            <a:ext cx="416100" cy="25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84" name="Google Shape;1184;p84"/>
          <p:cNvSpPr/>
          <p:nvPr/>
        </p:nvSpPr>
        <p:spPr>
          <a:xfrm flipH="1">
            <a:off x="6344725" y="1814350"/>
            <a:ext cx="22782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____ + 5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85" name="Google Shape;1185;p84"/>
          <p:cNvCxnSpPr>
            <a:stCxn id="1184" idx="0"/>
            <a:endCxn id="1186" idx="2"/>
          </p:cNvCxnSpPr>
          <p:nvPr/>
        </p:nvCxnSpPr>
        <p:spPr>
          <a:xfrm rot="10800000" flipH="1">
            <a:off x="7483825" y="1302550"/>
            <a:ext cx="558900" cy="51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86" name="Google Shape;1186;p84"/>
          <p:cNvSpPr/>
          <p:nvPr/>
        </p:nvSpPr>
        <p:spPr>
          <a:xfrm flipH="1">
            <a:off x="7265400" y="965375"/>
            <a:ext cx="15546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____ 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7" name="Google Shape;1187;p84"/>
          <p:cNvSpPr/>
          <p:nvPr/>
        </p:nvSpPr>
        <p:spPr>
          <a:xfrm flipH="1">
            <a:off x="3098450" y="3537075"/>
            <a:ext cx="10149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88" name="Google Shape;1188;p84"/>
          <p:cNvCxnSpPr/>
          <p:nvPr/>
        </p:nvCxnSpPr>
        <p:spPr>
          <a:xfrm flipH="1">
            <a:off x="3104475" y="3897250"/>
            <a:ext cx="454200" cy="1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89" name="Google Shape;1189;p84"/>
          <p:cNvSpPr/>
          <p:nvPr/>
        </p:nvSpPr>
        <p:spPr>
          <a:xfrm flipH="1">
            <a:off x="2017050" y="412585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90" name="Google Shape;1190;p84"/>
          <p:cNvCxnSpPr/>
          <p:nvPr/>
        </p:nvCxnSpPr>
        <p:spPr>
          <a:xfrm flipH="1">
            <a:off x="1684950" y="4432975"/>
            <a:ext cx="855900" cy="22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91" name="Google Shape;1191;p84"/>
          <p:cNvCxnSpPr/>
          <p:nvPr/>
        </p:nvCxnSpPr>
        <p:spPr>
          <a:xfrm>
            <a:off x="6546640" y="4132588"/>
            <a:ext cx="610500" cy="26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92" name="Google Shape;1192;p84"/>
          <p:cNvSpPr/>
          <p:nvPr/>
        </p:nvSpPr>
        <p:spPr>
          <a:xfrm>
            <a:off x="6720771" y="3874081"/>
            <a:ext cx="835800" cy="31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+ 1)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3" name="Google Shape;1193;p84"/>
          <p:cNvSpPr/>
          <p:nvPr/>
        </p:nvSpPr>
        <p:spPr>
          <a:xfrm>
            <a:off x="2269000" y="1311538"/>
            <a:ext cx="583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4"/>
          <p:cNvSpPr/>
          <p:nvPr/>
        </p:nvSpPr>
        <p:spPr>
          <a:xfrm>
            <a:off x="3025575" y="211660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4"/>
          <p:cNvSpPr/>
          <p:nvPr/>
        </p:nvSpPr>
        <p:spPr>
          <a:xfrm>
            <a:off x="4899302" y="2599546"/>
            <a:ext cx="4479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4"/>
          <p:cNvSpPr/>
          <p:nvPr/>
        </p:nvSpPr>
        <p:spPr>
          <a:xfrm>
            <a:off x="5946775" y="2075538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4"/>
          <p:cNvSpPr/>
          <p:nvPr/>
        </p:nvSpPr>
        <p:spPr>
          <a:xfrm>
            <a:off x="6943000" y="1343350"/>
            <a:ext cx="7323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4"/>
          <p:cNvSpPr/>
          <p:nvPr/>
        </p:nvSpPr>
        <p:spPr>
          <a:xfrm>
            <a:off x="3796500" y="2709775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4"/>
          <p:cNvSpPr/>
          <p:nvPr/>
        </p:nvSpPr>
        <p:spPr>
          <a:xfrm>
            <a:off x="4154138" y="344300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4"/>
          <p:cNvSpPr/>
          <p:nvPr/>
        </p:nvSpPr>
        <p:spPr>
          <a:xfrm>
            <a:off x="3448844" y="3968058"/>
            <a:ext cx="685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4"/>
          <p:cNvSpPr/>
          <p:nvPr/>
        </p:nvSpPr>
        <p:spPr>
          <a:xfrm>
            <a:off x="2351208" y="4529858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/>
          </a:p>
        </p:txBody>
      </p:sp>
      <p:pic>
        <p:nvPicPr>
          <p:cNvPr id="1202" name="Google Shape;1202;p84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629" y="3045497"/>
            <a:ext cx="127550" cy="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4"/>
          <p:cNvSpPr/>
          <p:nvPr/>
        </p:nvSpPr>
        <p:spPr>
          <a:xfrm flipH="1">
            <a:off x="5159426" y="314993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4" name="Google Shape;1204;p84"/>
          <p:cNvSpPr/>
          <p:nvPr/>
        </p:nvSpPr>
        <p:spPr>
          <a:xfrm>
            <a:off x="5136100" y="3027963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5" name="Google Shape;1205;p84" descr="&lt;math xmlns=&quot;http://www.w3.org/1998/Math/MathML&quot; display=&quot;block&quot; data-is-equatio=&quot;1&quot; data-latex=&quot;=-\frac{1}{3}&quot;&gt;&lt;mo&gt;=&lt;/mo&gt;&lt;mo&gt;−&lt;/mo&gt;&lt;mfrac&gt;&lt;mn&gt;1&lt;/mn&gt;&lt;mn&gt;3&lt;/mn&gt;&lt;/mfrac&gt;&lt;/math&gt;" title="equals 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625" y="4401023"/>
            <a:ext cx="475500" cy="42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84"/>
          <p:cNvSpPr/>
          <p:nvPr/>
        </p:nvSpPr>
        <p:spPr>
          <a:xfrm flipH="1">
            <a:off x="324000" y="4358725"/>
            <a:ext cx="1370100" cy="4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______ </a:t>
            </a: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….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07" name="Google Shape;1207;p84" descr="&lt;math xmlns=&quot;http://www.w3.org/1998/Math/MathML&quot; display=&quot;block&quot; data-is-equatio=&quot;1&quot; data-latex=&quot;\frac{x}{3}=&quot;&gt;&lt;mfrac&gt;&lt;mi&gt;x&lt;/mi&gt;&lt;mn&gt;3&lt;/mn&gt;&lt;/mfrac&gt;&lt;mo&gt;=&lt;/mo&gt;&lt;/math&gt;" title="x over 3 equal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600" y="3652935"/>
            <a:ext cx="416100" cy="44924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84"/>
          <p:cNvSpPr/>
          <p:nvPr/>
        </p:nvSpPr>
        <p:spPr>
          <a:xfrm flipH="1">
            <a:off x="5456431" y="3605477"/>
            <a:ext cx="1083300" cy="51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____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9" name="Google Shape;1209;p84"/>
          <p:cNvSpPr/>
          <p:nvPr/>
        </p:nvSpPr>
        <p:spPr>
          <a:xfrm flipH="1">
            <a:off x="6386775" y="4426975"/>
            <a:ext cx="1837500" cy="3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 =______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3" name="Shape 1213"/>
        <p:cNvGrpSpPr/>
        <p:nvPr/>
      </p:nvGrpSpPr>
      <p:grpSpPr>
        <a:xfrm>
          <a:off x="0" y="0"/>
          <a:ext cx="0" cy="0"/>
        </a:xfrm>
      </p:grpSpPr>
      <p:sp>
        <p:nvSpPr>
          <p:cNvPr id="1214" name="Google Shape;1214;p85"/>
          <p:cNvSpPr txBox="1"/>
          <p:nvPr>
            <p:ph type="body" idx="1"/>
          </p:nvPr>
        </p:nvSpPr>
        <p:spPr>
          <a:xfrm>
            <a:off x="324000" y="674375"/>
            <a:ext cx="8496000" cy="62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Complete the equations in this diagram. The arrows show the operation that is being applied to the whole equation.</a:t>
            </a:r>
            <a:endParaRPr sz="1800"/>
          </a:p>
        </p:txBody>
      </p:sp>
      <p:sp>
        <p:nvSpPr>
          <p:cNvPr id="1215" name="Google Shape;1215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216" name="Google Shape;1216;p85"/>
          <p:cNvSpPr/>
          <p:nvPr/>
        </p:nvSpPr>
        <p:spPr>
          <a:xfrm>
            <a:off x="4154150" y="2941375"/>
            <a:ext cx="835704" cy="47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17" name="Google Shape;1217;p85"/>
          <p:cNvCxnSpPr/>
          <p:nvPr/>
        </p:nvCxnSpPr>
        <p:spPr>
          <a:xfrm rot="10800000">
            <a:off x="4232691" y="2655248"/>
            <a:ext cx="174600" cy="31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18" name="Google Shape;1218;p85"/>
          <p:cNvCxnSpPr/>
          <p:nvPr/>
        </p:nvCxnSpPr>
        <p:spPr>
          <a:xfrm rot="10800000" flipH="1">
            <a:off x="4935000" y="2777700"/>
            <a:ext cx="634800" cy="29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19" name="Google Shape;1219;p85"/>
          <p:cNvCxnSpPr>
            <a:stCxn id="1216" idx="5"/>
          </p:cNvCxnSpPr>
          <p:nvPr/>
        </p:nvCxnSpPr>
        <p:spPr>
          <a:xfrm>
            <a:off x="4867468" y="3346984"/>
            <a:ext cx="593100" cy="36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20" name="Google Shape;1220;p85"/>
          <p:cNvCxnSpPr/>
          <p:nvPr/>
        </p:nvCxnSpPr>
        <p:spPr>
          <a:xfrm flipH="1">
            <a:off x="3940502" y="3369663"/>
            <a:ext cx="379500" cy="17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21" name="Google Shape;1221;p85"/>
          <p:cNvSpPr/>
          <p:nvPr/>
        </p:nvSpPr>
        <p:spPr>
          <a:xfrm flipH="1">
            <a:off x="3448841" y="2336048"/>
            <a:ext cx="1370100" cy="319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22" name="Google Shape;1222;p85"/>
          <p:cNvCxnSpPr/>
          <p:nvPr/>
        </p:nvCxnSpPr>
        <p:spPr>
          <a:xfrm rot="10800000">
            <a:off x="3234550" y="1997350"/>
            <a:ext cx="475500" cy="33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23" name="Google Shape;1223;p85"/>
          <p:cNvSpPr/>
          <p:nvPr/>
        </p:nvSpPr>
        <p:spPr>
          <a:xfrm flipH="1">
            <a:off x="2339950" y="1649663"/>
            <a:ext cx="13701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35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24" name="Google Shape;1224;p85"/>
          <p:cNvCxnSpPr>
            <a:endCxn id="1225" idx="1"/>
          </p:cNvCxnSpPr>
          <p:nvPr/>
        </p:nvCxnSpPr>
        <p:spPr>
          <a:xfrm rot="10800000">
            <a:off x="2017050" y="1480900"/>
            <a:ext cx="461100" cy="16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25" name="Google Shape;1225;p85"/>
          <p:cNvSpPr/>
          <p:nvPr/>
        </p:nvSpPr>
        <p:spPr>
          <a:xfrm flipH="1">
            <a:off x="324150" y="1311550"/>
            <a:ext cx="1692900" cy="3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31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6" name="Google Shape;1226;p85"/>
          <p:cNvSpPr/>
          <p:nvPr/>
        </p:nvSpPr>
        <p:spPr>
          <a:xfrm flipH="1">
            <a:off x="5493600" y="2413088"/>
            <a:ext cx="15264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3 + 5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27" name="Google Shape;1227;p85"/>
          <p:cNvCxnSpPr>
            <a:stCxn id="1226" idx="0"/>
          </p:cNvCxnSpPr>
          <p:nvPr/>
        </p:nvCxnSpPr>
        <p:spPr>
          <a:xfrm rot="10800000" flipH="1">
            <a:off x="6256800" y="2161988"/>
            <a:ext cx="416100" cy="25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28" name="Google Shape;1228;p85"/>
          <p:cNvSpPr/>
          <p:nvPr/>
        </p:nvSpPr>
        <p:spPr>
          <a:xfrm flipH="1">
            <a:off x="6344725" y="1814350"/>
            <a:ext cx="22782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4 + 5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29" name="Google Shape;1229;p85"/>
          <p:cNvCxnSpPr>
            <a:stCxn id="1228" idx="0"/>
            <a:endCxn id="1230" idx="2"/>
          </p:cNvCxnSpPr>
          <p:nvPr/>
        </p:nvCxnSpPr>
        <p:spPr>
          <a:xfrm rot="10800000" flipH="1">
            <a:off x="7483825" y="1302550"/>
            <a:ext cx="558900" cy="51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30" name="Google Shape;1230;p85"/>
          <p:cNvSpPr/>
          <p:nvPr/>
        </p:nvSpPr>
        <p:spPr>
          <a:xfrm flipH="1">
            <a:off x="7265400" y="965375"/>
            <a:ext cx="15546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4 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1" name="Google Shape;1231;p85"/>
          <p:cNvSpPr/>
          <p:nvPr/>
        </p:nvSpPr>
        <p:spPr>
          <a:xfrm flipH="1">
            <a:off x="3098450" y="3537075"/>
            <a:ext cx="10149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32" name="Google Shape;1232;p85"/>
          <p:cNvCxnSpPr/>
          <p:nvPr/>
        </p:nvCxnSpPr>
        <p:spPr>
          <a:xfrm flipH="1">
            <a:off x="3104475" y="3897250"/>
            <a:ext cx="454200" cy="1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33" name="Google Shape;1233;p85"/>
          <p:cNvSpPr/>
          <p:nvPr/>
        </p:nvSpPr>
        <p:spPr>
          <a:xfrm flipH="1">
            <a:off x="2017050" y="412585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34" name="Google Shape;1234;p85"/>
          <p:cNvCxnSpPr>
            <a:endCxn id="1235" idx="3"/>
          </p:cNvCxnSpPr>
          <p:nvPr/>
        </p:nvCxnSpPr>
        <p:spPr>
          <a:xfrm flipH="1">
            <a:off x="1721787" y="4433125"/>
            <a:ext cx="819000" cy="8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236" name="Google Shape;1236;p85"/>
          <p:cNvCxnSpPr/>
          <p:nvPr/>
        </p:nvCxnSpPr>
        <p:spPr>
          <a:xfrm>
            <a:off x="6546640" y="4132588"/>
            <a:ext cx="195600" cy="138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37" name="Google Shape;1237;p85"/>
          <p:cNvSpPr/>
          <p:nvPr/>
        </p:nvSpPr>
        <p:spPr>
          <a:xfrm>
            <a:off x="6720771" y="3874081"/>
            <a:ext cx="835800" cy="31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+ 1)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8" name="Google Shape;1238;p85"/>
          <p:cNvSpPr/>
          <p:nvPr/>
        </p:nvSpPr>
        <p:spPr>
          <a:xfrm>
            <a:off x="2269000" y="1311538"/>
            <a:ext cx="583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5"/>
          <p:cNvSpPr/>
          <p:nvPr/>
        </p:nvSpPr>
        <p:spPr>
          <a:xfrm>
            <a:off x="3025575" y="211660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5"/>
          <p:cNvSpPr/>
          <p:nvPr/>
        </p:nvSpPr>
        <p:spPr>
          <a:xfrm>
            <a:off x="4899302" y="2599546"/>
            <a:ext cx="4479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5"/>
          <p:cNvSpPr/>
          <p:nvPr/>
        </p:nvSpPr>
        <p:spPr>
          <a:xfrm>
            <a:off x="5946775" y="2075538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/>
          <p:nvPr/>
        </p:nvSpPr>
        <p:spPr>
          <a:xfrm>
            <a:off x="6943000" y="1343350"/>
            <a:ext cx="7323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5"/>
          <p:cNvSpPr/>
          <p:nvPr/>
        </p:nvSpPr>
        <p:spPr>
          <a:xfrm>
            <a:off x="3796500" y="2709775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5"/>
          <p:cNvSpPr/>
          <p:nvPr/>
        </p:nvSpPr>
        <p:spPr>
          <a:xfrm>
            <a:off x="4154138" y="344300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5"/>
          <p:cNvSpPr/>
          <p:nvPr/>
        </p:nvSpPr>
        <p:spPr>
          <a:xfrm>
            <a:off x="3448844" y="3968058"/>
            <a:ext cx="685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5"/>
          <p:cNvSpPr/>
          <p:nvPr/>
        </p:nvSpPr>
        <p:spPr>
          <a:xfrm>
            <a:off x="2351208" y="4529858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/>
          </a:p>
        </p:txBody>
      </p:sp>
      <p:pic>
        <p:nvPicPr>
          <p:cNvPr id="1247" name="Google Shape;1247;p8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629" y="3045497"/>
            <a:ext cx="127550" cy="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5"/>
          <p:cNvSpPr/>
          <p:nvPr/>
        </p:nvSpPr>
        <p:spPr>
          <a:xfrm flipH="1">
            <a:off x="5159426" y="314993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9" name="Google Shape;1249;p85"/>
          <p:cNvSpPr/>
          <p:nvPr/>
        </p:nvSpPr>
        <p:spPr>
          <a:xfrm>
            <a:off x="5136100" y="3027963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5"/>
          <p:cNvSpPr/>
          <p:nvPr/>
        </p:nvSpPr>
        <p:spPr>
          <a:xfrm flipH="1">
            <a:off x="324075" y="4282525"/>
            <a:ext cx="1413600" cy="4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1" name="Google Shape;1251;p85"/>
          <p:cNvSpPr/>
          <p:nvPr/>
        </p:nvSpPr>
        <p:spPr>
          <a:xfrm flipH="1">
            <a:off x="5479606" y="3588027"/>
            <a:ext cx="1083300" cy="51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2" name="Google Shape;1252;p85"/>
          <p:cNvSpPr/>
          <p:nvPr/>
        </p:nvSpPr>
        <p:spPr>
          <a:xfrm flipH="1">
            <a:off x="6386775" y="4312633"/>
            <a:ext cx="1837500" cy="51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35" name="Google Shape;1235;p85" descr="&lt;math xmlns=&quot;http://www.w3.org/1998/Math/MathML&quot; display=&quot;block&quot; data-is-equatio=&quot;1&quot; data-latex=&quot;\frac{3x-10}{3}=\ -\frac{1}{3}&quot;&gt;&lt;mfrac&gt;&lt;mrow&gt;&lt;mn&gt;3&lt;/mn&gt;&lt;mi&gt;x&lt;/mi&gt;&lt;mo&gt;−&lt;/mo&gt;&lt;mn&gt;10&lt;/mn&gt;&lt;/mrow&gt;&lt;mn&gt;3&lt;/mn&gt;&lt;/mfrac&gt;&lt;mo&gt;=&lt;/mo&gt;&lt;mtext&gt;&lt;/mtext&gt;&lt;mo&gt;−&lt;/mo&gt;&lt;mfrac&gt;&lt;mn&gt;1&lt;/mn&gt;&lt;mn&gt;3&lt;/mn&gt;&lt;/mfrac&gt;&lt;/math&gt;" title="the fraction with numerator 3 x minus 10 and denominator 3 equals 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64" y="4309050"/>
            <a:ext cx="1381824" cy="4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85" descr="&lt;math xmlns=&quot;http://www.w3.org/1998/Math/MathML&quot; display=&quot;block&quot; data-is-equatio=&quot;1&quot; data-latex=&quot;\frac{x}{3}=1&quot;&gt;&lt;mfrac&gt;&lt;mi&gt;x&lt;/mi&gt;&lt;mn&gt;3&lt;/mn&gt;&lt;/mfrac&gt;&lt;mo&gt;=&lt;/mo&gt;&lt;mn&gt;1&lt;/mn&gt;&lt;/math&gt;" title="x over 3 equal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6850" y="3645575"/>
            <a:ext cx="558900" cy="4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85" descr="&lt;math xmlns=&quot;http://www.w3.org/1998/Math/MathML&quot; display=&quot;block&quot; data-is-equatio=&quot;1&quot; data-latex=&quot;\frac{x}{3}+x+1=x+2&quot;&gt;&lt;mfrac&gt;&lt;mi&gt;x&lt;/mi&gt;&lt;mn&gt;3&lt;/mn&gt;&lt;/mfrac&gt;&lt;mo&gt;+&lt;/mo&gt;&lt;mi&gt;x&lt;/mi&gt;&lt;mo&gt;+&lt;/mo&gt;&lt;mn&gt;1&lt;/mn&gt;&lt;mo&gt;=&lt;/mo&gt;&lt;mi&gt;x&lt;/mi&gt;&lt;mo&gt;+&lt;/mo&gt;&lt;mn&gt;2&lt;/mn&gt;&lt;/math&gt;" title="x over 3 plus x plus 1 equals x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1975" y="4346100"/>
            <a:ext cx="1787100" cy="43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Maintaining equality while manipulating equations</a:t>
            </a:r>
            <a:endParaRPr/>
          </a:p>
        </p:txBody>
      </p:sp>
      <p:sp>
        <p:nvSpPr>
          <p:cNvPr id="1260" name="Google Shape;1260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261" name="Google Shape;1261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pic>
        <p:nvPicPr>
          <p:cNvPr id="1262" name="Google Shape;126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00" y="298966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6" name="Shape 1266"/>
        <p:cNvGrpSpPr/>
        <p:nvPr/>
      </p:nvGrpSpPr>
      <p:grpSpPr>
        <a:xfrm>
          <a:off x="0" y="0"/>
          <a:ext cx="0" cy="0"/>
        </a:xfrm>
      </p:grpSpPr>
      <p:sp>
        <p:nvSpPr>
          <p:cNvPr id="1267" name="Google Shape;126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268" name="Google Shape;1268;p87"/>
          <p:cNvSpPr txBox="1"/>
          <p:nvPr>
            <p:ph type="body" idx="1"/>
          </p:nvPr>
        </p:nvSpPr>
        <p:spPr>
          <a:xfrm>
            <a:off x="324000" y="683100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equations are equivalent, we can work out the operation which links them.</a:t>
            </a:r>
            <a:endParaRPr sz="1800"/>
          </a:p>
        </p:txBody>
      </p:sp>
      <p:sp>
        <p:nvSpPr>
          <p:cNvPr id="1269" name="Google Shape;1269;p87"/>
          <p:cNvSpPr/>
          <p:nvPr/>
        </p:nvSpPr>
        <p:spPr>
          <a:xfrm>
            <a:off x="3489099" y="1642702"/>
            <a:ext cx="5175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70" name="Google Shape;1270;p87"/>
          <p:cNvGrpSpPr/>
          <p:nvPr/>
        </p:nvGrpSpPr>
        <p:grpSpPr>
          <a:xfrm>
            <a:off x="1274775" y="1005250"/>
            <a:ext cx="6012328" cy="2869627"/>
            <a:chOff x="1274775" y="1005250"/>
            <a:chExt cx="6012328" cy="2869627"/>
          </a:xfrm>
        </p:grpSpPr>
        <p:sp>
          <p:nvSpPr>
            <p:cNvPr id="1271" name="Google Shape;1271;p87"/>
            <p:cNvSpPr/>
            <p:nvPr/>
          </p:nvSpPr>
          <p:spPr>
            <a:xfrm>
              <a:off x="3551352" y="2109400"/>
              <a:ext cx="1606392" cy="540648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8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72" name="Google Shape;1272;p87"/>
            <p:cNvCxnSpPr>
              <a:stCxn id="1271" idx="3"/>
            </p:cNvCxnSpPr>
            <p:nvPr/>
          </p:nvCxnSpPr>
          <p:spPr>
            <a:xfrm flipH="1">
              <a:off x="2531403" y="2570872"/>
              <a:ext cx="1255200" cy="498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273" name="Google Shape;1273;p87"/>
            <p:cNvSpPr/>
            <p:nvPr/>
          </p:nvSpPr>
          <p:spPr>
            <a:xfrm flipH="1">
              <a:off x="5917002" y="3098700"/>
              <a:ext cx="1370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+ 7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15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74" name="Google Shape;1274;p87"/>
            <p:cNvCxnSpPr/>
            <p:nvPr/>
          </p:nvCxnSpPr>
          <p:spPr>
            <a:xfrm>
              <a:off x="4306240" y="2651688"/>
              <a:ext cx="1500" cy="811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275" name="Google Shape;1275;p87"/>
            <p:cNvSpPr/>
            <p:nvPr/>
          </p:nvSpPr>
          <p:spPr>
            <a:xfrm flipH="1">
              <a:off x="3697563" y="3643277"/>
              <a:ext cx="14148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2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+ 8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6" name="Google Shape;1276;p87"/>
            <p:cNvSpPr/>
            <p:nvPr/>
          </p:nvSpPr>
          <p:spPr>
            <a:xfrm flipH="1">
              <a:off x="1274775" y="3165325"/>
              <a:ext cx="17046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− 2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+ 6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77" name="Google Shape;1277;p87"/>
            <p:cNvCxnSpPr>
              <a:stCxn id="1271" idx="5"/>
            </p:cNvCxnSpPr>
            <p:nvPr/>
          </p:nvCxnSpPr>
          <p:spPr>
            <a:xfrm>
              <a:off x="4922494" y="2570872"/>
              <a:ext cx="1138500" cy="45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278" name="Google Shape;1278;p87"/>
            <p:cNvCxnSpPr>
              <a:endCxn id="1279" idx="2"/>
            </p:cNvCxnSpPr>
            <p:nvPr/>
          </p:nvCxnSpPr>
          <p:spPr>
            <a:xfrm rot="10800000">
              <a:off x="3012527" y="1563675"/>
              <a:ext cx="760800" cy="62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279" name="Google Shape;1279;p87"/>
            <p:cNvSpPr/>
            <p:nvPr/>
          </p:nvSpPr>
          <p:spPr>
            <a:xfrm flipH="1">
              <a:off x="2327477" y="1332075"/>
              <a:ext cx="1370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40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280" name="Google Shape;1280;p87"/>
            <p:cNvCxnSpPr/>
            <p:nvPr/>
          </p:nvCxnSpPr>
          <p:spPr>
            <a:xfrm rot="10800000" flipH="1">
              <a:off x="4970277" y="1524450"/>
              <a:ext cx="951600" cy="669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pic>
          <p:nvPicPr>
            <p:cNvPr id="1281" name="Google Shape;1281;p87" descr="&lt;math xmlns=&quot;http://www.w3.org/1998/Math/MathML&quot; display=&quot;block&quot; data-is-equatio=&quot;1&quot; data-latex=&quot;-\frac{x}{4}=-2&quot;&gt;&lt;mo&gt;−&lt;/mo&gt;&lt;mfrac&gt;&lt;mi&gt;x&lt;/mi&gt;&lt;mn&gt;4&lt;/mn&gt;&lt;/mfrac&gt;&lt;mo&gt;=&lt;/mo&gt;&lt;mo&gt;−&lt;/mo&gt;&lt;mn&gt;2&lt;/mn&gt;&lt;/math&gt;" title="negative x over 4 equals negative 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87675" y="1005250"/>
              <a:ext cx="1043444" cy="483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2" name="Google Shape;1282;p87"/>
          <p:cNvSpPr txBox="1"/>
          <p:nvPr>
            <p:ph type="body" idx="1"/>
          </p:nvPr>
        </p:nvSpPr>
        <p:spPr>
          <a:xfrm>
            <a:off x="324000" y="3912150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operation goes on each arrow?</a:t>
            </a:r>
            <a:endParaRPr sz="1800"/>
          </a:p>
        </p:txBody>
      </p:sp>
      <p:sp>
        <p:nvSpPr>
          <p:cNvPr id="1283" name="Google Shape;1283;p87"/>
          <p:cNvSpPr/>
          <p:nvPr/>
        </p:nvSpPr>
        <p:spPr>
          <a:xfrm>
            <a:off x="3489100" y="1686346"/>
            <a:ext cx="5175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4" name="Google Shape;1284;p87"/>
          <p:cNvSpPr/>
          <p:nvPr/>
        </p:nvSpPr>
        <p:spPr>
          <a:xfrm>
            <a:off x="5634324" y="1908427"/>
            <a:ext cx="5175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5" name="Google Shape;1285;p87"/>
          <p:cNvSpPr/>
          <p:nvPr/>
        </p:nvSpPr>
        <p:spPr>
          <a:xfrm>
            <a:off x="5634325" y="1952071"/>
            <a:ext cx="5175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86" name="Google Shape;1286;p87"/>
          <p:cNvGrpSpPr/>
          <p:nvPr/>
        </p:nvGrpSpPr>
        <p:grpSpPr>
          <a:xfrm>
            <a:off x="6294225" y="1794450"/>
            <a:ext cx="618000" cy="555300"/>
            <a:chOff x="6294225" y="1794450"/>
            <a:chExt cx="618000" cy="555300"/>
          </a:xfrm>
        </p:grpSpPr>
        <p:pic>
          <p:nvPicPr>
            <p:cNvPr id="1287" name="Google Shape;1287;p87" descr="&lt;math xmlns=&quot;http://www.w3.org/1998/Math/MathML&quot; display=&quot;block&quot; data-is-equatio=&quot;1&quot; data-latex=&quot;\times-\frac{1}{4}&quot;&gt;&lt;mo&gt;×&lt;/mo&gt;&lt;mo&gt;−&lt;/mo&gt;&lt;mfrac&gt;&lt;mn&gt;1&lt;/mn&gt;&lt;mn&gt;4&lt;/mn&gt;&lt;/mfrac&gt;&lt;/math&gt;" title="times negative 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43296" y="1830706"/>
              <a:ext cx="517500" cy="4296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87"/>
            <p:cNvSpPr/>
            <p:nvPr/>
          </p:nvSpPr>
          <p:spPr>
            <a:xfrm>
              <a:off x="6294225" y="1794450"/>
              <a:ext cx="618000" cy="5553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89" name="Google Shape;1289;p87"/>
          <p:cNvSpPr/>
          <p:nvPr/>
        </p:nvSpPr>
        <p:spPr>
          <a:xfrm>
            <a:off x="5035399" y="2824802"/>
            <a:ext cx="5175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0" name="Google Shape;1290;p87"/>
          <p:cNvSpPr/>
          <p:nvPr/>
        </p:nvSpPr>
        <p:spPr>
          <a:xfrm>
            <a:off x="5135544" y="2876173"/>
            <a:ext cx="3324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+ 7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1" name="Google Shape;1291;p87"/>
          <p:cNvSpPr/>
          <p:nvPr/>
        </p:nvSpPr>
        <p:spPr>
          <a:xfrm>
            <a:off x="3697574" y="2865240"/>
            <a:ext cx="5175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2" name="Google Shape;1292;p87"/>
          <p:cNvSpPr/>
          <p:nvPr/>
        </p:nvSpPr>
        <p:spPr>
          <a:xfrm>
            <a:off x="3697575" y="2916600"/>
            <a:ext cx="5175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8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3" name="Google Shape;1293;p87"/>
          <p:cNvSpPr/>
          <p:nvPr/>
        </p:nvSpPr>
        <p:spPr>
          <a:xfrm>
            <a:off x="2216500" y="2396975"/>
            <a:ext cx="9516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4" name="Google Shape;1294;p87"/>
          <p:cNvSpPr/>
          <p:nvPr/>
        </p:nvSpPr>
        <p:spPr>
          <a:xfrm>
            <a:off x="2261851" y="2456000"/>
            <a:ext cx="1043400" cy="117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2)</a:t>
            </a:r>
            <a:endParaRPr sz="18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5" name="Google Shape;1295;p87"/>
          <p:cNvSpPr txBox="1"/>
          <p:nvPr>
            <p:ph type="body" idx="1"/>
          </p:nvPr>
        </p:nvSpPr>
        <p:spPr>
          <a:xfrm>
            <a:off x="324000" y="4251325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operations produce equivalent equations but they have all changed the original equation in different ways.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9" name="Shape 1299"/>
        <p:cNvGrpSpPr/>
        <p:nvPr/>
      </p:nvGrpSpPr>
      <p:grpSpPr>
        <a:xfrm>
          <a:off x="0" y="0"/>
          <a:ext cx="0" cy="0"/>
        </a:xfrm>
      </p:grpSpPr>
      <p:sp>
        <p:nvSpPr>
          <p:cNvPr id="1300" name="Google Shape;130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301" name="Google Shape;1301;p88"/>
          <p:cNvSpPr txBox="1"/>
          <p:nvPr>
            <p:ph type="body" idx="1"/>
          </p:nvPr>
        </p:nvSpPr>
        <p:spPr>
          <a:xfrm>
            <a:off x="324000" y="704425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 operations will make the equation look more complicated, and some may make it look simpler.</a:t>
            </a:r>
            <a:endParaRPr sz="1800"/>
          </a:p>
        </p:txBody>
      </p:sp>
      <p:sp>
        <p:nvSpPr>
          <p:cNvPr id="1302" name="Google Shape;1302;p88"/>
          <p:cNvSpPr/>
          <p:nvPr/>
        </p:nvSpPr>
        <p:spPr>
          <a:xfrm flipH="1">
            <a:off x="4045227" y="45138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3" name="Google Shape;1303;p88"/>
          <p:cNvSpPr/>
          <p:nvPr/>
        </p:nvSpPr>
        <p:spPr>
          <a:xfrm flipH="1">
            <a:off x="2171413" y="4567752"/>
            <a:ext cx="1414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4" name="Google Shape;1304;p88"/>
          <p:cNvSpPr/>
          <p:nvPr/>
        </p:nvSpPr>
        <p:spPr>
          <a:xfrm flipH="1">
            <a:off x="365827" y="2627600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5" name="Google Shape;1305;p88"/>
          <p:cNvSpPr txBox="1"/>
          <p:nvPr>
            <p:ph type="body" idx="1"/>
          </p:nvPr>
        </p:nvSpPr>
        <p:spPr>
          <a:xfrm>
            <a:off x="324000" y="1468875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would the equations in this diagram look like?</a:t>
            </a:r>
            <a:endParaRPr sz="1800"/>
          </a:p>
        </p:txBody>
      </p:sp>
      <p:sp>
        <p:nvSpPr>
          <p:cNvPr id="1306" name="Google Shape;1306;p88"/>
          <p:cNvSpPr/>
          <p:nvPr/>
        </p:nvSpPr>
        <p:spPr>
          <a:xfrm flipH="1">
            <a:off x="5634327" y="24999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07" name="Google Shape;1307;p88"/>
          <p:cNvGrpSpPr/>
          <p:nvPr/>
        </p:nvGrpSpPr>
        <p:grpSpPr>
          <a:xfrm>
            <a:off x="2499475" y="2820051"/>
            <a:ext cx="3844650" cy="1683351"/>
            <a:chOff x="2499475" y="2820051"/>
            <a:chExt cx="3844650" cy="1683351"/>
          </a:xfrm>
        </p:grpSpPr>
        <p:sp>
          <p:nvSpPr>
            <p:cNvPr id="1308" name="Google Shape;1308;p88"/>
            <p:cNvSpPr/>
            <p:nvPr/>
          </p:nvSpPr>
          <p:spPr>
            <a:xfrm>
              <a:off x="3436725" y="3395775"/>
              <a:ext cx="1891512" cy="540648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6 = 14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309" name="Google Shape;1309;p88"/>
            <p:cNvCxnSpPr/>
            <p:nvPr/>
          </p:nvCxnSpPr>
          <p:spPr>
            <a:xfrm flipH="1">
              <a:off x="2973365" y="3849388"/>
              <a:ext cx="724200" cy="63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310" name="Google Shape;1310;p88"/>
            <p:cNvCxnSpPr/>
            <p:nvPr/>
          </p:nvCxnSpPr>
          <p:spPr>
            <a:xfrm>
              <a:off x="4428999" y="3946902"/>
              <a:ext cx="4200" cy="55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311" name="Google Shape;1311;p88"/>
            <p:cNvCxnSpPr/>
            <p:nvPr/>
          </p:nvCxnSpPr>
          <p:spPr>
            <a:xfrm rot="10800000">
              <a:off x="2887202" y="2929800"/>
              <a:ext cx="709800" cy="594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312" name="Google Shape;1312;p88"/>
            <p:cNvCxnSpPr>
              <a:stCxn id="1308" idx="7"/>
            </p:cNvCxnSpPr>
            <p:nvPr/>
          </p:nvCxnSpPr>
          <p:spPr>
            <a:xfrm rot="10800000" flipH="1">
              <a:off x="5051231" y="2820051"/>
              <a:ext cx="870600" cy="65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1313" name="Google Shape;1313;p88"/>
            <p:cNvGrpSpPr/>
            <p:nvPr/>
          </p:nvGrpSpPr>
          <p:grpSpPr>
            <a:xfrm>
              <a:off x="3489099" y="2938102"/>
              <a:ext cx="556126" cy="273900"/>
              <a:chOff x="3489099" y="1871302"/>
              <a:chExt cx="556126" cy="273900"/>
            </a:xfrm>
          </p:grpSpPr>
          <p:sp>
            <p:nvSpPr>
              <p:cNvPr id="1314" name="Google Shape;1314;p88"/>
              <p:cNvSpPr/>
              <p:nvPr/>
            </p:nvSpPr>
            <p:spPr>
              <a:xfrm>
                <a:off x="3489099" y="1871302"/>
                <a:ext cx="517500" cy="2739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15" name="Google Shape;1315;p88"/>
              <p:cNvSpPr/>
              <p:nvPr/>
            </p:nvSpPr>
            <p:spPr>
              <a:xfrm>
                <a:off x="3527725" y="1933546"/>
                <a:ext cx="517500" cy="1494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÷</a:t>
                </a:r>
                <a:r>
                  <a:rPr lang="en-GB" sz="18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316" name="Google Shape;1316;p88"/>
            <p:cNvSpPr/>
            <p:nvPr/>
          </p:nvSpPr>
          <p:spPr>
            <a:xfrm>
              <a:off x="5634325" y="3203825"/>
              <a:ext cx="7098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7" name="Google Shape;1317;p88"/>
            <p:cNvSpPr/>
            <p:nvPr/>
          </p:nvSpPr>
          <p:spPr>
            <a:xfrm>
              <a:off x="5634325" y="3247475"/>
              <a:ext cx="6180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(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4)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1318" name="Google Shape;1318;p88"/>
            <p:cNvGrpSpPr/>
            <p:nvPr/>
          </p:nvGrpSpPr>
          <p:grpSpPr>
            <a:xfrm>
              <a:off x="3869174" y="4031802"/>
              <a:ext cx="517500" cy="273900"/>
              <a:chOff x="5035399" y="3053402"/>
              <a:chExt cx="517500" cy="273900"/>
            </a:xfrm>
          </p:grpSpPr>
          <p:sp>
            <p:nvSpPr>
              <p:cNvPr id="1319" name="Google Shape;1319;p88"/>
              <p:cNvSpPr/>
              <p:nvPr/>
            </p:nvSpPr>
            <p:spPr>
              <a:xfrm>
                <a:off x="5035399" y="3053402"/>
                <a:ext cx="517500" cy="2739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20" name="Google Shape;1320;p88"/>
              <p:cNvSpPr/>
              <p:nvPr/>
            </p:nvSpPr>
            <p:spPr>
              <a:xfrm>
                <a:off x="5135544" y="3104773"/>
                <a:ext cx="332400" cy="1494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+ 6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321" name="Google Shape;1321;p88"/>
            <p:cNvGrpSpPr/>
            <p:nvPr/>
          </p:nvGrpSpPr>
          <p:grpSpPr>
            <a:xfrm>
              <a:off x="2499475" y="3865125"/>
              <a:ext cx="758700" cy="290700"/>
              <a:chOff x="2499475" y="2798325"/>
              <a:chExt cx="758700" cy="290700"/>
            </a:xfrm>
          </p:grpSpPr>
          <p:sp>
            <p:nvSpPr>
              <p:cNvPr id="1322" name="Google Shape;1322;p88"/>
              <p:cNvSpPr/>
              <p:nvPr/>
            </p:nvSpPr>
            <p:spPr>
              <a:xfrm>
                <a:off x="2499475" y="2798325"/>
                <a:ext cx="758700" cy="2907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23" name="Google Shape;1323;p88"/>
              <p:cNvSpPr/>
              <p:nvPr/>
            </p:nvSpPr>
            <p:spPr>
              <a:xfrm>
                <a:off x="2499475" y="2860575"/>
                <a:ext cx="758700" cy="1494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+ (</a:t>
                </a:r>
                <a:r>
                  <a:rPr lang="en-GB" sz="21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r>
                  <a:rPr lang="en-GB" sz="18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)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1324" name="Google Shape;1324;p88"/>
            <p:cNvCxnSpPr/>
            <p:nvPr/>
          </p:nvCxnSpPr>
          <p:spPr>
            <a:xfrm>
              <a:off x="5227500" y="3802500"/>
              <a:ext cx="661200" cy="614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grpSp>
          <p:nvGrpSpPr>
            <p:cNvPr id="1325" name="Google Shape;1325;p88"/>
            <p:cNvGrpSpPr/>
            <p:nvPr/>
          </p:nvGrpSpPr>
          <p:grpSpPr>
            <a:xfrm>
              <a:off x="5071575" y="4088200"/>
              <a:ext cx="406200" cy="273900"/>
              <a:chOff x="4959600" y="3021400"/>
              <a:chExt cx="406200" cy="273900"/>
            </a:xfrm>
          </p:grpSpPr>
          <p:sp>
            <p:nvSpPr>
              <p:cNvPr id="1326" name="Google Shape;1326;p88"/>
              <p:cNvSpPr/>
              <p:nvPr/>
            </p:nvSpPr>
            <p:spPr>
              <a:xfrm>
                <a:off x="4959600" y="3021400"/>
                <a:ext cx="406200" cy="2739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27" name="Google Shape;1327;p88"/>
              <p:cNvSpPr/>
              <p:nvPr/>
            </p:nvSpPr>
            <p:spPr>
              <a:xfrm>
                <a:off x="4959600" y="3083650"/>
                <a:ext cx="406200" cy="1494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×</a:t>
                </a:r>
                <a:r>
                  <a:rPr lang="en-GB" sz="18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2</a:t>
                </a:r>
                <a:endParaRPr sz="18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328" name="Google Shape;1328;p88"/>
          <p:cNvSpPr/>
          <p:nvPr/>
        </p:nvSpPr>
        <p:spPr>
          <a:xfrm flipH="1">
            <a:off x="5827324" y="4488100"/>
            <a:ext cx="1741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29" name="Google Shape;1329;p88" descr="&lt;math xmlns=&quot;http://www.w3.org/1998/Math/MathML&quot; display=&quot;block&quot; data-is-equatio=&quot;1&quot; data-latex=&quot;\frac{2x-6}{2}=7&quot;&gt;&lt;mfrac&gt;&lt;mrow&gt;&lt;mn&gt;2&lt;/mn&gt;&lt;mi&gt;x&lt;/mi&gt;&lt;mo&gt;−&lt;/mo&gt;&lt;mn&gt;6&lt;/mn&gt;&lt;/mrow&gt;&lt;mn&gt;2&lt;/mn&gt;&lt;/mfrac&gt;&lt;mo&gt;=&lt;/mo&gt;&lt;mn&gt;7&lt;/mn&gt;&lt;/math&gt;" title="the fraction with numerator 2 x minus 6 and denominator 2 equal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049" y="2568425"/>
            <a:ext cx="1063516" cy="4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88"/>
          <p:cNvSpPr txBox="1"/>
          <p:nvPr>
            <p:ph type="body" idx="1"/>
          </p:nvPr>
        </p:nvSpPr>
        <p:spPr>
          <a:xfrm>
            <a:off x="324000" y="2048238"/>
            <a:ext cx="74145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Both terms divide nicely by 2 so we could write this as:</a:t>
            </a:r>
            <a:endParaRPr sz="1800"/>
          </a:p>
        </p:txBody>
      </p:sp>
      <p:cxnSp>
        <p:nvCxnSpPr>
          <p:cNvPr id="1331" name="Google Shape;1331;p88"/>
          <p:cNvCxnSpPr/>
          <p:nvPr/>
        </p:nvCxnSpPr>
        <p:spPr>
          <a:xfrm flipH="1">
            <a:off x="1382300" y="2742638"/>
            <a:ext cx="447300" cy="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2" name="Google Shape;1332;p88"/>
          <p:cNvSpPr/>
          <p:nvPr/>
        </p:nvSpPr>
        <p:spPr>
          <a:xfrm flipH="1">
            <a:off x="7078799" y="4052950"/>
            <a:ext cx="1741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33" name="Google Shape;1333;p88"/>
          <p:cNvCxnSpPr/>
          <p:nvPr/>
        </p:nvCxnSpPr>
        <p:spPr>
          <a:xfrm flipH="1">
            <a:off x="7355875" y="4362100"/>
            <a:ext cx="478200" cy="24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8"/>
          <p:cNvSpPr txBox="1"/>
          <p:nvPr>
            <p:ph type="body" idx="1"/>
          </p:nvPr>
        </p:nvSpPr>
        <p:spPr>
          <a:xfrm>
            <a:off x="7568525" y="4417125"/>
            <a:ext cx="443100" cy="2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sp>
        <p:nvSpPr>
          <p:cNvPr id="1339" name="Google Shape;133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340" name="Google Shape;1340;p89"/>
          <p:cNvSpPr txBox="1"/>
          <p:nvPr>
            <p:ph type="body" idx="1"/>
          </p:nvPr>
        </p:nvSpPr>
        <p:spPr>
          <a:xfrm>
            <a:off x="324000" y="704425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operations seemed to make the equation more complicated?</a:t>
            </a:r>
            <a:endParaRPr sz="1800"/>
          </a:p>
        </p:txBody>
      </p:sp>
      <p:sp>
        <p:nvSpPr>
          <p:cNvPr id="1341" name="Google Shape;1341;p89"/>
          <p:cNvSpPr/>
          <p:nvPr/>
        </p:nvSpPr>
        <p:spPr>
          <a:xfrm>
            <a:off x="3436725" y="3395775"/>
            <a:ext cx="189151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 = 14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2" name="Google Shape;1342;p89"/>
          <p:cNvSpPr/>
          <p:nvPr/>
        </p:nvSpPr>
        <p:spPr>
          <a:xfrm flipH="1">
            <a:off x="4045227" y="45138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43" name="Google Shape;1343;p89"/>
          <p:cNvCxnSpPr/>
          <p:nvPr/>
        </p:nvCxnSpPr>
        <p:spPr>
          <a:xfrm flipH="1">
            <a:off x="2973365" y="3849388"/>
            <a:ext cx="724200" cy="63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44" name="Google Shape;1344;p89"/>
          <p:cNvSpPr/>
          <p:nvPr/>
        </p:nvSpPr>
        <p:spPr>
          <a:xfrm flipH="1">
            <a:off x="2171413" y="4567752"/>
            <a:ext cx="1414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45" name="Google Shape;1345;p89"/>
          <p:cNvCxnSpPr/>
          <p:nvPr/>
        </p:nvCxnSpPr>
        <p:spPr>
          <a:xfrm>
            <a:off x="4428999" y="3946902"/>
            <a:ext cx="4200" cy="556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46" name="Google Shape;1346;p89"/>
          <p:cNvCxnSpPr/>
          <p:nvPr/>
        </p:nvCxnSpPr>
        <p:spPr>
          <a:xfrm rot="10800000">
            <a:off x="2887202" y="2929800"/>
            <a:ext cx="709800" cy="59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47" name="Google Shape;1347;p89"/>
          <p:cNvSpPr/>
          <p:nvPr/>
        </p:nvSpPr>
        <p:spPr>
          <a:xfrm flipH="1">
            <a:off x="2033977" y="26276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48" name="Google Shape;1348;p89"/>
          <p:cNvCxnSpPr>
            <a:stCxn id="1341" idx="7"/>
          </p:cNvCxnSpPr>
          <p:nvPr/>
        </p:nvCxnSpPr>
        <p:spPr>
          <a:xfrm rot="10800000" flipH="1">
            <a:off x="5051231" y="2820051"/>
            <a:ext cx="870600" cy="6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349" name="Google Shape;1349;p89"/>
          <p:cNvGrpSpPr/>
          <p:nvPr/>
        </p:nvGrpSpPr>
        <p:grpSpPr>
          <a:xfrm>
            <a:off x="3489099" y="2938102"/>
            <a:ext cx="556126" cy="273900"/>
            <a:chOff x="3489099" y="1871302"/>
            <a:chExt cx="556126" cy="273900"/>
          </a:xfrm>
        </p:grpSpPr>
        <p:sp>
          <p:nvSpPr>
            <p:cNvPr id="1350" name="Google Shape;1350;p89"/>
            <p:cNvSpPr/>
            <p:nvPr/>
          </p:nvSpPr>
          <p:spPr>
            <a:xfrm>
              <a:off x="3489099" y="1871302"/>
              <a:ext cx="5175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1" name="Google Shape;1351;p89"/>
            <p:cNvSpPr/>
            <p:nvPr/>
          </p:nvSpPr>
          <p:spPr>
            <a:xfrm>
              <a:off x="3527725" y="1933546"/>
              <a:ext cx="5175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÷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52" name="Google Shape;1352;p89"/>
          <p:cNvSpPr/>
          <p:nvPr/>
        </p:nvSpPr>
        <p:spPr>
          <a:xfrm>
            <a:off x="5634325" y="3203825"/>
            <a:ext cx="7098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3" name="Google Shape;1353;p89"/>
          <p:cNvSpPr/>
          <p:nvPr/>
        </p:nvSpPr>
        <p:spPr>
          <a:xfrm>
            <a:off x="5634325" y="3247475"/>
            <a:ext cx="6180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54" name="Google Shape;1354;p89"/>
          <p:cNvGrpSpPr/>
          <p:nvPr/>
        </p:nvGrpSpPr>
        <p:grpSpPr>
          <a:xfrm>
            <a:off x="3869174" y="4031802"/>
            <a:ext cx="517500" cy="273900"/>
            <a:chOff x="5035399" y="3053402"/>
            <a:chExt cx="517500" cy="273900"/>
          </a:xfrm>
        </p:grpSpPr>
        <p:sp>
          <p:nvSpPr>
            <p:cNvPr id="1355" name="Google Shape;1355;p89"/>
            <p:cNvSpPr/>
            <p:nvPr/>
          </p:nvSpPr>
          <p:spPr>
            <a:xfrm>
              <a:off x="5035399" y="3053402"/>
              <a:ext cx="5175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6" name="Google Shape;1356;p89"/>
            <p:cNvSpPr/>
            <p:nvPr/>
          </p:nvSpPr>
          <p:spPr>
            <a:xfrm>
              <a:off x="5135544" y="3104773"/>
              <a:ext cx="3324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+ 6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57" name="Google Shape;1357;p89"/>
          <p:cNvGrpSpPr/>
          <p:nvPr/>
        </p:nvGrpSpPr>
        <p:grpSpPr>
          <a:xfrm>
            <a:off x="2499475" y="3865125"/>
            <a:ext cx="758700" cy="290700"/>
            <a:chOff x="2499475" y="2798325"/>
            <a:chExt cx="758700" cy="290700"/>
          </a:xfrm>
        </p:grpSpPr>
        <p:sp>
          <p:nvSpPr>
            <p:cNvPr id="1358" name="Google Shape;1358;p89"/>
            <p:cNvSpPr/>
            <p:nvPr/>
          </p:nvSpPr>
          <p:spPr>
            <a:xfrm>
              <a:off x="2499475" y="2798325"/>
              <a:ext cx="758700" cy="290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9" name="Google Shape;1359;p89"/>
            <p:cNvSpPr/>
            <p:nvPr/>
          </p:nvSpPr>
          <p:spPr>
            <a:xfrm>
              <a:off x="2499475" y="2860575"/>
              <a:ext cx="7587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(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8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)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60" name="Google Shape;1360;p89"/>
          <p:cNvSpPr/>
          <p:nvPr/>
        </p:nvSpPr>
        <p:spPr>
          <a:xfrm flipH="1">
            <a:off x="5634327" y="24999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61" name="Google Shape;1361;p89"/>
          <p:cNvCxnSpPr/>
          <p:nvPr/>
        </p:nvCxnSpPr>
        <p:spPr>
          <a:xfrm>
            <a:off x="5227500" y="3802500"/>
            <a:ext cx="661200" cy="61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362" name="Google Shape;1362;p89"/>
          <p:cNvGrpSpPr/>
          <p:nvPr/>
        </p:nvGrpSpPr>
        <p:grpSpPr>
          <a:xfrm>
            <a:off x="5066275" y="4088200"/>
            <a:ext cx="406200" cy="273900"/>
            <a:chOff x="4959600" y="3021400"/>
            <a:chExt cx="406200" cy="273900"/>
          </a:xfrm>
        </p:grpSpPr>
        <p:sp>
          <p:nvSpPr>
            <p:cNvPr id="1363" name="Google Shape;1363;p89"/>
            <p:cNvSpPr/>
            <p:nvPr/>
          </p:nvSpPr>
          <p:spPr>
            <a:xfrm>
              <a:off x="4959600" y="3021400"/>
              <a:ext cx="4062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4" name="Google Shape;1364;p89"/>
            <p:cNvSpPr/>
            <p:nvPr/>
          </p:nvSpPr>
          <p:spPr>
            <a:xfrm>
              <a:off x="4959600" y="3083650"/>
              <a:ext cx="4062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×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2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65" name="Google Shape;1365;p89"/>
          <p:cNvSpPr/>
          <p:nvPr/>
        </p:nvSpPr>
        <p:spPr>
          <a:xfrm flipH="1">
            <a:off x="5717999" y="4448025"/>
            <a:ext cx="1741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6" name="Google Shape;1366;p89"/>
          <p:cNvSpPr txBox="1"/>
          <p:nvPr>
            <p:ph type="body" idx="1"/>
          </p:nvPr>
        </p:nvSpPr>
        <p:spPr>
          <a:xfrm>
            <a:off x="324000" y="1065163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1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7" name="Google Shape;1367;p89"/>
          <p:cNvSpPr txBox="1"/>
          <p:nvPr>
            <p:ph type="body" idx="1"/>
          </p:nvPr>
        </p:nvSpPr>
        <p:spPr>
          <a:xfrm>
            <a:off x="324000" y="1534350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Are there any operations that seemed to make the equation simpler?</a:t>
            </a:r>
            <a:endParaRPr sz="1800"/>
          </a:p>
        </p:txBody>
      </p:sp>
      <p:sp>
        <p:nvSpPr>
          <p:cNvPr id="1368" name="Google Shape;1368;p89"/>
          <p:cNvSpPr txBox="1"/>
          <p:nvPr>
            <p:ph type="body" idx="1"/>
          </p:nvPr>
        </p:nvSpPr>
        <p:spPr>
          <a:xfrm>
            <a:off x="324000" y="1936863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2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sp>
        <p:nvSpPr>
          <p:cNvPr id="1373" name="Google Shape;137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374" name="Google Shape;1374;p90"/>
          <p:cNvSpPr/>
          <p:nvPr/>
        </p:nvSpPr>
        <p:spPr>
          <a:xfrm>
            <a:off x="1222075" y="3349450"/>
            <a:ext cx="189151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 = 14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5" name="Google Shape;1375;p90"/>
          <p:cNvSpPr/>
          <p:nvPr/>
        </p:nvSpPr>
        <p:spPr>
          <a:xfrm flipH="1">
            <a:off x="1987825" y="4513875"/>
            <a:ext cx="855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6" name="Google Shape;1376;p90"/>
          <p:cNvSpPr/>
          <p:nvPr/>
        </p:nvSpPr>
        <p:spPr>
          <a:xfrm flipH="1">
            <a:off x="358338" y="4380327"/>
            <a:ext cx="1414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77" name="Google Shape;1377;p90"/>
          <p:cNvCxnSpPr>
            <a:stCxn id="1374" idx="4"/>
          </p:cNvCxnSpPr>
          <p:nvPr/>
        </p:nvCxnSpPr>
        <p:spPr>
          <a:xfrm>
            <a:off x="2167831" y="3890098"/>
            <a:ext cx="48600" cy="54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78" name="Google Shape;1378;p90"/>
          <p:cNvCxnSpPr>
            <a:stCxn id="1374" idx="3"/>
          </p:cNvCxnSpPr>
          <p:nvPr/>
        </p:nvCxnSpPr>
        <p:spPr>
          <a:xfrm flipH="1">
            <a:off x="965381" y="3810922"/>
            <a:ext cx="533700" cy="56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79" name="Google Shape;1379;p90"/>
          <p:cNvCxnSpPr/>
          <p:nvPr/>
        </p:nvCxnSpPr>
        <p:spPr>
          <a:xfrm rot="10800000">
            <a:off x="892050" y="2919450"/>
            <a:ext cx="536700" cy="55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80" name="Google Shape;1380;p90"/>
          <p:cNvSpPr/>
          <p:nvPr/>
        </p:nvSpPr>
        <p:spPr>
          <a:xfrm flipH="1">
            <a:off x="509977" y="26276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81" name="Google Shape;1381;p90"/>
          <p:cNvCxnSpPr/>
          <p:nvPr/>
        </p:nvCxnSpPr>
        <p:spPr>
          <a:xfrm rot="10800000" flipH="1">
            <a:off x="2502250" y="2697025"/>
            <a:ext cx="341100" cy="67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82" name="Google Shape;1382;p90"/>
          <p:cNvSpPr/>
          <p:nvPr/>
        </p:nvSpPr>
        <p:spPr>
          <a:xfrm flipH="1">
            <a:off x="2050977" y="2447888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83" name="Google Shape;1383;p90"/>
          <p:cNvCxnSpPr>
            <a:stCxn id="1374" idx="5"/>
          </p:cNvCxnSpPr>
          <p:nvPr/>
        </p:nvCxnSpPr>
        <p:spPr>
          <a:xfrm>
            <a:off x="2836581" y="3810922"/>
            <a:ext cx="731400" cy="39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84" name="Google Shape;1384;p90"/>
          <p:cNvSpPr/>
          <p:nvPr/>
        </p:nvSpPr>
        <p:spPr>
          <a:xfrm flipH="1">
            <a:off x="3302249" y="4282275"/>
            <a:ext cx="1741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85" name="Google Shape;13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5911" y="1416326"/>
            <a:ext cx="483799" cy="62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90"/>
          <p:cNvSpPr txBox="1"/>
          <p:nvPr/>
        </p:nvSpPr>
        <p:spPr>
          <a:xfrm>
            <a:off x="396187" y="198013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90"/>
          <p:cNvSpPr txBox="1"/>
          <p:nvPr>
            <p:ph type="body" idx="1"/>
          </p:nvPr>
        </p:nvSpPr>
        <p:spPr>
          <a:xfrm>
            <a:off x="3931275" y="810000"/>
            <a:ext cx="48504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equation do you think Andeep might have used to suggest this solution?</a:t>
            </a:r>
            <a:endParaRPr sz="1800"/>
          </a:p>
        </p:txBody>
      </p:sp>
      <p:sp>
        <p:nvSpPr>
          <p:cNvPr id="1388" name="Google Shape;1388;p90"/>
          <p:cNvSpPr/>
          <p:nvPr/>
        </p:nvSpPr>
        <p:spPr>
          <a:xfrm>
            <a:off x="358350" y="2570125"/>
            <a:ext cx="1199100" cy="359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9" name="Google Shape;1389;p90"/>
          <p:cNvSpPr/>
          <p:nvPr/>
        </p:nvSpPr>
        <p:spPr>
          <a:xfrm>
            <a:off x="1950075" y="4449825"/>
            <a:ext cx="931800" cy="359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0" name="Google Shape;1390;p90"/>
          <p:cNvSpPr txBox="1"/>
          <p:nvPr>
            <p:ph type="body" idx="1"/>
          </p:nvPr>
        </p:nvSpPr>
        <p:spPr>
          <a:xfrm>
            <a:off x="3931275" y="1803800"/>
            <a:ext cx="50754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 equations will have the same solution as they are all equivalent.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However these two might be the simplest.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91" name="Google Shape;1391;p9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039701" y="941175"/>
            <a:ext cx="2657874" cy="8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90"/>
          <p:cNvSpPr txBox="1"/>
          <p:nvPr/>
        </p:nvSpPr>
        <p:spPr>
          <a:xfrm>
            <a:off x="1237250" y="941175"/>
            <a:ext cx="2441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solution might be when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6" name="Shape 1396"/>
        <p:cNvGrpSpPr/>
        <p:nvPr/>
      </p:nvGrpSpPr>
      <p:grpSpPr>
        <a:xfrm>
          <a:off x="0" y="0"/>
          <a:ext cx="0" cy="0"/>
        </a:xfrm>
      </p:grpSpPr>
      <p:sp>
        <p:nvSpPr>
          <p:cNvPr id="1397" name="Google Shape;139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398" name="Google Shape;1398;p91"/>
          <p:cNvSpPr/>
          <p:nvPr/>
        </p:nvSpPr>
        <p:spPr>
          <a:xfrm>
            <a:off x="1222075" y="3349450"/>
            <a:ext cx="189151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 = 14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9" name="Google Shape;1399;p91"/>
          <p:cNvSpPr/>
          <p:nvPr/>
        </p:nvSpPr>
        <p:spPr>
          <a:xfrm flipH="1">
            <a:off x="1987825" y="4513875"/>
            <a:ext cx="8556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00" name="Google Shape;1400;p91"/>
          <p:cNvCxnSpPr>
            <a:stCxn id="1398" idx="4"/>
          </p:cNvCxnSpPr>
          <p:nvPr/>
        </p:nvCxnSpPr>
        <p:spPr>
          <a:xfrm>
            <a:off x="2167831" y="3890098"/>
            <a:ext cx="48600" cy="54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01" name="Google Shape;1401;p91"/>
          <p:cNvCxnSpPr/>
          <p:nvPr/>
        </p:nvCxnSpPr>
        <p:spPr>
          <a:xfrm rot="10800000">
            <a:off x="892050" y="2919450"/>
            <a:ext cx="536700" cy="55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02" name="Google Shape;1402;p91"/>
          <p:cNvSpPr/>
          <p:nvPr/>
        </p:nvSpPr>
        <p:spPr>
          <a:xfrm flipH="1">
            <a:off x="509977" y="262762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03" name="Google Shape;140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5911" y="1416326"/>
            <a:ext cx="483799" cy="62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91"/>
          <p:cNvSpPr txBox="1"/>
          <p:nvPr/>
        </p:nvSpPr>
        <p:spPr>
          <a:xfrm>
            <a:off x="396187" y="198013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5" name="Google Shape;1405;p91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039701" y="941175"/>
            <a:ext cx="2657874" cy="8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91"/>
          <p:cNvSpPr txBox="1"/>
          <p:nvPr/>
        </p:nvSpPr>
        <p:spPr>
          <a:xfrm>
            <a:off x="1237250" y="941175"/>
            <a:ext cx="24414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 solution might be when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1"/>
          <p:cNvSpPr txBox="1"/>
          <p:nvPr>
            <p:ph type="body" idx="1"/>
          </p:nvPr>
        </p:nvSpPr>
        <p:spPr>
          <a:xfrm>
            <a:off x="3876200" y="810000"/>
            <a:ext cx="48504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we check if Andeep is correct?</a:t>
            </a:r>
            <a:endParaRPr sz="1800"/>
          </a:p>
        </p:txBody>
      </p:sp>
      <p:sp>
        <p:nvSpPr>
          <p:cNvPr id="1408" name="Google Shape;1408;p91"/>
          <p:cNvSpPr txBox="1"/>
          <p:nvPr>
            <p:ph type="body" idx="1"/>
          </p:nvPr>
        </p:nvSpPr>
        <p:spPr>
          <a:xfrm>
            <a:off x="3876200" y="1263925"/>
            <a:ext cx="50754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Substitute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into any of the equations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9" name="Google Shape;1409;p91"/>
          <p:cNvSpPr/>
          <p:nvPr/>
        </p:nvSpPr>
        <p:spPr>
          <a:xfrm flipH="1">
            <a:off x="4081756" y="1870250"/>
            <a:ext cx="1700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(10)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7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 = 7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0" name="Google Shape;1410;p91"/>
          <p:cNvSpPr/>
          <p:nvPr/>
        </p:nvSpPr>
        <p:spPr>
          <a:xfrm>
            <a:off x="358350" y="2570125"/>
            <a:ext cx="1199100" cy="359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1" name="Google Shape;1411;p91"/>
          <p:cNvSpPr/>
          <p:nvPr/>
        </p:nvSpPr>
        <p:spPr>
          <a:xfrm>
            <a:off x="1462075" y="3449075"/>
            <a:ext cx="1302900" cy="33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2" name="Google Shape;1412;p91"/>
          <p:cNvSpPr/>
          <p:nvPr/>
        </p:nvSpPr>
        <p:spPr>
          <a:xfrm flipH="1">
            <a:off x="3952525" y="2722555"/>
            <a:ext cx="1700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2(10) − 6  = 14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20 − 6 = 14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 14 = 14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3" name="Google Shape;1413;p91"/>
          <p:cNvSpPr/>
          <p:nvPr/>
        </p:nvSpPr>
        <p:spPr>
          <a:xfrm>
            <a:off x="1915675" y="4464225"/>
            <a:ext cx="971400" cy="33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4" name="Google Shape;1414;p91"/>
          <p:cNvSpPr/>
          <p:nvPr/>
        </p:nvSpPr>
        <p:spPr>
          <a:xfrm flipH="1">
            <a:off x="4359450" y="3912897"/>
            <a:ext cx="1700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2(10)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16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20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5" name="Google Shape;1415;p91"/>
          <p:cNvSpPr txBox="1"/>
          <p:nvPr>
            <p:ph type="body" idx="1"/>
          </p:nvPr>
        </p:nvSpPr>
        <p:spPr>
          <a:xfrm>
            <a:off x="3876200" y="4513875"/>
            <a:ext cx="4850400" cy="33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‘x</a:t>
            </a:r>
            <a:r>
              <a:rPr lang="en-GB" sz="1800"/>
              <a:t> is 10’ is a solution to all these equations.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9" name="Shape 1419"/>
        <p:cNvGrpSpPr/>
        <p:nvPr/>
      </p:nvGrpSpPr>
      <p:grpSpPr>
        <a:xfrm>
          <a:off x="0" y="0"/>
          <a:ext cx="0" cy="0"/>
        </a:xfrm>
      </p:grpSpPr>
      <p:sp>
        <p:nvSpPr>
          <p:cNvPr id="1420" name="Google Shape;142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421" name="Google Shape;1421;p92"/>
          <p:cNvSpPr txBox="1"/>
          <p:nvPr>
            <p:ph type="body" idx="1"/>
          </p:nvPr>
        </p:nvSpPr>
        <p:spPr>
          <a:xfrm>
            <a:off x="324000" y="683100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Here, the missing number in the centre of this diagram is representing the solution to all these equations.</a:t>
            </a:r>
            <a:endParaRPr sz="1800"/>
          </a:p>
        </p:txBody>
      </p:sp>
      <p:sp>
        <p:nvSpPr>
          <p:cNvPr id="1422" name="Google Shape;1422;p92"/>
          <p:cNvSpPr/>
          <p:nvPr/>
        </p:nvSpPr>
        <p:spPr>
          <a:xfrm>
            <a:off x="3724877" y="2301425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..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3" name="Google Shape;1423;p92"/>
          <p:cNvSpPr txBox="1"/>
          <p:nvPr>
            <p:ph type="body" idx="1"/>
          </p:nvPr>
        </p:nvSpPr>
        <p:spPr>
          <a:xfrm>
            <a:off x="324000" y="3696425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operation goes on each arm?</a:t>
            </a:r>
            <a:endParaRPr sz="1800"/>
          </a:p>
        </p:txBody>
      </p:sp>
      <p:grpSp>
        <p:nvGrpSpPr>
          <p:cNvPr id="1424" name="Google Shape;1424;p92"/>
          <p:cNvGrpSpPr/>
          <p:nvPr/>
        </p:nvGrpSpPr>
        <p:grpSpPr>
          <a:xfrm>
            <a:off x="1906800" y="1466375"/>
            <a:ext cx="5899925" cy="1889425"/>
            <a:chOff x="1906800" y="1466375"/>
            <a:chExt cx="5899925" cy="1889425"/>
          </a:xfrm>
        </p:grpSpPr>
        <p:cxnSp>
          <p:nvCxnSpPr>
            <p:cNvPr id="1425" name="Google Shape;1425;p92"/>
            <p:cNvCxnSpPr>
              <a:stCxn id="1422" idx="7"/>
            </p:cNvCxnSpPr>
            <p:nvPr/>
          </p:nvCxnSpPr>
          <p:spPr>
            <a:xfrm rot="10800000" flipH="1">
              <a:off x="5096019" y="1698101"/>
              <a:ext cx="1026600" cy="682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426" name="Google Shape;1426;p92"/>
            <p:cNvSpPr/>
            <p:nvPr/>
          </p:nvSpPr>
          <p:spPr>
            <a:xfrm flipH="1">
              <a:off x="1906800" y="1697975"/>
              <a:ext cx="15252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+ 1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− 1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27" name="Google Shape;1427;p92"/>
            <p:cNvSpPr/>
            <p:nvPr/>
          </p:nvSpPr>
          <p:spPr>
            <a:xfrm flipH="1">
              <a:off x="5718002" y="1466375"/>
              <a:ext cx="1370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28" name="Google Shape;1428;p92"/>
            <p:cNvSpPr/>
            <p:nvPr/>
          </p:nvSpPr>
          <p:spPr>
            <a:xfrm flipH="1">
              <a:off x="6065524" y="3124200"/>
              <a:ext cx="17412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+ 5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3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29" name="Google Shape;1429;p92"/>
            <p:cNvCxnSpPr>
              <a:stCxn id="1422" idx="6"/>
            </p:cNvCxnSpPr>
            <p:nvPr/>
          </p:nvCxnSpPr>
          <p:spPr>
            <a:xfrm>
              <a:off x="5331269" y="2571749"/>
              <a:ext cx="1086600" cy="525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430" name="Google Shape;1430;p92"/>
            <p:cNvCxnSpPr>
              <a:stCxn id="1422" idx="3"/>
            </p:cNvCxnSpPr>
            <p:nvPr/>
          </p:nvCxnSpPr>
          <p:spPr>
            <a:xfrm flipH="1">
              <a:off x="2919428" y="2762897"/>
              <a:ext cx="1040700" cy="29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431" name="Google Shape;1431;p92"/>
            <p:cNvCxnSpPr>
              <a:stCxn id="1422" idx="2"/>
            </p:cNvCxnSpPr>
            <p:nvPr/>
          </p:nvCxnSpPr>
          <p:spPr>
            <a:xfrm rot="10800000">
              <a:off x="3011777" y="1946249"/>
              <a:ext cx="713100" cy="625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1432" name="Google Shape;1432;p92"/>
            <p:cNvSpPr/>
            <p:nvPr/>
          </p:nvSpPr>
          <p:spPr>
            <a:xfrm flipH="1">
              <a:off x="2044825" y="3077075"/>
              <a:ext cx="12321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= 2</a:t>
              </a:r>
              <a:endParaRPr sz="20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433" name="Google Shape;1433;p92"/>
          <p:cNvGrpSpPr/>
          <p:nvPr/>
        </p:nvGrpSpPr>
        <p:grpSpPr>
          <a:xfrm>
            <a:off x="5578127" y="2093975"/>
            <a:ext cx="638678" cy="273900"/>
            <a:chOff x="5634325" y="3203825"/>
            <a:chExt cx="709800" cy="273900"/>
          </a:xfrm>
        </p:grpSpPr>
        <p:sp>
          <p:nvSpPr>
            <p:cNvPr id="1434" name="Google Shape;1434;p92"/>
            <p:cNvSpPr/>
            <p:nvPr/>
          </p:nvSpPr>
          <p:spPr>
            <a:xfrm>
              <a:off x="5634325" y="3203825"/>
              <a:ext cx="7098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35" name="Google Shape;1435;p92"/>
            <p:cNvSpPr/>
            <p:nvPr/>
          </p:nvSpPr>
          <p:spPr>
            <a:xfrm>
              <a:off x="5634325" y="3247475"/>
              <a:ext cx="6180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×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3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436" name="Google Shape;1436;p92"/>
          <p:cNvGrpSpPr/>
          <p:nvPr/>
        </p:nvGrpSpPr>
        <p:grpSpPr>
          <a:xfrm>
            <a:off x="5171077" y="2918275"/>
            <a:ext cx="638678" cy="273900"/>
            <a:chOff x="5634325" y="3203825"/>
            <a:chExt cx="709800" cy="273900"/>
          </a:xfrm>
        </p:grpSpPr>
        <p:sp>
          <p:nvSpPr>
            <p:cNvPr id="1437" name="Google Shape;1437;p92"/>
            <p:cNvSpPr/>
            <p:nvPr/>
          </p:nvSpPr>
          <p:spPr>
            <a:xfrm>
              <a:off x="5634325" y="3203825"/>
              <a:ext cx="7098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38" name="Google Shape;1438;p92"/>
            <p:cNvSpPr/>
            <p:nvPr/>
          </p:nvSpPr>
          <p:spPr>
            <a:xfrm>
              <a:off x="5634325" y="3247475"/>
              <a:ext cx="6180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+ 5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39" name="Google Shape;1439;p92"/>
          <p:cNvSpPr/>
          <p:nvPr/>
        </p:nvSpPr>
        <p:spPr>
          <a:xfrm>
            <a:off x="2730902" y="2607350"/>
            <a:ext cx="6387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0" name="Google Shape;1440;p92"/>
          <p:cNvSpPr/>
          <p:nvPr/>
        </p:nvSpPr>
        <p:spPr>
          <a:xfrm>
            <a:off x="3432000" y="1820075"/>
            <a:ext cx="8880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1" name="Google Shape;1441;p92"/>
          <p:cNvSpPr txBox="1"/>
          <p:nvPr>
            <p:ph type="body" idx="1"/>
          </p:nvPr>
        </p:nvSpPr>
        <p:spPr>
          <a:xfrm>
            <a:off x="324000" y="4112125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you think you know what the solution to all these equations are?</a:t>
            </a:r>
            <a:endParaRPr sz="1800"/>
          </a:p>
        </p:txBody>
      </p:sp>
      <p:sp>
        <p:nvSpPr>
          <p:cNvPr id="1442" name="Google Shape;1442;p92"/>
          <p:cNvSpPr txBox="1"/>
          <p:nvPr>
            <p:ph type="body" idx="1"/>
          </p:nvPr>
        </p:nvSpPr>
        <p:spPr>
          <a:xfrm>
            <a:off x="324000" y="4456175"/>
            <a:ext cx="84960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Let’s try some values to see.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6" name="Shape 1446"/>
        <p:cNvGrpSpPr/>
        <p:nvPr/>
      </p:nvGrpSpPr>
      <p:grpSpPr>
        <a:xfrm>
          <a:off x="0" y="0"/>
          <a:ext cx="0" cy="0"/>
        </a:xfrm>
      </p:grpSpPr>
      <p:sp>
        <p:nvSpPr>
          <p:cNvPr id="1447" name="Google Shape;144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448" name="Google Shape;1448;p93"/>
          <p:cNvSpPr txBox="1"/>
          <p:nvPr>
            <p:ph type="body" idx="1"/>
          </p:nvPr>
        </p:nvSpPr>
        <p:spPr>
          <a:xfrm>
            <a:off x="324000" y="683100"/>
            <a:ext cx="84960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Here the missing number in the centre of this diagram is representing the solution to all these equations.</a:t>
            </a:r>
            <a:endParaRPr sz="1800"/>
          </a:p>
        </p:txBody>
      </p:sp>
      <p:sp>
        <p:nvSpPr>
          <p:cNvPr id="1449" name="Google Shape;1449;p93"/>
          <p:cNvSpPr/>
          <p:nvPr/>
        </p:nvSpPr>
        <p:spPr>
          <a:xfrm>
            <a:off x="3724877" y="2301425"/>
            <a:ext cx="1606392" cy="54064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..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50" name="Google Shape;1450;p93"/>
          <p:cNvCxnSpPr>
            <a:stCxn id="1449" idx="7"/>
          </p:cNvCxnSpPr>
          <p:nvPr/>
        </p:nvCxnSpPr>
        <p:spPr>
          <a:xfrm rot="10800000" flipH="1">
            <a:off x="5096019" y="1773101"/>
            <a:ext cx="903900" cy="60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51" name="Google Shape;1451;p93"/>
          <p:cNvSpPr/>
          <p:nvPr/>
        </p:nvSpPr>
        <p:spPr>
          <a:xfrm flipH="1">
            <a:off x="1906825" y="1697975"/>
            <a:ext cx="14958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2" name="Google Shape;1452;p93"/>
          <p:cNvSpPr/>
          <p:nvPr/>
        </p:nvSpPr>
        <p:spPr>
          <a:xfrm flipH="1">
            <a:off x="5718002" y="1466375"/>
            <a:ext cx="1370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3" name="Google Shape;1453;p93"/>
          <p:cNvSpPr/>
          <p:nvPr/>
        </p:nvSpPr>
        <p:spPr>
          <a:xfrm flipH="1">
            <a:off x="6065524" y="3124200"/>
            <a:ext cx="17412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54" name="Google Shape;1454;p93"/>
          <p:cNvCxnSpPr>
            <a:stCxn id="1449" idx="6"/>
          </p:cNvCxnSpPr>
          <p:nvPr/>
        </p:nvCxnSpPr>
        <p:spPr>
          <a:xfrm>
            <a:off x="5331269" y="2571749"/>
            <a:ext cx="1086600" cy="52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55" name="Google Shape;1455;p93"/>
          <p:cNvCxnSpPr>
            <a:stCxn id="1449" idx="3"/>
          </p:cNvCxnSpPr>
          <p:nvPr/>
        </p:nvCxnSpPr>
        <p:spPr>
          <a:xfrm flipH="1">
            <a:off x="2919428" y="2762897"/>
            <a:ext cx="1040700" cy="29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456" name="Google Shape;1456;p93"/>
          <p:cNvCxnSpPr>
            <a:stCxn id="1449" idx="1"/>
          </p:cNvCxnSpPr>
          <p:nvPr/>
        </p:nvCxnSpPr>
        <p:spPr>
          <a:xfrm rot="10800000">
            <a:off x="3001928" y="1998401"/>
            <a:ext cx="958200" cy="38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57" name="Google Shape;1457;p93"/>
          <p:cNvSpPr/>
          <p:nvPr/>
        </p:nvSpPr>
        <p:spPr>
          <a:xfrm flipH="1">
            <a:off x="2044825" y="3077075"/>
            <a:ext cx="12321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58" name="Google Shape;1458;p93"/>
          <p:cNvGrpSpPr/>
          <p:nvPr/>
        </p:nvGrpSpPr>
        <p:grpSpPr>
          <a:xfrm>
            <a:off x="5578127" y="2093975"/>
            <a:ext cx="638678" cy="273900"/>
            <a:chOff x="5634325" y="3203825"/>
            <a:chExt cx="709800" cy="273900"/>
          </a:xfrm>
        </p:grpSpPr>
        <p:sp>
          <p:nvSpPr>
            <p:cNvPr id="1459" name="Google Shape;1459;p93"/>
            <p:cNvSpPr/>
            <p:nvPr/>
          </p:nvSpPr>
          <p:spPr>
            <a:xfrm>
              <a:off x="5634325" y="3203825"/>
              <a:ext cx="7098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60" name="Google Shape;1460;p93"/>
            <p:cNvSpPr/>
            <p:nvPr/>
          </p:nvSpPr>
          <p:spPr>
            <a:xfrm>
              <a:off x="5634325" y="3247475"/>
              <a:ext cx="6180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×</a:t>
              </a:r>
              <a:r>
                <a:rPr lang="en-GB" sz="18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3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461" name="Google Shape;1461;p93"/>
          <p:cNvGrpSpPr/>
          <p:nvPr/>
        </p:nvGrpSpPr>
        <p:grpSpPr>
          <a:xfrm>
            <a:off x="5171077" y="2918275"/>
            <a:ext cx="638678" cy="273900"/>
            <a:chOff x="5634325" y="3203825"/>
            <a:chExt cx="709800" cy="273900"/>
          </a:xfrm>
        </p:grpSpPr>
        <p:sp>
          <p:nvSpPr>
            <p:cNvPr id="1462" name="Google Shape;1462;p93"/>
            <p:cNvSpPr/>
            <p:nvPr/>
          </p:nvSpPr>
          <p:spPr>
            <a:xfrm>
              <a:off x="5634325" y="3203825"/>
              <a:ext cx="709800" cy="2739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63" name="Google Shape;1463;p93"/>
            <p:cNvSpPr/>
            <p:nvPr/>
          </p:nvSpPr>
          <p:spPr>
            <a:xfrm>
              <a:off x="5634325" y="3247475"/>
              <a:ext cx="618000" cy="1494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+ 5</a:t>
              </a:r>
              <a:endParaRPr sz="18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64" name="Google Shape;1464;p93"/>
          <p:cNvSpPr/>
          <p:nvPr/>
        </p:nvSpPr>
        <p:spPr>
          <a:xfrm>
            <a:off x="2730902" y="2607350"/>
            <a:ext cx="6387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5" name="Google Shape;1465;p93"/>
          <p:cNvSpPr/>
          <p:nvPr/>
        </p:nvSpPr>
        <p:spPr>
          <a:xfrm>
            <a:off x="3432000" y="1820075"/>
            <a:ext cx="8880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6" name="Google Shape;1466;p93"/>
          <p:cNvSpPr txBox="1"/>
          <p:nvPr>
            <p:ph type="body" idx="1"/>
          </p:nvPr>
        </p:nvSpPr>
        <p:spPr>
          <a:xfrm>
            <a:off x="311469" y="3653700"/>
            <a:ext cx="1495800" cy="133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If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(1) + 5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       6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67" name="Google Shape;1467;p93"/>
          <p:cNvCxnSpPr/>
          <p:nvPr/>
        </p:nvCxnSpPr>
        <p:spPr>
          <a:xfrm flipH="1">
            <a:off x="1041375" y="4581842"/>
            <a:ext cx="36000" cy="14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8" name="Google Shape;1468;p93"/>
          <p:cNvSpPr txBox="1"/>
          <p:nvPr>
            <p:ph type="body" idx="1"/>
          </p:nvPr>
        </p:nvSpPr>
        <p:spPr>
          <a:xfrm>
            <a:off x="1684800" y="3653700"/>
            <a:ext cx="1495800" cy="133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If</a:t>
            </a:r>
            <a:r>
              <a:rPr lang="en-GB" sz="15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0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(0) + 5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       5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69" name="Google Shape;1469;p93"/>
          <p:cNvCxnSpPr/>
          <p:nvPr/>
        </p:nvCxnSpPr>
        <p:spPr>
          <a:xfrm flipH="1">
            <a:off x="2414700" y="4581842"/>
            <a:ext cx="36000" cy="14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0" name="Google Shape;1470;p93"/>
          <p:cNvSpPr txBox="1"/>
          <p:nvPr>
            <p:ph type="body" idx="1"/>
          </p:nvPr>
        </p:nvSpPr>
        <p:spPr>
          <a:xfrm>
            <a:off x="2887200" y="3653700"/>
            <a:ext cx="1495800" cy="133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 If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2) + 5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3 = 3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1" name="Google Shape;1471;p93"/>
          <p:cNvSpPr txBox="1"/>
          <p:nvPr>
            <p:ph type="body" idx="1"/>
          </p:nvPr>
        </p:nvSpPr>
        <p:spPr>
          <a:xfrm>
            <a:off x="4624800" y="3615775"/>
            <a:ext cx="4400400" cy="4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check with other equations.</a:t>
            </a:r>
            <a:endParaRPr sz="1800"/>
          </a:p>
        </p:txBody>
      </p:sp>
      <p:sp>
        <p:nvSpPr>
          <p:cNvPr id="1472" name="Google Shape;1472;p93"/>
          <p:cNvSpPr txBox="1"/>
          <p:nvPr>
            <p:ph type="body" idx="1"/>
          </p:nvPr>
        </p:nvSpPr>
        <p:spPr>
          <a:xfrm>
            <a:off x="4840200" y="3967950"/>
            <a:ext cx="1495800" cy="80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2) =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6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6 =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6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3" name="Google Shape;1473;p93"/>
          <p:cNvSpPr/>
          <p:nvPr/>
        </p:nvSpPr>
        <p:spPr>
          <a:xfrm flipH="1">
            <a:off x="6577125" y="4055325"/>
            <a:ext cx="2003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2)</a:t>
            </a: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 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−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−3 = −3</a:t>
            </a:r>
            <a:endParaRPr sz="18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4" name="Google Shape;1474;p93"/>
          <p:cNvSpPr/>
          <p:nvPr/>
        </p:nvSpPr>
        <p:spPr>
          <a:xfrm>
            <a:off x="5987648" y="3124200"/>
            <a:ext cx="11004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5" name="Google Shape;1475;p93"/>
          <p:cNvSpPr/>
          <p:nvPr/>
        </p:nvSpPr>
        <p:spPr>
          <a:xfrm>
            <a:off x="5537673" y="1445225"/>
            <a:ext cx="11004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6" name="Google Shape;1476;p93"/>
          <p:cNvSpPr/>
          <p:nvPr/>
        </p:nvSpPr>
        <p:spPr>
          <a:xfrm>
            <a:off x="1873875" y="1676825"/>
            <a:ext cx="1495800" cy="273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7" name="Google Shape;1477;p93"/>
          <p:cNvSpPr/>
          <p:nvPr/>
        </p:nvSpPr>
        <p:spPr>
          <a:xfrm>
            <a:off x="4424340" y="2481592"/>
            <a:ext cx="556200" cy="1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1" name="Shape 1481"/>
        <p:cNvGrpSpPr/>
        <p:nvPr/>
      </p:nvGrpSpPr>
      <p:grpSpPr>
        <a:xfrm>
          <a:off x="0" y="0"/>
          <a:ext cx="0" cy="0"/>
        </a:xfrm>
      </p:grpSpPr>
      <p:sp>
        <p:nvSpPr>
          <p:cNvPr id="1482" name="Google Shape;1482;p94"/>
          <p:cNvSpPr txBox="1"/>
          <p:nvPr>
            <p:ph type="body" idx="1"/>
          </p:nvPr>
        </p:nvSpPr>
        <p:spPr>
          <a:xfrm>
            <a:off x="324000" y="759300"/>
            <a:ext cx="82377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Given that</a:t>
            </a:r>
            <a:r>
              <a:rPr lang="en-GB"/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20 = 10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, </a:t>
            </a:r>
            <a:r>
              <a:rPr lang="en-GB" sz="2000"/>
              <a:t>which of these are true?</a:t>
            </a:r>
            <a:r>
              <a:rPr lang="en-GB"/>
              <a:t> </a:t>
            </a:r>
            <a:endParaRPr/>
          </a:p>
        </p:txBody>
      </p:sp>
      <p:sp>
        <p:nvSpPr>
          <p:cNvPr id="1483" name="Google Shape;148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grpSp>
        <p:nvGrpSpPr>
          <p:cNvPr id="1484" name="Google Shape;1484;p94"/>
          <p:cNvGrpSpPr/>
          <p:nvPr/>
        </p:nvGrpSpPr>
        <p:grpSpPr>
          <a:xfrm>
            <a:off x="323991" y="1391400"/>
            <a:ext cx="457200" cy="457200"/>
            <a:chOff x="1020916" y="1442088"/>
            <a:chExt cx="457200" cy="457200"/>
          </a:xfrm>
        </p:grpSpPr>
        <p:pic>
          <p:nvPicPr>
            <p:cNvPr id="1485" name="Google Shape;1485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6" name="Google Shape;148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7" name="Google Shape;1487;p94"/>
          <p:cNvGrpSpPr/>
          <p:nvPr/>
        </p:nvGrpSpPr>
        <p:grpSpPr>
          <a:xfrm>
            <a:off x="323991" y="2114909"/>
            <a:ext cx="457200" cy="457200"/>
            <a:chOff x="1020916" y="1442088"/>
            <a:chExt cx="457200" cy="457200"/>
          </a:xfrm>
        </p:grpSpPr>
        <p:pic>
          <p:nvPicPr>
            <p:cNvPr id="1488" name="Google Shape;1488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9" name="Google Shape;148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0" name="Google Shape;1490;p94"/>
          <p:cNvGrpSpPr/>
          <p:nvPr/>
        </p:nvGrpSpPr>
        <p:grpSpPr>
          <a:xfrm>
            <a:off x="323991" y="2838419"/>
            <a:ext cx="457200" cy="457200"/>
            <a:chOff x="1020916" y="1442088"/>
            <a:chExt cx="457200" cy="457200"/>
          </a:xfrm>
        </p:grpSpPr>
        <p:pic>
          <p:nvPicPr>
            <p:cNvPr id="1491" name="Google Shape;1491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2" name="Google Shape;149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3" name="Google Shape;1493;p94"/>
          <p:cNvGrpSpPr/>
          <p:nvPr/>
        </p:nvGrpSpPr>
        <p:grpSpPr>
          <a:xfrm>
            <a:off x="323991" y="3561928"/>
            <a:ext cx="457200" cy="457200"/>
            <a:chOff x="1020916" y="1442088"/>
            <a:chExt cx="457200" cy="457200"/>
          </a:xfrm>
        </p:grpSpPr>
        <p:pic>
          <p:nvPicPr>
            <p:cNvPr id="1494" name="Google Shape;1494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5" name="Google Shape;149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6" name="Google Shape;1496;p94"/>
          <p:cNvGrpSpPr/>
          <p:nvPr/>
        </p:nvGrpSpPr>
        <p:grpSpPr>
          <a:xfrm>
            <a:off x="323991" y="4285438"/>
            <a:ext cx="457200" cy="457200"/>
            <a:chOff x="1020916" y="1442088"/>
            <a:chExt cx="457200" cy="457200"/>
          </a:xfrm>
        </p:grpSpPr>
        <p:pic>
          <p:nvPicPr>
            <p:cNvPr id="1497" name="Google Shape;1497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8" name="Google Shape;149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9" name="Google Shape;1499;p94"/>
          <p:cNvSpPr txBox="1"/>
          <p:nvPr>
            <p:ph type="body" idx="1"/>
          </p:nvPr>
        </p:nvSpPr>
        <p:spPr>
          <a:xfrm>
            <a:off x="920050" y="1389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+ 20 = 10</a:t>
            </a:r>
            <a:r>
              <a:rPr lang="en-GB"/>
              <a:t> </a:t>
            </a:r>
            <a:endParaRPr/>
          </a:p>
        </p:txBody>
      </p:sp>
      <p:sp>
        <p:nvSpPr>
          <p:cNvPr id="1500" name="Google Shape;1500;p94"/>
          <p:cNvSpPr txBox="1"/>
          <p:nvPr>
            <p:ph type="body" idx="1"/>
          </p:nvPr>
        </p:nvSpPr>
        <p:spPr>
          <a:xfrm>
            <a:off x="920050" y="21131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 = 11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</a:t>
            </a:r>
            <a:endParaRPr/>
          </a:p>
        </p:txBody>
      </p:sp>
      <p:sp>
        <p:nvSpPr>
          <p:cNvPr id="1501" name="Google Shape;1501;p94"/>
          <p:cNvSpPr txBox="1"/>
          <p:nvPr>
            <p:ph type="body" idx="1"/>
          </p:nvPr>
        </p:nvSpPr>
        <p:spPr>
          <a:xfrm>
            <a:off x="920050" y="2836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 </a:t>
            </a:r>
            <a:r>
              <a:rPr lang="en-GB" sz="1900"/>
              <a:t>is a solution</a:t>
            </a:r>
            <a:r>
              <a:rPr lang="en-GB"/>
              <a:t> </a:t>
            </a:r>
            <a:endParaRPr/>
          </a:p>
        </p:txBody>
      </p:sp>
      <p:sp>
        <p:nvSpPr>
          <p:cNvPr id="1502" name="Google Shape;1502;p94"/>
          <p:cNvSpPr txBox="1"/>
          <p:nvPr>
            <p:ph type="body" idx="1"/>
          </p:nvPr>
        </p:nvSpPr>
        <p:spPr>
          <a:xfrm>
            <a:off x="920050" y="3549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</a:t>
            </a:r>
            <a:endParaRPr/>
          </a:p>
        </p:txBody>
      </p:sp>
      <p:sp>
        <p:nvSpPr>
          <p:cNvPr id="1503" name="Google Shape;1503;p94"/>
          <p:cNvSpPr txBox="1"/>
          <p:nvPr>
            <p:ph type="body" idx="1"/>
          </p:nvPr>
        </p:nvSpPr>
        <p:spPr>
          <a:xfrm>
            <a:off x="920050" y="4262600"/>
            <a:ext cx="3611400" cy="46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40 = 30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</a:t>
            </a:r>
            <a:endParaRPr/>
          </a:p>
        </p:txBody>
      </p:sp>
      <p:pic>
        <p:nvPicPr>
          <p:cNvPr id="1504" name="Google Shape;150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1365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41754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008" y="35268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94"/>
          <p:cNvSpPr txBox="1"/>
          <p:nvPr>
            <p:ph type="body" idx="1"/>
          </p:nvPr>
        </p:nvSpPr>
        <p:spPr>
          <a:xfrm>
            <a:off x="4495275" y="1389069"/>
            <a:ext cx="42480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added to both sides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8" name="Google Shape;1508;p94"/>
          <p:cNvSpPr txBox="1"/>
          <p:nvPr>
            <p:ph type="body" idx="1"/>
          </p:nvPr>
        </p:nvSpPr>
        <p:spPr>
          <a:xfrm>
            <a:off x="4495275" y="4262600"/>
            <a:ext cx="42480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added to both sides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9" name="Google Shape;1509;p94"/>
          <p:cNvSpPr txBox="1"/>
          <p:nvPr>
            <p:ph type="body" idx="1"/>
          </p:nvPr>
        </p:nvSpPr>
        <p:spPr>
          <a:xfrm>
            <a:off x="4495275" y="3622679"/>
            <a:ext cx="43716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has been subtracted from both sides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0" name="Google Shape;1510;p94"/>
          <p:cNvSpPr txBox="1"/>
          <p:nvPr>
            <p:ph type="body" idx="1"/>
          </p:nvPr>
        </p:nvSpPr>
        <p:spPr>
          <a:xfrm>
            <a:off x="4495275" y="1948008"/>
            <a:ext cx="4371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added to the left but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been added to the right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1" name="Google Shape;1511;p94"/>
          <p:cNvSpPr txBox="1"/>
          <p:nvPr>
            <p:ph type="body" idx="1"/>
          </p:nvPr>
        </p:nvSpPr>
        <p:spPr>
          <a:xfrm>
            <a:off x="4495275" y="2815839"/>
            <a:ext cx="1815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 = 10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2(5)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≠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10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517" name="Google Shape;1517;p95"/>
          <p:cNvSpPr txBox="1"/>
          <p:nvPr>
            <p:ph type="body" idx="1"/>
          </p:nvPr>
        </p:nvSpPr>
        <p:spPr>
          <a:xfrm>
            <a:off x="395650" y="654693"/>
            <a:ext cx="8496000" cy="31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Fill in the missing expressions and operations in this diagram.</a:t>
            </a:r>
            <a:endParaRPr sz="1800"/>
          </a:p>
        </p:txBody>
      </p:sp>
      <p:sp>
        <p:nvSpPr>
          <p:cNvPr id="1518" name="Google Shape;1518;p95"/>
          <p:cNvSpPr/>
          <p:nvPr/>
        </p:nvSpPr>
        <p:spPr>
          <a:xfrm>
            <a:off x="4041374" y="2921225"/>
            <a:ext cx="1083348" cy="47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=___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19" name="Google Shape;1519;p95"/>
          <p:cNvCxnSpPr>
            <a:stCxn id="1518" idx="1"/>
          </p:cNvCxnSpPr>
          <p:nvPr/>
        </p:nvCxnSpPr>
        <p:spPr>
          <a:xfrm rot="10800000">
            <a:off x="3892527" y="2718416"/>
            <a:ext cx="307500" cy="27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20" name="Google Shape;1520;p95"/>
          <p:cNvCxnSpPr>
            <a:stCxn id="1518" idx="7"/>
          </p:cNvCxnSpPr>
          <p:nvPr/>
        </p:nvCxnSpPr>
        <p:spPr>
          <a:xfrm rot="10800000" flipH="1">
            <a:off x="4966069" y="2777816"/>
            <a:ext cx="603900" cy="213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21" name="Google Shape;1521;p95"/>
          <p:cNvCxnSpPr>
            <a:stCxn id="1518" idx="5"/>
          </p:cNvCxnSpPr>
          <p:nvPr/>
        </p:nvCxnSpPr>
        <p:spPr>
          <a:xfrm>
            <a:off x="4966069" y="3326834"/>
            <a:ext cx="494400" cy="38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22" name="Google Shape;1522;p95"/>
          <p:cNvCxnSpPr>
            <a:stCxn id="1518" idx="3"/>
          </p:cNvCxnSpPr>
          <p:nvPr/>
        </p:nvCxnSpPr>
        <p:spPr>
          <a:xfrm flipH="1">
            <a:off x="3940527" y="3326834"/>
            <a:ext cx="259500" cy="21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23" name="Google Shape;1523;p95"/>
          <p:cNvSpPr/>
          <p:nvPr/>
        </p:nvSpPr>
        <p:spPr>
          <a:xfrm flipH="1">
            <a:off x="2920841" y="2367710"/>
            <a:ext cx="1370100" cy="319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___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24" name="Google Shape;1524;p95"/>
          <p:cNvCxnSpPr/>
          <p:nvPr/>
        </p:nvCxnSpPr>
        <p:spPr>
          <a:xfrm rot="10800000">
            <a:off x="3234550" y="1997350"/>
            <a:ext cx="475500" cy="33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25" name="Google Shape;1525;p95"/>
          <p:cNvSpPr/>
          <p:nvPr/>
        </p:nvSpPr>
        <p:spPr>
          <a:xfrm flipH="1">
            <a:off x="2339950" y="1649663"/>
            <a:ext cx="13701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 =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26" name="Google Shape;1526;p95"/>
          <p:cNvCxnSpPr/>
          <p:nvPr/>
        </p:nvCxnSpPr>
        <p:spPr>
          <a:xfrm rot="10800000">
            <a:off x="1915135" y="1467331"/>
            <a:ext cx="524400" cy="15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27" name="Google Shape;1527;p95"/>
          <p:cNvSpPr/>
          <p:nvPr/>
        </p:nvSpPr>
        <p:spPr>
          <a:xfrm flipH="1">
            <a:off x="5493600" y="2413100"/>
            <a:ext cx="13701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______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6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28" name="Google Shape;1528;p95"/>
          <p:cNvCxnSpPr>
            <a:stCxn id="1527" idx="0"/>
          </p:cNvCxnSpPr>
          <p:nvPr/>
        </p:nvCxnSpPr>
        <p:spPr>
          <a:xfrm rot="10800000" flipH="1">
            <a:off x="6178650" y="2162000"/>
            <a:ext cx="416100" cy="25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29" name="Google Shape;1529;p95"/>
          <p:cNvSpPr/>
          <p:nvPr/>
        </p:nvSpPr>
        <p:spPr>
          <a:xfrm flipH="1">
            <a:off x="6344900" y="1814350"/>
            <a:ext cx="14862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______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30" name="Google Shape;1530;p95"/>
          <p:cNvCxnSpPr>
            <a:endCxn id="1531" idx="2"/>
          </p:cNvCxnSpPr>
          <p:nvPr/>
        </p:nvCxnSpPr>
        <p:spPr>
          <a:xfrm rot="10800000" flipH="1">
            <a:off x="7329300" y="1302575"/>
            <a:ext cx="713400" cy="48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31" name="Google Shape;1531;p95"/>
          <p:cNvSpPr/>
          <p:nvPr/>
        </p:nvSpPr>
        <p:spPr>
          <a:xfrm flipH="1">
            <a:off x="7265400" y="965375"/>
            <a:ext cx="15546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____ 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2" name="Google Shape;1532;p95"/>
          <p:cNvSpPr/>
          <p:nvPr/>
        </p:nvSpPr>
        <p:spPr>
          <a:xfrm flipH="1">
            <a:off x="2887200" y="3537075"/>
            <a:ext cx="16848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33" name="Google Shape;1533;p95"/>
          <p:cNvCxnSpPr/>
          <p:nvPr/>
        </p:nvCxnSpPr>
        <p:spPr>
          <a:xfrm flipH="1">
            <a:off x="3104475" y="3897250"/>
            <a:ext cx="454200" cy="1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34" name="Google Shape;1534;p95"/>
          <p:cNvSpPr/>
          <p:nvPr/>
        </p:nvSpPr>
        <p:spPr>
          <a:xfrm flipH="1">
            <a:off x="2017050" y="412585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35" name="Google Shape;1535;p95"/>
          <p:cNvCxnSpPr/>
          <p:nvPr/>
        </p:nvCxnSpPr>
        <p:spPr>
          <a:xfrm flipH="1">
            <a:off x="1684950" y="4432975"/>
            <a:ext cx="855900" cy="22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36" name="Google Shape;1536;p95"/>
          <p:cNvCxnSpPr/>
          <p:nvPr/>
        </p:nvCxnSpPr>
        <p:spPr>
          <a:xfrm>
            <a:off x="6386765" y="4049800"/>
            <a:ext cx="510000" cy="26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37" name="Google Shape;1537;p95"/>
          <p:cNvSpPr/>
          <p:nvPr/>
        </p:nvSpPr>
        <p:spPr>
          <a:xfrm>
            <a:off x="6714900" y="3874275"/>
            <a:ext cx="388200" cy="31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8" name="Google Shape;1538;p95"/>
          <p:cNvSpPr/>
          <p:nvPr/>
        </p:nvSpPr>
        <p:spPr>
          <a:xfrm>
            <a:off x="3593477" y="3164384"/>
            <a:ext cx="4479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5"/>
          <p:cNvSpPr/>
          <p:nvPr/>
        </p:nvSpPr>
        <p:spPr>
          <a:xfrm>
            <a:off x="2339950" y="4489421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5"/>
          <p:cNvSpPr/>
          <p:nvPr/>
        </p:nvSpPr>
        <p:spPr>
          <a:xfrm>
            <a:off x="4377888" y="256245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95"/>
          <p:cNvSpPr/>
          <p:nvPr/>
        </p:nvSpPr>
        <p:spPr>
          <a:xfrm>
            <a:off x="5291574" y="2898875"/>
            <a:ext cx="583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95"/>
          <p:cNvSpPr/>
          <p:nvPr/>
        </p:nvSpPr>
        <p:spPr>
          <a:xfrm>
            <a:off x="3680450" y="2022438"/>
            <a:ext cx="610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___</a:t>
            </a:r>
            <a:endParaRPr/>
          </a:p>
        </p:txBody>
      </p:sp>
      <p:pic>
        <p:nvPicPr>
          <p:cNvPr id="1543" name="Google Shape;1543;p9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448" y="3605435"/>
            <a:ext cx="127550" cy="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95"/>
          <p:cNvSpPr/>
          <p:nvPr/>
        </p:nvSpPr>
        <p:spPr>
          <a:xfrm flipH="1">
            <a:off x="2113576" y="119278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5" name="Google Shape;1545;p95"/>
          <p:cNvSpPr/>
          <p:nvPr/>
        </p:nvSpPr>
        <p:spPr>
          <a:xfrm>
            <a:off x="2096025" y="1080000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95"/>
          <p:cNvSpPr/>
          <p:nvPr/>
        </p:nvSpPr>
        <p:spPr>
          <a:xfrm flipH="1">
            <a:off x="6386775" y="4319100"/>
            <a:ext cx="1837500" cy="51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______ </a:t>
            </a:r>
            <a:r>
              <a:rPr lang="en-GB" sz="2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........</a:t>
            </a:r>
            <a:endParaRPr sz="2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47" name="Google Shape;1547;p95" descr="&lt;math xmlns=&quot;http://www.w3.org/1998/Math/MathML&quot; display=&quot;block&quot; data-is-equatio=&quot;1&quot; data-latex=&quot;\frac{2x+9}{5}=\frac{1}{5}&quot;&gt;&lt;mfrac&gt;&lt;mrow&gt;&lt;mn&gt;2&lt;/mn&gt;&lt;mi&gt;x&lt;/mi&gt;&lt;mo&gt;+&lt;/mo&gt;&lt;mn&gt;9&lt;/mn&gt;&lt;/mrow&gt;&lt;mn&gt;5&lt;/mn&gt;&lt;/mfrac&gt;&lt;mo&gt;=&lt;/mo&gt;&lt;mfrac&gt;&lt;mn&gt;1&lt;/mn&gt;&lt;mn&gt;5&lt;/mn&gt;&lt;/mfrac&gt;&lt;/math&gt;" title="the fraction with numerator 2 x plus 9 and denominator 5 equal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13" y="1194151"/>
            <a:ext cx="1205618" cy="5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95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1075" y="1103617"/>
            <a:ext cx="127550" cy="409972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95"/>
          <p:cNvSpPr/>
          <p:nvPr/>
        </p:nvSpPr>
        <p:spPr>
          <a:xfrm>
            <a:off x="5692825" y="2022438"/>
            <a:ext cx="610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___</a:t>
            </a:r>
            <a:endParaRPr/>
          </a:p>
        </p:txBody>
      </p:sp>
      <p:sp>
        <p:nvSpPr>
          <p:cNvPr id="1550" name="Google Shape;1550;p95"/>
          <p:cNvSpPr/>
          <p:nvPr/>
        </p:nvSpPr>
        <p:spPr>
          <a:xfrm>
            <a:off x="6822725" y="1374563"/>
            <a:ext cx="7323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5"/>
          <p:cNvSpPr/>
          <p:nvPr/>
        </p:nvSpPr>
        <p:spPr>
          <a:xfrm>
            <a:off x="3424350" y="3971863"/>
            <a:ext cx="610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___</a:t>
            </a:r>
            <a:endParaRPr/>
          </a:p>
        </p:txBody>
      </p:sp>
      <p:sp>
        <p:nvSpPr>
          <p:cNvPr id="1552" name="Google Shape;1552;p95"/>
          <p:cNvSpPr/>
          <p:nvPr/>
        </p:nvSpPr>
        <p:spPr>
          <a:xfrm flipH="1">
            <a:off x="324000" y="454530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______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3" name="Google Shape;1553;p95"/>
          <p:cNvSpPr/>
          <p:nvPr/>
        </p:nvSpPr>
        <p:spPr>
          <a:xfrm flipH="1">
            <a:off x="4891776" y="370068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54" name="Google Shape;1554;p95"/>
          <p:cNvSpPr/>
          <p:nvPr/>
        </p:nvSpPr>
        <p:spPr>
          <a:xfrm>
            <a:off x="4891775" y="3587900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5"/>
          <p:cNvSpPr/>
          <p:nvPr/>
        </p:nvSpPr>
        <p:spPr>
          <a:xfrm flipH="1">
            <a:off x="5456425" y="3595425"/>
            <a:ext cx="1083300" cy="41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___ =___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56" name="Google Shape;1556;p95" descr="&lt;math xmlns=&quot;http://www.w3.org/1998/Math/MathML&quot; display=&quot;block&quot; data-is-equatio=&quot;1&quot; data-latex=&quot;=x-\frac{4}{3}&quot;&gt;&lt;mo&gt;=&lt;/mo&gt;&lt;mi&gt;x&lt;/mi&gt;&lt;mo&gt;−&lt;/mo&gt;&lt;mfrac&gt;&lt;mn&gt;4&lt;/mn&gt;&lt;mn&gt;3&lt;/mn&gt;&lt;/mfrac&gt;&lt;/math&gt;" title="equals x minus 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29299" y="4330348"/>
            <a:ext cx="786377" cy="4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95"/>
          <p:cNvSpPr/>
          <p:nvPr/>
        </p:nvSpPr>
        <p:spPr>
          <a:xfrm flipH="1">
            <a:off x="545025" y="1156125"/>
            <a:ext cx="1370100" cy="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1" name="Shape 1561"/>
        <p:cNvGrpSpPr/>
        <p:nvPr/>
      </p:nvGrpSpPr>
      <p:grpSpPr>
        <a:xfrm>
          <a:off x="0" y="0"/>
          <a:ext cx="0" cy="0"/>
        </a:xfrm>
      </p:grpSpPr>
      <p:sp>
        <p:nvSpPr>
          <p:cNvPr id="1562" name="Google Shape;1562;p96"/>
          <p:cNvSpPr/>
          <p:nvPr/>
        </p:nvSpPr>
        <p:spPr>
          <a:xfrm flipH="1">
            <a:off x="6260300" y="4248475"/>
            <a:ext cx="1570800" cy="56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3" name="Google Shape;1563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equations with the same solution</a:t>
            </a:r>
            <a:endParaRPr/>
          </a:p>
        </p:txBody>
      </p:sp>
      <p:sp>
        <p:nvSpPr>
          <p:cNvPr id="1564" name="Google Shape;1564;p96"/>
          <p:cNvSpPr txBox="1"/>
          <p:nvPr>
            <p:ph type="body" idx="1"/>
          </p:nvPr>
        </p:nvSpPr>
        <p:spPr>
          <a:xfrm>
            <a:off x="324000" y="689793"/>
            <a:ext cx="8237700" cy="3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Fill in the missing expressions and operations in this diagram.</a:t>
            </a:r>
            <a:endParaRPr sz="1800"/>
          </a:p>
        </p:txBody>
      </p:sp>
      <p:sp>
        <p:nvSpPr>
          <p:cNvPr id="1565" name="Google Shape;1565;p96"/>
          <p:cNvSpPr/>
          <p:nvPr/>
        </p:nvSpPr>
        <p:spPr>
          <a:xfrm>
            <a:off x="4041375" y="2921225"/>
            <a:ext cx="1205604" cy="47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66" name="Google Shape;1566;p96"/>
          <p:cNvCxnSpPr>
            <a:stCxn id="1565" idx="1"/>
          </p:cNvCxnSpPr>
          <p:nvPr/>
        </p:nvCxnSpPr>
        <p:spPr>
          <a:xfrm rot="10800000">
            <a:off x="3892432" y="2718416"/>
            <a:ext cx="325500" cy="27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7" name="Google Shape;1567;p96"/>
          <p:cNvCxnSpPr>
            <a:stCxn id="1565" idx="7"/>
          </p:cNvCxnSpPr>
          <p:nvPr/>
        </p:nvCxnSpPr>
        <p:spPr>
          <a:xfrm rot="10800000" flipH="1">
            <a:off x="5070422" y="2774816"/>
            <a:ext cx="473100" cy="21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8" name="Google Shape;1568;p96"/>
          <p:cNvCxnSpPr>
            <a:stCxn id="1565" idx="5"/>
          </p:cNvCxnSpPr>
          <p:nvPr/>
        </p:nvCxnSpPr>
        <p:spPr>
          <a:xfrm>
            <a:off x="5070422" y="3326834"/>
            <a:ext cx="390300" cy="38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9" name="Google Shape;1569;p96"/>
          <p:cNvCxnSpPr>
            <a:stCxn id="1565" idx="3"/>
          </p:cNvCxnSpPr>
          <p:nvPr/>
        </p:nvCxnSpPr>
        <p:spPr>
          <a:xfrm flipH="1">
            <a:off x="3940432" y="3326834"/>
            <a:ext cx="277500" cy="21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70" name="Google Shape;1570;p96"/>
          <p:cNvSpPr/>
          <p:nvPr/>
        </p:nvSpPr>
        <p:spPr>
          <a:xfrm flipH="1">
            <a:off x="2920841" y="2367710"/>
            <a:ext cx="1370100" cy="319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71" name="Google Shape;1571;p96"/>
          <p:cNvCxnSpPr/>
          <p:nvPr/>
        </p:nvCxnSpPr>
        <p:spPr>
          <a:xfrm rot="10800000">
            <a:off x="3234550" y="1997350"/>
            <a:ext cx="475500" cy="33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72" name="Google Shape;1572;p96"/>
          <p:cNvSpPr/>
          <p:nvPr/>
        </p:nvSpPr>
        <p:spPr>
          <a:xfrm flipH="1">
            <a:off x="2339950" y="1649663"/>
            <a:ext cx="13701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+ 9 =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73" name="Google Shape;1573;p96"/>
          <p:cNvCxnSpPr/>
          <p:nvPr/>
        </p:nvCxnSpPr>
        <p:spPr>
          <a:xfrm rot="10800000">
            <a:off x="1915135" y="1467331"/>
            <a:ext cx="524400" cy="15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74" name="Google Shape;1574;p96"/>
          <p:cNvSpPr/>
          <p:nvPr/>
        </p:nvSpPr>
        <p:spPr>
          <a:xfrm flipH="1">
            <a:off x="5493600" y="2413100"/>
            <a:ext cx="13701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6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75" name="Google Shape;1575;p96"/>
          <p:cNvCxnSpPr>
            <a:stCxn id="1574" idx="0"/>
          </p:cNvCxnSpPr>
          <p:nvPr/>
        </p:nvCxnSpPr>
        <p:spPr>
          <a:xfrm rot="10800000" flipH="1">
            <a:off x="6178650" y="2162000"/>
            <a:ext cx="416100" cy="251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76" name="Google Shape;1576;p96"/>
          <p:cNvSpPr/>
          <p:nvPr/>
        </p:nvSpPr>
        <p:spPr>
          <a:xfrm flipH="1">
            <a:off x="6344900" y="1814350"/>
            <a:ext cx="1486200" cy="3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77" name="Google Shape;1577;p96"/>
          <p:cNvCxnSpPr>
            <a:endCxn id="1578" idx="2"/>
          </p:cNvCxnSpPr>
          <p:nvPr/>
        </p:nvCxnSpPr>
        <p:spPr>
          <a:xfrm rot="10800000" flipH="1">
            <a:off x="7329300" y="1302575"/>
            <a:ext cx="713400" cy="48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78" name="Google Shape;1578;p96"/>
          <p:cNvSpPr/>
          <p:nvPr/>
        </p:nvSpPr>
        <p:spPr>
          <a:xfrm flipH="1">
            <a:off x="7265400" y="965375"/>
            <a:ext cx="15546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2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9" name="Google Shape;1579;p96"/>
          <p:cNvSpPr/>
          <p:nvPr/>
        </p:nvSpPr>
        <p:spPr>
          <a:xfrm flipH="1">
            <a:off x="3017275" y="3537075"/>
            <a:ext cx="1433100" cy="337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80" name="Google Shape;1580;p96"/>
          <p:cNvCxnSpPr/>
          <p:nvPr/>
        </p:nvCxnSpPr>
        <p:spPr>
          <a:xfrm flipH="1">
            <a:off x="3104475" y="3897250"/>
            <a:ext cx="454200" cy="1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1" name="Google Shape;1581;p96"/>
          <p:cNvSpPr/>
          <p:nvPr/>
        </p:nvSpPr>
        <p:spPr>
          <a:xfrm flipH="1">
            <a:off x="2017050" y="412585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82" name="Google Shape;1582;p96"/>
          <p:cNvCxnSpPr/>
          <p:nvPr/>
        </p:nvCxnSpPr>
        <p:spPr>
          <a:xfrm flipH="1">
            <a:off x="1684950" y="4432975"/>
            <a:ext cx="855900" cy="22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83" name="Google Shape;1583;p96"/>
          <p:cNvCxnSpPr/>
          <p:nvPr/>
        </p:nvCxnSpPr>
        <p:spPr>
          <a:xfrm>
            <a:off x="6386765" y="4049800"/>
            <a:ext cx="262800" cy="205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84" name="Google Shape;1584;p96"/>
          <p:cNvSpPr/>
          <p:nvPr/>
        </p:nvSpPr>
        <p:spPr>
          <a:xfrm>
            <a:off x="6498900" y="3835750"/>
            <a:ext cx="388200" cy="318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5" name="Google Shape;1585;p96"/>
          <p:cNvSpPr/>
          <p:nvPr/>
        </p:nvSpPr>
        <p:spPr>
          <a:xfrm>
            <a:off x="3593477" y="3164384"/>
            <a:ext cx="4479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6"/>
          <p:cNvSpPr/>
          <p:nvPr/>
        </p:nvSpPr>
        <p:spPr>
          <a:xfrm>
            <a:off x="2339950" y="4489421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6"/>
          <p:cNvSpPr/>
          <p:nvPr/>
        </p:nvSpPr>
        <p:spPr>
          <a:xfrm>
            <a:off x="4377888" y="2562450"/>
            <a:ext cx="3882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6"/>
          <p:cNvSpPr/>
          <p:nvPr/>
        </p:nvSpPr>
        <p:spPr>
          <a:xfrm>
            <a:off x="5291574" y="2898875"/>
            <a:ext cx="583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6"/>
          <p:cNvSpPr/>
          <p:nvPr/>
        </p:nvSpPr>
        <p:spPr>
          <a:xfrm>
            <a:off x="3680450" y="2022438"/>
            <a:ext cx="610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+ 9</a:t>
            </a:r>
            <a:endParaRPr/>
          </a:p>
        </p:txBody>
      </p:sp>
      <p:pic>
        <p:nvPicPr>
          <p:cNvPr id="1590" name="Google Shape;1590;p96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448" y="3605435"/>
            <a:ext cx="127550" cy="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96"/>
          <p:cNvSpPr/>
          <p:nvPr/>
        </p:nvSpPr>
        <p:spPr>
          <a:xfrm flipH="1">
            <a:off x="2113576" y="119278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2" name="Google Shape;1592;p96"/>
          <p:cNvSpPr/>
          <p:nvPr/>
        </p:nvSpPr>
        <p:spPr>
          <a:xfrm>
            <a:off x="2096025" y="1080000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3" name="Google Shape;1593;p96" descr="&lt;math xmlns=&quot;http://www.w3.org/1998/Math/MathML&quot; display=&quot;block&quot; data-is-equatio=&quot;1&quot; data-latex=&quot;\frac{2x+9}{5}=\frac{1}{5}&quot;&gt;&lt;mfrac&gt;&lt;mrow&gt;&lt;mn&gt;2&lt;/mn&gt;&lt;mi&gt;x&lt;/mi&gt;&lt;mo&gt;+&lt;/mo&gt;&lt;mn&gt;9&lt;/mn&gt;&lt;/mrow&gt;&lt;mn&gt;5&lt;/mn&gt;&lt;/mfrac&gt;&lt;mo&gt;=&lt;/mo&gt;&lt;mfrac&gt;&lt;mn&gt;1&lt;/mn&gt;&lt;mn&gt;5&lt;/mn&gt;&lt;/mfrac&gt;&lt;/math&gt;" title="the fraction with numerator 2 x plus 9 and denominator 5 equal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13" y="1194151"/>
            <a:ext cx="1205618" cy="5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96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1075" y="1103617"/>
            <a:ext cx="127550" cy="409972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96"/>
          <p:cNvSpPr/>
          <p:nvPr/>
        </p:nvSpPr>
        <p:spPr>
          <a:xfrm>
            <a:off x="5516875" y="2022450"/>
            <a:ext cx="7134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(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/>
          </a:p>
        </p:txBody>
      </p:sp>
      <p:sp>
        <p:nvSpPr>
          <p:cNvPr id="1596" name="Google Shape;1596;p96"/>
          <p:cNvSpPr/>
          <p:nvPr/>
        </p:nvSpPr>
        <p:spPr>
          <a:xfrm>
            <a:off x="6822725" y="1374563"/>
            <a:ext cx="7323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6"/>
          <p:cNvSpPr/>
          <p:nvPr/>
        </p:nvSpPr>
        <p:spPr>
          <a:xfrm>
            <a:off x="3424350" y="3971863"/>
            <a:ext cx="610500" cy="27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8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1598" name="Google Shape;1598;p96"/>
          <p:cNvSpPr/>
          <p:nvPr/>
        </p:nvSpPr>
        <p:spPr>
          <a:xfrm flipH="1">
            <a:off x="324000" y="4545303"/>
            <a:ext cx="1370100" cy="275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9" name="Google Shape;1599;p96"/>
          <p:cNvSpPr/>
          <p:nvPr/>
        </p:nvSpPr>
        <p:spPr>
          <a:xfrm flipH="1">
            <a:off x="4891776" y="3700688"/>
            <a:ext cx="127500" cy="2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0" name="Google Shape;1600;p96"/>
          <p:cNvSpPr/>
          <p:nvPr/>
        </p:nvSpPr>
        <p:spPr>
          <a:xfrm>
            <a:off x="4891775" y="3587900"/>
            <a:ext cx="343500" cy="457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1" name="Google Shape;1601;p96" descr="&lt;math xmlns=&quot;http://www.w3.org/1998/Math/MathML&quot; display=&quot;block&quot; data-is-equatio=&quot;1&quot; data-latex=&quot;\frac{x}{3}=-\frac{4}{3}&quot;&gt;&lt;mfrac&gt;&lt;mi&gt;x&lt;/mi&gt;&lt;mn&gt;3&lt;/mn&gt;&lt;/mfrac&gt;&lt;mo&gt;=&lt;/mo&gt;&lt;mo&gt;−&lt;/mo&gt;&lt;mfrac&gt;&lt;mn&gt;4&lt;/mn&gt;&lt;mn&gt;3&lt;/mn&gt;&lt;/mfrac&gt;&lt;/math&gt;" title="x over 3 equals negative 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3899" y="3580225"/>
            <a:ext cx="786375" cy="47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96" descr="&lt;math xmlns=&quot;http://www.w3.org/1998/Math/MathML&quot; display=&quot;block&quot; data-is-equatio=&quot;1&quot; data-latex=&quot;\frac{x}{3}+x=x-\frac{4}{3}&quot;&gt;&lt;mfrac&gt;&lt;mi&gt;x&lt;/mi&gt;&lt;mn&gt;3&lt;/mn&gt;&lt;/mfrac&gt;&lt;mo&gt;+&lt;/mo&gt;&lt;mi&gt;x&lt;/mi&gt;&lt;mo&gt;=&lt;/mo&gt;&lt;mi&gt;x&lt;/mi&gt;&lt;mo&gt;−&lt;/mo&gt;&lt;mfrac&gt;&lt;mn&gt;4&lt;/mn&gt;&lt;mn&gt;3&lt;/mn&gt;&lt;/mfrac&gt;&lt;/math&gt;" title="x over 3 plus x equals x minus 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6798" y="4268041"/>
            <a:ext cx="1554600" cy="52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6"/>
          <p:cNvSpPr/>
          <p:nvPr/>
        </p:nvSpPr>
        <p:spPr>
          <a:xfrm flipH="1">
            <a:off x="545025" y="1156125"/>
            <a:ext cx="1370100" cy="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4" name="Google Shape;1604;p96"/>
          <p:cNvSpPr/>
          <p:nvPr/>
        </p:nvSpPr>
        <p:spPr>
          <a:xfrm flipH="1">
            <a:off x="5460675" y="3516300"/>
            <a:ext cx="926100" cy="59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sp>
        <p:nvSpPr>
          <p:cNvPr id="1609" name="Google Shape;1609;p97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Given a single value of a variable, we can write equivalent equations by applying the same operation to the expressions on both sides of the equals sign.</a:t>
            </a:r>
            <a:endParaRPr sz="18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800"/>
              <a:t>The solution to all the equivalent equations will be the same.</a:t>
            </a:r>
            <a:endParaRPr sz="1800"/>
          </a:p>
          <a:p>
            <a:pPr marL="0" lvl="0" indent="0" algn="l" rtl="0"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800"/>
              <a:t>Some operations make the equation look more complicated and some may make it look simpler.</a:t>
            </a:r>
            <a:endParaRPr sz="1800"/>
          </a:p>
          <a:p>
            <a:pPr marL="0" lvl="0" indent="0" algn="l" rt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1800"/>
              <a:t>It is possible to perform operations which make the solution to the equation clear. </a:t>
            </a:r>
            <a:endParaRPr sz="1800"/>
          </a:p>
        </p:txBody>
      </p:sp>
      <p:sp>
        <p:nvSpPr>
          <p:cNvPr id="1610" name="Google Shape;1610;p9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solution.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p9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16" name="Google Shape;1616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484</Paragraphs>
  <Slides>36</Slides>
  <Notes>36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Times New Roman</vt:lpstr>
      <vt:lpstr>simple-light-2</vt:lpstr>
      <vt:lpstr>Many equations, one solution</vt:lpstr>
      <vt:lpstr>PowerPoint Presentation</vt:lpstr>
      <vt:lpstr>PowerPoint Presentation</vt:lpstr>
      <vt:lpstr>PowerPoint Presentation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Maintaining equality while manipulating equations</vt:lpstr>
      <vt:lpstr>PowerPoint Presentation</vt:lpstr>
      <vt:lpstr>PowerPoint Presentation</vt:lpstr>
      <vt:lpstr>Maintaining equality while manipulating equations</vt:lpstr>
      <vt:lpstr>Generating equations with the same solution</vt:lpstr>
      <vt:lpstr>Generating equations with the same solution</vt:lpstr>
      <vt:lpstr>Generating equations with the same solution</vt:lpstr>
      <vt:lpstr>Generating equations with the same solution</vt:lpstr>
      <vt:lpstr>Generating equations with the same solution</vt:lpstr>
      <vt:lpstr>Generating equations with the same solution</vt:lpstr>
      <vt:lpstr>Generating equations with the same solution</vt:lpstr>
      <vt:lpstr>Generating equations with the same solution</vt:lpstr>
      <vt:lpstr>PowerPoint Presentation</vt:lpstr>
      <vt:lpstr>PowerPoint Presentation</vt:lpstr>
      <vt:lpstr>Many equations, one solution.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2024-02-06T09:55:21.656</cp:lastPrinted>
  <dcterms:created xsi:type="dcterms:W3CDTF">2024-02-06T09:55:21Z</dcterms:created>
  <dcterms:modified xsi:type="dcterms:W3CDTF">2024-02-06T09:58:49Z</dcterms:modified>
</cp:coreProperties>
</file>