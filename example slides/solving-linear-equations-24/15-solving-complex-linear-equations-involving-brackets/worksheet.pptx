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8318FCEA-495C-4AC0-8A17-8F01233706F7}">
  <a:tblStyle styleId="{8318FCEA-495C-4AC0-8A17-8F01233706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sp>
        <p:nvSpPr>
          <p:cNvPr id="209" name="Google Shape;209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complex linear equations involving brackets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429375"/>
            <a:ext cx="56679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Solving equations with multiple sets of brackets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6875" y="1749900"/>
            <a:ext cx="42402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blanks to complete these two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3" name="Google Shape;163;p20"/>
          <p:cNvGraphicFramePr>
            <a:graphicFrameLocks noGrp="1"/>
          </p:cNvGraphicFramePr>
          <p:nvPr/>
        </p:nvGraphicFramePr>
        <p:xfrm>
          <a:off x="4031650" y="1913111"/>
          <a:ext cx="2682500" cy="2144160"/>
        </p:xfrm>
        <a:graphic>
          <a:graphicData uri="http://schemas.openxmlformats.org/drawingml/2006/table">
            <a:tbl>
              <a:tblPr>
                <a:noFill/>
                <a:tableStyleId>{8318FCEA-495C-4AC0-8A17-8F01233706F7}</a:tableStyleId>
              </a:tblPr>
              <a:tblGrid>
                <a:gridCol w="1570775"/>
                <a:gridCol w="289350"/>
                <a:gridCol w="822375"/>
              </a:tblGrid>
              <a:tr h="174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 + 7(4 − 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2(2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− 7)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4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 + 28 − 7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4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4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4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4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4" name="Google Shape;164;p20"/>
          <p:cNvGraphicFramePr>
            <a:graphicFrameLocks noGrp="1"/>
          </p:cNvGraphicFramePr>
          <p:nvPr/>
        </p:nvGraphicFramePr>
        <p:xfrm>
          <a:off x="732029" y="1913111"/>
          <a:ext cx="2396700" cy="1786800"/>
        </p:xfrm>
        <a:graphic>
          <a:graphicData uri="http://schemas.openxmlformats.org/drawingml/2006/table">
            <a:tbl>
              <a:tblPr>
                <a:noFill/>
                <a:tableStyleId>{8318FCEA-495C-4AC0-8A17-8F01233706F7}</a:tableStyleId>
              </a:tblPr>
              <a:tblGrid>
                <a:gridCol w="1581325"/>
                <a:gridCol w="281775"/>
                <a:gridCol w="533600"/>
              </a:tblGrid>
              <a:tr h="1941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1) + 5(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− 7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41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 + 5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41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− 33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41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41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20"/>
          <p:cNvSpPr txBox="1"/>
          <p:nvPr/>
        </p:nvSpPr>
        <p:spPr>
          <a:xfrm>
            <a:off x="466875" y="1978500"/>
            <a:ext cx="277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3772050" y="1978500"/>
            <a:ext cx="277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996125" y="2349300"/>
            <a:ext cx="277800" cy="224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996125" y="2349300"/>
            <a:ext cx="277800" cy="22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2062925" y="2349300"/>
            <a:ext cx="277800" cy="224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2062925" y="2349300"/>
            <a:ext cx="277800" cy="22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2062925" y="2701725"/>
            <a:ext cx="277800" cy="224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2062925" y="2701725"/>
            <a:ext cx="277800" cy="22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2596325" y="3063675"/>
            <a:ext cx="277800" cy="224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2596325" y="3063675"/>
            <a:ext cx="277800" cy="22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2596325" y="3420863"/>
            <a:ext cx="277800" cy="224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2596325" y="3420863"/>
            <a:ext cx="277800" cy="22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196525" y="2344538"/>
            <a:ext cx="277800" cy="224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4196525" y="2344538"/>
            <a:ext cx="277800" cy="22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249053" y="2344550"/>
            <a:ext cx="324600" cy="224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249053" y="2344550"/>
            <a:ext cx="324600" cy="22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834000" y="2344525"/>
            <a:ext cx="277800" cy="229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5834000" y="2344525"/>
            <a:ext cx="277800" cy="2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834000" y="2701713"/>
            <a:ext cx="277800" cy="229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834000" y="2701713"/>
            <a:ext cx="277800" cy="2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834000" y="3054138"/>
            <a:ext cx="277800" cy="229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834000" y="3054138"/>
            <a:ext cx="277800" cy="2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848288" y="3406563"/>
            <a:ext cx="277800" cy="229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848288" y="3406563"/>
            <a:ext cx="277800" cy="2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848288" y="3773275"/>
            <a:ext cx="277800" cy="229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848288" y="3773275"/>
            <a:ext cx="277800" cy="2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943413" y="2706475"/>
            <a:ext cx="277800" cy="229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4943413" y="2706475"/>
            <a:ext cx="277800" cy="2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76400" y="3950175"/>
            <a:ext cx="4744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Each solution contains an error. Identify it and write a sentence explaining why it is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4" name="Google Shape;194;p20"/>
          <p:cNvGraphicFramePr>
            <a:graphicFrameLocks noGrp="1"/>
          </p:cNvGraphicFramePr>
          <p:nvPr/>
        </p:nvGraphicFramePr>
        <p:xfrm>
          <a:off x="527025" y="5655156"/>
          <a:ext cx="2815275" cy="1280160"/>
        </p:xfrm>
        <a:graphic>
          <a:graphicData uri="http://schemas.openxmlformats.org/drawingml/2006/table">
            <a:tbl>
              <a:tblPr>
                <a:noFill/>
                <a:tableStyleId>{8318FCEA-495C-4AC0-8A17-8F01233706F7}</a:tableStyleId>
              </a:tblPr>
              <a:tblGrid>
                <a:gridCol w="1590175"/>
                <a:gridCol w="380500"/>
                <a:gridCol w="844600"/>
              </a:tblGrid>
              <a:tr h="188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 − 5(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− 2)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8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+ 21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 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8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+ 26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8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8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8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5" name="Google Shape;195;p20"/>
          <p:cNvGraphicFramePr>
            <a:graphicFrameLocks noGrp="1"/>
          </p:cNvGraphicFramePr>
          <p:nvPr/>
        </p:nvGraphicFramePr>
        <p:xfrm>
          <a:off x="649894" y="4408306"/>
          <a:ext cx="1831125" cy="1066800"/>
        </p:xfrm>
        <a:graphic>
          <a:graphicData uri="http://schemas.openxmlformats.org/drawingml/2006/table">
            <a:tbl>
              <a:tblPr>
                <a:noFill/>
                <a:tableStyleId>{8318FCEA-495C-4AC0-8A17-8F01233706F7}</a:tableStyleId>
              </a:tblPr>
              <a:tblGrid>
                <a:gridCol w="1114150"/>
                <a:gridCol w="348425"/>
                <a:gridCol w="368550"/>
              </a:tblGrid>
              <a:tr h="1918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 + 3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18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8 + 6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18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18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18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6" name="Google Shape;196;p20"/>
          <p:cNvSpPr txBox="1"/>
          <p:nvPr/>
        </p:nvSpPr>
        <p:spPr>
          <a:xfrm>
            <a:off x="476400" y="4415623"/>
            <a:ext cx="2778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66875" y="5663398"/>
            <a:ext cx="2778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66875" y="7007700"/>
            <a:ext cx="1360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Solve: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66875" y="7217772"/>
            <a:ext cx="277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3772050" y="7217772"/>
            <a:ext cx="277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1" name="Google Shape;201;p20"/>
          <p:cNvGraphicFramePr>
            <a:graphicFrameLocks noGrp="1"/>
          </p:cNvGraphicFramePr>
          <p:nvPr/>
        </p:nvGraphicFramePr>
        <p:xfrm>
          <a:off x="4049650" y="7209011"/>
          <a:ext cx="2531275" cy="213360"/>
        </p:xfrm>
        <a:graphic>
          <a:graphicData uri="http://schemas.openxmlformats.org/drawingml/2006/table">
            <a:tbl>
              <a:tblPr>
                <a:noFill/>
                <a:tableStyleId>{8318FCEA-495C-4AC0-8A17-8F01233706F7}</a:tableStyleId>
              </a:tblPr>
              <a:tblGrid>
                <a:gridCol w="1475825"/>
                <a:gridCol w="389025"/>
                <a:gridCol w="666425"/>
              </a:tblGrid>
              <a:tr h="1230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 + 5(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2" name="Google Shape;202;p20"/>
          <p:cNvGraphicFramePr>
            <a:graphicFrameLocks noGrp="1"/>
          </p:cNvGraphicFramePr>
          <p:nvPr/>
        </p:nvGraphicFramePr>
        <p:xfrm>
          <a:off x="740879" y="7209011"/>
          <a:ext cx="2027525" cy="213360"/>
        </p:xfrm>
        <a:graphic>
          <a:graphicData uri="http://schemas.openxmlformats.org/drawingml/2006/table">
            <a:tbl>
              <a:tblPr>
                <a:noFill/>
                <a:tableStyleId>{8318FCEA-495C-4AC0-8A17-8F01233706F7}</a:tableStyleId>
              </a:tblPr>
              <a:tblGrid>
                <a:gridCol w="1438250"/>
                <a:gridCol w="215900"/>
                <a:gridCol w="373375"/>
              </a:tblGrid>
              <a:tr h="1524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3) + 4(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+ 9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3" name="Google Shape;203;p20"/>
          <p:cNvSpPr txBox="1"/>
          <p:nvPr/>
        </p:nvSpPr>
        <p:spPr>
          <a:xfrm>
            <a:off x="466875" y="8551272"/>
            <a:ext cx="277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3772050" y="8551272"/>
            <a:ext cx="277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5" name="Google Shape;205;p20"/>
          <p:cNvGraphicFramePr>
            <a:graphicFrameLocks noGrp="1"/>
          </p:cNvGraphicFramePr>
          <p:nvPr/>
        </p:nvGraphicFramePr>
        <p:xfrm>
          <a:off x="703454" y="8542511"/>
          <a:ext cx="2306600" cy="213360"/>
        </p:xfrm>
        <a:graphic>
          <a:graphicData uri="http://schemas.openxmlformats.org/drawingml/2006/table">
            <a:tbl>
              <a:tblPr>
                <a:noFill/>
                <a:tableStyleId>{8318FCEA-495C-4AC0-8A17-8F01233706F7}</a:tableStyleId>
              </a:tblPr>
              <a:tblGrid>
                <a:gridCol w="761325"/>
                <a:gridCol w="347875"/>
                <a:gridCol w="1197400"/>
              </a:tblGrid>
              <a:tr h="1363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− 6(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6" name="Google Shape;206;p20"/>
          <p:cNvGraphicFramePr>
            <a:graphicFrameLocks noGrp="1"/>
          </p:cNvGraphicFramePr>
          <p:nvPr/>
        </p:nvGraphicFramePr>
        <p:xfrm>
          <a:off x="4021210" y="8542511"/>
          <a:ext cx="2791100" cy="213360"/>
        </p:xfrm>
        <a:graphic>
          <a:graphicData uri="http://schemas.openxmlformats.org/drawingml/2006/table">
            <a:tbl>
              <a:tblPr>
                <a:noFill/>
                <a:tableStyleId>{8318FCEA-495C-4AC0-8A17-8F01233706F7}</a:tableStyleId>
              </a:tblPr>
              <a:tblGrid>
                <a:gridCol w="1596550"/>
                <a:gridCol w="380075"/>
                <a:gridCol w="814475"/>
              </a:tblGrid>
              <a:tr h="1337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8(2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07" name="Google Shape;207;p20"/>
          <p:cNvCxnSpPr/>
          <p:nvPr/>
        </p:nvCxnSpPr>
        <p:spPr>
          <a:xfrm>
            <a:off x="474750" y="997201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sp>
        <p:nvSpPr>
          <p:cNvPr id="212" name="Google Shape;21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3" name="Google Shape;213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Solving complex linear equations involving brackets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468000" y="9245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Simplifying before solving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66875" y="1216500"/>
            <a:ext cx="5297700" cy="4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Solve these equations twice. Firstly by expanding first, secondly by simplifying before expanding.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to compare the efficiency.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66875" y="1937845"/>
            <a:ext cx="277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76400" y="3690445"/>
            <a:ext cx="277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0" name="Google Shape;220;p21"/>
          <p:cNvGraphicFramePr>
            <a:graphicFrameLocks noGrp="1"/>
          </p:cNvGraphicFramePr>
          <p:nvPr/>
        </p:nvGraphicFramePr>
        <p:xfrm>
          <a:off x="729974" y="19264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{8318FCEA-495C-4AC0-8A17-8F01233706F7}</a:tableStyleId>
              </a:tblPr>
              <a:tblGrid>
                <a:gridCol w="1393850"/>
                <a:gridCol w="385050"/>
                <a:gridCol w="291500"/>
              </a:tblGrid>
              <a:tr h="2112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 + 2(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1" name="Google Shape;221;p21"/>
          <p:cNvGraphicFramePr>
            <a:graphicFrameLocks noGrp="1"/>
          </p:cNvGraphicFramePr>
          <p:nvPr/>
        </p:nvGraphicFramePr>
        <p:xfrm>
          <a:off x="4014024" y="19264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{8318FCEA-495C-4AC0-8A17-8F01233706F7}</a:tableStyleId>
              </a:tblPr>
              <a:tblGrid>
                <a:gridCol w="1443550"/>
                <a:gridCol w="385050"/>
                <a:gridCol w="301025"/>
              </a:tblGrid>
              <a:tr h="1878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 + 2(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2" name="Google Shape;222;p21"/>
          <p:cNvGraphicFramePr>
            <a:graphicFrameLocks noGrp="1"/>
          </p:cNvGraphicFramePr>
          <p:nvPr/>
        </p:nvGraphicFramePr>
        <p:xfrm>
          <a:off x="658959" y="36905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{8318FCEA-495C-4AC0-8A17-8F01233706F7}</a:tableStyleId>
              </a:tblPr>
              <a:tblGrid>
                <a:gridCol w="981675"/>
                <a:gridCol w="232550"/>
                <a:gridCol w="1449625"/>
              </a:tblGrid>
              <a:tr h="1524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+ 5(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3" name="Google Shape;223;p21"/>
          <p:cNvGraphicFramePr>
            <a:graphicFrameLocks noGrp="1"/>
          </p:cNvGraphicFramePr>
          <p:nvPr/>
        </p:nvGraphicFramePr>
        <p:xfrm>
          <a:off x="4019629" y="36905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{8318FCEA-495C-4AC0-8A17-8F01233706F7}</a:tableStyleId>
              </a:tblPr>
              <a:tblGrid>
                <a:gridCol w="933975"/>
                <a:gridCol w="301950"/>
                <a:gridCol w="1662275"/>
              </a:tblGrid>
              <a:tr h="1798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+ 5(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4" name="Google Shape;224;p21"/>
          <p:cNvSpPr txBox="1"/>
          <p:nvPr/>
        </p:nvSpPr>
        <p:spPr>
          <a:xfrm>
            <a:off x="466875" y="5864700"/>
            <a:ext cx="8781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Solve: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66875" y="6128847"/>
            <a:ext cx="277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6" name="Google Shape;226;p21"/>
          <p:cNvGraphicFramePr>
            <a:graphicFrameLocks noGrp="1"/>
          </p:cNvGraphicFramePr>
          <p:nvPr/>
        </p:nvGraphicFramePr>
        <p:xfrm>
          <a:off x="659399" y="61365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{8318FCEA-495C-4AC0-8A17-8F01233706F7}</a:tableStyleId>
              </a:tblPr>
              <a:tblGrid>
                <a:gridCol w="1429800"/>
                <a:gridCol w="396325"/>
                <a:gridCol w="1179975"/>
              </a:tblGrid>
              <a:tr h="1778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 + 9(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27" name="Google Shape;227;p21" descr="&lt;math xmlns=&quot;http://www.w3.org/1998/Math/MathML&quot; display=&quot;block&quot; data-is-equatio=&quot;1&quot; data-latex=&quot;8\left(y+5\right)=13-\frac{y+5}{2}&quot;&gt;&lt;mn&gt;8&lt;/mn&gt;&lt;mrow data-mjx-texclass=&quot;INNER&quot;&gt;&lt;mo data-mjx-texclass=&quot;OPEN&quot;&gt;(&lt;/mo&gt;&lt;mi&gt;y&lt;/mi&gt;&lt;mo&gt;+&lt;/mo&gt;&lt;mn&gt;5&lt;/mn&gt;&lt;mo data-mjx-texclass=&quot;CLOSE&quot;&gt;)&lt;/mo&gt;&lt;/mrow&gt;&lt;mo&gt;=&lt;/mo&gt;&lt;mn&gt;13&lt;/mn&gt;&lt;mo&gt;−&lt;/mo&gt;&lt;mfrac&gt;&lt;mrow&gt;&lt;mi&gt;y&lt;/mi&gt;&lt;mo&gt;+&lt;/mo&gt;&lt;mn&gt;5&lt;/mn&gt;&lt;/mrow&gt;&lt;mn&gt;2&lt;/mn&gt;&lt;/mfrac&gt;&lt;/math&gt;" title="8 times open paren y plus 5 close paren equals 13 minus the fraction with numerator y plus 5 and denominato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50" y="7767700"/>
            <a:ext cx="1526186" cy="350403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466875" y="7833822"/>
            <a:ext cx="277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Solving complex linear equations involving brackets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2024-02-06T09:58:27.228</cp:lastPrinted>
  <dcterms:created xsi:type="dcterms:W3CDTF">2024-02-06T09:58:27Z</dcterms:created>
  <dcterms:modified xsi:type="dcterms:W3CDTF">2024-02-06T09:58:36Z</dcterms:modified>
</cp:coreProperties>
</file>