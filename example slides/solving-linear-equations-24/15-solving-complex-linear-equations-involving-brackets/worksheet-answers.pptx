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621BFC90-E9C8-43B3-AC9A-67A134B7572D}">
  <a:tblStyle styleId="{621BFC90-E9C8-43B3-AC9A-67A134B7572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12" name="Shape 212"/>
        <p:cNvGrpSpPr/>
        <p:nvPr/>
      </p:nvGrpSpPr>
      <p:grpSpPr>
        <a:xfrm>
          <a:off x="0" y="0"/>
          <a:ext cx="0" cy="0"/>
        </a:xfrm>
      </p:grpSpPr>
      <p:sp>
        <p:nvSpPr>
          <p:cNvPr id="213" name="Google Shape;21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8.png" /><Relationship Id="rId4" Type="http://schemas.openxmlformats.org/officeDocument/2006/relationships/image" Target="../media/image9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complex linear equations involving brackets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429375"/>
            <a:ext cx="56679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Solving equations with multiple sets of brackets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6875" y="1749900"/>
            <a:ext cx="42402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Fill in the blanks to complete these two equations.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5" name="Google Shape;175;p20"/>
          <p:cNvGraphicFramePr>
            <a:graphicFrameLocks noGrp="1"/>
          </p:cNvGraphicFramePr>
          <p:nvPr/>
        </p:nvGraphicFramePr>
        <p:xfrm>
          <a:off x="4031650" y="1913111"/>
          <a:ext cx="2682500" cy="214416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570775"/>
                <a:gridCol w="289350"/>
                <a:gridCol w="822375"/>
              </a:tblGrid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+ 7(4 − 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− 7)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+ 28 − 7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52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44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76" name="Google Shape;176;p20"/>
          <p:cNvGraphicFramePr>
            <a:graphicFrameLocks noGrp="1"/>
          </p:cNvGraphicFramePr>
          <p:nvPr/>
        </p:nvGraphicFramePr>
        <p:xfrm>
          <a:off x="732029" y="1913111"/>
          <a:ext cx="2396700" cy="17868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581325"/>
                <a:gridCol w="281775"/>
                <a:gridCol w="533600"/>
              </a:tblGrid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1) + 5(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− 7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 + 5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4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36000" marR="36000" marT="72000" marB="7200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7" name="Google Shape;177;p20"/>
          <p:cNvSpPr txBox="1"/>
          <p:nvPr/>
        </p:nvSpPr>
        <p:spPr>
          <a:xfrm>
            <a:off x="466875" y="1978500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772050" y="1978500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996125" y="2349300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2062925" y="2349300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2062925" y="2701725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2596325" y="3063675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2596325" y="3420863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4196525" y="2344538"/>
            <a:ext cx="2778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249053" y="2344550"/>
            <a:ext cx="324600" cy="2244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5834000" y="2344525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834000" y="2701713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5834000" y="3054138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848288" y="3406563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848288" y="3773275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943413" y="2706475"/>
            <a:ext cx="277800" cy="2292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76400" y="3950175"/>
            <a:ext cx="47448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Each solution contains an error. Identify it and write a sentence explaining why it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93" name="Google Shape;193;p20"/>
          <p:cNvGraphicFramePr>
            <a:graphicFrameLocks noGrp="1"/>
          </p:cNvGraphicFramePr>
          <p:nvPr/>
        </p:nvGraphicFramePr>
        <p:xfrm>
          <a:off x="527025" y="5655156"/>
          <a:ext cx="2815275" cy="128016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590175"/>
                <a:gridCol w="380500"/>
                <a:gridCol w="844600"/>
              </a:tblGrid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+ 7) − 5(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7(3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− 2)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+ 21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 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40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83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194" name="Google Shape;194;p20"/>
          <p:cNvGraphicFramePr>
            <a:graphicFrameLocks noGrp="1"/>
          </p:cNvGraphicFramePr>
          <p:nvPr/>
        </p:nvGraphicFramePr>
        <p:xfrm>
          <a:off x="649894" y="4408306"/>
          <a:ext cx="1831125" cy="10668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114150"/>
                <a:gridCol w="348425"/>
                <a:gridCol w="368550"/>
              </a:tblGrid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+ 3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 + 6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80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918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95" name="Google Shape;195;p20"/>
          <p:cNvSpPr txBox="1"/>
          <p:nvPr/>
        </p:nvSpPr>
        <p:spPr>
          <a:xfrm>
            <a:off x="476400" y="4415623"/>
            <a:ext cx="27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66875" y="5663398"/>
            <a:ext cx="277800" cy="2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1560325" y="4630675"/>
            <a:ext cx="277800" cy="229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609075" y="4423525"/>
            <a:ext cx="44871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may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terms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and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are inside the bracket so are correctly multiplied by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but, the term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sits outside the bracket on its own so should not have been multiplied.</a:t>
            </a:r>
            <a:endParaRPr sz="1200" i="1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428228" y="5671300"/>
            <a:ext cx="32967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second bracket was incorrectly multiplied out. It should multiply out as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−5(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+ 1) = −5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− 5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term should be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−5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, not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+5</a:t>
            </a:r>
            <a:r>
              <a:rPr lang="en-GB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66875" y="7007700"/>
            <a:ext cx="1360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Solve: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466875" y="7217772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772050" y="7217772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3" name="Google Shape;203;p20"/>
          <p:cNvGraphicFramePr>
            <a:graphicFrameLocks noGrp="1"/>
          </p:cNvGraphicFramePr>
          <p:nvPr/>
        </p:nvGraphicFramePr>
        <p:xfrm>
          <a:off x="4049650" y="7209011"/>
          <a:ext cx="2531275" cy="128016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475825"/>
                <a:gridCol w="389025"/>
                <a:gridCol w="666425"/>
              </a:tblGrid>
              <a:tr h="123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+ 5(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+ 1)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3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+ 18 + 5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3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+ 23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+ 27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3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3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230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4" name="Google Shape;204;p20"/>
          <p:cNvGraphicFramePr>
            <a:graphicFrameLocks noGrp="1"/>
          </p:cNvGraphicFramePr>
          <p:nvPr/>
        </p:nvGraphicFramePr>
        <p:xfrm>
          <a:off x="740879" y="7209011"/>
          <a:ext cx="2027525" cy="10668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438250"/>
                <a:gridCol w="215900"/>
                <a:gridCol w="373375"/>
              </a:tblGrid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3) + 4(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+ 9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6 + 4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20"/>
          <p:cNvSpPr txBox="1"/>
          <p:nvPr/>
        </p:nvSpPr>
        <p:spPr>
          <a:xfrm>
            <a:off x="466875" y="8551272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772050" y="8551272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07" name="Google Shape;207;p20"/>
          <p:cNvGraphicFramePr>
            <a:graphicFrameLocks noGrp="1"/>
          </p:cNvGraphicFramePr>
          <p:nvPr/>
        </p:nvGraphicFramePr>
        <p:xfrm>
          <a:off x="703454" y="8542511"/>
          <a:ext cx="2306600" cy="128016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761325"/>
                <a:gridCol w="347875"/>
                <a:gridCol w="1197400"/>
              </a:tblGrid>
              <a:tr h="136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7)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6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6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− 48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6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−48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6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−76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63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−38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08" name="Google Shape;208;p20"/>
          <p:cNvGraphicFramePr>
            <a:graphicFrameLocks noGrp="1"/>
          </p:cNvGraphicFramePr>
          <p:nvPr/>
        </p:nvGraphicFramePr>
        <p:xfrm>
          <a:off x="4021210" y="8542511"/>
          <a:ext cx="2791100" cy="10668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596550"/>
                <a:gridCol w="380075"/>
                <a:gridCol w="814475"/>
              </a:tblGrid>
              <a:tr h="133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4)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8(2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5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3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28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16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40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3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−19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12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3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337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09" name="Google Shape;209;p20" descr="&lt;math xmlns=&quot;http://www.w3.org/1998/Math/MathML&quot; display=&quot;block&quot; data-is-equatio=&quot;1&quot; data-latex=&quot;x=-\frac{66}{28}=-\frac{33}{14}&quot;&gt;&lt;mi&gt;x&lt;/mi&gt;&lt;mo&gt;=&lt;/mo&gt;&lt;mo&gt;−&lt;/mo&gt;&lt;mfrac&gt;&lt;mn&gt;66&lt;/mn&gt;&lt;mn&gt;28&lt;/mn&gt;&lt;/mfrac&gt;&lt;mo&gt;=&lt;/mo&gt;&lt;mo&gt;−&lt;/mo&gt;&lt;mfrac&gt;&lt;mn&gt;33&lt;/mn&gt;&lt;mn&gt;14&lt;/mn&gt;&lt;/mfrac&gt;&lt;/math&gt;" title="x equals negative 66 over 28 equals negative 33 over 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7503" y="9614523"/>
            <a:ext cx="1124475" cy="33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/>
          <p:nvPr/>
        </p:nvSpPr>
        <p:spPr>
          <a:xfrm>
            <a:off x="1850838" y="5864175"/>
            <a:ext cx="324600" cy="229200"/>
          </a:xfrm>
          <a:prstGeom prst="ellipse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1" name="Google Shape;211;p20"/>
          <p:cNvCxnSpPr/>
          <p:nvPr/>
        </p:nvCxnSpPr>
        <p:spPr>
          <a:xfrm>
            <a:off x="474750" y="997201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sp>
        <p:nvSpPr>
          <p:cNvPr id="216" name="Google Shape;21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7" name="Google Shape;21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Solving complex linear equations involving brackets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8000" y="924550"/>
            <a:ext cx="47613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Simplifying before solving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 txBox="1"/>
          <p:nvPr/>
        </p:nvSpPr>
        <p:spPr>
          <a:xfrm>
            <a:off x="466875" y="1216500"/>
            <a:ext cx="5297700" cy="4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Solve these equations twice. Firstly by expanding first, secondly by simplifying before expanding.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to compare the efficiency.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1"/>
          <p:cNvSpPr txBox="1"/>
          <p:nvPr/>
        </p:nvSpPr>
        <p:spPr>
          <a:xfrm>
            <a:off x="466875" y="1937845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1"/>
          <p:cNvSpPr txBox="1"/>
          <p:nvPr/>
        </p:nvSpPr>
        <p:spPr>
          <a:xfrm>
            <a:off x="476400" y="3690445"/>
            <a:ext cx="2778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4" name="Google Shape;224;p21"/>
          <p:cNvGraphicFramePr>
            <a:graphicFrameLocks noGrp="1"/>
          </p:cNvGraphicFramePr>
          <p:nvPr/>
        </p:nvGraphicFramePr>
        <p:xfrm>
          <a:off x="729974" y="1926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393850"/>
                <a:gridCol w="385050"/>
                <a:gridCol w="291500"/>
              </a:tblGrid>
              <a:tr h="2112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2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+ 36 + 2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2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2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2112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5" name="Google Shape;225;p21"/>
          <p:cNvGraphicFramePr>
            <a:graphicFrameLocks noGrp="1"/>
          </p:cNvGraphicFramePr>
          <p:nvPr/>
        </p:nvGraphicFramePr>
        <p:xfrm>
          <a:off x="4014024" y="192647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443550"/>
                <a:gridCol w="385050"/>
                <a:gridCol w="301025"/>
              </a:tblGrid>
              <a:tr h="1878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+ 4) + 2(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8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8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+ 4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78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6" name="Google Shape;226;p21"/>
          <p:cNvSpPr txBox="1"/>
          <p:nvPr/>
        </p:nvSpPr>
        <p:spPr>
          <a:xfrm>
            <a:off x="474750" y="3035275"/>
            <a:ext cx="56688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may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Simplifying identical expressions was more efficient, with simpler steps.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7" name="Google Shape;227;p21"/>
          <p:cNvGraphicFramePr>
            <a:graphicFrameLocks noGrp="1"/>
          </p:cNvGraphicFramePr>
          <p:nvPr/>
        </p:nvGraphicFramePr>
        <p:xfrm>
          <a:off x="658959" y="3690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981675"/>
                <a:gridCol w="232550"/>
                <a:gridCol w="1449625"/>
              </a:tblGrid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− 15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− 24 − 2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−8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− 18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 + 5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524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graphicFrame>
        <p:nvGraphicFramePr>
          <p:cNvPr id="228" name="Google Shape;228;p21"/>
          <p:cNvGraphicFramePr>
            <a:graphicFrameLocks noGrp="1"/>
          </p:cNvGraphicFramePr>
          <p:nvPr/>
        </p:nvGraphicFramePr>
        <p:xfrm>
          <a:off x="4019629" y="369052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933975"/>
                <a:gridCol w="301950"/>
                <a:gridCol w="1662275"/>
              </a:tblGrid>
              <a:tr h="179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9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 + 5(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− 3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0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− 3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0067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21"/>
          <p:cNvSpPr txBox="1"/>
          <p:nvPr/>
        </p:nvSpPr>
        <p:spPr>
          <a:xfrm>
            <a:off x="468625" y="4825975"/>
            <a:ext cx="66105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You may have written: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Simplifying identical expressions was again more efficient, and also avoided a lot of manipulating negative terms.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66875" y="5864700"/>
            <a:ext cx="878100" cy="2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Solve: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466875" y="6128847"/>
            <a:ext cx="277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2" name="Google Shape;232;p21"/>
          <p:cNvGraphicFramePr>
            <a:graphicFrameLocks noGrp="1"/>
          </p:cNvGraphicFramePr>
          <p:nvPr/>
        </p:nvGraphicFramePr>
        <p:xfrm>
          <a:off x="659399" y="61365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1429800"/>
                <a:gridCol w="396325"/>
                <a:gridCol w="1179975"/>
              </a:tblGrid>
              <a:tr h="177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+ 24 + 9(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+ 6) + 9(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 +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+ 6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77800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endParaRPr i="1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3" name="Google Shape;233;p21" descr="&lt;math xmlns=&quot;http://www.w3.org/1998/Math/MathML&quot; display=&quot;block&quot; data-is-equatio=&quot;1&quot; data-latex=&quot;8\left(y+5\right)=13-\frac{y+5}{2}&quot;&gt;&lt;mn&gt;8&lt;/mn&gt;&lt;mrow data-mjx-texclass=&quot;INNER&quot;&gt;&lt;mo data-mjx-texclass=&quot;OPEN&quot;&gt;(&lt;/mo&gt;&lt;mi&gt;y&lt;/mi&gt;&lt;mo&gt;+&lt;/mo&gt;&lt;mn&gt;5&lt;/mn&gt;&lt;mo data-mjx-texclass=&quot;CLOSE&quot;&gt;)&lt;/mo&gt;&lt;/mrow&gt;&lt;mo&gt;=&lt;/mo&gt;&lt;mn&gt;13&lt;/mn&gt;&lt;mo&gt;−&lt;/mo&gt;&lt;mfrac&gt;&lt;mrow&gt;&lt;mi&gt;y&lt;/mi&gt;&lt;mo&gt;+&lt;/mo&gt;&lt;mn&gt;5&lt;/mn&gt;&lt;/mrow&gt;&lt;mn&gt;2&lt;/mn&gt;&lt;/mfrac&gt;&lt;/math&gt;" title="8 times open paren y plus 5 close paren equals 13 minus the fraction with numerator y plus 5 and denominator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250" y="7767700"/>
            <a:ext cx="1526186" cy="35040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4" name="Google Shape;234;p21"/>
          <p:cNvGraphicFramePr>
            <a:graphicFrameLocks noGrp="1"/>
          </p:cNvGraphicFramePr>
          <p:nvPr/>
        </p:nvGraphicFramePr>
        <p:xfrm>
          <a:off x="571094" y="81037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{621BFC90-E9C8-43B3-AC9A-67A134B7572D}</a:tableStyleId>
              </a:tblPr>
              <a:tblGrid>
                <a:gridCol w="761225"/>
                <a:gridCol w="396325"/>
                <a:gridCol w="951375"/>
              </a:tblGrid>
              <a:tr h="183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26 − 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lang="en-GB" i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+ 5)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3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17(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+ 5</a:t>
                      </a: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)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3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r>
                        <a:rPr lang="en-GB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+ 85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183125">
                <a:tc>
                  <a:txBody>
                    <a:bodyPr vert="horz" wrap="square"/>
                    <a:lstStyle/>
                    <a:p>
                      <a:pPr marL="0" lvl="0" indent="0" algn="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r>
                        <a:rPr lang="en-GB" i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y</a:t>
                      </a:r>
                      <a:endParaRPr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ctr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−59</a:t>
                      </a:r>
                      <a:endParaRPr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pic>
        <p:nvPicPr>
          <p:cNvPr id="235" name="Google Shape;235;p21" descr="&lt;math xmlns=&quot;http://www.w3.org/1998/Math/MathML&quot; display=&quot;block&quot; data-is-equatio=&quot;1&quot; data-latex=&quot;y=-\frac{59}{17}&quot;&gt;&lt;mi&gt;y&lt;/mi&gt;&lt;mo&gt;=&lt;/mo&gt;&lt;mo&gt;−&lt;/mo&gt;&lt;mfrac&gt;&lt;mn&gt;59&lt;/mn&gt;&lt;mn&gt;17&lt;/mn&gt;&lt;/mfrac&gt;&lt;/math&gt;" title="y equals negative 59 over 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6350" y="9003450"/>
            <a:ext cx="612544" cy="3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1"/>
          <p:cNvSpPr txBox="1"/>
          <p:nvPr/>
        </p:nvSpPr>
        <p:spPr>
          <a:xfrm>
            <a:off x="466875" y="7833822"/>
            <a:ext cx="277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1.14"/>
  <p:tag name="AS_TITLE" val="Aspose.Slides for .NET Standard 2.0"/>
  <p:tag name="AS_VERSION" val="24.1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34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Solving complex linear equations involving brackets</vt:lpstr>
      <vt:lpstr>PowerPoint Presentation</vt:lpstr>
    </vt:vector>
  </TitlesOfParts>
  <LinksUpToDate>0</LinksUpToDate>
  <SharedDoc>0</SharedDoc>
  <HyperlinksChanged>0</HyperlinksChanged>
  <Application>Aspose.Slides for .NET</Application>
  <AppVersion>24.0100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2024-02-06T10:01:42.093</cp:lastPrinted>
  <dcterms:created xsi:type="dcterms:W3CDTF">2024-02-06T10:01:42Z</dcterms:created>
  <dcterms:modified xsi:type="dcterms:W3CDTF">2024-02-06T09:58:40Z</dcterms:modified>
</cp:coreProperties>
</file>