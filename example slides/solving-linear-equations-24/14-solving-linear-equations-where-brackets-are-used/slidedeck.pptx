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68" r:id="rId4"/>
    <p:sldMasterId id="21474837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08B96A-526D-4B11-A3C9-6E13E2F35879}">
  <a:tblStyle styleId="{7208B96A-526D-4B11-A3C9-6E13E2F358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a0a98feac5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a0a98feac5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a0a98feac5_0_1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a0a98feac5_0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a0a98feac5_0_1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a0a98feac5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a0a98feac5_0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a0a98feac5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a0a98feac5_0_1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2a0a98feac5_0_1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a0a98feac5_0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a0a98feac5_0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2a0a98feac5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2a0a98feac5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a0a98feac5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2a0a98feac5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a0a98feac5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2a0a98feac5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a0a98feac5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a0a98feac5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2a0a98feac5_2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a0a98feac5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a0a98feac5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a0a98feac5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a0a98feac5_2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a0a98feac5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2a0a98feac5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2a0a98feac5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2a0a98feac5_2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2a0a98feac5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2a0a98feac5_2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a0a98feac5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2a0a98feac5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2a0a98feac5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a0a98feac5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a0a98feac5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a0a98feac5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a0a98feac5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2a0a98feac5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2a0a98feac5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2a0a98feac5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2a0a98feac5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a0a98feac5_3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a0a98feac5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2a0a98feac5_3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2a0a98feac5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2a0a98feac5_3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2a0a98feac5_3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2a0a98feac5_3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2a0a98feac5_3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2a0a98feac5_3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2a0a98feac5_3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a0a98feac5_3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a0a98feac5_3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2a0a98feac5_3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2a0a98feac5_3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a0a98feac5_3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a0a98feac5_3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a0a98feac5_3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a0a98feac5_3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2a0a98feac5_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2a0a98feac5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34ce90566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34ce90566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2a0a98feac5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7" name="Google Shape;1987;g2a0a98feac5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2a0a98feac5_5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2a0a98feac5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2a0a98feac5_6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2a0a98feac5_6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2a0a98feac5_6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2a0a98feac5_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2a0a98feac5_6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2a0a98feac5_6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2a0a98feac5_6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2a0a98feac5_6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9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99.png"/><Relationship Id="rId4" Type="http://schemas.openxmlformats.org/officeDocument/2006/relationships/image" Target="../media/image22.png"/><Relationship Id="rId9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99.png"/><Relationship Id="rId4" Type="http://schemas.openxmlformats.org/officeDocument/2006/relationships/image" Target="../media/image31.png"/><Relationship Id="rId11" Type="http://schemas.openxmlformats.org/officeDocument/2006/relationships/image" Target="../media/image24.png"/><Relationship Id="rId10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9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99.png"/><Relationship Id="rId4" Type="http://schemas.openxmlformats.org/officeDocument/2006/relationships/image" Target="../media/image22.png"/><Relationship Id="rId9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99.png"/><Relationship Id="rId4" Type="http://schemas.openxmlformats.org/officeDocument/2006/relationships/image" Target="../media/image31.png"/><Relationship Id="rId11" Type="http://schemas.openxmlformats.org/officeDocument/2006/relationships/image" Target="../media/image24.png"/><Relationship Id="rId10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4" name="Google Shape;894;p78"/>
          <p:cNvCxnSpPr>
            <a:endCxn id="89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6" name="Google Shape;896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8" name="Google Shape;898;p7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5" name="Google Shape;895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9" name="Google Shape;909;p79"/>
          <p:cNvCxnSpPr>
            <a:endCxn id="91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0" name="Google Shape;91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3" name="Google Shape;913;p7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7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5" name="Google Shape;915;p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7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8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9" name="Google Shape;929;p8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0" name="Google Shape;930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8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4" name="Google Shape;934;p8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5" name="Google Shape;935;p8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6" name="Google Shape;936;p8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37" name="Google Shape;937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8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2" name="Google Shape;972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5" name="Google Shape;97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7" name="Google Shape;97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8" name="Google Shape;97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0" name="Google Shape;98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1" name="Google Shape;98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5" name="Google Shape;98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9" name="Google Shape;98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0" name="Google Shape;99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1" name="Google Shape;99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4" name="Google Shape;99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1" name="Google Shape;1001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3" name="Google Shape;1003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4" name="Google Shape;1004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7" name="Google Shape;1007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1" name="Google Shape;101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4" name="Google Shape;1014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5" name="Google Shape;101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6" name="Google Shape;1016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7" name="Google Shape;1017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9" name="Google Shape;1019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0" name="Google Shape;102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9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1" name="Google Shape;1031;p8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2" name="Google Shape;1032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3" name="Google Shape;1033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6" name="Google Shape;1036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9" name="Google Shape;1039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3" name="Google Shape;1043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3" name="Google Shape;105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8" name="Google Shape;105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9" name="Google Shape;105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1" name="Google Shape;106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2" name="Google Shape;106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4" name="Google Shape;106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5" name="Google Shape;107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6" name="Google Shape;1076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9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0" name="Google Shape;1080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1" name="Google Shape;1081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2" name="Google Shape;108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4" name="Google Shape;1084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5" name="Google Shape;108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7" name="Google Shape;108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8" name="Google Shape;1098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9" name="Google Shape;1099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2" name="Google Shape;1102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4" name="Google Shape;1104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5" name="Google Shape;110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7" name="Google Shape;1107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0" name="Google Shape;1110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8" name="Google Shape;111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3" name="Google Shape;1123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4" name="Google Shape;1124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5" name="Google Shape;112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8" name="Google Shape;112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1" name="Google Shape;1131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4" name="Google Shape;1134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37" name="Google Shape;113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0" name="Google Shape;1140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1" name="Google Shape;1141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2" name="Google Shape;1142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3" name="Google Shape;1143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4" name="Google Shape;1144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6" name="Google Shape;1146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47" name="Google Shape;1147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0" name="Google Shape;1150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6" name="Google Shape;115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9" name="Google Shape;1159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0" name="Google Shape;1160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1" name="Google Shape;1161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2" name="Google Shape;1162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3" name="Google Shape;116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6" name="Google Shape;116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9" name="Google Shape;116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2" name="Google Shape;1172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5" name="Google Shape;1175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8" name="Google Shape;1178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9" name="Google Shape;1179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0" name="Google Shape;1180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1" name="Google Shape;1181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5" name="Google Shape;118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8" name="Google Shape;118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1" name="Google Shape;1191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4" name="Google Shape;119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7" name="Google Shape;119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8" name="Google Shape;119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9" name="Google Shape;119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0" name="Google Shape;120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1" name="Google Shape;120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2" name="Google Shape;120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5" name="Google Shape;120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8" name="Google Shape;120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1" name="Google Shape;121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4" name="Google Shape;121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17" name="Google Shape;121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0" name="Google Shape;122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1" name="Google Shape;122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2" name="Google Shape;122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3" name="Google Shape;122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4" name="Google Shape;122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5" name="Google Shape;122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6" name="Google Shape;122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8" name="Google Shape;122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1" name="Google Shape;123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4" name="Google Shape;123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7" name="Google Shape;1237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0" name="Google Shape;124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3" name="Google Shape;1243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6" name="Google Shape;1246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47" name="Google Shape;1247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8" name="Google Shape;124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1" name="Google Shape;125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57" name="Google Shape;125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3" name="Google Shape;126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6" name="Google Shape;1266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7" name="Google Shape;1267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8" name="Google Shape;1268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9" name="Google Shape;1269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0" name="Google Shape;1270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1" name="Google Shape;127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3" name="Google Shape;1273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6" name="Google Shape;128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9" name="Google Shape;1289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0" name="Google Shape;1290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1" name="Google Shape;1291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2" name="Google Shape;1292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3" name="Google Shape;1293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Google Shape;1302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5" name="Google Shape;1305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8" name="Google Shape;1308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9" name="Google Shape;1309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1" name="Google Shape;1311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4" name="Google Shape;132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7" name="Google Shape;1327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0" name="Google Shape;1330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3" name="Google Shape;134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6" name="Google Shape;1346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7" name="Google Shape;1347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8" name="Google Shape;1348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9" name="Google Shape;1349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9" name="Google Shape;1359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2" name="Google Shape;136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0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1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2" name="Google Shape;1452;p1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1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8" name="Google Shape;1458;p1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0" name="Google Shape;1460;p11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18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3" name="Google Shape;1463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1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2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2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12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2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4.png"/><Relationship Id="rId4" Type="http://schemas.openxmlformats.org/officeDocument/2006/relationships/image" Target="../media/image9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2.png"/><Relationship Id="rId4" Type="http://schemas.openxmlformats.org/officeDocument/2006/relationships/image" Target="../media/image10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0.png"/><Relationship Id="rId4" Type="http://schemas.openxmlformats.org/officeDocument/2006/relationships/image" Target="../media/image10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9" Type="http://schemas.openxmlformats.org/officeDocument/2006/relationships/image" Target="../media/image110.png"/><Relationship Id="rId5" Type="http://schemas.openxmlformats.org/officeDocument/2006/relationships/image" Target="../media/image98.png"/><Relationship Id="rId6" Type="http://schemas.openxmlformats.org/officeDocument/2006/relationships/image" Target="../media/image103.png"/><Relationship Id="rId7" Type="http://schemas.openxmlformats.org/officeDocument/2006/relationships/image" Target="../media/image106.png"/><Relationship Id="rId8" Type="http://schemas.openxmlformats.org/officeDocument/2006/relationships/image" Target="../media/image10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98.png"/><Relationship Id="rId6" Type="http://schemas.openxmlformats.org/officeDocument/2006/relationships/image" Target="../media/image10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0.png"/><Relationship Id="rId4" Type="http://schemas.openxmlformats.org/officeDocument/2006/relationships/image" Target="../media/image9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0.png"/><Relationship Id="rId4" Type="http://schemas.openxmlformats.org/officeDocument/2006/relationships/image" Target="../media/image9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0.png"/><Relationship Id="rId4" Type="http://schemas.openxmlformats.org/officeDocument/2006/relationships/image" Target="../media/image94.png"/><Relationship Id="rId5" Type="http://schemas.openxmlformats.org/officeDocument/2006/relationships/image" Target="../media/image1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0.png"/><Relationship Id="rId4" Type="http://schemas.openxmlformats.org/officeDocument/2006/relationships/image" Target="../media/image114.png"/><Relationship Id="rId5" Type="http://schemas.openxmlformats.org/officeDocument/2006/relationships/image" Target="../media/image113.png"/><Relationship Id="rId6" Type="http://schemas.openxmlformats.org/officeDocument/2006/relationships/image" Target="../media/image117.png"/><Relationship Id="rId7" Type="http://schemas.openxmlformats.org/officeDocument/2006/relationships/image" Target="../media/image1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6.png"/><Relationship Id="rId4" Type="http://schemas.openxmlformats.org/officeDocument/2006/relationships/image" Target="../media/image112.png"/><Relationship Id="rId9" Type="http://schemas.openxmlformats.org/officeDocument/2006/relationships/image" Target="../media/image118.png"/><Relationship Id="rId5" Type="http://schemas.openxmlformats.org/officeDocument/2006/relationships/image" Target="../media/image122.png"/><Relationship Id="rId6" Type="http://schemas.openxmlformats.org/officeDocument/2006/relationships/image" Target="../media/image119.png"/><Relationship Id="rId7" Type="http://schemas.openxmlformats.org/officeDocument/2006/relationships/image" Target="../media/image98.png"/><Relationship Id="rId8" Type="http://schemas.openxmlformats.org/officeDocument/2006/relationships/image" Target="../media/image1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6.png"/><Relationship Id="rId4" Type="http://schemas.openxmlformats.org/officeDocument/2006/relationships/image" Target="../media/image112.png"/><Relationship Id="rId9" Type="http://schemas.openxmlformats.org/officeDocument/2006/relationships/image" Target="../media/image98.png"/><Relationship Id="rId5" Type="http://schemas.openxmlformats.org/officeDocument/2006/relationships/image" Target="../media/image122.png"/><Relationship Id="rId6" Type="http://schemas.openxmlformats.org/officeDocument/2006/relationships/image" Target="../media/image119.png"/><Relationship Id="rId7" Type="http://schemas.openxmlformats.org/officeDocument/2006/relationships/image" Target="../media/image123.png"/><Relationship Id="rId8" Type="http://schemas.openxmlformats.org/officeDocument/2006/relationships/image" Target="../media/image1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4.png"/><Relationship Id="rId4" Type="http://schemas.openxmlformats.org/officeDocument/2006/relationships/image" Target="../media/image100.png"/><Relationship Id="rId5" Type="http://schemas.openxmlformats.org/officeDocument/2006/relationships/image" Target="../media/image129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4.png"/><Relationship Id="rId4" Type="http://schemas.openxmlformats.org/officeDocument/2006/relationships/image" Target="../media/image100.png"/><Relationship Id="rId5" Type="http://schemas.openxmlformats.org/officeDocument/2006/relationships/image" Target="../media/image129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4.png"/><Relationship Id="rId4" Type="http://schemas.openxmlformats.org/officeDocument/2006/relationships/image" Target="../media/image100.png"/><Relationship Id="rId5" Type="http://schemas.openxmlformats.org/officeDocument/2006/relationships/image" Target="../media/image129.png"/><Relationship Id="rId6" Type="http://schemas.openxmlformats.org/officeDocument/2006/relationships/image" Target="../media/image1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0.png"/><Relationship Id="rId4" Type="http://schemas.openxmlformats.org/officeDocument/2006/relationships/image" Target="../media/image98.png"/><Relationship Id="rId9" Type="http://schemas.openxmlformats.org/officeDocument/2006/relationships/image" Target="../media/image138.png"/><Relationship Id="rId5" Type="http://schemas.openxmlformats.org/officeDocument/2006/relationships/image" Target="../media/image133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2.png"/><Relationship Id="rId11" Type="http://schemas.openxmlformats.org/officeDocument/2006/relationships/image" Target="../media/image134.png"/><Relationship Id="rId10" Type="http://schemas.openxmlformats.org/officeDocument/2006/relationships/image" Target="../media/image10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0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5" Type="http://schemas.openxmlformats.org/officeDocument/2006/relationships/image" Target="../media/image100.png"/><Relationship Id="rId6" Type="http://schemas.openxmlformats.org/officeDocument/2006/relationships/image" Target="../media/image129.png"/><Relationship Id="rId7" Type="http://schemas.openxmlformats.org/officeDocument/2006/relationships/image" Target="../media/image139.png"/><Relationship Id="rId8" Type="http://schemas.openxmlformats.org/officeDocument/2006/relationships/image" Target="../media/image143.png"/><Relationship Id="rId11" Type="http://schemas.openxmlformats.org/officeDocument/2006/relationships/image" Target="../media/image144.png"/><Relationship Id="rId10" Type="http://schemas.openxmlformats.org/officeDocument/2006/relationships/image" Target="../media/image141.png"/><Relationship Id="rId12" Type="http://schemas.openxmlformats.org/officeDocument/2006/relationships/image" Target="../media/image1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6.png"/><Relationship Id="rId4" Type="http://schemas.openxmlformats.org/officeDocument/2006/relationships/image" Target="../media/image98.png"/><Relationship Id="rId9" Type="http://schemas.openxmlformats.org/officeDocument/2006/relationships/image" Target="../media/image151.png"/><Relationship Id="rId5" Type="http://schemas.openxmlformats.org/officeDocument/2006/relationships/image" Target="../media/image150.png"/><Relationship Id="rId6" Type="http://schemas.openxmlformats.org/officeDocument/2006/relationships/image" Target="../media/image148.png"/><Relationship Id="rId7" Type="http://schemas.openxmlformats.org/officeDocument/2006/relationships/image" Target="../media/image147.png"/><Relationship Id="rId8" Type="http://schemas.openxmlformats.org/officeDocument/2006/relationships/image" Target="../media/image149.png"/><Relationship Id="rId11" Type="http://schemas.openxmlformats.org/officeDocument/2006/relationships/image" Target="../media/image155.png"/><Relationship Id="rId10" Type="http://schemas.openxmlformats.org/officeDocument/2006/relationships/image" Target="../media/image152.png"/><Relationship Id="rId12" Type="http://schemas.openxmlformats.org/officeDocument/2006/relationships/image" Target="../media/image15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3.png"/><Relationship Id="rId4" Type="http://schemas.openxmlformats.org/officeDocument/2006/relationships/image" Target="../media/image15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3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4.png"/><Relationship Id="rId4" Type="http://schemas.openxmlformats.org/officeDocument/2006/relationships/image" Target="../media/image166.png"/><Relationship Id="rId9" Type="http://schemas.openxmlformats.org/officeDocument/2006/relationships/image" Target="../media/image163.png"/><Relationship Id="rId5" Type="http://schemas.openxmlformats.org/officeDocument/2006/relationships/image" Target="../media/image162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Relationship Id="rId8" Type="http://schemas.openxmlformats.org/officeDocument/2006/relationships/image" Target="../media/image164.png"/><Relationship Id="rId10" Type="http://schemas.openxmlformats.org/officeDocument/2006/relationships/image" Target="../media/image16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</a:t>
            </a:r>
            <a:r>
              <a:rPr lang="en-GB"/>
              <a:t>equations</a:t>
            </a:r>
            <a:r>
              <a:rPr lang="en-GB"/>
              <a:t> where brackets are used</a:t>
            </a:r>
            <a:endParaRPr/>
          </a:p>
        </p:txBody>
      </p:sp>
      <p:sp>
        <p:nvSpPr>
          <p:cNvPr id="1485" name="Google Shape;1485;p12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that there is more than one way to remove a bracket when solving an equation.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26"/>
          <p:cNvSpPr txBox="1"/>
          <p:nvPr/>
        </p:nvSpPr>
        <p:spPr>
          <a:xfrm>
            <a:off x="324000" y="13169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shows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2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</a:t>
            </a:r>
            <a:r>
              <a:rPr lang="en-GB"/>
              <a:t>solve</a:t>
            </a:r>
            <a:r>
              <a:rPr lang="en-GB"/>
              <a:t> </a:t>
            </a:r>
            <a:r>
              <a:rPr lang="en-GB"/>
              <a:t>equations</a:t>
            </a:r>
            <a:r>
              <a:rPr lang="en-GB"/>
              <a:t> with brackets</a:t>
            </a:r>
            <a:endParaRPr/>
          </a:p>
        </p:txBody>
      </p:sp>
      <p:sp>
        <p:nvSpPr>
          <p:cNvPr id="1506" name="Google Shape;1506;p12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sp>
        <p:nvSpPr>
          <p:cNvPr id="1507" name="Google Shape;1507;p12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where brackets are used</a:t>
            </a:r>
            <a:endParaRPr/>
          </a:p>
        </p:txBody>
      </p:sp>
      <p:pic>
        <p:nvPicPr>
          <p:cNvPr id="1508" name="Google Shape;1508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32" y="205351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28"/>
          <p:cNvSpPr txBox="1"/>
          <p:nvPr>
            <p:ph idx="1" type="body"/>
          </p:nvPr>
        </p:nvSpPr>
        <p:spPr>
          <a:xfrm>
            <a:off x="324000" y="759300"/>
            <a:ext cx="71352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we see equations with brackets we can expand the brackets to solve.</a:t>
            </a:r>
            <a:endParaRPr/>
          </a:p>
        </p:txBody>
      </p:sp>
      <p:sp>
        <p:nvSpPr>
          <p:cNvPr id="1514" name="Google Shape;1514;p1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515" name="Google Shape;1515;p128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16" name="Google Shape;1516;p128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17" name="Google Shape;1517;p128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8" name="Google Shape;1518;p128"/>
          <p:cNvSpPr txBox="1"/>
          <p:nvPr/>
        </p:nvSpPr>
        <p:spPr>
          <a:xfrm>
            <a:off x="3372000" y="1871000"/>
            <a:ext cx="2925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+ 7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9" name="Google Shape;1519;p128"/>
          <p:cNvSpPr txBox="1"/>
          <p:nvPr>
            <p:ph idx="1" type="body"/>
          </p:nvPr>
        </p:nvSpPr>
        <p:spPr>
          <a:xfrm>
            <a:off x="3372000" y="2469391"/>
            <a:ext cx="52980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format looks very familiar. From here we can solve by manipulating.</a:t>
            </a:r>
            <a:endParaRPr sz="2000"/>
          </a:p>
        </p:txBody>
      </p:sp>
      <p:cxnSp>
        <p:nvCxnSpPr>
          <p:cNvPr id="1520" name="Google Shape;1520;p128"/>
          <p:cNvCxnSpPr>
            <a:stCxn id="1519" idx="1"/>
          </p:cNvCxnSpPr>
          <p:nvPr/>
        </p:nvCxnSpPr>
        <p:spPr>
          <a:xfrm rot="10800000">
            <a:off x="2394300" y="2553691"/>
            <a:ext cx="977700" cy="80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128"/>
          <p:cNvSpPr txBox="1"/>
          <p:nvPr/>
        </p:nvSpPr>
        <p:spPr>
          <a:xfrm>
            <a:off x="324000" y="4027061"/>
            <a:ext cx="536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Check: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7((4)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1) = 7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(5) = 35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29"/>
          <p:cNvSpPr txBox="1"/>
          <p:nvPr>
            <p:ph idx="1" type="subTitle"/>
          </p:nvPr>
        </p:nvSpPr>
        <p:spPr>
          <a:xfrm>
            <a:off x="337825" y="810000"/>
            <a:ext cx="7539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sp>
        <p:nvSpPr>
          <p:cNvPr id="1527" name="Google Shape;1527;p12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528" name="Google Shape;1528;p129"/>
          <p:cNvGraphicFramePr/>
          <p:nvPr/>
        </p:nvGraphicFramePr>
        <p:xfrm>
          <a:off x="1227205" y="2878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10)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9" name="Google Shape;1529;p129"/>
          <p:cNvGraphicFramePr/>
          <p:nvPr/>
        </p:nvGraphicFramePr>
        <p:xfrm>
          <a:off x="1227205" y="668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0" name="Google Shape;1530;p129"/>
          <p:cNvGraphicFramePr/>
          <p:nvPr/>
        </p:nvGraphicFramePr>
        <p:xfrm>
          <a:off x="1227205" y="668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1" name="Google Shape;1531;p129"/>
          <p:cNvGraphicFramePr/>
          <p:nvPr/>
        </p:nvGraphicFramePr>
        <p:xfrm>
          <a:off x="1227205" y="668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2" name="Google Shape;1532;p129"/>
          <p:cNvGraphicFramePr/>
          <p:nvPr/>
        </p:nvGraphicFramePr>
        <p:xfrm>
          <a:off x="1227205" y="2878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3" name="Google Shape;1533;p129"/>
          <p:cNvGraphicFramePr/>
          <p:nvPr/>
        </p:nvGraphicFramePr>
        <p:xfrm>
          <a:off x="1227205" y="2878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4" name="Google Shape;1534;p129"/>
          <p:cNvSpPr txBox="1"/>
          <p:nvPr>
            <p:ph idx="1" type="subTitle"/>
          </p:nvPr>
        </p:nvSpPr>
        <p:spPr>
          <a:xfrm>
            <a:off x="4833625" y="810000"/>
            <a:ext cx="7539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graphicFrame>
        <p:nvGraphicFramePr>
          <p:cNvPr id="1535" name="Google Shape;1535;p129"/>
          <p:cNvGraphicFramePr/>
          <p:nvPr/>
        </p:nvGraphicFramePr>
        <p:xfrm>
          <a:off x="4956577" y="23699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6" name="Google Shape;1536;p129"/>
          <p:cNvGraphicFramePr/>
          <p:nvPr/>
        </p:nvGraphicFramePr>
        <p:xfrm>
          <a:off x="5189605" y="43700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117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7" name="Google Shape;1537;p129"/>
          <p:cNvGraphicFramePr/>
          <p:nvPr/>
        </p:nvGraphicFramePr>
        <p:xfrm>
          <a:off x="5189605" y="2878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8" name="Google Shape;1538;p129"/>
          <p:cNvGraphicFramePr/>
          <p:nvPr/>
        </p:nvGraphicFramePr>
        <p:xfrm>
          <a:off x="5189605" y="34178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9" name="Google Shape;1539;p129"/>
          <p:cNvGraphicFramePr/>
          <p:nvPr/>
        </p:nvGraphicFramePr>
        <p:xfrm>
          <a:off x="5189605" y="38980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0" name="Google Shape;1540;p129"/>
          <p:cNvGraphicFramePr/>
          <p:nvPr/>
        </p:nvGraphicFramePr>
        <p:xfrm>
          <a:off x="4956577" y="8099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1" name="Google Shape;1541;p129"/>
          <p:cNvGraphicFramePr/>
          <p:nvPr/>
        </p:nvGraphicFramePr>
        <p:xfrm>
          <a:off x="4956577" y="1317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2" name="Google Shape;1542;p129"/>
          <p:cNvGraphicFramePr/>
          <p:nvPr/>
        </p:nvGraphicFramePr>
        <p:xfrm>
          <a:off x="4956577" y="18442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30"/>
          <p:cNvSpPr txBox="1"/>
          <p:nvPr>
            <p:ph idx="1" type="body"/>
          </p:nvPr>
        </p:nvSpPr>
        <p:spPr>
          <a:xfrm>
            <a:off x="324000" y="759300"/>
            <a:ext cx="71352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 has spotted something.</a:t>
            </a:r>
            <a:endParaRPr/>
          </a:p>
        </p:txBody>
      </p:sp>
      <p:sp>
        <p:nvSpPr>
          <p:cNvPr id="1548" name="Google Shape;1548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549" name="Google Shape;1549;p130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50" name="Google Shape;1550;p130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51" name="Google Shape;1551;p130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2" name="Google Shape;1552;p130"/>
          <p:cNvSpPr txBox="1"/>
          <p:nvPr>
            <p:ph idx="1" type="body"/>
          </p:nvPr>
        </p:nvSpPr>
        <p:spPr>
          <a:xfrm>
            <a:off x="1695600" y="4069591"/>
            <a:ext cx="47289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see what Sam has spotted?</a:t>
            </a:r>
            <a:endParaRPr sz="2000"/>
          </a:p>
        </p:txBody>
      </p:sp>
      <p:pic>
        <p:nvPicPr>
          <p:cNvPr id="1553" name="Google Shape;1553;p13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703697" y="1517425"/>
            <a:ext cx="3195827" cy="15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130"/>
          <p:cNvSpPr txBox="1"/>
          <p:nvPr/>
        </p:nvSpPr>
        <p:spPr>
          <a:xfrm>
            <a:off x="4894575" y="1713775"/>
            <a:ext cx="28029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 see a quicker way to solve that one! Just divide by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5" name="Google Shape;1555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478024" y="2968484"/>
            <a:ext cx="885300" cy="1274841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30"/>
          <p:cNvSpPr txBox="1"/>
          <p:nvPr>
            <p:ph idx="1" type="body"/>
          </p:nvPr>
        </p:nvSpPr>
        <p:spPr>
          <a:xfrm>
            <a:off x="1715648" y="4515561"/>
            <a:ext cx="45144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/>
              <a:t> is a common factor on both sides.</a:t>
            </a:r>
            <a:endParaRPr sz="2000"/>
          </a:p>
        </p:txBody>
      </p:sp>
      <p:sp>
        <p:nvSpPr>
          <p:cNvPr id="1557" name="Google Shape;1557;p130"/>
          <p:cNvSpPr/>
          <p:nvPr/>
        </p:nvSpPr>
        <p:spPr>
          <a:xfrm>
            <a:off x="1860080" y="1846264"/>
            <a:ext cx="505500" cy="43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130"/>
          <p:cNvSpPr/>
          <p:nvPr/>
        </p:nvSpPr>
        <p:spPr>
          <a:xfrm>
            <a:off x="488483" y="1846275"/>
            <a:ext cx="376200" cy="43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7\left(y+1\right)}{7}=\frac{35}{7}&quot;&gt;&lt;mfrac&gt;&lt;mrow&gt;&lt;mn&gt;7&lt;/mn&gt;&lt;mrow data-mjx-texclass=&quot;INNER&quot;&gt;&lt;mo data-mjx-texclass=&quot;OPEN&quot;&gt;(&lt;/mo&gt;&lt;mi&gt;y&lt;/mi&gt;&lt;mo&gt;+&lt;/mo&gt;&lt;mn&gt;1&lt;/mn&gt;&lt;mo data-mjx-texclass=&quot;CLOSE&quot;&gt;)&lt;/mo&gt;&lt;/mrow&gt;&lt;/mrow&gt;&lt;mn&gt;7&lt;/mn&gt;&lt;/mfrac&gt;&lt;mo&gt;=&lt;/mo&gt;&lt;mfrac&gt;&lt;mn&gt;35&lt;/mn&gt;&lt;mn&gt;7&lt;/mn&gt;&lt;/mfrac&gt;&lt;/math&gt;" id="1563" name="Google Shape;1563;p131" title="7 times open paren y plus 1 close paren over 7 equals 35 over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838" y="2445309"/>
            <a:ext cx="181068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31"/>
          <p:cNvSpPr txBox="1"/>
          <p:nvPr>
            <p:ph idx="1" type="body"/>
          </p:nvPr>
        </p:nvSpPr>
        <p:spPr>
          <a:xfrm>
            <a:off x="324000" y="759300"/>
            <a:ext cx="77304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we see common factors dividing by the coefficient of the bracket could be the quickest solution.</a:t>
            </a:r>
            <a:endParaRPr/>
          </a:p>
        </p:txBody>
      </p:sp>
      <p:sp>
        <p:nvSpPr>
          <p:cNvPr id="1565" name="Google Shape;1565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566" name="Google Shape;1566;p131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7" name="Google Shape;1567;p131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8" name="Google Shape;1568;p131"/>
          <p:cNvGraphicFramePr/>
          <p:nvPr/>
        </p:nvGraphicFramePr>
        <p:xfrm>
          <a:off x="379353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9" name="Google Shape;1569;p131"/>
          <p:cNvSpPr txBox="1"/>
          <p:nvPr>
            <p:ph idx="1" type="body"/>
          </p:nvPr>
        </p:nvSpPr>
        <p:spPr>
          <a:xfrm>
            <a:off x="5776711" y="1895054"/>
            <a:ext cx="30936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</a:t>
            </a:r>
            <a:r>
              <a:rPr lang="en-GB" sz="2000"/>
              <a:t> common factor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/>
              <a:t>, divide</a:t>
            </a:r>
            <a:r>
              <a:rPr lang="en-GB" sz="2000"/>
              <a:t> both sides</a:t>
            </a:r>
            <a:r>
              <a:rPr lang="en-GB" sz="2000"/>
              <a:t> by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000"/>
          </a:p>
        </p:txBody>
      </p:sp>
      <p:graphicFrame>
        <p:nvGraphicFramePr>
          <p:cNvPr id="1570" name="Google Shape;1570;p131"/>
          <p:cNvGraphicFramePr/>
          <p:nvPr/>
        </p:nvGraphicFramePr>
        <p:xfrm>
          <a:off x="3503554" y="3163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76350"/>
                <a:gridCol w="272000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1" name="Google Shape;1571;p131"/>
          <p:cNvGraphicFramePr/>
          <p:nvPr/>
        </p:nvGraphicFramePr>
        <p:xfrm>
          <a:off x="3514784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2" name="Google Shape;1572;p131"/>
          <p:cNvGraphicFramePr/>
          <p:nvPr/>
        </p:nvGraphicFramePr>
        <p:xfrm>
          <a:off x="3503554" y="3163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76350"/>
                <a:gridCol w="272000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3" name="Google Shape;1573;p131"/>
          <p:cNvSpPr txBox="1"/>
          <p:nvPr>
            <p:ph idx="1" type="body"/>
          </p:nvPr>
        </p:nvSpPr>
        <p:spPr>
          <a:xfrm>
            <a:off x="5776711" y="3266654"/>
            <a:ext cx="30936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format is now very simple to solve.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7\left(y+1\right)}{7}=\frac{35}{7}&quot;&gt;&lt;mfrac&gt;&lt;mrow&gt;&lt;mn&gt;7&lt;/mn&gt;&lt;mrow data-mjx-texclass=&quot;INNER&quot;&gt;&lt;mo data-mjx-texclass=&quot;OPEN&quot;&gt;(&lt;/mo&gt;&lt;mi&gt;y&lt;/mi&gt;&lt;mo&gt;+&lt;/mo&gt;&lt;mn&gt;1&lt;/mn&gt;&lt;mo data-mjx-texclass=&quot;CLOSE&quot;&gt;)&lt;/mo&gt;&lt;/mrow&gt;&lt;/mrow&gt;&lt;mn&gt;7&lt;/mn&gt;&lt;/mfrac&gt;&lt;mo&gt;=&lt;/mo&gt;&lt;mfrac&gt;&lt;mn&gt;35&lt;/mn&gt;&lt;mn&gt;7&lt;/mn&gt;&lt;/mfrac&gt;&lt;/math&gt;" id="1578" name="Google Shape;1578;p132" title="7 times open paren y plus 1 close paren over 7 equals 35 over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838" y="2445309"/>
            <a:ext cx="181068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32"/>
          <p:cNvSpPr txBox="1"/>
          <p:nvPr>
            <p:ph idx="1" type="body"/>
          </p:nvPr>
        </p:nvSpPr>
        <p:spPr>
          <a:xfrm>
            <a:off x="324000" y="759300"/>
            <a:ext cx="77304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Where we see common factors dividing by the coefficient of the bracket could be the quickest solution.</a:t>
            </a:r>
            <a:endParaRPr/>
          </a:p>
        </p:txBody>
      </p:sp>
      <p:sp>
        <p:nvSpPr>
          <p:cNvPr id="1580" name="Google Shape;1580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581" name="Google Shape;1581;p132"/>
          <p:cNvGraphicFramePr/>
          <p:nvPr/>
        </p:nvGraphicFramePr>
        <p:xfrm>
          <a:off x="3503554" y="3163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76350"/>
                <a:gridCol w="272000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2" name="Google Shape;1582;p132"/>
          <p:cNvGraphicFramePr/>
          <p:nvPr/>
        </p:nvGraphicFramePr>
        <p:xfrm>
          <a:off x="3514784" y="1794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3" name="Google Shape;1583;p132"/>
          <p:cNvGraphicFramePr/>
          <p:nvPr/>
        </p:nvGraphicFramePr>
        <p:xfrm>
          <a:off x="3503554" y="3163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276350"/>
                <a:gridCol w="272000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4" name="Google Shape;1584;p132"/>
          <p:cNvSpPr txBox="1"/>
          <p:nvPr>
            <p:ph idx="1" type="body"/>
          </p:nvPr>
        </p:nvSpPr>
        <p:spPr>
          <a:xfrm>
            <a:off x="321578" y="1895050"/>
            <a:ext cx="28929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step is the same as</a:t>
            </a:r>
            <a:r>
              <a:rPr lang="en-GB" sz="2000"/>
              <a:t> multiplying both sides by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85" name="Google Shape;1585;p132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280" y="2535048"/>
            <a:ext cx="162664" cy="534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86" name="Google Shape;1586;p132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28" y="3566698"/>
            <a:ext cx="162664" cy="534471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32"/>
          <p:cNvSpPr txBox="1"/>
          <p:nvPr>
            <p:ph idx="1" type="body"/>
          </p:nvPr>
        </p:nvSpPr>
        <p:spPr>
          <a:xfrm>
            <a:off x="583866" y="3719857"/>
            <a:ext cx="2590800" cy="3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the reciprocal of 7,</a:t>
            </a:r>
            <a:endParaRPr sz="2000"/>
          </a:p>
        </p:txBody>
      </p:sp>
      <p:sp>
        <p:nvSpPr>
          <p:cNvPr id="1588" name="Google Shape;1588;p132"/>
          <p:cNvSpPr txBox="1"/>
          <p:nvPr>
            <p:ph idx="1" type="body"/>
          </p:nvPr>
        </p:nvSpPr>
        <p:spPr>
          <a:xfrm>
            <a:off x="321575" y="4149771"/>
            <a:ext cx="39900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hence you might see this called ‘Using the reciprocal to solve’.</a:t>
            </a:r>
            <a:endParaRPr sz="2000"/>
          </a:p>
        </p:txBody>
      </p:sp>
      <p:sp>
        <p:nvSpPr>
          <p:cNvPr id="1589" name="Google Shape;1589;p132"/>
          <p:cNvSpPr/>
          <p:nvPr/>
        </p:nvSpPr>
        <p:spPr>
          <a:xfrm>
            <a:off x="3503550" y="2269775"/>
            <a:ext cx="1294200" cy="936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2"/>
          <p:cNvSpPr/>
          <p:nvPr/>
        </p:nvSpPr>
        <p:spPr>
          <a:xfrm>
            <a:off x="5043087" y="2269775"/>
            <a:ext cx="507000" cy="936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33"/>
          <p:cNvSpPr txBox="1"/>
          <p:nvPr>
            <p:ph idx="1" type="subTitle"/>
          </p:nvPr>
        </p:nvSpPr>
        <p:spPr>
          <a:xfrm>
            <a:off x="980575" y="3196125"/>
            <a:ext cx="5546400" cy="3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always expand </a:t>
            </a:r>
            <a:r>
              <a:rPr lang="en-GB" sz="2000"/>
              <a:t>the brackets first.</a:t>
            </a:r>
            <a:endParaRPr sz="2000"/>
          </a:p>
        </p:txBody>
      </p:sp>
      <p:sp>
        <p:nvSpPr>
          <p:cNvPr id="1596" name="Google Shape;1596;p133"/>
          <p:cNvSpPr txBox="1"/>
          <p:nvPr>
            <p:ph idx="2" type="subTitle"/>
          </p:nvPr>
        </p:nvSpPr>
        <p:spPr>
          <a:xfrm>
            <a:off x="324000" y="1026261"/>
            <a:ext cx="7685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When solving equations with brackets we have to expand the </a:t>
            </a:r>
            <a:r>
              <a:rPr lang="en-GB" sz="2100"/>
              <a:t>brackets</a:t>
            </a:r>
            <a:r>
              <a:rPr lang="en-GB" sz="2100"/>
              <a:t> first.</a:t>
            </a:r>
            <a:endParaRPr sz="2100"/>
          </a:p>
        </p:txBody>
      </p:sp>
      <p:sp>
        <p:nvSpPr>
          <p:cNvPr id="1597" name="Google Shape;1597;p133"/>
          <p:cNvSpPr txBox="1"/>
          <p:nvPr>
            <p:ph idx="3" type="subTitle"/>
          </p:nvPr>
        </p:nvSpPr>
        <p:spPr>
          <a:xfrm>
            <a:off x="980575" y="38879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don’t have to. It might be more </a:t>
            </a:r>
            <a:r>
              <a:rPr lang="en-GB" sz="2000"/>
              <a:t>efficient</a:t>
            </a:r>
            <a:r>
              <a:rPr lang="en-GB" sz="2000"/>
              <a:t> to multiply by the reciprocal if we have common factors on both sides.</a:t>
            </a:r>
            <a:endParaRPr sz="2000"/>
          </a:p>
        </p:txBody>
      </p:sp>
      <p:sp>
        <p:nvSpPr>
          <p:cNvPr id="1598" name="Google Shape;159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pic>
        <p:nvPicPr>
          <p:cNvPr id="1599" name="Google Shape;1599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776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5183" y="3834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134"/>
          <p:cNvSpPr txBox="1"/>
          <p:nvPr>
            <p:ph idx="1" type="subTitle"/>
          </p:nvPr>
        </p:nvSpPr>
        <p:spPr>
          <a:xfrm>
            <a:off x="337825" y="810000"/>
            <a:ext cx="32742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the reciprocal to s</a:t>
            </a:r>
            <a:r>
              <a:rPr lang="en-GB"/>
              <a:t>olve:</a:t>
            </a:r>
            <a:endParaRPr/>
          </a:p>
        </p:txBody>
      </p:sp>
      <p:sp>
        <p:nvSpPr>
          <p:cNvPr id="1606" name="Google Shape;1606;p13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607" name="Google Shape;1607;p134"/>
          <p:cNvGraphicFramePr/>
          <p:nvPr/>
        </p:nvGraphicFramePr>
        <p:xfrm>
          <a:off x="1227205" y="2540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8" name="Google Shape;1608;p134"/>
          <p:cNvGraphicFramePr/>
          <p:nvPr/>
        </p:nvGraphicFramePr>
        <p:xfrm>
          <a:off x="1227205" y="1125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9" name="Google Shape;1609;p134"/>
          <p:cNvGraphicFramePr/>
          <p:nvPr/>
        </p:nvGraphicFramePr>
        <p:xfrm>
          <a:off x="1227205" y="1125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\left(6x+2\right)}{3}=\frac{60}{3}&quot;&gt;&lt;mfrac&gt;&lt;mrow&gt;&lt;mn&gt;3&lt;/mn&gt;&lt;mrow data-mjx-texclass=&quot;INNER&quot;&gt;&lt;mo data-mjx-texclass=&quot;OPEN&quot;&gt;(&lt;/mo&gt;&lt;mn&gt;6&lt;/mn&gt;&lt;mi&gt;x&lt;/mi&gt;&lt;mo&gt;+&lt;/mo&gt;&lt;mn&gt;2&lt;/mn&gt;&lt;mo data-mjx-texclass=&quot;CLOSE&quot;&gt;)&lt;/mo&gt;&lt;/mrow&gt;&lt;/mrow&gt;&lt;mn&gt;3&lt;/mn&gt;&lt;/mfrac&gt;&lt;mo&gt;=&lt;/mo&gt;&lt;mfrac&gt;&lt;mn&gt;60&lt;/mn&gt;&lt;mn&gt;3&lt;/mn&gt;&lt;/mfrac&gt;&lt;/math&gt;" id="1610" name="Google Shape;1610;p134" title="3 times open paren 6 x plus 2 close paren over 3 equals 60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565" y="1804687"/>
            <a:ext cx="1958941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1" name="Google Shape;1611;p134"/>
          <p:cNvGraphicFramePr/>
          <p:nvPr/>
        </p:nvGraphicFramePr>
        <p:xfrm>
          <a:off x="1227205" y="2540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2" name="Google Shape;1612;p134"/>
          <p:cNvGraphicFramePr/>
          <p:nvPr/>
        </p:nvGraphicFramePr>
        <p:xfrm>
          <a:off x="4593641" y="36093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3" name="Google Shape;1613;p134"/>
          <p:cNvGraphicFramePr/>
          <p:nvPr/>
        </p:nvGraphicFramePr>
        <p:xfrm>
          <a:off x="4593648" y="1125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4" name="Google Shape;1614;p134"/>
          <p:cNvSpPr txBox="1"/>
          <p:nvPr>
            <p:ph idx="1" type="subTitle"/>
          </p:nvPr>
        </p:nvSpPr>
        <p:spPr>
          <a:xfrm>
            <a:off x="4822395" y="810000"/>
            <a:ext cx="3274200" cy="3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the reciprocal to solve: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8}{6}=\frac{6\left(2x-5\right)}{6}&quot;&gt;&lt;mfrac&gt;&lt;mn&gt;18&lt;/mn&gt;&lt;mn&gt;6&lt;/mn&gt;&lt;/mfrac&gt;&lt;mo&gt;=&lt;/mo&gt;&lt;mfrac&gt;&lt;mrow&gt;&lt;mn&gt;6&lt;/mn&gt;&lt;mrow data-mjx-texclass=&quot;INNER&quot;&gt;&lt;mo data-mjx-texclass=&quot;OPEN&quot;&gt;(&lt;/mo&gt;&lt;mn&gt;2&lt;/mn&gt;&lt;mi&gt;x&lt;/mi&gt;&lt;mo&gt;−&lt;/mo&gt;&lt;mn&gt;5&lt;/mn&gt;&lt;mo data-mjx-texclass=&quot;CLOSE&quot;&gt;)&lt;/mo&gt;&lt;/mrow&gt;&lt;/mrow&gt;&lt;mn&gt;6&lt;/mn&gt;&lt;/mfrac&gt;&lt;/math&gt;" id="1615" name="Google Shape;1615;p134" title="eighteen sixths equals 6 times open paren 2 x minus 5 close paren over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534" y="1804687"/>
            <a:ext cx="1953601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6" name="Google Shape;1616;p134"/>
          <p:cNvGraphicFramePr/>
          <p:nvPr/>
        </p:nvGraphicFramePr>
        <p:xfrm>
          <a:off x="4602466" y="2542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7" name="Google Shape;1617;p134"/>
          <p:cNvGraphicFramePr/>
          <p:nvPr/>
        </p:nvGraphicFramePr>
        <p:xfrm>
          <a:off x="4593641" y="3072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35"/>
          <p:cNvSpPr txBox="1"/>
          <p:nvPr>
            <p:ph idx="1" type="body"/>
          </p:nvPr>
        </p:nvSpPr>
        <p:spPr>
          <a:xfrm>
            <a:off x="324000" y="759300"/>
            <a:ext cx="82377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Solve these equations in two different ways. Firstly, by expanding the bracket as a first step. Secondly, by multiplying by the reciprocal.</a:t>
            </a:r>
            <a:endParaRPr sz="1900"/>
          </a:p>
        </p:txBody>
      </p:sp>
      <p:sp>
        <p:nvSpPr>
          <p:cNvPr id="1623" name="Google Shape;1623;p13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624" name="Google Shape;1624;p135"/>
          <p:cNvGraphicFramePr/>
          <p:nvPr/>
        </p:nvGraphicFramePr>
        <p:xfrm>
          <a:off x="12272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5" name="Google Shape;1625;p135"/>
          <p:cNvGraphicFramePr/>
          <p:nvPr/>
        </p:nvGraphicFramePr>
        <p:xfrm>
          <a:off x="47324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6" name="Google Shape;1626;p135"/>
          <p:cNvSpPr txBox="1"/>
          <p:nvPr>
            <p:ph idx="1" type="body"/>
          </p:nvPr>
        </p:nvSpPr>
        <p:spPr>
          <a:xfrm>
            <a:off x="324000" y="15975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</a:t>
            </a:r>
            <a:r>
              <a:rPr lang="en-GB" sz="1900"/>
              <a:t>)</a:t>
            </a:r>
            <a:endParaRPr sz="1900"/>
          </a:p>
        </p:txBody>
      </p:sp>
      <p:sp>
        <p:nvSpPr>
          <p:cNvPr id="1627" name="Google Shape;1627;p135"/>
          <p:cNvSpPr txBox="1"/>
          <p:nvPr>
            <p:ph idx="1" type="body"/>
          </p:nvPr>
        </p:nvSpPr>
        <p:spPr>
          <a:xfrm>
            <a:off x="324000" y="25881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</a:t>
            </a:r>
            <a:r>
              <a:rPr lang="en-GB" sz="1900"/>
              <a:t>)</a:t>
            </a:r>
            <a:endParaRPr sz="1900"/>
          </a:p>
        </p:txBody>
      </p:sp>
      <p:graphicFrame>
        <p:nvGraphicFramePr>
          <p:cNvPr id="1628" name="Google Shape;1628;p135"/>
          <p:cNvGraphicFramePr/>
          <p:nvPr/>
        </p:nvGraphicFramePr>
        <p:xfrm>
          <a:off x="555048" y="2497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29" name="Google Shape;1629;p135"/>
          <p:cNvGraphicFramePr/>
          <p:nvPr/>
        </p:nvGraphicFramePr>
        <p:xfrm>
          <a:off x="4136448" y="2497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30" name="Google Shape;1630;p135"/>
          <p:cNvGraphicFramePr/>
          <p:nvPr/>
        </p:nvGraphicFramePr>
        <p:xfrm>
          <a:off x="312805" y="4227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31" name="Google Shape;1631;p135"/>
          <p:cNvGraphicFramePr/>
          <p:nvPr/>
        </p:nvGraphicFramePr>
        <p:xfrm>
          <a:off x="312805" y="4230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2" name="Google Shape;1632;p135"/>
          <p:cNvSpPr txBox="1"/>
          <p:nvPr>
            <p:ph idx="1" type="body"/>
          </p:nvPr>
        </p:nvSpPr>
        <p:spPr>
          <a:xfrm>
            <a:off x="324000" y="3731100"/>
            <a:ext cx="82377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Solve by expanding first:</a:t>
            </a:r>
            <a:endParaRPr sz="2000"/>
          </a:p>
        </p:txBody>
      </p:sp>
      <p:sp>
        <p:nvSpPr>
          <p:cNvPr id="1633" name="Google Shape;1633;p135"/>
          <p:cNvSpPr txBox="1"/>
          <p:nvPr>
            <p:ph idx="1" type="body"/>
          </p:nvPr>
        </p:nvSpPr>
        <p:spPr>
          <a:xfrm>
            <a:off x="324000" y="435193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  <p:graphicFrame>
        <p:nvGraphicFramePr>
          <p:cNvPr id="1634" name="Google Shape;1634;p135"/>
          <p:cNvGraphicFramePr/>
          <p:nvPr/>
        </p:nvGraphicFramePr>
        <p:xfrm>
          <a:off x="4808605" y="4227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5" name="Google Shape;1635;p135"/>
          <p:cNvSpPr txBox="1"/>
          <p:nvPr>
            <p:ph idx="1" type="body"/>
          </p:nvPr>
        </p:nvSpPr>
        <p:spPr>
          <a:xfrm>
            <a:off x="4819800" y="435193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b)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36"/>
          <p:cNvSpPr txBox="1"/>
          <p:nvPr>
            <p:ph idx="1" type="body"/>
          </p:nvPr>
        </p:nvSpPr>
        <p:spPr>
          <a:xfrm>
            <a:off x="324000" y="759300"/>
            <a:ext cx="8495100" cy="4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</a:t>
            </a:r>
            <a:r>
              <a:rPr lang="en-GB" sz="1900"/>
              <a:t>) Laura and Izzy have solved an equation by </a:t>
            </a:r>
            <a:r>
              <a:rPr lang="en-GB" sz="1900"/>
              <a:t>removing</a:t>
            </a:r>
            <a:r>
              <a:rPr lang="en-GB" sz="1900"/>
              <a:t> the brackets. </a:t>
            </a:r>
            <a:endParaRPr sz="1900"/>
          </a:p>
        </p:txBody>
      </p:sp>
      <p:sp>
        <p:nvSpPr>
          <p:cNvPr id="1641" name="Google Shape;1641;p13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642" name="Google Shape;1642;p136"/>
          <p:cNvGraphicFramePr/>
          <p:nvPr/>
        </p:nvGraphicFramePr>
        <p:xfrm>
          <a:off x="4754866" y="1092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43" name="Google Shape;1643;p136"/>
          <p:cNvGraphicFramePr/>
          <p:nvPr/>
        </p:nvGraphicFramePr>
        <p:xfrm>
          <a:off x="1718096" y="1092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44" name="Google Shape;1644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275" y="1092250"/>
            <a:ext cx="1166935" cy="1129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74" y="1404631"/>
            <a:ext cx="845943" cy="1107944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136"/>
          <p:cNvSpPr txBox="1"/>
          <p:nvPr/>
        </p:nvSpPr>
        <p:spPr>
          <a:xfrm>
            <a:off x="8149332" y="224743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36"/>
          <p:cNvSpPr txBox="1"/>
          <p:nvPr/>
        </p:nvSpPr>
        <p:spPr>
          <a:xfrm>
            <a:off x="179611" y="2464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36"/>
          <p:cNvSpPr txBox="1"/>
          <p:nvPr>
            <p:ph idx="1" type="body"/>
          </p:nvPr>
        </p:nvSpPr>
        <p:spPr>
          <a:xfrm>
            <a:off x="324000" y="3175239"/>
            <a:ext cx="77052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Only one pupil is correct.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Write a sentence explaining why the right method worked and write a sentence explaining what went wrong in the other one.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37"/>
          <p:cNvSpPr txBox="1"/>
          <p:nvPr>
            <p:ph idx="1" type="body"/>
          </p:nvPr>
        </p:nvSpPr>
        <p:spPr>
          <a:xfrm>
            <a:off x="324000" y="759300"/>
            <a:ext cx="8237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Solve these equations in two different ways. Firstly, by expanding the bracket as a first step. Secondly, by multiplying by the reciprocal.</a:t>
            </a:r>
            <a:endParaRPr sz="1900"/>
          </a:p>
        </p:txBody>
      </p:sp>
      <p:sp>
        <p:nvSpPr>
          <p:cNvPr id="1654" name="Google Shape;1654;p13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655" name="Google Shape;1655;p137"/>
          <p:cNvGraphicFramePr/>
          <p:nvPr/>
        </p:nvGraphicFramePr>
        <p:xfrm>
          <a:off x="12272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6" name="Google Shape;1656;p137"/>
          <p:cNvGraphicFramePr/>
          <p:nvPr/>
        </p:nvGraphicFramePr>
        <p:xfrm>
          <a:off x="47324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7" name="Google Shape;1657;p137"/>
          <p:cNvGraphicFramePr/>
          <p:nvPr/>
        </p:nvGraphicFramePr>
        <p:xfrm>
          <a:off x="4732405" y="2844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\left(x+7\right)}{2}=\frac{30}{2}&quot;&gt;&lt;mfrac&gt;&lt;mrow&gt;&lt;mn&gt;2&lt;/mn&gt;&lt;mrow data-mjx-texclass=&quot;INNER&quot;&gt;&lt;mo data-mjx-texclass=&quot;OPEN&quot;&gt;(&lt;/mo&gt;&lt;mi&gt;x&lt;/mi&gt;&lt;mo&gt;+&lt;/mo&gt;&lt;mn&gt;7&lt;/mn&gt;&lt;mo data-mjx-texclass=&quot;CLOSE&quot;&gt;)&lt;/mo&gt;&lt;/mrow&gt;&lt;/mrow&gt;&lt;mn&gt;2&lt;/mn&gt;&lt;/mfrac&gt;&lt;mo&gt;=&lt;/mo&gt;&lt;mfrac&gt;&lt;mn&gt;30&lt;/mn&gt;&lt;mn&gt;2&lt;/mn&gt;&lt;/mfrac&gt;&lt;/math&gt;" id="1658" name="Google Shape;1658;p137" title="2 times open paren x plus 7 close paren over 2 equals 30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996" y="2084498"/>
            <a:ext cx="1840450" cy="612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9" name="Google Shape;1659;p137"/>
          <p:cNvGraphicFramePr/>
          <p:nvPr/>
        </p:nvGraphicFramePr>
        <p:xfrm>
          <a:off x="12272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0" name="Google Shape;1660;p137"/>
          <p:cNvGraphicFramePr/>
          <p:nvPr/>
        </p:nvGraphicFramePr>
        <p:xfrm>
          <a:off x="12272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1" name="Google Shape;1661;p137"/>
          <p:cNvSpPr txBox="1"/>
          <p:nvPr>
            <p:ph idx="1" type="body"/>
          </p:nvPr>
        </p:nvSpPr>
        <p:spPr>
          <a:xfrm>
            <a:off x="324000" y="15975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38"/>
          <p:cNvSpPr txBox="1"/>
          <p:nvPr>
            <p:ph idx="1" type="body"/>
          </p:nvPr>
        </p:nvSpPr>
        <p:spPr>
          <a:xfrm>
            <a:off x="324000" y="759300"/>
            <a:ext cx="8237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Solve these equations in two different ways. Firstly, by expanding the bracket as a first step. Secondly, by multiplying by the reciprocal.</a:t>
            </a:r>
            <a:endParaRPr sz="1900"/>
          </a:p>
        </p:txBody>
      </p:sp>
      <p:sp>
        <p:nvSpPr>
          <p:cNvPr id="1667" name="Google Shape;1667;p13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668" name="Google Shape;1668;p138"/>
          <p:cNvGraphicFramePr/>
          <p:nvPr/>
        </p:nvGraphicFramePr>
        <p:xfrm>
          <a:off x="12272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9" name="Google Shape;1669;p138"/>
          <p:cNvGraphicFramePr/>
          <p:nvPr/>
        </p:nvGraphicFramePr>
        <p:xfrm>
          <a:off x="47324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0" name="Google Shape;1670;p138"/>
          <p:cNvGraphicFramePr/>
          <p:nvPr/>
        </p:nvGraphicFramePr>
        <p:xfrm>
          <a:off x="4732405" y="2006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1" name="Google Shape;1671;p138"/>
          <p:cNvGraphicFramePr/>
          <p:nvPr/>
        </p:nvGraphicFramePr>
        <p:xfrm>
          <a:off x="12272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2" name="Google Shape;1672;p138"/>
          <p:cNvGraphicFramePr/>
          <p:nvPr/>
        </p:nvGraphicFramePr>
        <p:xfrm>
          <a:off x="1227205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3" name="Google Shape;1673;p138"/>
          <p:cNvSpPr txBox="1"/>
          <p:nvPr>
            <p:ph idx="4294967295" type="subTitle"/>
          </p:nvPr>
        </p:nvSpPr>
        <p:spPr>
          <a:xfrm>
            <a:off x="4322675" y="3172200"/>
            <a:ext cx="4524300" cy="12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written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like this you can see that using the reciprocal was only two-steps to solving making it the more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efficient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method on this occasion.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4" name="Google Shape;1674;p138"/>
          <p:cNvSpPr txBox="1"/>
          <p:nvPr>
            <p:ph idx="1" type="body"/>
          </p:nvPr>
        </p:nvSpPr>
        <p:spPr>
          <a:xfrm>
            <a:off x="324000" y="15975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39"/>
          <p:cNvSpPr txBox="1"/>
          <p:nvPr>
            <p:ph idx="1" type="body"/>
          </p:nvPr>
        </p:nvSpPr>
        <p:spPr>
          <a:xfrm>
            <a:off x="324000" y="677838"/>
            <a:ext cx="8237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1) Solve these equations in two different ways. Firstly, by expanding the bracket as a first step. Secondly, by multiplying by the reciprocal.</a:t>
            </a:r>
            <a:endParaRPr sz="1900"/>
          </a:p>
        </p:txBody>
      </p:sp>
      <p:sp>
        <p:nvSpPr>
          <p:cNvPr id="1680" name="Google Shape;1680;p13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681" name="Google Shape;1681;p139"/>
          <p:cNvGraphicFramePr/>
          <p:nvPr/>
        </p:nvGraphicFramePr>
        <p:xfrm>
          <a:off x="552636" y="1406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2" name="Google Shape;1682;p139"/>
          <p:cNvGraphicFramePr/>
          <p:nvPr/>
        </p:nvGraphicFramePr>
        <p:xfrm>
          <a:off x="4122805" y="27446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3" name="Google Shape;1683;p139"/>
          <p:cNvSpPr txBox="1"/>
          <p:nvPr>
            <p:ph idx="1" type="body"/>
          </p:nvPr>
        </p:nvSpPr>
        <p:spPr>
          <a:xfrm>
            <a:off x="324000" y="149305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</a:t>
            </a:r>
            <a:r>
              <a:rPr lang="en-GB" sz="1900"/>
              <a:t>)</a:t>
            </a:r>
            <a:endParaRPr sz="1900"/>
          </a:p>
        </p:txBody>
      </p:sp>
      <p:graphicFrame>
        <p:nvGraphicFramePr>
          <p:cNvPr id="1684" name="Google Shape;1684;p139"/>
          <p:cNvGraphicFramePr/>
          <p:nvPr/>
        </p:nvGraphicFramePr>
        <p:xfrm>
          <a:off x="555048" y="1406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5" name="Google Shape;1685;p139"/>
          <p:cNvGraphicFramePr/>
          <p:nvPr/>
        </p:nvGraphicFramePr>
        <p:xfrm>
          <a:off x="4136448" y="1406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6" name="Google Shape;1686;p139"/>
          <p:cNvGraphicFramePr/>
          <p:nvPr/>
        </p:nvGraphicFramePr>
        <p:xfrm>
          <a:off x="502561" y="1406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64700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1}{7}=\frac{7\left(2x+7\right)}{7}&quot;&gt;&lt;mfrac&gt;&lt;mn&gt;21&lt;/mn&gt;&lt;mn&gt;7&lt;/mn&gt;&lt;/mfrac&gt;&lt;mo&gt;=&lt;/mo&gt;&lt;mfrac&gt;&lt;mrow&gt;&lt;mn&gt;7&lt;/mn&gt;&lt;mrow data-mjx-texclass=&quot;INNER&quot;&gt;&lt;mo data-mjx-texclass=&quot;OPEN&quot;&gt;(&lt;/mo&gt;&lt;mn&gt;2&lt;/mn&gt;&lt;mi&gt;x&lt;/mi&gt;&lt;mo&gt;+&lt;/mo&gt;&lt;mn&gt;7&lt;/mn&gt;&lt;mo data-mjx-texclass=&quot;CLOSE&quot;&gt;)&lt;/mo&gt;&lt;/mrow&gt;&lt;/mrow&gt;&lt;mn&gt;7&lt;/mn&gt;&lt;/mfrac&gt;&lt;/math&gt;" id="1687" name="Google Shape;1687;p139" title="21 over 7 equals 7 times open paren 2 x plus 7 close paren over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070" y="2060263"/>
            <a:ext cx="1840450" cy="568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139"/>
          <p:cNvSpPr txBox="1"/>
          <p:nvPr>
            <p:ph idx="4294967295" type="subTitle"/>
          </p:nvPr>
        </p:nvSpPr>
        <p:spPr>
          <a:xfrm>
            <a:off x="324000" y="4197725"/>
            <a:ext cx="8220000" cy="5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sing the reciprocal gave us a simpler equation to solve upon reaching the form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b = 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9" name="Google Shape;1689;p139"/>
          <p:cNvSpPr/>
          <p:nvPr/>
        </p:nvSpPr>
        <p:spPr>
          <a:xfrm>
            <a:off x="5103750" y="2675901"/>
            <a:ext cx="1840500" cy="651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39"/>
          <p:cNvSpPr/>
          <p:nvPr/>
        </p:nvSpPr>
        <p:spPr>
          <a:xfrm>
            <a:off x="1468611" y="1871387"/>
            <a:ext cx="2138700" cy="651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5" name="Google Shape;1695;p140"/>
          <p:cNvGraphicFramePr/>
          <p:nvPr/>
        </p:nvGraphicFramePr>
        <p:xfrm>
          <a:off x="31280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6" name="Google Shape;1696;p140"/>
          <p:cNvGraphicFramePr/>
          <p:nvPr/>
        </p:nvGraphicFramePr>
        <p:xfrm>
          <a:off x="312805" y="1258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7" name="Google Shape;1697;p140"/>
          <p:cNvSpPr txBox="1"/>
          <p:nvPr>
            <p:ph idx="1" type="body"/>
          </p:nvPr>
        </p:nvSpPr>
        <p:spPr>
          <a:xfrm>
            <a:off x="324000" y="759300"/>
            <a:ext cx="4136700" cy="3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Solve by expanding first:</a:t>
            </a:r>
            <a:endParaRPr sz="2000"/>
          </a:p>
        </p:txBody>
      </p:sp>
      <p:sp>
        <p:nvSpPr>
          <p:cNvPr id="1698" name="Google Shape;1698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sp>
        <p:nvSpPr>
          <p:cNvPr id="1699" name="Google Shape;1699;p140"/>
          <p:cNvSpPr txBox="1"/>
          <p:nvPr>
            <p:ph idx="1" type="body"/>
          </p:nvPr>
        </p:nvSpPr>
        <p:spPr>
          <a:xfrm>
            <a:off x="324000" y="138013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  <p:graphicFrame>
        <p:nvGraphicFramePr>
          <p:cNvPr id="1700" name="Google Shape;1700;p140"/>
          <p:cNvGraphicFramePr/>
          <p:nvPr/>
        </p:nvGraphicFramePr>
        <p:xfrm>
          <a:off x="480860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1" name="Google Shape;1701;p140"/>
          <p:cNvSpPr txBox="1"/>
          <p:nvPr>
            <p:ph idx="1" type="body"/>
          </p:nvPr>
        </p:nvSpPr>
        <p:spPr>
          <a:xfrm>
            <a:off x="4819800" y="138013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b)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x=\frac{52}{12}=\frac{13}{3}&quot;&gt;&lt;mi&gt;x&lt;/mi&gt;&lt;mo&gt;=&lt;/mo&gt;&lt;mfrac&gt;&lt;mn&gt;52&lt;/mn&gt;&lt;mn&gt;12&lt;/mn&gt;&lt;/mfrac&gt;&lt;mo&gt;=&lt;/mo&gt;&lt;mfrac&gt;&lt;mn&gt;13&lt;/mn&gt;&lt;mn&gt;3&lt;/mn&gt;&lt;/mfrac&gt;&lt;/math&gt;" id="1702" name="Google Shape;1702;p140" title="x equals 52 over 12 equals thirteen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764" y="3360811"/>
            <a:ext cx="1502975" cy="557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3" name="Google Shape;1703;p140"/>
          <p:cNvGraphicFramePr/>
          <p:nvPr/>
        </p:nvGraphicFramePr>
        <p:xfrm>
          <a:off x="31280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4" name="Google Shape;1704;p140"/>
          <p:cNvGraphicFramePr/>
          <p:nvPr/>
        </p:nvGraphicFramePr>
        <p:xfrm>
          <a:off x="31280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5" name="Google Shape;1705;p140"/>
          <p:cNvGraphicFramePr/>
          <p:nvPr/>
        </p:nvGraphicFramePr>
        <p:xfrm>
          <a:off x="480860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6" name="Google Shape;1706;p140"/>
          <p:cNvGraphicFramePr/>
          <p:nvPr/>
        </p:nvGraphicFramePr>
        <p:xfrm>
          <a:off x="4808605" y="125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41"/>
          <p:cNvSpPr txBox="1"/>
          <p:nvPr>
            <p:ph idx="1" type="body"/>
          </p:nvPr>
        </p:nvSpPr>
        <p:spPr>
          <a:xfrm>
            <a:off x="324000" y="759300"/>
            <a:ext cx="8495100" cy="4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</a:t>
            </a:r>
            <a:r>
              <a:rPr lang="en-GB" sz="1900"/>
              <a:t>) Laura and Izzy have solved an equation by removing the brackets. </a:t>
            </a:r>
            <a:endParaRPr sz="1900"/>
          </a:p>
        </p:txBody>
      </p:sp>
      <p:sp>
        <p:nvSpPr>
          <p:cNvPr id="1712" name="Google Shape;1712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713" name="Google Shape;1713;p141"/>
          <p:cNvGraphicFramePr/>
          <p:nvPr/>
        </p:nvGraphicFramePr>
        <p:xfrm>
          <a:off x="4754866" y="1092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4" name="Google Shape;1714;p141"/>
          <p:cNvGraphicFramePr/>
          <p:nvPr/>
        </p:nvGraphicFramePr>
        <p:xfrm>
          <a:off x="1718096" y="1092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15" name="Google Shape;1715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275" y="1092250"/>
            <a:ext cx="1166935" cy="1129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6" name="Google Shape;1716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74" y="1404631"/>
            <a:ext cx="845943" cy="1107944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141"/>
          <p:cNvSpPr txBox="1"/>
          <p:nvPr/>
        </p:nvSpPr>
        <p:spPr>
          <a:xfrm>
            <a:off x="8149332" y="224743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41"/>
          <p:cNvSpPr txBox="1"/>
          <p:nvPr/>
        </p:nvSpPr>
        <p:spPr>
          <a:xfrm>
            <a:off x="179611" y="2464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141"/>
          <p:cNvSpPr txBox="1"/>
          <p:nvPr>
            <p:ph idx="1" type="body"/>
          </p:nvPr>
        </p:nvSpPr>
        <p:spPr>
          <a:xfrm>
            <a:off x="324000" y="3403850"/>
            <a:ext cx="68553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 is correct. She has multiplied both sides by the reciprocal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20" name="Google Shape;1720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9783" y="2234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6338" y="27672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722" name="Google Shape;1722;p141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5200" y="3311073"/>
            <a:ext cx="167075" cy="537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\left(x-10\right)}{5}=\frac{45}{5}&quot;&gt;&lt;mfrac&gt;&lt;mrow&gt;&lt;mn&gt;5&lt;/mn&gt;&lt;mrow data-mjx-texclass=&quot;INNER&quot;&gt;&lt;mo data-mjx-texclass=&quot;OPEN&quot;&gt;(&lt;/mo&gt;&lt;mi&gt;x&lt;/mi&gt;&lt;mo&gt;−&lt;/mo&gt;&lt;mn&gt;10&lt;/mn&gt;&lt;mo data-mjx-texclass=&quot;CLOSE&quot;&gt;)&lt;/mo&gt;&lt;/mrow&gt;&lt;/mrow&gt;&lt;mn&gt;5&lt;/mn&gt;&lt;/mfrac&gt;&lt;mo&gt;=&lt;/mo&gt;&lt;mfrac&gt;&lt;mn&gt;45&lt;/mn&gt;&lt;mn&gt;5&lt;/mn&gt;&lt;/mfrac&gt;&lt;/math&gt;" id="1723" name="Google Shape;1723;p141" title="5 times open paren x minus 10 close paren over 5 equals 45 over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4652" y="3965597"/>
            <a:ext cx="2099800" cy="6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4" name="Google Shape;1724;p141"/>
          <p:cNvSpPr txBox="1"/>
          <p:nvPr>
            <p:ph idx="1" type="body"/>
          </p:nvPr>
        </p:nvSpPr>
        <p:spPr>
          <a:xfrm>
            <a:off x="3295800" y="4154625"/>
            <a:ext cx="29610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leaves the simple equation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-10=9&quot;&gt;&lt;mi&gt;x&lt;/mi&gt;&lt;mo&gt;−&lt;/mo&gt;&lt;mn&gt;10&lt;/mn&gt;&lt;mo&gt;=&lt;/mo&gt;&lt;mn&gt;9&lt;/mn&gt;&lt;/math&gt;" id="1725" name="Google Shape;1725;p141" title="x minus 10 equals 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54539" y="4187845"/>
            <a:ext cx="1313493" cy="21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142"/>
          <p:cNvSpPr txBox="1"/>
          <p:nvPr>
            <p:ph idx="1" type="body"/>
          </p:nvPr>
        </p:nvSpPr>
        <p:spPr>
          <a:xfrm>
            <a:off x="324000" y="759300"/>
            <a:ext cx="8495100" cy="4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3) Laura and Izzy have solved an equation by removing the brackets. </a:t>
            </a:r>
            <a:endParaRPr sz="1900"/>
          </a:p>
        </p:txBody>
      </p:sp>
      <p:sp>
        <p:nvSpPr>
          <p:cNvPr id="1731" name="Google Shape;1731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graphicFrame>
        <p:nvGraphicFramePr>
          <p:cNvPr id="1732" name="Google Shape;1732;p142"/>
          <p:cNvGraphicFramePr/>
          <p:nvPr/>
        </p:nvGraphicFramePr>
        <p:xfrm>
          <a:off x="4754866" y="1092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3" name="Google Shape;1733;p142"/>
          <p:cNvGraphicFramePr/>
          <p:nvPr/>
        </p:nvGraphicFramePr>
        <p:xfrm>
          <a:off x="1718096" y="1092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34" name="Google Shape;1734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275" y="1092250"/>
            <a:ext cx="1166935" cy="1129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74" y="1404631"/>
            <a:ext cx="845943" cy="11079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6" name="Google Shape;1736;p142"/>
          <p:cNvSpPr txBox="1"/>
          <p:nvPr/>
        </p:nvSpPr>
        <p:spPr>
          <a:xfrm>
            <a:off x="8149332" y="224743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42"/>
          <p:cNvSpPr txBox="1"/>
          <p:nvPr/>
        </p:nvSpPr>
        <p:spPr>
          <a:xfrm>
            <a:off x="179611" y="2464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42"/>
          <p:cNvSpPr txBox="1"/>
          <p:nvPr>
            <p:ph idx="1" type="body"/>
          </p:nvPr>
        </p:nvSpPr>
        <p:spPr>
          <a:xfrm>
            <a:off x="324000" y="3403850"/>
            <a:ext cx="75282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Laura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incorrect. She has simply erased the brackets rather than multiplied them out; you have to make sure both terms inside the bracket are multiplied.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− 10)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should multiply out to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39" name="Google Shape;1739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9783" y="2234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1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6338" y="27672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4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reciprocals to solve equations with brackets</a:t>
            </a:r>
            <a:endParaRPr/>
          </a:p>
        </p:txBody>
      </p:sp>
      <p:sp>
        <p:nvSpPr>
          <p:cNvPr id="1746" name="Google Shape;1746;p14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sp>
        <p:nvSpPr>
          <p:cNvPr id="1747" name="Google Shape;1747;p14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where brackets are used</a:t>
            </a:r>
            <a:endParaRPr/>
          </a:p>
        </p:txBody>
      </p:sp>
      <p:pic>
        <p:nvPicPr>
          <p:cNvPr id="1748" name="Google Shape;1748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32" y="299037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3" name="Google Shape;1753;p144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4" name="Google Shape;1754;p144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is solving more equations with brackets.</a:t>
            </a:r>
            <a:endParaRPr sz="2000"/>
          </a:p>
        </p:txBody>
      </p:sp>
      <p:sp>
        <p:nvSpPr>
          <p:cNvPr id="1755" name="Google Shape;1755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1756" name="Google Shape;1756;p144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57" name="Google Shape;1757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075" y="3683050"/>
            <a:ext cx="1166935" cy="112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144"/>
          <p:cNvSpPr txBox="1"/>
          <p:nvPr>
            <p:ph idx="1" type="body"/>
          </p:nvPr>
        </p:nvSpPr>
        <p:spPr>
          <a:xfrm>
            <a:off x="324000" y="13801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graphicFrame>
        <p:nvGraphicFramePr>
          <p:cNvPr id="1759" name="Google Shape;1759;p144"/>
          <p:cNvGraphicFramePr/>
          <p:nvPr/>
        </p:nvGraphicFramePr>
        <p:xfrm>
          <a:off x="41203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0" name="Google Shape;1760;p144"/>
          <p:cNvSpPr txBox="1"/>
          <p:nvPr>
            <p:ph idx="1" type="body"/>
          </p:nvPr>
        </p:nvSpPr>
        <p:spPr>
          <a:xfrm>
            <a:off x="4165200" y="13801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</a:t>
            </a:r>
            <a:r>
              <a:rPr lang="en-GB" sz="2000"/>
              <a:t>ing by the reciprocal first:</a:t>
            </a:r>
            <a:endParaRPr sz="2000"/>
          </a:p>
        </p:txBody>
      </p:sp>
      <p:pic>
        <p:nvPicPr>
          <p:cNvPr id="1761" name="Google Shape;1761;p14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2372775" y="3261207"/>
            <a:ext cx="4962898" cy="10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144"/>
          <p:cNvSpPr txBox="1"/>
          <p:nvPr/>
        </p:nvSpPr>
        <p:spPr>
          <a:xfrm>
            <a:off x="2608575" y="3390175"/>
            <a:ext cx="43578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 seems to me that the reciprocal method is always the quickest way!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145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</a:t>
            </a:r>
            <a:r>
              <a:rPr lang="en-GB" sz="2000"/>
              <a:t>is solving more equations with brackets.</a:t>
            </a:r>
            <a:endParaRPr sz="2000"/>
          </a:p>
        </p:txBody>
      </p:sp>
      <p:sp>
        <p:nvSpPr>
          <p:cNvPr id="1768" name="Google Shape;1768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pic>
        <p:nvPicPr>
          <p:cNvPr id="1769" name="Google Shape;1769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075" y="3683050"/>
            <a:ext cx="1166935" cy="112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145"/>
          <p:cNvSpPr txBox="1"/>
          <p:nvPr>
            <p:ph idx="1" type="body"/>
          </p:nvPr>
        </p:nvSpPr>
        <p:spPr>
          <a:xfrm>
            <a:off x="324000" y="13801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graphicFrame>
        <p:nvGraphicFramePr>
          <p:cNvPr id="1771" name="Google Shape;1771;p145"/>
          <p:cNvGraphicFramePr/>
          <p:nvPr/>
        </p:nvGraphicFramePr>
        <p:xfrm>
          <a:off x="41203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2" name="Google Shape;1772;p145"/>
          <p:cNvSpPr txBox="1"/>
          <p:nvPr>
            <p:ph idx="1" type="body"/>
          </p:nvPr>
        </p:nvSpPr>
        <p:spPr>
          <a:xfrm>
            <a:off x="4165200" y="13801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pic>
        <p:nvPicPr>
          <p:cNvPr id="1773" name="Google Shape;1773;p145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2372775" y="3261207"/>
            <a:ext cx="4962898" cy="10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4" name="Google Shape;1774;p145"/>
          <p:cNvSpPr txBox="1"/>
          <p:nvPr/>
        </p:nvSpPr>
        <p:spPr>
          <a:xfrm>
            <a:off x="2608575" y="3390175"/>
            <a:ext cx="43578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 seems to me that the reciprocal method is always the quickest way!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75" name="Google Shape;1775;p145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6" name="Google Shape;1776;p145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7" name="Google Shape;1777;p145"/>
          <p:cNvSpPr txBox="1"/>
          <p:nvPr>
            <p:ph idx="1" type="body"/>
          </p:nvPr>
        </p:nvSpPr>
        <p:spPr>
          <a:xfrm>
            <a:off x="324000" y="2435700"/>
            <a:ext cx="5450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Here is a different equation.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Do you think Izzy’s statement is correct?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46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is solving more equations with brackets.</a:t>
            </a:r>
            <a:endParaRPr sz="2000"/>
          </a:p>
        </p:txBody>
      </p:sp>
      <p:sp>
        <p:nvSpPr>
          <p:cNvPr id="1783" name="Google Shape;1783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pic>
        <p:nvPicPr>
          <p:cNvPr id="1784" name="Google Shape;1784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075" y="3683050"/>
            <a:ext cx="1166935" cy="112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46"/>
          <p:cNvSpPr txBox="1"/>
          <p:nvPr>
            <p:ph idx="1" type="body"/>
          </p:nvPr>
        </p:nvSpPr>
        <p:spPr>
          <a:xfrm>
            <a:off x="324000" y="13801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graphicFrame>
        <p:nvGraphicFramePr>
          <p:cNvPr id="1786" name="Google Shape;1786;p146"/>
          <p:cNvGraphicFramePr/>
          <p:nvPr/>
        </p:nvGraphicFramePr>
        <p:xfrm>
          <a:off x="41203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7" name="Google Shape;1787;p146"/>
          <p:cNvSpPr txBox="1"/>
          <p:nvPr>
            <p:ph idx="1" type="body"/>
          </p:nvPr>
        </p:nvSpPr>
        <p:spPr>
          <a:xfrm>
            <a:off x="4165200" y="13801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pic>
        <p:nvPicPr>
          <p:cNvPr id="1788" name="Google Shape;1788;p146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2372775" y="3261207"/>
            <a:ext cx="4962898" cy="10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9" name="Google Shape;1789;p146"/>
          <p:cNvSpPr txBox="1"/>
          <p:nvPr/>
        </p:nvSpPr>
        <p:spPr>
          <a:xfrm>
            <a:off x="2608575" y="3390175"/>
            <a:ext cx="43578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 seems to me that the reciprocal method is always the quickest way!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90" name="Google Shape;1790;p146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91" name="Google Shape;1791;p146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8}{3}&quot;&gt;&lt;mi&gt;x&lt;/mi&gt;&lt;mo&gt;=&lt;/mo&gt;&lt;mfrac&gt;&lt;mn&gt;8&lt;/mn&gt;&lt;mn&gt;3&lt;/mn&gt;&lt;/mfrac&gt;&lt;/math&gt;" id="1792" name="Google Shape;1792;p146" title="x equals eight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6582" y="3296070"/>
            <a:ext cx="741479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3" name="Google Shape;1793;p146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7"/>
          <p:cNvSpPr txBox="1"/>
          <p:nvPr>
            <p:ph idx="1" type="body"/>
          </p:nvPr>
        </p:nvSpPr>
        <p:spPr>
          <a:xfrm>
            <a:off x="324000" y="759300"/>
            <a:ext cx="82377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is solving more equations with brackets.</a:t>
            </a:r>
            <a:endParaRPr sz="2000"/>
          </a:p>
        </p:txBody>
      </p:sp>
      <p:sp>
        <p:nvSpPr>
          <p:cNvPr id="1799" name="Google Shape;1799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pic>
        <p:nvPicPr>
          <p:cNvPr id="1800" name="Google Shape;1800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075" y="3683050"/>
            <a:ext cx="1166935" cy="112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47"/>
          <p:cNvSpPr txBox="1"/>
          <p:nvPr>
            <p:ph idx="1" type="body"/>
          </p:nvPr>
        </p:nvSpPr>
        <p:spPr>
          <a:xfrm>
            <a:off x="324000" y="137880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graphicFrame>
        <p:nvGraphicFramePr>
          <p:cNvPr id="1802" name="Google Shape;1802;p147"/>
          <p:cNvGraphicFramePr/>
          <p:nvPr/>
        </p:nvGraphicFramePr>
        <p:xfrm>
          <a:off x="38155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3" name="Google Shape;1803;p147"/>
          <p:cNvSpPr txBox="1"/>
          <p:nvPr>
            <p:ph idx="1" type="body"/>
          </p:nvPr>
        </p:nvSpPr>
        <p:spPr>
          <a:xfrm>
            <a:off x="4165274" y="1378800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graphicFrame>
        <p:nvGraphicFramePr>
          <p:cNvPr id="1804" name="Google Shape;1804;p147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5" name="Google Shape;1805;p147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8}{3}&quot;&gt;&lt;mi&gt;x&lt;/mi&gt;&lt;mo&gt;=&lt;/mo&gt;&lt;mfrac&gt;&lt;mn&gt;8&lt;/mn&gt;&lt;mn&gt;3&lt;/mn&gt;&lt;/mfrac&gt;&lt;/math&gt;" id="1806" name="Google Shape;1806;p147" title="x equals eight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6582" y="3296070"/>
            <a:ext cx="741479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7" name="Google Shape;1807;p147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\left(x+4\right)}{3}=\frac{20}{3}&quot;&gt;&lt;mfrac&gt;&lt;mrow&gt;&lt;mn&gt;3&lt;/mn&gt;&lt;mrow data-mjx-texclass=&quot;INNER&quot;&gt;&lt;mo data-mjx-texclass=&quot;OPEN&quot;&gt;(&lt;/mo&gt;&lt;mi&gt;x&lt;/mi&gt;&lt;mo&gt;+&lt;/mo&gt;&lt;mn&gt;4&lt;/mn&gt;&lt;mo data-mjx-texclass=&quot;CLOSE&quot;&gt;)&lt;/mo&gt;&lt;/mrow&gt;&lt;/mrow&gt;&lt;mn&gt;3&lt;/mn&gt;&lt;/mfrac&gt;&lt;mo&gt;=&lt;/mo&gt;&lt;mfrac&gt;&lt;mn&gt;20&lt;/mn&gt;&lt;mn&gt;3&lt;/mn&gt;&lt;/mfrac&gt;&lt;/math&gt;" id="1808" name="Google Shape;1808;p147" title="3 times open paren x plus 4 close paren over 3 equals 20 over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8370" y="2314089"/>
            <a:ext cx="1580996" cy="5306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4=\frac{20}{3}&quot;&gt;&lt;mi&gt;x&lt;/mi&gt;&lt;mo&gt;+&lt;/mo&gt;&lt;mn&gt;4&lt;/mn&gt;&lt;mo&gt;=&lt;/mo&gt;&lt;mfrac&gt;&lt;mn&gt;20&lt;/mn&gt;&lt;mn&gt;3&lt;/mn&gt;&lt;/mfrac&gt;&lt;/math&gt;" id="1809" name="Google Shape;1809;p147" title="x plus 4 equals 20 over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5825" y="3003412"/>
            <a:ext cx="1183501" cy="53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4+\left(-\frac{12}{3}\right)=\frac{20}{3}+\left(-\frac{12}{3}\right)&quot;&gt;&lt;mi&gt;x&lt;/mi&gt;&lt;mo&gt;+&lt;/mo&gt;&lt;mn&gt;4&lt;/mn&gt;&lt;mo&gt;+&lt;/mo&gt;&lt;mrow data-mjx-texclass=&quot;INNER&quot;&gt;&lt;mo data-mjx-texclass=&quot;OPEN&quot;&gt;(&lt;/mo&gt;&lt;mo&gt;−&lt;/mo&gt;&lt;mfrac&gt;&lt;mn&gt;12&lt;/mn&gt;&lt;mn&gt;3&lt;/mn&gt;&lt;/mfrac&gt;&lt;mo data-mjx-texclass=&quot;CLOSE&quot;&gt;)&lt;/mo&gt;&lt;/mrow&gt;&lt;mo&gt;=&lt;/mo&gt;&lt;mfrac&gt;&lt;mn&gt;20&lt;/mn&gt;&lt;mn&gt;3&lt;/mn&gt;&lt;/mfrac&gt;&lt;mo&gt;+&lt;/mo&gt;&lt;mrow data-mjx-texclass=&quot;INNER&quot;&gt;&lt;mo data-mjx-texclass=&quot;OPEN&quot;&gt;(&lt;/mo&gt;&lt;mo&gt;−&lt;/mo&gt;&lt;mfrac&gt;&lt;mn&gt;12&lt;/mn&gt;&lt;mn&gt;3&lt;/mn&gt;&lt;/mfrac&gt;&lt;mo data-mjx-texclass=&quot;CLOSE&quot;&gt;)&lt;/mo&gt;&lt;/mrow&gt;&lt;/math&gt;" id="1810" name="Google Shape;1810;p147" title="x plus 4 plus negative twelve thirds equals 20 over 3 plus negative twelve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5868" y="3625340"/>
            <a:ext cx="3379425" cy="600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8}{3}&quot;&gt;&lt;mi&gt;x&lt;/mi&gt;&lt;mo&gt;=&lt;/mo&gt;&lt;mfrac&gt;&lt;mn&gt;8&lt;/mn&gt;&lt;mn&gt;3&lt;/mn&gt;&lt;/mfrac&gt;&lt;/math&gt;" id="1811" name="Google Shape;1811;p147" title="x equals eight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415" y="4314891"/>
            <a:ext cx="619131" cy="512262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147"/>
          <p:cNvSpPr txBox="1"/>
          <p:nvPr>
            <p:ph idx="4294967295" type="body"/>
          </p:nvPr>
        </p:nvSpPr>
        <p:spPr>
          <a:xfrm>
            <a:off x="6265188" y="1927184"/>
            <a:ext cx="26202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was no common factor so the reciprocal method was less simple this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48"/>
          <p:cNvSpPr txBox="1"/>
          <p:nvPr>
            <p:ph type="title"/>
          </p:nvPr>
        </p:nvSpPr>
        <p:spPr>
          <a:xfrm>
            <a:off x="324000" y="748775"/>
            <a:ext cx="4720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might be an efficient first step for solving this equation?</a:t>
            </a:r>
            <a:endParaRPr/>
          </a:p>
        </p:txBody>
      </p:sp>
      <p:sp>
        <p:nvSpPr>
          <p:cNvPr id="1818" name="Google Shape;1818;p1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left(x+11\right)=15&quot;&gt;&lt;mn&gt;4&lt;/mn&gt;&lt;mrow data-mjx-texclass=&quot;INNER&quot;&gt;&lt;mo data-mjx-texclass=&quot;OPEN&quot;&gt;(&lt;/mo&gt;&lt;mi&gt;x&lt;/mi&gt;&lt;mo&gt;+&lt;/mo&gt;&lt;mn&gt;11&lt;/mn&gt;&lt;mo data-mjx-texclass=&quot;CLOSE&quot;&gt;)&lt;/mo&gt;&lt;/mrow&gt;&lt;mo&gt;=&lt;/mo&gt;&lt;mn&gt;15&lt;/mn&gt;&lt;/math&gt;" id="1819" name="Google Shape;1819;p148" title="4 times open paren x plus 11 close paren equals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955675"/>
            <a:ext cx="2299654" cy="32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x+44=15&quot;&gt;&lt;mn&gt;4&lt;/mn&gt;&lt;mi&gt;x&lt;/mi&gt;&lt;mo&gt;+&lt;/mo&gt;&lt;mn&gt;44&lt;/mn&gt;&lt;mo&gt;=&lt;/mo&gt;&lt;mn&gt;15&lt;/mn&gt;&lt;/math&gt;" id="1820" name="Google Shape;1820;p148" title="4 x plus 44 equals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0" y="1892270"/>
            <a:ext cx="1705335" cy="232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\left(x+11\right)}{4}=\frac{15}{4}&quot;&gt;&lt;mfrac&gt;&lt;mrow&gt;&lt;mn&gt;4&lt;/mn&gt;&lt;mrow data-mjx-texclass=&quot;INNER&quot;&gt;&lt;mo data-mjx-texclass=&quot;OPEN&quot;&gt;(&lt;/mo&gt;&lt;mi&gt;x&lt;/mi&gt;&lt;mo&gt;+&lt;/mo&gt;&lt;mn&gt;11&lt;/mn&gt;&lt;mo data-mjx-texclass=&quot;CLOSE&quot;&gt;)&lt;/mo&gt;&lt;/mrow&gt;&lt;/mrow&gt;&lt;mn&gt;4&lt;/mn&gt;&lt;/mfrac&gt;&lt;mo&gt;=&lt;/mo&gt;&lt;mfrac&gt;&lt;mn&gt;15&lt;/mn&gt;&lt;mn&gt;4&lt;/mn&gt;&lt;/mfrac&gt;&lt;/math&gt;" id="1821" name="Google Shape;1821;p148" title="4 times open paren x plus 11 close paren over 4 equals fifteen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600" y="2718875"/>
            <a:ext cx="2146678" cy="660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\left(x+11\right)}{15}=\frac{15}{15}&quot;&gt;&lt;mfrac&gt;&lt;mrow&gt;&lt;mn&gt;4&lt;/mn&gt;&lt;mrow data-mjx-texclass=&quot;INNER&quot;&gt;&lt;mo data-mjx-texclass=&quot;OPEN&quot;&gt;(&lt;/mo&gt;&lt;mi&gt;x&lt;/mi&gt;&lt;mo&gt;+&lt;/mo&gt;&lt;mn&gt;11&lt;/mn&gt;&lt;mo data-mjx-texclass=&quot;CLOSE&quot;&gt;)&lt;/mo&gt;&lt;/mrow&gt;&lt;/mrow&gt;&lt;mn&gt;15&lt;/mn&gt;&lt;/mfrac&gt;&lt;mo&gt;=&lt;/mo&gt;&lt;mfrac&gt;&lt;mn&gt;15&lt;/mn&gt;&lt;mn&gt;15&lt;/mn&gt;&lt;/mfrac&gt;&lt;/math&gt;" id="1822" name="Google Shape;1822;p148" title="4 times open paren x plus 11 close paren over 15 equals 15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600" y="3718707"/>
            <a:ext cx="2104494" cy="656183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148"/>
          <p:cNvSpPr txBox="1"/>
          <p:nvPr>
            <p:ph idx="1" type="subTitle"/>
          </p:nvPr>
        </p:nvSpPr>
        <p:spPr>
          <a:xfrm>
            <a:off x="4320091" y="1648200"/>
            <a:ext cx="4573800" cy="4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Expanding gives us the form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b = c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all integers.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4" name="Google Shape;1824;p1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7553" y="181064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x=-29&quot;&gt;&lt;mn&gt;4&lt;/mn&gt;&lt;mi&gt;x&lt;/mi&gt;&lt;mo&gt;=&lt;/mo&gt;&lt;mo&gt;−&lt;/mo&gt;&lt;mn&gt;29&lt;/mn&gt;&lt;/math&gt;" id="1825" name="Google Shape;1825;p148" title="4 x equals negative 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2551" y="2637795"/>
            <a:ext cx="1401450" cy="254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=-\frac{29}{4}\end{array}&quot;&gt;&lt;mtable columnalign=&quot;left&quot; columnspacing=&quot;1em&quot; rowspacing=&quot;4pt&quot;&gt;&lt;mtr&gt;&lt;mtd&gt;&lt;mi&gt;x&lt;/mi&gt;&lt;mo&gt;=&lt;/mo&gt;&lt;mo&gt;−&lt;/mo&gt;&lt;mfrac&gt;&lt;mn&gt;29&lt;/mn&gt;&lt;mn&gt;4&lt;/mn&gt;&lt;/mfrac&gt;&lt;/mtd&gt;&lt;/mtr&gt;&lt;/mtable&gt;&lt;/math&gt;" id="1826" name="Google Shape;1826;p148" title="1 lines Line 1: x equals negative 29 over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1825" y="3218275"/>
            <a:ext cx="1217523" cy="4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49"/>
          <p:cNvSpPr txBox="1"/>
          <p:nvPr>
            <p:ph type="title"/>
          </p:nvPr>
        </p:nvSpPr>
        <p:spPr>
          <a:xfrm>
            <a:off x="324000" y="748775"/>
            <a:ext cx="4720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might be an efficient first step for solving this equation?</a:t>
            </a:r>
            <a:endParaRPr/>
          </a:p>
        </p:txBody>
      </p:sp>
      <p:sp>
        <p:nvSpPr>
          <p:cNvPr id="1832" name="Google Shape;1832;p1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Efficient methods to solve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left(x+11\right)=15&quot;&gt;&lt;mn&gt;4&lt;/mn&gt;&lt;mrow data-mjx-texclass=&quot;INNER&quot;&gt;&lt;mo data-mjx-texclass=&quot;OPEN&quot;&gt;(&lt;/mo&gt;&lt;mi&gt;x&lt;/mi&gt;&lt;mo&gt;+&lt;/mo&gt;&lt;mn&gt;11&lt;/mn&gt;&lt;mo data-mjx-texclass=&quot;CLOSE&quot;&gt;)&lt;/mo&gt;&lt;/mrow&gt;&lt;mo&gt;=&lt;/mo&gt;&lt;mn&gt;15&lt;/mn&gt;&lt;/math&gt;" id="1833" name="Google Shape;1833;p149" title="4 times open paren x plus 11 close paren equals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955675"/>
            <a:ext cx="2299654" cy="32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x+44=15&quot;&gt;&lt;mn&gt;4&lt;/mn&gt;&lt;mi&gt;x&lt;/mi&gt;&lt;mo&gt;+&lt;/mo&gt;&lt;mn&gt;44&lt;/mn&gt;&lt;mo&gt;=&lt;/mo&gt;&lt;mn&gt;15&lt;/mn&gt;&lt;/math&gt;" id="1834" name="Google Shape;1834;p149" title="4 x plus 44 equals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0" y="1892270"/>
            <a:ext cx="1705335" cy="232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\left(x+11\right)}{4}=\frac{15}{4}&quot;&gt;&lt;mfrac&gt;&lt;mrow&gt;&lt;mn&gt;4&lt;/mn&gt;&lt;mrow data-mjx-texclass=&quot;INNER&quot;&gt;&lt;mo data-mjx-texclass=&quot;OPEN&quot;&gt;(&lt;/mo&gt;&lt;mi&gt;x&lt;/mi&gt;&lt;mo&gt;+&lt;/mo&gt;&lt;mn&gt;11&lt;/mn&gt;&lt;mo data-mjx-texclass=&quot;CLOSE&quot;&gt;)&lt;/mo&gt;&lt;/mrow&gt;&lt;/mrow&gt;&lt;mn&gt;4&lt;/mn&gt;&lt;/mfrac&gt;&lt;mo&gt;=&lt;/mo&gt;&lt;mfrac&gt;&lt;mn&gt;15&lt;/mn&gt;&lt;mn&gt;4&lt;/mn&gt;&lt;/mfrac&gt;&lt;/math&gt;" id="1835" name="Google Shape;1835;p149" title="4 times open paren x plus 11 close paren over 4 equals fifteen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600" y="2718875"/>
            <a:ext cx="2146678" cy="660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\left(x+11\right)}{15}=\frac{15}{15}&quot;&gt;&lt;mfrac&gt;&lt;mrow&gt;&lt;mn&gt;4&lt;/mn&gt;&lt;mrow data-mjx-texclass=&quot;INNER&quot;&gt;&lt;mo data-mjx-texclass=&quot;OPEN&quot;&gt;(&lt;/mo&gt;&lt;mi&gt;x&lt;/mi&gt;&lt;mo&gt;+&lt;/mo&gt;&lt;mn&gt;11&lt;/mn&gt;&lt;mo data-mjx-texclass=&quot;CLOSE&quot;&gt;)&lt;/mo&gt;&lt;/mrow&gt;&lt;/mrow&gt;&lt;mn&gt;15&lt;/mn&gt;&lt;/mfrac&gt;&lt;mo&gt;=&lt;/mo&gt;&lt;mfrac&gt;&lt;mn&gt;15&lt;/mn&gt;&lt;mn&gt;15&lt;/mn&gt;&lt;/mfrac&gt;&lt;/math&gt;" id="1836" name="Google Shape;1836;p149" title="4 times open paren x plus 11 close paren over 15 equals 15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600" y="3718707"/>
            <a:ext cx="2104494" cy="656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5}\left(x+11\right)=1&quot;&gt;&lt;mfrac&gt;&lt;mn&gt;4&lt;/mn&gt;&lt;mn&gt;15&lt;/mn&gt;&lt;/mfrac&gt;&lt;mrow data-mjx-texclass=&quot;INNER&quot;&gt;&lt;mo data-mjx-texclass=&quot;OPEN&quot;&gt;(&lt;/mo&gt;&lt;mi&gt;x&lt;/mi&gt;&lt;mo&gt;+&lt;/mo&gt;&lt;mn&gt;11&lt;/mn&gt;&lt;mo data-mjx-texclass=&quot;CLOSE&quot;&gt;)&lt;/mo&gt;&lt;/mrow&gt;&lt;mo&gt;=&lt;/mo&gt;&lt;mn&gt;1&lt;/mn&gt;&lt;/math&gt;" id="1837" name="Google Shape;1837;p149" title="4 over 15 times open paren x plus 11 close paren equals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0596" y="3687331"/>
            <a:ext cx="1907637" cy="637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11=\frac{15}{4}&quot;&gt;&lt;mi&gt;x&lt;/mi&gt;&lt;mo&gt;+&lt;/mo&gt;&lt;mn&gt;11&lt;/mn&gt;&lt;mo&gt;=&lt;/mo&gt;&lt;mfrac&gt;&lt;mn&gt;15&lt;/mn&gt;&lt;mn&gt;4&lt;/mn&gt;&lt;/mfrac&gt;&lt;/math&gt;" id="1838" name="Google Shape;1838;p149" title="x plus 11 equals fifteen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3815" y="2702377"/>
            <a:ext cx="1705325" cy="68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49"/>
          <p:cNvSpPr txBox="1"/>
          <p:nvPr>
            <p:ph idx="1" type="subTitle"/>
          </p:nvPr>
        </p:nvSpPr>
        <p:spPr>
          <a:xfrm>
            <a:off x="3329497" y="2638800"/>
            <a:ext cx="2835900" cy="4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works but gives you non-integer values earlier.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0" name="Google Shape;1840;p1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87553" y="1810641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49"/>
          <p:cNvSpPr txBox="1"/>
          <p:nvPr>
            <p:ph idx="1" type="subTitle"/>
          </p:nvPr>
        </p:nvSpPr>
        <p:spPr>
          <a:xfrm>
            <a:off x="3329497" y="3705600"/>
            <a:ext cx="2835900" cy="4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could be done but would be really inefficient.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150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is joined by Aisha to solve this equation.</a:t>
            </a:r>
            <a:endParaRPr sz="2000"/>
          </a:p>
        </p:txBody>
      </p:sp>
      <p:sp>
        <p:nvSpPr>
          <p:cNvPr id="1847" name="Google Shape;1847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1848" name="Google Shape;1848;p150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49" name="Google Shape;1849;p15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947268" y="3447300"/>
            <a:ext cx="4039752" cy="10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150"/>
          <p:cNvSpPr txBox="1"/>
          <p:nvPr/>
        </p:nvSpPr>
        <p:spPr>
          <a:xfrm>
            <a:off x="4141393" y="3576266"/>
            <a:ext cx="35367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’ll multiply by the reciprocal of the coefficient.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1" name="Google Shape;1851;p15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305141" y="3664661"/>
            <a:ext cx="2402949" cy="58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2" name="Google Shape;1852;p150"/>
          <p:cNvSpPr txBox="1"/>
          <p:nvPr/>
        </p:nvSpPr>
        <p:spPr>
          <a:xfrm>
            <a:off x="1541775" y="3771175"/>
            <a:ext cx="2098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’ll expand first.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3" name="Google Shape;1853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9201" y="3799155"/>
            <a:ext cx="1060904" cy="1026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65740" y="3618775"/>
            <a:ext cx="636989" cy="12027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5" name="Google Shape;1855;p150"/>
          <p:cNvGraphicFramePr/>
          <p:nvPr/>
        </p:nvGraphicFramePr>
        <p:xfrm>
          <a:off x="4272793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56" name="Google Shape;1856;p150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6\left(x+4\right)}{6}=\frac{2\left(x+8\right)}{6}\end{array}&quot;&gt;&lt;mtable columnalign=&quot;left&quot; columnspacing=&quot;1em&quot; rowspacing=&quot;4pt&quot;&gt;&lt;mtr&gt;&lt;mtd&gt;&lt;mfrac&gt;&lt;mrow&gt;&lt;mn&gt;6&lt;/mn&gt;&lt;mrow data-mjx-texclass=&quot;INNER&quot;&gt;&lt;mo data-mjx-texclass=&quot;OPEN&quot;&gt;(&lt;/mo&gt;&lt;mi&gt;x&lt;/mi&gt;&lt;mo&gt;+&lt;/mo&gt;&lt;mn&gt;4&lt;/mn&gt;&lt;mo data-mjx-texclass=&quot;CLOSE&quot;&gt;)&lt;/mo&gt;&lt;/mrow&gt;&lt;/mrow&gt;&lt;mn&gt;6&lt;/mn&gt;&lt;/mfrac&gt;&lt;mo&gt;=&lt;/mo&gt;&lt;mfrac&gt;&lt;mrow&gt;&lt;mn&gt;2&lt;/mn&gt;&lt;mrow data-mjx-texclass=&quot;INNER&quot;&gt;&lt;mo data-mjx-texclass=&quot;OPEN&quot;&gt;(&lt;/mo&gt;&lt;mi&gt;x&lt;/mi&gt;&lt;mo&gt;+&lt;/mo&gt;&lt;mn&gt;8&lt;/mn&gt;&lt;mo data-mjx-texclass=&quot;CLOSE&quot;&gt;)&lt;/mo&gt;&lt;/mrow&gt;&lt;/mrow&gt;&lt;mn&gt;6&lt;/mn&gt;&lt;/mfrac&gt;&lt;/mtd&gt;&lt;/mtr&gt;&lt;/mtable&gt;&lt;/math&gt;" id="1857" name="Google Shape;1857;p150" title="1 lines Line 1: 6 times open paren x plus 4 close paren over 6 equals 2 times open paren x plus 8 close paren over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8626" y="1657760"/>
            <a:ext cx="2289804" cy="58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+4=\frac{1}{3}\left(x+8\right)\end{array}&quot;&gt;&lt;mtable columnalign=&quot;left&quot; columnspacing=&quot;1em&quot; rowspacing=&quot;4pt&quot;&gt;&lt;mtr&gt;&lt;mtd&gt;&lt;mi&gt;x&lt;/mi&gt;&lt;mo&gt;+&lt;/mo&gt;&lt;mn&gt;4&lt;/mn&gt;&lt;mo&gt;=&lt;/mo&gt;&lt;mfrac&gt;&lt;mn&gt;1&lt;/mn&gt;&lt;mn&gt;3&lt;/mn&gt;&lt;/mfrac&gt;&lt;mrow data-mjx-texclass=&quot;INNER&quot;&gt;&lt;mo data-mjx-texclass=&quot;OPEN&quot;&gt;(&lt;/mo&gt;&lt;mi&gt;x&lt;/mi&gt;&lt;mo&gt;+&lt;/mo&gt;&lt;mn&gt;8&lt;/mn&gt;&lt;mo data-mjx-texclass=&quot;CLOSE&quot;&gt;)&lt;/mo&gt;&lt;/mrow&gt;&lt;/mtd&gt;&lt;/mtr&gt;&lt;/mtable&gt;&lt;/math&gt;" id="1858" name="Google Shape;1858;p150" title="1 lines Line 1: x plus 4 equals one third times open paren x plus 8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6785" y="2364896"/>
            <a:ext cx="2274040" cy="45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+4=\frac{x}{3}+\frac{8}{3}\end{array}&quot;&gt;&lt;mtable columnalign=&quot;left&quot; columnspacing=&quot;1em&quot; rowspacing=&quot;4pt&quot;&gt;&lt;mtr&gt;&lt;mtd&gt;&lt;mi&gt;x&lt;/mi&gt;&lt;mo&gt;+&lt;/mo&gt;&lt;mn&gt;4&lt;/mn&gt;&lt;mo&gt;=&lt;/mo&gt;&lt;mfrac&gt;&lt;mi&gt;x&lt;/mi&gt;&lt;mn&gt;3&lt;/mn&gt;&lt;/mfrac&gt;&lt;mo&gt;+&lt;/mo&gt;&lt;mfrac&gt;&lt;mn&gt;8&lt;/mn&gt;&lt;mn&gt;3&lt;/mn&gt;&lt;/mfrac&gt;&lt;/mtd&gt;&lt;/mtr&gt;&lt;/mtable&gt;&lt;/math&gt;" id="1859" name="Google Shape;1859;p150" title="1 lines Line 1: x plus 4 equals x over 3 plus eight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63203" y="2947597"/>
            <a:ext cx="1902205" cy="451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4" name="Google Shape;1864;p15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206500" y="3186261"/>
            <a:ext cx="3896750" cy="14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5" name="Google Shape;1865;p151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is joined by Aisha to solve this equation.</a:t>
            </a:r>
            <a:endParaRPr sz="2000"/>
          </a:p>
        </p:txBody>
      </p:sp>
      <p:sp>
        <p:nvSpPr>
          <p:cNvPr id="1866" name="Google Shape;1866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1867" name="Google Shape;1867;p151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68" name="Google Shape;1868;p15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359125" y="3447300"/>
            <a:ext cx="2563676" cy="10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151"/>
          <p:cNvSpPr txBox="1"/>
          <p:nvPr/>
        </p:nvSpPr>
        <p:spPr>
          <a:xfrm>
            <a:off x="5580375" y="3576275"/>
            <a:ext cx="20982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’m not sure this is the best way!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0" name="Google Shape;1870;p151"/>
          <p:cNvSpPr txBox="1"/>
          <p:nvPr/>
        </p:nvSpPr>
        <p:spPr>
          <a:xfrm>
            <a:off x="1541775" y="3313975"/>
            <a:ext cx="3274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common factor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Try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using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reciprocal of that instead.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1" name="Google Shape;1871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9201" y="3799155"/>
            <a:ext cx="1060904" cy="1026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2" name="Google Shape;1872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65740" y="3618775"/>
            <a:ext cx="636989" cy="12027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3" name="Google Shape;1873;p151"/>
          <p:cNvGraphicFramePr/>
          <p:nvPr/>
        </p:nvGraphicFramePr>
        <p:xfrm>
          <a:off x="4272793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74" name="Google Shape;1874;p151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6\left(x+4\right)}{6}=\frac{2\left(x+8\right)}{6}\end{array}&quot;&gt;&lt;mtable columnalign=&quot;left&quot; columnspacing=&quot;1em&quot; rowspacing=&quot;4pt&quot;&gt;&lt;mtr&gt;&lt;mtd&gt;&lt;mfrac&gt;&lt;mrow&gt;&lt;mn&gt;6&lt;/mn&gt;&lt;mrow data-mjx-texclass=&quot;INNER&quot;&gt;&lt;mo data-mjx-texclass=&quot;OPEN&quot;&gt;(&lt;/mo&gt;&lt;mi&gt;x&lt;/mi&gt;&lt;mo&gt;+&lt;/mo&gt;&lt;mn&gt;4&lt;/mn&gt;&lt;mo data-mjx-texclass=&quot;CLOSE&quot;&gt;)&lt;/mo&gt;&lt;/mrow&gt;&lt;/mrow&gt;&lt;mn&gt;6&lt;/mn&gt;&lt;/mfrac&gt;&lt;mo&gt;=&lt;/mo&gt;&lt;mfrac&gt;&lt;mrow&gt;&lt;mn&gt;2&lt;/mn&gt;&lt;mrow data-mjx-texclass=&quot;INNER&quot;&gt;&lt;mo data-mjx-texclass=&quot;OPEN&quot;&gt;(&lt;/mo&gt;&lt;mi&gt;x&lt;/mi&gt;&lt;mo&gt;+&lt;/mo&gt;&lt;mn&gt;8&lt;/mn&gt;&lt;mo data-mjx-texclass=&quot;CLOSE&quot;&gt;)&lt;/mo&gt;&lt;/mrow&gt;&lt;/mrow&gt;&lt;mn&gt;6&lt;/mn&gt;&lt;/mfrac&gt;&lt;/mtd&gt;&lt;/mtr&gt;&lt;/mtable&gt;&lt;/math&gt;" id="1875" name="Google Shape;1875;p151" title="1 lines Line 1: 6 times open paren x plus 4 close paren over 6 equals 2 times open paren x plus 8 close paren over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8626" y="1657760"/>
            <a:ext cx="2289804" cy="58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+4=\frac{1}{3}\left(x+8\right)\end{array}&quot;&gt;&lt;mtable columnalign=&quot;left&quot; columnspacing=&quot;1em&quot; rowspacing=&quot;4pt&quot;&gt;&lt;mtr&gt;&lt;mtd&gt;&lt;mi&gt;x&lt;/mi&gt;&lt;mo&gt;+&lt;/mo&gt;&lt;mn&gt;4&lt;/mn&gt;&lt;mo&gt;=&lt;/mo&gt;&lt;mfrac&gt;&lt;mn&gt;1&lt;/mn&gt;&lt;mn&gt;3&lt;/mn&gt;&lt;/mfrac&gt;&lt;mrow data-mjx-texclass=&quot;INNER&quot;&gt;&lt;mo data-mjx-texclass=&quot;OPEN&quot;&gt;(&lt;/mo&gt;&lt;mi&gt;x&lt;/mi&gt;&lt;mo&gt;+&lt;/mo&gt;&lt;mn&gt;8&lt;/mn&gt;&lt;mo data-mjx-texclass=&quot;CLOSE&quot;&gt;)&lt;/mo&gt;&lt;/mrow&gt;&lt;/mtd&gt;&lt;/mtr&gt;&lt;/mtable&gt;&lt;/math&gt;" id="1876" name="Google Shape;1876;p151" title="1 lines Line 1: x plus 4 equals one third times open paren x plus 8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6785" y="2364896"/>
            <a:ext cx="2274040" cy="45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+4=\frac{x}{3}+\frac{8}{3}\end{array}&quot;&gt;&lt;mtable columnalign=&quot;left&quot; columnspacing=&quot;1em&quot; rowspacing=&quot;4pt&quot;&gt;&lt;mtr&gt;&lt;mtd&gt;&lt;mi&gt;x&lt;/mi&gt;&lt;mo&gt;+&lt;/mo&gt;&lt;mn&gt;4&lt;/mn&gt;&lt;mo&gt;=&lt;/mo&gt;&lt;mfrac&gt;&lt;mi&gt;x&lt;/mi&gt;&lt;mn&gt;3&lt;/mn&gt;&lt;/mfrac&gt;&lt;mo&gt;+&lt;/mo&gt;&lt;mfrac&gt;&lt;mn&gt;8&lt;/mn&gt;&lt;mn&gt;3&lt;/mn&gt;&lt;/mfrac&gt;&lt;/mtd&gt;&lt;/mtr&gt;&lt;/mtable&gt;&lt;/math&gt;" id="1877" name="Google Shape;1877;p151" title="1 lines Line 1: x plus 4 equals x over 3 plus eight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63203" y="2947597"/>
            <a:ext cx="1902205" cy="451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2" name="Google Shape;1882;p15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206500" y="3186261"/>
            <a:ext cx="3896750" cy="14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52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is joined by Aisha to solve this equation.</a:t>
            </a:r>
            <a:endParaRPr sz="2000"/>
          </a:p>
        </p:txBody>
      </p:sp>
      <p:sp>
        <p:nvSpPr>
          <p:cNvPr id="1884" name="Google Shape;1884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1885" name="Google Shape;1885;p152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86" name="Google Shape;1886;p15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6846350" y="2151900"/>
            <a:ext cx="1838449" cy="140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7" name="Google Shape;1887;p152"/>
          <p:cNvSpPr txBox="1"/>
          <p:nvPr/>
        </p:nvSpPr>
        <p:spPr>
          <a:xfrm>
            <a:off x="6951975" y="2312154"/>
            <a:ext cx="1639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 was much easier. Thanks Izzy!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8" name="Google Shape;1888;p152"/>
          <p:cNvSpPr txBox="1"/>
          <p:nvPr/>
        </p:nvSpPr>
        <p:spPr>
          <a:xfrm>
            <a:off x="1541775" y="3313975"/>
            <a:ext cx="3274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common factor of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Try using the reciprocal of that instead.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9" name="Google Shape;1889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9201" y="3799155"/>
            <a:ext cx="1060904" cy="1026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865740" y="3618775"/>
            <a:ext cx="636989" cy="12027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1" name="Google Shape;1891;p152"/>
          <p:cNvGraphicFramePr/>
          <p:nvPr/>
        </p:nvGraphicFramePr>
        <p:xfrm>
          <a:off x="4272793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92" name="Google Shape;1892;p152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6\left(x+4\right)}{2}=\frac{2\left(x+8\right)}{2}\end{array}&quot;&gt;&lt;mtable columnalign=&quot;left&quot; columnspacing=&quot;1em&quot; rowspacing=&quot;4pt&quot;&gt;&lt;mtr&gt;&lt;mtd&gt;&lt;mfrac&gt;&lt;mrow&gt;&lt;mn&gt;6&lt;/mn&gt;&lt;mrow data-mjx-texclass=&quot;INNER&quot;&gt;&lt;mo data-mjx-texclass=&quot;OPEN&quot;&gt;(&lt;/mo&gt;&lt;mi&gt;x&lt;/mi&gt;&lt;mo&gt;+&lt;/mo&gt;&lt;mn&gt;4&lt;/mn&gt;&lt;mo data-mjx-texclass=&quot;CLOSE&quot;&gt;)&lt;/mo&gt;&lt;/mrow&gt;&lt;/mrow&gt;&lt;mn&gt;2&lt;/mn&gt;&lt;/mfrac&gt;&lt;mo&gt;=&lt;/mo&gt;&lt;mfrac&gt;&lt;mrow&gt;&lt;mn&gt;2&lt;/mn&gt;&lt;mrow data-mjx-texclass=&quot;INNER&quot;&gt;&lt;mo data-mjx-texclass=&quot;OPEN&quot;&gt;(&lt;/mo&gt;&lt;mi&gt;x&lt;/mi&gt;&lt;mo&gt;+&lt;/mo&gt;&lt;mn&gt;8&lt;/mn&gt;&lt;mo data-mjx-texclass=&quot;CLOSE&quot;&gt;)&lt;/mo&gt;&lt;/mrow&gt;&lt;/mrow&gt;&lt;mn&gt;2&lt;/mn&gt;&lt;/mfrac&gt;&lt;/mtd&gt;&lt;/mtr&gt;&lt;/mtable&gt;&lt;/math&gt;" id="1893" name="Google Shape;1893;p152" title="1 lines Line 1: 6 times open paren x plus 4 close paren over 2 equals 2 times open paren x plus 8 close paren ove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3879" y="1638856"/>
            <a:ext cx="2406810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4" name="Google Shape;1894;p152"/>
          <p:cNvGraphicFramePr/>
          <p:nvPr/>
        </p:nvGraphicFramePr>
        <p:xfrm>
          <a:off x="4295254" y="2268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95" name="Google Shape;1895;p152"/>
          <p:cNvGraphicFramePr/>
          <p:nvPr/>
        </p:nvGraphicFramePr>
        <p:xfrm>
          <a:off x="4295254" y="2268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53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 is joined by Aisha to solve this equation.</a:t>
            </a:r>
            <a:endParaRPr sz="2000"/>
          </a:p>
        </p:txBody>
      </p:sp>
      <p:sp>
        <p:nvSpPr>
          <p:cNvPr id="1901" name="Google Shape;1901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1902" name="Google Shape;1902;p153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3" name="Google Shape;1903;p153"/>
          <p:cNvGraphicFramePr/>
          <p:nvPr/>
        </p:nvGraphicFramePr>
        <p:xfrm>
          <a:off x="4272793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4" name="Google Shape;1904;p153"/>
          <p:cNvGraphicFramePr/>
          <p:nvPr/>
        </p:nvGraphicFramePr>
        <p:xfrm>
          <a:off x="180454" y="104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frac{6\left(x+4\right)}{2}=\frac{2\left(x+8\right)}{2}\end{array}&quot;&gt;&lt;mtable columnalign=&quot;left&quot; columnspacing=&quot;1em&quot; rowspacing=&quot;4pt&quot;&gt;&lt;mtr&gt;&lt;mtd&gt;&lt;mfrac&gt;&lt;mrow&gt;&lt;mn&gt;6&lt;/mn&gt;&lt;mrow data-mjx-texclass=&quot;INNER&quot;&gt;&lt;mo data-mjx-texclass=&quot;OPEN&quot;&gt;(&lt;/mo&gt;&lt;mi&gt;x&lt;/mi&gt;&lt;mo&gt;+&lt;/mo&gt;&lt;mn&gt;4&lt;/mn&gt;&lt;mo data-mjx-texclass=&quot;CLOSE&quot;&gt;)&lt;/mo&gt;&lt;/mrow&gt;&lt;/mrow&gt;&lt;mn&gt;2&lt;/mn&gt;&lt;/mfrac&gt;&lt;mo&gt;=&lt;/mo&gt;&lt;mfrac&gt;&lt;mrow&gt;&lt;mn&gt;2&lt;/mn&gt;&lt;mrow data-mjx-texclass=&quot;INNER&quot;&gt;&lt;mo data-mjx-texclass=&quot;OPEN&quot;&gt;(&lt;/mo&gt;&lt;mi&gt;x&lt;/mi&gt;&lt;mo&gt;+&lt;/mo&gt;&lt;mn&gt;8&lt;/mn&gt;&lt;mo data-mjx-texclass=&quot;CLOSE&quot;&gt;)&lt;/mo&gt;&lt;/mrow&gt;&lt;/mrow&gt;&lt;mn&gt;2&lt;/mn&gt;&lt;/mfrac&gt;&lt;/mtd&gt;&lt;/mtr&gt;&lt;/mtable&gt;&lt;/math&gt;" id="1905" name="Google Shape;1905;p153" title="1 lines Line 1: 6 times open paren x plus 4 close paren over 2 equals 2 times open paren x plus 8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879" y="1638856"/>
            <a:ext cx="2406810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6" name="Google Shape;1906;p153"/>
          <p:cNvGraphicFramePr/>
          <p:nvPr/>
        </p:nvGraphicFramePr>
        <p:xfrm>
          <a:off x="4295254" y="2268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7" name="Google Shape;1907;p153"/>
          <p:cNvSpPr txBox="1"/>
          <p:nvPr>
            <p:ph idx="1" type="body"/>
          </p:nvPr>
        </p:nvSpPr>
        <p:spPr>
          <a:xfrm>
            <a:off x="3067200" y="3208941"/>
            <a:ext cx="5741100" cy="7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manipulation didn’t change the fact that we still had to expand to solve but it did give us an equation that was more simple to solve.</a:t>
            </a:r>
            <a:endParaRPr sz="2000"/>
          </a:p>
        </p:txBody>
      </p:sp>
      <p:grpSp>
        <p:nvGrpSpPr>
          <p:cNvPr id="1908" name="Google Shape;1908;p153"/>
          <p:cNvGrpSpPr/>
          <p:nvPr/>
        </p:nvGrpSpPr>
        <p:grpSpPr>
          <a:xfrm>
            <a:off x="471550" y="1023750"/>
            <a:ext cx="6445494" cy="1832707"/>
            <a:chOff x="471550" y="1023750"/>
            <a:chExt cx="6445494" cy="1832707"/>
          </a:xfrm>
        </p:grpSpPr>
        <p:sp>
          <p:nvSpPr>
            <p:cNvPr id="1909" name="Google Shape;1909;p153"/>
            <p:cNvSpPr/>
            <p:nvPr/>
          </p:nvSpPr>
          <p:spPr>
            <a:xfrm>
              <a:off x="4510145" y="2242957"/>
              <a:ext cx="2406900" cy="6135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0" name="Google Shape;1910;p153"/>
            <p:cNvSpPr/>
            <p:nvPr/>
          </p:nvSpPr>
          <p:spPr>
            <a:xfrm>
              <a:off x="471550" y="1023750"/>
              <a:ext cx="2595600" cy="6135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\frac{3\left(2x-1\right)}{2}=\frac{9\left(x-2\right)}{2}\end{array}&quot;&gt;&lt;mtable columnalign=&quot;left&quot; columnspacing=&quot;1em&quot; rowspacing=&quot;4pt&quot;&gt;&lt;mtr&gt;&lt;mtd&gt;&lt;mfrac&gt;&lt;mrow&gt;&lt;mn&gt;3&lt;/mn&gt;&lt;mrow data-mjx-texclass=&quot;INNER&quot;&gt;&lt;mo data-mjx-texclass=&quot;OPEN&quot;&gt;(&lt;/mo&gt;&lt;mn&gt;2&lt;/mn&gt;&lt;mi&gt;x&lt;/mi&gt;&lt;mo&gt;−&lt;/mo&gt;&lt;mn&gt;1&lt;/mn&gt;&lt;mo data-mjx-texclass=&quot;CLOSE&quot;&gt;)&lt;/mo&gt;&lt;/mrow&gt;&lt;/mrow&gt;&lt;mn&gt;2&lt;/mn&gt;&lt;/mfrac&gt;&lt;mo&gt;=&lt;/mo&gt;&lt;mfrac&gt;&lt;mrow&gt;&lt;mn&gt;9&lt;/mn&gt;&lt;mrow data-mjx-texclass=&quot;INNER&quot;&gt;&lt;mo data-mjx-texclass=&quot;OPEN&quot;&gt;(&lt;/mo&gt;&lt;mi&gt;x&lt;/mi&gt;&lt;mo&gt;−&lt;/mo&gt;&lt;mn&gt;2&lt;/mn&gt;&lt;mo data-mjx-texclass=&quot;CLOSE&quot;&gt;)&lt;/mo&gt;&lt;/mrow&gt;&lt;/mrow&gt;&lt;mn&gt;2&lt;/mn&gt;&lt;/mfrac&gt;&lt;/mtd&gt;&lt;/mtr&gt;&lt;/mtable&gt;&lt;/math&gt;" id="1915" name="Google Shape;1915;p154" title="1 lines Line 1: 3 times open paren 2 x minus 1 close paren over 2 equals 9 times open paren x minus 2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175" y="1750274"/>
            <a:ext cx="2519639" cy="606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16" name="Google Shape;1916;p154"/>
          <p:cNvSpPr txBox="1"/>
          <p:nvPr>
            <p:ph type="title"/>
          </p:nvPr>
        </p:nvSpPr>
        <p:spPr>
          <a:xfrm>
            <a:off x="324000" y="748775"/>
            <a:ext cx="39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first step makes this equation more simple?</a:t>
            </a:r>
            <a:endParaRPr/>
          </a:p>
        </p:txBody>
      </p:sp>
      <p:sp>
        <p:nvSpPr>
          <p:cNvPr id="1917" name="Google Shape;1917;p1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sp>
        <p:nvSpPr>
          <p:cNvPr id="1918" name="Google Shape;1918;p154"/>
          <p:cNvSpPr txBox="1"/>
          <p:nvPr>
            <p:ph idx="1" type="subTitle"/>
          </p:nvPr>
        </p:nvSpPr>
        <p:spPr>
          <a:xfrm>
            <a:off x="4591209" y="2170370"/>
            <a:ext cx="45738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Possible, just not more simple.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9" name="Google Shape;1919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9492" y="279882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\left(2x-1\right)}{9}=\frac{9\left(x-2\right)}{9}\end{array}&quot;&gt;&lt;mtable columnalign=&quot;left&quot; columnspacing=&quot;1em&quot; rowspacing=&quot;4pt&quot;&gt;&lt;mtr&gt;&lt;mtd&gt;&lt;mfrac&gt;&lt;mrow&gt;&lt;mn&gt;3&lt;/mn&gt;&lt;mrow data-mjx-texclass=&quot;INNER&quot;&gt;&lt;mo data-mjx-texclass=&quot;OPEN&quot;&gt;(&lt;/mo&gt;&lt;mn&gt;2&lt;/mn&gt;&lt;mi&gt;x&lt;/mi&gt;&lt;mo&gt;−&lt;/mo&gt;&lt;mn&gt;1&lt;/mn&gt;&lt;mo data-mjx-texclass=&quot;CLOSE&quot;&gt;)&lt;/mo&gt;&lt;/mrow&gt;&lt;/mrow&gt;&lt;mn&gt;9&lt;/mn&gt;&lt;/mfrac&gt;&lt;mo&gt;=&lt;/mo&gt;&lt;mfrac&gt;&lt;mrow&gt;&lt;mn&gt;9&lt;/mn&gt;&lt;mrow data-mjx-texclass=&quot;INNER&quot;&gt;&lt;mo data-mjx-texclass=&quot;OPEN&quot;&gt;(&lt;/mo&gt;&lt;mi&gt;x&lt;/mi&gt;&lt;mo&gt;−&lt;/mo&gt;&lt;mn&gt;2&lt;/mn&gt;&lt;mo data-mjx-texclass=&quot;CLOSE&quot;&gt;)&lt;/mo&gt;&lt;/mrow&gt;&lt;/mrow&gt;&lt;mn&gt;9&lt;/mn&gt;&lt;/mfrac&gt;&lt;/mtd&gt;&lt;/mtr&gt;&lt;/mtable&gt;&lt;/math&gt;" id="1920" name="Google Shape;1920;p154" title="1 lines Line 1: 3 times open paren 2 x minus 1 close paren over 9 equals 9 times open paren x minus 2 close paren over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9175" y="3675133"/>
            <a:ext cx="2559634" cy="619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\left(2x-1\right)}{3}=\frac{9\left(x-2\right)}{3}\end{array}&quot;&gt;&lt;mtable columnalign=&quot;left&quot; columnspacing=&quot;1em&quot; rowspacing=&quot;4pt&quot;&gt;&lt;mtr&gt;&lt;mtd&gt;&lt;mfrac&gt;&lt;mrow&gt;&lt;mn&gt;3&lt;/mn&gt;&lt;mrow data-mjx-texclass=&quot;INNER&quot;&gt;&lt;mo data-mjx-texclass=&quot;OPEN&quot;&gt;(&lt;/mo&gt;&lt;mn&gt;2&lt;/mn&gt;&lt;mi&gt;x&lt;/mi&gt;&lt;mo&gt;−&lt;/mo&gt;&lt;mn&gt;1&lt;/mn&gt;&lt;mo data-mjx-texclass=&quot;CLOSE&quot;&gt;)&lt;/mo&gt;&lt;/mrow&gt;&lt;/mrow&gt;&lt;mn&gt;3&lt;/mn&gt;&lt;/mfrac&gt;&lt;mo&gt;=&lt;/mo&gt;&lt;mfrac&gt;&lt;mrow&gt;&lt;mn&gt;9&lt;/mn&gt;&lt;mrow data-mjx-texclass=&quot;INNER&quot;&gt;&lt;mo data-mjx-texclass=&quot;OPEN&quot;&gt;(&lt;/mo&gt;&lt;mi&gt;x&lt;/mi&gt;&lt;mo&gt;−&lt;/mo&gt;&lt;mn&gt;2&lt;/mn&gt;&lt;mo data-mjx-texclass=&quot;CLOSE&quot;&gt;)&lt;/mo&gt;&lt;/mrow&gt;&lt;/mrow&gt;&lt;mn&gt;3&lt;/mn&gt;&lt;/mfrac&gt;&lt;/mtd&gt;&lt;/mtr&gt;&lt;/mtable&gt;&lt;/math&gt;" id="1921" name="Google Shape;1921;p154" title="1 lines Line 1: 3 times open paren 2 x minus 1 close paren over 3 equals 9 times open paren x minus 2 close paren over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9175" y="2706037"/>
            <a:ext cx="2559634" cy="619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2}\left(2x-1\right)=\frac{9}{2}\left(x-2\right)\end{array}&quot;&gt;&lt;mtable columnalign=&quot;left&quot; columnspacing=&quot;1em&quot; rowspacing=&quot;4pt&quot;&gt;&lt;mtr&gt;&lt;mtd&gt;&lt;mfrac&gt;&lt;mn&gt;3&lt;/mn&gt;&lt;mn&gt;2&lt;/mn&gt;&lt;/mfrac&gt;&lt;mrow data-mjx-texclass=&quot;INNER&quot;&gt;&lt;mo data-mjx-texclass=&quot;OPEN&quot;&gt;(&lt;/mo&gt;&lt;mn&gt;2&lt;/mn&gt;&lt;mi&gt;x&lt;/mi&gt;&lt;mo&gt;−&lt;/mo&gt;&lt;mn&gt;1&lt;/mn&gt;&lt;mo data-mjx-texclass=&quot;CLOSE&quot;&gt;)&lt;/mo&gt;&lt;/mrow&gt;&lt;mo&gt;=&lt;/mo&gt;&lt;mfrac&gt;&lt;mn&gt;9&lt;/mn&gt;&lt;mn&gt;2&lt;/mn&gt;&lt;/mfrac&gt;&lt;mrow data-mjx-texclass=&quot;INNER&quot;&gt;&lt;mo data-mjx-texclass=&quot;OPEN&quot;&gt;(&lt;/mo&gt;&lt;mi&gt;x&lt;/mi&gt;&lt;mo&gt;−&lt;/mo&gt;&lt;mn&gt;2&lt;/mn&gt;&lt;mo data-mjx-texclass=&quot;CLOSE&quot;&gt;)&lt;/mo&gt;&lt;/mrow&gt;&lt;/mtd&gt;&lt;/mtr&gt;&lt;/mtable&gt;&lt;/math&gt;" id="1922" name="Google Shape;1922;p154" title="1 lines Line 1: three halves times open paren 2 x minus 1 close paren equals nine halves times open paren x minus 2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60770" y="1618048"/>
            <a:ext cx="2959834" cy="463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3}\left(2x-1\right)=x-2\end{array}&quot;&gt;&lt;mtable columnalign=&quot;left&quot; columnspacing=&quot;1em&quot; rowspacing=&quot;4pt&quot;&gt;&lt;mtr&gt;&lt;mtd&gt;&lt;mfrac&gt;&lt;mn&gt;1&lt;/mn&gt;&lt;mn&gt;3&lt;/mn&gt;&lt;/mfrac&gt;&lt;mrow data-mjx-texclass=&quot;INNER&quot;&gt;&lt;mo data-mjx-texclass=&quot;OPEN&quot;&gt;(&lt;/mo&gt;&lt;mn&gt;2&lt;/mn&gt;&lt;mi&gt;x&lt;/mi&gt;&lt;mo&gt;−&lt;/mo&gt;&lt;mn&gt;1&lt;/mn&gt;&lt;mo data-mjx-texclass=&quot;CLOSE&quot;&gt;)&lt;/mo&gt;&lt;/mrow&gt;&lt;mo&gt;=&lt;/mo&gt;&lt;mi&gt;x&lt;/mi&gt;&lt;mo&gt;−&lt;/mo&gt;&lt;mn&gt;2&lt;/mn&gt;&lt;/mtd&gt;&lt;/mtr&gt;&lt;/mtable&gt;&lt;/math&gt;" id="1923" name="Google Shape;1923;p154" title="1 lines Line 1: one third times open paren 2 x minus 1 close paren equals x minus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80082" y="3660250"/>
            <a:ext cx="2633550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left(2x-1\right)=9\left(x-2\right)\end{array}&quot;&gt;&lt;mtable columnalign=&quot;left&quot; columnspacing=&quot;1em&quot; rowspacing=&quot;4pt&quot;&gt;&lt;mtr&gt;&lt;mtd&gt;&lt;mn&gt;3&lt;/mn&gt;&lt;mrow data-mjx-texclass=&quot;INNER&quot;&gt;&lt;mo data-mjx-texclass=&quot;OPEN&quot;&gt;(&lt;/mo&gt;&lt;mn&gt;2&lt;/mn&gt;&lt;mi&gt;x&lt;/mi&gt;&lt;mo&gt;−&lt;/mo&gt;&lt;mn&gt;1&lt;/mn&gt;&lt;mo data-mjx-texclass=&quot;CLOSE&quot;&gt;)&lt;/mo&gt;&lt;/mrow&gt;&lt;mo&gt;=&lt;/mo&gt;&lt;mn&gt;9&lt;/mn&gt;&lt;mrow data-mjx-texclass=&quot;INNER&quot;&gt;&lt;mo data-mjx-texclass=&quot;OPEN&quot;&gt;(&lt;/mo&gt;&lt;mi&gt;x&lt;/mi&gt;&lt;mo&gt;−&lt;/mo&gt;&lt;mn&gt;2&lt;/mn&gt;&lt;mo data-mjx-texclass=&quot;CLOSE&quot;&gt;)&lt;/mo&gt;&lt;/mrow&gt;&lt;/mtd&gt;&lt;/mtr&gt;&lt;/mtable&gt;&lt;/math&gt;" id="1924" name="Google Shape;1924;p154" title="1 lines Line 1: 3 times open paren 2 x minus 1 close paren equals 9 times open paren x minus 2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52210" y="1113849"/>
            <a:ext cx="2852675" cy="2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p1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2755" y="18528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1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2755" y="3726538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7" name="Google Shape;1927;p154"/>
          <p:cNvSpPr txBox="1"/>
          <p:nvPr>
            <p:ph idx="1" type="subTitle"/>
          </p:nvPr>
        </p:nvSpPr>
        <p:spPr>
          <a:xfrm>
            <a:off x="4591209" y="4239000"/>
            <a:ext cx="45738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Possible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just not more simple.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x-1=3\left(x-2\right)\end{array}&quot;&gt;&lt;mtable columnalign=&quot;left&quot; columnspacing=&quot;1em&quot; rowspacing=&quot;4pt&quot;&gt;&lt;mtr&gt;&lt;mtd&gt;&lt;mn&gt;2&lt;/mn&gt;&lt;mi&gt;x&lt;/mi&gt;&lt;mo&gt;−&lt;/mo&gt;&lt;mn&gt;1&lt;/mn&gt;&lt;mo&gt;=&lt;/mo&gt;&lt;mn&gt;3&lt;/mn&gt;&lt;mrow data-mjx-texclass=&quot;INNER&quot;&gt;&lt;mo data-mjx-texclass=&quot;OPEN&quot;&gt;(&lt;/mo&gt;&lt;mi&gt;x&lt;/mi&gt;&lt;mo&gt;−&lt;/mo&gt;&lt;mn&gt;2&lt;/mn&gt;&lt;mo data-mjx-texclass=&quot;CLOSE&quot;&gt;)&lt;/mo&gt;&lt;/mrow&gt;&lt;/mtd&gt;&lt;/mtr&gt;&lt;/mtable&gt;&lt;/math&gt;" id="1928" name="Google Shape;1928;p154" title="1 lines Line 1: 2 x minus 1 equals 3 times open paren x minus 2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78960" y="2783742"/>
            <a:ext cx="2423069" cy="28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9" name="Google Shape;1929;p154"/>
          <p:cNvSpPr txBox="1"/>
          <p:nvPr>
            <p:ph idx="1" type="subTitle"/>
          </p:nvPr>
        </p:nvSpPr>
        <p:spPr>
          <a:xfrm>
            <a:off x="4591209" y="3084770"/>
            <a:ext cx="45738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more simple equation.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}{2}\times\frac{2}{3}\left(x-4\right)=\frac{3}{2}\times20&quot;&gt;&lt;mfrac&gt;&lt;mn&gt;3&lt;/mn&gt;&lt;mn&gt;2&lt;/mn&gt;&lt;/mfrac&gt;&lt;mo&gt;×&lt;/mo&gt;&lt;mfrac&gt;&lt;mn&gt;2&lt;/mn&gt;&lt;mn&gt;3&lt;/mn&gt;&lt;/mfrac&gt;&lt;mrow data-mjx-texclass=&quot;INNER&quot;&gt;&lt;mo data-mjx-texclass=&quot;OPEN&quot;&gt;(&lt;/mo&gt;&lt;mi&gt;x&lt;/mi&gt;&lt;mo&gt;−&lt;/mo&gt;&lt;mn&gt;4&lt;/mn&gt;&lt;mo data-mjx-texclass=&quot;CLOSE&quot;&gt;)&lt;/mo&gt;&lt;/mrow&gt;&lt;mo&gt;=&lt;/mo&gt;&lt;mfrac&gt;&lt;mn&gt;3&lt;/mn&gt;&lt;mn&gt;2&lt;/mn&gt;&lt;/mfrac&gt;&lt;mo&gt;×&lt;/mo&gt;&lt;mn&gt;20&lt;/mn&gt;&lt;/math&gt;" id="1934" name="Google Shape;1934;p155" title="three halves times two thirds times open paren x minus 4 close paren equals three halves times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030" y="1853500"/>
            <a:ext cx="3062350" cy="655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x}{3}-\frac{8}{3}=20&quot;&gt;&lt;mfrac&gt;&lt;mrow&gt;&lt;mn&gt;2&lt;/mn&gt;&lt;mi&gt;x&lt;/mi&gt;&lt;/mrow&gt;&lt;mn&gt;3&lt;/mn&gt;&lt;/mfrac&gt;&lt;mo&gt;−&lt;/mo&gt;&lt;mfrac&gt;&lt;mn&gt;8&lt;/mn&gt;&lt;mn&gt;3&lt;/mn&gt;&lt;/mfrac&gt;&lt;mo&gt;=&lt;/mo&gt;&lt;mn&gt;20&lt;/mn&gt;&lt;/math&gt;" id="1935" name="Google Shape;1935;p155" title="2 x over 3 minus eight thirds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8489" y="1860209"/>
            <a:ext cx="1686777" cy="6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55"/>
          <p:cNvSpPr txBox="1"/>
          <p:nvPr>
            <p:ph idx="1" type="body"/>
          </p:nvPr>
        </p:nvSpPr>
        <p:spPr>
          <a:xfrm>
            <a:off x="324000" y="759300"/>
            <a:ext cx="8237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</a:t>
            </a:r>
            <a:r>
              <a:rPr lang="en-GB" sz="2000"/>
              <a:t> this equation Izzy expands first and Aisha uses the reciprocal.</a:t>
            </a:r>
            <a:endParaRPr sz="2000"/>
          </a:p>
        </p:txBody>
      </p:sp>
      <p:sp>
        <p:nvSpPr>
          <p:cNvPr id="1937" name="Google Shape;1937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pic>
        <p:nvPicPr>
          <p:cNvPr id="1938" name="Google Shape;1938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9201" y="2503755"/>
            <a:ext cx="1060904" cy="1026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1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65740" y="2475775"/>
            <a:ext cx="636989" cy="12027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left(x-4\right)=20&quot;&gt;&lt;mfrac&gt;&lt;mn&gt;2&lt;/mn&gt;&lt;mn&gt;3&lt;/mn&gt;&lt;/mfrac&gt;&lt;mrow data-mjx-texclass=&quot;INNER&quot;&gt;&lt;mo data-mjx-texclass=&quot;OPEN&quot;&gt;(&lt;/mo&gt;&lt;mi&gt;x&lt;/mi&gt;&lt;mo&gt;−&lt;/mo&gt;&lt;mn&gt;4&lt;/mn&gt;&lt;mo data-mjx-texclass=&quot;CLOSE&quot;&gt;)&lt;/mo&gt;&lt;/mrow&gt;&lt;mo&gt;=&lt;/mo&gt;&lt;mn&gt;20&lt;/mn&gt;&lt;/math&gt;" id="1940" name="Google Shape;1940;p155" title="two thirds times open paren x minus 4 close paren equals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2992" y="1094441"/>
            <a:ext cx="1783068" cy="637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x}{3}=\frac{68}{3}&quot;&gt;&lt;mfrac&gt;&lt;mrow&gt;&lt;mn&gt;2&lt;/mn&gt;&lt;mi&gt;x&lt;/mi&gt;&lt;/mrow&gt;&lt;mn&gt;3&lt;/mn&gt;&lt;/mfrac&gt;&lt;mo&gt;=&lt;/mo&gt;&lt;mfrac&gt;&lt;mn&gt;68&lt;/mn&gt;&lt;mn&gt;3&lt;/mn&gt;&lt;/mfrac&gt;&lt;/math&gt;" id="1941" name="Google Shape;1941;p155" title="2 x over 3 equals 68 over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33671" y="3382021"/>
            <a:ext cx="1159682" cy="637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x}{3}=20+\frac{8}{3}&quot;&gt;&lt;mfrac&gt;&lt;mrow&gt;&lt;mn&gt;2&lt;/mn&gt;&lt;mi&gt;x&lt;/mi&gt;&lt;/mrow&gt;&lt;mn&gt;3&lt;/mn&gt;&lt;/mfrac&gt;&lt;mo&gt;=&lt;/mo&gt;&lt;mn&gt;20&lt;/mn&gt;&lt;mo&gt;+&lt;/mo&gt;&lt;mfrac&gt;&lt;mn&gt;8&lt;/mn&gt;&lt;mn&gt;3&lt;/mn&gt;&lt;/mfrac&gt;&lt;/math&gt;" id="1942" name="Google Shape;1942;p155" title="2 x over 3 equals 20 plus eight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9959" y="2622366"/>
            <a:ext cx="1686775" cy="6476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x=68&quot;&gt;&lt;mn&gt;2&lt;/mn&gt;&lt;mi&gt;x&lt;/mi&gt;&lt;mo&gt;=&lt;/mo&gt;&lt;mn&gt;68&lt;/mn&gt;&lt;/math&gt;" id="1943" name="Google Shape;1943;p155" title="2 x equals 6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99661" y="4166613"/>
            <a:ext cx="1038075" cy="22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34&quot;&gt;&lt;mi&gt;x&lt;/mi&gt;&lt;mo&gt;=&lt;/mo&gt;&lt;mn&gt;34&lt;/mn&gt;&lt;/math&gt;" id="1944" name="Google Shape;1944;p155" title="x equals 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32596" y="4563340"/>
            <a:ext cx="898549" cy="234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left(x-4\right)=20&quot;&gt;&lt;mfrac&gt;&lt;mn&gt;2&lt;/mn&gt;&lt;mn&gt;3&lt;/mn&gt;&lt;/mfrac&gt;&lt;mrow data-mjx-texclass=&quot;INNER&quot;&gt;&lt;mo data-mjx-texclass=&quot;OPEN&quot;&gt;(&lt;/mo&gt;&lt;mi&gt;x&lt;/mi&gt;&lt;mo&gt;−&lt;/mo&gt;&lt;mn&gt;4&lt;/mn&gt;&lt;mo data-mjx-texclass=&quot;CLOSE&quot;&gt;)&lt;/mo&gt;&lt;/mrow&gt;&lt;mo&gt;=&lt;/mo&gt;&lt;mn&gt;20&lt;/mn&gt;&lt;/math&gt;" id="1945" name="Google Shape;1945;p155" title="two thirds times open paren x minus 4 close paren equals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2883" y="1094441"/>
            <a:ext cx="1783068" cy="637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-4=30&quot;&gt;&lt;mi&gt;x&lt;/mi&gt;&lt;mo&gt;−&lt;/mo&gt;&lt;mn&gt;4&lt;/mn&gt;&lt;mo&gt;=&lt;/mo&gt;&lt;mn&gt;30&lt;/mn&gt;&lt;/math&gt;" id="1946" name="Google Shape;1946;p155" title="x minus 4 equals 3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40788" y="2804296"/>
            <a:ext cx="1434304" cy="23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34&quot;&gt;&lt;mi&gt;x&lt;/mi&gt;&lt;mo&gt;=&lt;/mo&gt;&lt;mn&gt;34&lt;/mn&gt;&lt;/math&gt;" id="1947" name="Google Shape;1947;p155" title="x equals 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74421" y="3403287"/>
            <a:ext cx="898549" cy="23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155"/>
          <p:cNvSpPr txBox="1"/>
          <p:nvPr>
            <p:ph idx="1" type="body"/>
          </p:nvPr>
        </p:nvSpPr>
        <p:spPr>
          <a:xfrm>
            <a:off x="3383225" y="3780020"/>
            <a:ext cx="54369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method is most efficient this time. When we have a non-integer coefficient multiplying by the reciprocal can be really efficient.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7x+1=9\end{array}&quot;&gt;&lt;mtable columnalign=&quot;left&quot; columnspacing=&quot;1em&quot; rowspacing=&quot;4pt&quot;&gt;&lt;mtr&gt;&lt;mtd&gt;&lt;mn&gt;7&lt;/mn&gt;&lt;mi&gt;x&lt;/mi&gt;&lt;mo&gt;+&lt;/mo&gt;&lt;mn&gt;1&lt;/mn&gt;&lt;mo&gt;=&lt;/mo&gt;&lt;mn&gt;9&lt;/mn&gt;&lt;/mtd&gt;&lt;/mtr&gt;&lt;/mtable&gt;&lt;/math&gt;" id="1953" name="Google Shape;1953;p156" title="1 lines Line 1: 7 x plus 1 equal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4519400"/>
            <a:ext cx="1697855" cy="2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156"/>
          <p:cNvSpPr txBox="1"/>
          <p:nvPr>
            <p:ph type="title"/>
          </p:nvPr>
        </p:nvSpPr>
        <p:spPr>
          <a:xfrm>
            <a:off x="324000" y="748775"/>
            <a:ext cx="39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first step makes this equation most simple?</a:t>
            </a:r>
            <a:endParaRPr/>
          </a:p>
        </p:txBody>
      </p:sp>
      <p:sp>
        <p:nvSpPr>
          <p:cNvPr id="1955" name="Google Shape;1955;p15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pic>
        <p:nvPicPr>
          <p:cNvPr id="1956" name="Google Shape;1956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449" y="37894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156"/>
          <p:cNvSpPr txBox="1"/>
          <p:nvPr>
            <p:ph idx="1" type="subTitle"/>
          </p:nvPr>
        </p:nvSpPr>
        <p:spPr>
          <a:xfrm>
            <a:off x="1848005" y="2650030"/>
            <a:ext cx="20595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reciprocal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4}{3}\left(7x+1\right)=12\end{array}&quot;&gt;&lt;mtable columnalign=&quot;left&quot; columnspacing=&quot;1em&quot; rowspacing=&quot;4pt&quot;&gt;&lt;mtr&gt;&lt;mtd&gt;&lt;mfrac&gt;&lt;mn&gt;4&lt;/mn&gt;&lt;mn&gt;3&lt;/mn&gt;&lt;/mfrac&gt;&lt;mrow data-mjx-texclass=&quot;INNER&quot;&gt;&lt;mo data-mjx-texclass=&quot;OPEN&quot;&gt;(&lt;/mo&gt;&lt;mn&gt;7&lt;/mn&gt;&lt;mi&gt;x&lt;/mi&gt;&lt;mo&gt;+&lt;/mo&gt;&lt;mn&gt;1&lt;/mn&gt;&lt;mo data-mjx-texclass=&quot;CLOSE&quot;&gt;)&lt;/mo&gt;&lt;/mrow&gt;&lt;mo&gt;=&lt;/mo&gt;&lt;mn&gt;12&lt;/mn&gt;&lt;/mtd&gt;&lt;/mtr&gt;&lt;/mtable&gt;&lt;/math&gt;" id="1958" name="Google Shape;1958;p156" title="1 lines Line 1: four thirds times open paren 7 x plus 1 close paren equals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6521" y="851675"/>
            <a:ext cx="2413164" cy="539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times3\end{array}&quot;&gt;&lt;mtable columnalign=&quot;left&quot; columnspacing=&quot;1em&quot; rowspacing=&quot;4pt&quot;&gt;&lt;mtr&gt;&lt;mtd&gt;&lt;mo&gt;×&lt;/mo&gt;&lt;mn&gt;3&lt;/mn&gt;&lt;/mtd&gt;&lt;/mtr&gt;&lt;/mtable&gt;&lt;/math&gt;" id="1959" name="Google Shape;1959;p156" title="1 lines Line 1: times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098" y="1859295"/>
            <a:ext cx="473133" cy="3205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times\frac{3}{4}\end{array}&quot;&gt;&lt;mtable columnalign=&quot;left&quot; columnspacing=&quot;1em&quot; rowspacing=&quot;4pt&quot;&gt;&lt;mtr&gt;&lt;mtd&gt;&lt;mo&gt;×&lt;/mo&gt;&lt;mfrac&gt;&lt;mn&gt;3&lt;/mn&gt;&lt;mn&gt;4&lt;/mn&gt;&lt;/mfrac&gt;&lt;/mtd&gt;&lt;/mtr&gt;&lt;/mtable&gt;&lt;/math&gt;" id="1960" name="Google Shape;1960;p156" title="1 lines Line 1: times three four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5098" y="3682646"/>
            <a:ext cx="541814" cy="610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times\frac{4}{3}\end{array}&quot;&gt;&lt;mtable columnalign=&quot;left&quot; columnspacing=&quot;1em&quot; rowspacing=&quot;4pt&quot;&gt;&lt;mtr&gt;&lt;mtd&gt;&lt;mo&gt;×&lt;/mo&gt;&lt;mfrac&gt;&lt;mn&gt;4&lt;/mn&gt;&lt;mn&gt;3&lt;/mn&gt;&lt;/mfrac&gt;&lt;/mtd&gt;&lt;/mtr&gt;&lt;/mtable&gt;&lt;/math&gt;" id="1961" name="Google Shape;1961;p156" title="1 lines Line 1: times four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5098" y="2677702"/>
            <a:ext cx="549445" cy="6257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6}{9}\left(7x+1\right)=\frac{48}{3}\end{array}&quot;&gt;&lt;mtable columnalign=&quot;left&quot; columnspacing=&quot;1em&quot; rowspacing=&quot;4pt&quot;&gt;&lt;mtr&gt;&lt;mtd&gt;&lt;mfrac&gt;&lt;mn&gt;16&lt;/mn&gt;&lt;mn&gt;9&lt;/mn&gt;&lt;/mfrac&gt;&lt;mrow data-mjx-texclass=&quot;INNER&quot;&gt;&lt;mo data-mjx-texclass=&quot;OPEN&quot;&gt;(&lt;/mo&gt;&lt;mn&gt;7&lt;/mn&gt;&lt;mi&gt;x&lt;/mi&gt;&lt;mo&gt;+&lt;/mo&gt;&lt;mn&gt;1&lt;/mn&gt;&lt;mo data-mjx-texclass=&quot;CLOSE&quot;&gt;)&lt;/mo&gt;&lt;/mrow&gt;&lt;mo&gt;=&lt;/mo&gt;&lt;mfrac&gt;&lt;mn&gt;48&lt;/mn&gt;&lt;mn&gt;3&lt;/mn&gt;&lt;/mfrac&gt;&lt;/mtd&gt;&lt;/mtr&gt;&lt;/mtable&gt;&lt;/math&gt;" id="1962" name="Google Shape;1962;p156" title="1 lines Line 1: sixteen ninths times open paren 7 x plus 1 close paren equals 48 over 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83701" y="2718577"/>
            <a:ext cx="2511420" cy="53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4\left(7x+1\right)=36\end{array}&quot;&gt;&lt;mtable columnalign=&quot;left&quot; columnspacing=&quot;1em&quot; rowspacing=&quot;4pt&quot;&gt;&lt;mtr&gt;&lt;mtd&gt;&lt;mn&gt;4&lt;/mn&gt;&lt;mrow data-mjx-texclass=&quot;INNER&quot;&gt;&lt;mo data-mjx-texclass=&quot;OPEN&quot;&gt;(&lt;/mo&gt;&lt;mn&gt;7&lt;/mn&gt;&lt;mi&gt;x&lt;/mi&gt;&lt;mo&gt;+&lt;/mo&gt;&lt;mn&gt;1&lt;/mn&gt;&lt;mo data-mjx-texclass=&quot;CLOSE&quot;&gt;)&lt;/mo&gt;&lt;/mrow&gt;&lt;mo&gt;=&lt;/mo&gt;&lt;mn&gt;36&lt;/mn&gt;&lt;/mtd&gt;&lt;/mtr&gt;&lt;/mtable&gt;&lt;/math&gt;" id="1963" name="Google Shape;1963;p156" title="1 lines Line 1: 4 times open paren 7 x plus 1 close paren equals 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68406" y="1867418"/>
            <a:ext cx="2413150" cy="337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964" name="Google Shape;1964;p156" title="one thir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20325" y="1758375"/>
            <a:ext cx="147917" cy="4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56"/>
          <p:cNvSpPr txBox="1"/>
          <p:nvPr>
            <p:ph idx="1" type="subTitle"/>
          </p:nvPr>
        </p:nvSpPr>
        <p:spPr>
          <a:xfrm>
            <a:off x="1881696" y="3010982"/>
            <a:ext cx="20595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Very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inefficient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6" name="Google Shape;1966;p156"/>
          <p:cNvSpPr txBox="1"/>
          <p:nvPr>
            <p:ph idx="1" type="subTitle"/>
          </p:nvPr>
        </p:nvSpPr>
        <p:spPr>
          <a:xfrm>
            <a:off x="2305199" y="3640625"/>
            <a:ext cx="20595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Multiplying by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reciprocal is very efficient.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7" name="Google Shape;1967;p156"/>
          <p:cNvSpPr txBox="1"/>
          <p:nvPr>
            <p:ph idx="1" type="subTitle"/>
          </p:nvPr>
        </p:nvSpPr>
        <p:spPr>
          <a:xfrm>
            <a:off x="1848000" y="1865575"/>
            <a:ext cx="1896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reciprocal of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8" name="Google Shape;1968;p156"/>
          <p:cNvSpPr txBox="1"/>
          <p:nvPr>
            <p:ph idx="1" type="subTitle"/>
          </p:nvPr>
        </p:nvSpPr>
        <p:spPr>
          <a:xfrm>
            <a:off x="7105799" y="1888025"/>
            <a:ext cx="18969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Some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efficiency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4}\times\frac{4}{3}\left(7x+1\right)=\frac{3}{4}\times12\end{array}&quot;&gt;&lt;mtable columnalign=&quot;left&quot; columnspacing=&quot;1em&quot; rowspacing=&quot;4pt&quot;&gt;&lt;mtr&gt;&lt;mtd&gt;&lt;mfrac&gt;&lt;mn&gt;3&lt;/mn&gt;&lt;mn&gt;4&lt;/mn&gt;&lt;/mfrac&gt;&lt;mo&gt;×&lt;/mo&gt;&lt;mfrac&gt;&lt;mn&gt;4&lt;/mn&gt;&lt;mn&gt;3&lt;/mn&gt;&lt;/mfrac&gt;&lt;mrow data-mjx-texclass=&quot;INNER&quot;&gt;&lt;mo data-mjx-texclass=&quot;OPEN&quot;&gt;(&lt;/mo&gt;&lt;mn&gt;7&lt;/mn&gt;&lt;mi&gt;x&lt;/mi&gt;&lt;mo&gt;+&lt;/mo&gt;&lt;mn&gt;1&lt;/mn&gt;&lt;mo data-mjx-texclass=&quot;CLOSE&quot;&gt;)&lt;/mo&gt;&lt;/mrow&gt;&lt;mo&gt;=&lt;/mo&gt;&lt;mfrac&gt;&lt;mn&gt;3&lt;/mn&gt;&lt;mn&gt;4&lt;/mn&gt;&lt;/mfrac&gt;&lt;mo&gt;×&lt;/mo&gt;&lt;mn&gt;12&lt;/mn&gt;&lt;/mtd&gt;&lt;/mtr&gt;&lt;/mtable&gt;&lt;/math&gt;" id="1969" name="Google Shape;1969;p156" title="1 lines Line 1: three fourths times four thirds times open paren 7 x plus 1 close paren equals three fourths times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29491" y="3717228"/>
            <a:ext cx="3862588" cy="54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157"/>
          <p:cNvSpPr txBox="1"/>
          <p:nvPr>
            <p:ph idx="1" type="body"/>
          </p:nvPr>
        </p:nvSpPr>
        <p:spPr>
          <a:xfrm>
            <a:off x="324000" y="699300"/>
            <a:ext cx="82377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this equation using both methods and write a sentence comparing the efficiency of the methods.</a:t>
            </a:r>
            <a:endParaRPr/>
          </a:p>
        </p:txBody>
      </p:sp>
      <p:sp>
        <p:nvSpPr>
          <p:cNvPr id="1975" name="Google Shape;1975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1976" name="Google Shape;1976;p157"/>
          <p:cNvGraphicFramePr/>
          <p:nvPr/>
        </p:nvGraphicFramePr>
        <p:xfrm>
          <a:off x="139936" y="1918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7" name="Google Shape;1977;p157"/>
          <p:cNvSpPr txBox="1"/>
          <p:nvPr>
            <p:ph idx="4294967295" type="body"/>
          </p:nvPr>
        </p:nvSpPr>
        <p:spPr>
          <a:xfrm>
            <a:off x="352620" y="162304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1978" name="Google Shape;1978;p157"/>
          <p:cNvSpPr txBox="1"/>
          <p:nvPr>
            <p:ph idx="4294967295" type="body"/>
          </p:nvPr>
        </p:nvSpPr>
        <p:spPr>
          <a:xfrm>
            <a:off x="4326244" y="1580110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graphicFrame>
        <p:nvGraphicFramePr>
          <p:cNvPr id="1979" name="Google Shape;1979;p157"/>
          <p:cNvGraphicFramePr/>
          <p:nvPr/>
        </p:nvGraphicFramePr>
        <p:xfrm>
          <a:off x="4137323" y="1918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0" name="Google Shape;1980;p157"/>
          <p:cNvSpPr txBox="1"/>
          <p:nvPr>
            <p:ph idx="1" type="body"/>
          </p:nvPr>
        </p:nvSpPr>
        <p:spPr>
          <a:xfrm>
            <a:off x="324000" y="3033375"/>
            <a:ext cx="77640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Solve both of these equations twice using two different methods.</a:t>
            </a:r>
            <a:endParaRPr/>
          </a:p>
        </p:txBody>
      </p:sp>
      <p:graphicFrame>
        <p:nvGraphicFramePr>
          <p:cNvPr id="1981" name="Google Shape;1981;p157"/>
          <p:cNvGraphicFramePr/>
          <p:nvPr/>
        </p:nvGraphicFramePr>
        <p:xfrm>
          <a:off x="518692" y="3818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82" name="Google Shape;1982;p157"/>
          <p:cNvGraphicFramePr/>
          <p:nvPr/>
        </p:nvGraphicFramePr>
        <p:xfrm>
          <a:off x="4613444" y="3818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3" name="Google Shape;1983;p157"/>
          <p:cNvSpPr txBox="1"/>
          <p:nvPr>
            <p:ph idx="1" type="body"/>
          </p:nvPr>
        </p:nvSpPr>
        <p:spPr>
          <a:xfrm>
            <a:off x="4326244" y="3942864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b)</a:t>
            </a:r>
            <a:endParaRPr sz="1900"/>
          </a:p>
        </p:txBody>
      </p:sp>
      <p:sp>
        <p:nvSpPr>
          <p:cNvPr id="1984" name="Google Shape;1984;p157"/>
          <p:cNvSpPr txBox="1"/>
          <p:nvPr>
            <p:ph idx="1" type="body"/>
          </p:nvPr>
        </p:nvSpPr>
        <p:spPr>
          <a:xfrm>
            <a:off x="352613" y="3942864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sp>
        <p:nvSpPr>
          <p:cNvPr id="1990" name="Google Shape;1990;p158"/>
          <p:cNvSpPr txBox="1"/>
          <p:nvPr>
            <p:ph idx="1" type="body"/>
          </p:nvPr>
        </p:nvSpPr>
        <p:spPr>
          <a:xfrm>
            <a:off x="324000" y="710850"/>
            <a:ext cx="1245900" cy="5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Solve:</a:t>
            </a:r>
            <a:endParaRPr/>
          </a:p>
        </p:txBody>
      </p:sp>
      <p:sp>
        <p:nvSpPr>
          <p:cNvPr id="1991" name="Google Shape;1991;p158"/>
          <p:cNvSpPr txBox="1"/>
          <p:nvPr>
            <p:ph idx="1" type="body"/>
          </p:nvPr>
        </p:nvSpPr>
        <p:spPr>
          <a:xfrm>
            <a:off x="4261204" y="12990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b)</a:t>
            </a:r>
            <a:endParaRPr sz="1900"/>
          </a:p>
        </p:txBody>
      </p:sp>
      <p:sp>
        <p:nvSpPr>
          <p:cNvPr id="1992" name="Google Shape;1992;p158"/>
          <p:cNvSpPr txBox="1"/>
          <p:nvPr>
            <p:ph idx="1" type="body"/>
          </p:nvPr>
        </p:nvSpPr>
        <p:spPr>
          <a:xfrm>
            <a:off x="352623" y="1253555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begin{array}{l}\frac{3}{5}\left(7x-4\right)=21\end{array}&quot;&gt;&lt;mtable columnalign=&quot;left&quot; columnspacing=&quot;1em&quot; rowspacing=&quot;4pt&quot;&gt;&lt;mtr&gt;&lt;mtd&gt;&lt;mfrac&gt;&lt;mn&gt;3&lt;/mn&gt;&lt;mn&gt;5&lt;/mn&gt;&lt;/mfrac&gt;&lt;mrow data-mjx-texclass=&quot;INNER&quot;&gt;&lt;mo data-mjx-texclass=&quot;OPEN&quot;&gt;(&lt;/mo&gt;&lt;mn&gt;7&lt;/mn&gt;&lt;mi&gt;x&lt;/mi&gt;&lt;mo&gt;−&lt;/mo&gt;&lt;mn&gt;4&lt;/mn&gt;&lt;mo data-mjx-texclass=&quot;CLOSE&quot;&gt;)&lt;/mo&gt;&lt;/mrow&gt;&lt;mo&gt;=&lt;/mo&gt;&lt;mn&gt;21&lt;/mn&gt;&lt;/mtd&gt;&lt;/mtr&gt;&lt;/mtable&gt;&lt;/math&gt;" id="1993" name="Google Shape;1993;p158" title="1 lines Line 1: three fifths times open paren 7 x minus 4 close paren equals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005" y="1194275"/>
            <a:ext cx="2068934" cy="473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5}\left(5x-15\right)=\frac{3}{2}\left(x+4\right)\end{array}&quot;&gt;&lt;mtable columnalign=&quot;left&quot; columnspacing=&quot;1em&quot; rowspacing=&quot;4pt&quot;&gt;&lt;mtr&gt;&lt;mtd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1994" name="Google Shape;1994;p158" title="1 lines Line 1: one fifth times open paren 5 x minus 15 close paren equals three halves times open paren x plus 4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9016" y="1194280"/>
            <a:ext cx="3128617" cy="47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15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Solve this equation using both methods and write a sentence comparing the efficiency of the methods.</a:t>
            </a:r>
            <a:endParaRPr/>
          </a:p>
        </p:txBody>
      </p:sp>
      <p:sp>
        <p:nvSpPr>
          <p:cNvPr id="2000" name="Google Shape;2000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2001" name="Google Shape;2001;p159"/>
          <p:cNvGraphicFramePr/>
          <p:nvPr/>
        </p:nvGraphicFramePr>
        <p:xfrm>
          <a:off x="182866" y="2159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2" name="Google Shape;2002;p159"/>
          <p:cNvSpPr txBox="1"/>
          <p:nvPr>
            <p:ph idx="4294967295" type="body"/>
          </p:nvPr>
        </p:nvSpPr>
        <p:spPr>
          <a:xfrm>
            <a:off x="324000" y="18373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2003" name="Google Shape;2003;p159"/>
          <p:cNvSpPr txBox="1"/>
          <p:nvPr>
            <p:ph idx="4294967295" type="body"/>
          </p:nvPr>
        </p:nvSpPr>
        <p:spPr>
          <a:xfrm>
            <a:off x="4317674" y="18373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graphicFrame>
        <p:nvGraphicFramePr>
          <p:cNvPr id="2004" name="Google Shape;2004;p159"/>
          <p:cNvGraphicFramePr/>
          <p:nvPr/>
        </p:nvGraphicFramePr>
        <p:xfrm>
          <a:off x="5593066" y="2159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5" name="Google Shape;2005;p159"/>
          <p:cNvGraphicFramePr/>
          <p:nvPr/>
        </p:nvGraphicFramePr>
        <p:xfrm>
          <a:off x="182866" y="2159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6" name="Google Shape;2006;p159"/>
          <p:cNvSpPr txBox="1"/>
          <p:nvPr>
            <p:ph idx="4294967295" type="subTitle"/>
          </p:nvPr>
        </p:nvSpPr>
        <p:spPr>
          <a:xfrm>
            <a:off x="2690300" y="3716825"/>
            <a:ext cx="61296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may have written, “For this equation, multiplying by the reciprocal was the most efficient method because in one step it gave us a very simple equation to solve.”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07" name="Google Shape;2007;p159"/>
          <p:cNvGraphicFramePr/>
          <p:nvPr/>
        </p:nvGraphicFramePr>
        <p:xfrm>
          <a:off x="5593066" y="2692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60"/>
          <p:cNvSpPr txBox="1"/>
          <p:nvPr>
            <p:ph idx="1" type="body"/>
          </p:nvPr>
        </p:nvSpPr>
        <p:spPr>
          <a:xfrm>
            <a:off x="324000" y="759300"/>
            <a:ext cx="7719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Solve both of these equations twice using two different methods.</a:t>
            </a:r>
            <a:endParaRPr/>
          </a:p>
        </p:txBody>
      </p:sp>
      <p:sp>
        <p:nvSpPr>
          <p:cNvPr id="2013" name="Google Shape;2013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2014" name="Google Shape;2014;p160"/>
          <p:cNvGraphicFramePr/>
          <p:nvPr/>
        </p:nvGraphicFramePr>
        <p:xfrm>
          <a:off x="510127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5" name="Google Shape;2015;p160"/>
          <p:cNvGraphicFramePr/>
          <p:nvPr/>
        </p:nvGraphicFramePr>
        <p:xfrm>
          <a:off x="510127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6" name="Google Shape;2016;p160"/>
          <p:cNvSpPr txBox="1"/>
          <p:nvPr>
            <p:ph idx="1" type="body"/>
          </p:nvPr>
        </p:nvSpPr>
        <p:spPr>
          <a:xfrm>
            <a:off x="344048" y="15975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  <p:graphicFrame>
        <p:nvGraphicFramePr>
          <p:cNvPr id="2017" name="Google Shape;2017;p160"/>
          <p:cNvGraphicFramePr/>
          <p:nvPr/>
        </p:nvGraphicFramePr>
        <p:xfrm>
          <a:off x="510127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8" name="Google Shape;2018;p160"/>
          <p:cNvGraphicFramePr/>
          <p:nvPr/>
        </p:nvGraphicFramePr>
        <p:xfrm>
          <a:off x="510127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9" name="Google Shape;2019;p160"/>
          <p:cNvGraphicFramePr/>
          <p:nvPr/>
        </p:nvGraphicFramePr>
        <p:xfrm>
          <a:off x="4746048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0" name="Google Shape;2020;p160"/>
          <p:cNvGraphicFramePr/>
          <p:nvPr/>
        </p:nvGraphicFramePr>
        <p:xfrm>
          <a:off x="4746048" y="2844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\left(x+6\right)}{2}=\frac{10\left(x-2\right)}{2}&quot;&gt;&lt;mfrac&gt;&lt;mrow&gt;&lt;mn&gt;2&lt;/mn&gt;&lt;mrow data-mjx-texclass=&quot;INNER&quot;&gt;&lt;mo data-mjx-texclass=&quot;OPEN&quot;&gt;(&lt;/mo&gt;&lt;mi&gt;x&lt;/mi&gt;&lt;mo&gt;+&lt;/mo&gt;&lt;mn&gt;6&lt;/mn&gt;&lt;mo data-mjx-texclass=&quot;CLOSE&quot;&gt;)&lt;/mo&gt;&lt;/mrow&gt;&lt;/mrow&gt;&lt;mn&gt;2&lt;/mn&gt;&lt;/mfrac&gt;&lt;mo&gt;=&lt;/mo&gt;&lt;mfrac&gt;&lt;mrow&gt;&lt;mn&gt;10&lt;/mn&gt;&lt;mrow data-mjx-texclass=&quot;INNER&quot;&gt;&lt;mo data-mjx-texclass=&quot;OPEN&quot;&gt;(&lt;/mo&gt;&lt;mi&gt;x&lt;/mi&gt;&lt;mo&gt;−&lt;/mo&gt;&lt;mn&gt;2&lt;/mn&gt;&lt;mo data-mjx-texclass=&quot;CLOSE&quot;&gt;)&lt;/mo&gt;&lt;/mrow&gt;&lt;/mrow&gt;&lt;mn&gt;2&lt;/mn&gt;&lt;/mfrac&gt;&lt;/math&gt;" id="2021" name="Google Shape;2021;p160" title="2 times open paren x plus 6 close paren over 2 equals 10 times open paren x minus 2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599" y="2114550"/>
            <a:ext cx="2658068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2" name="Google Shape;2022;p160"/>
          <p:cNvSpPr txBox="1"/>
          <p:nvPr>
            <p:ph idx="4294967295" type="subTitle"/>
          </p:nvPr>
        </p:nvSpPr>
        <p:spPr>
          <a:xfrm>
            <a:off x="315123" y="4021625"/>
            <a:ext cx="48867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ability to perform multiple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methods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fluently is very powerful in maths.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23" name="Google Shape;2023;p160"/>
          <p:cNvGraphicFramePr/>
          <p:nvPr/>
        </p:nvGraphicFramePr>
        <p:xfrm>
          <a:off x="4746048" y="2844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20\left(x+2\right)}{5}=\frac{5\left(7x-1\right)}{5}&quot;&gt;&lt;mfrac&gt;&lt;mrow&gt;&lt;mn&gt;20&lt;/mn&gt;&lt;mrow data-mjx-texclass=&quot;INNER&quot;&gt;&lt;mo data-mjx-texclass=&quot;OPEN&quot;&gt;(&lt;/mo&gt;&lt;mi&gt;x&lt;/mi&gt;&lt;mo&gt;+&lt;/mo&gt;&lt;mn&gt;2&lt;/mn&gt;&lt;mo data-mjx-texclass=&quot;CLOSE&quot;&gt;)&lt;/mo&gt;&lt;/mrow&gt;&lt;/mrow&gt;&lt;mn&gt;5&lt;/mn&gt;&lt;/mfrac&gt;&lt;mo&gt;=&lt;/mo&gt;&lt;mfrac&gt;&lt;mrow&gt;&lt;mn&gt;5&lt;/mn&gt;&lt;mrow data-mjx-texclass=&quot;INNER&quot;&gt;&lt;mo data-mjx-texclass=&quot;OPEN&quot;&gt;(&lt;/mo&gt;&lt;mn&gt;7&lt;/mn&gt;&lt;mi&gt;x&lt;/mi&gt;&lt;mo&gt;−&lt;/mo&gt;&lt;mn&gt;1&lt;/mn&gt;&lt;mo data-mjx-texclass=&quot;CLOSE&quot;&gt;)&lt;/mo&gt;&lt;/mrow&gt;&lt;/mrow&gt;&lt;mn&gt;5&lt;/mn&gt;&lt;/mfrac&gt;&lt;/math&gt;" id="2028" name="Google Shape;2028;p161" title="20 times open paren x plus 2 close paren over 5 equals 5 times open paren 7 x minus 1 close paren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110" y="2095870"/>
            <a:ext cx="2947680" cy="6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9" name="Google Shape;2029;p161"/>
          <p:cNvSpPr txBox="1"/>
          <p:nvPr>
            <p:ph idx="1" type="body"/>
          </p:nvPr>
        </p:nvSpPr>
        <p:spPr>
          <a:xfrm>
            <a:off x="324000" y="759300"/>
            <a:ext cx="7719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Solve both of these equations twice using two different methods.</a:t>
            </a:r>
            <a:endParaRPr/>
          </a:p>
        </p:txBody>
      </p:sp>
      <p:sp>
        <p:nvSpPr>
          <p:cNvPr id="2030" name="Google Shape;2030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graphicFrame>
        <p:nvGraphicFramePr>
          <p:cNvPr id="2031" name="Google Shape;2031;p161"/>
          <p:cNvGraphicFramePr/>
          <p:nvPr/>
        </p:nvGraphicFramePr>
        <p:xfrm>
          <a:off x="510127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2" name="Google Shape;2032;p161"/>
          <p:cNvSpPr txBox="1"/>
          <p:nvPr>
            <p:ph idx="1" type="body"/>
          </p:nvPr>
        </p:nvSpPr>
        <p:spPr>
          <a:xfrm>
            <a:off x="344048" y="15975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</a:t>
            </a:r>
            <a:r>
              <a:rPr lang="en-GB" sz="1900"/>
              <a:t>)</a:t>
            </a:r>
            <a:endParaRPr sz="1900"/>
          </a:p>
        </p:txBody>
      </p:sp>
      <p:graphicFrame>
        <p:nvGraphicFramePr>
          <p:cNvPr id="2033" name="Google Shape;2033;p161"/>
          <p:cNvGraphicFramePr/>
          <p:nvPr/>
        </p:nvGraphicFramePr>
        <p:xfrm>
          <a:off x="510127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4" name="Google Shape;2034;p161"/>
          <p:cNvGraphicFramePr/>
          <p:nvPr/>
        </p:nvGraphicFramePr>
        <p:xfrm>
          <a:off x="4746048" y="2844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5" name="Google Shape;2035;p161"/>
          <p:cNvGraphicFramePr/>
          <p:nvPr/>
        </p:nvGraphicFramePr>
        <p:xfrm>
          <a:off x="4754866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6" name="Google Shape;2036;p161"/>
          <p:cNvGraphicFramePr/>
          <p:nvPr/>
        </p:nvGraphicFramePr>
        <p:xfrm>
          <a:off x="510127" y="1473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7" name="Google Shape;2037;p161"/>
          <p:cNvGraphicFramePr/>
          <p:nvPr/>
        </p:nvGraphicFramePr>
        <p:xfrm>
          <a:off x="4746048" y="2844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162"/>
          <p:cNvSpPr txBox="1"/>
          <p:nvPr>
            <p:ph idx="1" type="body"/>
          </p:nvPr>
        </p:nvSpPr>
        <p:spPr>
          <a:xfrm>
            <a:off x="324000" y="759300"/>
            <a:ext cx="1360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Solve:</a:t>
            </a:r>
            <a:endParaRPr/>
          </a:p>
        </p:txBody>
      </p:sp>
      <p:sp>
        <p:nvSpPr>
          <p:cNvPr id="2043" name="Google Shape;2043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sp>
        <p:nvSpPr>
          <p:cNvPr id="2044" name="Google Shape;2044;p162"/>
          <p:cNvSpPr txBox="1"/>
          <p:nvPr>
            <p:ph idx="1" type="body"/>
          </p:nvPr>
        </p:nvSpPr>
        <p:spPr>
          <a:xfrm>
            <a:off x="344048" y="12165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a)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begin{array}{l}\frac{3}{5}\left(7x-4\right)=21\end{array}&quot;&gt;&lt;mtable columnalign=&quot;left&quot; columnspacing=&quot;1em&quot; rowspacing=&quot;4pt&quot;&gt;&lt;mtr&gt;&lt;mtd&gt;&lt;mfrac&gt;&lt;mn&gt;3&lt;/mn&gt;&lt;mn&gt;5&lt;/mn&gt;&lt;/mfrac&gt;&lt;mrow data-mjx-texclass=&quot;INNER&quot;&gt;&lt;mo data-mjx-texclass=&quot;OPEN&quot;&gt;(&lt;/mo&gt;&lt;mn&gt;7&lt;/mn&gt;&lt;mi&gt;x&lt;/mi&gt;&lt;mo&gt;−&lt;/mo&gt;&lt;mn&gt;4&lt;/mn&gt;&lt;mo data-mjx-texclass=&quot;CLOSE&quot;&gt;)&lt;/mo&gt;&lt;/mrow&gt;&lt;mo&gt;=&lt;/mo&gt;&lt;mn&gt;21&lt;/mn&gt;&lt;/mtd&gt;&lt;/mtr&gt;&lt;/mtable&gt;&lt;/math&gt;" id="2045" name="Google Shape;2045;p162" title="1 lines Line 1: three fifths times open paren 7 x minus 4 close paren equals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430" y="1221614"/>
            <a:ext cx="2068934" cy="473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3}\times\frac{3}{5}\left(7x-4\right)=\frac{5}{3}\times21\end{array}&quot;&gt;&lt;mtable columnalign=&quot;left&quot; columnspacing=&quot;1em&quot; rowspacing=&quot;4pt&quot;&gt;&lt;mtr&gt;&lt;mtd&gt;&lt;mfrac&gt;&lt;mn&gt;5&lt;/mn&gt;&lt;mn&gt;3&lt;/mn&gt;&lt;/mfrac&gt;&lt;mo&gt;×&lt;/mo&gt;&lt;mfrac&gt;&lt;mn&gt;3&lt;/mn&gt;&lt;mn&gt;5&lt;/mn&gt;&lt;/mfrac&gt;&lt;mrow data-mjx-texclass=&quot;INNER&quot;&gt;&lt;mo data-mjx-texclass=&quot;OPEN&quot;&gt;(&lt;/mo&gt;&lt;mn&gt;7&lt;/mn&gt;&lt;mi&gt;x&lt;/mi&gt;&lt;mo&gt;−&lt;/mo&gt;&lt;mn&gt;4&lt;/mn&gt;&lt;mo data-mjx-texclass=&quot;CLOSE&quot;&gt;)&lt;/mo&gt;&lt;/mrow&gt;&lt;mo&gt;=&lt;/mo&gt;&lt;mfrac&gt;&lt;mn&gt;5&lt;/mn&gt;&lt;mn&gt;3&lt;/mn&gt;&lt;/mfrac&gt;&lt;mo&gt;×&lt;/mo&gt;&lt;mn&gt;21&lt;/mn&gt;&lt;/mtd&gt;&lt;/mtr&gt;&lt;/mtable&gt;&lt;/math&gt;" id="2046" name="Google Shape;2046;p162" title="1 lines Line 1: five thirds times three fifths times open paren 7 x minus 4 close paren equals five thirds times 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061" y="1903497"/>
            <a:ext cx="3292686" cy="473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7" name="Google Shape;2047;p162"/>
          <p:cNvGraphicFramePr/>
          <p:nvPr/>
        </p:nvGraphicFramePr>
        <p:xfrm>
          <a:off x="1238436" y="2540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39}{7}&quot;&gt;&lt;mi&gt;x&lt;/mi&gt;&lt;mo&gt;=&lt;/mo&gt;&lt;mfrac&gt;&lt;mn&gt;39&lt;/mn&gt;&lt;mn&gt;7&lt;/mn&gt;&lt;/mfrac&gt;&lt;/math&gt;" id="2048" name="Google Shape;2048;p162" title="x equals 39 over 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4866" y="3655150"/>
            <a:ext cx="828200" cy="5686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9" name="Google Shape;2049;p162"/>
          <p:cNvGraphicFramePr/>
          <p:nvPr/>
        </p:nvGraphicFramePr>
        <p:xfrm>
          <a:off x="1238436" y="2540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0" name="Google Shape;2050;p162"/>
          <p:cNvSpPr txBox="1"/>
          <p:nvPr>
            <p:ph idx="4294967295" type="subTitle"/>
          </p:nvPr>
        </p:nvSpPr>
        <p:spPr>
          <a:xfrm>
            <a:off x="4320034" y="3107225"/>
            <a:ext cx="3852600" cy="28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Other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methods were available but this is the most efficient one.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163"/>
          <p:cNvSpPr txBox="1"/>
          <p:nvPr>
            <p:ph idx="1" type="body"/>
          </p:nvPr>
        </p:nvSpPr>
        <p:spPr>
          <a:xfrm>
            <a:off x="397425" y="653450"/>
            <a:ext cx="1360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Solve:</a:t>
            </a:r>
            <a:endParaRPr/>
          </a:p>
        </p:txBody>
      </p:sp>
      <p:sp>
        <p:nvSpPr>
          <p:cNvPr id="2056" name="Google Shape;2056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Efficient methods to solve equations</a:t>
            </a:r>
            <a:endParaRPr/>
          </a:p>
        </p:txBody>
      </p:sp>
      <p:sp>
        <p:nvSpPr>
          <p:cNvPr id="2057" name="Google Shape;2057;p163"/>
          <p:cNvSpPr txBox="1"/>
          <p:nvPr>
            <p:ph idx="1" type="body"/>
          </p:nvPr>
        </p:nvSpPr>
        <p:spPr>
          <a:xfrm>
            <a:off x="397430" y="1216500"/>
            <a:ext cx="363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b)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begin{array}{l}\frac{1}{5}\left(5x-15\right)=\frac{3}{2}\left(x+4\right)\end{array}&quot;&gt;&lt;mtable columnalign=&quot;left&quot; columnspacing=&quot;1em&quot; rowspacing=&quot;4pt&quot;&gt;&lt;mtr&gt;&lt;mtd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058" name="Google Shape;2058;p163" title="1 lines Line 1: one fifth times open paren 5 x minus 15 close paren equals three halves times open paren x plus 4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643" y="1221280"/>
            <a:ext cx="3128617" cy="47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-3=\frac{3}{2}\left(x+4\right)\end{array}&quot;&gt;&lt;mtable columnalign=&quot;left&quot; columnspacing=&quot;1em&quot; rowspacing=&quot;4pt&quot;&gt;&lt;mtr&gt;&lt;mtd&gt;&lt;mi&gt;x&lt;/mi&gt;&lt;mo&gt;−&lt;/mo&gt;&lt;mn&gt;3&lt;/mn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059" name="Google Shape;2059;p163" title="1 lines Line 1: x minus 3 equals three halves times open paren x plus 4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8291" y="1871575"/>
            <a:ext cx="2378650" cy="472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3}\times\left(x-3\right)=\frac{2}{3}\times\frac{3}{2}\left(x+4\right)\end{array}&quot;&gt;&lt;mtable columnalign=&quot;left&quot; columnspacing=&quot;1em&quot; rowspacing=&quot;4pt&quot;&gt;&lt;mtr&gt;&lt;mtd&gt;&lt;mfrac&gt;&lt;mn&gt;2&lt;/mn&gt;&lt;mn&gt;3&lt;/mn&gt;&lt;/mfrac&gt;&lt;mo&gt;×&lt;/mo&gt;&lt;mrow data-mjx-texclass=&quot;INNER&quot;&gt;&lt;mo data-mjx-texclass=&quot;OPEN&quot;&gt;(&lt;/mo&gt;&lt;mi&gt;x&lt;/mi&gt;&lt;mo&gt;−&lt;/mo&gt;&lt;mn&gt;3&lt;/mn&gt;&lt;mo data-mjx-texclass=&quot;CLOSE&quot;&gt;)&lt;/mo&gt;&lt;/mrow&gt;&lt;mo&gt;=&lt;/mo&gt;&lt;mfrac&gt;&lt;mn&gt;2&lt;/mn&gt;&lt;mn&gt;3&lt;/mn&gt;&lt;/mfrac&gt;&lt;mo&gt;×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060" name="Google Shape;2060;p163" title="1 lines Line 1: two thirds times open paren x minus 3 close paren equals two thirds times three halves times open paren x plus 4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848" y="2561612"/>
            <a:ext cx="3758460" cy="472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x}{3}-2=x+4\end{array}&quot;&gt;&lt;mtable columnalign=&quot;left&quot; columnspacing=&quot;1em&quot; rowspacing=&quot;4pt&quot;&gt;&lt;mtr&gt;&lt;mtd&gt;&lt;mfrac&gt;&lt;mrow&gt;&lt;mn&gt;2&lt;/mn&gt;&lt;mi&gt;x&lt;/mi&gt;&lt;/mrow&gt;&lt;mn&gt;3&lt;/mn&gt;&lt;/mfrac&gt;&lt;mo&gt;−&lt;/mo&gt;&lt;mn&gt;2&lt;/mn&gt;&lt;mo&gt;=&lt;/mo&gt;&lt;mi&gt;x&lt;/mi&gt;&lt;mo&gt;+&lt;/mo&gt;&lt;mn&gt;4&lt;/mn&gt;&lt;/mtd&gt;&lt;/mtr&gt;&lt;/mtable&gt;&lt;/math&gt;" id="2061" name="Google Shape;2061;p163" title="1 lines Line 1: 2 x over 3 minus 2 equals x plu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8361" y="3231832"/>
            <a:ext cx="2049951" cy="465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-6=\frac{1}{3}x\end{array}&quot;&gt;&lt;mtable columnalign=&quot;left&quot; columnspacing=&quot;1em&quot; rowspacing=&quot;4pt&quot;&gt;&lt;mtr&gt;&lt;mtd&gt;&lt;mo&gt;−&lt;/mo&gt;&lt;mn&gt;6&lt;/mn&gt;&lt;mo&gt;=&lt;/mo&gt;&lt;mfrac&gt;&lt;mn&gt;1&lt;/mn&gt;&lt;mn&gt;3&lt;/mn&gt;&lt;/mfrac&gt;&lt;mi&gt;x&lt;/mi&gt;&lt;/mtd&gt;&lt;/mtr&gt;&lt;/mtable&gt;&lt;/math&gt;" id="2062" name="Google Shape;2062;p163" title="1 lines Line 1: negative 6 equals one third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9997" y="3849019"/>
            <a:ext cx="1245900" cy="476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=-18\end{array}&quot;&gt;&lt;mtable columnalign=&quot;left&quot; columnspacing=&quot;1em&quot; rowspacing=&quot;4pt&quot;&gt;&lt;mtr&gt;&lt;mtd&gt;&lt;mi&gt;x&lt;/mi&gt;&lt;mo&gt;=&lt;/mo&gt;&lt;mo&gt;−&lt;/mo&gt;&lt;mn&gt;18&lt;/mn&gt;&lt;/mtd&gt;&lt;/mtr&gt;&lt;/mtable&gt;&lt;/math&gt;" id="2063" name="Google Shape;2063;p163" title="1 lines Line 1: x equals negative 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33167" y="4519421"/>
            <a:ext cx="1245900" cy="259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5}\left(5x-15\right)=\frac{3}{2}\left(x+4\right)\end{array}&quot;&gt;&lt;mtable columnalign=&quot;left&quot; columnspacing=&quot;1em&quot; rowspacing=&quot;4pt&quot;&gt;&lt;mtr&gt;&lt;mtd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064" name="Google Shape;2064;p163" title="1 lines Line 1: one fifth times open paren 5 x minus 15 close paren equals three halves times open paren x plus 4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340" y="984283"/>
            <a:ext cx="3128617" cy="47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times\frac{1}{5}\left(5x-15\right)=10\times\frac{3}{2}\left(x+4\right)\end{array}&quot;&gt;&lt;mtable columnalign=&quot;left&quot; columnspacing=&quot;1em&quot; rowspacing=&quot;4pt&quot;&gt;&lt;mtr&gt;&lt;mtd&gt;&lt;mn&gt;10&lt;/mn&gt;&lt;mo&gt;×&lt;/mo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n&gt;10&lt;/mn&gt;&lt;mo&gt;×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065" name="Google Shape;2065;p163" title="1 lines Line 1: 10 times one fifth times open paren 5 x minus 15 close paren equals 10 times three halves times open paren x plus 4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11679" y="1666922"/>
            <a:ext cx="4271254" cy="444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0}{5}\left(5x-15\right)=\frac{30}{2}\left(x+4\right)\end{array}&quot;&gt;&lt;mtable columnalign=&quot;left&quot; columnspacing=&quot;1em&quot; rowspacing=&quot;4pt&quot;&gt;&lt;mtr&gt;&lt;mtd&gt;&lt;mfrac&gt;&lt;mn&gt;10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0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066" name="Google Shape;2066;p163" title="1 lines Line 1: ten fifths times open paren 5 x minus 15 close paren equals 30 over 2 times open paren x plus 4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70375" y="2351894"/>
            <a:ext cx="3163436" cy="444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7" name="Google Shape;2067;p163"/>
          <p:cNvGraphicFramePr/>
          <p:nvPr/>
        </p:nvGraphicFramePr>
        <p:xfrm>
          <a:off x="5310727" y="2963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15)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+4)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− 30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−90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68" name="Google Shape;2068;p163"/>
          <p:cNvGraphicFramePr/>
          <p:nvPr/>
        </p:nvGraphicFramePr>
        <p:xfrm>
          <a:off x="5310727" y="2963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{7208B96A-526D-4B11-A3C9-6E13E2F35879}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15)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+4)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164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is more than one way to solve an equation with brackets.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17 = 2(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− 8) </a:t>
            </a:r>
            <a:r>
              <a:rPr lang="en-GB"/>
              <a:t>could be solved by first expanding the bracket out, or alternatively, by multiplying both sides by the reciprocal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074" name="Google Shape;2074;p16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 where brackets are used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16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80" name="Google Shape;2080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