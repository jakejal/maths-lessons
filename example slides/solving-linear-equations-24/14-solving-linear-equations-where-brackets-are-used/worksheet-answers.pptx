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74E414-4B36-4D23-B305-59AC0E6A034A}">
  <a:tblStyle styleId="{D874E414-4B36-4D23-B305-59AC0E6A03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1" Type="http://schemas.openxmlformats.org/officeDocument/2006/relationships/image" Target="../media/image13.png"/><Relationship Id="rId10" Type="http://schemas.openxmlformats.org/officeDocument/2006/relationships/image" Target="../media/image15.png"/><Relationship Id="rId12" Type="http://schemas.openxmlformats.org/officeDocument/2006/relationships/image" Target="../media/image18.png"/><Relationship Id="rId9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2.png"/><Relationship Id="rId13" Type="http://schemas.openxmlformats.org/officeDocument/2006/relationships/image" Target="../media/image26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9" Type="http://schemas.openxmlformats.org/officeDocument/2006/relationships/image" Target="../media/image25.png"/><Relationship Id="rId15" Type="http://schemas.openxmlformats.org/officeDocument/2006/relationships/image" Target="../media/image30.png"/><Relationship Id="rId14" Type="http://schemas.openxmlformats.org/officeDocument/2006/relationships/image" Target="../media/image29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Google Shape;171;p20"/>
          <p:cNvGraphicFramePr/>
          <p:nvPr/>
        </p:nvGraphicFramePr>
        <p:xfrm>
          <a:off x="3637030" y="47610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1029550"/>
                <a:gridCol w="272000"/>
                <a:gridCol w="1106250"/>
              </a:tblGrid>
              <a:tr h="290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5(3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linear equations where brackets are used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00800"/>
            <a:ext cx="55632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reciprocals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to solve equations with brackets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6875" y="1673700"/>
            <a:ext cx="52404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Solve these equations in two different ways. Firstly, by expanding the bracket as a first step. Secondly, by multiplying by the reciprocal.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/>
          <p:nvPr/>
        </p:nvGraphicFramePr>
        <p:xfrm>
          <a:off x="455680" y="22162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907925"/>
                <a:gridCol w="228650"/>
                <a:gridCol w="586650"/>
              </a:tblGrid>
              <a:tr h="143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0"/>
          <p:cNvGraphicFramePr/>
          <p:nvPr/>
        </p:nvGraphicFramePr>
        <p:xfrm>
          <a:off x="3729430" y="22162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933900"/>
                <a:gridCol w="272000"/>
                <a:gridCol w="100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8" name="Google Shape;178;p20"/>
          <p:cNvGraphicFramePr/>
          <p:nvPr/>
        </p:nvGraphicFramePr>
        <p:xfrm>
          <a:off x="3839455" y="2863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834825"/>
                <a:gridCol w="272000"/>
                <a:gridCol w="897025"/>
              </a:tblGrid>
              <a:tr h="2241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41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\left(x+7\right)}{2}=\frac{30}{2}&quot;&gt;&lt;mfrac&gt;&lt;mrow&gt;&lt;mn&gt;2&lt;/mn&gt;&lt;mrow data-mjx-texclass=&quot;INNER&quot;&gt;&lt;mo data-mjx-texclass=&quot;OPEN&quot;&gt;(&lt;/mo&gt;&lt;mi&gt;x&lt;/mi&gt;&lt;mo&gt;+&lt;/mo&gt;&lt;mn&gt;7&lt;/mn&gt;&lt;mo data-mjx-texclass=&quot;CLOSE&quot;&gt;)&lt;/mo&gt;&lt;/mrow&gt;&lt;/mrow&gt;&lt;mn&gt;2&lt;/mn&gt;&lt;/mfrac&gt;&lt;mo&gt;=&lt;/mo&gt;&lt;mfrac&gt;&lt;mn&gt;30&lt;/mn&gt;&lt;mn&gt;2&lt;/mn&gt;&lt;/mfrac&gt;&lt;/math&gt;" id="179" name="Google Shape;179;p20" title="2 times open paren x plus 7 close paren over 2 equals 30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149" y="2488443"/>
            <a:ext cx="998125" cy="33193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466875" y="2207100"/>
            <a:ext cx="268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1" name="Google Shape;181;p20"/>
          <p:cNvGraphicFramePr/>
          <p:nvPr/>
        </p:nvGraphicFramePr>
        <p:xfrm>
          <a:off x="653236" y="34119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723425"/>
                <a:gridCol w="272000"/>
                <a:gridCol w="777300"/>
              </a:tblGrid>
              <a:tr h="95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2" name="Google Shape;182;p20"/>
          <p:cNvGraphicFramePr/>
          <p:nvPr/>
        </p:nvGraphicFramePr>
        <p:xfrm>
          <a:off x="3795405" y="40259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882100"/>
                <a:gridCol w="272000"/>
                <a:gridCol w="947850"/>
              </a:tblGrid>
              <a:tr h="208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20"/>
          <p:cNvSpPr txBox="1"/>
          <p:nvPr/>
        </p:nvSpPr>
        <p:spPr>
          <a:xfrm>
            <a:off x="466875" y="3426300"/>
            <a:ext cx="268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4" name="Google Shape;184;p20"/>
          <p:cNvGraphicFramePr/>
          <p:nvPr/>
        </p:nvGraphicFramePr>
        <p:xfrm>
          <a:off x="3701773" y="34119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956550"/>
                <a:gridCol w="272000"/>
                <a:gridCol w="1027825"/>
              </a:tblGrid>
              <a:tr h="244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1}{7}=\frac{7\left(2x+7\right)}{7}&quot;&gt;&lt;mfrac&gt;&lt;mn&gt;21&lt;/mn&gt;&lt;mn&gt;7&lt;/mn&gt;&lt;/mfrac&gt;&lt;mo&gt;=&lt;/mo&gt;&lt;mfrac&gt;&lt;mrow&gt;&lt;mn&gt;7&lt;/mn&gt;&lt;mrow data-mjx-texclass=&quot;INNER&quot;&gt;&lt;mo data-mjx-texclass=&quot;OPEN&quot;&gt;(&lt;/mo&gt;&lt;mn&gt;2&lt;/mn&gt;&lt;mi&gt;x&lt;/mi&gt;&lt;mo&gt;+&lt;/mo&gt;&lt;mn&gt;7&lt;/mn&gt;&lt;mo data-mjx-texclass=&quot;CLOSE&quot;&gt;)&lt;/mo&gt;&lt;/mrow&gt;&lt;/mrow&gt;&lt;mn&gt;7&lt;/mn&gt;&lt;/mfrac&gt;&lt;/math&gt;" id="185" name="Google Shape;185;p20" title="21 over 7 equals 7 times open paren 2 x plus 7 close paren over 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800" y="3684425"/>
            <a:ext cx="998125" cy="3082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6" name="Google Shape;186;p20"/>
          <p:cNvGraphicFramePr/>
          <p:nvPr/>
        </p:nvGraphicFramePr>
        <p:xfrm>
          <a:off x="578780" y="47610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969125"/>
                <a:gridCol w="272000"/>
                <a:gridCol w="1041325"/>
              </a:tblGrid>
              <a:tr h="160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3(3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20"/>
          <p:cNvSpPr txBox="1"/>
          <p:nvPr/>
        </p:nvSpPr>
        <p:spPr>
          <a:xfrm>
            <a:off x="485925" y="4569300"/>
            <a:ext cx="2382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Solve by expanding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85925" y="4780555"/>
            <a:ext cx="363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648225" y="4780555"/>
            <a:ext cx="363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=\frac{52}{12}=\frac{13}{3}&quot;&gt;&lt;mi&gt;x&lt;/mi&gt;&lt;mo&gt;=&lt;/mo&gt;&lt;mfrac&gt;&lt;mn&gt;52&lt;/mn&gt;&lt;mn&gt;12&lt;/mn&gt;&lt;/mfrac&gt;&lt;mo&gt;=&lt;/mo&gt;&lt;mfrac&gt;&lt;mn&gt;13&lt;/mn&gt;&lt;mn&gt;3&lt;/mn&gt;&lt;/mfrac&gt;&lt;/math&gt;" id="190" name="Google Shape;190;p20" title="x equals 52 over 12 equals thirteen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7450" y="5862625"/>
            <a:ext cx="909213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476400" y="6340950"/>
            <a:ext cx="8495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Laura and Izzy have solved an equation by removing the brackets.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2" name="Google Shape;192;p20"/>
          <p:cNvGraphicFramePr/>
          <p:nvPr/>
        </p:nvGraphicFramePr>
        <p:xfrm>
          <a:off x="3726166" y="6702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994475"/>
                <a:gridCol w="272000"/>
                <a:gridCol w="570850"/>
              </a:tblGrid>
              <a:tr h="254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3" name="Google Shape;193;p20"/>
          <p:cNvGraphicFramePr/>
          <p:nvPr/>
        </p:nvGraphicFramePr>
        <p:xfrm>
          <a:off x="1870496" y="6702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792900"/>
                <a:gridCol w="272000"/>
                <a:gridCol w="512800"/>
              </a:tblGrid>
              <a:tr h="2023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3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3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3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4" name="Google Shape;19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33148" y="6579600"/>
            <a:ext cx="985877" cy="954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83725" y="6642085"/>
            <a:ext cx="714689" cy="93603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6120507" y="729568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65361" y="72939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76400" y="8452100"/>
            <a:ext cx="6855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Izzy is correct. She has multiplied both sides by the reciprocal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9" name="Google Shape;19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35280" y="7172993"/>
            <a:ext cx="326668" cy="34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86748" y="7231731"/>
            <a:ext cx="326668" cy="3462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01" name="Google Shape;201;p20" title="one fif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06882" y="8334348"/>
            <a:ext cx="92736" cy="298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\left(x-10\right)}{5}=\frac{45}{5}&quot;&gt;&lt;mfrac&gt;&lt;mrow&gt;&lt;mn&gt;5&lt;/mn&gt;&lt;mrow data-mjx-texclass=&quot;INNER&quot;&gt;&lt;mo data-mjx-texclass=&quot;OPEN&quot;&gt;(&lt;/mo&gt;&lt;mi&gt;x&lt;/mi&gt;&lt;mo&gt;−&lt;/mo&gt;&lt;mn&gt;10&lt;/mn&gt;&lt;mo data-mjx-texclass=&quot;CLOSE&quot;&gt;)&lt;/mo&gt;&lt;/mrow&gt;&lt;/mrow&gt;&lt;mn&gt;5&lt;/mn&gt;&lt;/mfrac&gt;&lt;mo&gt;=&lt;/mo&gt;&lt;mfrac&gt;&lt;mn&gt;45&lt;/mn&gt;&lt;mn&gt;5&lt;/mn&gt;&lt;/mfrac&gt;&lt;/math&gt;" id="202" name="Google Shape;202;p20" title="5 times open paren x minus 10 close paren over 5 equals 45 over 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10915" y="8851275"/>
            <a:ext cx="1100936" cy="34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3010050" y="8907600"/>
            <a:ext cx="21099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leaves the simple equation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x-10=9&quot;&gt;&lt;mi&gt;x&lt;/mi&gt;&lt;mo&gt;−&lt;/mo&gt;&lt;mn&gt;10&lt;/mn&gt;&lt;mo&gt;=&lt;/mo&gt;&lt;mn&gt;9&lt;/mn&gt;&lt;/math&gt;" id="204" name="Google Shape;204;p20" title="x minus 10 equals 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14919" y="8954355"/>
            <a:ext cx="729060" cy="1186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476400" y="9261725"/>
            <a:ext cx="6610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Laura is incorrect. She has simply erased the brackets rather than multiplied them out; you have to make sure both terms inside the bracket are multiplied.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5(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− 10)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should multiply out to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− 50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66875" y="7718675"/>
            <a:ext cx="59643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Only one pupil is correct.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explaining why the right method worked and write a sentence explaining what went wrong in the other one.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0"/>
          <p:cNvCxnSpPr/>
          <p:nvPr/>
        </p:nvCxnSpPr>
        <p:spPr>
          <a:xfrm>
            <a:off x="474750" y="997201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3" name="Google Shape;21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Solving linear equations where brackets are used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468000" y="9245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Efficient methods to solve equations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66875" y="1187925"/>
            <a:ext cx="6610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Solve this equation using both methods and write a sentence comparing the efficiency of the methods.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8" name="Google Shape;218;p21"/>
          <p:cNvGraphicFramePr/>
          <p:nvPr/>
        </p:nvGraphicFramePr>
        <p:xfrm>
          <a:off x="325741" y="19495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952475"/>
                <a:gridCol w="272000"/>
                <a:gridCol w="10234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+ 13)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p21"/>
          <p:cNvSpPr txBox="1"/>
          <p:nvPr/>
        </p:nvSpPr>
        <p:spPr>
          <a:xfrm>
            <a:off x="466875" y="1694453"/>
            <a:ext cx="1875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Expanding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517198" y="1618250"/>
            <a:ext cx="28284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Multiplying by the reciprocal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1" name="Google Shape;221;p21"/>
          <p:cNvGraphicFramePr/>
          <p:nvPr/>
        </p:nvGraphicFramePr>
        <p:xfrm>
          <a:off x="5107291" y="1873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796150"/>
                <a:gridCol w="336350"/>
                <a:gridCol w="855450"/>
              </a:tblGrid>
              <a:tr h="263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+ 13)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+ 13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6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" name="Google Shape;222;p21"/>
          <p:cNvSpPr txBox="1"/>
          <p:nvPr/>
        </p:nvSpPr>
        <p:spPr>
          <a:xfrm>
            <a:off x="1994975" y="1856750"/>
            <a:ext cx="31884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may have written, “For this equation multiplying by the reciprocal was the most efficient method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. I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 one step it gave us a simple equation to solve.”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66875" y="3489175"/>
            <a:ext cx="5289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Solve both of these equations twice using two different methods.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67875" y="3740625"/>
            <a:ext cx="2484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5" name="Google Shape;225;p21"/>
          <p:cNvGraphicFramePr/>
          <p:nvPr/>
        </p:nvGraphicFramePr>
        <p:xfrm>
          <a:off x="628877" y="37211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694325"/>
                <a:gridCol w="270900"/>
                <a:gridCol w="750950"/>
              </a:tblGrid>
              <a:tr h="2144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10(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4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4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4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4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6" name="Google Shape;226;p21"/>
          <p:cNvGraphicFramePr/>
          <p:nvPr/>
        </p:nvGraphicFramePr>
        <p:xfrm>
          <a:off x="655873" y="4921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660775"/>
                <a:gridCol w="272000"/>
                <a:gridCol w="758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10(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7" name="Google Shape;227;p21"/>
          <p:cNvGraphicFramePr/>
          <p:nvPr/>
        </p:nvGraphicFramePr>
        <p:xfrm>
          <a:off x="877848" y="551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431975"/>
                <a:gridCol w="272000"/>
                <a:gridCol w="671375"/>
              </a:tblGrid>
              <a:tr h="161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\left(x+6\right)}{2}=\frac{10\left(x-2\right)}{2}&quot;&gt;&lt;mfrac&gt;&lt;mrow&gt;&lt;mn&gt;2&lt;/mn&gt;&lt;mrow data-mjx-texclass=&quot;INNER&quot;&gt;&lt;mo data-mjx-texclass=&quot;OPEN&quot;&gt;(&lt;/mo&gt;&lt;mi&gt;x&lt;/mi&gt;&lt;mo&gt;+&lt;/mo&gt;&lt;mn&gt;6&lt;/mn&gt;&lt;mo data-mjx-texclass=&quot;CLOSE&quot;&gt;)&lt;/mo&gt;&lt;/mrow&gt;&lt;/mrow&gt;&lt;mn&gt;2&lt;/mn&gt;&lt;/mfrac&gt;&lt;mo&gt;=&lt;/mo&gt;&lt;mfrac&gt;&lt;mrow&gt;&lt;mn&gt;10&lt;/mn&gt;&lt;mrow data-mjx-texclass=&quot;INNER&quot;&gt;&lt;mo data-mjx-texclass=&quot;OPEN&quot;&gt;(&lt;/mo&gt;&lt;mi&gt;x&lt;/mi&gt;&lt;mo&gt;−&lt;/mo&gt;&lt;mn&gt;2&lt;/mn&gt;&lt;mo data-mjx-texclass=&quot;CLOSE&quot;&gt;)&lt;/mo&gt;&lt;/mrow&gt;&lt;/mrow&gt;&lt;mn&gt;2&lt;/mn&gt;&lt;/mfrac&gt;&lt;/math&gt;" id="228" name="Google Shape;228;p21" title="2 times open paren x plus 6 close paren over 2 equals 10 times open paren x minus 2 close paren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550" y="5174200"/>
            <a:ext cx="1522650" cy="3437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" name="Google Shape;229;p21"/>
          <p:cNvGraphicFramePr/>
          <p:nvPr/>
        </p:nvGraphicFramePr>
        <p:xfrm>
          <a:off x="4091527" y="37497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912200"/>
                <a:gridCol w="218925"/>
                <a:gridCol w="980175"/>
              </a:tblGrid>
              <a:tr h="1706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6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6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6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6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0\left(x+2\right)}{5}=\frac{5\left(7x-1\right)}{5}&quot;&gt;&lt;mfrac&gt;&lt;mrow&gt;&lt;mn&gt;20&lt;/mn&gt;&lt;mrow data-mjx-texclass=&quot;INNER&quot;&gt;&lt;mo data-mjx-texclass=&quot;OPEN&quot;&gt;(&lt;/mo&gt;&lt;mi&gt;x&lt;/mi&gt;&lt;mo&gt;+&lt;/mo&gt;&lt;mn&gt;2&lt;/mn&gt;&lt;mo data-mjx-texclass=&quot;CLOSE&quot;&gt;)&lt;/mo&gt;&lt;/mrow&gt;&lt;/mrow&gt;&lt;mn&gt;5&lt;/mn&gt;&lt;/mfrac&gt;&lt;mo&gt;=&lt;/mo&gt;&lt;mfrac&gt;&lt;mrow&gt;&lt;mn&gt;5&lt;/mn&gt;&lt;mrow data-mjx-texclass=&quot;INNER&quot;&gt;&lt;mo data-mjx-texclass=&quot;OPEN&quot;&gt;(&lt;/mo&gt;&lt;mn&gt;7&lt;/mn&gt;&lt;mi&gt;x&lt;/mi&gt;&lt;mo&gt;−&lt;/mo&gt;&lt;mn&gt;1&lt;/mn&gt;&lt;mo data-mjx-texclass=&quot;CLOSE&quot;&gt;)&lt;/mo&gt;&lt;/mrow&gt;&lt;/mrow&gt;&lt;mn&gt;5&lt;/mn&gt;&lt;/mfrac&gt;&lt;/math&gt;" id="230" name="Google Shape;230;p21" title="20 times open paren x plus 2 close paren over 5 equals 5 times open paren 7 x minus 1 close paren ove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7705" y="5201023"/>
            <a:ext cx="1563900" cy="3392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" name="Google Shape;231;p21"/>
          <p:cNvGraphicFramePr/>
          <p:nvPr/>
        </p:nvGraphicFramePr>
        <p:xfrm>
          <a:off x="4331798" y="5559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673725"/>
                <a:gridCol w="200000"/>
                <a:gridCol w="723925"/>
              </a:tblGrid>
              <a:tr h="1416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6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6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6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2" name="Google Shape;232;p21"/>
          <p:cNvGraphicFramePr/>
          <p:nvPr/>
        </p:nvGraphicFramePr>
        <p:xfrm>
          <a:off x="4130966" y="4921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877425"/>
                <a:gridCol w="210600"/>
                <a:gridCol w="942825"/>
              </a:tblGrid>
              <a:tr h="277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20(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3" name="Google Shape;233;p21"/>
          <p:cNvSpPr txBox="1"/>
          <p:nvPr/>
        </p:nvSpPr>
        <p:spPr>
          <a:xfrm>
            <a:off x="466875" y="7045800"/>
            <a:ext cx="828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Solve: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86925" y="7274400"/>
            <a:ext cx="248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3}{5}\left(7x-4\right)=21\end{array}&quot;&gt;&lt;mtable columnalign=&quot;left&quot; columnspacing=&quot;1em&quot; rowspacing=&quot;4pt&quot;&gt;&lt;mtr&gt;&lt;mtd&gt;&lt;mfrac&gt;&lt;mn&gt;3&lt;/mn&gt;&lt;mn&gt;5&lt;/mn&gt;&lt;/mfrac&gt;&lt;mrow data-mjx-texclass=&quot;INNER&quot;&gt;&lt;mo data-mjx-texclass=&quot;OPEN&quot;&gt;(&lt;/mo&gt;&lt;mn&gt;7&lt;/mn&gt;&lt;mi&gt;x&lt;/mi&gt;&lt;mo&gt;−&lt;/mo&gt;&lt;mn&gt;4&lt;/mn&gt;&lt;mo data-mjx-texclass=&quot;CLOSE&quot;&gt;)&lt;/mo&gt;&lt;/mrow&gt;&lt;mo&gt;=&lt;/mo&gt;&lt;mn&gt;21&lt;/mn&gt;&lt;/mtd&gt;&lt;/mtr&gt;&lt;/mtable&gt;&lt;/math&gt;" id="235" name="Google Shape;235;p21" title="1 lines Line 1: three fifths times open paren 7 x minus 4 close paren equals 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328" y="7298575"/>
            <a:ext cx="982664" cy="2246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3}\times\frac{3}{5}\left(7x-4\right)=\frac{5}{3}\times21\end{array}&quot;&gt;&lt;mtable columnalign=&quot;left&quot; columnspacing=&quot;1em&quot; rowspacing=&quot;4pt&quot;&gt;&lt;mtr&gt;&lt;mtd&gt;&lt;mfrac&gt;&lt;mn&gt;5&lt;/mn&gt;&lt;mn&gt;3&lt;/mn&gt;&lt;/mfrac&gt;&lt;mo&gt;×&lt;/mo&gt;&lt;mfrac&gt;&lt;mn&gt;3&lt;/mn&gt;&lt;mn&gt;5&lt;/mn&gt;&lt;/mfrac&gt;&lt;mrow data-mjx-texclass=&quot;INNER&quot;&gt;&lt;mo data-mjx-texclass=&quot;OPEN&quot;&gt;(&lt;/mo&gt;&lt;mn&gt;7&lt;/mn&gt;&lt;mi&gt;x&lt;/mi&gt;&lt;mo&gt;−&lt;/mo&gt;&lt;mn&gt;4&lt;/mn&gt;&lt;mo data-mjx-texclass=&quot;CLOSE&quot;&gt;)&lt;/mo&gt;&lt;/mrow&gt;&lt;mo&gt;=&lt;/mo&gt;&lt;mfrac&gt;&lt;mn&gt;5&lt;/mn&gt;&lt;mn&gt;3&lt;/mn&gt;&lt;/mfrac&gt;&lt;mo&gt;×&lt;/mo&gt;&lt;mn&gt;21&lt;/mn&gt;&lt;/mtd&gt;&lt;/mtr&gt;&lt;/mtable&gt;&lt;/math&gt;" id="236" name="Google Shape;236;p21" title="1 lines Line 1: five thirds times three fifths times open paren 7 x minus 4 close paren equals five thirds times 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125" y="7593606"/>
            <a:ext cx="1563900" cy="2246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7" name="Google Shape;237;p21"/>
          <p:cNvGraphicFramePr/>
          <p:nvPr/>
        </p:nvGraphicFramePr>
        <p:xfrm>
          <a:off x="743136" y="78645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657875"/>
                <a:gridCol w="200000"/>
                <a:gridCol w="268725"/>
              </a:tblGrid>
              <a:tr h="224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4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x=\frac{39}{7}&quot;&gt;&lt;mi&gt;x&lt;/mi&gt;&lt;mo&gt;=&lt;/mo&gt;&lt;mfrac&gt;&lt;mn&gt;39&lt;/mn&gt;&lt;mn&gt;7&lt;/mn&gt;&lt;/mfrac&gt;&lt;/math&gt;" id="238" name="Google Shape;238;p21" title="x equals 39 over 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30287" y="8338280"/>
            <a:ext cx="442557" cy="30383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2391925" y="7274400"/>
            <a:ext cx="248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5}\left(5x-15\right)=\frac{3}{2}\left(x+4\right)\end{array}&quot;&gt;&lt;mtable columnalign=&quot;left&quot; columnspacing=&quot;1em&quot; rowspacing=&quot;4pt&quot;&gt;&lt;mtr&gt;&lt;mtd&gt;&lt;mfrac&gt;&lt;mn&gt;1&lt;/mn&gt;&lt;mn&gt;5&lt;/mn&gt;&lt;/mfrac&gt;&lt;mrow data-mjx-texclass=&quot;INNER&quot;&gt;&lt;mo data-mjx-texclass=&quot;OPEN&quot;&gt;(&lt;/mo&gt;&lt;mn&gt;5&lt;/mn&gt;&lt;mi&gt;x&lt;/mi&gt;&lt;mo&gt;−&lt;/mo&gt;&lt;mn&gt;15&lt;/mn&gt;&lt;mo data-mjx-texclass=&quot;CLOSE&quot;&gt;)&lt;/mo&gt;&lt;/mrow&gt;&lt;mo&gt;=&lt;/mo&gt;&lt;mfrac&gt;&lt;mn&gt;3&lt;/mn&gt;&lt;mn&gt;2&lt;/mn&gt;&lt;/mfrac&gt;&lt;mrow data-mjx-texclass=&quot;INNER&quot;&gt;&lt;mo data-mjx-texclass=&quot;OPEN&quot;&gt;(&lt;/mo&gt;&lt;mi&gt;x&lt;/mi&gt;&lt;mo&gt;+&lt;/mo&gt;&lt;mn&gt;4&lt;/mn&gt;&lt;mo data-mjx-texclass=&quot;CLOSE&quot;&gt;)&lt;/mo&gt;&lt;/mrow&gt;&lt;/mtd&gt;&lt;/mtr&gt;&lt;/mtable&gt;&lt;/math&gt;" id="240" name="Google Shape;240;p21" title="1 lines Line 1: one fifth times open paren 5 x minus 15 close paren equals three halves times open paren x plus 4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15181" y="7307750"/>
            <a:ext cx="1407581" cy="2128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x-3=\frac{3}{2}\left(x+4\right)\end{array}&quot;&gt;&lt;mtable columnalign=&quot;left&quot; columnspacing=&quot;1em&quot; rowspacing=&quot;4pt&quot;&gt;&lt;mtr&gt;&lt;mtd&gt;&lt;mi&gt;x&lt;/mi&gt;&lt;mo&gt;−&lt;/mo&gt;&lt;mn&gt;3&lt;/mn&gt;&lt;mo&gt;=&lt;/mo&gt;&lt;mfrac&gt;&lt;mn&gt;3&lt;/mn&gt;&lt;mn&gt;2&lt;/mn&gt;&lt;/mfrac&gt;&lt;mrow data-mjx-texclass=&quot;INNER&quot;&gt;&lt;mo data-mjx-texclass=&quot;OPEN&quot;&gt;(&lt;/mo&gt;&lt;mi&gt;x&lt;/mi&gt;&lt;mo&gt;+&lt;/mo&gt;&lt;mn&gt;4&lt;/mn&gt;&lt;mo data-mjx-texclass=&quot;CLOSE&quot;&gt;)&lt;/mo&gt;&lt;/mrow&gt;&lt;/mtd&gt;&lt;/mtr&gt;&lt;/mtable&gt;&lt;/math&gt;" id="241" name="Google Shape;241;p21" title="1 lines Line 1: x minus 3 equals three halves times open paren x plus 4 close pare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65049" y="7600321"/>
            <a:ext cx="1070167" cy="2124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}{3}\times\left(x-3\right)=\frac{2}{3}\times\frac{3}{2}\left(x+4\right)\end{array}&quot;&gt;&lt;mtable columnalign=&quot;left&quot; columnspacing=&quot;1em&quot; rowspacing=&quot;4pt&quot;&gt;&lt;mtr&gt;&lt;mtd&gt;&lt;mfrac&gt;&lt;mn&gt;2&lt;/mn&gt;&lt;mn&gt;3&lt;/mn&gt;&lt;/mfrac&gt;&lt;mo&gt;×&lt;/mo&gt;&lt;mrow data-mjx-texclass=&quot;INNER&quot;&gt;&lt;mo data-mjx-texclass=&quot;OPEN&quot;&gt;(&lt;/mo&gt;&lt;mi&gt;x&lt;/mi&gt;&lt;mo&gt;−&lt;/mo&gt;&lt;mn&gt;3&lt;/mn&gt;&lt;mo data-mjx-texclass=&quot;CLOSE&quot;&gt;)&lt;/mo&gt;&lt;/mrow&gt;&lt;mo&gt;=&lt;/mo&gt;&lt;mfrac&gt;&lt;mn&gt;2&lt;/mn&gt;&lt;mn&gt;3&lt;/mn&gt;&lt;/mfrac&gt;&lt;mo&gt;×&lt;/mo&gt;&lt;mfrac&gt;&lt;mn&gt;3&lt;/mn&gt;&lt;mn&gt;2&lt;/mn&gt;&lt;/mfrac&gt;&lt;mrow data-mjx-texclass=&quot;INNER&quot;&gt;&lt;mo data-mjx-texclass=&quot;OPEN&quot;&gt;(&lt;/mo&gt;&lt;mi&gt;x&lt;/mi&gt;&lt;mo&gt;+&lt;/mo&gt;&lt;mn&gt;4&lt;/mn&gt;&lt;mo data-mjx-texclass=&quot;CLOSE&quot;&gt;)&lt;/mo&gt;&lt;/mrow&gt;&lt;/mtd&gt;&lt;/mtr&gt;&lt;/mtable&gt;&lt;/math&gt;" id="242" name="Google Shape;242;p21" title="1 lines Line 1: two thirds times open paren x minus 3 close paren equals two thirds times three halves times open paren x plus 4 close paren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06725" y="7910773"/>
            <a:ext cx="1690950" cy="212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x}{3}-2=x+4\end{array}&quot;&gt;&lt;mtable columnalign=&quot;left&quot; columnspacing=&quot;1em&quot; rowspacing=&quot;4pt&quot;&gt;&lt;mtr&gt;&lt;mtd&gt;&lt;mfrac&gt;&lt;mrow&gt;&lt;mn&gt;2&lt;/mn&gt;&lt;mi&gt;x&lt;/mi&gt;&lt;/mrow&gt;&lt;mn&gt;3&lt;/mn&gt;&lt;/mfrac&gt;&lt;mo&gt;−&lt;/mo&gt;&lt;mn&gt;2&lt;/mn&gt;&lt;mo&gt;=&lt;/mo&gt;&lt;mi&gt;x&lt;/mi&gt;&lt;mo&gt;+&lt;/mo&gt;&lt;mn&gt;4&lt;/mn&gt;&lt;/mtd&gt;&lt;/mtr&gt;&lt;/mtable&gt;&lt;/math&gt;" id="243" name="Google Shape;243;p21" title="1 lines Line 1: 2 x over 3 minus 2 equals x plus 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897595" y="8212309"/>
            <a:ext cx="922283" cy="209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-6=\frac{1}{3}x\end{array}&quot;&gt;&lt;mtable columnalign=&quot;left&quot; columnspacing=&quot;1em&quot; rowspacing=&quot;4pt&quot;&gt;&lt;mtr&gt;&lt;mtd&gt;&lt;mo&gt;−&lt;/mo&gt;&lt;mn&gt;6&lt;/mn&gt;&lt;mo&gt;=&lt;/mo&gt;&lt;mfrac&gt;&lt;mn&gt;1&lt;/mn&gt;&lt;mn&gt;3&lt;/mn&gt;&lt;/mfrac&gt;&lt;mi&gt;x&lt;/mi&gt;&lt;/mtd&gt;&lt;/mtr&gt;&lt;/mtable&gt;&lt;/math&gt;" id="244" name="Google Shape;244;p21" title="1 lines Line 1: negative 6 equals one third x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123283" y="8489985"/>
            <a:ext cx="560536" cy="214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x=-18\end{array}&quot;&gt;&lt;mtable columnalign=&quot;left&quot; columnspacing=&quot;1em&quot; rowspacing=&quot;4pt&quot;&gt;&lt;mtr&gt;&lt;mtd&gt;&lt;mi&gt;x&lt;/mi&gt;&lt;mo&gt;=&lt;/mo&gt;&lt;mo&gt;−&lt;/mo&gt;&lt;mn&gt;18&lt;/mn&gt;&lt;/mtd&gt;&lt;/mtr&gt;&lt;/mtable&gt;&lt;/math&gt;" id="245" name="Google Shape;245;p21" title="1 lines Line 1: x equals negative 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212351" y="8791603"/>
            <a:ext cx="560537" cy="116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5}\left(5x-15\right)=\frac{3}{2}\left(x+4\right)\end{array}&quot;&gt;&lt;mtable columnalign=&quot;left&quot; columnspacing=&quot;1em&quot; rowspacing=&quot;4pt&quot;&gt;&lt;mtr&gt;&lt;mtd&gt;&lt;mfrac&gt;&lt;mn&gt;1&lt;/mn&gt;&lt;mn&gt;5&lt;/mn&gt;&lt;/mfrac&gt;&lt;mrow data-mjx-texclass=&quot;INNER&quot;&gt;&lt;mo data-mjx-texclass=&quot;OPEN&quot;&gt;(&lt;/mo&gt;&lt;mn&gt;5&lt;/mn&gt;&lt;mi&gt;x&lt;/mi&gt;&lt;mo&gt;−&lt;/mo&gt;&lt;mn&gt;15&lt;/mn&gt;&lt;mo data-mjx-texclass=&quot;CLOSE&quot;&gt;)&lt;/mo&gt;&lt;/mrow&gt;&lt;mo&gt;=&lt;/mo&gt;&lt;mfrac&gt;&lt;mn&gt;3&lt;/mn&gt;&lt;mn&gt;2&lt;/mn&gt;&lt;/mfrac&gt;&lt;mrow data-mjx-texclass=&quot;INNER&quot;&gt;&lt;mo data-mjx-texclass=&quot;OPEN&quot;&gt;(&lt;/mo&gt;&lt;mi&gt;x&lt;/mi&gt;&lt;mo&gt;+&lt;/mo&gt;&lt;mn&gt;4&lt;/mn&gt;&lt;mo data-mjx-texclass=&quot;CLOSE&quot;&gt;)&lt;/mo&gt;&lt;/mrow&gt;&lt;/mtd&gt;&lt;/mtr&gt;&lt;/mtable&gt;&lt;/math&gt;" id="246" name="Google Shape;246;p21" title="1 lines Line 1: one fifth times open paren 5 x minus 15 close paren equals three halves times open paren x plus 4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14920" y="7310625"/>
            <a:ext cx="1418927" cy="214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\times\frac{1}{5}\left(5x-15\right)=10\times\frac{3}{2}\left(x+4\right)\end{array}&quot;&gt;&lt;mtable columnalign=&quot;left&quot; columnspacing=&quot;1em&quot; rowspacing=&quot;4pt&quot;&gt;&lt;mtr&gt;&lt;mtd&gt;&lt;mn&gt;10&lt;/mn&gt;&lt;mo&gt;×&lt;/mo&gt;&lt;mfrac&gt;&lt;mn&gt;1&lt;/mn&gt;&lt;mn&gt;5&lt;/mn&gt;&lt;/mfrac&gt;&lt;mrow data-mjx-texclass=&quot;INNER&quot;&gt;&lt;mo data-mjx-texclass=&quot;OPEN&quot;&gt;(&lt;/mo&gt;&lt;mn&gt;5&lt;/mn&gt;&lt;mi&gt;x&lt;/mi&gt;&lt;mo&gt;−&lt;/mo&gt;&lt;mn&gt;15&lt;/mn&gt;&lt;mo data-mjx-texclass=&quot;CLOSE&quot;&gt;)&lt;/mo&gt;&lt;/mrow&gt;&lt;mo&gt;=&lt;/mo&gt;&lt;mn&gt;10&lt;/mn&gt;&lt;mo&gt;×&lt;/mo&gt;&lt;mfrac&gt;&lt;mn&gt;3&lt;/mn&gt;&lt;mn&gt;2&lt;/mn&gt;&lt;/mfrac&gt;&lt;mrow data-mjx-texclass=&quot;INNER&quot;&gt;&lt;mo data-mjx-texclass=&quot;OPEN&quot;&gt;(&lt;/mo&gt;&lt;mi&gt;x&lt;/mi&gt;&lt;mo&gt;+&lt;/mo&gt;&lt;mn&gt;4&lt;/mn&gt;&lt;mo data-mjx-texclass=&quot;CLOSE&quot;&gt;)&lt;/mo&gt;&lt;/mrow&gt;&lt;/mtd&gt;&lt;/mtr&gt;&lt;/mtable&gt;&lt;/math&gt;" id="247" name="Google Shape;247;p21" title="1 lines Line 1: 10 times one fifth times open paren 5 x minus 15 close paren equals 10 times three halves times open paren x plus 4 close paren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855200" y="7620230"/>
            <a:ext cx="1937150" cy="201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0}{5}\left(5x-15\right)=\frac{30}{2}\left(x+4\right)\end{array}&quot;&gt;&lt;mtable columnalign=&quot;left&quot; columnspacing=&quot;1em&quot; rowspacing=&quot;4pt&quot;&gt;&lt;mtr&gt;&lt;mtd&gt;&lt;mfrac&gt;&lt;mn&gt;10&lt;/mn&gt;&lt;mn&gt;5&lt;/mn&gt;&lt;/mfrac&gt;&lt;mrow data-mjx-texclass=&quot;INNER&quot;&gt;&lt;mo data-mjx-texclass=&quot;OPEN&quot;&gt;(&lt;/mo&gt;&lt;mn&gt;5&lt;/mn&gt;&lt;mi&gt;x&lt;/mi&gt;&lt;mo&gt;−&lt;/mo&gt;&lt;mn&gt;15&lt;/mn&gt;&lt;mo data-mjx-texclass=&quot;CLOSE&quot;&gt;)&lt;/mo&gt;&lt;/mrow&gt;&lt;mo&gt;=&lt;/mo&gt;&lt;mfrac&gt;&lt;mn&gt;30&lt;/mn&gt;&lt;mn&gt;2&lt;/mn&gt;&lt;/mfrac&gt;&lt;mrow data-mjx-texclass=&quot;INNER&quot;&gt;&lt;mo data-mjx-texclass=&quot;OPEN&quot;&gt;(&lt;/mo&gt;&lt;mi&gt;x&lt;/mi&gt;&lt;mo&gt;+&lt;/mo&gt;&lt;mn&gt;4&lt;/mn&gt;&lt;mo data-mjx-texclass=&quot;CLOSE&quot;&gt;)&lt;/mo&gt;&lt;/mrow&gt;&lt;/mtd&gt;&lt;/mtr&gt;&lt;/mtable&gt;&lt;/math&gt;" id="248" name="Google Shape;248;p21" title="1 lines Line 1: ten fifths times open paren 5 x minus 15 close paren equals 30 over 2 times open paren x plus 4 close paren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108587" y="7930892"/>
            <a:ext cx="1434718" cy="20150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9" name="Google Shape;249;p21"/>
          <p:cNvGraphicFramePr/>
          <p:nvPr/>
        </p:nvGraphicFramePr>
        <p:xfrm>
          <a:off x="4894102" y="8178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{D874E414-4B36-4D23-B305-59AC0E6A034A}</a:tableStyleId>
              </a:tblPr>
              <a:tblGrid>
                <a:gridCol w="878550"/>
                <a:gridCol w="266325"/>
                <a:gridCol w="792275"/>
              </a:tblGrid>
              <a:tr h="160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2(5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15)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15(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+4)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− 30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−90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21"/>
          <p:cNvSpPr txBox="1"/>
          <p:nvPr/>
        </p:nvSpPr>
        <p:spPr>
          <a:xfrm>
            <a:off x="4601725" y="7274400"/>
            <a:ext cx="248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or…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