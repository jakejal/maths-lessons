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4"/>
    <p:sldMasterId id="21474837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EF6676-5A03-4EF0-AD80-367B8B6233E1}">
  <a:tblStyle styleId="{38EF6676-5A03-4EF0-AD80-367B8B6233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29dc3a165f5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29dc3a165f5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29dc3a165f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29dc3a165f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29dc3a165f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29dc3a165f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1eb8e1c960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1eb8e1c960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1eb8e1c960b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1eb8e1c960b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1eb8e1c960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1eb8e1c960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1eb8e1c960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1eb8e1c960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g1eb8e1c960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g1eb8e1c960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1eb8e1c960b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6" name="Google Shape;1696;g1eb8e1c960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1eb8e1c960b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1eb8e1c960b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1eb8e1c960b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8" name="Google Shape;1728;g1eb8e1c960b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1eb8e1c960b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1eb8e1c960b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1eb8e1c960b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1eb8e1c960b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1eb8e1c960b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0" name="Google Shape;1780;g1eb8e1c960b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1eb8e1c960b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1eb8e1c960b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1eb8e1c960b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1eb8e1c960b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29f42e8cf5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29f42e8cf5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g29dc3a165f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29dc3a165f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29f42e8cf5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3" name="Google Shape;1863;g29f42e8cf5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29f42e8cf5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2" name="Google Shape;1872;g29f42e8cf5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29f42e8cf57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29f42e8cf57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g29f42e8cf57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7" name="Google Shape;1907;g29f42e8cf57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g29f42e8cf57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1" name="Google Shape;1931;g29f42e8cf5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29f42e8cf5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29f42e8cf5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g29dc3a165f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6" name="Google Shape;1986;g29dc3a165f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g29dc3a165f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4" name="Google Shape;1994;g29dc3a165f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g1eb8e1c960b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7" name="Google Shape;2007;g1eb8e1c960b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g1eb8e1c960b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5" name="Google Shape;2025;g1eb8e1c960b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29f42e8cf57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9" name="Google Shape;2039;g29f42e8cf57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g1eb8e1c960b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7" name="Google Shape;2057;g1eb8e1c960b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eb8e1c960b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eb8e1c960b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8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g1eb8e1c960b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0" name="Google Shape;2100;g1eb8e1c960b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1eb8e1c960b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1eb8e1c960b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g1eb8e1c960b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3" name="Google Shape;2133;g1eb8e1c960b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g1eb8e1c960b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2" name="Google Shape;2142;g1eb8e1c960b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g29f42e8cf57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2" name="Google Shape;2162;g29f42e8cf57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g29dc3a165f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2" name="Google Shape;2172;g29dc3a165f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g1eb8e1c960b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8" name="Google Shape;2218;g1eb8e1c960b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g29f42e8cf57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5" name="Google Shape;2245;g29f42e8cf57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g29f42e8cf57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6" name="Google Shape;2296;g29f42e8cf57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91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Relationship Id="rId7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91.png"/><Relationship Id="rId4" Type="http://schemas.openxmlformats.org/officeDocument/2006/relationships/image" Target="../media/image23.png"/><Relationship Id="rId9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91.png"/><Relationship Id="rId4" Type="http://schemas.openxmlformats.org/officeDocument/2006/relationships/image" Target="../media/image34.png"/><Relationship Id="rId11" Type="http://schemas.openxmlformats.org/officeDocument/2006/relationships/image" Target="../media/image16.png"/><Relationship Id="rId10" Type="http://schemas.openxmlformats.org/officeDocument/2006/relationships/image" Target="../media/image38.png"/><Relationship Id="rId9" Type="http://schemas.openxmlformats.org/officeDocument/2006/relationships/image" Target="../media/image31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5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91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Relationship Id="rId7" Type="http://schemas.openxmlformats.org/officeDocument/2006/relationships/image" Target="../media/image16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91.png"/><Relationship Id="rId4" Type="http://schemas.openxmlformats.org/officeDocument/2006/relationships/image" Target="../media/image23.png"/><Relationship Id="rId9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91.png"/><Relationship Id="rId4" Type="http://schemas.openxmlformats.org/officeDocument/2006/relationships/image" Target="../media/image34.png"/><Relationship Id="rId11" Type="http://schemas.openxmlformats.org/officeDocument/2006/relationships/image" Target="../media/image16.png"/><Relationship Id="rId10" Type="http://schemas.openxmlformats.org/officeDocument/2006/relationships/image" Target="../media/image38.png"/><Relationship Id="rId9" Type="http://schemas.openxmlformats.org/officeDocument/2006/relationships/image" Target="../media/image31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50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50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9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2" name="Google Shape;652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3" name="Google Shape;653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4" name="Google Shape;65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3" name="Google Shape;66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1" name="Google Shape;67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9" name="Google Shape;67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4" name="Google Shape;684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6" name="Google Shape;68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5" name="Google Shape;6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2" name="Google Shape;702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3" name="Google Shape;70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0" name="Google Shape;750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1" name="Google Shape;7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7" name="Google Shape;757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1" name="Google Shape;761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6" name="Google Shape;766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8" name="Google Shape;768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7" name="Google Shape;777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8" name="Google Shape;778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9" name="Google Shape;779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0" name="Google Shape;780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6" name="Google Shape;78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8" name="Google Shape;788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3" name="Google Shape;793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5" name="Google Shape;795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6" name="Google Shape;796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7" name="Google Shape;797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99" name="Google Shape;799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4" name="Google Shape;804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6" name="Google Shape;80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1" name="Google Shape;811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3" name="Google Shape;81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5" name="Google Shape;815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6" name="Google Shape;816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8" name="Google Shape;818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5" name="Google Shape;825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7" name="Google Shape;837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8" name="Google Shape;838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39" name="Google Shape;839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2" name="Google Shape;842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6" name="Google Shape;846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9" name="Google Shape;849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3" name="Google Shape;853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6" name="Google Shape;856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0" name="Google Shape;86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5" name="Google Shape;885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7" name="Google Shape;897;p80"/>
          <p:cNvCxnSpPr>
            <a:endCxn id="89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9" name="Google Shape;89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1" name="Google Shape;901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8" name="Google Shape;898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Google Shape;906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2" name="Google Shape;912;p81"/>
          <p:cNvCxnSpPr>
            <a:endCxn id="91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3" name="Google Shape;913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6" name="Google Shape;916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8" name="Google Shape;918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0" name="Google Shape;920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2" name="Google Shape;932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3" name="Google Shape;933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2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7" name="Google Shape;937;p82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0" name="Google Shape;940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2" name="Google Shape;942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9" name="Google Shape;94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0" name="Google Shape;9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6" name="Google Shape;956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8" name="Google Shape;95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3" name="Google Shape;963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5" name="Google Shape;96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0" name="Google Shape;97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2" name="Google Shape;97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5" name="Google Shape;975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8" name="Google Shape;978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0" name="Google Shape;980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1" name="Google Shape;981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3" name="Google Shape;983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4" name="Google Shape;984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5" name="Google Shape;985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8" name="Google Shape;988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1" name="Google Shape;991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3" name="Google Shape;993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4" name="Google Shape;994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6" name="Google Shape;996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7" name="Google Shape;997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1" name="Google Shape;1001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4" name="Google Shape;1004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6" name="Google Shape;1006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7" name="Google Shape;1007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9" name="Google Shape;1009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0" name="Google Shape;1010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4" name="Google Shape;1014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7" name="Google Shape;1017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9" name="Google Shape;1019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0" name="Google Shape;1020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2" name="Google Shape;1022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3" name="Google Shape;102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4" name="Google Shape;1024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6" name="Google Shape;1036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7" name="Google Shape;1037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9" name="Google Shape;1039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2" name="Google Shape;1042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3" name="Google Shape;1043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5" name="Google Shape;1045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6" name="Google Shape;1046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7" name="Google Shape;1047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Google Shape;1049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5" name="Google Shape;1055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6" name="Google Shape;105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9" name="Google Shape;1059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1" name="Google Shape;1061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2" name="Google Shape;1062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4" name="Google Shape;1064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5" name="Google Shape;106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" name="Google Shape;106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7" name="Google Shape;1067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2" name="Google Shape;1072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8" name="Google Shape;1078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9" name="Google Shape;1079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2" name="Google Shape;1082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4" name="Google Shape;1084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5" name="Google Shape;108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7" name="Google Shape;1087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8" name="Google Shape;108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0" name="Google Shape;109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1" name="Google Shape;1101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2" name="Google Shape;1102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5" name="Google Shape;1105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7" name="Google Shape;1107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8" name="Google Shape;1108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0" name="Google Shape;1110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1" name="Google Shape;1111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2" name="Google Shape;1112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3" name="Google Shape;1113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Google Shape;1118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1" name="Google Shape;1121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4" name="Google Shape;1124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7" name="Google Shape;1127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8" name="Google Shape;112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1" name="Google Shape;113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3" name="Google Shape;1133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4" name="Google Shape;113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5" name="Google Shape;113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0" name="Google Shape;1140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3" name="Google Shape;1143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6" name="Google Shape;1146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7" name="Google Shape;114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0" name="Google Shape;1150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2" name="Google Shape;1152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3" name="Google Shape;1153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4" name="Google Shape;1154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9" name="Google Shape;1159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2" name="Google Shape;1162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5" name="Google Shape;1165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6" name="Google Shape;1166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9" name="Google Shape;1169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1" name="Google Shape;1171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2" name="Google Shape;117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3" name="Google Shape;117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8" name="Google Shape;1178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1" name="Google Shape;1181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4" name="Google Shape;1184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5" name="Google Shape;118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8" name="Google Shape;118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0" name="Google Shape;1190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1" name="Google Shape;119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2" name="Google Shape;119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7" name="Google Shape;1197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0" name="Google Shape;1200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4" name="Google Shape;1204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5" name="Google Shape;120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8" name="Google Shape;1208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1" name="Google Shape;1211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3" name="Google Shape;1213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4" name="Google Shape;121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5" name="Google Shape;121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7" name="Google Shape;1217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0" name="Google Shape;1220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3" name="Google Shape;1223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7" name="Google Shape;1227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8" name="Google Shape;122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1" name="Google Shape;123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4" name="Google Shape;123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6" name="Google Shape;1236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7" name="Google Shape;123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8" name="Google Shape;123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1240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3" name="Google Shape;1243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6" name="Google Shape;1246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0" name="Google Shape;1250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1" name="Google Shape;125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4" name="Google Shape;125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7" name="Google Shape;125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9" name="Google Shape;1259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0" name="Google Shape;1260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6" name="Google Shape;126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9" name="Google Shape;1269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3" name="Google Shape;1273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2" name="Google Shape;1282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3" name="Google Shape;128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4" name="Google Shape;128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6" name="Google Shape;1286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9" name="Google Shape;128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2" name="Google Shape;1292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3" name="Google Shape;1293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5" name="Google Shape;1295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6" name="Google Shape;129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1" name="Google Shape;1301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2" name="Google Shape;1302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3" name="Google Shape;130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5" name="Google Shape;1305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8" name="Google Shape;1308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1" name="Google Shape;1311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2" name="Google Shape;1312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4" name="Google Shape;1314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0" name="Google Shape;1320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1" name="Google Shape;1321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4" name="Google Shape;1324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7" name="Google Shape;1327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0" name="Google Shape;1330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1" name="Google Shape;1331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2" name="Google Shape;1332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3" name="Google Shape;1333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7" name="Google Shape;1337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9" name="Google Shape;1339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0" name="Google Shape;134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1" name="Google Shape;134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3" name="Google Shape;1343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6" name="Google Shape;1346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9" name="Google Shape;1349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0" name="Google Shape;1350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2" name="Google Shape;1352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8" name="Google Shape;1358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9" name="Google Shape;135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0" name="Google Shape;136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" name="Google Shape;1362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5" name="Google Shape;1365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9" name="Google Shape;1369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2" name="Google Shape;1372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6" name="Google Shape;1376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9" name="Google Shape;137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6" name="Google Shape;138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0" name="Google Shape;1390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3" name="Google Shape;1393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5" name="Google Shape;1395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1" name="Google Shape;1401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4" name="Google Shape;1404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9" name="Google Shape;1409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2" name="Google Shape;141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7" name="Google Shape;1417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0" name="Google Shape;1420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Google Shape;1422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5" name="Google Shape;1425;p115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7" name="Google Shape;1427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Google Shape;1430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3" name="Google Shape;1433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5" name="Google Shape;1435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6" name="Google Shape;1436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1" name="Google Shape;1441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3" name="Google Shape;1443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4" name="Google Shape;1444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9" name="Google Shape;1449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1" name="Google Shape;1451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2" name="Google Shape;145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5" name="Google Shape;1455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7" name="Google Shape;1457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1" name="Google Shape;1461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3" name="Google Shape;1463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7" name="Google Shape;1467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4" name="Google Shape;744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png"/><Relationship Id="rId4" Type="http://schemas.openxmlformats.org/officeDocument/2006/relationships/image" Target="../media/image9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9.png"/><Relationship Id="rId4" Type="http://schemas.openxmlformats.org/officeDocument/2006/relationships/image" Target="../media/image10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6.png"/><Relationship Id="rId4" Type="http://schemas.openxmlformats.org/officeDocument/2006/relationships/image" Target="../media/image98.png"/><Relationship Id="rId5" Type="http://schemas.openxmlformats.org/officeDocument/2006/relationships/image" Target="../media/image10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9.png"/><Relationship Id="rId4" Type="http://schemas.openxmlformats.org/officeDocument/2006/relationships/image" Target="../media/image10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8.png"/><Relationship Id="rId4" Type="http://schemas.openxmlformats.org/officeDocument/2006/relationships/image" Target="../media/image100.png"/><Relationship Id="rId5" Type="http://schemas.openxmlformats.org/officeDocument/2006/relationships/image" Target="../media/image10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5.png"/><Relationship Id="rId4" Type="http://schemas.openxmlformats.org/officeDocument/2006/relationships/image" Target="../media/image104.png"/><Relationship Id="rId9" Type="http://schemas.openxmlformats.org/officeDocument/2006/relationships/image" Target="../media/image111.png"/><Relationship Id="rId5" Type="http://schemas.openxmlformats.org/officeDocument/2006/relationships/image" Target="../media/image106.png"/><Relationship Id="rId6" Type="http://schemas.openxmlformats.org/officeDocument/2006/relationships/image" Target="../media/image110.png"/><Relationship Id="rId7" Type="http://schemas.openxmlformats.org/officeDocument/2006/relationships/image" Target="../media/image109.png"/><Relationship Id="rId8" Type="http://schemas.openxmlformats.org/officeDocument/2006/relationships/image" Target="../media/image107.png"/><Relationship Id="rId10" Type="http://schemas.openxmlformats.org/officeDocument/2006/relationships/image" Target="../media/image1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3.png"/><Relationship Id="rId4" Type="http://schemas.openxmlformats.org/officeDocument/2006/relationships/image" Target="../media/image100.png"/><Relationship Id="rId5" Type="http://schemas.openxmlformats.org/officeDocument/2006/relationships/image" Target="../media/image112.png"/><Relationship Id="rId6" Type="http://schemas.openxmlformats.org/officeDocument/2006/relationships/image" Target="../media/image1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0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Relationship Id="rId7" Type="http://schemas.openxmlformats.org/officeDocument/2006/relationships/image" Target="../media/image119.png"/><Relationship Id="rId8" Type="http://schemas.openxmlformats.org/officeDocument/2006/relationships/image" Target="../media/image12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0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Relationship Id="rId7" Type="http://schemas.openxmlformats.org/officeDocument/2006/relationships/image" Target="../media/image119.png"/><Relationship Id="rId8" Type="http://schemas.openxmlformats.org/officeDocument/2006/relationships/image" Target="../media/image12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algebraic notation</a:t>
            </a:r>
            <a:endParaRPr/>
          </a:p>
        </p:txBody>
      </p:sp>
      <p:sp>
        <p:nvSpPr>
          <p:cNvPr id="1488" name="Google Shape;1488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26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represent situations using algebra.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28"/>
          <p:cNvSpPr txBox="1"/>
          <p:nvPr>
            <p:ph idx="2" type="subTitle"/>
          </p:nvPr>
        </p:nvSpPr>
        <p:spPr>
          <a:xfrm>
            <a:off x="324001" y="3762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integer is any positive or negative whole number or zero. E.g. </a:t>
            </a:r>
            <a:r>
              <a:rPr lang="en-GB">
                <a:solidFill>
                  <a:srgbClr val="222222"/>
                </a:solidFill>
              </a:rPr>
              <a:t>−</a:t>
            </a:r>
            <a:r>
              <a:rPr lang="en-GB"/>
              <a:t>2, 0, 153 are all examples of integers. </a:t>
            </a:r>
            <a:endParaRPr/>
          </a:p>
        </p:txBody>
      </p:sp>
      <p:sp>
        <p:nvSpPr>
          <p:cNvPr id="1504" name="Google Shape;1504;p128"/>
          <p:cNvSpPr txBox="1"/>
          <p:nvPr>
            <p:ph idx="1" type="subTitle"/>
          </p:nvPr>
        </p:nvSpPr>
        <p:spPr>
          <a:xfrm>
            <a:off x="324000" y="2517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equation is used to show 2 expressions that are equal to each other. </a:t>
            </a:r>
            <a:endParaRPr/>
          </a:p>
        </p:txBody>
      </p:sp>
      <p:sp>
        <p:nvSpPr>
          <p:cNvPr id="1505" name="Google Shape;1505;p128"/>
          <p:cNvSpPr txBox="1"/>
          <p:nvPr>
            <p:ph idx="3" type="subTitle"/>
          </p:nvPr>
        </p:nvSpPr>
        <p:spPr>
          <a:xfrm>
            <a:off x="324001" y="1111288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expression c</a:t>
            </a:r>
            <a:r>
              <a:rPr lang="en-GB"/>
              <a:t>ontains one or more terms, where each term is separated by an operator.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12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511" name="Google Shape;1511;p12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sp>
        <p:nvSpPr>
          <p:cNvPr id="1512" name="Google Shape;1512;p12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algebraic notation</a:t>
            </a:r>
            <a:endParaRPr/>
          </a:p>
        </p:txBody>
      </p:sp>
      <p:pic>
        <p:nvPicPr>
          <p:cNvPr id="1513" name="Google Shape;1513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317" y="205914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30"/>
          <p:cNvSpPr/>
          <p:nvPr/>
        </p:nvSpPr>
        <p:spPr>
          <a:xfrm>
            <a:off x="393275" y="2085575"/>
            <a:ext cx="6039600" cy="24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520" name="Google Shape;1520;p130"/>
          <p:cNvSpPr txBox="1"/>
          <p:nvPr>
            <p:ph idx="1" type="body"/>
          </p:nvPr>
        </p:nvSpPr>
        <p:spPr>
          <a:xfrm>
            <a:off x="577775" y="2160000"/>
            <a:ext cx="59115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Alex has 5 blocks of different heights.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21" name="Google Shape;1521;p130"/>
          <p:cNvSpPr txBox="1"/>
          <p:nvPr>
            <p:ph idx="1" type="body"/>
          </p:nvPr>
        </p:nvSpPr>
        <p:spPr>
          <a:xfrm>
            <a:off x="363675" y="840950"/>
            <a:ext cx="8456400" cy="69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Missing number problems occur often in mathematics and real life situations.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Here is a problem:</a:t>
            </a:r>
            <a:endParaRPr sz="1800"/>
          </a:p>
        </p:txBody>
      </p:sp>
      <p:sp>
        <p:nvSpPr>
          <p:cNvPr id="1522" name="Google Shape;1522;p130"/>
          <p:cNvSpPr txBox="1"/>
          <p:nvPr>
            <p:ph idx="1" type="body"/>
          </p:nvPr>
        </p:nvSpPr>
        <p:spPr>
          <a:xfrm>
            <a:off x="6602050" y="2085575"/>
            <a:ext cx="2154600" cy="1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start to solve this problem? </a:t>
            </a:r>
            <a:endParaRPr sz="1800"/>
          </a:p>
        </p:txBody>
      </p:sp>
      <p:sp>
        <p:nvSpPr>
          <p:cNvPr id="1523" name="Google Shape;1523;p130"/>
          <p:cNvSpPr txBox="1"/>
          <p:nvPr>
            <p:ph idx="1" type="body"/>
          </p:nvPr>
        </p:nvSpPr>
        <p:spPr>
          <a:xfrm>
            <a:off x="577775" y="2571600"/>
            <a:ext cx="59115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He lines them up from smallest to largest.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24" name="Google Shape;1524;p130"/>
          <p:cNvSpPr txBox="1"/>
          <p:nvPr>
            <p:ph idx="1" type="body"/>
          </p:nvPr>
        </p:nvSpPr>
        <p:spPr>
          <a:xfrm>
            <a:off x="577775" y="3034200"/>
            <a:ext cx="59115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Each block is 2 cm taller than the previous block.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25" name="Google Shape;1525;p130"/>
          <p:cNvSpPr txBox="1"/>
          <p:nvPr>
            <p:ph idx="1" type="body"/>
          </p:nvPr>
        </p:nvSpPr>
        <p:spPr>
          <a:xfrm>
            <a:off x="577775" y="3445800"/>
            <a:ext cx="59115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he stacks the two smallest blocks on top of each other, they are the same height as the largest block.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26" name="Google Shape;1526;p130"/>
          <p:cNvSpPr txBox="1"/>
          <p:nvPr>
            <p:ph idx="1" type="body"/>
          </p:nvPr>
        </p:nvSpPr>
        <p:spPr>
          <a:xfrm>
            <a:off x="577775" y="4147175"/>
            <a:ext cx="59115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How tall would a tower of all 5 blocks be?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131"/>
          <p:cNvSpPr/>
          <p:nvPr/>
        </p:nvSpPr>
        <p:spPr>
          <a:xfrm>
            <a:off x="349800" y="1268275"/>
            <a:ext cx="5843700" cy="101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533" name="Google Shape;1533;p131"/>
          <p:cNvSpPr txBox="1"/>
          <p:nvPr>
            <p:ph idx="1" type="body"/>
          </p:nvPr>
        </p:nvSpPr>
        <p:spPr>
          <a:xfrm>
            <a:off x="477900" y="1392000"/>
            <a:ext cx="5673300" cy="8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Each block is 2 cm taller than the previous block.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sum of the two smallest is equal to the largest.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34" name="Google Shape;1534;p131"/>
          <p:cNvSpPr txBox="1"/>
          <p:nvPr>
            <p:ph idx="1" type="body"/>
          </p:nvPr>
        </p:nvSpPr>
        <p:spPr>
          <a:xfrm>
            <a:off x="322800" y="810000"/>
            <a:ext cx="84984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could start by picking out key information.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535" name="Google Shape;1535;p131"/>
          <p:cNvSpPr txBox="1"/>
          <p:nvPr>
            <p:ph idx="1" type="body"/>
          </p:nvPr>
        </p:nvSpPr>
        <p:spPr>
          <a:xfrm>
            <a:off x="322800" y="2632275"/>
            <a:ext cx="84984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could draw a diagram to help: </a:t>
            </a:r>
            <a:r>
              <a:rPr lang="en-GB" sz="1800"/>
              <a:t> </a:t>
            </a:r>
            <a:endParaRPr sz="1800"/>
          </a:p>
        </p:txBody>
      </p:sp>
      <p:grpSp>
        <p:nvGrpSpPr>
          <p:cNvPr id="1536" name="Google Shape;1536;p131"/>
          <p:cNvGrpSpPr/>
          <p:nvPr/>
        </p:nvGrpSpPr>
        <p:grpSpPr>
          <a:xfrm>
            <a:off x="477900" y="3107175"/>
            <a:ext cx="2533100" cy="1680600"/>
            <a:chOff x="477900" y="3107175"/>
            <a:chExt cx="2533100" cy="1680600"/>
          </a:xfrm>
        </p:grpSpPr>
        <p:sp>
          <p:nvSpPr>
            <p:cNvPr id="1537" name="Google Shape;1537;p131"/>
            <p:cNvSpPr/>
            <p:nvPr/>
          </p:nvSpPr>
          <p:spPr>
            <a:xfrm>
              <a:off x="477900" y="4255800"/>
              <a:ext cx="246600" cy="521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8" name="Google Shape;1538;p131"/>
            <p:cNvSpPr/>
            <p:nvPr/>
          </p:nvSpPr>
          <p:spPr>
            <a:xfrm>
              <a:off x="1074200" y="3966050"/>
              <a:ext cx="246600" cy="8112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9" name="Google Shape;1539;p131"/>
            <p:cNvSpPr/>
            <p:nvPr/>
          </p:nvSpPr>
          <p:spPr>
            <a:xfrm>
              <a:off x="1621150" y="3684650"/>
              <a:ext cx="246600" cy="1092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0" name="Google Shape;1540;p131"/>
            <p:cNvSpPr/>
            <p:nvPr/>
          </p:nvSpPr>
          <p:spPr>
            <a:xfrm>
              <a:off x="2128450" y="3394850"/>
              <a:ext cx="246600" cy="13929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1" name="Google Shape;1541;p131"/>
            <p:cNvSpPr/>
            <p:nvPr/>
          </p:nvSpPr>
          <p:spPr>
            <a:xfrm>
              <a:off x="2764400" y="3107175"/>
              <a:ext cx="246600" cy="1680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42" name="Google Shape;1542;p131"/>
            <p:cNvCxnSpPr/>
            <p:nvPr/>
          </p:nvCxnSpPr>
          <p:spPr>
            <a:xfrm rot="10800000">
              <a:off x="1004125" y="3950000"/>
              <a:ext cx="0" cy="28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43" name="Google Shape;1543;p131"/>
            <p:cNvCxnSpPr/>
            <p:nvPr/>
          </p:nvCxnSpPr>
          <p:spPr>
            <a:xfrm rot="10800000">
              <a:off x="1558150" y="3684650"/>
              <a:ext cx="0" cy="28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44" name="Google Shape;1544;p131"/>
            <p:cNvCxnSpPr/>
            <p:nvPr/>
          </p:nvCxnSpPr>
          <p:spPr>
            <a:xfrm rot="10800000">
              <a:off x="2055800" y="3402050"/>
              <a:ext cx="0" cy="28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45" name="Google Shape;1545;p131"/>
            <p:cNvCxnSpPr/>
            <p:nvPr/>
          </p:nvCxnSpPr>
          <p:spPr>
            <a:xfrm rot="10800000">
              <a:off x="2680275" y="3107175"/>
              <a:ext cx="0" cy="28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46" name="Google Shape;1546;p131"/>
            <p:cNvSpPr/>
            <p:nvPr/>
          </p:nvSpPr>
          <p:spPr>
            <a:xfrm>
              <a:off x="675200" y="3958700"/>
              <a:ext cx="3651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7" name="Google Shape;1547;p131"/>
            <p:cNvSpPr/>
            <p:nvPr/>
          </p:nvSpPr>
          <p:spPr>
            <a:xfrm>
              <a:off x="1256050" y="3693350"/>
              <a:ext cx="3651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8" name="Google Shape;1548;p131"/>
            <p:cNvSpPr/>
            <p:nvPr/>
          </p:nvSpPr>
          <p:spPr>
            <a:xfrm>
              <a:off x="1763350" y="3410750"/>
              <a:ext cx="3651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9" name="Google Shape;1549;p131"/>
            <p:cNvSpPr/>
            <p:nvPr/>
          </p:nvSpPr>
          <p:spPr>
            <a:xfrm>
              <a:off x="2375050" y="3115875"/>
              <a:ext cx="3651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50" name="Google Shape;1550;p131"/>
          <p:cNvSpPr txBox="1"/>
          <p:nvPr>
            <p:ph idx="1" type="body"/>
          </p:nvPr>
        </p:nvSpPr>
        <p:spPr>
          <a:xfrm>
            <a:off x="3907650" y="3364650"/>
            <a:ext cx="54345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Remember the diagram is only a guide. </a:t>
            </a:r>
            <a:r>
              <a:rPr lang="en-GB" sz="1800"/>
              <a:t>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32"/>
          <p:cNvSpPr/>
          <p:nvPr/>
        </p:nvSpPr>
        <p:spPr>
          <a:xfrm>
            <a:off x="349800" y="1268275"/>
            <a:ext cx="5843700" cy="101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557" name="Google Shape;1557;p132"/>
          <p:cNvSpPr txBox="1"/>
          <p:nvPr>
            <p:ph idx="1" type="body"/>
          </p:nvPr>
        </p:nvSpPr>
        <p:spPr>
          <a:xfrm>
            <a:off x="477900" y="1392000"/>
            <a:ext cx="5673300" cy="8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Each block is 2 cm taller than the previous block.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sum of the two smallest is equal to the largest.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58" name="Google Shape;1558;p132"/>
          <p:cNvSpPr txBox="1"/>
          <p:nvPr>
            <p:ph idx="1" type="body"/>
          </p:nvPr>
        </p:nvSpPr>
        <p:spPr>
          <a:xfrm>
            <a:off x="322800" y="2632275"/>
            <a:ext cx="84984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may wish to try some heights for the blocks to see roughly how big your answer should be.  </a:t>
            </a:r>
            <a:endParaRPr sz="1800"/>
          </a:p>
        </p:txBody>
      </p:sp>
      <p:grpSp>
        <p:nvGrpSpPr>
          <p:cNvPr id="1559" name="Google Shape;1559;p132"/>
          <p:cNvGrpSpPr/>
          <p:nvPr/>
        </p:nvGrpSpPr>
        <p:grpSpPr>
          <a:xfrm>
            <a:off x="6415811" y="893636"/>
            <a:ext cx="2086768" cy="1389352"/>
            <a:chOff x="477900" y="3107175"/>
            <a:chExt cx="2533100" cy="1680600"/>
          </a:xfrm>
        </p:grpSpPr>
        <p:sp>
          <p:nvSpPr>
            <p:cNvPr id="1560" name="Google Shape;1560;p132"/>
            <p:cNvSpPr/>
            <p:nvPr/>
          </p:nvSpPr>
          <p:spPr>
            <a:xfrm>
              <a:off x="477900" y="4255800"/>
              <a:ext cx="246600" cy="521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1" name="Google Shape;1561;p132"/>
            <p:cNvSpPr/>
            <p:nvPr/>
          </p:nvSpPr>
          <p:spPr>
            <a:xfrm>
              <a:off x="1074200" y="3966050"/>
              <a:ext cx="246600" cy="8112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2" name="Google Shape;1562;p132"/>
            <p:cNvSpPr/>
            <p:nvPr/>
          </p:nvSpPr>
          <p:spPr>
            <a:xfrm>
              <a:off x="1621150" y="3684650"/>
              <a:ext cx="246600" cy="1092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3" name="Google Shape;1563;p132"/>
            <p:cNvSpPr/>
            <p:nvPr/>
          </p:nvSpPr>
          <p:spPr>
            <a:xfrm>
              <a:off x="2128450" y="3394850"/>
              <a:ext cx="246600" cy="13929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4" name="Google Shape;1564;p132"/>
            <p:cNvSpPr/>
            <p:nvPr/>
          </p:nvSpPr>
          <p:spPr>
            <a:xfrm>
              <a:off x="2764400" y="3107175"/>
              <a:ext cx="246600" cy="1680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65" name="Google Shape;1565;p132"/>
            <p:cNvCxnSpPr/>
            <p:nvPr/>
          </p:nvCxnSpPr>
          <p:spPr>
            <a:xfrm rot="10800000">
              <a:off x="1004125" y="3950000"/>
              <a:ext cx="0" cy="28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66" name="Google Shape;1566;p132"/>
            <p:cNvCxnSpPr/>
            <p:nvPr/>
          </p:nvCxnSpPr>
          <p:spPr>
            <a:xfrm rot="10800000">
              <a:off x="1558150" y="3684650"/>
              <a:ext cx="0" cy="28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67" name="Google Shape;1567;p132"/>
            <p:cNvCxnSpPr/>
            <p:nvPr/>
          </p:nvCxnSpPr>
          <p:spPr>
            <a:xfrm rot="10800000">
              <a:off x="2055800" y="3402050"/>
              <a:ext cx="0" cy="28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68" name="Google Shape;1568;p132"/>
            <p:cNvCxnSpPr/>
            <p:nvPr/>
          </p:nvCxnSpPr>
          <p:spPr>
            <a:xfrm rot="10800000">
              <a:off x="2680275" y="3107175"/>
              <a:ext cx="0" cy="28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69" name="Google Shape;1569;p132"/>
            <p:cNvSpPr/>
            <p:nvPr/>
          </p:nvSpPr>
          <p:spPr>
            <a:xfrm>
              <a:off x="675200" y="3958700"/>
              <a:ext cx="3651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0" name="Google Shape;1570;p132"/>
            <p:cNvSpPr/>
            <p:nvPr/>
          </p:nvSpPr>
          <p:spPr>
            <a:xfrm>
              <a:off x="1256050" y="3693350"/>
              <a:ext cx="3651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1" name="Google Shape;1571;p132"/>
            <p:cNvSpPr/>
            <p:nvPr/>
          </p:nvSpPr>
          <p:spPr>
            <a:xfrm>
              <a:off x="1763350" y="3410750"/>
              <a:ext cx="3651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2" name="Google Shape;1572;p132"/>
            <p:cNvSpPr/>
            <p:nvPr/>
          </p:nvSpPr>
          <p:spPr>
            <a:xfrm>
              <a:off x="2375050" y="3115875"/>
              <a:ext cx="365100" cy="26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73" name="Google Shape;1573;p132"/>
          <p:cNvSpPr txBox="1"/>
          <p:nvPr>
            <p:ph idx="1" type="body"/>
          </p:nvPr>
        </p:nvSpPr>
        <p:spPr>
          <a:xfrm>
            <a:off x="322800" y="3588450"/>
            <a:ext cx="54345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the smallest was 3 cm: </a:t>
            </a:r>
            <a:r>
              <a:rPr lang="en-GB" sz="1800"/>
              <a:t> 3, 5, 7, 9, 11  </a:t>
            </a:r>
            <a:endParaRPr sz="1800"/>
          </a:p>
        </p:txBody>
      </p:sp>
      <p:sp>
        <p:nvSpPr>
          <p:cNvPr id="1574" name="Google Shape;1574;p132"/>
          <p:cNvSpPr txBox="1"/>
          <p:nvPr>
            <p:ph idx="1" type="body"/>
          </p:nvPr>
        </p:nvSpPr>
        <p:spPr>
          <a:xfrm>
            <a:off x="322800" y="4128450"/>
            <a:ext cx="54345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 + 5 = 8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575" name="Google Shape;1575;p132"/>
          <p:cNvSpPr/>
          <p:nvPr/>
        </p:nvSpPr>
        <p:spPr>
          <a:xfrm>
            <a:off x="4111975" y="3546750"/>
            <a:ext cx="332100" cy="383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132"/>
          <p:cNvSpPr txBox="1"/>
          <p:nvPr>
            <p:ph idx="1" type="body"/>
          </p:nvPr>
        </p:nvSpPr>
        <p:spPr>
          <a:xfrm>
            <a:off x="322800" y="4544625"/>
            <a:ext cx="54345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/>
              <a:t>he smallest block must be bigger than 3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33"/>
          <p:cNvSpPr/>
          <p:nvPr/>
        </p:nvSpPr>
        <p:spPr>
          <a:xfrm>
            <a:off x="349800" y="1115875"/>
            <a:ext cx="5843700" cy="101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583" name="Google Shape;1583;p133"/>
          <p:cNvSpPr txBox="1"/>
          <p:nvPr>
            <p:ph idx="1" type="body"/>
          </p:nvPr>
        </p:nvSpPr>
        <p:spPr>
          <a:xfrm>
            <a:off x="477900" y="1239600"/>
            <a:ext cx="5673300" cy="8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Each block is 2 cm taller than the previous block.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sum of the two smallest is equal to the largest.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84" name="Google Shape;1584;p133"/>
          <p:cNvSpPr txBox="1"/>
          <p:nvPr>
            <p:ph idx="1" type="body"/>
          </p:nvPr>
        </p:nvSpPr>
        <p:spPr>
          <a:xfrm>
            <a:off x="304650" y="2264625"/>
            <a:ext cx="59340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is the key </a:t>
            </a:r>
            <a:r>
              <a:rPr lang="en-GB" sz="1800"/>
              <a:t>piece</a:t>
            </a:r>
            <a:r>
              <a:rPr lang="en-GB" sz="1800"/>
              <a:t> of information we don’t know which would help us solve this?</a:t>
            </a:r>
            <a:endParaRPr sz="1800"/>
          </a:p>
        </p:txBody>
      </p:sp>
      <p:sp>
        <p:nvSpPr>
          <p:cNvPr id="1585" name="Google Shape;1585;p133"/>
          <p:cNvSpPr/>
          <p:nvPr/>
        </p:nvSpPr>
        <p:spPr>
          <a:xfrm>
            <a:off x="6431450" y="1600043"/>
            <a:ext cx="2097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133"/>
          <p:cNvSpPr/>
          <p:nvPr/>
        </p:nvSpPr>
        <p:spPr>
          <a:xfrm>
            <a:off x="6938550" y="1440563"/>
            <a:ext cx="209700" cy="732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133"/>
          <p:cNvSpPr/>
          <p:nvPr/>
        </p:nvSpPr>
        <p:spPr>
          <a:xfrm>
            <a:off x="7403676" y="1186692"/>
            <a:ext cx="209700" cy="985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33"/>
          <p:cNvSpPr/>
          <p:nvPr/>
        </p:nvSpPr>
        <p:spPr>
          <a:xfrm>
            <a:off x="7835075" y="952155"/>
            <a:ext cx="209700" cy="1220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133"/>
          <p:cNvSpPr/>
          <p:nvPr/>
        </p:nvSpPr>
        <p:spPr>
          <a:xfrm>
            <a:off x="8375900" y="695444"/>
            <a:ext cx="209700" cy="14769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0" name="Google Shape;1590;p133"/>
          <p:cNvCxnSpPr/>
          <p:nvPr/>
        </p:nvCxnSpPr>
        <p:spPr>
          <a:xfrm rot="10800000">
            <a:off x="6878959" y="1365979"/>
            <a:ext cx="0" cy="23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91" name="Google Shape;1591;p133"/>
          <p:cNvCxnSpPr/>
          <p:nvPr/>
        </p:nvCxnSpPr>
        <p:spPr>
          <a:xfrm rot="10800000">
            <a:off x="7350101" y="1148047"/>
            <a:ext cx="0" cy="23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92" name="Google Shape;1592;p133"/>
          <p:cNvCxnSpPr/>
          <p:nvPr/>
        </p:nvCxnSpPr>
        <p:spPr>
          <a:xfrm rot="10800000">
            <a:off x="7773303" y="930078"/>
            <a:ext cx="0" cy="23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93" name="Google Shape;1593;p133"/>
          <p:cNvCxnSpPr/>
          <p:nvPr/>
        </p:nvCxnSpPr>
        <p:spPr>
          <a:xfrm rot="10800000">
            <a:off x="8304356" y="697579"/>
            <a:ext cx="0" cy="23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94" name="Google Shape;1594;p133"/>
          <p:cNvSpPr/>
          <p:nvPr/>
        </p:nvSpPr>
        <p:spPr>
          <a:xfrm>
            <a:off x="6599241" y="1373225"/>
            <a:ext cx="310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133"/>
          <p:cNvSpPr/>
          <p:nvPr/>
        </p:nvSpPr>
        <p:spPr>
          <a:xfrm>
            <a:off x="7093196" y="1155293"/>
            <a:ext cx="310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133"/>
          <p:cNvSpPr/>
          <p:nvPr/>
        </p:nvSpPr>
        <p:spPr>
          <a:xfrm>
            <a:off x="7524603" y="937324"/>
            <a:ext cx="310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133"/>
          <p:cNvSpPr/>
          <p:nvPr/>
        </p:nvSpPr>
        <p:spPr>
          <a:xfrm>
            <a:off x="8044793" y="704838"/>
            <a:ext cx="310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133"/>
          <p:cNvSpPr txBox="1"/>
          <p:nvPr>
            <p:ph idx="1" type="body"/>
          </p:nvPr>
        </p:nvSpPr>
        <p:spPr>
          <a:xfrm>
            <a:off x="322800" y="3057400"/>
            <a:ext cx="63933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height of one of the blocks - e.g. the smallest block.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99" name="Google Shape;1599;p133"/>
          <p:cNvGrpSpPr/>
          <p:nvPr/>
        </p:nvGrpSpPr>
        <p:grpSpPr>
          <a:xfrm>
            <a:off x="7924613" y="2567707"/>
            <a:ext cx="209713" cy="1347539"/>
            <a:chOff x="7924613" y="2567707"/>
            <a:chExt cx="209713" cy="1347539"/>
          </a:xfrm>
        </p:grpSpPr>
        <p:sp>
          <p:nvSpPr>
            <p:cNvPr id="1600" name="Google Shape;1600;p133"/>
            <p:cNvSpPr/>
            <p:nvPr/>
          </p:nvSpPr>
          <p:spPr>
            <a:xfrm>
              <a:off x="7924625" y="2567707"/>
              <a:ext cx="209700" cy="1346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1" name="Google Shape;1601;p133"/>
            <p:cNvSpPr/>
            <p:nvPr/>
          </p:nvSpPr>
          <p:spPr>
            <a:xfrm>
              <a:off x="7924625" y="3141270"/>
              <a:ext cx="209700" cy="1911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2" name="Google Shape;1602;p133"/>
            <p:cNvSpPr/>
            <p:nvPr/>
          </p:nvSpPr>
          <p:spPr>
            <a:xfrm>
              <a:off x="7924625" y="3329646"/>
              <a:ext cx="209700" cy="585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3" name="Google Shape;1603;p133"/>
            <p:cNvSpPr/>
            <p:nvPr/>
          </p:nvSpPr>
          <p:spPr>
            <a:xfrm>
              <a:off x="7924625" y="2950203"/>
              <a:ext cx="209700" cy="1911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4" name="Google Shape;1604;p133"/>
            <p:cNvSpPr/>
            <p:nvPr/>
          </p:nvSpPr>
          <p:spPr>
            <a:xfrm>
              <a:off x="7924613" y="2758784"/>
              <a:ext cx="209700" cy="1911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5" name="Google Shape;1605;p133"/>
            <p:cNvSpPr/>
            <p:nvPr/>
          </p:nvSpPr>
          <p:spPr>
            <a:xfrm>
              <a:off x="7924613" y="2567717"/>
              <a:ext cx="209700" cy="1911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06" name="Google Shape;1606;p133"/>
          <p:cNvGrpSpPr/>
          <p:nvPr/>
        </p:nvGrpSpPr>
        <p:grpSpPr>
          <a:xfrm>
            <a:off x="7459200" y="2564750"/>
            <a:ext cx="209721" cy="1350507"/>
            <a:chOff x="7459200" y="2564750"/>
            <a:chExt cx="209721" cy="1350507"/>
          </a:xfrm>
        </p:grpSpPr>
        <p:sp>
          <p:nvSpPr>
            <p:cNvPr id="1607" name="Google Shape;1607;p133"/>
            <p:cNvSpPr/>
            <p:nvPr/>
          </p:nvSpPr>
          <p:spPr>
            <a:xfrm>
              <a:off x="7459200" y="2564750"/>
              <a:ext cx="209700" cy="7710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608" name="Google Shape;1608;p133"/>
            <p:cNvGrpSpPr/>
            <p:nvPr/>
          </p:nvGrpSpPr>
          <p:grpSpPr>
            <a:xfrm>
              <a:off x="7459200" y="2564751"/>
              <a:ext cx="209721" cy="1350505"/>
              <a:chOff x="7459200" y="2564751"/>
              <a:chExt cx="209721" cy="1350505"/>
            </a:xfrm>
          </p:grpSpPr>
          <p:sp>
            <p:nvSpPr>
              <p:cNvPr id="1609" name="Google Shape;1609;p133"/>
              <p:cNvSpPr/>
              <p:nvPr/>
            </p:nvSpPr>
            <p:spPr>
              <a:xfrm>
                <a:off x="7459221" y="2564751"/>
                <a:ext cx="209700" cy="191100"/>
              </a:xfrm>
              <a:prstGeom prst="rect">
                <a:avLst/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0" name="Google Shape;1610;p133"/>
              <p:cNvSpPr/>
              <p:nvPr/>
            </p:nvSpPr>
            <p:spPr>
              <a:xfrm>
                <a:off x="7459200" y="3329657"/>
                <a:ext cx="209700" cy="585600"/>
              </a:xfrm>
              <a:prstGeom prst="rect">
                <a:avLst/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?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1" name="Google Shape;1611;p133"/>
              <p:cNvSpPr/>
              <p:nvPr/>
            </p:nvSpPr>
            <p:spPr>
              <a:xfrm>
                <a:off x="7459200" y="2756159"/>
                <a:ext cx="209700" cy="585600"/>
              </a:xfrm>
              <a:prstGeom prst="rect">
                <a:avLst/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?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612" name="Google Shape;1612;p133"/>
          <p:cNvSpPr txBox="1"/>
          <p:nvPr>
            <p:ph idx="1" type="body"/>
          </p:nvPr>
        </p:nvSpPr>
        <p:spPr>
          <a:xfrm>
            <a:off x="347550" y="3562500"/>
            <a:ext cx="59340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can be helpful to look at how all the other heights are related to the smaller block.</a:t>
            </a:r>
            <a:endParaRPr sz="1800"/>
          </a:p>
        </p:txBody>
      </p:sp>
      <p:sp>
        <p:nvSpPr>
          <p:cNvPr id="1613" name="Google Shape;1613;p133"/>
          <p:cNvSpPr txBox="1"/>
          <p:nvPr>
            <p:ph idx="1" type="body"/>
          </p:nvPr>
        </p:nvSpPr>
        <p:spPr>
          <a:xfrm>
            <a:off x="304650" y="4436400"/>
            <a:ext cx="63366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Can you now work out the height of the smallest block?</a:t>
            </a:r>
            <a:endParaRPr sz="1800"/>
          </a:p>
        </p:txBody>
      </p:sp>
      <p:sp>
        <p:nvSpPr>
          <p:cNvPr id="1614" name="Google Shape;1614;p133"/>
          <p:cNvSpPr/>
          <p:nvPr/>
        </p:nvSpPr>
        <p:spPr>
          <a:xfrm>
            <a:off x="6431375" y="1601417"/>
            <a:ext cx="2097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5" name="Google Shape;1615;p133"/>
          <p:cNvGrpSpPr/>
          <p:nvPr/>
        </p:nvGrpSpPr>
        <p:grpSpPr>
          <a:xfrm>
            <a:off x="6938555" y="1385164"/>
            <a:ext cx="212857" cy="786803"/>
            <a:chOff x="6938555" y="1385164"/>
            <a:chExt cx="212857" cy="786803"/>
          </a:xfrm>
        </p:grpSpPr>
        <p:sp>
          <p:nvSpPr>
            <p:cNvPr id="1616" name="Google Shape;1616;p133"/>
            <p:cNvSpPr/>
            <p:nvPr/>
          </p:nvSpPr>
          <p:spPr>
            <a:xfrm>
              <a:off x="6938555" y="1385164"/>
              <a:ext cx="209700" cy="21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7" name="Google Shape;1617;p133"/>
            <p:cNvSpPr/>
            <p:nvPr/>
          </p:nvSpPr>
          <p:spPr>
            <a:xfrm>
              <a:off x="6941711" y="1607967"/>
              <a:ext cx="209700" cy="5640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8" name="Google Shape;1618;p133"/>
          <p:cNvGrpSpPr/>
          <p:nvPr/>
        </p:nvGrpSpPr>
        <p:grpSpPr>
          <a:xfrm>
            <a:off x="7403674" y="1157214"/>
            <a:ext cx="209706" cy="1012857"/>
            <a:chOff x="7403674" y="1157214"/>
            <a:chExt cx="209706" cy="1012857"/>
          </a:xfrm>
        </p:grpSpPr>
        <p:sp>
          <p:nvSpPr>
            <p:cNvPr id="1619" name="Google Shape;1619;p133"/>
            <p:cNvSpPr/>
            <p:nvPr/>
          </p:nvSpPr>
          <p:spPr>
            <a:xfrm>
              <a:off x="7403680" y="1385164"/>
              <a:ext cx="209700" cy="21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0" name="Google Shape;1620;p133"/>
            <p:cNvSpPr/>
            <p:nvPr/>
          </p:nvSpPr>
          <p:spPr>
            <a:xfrm>
              <a:off x="7403680" y="1157214"/>
              <a:ext cx="209700" cy="21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1" name="Google Shape;1621;p133"/>
            <p:cNvSpPr/>
            <p:nvPr/>
          </p:nvSpPr>
          <p:spPr>
            <a:xfrm>
              <a:off x="7403674" y="1606071"/>
              <a:ext cx="209700" cy="5640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2" name="Google Shape;1622;p133"/>
          <p:cNvGrpSpPr/>
          <p:nvPr/>
        </p:nvGrpSpPr>
        <p:grpSpPr>
          <a:xfrm>
            <a:off x="7835074" y="929139"/>
            <a:ext cx="209718" cy="1240932"/>
            <a:chOff x="7835074" y="929139"/>
            <a:chExt cx="209718" cy="1240932"/>
          </a:xfrm>
        </p:grpSpPr>
        <p:sp>
          <p:nvSpPr>
            <p:cNvPr id="1623" name="Google Shape;1623;p133"/>
            <p:cNvSpPr/>
            <p:nvPr/>
          </p:nvSpPr>
          <p:spPr>
            <a:xfrm>
              <a:off x="7835092" y="1385164"/>
              <a:ext cx="209700" cy="21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4" name="Google Shape;1624;p133"/>
            <p:cNvSpPr/>
            <p:nvPr/>
          </p:nvSpPr>
          <p:spPr>
            <a:xfrm>
              <a:off x="7835092" y="1157214"/>
              <a:ext cx="209700" cy="21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5" name="Google Shape;1625;p133"/>
            <p:cNvSpPr/>
            <p:nvPr/>
          </p:nvSpPr>
          <p:spPr>
            <a:xfrm>
              <a:off x="7835092" y="929139"/>
              <a:ext cx="209700" cy="21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6" name="Google Shape;1626;p133"/>
            <p:cNvSpPr/>
            <p:nvPr/>
          </p:nvSpPr>
          <p:spPr>
            <a:xfrm>
              <a:off x="7835074" y="1606071"/>
              <a:ext cx="209700" cy="5640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7" name="Google Shape;1627;p133"/>
          <p:cNvGrpSpPr/>
          <p:nvPr/>
        </p:nvGrpSpPr>
        <p:grpSpPr>
          <a:xfrm>
            <a:off x="8375892" y="704977"/>
            <a:ext cx="209713" cy="1468490"/>
            <a:chOff x="8375892" y="704977"/>
            <a:chExt cx="209713" cy="1468490"/>
          </a:xfrm>
        </p:grpSpPr>
        <p:sp>
          <p:nvSpPr>
            <p:cNvPr id="1628" name="Google Shape;1628;p133"/>
            <p:cNvSpPr/>
            <p:nvPr/>
          </p:nvSpPr>
          <p:spPr>
            <a:xfrm>
              <a:off x="8375892" y="1385164"/>
              <a:ext cx="209700" cy="21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9" name="Google Shape;1629;p133"/>
            <p:cNvSpPr/>
            <p:nvPr/>
          </p:nvSpPr>
          <p:spPr>
            <a:xfrm>
              <a:off x="8375892" y="1157214"/>
              <a:ext cx="209700" cy="21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0" name="Google Shape;1630;p133"/>
            <p:cNvSpPr/>
            <p:nvPr/>
          </p:nvSpPr>
          <p:spPr>
            <a:xfrm>
              <a:off x="8375892" y="929139"/>
              <a:ext cx="209700" cy="21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1" name="Google Shape;1631;p133"/>
            <p:cNvSpPr/>
            <p:nvPr/>
          </p:nvSpPr>
          <p:spPr>
            <a:xfrm>
              <a:off x="8375905" y="704977"/>
              <a:ext cx="209700" cy="21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2" name="Google Shape;1632;p133"/>
            <p:cNvSpPr/>
            <p:nvPr/>
          </p:nvSpPr>
          <p:spPr>
            <a:xfrm>
              <a:off x="8375899" y="1609467"/>
              <a:ext cx="209700" cy="5640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134"/>
          <p:cNvSpPr/>
          <p:nvPr/>
        </p:nvSpPr>
        <p:spPr>
          <a:xfrm>
            <a:off x="324000" y="810000"/>
            <a:ext cx="6039600" cy="1369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639" name="Google Shape;1639;p134"/>
          <p:cNvSpPr txBox="1"/>
          <p:nvPr>
            <p:ph idx="1" type="body"/>
          </p:nvPr>
        </p:nvSpPr>
        <p:spPr>
          <a:xfrm>
            <a:off x="508500" y="884425"/>
            <a:ext cx="5911500" cy="12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Each block is 2 cm taller than the previous block.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sum of the two smallest is equal to the largest.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tall would a tower of all 5 blocks be? </a:t>
            </a:r>
            <a:endParaRPr sz="1800"/>
          </a:p>
        </p:txBody>
      </p:sp>
      <p:sp>
        <p:nvSpPr>
          <p:cNvPr id="1640" name="Google Shape;1640;p134"/>
          <p:cNvSpPr/>
          <p:nvPr/>
        </p:nvSpPr>
        <p:spPr>
          <a:xfrm>
            <a:off x="8330163" y="2511982"/>
            <a:ext cx="209700" cy="1346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34"/>
          <p:cNvSpPr/>
          <p:nvPr/>
        </p:nvSpPr>
        <p:spPr>
          <a:xfrm>
            <a:off x="6431450" y="1600043"/>
            <a:ext cx="2097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134"/>
          <p:cNvSpPr/>
          <p:nvPr/>
        </p:nvSpPr>
        <p:spPr>
          <a:xfrm>
            <a:off x="6938550" y="1440563"/>
            <a:ext cx="209700" cy="732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134"/>
          <p:cNvSpPr/>
          <p:nvPr/>
        </p:nvSpPr>
        <p:spPr>
          <a:xfrm>
            <a:off x="7403676" y="1186692"/>
            <a:ext cx="209700" cy="985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34"/>
          <p:cNvSpPr/>
          <p:nvPr/>
        </p:nvSpPr>
        <p:spPr>
          <a:xfrm>
            <a:off x="7835075" y="952155"/>
            <a:ext cx="209700" cy="1220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134"/>
          <p:cNvSpPr/>
          <p:nvPr/>
        </p:nvSpPr>
        <p:spPr>
          <a:xfrm>
            <a:off x="8375900" y="695444"/>
            <a:ext cx="209700" cy="14769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6" name="Google Shape;1646;p134"/>
          <p:cNvCxnSpPr/>
          <p:nvPr/>
        </p:nvCxnSpPr>
        <p:spPr>
          <a:xfrm rot="10800000">
            <a:off x="6878959" y="1351848"/>
            <a:ext cx="0" cy="23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47" name="Google Shape;1647;p134"/>
          <p:cNvCxnSpPr/>
          <p:nvPr/>
        </p:nvCxnSpPr>
        <p:spPr>
          <a:xfrm rot="10800000">
            <a:off x="7350101" y="1133916"/>
            <a:ext cx="0" cy="23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48" name="Google Shape;1648;p134"/>
          <p:cNvCxnSpPr/>
          <p:nvPr/>
        </p:nvCxnSpPr>
        <p:spPr>
          <a:xfrm rot="10800000">
            <a:off x="7773303" y="901817"/>
            <a:ext cx="0" cy="23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49" name="Google Shape;1649;p134"/>
          <p:cNvCxnSpPr/>
          <p:nvPr/>
        </p:nvCxnSpPr>
        <p:spPr>
          <a:xfrm rot="10800000">
            <a:off x="8304356" y="683449"/>
            <a:ext cx="0" cy="23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0" name="Google Shape;1650;p134"/>
          <p:cNvSpPr/>
          <p:nvPr/>
        </p:nvSpPr>
        <p:spPr>
          <a:xfrm>
            <a:off x="6599241" y="1359094"/>
            <a:ext cx="310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134"/>
          <p:cNvSpPr/>
          <p:nvPr/>
        </p:nvSpPr>
        <p:spPr>
          <a:xfrm>
            <a:off x="7093196" y="1141162"/>
            <a:ext cx="310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134"/>
          <p:cNvSpPr/>
          <p:nvPr/>
        </p:nvSpPr>
        <p:spPr>
          <a:xfrm>
            <a:off x="7524603" y="909063"/>
            <a:ext cx="310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134"/>
          <p:cNvSpPr/>
          <p:nvPr/>
        </p:nvSpPr>
        <p:spPr>
          <a:xfrm>
            <a:off x="8044793" y="690707"/>
            <a:ext cx="310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4" name="Google Shape;1654;p134"/>
          <p:cNvSpPr/>
          <p:nvPr/>
        </p:nvSpPr>
        <p:spPr>
          <a:xfrm>
            <a:off x="7864738" y="2509025"/>
            <a:ext cx="209700" cy="771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5" name="Google Shape;1655;p134"/>
          <p:cNvSpPr/>
          <p:nvPr/>
        </p:nvSpPr>
        <p:spPr>
          <a:xfrm>
            <a:off x="8330163" y="3085545"/>
            <a:ext cx="209700" cy="191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134"/>
          <p:cNvSpPr/>
          <p:nvPr/>
        </p:nvSpPr>
        <p:spPr>
          <a:xfrm>
            <a:off x="8330163" y="3273921"/>
            <a:ext cx="209700" cy="585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134"/>
          <p:cNvSpPr/>
          <p:nvPr/>
        </p:nvSpPr>
        <p:spPr>
          <a:xfrm>
            <a:off x="8330163" y="2894478"/>
            <a:ext cx="209700" cy="191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134"/>
          <p:cNvSpPr/>
          <p:nvPr/>
        </p:nvSpPr>
        <p:spPr>
          <a:xfrm>
            <a:off x="7864758" y="2509026"/>
            <a:ext cx="209700" cy="191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134"/>
          <p:cNvSpPr/>
          <p:nvPr/>
        </p:nvSpPr>
        <p:spPr>
          <a:xfrm>
            <a:off x="7864738" y="3273932"/>
            <a:ext cx="209700" cy="585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134"/>
          <p:cNvSpPr/>
          <p:nvPr/>
        </p:nvSpPr>
        <p:spPr>
          <a:xfrm>
            <a:off x="8330150" y="2703059"/>
            <a:ext cx="209700" cy="191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134"/>
          <p:cNvSpPr/>
          <p:nvPr/>
        </p:nvSpPr>
        <p:spPr>
          <a:xfrm>
            <a:off x="8330150" y="2511992"/>
            <a:ext cx="209700" cy="1911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134"/>
          <p:cNvSpPr/>
          <p:nvPr/>
        </p:nvSpPr>
        <p:spPr>
          <a:xfrm>
            <a:off x="7864738" y="2700434"/>
            <a:ext cx="209700" cy="585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134"/>
          <p:cNvSpPr/>
          <p:nvPr/>
        </p:nvSpPr>
        <p:spPr>
          <a:xfrm>
            <a:off x="6938555" y="1385164"/>
            <a:ext cx="209700" cy="217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34"/>
          <p:cNvSpPr/>
          <p:nvPr/>
        </p:nvSpPr>
        <p:spPr>
          <a:xfrm>
            <a:off x="7403680" y="1385164"/>
            <a:ext cx="209700" cy="217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34"/>
          <p:cNvSpPr/>
          <p:nvPr/>
        </p:nvSpPr>
        <p:spPr>
          <a:xfrm>
            <a:off x="7403680" y="1157214"/>
            <a:ext cx="209700" cy="217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34"/>
          <p:cNvSpPr/>
          <p:nvPr/>
        </p:nvSpPr>
        <p:spPr>
          <a:xfrm>
            <a:off x="7835092" y="1385164"/>
            <a:ext cx="209700" cy="217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134"/>
          <p:cNvSpPr/>
          <p:nvPr/>
        </p:nvSpPr>
        <p:spPr>
          <a:xfrm>
            <a:off x="7835092" y="1157214"/>
            <a:ext cx="209700" cy="217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134"/>
          <p:cNvSpPr/>
          <p:nvPr/>
        </p:nvSpPr>
        <p:spPr>
          <a:xfrm>
            <a:off x="7835092" y="929139"/>
            <a:ext cx="209700" cy="217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134"/>
          <p:cNvSpPr/>
          <p:nvPr/>
        </p:nvSpPr>
        <p:spPr>
          <a:xfrm>
            <a:off x="8375892" y="1385164"/>
            <a:ext cx="209700" cy="217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134"/>
          <p:cNvSpPr/>
          <p:nvPr/>
        </p:nvSpPr>
        <p:spPr>
          <a:xfrm>
            <a:off x="8375892" y="1157214"/>
            <a:ext cx="209700" cy="217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134"/>
          <p:cNvSpPr/>
          <p:nvPr/>
        </p:nvSpPr>
        <p:spPr>
          <a:xfrm>
            <a:off x="8375892" y="929139"/>
            <a:ext cx="209700" cy="217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34"/>
          <p:cNvSpPr/>
          <p:nvPr/>
        </p:nvSpPr>
        <p:spPr>
          <a:xfrm>
            <a:off x="8375905" y="704977"/>
            <a:ext cx="209700" cy="217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34"/>
          <p:cNvSpPr/>
          <p:nvPr/>
        </p:nvSpPr>
        <p:spPr>
          <a:xfrm>
            <a:off x="6431375" y="1608463"/>
            <a:ext cx="2097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134"/>
          <p:cNvSpPr/>
          <p:nvPr/>
        </p:nvSpPr>
        <p:spPr>
          <a:xfrm>
            <a:off x="6941711" y="1607967"/>
            <a:ext cx="2097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134"/>
          <p:cNvSpPr/>
          <p:nvPr/>
        </p:nvSpPr>
        <p:spPr>
          <a:xfrm>
            <a:off x="7403674" y="1613117"/>
            <a:ext cx="2097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134"/>
          <p:cNvSpPr/>
          <p:nvPr/>
        </p:nvSpPr>
        <p:spPr>
          <a:xfrm>
            <a:off x="7835074" y="1613117"/>
            <a:ext cx="2097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134"/>
          <p:cNvSpPr/>
          <p:nvPr/>
        </p:nvSpPr>
        <p:spPr>
          <a:xfrm>
            <a:off x="8375899" y="1609467"/>
            <a:ext cx="2097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134"/>
          <p:cNvSpPr txBox="1"/>
          <p:nvPr>
            <p:ph idx="1" type="body"/>
          </p:nvPr>
        </p:nvSpPr>
        <p:spPr>
          <a:xfrm>
            <a:off x="324000" y="2421950"/>
            <a:ext cx="63366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Can you now work out the height of the smallest block?</a:t>
            </a:r>
            <a:endParaRPr sz="1800"/>
          </a:p>
        </p:txBody>
      </p:sp>
      <p:sp>
        <p:nvSpPr>
          <p:cNvPr id="1679" name="Google Shape;1679;p134"/>
          <p:cNvSpPr txBox="1"/>
          <p:nvPr>
            <p:ph idx="1" type="body"/>
          </p:nvPr>
        </p:nvSpPr>
        <p:spPr>
          <a:xfrm>
            <a:off x="324000" y="2989550"/>
            <a:ext cx="63366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smallest block is 6 cm.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0" name="Google Shape;1680;p134"/>
          <p:cNvSpPr txBox="1"/>
          <p:nvPr>
            <p:ph idx="1" type="body"/>
          </p:nvPr>
        </p:nvSpPr>
        <p:spPr>
          <a:xfrm>
            <a:off x="324000" y="4183000"/>
            <a:ext cx="63366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50 cm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1" name="Google Shape;1681;p134"/>
          <p:cNvSpPr txBox="1"/>
          <p:nvPr>
            <p:ph idx="1" type="body"/>
          </p:nvPr>
        </p:nvSpPr>
        <p:spPr>
          <a:xfrm>
            <a:off x="324000" y="3557150"/>
            <a:ext cx="6336600" cy="3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How tall would a tower of all 5 blocks be?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687" name="Google Shape;1687;p135"/>
          <p:cNvSpPr txBox="1"/>
          <p:nvPr>
            <p:ph idx="1" type="body"/>
          </p:nvPr>
        </p:nvSpPr>
        <p:spPr>
          <a:xfrm>
            <a:off x="363675" y="764750"/>
            <a:ext cx="8456400" cy="69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the previous problem there were some elements of the problem that helped us solve it:</a:t>
            </a:r>
            <a:endParaRPr sz="1800"/>
          </a:p>
        </p:txBody>
      </p:sp>
      <p:sp>
        <p:nvSpPr>
          <p:cNvPr id="1688" name="Google Shape;1688;p135"/>
          <p:cNvSpPr txBox="1"/>
          <p:nvPr>
            <p:ph idx="1" type="body"/>
          </p:nvPr>
        </p:nvSpPr>
        <p:spPr>
          <a:xfrm>
            <a:off x="324000" y="1630775"/>
            <a:ext cx="84564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were told how each of the heights were related to each other.</a:t>
            </a:r>
            <a:endParaRPr sz="1800"/>
          </a:p>
        </p:txBody>
      </p:sp>
      <p:sp>
        <p:nvSpPr>
          <p:cNvPr id="1689" name="Google Shape;1689;p135"/>
          <p:cNvSpPr txBox="1"/>
          <p:nvPr>
            <p:ph idx="1" type="body"/>
          </p:nvPr>
        </p:nvSpPr>
        <p:spPr>
          <a:xfrm>
            <a:off x="324000" y="2136450"/>
            <a:ext cx="84564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were given a statement of equality – two smaller blocks were equal in height to the largest block. </a:t>
            </a:r>
            <a:endParaRPr sz="1800"/>
          </a:p>
        </p:txBody>
      </p:sp>
      <p:sp>
        <p:nvSpPr>
          <p:cNvPr id="1690" name="Google Shape;1690;p135"/>
          <p:cNvSpPr txBox="1"/>
          <p:nvPr>
            <p:ph idx="1" type="body"/>
          </p:nvPr>
        </p:nvSpPr>
        <p:spPr>
          <a:xfrm>
            <a:off x="343800" y="2911625"/>
            <a:ext cx="8456400" cy="46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Methods that helped us investigate this problem:</a:t>
            </a:r>
            <a:endParaRPr sz="1800"/>
          </a:p>
        </p:txBody>
      </p:sp>
      <p:sp>
        <p:nvSpPr>
          <p:cNvPr id="1691" name="Google Shape;1691;p135"/>
          <p:cNvSpPr txBox="1"/>
          <p:nvPr>
            <p:ph idx="1" type="body"/>
          </p:nvPr>
        </p:nvSpPr>
        <p:spPr>
          <a:xfrm>
            <a:off x="324000" y="3264275"/>
            <a:ext cx="84564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drawing a diagram</a:t>
            </a:r>
            <a:endParaRPr sz="1800"/>
          </a:p>
        </p:txBody>
      </p:sp>
      <p:sp>
        <p:nvSpPr>
          <p:cNvPr id="1692" name="Google Shape;1692;p135"/>
          <p:cNvSpPr txBox="1"/>
          <p:nvPr>
            <p:ph idx="1" type="body"/>
          </p:nvPr>
        </p:nvSpPr>
        <p:spPr>
          <a:xfrm>
            <a:off x="324000" y="4238357"/>
            <a:ext cx="84564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picking an unknown value (?) and writing the other values in relation to it</a:t>
            </a:r>
            <a:endParaRPr sz="1800"/>
          </a:p>
        </p:txBody>
      </p:sp>
      <p:sp>
        <p:nvSpPr>
          <p:cNvPr id="1693" name="Google Shape;1693;p135"/>
          <p:cNvSpPr txBox="1"/>
          <p:nvPr>
            <p:ph idx="1" type="body"/>
          </p:nvPr>
        </p:nvSpPr>
        <p:spPr>
          <a:xfrm>
            <a:off x="324000" y="3751316"/>
            <a:ext cx="84564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trying a number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699" name="Google Shape;1699;p136"/>
          <p:cNvSpPr txBox="1"/>
          <p:nvPr>
            <p:ph idx="1" type="body"/>
          </p:nvPr>
        </p:nvSpPr>
        <p:spPr>
          <a:xfrm>
            <a:off x="363675" y="840950"/>
            <a:ext cx="8456400" cy="69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Let’s see if we can apply any of those methods to investigate another missing number problem.</a:t>
            </a:r>
            <a:endParaRPr sz="1800"/>
          </a:p>
        </p:txBody>
      </p:sp>
      <p:sp>
        <p:nvSpPr>
          <p:cNvPr id="1700" name="Google Shape;1700;p136"/>
          <p:cNvSpPr/>
          <p:nvPr/>
        </p:nvSpPr>
        <p:spPr>
          <a:xfrm>
            <a:off x="321600" y="1620000"/>
            <a:ext cx="5627400" cy="247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136"/>
          <p:cNvSpPr txBox="1"/>
          <p:nvPr>
            <p:ph idx="1" type="body"/>
          </p:nvPr>
        </p:nvSpPr>
        <p:spPr>
          <a:xfrm>
            <a:off x="506100" y="1694425"/>
            <a:ext cx="5513400" cy="24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Izzy has two sticks.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When she balances them on top of each other their total height is 70 cm.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When she stands them next to each other, one is 8 cm taller than the other. 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long is each stick?</a:t>
            </a:r>
            <a:endParaRPr sz="1800"/>
          </a:p>
        </p:txBody>
      </p:sp>
      <p:sp>
        <p:nvSpPr>
          <p:cNvPr id="1702" name="Google Shape;1702;p136"/>
          <p:cNvSpPr txBox="1"/>
          <p:nvPr>
            <p:ph idx="1" type="body"/>
          </p:nvPr>
        </p:nvSpPr>
        <p:spPr>
          <a:xfrm>
            <a:off x="6256800" y="1620000"/>
            <a:ext cx="2154600" cy="1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start to solve this problem?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708" name="Google Shape;1708;p137"/>
          <p:cNvSpPr/>
          <p:nvPr/>
        </p:nvSpPr>
        <p:spPr>
          <a:xfrm>
            <a:off x="321600" y="781800"/>
            <a:ext cx="5627400" cy="909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37"/>
          <p:cNvSpPr txBox="1"/>
          <p:nvPr>
            <p:ph idx="1" type="body"/>
          </p:nvPr>
        </p:nvSpPr>
        <p:spPr>
          <a:xfrm>
            <a:off x="506100" y="856225"/>
            <a:ext cx="551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total height of the 2 sticks is 70 cm.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One is 8 cm taller than the other.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710" name="Google Shape;1710;p137"/>
          <p:cNvGrpSpPr/>
          <p:nvPr/>
        </p:nvGrpSpPr>
        <p:grpSpPr>
          <a:xfrm>
            <a:off x="597550" y="2380350"/>
            <a:ext cx="603306" cy="1530600"/>
            <a:chOff x="597550" y="1923150"/>
            <a:chExt cx="603306" cy="1530600"/>
          </a:xfrm>
        </p:grpSpPr>
        <p:sp>
          <p:nvSpPr>
            <p:cNvPr id="1711" name="Google Shape;1711;p137"/>
            <p:cNvSpPr/>
            <p:nvPr/>
          </p:nvSpPr>
          <p:spPr>
            <a:xfrm>
              <a:off x="597550" y="2800350"/>
              <a:ext cx="94800" cy="653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2" name="Google Shape;1712;p137"/>
            <p:cNvSpPr/>
            <p:nvPr/>
          </p:nvSpPr>
          <p:spPr>
            <a:xfrm>
              <a:off x="597550" y="1923150"/>
              <a:ext cx="94800" cy="8772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13" name="Google Shape;1713;p137"/>
            <p:cNvCxnSpPr/>
            <p:nvPr/>
          </p:nvCxnSpPr>
          <p:spPr>
            <a:xfrm rot="10800000">
              <a:off x="788734" y="1942948"/>
              <a:ext cx="0" cy="151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14" name="Google Shape;1714;p137"/>
            <p:cNvSpPr/>
            <p:nvPr/>
          </p:nvSpPr>
          <p:spPr>
            <a:xfrm>
              <a:off x="692356" y="2591100"/>
              <a:ext cx="5085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5" name="Google Shape;1715;p137"/>
          <p:cNvGrpSpPr/>
          <p:nvPr/>
        </p:nvGrpSpPr>
        <p:grpSpPr>
          <a:xfrm>
            <a:off x="1255506" y="3014848"/>
            <a:ext cx="603294" cy="910652"/>
            <a:chOff x="1255506" y="2557648"/>
            <a:chExt cx="603294" cy="910652"/>
          </a:xfrm>
        </p:grpSpPr>
        <p:sp>
          <p:nvSpPr>
            <p:cNvPr id="1716" name="Google Shape;1716;p137"/>
            <p:cNvSpPr/>
            <p:nvPr/>
          </p:nvSpPr>
          <p:spPr>
            <a:xfrm>
              <a:off x="1625525" y="2814900"/>
              <a:ext cx="94800" cy="653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7" name="Google Shape;1717;p137"/>
            <p:cNvSpPr/>
            <p:nvPr/>
          </p:nvSpPr>
          <p:spPr>
            <a:xfrm>
              <a:off x="1764000" y="2591100"/>
              <a:ext cx="94800" cy="8772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18" name="Google Shape;1718;p137"/>
            <p:cNvCxnSpPr/>
            <p:nvPr/>
          </p:nvCxnSpPr>
          <p:spPr>
            <a:xfrm rot="10800000">
              <a:off x="1672934" y="2557648"/>
              <a:ext cx="0" cy="24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19" name="Google Shape;1719;p137"/>
            <p:cNvSpPr/>
            <p:nvPr/>
          </p:nvSpPr>
          <p:spPr>
            <a:xfrm>
              <a:off x="1255506" y="2570100"/>
              <a:ext cx="5085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20" name="Google Shape;1720;p137"/>
          <p:cNvSpPr txBox="1"/>
          <p:nvPr>
            <p:ph idx="1" type="body"/>
          </p:nvPr>
        </p:nvSpPr>
        <p:spPr>
          <a:xfrm>
            <a:off x="4320000" y="2534075"/>
            <a:ext cx="4500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the smaller one was 20 cm, the larger one would be 28 cm.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21" name="Google Shape;1721;p137"/>
          <p:cNvSpPr txBox="1"/>
          <p:nvPr>
            <p:ph idx="1" type="body"/>
          </p:nvPr>
        </p:nvSpPr>
        <p:spPr>
          <a:xfrm>
            <a:off x="4320000" y="3241913"/>
            <a:ext cx="33522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20 + 28 = 48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22" name="Google Shape;1722;p137"/>
          <p:cNvSpPr txBox="1"/>
          <p:nvPr>
            <p:ph idx="1" type="body"/>
          </p:nvPr>
        </p:nvSpPr>
        <p:spPr>
          <a:xfrm>
            <a:off x="4320000" y="3720850"/>
            <a:ext cx="45000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smaller stick is longer than 20 cm.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23" name="Google Shape;1723;p137"/>
          <p:cNvSpPr txBox="1"/>
          <p:nvPr>
            <p:ph idx="1" type="body"/>
          </p:nvPr>
        </p:nvSpPr>
        <p:spPr>
          <a:xfrm>
            <a:off x="321600" y="4435800"/>
            <a:ext cx="45000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Have a go at solving this problem now.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24" name="Google Shape;1724;p137"/>
          <p:cNvSpPr txBox="1"/>
          <p:nvPr>
            <p:ph idx="1" type="body"/>
          </p:nvPr>
        </p:nvSpPr>
        <p:spPr>
          <a:xfrm>
            <a:off x="321600" y="1864588"/>
            <a:ext cx="45000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Drawing a diagram: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 u="sng"/>
          </a:p>
        </p:txBody>
      </p:sp>
      <p:sp>
        <p:nvSpPr>
          <p:cNvPr id="1725" name="Google Shape;1725;p137"/>
          <p:cNvSpPr txBox="1"/>
          <p:nvPr>
            <p:ph idx="1" type="body"/>
          </p:nvPr>
        </p:nvSpPr>
        <p:spPr>
          <a:xfrm>
            <a:off x="4324449" y="1859388"/>
            <a:ext cx="45000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Trying a value</a:t>
            </a:r>
            <a:r>
              <a:rPr lang="en-GB" sz="1800"/>
              <a:t>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 u="sng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" name="Google Shape;1730;p13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2370600" y="3259800"/>
            <a:ext cx="2693100" cy="15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732" name="Google Shape;1732;p138"/>
          <p:cNvSpPr/>
          <p:nvPr/>
        </p:nvSpPr>
        <p:spPr>
          <a:xfrm>
            <a:off x="321600" y="781800"/>
            <a:ext cx="5627400" cy="909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138"/>
          <p:cNvSpPr txBox="1"/>
          <p:nvPr>
            <p:ph idx="1" type="body"/>
          </p:nvPr>
        </p:nvSpPr>
        <p:spPr>
          <a:xfrm>
            <a:off x="506100" y="856225"/>
            <a:ext cx="551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total height of the 2 sticks is 70 cm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One is 8 cm taller than the other.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34" name="Google Shape;1734;p138"/>
          <p:cNvSpPr txBox="1"/>
          <p:nvPr>
            <p:ph idx="1" type="body"/>
          </p:nvPr>
        </p:nvSpPr>
        <p:spPr>
          <a:xfrm>
            <a:off x="322800" y="1801150"/>
            <a:ext cx="84984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Andeep and Sofia have a go at solving this problem too.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Have a look at their working. Did you approach this in a similar way? What should they do next?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735" name="Google Shape;1735;p138"/>
          <p:cNvCxnSpPr/>
          <p:nvPr/>
        </p:nvCxnSpPr>
        <p:spPr>
          <a:xfrm>
            <a:off x="6102275" y="2875550"/>
            <a:ext cx="0" cy="1943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6" name="Google Shape;1736;p138"/>
          <p:cNvSpPr txBox="1"/>
          <p:nvPr>
            <p:ph idx="1" type="body"/>
          </p:nvPr>
        </p:nvSpPr>
        <p:spPr>
          <a:xfrm>
            <a:off x="4055400" y="2875550"/>
            <a:ext cx="1125300" cy="3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Andeep: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737" name="Google Shape;1737;p138"/>
          <p:cNvGrpSpPr/>
          <p:nvPr/>
        </p:nvGrpSpPr>
        <p:grpSpPr>
          <a:xfrm>
            <a:off x="4974056" y="3240000"/>
            <a:ext cx="1111800" cy="1530600"/>
            <a:chOff x="4974056" y="3240000"/>
            <a:chExt cx="1111800" cy="1530600"/>
          </a:xfrm>
        </p:grpSpPr>
        <p:sp>
          <p:nvSpPr>
            <p:cNvPr id="1738" name="Google Shape;1738;p138"/>
            <p:cNvSpPr/>
            <p:nvPr/>
          </p:nvSpPr>
          <p:spPr>
            <a:xfrm>
              <a:off x="5482550" y="4117200"/>
              <a:ext cx="94800" cy="653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9" name="Google Shape;1739;p138"/>
            <p:cNvSpPr/>
            <p:nvPr/>
          </p:nvSpPr>
          <p:spPr>
            <a:xfrm>
              <a:off x="5482550" y="3240000"/>
              <a:ext cx="94800" cy="8772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40" name="Google Shape;1740;p138"/>
            <p:cNvCxnSpPr/>
            <p:nvPr/>
          </p:nvCxnSpPr>
          <p:spPr>
            <a:xfrm rot="10800000">
              <a:off x="5673734" y="3259798"/>
              <a:ext cx="0" cy="151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41" name="Google Shape;1741;p138"/>
            <p:cNvSpPr/>
            <p:nvPr/>
          </p:nvSpPr>
          <p:spPr>
            <a:xfrm>
              <a:off x="5577356" y="3907950"/>
              <a:ext cx="5085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42" name="Google Shape;1742;p138"/>
            <p:cNvCxnSpPr/>
            <p:nvPr/>
          </p:nvCxnSpPr>
          <p:spPr>
            <a:xfrm rot="10800000">
              <a:off x="5413359" y="3895498"/>
              <a:ext cx="0" cy="24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43" name="Google Shape;1743;p138"/>
            <p:cNvSpPr/>
            <p:nvPr/>
          </p:nvSpPr>
          <p:spPr>
            <a:xfrm>
              <a:off x="4974056" y="3906300"/>
              <a:ext cx="5085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4" name="Google Shape;1744;p138"/>
            <p:cNvSpPr/>
            <p:nvPr/>
          </p:nvSpPr>
          <p:spPr>
            <a:xfrm>
              <a:off x="5482550" y="3240000"/>
              <a:ext cx="94800" cy="6534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5" name="Google Shape;1745;p138"/>
          <p:cNvSpPr txBox="1"/>
          <p:nvPr>
            <p:ph idx="1" type="body"/>
          </p:nvPr>
        </p:nvSpPr>
        <p:spPr>
          <a:xfrm>
            <a:off x="2597850" y="3330525"/>
            <a:ext cx="2446500" cy="3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small bit of green is worth 8, so the two purple sections are worth 62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46" name="Google Shape;1746;p138"/>
          <p:cNvSpPr txBox="1"/>
          <p:nvPr>
            <p:ph idx="1" type="body"/>
          </p:nvPr>
        </p:nvSpPr>
        <p:spPr>
          <a:xfrm>
            <a:off x="6360550" y="2875550"/>
            <a:ext cx="2460600" cy="3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Sofia</a:t>
            </a:r>
            <a:r>
              <a:rPr lang="en-GB" sz="1800"/>
              <a:t>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747" name="Google Shape;1747;p138"/>
          <p:cNvGraphicFramePr/>
          <p:nvPr/>
        </p:nvGraphicFramePr>
        <p:xfrm>
          <a:off x="6347988" y="335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{38EF6676-5A03-4EF0-AD80-367B8B6233E1}</a:tableStyleId>
              </a:tblPr>
              <a:tblGrid>
                <a:gridCol w="992000"/>
                <a:gridCol w="213175"/>
                <a:gridCol w="1030950"/>
              </a:tblGrid>
              <a:tr h="2969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9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 + P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9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+ 8 + P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P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2" name="Google Shape;1752;p13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846600" y="1202400"/>
            <a:ext cx="2693100" cy="15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cxnSp>
        <p:nvCxnSpPr>
          <p:cNvPr id="1754" name="Google Shape;1754;p139"/>
          <p:cNvCxnSpPr/>
          <p:nvPr/>
        </p:nvCxnSpPr>
        <p:spPr>
          <a:xfrm>
            <a:off x="4578275" y="818150"/>
            <a:ext cx="0" cy="3993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5" name="Google Shape;1755;p139"/>
          <p:cNvSpPr txBox="1"/>
          <p:nvPr>
            <p:ph idx="1" type="body"/>
          </p:nvPr>
        </p:nvSpPr>
        <p:spPr>
          <a:xfrm>
            <a:off x="2531400" y="818150"/>
            <a:ext cx="1125300" cy="3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Andeep: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56" name="Google Shape;1756;p139"/>
          <p:cNvSpPr/>
          <p:nvPr/>
        </p:nvSpPr>
        <p:spPr>
          <a:xfrm>
            <a:off x="3958550" y="2059800"/>
            <a:ext cx="94800" cy="653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139"/>
          <p:cNvSpPr/>
          <p:nvPr/>
        </p:nvSpPr>
        <p:spPr>
          <a:xfrm>
            <a:off x="3958550" y="1182600"/>
            <a:ext cx="94800" cy="8772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8" name="Google Shape;1758;p139"/>
          <p:cNvCxnSpPr/>
          <p:nvPr/>
        </p:nvCxnSpPr>
        <p:spPr>
          <a:xfrm rot="10800000">
            <a:off x="4149734" y="1202398"/>
            <a:ext cx="0" cy="151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59" name="Google Shape;1759;p139"/>
          <p:cNvSpPr/>
          <p:nvPr/>
        </p:nvSpPr>
        <p:spPr>
          <a:xfrm>
            <a:off x="4053356" y="1850550"/>
            <a:ext cx="508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0" name="Google Shape;1760;p139"/>
          <p:cNvCxnSpPr/>
          <p:nvPr/>
        </p:nvCxnSpPr>
        <p:spPr>
          <a:xfrm rot="10800000">
            <a:off x="3889359" y="1838098"/>
            <a:ext cx="0" cy="2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61" name="Google Shape;1761;p139"/>
          <p:cNvSpPr/>
          <p:nvPr/>
        </p:nvSpPr>
        <p:spPr>
          <a:xfrm>
            <a:off x="3450056" y="1848900"/>
            <a:ext cx="508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139"/>
          <p:cNvSpPr/>
          <p:nvPr/>
        </p:nvSpPr>
        <p:spPr>
          <a:xfrm>
            <a:off x="3958550" y="1182600"/>
            <a:ext cx="94800" cy="653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39"/>
          <p:cNvSpPr txBox="1"/>
          <p:nvPr>
            <p:ph idx="1" type="body"/>
          </p:nvPr>
        </p:nvSpPr>
        <p:spPr>
          <a:xfrm>
            <a:off x="1073850" y="1273125"/>
            <a:ext cx="2446500" cy="3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small bit of green is worth 8, so the two purple sections are worth 62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64" name="Google Shape;1764;p139"/>
          <p:cNvSpPr txBox="1"/>
          <p:nvPr>
            <p:ph idx="1" type="body"/>
          </p:nvPr>
        </p:nvSpPr>
        <p:spPr>
          <a:xfrm>
            <a:off x="4836550" y="818150"/>
            <a:ext cx="2460600" cy="3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Sofia: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765" name="Google Shape;1765;p139"/>
          <p:cNvGraphicFramePr/>
          <p:nvPr/>
        </p:nvGraphicFramePr>
        <p:xfrm>
          <a:off x="4823988" y="129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{38EF6676-5A03-4EF0-AD80-367B8B6233E1}</a:tableStyleId>
              </a:tblPr>
              <a:tblGrid>
                <a:gridCol w="992000"/>
                <a:gridCol w="213175"/>
                <a:gridCol w="1030950"/>
              </a:tblGrid>
              <a:tr h="2969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9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 + P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9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+ 8 + P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0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P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6" name="Google Shape;1766;p139"/>
          <p:cNvSpPr txBox="1"/>
          <p:nvPr>
            <p:ph idx="1" type="body"/>
          </p:nvPr>
        </p:nvSpPr>
        <p:spPr>
          <a:xfrm>
            <a:off x="322800" y="3108225"/>
            <a:ext cx="40365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Halve 62 to get the length of the purple (smaller) rod.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7" name="Google Shape;1767;p139"/>
          <p:cNvSpPr txBox="1"/>
          <p:nvPr>
            <p:ph idx="1" type="body"/>
          </p:nvPr>
        </p:nvSpPr>
        <p:spPr>
          <a:xfrm>
            <a:off x="322800" y="3968050"/>
            <a:ext cx="40365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purple = 31 cm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8" name="Google Shape;1768;p139"/>
          <p:cNvSpPr txBox="1"/>
          <p:nvPr>
            <p:ph idx="1" type="body"/>
          </p:nvPr>
        </p:nvSpPr>
        <p:spPr>
          <a:xfrm>
            <a:off x="322800" y="4381875"/>
            <a:ext cx="4036500" cy="42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reen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39 cm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9" name="Google Shape;1769;p139"/>
          <p:cNvSpPr txBox="1"/>
          <p:nvPr>
            <p:ph idx="1" type="body"/>
          </p:nvPr>
        </p:nvSpPr>
        <p:spPr>
          <a:xfrm>
            <a:off x="4824000" y="2666150"/>
            <a:ext cx="40365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the same method just with letters instead of diagrams.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0" name="Google Shape;1770;p139"/>
          <p:cNvSpPr txBox="1"/>
          <p:nvPr>
            <p:ph idx="1" type="body"/>
          </p:nvPr>
        </p:nvSpPr>
        <p:spPr>
          <a:xfrm>
            <a:off x="4797250" y="3968050"/>
            <a:ext cx="4036500" cy="8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31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 = 39 cm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1" name="Google Shape;1771;p139"/>
          <p:cNvSpPr txBox="1"/>
          <p:nvPr>
            <p:ph idx="1" type="body"/>
          </p:nvPr>
        </p:nvSpPr>
        <p:spPr>
          <a:xfrm>
            <a:off x="4824000" y="3473250"/>
            <a:ext cx="4036500" cy="37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Sofia has written an equation.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777" name="Google Shape;1777;p140"/>
          <p:cNvSpPr txBox="1"/>
          <p:nvPr>
            <p:ph idx="1" type="body"/>
          </p:nvPr>
        </p:nvSpPr>
        <p:spPr>
          <a:xfrm>
            <a:off x="322800" y="951750"/>
            <a:ext cx="8498400" cy="28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can use letters to represent an unknown value.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When we are given a statement of equality, we can write an equation to show the relationship between values.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We can write an equation when we have more than one unknown as well.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141"/>
          <p:cNvSpPr/>
          <p:nvPr/>
        </p:nvSpPr>
        <p:spPr>
          <a:xfrm>
            <a:off x="322800" y="866575"/>
            <a:ext cx="7929300" cy="1627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784" name="Google Shape;1784;p141"/>
          <p:cNvSpPr txBox="1"/>
          <p:nvPr>
            <p:ph idx="1" type="body"/>
          </p:nvPr>
        </p:nvSpPr>
        <p:spPr>
          <a:xfrm>
            <a:off x="408600" y="962186"/>
            <a:ext cx="7822800" cy="14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Laura has collected 120 coins in a video game.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It costs 30 coins to buy a pet and 10 coins to play a mini game.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could she spend all her coins so none are wasted?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85" name="Google Shape;1785;p141"/>
          <p:cNvSpPr txBox="1"/>
          <p:nvPr>
            <p:ph idx="1" type="body"/>
          </p:nvPr>
        </p:nvSpPr>
        <p:spPr>
          <a:xfrm>
            <a:off x="322800" y="2661707"/>
            <a:ext cx="7822800" cy="4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How could we write this problem as an equation?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86" name="Google Shape;1786;p141"/>
          <p:cNvSpPr txBox="1"/>
          <p:nvPr>
            <p:ph idx="1" type="body"/>
          </p:nvPr>
        </p:nvSpPr>
        <p:spPr>
          <a:xfrm>
            <a:off x="324000" y="3155200"/>
            <a:ext cx="8671200" cy="4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30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g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120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(where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1800"/>
              <a:t> is the number of pets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g</a:t>
            </a:r>
            <a:r>
              <a:rPr lang="en-GB" sz="1800"/>
              <a:t> is the number of games)</a:t>
            </a:r>
            <a:r>
              <a:rPr lang="en-GB" sz="2000"/>
              <a:t> </a:t>
            </a:r>
            <a:r>
              <a:rPr lang="en-GB" sz="2000"/>
              <a:t>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87" name="Google Shape;1787;p141"/>
          <p:cNvSpPr txBox="1"/>
          <p:nvPr>
            <p:ph idx="1" type="body"/>
          </p:nvPr>
        </p:nvSpPr>
        <p:spPr>
          <a:xfrm>
            <a:off x="322800" y="4227157"/>
            <a:ext cx="7822800" cy="4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Can you find values for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1800"/>
              <a:t>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g</a:t>
            </a:r>
            <a:r>
              <a:rPr lang="en-GB" sz="1800"/>
              <a:t> which work?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793" name="Google Shape;1793;p142"/>
          <p:cNvSpPr txBox="1"/>
          <p:nvPr>
            <p:ph idx="1" type="body"/>
          </p:nvPr>
        </p:nvSpPr>
        <p:spPr>
          <a:xfrm>
            <a:off x="324000" y="743550"/>
            <a:ext cx="8496000" cy="4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30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g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120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(where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1800"/>
              <a:t> is the number of pets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g</a:t>
            </a:r>
            <a:r>
              <a:rPr lang="en-GB" sz="1800"/>
              <a:t> is the number of games)</a:t>
            </a:r>
            <a:r>
              <a:rPr lang="en-GB" sz="2000"/>
              <a:t>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94" name="Google Shape;1794;p142"/>
          <p:cNvSpPr txBox="1"/>
          <p:nvPr>
            <p:ph idx="1" type="body"/>
          </p:nvPr>
        </p:nvSpPr>
        <p:spPr>
          <a:xfrm>
            <a:off x="324000" y="1758982"/>
            <a:ext cx="7822800" cy="4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Can you find values for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1800"/>
              <a:t>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g</a:t>
            </a:r>
            <a:r>
              <a:rPr lang="en-GB" sz="1800"/>
              <a:t> which work?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795" name="Google Shape;1795;p142"/>
          <p:cNvGraphicFramePr/>
          <p:nvPr/>
        </p:nvGraphicFramePr>
        <p:xfrm>
          <a:off x="339575" y="22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{38EF6676-5A03-4EF0-AD80-367B8B6233E1}</a:tableStyleId>
              </a:tblPr>
              <a:tblGrid>
                <a:gridCol w="4232425"/>
                <a:gridCol w="4232425"/>
              </a:tblGrid>
              <a:tr h="31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pets bought (</a:t>
                      </a:r>
                      <a:r>
                        <a:rPr i="1" lang="en-GB" sz="2000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mini games possible (</a:t>
                      </a:r>
                      <a:r>
                        <a:rPr i="1" lang="en-GB" sz="2000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g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11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6" name="Google Shape;1796;p142"/>
          <p:cNvSpPr txBox="1"/>
          <p:nvPr>
            <p:ph idx="1" type="body"/>
          </p:nvPr>
        </p:nvSpPr>
        <p:spPr>
          <a:xfrm>
            <a:off x="324000" y="4016207"/>
            <a:ext cx="7822800" cy="4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Why do</a:t>
            </a:r>
            <a:r>
              <a:rPr lang="en-GB" sz="1800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1800"/>
              <a:t>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g</a:t>
            </a:r>
            <a:r>
              <a:rPr lang="en-GB" sz="1800"/>
              <a:t> have to be positive integers?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7" name="Google Shape;1797;p142"/>
          <p:cNvSpPr txBox="1"/>
          <p:nvPr>
            <p:ph idx="1" type="body"/>
          </p:nvPr>
        </p:nvSpPr>
        <p:spPr>
          <a:xfrm>
            <a:off x="324000" y="4509703"/>
            <a:ext cx="7822800" cy="31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represent the ‘number of times’ something is happening.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803" name="Google Shape;1803;p143"/>
          <p:cNvSpPr/>
          <p:nvPr/>
        </p:nvSpPr>
        <p:spPr>
          <a:xfrm>
            <a:off x="355350" y="765900"/>
            <a:ext cx="7929300" cy="123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143"/>
          <p:cNvSpPr txBox="1"/>
          <p:nvPr>
            <p:ph idx="1" type="body"/>
          </p:nvPr>
        </p:nvSpPr>
        <p:spPr>
          <a:xfrm>
            <a:off x="441150" y="861503"/>
            <a:ext cx="7822800" cy="11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Izzy has two sticks. One is exactly double the length of the other.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When she stands them on top of each other they are 24 cm high.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What is the length of each stick?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05" name="Google Shape;1805;p143"/>
          <p:cNvSpPr/>
          <p:nvPr/>
        </p:nvSpPr>
        <p:spPr>
          <a:xfrm>
            <a:off x="660800" y="3756000"/>
            <a:ext cx="1425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6" name="Google Shape;1806;p143"/>
          <p:cNvSpPr/>
          <p:nvPr/>
        </p:nvSpPr>
        <p:spPr>
          <a:xfrm>
            <a:off x="1024575" y="3756000"/>
            <a:ext cx="1425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7" name="Google Shape;1807;p143"/>
          <p:cNvSpPr/>
          <p:nvPr/>
        </p:nvSpPr>
        <p:spPr>
          <a:xfrm>
            <a:off x="1024575" y="3192000"/>
            <a:ext cx="1425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143"/>
          <p:cNvSpPr/>
          <p:nvPr/>
        </p:nvSpPr>
        <p:spPr>
          <a:xfrm>
            <a:off x="4572000" y="2628000"/>
            <a:ext cx="1425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9" name="Google Shape;1809;p143"/>
          <p:cNvSpPr/>
          <p:nvPr/>
        </p:nvSpPr>
        <p:spPr>
          <a:xfrm>
            <a:off x="4572000" y="3756000"/>
            <a:ext cx="1425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0" name="Google Shape;1810;p143"/>
          <p:cNvSpPr/>
          <p:nvPr/>
        </p:nvSpPr>
        <p:spPr>
          <a:xfrm>
            <a:off x="4572000" y="3192000"/>
            <a:ext cx="1425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143"/>
          <p:cNvSpPr/>
          <p:nvPr/>
        </p:nvSpPr>
        <p:spPr>
          <a:xfrm>
            <a:off x="2925100" y="2941975"/>
            <a:ext cx="1425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2" name="Google Shape;1812;p143"/>
          <p:cNvSpPr/>
          <p:nvPr/>
        </p:nvSpPr>
        <p:spPr>
          <a:xfrm>
            <a:off x="2925100" y="3505975"/>
            <a:ext cx="142500" cy="813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3" name="Google Shape;1813;p143"/>
          <p:cNvSpPr/>
          <p:nvPr/>
        </p:nvSpPr>
        <p:spPr>
          <a:xfrm>
            <a:off x="6511450" y="3679800"/>
            <a:ext cx="1425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4" name="Google Shape;1814;p143"/>
          <p:cNvSpPr/>
          <p:nvPr/>
        </p:nvSpPr>
        <p:spPr>
          <a:xfrm>
            <a:off x="6952726" y="3429775"/>
            <a:ext cx="142500" cy="217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143"/>
          <p:cNvSpPr/>
          <p:nvPr/>
        </p:nvSpPr>
        <p:spPr>
          <a:xfrm>
            <a:off x="6952725" y="3647575"/>
            <a:ext cx="1425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6" name="Google Shape;1816;p143"/>
          <p:cNvCxnSpPr/>
          <p:nvPr/>
        </p:nvCxnSpPr>
        <p:spPr>
          <a:xfrm rot="10800000">
            <a:off x="4854334" y="2599948"/>
            <a:ext cx="0" cy="171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17" name="Google Shape;1817;p143"/>
          <p:cNvSpPr/>
          <p:nvPr/>
        </p:nvSpPr>
        <p:spPr>
          <a:xfrm>
            <a:off x="4896231" y="3365100"/>
            <a:ext cx="508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8" name="Google Shape;1818;p143"/>
          <p:cNvCxnSpPr/>
          <p:nvPr/>
        </p:nvCxnSpPr>
        <p:spPr>
          <a:xfrm rot="10800000">
            <a:off x="3160709" y="2902948"/>
            <a:ext cx="0" cy="1428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19" name="Google Shape;1819;p143"/>
          <p:cNvSpPr/>
          <p:nvPr/>
        </p:nvSpPr>
        <p:spPr>
          <a:xfrm>
            <a:off x="3091243" y="3505975"/>
            <a:ext cx="508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0" name="Google Shape;1820;p143"/>
          <p:cNvCxnSpPr/>
          <p:nvPr/>
        </p:nvCxnSpPr>
        <p:spPr>
          <a:xfrm rot="10800000">
            <a:off x="1286259" y="3184823"/>
            <a:ext cx="0" cy="114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21" name="Google Shape;1821;p143"/>
          <p:cNvSpPr/>
          <p:nvPr/>
        </p:nvSpPr>
        <p:spPr>
          <a:xfrm>
            <a:off x="1286256" y="3648025"/>
            <a:ext cx="508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2" name="Google Shape;1822;p143"/>
          <p:cNvSpPr/>
          <p:nvPr/>
        </p:nvSpPr>
        <p:spPr>
          <a:xfrm>
            <a:off x="6370781" y="3211975"/>
            <a:ext cx="508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143"/>
          <p:cNvSpPr txBox="1"/>
          <p:nvPr>
            <p:ph idx="1" type="body"/>
          </p:nvPr>
        </p:nvSpPr>
        <p:spPr>
          <a:xfrm>
            <a:off x="324000" y="2158202"/>
            <a:ext cx="78228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diagram best represents this problem?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824" name="Google Shape;1824;p143"/>
          <p:cNvGrpSpPr/>
          <p:nvPr/>
        </p:nvGrpSpPr>
        <p:grpSpPr>
          <a:xfrm>
            <a:off x="709866" y="4363200"/>
            <a:ext cx="457200" cy="457200"/>
            <a:chOff x="1020916" y="1442088"/>
            <a:chExt cx="457200" cy="457200"/>
          </a:xfrm>
        </p:grpSpPr>
        <p:pic>
          <p:nvPicPr>
            <p:cNvPr id="1825" name="Google Shape;1825;p1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6" name="Google Shape;1826;p1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7" name="Google Shape;1827;p143"/>
          <p:cNvGrpSpPr/>
          <p:nvPr/>
        </p:nvGrpSpPr>
        <p:grpSpPr>
          <a:xfrm>
            <a:off x="2820466" y="4363200"/>
            <a:ext cx="457200" cy="457200"/>
            <a:chOff x="1020916" y="1442088"/>
            <a:chExt cx="457200" cy="457200"/>
          </a:xfrm>
        </p:grpSpPr>
        <p:pic>
          <p:nvPicPr>
            <p:cNvPr id="1828" name="Google Shape;1828;p1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9" name="Google Shape;1829;p1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0" name="Google Shape;1830;p143"/>
          <p:cNvGrpSpPr/>
          <p:nvPr/>
        </p:nvGrpSpPr>
        <p:grpSpPr>
          <a:xfrm>
            <a:off x="4414641" y="4363200"/>
            <a:ext cx="457200" cy="457200"/>
            <a:chOff x="1020916" y="1442088"/>
            <a:chExt cx="457200" cy="457200"/>
          </a:xfrm>
        </p:grpSpPr>
        <p:pic>
          <p:nvPicPr>
            <p:cNvPr id="1831" name="Google Shape;1831;p1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2" name="Google Shape;1832;p1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3" name="Google Shape;1833;p143"/>
          <p:cNvGrpSpPr/>
          <p:nvPr/>
        </p:nvGrpSpPr>
        <p:grpSpPr>
          <a:xfrm>
            <a:off x="6584741" y="4363200"/>
            <a:ext cx="457200" cy="457200"/>
            <a:chOff x="1020916" y="1442088"/>
            <a:chExt cx="457200" cy="457200"/>
          </a:xfrm>
        </p:grpSpPr>
        <p:pic>
          <p:nvPicPr>
            <p:cNvPr id="1834" name="Google Shape;1834;p1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5" name="Google Shape;1835;p1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36" name="Google Shape;1836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515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842" name="Google Shape;1842;p144"/>
          <p:cNvSpPr/>
          <p:nvPr/>
        </p:nvSpPr>
        <p:spPr>
          <a:xfrm>
            <a:off x="355350" y="765900"/>
            <a:ext cx="7929300" cy="123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3" name="Google Shape;1843;p144"/>
          <p:cNvSpPr txBox="1"/>
          <p:nvPr>
            <p:ph idx="1" type="body"/>
          </p:nvPr>
        </p:nvSpPr>
        <p:spPr>
          <a:xfrm>
            <a:off x="441150" y="861503"/>
            <a:ext cx="7822800" cy="11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Izzy has two sticks. One is exactly double the length of the other.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When she stands them on top of each other they are 24 cm high.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What is the length of each stick?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44" name="Google Shape;1844;p144"/>
          <p:cNvSpPr/>
          <p:nvPr/>
        </p:nvSpPr>
        <p:spPr>
          <a:xfrm>
            <a:off x="441150" y="2728050"/>
            <a:ext cx="1425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5" name="Google Shape;1845;p144"/>
          <p:cNvSpPr/>
          <p:nvPr/>
        </p:nvSpPr>
        <p:spPr>
          <a:xfrm>
            <a:off x="441150" y="3856050"/>
            <a:ext cx="1425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6" name="Google Shape;1846;p144"/>
          <p:cNvSpPr/>
          <p:nvPr/>
        </p:nvSpPr>
        <p:spPr>
          <a:xfrm>
            <a:off x="441150" y="3292050"/>
            <a:ext cx="1425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7" name="Google Shape;1847;p144"/>
          <p:cNvCxnSpPr/>
          <p:nvPr/>
        </p:nvCxnSpPr>
        <p:spPr>
          <a:xfrm rot="10800000">
            <a:off x="723484" y="2699998"/>
            <a:ext cx="0" cy="171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8" name="Google Shape;1848;p144"/>
          <p:cNvSpPr/>
          <p:nvPr/>
        </p:nvSpPr>
        <p:spPr>
          <a:xfrm>
            <a:off x="765381" y="3465150"/>
            <a:ext cx="5085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144"/>
          <p:cNvSpPr txBox="1"/>
          <p:nvPr>
            <p:ph idx="1" type="body"/>
          </p:nvPr>
        </p:nvSpPr>
        <p:spPr>
          <a:xfrm>
            <a:off x="324000" y="2158202"/>
            <a:ext cx="78228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Use the diagram to solve the problem.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50" name="Google Shape;1850;p144"/>
          <p:cNvSpPr txBox="1"/>
          <p:nvPr>
            <p:ph idx="1" type="body"/>
          </p:nvPr>
        </p:nvSpPr>
        <p:spPr>
          <a:xfrm>
            <a:off x="1684800" y="2958150"/>
            <a:ext cx="50229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24 ÷ 3 = 8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1" name="Google Shape;1851;p144"/>
          <p:cNvSpPr txBox="1"/>
          <p:nvPr>
            <p:ph idx="1" type="body"/>
          </p:nvPr>
        </p:nvSpPr>
        <p:spPr>
          <a:xfrm>
            <a:off x="1684800" y="3465150"/>
            <a:ext cx="64251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smaller stick is 8 cm, the larger stick is 16 cm.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145"/>
          <p:cNvSpPr txBox="1"/>
          <p:nvPr>
            <p:ph idx="1" type="body"/>
          </p:nvPr>
        </p:nvSpPr>
        <p:spPr>
          <a:xfrm>
            <a:off x="324000" y="759300"/>
            <a:ext cx="84960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Solve the following problems. You may wish to use a diagram to help you.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857" name="Google Shape;1857;p14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858" name="Google Shape;1858;p145"/>
          <p:cNvSpPr txBox="1"/>
          <p:nvPr>
            <p:ph idx="1" type="body"/>
          </p:nvPr>
        </p:nvSpPr>
        <p:spPr>
          <a:xfrm>
            <a:off x="4572000" y="1237800"/>
            <a:ext cx="42480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Jacob was 6 years old when his puppy was born.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At what age would he be exactly double his puppy’s age?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At what age would he be exactly three times his puppy’s age?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59" name="Google Shape;1859;p145"/>
          <p:cNvSpPr txBox="1"/>
          <p:nvPr>
            <p:ph idx="1" type="body"/>
          </p:nvPr>
        </p:nvSpPr>
        <p:spPr>
          <a:xfrm>
            <a:off x="365600" y="1237800"/>
            <a:ext cx="39543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</a:t>
            </a:r>
            <a:r>
              <a:rPr lang="en-GB" sz="1800"/>
              <a:t>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 recipe for fruit cake requires the same amount of </a:t>
            </a:r>
            <a:r>
              <a:rPr lang="en-GB" sz="1800"/>
              <a:t>currants</a:t>
            </a:r>
            <a:r>
              <a:rPr lang="en-GB" sz="1800"/>
              <a:t> and </a:t>
            </a:r>
            <a:r>
              <a:rPr lang="en-GB" sz="1800"/>
              <a:t>sultanas but twice as many raisins.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Altogether you need 420 g of dried fruit.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How much of each fruit do you need?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860" name="Google Shape;1860;p145"/>
          <p:cNvCxnSpPr/>
          <p:nvPr/>
        </p:nvCxnSpPr>
        <p:spPr>
          <a:xfrm>
            <a:off x="4320000" y="1237800"/>
            <a:ext cx="0" cy="3516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146"/>
          <p:cNvSpPr txBox="1"/>
          <p:nvPr>
            <p:ph idx="1" type="body"/>
          </p:nvPr>
        </p:nvSpPr>
        <p:spPr>
          <a:xfrm>
            <a:off x="324000" y="759300"/>
            <a:ext cx="84960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Solve the following problems. You may wish to use a diagram to help you.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866" name="Google Shape;1866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867" name="Google Shape;1867;p146"/>
          <p:cNvSpPr txBox="1"/>
          <p:nvPr>
            <p:ph idx="1" type="body"/>
          </p:nvPr>
        </p:nvSpPr>
        <p:spPr>
          <a:xfrm>
            <a:off x="4572000" y="1237800"/>
            <a:ext cx="42480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</a:t>
            </a:r>
            <a:r>
              <a:rPr lang="en-GB" sz="1800"/>
              <a:t>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length of a rectangular cupboard is 1 m longer than its width.</a:t>
            </a:r>
            <a:endParaRPr sz="18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perimeter of the cupboard floor is 9 m; what is its area?</a:t>
            </a:r>
            <a:endParaRPr sz="18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Leave your answer as a fraction.</a:t>
            </a:r>
            <a:endParaRPr sz="18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68" name="Google Shape;1868;p146"/>
          <p:cNvSpPr txBox="1"/>
          <p:nvPr>
            <p:ph idx="1" type="body"/>
          </p:nvPr>
        </p:nvSpPr>
        <p:spPr>
          <a:xfrm>
            <a:off x="365600" y="1237800"/>
            <a:ext cx="39543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</a:t>
            </a:r>
            <a:r>
              <a:rPr lang="en-GB" sz="1800"/>
              <a:t>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 rectangle is drawn where its length is double its width.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If its perimeter is 24 cm, what is the area of the rectangle?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869" name="Google Shape;1869;p146"/>
          <p:cNvCxnSpPr/>
          <p:nvPr/>
        </p:nvCxnSpPr>
        <p:spPr>
          <a:xfrm>
            <a:off x="4320000" y="1237800"/>
            <a:ext cx="0" cy="3516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47"/>
          <p:cNvSpPr txBox="1"/>
          <p:nvPr>
            <p:ph idx="1" type="body"/>
          </p:nvPr>
        </p:nvSpPr>
        <p:spPr>
          <a:xfrm>
            <a:off x="324000" y="759300"/>
            <a:ext cx="84531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2</a:t>
            </a:r>
            <a:r>
              <a:rPr lang="en-GB" sz="1800"/>
              <a:t>) Solve the following problems. You may wish to use a diagram to help you.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875" name="Google Shape;1875;p1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876" name="Google Shape;1876;p147"/>
          <p:cNvSpPr txBox="1"/>
          <p:nvPr>
            <p:ph idx="1" type="body"/>
          </p:nvPr>
        </p:nvSpPr>
        <p:spPr>
          <a:xfrm>
            <a:off x="4572000" y="1237800"/>
            <a:ext cx="38241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</a:t>
            </a:r>
            <a:r>
              <a:rPr lang="en-GB" sz="1800"/>
              <a:t>) Sam has written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26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77" name="Google Shape;1877;p147"/>
          <p:cNvSpPr txBox="1"/>
          <p:nvPr>
            <p:ph idx="1" type="body"/>
          </p:nvPr>
        </p:nvSpPr>
        <p:spPr>
          <a:xfrm>
            <a:off x="365600" y="1237800"/>
            <a:ext cx="39543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</a:t>
            </a:r>
            <a:r>
              <a:rPr lang="en-GB" sz="1800"/>
              <a:t>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Sour sweets cost 30 p and toffees cost 25 p.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Laura has £1.70 and wants to spend all her money with no change left over.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How many of each can she buy?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878" name="Google Shape;1878;p147"/>
          <p:cNvCxnSpPr/>
          <p:nvPr/>
        </p:nvCxnSpPr>
        <p:spPr>
          <a:xfrm>
            <a:off x="4320000" y="1237800"/>
            <a:ext cx="0" cy="3516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9" name="Google Shape;1879;p147"/>
          <p:cNvSpPr txBox="1"/>
          <p:nvPr/>
        </p:nvSpPr>
        <p:spPr>
          <a:xfrm>
            <a:off x="4343400" y="3647139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0" name="Google Shape;1880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6512" y="3123573"/>
            <a:ext cx="387923" cy="558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1" name="Google Shape;1881;p147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4952900" y="1995300"/>
            <a:ext cx="3824225" cy="1486151"/>
          </a:xfrm>
          <a:prstGeom prst="rect">
            <a:avLst/>
          </a:prstGeom>
          <a:noFill/>
          <a:ln>
            <a:noFill/>
          </a:ln>
        </p:spPr>
      </p:pic>
      <p:sp>
        <p:nvSpPr>
          <p:cNvPr id="1882" name="Google Shape;1882;p147"/>
          <p:cNvSpPr/>
          <p:nvPr/>
        </p:nvSpPr>
        <p:spPr>
          <a:xfrm>
            <a:off x="5310525" y="2040025"/>
            <a:ext cx="33138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two answers to this problem.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or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3" name="Google Shape;1883;p147"/>
          <p:cNvSpPr txBox="1"/>
          <p:nvPr>
            <p:ph idx="1" type="body"/>
          </p:nvPr>
        </p:nvSpPr>
        <p:spPr>
          <a:xfrm>
            <a:off x="4572000" y="3969050"/>
            <a:ext cx="42480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Explain why Sam is incorrect.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148"/>
          <p:cNvSpPr txBox="1"/>
          <p:nvPr>
            <p:ph idx="1" type="body"/>
          </p:nvPr>
        </p:nvSpPr>
        <p:spPr>
          <a:xfrm>
            <a:off x="324000" y="759300"/>
            <a:ext cx="84960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Solve the following problems. You may wish to use a diagram to help you.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889" name="Google Shape;1889;p1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890" name="Google Shape;1890;p148"/>
          <p:cNvSpPr txBox="1"/>
          <p:nvPr>
            <p:ph idx="1" type="body"/>
          </p:nvPr>
        </p:nvSpPr>
        <p:spPr>
          <a:xfrm>
            <a:off x="365600" y="1237800"/>
            <a:ext cx="39543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 recipe for fruit cake requires the same amount of currants and sultanas but twice as many raisins.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Altogether you need 420 g of dried fruit.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How much of each fruit do you need?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91" name="Google Shape;1891;p148"/>
          <p:cNvSpPr/>
          <p:nvPr/>
        </p:nvSpPr>
        <p:spPr>
          <a:xfrm>
            <a:off x="5586000" y="2007750"/>
            <a:ext cx="1425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2" name="Google Shape;1892;p148"/>
          <p:cNvSpPr/>
          <p:nvPr/>
        </p:nvSpPr>
        <p:spPr>
          <a:xfrm>
            <a:off x="6786150" y="2007750"/>
            <a:ext cx="1425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3" name="Google Shape;1893;p148"/>
          <p:cNvGrpSpPr/>
          <p:nvPr/>
        </p:nvGrpSpPr>
        <p:grpSpPr>
          <a:xfrm>
            <a:off x="7907871" y="1443750"/>
            <a:ext cx="142500" cy="1128000"/>
            <a:chOff x="8324100" y="1443750"/>
            <a:chExt cx="142500" cy="1128000"/>
          </a:xfrm>
        </p:grpSpPr>
        <p:sp>
          <p:nvSpPr>
            <p:cNvPr id="1894" name="Google Shape;1894;p148"/>
            <p:cNvSpPr/>
            <p:nvPr/>
          </p:nvSpPr>
          <p:spPr>
            <a:xfrm>
              <a:off x="8324100" y="2007750"/>
              <a:ext cx="142500" cy="5640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5" name="Google Shape;1895;p148"/>
            <p:cNvSpPr/>
            <p:nvPr/>
          </p:nvSpPr>
          <p:spPr>
            <a:xfrm>
              <a:off x="8324100" y="1443750"/>
              <a:ext cx="142500" cy="5640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6" name="Google Shape;1896;p148"/>
          <p:cNvSpPr txBox="1"/>
          <p:nvPr>
            <p:ph idx="1" type="body"/>
          </p:nvPr>
        </p:nvSpPr>
        <p:spPr>
          <a:xfrm>
            <a:off x="5140200" y="2571750"/>
            <a:ext cx="10341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currants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7" name="Google Shape;1897;p148"/>
          <p:cNvSpPr txBox="1"/>
          <p:nvPr>
            <p:ph idx="1" type="body"/>
          </p:nvPr>
        </p:nvSpPr>
        <p:spPr>
          <a:xfrm>
            <a:off x="6393475" y="2571750"/>
            <a:ext cx="10341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sultanas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8" name="Google Shape;1898;p148"/>
          <p:cNvSpPr txBox="1"/>
          <p:nvPr>
            <p:ph idx="1" type="body"/>
          </p:nvPr>
        </p:nvSpPr>
        <p:spPr>
          <a:xfrm>
            <a:off x="7646750" y="2571750"/>
            <a:ext cx="10341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raisins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9" name="Google Shape;1899;p148"/>
          <p:cNvSpPr/>
          <p:nvPr/>
        </p:nvSpPr>
        <p:spPr>
          <a:xfrm>
            <a:off x="5270325" y="1254175"/>
            <a:ext cx="2973300" cy="135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148"/>
          <p:cNvSpPr txBox="1"/>
          <p:nvPr>
            <p:ph idx="1" type="body"/>
          </p:nvPr>
        </p:nvSpPr>
        <p:spPr>
          <a:xfrm>
            <a:off x="5433500" y="1383525"/>
            <a:ext cx="10341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420 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1" name="Google Shape;1901;p148"/>
          <p:cNvSpPr txBox="1"/>
          <p:nvPr>
            <p:ph idx="1" type="body"/>
          </p:nvPr>
        </p:nvSpPr>
        <p:spPr>
          <a:xfrm>
            <a:off x="5359375" y="3142375"/>
            <a:ext cx="20388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420 ÷ 4 = 105 g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2" name="Google Shape;1902;p148"/>
          <p:cNvSpPr txBox="1"/>
          <p:nvPr>
            <p:ph idx="1" type="body"/>
          </p:nvPr>
        </p:nvSpPr>
        <p:spPr>
          <a:xfrm>
            <a:off x="5359375" y="3625950"/>
            <a:ext cx="20388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105 g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3" name="Google Shape;1903;p148"/>
          <p:cNvSpPr txBox="1"/>
          <p:nvPr>
            <p:ph idx="1" type="body"/>
          </p:nvPr>
        </p:nvSpPr>
        <p:spPr>
          <a:xfrm>
            <a:off x="5359375" y="3994675"/>
            <a:ext cx="20388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105 g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4" name="Google Shape;1904;p148"/>
          <p:cNvSpPr txBox="1"/>
          <p:nvPr>
            <p:ph idx="1" type="body"/>
          </p:nvPr>
        </p:nvSpPr>
        <p:spPr>
          <a:xfrm>
            <a:off x="5359375" y="4384200"/>
            <a:ext cx="20388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210 g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149"/>
          <p:cNvSpPr txBox="1"/>
          <p:nvPr>
            <p:ph idx="1" type="body"/>
          </p:nvPr>
        </p:nvSpPr>
        <p:spPr>
          <a:xfrm>
            <a:off x="324000" y="759300"/>
            <a:ext cx="84960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Solve the following problems. You may wish to use a diagram to help you.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10" name="Google Shape;1910;p1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911" name="Google Shape;1911;p149"/>
          <p:cNvSpPr txBox="1"/>
          <p:nvPr>
            <p:ph idx="1" type="body"/>
          </p:nvPr>
        </p:nvSpPr>
        <p:spPr>
          <a:xfrm>
            <a:off x="457200" y="1237800"/>
            <a:ext cx="44607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Jacob was 6 years old when his puppy was born.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At what age would he be exactly double his puppy’s age?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At what age would he be exactly three times his puppy’s age?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12" name="Google Shape;1912;p149"/>
          <p:cNvSpPr/>
          <p:nvPr/>
        </p:nvSpPr>
        <p:spPr>
          <a:xfrm>
            <a:off x="2786950" y="3921600"/>
            <a:ext cx="142500" cy="564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3" name="Google Shape;1913;p149"/>
          <p:cNvGrpSpPr/>
          <p:nvPr/>
        </p:nvGrpSpPr>
        <p:grpSpPr>
          <a:xfrm>
            <a:off x="3726550" y="3539400"/>
            <a:ext cx="142500" cy="946200"/>
            <a:chOff x="6714000" y="1625550"/>
            <a:chExt cx="142500" cy="946200"/>
          </a:xfrm>
        </p:grpSpPr>
        <p:sp>
          <p:nvSpPr>
            <p:cNvPr id="1914" name="Google Shape;1914;p149"/>
            <p:cNvSpPr/>
            <p:nvPr/>
          </p:nvSpPr>
          <p:spPr>
            <a:xfrm>
              <a:off x="6714000" y="2007750"/>
              <a:ext cx="142500" cy="5640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5" name="Google Shape;1915;p149"/>
            <p:cNvSpPr/>
            <p:nvPr/>
          </p:nvSpPr>
          <p:spPr>
            <a:xfrm>
              <a:off x="6714000" y="1625550"/>
              <a:ext cx="142500" cy="3822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16" name="Google Shape;1916;p149"/>
          <p:cNvSpPr txBox="1"/>
          <p:nvPr>
            <p:ph idx="1" type="body"/>
          </p:nvPr>
        </p:nvSpPr>
        <p:spPr>
          <a:xfrm>
            <a:off x="2483900" y="4485600"/>
            <a:ext cx="10341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puppy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7" name="Google Shape;1917;p149"/>
          <p:cNvSpPr txBox="1"/>
          <p:nvPr>
            <p:ph idx="1" type="body"/>
          </p:nvPr>
        </p:nvSpPr>
        <p:spPr>
          <a:xfrm>
            <a:off x="3474750" y="4485600"/>
            <a:ext cx="10341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Jacob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8" name="Google Shape;1918;p149"/>
          <p:cNvSpPr/>
          <p:nvPr/>
        </p:nvSpPr>
        <p:spPr>
          <a:xfrm>
            <a:off x="5598250" y="2080127"/>
            <a:ext cx="142500" cy="440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9" name="Google Shape;1919;p149"/>
          <p:cNvSpPr/>
          <p:nvPr/>
        </p:nvSpPr>
        <p:spPr>
          <a:xfrm>
            <a:off x="5598250" y="1639798"/>
            <a:ext cx="142500" cy="440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0" name="Google Shape;1920;p149"/>
          <p:cNvSpPr/>
          <p:nvPr/>
        </p:nvSpPr>
        <p:spPr>
          <a:xfrm>
            <a:off x="5881775" y="1639800"/>
            <a:ext cx="142500" cy="440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49"/>
          <p:cNvSpPr/>
          <p:nvPr/>
        </p:nvSpPr>
        <p:spPr>
          <a:xfrm>
            <a:off x="5881775" y="2080127"/>
            <a:ext cx="142500" cy="440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149"/>
          <p:cNvSpPr txBox="1"/>
          <p:nvPr>
            <p:ph idx="1" type="body"/>
          </p:nvPr>
        </p:nvSpPr>
        <p:spPr>
          <a:xfrm>
            <a:off x="6268200" y="1639800"/>
            <a:ext cx="25518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Jacob would be double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puppy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’s age when he is 12.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3" name="Google Shape;1923;p149"/>
          <p:cNvSpPr/>
          <p:nvPr/>
        </p:nvSpPr>
        <p:spPr>
          <a:xfrm>
            <a:off x="5631900" y="4045189"/>
            <a:ext cx="142500" cy="440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49"/>
          <p:cNvSpPr/>
          <p:nvPr/>
        </p:nvSpPr>
        <p:spPr>
          <a:xfrm>
            <a:off x="5631900" y="3604861"/>
            <a:ext cx="142500" cy="440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49"/>
          <p:cNvSpPr/>
          <p:nvPr/>
        </p:nvSpPr>
        <p:spPr>
          <a:xfrm>
            <a:off x="5631900" y="3164461"/>
            <a:ext cx="142500" cy="440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149"/>
          <p:cNvSpPr/>
          <p:nvPr/>
        </p:nvSpPr>
        <p:spPr>
          <a:xfrm>
            <a:off x="5811325" y="3164450"/>
            <a:ext cx="142500" cy="880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149"/>
          <p:cNvSpPr/>
          <p:nvPr/>
        </p:nvSpPr>
        <p:spPr>
          <a:xfrm>
            <a:off x="5811325" y="4045202"/>
            <a:ext cx="142500" cy="4404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149"/>
          <p:cNvSpPr txBox="1"/>
          <p:nvPr>
            <p:ph idx="1" type="body"/>
          </p:nvPr>
        </p:nvSpPr>
        <p:spPr>
          <a:xfrm>
            <a:off x="6268200" y="3128400"/>
            <a:ext cx="25518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Jacob would be three times the puppy’s age when he is 9.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150"/>
          <p:cNvSpPr txBox="1"/>
          <p:nvPr>
            <p:ph idx="1" type="body"/>
          </p:nvPr>
        </p:nvSpPr>
        <p:spPr>
          <a:xfrm>
            <a:off x="324000" y="759300"/>
            <a:ext cx="84960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1) Solve the following problems. You may wish to use a diagram to help you.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34" name="Google Shape;1934;p1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935" name="Google Shape;1935;p150"/>
          <p:cNvSpPr txBox="1"/>
          <p:nvPr>
            <p:ph idx="1" type="body"/>
          </p:nvPr>
        </p:nvSpPr>
        <p:spPr>
          <a:xfrm>
            <a:off x="4572000" y="1237800"/>
            <a:ext cx="42480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d)  The length of a rectangular cupboard is 1 m longer than its width.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perimeter of the cupboard floor is 9 m; what is its area?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Leave your answer as a fraction.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36" name="Google Shape;1936;p150"/>
          <p:cNvSpPr txBox="1"/>
          <p:nvPr>
            <p:ph idx="1" type="body"/>
          </p:nvPr>
        </p:nvSpPr>
        <p:spPr>
          <a:xfrm>
            <a:off x="365600" y="1237800"/>
            <a:ext cx="39543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 rectangle is drawn where its length is double its width.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If its perimeter is 24 cm, what is the area of the rectangle?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937" name="Google Shape;1937;p150"/>
          <p:cNvCxnSpPr/>
          <p:nvPr/>
        </p:nvCxnSpPr>
        <p:spPr>
          <a:xfrm>
            <a:off x="4320000" y="1237800"/>
            <a:ext cx="0" cy="3516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8" name="Google Shape;1938;p150"/>
          <p:cNvCxnSpPr/>
          <p:nvPr/>
        </p:nvCxnSpPr>
        <p:spPr>
          <a:xfrm>
            <a:off x="789150" y="3424300"/>
            <a:ext cx="486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9" name="Google Shape;1939;p150"/>
          <p:cNvCxnSpPr/>
          <p:nvPr/>
        </p:nvCxnSpPr>
        <p:spPr>
          <a:xfrm>
            <a:off x="1302329" y="3424300"/>
            <a:ext cx="486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0" name="Google Shape;1940;p150"/>
          <p:cNvCxnSpPr/>
          <p:nvPr/>
        </p:nvCxnSpPr>
        <p:spPr>
          <a:xfrm>
            <a:off x="789150" y="3922471"/>
            <a:ext cx="486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1" name="Google Shape;1941;p150"/>
          <p:cNvCxnSpPr/>
          <p:nvPr/>
        </p:nvCxnSpPr>
        <p:spPr>
          <a:xfrm>
            <a:off x="1302329" y="3922471"/>
            <a:ext cx="486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2" name="Google Shape;1942;p150"/>
          <p:cNvCxnSpPr/>
          <p:nvPr/>
        </p:nvCxnSpPr>
        <p:spPr>
          <a:xfrm rot="5400000">
            <a:off x="531712" y="3667450"/>
            <a:ext cx="486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3" name="Google Shape;1943;p150"/>
          <p:cNvCxnSpPr/>
          <p:nvPr/>
        </p:nvCxnSpPr>
        <p:spPr>
          <a:xfrm rot="5400000">
            <a:off x="1550496" y="3667450"/>
            <a:ext cx="486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4" name="Google Shape;1944;p150"/>
          <p:cNvSpPr/>
          <p:nvPr/>
        </p:nvSpPr>
        <p:spPr>
          <a:xfrm>
            <a:off x="967338" y="3087100"/>
            <a:ext cx="142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5" name="Google Shape;1945;p150"/>
          <p:cNvSpPr/>
          <p:nvPr/>
        </p:nvSpPr>
        <p:spPr>
          <a:xfrm>
            <a:off x="1427513" y="3087100"/>
            <a:ext cx="142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6" name="Google Shape;1946;p150"/>
          <p:cNvSpPr/>
          <p:nvPr/>
        </p:nvSpPr>
        <p:spPr>
          <a:xfrm>
            <a:off x="513113" y="3468100"/>
            <a:ext cx="142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7" name="Google Shape;1947;p150"/>
          <p:cNvSpPr/>
          <p:nvPr/>
        </p:nvSpPr>
        <p:spPr>
          <a:xfrm>
            <a:off x="1884713" y="3468100"/>
            <a:ext cx="142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8" name="Google Shape;1948;p150"/>
          <p:cNvSpPr/>
          <p:nvPr/>
        </p:nvSpPr>
        <p:spPr>
          <a:xfrm>
            <a:off x="1427513" y="3925300"/>
            <a:ext cx="142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9" name="Google Shape;1949;p150"/>
          <p:cNvSpPr/>
          <p:nvPr/>
        </p:nvSpPr>
        <p:spPr>
          <a:xfrm>
            <a:off x="970313" y="3925300"/>
            <a:ext cx="142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150"/>
          <p:cNvSpPr txBox="1"/>
          <p:nvPr>
            <p:ph idx="1" type="body"/>
          </p:nvPr>
        </p:nvSpPr>
        <p:spPr>
          <a:xfrm>
            <a:off x="2222700" y="3218800"/>
            <a:ext cx="20388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÷ 6 = 4 cm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1" name="Google Shape;1951;p150"/>
          <p:cNvSpPr txBox="1"/>
          <p:nvPr>
            <p:ph idx="1" type="body"/>
          </p:nvPr>
        </p:nvSpPr>
        <p:spPr>
          <a:xfrm>
            <a:off x="2222700" y="3716975"/>
            <a:ext cx="20388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× 8 = 32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52" name="Google Shape;1952;p150"/>
          <p:cNvCxnSpPr/>
          <p:nvPr/>
        </p:nvCxnSpPr>
        <p:spPr>
          <a:xfrm>
            <a:off x="8150879" y="3388500"/>
            <a:ext cx="281700" cy="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3" name="Google Shape;1953;p150"/>
          <p:cNvCxnSpPr/>
          <p:nvPr/>
        </p:nvCxnSpPr>
        <p:spPr>
          <a:xfrm>
            <a:off x="7583875" y="3386850"/>
            <a:ext cx="486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4" name="Google Shape;1954;p150"/>
          <p:cNvCxnSpPr/>
          <p:nvPr/>
        </p:nvCxnSpPr>
        <p:spPr>
          <a:xfrm rot="5400000">
            <a:off x="7289850" y="3655300"/>
            <a:ext cx="486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5" name="Google Shape;1955;p150"/>
          <p:cNvCxnSpPr/>
          <p:nvPr/>
        </p:nvCxnSpPr>
        <p:spPr>
          <a:xfrm rot="5400000">
            <a:off x="8231375" y="3655300"/>
            <a:ext cx="486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6" name="Google Shape;1956;p150"/>
          <p:cNvCxnSpPr/>
          <p:nvPr/>
        </p:nvCxnSpPr>
        <p:spPr>
          <a:xfrm>
            <a:off x="8150879" y="3921900"/>
            <a:ext cx="281700" cy="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7" name="Google Shape;1957;p150"/>
          <p:cNvCxnSpPr/>
          <p:nvPr/>
        </p:nvCxnSpPr>
        <p:spPr>
          <a:xfrm>
            <a:off x="7583875" y="3920250"/>
            <a:ext cx="486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8" name="Google Shape;1958;p150"/>
          <p:cNvSpPr/>
          <p:nvPr/>
        </p:nvSpPr>
        <p:spPr>
          <a:xfrm>
            <a:off x="7755763" y="3074950"/>
            <a:ext cx="142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9" name="Google Shape;1959;p150"/>
          <p:cNvSpPr/>
          <p:nvPr/>
        </p:nvSpPr>
        <p:spPr>
          <a:xfrm>
            <a:off x="7298563" y="3455950"/>
            <a:ext cx="142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0" name="Google Shape;1960;p150"/>
          <p:cNvSpPr/>
          <p:nvPr/>
        </p:nvSpPr>
        <p:spPr>
          <a:xfrm>
            <a:off x="7755763" y="3913150"/>
            <a:ext cx="142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1" name="Google Shape;1961;p150"/>
          <p:cNvSpPr/>
          <p:nvPr/>
        </p:nvSpPr>
        <p:spPr>
          <a:xfrm>
            <a:off x="8517763" y="3455950"/>
            <a:ext cx="142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2" name="Google Shape;1962;p150"/>
          <p:cNvSpPr/>
          <p:nvPr/>
        </p:nvSpPr>
        <p:spPr>
          <a:xfrm>
            <a:off x="8222225" y="3084562"/>
            <a:ext cx="142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150"/>
          <p:cNvSpPr/>
          <p:nvPr/>
        </p:nvSpPr>
        <p:spPr>
          <a:xfrm>
            <a:off x="8222225" y="3922762"/>
            <a:ext cx="142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4" name="Google Shape;1964;p150"/>
          <p:cNvSpPr txBox="1"/>
          <p:nvPr>
            <p:ph idx="1" type="body"/>
          </p:nvPr>
        </p:nvSpPr>
        <p:spPr>
          <a:xfrm>
            <a:off x="4587000" y="3172900"/>
            <a:ext cx="20388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÷ 4 =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4}&quot;&gt;&lt;mfrac&gt;&lt;mn&gt;7&lt;/mn&gt;&lt;mn&gt;4&lt;/mn&gt;&lt;/mfrac&gt;&lt;/math&gt;" id="1965" name="Google Shape;1965;p150" title="seven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8399" y="3097978"/>
            <a:ext cx="142500" cy="45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}+\ 1\ =\frac{11}{4}&quot;&gt;&lt;mfrac&gt;&lt;mn&gt;7&lt;/mn&gt;&lt;mn&gt;4&lt;/mn&gt;&lt;/mfrac&gt;&lt;mo&gt;+&lt;/mo&gt;&lt;mtext&gt;&lt;/mtext&gt;&lt;mn&gt;1&lt;/mn&gt;&lt;mtext&gt;&lt;/mtext&gt;&lt;mo&gt;=&lt;/mo&gt;&lt;mfrac&gt;&lt;mn&gt;11&lt;/mn&gt;&lt;mn&gt;4&lt;/mn&gt;&lt;/mfrac&gt;&lt;/math&gt;" id="1966" name="Google Shape;1966;p150" title="seven fourths plus 1 equals eleven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6998" y="3631573"/>
            <a:ext cx="1170656" cy="44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4}\times\frac{11}{4}=\frac{77}{16}\ \text{m}^2\ =4\ \frac{13}{16}\ \text{m}^2&quot;&gt;&lt;mfrac&gt;&lt;mn&gt;7&lt;/mn&gt;&lt;mn&gt;4&lt;/mn&gt;&lt;/mfrac&gt;&lt;mo&gt;×&lt;/mo&gt;&lt;mfrac&gt;&lt;mn&gt;11&lt;/mn&gt;&lt;mn&gt;4&lt;/mn&gt;&lt;/mfrac&gt;&lt;mo&gt;=&lt;/mo&gt;&lt;mfrac&gt;&lt;mn&gt;77&lt;/mn&gt;&lt;mn&gt;16&lt;/mn&gt;&lt;/mfrac&gt;&lt;mtext&gt;&lt;/mtext&gt;&lt;msup&gt;&lt;mtext&gt;m&lt;/mtext&gt;&lt;mn&gt;2&lt;/mn&gt;&lt;/msup&gt;&lt;mtext&gt;&lt;/mtext&gt;&lt;mo&gt;=&lt;/mo&gt;&lt;mn&gt;4&lt;/mn&gt;&lt;mtext&gt;&lt;/mtext&gt;&lt;mfrac&gt;&lt;mn&gt;13&lt;/mn&gt;&lt;mn&gt;16&lt;/mn&gt;&lt;/mfrac&gt;&lt;mtext&gt;&lt;/mtext&gt;&lt;msup&gt;&lt;mtext&gt;m&lt;/mtext&gt;&lt;mn&gt;2&lt;/mn&gt;&lt;/msup&gt;&lt;/math&gt;" id="1967" name="Google Shape;1967;p150" title="seven fourths times eleven fourths equals 77 over 16 m to the second power equals 4 13 over 16 m to the second power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7000" y="4204175"/>
            <a:ext cx="2853437" cy="4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51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2</a:t>
            </a:r>
            <a:r>
              <a:rPr lang="en-GB" sz="1800"/>
              <a:t>) Solve the following problems. You may wish to use a diagram to help you.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73" name="Google Shape;1973;p1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974" name="Google Shape;1974;p151"/>
          <p:cNvSpPr txBox="1"/>
          <p:nvPr>
            <p:ph idx="1" type="body"/>
          </p:nvPr>
        </p:nvSpPr>
        <p:spPr>
          <a:xfrm>
            <a:off x="4572000" y="1237800"/>
            <a:ext cx="38241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Sam has written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26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75" name="Google Shape;1975;p151"/>
          <p:cNvSpPr txBox="1"/>
          <p:nvPr>
            <p:ph idx="1" type="body"/>
          </p:nvPr>
        </p:nvSpPr>
        <p:spPr>
          <a:xfrm>
            <a:off x="365600" y="1237800"/>
            <a:ext cx="39543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Sour sweets cost 30 p and toffees cost 25 p.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Laura has £1.70 and wants to spend all her money with no change left over.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How many of each can she buy?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976" name="Google Shape;1976;p151"/>
          <p:cNvCxnSpPr/>
          <p:nvPr/>
        </p:nvCxnSpPr>
        <p:spPr>
          <a:xfrm>
            <a:off x="4320000" y="1237800"/>
            <a:ext cx="0" cy="3516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7" name="Google Shape;1977;p151"/>
          <p:cNvSpPr txBox="1"/>
          <p:nvPr/>
        </p:nvSpPr>
        <p:spPr>
          <a:xfrm>
            <a:off x="4320000" y="2691014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8" name="Google Shape;1978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137" y="2132411"/>
            <a:ext cx="387923" cy="558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9" name="Google Shape;1979;p15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4952900" y="1910750"/>
            <a:ext cx="3824225" cy="1486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80" name="Google Shape;1980;p151"/>
          <p:cNvSpPr/>
          <p:nvPr/>
        </p:nvSpPr>
        <p:spPr>
          <a:xfrm>
            <a:off x="5296450" y="1910750"/>
            <a:ext cx="33138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two answers to this problem.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or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1" name="Google Shape;1981;p151"/>
          <p:cNvSpPr txBox="1"/>
          <p:nvPr>
            <p:ph idx="1" type="body"/>
          </p:nvPr>
        </p:nvSpPr>
        <p:spPr>
          <a:xfrm>
            <a:off x="4529125" y="3330038"/>
            <a:ext cx="32325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Explain why Sam is incorrect.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82" name="Google Shape;1982;p151"/>
          <p:cNvSpPr txBox="1"/>
          <p:nvPr>
            <p:ph idx="1" type="body"/>
          </p:nvPr>
        </p:nvSpPr>
        <p:spPr>
          <a:xfrm>
            <a:off x="324000" y="4067125"/>
            <a:ext cx="39543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sour sweets and 2 toffees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3" name="Google Shape;1983;p151"/>
          <p:cNvSpPr txBox="1"/>
          <p:nvPr>
            <p:ph idx="1" type="body"/>
          </p:nvPr>
        </p:nvSpPr>
        <p:spPr>
          <a:xfrm>
            <a:off x="4572000" y="3687650"/>
            <a:ext cx="4248000" cy="38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Without context,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could be negative numbers or decimals so there are an infinite number of answers.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15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Missing number problems</a:t>
            </a:r>
            <a:endParaRPr/>
          </a:p>
        </p:txBody>
      </p:sp>
      <p:sp>
        <p:nvSpPr>
          <p:cNvPr id="1989" name="Google Shape;1989;p15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sp>
        <p:nvSpPr>
          <p:cNvPr id="1990" name="Google Shape;1990;p15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algebraic notation</a:t>
            </a:r>
            <a:endParaRPr/>
          </a:p>
        </p:txBody>
      </p:sp>
      <p:pic>
        <p:nvPicPr>
          <p:cNvPr id="1991" name="Google Shape;1991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317" y="299468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sp>
        <p:nvSpPr>
          <p:cNvPr id="1997" name="Google Shape;1997;p153"/>
          <p:cNvSpPr txBox="1"/>
          <p:nvPr>
            <p:ph idx="1" type="body"/>
          </p:nvPr>
        </p:nvSpPr>
        <p:spPr>
          <a:xfrm>
            <a:off x="324000" y="810000"/>
            <a:ext cx="849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form expressions for real life situations using letters to represent unknowns or variables.  </a:t>
            </a:r>
            <a:endParaRPr sz="1800"/>
          </a:p>
        </p:txBody>
      </p:sp>
      <p:sp>
        <p:nvSpPr>
          <p:cNvPr id="1998" name="Google Shape;1998;p153"/>
          <p:cNvSpPr txBox="1"/>
          <p:nvPr>
            <p:ph idx="1" type="body"/>
          </p:nvPr>
        </p:nvSpPr>
        <p:spPr>
          <a:xfrm>
            <a:off x="324000" y="1656825"/>
            <a:ext cx="849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year, Aisha’s dad is exactly 4 times her age. How could we write an expression for his age? </a:t>
            </a:r>
            <a:endParaRPr sz="1800"/>
          </a:p>
        </p:txBody>
      </p:sp>
      <p:sp>
        <p:nvSpPr>
          <p:cNvPr id="1999" name="Google Shape;1999;p153"/>
          <p:cNvSpPr txBox="1"/>
          <p:nvPr>
            <p:ph idx="1" type="body"/>
          </p:nvPr>
        </p:nvSpPr>
        <p:spPr>
          <a:xfrm>
            <a:off x="324000" y="2473900"/>
            <a:ext cx="84960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could use the letter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to represent Aisha’s unknown age.</a:t>
            </a:r>
            <a:endParaRPr sz="1800"/>
          </a:p>
        </p:txBody>
      </p:sp>
      <p:sp>
        <p:nvSpPr>
          <p:cNvPr id="2000" name="Google Shape;2000;p153"/>
          <p:cNvSpPr txBox="1"/>
          <p:nvPr>
            <p:ph idx="1" type="body"/>
          </p:nvPr>
        </p:nvSpPr>
        <p:spPr>
          <a:xfrm>
            <a:off x="324000" y="3064350"/>
            <a:ext cx="39960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 dad’s age would be </a:t>
            </a:r>
            <a:r>
              <a:rPr lang="en-GB" sz="1800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× 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1" name="Google Shape;2001;p153"/>
          <p:cNvSpPr txBox="1"/>
          <p:nvPr>
            <p:ph idx="1" type="body"/>
          </p:nvPr>
        </p:nvSpPr>
        <p:spPr>
          <a:xfrm>
            <a:off x="4856950" y="3064350"/>
            <a:ext cx="39960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002" name="Google Shape;2002;p153"/>
          <p:cNvCxnSpPr/>
          <p:nvPr/>
        </p:nvCxnSpPr>
        <p:spPr>
          <a:xfrm>
            <a:off x="4111975" y="3243475"/>
            <a:ext cx="642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3" name="Google Shape;2003;p153"/>
          <p:cNvSpPr txBox="1"/>
          <p:nvPr>
            <p:ph idx="1" type="body"/>
          </p:nvPr>
        </p:nvSpPr>
        <p:spPr>
          <a:xfrm>
            <a:off x="324000" y="3654800"/>
            <a:ext cx="849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Aisha’s aunt is 3 years younger than Aisha’s dad. How could we write an expression for her age?</a:t>
            </a:r>
            <a:endParaRPr sz="1800"/>
          </a:p>
        </p:txBody>
      </p:sp>
      <p:sp>
        <p:nvSpPr>
          <p:cNvPr id="2004" name="Google Shape;2004;p153"/>
          <p:cNvSpPr txBox="1"/>
          <p:nvPr>
            <p:ph idx="1" type="body"/>
          </p:nvPr>
        </p:nvSpPr>
        <p:spPr>
          <a:xfrm>
            <a:off x="4824000" y="4200225"/>
            <a:ext cx="10809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sp>
        <p:nvSpPr>
          <p:cNvPr id="2010" name="Google Shape;2010;p154"/>
          <p:cNvSpPr txBox="1"/>
          <p:nvPr>
            <p:ph idx="1" type="body"/>
          </p:nvPr>
        </p:nvSpPr>
        <p:spPr>
          <a:xfrm>
            <a:off x="324000" y="800775"/>
            <a:ext cx="849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Aisha’s cousin is twice her age plus 4. How could we write an expression for their age?</a:t>
            </a:r>
            <a:endParaRPr sz="1800"/>
          </a:p>
        </p:txBody>
      </p:sp>
      <p:pic>
        <p:nvPicPr>
          <p:cNvPr id="2011" name="Google Shape;2011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330" y="2753768"/>
            <a:ext cx="374400" cy="716936"/>
          </a:xfrm>
          <a:prstGeom prst="rect">
            <a:avLst/>
          </a:prstGeom>
          <a:noFill/>
          <a:ln>
            <a:noFill/>
          </a:ln>
        </p:spPr>
      </p:pic>
      <p:sp>
        <p:nvSpPr>
          <p:cNvPr id="2012" name="Google Shape;2012;p154"/>
          <p:cNvSpPr txBox="1"/>
          <p:nvPr/>
        </p:nvSpPr>
        <p:spPr>
          <a:xfrm>
            <a:off x="309125" y="3391898"/>
            <a:ext cx="910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3" name="Google Shape;2013;p154"/>
          <p:cNvGrpSpPr/>
          <p:nvPr/>
        </p:nvGrpSpPr>
        <p:grpSpPr>
          <a:xfrm>
            <a:off x="1058403" y="1952991"/>
            <a:ext cx="2933454" cy="1397809"/>
            <a:chOff x="1807240" y="1612125"/>
            <a:chExt cx="1901629" cy="931500"/>
          </a:xfrm>
        </p:grpSpPr>
        <p:pic>
          <p:nvPicPr>
            <p:cNvPr id="2014" name="Google Shape;2014;p154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5" name="Google Shape;2015;p154"/>
            <p:cNvSpPr txBox="1"/>
            <p:nvPr/>
          </p:nvSpPr>
          <p:spPr>
            <a:xfrm flipH="1">
              <a:off x="1956490" y="1765114"/>
              <a:ext cx="16581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If I add 4 to my age then double it, I get my sister’s age.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16" name="Google Shape;2016;p154"/>
          <p:cNvSpPr txBox="1"/>
          <p:nvPr>
            <p:ph idx="1" type="body"/>
          </p:nvPr>
        </p:nvSpPr>
        <p:spPr>
          <a:xfrm>
            <a:off x="324000" y="1543700"/>
            <a:ext cx="10809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017" name="Google Shape;2017;p1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1154" y="2703262"/>
            <a:ext cx="458105" cy="565765"/>
          </a:xfrm>
          <a:prstGeom prst="rect">
            <a:avLst/>
          </a:prstGeom>
          <a:noFill/>
          <a:ln>
            <a:noFill/>
          </a:ln>
        </p:spPr>
      </p:pic>
      <p:sp>
        <p:nvSpPr>
          <p:cNvPr id="2018" name="Google Shape;2018;p154"/>
          <p:cNvSpPr txBox="1"/>
          <p:nvPr/>
        </p:nvSpPr>
        <p:spPr>
          <a:xfrm>
            <a:off x="7296903" y="3269026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9" name="Google Shape;2019;p154"/>
          <p:cNvGrpSpPr/>
          <p:nvPr/>
        </p:nvGrpSpPr>
        <p:grpSpPr>
          <a:xfrm flipH="1">
            <a:off x="4525753" y="1872841"/>
            <a:ext cx="2933454" cy="1397809"/>
            <a:chOff x="1807240" y="1612125"/>
            <a:chExt cx="1901629" cy="931500"/>
          </a:xfrm>
        </p:grpSpPr>
        <p:pic>
          <p:nvPicPr>
            <p:cNvPr id="2020" name="Google Shape;2020;p154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1" name="Google Shape;2021;p154"/>
            <p:cNvSpPr txBox="1"/>
            <p:nvPr/>
          </p:nvSpPr>
          <p:spPr>
            <a:xfrm flipH="1">
              <a:off x="1956490" y="1765114"/>
              <a:ext cx="16581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That means your sister and cousin are the same age.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22" name="Google Shape;2022;p154"/>
          <p:cNvSpPr txBox="1"/>
          <p:nvPr>
            <p:ph idx="1" type="body"/>
          </p:nvPr>
        </p:nvSpPr>
        <p:spPr>
          <a:xfrm>
            <a:off x="324000" y="4010400"/>
            <a:ext cx="84960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 Jacob correct?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sp>
        <p:nvSpPr>
          <p:cNvPr id="2028" name="Google Shape;2028;p155"/>
          <p:cNvSpPr txBox="1"/>
          <p:nvPr>
            <p:ph idx="1" type="body"/>
          </p:nvPr>
        </p:nvSpPr>
        <p:spPr>
          <a:xfrm>
            <a:off x="324000" y="800775"/>
            <a:ext cx="84960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write an expression for Aisha’s sister’s age?</a:t>
            </a:r>
            <a:endParaRPr sz="1800"/>
          </a:p>
        </p:txBody>
      </p:sp>
      <p:sp>
        <p:nvSpPr>
          <p:cNvPr id="2029" name="Google Shape;2029;p155"/>
          <p:cNvSpPr txBox="1"/>
          <p:nvPr>
            <p:ph idx="1" type="body"/>
          </p:nvPr>
        </p:nvSpPr>
        <p:spPr>
          <a:xfrm>
            <a:off x="324000" y="1236375"/>
            <a:ext cx="67482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Adding</a:t>
            </a:r>
            <a:r>
              <a:rPr lang="en-GB" sz="1800"/>
              <a:t> 4 to Aisha’s age would give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0" name="Google Shape;2030;p155"/>
          <p:cNvSpPr txBox="1"/>
          <p:nvPr>
            <p:ph idx="1" type="body"/>
          </p:nvPr>
        </p:nvSpPr>
        <p:spPr>
          <a:xfrm>
            <a:off x="324000" y="1777375"/>
            <a:ext cx="67482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her sister is double that, we can write her age as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1" name="Google Shape;2031;p155"/>
          <p:cNvSpPr txBox="1"/>
          <p:nvPr>
            <p:ph idx="1" type="body"/>
          </p:nvPr>
        </p:nvSpPr>
        <p:spPr>
          <a:xfrm>
            <a:off x="324000" y="2467200"/>
            <a:ext cx="84960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Brackets are needed because it is the whole expression for Aisha’s age plus 4 that needs to be doubled.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2" name="Google Shape;2032;p155"/>
          <p:cNvSpPr txBox="1"/>
          <p:nvPr>
            <p:ph idx="1" type="body"/>
          </p:nvPr>
        </p:nvSpPr>
        <p:spPr>
          <a:xfrm>
            <a:off x="324000" y="3698025"/>
            <a:ext cx="67482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Aisha’s sister: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3" name="Google Shape;2033;p155"/>
          <p:cNvSpPr txBox="1"/>
          <p:nvPr>
            <p:ph idx="1" type="body"/>
          </p:nvPr>
        </p:nvSpPr>
        <p:spPr>
          <a:xfrm>
            <a:off x="324000" y="3240000"/>
            <a:ext cx="6748200" cy="4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Aisha’s cousin: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4" name="Google Shape;2034;p155"/>
          <p:cNvSpPr txBox="1"/>
          <p:nvPr>
            <p:ph idx="1" type="body"/>
          </p:nvPr>
        </p:nvSpPr>
        <p:spPr>
          <a:xfrm>
            <a:off x="4572000" y="3511300"/>
            <a:ext cx="3481500" cy="30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Are these the same?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5" name="Google Shape;2035;p155"/>
          <p:cNvSpPr txBox="1"/>
          <p:nvPr>
            <p:ph idx="1" type="body"/>
          </p:nvPr>
        </p:nvSpPr>
        <p:spPr>
          <a:xfrm>
            <a:off x="331200" y="4163625"/>
            <a:ext cx="8496000" cy="6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the brackets change the priority of operations. For Aisha’s cousin, only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doubled. </a:t>
            </a:r>
            <a:r>
              <a:rPr lang="en-GB" sz="1800"/>
              <a:t> 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6" name="Google Shape;2036;p155"/>
          <p:cNvSpPr txBox="1"/>
          <p:nvPr>
            <p:ph idx="1" type="body"/>
          </p:nvPr>
        </p:nvSpPr>
        <p:spPr>
          <a:xfrm>
            <a:off x="2400300" y="4506750"/>
            <a:ext cx="2171700" cy="30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2(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+ 4)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≡ 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156"/>
          <p:cNvSpPr txBox="1"/>
          <p:nvPr>
            <p:ph idx="1" type="body"/>
          </p:nvPr>
        </p:nvSpPr>
        <p:spPr>
          <a:xfrm>
            <a:off x="324000" y="759300"/>
            <a:ext cx="82377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Match up the statements with an expression which represents it.</a:t>
            </a:r>
            <a:endParaRPr sz="1800"/>
          </a:p>
        </p:txBody>
      </p:sp>
      <p:sp>
        <p:nvSpPr>
          <p:cNvPr id="2042" name="Google Shape;2042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sp>
        <p:nvSpPr>
          <p:cNvPr id="2043" name="Google Shape;2043;p156"/>
          <p:cNvSpPr txBox="1"/>
          <p:nvPr>
            <p:ph idx="1" type="body"/>
          </p:nvPr>
        </p:nvSpPr>
        <p:spPr>
          <a:xfrm>
            <a:off x="324000" y="1620000"/>
            <a:ext cx="45000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number add 3, then multiplied by 4</a:t>
            </a:r>
            <a:endParaRPr sz="1800"/>
          </a:p>
        </p:txBody>
      </p:sp>
      <p:sp>
        <p:nvSpPr>
          <p:cNvPr id="2044" name="Google Shape;2044;p156"/>
          <p:cNvSpPr txBox="1"/>
          <p:nvPr>
            <p:ph idx="1" type="body"/>
          </p:nvPr>
        </p:nvSpPr>
        <p:spPr>
          <a:xfrm>
            <a:off x="324000" y="3240000"/>
            <a:ext cx="45000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 lots of a number add 3 </a:t>
            </a:r>
            <a:endParaRPr sz="1800"/>
          </a:p>
        </p:txBody>
      </p:sp>
      <p:sp>
        <p:nvSpPr>
          <p:cNvPr id="2045" name="Google Shape;2045;p156"/>
          <p:cNvSpPr txBox="1"/>
          <p:nvPr>
            <p:ph idx="1" type="body"/>
          </p:nvPr>
        </p:nvSpPr>
        <p:spPr>
          <a:xfrm>
            <a:off x="324000" y="2327850"/>
            <a:ext cx="45000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 plus a number, then times 3 </a:t>
            </a:r>
            <a:endParaRPr sz="1800"/>
          </a:p>
        </p:txBody>
      </p:sp>
      <p:sp>
        <p:nvSpPr>
          <p:cNvPr id="2046" name="Google Shape;2046;p156"/>
          <p:cNvSpPr txBox="1"/>
          <p:nvPr>
            <p:ph idx="1" type="body"/>
          </p:nvPr>
        </p:nvSpPr>
        <p:spPr>
          <a:xfrm>
            <a:off x="324000" y="4009200"/>
            <a:ext cx="47703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number multiplied by 3, then added to 4</a:t>
            </a:r>
            <a:endParaRPr sz="1800"/>
          </a:p>
        </p:txBody>
      </p:sp>
      <p:sp>
        <p:nvSpPr>
          <p:cNvPr id="2047" name="Google Shape;2047;p156"/>
          <p:cNvSpPr txBox="1"/>
          <p:nvPr>
            <p:ph idx="1" type="body"/>
          </p:nvPr>
        </p:nvSpPr>
        <p:spPr>
          <a:xfrm>
            <a:off x="5774400" y="2292600"/>
            <a:ext cx="11124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+ 3)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8" name="Google Shape;2048;p156"/>
          <p:cNvSpPr txBox="1"/>
          <p:nvPr>
            <p:ph idx="1" type="body"/>
          </p:nvPr>
        </p:nvSpPr>
        <p:spPr>
          <a:xfrm>
            <a:off x="5774400" y="1620000"/>
            <a:ext cx="11124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+ 3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9" name="Google Shape;2049;p156"/>
          <p:cNvSpPr txBox="1"/>
          <p:nvPr>
            <p:ph idx="1" type="body"/>
          </p:nvPr>
        </p:nvSpPr>
        <p:spPr>
          <a:xfrm>
            <a:off x="5774400" y="3184800"/>
            <a:ext cx="11124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 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×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0" name="Google Shape;2050;p156"/>
          <p:cNvSpPr txBox="1"/>
          <p:nvPr>
            <p:ph idx="1" type="body"/>
          </p:nvPr>
        </p:nvSpPr>
        <p:spPr>
          <a:xfrm>
            <a:off x="5774400" y="3825900"/>
            <a:ext cx="11124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3(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+ 4)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051" name="Google Shape;2051;p156"/>
          <p:cNvCxnSpPr/>
          <p:nvPr/>
        </p:nvCxnSpPr>
        <p:spPr>
          <a:xfrm>
            <a:off x="4488225" y="1775575"/>
            <a:ext cx="1127400" cy="655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2" name="Google Shape;2052;p156"/>
          <p:cNvCxnSpPr>
            <a:endCxn id="2050" idx="1"/>
          </p:cNvCxnSpPr>
          <p:nvPr/>
        </p:nvCxnSpPr>
        <p:spPr>
          <a:xfrm>
            <a:off x="4320000" y="2507850"/>
            <a:ext cx="1454400" cy="1597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3" name="Google Shape;2053;p156"/>
          <p:cNvCxnSpPr/>
          <p:nvPr/>
        </p:nvCxnSpPr>
        <p:spPr>
          <a:xfrm flipH="1">
            <a:off x="4329450" y="1775575"/>
            <a:ext cx="1342500" cy="1629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4" name="Google Shape;2054;p156"/>
          <p:cNvCxnSpPr>
            <a:stCxn id="2049" idx="1"/>
          </p:cNvCxnSpPr>
          <p:nvPr/>
        </p:nvCxnSpPr>
        <p:spPr>
          <a:xfrm flipH="1">
            <a:off x="5038500" y="3463950"/>
            <a:ext cx="735900" cy="737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157"/>
          <p:cNvSpPr txBox="1"/>
          <p:nvPr>
            <p:ph idx="1" type="body"/>
          </p:nvPr>
        </p:nvSpPr>
        <p:spPr>
          <a:xfrm>
            <a:off x="324000" y="759300"/>
            <a:ext cx="82377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Match up the statements with an expression which represents it.</a:t>
            </a:r>
            <a:endParaRPr sz="1800"/>
          </a:p>
        </p:txBody>
      </p:sp>
      <p:sp>
        <p:nvSpPr>
          <p:cNvPr id="2060" name="Google Shape;2060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sp>
        <p:nvSpPr>
          <p:cNvPr id="2061" name="Google Shape;2061;p157"/>
          <p:cNvSpPr txBox="1"/>
          <p:nvPr>
            <p:ph idx="1" type="body"/>
          </p:nvPr>
        </p:nvSpPr>
        <p:spPr>
          <a:xfrm>
            <a:off x="324000" y="1620000"/>
            <a:ext cx="45000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third of a number</a:t>
            </a:r>
            <a:endParaRPr sz="1800"/>
          </a:p>
        </p:txBody>
      </p:sp>
      <p:sp>
        <p:nvSpPr>
          <p:cNvPr id="2062" name="Google Shape;2062;p157"/>
          <p:cNvSpPr txBox="1"/>
          <p:nvPr>
            <p:ph idx="1" type="body"/>
          </p:nvPr>
        </p:nvSpPr>
        <p:spPr>
          <a:xfrm>
            <a:off x="324000" y="3168525"/>
            <a:ext cx="45000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quarter of a number </a:t>
            </a:r>
            <a:endParaRPr sz="1800"/>
          </a:p>
        </p:txBody>
      </p:sp>
      <p:sp>
        <p:nvSpPr>
          <p:cNvPr id="2063" name="Google Shape;2063;p157"/>
          <p:cNvSpPr txBox="1"/>
          <p:nvPr>
            <p:ph idx="1" type="body"/>
          </p:nvPr>
        </p:nvSpPr>
        <p:spPr>
          <a:xfrm>
            <a:off x="324000" y="2327850"/>
            <a:ext cx="45000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 lots of a number divided by 3 </a:t>
            </a:r>
            <a:endParaRPr sz="1800"/>
          </a:p>
        </p:txBody>
      </p:sp>
      <p:sp>
        <p:nvSpPr>
          <p:cNvPr id="2064" name="Google Shape;2064;p157"/>
          <p:cNvSpPr txBox="1"/>
          <p:nvPr>
            <p:ph idx="1" type="body"/>
          </p:nvPr>
        </p:nvSpPr>
        <p:spPr>
          <a:xfrm>
            <a:off x="324000" y="4009200"/>
            <a:ext cx="45000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number divided by 4 then multiplied by 3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a}{3}&quot;&gt;&lt;mfrac&gt;&lt;mi&gt;a&lt;/mi&gt;&lt;mn&gt;3&lt;/mn&gt;&lt;/mfrac&gt;&lt;/math&gt;" id="2065" name="Google Shape;2065;p157" title="a over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7325" y="2293575"/>
            <a:ext cx="195724" cy="5563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a&quot;&gt;&lt;mfrac&gt;&lt;mn&gt;1&lt;/mn&gt;&lt;mn&gt;4&lt;/mn&gt;&lt;/mfrac&gt;&lt;mi&gt;a&lt;/mi&gt;&lt;/math&gt;" id="2066" name="Google Shape;2066;p157" title="one fourth a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602" y="1355950"/>
            <a:ext cx="368690" cy="620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a}{3}&quot;&gt;&lt;mfrac&gt;&lt;mrow&gt;&lt;mn&gt;4&lt;/mn&gt;&lt;mi&gt;a&lt;/mi&gt;&lt;/mrow&gt;&lt;mn&gt;3&lt;/mn&gt;&lt;/mfrac&gt;&lt;/math&gt;" id="2067" name="Google Shape;2067;p157" title="4 a over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1463" y="4104175"/>
            <a:ext cx="273564" cy="50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a}{4}&quot;&gt;&lt;mfrac&gt;&lt;mrow&gt;&lt;mn&gt;3&lt;/mn&gt;&lt;mi&gt;a&lt;/mi&gt;&lt;/mrow&gt;&lt;mn&gt;4&lt;/mn&gt;&lt;/mfrac&gt;&lt;/math&gt;" id="2068" name="Google Shape;2068;p157" title="3 a over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10975" y="3167354"/>
            <a:ext cx="345931" cy="620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3}a&quot;&gt;&lt;mfrac&gt;&lt;mn&gt;4&lt;/mn&gt;&lt;mn&gt;3&lt;/mn&gt;&lt;/mfrac&gt;&lt;mi&gt;a&lt;/mi&gt;&lt;/math&gt;" id="2069" name="Google Shape;2069;p157" title="four thirds a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97334" y="4011954"/>
            <a:ext cx="373241" cy="638440"/>
          </a:xfrm>
          <a:prstGeom prst="rect">
            <a:avLst/>
          </a:prstGeom>
          <a:noFill/>
          <a:ln>
            <a:noFill/>
          </a:ln>
        </p:spPr>
      </p:pic>
      <p:sp>
        <p:nvSpPr>
          <p:cNvPr id="2070" name="Google Shape;2070;p157"/>
          <p:cNvSpPr txBox="1"/>
          <p:nvPr>
            <p:ph idx="1" type="body"/>
          </p:nvPr>
        </p:nvSpPr>
        <p:spPr>
          <a:xfrm>
            <a:off x="7402825" y="1463400"/>
            <a:ext cx="8691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(or   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a}{4}&quot;&gt;&lt;mfrac&gt;&lt;mi&gt;a&lt;/mi&gt;&lt;mn&gt;4&lt;/mn&gt;&lt;/mfrac&gt;&lt;/math&gt;" id="2071" name="Google Shape;2071;p157" title="a over 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40325" y="1394133"/>
            <a:ext cx="158400" cy="4517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a&quot;&gt;&lt;mfrac&gt;&lt;mn&gt;1&lt;/mn&gt;&lt;mn&gt;3&lt;/mn&gt;&lt;/mfrac&gt;&lt;mi&gt;a&lt;/mi&gt;&lt;/math&gt;" id="2072" name="Google Shape;2072;p157" title="one third a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40325" y="2250225"/>
            <a:ext cx="300150" cy="51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3" name="Google Shape;2073;p157"/>
          <p:cNvSpPr txBox="1"/>
          <p:nvPr>
            <p:ph idx="1" type="body"/>
          </p:nvPr>
        </p:nvSpPr>
        <p:spPr>
          <a:xfrm>
            <a:off x="7402825" y="2377800"/>
            <a:ext cx="10803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(or     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4" name="Google Shape;2074;p157"/>
          <p:cNvSpPr txBox="1"/>
          <p:nvPr>
            <p:ph idx="1" type="body"/>
          </p:nvPr>
        </p:nvSpPr>
        <p:spPr>
          <a:xfrm>
            <a:off x="7402825" y="4206600"/>
            <a:ext cx="10803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(or     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5" name="Google Shape;2075;p157"/>
          <p:cNvSpPr txBox="1"/>
          <p:nvPr>
            <p:ph idx="1" type="body"/>
          </p:nvPr>
        </p:nvSpPr>
        <p:spPr>
          <a:xfrm>
            <a:off x="7402825" y="3216000"/>
            <a:ext cx="1080300" cy="5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(or     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a&quot;&gt;&lt;mfrac&gt;&lt;mn&gt;3&lt;/mn&gt;&lt;mn&gt;4&lt;/mn&gt;&lt;/mfrac&gt;&lt;mi&gt;a&lt;/mi&gt;&lt;/math&gt;" id="2076" name="Google Shape;2076;p157" title="three fourths a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74200" y="3131420"/>
            <a:ext cx="300150" cy="5039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7" name="Google Shape;2077;p157"/>
          <p:cNvCxnSpPr/>
          <p:nvPr/>
        </p:nvCxnSpPr>
        <p:spPr>
          <a:xfrm>
            <a:off x="3910450" y="1775575"/>
            <a:ext cx="1683900" cy="704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8" name="Google Shape;2078;p157"/>
          <p:cNvCxnSpPr/>
          <p:nvPr/>
        </p:nvCxnSpPr>
        <p:spPr>
          <a:xfrm>
            <a:off x="4034650" y="2480700"/>
            <a:ext cx="1651500" cy="1803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9" name="Google Shape;2079;p157"/>
          <p:cNvCxnSpPr/>
          <p:nvPr/>
        </p:nvCxnSpPr>
        <p:spPr>
          <a:xfrm flipH="1">
            <a:off x="4127550" y="1683975"/>
            <a:ext cx="1516200" cy="1667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0" name="Google Shape;2080;p157"/>
          <p:cNvCxnSpPr/>
          <p:nvPr/>
        </p:nvCxnSpPr>
        <p:spPr>
          <a:xfrm flipH="1">
            <a:off x="4740725" y="3346800"/>
            <a:ext cx="959400" cy="870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sp>
        <p:nvSpPr>
          <p:cNvPr id="2086" name="Google Shape;2086;p158"/>
          <p:cNvSpPr txBox="1"/>
          <p:nvPr>
            <p:ph idx="1" type="body"/>
          </p:nvPr>
        </p:nvSpPr>
        <p:spPr>
          <a:xfrm>
            <a:off x="324000" y="800775"/>
            <a:ext cx="84960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a bar model, if a bar representing one expression is the same length as another bar then the expressions are equal.</a:t>
            </a:r>
            <a:endParaRPr sz="1800"/>
          </a:p>
        </p:txBody>
      </p:sp>
      <p:sp>
        <p:nvSpPr>
          <p:cNvPr id="2087" name="Google Shape;2087;p158"/>
          <p:cNvSpPr txBox="1"/>
          <p:nvPr>
            <p:ph idx="1" type="body"/>
          </p:nvPr>
        </p:nvSpPr>
        <p:spPr>
          <a:xfrm>
            <a:off x="324000" y="1791050"/>
            <a:ext cx="84960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two expressions are equal, we can form an equation.  </a:t>
            </a:r>
            <a:endParaRPr sz="1800"/>
          </a:p>
        </p:txBody>
      </p:sp>
      <p:grpSp>
        <p:nvGrpSpPr>
          <p:cNvPr id="2088" name="Google Shape;2088;p158"/>
          <p:cNvGrpSpPr/>
          <p:nvPr/>
        </p:nvGrpSpPr>
        <p:grpSpPr>
          <a:xfrm>
            <a:off x="324000" y="2571750"/>
            <a:ext cx="2905650" cy="775500"/>
            <a:chOff x="324000" y="2571750"/>
            <a:chExt cx="2905650" cy="775500"/>
          </a:xfrm>
        </p:grpSpPr>
        <p:sp>
          <p:nvSpPr>
            <p:cNvPr id="2089" name="Google Shape;2089;p158"/>
            <p:cNvSpPr/>
            <p:nvPr/>
          </p:nvSpPr>
          <p:spPr>
            <a:xfrm>
              <a:off x="2509650" y="2959650"/>
              <a:ext cx="72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90" name="Google Shape;2090;p158"/>
            <p:cNvSpPr/>
            <p:nvPr/>
          </p:nvSpPr>
          <p:spPr>
            <a:xfrm>
              <a:off x="324000" y="2571750"/>
              <a:ext cx="1825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91" name="Google Shape;2091;p158"/>
            <p:cNvSpPr/>
            <p:nvPr/>
          </p:nvSpPr>
          <p:spPr>
            <a:xfrm>
              <a:off x="324000" y="295965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92" name="Google Shape;2092;p158"/>
            <p:cNvSpPr/>
            <p:nvPr/>
          </p:nvSpPr>
          <p:spPr>
            <a:xfrm>
              <a:off x="867300" y="295965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93" name="Google Shape;2093;p158"/>
            <p:cNvSpPr/>
            <p:nvPr/>
          </p:nvSpPr>
          <p:spPr>
            <a:xfrm>
              <a:off x="1414750" y="295965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94" name="Google Shape;2094;p158"/>
            <p:cNvSpPr/>
            <p:nvPr/>
          </p:nvSpPr>
          <p:spPr>
            <a:xfrm>
              <a:off x="1962200" y="295965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95" name="Google Shape;2095;p158"/>
            <p:cNvSpPr/>
            <p:nvPr/>
          </p:nvSpPr>
          <p:spPr>
            <a:xfrm>
              <a:off x="2689650" y="257175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96" name="Google Shape;2096;p158"/>
            <p:cNvSpPr/>
            <p:nvPr/>
          </p:nvSpPr>
          <p:spPr>
            <a:xfrm>
              <a:off x="2149650" y="257175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097" name="Google Shape;2097;p158"/>
          <p:cNvSpPr txBox="1"/>
          <p:nvPr>
            <p:ph idx="1" type="body"/>
          </p:nvPr>
        </p:nvSpPr>
        <p:spPr>
          <a:xfrm>
            <a:off x="324000" y="3632050"/>
            <a:ext cx="84960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For this bar model we could write the equation: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12 + 2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1800"/>
              <a:t>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sp>
        <p:nvSpPr>
          <p:cNvPr id="2103" name="Google Shape;2103;p159"/>
          <p:cNvSpPr txBox="1"/>
          <p:nvPr>
            <p:ph idx="1" type="body"/>
          </p:nvPr>
        </p:nvSpPr>
        <p:spPr>
          <a:xfrm>
            <a:off x="324000" y="800775"/>
            <a:ext cx="8496000" cy="3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write an equation for any scenario where we know things are equal.  </a:t>
            </a:r>
            <a:endParaRPr sz="1800"/>
          </a:p>
        </p:txBody>
      </p:sp>
      <p:pic>
        <p:nvPicPr>
          <p:cNvPr id="2104" name="Google Shape;2104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03956" y="1931399"/>
            <a:ext cx="575443" cy="710701"/>
          </a:xfrm>
          <a:prstGeom prst="rect">
            <a:avLst/>
          </a:prstGeom>
          <a:noFill/>
          <a:ln>
            <a:noFill/>
          </a:ln>
        </p:spPr>
      </p:pic>
      <p:sp>
        <p:nvSpPr>
          <p:cNvPr id="2105" name="Google Shape;2105;p159"/>
          <p:cNvSpPr txBox="1"/>
          <p:nvPr/>
        </p:nvSpPr>
        <p:spPr>
          <a:xfrm flipH="1">
            <a:off x="369678" y="2642101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6" name="Google Shape;2106;p159"/>
          <p:cNvGrpSpPr/>
          <p:nvPr/>
        </p:nvGrpSpPr>
        <p:grpSpPr>
          <a:xfrm>
            <a:off x="1281337" y="1120840"/>
            <a:ext cx="3508887" cy="1593518"/>
            <a:chOff x="1807240" y="1612125"/>
            <a:chExt cx="1901629" cy="931500"/>
          </a:xfrm>
        </p:grpSpPr>
        <p:pic>
          <p:nvPicPr>
            <p:cNvPr id="2107" name="Google Shape;2107;p15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8" name="Google Shape;2108;p159"/>
            <p:cNvSpPr txBox="1"/>
            <p:nvPr/>
          </p:nvSpPr>
          <p:spPr>
            <a:xfrm flipH="1">
              <a:off x="1956490" y="1765114"/>
              <a:ext cx="16581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I’m thinking of 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a number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 When I 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add 10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then 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divide by 5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, I get the number 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09" name="Google Shape;2109;p159"/>
          <p:cNvSpPr txBox="1"/>
          <p:nvPr>
            <p:ph idx="1" type="body"/>
          </p:nvPr>
        </p:nvSpPr>
        <p:spPr>
          <a:xfrm>
            <a:off x="5774400" y="1271300"/>
            <a:ext cx="3120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b</a:t>
            </a:r>
            <a:endParaRPr sz="2300"/>
          </a:p>
        </p:txBody>
      </p:sp>
      <p:sp>
        <p:nvSpPr>
          <p:cNvPr id="2110" name="Google Shape;2110;p159"/>
          <p:cNvSpPr txBox="1"/>
          <p:nvPr>
            <p:ph idx="1" type="body"/>
          </p:nvPr>
        </p:nvSpPr>
        <p:spPr>
          <a:xfrm>
            <a:off x="6029997" y="1271300"/>
            <a:ext cx="6297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 sz="2000"/>
          </a:p>
        </p:txBody>
      </p:sp>
      <p:sp>
        <p:nvSpPr>
          <p:cNvPr id="2111" name="Google Shape;2111;p159"/>
          <p:cNvSpPr txBox="1"/>
          <p:nvPr>
            <p:ph idx="1" type="body"/>
          </p:nvPr>
        </p:nvSpPr>
        <p:spPr>
          <a:xfrm>
            <a:off x="6686400" y="1409575"/>
            <a:ext cx="7728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=  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 </a:t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\ \frac{\ \ \ \ \ \ \ \ \ \ }{5}&quot;&gt;&lt;mtext&gt;&lt;/mtext&gt;&lt;mfrac&gt;&lt;mrow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row&gt;&lt;mn&gt;5&lt;/mn&gt;&lt;/mfrac&gt;&lt;/math&gt;" id="2112" name="Google Shape;2112;p159" title="the fraction with numerator and denominato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4400" y="1653887"/>
            <a:ext cx="812385" cy="31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3" name="Google Shape;2113;p159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rot="10800000">
            <a:off x="1281323" y="2771000"/>
            <a:ext cx="3657277" cy="142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4" name="Google Shape;2114;p159"/>
          <p:cNvSpPr txBox="1"/>
          <p:nvPr/>
        </p:nvSpPr>
        <p:spPr>
          <a:xfrm flipH="1">
            <a:off x="1562250" y="3107700"/>
            <a:ext cx="33057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 when I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divide by 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then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add 10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I get the number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14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 How will this look different?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 \frac{b}{5}&quot;&gt;&lt;mtext&gt;&lt;/mtext&gt;&lt;mfrac&gt;&lt;mi&gt;b&lt;/mi&gt;&lt;mn&gt;5&lt;/mn&gt;&lt;/mfrac&gt;&lt;/math&gt;" id="2115" name="Google Shape;2115;p159" title="b over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4397" y="3009070"/>
            <a:ext cx="212088" cy="686717"/>
          </a:xfrm>
          <a:prstGeom prst="rect">
            <a:avLst/>
          </a:prstGeom>
          <a:noFill/>
          <a:ln>
            <a:noFill/>
          </a:ln>
        </p:spPr>
      </p:pic>
      <p:sp>
        <p:nvSpPr>
          <p:cNvPr id="2116" name="Google Shape;2116;p159"/>
          <p:cNvSpPr txBox="1"/>
          <p:nvPr>
            <p:ph idx="1" type="body"/>
          </p:nvPr>
        </p:nvSpPr>
        <p:spPr>
          <a:xfrm>
            <a:off x="6086397" y="3134625"/>
            <a:ext cx="6297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 sz="2000"/>
          </a:p>
        </p:txBody>
      </p:sp>
      <p:sp>
        <p:nvSpPr>
          <p:cNvPr id="2117" name="Google Shape;2117;p159"/>
          <p:cNvSpPr txBox="1"/>
          <p:nvPr>
            <p:ph idx="1" type="body"/>
          </p:nvPr>
        </p:nvSpPr>
        <p:spPr>
          <a:xfrm>
            <a:off x="6745375" y="3107725"/>
            <a:ext cx="7728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500">
                <a:latin typeface="Times"/>
                <a:ea typeface="Times"/>
                <a:cs typeface="Times"/>
                <a:sym typeface="Times"/>
              </a:rPr>
              <a:t>=  </a:t>
            </a:r>
            <a:r>
              <a:rPr lang="en-GB" sz="2500">
                <a:latin typeface="Times"/>
                <a:ea typeface="Times"/>
                <a:cs typeface="Times"/>
                <a:sym typeface="Times"/>
              </a:rPr>
              <a:t>14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 </a:t>
            </a:r>
            <a:endParaRPr sz="2100"/>
          </a:p>
        </p:txBody>
      </p:sp>
      <p:sp>
        <p:nvSpPr>
          <p:cNvPr id="2118" name="Google Shape;2118;p159"/>
          <p:cNvSpPr txBox="1"/>
          <p:nvPr>
            <p:ph idx="1" type="body"/>
          </p:nvPr>
        </p:nvSpPr>
        <p:spPr>
          <a:xfrm>
            <a:off x="324000" y="4246325"/>
            <a:ext cx="8496000" cy="3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fractional notation, the numerator and denominator are grouped so brackets are not needed here.  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16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sp>
        <p:nvSpPr>
          <p:cNvPr id="2124" name="Google Shape;2124;p160"/>
          <p:cNvSpPr txBox="1"/>
          <p:nvPr>
            <p:ph idx="1" type="body"/>
          </p:nvPr>
        </p:nvSpPr>
        <p:spPr>
          <a:xfrm>
            <a:off x="324000" y="800775"/>
            <a:ext cx="8496000" cy="3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Lucas and Andeep each have some sweets. When Lucas gives 5 of his to Andeep, they both have the same amount.  </a:t>
            </a:r>
            <a:endParaRPr sz="1800"/>
          </a:p>
        </p:txBody>
      </p:sp>
      <p:sp>
        <p:nvSpPr>
          <p:cNvPr id="2125" name="Google Shape;2125;p160"/>
          <p:cNvSpPr txBox="1"/>
          <p:nvPr>
            <p:ph idx="1" type="body"/>
          </p:nvPr>
        </p:nvSpPr>
        <p:spPr>
          <a:xfrm>
            <a:off x="324000" y="1637500"/>
            <a:ext cx="8496000" cy="3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form an equation for this scenario?  </a:t>
            </a:r>
            <a:endParaRPr sz="1800"/>
          </a:p>
        </p:txBody>
      </p:sp>
      <p:sp>
        <p:nvSpPr>
          <p:cNvPr id="2126" name="Google Shape;2126;p160"/>
          <p:cNvSpPr txBox="1"/>
          <p:nvPr>
            <p:ph idx="1" type="body"/>
          </p:nvPr>
        </p:nvSpPr>
        <p:spPr>
          <a:xfrm>
            <a:off x="324000" y="2102225"/>
            <a:ext cx="43815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b = </a:t>
            </a:r>
            <a:r>
              <a:rPr lang="en-GB" sz="1800"/>
              <a:t>number of sweets Lucas has.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600"/>
          </a:p>
        </p:txBody>
      </p:sp>
      <p:sp>
        <p:nvSpPr>
          <p:cNvPr id="2127" name="Google Shape;2127;p160"/>
          <p:cNvSpPr txBox="1"/>
          <p:nvPr>
            <p:ph idx="1" type="body"/>
          </p:nvPr>
        </p:nvSpPr>
        <p:spPr>
          <a:xfrm>
            <a:off x="324000" y="2595325"/>
            <a:ext cx="43815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a = </a:t>
            </a:r>
            <a:r>
              <a:rPr lang="en-GB" sz="1800"/>
              <a:t>number of sweets Andeep has.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600"/>
          </a:p>
        </p:txBody>
      </p:sp>
      <p:sp>
        <p:nvSpPr>
          <p:cNvPr id="2128" name="Google Shape;2128;p160"/>
          <p:cNvSpPr txBox="1"/>
          <p:nvPr>
            <p:ph idx="1" type="body"/>
          </p:nvPr>
        </p:nvSpPr>
        <p:spPr>
          <a:xfrm>
            <a:off x="324000" y="3167625"/>
            <a:ext cx="8496000" cy="3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After Lucas gives Andeep 5, how many do they each have?   </a:t>
            </a:r>
            <a:endParaRPr sz="1800"/>
          </a:p>
        </p:txBody>
      </p:sp>
      <p:sp>
        <p:nvSpPr>
          <p:cNvPr id="2129" name="Google Shape;2129;p160"/>
          <p:cNvSpPr txBox="1"/>
          <p:nvPr>
            <p:ph idx="1" type="body"/>
          </p:nvPr>
        </p:nvSpPr>
        <p:spPr>
          <a:xfrm>
            <a:off x="324000" y="3747725"/>
            <a:ext cx="43815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b −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= a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 sz="1600"/>
          </a:p>
        </p:txBody>
      </p:sp>
      <p:sp>
        <p:nvSpPr>
          <p:cNvPr id="2130" name="Google Shape;2130;p160"/>
          <p:cNvSpPr txBox="1"/>
          <p:nvPr>
            <p:ph idx="1" type="body"/>
          </p:nvPr>
        </p:nvSpPr>
        <p:spPr>
          <a:xfrm>
            <a:off x="324000" y="4320000"/>
            <a:ext cx="8496000" cy="3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many sweets could they have started with? 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16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sp>
        <p:nvSpPr>
          <p:cNvPr id="2136" name="Google Shape;2136;p161"/>
          <p:cNvSpPr txBox="1"/>
          <p:nvPr>
            <p:ph idx="1" type="body"/>
          </p:nvPr>
        </p:nvSpPr>
        <p:spPr>
          <a:xfrm>
            <a:off x="324000" y="810000"/>
            <a:ext cx="8496000" cy="3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many sweets could they have started with?   </a:t>
            </a:r>
            <a:endParaRPr sz="1800"/>
          </a:p>
        </p:txBody>
      </p:sp>
      <p:sp>
        <p:nvSpPr>
          <p:cNvPr id="2137" name="Google Shape;2137;p161"/>
          <p:cNvSpPr txBox="1"/>
          <p:nvPr>
            <p:ph idx="1" type="body"/>
          </p:nvPr>
        </p:nvSpPr>
        <p:spPr>
          <a:xfrm>
            <a:off x="324000" y="1407525"/>
            <a:ext cx="8496000" cy="3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number where Lucas has 10 more than Andeep.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8" name="Google Shape;2138;p161"/>
          <p:cNvSpPr txBox="1"/>
          <p:nvPr>
            <p:ph idx="1" type="body"/>
          </p:nvPr>
        </p:nvSpPr>
        <p:spPr>
          <a:xfrm>
            <a:off x="324000" y="2005050"/>
            <a:ext cx="8496000" cy="3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If Lucas had 20 and Andeep had 10, when Lucas gives Andeep 5, they both have 15.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9" name="Google Shape;2139;p161"/>
          <p:cNvSpPr txBox="1"/>
          <p:nvPr>
            <p:ph idx="1" type="body"/>
          </p:nvPr>
        </p:nvSpPr>
        <p:spPr>
          <a:xfrm>
            <a:off x="324000" y="3117300"/>
            <a:ext cx="8496000" cy="3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Where an equation has more than one unknown number, it is possible for there to be more than one option for values that make it true.  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162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Pick a number from the box for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2000"/>
              <a:t> and a different number from the box for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2000"/>
              <a:t> to make this equation true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c +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d =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16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5" name="Google Shape;2145;p16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sp>
        <p:nvSpPr>
          <p:cNvPr id="2146" name="Google Shape;2146;p162"/>
          <p:cNvSpPr/>
          <p:nvPr/>
        </p:nvSpPr>
        <p:spPr>
          <a:xfrm>
            <a:off x="6799725" y="1156300"/>
            <a:ext cx="1864500" cy="1446300"/>
          </a:xfrm>
          <a:prstGeom prst="cube">
            <a:avLst>
              <a:gd fmla="val 23370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7" name="Google Shape;2147;p162"/>
          <p:cNvSpPr txBox="1"/>
          <p:nvPr/>
        </p:nvSpPr>
        <p:spPr>
          <a:xfrm>
            <a:off x="6989400" y="1551488"/>
            <a:ext cx="469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8" name="Google Shape;2148;p162"/>
          <p:cNvSpPr txBox="1"/>
          <p:nvPr/>
        </p:nvSpPr>
        <p:spPr>
          <a:xfrm>
            <a:off x="6878425" y="2040888"/>
            <a:ext cx="469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9" name="Google Shape;2149;p162"/>
          <p:cNvSpPr txBox="1"/>
          <p:nvPr/>
        </p:nvSpPr>
        <p:spPr>
          <a:xfrm>
            <a:off x="7224300" y="1880213"/>
            <a:ext cx="469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7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0" name="Google Shape;2150;p162"/>
          <p:cNvSpPr txBox="1"/>
          <p:nvPr/>
        </p:nvSpPr>
        <p:spPr>
          <a:xfrm>
            <a:off x="7586025" y="1954038"/>
            <a:ext cx="469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1" name="Google Shape;2151;p162"/>
          <p:cNvSpPr txBox="1"/>
          <p:nvPr/>
        </p:nvSpPr>
        <p:spPr>
          <a:xfrm>
            <a:off x="7883400" y="1512313"/>
            <a:ext cx="469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2" name="Google Shape;2152;p162"/>
          <p:cNvSpPr txBox="1"/>
          <p:nvPr/>
        </p:nvSpPr>
        <p:spPr>
          <a:xfrm>
            <a:off x="7974600" y="1880225"/>
            <a:ext cx="347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13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3" name="Google Shape;2153;p162"/>
          <p:cNvSpPr txBox="1"/>
          <p:nvPr/>
        </p:nvSpPr>
        <p:spPr>
          <a:xfrm>
            <a:off x="7383200" y="1512325"/>
            <a:ext cx="347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4" name="Google Shape;2154;p162"/>
          <p:cNvSpPr txBox="1"/>
          <p:nvPr/>
        </p:nvSpPr>
        <p:spPr>
          <a:xfrm>
            <a:off x="7861800" y="2256700"/>
            <a:ext cx="347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6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162"/>
          <p:cNvSpPr txBox="1"/>
          <p:nvPr>
            <p:ph idx="1" type="body"/>
          </p:nvPr>
        </p:nvSpPr>
        <p:spPr>
          <a:xfrm>
            <a:off x="324000" y="4218150"/>
            <a:ext cx="82377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many answers can you find?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6" name="Google Shape;2156;p162"/>
          <p:cNvSpPr txBox="1"/>
          <p:nvPr>
            <p:ph idx="1" type="body"/>
          </p:nvPr>
        </p:nvSpPr>
        <p:spPr>
          <a:xfrm>
            <a:off x="324000" y="2102225"/>
            <a:ext cx="43815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 =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 </a:t>
            </a:r>
            <a:r>
              <a:rPr lang="en-GB" sz="1800"/>
              <a:t>and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</a:t>
            </a:r>
            <a:endParaRPr sz="2000"/>
          </a:p>
        </p:txBody>
      </p:sp>
      <p:sp>
        <p:nvSpPr>
          <p:cNvPr id="2157" name="Google Shape;2157;p162"/>
          <p:cNvSpPr txBox="1"/>
          <p:nvPr>
            <p:ph idx="1" type="body"/>
          </p:nvPr>
        </p:nvSpPr>
        <p:spPr>
          <a:xfrm>
            <a:off x="324000" y="2668525"/>
            <a:ext cx="43815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 =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13 </a:t>
            </a:r>
            <a:r>
              <a:rPr lang="en-GB" sz="1800"/>
              <a:t>and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</a:t>
            </a:r>
            <a:endParaRPr sz="2000"/>
          </a:p>
        </p:txBody>
      </p:sp>
      <p:sp>
        <p:nvSpPr>
          <p:cNvPr id="2158" name="Google Shape;2158;p162"/>
          <p:cNvSpPr txBox="1"/>
          <p:nvPr/>
        </p:nvSpPr>
        <p:spPr>
          <a:xfrm>
            <a:off x="7131425" y="2256700"/>
            <a:ext cx="2823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16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9" name="Google Shape;2159;p162"/>
          <p:cNvSpPr txBox="1"/>
          <p:nvPr>
            <p:ph idx="1" type="body"/>
          </p:nvPr>
        </p:nvSpPr>
        <p:spPr>
          <a:xfrm>
            <a:off x="324000" y="3256525"/>
            <a:ext cx="43815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 =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16 </a:t>
            </a:r>
            <a:r>
              <a:rPr lang="en-GB" sz="1800"/>
              <a:t>and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0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p16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sp>
        <p:nvSpPr>
          <p:cNvPr id="2165" name="Google Shape;2165;p16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3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/>
              <a:t> can be 0, 1, 2, 3, 4, or 5 so there are 6 possible answers.</a:t>
            </a:r>
            <a:endParaRPr sz="2000"/>
          </a:p>
        </p:txBody>
      </p:sp>
      <p:sp>
        <p:nvSpPr>
          <p:cNvPr id="2166" name="Google Shape;2166;p163"/>
          <p:cNvSpPr txBox="1"/>
          <p:nvPr>
            <p:ph idx="1" type="subTitle"/>
          </p:nvPr>
        </p:nvSpPr>
        <p:spPr>
          <a:xfrm>
            <a:off x="324000" y="1080000"/>
            <a:ext cx="8496000" cy="6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If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/>
              <a:t> and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/>
              <a:t> are integers, there are 5 possible answers for the value of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/>
              <a:t> and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/>
              <a:t> in the equation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20</a:t>
            </a:r>
            <a:endParaRPr/>
          </a:p>
        </p:txBody>
      </p:sp>
      <p:sp>
        <p:nvSpPr>
          <p:cNvPr id="2167" name="Google Shape;2167;p16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Integers include negative numbers so there are an infinite number of answers.</a:t>
            </a:r>
            <a:endParaRPr sz="2000"/>
          </a:p>
        </p:txBody>
      </p:sp>
      <p:pic>
        <p:nvPicPr>
          <p:cNvPr id="2168" name="Google Shape;2168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922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9" name="Google Shape;2169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1133" y="404033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164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Match the bar models to the equations.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75" name="Google Shape;2175;p1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sp>
        <p:nvSpPr>
          <p:cNvPr id="2176" name="Google Shape;2176;p164"/>
          <p:cNvSpPr/>
          <p:nvPr/>
        </p:nvSpPr>
        <p:spPr>
          <a:xfrm>
            <a:off x="2613127" y="1627252"/>
            <a:ext cx="5919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7" name="Google Shape;2177;p164"/>
          <p:cNvSpPr/>
          <p:nvPr/>
        </p:nvSpPr>
        <p:spPr>
          <a:xfrm>
            <a:off x="816501" y="1345200"/>
            <a:ext cx="23886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8" name="Google Shape;2178;p164"/>
          <p:cNvSpPr/>
          <p:nvPr/>
        </p:nvSpPr>
        <p:spPr>
          <a:xfrm>
            <a:off x="816501" y="1627252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9" name="Google Shape;2179;p164"/>
          <p:cNvSpPr/>
          <p:nvPr/>
        </p:nvSpPr>
        <p:spPr>
          <a:xfrm>
            <a:off x="1263099" y="1627252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0" name="Google Shape;2180;p164"/>
          <p:cNvSpPr/>
          <p:nvPr/>
        </p:nvSpPr>
        <p:spPr>
          <a:xfrm>
            <a:off x="1713108" y="1627252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1" name="Google Shape;2181;p164"/>
          <p:cNvSpPr/>
          <p:nvPr/>
        </p:nvSpPr>
        <p:spPr>
          <a:xfrm>
            <a:off x="2163118" y="1627252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2" name="Google Shape;2182;p164"/>
          <p:cNvSpPr/>
          <p:nvPr/>
        </p:nvSpPr>
        <p:spPr>
          <a:xfrm>
            <a:off x="2613127" y="2329140"/>
            <a:ext cx="5919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3" name="Google Shape;2183;p164"/>
          <p:cNvSpPr/>
          <p:nvPr/>
        </p:nvSpPr>
        <p:spPr>
          <a:xfrm>
            <a:off x="816501" y="2047088"/>
            <a:ext cx="23886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4" name="Google Shape;2184;p164"/>
          <p:cNvSpPr/>
          <p:nvPr/>
        </p:nvSpPr>
        <p:spPr>
          <a:xfrm>
            <a:off x="816501" y="2329140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5" name="Google Shape;2185;p164"/>
          <p:cNvSpPr/>
          <p:nvPr/>
        </p:nvSpPr>
        <p:spPr>
          <a:xfrm>
            <a:off x="1263099" y="2329140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6" name="Google Shape;2186;p164"/>
          <p:cNvSpPr/>
          <p:nvPr/>
        </p:nvSpPr>
        <p:spPr>
          <a:xfrm>
            <a:off x="1713108" y="2329140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7" name="Google Shape;2187;p164"/>
          <p:cNvSpPr/>
          <p:nvPr/>
        </p:nvSpPr>
        <p:spPr>
          <a:xfrm>
            <a:off x="2163118" y="2329140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8" name="Google Shape;2188;p164"/>
          <p:cNvSpPr/>
          <p:nvPr/>
        </p:nvSpPr>
        <p:spPr>
          <a:xfrm>
            <a:off x="2577852" y="3052474"/>
            <a:ext cx="5919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9" name="Google Shape;2189;p164"/>
          <p:cNvSpPr/>
          <p:nvPr/>
        </p:nvSpPr>
        <p:spPr>
          <a:xfrm>
            <a:off x="781201" y="2770422"/>
            <a:ext cx="747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0" name="Google Shape;2190;p164"/>
          <p:cNvSpPr/>
          <p:nvPr/>
        </p:nvSpPr>
        <p:spPr>
          <a:xfrm>
            <a:off x="781201" y="3052474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1" name="Google Shape;2191;p164"/>
          <p:cNvSpPr/>
          <p:nvPr/>
        </p:nvSpPr>
        <p:spPr>
          <a:xfrm>
            <a:off x="1227799" y="3052474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2" name="Google Shape;2192;p164"/>
          <p:cNvSpPr/>
          <p:nvPr/>
        </p:nvSpPr>
        <p:spPr>
          <a:xfrm>
            <a:off x="1677809" y="3052474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3" name="Google Shape;2193;p164"/>
          <p:cNvSpPr/>
          <p:nvPr/>
        </p:nvSpPr>
        <p:spPr>
          <a:xfrm>
            <a:off x="2127818" y="3052474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4" name="Google Shape;2194;p164"/>
          <p:cNvSpPr/>
          <p:nvPr/>
        </p:nvSpPr>
        <p:spPr>
          <a:xfrm>
            <a:off x="1528025" y="2770422"/>
            <a:ext cx="747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5" name="Google Shape;2195;p164"/>
          <p:cNvSpPr/>
          <p:nvPr/>
        </p:nvSpPr>
        <p:spPr>
          <a:xfrm>
            <a:off x="2275024" y="2770422"/>
            <a:ext cx="8946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6" name="Google Shape;2196;p164"/>
          <p:cNvSpPr/>
          <p:nvPr/>
        </p:nvSpPr>
        <p:spPr>
          <a:xfrm>
            <a:off x="2361272" y="3777327"/>
            <a:ext cx="8085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7" name="Google Shape;2197;p164"/>
          <p:cNvSpPr/>
          <p:nvPr/>
        </p:nvSpPr>
        <p:spPr>
          <a:xfrm>
            <a:off x="781201" y="3777327"/>
            <a:ext cx="394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8" name="Google Shape;2198;p164"/>
          <p:cNvSpPr/>
          <p:nvPr/>
        </p:nvSpPr>
        <p:spPr>
          <a:xfrm>
            <a:off x="1589700" y="3495284"/>
            <a:ext cx="1579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9" name="Google Shape;2199;p164"/>
          <p:cNvSpPr/>
          <p:nvPr/>
        </p:nvSpPr>
        <p:spPr>
          <a:xfrm>
            <a:off x="1176292" y="3777327"/>
            <a:ext cx="394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0" name="Google Shape;2200;p164"/>
          <p:cNvSpPr/>
          <p:nvPr/>
        </p:nvSpPr>
        <p:spPr>
          <a:xfrm>
            <a:off x="1571384" y="3777327"/>
            <a:ext cx="394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1" name="Google Shape;2201;p164"/>
          <p:cNvSpPr/>
          <p:nvPr/>
        </p:nvSpPr>
        <p:spPr>
          <a:xfrm>
            <a:off x="1966475" y="3777327"/>
            <a:ext cx="394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2" name="Google Shape;2202;p164"/>
          <p:cNvSpPr/>
          <p:nvPr/>
        </p:nvSpPr>
        <p:spPr>
          <a:xfrm>
            <a:off x="781200" y="3495284"/>
            <a:ext cx="8085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3" name="Google Shape;2203;p164"/>
          <p:cNvSpPr/>
          <p:nvPr/>
        </p:nvSpPr>
        <p:spPr>
          <a:xfrm>
            <a:off x="2361272" y="4502177"/>
            <a:ext cx="8085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4" name="Google Shape;2204;p164"/>
          <p:cNvSpPr/>
          <p:nvPr/>
        </p:nvSpPr>
        <p:spPr>
          <a:xfrm>
            <a:off x="781201" y="4502177"/>
            <a:ext cx="394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5" name="Google Shape;2205;p164"/>
          <p:cNvSpPr/>
          <p:nvPr/>
        </p:nvSpPr>
        <p:spPr>
          <a:xfrm>
            <a:off x="1176292" y="4502177"/>
            <a:ext cx="394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6" name="Google Shape;2206;p164"/>
          <p:cNvSpPr/>
          <p:nvPr/>
        </p:nvSpPr>
        <p:spPr>
          <a:xfrm>
            <a:off x="1966475" y="4220127"/>
            <a:ext cx="394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7" name="Google Shape;2207;p164"/>
          <p:cNvSpPr/>
          <p:nvPr/>
        </p:nvSpPr>
        <p:spPr>
          <a:xfrm>
            <a:off x="781200" y="4220125"/>
            <a:ext cx="1185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8" name="Google Shape;2208;p164"/>
          <p:cNvSpPr/>
          <p:nvPr/>
        </p:nvSpPr>
        <p:spPr>
          <a:xfrm>
            <a:off x="2361272" y="4220127"/>
            <a:ext cx="8085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9" name="Google Shape;2209;p164"/>
          <p:cNvSpPr/>
          <p:nvPr/>
        </p:nvSpPr>
        <p:spPr>
          <a:xfrm>
            <a:off x="1571400" y="4502175"/>
            <a:ext cx="7869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0" name="Google Shape;2210;p164"/>
          <p:cNvSpPr txBox="1"/>
          <p:nvPr>
            <p:ph idx="4294967295" type="body"/>
          </p:nvPr>
        </p:nvSpPr>
        <p:spPr>
          <a:xfrm>
            <a:off x="4572000" y="3495275"/>
            <a:ext cx="36696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2211" name="Google Shape;2211;p164"/>
          <p:cNvSpPr txBox="1"/>
          <p:nvPr>
            <p:ph idx="4294967295" type="body"/>
          </p:nvPr>
        </p:nvSpPr>
        <p:spPr>
          <a:xfrm>
            <a:off x="4572000" y="2786675"/>
            <a:ext cx="36696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 =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sp>
        <p:nvSpPr>
          <p:cNvPr id="2212" name="Google Shape;2212;p164"/>
          <p:cNvSpPr txBox="1"/>
          <p:nvPr>
            <p:ph idx="4294967295" type="body"/>
          </p:nvPr>
        </p:nvSpPr>
        <p:spPr>
          <a:xfrm>
            <a:off x="4572000" y="2078088"/>
            <a:ext cx="36696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 </a:t>
            </a:r>
            <a:endParaRPr sz="1800"/>
          </a:p>
        </p:txBody>
      </p:sp>
      <p:sp>
        <p:nvSpPr>
          <p:cNvPr id="2213" name="Google Shape;2213;p164"/>
          <p:cNvSpPr txBox="1"/>
          <p:nvPr>
            <p:ph idx="4294967295" type="body"/>
          </p:nvPr>
        </p:nvSpPr>
        <p:spPr>
          <a:xfrm>
            <a:off x="4572000" y="1268413"/>
            <a:ext cx="36696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4" name="Google Shape;2214;p164"/>
          <p:cNvSpPr txBox="1"/>
          <p:nvPr>
            <p:ph idx="4294967295" type="body"/>
          </p:nvPr>
        </p:nvSpPr>
        <p:spPr>
          <a:xfrm>
            <a:off x="4572000" y="4220125"/>
            <a:ext cx="36696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</a:t>
            </a:r>
            <a:endParaRPr sz="1800"/>
          </a:p>
        </p:txBody>
      </p:sp>
      <p:graphicFrame>
        <p:nvGraphicFramePr>
          <p:cNvPr id="2215" name="Google Shape;2215;p164"/>
          <p:cNvGraphicFramePr/>
          <p:nvPr/>
        </p:nvGraphicFramePr>
        <p:xfrm>
          <a:off x="287613" y="126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{38EF6676-5A03-4EF0-AD80-367B8B6233E1}</a:tableStyleId>
              </a:tblPr>
              <a:tblGrid>
                <a:gridCol w="460675"/>
              </a:tblGrid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p165"/>
          <p:cNvSpPr txBox="1"/>
          <p:nvPr>
            <p:ph idx="1" type="body"/>
          </p:nvPr>
        </p:nvSpPr>
        <p:spPr>
          <a:xfrm>
            <a:off x="324000" y="759300"/>
            <a:ext cx="8237700" cy="59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 Match the statements to the equations.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21" name="Google Shape;2221;p1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grpSp>
        <p:nvGrpSpPr>
          <p:cNvPr id="2222" name="Google Shape;2222;p165"/>
          <p:cNvGrpSpPr/>
          <p:nvPr/>
        </p:nvGrpSpPr>
        <p:grpSpPr>
          <a:xfrm>
            <a:off x="558825" y="1092625"/>
            <a:ext cx="3191777" cy="852000"/>
            <a:chOff x="324000" y="1473625"/>
            <a:chExt cx="3191777" cy="852000"/>
          </a:xfrm>
        </p:grpSpPr>
        <p:pic>
          <p:nvPicPr>
            <p:cNvPr id="2223" name="Google Shape;2223;p165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4" name="Google Shape;2224;p165"/>
            <p:cNvSpPr txBox="1"/>
            <p:nvPr/>
          </p:nvSpPr>
          <p:spPr>
            <a:xfrm>
              <a:off x="606974" y="1473625"/>
              <a:ext cx="29088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 number minus 2 then divided by 5 equals 20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25" name="Google Shape;2225;p165"/>
          <p:cNvGrpSpPr/>
          <p:nvPr/>
        </p:nvGrpSpPr>
        <p:grpSpPr>
          <a:xfrm flipH="1">
            <a:off x="1413175" y="1816800"/>
            <a:ext cx="3191777" cy="852000"/>
            <a:chOff x="324000" y="1473625"/>
            <a:chExt cx="3191777" cy="852000"/>
          </a:xfrm>
        </p:grpSpPr>
        <p:pic>
          <p:nvPicPr>
            <p:cNvPr id="2226" name="Google Shape;2226;p165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7" name="Google Shape;2227;p165"/>
            <p:cNvSpPr txBox="1"/>
            <p:nvPr/>
          </p:nvSpPr>
          <p:spPr>
            <a:xfrm>
              <a:off x="530774" y="1473625"/>
              <a:ext cx="29088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 number divided by 5 then minus 2 equals 20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28" name="Google Shape;2228;p165"/>
          <p:cNvGrpSpPr/>
          <p:nvPr/>
        </p:nvGrpSpPr>
        <p:grpSpPr>
          <a:xfrm>
            <a:off x="558825" y="2534788"/>
            <a:ext cx="3312863" cy="852000"/>
            <a:chOff x="324000" y="1477966"/>
            <a:chExt cx="3312863" cy="852000"/>
          </a:xfrm>
        </p:grpSpPr>
        <p:pic>
          <p:nvPicPr>
            <p:cNvPr id="2229" name="Google Shape;2229;p165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0" name="Google Shape;2230;p165"/>
            <p:cNvSpPr txBox="1"/>
            <p:nvPr/>
          </p:nvSpPr>
          <p:spPr>
            <a:xfrm>
              <a:off x="647663" y="1477966"/>
              <a:ext cx="29892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divided by 5 less than a number equals 20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31" name="Google Shape;2231;p165"/>
          <p:cNvGrpSpPr/>
          <p:nvPr/>
        </p:nvGrpSpPr>
        <p:grpSpPr>
          <a:xfrm flipH="1">
            <a:off x="1413175" y="3225388"/>
            <a:ext cx="3191777" cy="852000"/>
            <a:chOff x="324000" y="1473625"/>
            <a:chExt cx="3191777" cy="852000"/>
          </a:xfrm>
        </p:grpSpPr>
        <p:pic>
          <p:nvPicPr>
            <p:cNvPr id="2232" name="Google Shape;2232;p165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3" name="Google Shape;2233;p165"/>
            <p:cNvSpPr txBox="1"/>
            <p:nvPr/>
          </p:nvSpPr>
          <p:spPr>
            <a:xfrm>
              <a:off x="543574" y="1473625"/>
              <a:ext cx="29088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divided by a number then minus 5 equals 20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34" name="Google Shape;2234;p165"/>
          <p:cNvGrpSpPr/>
          <p:nvPr/>
        </p:nvGrpSpPr>
        <p:grpSpPr>
          <a:xfrm>
            <a:off x="558825" y="3976941"/>
            <a:ext cx="3605827" cy="852000"/>
            <a:chOff x="324000" y="1473625"/>
            <a:chExt cx="3605827" cy="852000"/>
          </a:xfrm>
        </p:grpSpPr>
        <p:pic>
          <p:nvPicPr>
            <p:cNvPr id="2235" name="Google Shape;2235;p165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60582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6" name="Google Shape;2236;p165"/>
            <p:cNvSpPr txBox="1"/>
            <p:nvPr/>
          </p:nvSpPr>
          <p:spPr>
            <a:xfrm>
              <a:off x="606975" y="1473625"/>
              <a:ext cx="32664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 number subtracted from 2 then divided by 5 equals 20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237" name="Google Shape;2237;p165"/>
          <p:cNvGraphicFramePr/>
          <p:nvPr/>
        </p:nvGraphicFramePr>
        <p:xfrm>
          <a:off x="274675" y="12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{38EF6676-5A03-4EF0-AD80-367B8B6233E1}</a:tableStyleId>
              </a:tblPr>
              <a:tblGrid>
                <a:gridCol w="460675"/>
              </a:tblGrid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x-2}{5}=20&quot;&gt;&lt;mfrac&gt;&lt;mrow&gt;&lt;mi&gt;x&lt;/mi&gt;&lt;mo&gt;−&lt;/mo&gt;&lt;mn&gt;2&lt;/mn&gt;&lt;/mrow&gt;&lt;mn&gt;5&lt;/mn&gt;&lt;/mfrac&gt;&lt;mo&gt;=&lt;/mo&gt;&lt;mn&gt;20&lt;/mn&gt;&lt;/math&gt;" id="2238" name="Google Shape;2238;p165" title="the fraction with numerator x minus 2 and denominator 5 equals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6810" y="4192250"/>
            <a:ext cx="1148397" cy="512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x}{5}-2=20&quot;&gt;&lt;mfrac&gt;&lt;mi&gt;x&lt;/mi&gt;&lt;mn&gt;5&lt;/mn&gt;&lt;/mfrac&gt;&lt;mo&gt;−&lt;/mo&gt;&lt;mn&gt;2&lt;/mn&gt;&lt;mo&gt;=&lt;/mo&gt;&lt;mn&gt;20&lt;/mn&gt;&lt;/math&gt;" id="2239" name="Google Shape;2239;p165" title="x over 5 minus 2 equals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0410" y="1130552"/>
            <a:ext cx="1121182" cy="447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x}-5=20&quot;&gt;&lt;mfrac&gt;&lt;mn&gt;2&lt;/mn&gt;&lt;mi&gt;x&lt;/mi&gt;&lt;/mfrac&gt;&lt;mo&gt;−&lt;/mo&gt;&lt;mn&gt;5&lt;/mn&gt;&lt;mo&gt;=&lt;/mo&gt;&lt;mn&gt;20&lt;/mn&gt;&lt;/math&gt;" id="2240" name="Google Shape;2240;p165" title="2 over x minus 5 equals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0435" y="2576901"/>
            <a:ext cx="1121181" cy="495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x-5}=20&quot;&gt;&lt;mfrac&gt;&lt;mn&gt;2&lt;/mn&gt;&lt;mrow&gt;&lt;mi&gt;x&lt;/mi&gt;&lt;mo&gt;−&lt;/mo&gt;&lt;mn&gt;5&lt;/mn&gt;&lt;/mrow&gt;&lt;/mfrac&gt;&lt;mo&gt;=&lt;/mo&gt;&lt;mn&gt;20&lt;/mn&gt;&lt;/math&gt;" id="2241" name="Google Shape;2241;p165" title="the fraction with numerator 2 and denominator x minus 5 equals 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70410" y="1823899"/>
            <a:ext cx="1121182" cy="5070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-x}{5}=20&quot;&gt;&lt;mfrac&gt;&lt;mrow&gt;&lt;mn&gt;2&lt;/mn&gt;&lt;mo&gt;−&lt;/mo&gt;&lt;mi&gt;x&lt;/mi&gt;&lt;/mrow&gt;&lt;mn&gt;5&lt;/mn&gt;&lt;/mfrac&gt;&lt;mo&gt;=&lt;/mo&gt;&lt;mn&gt;20&lt;/mn&gt;&lt;/math&gt;" id="2242" name="Google Shape;2242;p165" title="the fraction with numerator 2 minus x and denominator 5 equals 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00435" y="3395318"/>
            <a:ext cx="1148390" cy="512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1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Match the bar models to the equations.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48" name="Google Shape;2248;p1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sp>
        <p:nvSpPr>
          <p:cNvPr id="2249" name="Google Shape;2249;p166"/>
          <p:cNvSpPr/>
          <p:nvPr/>
        </p:nvSpPr>
        <p:spPr>
          <a:xfrm>
            <a:off x="2613127" y="1627252"/>
            <a:ext cx="5919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0" name="Google Shape;2250;p166"/>
          <p:cNvSpPr/>
          <p:nvPr/>
        </p:nvSpPr>
        <p:spPr>
          <a:xfrm>
            <a:off x="816501" y="1345200"/>
            <a:ext cx="23886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1" name="Google Shape;2251;p166"/>
          <p:cNvSpPr/>
          <p:nvPr/>
        </p:nvSpPr>
        <p:spPr>
          <a:xfrm>
            <a:off x="816501" y="1627252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2" name="Google Shape;2252;p166"/>
          <p:cNvSpPr/>
          <p:nvPr/>
        </p:nvSpPr>
        <p:spPr>
          <a:xfrm>
            <a:off x="1263099" y="1627252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3" name="Google Shape;2253;p166"/>
          <p:cNvSpPr/>
          <p:nvPr/>
        </p:nvSpPr>
        <p:spPr>
          <a:xfrm>
            <a:off x="1713108" y="1627252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4" name="Google Shape;2254;p166"/>
          <p:cNvSpPr/>
          <p:nvPr/>
        </p:nvSpPr>
        <p:spPr>
          <a:xfrm>
            <a:off x="2163118" y="1627252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5" name="Google Shape;2255;p166"/>
          <p:cNvSpPr/>
          <p:nvPr/>
        </p:nvSpPr>
        <p:spPr>
          <a:xfrm>
            <a:off x="2613127" y="2329140"/>
            <a:ext cx="5919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6" name="Google Shape;2256;p166"/>
          <p:cNvSpPr/>
          <p:nvPr/>
        </p:nvSpPr>
        <p:spPr>
          <a:xfrm>
            <a:off x="816501" y="2047088"/>
            <a:ext cx="23886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7" name="Google Shape;2257;p166"/>
          <p:cNvSpPr/>
          <p:nvPr/>
        </p:nvSpPr>
        <p:spPr>
          <a:xfrm>
            <a:off x="816501" y="2329140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8" name="Google Shape;2258;p166"/>
          <p:cNvSpPr/>
          <p:nvPr/>
        </p:nvSpPr>
        <p:spPr>
          <a:xfrm>
            <a:off x="1263099" y="2329140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9" name="Google Shape;2259;p166"/>
          <p:cNvSpPr/>
          <p:nvPr/>
        </p:nvSpPr>
        <p:spPr>
          <a:xfrm>
            <a:off x="1713108" y="2329140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0" name="Google Shape;2260;p166"/>
          <p:cNvSpPr/>
          <p:nvPr/>
        </p:nvSpPr>
        <p:spPr>
          <a:xfrm>
            <a:off x="2163118" y="2329140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1" name="Google Shape;2261;p166"/>
          <p:cNvSpPr/>
          <p:nvPr/>
        </p:nvSpPr>
        <p:spPr>
          <a:xfrm>
            <a:off x="2577852" y="3052474"/>
            <a:ext cx="5919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2" name="Google Shape;2262;p166"/>
          <p:cNvSpPr/>
          <p:nvPr/>
        </p:nvSpPr>
        <p:spPr>
          <a:xfrm>
            <a:off x="781201" y="2770422"/>
            <a:ext cx="747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3" name="Google Shape;2263;p166"/>
          <p:cNvSpPr/>
          <p:nvPr/>
        </p:nvSpPr>
        <p:spPr>
          <a:xfrm>
            <a:off x="781201" y="3052474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4" name="Google Shape;2264;p166"/>
          <p:cNvSpPr/>
          <p:nvPr/>
        </p:nvSpPr>
        <p:spPr>
          <a:xfrm>
            <a:off x="1227799" y="3052474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5" name="Google Shape;2265;p166"/>
          <p:cNvSpPr/>
          <p:nvPr/>
        </p:nvSpPr>
        <p:spPr>
          <a:xfrm>
            <a:off x="1677809" y="3052474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6" name="Google Shape;2266;p166"/>
          <p:cNvSpPr/>
          <p:nvPr/>
        </p:nvSpPr>
        <p:spPr>
          <a:xfrm>
            <a:off x="2127818" y="3052474"/>
            <a:ext cx="444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7" name="Google Shape;2267;p166"/>
          <p:cNvSpPr/>
          <p:nvPr/>
        </p:nvSpPr>
        <p:spPr>
          <a:xfrm>
            <a:off x="1528025" y="2770422"/>
            <a:ext cx="747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8" name="Google Shape;2268;p166"/>
          <p:cNvSpPr/>
          <p:nvPr/>
        </p:nvSpPr>
        <p:spPr>
          <a:xfrm>
            <a:off x="2275024" y="2770422"/>
            <a:ext cx="8946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9" name="Google Shape;2269;p166"/>
          <p:cNvSpPr/>
          <p:nvPr/>
        </p:nvSpPr>
        <p:spPr>
          <a:xfrm>
            <a:off x="2361272" y="3777327"/>
            <a:ext cx="8085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0" name="Google Shape;2270;p166"/>
          <p:cNvSpPr/>
          <p:nvPr/>
        </p:nvSpPr>
        <p:spPr>
          <a:xfrm>
            <a:off x="781201" y="3777327"/>
            <a:ext cx="394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1" name="Google Shape;2271;p166"/>
          <p:cNvSpPr/>
          <p:nvPr/>
        </p:nvSpPr>
        <p:spPr>
          <a:xfrm>
            <a:off x="1589700" y="3495284"/>
            <a:ext cx="1579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2" name="Google Shape;2272;p166"/>
          <p:cNvSpPr/>
          <p:nvPr/>
        </p:nvSpPr>
        <p:spPr>
          <a:xfrm>
            <a:off x="1176292" y="3777327"/>
            <a:ext cx="394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3" name="Google Shape;2273;p166"/>
          <p:cNvSpPr/>
          <p:nvPr/>
        </p:nvSpPr>
        <p:spPr>
          <a:xfrm>
            <a:off x="1571384" y="3777327"/>
            <a:ext cx="394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4" name="Google Shape;2274;p166"/>
          <p:cNvSpPr/>
          <p:nvPr/>
        </p:nvSpPr>
        <p:spPr>
          <a:xfrm>
            <a:off x="1966475" y="3777327"/>
            <a:ext cx="394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5" name="Google Shape;2275;p166"/>
          <p:cNvSpPr/>
          <p:nvPr/>
        </p:nvSpPr>
        <p:spPr>
          <a:xfrm>
            <a:off x="781200" y="3495284"/>
            <a:ext cx="8085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6" name="Google Shape;2276;p166"/>
          <p:cNvSpPr/>
          <p:nvPr/>
        </p:nvSpPr>
        <p:spPr>
          <a:xfrm>
            <a:off x="2361272" y="4502177"/>
            <a:ext cx="8085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7" name="Google Shape;2277;p166"/>
          <p:cNvSpPr/>
          <p:nvPr/>
        </p:nvSpPr>
        <p:spPr>
          <a:xfrm>
            <a:off x="781201" y="4502177"/>
            <a:ext cx="394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8" name="Google Shape;2278;p166"/>
          <p:cNvSpPr/>
          <p:nvPr/>
        </p:nvSpPr>
        <p:spPr>
          <a:xfrm>
            <a:off x="1176292" y="4502177"/>
            <a:ext cx="394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9" name="Google Shape;2279;p166"/>
          <p:cNvSpPr/>
          <p:nvPr/>
        </p:nvSpPr>
        <p:spPr>
          <a:xfrm>
            <a:off x="1966475" y="4220127"/>
            <a:ext cx="3948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0" name="Google Shape;2280;p166"/>
          <p:cNvSpPr/>
          <p:nvPr/>
        </p:nvSpPr>
        <p:spPr>
          <a:xfrm>
            <a:off x="781200" y="4220125"/>
            <a:ext cx="11850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1" name="Google Shape;2281;p166"/>
          <p:cNvSpPr/>
          <p:nvPr/>
        </p:nvSpPr>
        <p:spPr>
          <a:xfrm>
            <a:off x="2361272" y="4220127"/>
            <a:ext cx="8085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2" name="Google Shape;2282;p166"/>
          <p:cNvSpPr/>
          <p:nvPr/>
        </p:nvSpPr>
        <p:spPr>
          <a:xfrm>
            <a:off x="1571400" y="4502175"/>
            <a:ext cx="786900" cy="2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3" name="Google Shape;2283;p166"/>
          <p:cNvSpPr txBox="1"/>
          <p:nvPr>
            <p:ph idx="4294967295" type="body"/>
          </p:nvPr>
        </p:nvSpPr>
        <p:spPr>
          <a:xfrm>
            <a:off x="4572000" y="3495275"/>
            <a:ext cx="36696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2284" name="Google Shape;2284;p166"/>
          <p:cNvSpPr txBox="1"/>
          <p:nvPr>
            <p:ph idx="4294967295" type="body"/>
          </p:nvPr>
        </p:nvSpPr>
        <p:spPr>
          <a:xfrm>
            <a:off x="4572000" y="2786675"/>
            <a:ext cx="36696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 =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5" name="Google Shape;2285;p166"/>
          <p:cNvSpPr txBox="1"/>
          <p:nvPr>
            <p:ph idx="4294967295" type="body"/>
          </p:nvPr>
        </p:nvSpPr>
        <p:spPr>
          <a:xfrm>
            <a:off x="4572000" y="2078088"/>
            <a:ext cx="36696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 </a:t>
            </a:r>
            <a:endParaRPr sz="1800"/>
          </a:p>
        </p:txBody>
      </p:sp>
      <p:sp>
        <p:nvSpPr>
          <p:cNvPr id="2286" name="Google Shape;2286;p166"/>
          <p:cNvSpPr txBox="1"/>
          <p:nvPr>
            <p:ph idx="4294967295" type="body"/>
          </p:nvPr>
        </p:nvSpPr>
        <p:spPr>
          <a:xfrm>
            <a:off x="4572000" y="1268413"/>
            <a:ext cx="36696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endParaRPr sz="1800"/>
          </a:p>
        </p:txBody>
      </p:sp>
      <p:sp>
        <p:nvSpPr>
          <p:cNvPr id="2287" name="Google Shape;2287;p166"/>
          <p:cNvSpPr txBox="1"/>
          <p:nvPr>
            <p:ph idx="4294967295" type="body"/>
          </p:nvPr>
        </p:nvSpPr>
        <p:spPr>
          <a:xfrm>
            <a:off x="4572000" y="4220125"/>
            <a:ext cx="36696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</a:t>
            </a:r>
            <a:endParaRPr sz="1800"/>
          </a:p>
        </p:txBody>
      </p:sp>
      <p:graphicFrame>
        <p:nvGraphicFramePr>
          <p:cNvPr id="2288" name="Google Shape;2288;p166"/>
          <p:cNvGraphicFramePr/>
          <p:nvPr/>
        </p:nvGraphicFramePr>
        <p:xfrm>
          <a:off x="287613" y="126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{38EF6676-5A03-4EF0-AD80-367B8B6233E1}</a:tableStyleId>
              </a:tblPr>
              <a:tblGrid>
                <a:gridCol w="460675"/>
              </a:tblGrid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289" name="Google Shape;2289;p166"/>
          <p:cNvCxnSpPr/>
          <p:nvPr/>
        </p:nvCxnSpPr>
        <p:spPr>
          <a:xfrm>
            <a:off x="3273300" y="1535975"/>
            <a:ext cx="1298700" cy="2177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0" name="Google Shape;2290;p166"/>
          <p:cNvCxnSpPr/>
          <p:nvPr/>
        </p:nvCxnSpPr>
        <p:spPr>
          <a:xfrm>
            <a:off x="3273300" y="2287175"/>
            <a:ext cx="1298700" cy="717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1" name="Google Shape;2291;p166"/>
          <p:cNvCxnSpPr/>
          <p:nvPr/>
        </p:nvCxnSpPr>
        <p:spPr>
          <a:xfrm flipH="1" rot="10800000">
            <a:off x="3369600" y="2261863"/>
            <a:ext cx="1062300" cy="746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2" name="Google Shape;2292;p166"/>
          <p:cNvCxnSpPr/>
          <p:nvPr/>
        </p:nvCxnSpPr>
        <p:spPr>
          <a:xfrm flipH="1" rot="10800000">
            <a:off x="3273300" y="1486213"/>
            <a:ext cx="1298700" cy="2312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3" name="Google Shape;2293;p166"/>
          <p:cNvCxnSpPr/>
          <p:nvPr/>
        </p:nvCxnSpPr>
        <p:spPr>
          <a:xfrm>
            <a:off x="3273300" y="4437925"/>
            <a:ext cx="10992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167"/>
          <p:cNvSpPr txBox="1"/>
          <p:nvPr>
            <p:ph idx="1" type="body"/>
          </p:nvPr>
        </p:nvSpPr>
        <p:spPr>
          <a:xfrm>
            <a:off x="324000" y="759300"/>
            <a:ext cx="8237700" cy="3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 Match the statements to the equations.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99" name="Google Shape;2299;p16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Expressing problems algebraically</a:t>
            </a:r>
            <a:endParaRPr/>
          </a:p>
        </p:txBody>
      </p:sp>
      <p:grpSp>
        <p:nvGrpSpPr>
          <p:cNvPr id="2300" name="Google Shape;2300;p167"/>
          <p:cNvGrpSpPr/>
          <p:nvPr/>
        </p:nvGrpSpPr>
        <p:grpSpPr>
          <a:xfrm>
            <a:off x="558825" y="1092625"/>
            <a:ext cx="3191777" cy="852000"/>
            <a:chOff x="324000" y="1473625"/>
            <a:chExt cx="3191777" cy="852000"/>
          </a:xfrm>
        </p:grpSpPr>
        <p:pic>
          <p:nvPicPr>
            <p:cNvPr id="2301" name="Google Shape;2301;p167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2" name="Google Shape;2302;p167"/>
            <p:cNvSpPr txBox="1"/>
            <p:nvPr/>
          </p:nvSpPr>
          <p:spPr>
            <a:xfrm>
              <a:off x="606974" y="1473625"/>
              <a:ext cx="29088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 number minus 2 then divided by 5 equals 20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03" name="Google Shape;2303;p167"/>
          <p:cNvGrpSpPr/>
          <p:nvPr/>
        </p:nvGrpSpPr>
        <p:grpSpPr>
          <a:xfrm flipH="1">
            <a:off x="1413175" y="1816800"/>
            <a:ext cx="3191777" cy="852000"/>
            <a:chOff x="324000" y="1473625"/>
            <a:chExt cx="3191777" cy="852000"/>
          </a:xfrm>
        </p:grpSpPr>
        <p:pic>
          <p:nvPicPr>
            <p:cNvPr id="2304" name="Google Shape;2304;p167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5" name="Google Shape;2305;p167"/>
            <p:cNvSpPr txBox="1"/>
            <p:nvPr/>
          </p:nvSpPr>
          <p:spPr>
            <a:xfrm>
              <a:off x="530774" y="1473625"/>
              <a:ext cx="29088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 number divided by 5 then minus 2 equals 20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06" name="Google Shape;2306;p167"/>
          <p:cNvGrpSpPr/>
          <p:nvPr/>
        </p:nvGrpSpPr>
        <p:grpSpPr>
          <a:xfrm>
            <a:off x="558825" y="2534788"/>
            <a:ext cx="3312863" cy="852000"/>
            <a:chOff x="324000" y="1477966"/>
            <a:chExt cx="3312863" cy="852000"/>
          </a:xfrm>
        </p:grpSpPr>
        <p:pic>
          <p:nvPicPr>
            <p:cNvPr id="2307" name="Google Shape;2307;p167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8" name="Google Shape;2308;p167"/>
            <p:cNvSpPr txBox="1"/>
            <p:nvPr/>
          </p:nvSpPr>
          <p:spPr>
            <a:xfrm>
              <a:off x="647663" y="1477966"/>
              <a:ext cx="29892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divided by 5 less than a number equals 20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09" name="Google Shape;2309;p167"/>
          <p:cNvGrpSpPr/>
          <p:nvPr/>
        </p:nvGrpSpPr>
        <p:grpSpPr>
          <a:xfrm flipH="1">
            <a:off x="1413175" y="3225388"/>
            <a:ext cx="3191777" cy="852000"/>
            <a:chOff x="324000" y="1473625"/>
            <a:chExt cx="3191777" cy="852000"/>
          </a:xfrm>
        </p:grpSpPr>
        <p:pic>
          <p:nvPicPr>
            <p:cNvPr id="2310" name="Google Shape;2310;p167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19177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1" name="Google Shape;2311;p167"/>
            <p:cNvSpPr txBox="1"/>
            <p:nvPr/>
          </p:nvSpPr>
          <p:spPr>
            <a:xfrm>
              <a:off x="543574" y="1473625"/>
              <a:ext cx="29088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divided by a number then minus 5 equals 20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12" name="Google Shape;2312;p167"/>
          <p:cNvGrpSpPr/>
          <p:nvPr/>
        </p:nvGrpSpPr>
        <p:grpSpPr>
          <a:xfrm>
            <a:off x="558825" y="3976941"/>
            <a:ext cx="3605827" cy="852000"/>
            <a:chOff x="324000" y="1473625"/>
            <a:chExt cx="3605827" cy="852000"/>
          </a:xfrm>
        </p:grpSpPr>
        <p:pic>
          <p:nvPicPr>
            <p:cNvPr id="2313" name="Google Shape;2313;p167"/>
            <p:cNvPicPr preferRelativeResize="0"/>
            <p:nvPr/>
          </p:nvPicPr>
          <p:blipFill rotWithShape="1">
            <a:blip r:embed="rId3">
              <a:alphaModFix/>
            </a:blip>
            <a:srcRect b="6172" l="40550" r="0" t="13240"/>
            <a:stretch/>
          </p:blipFill>
          <p:spPr>
            <a:xfrm>
              <a:off x="324000" y="1550100"/>
              <a:ext cx="3605827" cy="775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4" name="Google Shape;2314;p167"/>
            <p:cNvSpPr txBox="1"/>
            <p:nvPr/>
          </p:nvSpPr>
          <p:spPr>
            <a:xfrm>
              <a:off x="606975" y="1473625"/>
              <a:ext cx="3266400" cy="8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 number subtracted from 2 then divided by 5 equals 20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x-2}{5}=20&quot;&gt;&lt;mfrac&gt;&lt;mrow&gt;&lt;mi&gt;x&lt;/mi&gt;&lt;mo&gt;−&lt;/mo&gt;&lt;mn&gt;2&lt;/mn&gt;&lt;/mrow&gt;&lt;mn&gt;5&lt;/mn&gt;&lt;/mfrac&gt;&lt;mo&gt;=&lt;/mo&gt;&lt;mn&gt;20&lt;/mn&gt;&lt;/math&gt;" id="2315" name="Google Shape;2315;p167" title="the fraction with numerator x minus 2 and denominator 5 equals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6810" y="4192250"/>
            <a:ext cx="1148397" cy="512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x}{5}-2=20&quot;&gt;&lt;mfrac&gt;&lt;mi&gt;x&lt;/mi&gt;&lt;mn&gt;5&lt;/mn&gt;&lt;/mfrac&gt;&lt;mo&gt;−&lt;/mo&gt;&lt;mn&gt;2&lt;/mn&gt;&lt;mo&gt;=&lt;/mo&gt;&lt;mn&gt;20&lt;/mn&gt;&lt;/math&gt;" id="2316" name="Google Shape;2316;p167" title="x over 5 minus 2 equals 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0410" y="1130552"/>
            <a:ext cx="1121182" cy="447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x}-5=20&quot;&gt;&lt;mfrac&gt;&lt;mn&gt;2&lt;/mn&gt;&lt;mi&gt;x&lt;/mi&gt;&lt;/mfrac&gt;&lt;mo&gt;−&lt;/mo&gt;&lt;mn&gt;5&lt;/mn&gt;&lt;mo&gt;=&lt;/mo&gt;&lt;mn&gt;20&lt;/mn&gt;&lt;/math&gt;" id="2317" name="Google Shape;2317;p167" title="2 over x minus 5 equals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0435" y="2576901"/>
            <a:ext cx="1121181" cy="495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x-5}=20&quot;&gt;&lt;mfrac&gt;&lt;mn&gt;2&lt;/mn&gt;&lt;mrow&gt;&lt;mi&gt;x&lt;/mi&gt;&lt;mo&gt;−&lt;/mo&gt;&lt;mn&gt;5&lt;/mn&gt;&lt;/mrow&gt;&lt;/mfrac&gt;&lt;mo&gt;=&lt;/mo&gt;&lt;mn&gt;20&lt;/mn&gt;&lt;/math&gt;" id="2318" name="Google Shape;2318;p167" title="the fraction with numerator 2 and denominator x minus 5 equals 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70410" y="1823899"/>
            <a:ext cx="1121182" cy="5070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-x}{5}=20&quot;&gt;&lt;mfrac&gt;&lt;mrow&gt;&lt;mn&gt;2&lt;/mn&gt;&lt;mo&gt;−&lt;/mo&gt;&lt;mi&gt;x&lt;/mi&gt;&lt;/mrow&gt;&lt;mn&gt;5&lt;/mn&gt;&lt;/mfrac&gt;&lt;mo&gt;=&lt;/mo&gt;&lt;mn&gt;20&lt;/mn&gt;&lt;/math&gt;" id="2319" name="Google Shape;2319;p167" title="the fraction with numerator 2 minus x and denominator 5 equals 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00435" y="3395318"/>
            <a:ext cx="1148390" cy="5121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20" name="Google Shape;2320;p167"/>
          <p:cNvGraphicFramePr/>
          <p:nvPr/>
        </p:nvGraphicFramePr>
        <p:xfrm>
          <a:off x="274675" y="12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{38EF6676-5A03-4EF0-AD80-367B8B6233E1}</a:tableStyleId>
              </a:tblPr>
              <a:tblGrid>
                <a:gridCol w="460675"/>
              </a:tblGrid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321" name="Google Shape;2321;p167"/>
          <p:cNvCxnSpPr>
            <a:endCxn id="2315" idx="1"/>
          </p:cNvCxnSpPr>
          <p:nvPr/>
        </p:nvCxnSpPr>
        <p:spPr>
          <a:xfrm>
            <a:off x="4572010" y="1451318"/>
            <a:ext cx="1684800" cy="2997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2" name="Google Shape;2322;p167"/>
          <p:cNvCxnSpPr>
            <a:endCxn id="2316" idx="1"/>
          </p:cNvCxnSpPr>
          <p:nvPr/>
        </p:nvCxnSpPr>
        <p:spPr>
          <a:xfrm flipH="1" rot="10800000">
            <a:off x="4604810" y="1354256"/>
            <a:ext cx="1665600" cy="909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3" name="Google Shape;2323;p167"/>
          <p:cNvCxnSpPr/>
          <p:nvPr/>
        </p:nvCxnSpPr>
        <p:spPr>
          <a:xfrm flipH="1" rot="10800000">
            <a:off x="4581610" y="2084406"/>
            <a:ext cx="1665600" cy="909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4" name="Google Shape;2324;p167"/>
          <p:cNvCxnSpPr/>
          <p:nvPr/>
        </p:nvCxnSpPr>
        <p:spPr>
          <a:xfrm flipH="1" rot="10800000">
            <a:off x="4534835" y="2870106"/>
            <a:ext cx="1665600" cy="909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5" name="Google Shape;2325;p167"/>
          <p:cNvCxnSpPr/>
          <p:nvPr/>
        </p:nvCxnSpPr>
        <p:spPr>
          <a:xfrm flipH="1" rot="10800000">
            <a:off x="4581610" y="3538431"/>
            <a:ext cx="1665600" cy="909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168"/>
          <p:cNvSpPr txBox="1"/>
          <p:nvPr>
            <p:ph idx="1" type="body"/>
          </p:nvPr>
        </p:nvSpPr>
        <p:spPr>
          <a:xfrm>
            <a:off x="324000" y="971550"/>
            <a:ext cx="8496000" cy="34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With enough information, we can find missing numbers in context.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We can solve missing number problems by using diagrams or equations.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Missing number problems and real life situations can be expressed using algebra.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If a problem or equation has two unknowns, possible pairs of numbers can be found that make the statement true.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331" name="Google Shape;2331;p16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algebraic notation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16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337" name="Google Shape;2337;p1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