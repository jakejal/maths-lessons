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2FFB06-A33A-4829-9973-F5BE9454A2B4}">
  <a:tblStyle styleId="{CA2FFB06-A33A-4829-9973-F5BE9454A2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61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Missing number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3450" y="1669825"/>
            <a:ext cx="61656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each problem, you could use a diagram to help you.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05000" y="1980225"/>
            <a:ext cx="30462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recipe for fruit cake requires the same amount of currants and sultanas but twice as 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raisins.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Altogether you need 420 g of dried fruit.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of each fruit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924300" y="4971600"/>
            <a:ext cx="315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The length of a rectangular cupboard is 1 m longer than its width.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the cupboard floor is      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is its area?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Leave your answer as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9900" y="4971600"/>
            <a:ext cx="315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A rectangle is drawn where its length is double its width.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its perimeter is 24 cm, what is the area of the rectangle?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991025" y="1937450"/>
            <a:ext cx="30846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Jacob was 6 years old when his puppy was born.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age would he be exactly double his puppy’s 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age would he be exactly three times his puppy’s 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3672300" y="1918400"/>
            <a:ext cx="0" cy="804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0"/>
          <p:cNvSpPr txBox="1"/>
          <p:nvPr/>
        </p:nvSpPr>
        <p:spPr>
          <a:xfrm>
            <a:off x="3780000" y="7584525"/>
            <a:ext cx="3312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Sam has written the equation                  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26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00426" y="7584525"/>
            <a:ext cx="2919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Sour sweets cost 30 p and toffees cost 25 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has £1.70 and wants to spend all her money with no change left over.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can she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583526" y="8863111"/>
            <a:ext cx="710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944" y="8353294"/>
            <a:ext cx="302449" cy="46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990825" y="8073650"/>
            <a:ext cx="3084600" cy="865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4203675" y="8132000"/>
            <a:ext cx="2919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 are two answers to this problem.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or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403475" y="9002648"/>
            <a:ext cx="252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Sam is incorrect.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74757" y="9981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</a:t>
            </a:r>
            <a:r>
              <a:rPr lang="en-GB"/>
              <a:t>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440025" y="1268625"/>
            <a:ext cx="66519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bar model to the equation.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994707" y="1605562"/>
            <a:ext cx="1745350" cy="411307"/>
            <a:chOff x="968901" y="5307600"/>
            <a:chExt cx="2388600" cy="564052"/>
          </a:xfrm>
        </p:grpSpPr>
        <p:sp>
          <p:nvSpPr>
            <p:cNvPr id="187" name="Google Shape;187;p21"/>
            <p:cNvSpPr/>
            <p:nvPr/>
          </p:nvSpPr>
          <p:spPr>
            <a:xfrm>
              <a:off x="2765527" y="5589652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968901" y="5307600"/>
              <a:ext cx="2388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968901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1415499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1865508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2315518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3" name="Google Shape;193;p21"/>
          <p:cNvGrpSpPr/>
          <p:nvPr/>
        </p:nvGrpSpPr>
        <p:grpSpPr>
          <a:xfrm>
            <a:off x="994707" y="2246496"/>
            <a:ext cx="1745350" cy="411307"/>
            <a:chOff x="968901" y="6009488"/>
            <a:chExt cx="2388600" cy="564052"/>
          </a:xfrm>
        </p:grpSpPr>
        <p:sp>
          <p:nvSpPr>
            <p:cNvPr id="194" name="Google Shape;194;p21"/>
            <p:cNvSpPr/>
            <p:nvPr/>
          </p:nvSpPr>
          <p:spPr>
            <a:xfrm>
              <a:off x="2765527" y="6291540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968901" y="6009488"/>
              <a:ext cx="2388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968901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415499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1865508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2315518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>
            <a:off x="968913" y="2903068"/>
            <a:ext cx="1745314" cy="411307"/>
            <a:chOff x="933601" y="6732822"/>
            <a:chExt cx="2388551" cy="564052"/>
          </a:xfrm>
        </p:grpSpPr>
        <p:sp>
          <p:nvSpPr>
            <p:cNvPr id="201" name="Google Shape;201;p21"/>
            <p:cNvSpPr/>
            <p:nvPr/>
          </p:nvSpPr>
          <p:spPr>
            <a:xfrm>
              <a:off x="2730252" y="7014874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933601" y="6732822"/>
              <a:ext cx="747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933601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1380199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1830209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2280218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1680425" y="6732822"/>
              <a:ext cx="747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2427424" y="6732822"/>
              <a:ext cx="894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09" name="Google Shape;209;p21"/>
          <p:cNvGrpSpPr/>
          <p:nvPr/>
        </p:nvGrpSpPr>
        <p:grpSpPr>
          <a:xfrm>
            <a:off x="968912" y="3560755"/>
            <a:ext cx="1745330" cy="411301"/>
            <a:chOff x="933600" y="7457684"/>
            <a:chExt cx="2388572" cy="564044"/>
          </a:xfrm>
        </p:grpSpPr>
        <p:sp>
          <p:nvSpPr>
            <p:cNvPr id="210" name="Google Shape;210;p21"/>
            <p:cNvSpPr/>
            <p:nvPr/>
          </p:nvSpPr>
          <p:spPr>
            <a:xfrm>
              <a:off x="2513672" y="773972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933601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1742100" y="7457684"/>
              <a:ext cx="1579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1328692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723784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118875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933600" y="7457684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17" name="Google Shape;217;p21"/>
          <p:cNvGrpSpPr/>
          <p:nvPr/>
        </p:nvGrpSpPr>
        <p:grpSpPr>
          <a:xfrm>
            <a:off x="968912" y="4218426"/>
            <a:ext cx="1745330" cy="411307"/>
            <a:chOff x="933600" y="8182525"/>
            <a:chExt cx="2388572" cy="564052"/>
          </a:xfrm>
        </p:grpSpPr>
        <p:sp>
          <p:nvSpPr>
            <p:cNvPr id="218" name="Google Shape;218;p21"/>
            <p:cNvSpPr/>
            <p:nvPr/>
          </p:nvSpPr>
          <p:spPr>
            <a:xfrm>
              <a:off x="2513672" y="846457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933601" y="846457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328692" y="846457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118875" y="81825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933600" y="8182525"/>
              <a:ext cx="1185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513672" y="818252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1723800" y="8464575"/>
              <a:ext cx="786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5" name="Google Shape;225;p21"/>
          <p:cNvSpPr txBox="1"/>
          <p:nvPr/>
        </p:nvSpPr>
        <p:spPr>
          <a:xfrm>
            <a:off x="4724400" y="3566897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24400" y="2918215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24400" y="2269532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724400" y="1620850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24400" y="4215579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" name="Google Shape;230;p21"/>
          <p:cNvGraphicFramePr/>
          <p:nvPr/>
        </p:nvGraphicFramePr>
        <p:xfrm>
          <a:off x="508213" y="161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{CA2FFB06-A33A-4829-9973-F5BE9454A2B4}</a:tableStyleId>
              </a:tblPr>
              <a:tblGrid>
                <a:gridCol w="460675"/>
              </a:tblGrid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1"/>
          <p:cNvSpPr txBox="1"/>
          <p:nvPr/>
        </p:nvSpPr>
        <p:spPr>
          <a:xfrm>
            <a:off x="468000" y="90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Expressing problems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99575" y="4963125"/>
            <a:ext cx="653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the statements to the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806425" y="5397650"/>
            <a:ext cx="3090279" cy="611651"/>
            <a:chOff x="324000" y="1473625"/>
            <a:chExt cx="3191777" cy="852000"/>
          </a:xfrm>
        </p:grpSpPr>
        <p:pic>
          <p:nvPicPr>
            <p:cNvPr id="234" name="Google Shape;234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1"/>
            <p:cNvSpPr txBox="1"/>
            <p:nvPr/>
          </p:nvSpPr>
          <p:spPr>
            <a:xfrm>
              <a:off x="6069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minus 2 then divided by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 flipH="1">
            <a:off x="1481721" y="6110365"/>
            <a:ext cx="3090279" cy="611651"/>
            <a:chOff x="324000" y="1473625"/>
            <a:chExt cx="3191777" cy="852000"/>
          </a:xfrm>
        </p:grpSpPr>
        <p:pic>
          <p:nvPicPr>
            <p:cNvPr id="237" name="Google Shape;237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1"/>
            <p:cNvSpPr txBox="1"/>
            <p:nvPr/>
          </p:nvSpPr>
          <p:spPr>
            <a:xfrm>
              <a:off x="5307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divided by 5 then minus 2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806425" y="6823080"/>
            <a:ext cx="3207513" cy="611651"/>
            <a:chOff x="324000" y="1477966"/>
            <a:chExt cx="3312863" cy="852000"/>
          </a:xfrm>
        </p:grpSpPr>
        <p:pic>
          <p:nvPicPr>
            <p:cNvPr id="240" name="Google Shape;240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1"/>
            <p:cNvSpPr txBox="1"/>
            <p:nvPr/>
          </p:nvSpPr>
          <p:spPr>
            <a:xfrm>
              <a:off x="647663" y="1477966"/>
              <a:ext cx="29892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divided by 5 less than a number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 flipH="1">
            <a:off x="1481721" y="7535795"/>
            <a:ext cx="3090279" cy="611651"/>
            <a:chOff x="324000" y="1473625"/>
            <a:chExt cx="3191777" cy="852000"/>
          </a:xfrm>
        </p:grpSpPr>
        <p:pic>
          <p:nvPicPr>
            <p:cNvPr id="243" name="Google Shape;243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1"/>
            <p:cNvSpPr txBox="1"/>
            <p:nvPr/>
          </p:nvSpPr>
          <p:spPr>
            <a:xfrm>
              <a:off x="5435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divided by a number then minus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5" name="Google Shape;245;p21"/>
          <p:cNvGrpSpPr/>
          <p:nvPr/>
        </p:nvGrpSpPr>
        <p:grpSpPr>
          <a:xfrm>
            <a:off x="806425" y="8400910"/>
            <a:ext cx="3491161" cy="611651"/>
            <a:chOff x="324000" y="1473625"/>
            <a:chExt cx="3605827" cy="852000"/>
          </a:xfrm>
        </p:grpSpPr>
        <p:pic>
          <p:nvPicPr>
            <p:cNvPr id="246" name="Google Shape;246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60582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1"/>
            <p:cNvSpPr txBox="1"/>
            <p:nvPr/>
          </p:nvSpPr>
          <p:spPr>
            <a:xfrm>
              <a:off x="606975" y="1473625"/>
              <a:ext cx="32664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subtracted from 2 then divided by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x-2}{5}=20&quot;&gt;&lt;mfrac&gt;&lt;mrow&gt;&lt;mi&gt;x&lt;/mi&gt;&lt;mo&gt;−&lt;/mo&gt;&lt;mn&gt;2&lt;/mn&gt;&lt;/mrow&gt;&lt;mn&gt;5&lt;/mn&gt;&lt;/mfrac&gt;&lt;mo&gt;=&lt;/mo&gt;&lt;mn&gt;20&lt;/mn&gt;&lt;/math&gt;" id="248" name="Google Shape;248;p21" title="the fraction with numerator x minus 2 and denominator 5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900" y="8591536"/>
            <a:ext cx="841639" cy="375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5}-2=20&quot;&gt;&lt;mfrac&gt;&lt;mi&gt;x&lt;/mi&gt;&lt;mn&gt;5&lt;/mn&gt;&lt;/mfrac&gt;&lt;mo&gt;−&lt;/mo&gt;&lt;mn&gt;2&lt;/mn&gt;&lt;mo&gt;=&lt;/mo&gt;&lt;mn&gt;20&lt;/mn&gt;&lt;/math&gt;" id="249" name="Google Shape;249;p21" title="x over 5 minus 2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2900" y="5366075"/>
            <a:ext cx="821695" cy="32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}-5=20&quot;&gt;&lt;mfrac&gt;&lt;mn&gt;2&lt;/mn&gt;&lt;mi&gt;x&lt;/mi&gt;&lt;/mfrac&gt;&lt;mo&gt;−&lt;/mo&gt;&lt;mn&gt;5&lt;/mn&gt;&lt;mo&gt;=&lt;/mo&gt;&lt;mn&gt;20&lt;/mn&gt;&lt;/math&gt;" id="250" name="Google Shape;250;p21" title="2 over x minus 5 equals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2900" y="6882983"/>
            <a:ext cx="821694" cy="363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-5}=20&quot;&gt;&lt;mfrac&gt;&lt;mn&gt;2&lt;/mn&gt;&lt;mrow&gt;&lt;mi&gt;x&lt;/mi&gt;&lt;mo&gt;−&lt;/mo&gt;&lt;mn&gt;5&lt;/mn&gt;&lt;/mrow&gt;&lt;/mfrac&gt;&lt;mo&gt;=&lt;/mo&gt;&lt;mn&gt;20&lt;/mn&gt;&lt;/math&gt;" id="251" name="Google Shape;251;p21" title="the fraction with numerator 2 and denominator x minus 5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2900" y="6102669"/>
            <a:ext cx="821695" cy="371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-x}{5}=20&quot;&gt;&lt;mfrac&gt;&lt;mrow&gt;&lt;mn&gt;2&lt;/mn&gt;&lt;mo&gt;−&lt;/mo&gt;&lt;mi&gt;x&lt;/mi&gt;&lt;/mrow&gt;&lt;mn&gt;5&lt;/mn&gt;&lt;/mfrac&gt;&lt;mo&gt;=&lt;/mo&gt;&lt;mn&gt;20&lt;/mn&gt;&lt;/math&gt;" id="252" name="Google Shape;252;p21" title="the fraction with numerator 2 minus x and denominator 5 equals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2900" y="7655100"/>
            <a:ext cx="841634" cy="3753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21"/>
          <p:cNvGraphicFramePr/>
          <p:nvPr/>
        </p:nvGraphicFramePr>
        <p:xfrm>
          <a:off x="440025" y="549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{CA2FFB06-A33A-4829-9973-F5BE9454A2B4}</a:tableStyleId>
              </a:tblPr>
              <a:tblGrid>
                <a:gridCol w="460675"/>
              </a:tblGrid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4" name="Google Shape;254;p21"/>
          <p:cNvCxnSpPr/>
          <p:nvPr/>
        </p:nvCxnSpPr>
        <p:spPr>
          <a:xfrm>
            <a:off x="460732" y="92004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