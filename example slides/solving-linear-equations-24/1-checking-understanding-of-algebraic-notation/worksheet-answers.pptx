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4A5694-EEEB-4C64-96BA-6E6D25FB1B2C}">
  <a:tblStyle styleId="{154A5694-EEEB-4C64-96BA-6E6D25FB1B2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algebraic notation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61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Missing number problems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3450" y="1669825"/>
            <a:ext cx="61656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Solve each problem, you could use a diagram to help you.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05000" y="1980225"/>
            <a:ext cx="3046200" cy="13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recipe for fruit cake requires the same amount of currants and sultanas but twice as 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raisins.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Altogether you need 420 g of dried fruit.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of each fruit do you need?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715832" y="3622307"/>
            <a:ext cx="80400" cy="296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390499" y="3622307"/>
            <a:ext cx="80400" cy="296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" name="Google Shape;178;p20"/>
          <p:cNvGrpSpPr/>
          <p:nvPr/>
        </p:nvGrpSpPr>
        <p:grpSpPr>
          <a:xfrm>
            <a:off x="2021476" y="3326476"/>
            <a:ext cx="80113" cy="592087"/>
            <a:chOff x="8324100" y="1443750"/>
            <a:chExt cx="142500" cy="1128000"/>
          </a:xfrm>
        </p:grpSpPr>
        <p:sp>
          <p:nvSpPr>
            <p:cNvPr id="179" name="Google Shape;179;p20"/>
            <p:cNvSpPr/>
            <p:nvPr/>
          </p:nvSpPr>
          <p:spPr>
            <a:xfrm>
              <a:off x="8324100" y="2007750"/>
              <a:ext cx="142500" cy="5640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8324100" y="1443750"/>
              <a:ext cx="142500" cy="5640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1" name="Google Shape;181;p20"/>
          <p:cNvSpPr txBox="1"/>
          <p:nvPr/>
        </p:nvSpPr>
        <p:spPr>
          <a:xfrm>
            <a:off x="468000" y="3954764"/>
            <a:ext cx="6249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currants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148600" y="3954764"/>
            <a:ext cx="6249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sultanas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905400" y="3954764"/>
            <a:ext cx="6249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raisins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38375" y="3226835"/>
            <a:ext cx="1671300" cy="713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30104" y="3294717"/>
            <a:ext cx="58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420 g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04997" y="4243414"/>
            <a:ext cx="1546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420 ÷ 4 = 105 g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7997" y="4534421"/>
            <a:ext cx="1546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= 105 g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502997" y="4534421"/>
            <a:ext cx="1546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 = 105 g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537997" y="4534421"/>
            <a:ext cx="1546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 = 210 g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924300" y="5200200"/>
            <a:ext cx="315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 of a rectangular cupboard is 1 m longer than its width.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perimeter of the cupboard floor is      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;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what is its area?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Leave your answer as a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79900" y="5200200"/>
            <a:ext cx="3151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rectangle is drawn where its length is double its width.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its perimeter is 24 cm, what is the area of the rectangle?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0"/>
          <p:cNvCxnSpPr/>
          <p:nvPr/>
        </p:nvCxnSpPr>
        <p:spPr>
          <a:xfrm>
            <a:off x="895778" y="6375455"/>
            <a:ext cx="331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0"/>
          <p:cNvCxnSpPr/>
          <p:nvPr/>
        </p:nvCxnSpPr>
        <p:spPr>
          <a:xfrm>
            <a:off x="1246013" y="6375455"/>
            <a:ext cx="331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0"/>
          <p:cNvCxnSpPr/>
          <p:nvPr/>
        </p:nvCxnSpPr>
        <p:spPr>
          <a:xfrm>
            <a:off x="895778" y="6714075"/>
            <a:ext cx="331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0"/>
          <p:cNvCxnSpPr/>
          <p:nvPr/>
        </p:nvCxnSpPr>
        <p:spPr>
          <a:xfrm>
            <a:off x="1246013" y="6714075"/>
            <a:ext cx="331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0"/>
          <p:cNvCxnSpPr/>
          <p:nvPr/>
        </p:nvCxnSpPr>
        <p:spPr>
          <a:xfrm rot="5400000">
            <a:off x="720727" y="6540755"/>
            <a:ext cx="330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0"/>
          <p:cNvCxnSpPr/>
          <p:nvPr/>
        </p:nvCxnSpPr>
        <p:spPr>
          <a:xfrm rot="5400000">
            <a:off x="1416028" y="6540755"/>
            <a:ext cx="330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0"/>
          <p:cNvSpPr/>
          <p:nvPr/>
        </p:nvSpPr>
        <p:spPr>
          <a:xfrm>
            <a:off x="1017388" y="6146251"/>
            <a:ext cx="97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1331449" y="6146251"/>
            <a:ext cx="97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707388" y="6405227"/>
            <a:ext cx="97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1643480" y="6405227"/>
            <a:ext cx="97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331449" y="6715998"/>
            <a:ext cx="97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1019418" y="6715998"/>
            <a:ext cx="97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889555" y="6246109"/>
            <a:ext cx="15519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 ÷ 6 = 4 cm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889555" y="6547614"/>
            <a:ext cx="15519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8 = 32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6" name="Google Shape;206;p20"/>
          <p:cNvCxnSpPr/>
          <p:nvPr/>
        </p:nvCxnSpPr>
        <p:spPr>
          <a:xfrm>
            <a:off x="6241117" y="6571594"/>
            <a:ext cx="195300" cy="1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0"/>
          <p:cNvCxnSpPr/>
          <p:nvPr/>
        </p:nvCxnSpPr>
        <p:spPr>
          <a:xfrm>
            <a:off x="5847810" y="6570449"/>
            <a:ext cx="337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0"/>
          <p:cNvCxnSpPr/>
          <p:nvPr/>
        </p:nvCxnSpPr>
        <p:spPr>
          <a:xfrm rot="5400000">
            <a:off x="5643920" y="6756599"/>
            <a:ext cx="337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20"/>
          <p:cNvCxnSpPr/>
          <p:nvPr/>
        </p:nvCxnSpPr>
        <p:spPr>
          <a:xfrm rot="5400000">
            <a:off x="6297018" y="6756599"/>
            <a:ext cx="337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0"/>
          <p:cNvCxnSpPr/>
          <p:nvPr/>
        </p:nvCxnSpPr>
        <p:spPr>
          <a:xfrm>
            <a:off x="6241117" y="6941586"/>
            <a:ext cx="195300" cy="1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0"/>
          <p:cNvCxnSpPr/>
          <p:nvPr/>
        </p:nvCxnSpPr>
        <p:spPr>
          <a:xfrm>
            <a:off x="5847810" y="6940441"/>
            <a:ext cx="337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0"/>
          <p:cNvSpPr/>
          <p:nvPr/>
        </p:nvSpPr>
        <p:spPr>
          <a:xfrm>
            <a:off x="5967041" y="6354100"/>
            <a:ext cx="98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649900" y="6618380"/>
            <a:ext cx="98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967041" y="6935516"/>
            <a:ext cx="98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6495610" y="6618380"/>
            <a:ext cx="98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?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6290607" y="6360768"/>
            <a:ext cx="98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6290607" y="6942184"/>
            <a:ext cx="987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3991025" y="1937450"/>
            <a:ext cx="30846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was 6 years old when his puppy was born.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At what age would he be exactly double his puppy’s age?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At what age would he be exactly three times his puppy’s age?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4086250" y="3546243"/>
            <a:ext cx="83700" cy="3312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0"/>
          <p:cNvGrpSpPr/>
          <p:nvPr/>
        </p:nvGrpSpPr>
        <p:grpSpPr>
          <a:xfrm>
            <a:off x="4685986" y="3340926"/>
            <a:ext cx="83662" cy="555514"/>
            <a:chOff x="6714000" y="1625550"/>
            <a:chExt cx="142500" cy="946200"/>
          </a:xfrm>
        </p:grpSpPr>
        <p:sp>
          <p:nvSpPr>
            <p:cNvPr id="221" name="Google Shape;221;p20"/>
            <p:cNvSpPr/>
            <p:nvPr/>
          </p:nvSpPr>
          <p:spPr>
            <a:xfrm>
              <a:off x="6714000" y="2007750"/>
              <a:ext cx="142500" cy="5640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6714000" y="1625550"/>
              <a:ext cx="142500" cy="382200"/>
            </a:xfrm>
            <a:prstGeom prst="rect">
              <a:avLst/>
            </a:prstGeom>
            <a:solidFill>
              <a:srgbClr val="D9D9D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3" name="Google Shape;223;p20"/>
          <p:cNvSpPr txBox="1"/>
          <p:nvPr/>
        </p:nvSpPr>
        <p:spPr>
          <a:xfrm>
            <a:off x="3958248" y="3877349"/>
            <a:ext cx="6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puppy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549708" y="3905924"/>
            <a:ext cx="6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Jacob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5941450" y="3513885"/>
            <a:ext cx="90000" cy="2781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941450" y="3236052"/>
            <a:ext cx="90000" cy="2781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6120348" y="3236053"/>
            <a:ext cx="90000" cy="2781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6120348" y="3513885"/>
            <a:ext cx="90000" cy="2781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5148000" y="3901600"/>
            <a:ext cx="19482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Jacob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would be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double the puppy’s age when he is 12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3958245" y="4740787"/>
            <a:ext cx="90000" cy="2781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3958245" y="4462953"/>
            <a:ext cx="90000" cy="2781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3958245" y="4185074"/>
            <a:ext cx="90000" cy="2781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071458" y="4185067"/>
            <a:ext cx="90000" cy="555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4071458" y="4740795"/>
            <a:ext cx="90000" cy="2781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4311522" y="4591650"/>
            <a:ext cx="2763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Jacob would be three times the puppy’s age when he is 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6" name="Google Shape;236;p20"/>
          <p:cNvCxnSpPr/>
          <p:nvPr/>
        </p:nvCxnSpPr>
        <p:spPr>
          <a:xfrm>
            <a:off x="3672300" y="1918400"/>
            <a:ext cx="0" cy="8044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20"/>
          <p:cNvSpPr txBox="1"/>
          <p:nvPr/>
        </p:nvSpPr>
        <p:spPr>
          <a:xfrm>
            <a:off x="3977400" y="6449500"/>
            <a:ext cx="2038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÷ 4 = </a:t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4}&quot;&gt;&lt;mfrac&gt;&lt;mn&gt;7&lt;/mn&gt;&lt;mn&gt;4&lt;/mn&gt;&lt;/mfrac&gt;&lt;/math&gt;" id="238" name="Google Shape;238;p20" title="seven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4847" y="6383438"/>
            <a:ext cx="106252" cy="335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}+\ 1\ =\frac{11}{4}&quot;&gt;&lt;mfrac&gt;&lt;mn&gt;7&lt;/mn&gt;&lt;mn&gt;4&lt;/mn&gt;&lt;/mfrac&gt;&lt;mo&gt;+&lt;/mo&gt;&lt;mtext&gt;&lt;/mtext&gt;&lt;mn&gt;1&lt;/mn&gt;&lt;mtext&gt;&lt;/mtext&gt;&lt;mo&gt;=&lt;/mo&gt;&lt;mfrac&gt;&lt;mn&gt;11&lt;/mn&gt;&lt;mn&gt;4&lt;/mn&gt;&lt;/mfrac&gt;&lt;/math&gt;" id="239" name="Google Shape;239;p20" title="seven fourths plus 1 equals eleven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7400" y="6815752"/>
            <a:ext cx="872875" cy="3348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}\times\frac{11}{4}=\frac{77}{16}\ \text{m}^2\ =4\ \frac{13}{16}\ \text{m}^2&quot;&gt;&lt;mfrac&gt;&lt;mn&gt;7&lt;/mn&gt;&lt;mn&gt;4&lt;/mn&gt;&lt;/mfrac&gt;&lt;mo&gt;×&lt;/mo&gt;&lt;mfrac&gt;&lt;mn&gt;11&lt;/mn&gt;&lt;mn&gt;4&lt;/mn&gt;&lt;/mfrac&gt;&lt;mo&gt;=&lt;/mo&gt;&lt;mfrac&gt;&lt;mn&gt;77&lt;/mn&gt;&lt;mn&gt;16&lt;/mn&gt;&lt;/mfrac&gt;&lt;mtext&gt;&lt;/mtext&gt;&lt;msup&gt;&lt;mtext&gt;m&lt;/mtext&gt;&lt;mn&gt;2&lt;/mn&gt;&lt;/msup&gt;&lt;mtext&gt;&lt;/mtext&gt;&lt;mo&gt;=&lt;/mo&gt;&lt;mn&gt;4&lt;/mn&gt;&lt;mtext&gt;&lt;/mtext&gt;&lt;mfrac&gt;&lt;mn&gt;13&lt;/mn&gt;&lt;mn&gt;16&lt;/mn&gt;&lt;/mfrac&gt;&lt;mtext&gt;&lt;/mtext&gt;&lt;msup&gt;&lt;mtext&gt;m&lt;/mtext&gt;&lt;mn&gt;2&lt;/mn&gt;&lt;/msup&gt;&lt;/math&gt;" id="240" name="Google Shape;240;p20" title="seven fourths times eleven fourths equals 77 over 16 m to the second power equals 4 13 over 16 m to the second powe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7402" y="7246993"/>
            <a:ext cx="1947601" cy="32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0"/>
          <p:cNvSpPr txBox="1"/>
          <p:nvPr/>
        </p:nvSpPr>
        <p:spPr>
          <a:xfrm>
            <a:off x="3780000" y="7813125"/>
            <a:ext cx="3312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Sam has written the equation                  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26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500426" y="7813125"/>
            <a:ext cx="29196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Sour sweets cost 30 p and toffees cost 25 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has £1.70 and wants to spend all her money with no change left over.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of each can she buy?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3583526" y="9091711"/>
            <a:ext cx="7101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4" name="Google Shape;24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62944" y="8581894"/>
            <a:ext cx="302449" cy="46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/>
          <p:cNvPicPr preferRelativeResize="0"/>
          <p:nvPr/>
        </p:nvPicPr>
        <p:blipFill rotWithShape="1">
          <a:blip r:embed="rId7">
            <a:alphaModFix/>
          </a:blip>
          <a:srcRect b="43690" l="0" r="57905" t="0"/>
          <a:stretch/>
        </p:blipFill>
        <p:spPr>
          <a:xfrm flipH="1">
            <a:off x="3990825" y="8302250"/>
            <a:ext cx="3084600" cy="86564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0"/>
          <p:cNvSpPr/>
          <p:nvPr/>
        </p:nvSpPr>
        <p:spPr>
          <a:xfrm>
            <a:off x="4203675" y="8360600"/>
            <a:ext cx="2919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There are two answers to this problem.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6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or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4905350" y="9075873"/>
            <a:ext cx="25200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Sam is incorrect.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468000" y="9315913"/>
            <a:ext cx="30831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sour sweets and 2 toffees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3780000" y="9327896"/>
            <a:ext cx="3312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Without context,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i="1"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could be negative numbers or decimals so there are an infinite number of answers.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0" name="Google Shape;250;p20"/>
          <p:cNvCxnSpPr/>
          <p:nvPr/>
        </p:nvCxnSpPr>
        <p:spPr>
          <a:xfrm>
            <a:off x="474757" y="99815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6" name="Google Shape;256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</a:t>
            </a:r>
            <a:r>
              <a:rPr lang="en-GB"/>
              <a:t>understanding</a:t>
            </a:r>
            <a:r>
              <a:rPr lang="en-GB"/>
              <a:t> of algebraic notation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440025" y="1268625"/>
            <a:ext cx="66519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bar model to the equation.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0" name="Google Shape;260;p21"/>
          <p:cNvGrpSpPr/>
          <p:nvPr/>
        </p:nvGrpSpPr>
        <p:grpSpPr>
          <a:xfrm>
            <a:off x="994707" y="1605562"/>
            <a:ext cx="1745350" cy="411307"/>
            <a:chOff x="968901" y="5307600"/>
            <a:chExt cx="2388600" cy="564052"/>
          </a:xfrm>
        </p:grpSpPr>
        <p:sp>
          <p:nvSpPr>
            <p:cNvPr id="261" name="Google Shape;261;p21"/>
            <p:cNvSpPr/>
            <p:nvPr/>
          </p:nvSpPr>
          <p:spPr>
            <a:xfrm>
              <a:off x="2765527" y="5589652"/>
              <a:ext cx="5919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968901" y="5307600"/>
              <a:ext cx="23886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968901" y="5589652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1415499" y="5589652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1865508" y="5589652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2315518" y="5589652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67" name="Google Shape;267;p21"/>
          <p:cNvGrpSpPr/>
          <p:nvPr/>
        </p:nvGrpSpPr>
        <p:grpSpPr>
          <a:xfrm>
            <a:off x="994707" y="2246496"/>
            <a:ext cx="1745350" cy="411307"/>
            <a:chOff x="968901" y="6009488"/>
            <a:chExt cx="2388600" cy="564052"/>
          </a:xfrm>
        </p:grpSpPr>
        <p:sp>
          <p:nvSpPr>
            <p:cNvPr id="268" name="Google Shape;268;p21"/>
            <p:cNvSpPr/>
            <p:nvPr/>
          </p:nvSpPr>
          <p:spPr>
            <a:xfrm>
              <a:off x="2765527" y="6291540"/>
              <a:ext cx="5919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968901" y="6009488"/>
              <a:ext cx="23886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968901" y="6291540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1415499" y="6291540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1865508" y="6291540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2315518" y="6291540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74" name="Google Shape;274;p21"/>
          <p:cNvGrpSpPr/>
          <p:nvPr/>
        </p:nvGrpSpPr>
        <p:grpSpPr>
          <a:xfrm>
            <a:off x="968913" y="2903068"/>
            <a:ext cx="1745314" cy="411307"/>
            <a:chOff x="933601" y="6732822"/>
            <a:chExt cx="2388551" cy="564052"/>
          </a:xfrm>
        </p:grpSpPr>
        <p:sp>
          <p:nvSpPr>
            <p:cNvPr id="275" name="Google Shape;275;p21"/>
            <p:cNvSpPr/>
            <p:nvPr/>
          </p:nvSpPr>
          <p:spPr>
            <a:xfrm>
              <a:off x="2730252" y="7014874"/>
              <a:ext cx="5919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933601" y="6732822"/>
              <a:ext cx="747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933601" y="7014874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1380199" y="7014874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1830209" y="7014874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2280218" y="7014874"/>
              <a:ext cx="444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1680425" y="6732822"/>
              <a:ext cx="747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2" name="Google Shape;282;p21"/>
            <p:cNvSpPr/>
            <p:nvPr/>
          </p:nvSpPr>
          <p:spPr>
            <a:xfrm>
              <a:off x="2427424" y="6732822"/>
              <a:ext cx="8946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83" name="Google Shape;283;p21"/>
          <p:cNvGrpSpPr/>
          <p:nvPr/>
        </p:nvGrpSpPr>
        <p:grpSpPr>
          <a:xfrm>
            <a:off x="968912" y="3560755"/>
            <a:ext cx="1745330" cy="411301"/>
            <a:chOff x="933600" y="7457684"/>
            <a:chExt cx="2388572" cy="564044"/>
          </a:xfrm>
        </p:grpSpPr>
        <p:sp>
          <p:nvSpPr>
            <p:cNvPr id="284" name="Google Shape;284;p21"/>
            <p:cNvSpPr/>
            <p:nvPr/>
          </p:nvSpPr>
          <p:spPr>
            <a:xfrm>
              <a:off x="2513672" y="7739727"/>
              <a:ext cx="8085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5" name="Google Shape;285;p21"/>
            <p:cNvSpPr/>
            <p:nvPr/>
          </p:nvSpPr>
          <p:spPr>
            <a:xfrm>
              <a:off x="933601" y="7739727"/>
              <a:ext cx="394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6" name="Google Shape;286;p21"/>
            <p:cNvSpPr/>
            <p:nvPr/>
          </p:nvSpPr>
          <p:spPr>
            <a:xfrm>
              <a:off x="1742100" y="7457684"/>
              <a:ext cx="1579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7" name="Google Shape;287;p21"/>
            <p:cNvSpPr/>
            <p:nvPr/>
          </p:nvSpPr>
          <p:spPr>
            <a:xfrm>
              <a:off x="1328692" y="7739727"/>
              <a:ext cx="394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8" name="Google Shape;288;p21"/>
            <p:cNvSpPr/>
            <p:nvPr/>
          </p:nvSpPr>
          <p:spPr>
            <a:xfrm>
              <a:off x="1723784" y="7739727"/>
              <a:ext cx="394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2118875" y="7739727"/>
              <a:ext cx="394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0" name="Google Shape;290;p21"/>
            <p:cNvSpPr/>
            <p:nvPr/>
          </p:nvSpPr>
          <p:spPr>
            <a:xfrm>
              <a:off x="933600" y="7457684"/>
              <a:ext cx="8085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91" name="Google Shape;291;p21"/>
          <p:cNvGrpSpPr/>
          <p:nvPr/>
        </p:nvGrpSpPr>
        <p:grpSpPr>
          <a:xfrm>
            <a:off x="968912" y="4218426"/>
            <a:ext cx="1745330" cy="411307"/>
            <a:chOff x="933600" y="8182525"/>
            <a:chExt cx="2388572" cy="564052"/>
          </a:xfrm>
        </p:grpSpPr>
        <p:sp>
          <p:nvSpPr>
            <p:cNvPr id="292" name="Google Shape;292;p21"/>
            <p:cNvSpPr/>
            <p:nvPr/>
          </p:nvSpPr>
          <p:spPr>
            <a:xfrm>
              <a:off x="2513672" y="8464577"/>
              <a:ext cx="8085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933601" y="8464577"/>
              <a:ext cx="394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4" name="Google Shape;294;p21"/>
            <p:cNvSpPr/>
            <p:nvPr/>
          </p:nvSpPr>
          <p:spPr>
            <a:xfrm>
              <a:off x="1328692" y="8464577"/>
              <a:ext cx="394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5" name="Google Shape;295;p21"/>
            <p:cNvSpPr/>
            <p:nvPr/>
          </p:nvSpPr>
          <p:spPr>
            <a:xfrm>
              <a:off x="2118875" y="8182527"/>
              <a:ext cx="3948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6" name="Google Shape;296;p21"/>
            <p:cNvSpPr/>
            <p:nvPr/>
          </p:nvSpPr>
          <p:spPr>
            <a:xfrm>
              <a:off x="933600" y="8182525"/>
              <a:ext cx="11850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2513672" y="8182527"/>
              <a:ext cx="8085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1723800" y="8464575"/>
              <a:ext cx="786900" cy="282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99" name="Google Shape;299;p21"/>
          <p:cNvSpPr txBox="1"/>
          <p:nvPr/>
        </p:nvSpPr>
        <p:spPr>
          <a:xfrm>
            <a:off x="4724400" y="3566897"/>
            <a:ext cx="23610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 = 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4724400" y="2918215"/>
            <a:ext cx="23610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724400" y="2269532"/>
            <a:ext cx="23610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 = 4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4724400" y="1620850"/>
            <a:ext cx="23610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 = 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4724400" y="4215579"/>
            <a:ext cx="23610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 = 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4" name="Google Shape;304;p21"/>
          <p:cNvGraphicFramePr/>
          <p:nvPr/>
        </p:nvGraphicFramePr>
        <p:xfrm>
          <a:off x="508213" y="1610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{154A5694-EEEB-4C64-96BA-6E6D25FB1B2C}</a:tableStyleId>
              </a:tblPr>
              <a:tblGrid>
                <a:gridCol w="460675"/>
              </a:tblGrid>
              <a:tr h="6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05" name="Google Shape;305;p21"/>
          <p:cNvCxnSpPr/>
          <p:nvPr/>
        </p:nvCxnSpPr>
        <p:spPr>
          <a:xfrm>
            <a:off x="2727182" y="1691667"/>
            <a:ext cx="1984200" cy="2076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1"/>
          <p:cNvCxnSpPr>
            <a:stCxn id="269" idx="3"/>
            <a:endCxn id="300" idx="1"/>
          </p:cNvCxnSpPr>
          <p:nvPr/>
        </p:nvCxnSpPr>
        <p:spPr>
          <a:xfrm>
            <a:off x="2740057" y="2349313"/>
            <a:ext cx="1984200" cy="786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1"/>
          <p:cNvCxnSpPr>
            <a:stCxn id="286" idx="3"/>
          </p:cNvCxnSpPr>
          <p:nvPr/>
        </p:nvCxnSpPr>
        <p:spPr>
          <a:xfrm flipH="1" rot="10800000">
            <a:off x="2714043" y="1790672"/>
            <a:ext cx="1867500" cy="187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21"/>
          <p:cNvCxnSpPr>
            <a:stCxn id="282" idx="3"/>
            <a:endCxn id="301" idx="1"/>
          </p:cNvCxnSpPr>
          <p:nvPr/>
        </p:nvCxnSpPr>
        <p:spPr>
          <a:xfrm flipH="1" rot="10800000">
            <a:off x="2714133" y="2487185"/>
            <a:ext cx="2010300" cy="518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21"/>
          <p:cNvCxnSpPr/>
          <p:nvPr/>
        </p:nvCxnSpPr>
        <p:spPr>
          <a:xfrm>
            <a:off x="2720738" y="4343475"/>
            <a:ext cx="1819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21"/>
          <p:cNvSpPr txBox="1"/>
          <p:nvPr/>
        </p:nvSpPr>
        <p:spPr>
          <a:xfrm>
            <a:off x="468000" y="90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Expressing problems algebraically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99575" y="4963125"/>
            <a:ext cx="653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Match the statements to the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2" name="Google Shape;312;p21"/>
          <p:cNvGrpSpPr/>
          <p:nvPr/>
        </p:nvGrpSpPr>
        <p:grpSpPr>
          <a:xfrm>
            <a:off x="806425" y="5397650"/>
            <a:ext cx="3090279" cy="611651"/>
            <a:chOff x="324000" y="1473625"/>
            <a:chExt cx="3191777" cy="852000"/>
          </a:xfrm>
        </p:grpSpPr>
        <p:pic>
          <p:nvPicPr>
            <p:cNvPr id="313" name="Google Shape;313;p21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21"/>
            <p:cNvSpPr txBox="1"/>
            <p:nvPr/>
          </p:nvSpPr>
          <p:spPr>
            <a:xfrm>
              <a:off x="606974" y="1473625"/>
              <a:ext cx="29088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 number minus 2 then divided by 5 equals 20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5" name="Google Shape;315;p21"/>
          <p:cNvGrpSpPr/>
          <p:nvPr/>
        </p:nvGrpSpPr>
        <p:grpSpPr>
          <a:xfrm flipH="1">
            <a:off x="1481721" y="6110365"/>
            <a:ext cx="3090279" cy="611651"/>
            <a:chOff x="324000" y="1473625"/>
            <a:chExt cx="3191777" cy="852000"/>
          </a:xfrm>
        </p:grpSpPr>
        <p:pic>
          <p:nvPicPr>
            <p:cNvPr id="316" name="Google Shape;316;p21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21"/>
            <p:cNvSpPr txBox="1"/>
            <p:nvPr/>
          </p:nvSpPr>
          <p:spPr>
            <a:xfrm>
              <a:off x="530774" y="1473625"/>
              <a:ext cx="29088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 number divided by 5 then minus 2 equals 20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8" name="Google Shape;318;p21"/>
          <p:cNvGrpSpPr/>
          <p:nvPr/>
        </p:nvGrpSpPr>
        <p:grpSpPr>
          <a:xfrm>
            <a:off x="806425" y="6823080"/>
            <a:ext cx="3207513" cy="611651"/>
            <a:chOff x="324000" y="1477966"/>
            <a:chExt cx="3312863" cy="852000"/>
          </a:xfrm>
        </p:grpSpPr>
        <p:pic>
          <p:nvPicPr>
            <p:cNvPr id="319" name="Google Shape;319;p21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0" name="Google Shape;320;p21"/>
            <p:cNvSpPr txBox="1"/>
            <p:nvPr/>
          </p:nvSpPr>
          <p:spPr>
            <a:xfrm>
              <a:off x="647663" y="1477966"/>
              <a:ext cx="29892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 divided by 5 less than a number equals 20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1" name="Google Shape;321;p21"/>
          <p:cNvGrpSpPr/>
          <p:nvPr/>
        </p:nvGrpSpPr>
        <p:grpSpPr>
          <a:xfrm flipH="1">
            <a:off x="1481721" y="7535795"/>
            <a:ext cx="3090279" cy="611651"/>
            <a:chOff x="324000" y="1473625"/>
            <a:chExt cx="3191777" cy="852000"/>
          </a:xfrm>
        </p:grpSpPr>
        <p:pic>
          <p:nvPicPr>
            <p:cNvPr id="322" name="Google Shape;322;p21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1"/>
            <p:cNvSpPr txBox="1"/>
            <p:nvPr/>
          </p:nvSpPr>
          <p:spPr>
            <a:xfrm>
              <a:off x="543574" y="1473625"/>
              <a:ext cx="29088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 divided by a number then minus 5 equals 20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1"/>
          <p:cNvGrpSpPr/>
          <p:nvPr/>
        </p:nvGrpSpPr>
        <p:grpSpPr>
          <a:xfrm>
            <a:off x="806425" y="8400910"/>
            <a:ext cx="3491161" cy="611651"/>
            <a:chOff x="324000" y="1473625"/>
            <a:chExt cx="3605827" cy="852000"/>
          </a:xfrm>
        </p:grpSpPr>
        <p:pic>
          <p:nvPicPr>
            <p:cNvPr id="325" name="Google Shape;325;p21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60582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1"/>
            <p:cNvSpPr txBox="1"/>
            <p:nvPr/>
          </p:nvSpPr>
          <p:spPr>
            <a:xfrm>
              <a:off x="606975" y="1473625"/>
              <a:ext cx="32664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 number subtracted from 2 then divided by 5 equals 20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x-2}{5}=20&quot;&gt;&lt;mfrac&gt;&lt;mrow&gt;&lt;mi&gt;x&lt;/mi&gt;&lt;mo&gt;−&lt;/mo&gt;&lt;mn&gt;2&lt;/mn&gt;&lt;/mrow&gt;&lt;mn&gt;5&lt;/mn&gt;&lt;/mfrac&gt;&lt;mo&gt;=&lt;/mo&gt;&lt;mn&gt;20&lt;/mn&gt;&lt;/math&gt;" id="327" name="Google Shape;327;p21" title="the fraction with numerator x minus 2 and denominator 5 equals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2900" y="8591536"/>
            <a:ext cx="841639" cy="375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}{5}-2=20&quot;&gt;&lt;mfrac&gt;&lt;mi&gt;x&lt;/mi&gt;&lt;mn&gt;5&lt;/mn&gt;&lt;/mfrac&gt;&lt;mo&gt;−&lt;/mo&gt;&lt;mn&gt;2&lt;/mn&gt;&lt;mo&gt;=&lt;/mo&gt;&lt;mn&gt;20&lt;/mn&gt;&lt;/math&gt;" id="328" name="Google Shape;328;p21" title="x over 5 minus 2 equals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2900" y="5366075"/>
            <a:ext cx="821695" cy="327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x}-5=20&quot;&gt;&lt;mfrac&gt;&lt;mn&gt;2&lt;/mn&gt;&lt;mi&gt;x&lt;/mi&gt;&lt;/mfrac&gt;&lt;mo&gt;−&lt;/mo&gt;&lt;mn&gt;5&lt;/mn&gt;&lt;mo&gt;=&lt;/mo&gt;&lt;mn&gt;20&lt;/mn&gt;&lt;/math&gt;" id="329" name="Google Shape;329;p21" title="2 over x minus 5 equals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42900" y="6882983"/>
            <a:ext cx="821694" cy="3634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x-5}=20&quot;&gt;&lt;mfrac&gt;&lt;mn&gt;2&lt;/mn&gt;&lt;mrow&gt;&lt;mi&gt;x&lt;/mi&gt;&lt;mo&gt;−&lt;/mo&gt;&lt;mn&gt;5&lt;/mn&gt;&lt;/mrow&gt;&lt;/mfrac&gt;&lt;mo&gt;=&lt;/mo&gt;&lt;mn&gt;20&lt;/mn&gt;&lt;/math&gt;" id="330" name="Google Shape;330;p21" title="the fraction with numerator 2 and denominator x minus 5 equals 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42900" y="6102669"/>
            <a:ext cx="821695" cy="3716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-x}{5}=20&quot;&gt;&lt;mfrac&gt;&lt;mrow&gt;&lt;mn&gt;2&lt;/mn&gt;&lt;mo&gt;−&lt;/mo&gt;&lt;mi&gt;x&lt;/mi&gt;&lt;/mrow&gt;&lt;mn&gt;5&lt;/mn&gt;&lt;/mfrac&gt;&lt;mo&gt;=&lt;/mo&gt;&lt;mn&gt;20&lt;/mn&gt;&lt;/math&gt;" id="331" name="Google Shape;331;p21" title="the fraction with numerator 2 minus x and denominator 5 equals 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42900" y="7655100"/>
            <a:ext cx="841634" cy="37534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2" name="Google Shape;332;p21"/>
          <p:cNvGraphicFramePr/>
          <p:nvPr/>
        </p:nvGraphicFramePr>
        <p:xfrm>
          <a:off x="440025" y="549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{154A5694-EEEB-4C64-96BA-6E6D25FB1B2C}</a:tableStyleId>
              </a:tblPr>
              <a:tblGrid>
                <a:gridCol w="460675"/>
              </a:tblGrid>
              <a:tr h="72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33" name="Google Shape;333;p21"/>
          <p:cNvCxnSpPr>
            <a:endCxn id="327" idx="1"/>
          </p:cNvCxnSpPr>
          <p:nvPr/>
        </p:nvCxnSpPr>
        <p:spPr>
          <a:xfrm>
            <a:off x="4495900" y="5753106"/>
            <a:ext cx="1047000" cy="3026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21"/>
          <p:cNvCxnSpPr>
            <a:stCxn id="317" idx="1"/>
            <a:endCxn id="328" idx="1"/>
          </p:cNvCxnSpPr>
          <p:nvPr/>
        </p:nvCxnSpPr>
        <p:spPr>
          <a:xfrm flipH="1" rot="10800000">
            <a:off x="4371801" y="5529990"/>
            <a:ext cx="1171200" cy="886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21"/>
          <p:cNvCxnSpPr>
            <a:endCxn id="330" idx="1"/>
          </p:cNvCxnSpPr>
          <p:nvPr/>
        </p:nvCxnSpPr>
        <p:spPr>
          <a:xfrm flipH="1" rot="10800000">
            <a:off x="4295800" y="6288479"/>
            <a:ext cx="1247100" cy="845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21"/>
          <p:cNvCxnSpPr>
            <a:stCxn id="323" idx="1"/>
            <a:endCxn id="329" idx="1"/>
          </p:cNvCxnSpPr>
          <p:nvPr/>
        </p:nvCxnSpPr>
        <p:spPr>
          <a:xfrm flipH="1" rot="10800000">
            <a:off x="4359408" y="7064620"/>
            <a:ext cx="1183500" cy="777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21"/>
          <p:cNvCxnSpPr>
            <a:endCxn id="331" idx="1"/>
          </p:cNvCxnSpPr>
          <p:nvPr/>
        </p:nvCxnSpPr>
        <p:spPr>
          <a:xfrm flipH="1" rot="10800000">
            <a:off x="4476700" y="7842771"/>
            <a:ext cx="1066200" cy="815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21"/>
          <p:cNvCxnSpPr/>
          <p:nvPr/>
        </p:nvCxnSpPr>
        <p:spPr>
          <a:xfrm>
            <a:off x="460732" y="92004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