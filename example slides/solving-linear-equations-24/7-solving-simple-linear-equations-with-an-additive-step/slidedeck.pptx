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61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2197DF-BC7F-4C0C-9DFF-83CEB7602A99}">
  <a:tblStyle styleId="{162197DF-BC7F-4C0C-9DFF-83CEB7602A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1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7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0add21a6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0add21a6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a0add21a6b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a0add21a6b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a0add21a6b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a0add21a6b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2a0add21a6b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2a0add21a6b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a0add21a6b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a0add21a6b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2a0add21a6b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2a0add21a6b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a0add21a6b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a0add21a6b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a0add21a6b_0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a0add21a6b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2a0add21a6b_0_1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2a0add21a6b_0_1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2a0add21a6b_0_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2a0add21a6b_0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a0add21a6b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a0add21a6b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a0add21a6b_0_1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a0add21a6b_0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a0add21a6b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a0add21a6b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a0add21a6b_0_1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a0add21a6b_0_1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2a0add21a6b_0_1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2a0add21a6b_0_1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2a0add21a6b_0_1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2a0add21a6b_0_1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2a0add21a6b_0_1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2a0add21a6b_0_1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a0add21a6b_0_1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a0add21a6b_0_1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2a0add21a6b_0_1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2a0add21a6b_0_1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2a0add21a6b_0_1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2a0add21a6b_0_1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2a0add21a6b_0_1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2a0add21a6b_0_1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2a0add21a6b_0_1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2a0add21a6b_0_1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2a0add21a6b_0_2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2a0add21a6b_0_2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2a0add21a6b_0_2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2a0add21a6b_0_2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2a0add21a6b_0_2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g2a0add21a6b_0_2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2a0add21a6b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2a0add21a6b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2a0add21a6b_0_2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9" name="Google Shape;1789;g2a0add21a6b_0_2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2a0add21a6b_0_2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2a0add21a6b_0_2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2a0add21a6b_0_2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1" name="Google Shape;1831;g2a0add21a6b_0_2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g2a0add21a6b_0_2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2" name="Google Shape;1852;g2a0add21a6b_0_2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2a0add21a6b_0_2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2a0add21a6b_0_2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g2a0add21a6b_0_2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3" name="Google Shape;1883;g2a0add21a6b_0_2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2a0add21a6b_0_2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1" name="Google Shape;1901;g2a0add21a6b_0_2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2a0add21a6b_0_2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2a0add21a6b_0_2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g2a0add21a6b_0_2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1" name="Google Shape;1931;g2a0add21a6b_0_2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2a0add21a6b_0_2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2a0add21a6b_0_2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2" name="Google Shape;196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4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7" Type="http://schemas.openxmlformats.org/officeDocument/2006/relationships/image" Target="../media/image2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0.png"/><Relationship Id="rId4" Type="http://schemas.openxmlformats.org/officeDocument/2006/relationships/image" Target="../media/image68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8.png"/><Relationship Id="rId4" Type="http://schemas.openxmlformats.org/officeDocument/2006/relationships/image" Target="../media/image22.png"/><Relationship Id="rId9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34.png"/><Relationship Id="rId7" Type="http://schemas.openxmlformats.org/officeDocument/2006/relationships/image" Target="../media/image25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8.png"/><Relationship Id="rId4" Type="http://schemas.openxmlformats.org/officeDocument/2006/relationships/image" Target="../media/image32.png"/><Relationship Id="rId11" Type="http://schemas.openxmlformats.org/officeDocument/2006/relationships/image" Target="../media/image21.png"/><Relationship Id="rId10" Type="http://schemas.openxmlformats.org/officeDocument/2006/relationships/image" Target="../media/image39.png"/><Relationship Id="rId9" Type="http://schemas.openxmlformats.org/officeDocument/2006/relationships/image" Target="../media/image29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34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Relationship Id="rId5" Type="http://schemas.openxmlformats.org/officeDocument/2006/relationships/image" Target="../media/image53.png"/><Relationship Id="rId6" Type="http://schemas.openxmlformats.org/officeDocument/2006/relationships/image" Target="../media/image5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Relationship Id="rId5" Type="http://schemas.openxmlformats.org/officeDocument/2006/relationships/image" Target="../media/image53.png"/><Relationship Id="rId6" Type="http://schemas.openxmlformats.org/officeDocument/2006/relationships/image" Target="../media/image5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Relationship Id="rId5" Type="http://schemas.openxmlformats.org/officeDocument/2006/relationships/image" Target="../media/image53.png"/><Relationship Id="rId6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Relationship Id="rId5" Type="http://schemas.openxmlformats.org/officeDocument/2006/relationships/image" Target="../media/image53.png"/><Relationship Id="rId6" Type="http://schemas.openxmlformats.org/officeDocument/2006/relationships/image" Target="../media/image5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5.png"/><Relationship Id="rId4" Type="http://schemas.openxmlformats.org/officeDocument/2006/relationships/image" Target="../media/image57.png"/><Relationship Id="rId5" Type="http://schemas.openxmlformats.org/officeDocument/2006/relationships/image" Target="../media/image56.png"/><Relationship Id="rId6" Type="http://schemas.openxmlformats.org/officeDocument/2006/relationships/image" Target="../media/image59.png"/><Relationship Id="rId7" Type="http://schemas.openxmlformats.org/officeDocument/2006/relationships/image" Target="../media/image6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8.png"/><Relationship Id="rId4" Type="http://schemas.openxmlformats.org/officeDocument/2006/relationships/image" Target="../media/image6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2.png"/><Relationship Id="rId4" Type="http://schemas.openxmlformats.org/officeDocument/2006/relationships/image" Target="../media/image64.png"/><Relationship Id="rId5" Type="http://schemas.openxmlformats.org/officeDocument/2006/relationships/image" Target="../media/image63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</a:t>
            </a:r>
            <a:r>
              <a:rPr lang="en-GB"/>
              <a:t>simple</a:t>
            </a:r>
            <a:r>
              <a:rPr lang="en-GB"/>
              <a:t> linear equations with an additive step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solve a linear equation requiring a single additive step.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3" type="subTitle"/>
          </p:nvPr>
        </p:nvSpPr>
        <p:spPr>
          <a:xfrm>
            <a:off x="324001" y="119987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 solution to an equality with one variable is the value which, when substituted, maintains the equality between the expressions. </a:t>
            </a:r>
            <a:endParaRPr sz="2000"/>
          </a:p>
        </p:txBody>
      </p:sp>
      <p:sp>
        <p:nvSpPr>
          <p:cNvPr id="771" name="Google Shape;771;p66"/>
          <p:cNvSpPr txBox="1"/>
          <p:nvPr>
            <p:ph idx="3" type="subTitle"/>
          </p:nvPr>
        </p:nvSpPr>
        <p:spPr>
          <a:xfrm>
            <a:off x="324001" y="2326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additive inverse of a number is a number that, when added to the original number, gives the sum of 0 </a:t>
            </a:r>
            <a:endParaRPr sz="2000"/>
          </a:p>
        </p:txBody>
      </p:sp>
      <p:sp>
        <p:nvSpPr>
          <p:cNvPr id="772" name="Google Shape;772;p66"/>
          <p:cNvSpPr txBox="1"/>
          <p:nvPr>
            <p:ph idx="2" type="subTitle"/>
          </p:nvPr>
        </p:nvSpPr>
        <p:spPr>
          <a:xfrm>
            <a:off x="324001" y="340387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number and its additive inverse make a zero pair.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Examples of zero pairs: </a:t>
            </a:r>
            <a:endParaRPr sz="2000"/>
          </a:p>
        </p:txBody>
      </p:sp>
      <p:sp>
        <p:nvSpPr>
          <p:cNvPr id="773" name="Google Shape;773;p66"/>
          <p:cNvSpPr txBox="1"/>
          <p:nvPr/>
        </p:nvSpPr>
        <p:spPr>
          <a:xfrm>
            <a:off x="3340725" y="3886575"/>
            <a:ext cx="17640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(−7) and 7 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and (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6"/>
          <p:cNvSpPr txBox="1"/>
          <p:nvPr/>
        </p:nvSpPr>
        <p:spPr>
          <a:xfrm>
            <a:off x="4975425" y="3886575"/>
            <a:ext cx="17640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0.3 and (−0.3)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 and 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-\frac{2}{5}\right)&quot;&gt;&lt;mrow data-mjx-texclass=&quot;INNER&quot;&gt;&lt;mo data-mjx-texclass=&quot;OPEN&quot;&gt;(&lt;/mo&gt;&lt;mo&gt;−&lt;/mo&gt;&lt;mfrac&gt;&lt;mn&gt;2&lt;/mn&gt;&lt;mn&gt;5&lt;/mn&gt;&lt;/mfrac&gt;&lt;mo data-mjx-texclass=&quot;CLOSE&quot;&gt;)&lt;/mo&gt;&lt;/mrow&gt;&lt;/math&gt;" id="775" name="Google Shape;775;p66" title="negative 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5424" y="4241908"/>
            <a:ext cx="532021" cy="487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2}{5}\right)&quot;&gt;&lt;mrow data-mjx-texclass=&quot;INNER&quot;&gt;&lt;mo data-mjx-texclass=&quot;OPEN&quot;&gt;(&lt;/mo&gt;&lt;mo&gt;−&lt;/mo&gt;&lt;mfrac&gt;&lt;mn&gt;2&lt;/mn&gt;&lt;mn&gt;5&lt;/mn&gt;&lt;/mfrac&gt;&lt;mo data-mjx-texclass=&quot;CLOSE&quot;&gt;)&lt;/mo&gt;&lt;/mrow&gt;&lt;/math&gt;" id="776" name="Google Shape;776;p66" title="negative two fifths"/>
          <p:cNvPicPr preferRelativeResize="0"/>
          <p:nvPr/>
        </p:nvPicPr>
        <p:blipFill rotWithShape="1">
          <a:blip r:embed="rId3">
            <a:alphaModFix/>
          </a:blip>
          <a:srcRect b="0" l="45716" r="21011" t="0"/>
          <a:stretch/>
        </p:blipFill>
        <p:spPr>
          <a:xfrm>
            <a:off x="6079770" y="4252425"/>
            <a:ext cx="177019" cy="487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Additive steps using representations</a:t>
            </a:r>
            <a:endParaRPr/>
          </a:p>
        </p:txBody>
      </p:sp>
      <p:sp>
        <p:nvSpPr>
          <p:cNvPr id="782" name="Google Shape;782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783" name="Google Shape;783;p67"/>
          <p:cNvSpPr txBox="1"/>
          <p:nvPr>
            <p:ph idx="3" type="title"/>
          </p:nvPr>
        </p:nvSpPr>
        <p:spPr>
          <a:xfrm>
            <a:off x="324000" y="657600"/>
            <a:ext cx="6255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linear equations with an additive step</a:t>
            </a:r>
            <a:endParaRPr/>
          </a:p>
        </p:txBody>
      </p:sp>
      <p:pic>
        <p:nvPicPr>
          <p:cNvPr id="784" name="Google Shape;78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6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Additive steps using representations</a:t>
            </a:r>
            <a:endParaRPr/>
          </a:p>
        </p:txBody>
      </p:sp>
      <p:sp>
        <p:nvSpPr>
          <p:cNvPr id="790" name="Google Shape;790;p68"/>
          <p:cNvSpPr txBox="1"/>
          <p:nvPr>
            <p:ph idx="1" type="body"/>
          </p:nvPr>
        </p:nvSpPr>
        <p:spPr>
          <a:xfrm>
            <a:off x="324000" y="759300"/>
            <a:ext cx="8496000" cy="9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 equation with an additive relationship can be represented with a bar model.</a:t>
            </a:r>
            <a:endParaRPr sz="1800"/>
          </a:p>
        </p:txBody>
      </p:sp>
      <p:grpSp>
        <p:nvGrpSpPr>
          <p:cNvPr id="791" name="Google Shape;791;p68"/>
          <p:cNvGrpSpPr/>
          <p:nvPr/>
        </p:nvGrpSpPr>
        <p:grpSpPr>
          <a:xfrm>
            <a:off x="324000" y="1494675"/>
            <a:ext cx="2604000" cy="613350"/>
            <a:chOff x="324000" y="2393325"/>
            <a:chExt cx="2604000" cy="613350"/>
          </a:xfrm>
        </p:grpSpPr>
        <p:sp>
          <p:nvSpPr>
            <p:cNvPr id="792" name="Google Shape;792;p68"/>
            <p:cNvSpPr/>
            <p:nvPr/>
          </p:nvSpPr>
          <p:spPr>
            <a:xfrm>
              <a:off x="2132100" y="2393325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793" name="Google Shape;793;p68"/>
            <p:cNvSpPr/>
            <p:nvPr/>
          </p:nvSpPr>
          <p:spPr>
            <a:xfrm>
              <a:off x="324000" y="2393325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794" name="Google Shape;794;p68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20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795" name="Google Shape;795;p68"/>
          <p:cNvSpPr txBox="1"/>
          <p:nvPr>
            <p:ph idx="1" type="body"/>
          </p:nvPr>
        </p:nvSpPr>
        <p:spPr>
          <a:xfrm>
            <a:off x="324000" y="2700000"/>
            <a:ext cx="84960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</a:t>
            </a:r>
            <a:r>
              <a:rPr lang="en-GB" sz="1800"/>
              <a:t>equations</a:t>
            </a:r>
            <a:r>
              <a:rPr lang="en-GB" sz="1800"/>
              <a:t> can you write from this bar model?</a:t>
            </a:r>
            <a:endParaRPr sz="1800"/>
          </a:p>
        </p:txBody>
      </p:sp>
      <p:sp>
        <p:nvSpPr>
          <p:cNvPr id="796" name="Google Shape;796;p68"/>
          <p:cNvSpPr txBox="1"/>
          <p:nvPr>
            <p:ph idx="1" type="body"/>
          </p:nvPr>
        </p:nvSpPr>
        <p:spPr>
          <a:xfrm>
            <a:off x="3086700" y="1156125"/>
            <a:ext cx="1485300" cy="12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 = 20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20 −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20 − 6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7" name="Google Shape;797;p68"/>
          <p:cNvSpPr txBox="1"/>
          <p:nvPr>
            <p:ph idx="1" type="body"/>
          </p:nvPr>
        </p:nvSpPr>
        <p:spPr>
          <a:xfrm>
            <a:off x="324000" y="3240000"/>
            <a:ext cx="8496000" cy="6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there is only one variable it is possible to use a bar model to find the solution to the equation.</a:t>
            </a:r>
            <a:endParaRPr sz="1800"/>
          </a:p>
        </p:txBody>
      </p:sp>
      <p:sp>
        <p:nvSpPr>
          <p:cNvPr id="798" name="Google Shape;798;p68"/>
          <p:cNvSpPr txBox="1"/>
          <p:nvPr>
            <p:ph idx="1" type="body"/>
          </p:nvPr>
        </p:nvSpPr>
        <p:spPr>
          <a:xfrm>
            <a:off x="324000" y="4139100"/>
            <a:ext cx="8496000" cy="6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solution to this equation will be a value for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 sz="1800"/>
              <a:t>which </a:t>
            </a:r>
            <a:r>
              <a:rPr lang="en-GB" sz="1800"/>
              <a:t>makes</a:t>
            </a:r>
            <a:r>
              <a:rPr lang="en-GB" sz="1800"/>
              <a:t> both sides of the equation equal.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9"/>
          <p:cNvSpPr/>
          <p:nvPr/>
        </p:nvSpPr>
        <p:spPr>
          <a:xfrm>
            <a:off x="3058300" y="2108375"/>
            <a:ext cx="1150800" cy="33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steps using representations</a:t>
            </a:r>
            <a:endParaRPr/>
          </a:p>
        </p:txBody>
      </p:sp>
      <p:sp>
        <p:nvSpPr>
          <p:cNvPr id="805" name="Google Shape;805;p69"/>
          <p:cNvSpPr txBox="1"/>
          <p:nvPr>
            <p:ph idx="1" type="body"/>
          </p:nvPr>
        </p:nvSpPr>
        <p:spPr>
          <a:xfrm>
            <a:off x="324000" y="759300"/>
            <a:ext cx="8496000" cy="9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One of these equations makes it clear what the solution is. Which one?</a:t>
            </a:r>
            <a:endParaRPr sz="1800"/>
          </a:p>
        </p:txBody>
      </p:sp>
      <p:grpSp>
        <p:nvGrpSpPr>
          <p:cNvPr id="806" name="Google Shape;806;p69"/>
          <p:cNvGrpSpPr/>
          <p:nvPr/>
        </p:nvGrpSpPr>
        <p:grpSpPr>
          <a:xfrm>
            <a:off x="324000" y="1494675"/>
            <a:ext cx="2604000" cy="613350"/>
            <a:chOff x="324000" y="2393325"/>
            <a:chExt cx="2604000" cy="613350"/>
          </a:xfrm>
        </p:grpSpPr>
        <p:sp>
          <p:nvSpPr>
            <p:cNvPr id="807" name="Google Shape;807;p69"/>
            <p:cNvSpPr/>
            <p:nvPr/>
          </p:nvSpPr>
          <p:spPr>
            <a:xfrm>
              <a:off x="2132100" y="2393325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08" name="Google Shape;808;p69"/>
            <p:cNvSpPr/>
            <p:nvPr/>
          </p:nvSpPr>
          <p:spPr>
            <a:xfrm>
              <a:off x="324000" y="2393325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09" name="Google Shape;809;p69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20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10" name="Google Shape;810;p69"/>
          <p:cNvSpPr txBox="1"/>
          <p:nvPr>
            <p:ph idx="1" type="body"/>
          </p:nvPr>
        </p:nvSpPr>
        <p:spPr>
          <a:xfrm>
            <a:off x="324000" y="2700000"/>
            <a:ext cx="84960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All we need to do is calculate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20 − 6</a:t>
            </a:r>
            <a:r>
              <a:rPr lang="en-GB" sz="1800"/>
              <a:t> and this will give the solution to the equation.</a:t>
            </a:r>
            <a:endParaRPr sz="1800"/>
          </a:p>
        </p:txBody>
      </p:sp>
      <p:sp>
        <p:nvSpPr>
          <p:cNvPr id="811" name="Google Shape;811;p69"/>
          <p:cNvSpPr txBox="1"/>
          <p:nvPr>
            <p:ph idx="1" type="body"/>
          </p:nvPr>
        </p:nvSpPr>
        <p:spPr>
          <a:xfrm>
            <a:off x="3086700" y="1156125"/>
            <a:ext cx="1485300" cy="12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 = 20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 = 20 −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20 − 6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2" name="Google Shape;812;p69"/>
          <p:cNvSpPr txBox="1"/>
          <p:nvPr>
            <p:ph idx="1" type="body"/>
          </p:nvPr>
        </p:nvSpPr>
        <p:spPr>
          <a:xfrm>
            <a:off x="324000" y="3453325"/>
            <a:ext cx="8496000" cy="6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solution to all these equations 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is 14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steps using representations</a:t>
            </a:r>
            <a:endParaRPr/>
          </a:p>
        </p:txBody>
      </p:sp>
      <p:sp>
        <p:nvSpPr>
          <p:cNvPr id="818" name="Google Shape;818;p70"/>
          <p:cNvSpPr txBox="1"/>
          <p:nvPr>
            <p:ph idx="1" type="body"/>
          </p:nvPr>
        </p:nvSpPr>
        <p:spPr>
          <a:xfrm>
            <a:off x="324000" y="2899175"/>
            <a:ext cx="84960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substitute 14 </a:t>
            </a:r>
            <a:r>
              <a:rPr lang="en-GB" sz="1800"/>
              <a:t>for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</a:t>
            </a:r>
            <a:r>
              <a:rPr lang="en-GB" sz="1800"/>
              <a:t>in each equation to check this is the solution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819" name="Google Shape;819;p70"/>
          <p:cNvSpPr txBox="1"/>
          <p:nvPr>
            <p:ph idx="1" type="body"/>
          </p:nvPr>
        </p:nvSpPr>
        <p:spPr>
          <a:xfrm>
            <a:off x="324000" y="2273493"/>
            <a:ext cx="8496000" cy="33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solution to all these equations 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is 14</a:t>
            </a:r>
            <a:endParaRPr sz="1800"/>
          </a:p>
        </p:txBody>
      </p:sp>
      <p:sp>
        <p:nvSpPr>
          <p:cNvPr id="820" name="Google Shape;820;p70"/>
          <p:cNvSpPr/>
          <p:nvPr/>
        </p:nvSpPr>
        <p:spPr>
          <a:xfrm>
            <a:off x="3058300" y="1727375"/>
            <a:ext cx="1150800" cy="33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1" name="Google Shape;821;p70"/>
          <p:cNvGrpSpPr/>
          <p:nvPr/>
        </p:nvGrpSpPr>
        <p:grpSpPr>
          <a:xfrm>
            <a:off x="324000" y="1113675"/>
            <a:ext cx="2604000" cy="613350"/>
            <a:chOff x="324000" y="2393325"/>
            <a:chExt cx="2604000" cy="613350"/>
          </a:xfrm>
        </p:grpSpPr>
        <p:sp>
          <p:nvSpPr>
            <p:cNvPr id="822" name="Google Shape;822;p70"/>
            <p:cNvSpPr/>
            <p:nvPr/>
          </p:nvSpPr>
          <p:spPr>
            <a:xfrm>
              <a:off x="2132100" y="2393325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23" name="Google Shape;823;p70"/>
            <p:cNvSpPr/>
            <p:nvPr/>
          </p:nvSpPr>
          <p:spPr>
            <a:xfrm>
              <a:off x="324000" y="2393325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24" name="Google Shape;824;p70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20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25" name="Google Shape;825;p70"/>
          <p:cNvSpPr txBox="1"/>
          <p:nvPr>
            <p:ph idx="1" type="body"/>
          </p:nvPr>
        </p:nvSpPr>
        <p:spPr>
          <a:xfrm>
            <a:off x="3086700" y="775125"/>
            <a:ext cx="1485300" cy="12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 = 20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 = 20 −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20 − 6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6" name="Google Shape;826;p70"/>
          <p:cNvSpPr txBox="1"/>
          <p:nvPr>
            <p:ph idx="1" type="body"/>
          </p:nvPr>
        </p:nvSpPr>
        <p:spPr>
          <a:xfrm>
            <a:off x="2683925" y="3400775"/>
            <a:ext cx="1485300" cy="12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(14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+ 6 = 20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17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 = 20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7" name="Google Shape;827;p70"/>
          <p:cNvSpPr txBox="1"/>
          <p:nvPr>
            <p:ph idx="1" type="body"/>
          </p:nvPr>
        </p:nvSpPr>
        <p:spPr>
          <a:xfrm>
            <a:off x="5039650" y="3400775"/>
            <a:ext cx="1485300" cy="12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 = 20 − (14)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 = 6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8" name="Google Shape;828;p70"/>
          <p:cNvSpPr txBox="1"/>
          <p:nvPr>
            <p:ph idx="1" type="body"/>
          </p:nvPr>
        </p:nvSpPr>
        <p:spPr>
          <a:xfrm>
            <a:off x="328200" y="3400775"/>
            <a:ext cx="1485300" cy="12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(14)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20 − 6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5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14 = 14 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9" name="Google Shape;829;p70"/>
          <p:cNvSpPr/>
          <p:nvPr/>
        </p:nvSpPr>
        <p:spPr>
          <a:xfrm>
            <a:off x="3058300" y="1270175"/>
            <a:ext cx="1150800" cy="33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/>
          <p:nvPr/>
        </p:nvSpPr>
        <p:spPr>
          <a:xfrm>
            <a:off x="3058300" y="789806"/>
            <a:ext cx="1150800" cy="33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steps using representations</a:t>
            </a:r>
            <a:endParaRPr/>
          </a:p>
        </p:txBody>
      </p:sp>
      <p:sp>
        <p:nvSpPr>
          <p:cNvPr id="836" name="Google Shape;836;p71"/>
          <p:cNvSpPr txBox="1"/>
          <p:nvPr>
            <p:ph idx="1" type="body"/>
          </p:nvPr>
        </p:nvSpPr>
        <p:spPr>
          <a:xfrm>
            <a:off x="328200" y="2700000"/>
            <a:ext cx="1360800" cy="2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7" name="Google Shape;837;p71"/>
          <p:cNvSpPr txBox="1"/>
          <p:nvPr>
            <p:ph idx="1" type="body"/>
          </p:nvPr>
        </p:nvSpPr>
        <p:spPr>
          <a:xfrm>
            <a:off x="324000" y="2273493"/>
            <a:ext cx="8496000" cy="33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operation have we done to both bars to get the value 14?</a:t>
            </a:r>
            <a:endParaRPr sz="1800"/>
          </a:p>
        </p:txBody>
      </p:sp>
      <p:grpSp>
        <p:nvGrpSpPr>
          <p:cNvPr id="838" name="Google Shape;838;p71"/>
          <p:cNvGrpSpPr/>
          <p:nvPr/>
        </p:nvGrpSpPr>
        <p:grpSpPr>
          <a:xfrm>
            <a:off x="324000" y="1113675"/>
            <a:ext cx="2604000" cy="613350"/>
            <a:chOff x="324000" y="2393325"/>
            <a:chExt cx="2604000" cy="613350"/>
          </a:xfrm>
        </p:grpSpPr>
        <p:sp>
          <p:nvSpPr>
            <p:cNvPr id="839" name="Google Shape;839;p71"/>
            <p:cNvSpPr/>
            <p:nvPr/>
          </p:nvSpPr>
          <p:spPr>
            <a:xfrm>
              <a:off x="2132100" y="2393325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40" name="Google Shape;840;p71"/>
            <p:cNvSpPr/>
            <p:nvPr/>
          </p:nvSpPr>
          <p:spPr>
            <a:xfrm>
              <a:off x="324000" y="2393325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41" name="Google Shape;841;p71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20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42" name="Google Shape;842;p71"/>
          <p:cNvSpPr txBox="1"/>
          <p:nvPr>
            <p:ph idx="1" type="body"/>
          </p:nvPr>
        </p:nvSpPr>
        <p:spPr>
          <a:xfrm>
            <a:off x="3086700" y="1113675"/>
            <a:ext cx="1485300" cy="8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 = 20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3" name="Google Shape;843;p71"/>
          <p:cNvSpPr/>
          <p:nvPr/>
        </p:nvSpPr>
        <p:spPr>
          <a:xfrm>
            <a:off x="2132100" y="1113675"/>
            <a:ext cx="795900" cy="306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4" name="Google Shape;844;p71"/>
          <p:cNvSpPr/>
          <p:nvPr/>
        </p:nvSpPr>
        <p:spPr>
          <a:xfrm>
            <a:off x="2132100" y="1418475"/>
            <a:ext cx="795900" cy="306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845" name="Google Shape;845;p71"/>
          <p:cNvGrpSpPr/>
          <p:nvPr/>
        </p:nvGrpSpPr>
        <p:grpSpPr>
          <a:xfrm>
            <a:off x="324000" y="1113675"/>
            <a:ext cx="1808100" cy="613350"/>
            <a:chOff x="324000" y="2393325"/>
            <a:chExt cx="1808100" cy="613350"/>
          </a:xfrm>
        </p:grpSpPr>
        <p:sp>
          <p:nvSpPr>
            <p:cNvPr id="846" name="Google Shape;846;p71"/>
            <p:cNvSpPr/>
            <p:nvPr/>
          </p:nvSpPr>
          <p:spPr>
            <a:xfrm>
              <a:off x="324000" y="2393325"/>
              <a:ext cx="1808100" cy="306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47" name="Google Shape;847;p71"/>
            <p:cNvSpPr/>
            <p:nvPr/>
          </p:nvSpPr>
          <p:spPr>
            <a:xfrm>
              <a:off x="324000" y="2700075"/>
              <a:ext cx="1808100" cy="306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steps using representations</a:t>
            </a:r>
            <a:endParaRPr/>
          </a:p>
        </p:txBody>
      </p:sp>
      <p:sp>
        <p:nvSpPr>
          <p:cNvPr id="853" name="Google Shape;853;p72"/>
          <p:cNvSpPr/>
          <p:nvPr/>
        </p:nvSpPr>
        <p:spPr>
          <a:xfrm>
            <a:off x="3018425" y="2047879"/>
            <a:ext cx="1150800" cy="33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4" name="Google Shape;854;p72"/>
          <p:cNvGrpSpPr/>
          <p:nvPr/>
        </p:nvGrpSpPr>
        <p:grpSpPr>
          <a:xfrm>
            <a:off x="328200" y="1301525"/>
            <a:ext cx="2359800" cy="613350"/>
            <a:chOff x="324000" y="2393325"/>
            <a:chExt cx="2359800" cy="613350"/>
          </a:xfrm>
        </p:grpSpPr>
        <p:sp>
          <p:nvSpPr>
            <p:cNvPr id="855" name="Google Shape;855;p72"/>
            <p:cNvSpPr/>
            <p:nvPr/>
          </p:nvSpPr>
          <p:spPr>
            <a:xfrm>
              <a:off x="2189100" y="2700075"/>
              <a:ext cx="4947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56" name="Google Shape;856;p72"/>
            <p:cNvSpPr/>
            <p:nvPr/>
          </p:nvSpPr>
          <p:spPr>
            <a:xfrm>
              <a:off x="324000" y="2393325"/>
              <a:ext cx="23598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57" name="Google Shape;857;p72"/>
            <p:cNvSpPr/>
            <p:nvPr/>
          </p:nvSpPr>
          <p:spPr>
            <a:xfrm>
              <a:off x="324000" y="2700075"/>
              <a:ext cx="1865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20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58" name="Google Shape;858;p72"/>
          <p:cNvSpPr txBox="1"/>
          <p:nvPr>
            <p:ph idx="1" type="body"/>
          </p:nvPr>
        </p:nvSpPr>
        <p:spPr>
          <a:xfrm>
            <a:off x="3086700" y="1079925"/>
            <a:ext cx="1485300" cy="12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20 + 3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− 3 = 20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− 20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59" name="Google Shape;859;p72"/>
          <p:cNvSpPr/>
          <p:nvPr/>
        </p:nvSpPr>
        <p:spPr>
          <a:xfrm>
            <a:off x="3018425" y="1571625"/>
            <a:ext cx="1150800" cy="33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2"/>
          <p:cNvSpPr/>
          <p:nvPr/>
        </p:nvSpPr>
        <p:spPr>
          <a:xfrm>
            <a:off x="3018425" y="1079931"/>
            <a:ext cx="1150800" cy="33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2"/>
          <p:cNvSpPr txBox="1"/>
          <p:nvPr>
            <p:ph idx="1" type="body"/>
          </p:nvPr>
        </p:nvSpPr>
        <p:spPr>
          <a:xfrm>
            <a:off x="324000" y="759300"/>
            <a:ext cx="8496000" cy="33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equations can you write for this bar model?</a:t>
            </a:r>
            <a:endParaRPr sz="1800"/>
          </a:p>
        </p:txBody>
      </p:sp>
      <p:sp>
        <p:nvSpPr>
          <p:cNvPr id="862" name="Google Shape;862;p72"/>
          <p:cNvSpPr txBox="1"/>
          <p:nvPr>
            <p:ph idx="1" type="body"/>
          </p:nvPr>
        </p:nvSpPr>
        <p:spPr>
          <a:xfrm>
            <a:off x="324000" y="2700000"/>
            <a:ext cx="84960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equation makes it clear what the solution is?</a:t>
            </a:r>
            <a:endParaRPr sz="1800"/>
          </a:p>
        </p:txBody>
      </p:sp>
      <p:sp>
        <p:nvSpPr>
          <p:cNvPr id="863" name="Google Shape;863;p72"/>
          <p:cNvSpPr txBox="1"/>
          <p:nvPr>
            <p:ph idx="1" type="body"/>
          </p:nvPr>
        </p:nvSpPr>
        <p:spPr>
          <a:xfrm>
            <a:off x="324000" y="3990075"/>
            <a:ext cx="8496000" cy="4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solution to this equation 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1800"/>
              <a:t> is 23</a:t>
            </a:r>
            <a:endParaRPr sz="1800"/>
          </a:p>
        </p:txBody>
      </p:sp>
      <p:sp>
        <p:nvSpPr>
          <p:cNvPr id="864" name="Google Shape;864;p72"/>
          <p:cNvSpPr txBox="1"/>
          <p:nvPr>
            <p:ph idx="1" type="body"/>
          </p:nvPr>
        </p:nvSpPr>
        <p:spPr>
          <a:xfrm>
            <a:off x="328200" y="3061650"/>
            <a:ext cx="1485300" cy="7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20 + 3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5" name="Google Shape;865;p72"/>
          <p:cNvSpPr txBox="1"/>
          <p:nvPr>
            <p:ph idx="1" type="body"/>
          </p:nvPr>
        </p:nvSpPr>
        <p:spPr>
          <a:xfrm>
            <a:off x="324000" y="4383900"/>
            <a:ext cx="8496000" cy="4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check this works for the other equations.</a:t>
            </a:r>
            <a:endParaRPr sz="1800"/>
          </a:p>
        </p:txBody>
      </p:sp>
      <p:sp>
        <p:nvSpPr>
          <p:cNvPr id="866" name="Google Shape;866;p72"/>
          <p:cNvSpPr txBox="1"/>
          <p:nvPr>
            <p:ph idx="1" type="body"/>
          </p:nvPr>
        </p:nvSpPr>
        <p:spPr>
          <a:xfrm>
            <a:off x="6256800" y="759300"/>
            <a:ext cx="14853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(23)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− 3 = 20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     20 = 20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7" name="Google Shape;867;p72"/>
          <p:cNvSpPr txBox="1"/>
          <p:nvPr>
            <p:ph idx="1" type="body"/>
          </p:nvPr>
        </p:nvSpPr>
        <p:spPr>
          <a:xfrm>
            <a:off x="6127569" y="1870838"/>
            <a:ext cx="14853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(23)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− 20 =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 3 = 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steps using representations</a:t>
            </a:r>
            <a:endParaRPr/>
          </a:p>
        </p:txBody>
      </p:sp>
      <p:grpSp>
        <p:nvGrpSpPr>
          <p:cNvPr id="873" name="Google Shape;873;p73"/>
          <p:cNvGrpSpPr/>
          <p:nvPr/>
        </p:nvGrpSpPr>
        <p:grpSpPr>
          <a:xfrm>
            <a:off x="328200" y="996725"/>
            <a:ext cx="2359800" cy="613350"/>
            <a:chOff x="324000" y="2393325"/>
            <a:chExt cx="2359800" cy="613350"/>
          </a:xfrm>
        </p:grpSpPr>
        <p:sp>
          <p:nvSpPr>
            <p:cNvPr id="874" name="Google Shape;874;p73"/>
            <p:cNvSpPr/>
            <p:nvPr/>
          </p:nvSpPr>
          <p:spPr>
            <a:xfrm>
              <a:off x="2189100" y="2700075"/>
              <a:ext cx="4947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75" name="Google Shape;875;p73"/>
            <p:cNvSpPr/>
            <p:nvPr/>
          </p:nvSpPr>
          <p:spPr>
            <a:xfrm>
              <a:off x="324000" y="2393325"/>
              <a:ext cx="23598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76" name="Google Shape;876;p73"/>
            <p:cNvSpPr/>
            <p:nvPr/>
          </p:nvSpPr>
          <p:spPr>
            <a:xfrm>
              <a:off x="324000" y="2700075"/>
              <a:ext cx="1865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20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77" name="Google Shape;877;p73"/>
          <p:cNvSpPr txBox="1"/>
          <p:nvPr>
            <p:ph idx="1" type="body"/>
          </p:nvPr>
        </p:nvSpPr>
        <p:spPr>
          <a:xfrm>
            <a:off x="3086700" y="940200"/>
            <a:ext cx="1485300" cy="33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20 + 3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8" name="Google Shape;878;p73"/>
          <p:cNvSpPr txBox="1"/>
          <p:nvPr>
            <p:ph idx="1" type="body"/>
          </p:nvPr>
        </p:nvSpPr>
        <p:spPr>
          <a:xfrm>
            <a:off x="324000" y="2101725"/>
            <a:ext cx="84960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made this solution even easier to </a:t>
            </a:r>
            <a:r>
              <a:rPr lang="en-GB" sz="1800"/>
              <a:t>find</a:t>
            </a:r>
            <a:r>
              <a:rPr lang="en-GB" sz="1800"/>
              <a:t> than the previous two?</a:t>
            </a:r>
            <a:endParaRPr sz="1800"/>
          </a:p>
        </p:txBody>
      </p:sp>
      <p:sp>
        <p:nvSpPr>
          <p:cNvPr id="879" name="Google Shape;879;p73"/>
          <p:cNvSpPr txBox="1"/>
          <p:nvPr>
            <p:ph idx="1" type="body"/>
          </p:nvPr>
        </p:nvSpPr>
        <p:spPr>
          <a:xfrm>
            <a:off x="324000" y="2508975"/>
            <a:ext cx="84960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bar representing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‘on its own’ we do not need to rearrange the equation or apply an operation to the top bar to isolate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80" name="Google Shape;880;p73"/>
          <p:cNvSpPr txBox="1"/>
          <p:nvPr>
            <p:ph idx="1" type="body"/>
          </p:nvPr>
        </p:nvSpPr>
        <p:spPr>
          <a:xfrm>
            <a:off x="324000" y="3529200"/>
            <a:ext cx="8496000" cy="136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process of finding a solution for an equation is called solving.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When solving an equation we are looking for the value of the unknown.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To do this we need to isolate the unknown to see its value ‘on its own’.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4"/>
          <p:cNvSpPr txBox="1"/>
          <p:nvPr>
            <p:ph idx="1" type="body"/>
          </p:nvPr>
        </p:nvSpPr>
        <p:spPr>
          <a:xfrm>
            <a:off x="324000" y="759300"/>
            <a:ext cx="8237700" cy="3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Which of the equations below are represented by this bar model?</a:t>
            </a:r>
            <a:endParaRPr sz="1700"/>
          </a:p>
        </p:txBody>
      </p:sp>
      <p:sp>
        <p:nvSpPr>
          <p:cNvPr id="886" name="Google Shape;88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Additive steps using representations</a:t>
            </a:r>
            <a:endParaRPr/>
          </a:p>
        </p:txBody>
      </p:sp>
      <p:sp>
        <p:nvSpPr>
          <p:cNvPr id="887" name="Google Shape;887;p74"/>
          <p:cNvSpPr txBox="1"/>
          <p:nvPr>
            <p:ph idx="1" type="body"/>
          </p:nvPr>
        </p:nvSpPr>
        <p:spPr>
          <a:xfrm>
            <a:off x="324000" y="3533050"/>
            <a:ext cx="8237700" cy="3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What is the solution to those equations, how do you know?</a:t>
            </a:r>
            <a:endParaRPr sz="1700"/>
          </a:p>
        </p:txBody>
      </p:sp>
      <p:sp>
        <p:nvSpPr>
          <p:cNvPr id="888" name="Google Shape;888;p74"/>
          <p:cNvSpPr/>
          <p:nvPr/>
        </p:nvSpPr>
        <p:spPr>
          <a:xfrm>
            <a:off x="1768550" y="1301525"/>
            <a:ext cx="9195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9" name="Google Shape;889;p74"/>
          <p:cNvSpPr/>
          <p:nvPr/>
        </p:nvSpPr>
        <p:spPr>
          <a:xfrm>
            <a:off x="328200" y="1301525"/>
            <a:ext cx="14403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r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0" name="Google Shape;890;p74"/>
          <p:cNvSpPr/>
          <p:nvPr/>
        </p:nvSpPr>
        <p:spPr>
          <a:xfrm>
            <a:off x="328200" y="1608275"/>
            <a:ext cx="23598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1" name="Google Shape;891;p74"/>
          <p:cNvSpPr txBox="1"/>
          <p:nvPr>
            <p:ph idx="1" type="body"/>
          </p:nvPr>
        </p:nvSpPr>
        <p:spPr>
          <a:xfrm>
            <a:off x="545125" y="2265300"/>
            <a:ext cx="1485300" cy="4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31 + 12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2" name="Google Shape;892;p74"/>
          <p:cNvSpPr txBox="1"/>
          <p:nvPr>
            <p:ph idx="1" type="body"/>
          </p:nvPr>
        </p:nvSpPr>
        <p:spPr>
          <a:xfrm>
            <a:off x="3446900" y="1544225"/>
            <a:ext cx="1485300" cy="4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31 − 12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3" name="Google Shape;893;p74"/>
          <p:cNvSpPr txBox="1"/>
          <p:nvPr>
            <p:ph idx="1" type="body"/>
          </p:nvPr>
        </p:nvSpPr>
        <p:spPr>
          <a:xfrm>
            <a:off x="3048475" y="2403250"/>
            <a:ext cx="1485300" cy="4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31 − 12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r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4" name="Google Shape;894;p74"/>
          <p:cNvSpPr txBox="1"/>
          <p:nvPr>
            <p:ph idx="1" type="body"/>
          </p:nvPr>
        </p:nvSpPr>
        <p:spPr>
          <a:xfrm>
            <a:off x="4995850" y="2137050"/>
            <a:ext cx="1485300" cy="4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31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− 12 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5" name="Google Shape;895;p74"/>
          <p:cNvSpPr txBox="1"/>
          <p:nvPr>
            <p:ph idx="1" type="body"/>
          </p:nvPr>
        </p:nvSpPr>
        <p:spPr>
          <a:xfrm>
            <a:off x="4533775" y="3133075"/>
            <a:ext cx="1485300" cy="4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+ 12 = 31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6" name="Google Shape;896;p74"/>
          <p:cNvSpPr txBox="1"/>
          <p:nvPr>
            <p:ph idx="1" type="body"/>
          </p:nvPr>
        </p:nvSpPr>
        <p:spPr>
          <a:xfrm>
            <a:off x="1265225" y="2860563"/>
            <a:ext cx="1485300" cy="4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+ 31 = 12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7" name="Google Shape;897;p74"/>
          <p:cNvSpPr txBox="1"/>
          <p:nvPr>
            <p:ph idx="1" type="body"/>
          </p:nvPr>
        </p:nvSpPr>
        <p:spPr>
          <a:xfrm>
            <a:off x="5973900" y="1411113"/>
            <a:ext cx="1485300" cy="4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31 = 12 −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8" name="Google Shape;898;p74"/>
          <p:cNvSpPr txBox="1"/>
          <p:nvPr>
            <p:ph idx="1" type="body"/>
          </p:nvPr>
        </p:nvSpPr>
        <p:spPr>
          <a:xfrm>
            <a:off x="6674225" y="2877625"/>
            <a:ext cx="1485300" cy="4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31 −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9" name="Google Shape;899;p74"/>
          <p:cNvSpPr txBox="1"/>
          <p:nvPr>
            <p:ph idx="1" type="body"/>
          </p:nvPr>
        </p:nvSpPr>
        <p:spPr>
          <a:xfrm>
            <a:off x="7267700" y="1978925"/>
            <a:ext cx="1485300" cy="4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31 = 12 +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0" name="Google Shape;900;p74"/>
          <p:cNvSpPr/>
          <p:nvPr/>
        </p:nvSpPr>
        <p:spPr>
          <a:xfrm>
            <a:off x="2934600" y="2391450"/>
            <a:ext cx="1385400" cy="36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4"/>
          <p:cNvSpPr/>
          <p:nvPr/>
        </p:nvSpPr>
        <p:spPr>
          <a:xfrm>
            <a:off x="3318700" y="1544225"/>
            <a:ext cx="1385400" cy="36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4"/>
          <p:cNvSpPr/>
          <p:nvPr/>
        </p:nvSpPr>
        <p:spPr>
          <a:xfrm>
            <a:off x="6591175" y="2837950"/>
            <a:ext cx="1385400" cy="36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4"/>
          <p:cNvSpPr/>
          <p:nvPr/>
        </p:nvSpPr>
        <p:spPr>
          <a:xfrm>
            <a:off x="4389000" y="3090750"/>
            <a:ext cx="1385400" cy="36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4"/>
          <p:cNvSpPr/>
          <p:nvPr/>
        </p:nvSpPr>
        <p:spPr>
          <a:xfrm>
            <a:off x="7176300" y="1979700"/>
            <a:ext cx="1385400" cy="36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4"/>
          <p:cNvSpPr txBox="1"/>
          <p:nvPr>
            <p:ph idx="1" type="body"/>
          </p:nvPr>
        </p:nvSpPr>
        <p:spPr>
          <a:xfrm>
            <a:off x="305700" y="3936300"/>
            <a:ext cx="1485300" cy="8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31 − 12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19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6" name="Google Shape;906;p74"/>
          <p:cNvSpPr txBox="1"/>
          <p:nvPr>
            <p:ph idx="1" type="body"/>
          </p:nvPr>
        </p:nvSpPr>
        <p:spPr>
          <a:xfrm>
            <a:off x="2290350" y="4405950"/>
            <a:ext cx="4563300" cy="4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Solution to this equation is when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19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" name="Google Shape;911;p75"/>
          <p:cNvGrpSpPr/>
          <p:nvPr/>
        </p:nvGrpSpPr>
        <p:grpSpPr>
          <a:xfrm>
            <a:off x="309951" y="3170487"/>
            <a:ext cx="2749686" cy="1451944"/>
            <a:chOff x="309951" y="3170487"/>
            <a:chExt cx="2749686" cy="1451944"/>
          </a:xfrm>
        </p:grpSpPr>
        <p:grpSp>
          <p:nvGrpSpPr>
            <p:cNvPr id="912" name="Google Shape;912;p75"/>
            <p:cNvGrpSpPr/>
            <p:nvPr/>
          </p:nvGrpSpPr>
          <p:grpSpPr>
            <a:xfrm>
              <a:off x="309951" y="3170487"/>
              <a:ext cx="2749686" cy="1451944"/>
              <a:chOff x="3679000" y="1380975"/>
              <a:chExt cx="4343896" cy="2543700"/>
            </a:xfrm>
          </p:grpSpPr>
          <p:sp>
            <p:nvSpPr>
              <p:cNvPr id="913" name="Google Shape;913;p75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14" name="Google Shape;914;p75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5" name="Google Shape;915;p75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16" name="Google Shape;916;p75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7" name="Google Shape;917;p75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18" name="Google Shape;918;p75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919" name="Google Shape;919;p75"/>
            <p:cNvSpPr/>
            <p:nvPr/>
          </p:nvSpPr>
          <p:spPr>
            <a:xfrm>
              <a:off x="380750" y="3854475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0" name="Google Shape;920;p75"/>
            <p:cNvSpPr/>
            <p:nvPr/>
          </p:nvSpPr>
          <p:spPr>
            <a:xfrm>
              <a:off x="805331" y="385447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1" name="Google Shape;921;p75"/>
            <p:cNvSpPr/>
            <p:nvPr/>
          </p:nvSpPr>
          <p:spPr>
            <a:xfrm>
              <a:off x="1124416" y="385447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2" name="Google Shape;922;p75"/>
            <p:cNvSpPr/>
            <p:nvPr/>
          </p:nvSpPr>
          <p:spPr>
            <a:xfrm>
              <a:off x="957731" y="3594983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3" name="Google Shape;923;p75"/>
            <p:cNvSpPr/>
            <p:nvPr/>
          </p:nvSpPr>
          <p:spPr>
            <a:xfrm>
              <a:off x="2130522" y="386115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4" name="Google Shape;924;p75"/>
            <p:cNvSpPr/>
            <p:nvPr/>
          </p:nvSpPr>
          <p:spPr>
            <a:xfrm>
              <a:off x="2458491" y="386115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5" name="Google Shape;925;p75"/>
            <p:cNvSpPr/>
            <p:nvPr/>
          </p:nvSpPr>
          <p:spPr>
            <a:xfrm>
              <a:off x="2769984" y="386115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6" name="Google Shape;926;p75"/>
            <p:cNvSpPr/>
            <p:nvPr/>
          </p:nvSpPr>
          <p:spPr>
            <a:xfrm>
              <a:off x="2306091" y="359496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7" name="Google Shape;927;p75"/>
            <p:cNvSpPr/>
            <p:nvPr/>
          </p:nvSpPr>
          <p:spPr>
            <a:xfrm>
              <a:off x="2617584" y="359496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28" name="Google Shape;928;p75"/>
          <p:cNvSpPr txBox="1"/>
          <p:nvPr>
            <p:ph idx="1" type="body"/>
          </p:nvPr>
        </p:nvSpPr>
        <p:spPr>
          <a:xfrm>
            <a:off x="324000" y="759300"/>
            <a:ext cx="82377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equation is represented by this balance scale?</a:t>
            </a:r>
            <a:endParaRPr sz="1800"/>
          </a:p>
        </p:txBody>
      </p:sp>
      <p:sp>
        <p:nvSpPr>
          <p:cNvPr id="929" name="Google Shape;929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steps using representations</a:t>
            </a:r>
            <a:endParaRPr/>
          </a:p>
        </p:txBody>
      </p:sp>
      <p:sp>
        <p:nvSpPr>
          <p:cNvPr id="930" name="Google Shape;930;p75"/>
          <p:cNvSpPr txBox="1"/>
          <p:nvPr>
            <p:ph idx="1" type="body"/>
          </p:nvPr>
        </p:nvSpPr>
        <p:spPr>
          <a:xfrm>
            <a:off x="3369600" y="1451850"/>
            <a:ext cx="1485300" cy="3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1" name="Google Shape;931;p75"/>
          <p:cNvSpPr txBox="1"/>
          <p:nvPr>
            <p:ph idx="1" type="body"/>
          </p:nvPr>
        </p:nvSpPr>
        <p:spPr>
          <a:xfrm>
            <a:off x="3369600" y="2997900"/>
            <a:ext cx="54504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would we need to do to </a:t>
            </a:r>
            <a:r>
              <a:rPr lang="en-GB" sz="1800"/>
              <a:t>the</a:t>
            </a:r>
            <a:r>
              <a:rPr lang="en-GB" sz="1800"/>
              <a:t> right hand side to balance the scales?</a:t>
            </a:r>
            <a:endParaRPr sz="1800"/>
          </a:p>
        </p:txBody>
      </p:sp>
      <p:sp>
        <p:nvSpPr>
          <p:cNvPr id="932" name="Google Shape;932;p75"/>
          <p:cNvSpPr txBox="1"/>
          <p:nvPr>
            <p:ph idx="1" type="body"/>
          </p:nvPr>
        </p:nvSpPr>
        <p:spPr>
          <a:xfrm>
            <a:off x="3369600" y="1939725"/>
            <a:ext cx="54504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have I done to the left scale pan?</a:t>
            </a:r>
            <a:endParaRPr sz="1800"/>
          </a:p>
        </p:txBody>
      </p:sp>
      <p:sp>
        <p:nvSpPr>
          <p:cNvPr id="933" name="Google Shape;933;p75"/>
          <p:cNvSpPr txBox="1"/>
          <p:nvPr>
            <p:ph idx="1" type="body"/>
          </p:nvPr>
        </p:nvSpPr>
        <p:spPr>
          <a:xfrm>
            <a:off x="3369600" y="2400525"/>
            <a:ext cx="54504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Added 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4" name="Google Shape;934;p75"/>
          <p:cNvSpPr txBox="1"/>
          <p:nvPr>
            <p:ph idx="1" type="body"/>
          </p:nvPr>
        </p:nvSpPr>
        <p:spPr>
          <a:xfrm>
            <a:off x="3369600" y="3704425"/>
            <a:ext cx="54504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Add 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5" name="Google Shape;935;p75"/>
          <p:cNvSpPr txBox="1"/>
          <p:nvPr>
            <p:ph idx="1" type="body"/>
          </p:nvPr>
        </p:nvSpPr>
        <p:spPr>
          <a:xfrm>
            <a:off x="3369600" y="4165225"/>
            <a:ext cx="54504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have added the same amount to both sides so we have maintained equality.</a:t>
            </a:r>
            <a:endParaRPr sz="1800"/>
          </a:p>
        </p:txBody>
      </p:sp>
      <p:grpSp>
        <p:nvGrpSpPr>
          <p:cNvPr id="936" name="Google Shape;936;p75"/>
          <p:cNvGrpSpPr/>
          <p:nvPr/>
        </p:nvGrpSpPr>
        <p:grpSpPr>
          <a:xfrm>
            <a:off x="309938" y="1451862"/>
            <a:ext cx="2749686" cy="1451944"/>
            <a:chOff x="309938" y="1451862"/>
            <a:chExt cx="2749686" cy="1451944"/>
          </a:xfrm>
        </p:grpSpPr>
        <p:grpSp>
          <p:nvGrpSpPr>
            <p:cNvPr id="937" name="Google Shape;937;p75"/>
            <p:cNvGrpSpPr/>
            <p:nvPr/>
          </p:nvGrpSpPr>
          <p:grpSpPr>
            <a:xfrm>
              <a:off x="309938" y="1451862"/>
              <a:ext cx="2749686" cy="1451944"/>
              <a:chOff x="3679000" y="1380975"/>
              <a:chExt cx="4343896" cy="2543700"/>
            </a:xfrm>
          </p:grpSpPr>
          <p:sp>
            <p:nvSpPr>
              <p:cNvPr id="938" name="Google Shape;938;p75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39" name="Google Shape;939;p75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0" name="Google Shape;940;p75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41" name="Google Shape;941;p75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2" name="Google Shape;942;p75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43" name="Google Shape;943;p75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944" name="Google Shape;944;p75"/>
            <p:cNvSpPr/>
            <p:nvPr/>
          </p:nvSpPr>
          <p:spPr>
            <a:xfrm>
              <a:off x="388775" y="2126600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5" name="Google Shape;945;p75"/>
            <p:cNvSpPr/>
            <p:nvPr/>
          </p:nvSpPr>
          <p:spPr>
            <a:xfrm>
              <a:off x="812469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6" name="Google Shape;946;p75"/>
            <p:cNvSpPr/>
            <p:nvPr/>
          </p:nvSpPr>
          <p:spPr>
            <a:xfrm>
              <a:off x="1131554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7" name="Google Shape;947;p75"/>
            <p:cNvSpPr/>
            <p:nvPr/>
          </p:nvSpPr>
          <p:spPr>
            <a:xfrm>
              <a:off x="964869" y="1867108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8" name="Google Shape;948;p75"/>
            <p:cNvSpPr/>
            <p:nvPr/>
          </p:nvSpPr>
          <p:spPr>
            <a:xfrm>
              <a:off x="2122285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9" name="Google Shape;949;p75"/>
            <p:cNvSpPr/>
            <p:nvPr/>
          </p:nvSpPr>
          <p:spPr>
            <a:xfrm>
              <a:off x="2450254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0" name="Google Shape;950;p75"/>
            <p:cNvSpPr/>
            <p:nvPr/>
          </p:nvSpPr>
          <p:spPr>
            <a:xfrm>
              <a:off x="2761747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1" name="Google Shape;951;p75"/>
            <p:cNvSpPr/>
            <p:nvPr/>
          </p:nvSpPr>
          <p:spPr>
            <a:xfrm>
              <a:off x="2297854" y="186041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2" name="Google Shape;952;p75"/>
            <p:cNvSpPr/>
            <p:nvPr/>
          </p:nvSpPr>
          <p:spPr>
            <a:xfrm>
              <a:off x="2609347" y="186041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53" name="Google Shape;953;p75"/>
          <p:cNvSpPr/>
          <p:nvPr/>
        </p:nvSpPr>
        <p:spPr>
          <a:xfrm>
            <a:off x="608131" y="3594983"/>
            <a:ext cx="251400" cy="247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4" name="Google Shape;954;p75"/>
          <p:cNvSpPr/>
          <p:nvPr/>
        </p:nvSpPr>
        <p:spPr>
          <a:xfrm>
            <a:off x="2444654" y="3328798"/>
            <a:ext cx="251400" cy="247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9" name="Google Shape;959;p76"/>
          <p:cNvGrpSpPr/>
          <p:nvPr/>
        </p:nvGrpSpPr>
        <p:grpSpPr>
          <a:xfrm>
            <a:off x="309938" y="1451862"/>
            <a:ext cx="2749686" cy="1451944"/>
            <a:chOff x="3679000" y="1380975"/>
            <a:chExt cx="4343896" cy="2543700"/>
          </a:xfrm>
        </p:grpSpPr>
        <p:sp>
          <p:nvSpPr>
            <p:cNvPr id="960" name="Google Shape;960;p76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61" name="Google Shape;961;p76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2" name="Google Shape;962;p76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63" name="Google Shape;963;p76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4" name="Google Shape;964;p76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65" name="Google Shape;965;p76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66" name="Google Shape;966;p76"/>
          <p:cNvSpPr txBox="1"/>
          <p:nvPr>
            <p:ph idx="1" type="body"/>
          </p:nvPr>
        </p:nvSpPr>
        <p:spPr>
          <a:xfrm>
            <a:off x="324000" y="759300"/>
            <a:ext cx="82377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time I have added −1 </a:t>
            </a:r>
            <a:endParaRPr sz="1800"/>
          </a:p>
        </p:txBody>
      </p:sp>
      <p:sp>
        <p:nvSpPr>
          <p:cNvPr id="967" name="Google Shape;967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steps using representations</a:t>
            </a:r>
            <a:endParaRPr/>
          </a:p>
        </p:txBody>
      </p:sp>
      <p:sp>
        <p:nvSpPr>
          <p:cNvPr id="968" name="Google Shape;968;p76"/>
          <p:cNvSpPr txBox="1"/>
          <p:nvPr>
            <p:ph idx="1" type="body"/>
          </p:nvPr>
        </p:nvSpPr>
        <p:spPr>
          <a:xfrm>
            <a:off x="3369600" y="2616900"/>
            <a:ext cx="54504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Adding −1 is the same as subtracting 1</a:t>
            </a:r>
            <a:endParaRPr sz="1800"/>
          </a:p>
        </p:txBody>
      </p:sp>
      <p:sp>
        <p:nvSpPr>
          <p:cNvPr id="969" name="Google Shape;969;p76"/>
          <p:cNvSpPr txBox="1"/>
          <p:nvPr>
            <p:ph idx="1" type="body"/>
          </p:nvPr>
        </p:nvSpPr>
        <p:spPr>
          <a:xfrm>
            <a:off x="3369600" y="1276613"/>
            <a:ext cx="54504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will happen to the left hand side?</a:t>
            </a:r>
            <a:endParaRPr sz="1800"/>
          </a:p>
        </p:txBody>
      </p:sp>
      <p:sp>
        <p:nvSpPr>
          <p:cNvPr id="970" name="Google Shape;970;p76"/>
          <p:cNvSpPr txBox="1"/>
          <p:nvPr>
            <p:ph idx="1" type="body"/>
          </p:nvPr>
        </p:nvSpPr>
        <p:spPr>
          <a:xfrm>
            <a:off x="3369600" y="1742525"/>
            <a:ext cx="54504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and −1 are zero pairs because they add to 0  The −1 and one of the 1 tiles will cancel out.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1" name="Google Shape;971;p76"/>
          <p:cNvSpPr/>
          <p:nvPr/>
        </p:nvSpPr>
        <p:spPr>
          <a:xfrm>
            <a:off x="644700" y="1860425"/>
            <a:ext cx="251400" cy="247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−1</a:t>
            </a:r>
            <a:endParaRPr sz="18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2" name="Google Shape;972;p76"/>
          <p:cNvSpPr/>
          <p:nvPr/>
        </p:nvSpPr>
        <p:spPr>
          <a:xfrm>
            <a:off x="388775" y="2126600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3" name="Google Shape;973;p76"/>
          <p:cNvSpPr/>
          <p:nvPr/>
        </p:nvSpPr>
        <p:spPr>
          <a:xfrm>
            <a:off x="812469" y="2126600"/>
            <a:ext cx="2514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74" name="Google Shape;974;p76"/>
          <p:cNvGrpSpPr/>
          <p:nvPr/>
        </p:nvGrpSpPr>
        <p:grpSpPr>
          <a:xfrm>
            <a:off x="309951" y="3170487"/>
            <a:ext cx="2749686" cy="1451944"/>
            <a:chOff x="3679000" y="1380975"/>
            <a:chExt cx="4343896" cy="2543700"/>
          </a:xfrm>
        </p:grpSpPr>
        <p:sp>
          <p:nvSpPr>
            <p:cNvPr id="975" name="Google Shape;975;p76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76" name="Google Shape;976;p76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77" name="Google Shape;977;p76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78" name="Google Shape;978;p76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79" name="Google Shape;979;p76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80" name="Google Shape;980;p76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81" name="Google Shape;981;p76"/>
          <p:cNvSpPr/>
          <p:nvPr/>
        </p:nvSpPr>
        <p:spPr>
          <a:xfrm>
            <a:off x="380750" y="3854475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2" name="Google Shape;982;p76"/>
          <p:cNvSpPr/>
          <p:nvPr/>
        </p:nvSpPr>
        <p:spPr>
          <a:xfrm>
            <a:off x="1131554" y="2126600"/>
            <a:ext cx="2514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3" name="Google Shape;983;p76"/>
          <p:cNvSpPr/>
          <p:nvPr/>
        </p:nvSpPr>
        <p:spPr>
          <a:xfrm>
            <a:off x="964869" y="1867108"/>
            <a:ext cx="2514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4" name="Google Shape;984;p76"/>
          <p:cNvSpPr/>
          <p:nvPr/>
        </p:nvSpPr>
        <p:spPr>
          <a:xfrm>
            <a:off x="2122285" y="2126600"/>
            <a:ext cx="2514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5" name="Google Shape;985;p76"/>
          <p:cNvSpPr/>
          <p:nvPr/>
        </p:nvSpPr>
        <p:spPr>
          <a:xfrm>
            <a:off x="2450254" y="2126600"/>
            <a:ext cx="2514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6" name="Google Shape;986;p76"/>
          <p:cNvSpPr/>
          <p:nvPr/>
        </p:nvSpPr>
        <p:spPr>
          <a:xfrm>
            <a:off x="2761747" y="2126600"/>
            <a:ext cx="2514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7" name="Google Shape;987;p76"/>
          <p:cNvSpPr/>
          <p:nvPr/>
        </p:nvSpPr>
        <p:spPr>
          <a:xfrm>
            <a:off x="2297854" y="1860415"/>
            <a:ext cx="2514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8" name="Google Shape;988;p76"/>
          <p:cNvSpPr/>
          <p:nvPr/>
        </p:nvSpPr>
        <p:spPr>
          <a:xfrm>
            <a:off x="2609347" y="1860415"/>
            <a:ext cx="2514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9" name="Google Shape;989;p76"/>
          <p:cNvSpPr/>
          <p:nvPr/>
        </p:nvSpPr>
        <p:spPr>
          <a:xfrm>
            <a:off x="805331" y="3854475"/>
            <a:ext cx="2514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0" name="Google Shape;990;p76"/>
          <p:cNvSpPr/>
          <p:nvPr/>
        </p:nvSpPr>
        <p:spPr>
          <a:xfrm>
            <a:off x="1124416" y="3854475"/>
            <a:ext cx="2514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1" name="Google Shape;991;p76"/>
          <p:cNvSpPr/>
          <p:nvPr/>
        </p:nvSpPr>
        <p:spPr>
          <a:xfrm>
            <a:off x="2130522" y="3861150"/>
            <a:ext cx="2514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2" name="Google Shape;992;p76"/>
          <p:cNvSpPr/>
          <p:nvPr/>
        </p:nvSpPr>
        <p:spPr>
          <a:xfrm>
            <a:off x="2458491" y="3861150"/>
            <a:ext cx="2514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3" name="Google Shape;993;p76"/>
          <p:cNvSpPr/>
          <p:nvPr/>
        </p:nvSpPr>
        <p:spPr>
          <a:xfrm>
            <a:off x="2769984" y="3861150"/>
            <a:ext cx="2514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4" name="Google Shape;994;p76"/>
          <p:cNvSpPr/>
          <p:nvPr/>
        </p:nvSpPr>
        <p:spPr>
          <a:xfrm>
            <a:off x="2617584" y="3594965"/>
            <a:ext cx="2514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5" name="Google Shape;995;p76"/>
          <p:cNvSpPr txBox="1"/>
          <p:nvPr>
            <p:ph idx="1" type="body"/>
          </p:nvPr>
        </p:nvSpPr>
        <p:spPr>
          <a:xfrm>
            <a:off x="3369600" y="3222150"/>
            <a:ext cx="54504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we need to do to the right hand side to maintain equality?</a:t>
            </a:r>
            <a:endParaRPr sz="1800"/>
          </a:p>
        </p:txBody>
      </p:sp>
      <p:sp>
        <p:nvSpPr>
          <p:cNvPr id="996" name="Google Shape;996;p76"/>
          <p:cNvSpPr/>
          <p:nvPr/>
        </p:nvSpPr>
        <p:spPr>
          <a:xfrm>
            <a:off x="2297850" y="1620000"/>
            <a:ext cx="251400" cy="2475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−1</a:t>
            </a:r>
            <a:endParaRPr sz="18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7" name="Google Shape;997;p76"/>
          <p:cNvSpPr txBox="1"/>
          <p:nvPr>
            <p:ph idx="1" type="body"/>
          </p:nvPr>
        </p:nvSpPr>
        <p:spPr>
          <a:xfrm>
            <a:off x="3369600" y="4089600"/>
            <a:ext cx="54504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our new equation?</a:t>
            </a:r>
            <a:endParaRPr sz="1800"/>
          </a:p>
        </p:txBody>
      </p:sp>
      <p:sp>
        <p:nvSpPr>
          <p:cNvPr id="998" name="Google Shape;998;p76"/>
          <p:cNvSpPr txBox="1"/>
          <p:nvPr>
            <p:ph idx="1" type="body"/>
          </p:nvPr>
        </p:nvSpPr>
        <p:spPr>
          <a:xfrm>
            <a:off x="3369600" y="4474500"/>
            <a:ext cx="1485300" cy="3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Google Shape;1003;p77"/>
          <p:cNvGrpSpPr/>
          <p:nvPr/>
        </p:nvGrpSpPr>
        <p:grpSpPr>
          <a:xfrm>
            <a:off x="309951" y="3170487"/>
            <a:ext cx="2749686" cy="1451944"/>
            <a:chOff x="309951" y="3170487"/>
            <a:chExt cx="2749686" cy="1451944"/>
          </a:xfrm>
        </p:grpSpPr>
        <p:grpSp>
          <p:nvGrpSpPr>
            <p:cNvPr id="1004" name="Google Shape;1004;p77"/>
            <p:cNvGrpSpPr/>
            <p:nvPr/>
          </p:nvGrpSpPr>
          <p:grpSpPr>
            <a:xfrm>
              <a:off x="309951" y="3170487"/>
              <a:ext cx="2749686" cy="1451944"/>
              <a:chOff x="3679000" y="1380975"/>
              <a:chExt cx="4343896" cy="2543700"/>
            </a:xfrm>
          </p:grpSpPr>
          <p:sp>
            <p:nvSpPr>
              <p:cNvPr id="1005" name="Google Shape;1005;p77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06" name="Google Shape;1006;p77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7" name="Google Shape;1007;p77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08" name="Google Shape;1008;p77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9" name="Google Shape;1009;p77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10" name="Google Shape;1010;p77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11" name="Google Shape;1011;p77"/>
            <p:cNvSpPr/>
            <p:nvPr/>
          </p:nvSpPr>
          <p:spPr>
            <a:xfrm>
              <a:off x="380750" y="3854475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2" name="Google Shape;1012;p77"/>
            <p:cNvSpPr/>
            <p:nvPr/>
          </p:nvSpPr>
          <p:spPr>
            <a:xfrm>
              <a:off x="805331" y="385447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3" name="Google Shape;1013;p77"/>
            <p:cNvSpPr/>
            <p:nvPr/>
          </p:nvSpPr>
          <p:spPr>
            <a:xfrm>
              <a:off x="1124416" y="385447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4" name="Google Shape;1014;p77"/>
            <p:cNvSpPr/>
            <p:nvPr/>
          </p:nvSpPr>
          <p:spPr>
            <a:xfrm>
              <a:off x="2130522" y="386115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5" name="Google Shape;1015;p77"/>
            <p:cNvSpPr/>
            <p:nvPr/>
          </p:nvSpPr>
          <p:spPr>
            <a:xfrm>
              <a:off x="2458491" y="386115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6" name="Google Shape;1016;p77"/>
            <p:cNvSpPr/>
            <p:nvPr/>
          </p:nvSpPr>
          <p:spPr>
            <a:xfrm>
              <a:off x="2769984" y="386115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7" name="Google Shape;1017;p77"/>
            <p:cNvSpPr/>
            <p:nvPr/>
          </p:nvSpPr>
          <p:spPr>
            <a:xfrm>
              <a:off x="2563524" y="359496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8" name="Google Shape;1018;p77"/>
            <p:cNvSpPr/>
            <p:nvPr/>
          </p:nvSpPr>
          <p:spPr>
            <a:xfrm>
              <a:off x="895004" y="359497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9" name="Google Shape;1019;p77"/>
            <p:cNvSpPr/>
            <p:nvPr/>
          </p:nvSpPr>
          <p:spPr>
            <a:xfrm>
              <a:off x="2251522" y="359497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020" name="Google Shape;1020;p77"/>
          <p:cNvGrpSpPr/>
          <p:nvPr/>
        </p:nvGrpSpPr>
        <p:grpSpPr>
          <a:xfrm>
            <a:off x="309938" y="1451862"/>
            <a:ext cx="2749686" cy="1451944"/>
            <a:chOff x="309938" y="1451862"/>
            <a:chExt cx="2749686" cy="1451944"/>
          </a:xfrm>
        </p:grpSpPr>
        <p:grpSp>
          <p:nvGrpSpPr>
            <p:cNvPr id="1021" name="Google Shape;1021;p77"/>
            <p:cNvGrpSpPr/>
            <p:nvPr/>
          </p:nvGrpSpPr>
          <p:grpSpPr>
            <a:xfrm>
              <a:off x="309938" y="1451862"/>
              <a:ext cx="2749686" cy="1451944"/>
              <a:chOff x="3679000" y="1380975"/>
              <a:chExt cx="4343896" cy="2543700"/>
            </a:xfrm>
          </p:grpSpPr>
          <p:sp>
            <p:nvSpPr>
              <p:cNvPr id="1022" name="Google Shape;1022;p77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23" name="Google Shape;1023;p77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24" name="Google Shape;1024;p77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25" name="Google Shape;1025;p77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26" name="Google Shape;1026;p77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27" name="Google Shape;1027;p77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28" name="Google Shape;1028;p77"/>
            <p:cNvSpPr/>
            <p:nvPr/>
          </p:nvSpPr>
          <p:spPr>
            <a:xfrm>
              <a:off x="388775" y="2126600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29" name="Google Shape;1029;p77"/>
            <p:cNvSpPr/>
            <p:nvPr/>
          </p:nvSpPr>
          <p:spPr>
            <a:xfrm>
              <a:off x="812469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0" name="Google Shape;1030;p77"/>
            <p:cNvSpPr/>
            <p:nvPr/>
          </p:nvSpPr>
          <p:spPr>
            <a:xfrm>
              <a:off x="1131554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1" name="Google Shape;1031;p77"/>
            <p:cNvSpPr/>
            <p:nvPr/>
          </p:nvSpPr>
          <p:spPr>
            <a:xfrm>
              <a:off x="964869" y="1867108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2" name="Google Shape;1032;p77"/>
            <p:cNvSpPr/>
            <p:nvPr/>
          </p:nvSpPr>
          <p:spPr>
            <a:xfrm>
              <a:off x="2091393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3" name="Google Shape;1033;p77"/>
            <p:cNvSpPr/>
            <p:nvPr/>
          </p:nvSpPr>
          <p:spPr>
            <a:xfrm>
              <a:off x="2450254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4" name="Google Shape;1034;p77"/>
            <p:cNvSpPr/>
            <p:nvPr/>
          </p:nvSpPr>
          <p:spPr>
            <a:xfrm>
              <a:off x="2761747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5" name="Google Shape;1035;p77"/>
            <p:cNvSpPr/>
            <p:nvPr/>
          </p:nvSpPr>
          <p:spPr>
            <a:xfrm>
              <a:off x="2297854" y="186041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6" name="Google Shape;1036;p77"/>
            <p:cNvSpPr/>
            <p:nvPr/>
          </p:nvSpPr>
          <p:spPr>
            <a:xfrm>
              <a:off x="2609347" y="186041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37" name="Google Shape;1037;p77"/>
          <p:cNvSpPr txBox="1"/>
          <p:nvPr>
            <p:ph idx="1" type="body"/>
          </p:nvPr>
        </p:nvSpPr>
        <p:spPr>
          <a:xfrm>
            <a:off x="324000" y="759300"/>
            <a:ext cx="82377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have I done to the equation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 = 5</a:t>
            </a:r>
            <a:r>
              <a:rPr lang="en-GB" sz="1800"/>
              <a:t> </a:t>
            </a:r>
            <a:r>
              <a:rPr lang="en-GB" sz="1800"/>
              <a:t> in these 2 examples?</a:t>
            </a:r>
            <a:endParaRPr sz="1800"/>
          </a:p>
        </p:txBody>
      </p:sp>
      <p:sp>
        <p:nvSpPr>
          <p:cNvPr id="1038" name="Google Shape;103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steps using representations</a:t>
            </a:r>
            <a:endParaRPr/>
          </a:p>
        </p:txBody>
      </p:sp>
      <p:grpSp>
        <p:nvGrpSpPr>
          <p:cNvPr id="1039" name="Google Shape;1039;p77"/>
          <p:cNvGrpSpPr/>
          <p:nvPr/>
        </p:nvGrpSpPr>
        <p:grpSpPr>
          <a:xfrm>
            <a:off x="324525" y="1594250"/>
            <a:ext cx="2529525" cy="513675"/>
            <a:chOff x="324525" y="1594250"/>
            <a:chExt cx="2529525" cy="513675"/>
          </a:xfrm>
        </p:grpSpPr>
        <p:sp>
          <p:nvSpPr>
            <p:cNvPr id="1040" name="Google Shape;1040;p77"/>
            <p:cNvSpPr/>
            <p:nvPr/>
          </p:nvSpPr>
          <p:spPr>
            <a:xfrm>
              <a:off x="644700" y="1860425"/>
              <a:ext cx="251400" cy="2475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6"/>
                  </a:solidFill>
                  <a:latin typeface="Times"/>
                  <a:ea typeface="Times"/>
                  <a:cs typeface="Times"/>
                  <a:sym typeface="Times"/>
                </a:rPr>
                <a:t>−1</a:t>
              </a:r>
              <a:endParaRPr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1" name="Google Shape;1041;p77"/>
            <p:cNvSpPr/>
            <p:nvPr/>
          </p:nvSpPr>
          <p:spPr>
            <a:xfrm>
              <a:off x="2297850" y="1620000"/>
              <a:ext cx="251400" cy="2475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6"/>
                  </a:solidFill>
                  <a:latin typeface="Times"/>
                  <a:ea typeface="Times"/>
                  <a:cs typeface="Times"/>
                  <a:sym typeface="Times"/>
                </a:rPr>
                <a:t>−1</a:t>
              </a:r>
              <a:endParaRPr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2" name="Google Shape;1042;p77"/>
            <p:cNvSpPr/>
            <p:nvPr/>
          </p:nvSpPr>
          <p:spPr>
            <a:xfrm>
              <a:off x="324525" y="1860425"/>
              <a:ext cx="251400" cy="2475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6"/>
                  </a:solidFill>
                  <a:latin typeface="Times"/>
                  <a:ea typeface="Times"/>
                  <a:cs typeface="Times"/>
                  <a:sym typeface="Times"/>
                </a:rPr>
                <a:t>−1</a:t>
              </a:r>
              <a:endParaRPr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3" name="Google Shape;1043;p77"/>
            <p:cNvSpPr/>
            <p:nvPr/>
          </p:nvSpPr>
          <p:spPr>
            <a:xfrm>
              <a:off x="506450" y="1594250"/>
              <a:ext cx="251400" cy="2475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6"/>
                  </a:solidFill>
                  <a:latin typeface="Times"/>
                  <a:ea typeface="Times"/>
                  <a:cs typeface="Times"/>
                  <a:sym typeface="Times"/>
                </a:rPr>
                <a:t>−1</a:t>
              </a:r>
              <a:endParaRPr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4" name="Google Shape;1044;p77"/>
            <p:cNvSpPr/>
            <p:nvPr/>
          </p:nvSpPr>
          <p:spPr>
            <a:xfrm>
              <a:off x="2008496" y="1857353"/>
              <a:ext cx="251400" cy="2475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6"/>
                  </a:solidFill>
                  <a:latin typeface="Times"/>
                  <a:ea typeface="Times"/>
                  <a:cs typeface="Times"/>
                  <a:sym typeface="Times"/>
                </a:rPr>
                <a:t>−1</a:t>
              </a:r>
              <a:endParaRPr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5" name="Google Shape;1045;p77"/>
            <p:cNvSpPr/>
            <p:nvPr/>
          </p:nvSpPr>
          <p:spPr>
            <a:xfrm>
              <a:off x="2602650" y="1598891"/>
              <a:ext cx="251400" cy="2475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6"/>
                  </a:solidFill>
                  <a:latin typeface="Times"/>
                  <a:ea typeface="Times"/>
                  <a:cs typeface="Times"/>
                  <a:sym typeface="Times"/>
                </a:rPr>
                <a:t>−1</a:t>
              </a:r>
              <a:endParaRPr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046" name="Google Shape;1046;p77"/>
          <p:cNvGrpSpPr/>
          <p:nvPr/>
        </p:nvGrpSpPr>
        <p:grpSpPr>
          <a:xfrm>
            <a:off x="575919" y="3075983"/>
            <a:ext cx="2544466" cy="766492"/>
            <a:chOff x="575919" y="3075983"/>
            <a:chExt cx="2544466" cy="766492"/>
          </a:xfrm>
        </p:grpSpPr>
        <p:sp>
          <p:nvSpPr>
            <p:cNvPr id="1047" name="Google Shape;1047;p77"/>
            <p:cNvSpPr/>
            <p:nvPr/>
          </p:nvSpPr>
          <p:spPr>
            <a:xfrm>
              <a:off x="575919" y="3594975"/>
              <a:ext cx="251400" cy="247500"/>
            </a:xfrm>
            <a:prstGeom prst="rect">
              <a:avLst/>
            </a:prstGeom>
            <a:solidFill>
              <a:srgbClr val="EBEDFE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8" name="Google Shape;1048;p77"/>
            <p:cNvSpPr/>
            <p:nvPr/>
          </p:nvSpPr>
          <p:spPr>
            <a:xfrm>
              <a:off x="728319" y="3335483"/>
              <a:ext cx="251400" cy="247500"/>
            </a:xfrm>
            <a:prstGeom prst="rect">
              <a:avLst/>
            </a:prstGeom>
            <a:solidFill>
              <a:srgbClr val="EBEDFE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9" name="Google Shape;1049;p77"/>
            <p:cNvSpPr/>
            <p:nvPr/>
          </p:nvSpPr>
          <p:spPr>
            <a:xfrm>
              <a:off x="728319" y="3075983"/>
              <a:ext cx="251400" cy="247500"/>
            </a:xfrm>
            <a:prstGeom prst="rect">
              <a:avLst/>
            </a:prstGeom>
            <a:solidFill>
              <a:srgbClr val="EBEDFE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50" name="Google Shape;1050;p77"/>
            <p:cNvSpPr/>
            <p:nvPr/>
          </p:nvSpPr>
          <p:spPr>
            <a:xfrm>
              <a:off x="2450259" y="3328800"/>
              <a:ext cx="251400" cy="247500"/>
            </a:xfrm>
            <a:prstGeom prst="rect">
              <a:avLst/>
            </a:prstGeom>
            <a:solidFill>
              <a:srgbClr val="EBEDFE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51" name="Google Shape;1051;p77"/>
            <p:cNvSpPr/>
            <p:nvPr/>
          </p:nvSpPr>
          <p:spPr>
            <a:xfrm>
              <a:off x="2868984" y="3594975"/>
              <a:ext cx="251400" cy="247500"/>
            </a:xfrm>
            <a:prstGeom prst="rect">
              <a:avLst/>
            </a:prstGeom>
            <a:solidFill>
              <a:srgbClr val="EBEDFE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52" name="Google Shape;1052;p77"/>
            <p:cNvSpPr/>
            <p:nvPr/>
          </p:nvSpPr>
          <p:spPr>
            <a:xfrm>
              <a:off x="2761509" y="3328800"/>
              <a:ext cx="251400" cy="247500"/>
            </a:xfrm>
            <a:prstGeom prst="rect">
              <a:avLst/>
            </a:prstGeom>
            <a:solidFill>
              <a:srgbClr val="EBEDFE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53" name="Google Shape;1053;p77"/>
          <p:cNvSpPr txBox="1"/>
          <p:nvPr>
            <p:ph idx="1" type="body"/>
          </p:nvPr>
        </p:nvSpPr>
        <p:spPr>
          <a:xfrm>
            <a:off x="6832450" y="1513350"/>
            <a:ext cx="16086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Added −3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4" name="Google Shape;1054;p77"/>
          <p:cNvSpPr txBox="1"/>
          <p:nvPr>
            <p:ph idx="1" type="body"/>
          </p:nvPr>
        </p:nvSpPr>
        <p:spPr>
          <a:xfrm>
            <a:off x="6832450" y="3222150"/>
            <a:ext cx="19875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Added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55" name="Google Shape;1055;p77"/>
          <p:cNvGrpSpPr/>
          <p:nvPr/>
        </p:nvGrpSpPr>
        <p:grpSpPr>
          <a:xfrm>
            <a:off x="3598926" y="1443129"/>
            <a:ext cx="2749686" cy="1451944"/>
            <a:chOff x="3598926" y="1443129"/>
            <a:chExt cx="2749686" cy="1451944"/>
          </a:xfrm>
        </p:grpSpPr>
        <p:grpSp>
          <p:nvGrpSpPr>
            <p:cNvPr id="1056" name="Google Shape;1056;p77"/>
            <p:cNvGrpSpPr/>
            <p:nvPr/>
          </p:nvGrpSpPr>
          <p:grpSpPr>
            <a:xfrm>
              <a:off x="3598926" y="1443129"/>
              <a:ext cx="2749686" cy="1451944"/>
              <a:chOff x="3679000" y="1380975"/>
              <a:chExt cx="4343896" cy="2543700"/>
            </a:xfrm>
          </p:grpSpPr>
          <p:sp>
            <p:nvSpPr>
              <p:cNvPr id="1057" name="Google Shape;1057;p77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8" name="Google Shape;1058;p77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9" name="Google Shape;1059;p77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60" name="Google Shape;1060;p77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1" name="Google Shape;1061;p77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62" name="Google Shape;1062;p77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63" name="Google Shape;1063;p77"/>
            <p:cNvSpPr/>
            <p:nvPr/>
          </p:nvSpPr>
          <p:spPr>
            <a:xfrm>
              <a:off x="3892950" y="2126600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64" name="Google Shape;1064;p77"/>
            <p:cNvSpPr/>
            <p:nvPr/>
          </p:nvSpPr>
          <p:spPr>
            <a:xfrm>
              <a:off x="5545104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65" name="Google Shape;1065;p77"/>
            <p:cNvSpPr/>
            <p:nvPr/>
          </p:nvSpPr>
          <p:spPr>
            <a:xfrm>
              <a:off x="5856597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78"/>
          <p:cNvSpPr/>
          <p:nvPr/>
        </p:nvSpPr>
        <p:spPr>
          <a:xfrm>
            <a:off x="4819125" y="1150725"/>
            <a:ext cx="4000800" cy="199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78"/>
          <p:cNvSpPr txBox="1"/>
          <p:nvPr>
            <p:ph idx="1" type="body"/>
          </p:nvPr>
        </p:nvSpPr>
        <p:spPr>
          <a:xfrm>
            <a:off x="324000" y="759300"/>
            <a:ext cx="82377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Looking at all 4 examples, which was the most useful operation for finding the solution to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 = 5</a:t>
            </a:r>
            <a:endParaRPr sz="1800"/>
          </a:p>
        </p:txBody>
      </p:sp>
      <p:sp>
        <p:nvSpPr>
          <p:cNvPr id="1072" name="Google Shape;1072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steps using representations</a:t>
            </a:r>
            <a:endParaRPr/>
          </a:p>
        </p:txBody>
      </p:sp>
      <p:sp>
        <p:nvSpPr>
          <p:cNvPr id="1073" name="Google Shape;1073;p78"/>
          <p:cNvSpPr txBox="1"/>
          <p:nvPr>
            <p:ph idx="1" type="body"/>
          </p:nvPr>
        </p:nvSpPr>
        <p:spPr>
          <a:xfrm>
            <a:off x="7911225" y="1532300"/>
            <a:ext cx="16086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Add −3</a:t>
            </a:r>
            <a:endParaRPr sz="1900"/>
          </a:p>
        </p:txBody>
      </p:sp>
      <p:sp>
        <p:nvSpPr>
          <p:cNvPr id="1074" name="Google Shape;1074;p78"/>
          <p:cNvSpPr txBox="1"/>
          <p:nvPr>
            <p:ph idx="1" type="body"/>
          </p:nvPr>
        </p:nvSpPr>
        <p:spPr>
          <a:xfrm>
            <a:off x="7913250" y="3240000"/>
            <a:ext cx="19875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Add 3</a:t>
            </a:r>
            <a:endParaRPr sz="1900"/>
          </a:p>
        </p:txBody>
      </p:sp>
      <p:grpSp>
        <p:nvGrpSpPr>
          <p:cNvPr id="1075" name="Google Shape;1075;p78"/>
          <p:cNvGrpSpPr/>
          <p:nvPr/>
        </p:nvGrpSpPr>
        <p:grpSpPr>
          <a:xfrm>
            <a:off x="5046726" y="1587287"/>
            <a:ext cx="2749686" cy="1451944"/>
            <a:chOff x="3598926" y="1443129"/>
            <a:chExt cx="2749686" cy="1451944"/>
          </a:xfrm>
        </p:grpSpPr>
        <p:grpSp>
          <p:nvGrpSpPr>
            <p:cNvPr id="1076" name="Google Shape;1076;p78"/>
            <p:cNvGrpSpPr/>
            <p:nvPr/>
          </p:nvGrpSpPr>
          <p:grpSpPr>
            <a:xfrm>
              <a:off x="3598926" y="1443129"/>
              <a:ext cx="2749686" cy="1451944"/>
              <a:chOff x="3679000" y="1380975"/>
              <a:chExt cx="4343896" cy="2543700"/>
            </a:xfrm>
          </p:grpSpPr>
          <p:sp>
            <p:nvSpPr>
              <p:cNvPr id="1077" name="Google Shape;1077;p78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78" name="Google Shape;1078;p78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79" name="Google Shape;1079;p78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80" name="Google Shape;1080;p78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1" name="Google Shape;1081;p78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82" name="Google Shape;1082;p78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83" name="Google Shape;1083;p78"/>
            <p:cNvSpPr/>
            <p:nvPr/>
          </p:nvSpPr>
          <p:spPr>
            <a:xfrm>
              <a:off x="3892950" y="2126600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84" name="Google Shape;1084;p78"/>
            <p:cNvSpPr/>
            <p:nvPr/>
          </p:nvSpPr>
          <p:spPr>
            <a:xfrm>
              <a:off x="5545104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85" name="Google Shape;1085;p78"/>
            <p:cNvSpPr/>
            <p:nvPr/>
          </p:nvSpPr>
          <p:spPr>
            <a:xfrm>
              <a:off x="5856597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086" name="Google Shape;1086;p78"/>
          <p:cNvGrpSpPr/>
          <p:nvPr/>
        </p:nvGrpSpPr>
        <p:grpSpPr>
          <a:xfrm>
            <a:off x="309963" y="1587287"/>
            <a:ext cx="2749686" cy="1451944"/>
            <a:chOff x="309963" y="1587287"/>
            <a:chExt cx="2749686" cy="1451944"/>
          </a:xfrm>
        </p:grpSpPr>
        <p:grpSp>
          <p:nvGrpSpPr>
            <p:cNvPr id="1087" name="Google Shape;1087;p78"/>
            <p:cNvGrpSpPr/>
            <p:nvPr/>
          </p:nvGrpSpPr>
          <p:grpSpPr>
            <a:xfrm>
              <a:off x="309963" y="1587287"/>
              <a:ext cx="2749686" cy="1451944"/>
              <a:chOff x="3679000" y="1380975"/>
              <a:chExt cx="4343896" cy="2543700"/>
            </a:xfrm>
          </p:grpSpPr>
          <p:sp>
            <p:nvSpPr>
              <p:cNvPr id="1088" name="Google Shape;1088;p78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89" name="Google Shape;1089;p78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0" name="Google Shape;1090;p78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91" name="Google Shape;1091;p78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2" name="Google Shape;1092;p78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93" name="Google Shape;1093;p78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94" name="Google Shape;1094;p78"/>
            <p:cNvSpPr/>
            <p:nvPr/>
          </p:nvSpPr>
          <p:spPr>
            <a:xfrm>
              <a:off x="380763" y="2271275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5" name="Google Shape;1095;p78"/>
            <p:cNvSpPr/>
            <p:nvPr/>
          </p:nvSpPr>
          <p:spPr>
            <a:xfrm>
              <a:off x="805344" y="227127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6" name="Google Shape;1096;p78"/>
            <p:cNvSpPr/>
            <p:nvPr/>
          </p:nvSpPr>
          <p:spPr>
            <a:xfrm>
              <a:off x="1124429" y="227127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7" name="Google Shape;1097;p78"/>
            <p:cNvSpPr/>
            <p:nvPr/>
          </p:nvSpPr>
          <p:spPr>
            <a:xfrm>
              <a:off x="957744" y="2011783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8" name="Google Shape;1098;p78"/>
            <p:cNvSpPr/>
            <p:nvPr/>
          </p:nvSpPr>
          <p:spPr>
            <a:xfrm>
              <a:off x="608144" y="2011783"/>
              <a:ext cx="251400" cy="2475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9" name="Google Shape;1099;p78"/>
            <p:cNvSpPr/>
            <p:nvPr/>
          </p:nvSpPr>
          <p:spPr>
            <a:xfrm>
              <a:off x="2130535" y="227795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00" name="Google Shape;1100;p78"/>
            <p:cNvSpPr/>
            <p:nvPr/>
          </p:nvSpPr>
          <p:spPr>
            <a:xfrm>
              <a:off x="2458504" y="227795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01" name="Google Shape;1101;p78"/>
            <p:cNvSpPr/>
            <p:nvPr/>
          </p:nvSpPr>
          <p:spPr>
            <a:xfrm>
              <a:off x="2769997" y="227795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02" name="Google Shape;1102;p78"/>
            <p:cNvSpPr/>
            <p:nvPr/>
          </p:nvSpPr>
          <p:spPr>
            <a:xfrm>
              <a:off x="2306104" y="201176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03" name="Google Shape;1103;p78"/>
            <p:cNvSpPr/>
            <p:nvPr/>
          </p:nvSpPr>
          <p:spPr>
            <a:xfrm>
              <a:off x="2617597" y="201176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04" name="Google Shape;1104;p78"/>
            <p:cNvSpPr/>
            <p:nvPr/>
          </p:nvSpPr>
          <p:spPr>
            <a:xfrm>
              <a:off x="2444667" y="1745598"/>
              <a:ext cx="251400" cy="2475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05" name="Google Shape;1105;p78"/>
          <p:cNvGrpSpPr/>
          <p:nvPr/>
        </p:nvGrpSpPr>
        <p:grpSpPr>
          <a:xfrm>
            <a:off x="5100801" y="3273958"/>
            <a:ext cx="2810434" cy="1546448"/>
            <a:chOff x="309951" y="3075983"/>
            <a:chExt cx="2810434" cy="1546448"/>
          </a:xfrm>
        </p:grpSpPr>
        <p:grpSp>
          <p:nvGrpSpPr>
            <p:cNvPr id="1106" name="Google Shape;1106;p78"/>
            <p:cNvGrpSpPr/>
            <p:nvPr/>
          </p:nvGrpSpPr>
          <p:grpSpPr>
            <a:xfrm>
              <a:off x="309951" y="3170487"/>
              <a:ext cx="2749686" cy="1451944"/>
              <a:chOff x="3679000" y="1380975"/>
              <a:chExt cx="4343896" cy="2543700"/>
            </a:xfrm>
          </p:grpSpPr>
          <p:sp>
            <p:nvSpPr>
              <p:cNvPr id="1107" name="Google Shape;1107;p78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08" name="Google Shape;1108;p78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9" name="Google Shape;1109;p78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10" name="Google Shape;1110;p78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1" name="Google Shape;1111;p78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12" name="Google Shape;1112;p78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13" name="Google Shape;1113;p78"/>
            <p:cNvSpPr/>
            <p:nvPr/>
          </p:nvSpPr>
          <p:spPr>
            <a:xfrm>
              <a:off x="380750" y="3854475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4" name="Google Shape;1114;p78"/>
            <p:cNvSpPr/>
            <p:nvPr/>
          </p:nvSpPr>
          <p:spPr>
            <a:xfrm>
              <a:off x="805331" y="385447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5" name="Google Shape;1115;p78"/>
            <p:cNvSpPr/>
            <p:nvPr/>
          </p:nvSpPr>
          <p:spPr>
            <a:xfrm>
              <a:off x="1124416" y="385447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6" name="Google Shape;1116;p78"/>
            <p:cNvSpPr/>
            <p:nvPr/>
          </p:nvSpPr>
          <p:spPr>
            <a:xfrm>
              <a:off x="2130522" y="386115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7" name="Google Shape;1117;p78"/>
            <p:cNvSpPr/>
            <p:nvPr/>
          </p:nvSpPr>
          <p:spPr>
            <a:xfrm>
              <a:off x="2458491" y="386115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8" name="Google Shape;1118;p78"/>
            <p:cNvSpPr/>
            <p:nvPr/>
          </p:nvSpPr>
          <p:spPr>
            <a:xfrm>
              <a:off x="2769984" y="386115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19" name="Google Shape;1119;p78"/>
            <p:cNvSpPr/>
            <p:nvPr/>
          </p:nvSpPr>
          <p:spPr>
            <a:xfrm>
              <a:off x="2563524" y="359496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20" name="Google Shape;1120;p78"/>
            <p:cNvSpPr/>
            <p:nvPr/>
          </p:nvSpPr>
          <p:spPr>
            <a:xfrm>
              <a:off x="575919" y="3594975"/>
              <a:ext cx="251400" cy="247500"/>
            </a:xfrm>
            <a:prstGeom prst="rect">
              <a:avLst/>
            </a:prstGeom>
            <a:solidFill>
              <a:srgbClr val="EBEDFE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21" name="Google Shape;1121;p78"/>
            <p:cNvSpPr/>
            <p:nvPr/>
          </p:nvSpPr>
          <p:spPr>
            <a:xfrm>
              <a:off x="895004" y="359497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22" name="Google Shape;1122;p78"/>
            <p:cNvSpPr/>
            <p:nvPr/>
          </p:nvSpPr>
          <p:spPr>
            <a:xfrm>
              <a:off x="728319" y="3335483"/>
              <a:ext cx="251400" cy="247500"/>
            </a:xfrm>
            <a:prstGeom prst="rect">
              <a:avLst/>
            </a:prstGeom>
            <a:solidFill>
              <a:srgbClr val="EBEDFE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23" name="Google Shape;1123;p78"/>
            <p:cNvSpPr/>
            <p:nvPr/>
          </p:nvSpPr>
          <p:spPr>
            <a:xfrm>
              <a:off x="728319" y="3075983"/>
              <a:ext cx="251400" cy="247500"/>
            </a:xfrm>
            <a:prstGeom prst="rect">
              <a:avLst/>
            </a:prstGeom>
            <a:solidFill>
              <a:srgbClr val="EBEDFE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24" name="Google Shape;1124;p78"/>
            <p:cNvSpPr/>
            <p:nvPr/>
          </p:nvSpPr>
          <p:spPr>
            <a:xfrm>
              <a:off x="2251522" y="359497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25" name="Google Shape;1125;p78"/>
            <p:cNvSpPr/>
            <p:nvPr/>
          </p:nvSpPr>
          <p:spPr>
            <a:xfrm>
              <a:off x="2450259" y="3328800"/>
              <a:ext cx="251400" cy="247500"/>
            </a:xfrm>
            <a:prstGeom prst="rect">
              <a:avLst/>
            </a:prstGeom>
            <a:solidFill>
              <a:srgbClr val="EBEDFE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26" name="Google Shape;1126;p78"/>
            <p:cNvSpPr/>
            <p:nvPr/>
          </p:nvSpPr>
          <p:spPr>
            <a:xfrm>
              <a:off x="2868984" y="3594975"/>
              <a:ext cx="251400" cy="247500"/>
            </a:xfrm>
            <a:prstGeom prst="rect">
              <a:avLst/>
            </a:prstGeom>
            <a:solidFill>
              <a:srgbClr val="EBEDFE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27" name="Google Shape;1127;p78"/>
            <p:cNvSpPr/>
            <p:nvPr/>
          </p:nvSpPr>
          <p:spPr>
            <a:xfrm>
              <a:off x="2761509" y="3328800"/>
              <a:ext cx="251400" cy="247500"/>
            </a:xfrm>
            <a:prstGeom prst="rect">
              <a:avLst/>
            </a:prstGeom>
            <a:solidFill>
              <a:srgbClr val="EBEDFE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28" name="Google Shape;1128;p78"/>
          <p:cNvGrpSpPr/>
          <p:nvPr/>
        </p:nvGrpSpPr>
        <p:grpSpPr>
          <a:xfrm>
            <a:off x="309963" y="3368462"/>
            <a:ext cx="2749686" cy="1451944"/>
            <a:chOff x="309963" y="3368462"/>
            <a:chExt cx="2749686" cy="1451944"/>
          </a:xfrm>
        </p:grpSpPr>
        <p:grpSp>
          <p:nvGrpSpPr>
            <p:cNvPr id="1129" name="Google Shape;1129;p78"/>
            <p:cNvGrpSpPr/>
            <p:nvPr/>
          </p:nvGrpSpPr>
          <p:grpSpPr>
            <a:xfrm>
              <a:off x="309963" y="3368462"/>
              <a:ext cx="2749686" cy="1451944"/>
              <a:chOff x="3679000" y="1380975"/>
              <a:chExt cx="4343896" cy="2543700"/>
            </a:xfrm>
          </p:grpSpPr>
          <p:sp>
            <p:nvSpPr>
              <p:cNvPr id="1130" name="Google Shape;1130;p78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31" name="Google Shape;1131;p78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2" name="Google Shape;1132;p78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33" name="Google Shape;1133;p78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4" name="Google Shape;1134;p78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35" name="Google Shape;1135;p78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36" name="Google Shape;1136;p78"/>
            <p:cNvSpPr/>
            <p:nvPr/>
          </p:nvSpPr>
          <p:spPr>
            <a:xfrm>
              <a:off x="380763" y="4052450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37" name="Google Shape;1137;p78"/>
            <p:cNvSpPr/>
            <p:nvPr/>
          </p:nvSpPr>
          <p:spPr>
            <a:xfrm>
              <a:off x="805344" y="405245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38" name="Google Shape;1138;p78"/>
            <p:cNvSpPr/>
            <p:nvPr/>
          </p:nvSpPr>
          <p:spPr>
            <a:xfrm>
              <a:off x="1124429" y="405245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39" name="Google Shape;1139;p78"/>
            <p:cNvSpPr/>
            <p:nvPr/>
          </p:nvSpPr>
          <p:spPr>
            <a:xfrm>
              <a:off x="2130535" y="405912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40" name="Google Shape;1140;p78"/>
            <p:cNvSpPr/>
            <p:nvPr/>
          </p:nvSpPr>
          <p:spPr>
            <a:xfrm>
              <a:off x="2458504" y="405912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41" name="Google Shape;1141;p78"/>
            <p:cNvSpPr/>
            <p:nvPr/>
          </p:nvSpPr>
          <p:spPr>
            <a:xfrm>
              <a:off x="2769997" y="405912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42" name="Google Shape;1142;p78"/>
            <p:cNvSpPr/>
            <p:nvPr/>
          </p:nvSpPr>
          <p:spPr>
            <a:xfrm>
              <a:off x="2617597" y="379294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143" name="Google Shape;1143;p78"/>
          <p:cNvSpPr txBox="1"/>
          <p:nvPr>
            <p:ph idx="1" type="body"/>
          </p:nvPr>
        </p:nvSpPr>
        <p:spPr>
          <a:xfrm>
            <a:off x="3059650" y="1532300"/>
            <a:ext cx="19875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Add 1</a:t>
            </a:r>
            <a:endParaRPr sz="1900"/>
          </a:p>
        </p:txBody>
      </p:sp>
      <p:sp>
        <p:nvSpPr>
          <p:cNvPr id="1144" name="Google Shape;1144;p78"/>
          <p:cNvSpPr txBox="1"/>
          <p:nvPr>
            <p:ph idx="1" type="body"/>
          </p:nvPr>
        </p:nvSpPr>
        <p:spPr>
          <a:xfrm>
            <a:off x="3059650" y="3240000"/>
            <a:ext cx="16086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Add −1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79"/>
          <p:cNvSpPr txBox="1"/>
          <p:nvPr>
            <p:ph idx="1" type="body"/>
          </p:nvPr>
        </p:nvSpPr>
        <p:spPr>
          <a:xfrm>
            <a:off x="324000" y="759300"/>
            <a:ext cx="84960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Adding −3 was the most useful option to find the solution as it has isolated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0" name="Google Shape;115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steps using representations</a:t>
            </a:r>
            <a:endParaRPr/>
          </a:p>
        </p:txBody>
      </p:sp>
      <p:sp>
        <p:nvSpPr>
          <p:cNvPr id="1151" name="Google Shape;1151;p79"/>
          <p:cNvSpPr txBox="1"/>
          <p:nvPr>
            <p:ph idx="1" type="body"/>
          </p:nvPr>
        </p:nvSpPr>
        <p:spPr>
          <a:xfrm>
            <a:off x="1115000" y="3009600"/>
            <a:ext cx="962400" cy="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Add −3</a:t>
            </a:r>
            <a:endParaRPr sz="1900"/>
          </a:p>
        </p:txBody>
      </p:sp>
      <p:grpSp>
        <p:nvGrpSpPr>
          <p:cNvPr id="1152" name="Google Shape;1152;p79"/>
          <p:cNvGrpSpPr/>
          <p:nvPr/>
        </p:nvGrpSpPr>
        <p:grpSpPr>
          <a:xfrm>
            <a:off x="309963" y="3368462"/>
            <a:ext cx="2749686" cy="1451944"/>
            <a:chOff x="3598926" y="1443129"/>
            <a:chExt cx="2749686" cy="1451944"/>
          </a:xfrm>
        </p:grpSpPr>
        <p:grpSp>
          <p:nvGrpSpPr>
            <p:cNvPr id="1153" name="Google Shape;1153;p79"/>
            <p:cNvGrpSpPr/>
            <p:nvPr/>
          </p:nvGrpSpPr>
          <p:grpSpPr>
            <a:xfrm>
              <a:off x="3598926" y="1443129"/>
              <a:ext cx="2749686" cy="1451944"/>
              <a:chOff x="3679000" y="1380975"/>
              <a:chExt cx="4343896" cy="2543700"/>
            </a:xfrm>
          </p:grpSpPr>
          <p:sp>
            <p:nvSpPr>
              <p:cNvPr id="1154" name="Google Shape;1154;p79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55" name="Google Shape;1155;p79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6" name="Google Shape;1156;p79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57" name="Google Shape;1157;p79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8" name="Google Shape;1158;p79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59" name="Google Shape;1159;p79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60" name="Google Shape;1160;p79"/>
            <p:cNvSpPr/>
            <p:nvPr/>
          </p:nvSpPr>
          <p:spPr>
            <a:xfrm>
              <a:off x="3892950" y="2126600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61" name="Google Shape;1161;p79"/>
            <p:cNvSpPr/>
            <p:nvPr/>
          </p:nvSpPr>
          <p:spPr>
            <a:xfrm>
              <a:off x="5545104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62" name="Google Shape;1162;p79"/>
            <p:cNvSpPr/>
            <p:nvPr/>
          </p:nvSpPr>
          <p:spPr>
            <a:xfrm>
              <a:off x="5856597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163" name="Google Shape;1163;p79"/>
          <p:cNvGrpSpPr/>
          <p:nvPr/>
        </p:nvGrpSpPr>
        <p:grpSpPr>
          <a:xfrm>
            <a:off x="309938" y="1451862"/>
            <a:ext cx="2749686" cy="1451944"/>
            <a:chOff x="309938" y="1451862"/>
            <a:chExt cx="2749686" cy="1451944"/>
          </a:xfrm>
        </p:grpSpPr>
        <p:grpSp>
          <p:nvGrpSpPr>
            <p:cNvPr id="1164" name="Google Shape;1164;p79"/>
            <p:cNvGrpSpPr/>
            <p:nvPr/>
          </p:nvGrpSpPr>
          <p:grpSpPr>
            <a:xfrm>
              <a:off x="309938" y="1451862"/>
              <a:ext cx="2749686" cy="1451944"/>
              <a:chOff x="3679000" y="1380975"/>
              <a:chExt cx="4343896" cy="2543700"/>
            </a:xfrm>
          </p:grpSpPr>
          <p:sp>
            <p:nvSpPr>
              <p:cNvPr id="1165" name="Google Shape;1165;p79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66" name="Google Shape;1166;p79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67" name="Google Shape;1167;p79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68" name="Google Shape;1168;p79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69" name="Google Shape;1169;p79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70" name="Google Shape;1170;p79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71" name="Google Shape;1171;p79"/>
            <p:cNvSpPr/>
            <p:nvPr/>
          </p:nvSpPr>
          <p:spPr>
            <a:xfrm>
              <a:off x="388775" y="2126600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72" name="Google Shape;1172;p79"/>
            <p:cNvSpPr/>
            <p:nvPr/>
          </p:nvSpPr>
          <p:spPr>
            <a:xfrm>
              <a:off x="812469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73" name="Google Shape;1173;p79"/>
            <p:cNvSpPr/>
            <p:nvPr/>
          </p:nvSpPr>
          <p:spPr>
            <a:xfrm>
              <a:off x="1131554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74" name="Google Shape;1174;p79"/>
            <p:cNvSpPr/>
            <p:nvPr/>
          </p:nvSpPr>
          <p:spPr>
            <a:xfrm>
              <a:off x="964869" y="1867108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75" name="Google Shape;1175;p79"/>
            <p:cNvSpPr/>
            <p:nvPr/>
          </p:nvSpPr>
          <p:spPr>
            <a:xfrm>
              <a:off x="2122285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76" name="Google Shape;1176;p79"/>
            <p:cNvSpPr/>
            <p:nvPr/>
          </p:nvSpPr>
          <p:spPr>
            <a:xfrm>
              <a:off x="2450254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77" name="Google Shape;1177;p79"/>
            <p:cNvSpPr/>
            <p:nvPr/>
          </p:nvSpPr>
          <p:spPr>
            <a:xfrm>
              <a:off x="2761747" y="2126600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78" name="Google Shape;1178;p79"/>
            <p:cNvSpPr/>
            <p:nvPr/>
          </p:nvSpPr>
          <p:spPr>
            <a:xfrm>
              <a:off x="2297854" y="186041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79" name="Google Shape;1179;p79"/>
            <p:cNvSpPr/>
            <p:nvPr/>
          </p:nvSpPr>
          <p:spPr>
            <a:xfrm>
              <a:off x="2609347" y="1860415"/>
              <a:ext cx="2514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180" name="Google Shape;1180;p79"/>
          <p:cNvSpPr txBox="1"/>
          <p:nvPr>
            <p:ph idx="1" type="body"/>
          </p:nvPr>
        </p:nvSpPr>
        <p:spPr>
          <a:xfrm>
            <a:off x="3369600" y="3368450"/>
            <a:ext cx="54504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solution to the equation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 = 5</a:t>
            </a:r>
            <a:r>
              <a:rPr lang="en-GB" sz="1800"/>
              <a:t> is now clearly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is 2</a:t>
            </a:r>
            <a:r>
              <a:rPr lang="en-GB" sz="1800"/>
              <a:t> 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80"/>
          <p:cNvSpPr txBox="1"/>
          <p:nvPr>
            <p:ph idx="1" type="body"/>
          </p:nvPr>
        </p:nvSpPr>
        <p:spPr>
          <a:xfrm>
            <a:off x="324000" y="697516"/>
            <a:ext cx="84960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Some pupils are trying to solve the equation represented on this balance.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6" name="Google Shape;1186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steps using representations</a:t>
            </a:r>
            <a:endParaRPr/>
          </a:p>
        </p:txBody>
      </p:sp>
      <p:grpSp>
        <p:nvGrpSpPr>
          <p:cNvPr id="1187" name="Google Shape;1187;p80"/>
          <p:cNvGrpSpPr/>
          <p:nvPr/>
        </p:nvGrpSpPr>
        <p:grpSpPr>
          <a:xfrm>
            <a:off x="324001" y="1166822"/>
            <a:ext cx="2749686" cy="1451944"/>
            <a:chOff x="324001" y="1243022"/>
            <a:chExt cx="2749686" cy="1451944"/>
          </a:xfrm>
        </p:grpSpPr>
        <p:grpSp>
          <p:nvGrpSpPr>
            <p:cNvPr id="1188" name="Google Shape;1188;p80"/>
            <p:cNvGrpSpPr/>
            <p:nvPr/>
          </p:nvGrpSpPr>
          <p:grpSpPr>
            <a:xfrm>
              <a:off x="324001" y="1243022"/>
              <a:ext cx="2749686" cy="1451944"/>
              <a:chOff x="3679000" y="1380975"/>
              <a:chExt cx="4343896" cy="2543700"/>
            </a:xfrm>
          </p:grpSpPr>
          <p:sp>
            <p:nvSpPr>
              <p:cNvPr id="1189" name="Google Shape;1189;p80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90" name="Google Shape;1190;p80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1" name="Google Shape;1191;p80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92" name="Google Shape;1192;p80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3" name="Google Shape;1193;p80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94" name="Google Shape;1194;p80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95" name="Google Shape;1195;p80"/>
            <p:cNvSpPr/>
            <p:nvPr/>
          </p:nvSpPr>
          <p:spPr>
            <a:xfrm>
              <a:off x="443286" y="1933272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96" name="Google Shape;1196;p80"/>
            <p:cNvSpPr/>
            <p:nvPr/>
          </p:nvSpPr>
          <p:spPr>
            <a:xfrm>
              <a:off x="895725" y="1799450"/>
              <a:ext cx="377100" cy="3690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97" name="Google Shape;1197;p80"/>
            <p:cNvSpPr/>
            <p:nvPr/>
          </p:nvSpPr>
          <p:spPr>
            <a:xfrm>
              <a:off x="2208625" y="1799450"/>
              <a:ext cx="633300" cy="3690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16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198" name="Google Shape;1198;p80"/>
            <p:cNvSpPr/>
            <p:nvPr/>
          </p:nvSpPr>
          <p:spPr>
            <a:xfrm>
              <a:off x="443286" y="1676306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pic>
        <p:nvPicPr>
          <p:cNvPr id="1199" name="Google Shape;119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7403" y="2623412"/>
            <a:ext cx="458105" cy="56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80"/>
          <p:cNvSpPr txBox="1"/>
          <p:nvPr/>
        </p:nvSpPr>
        <p:spPr>
          <a:xfrm>
            <a:off x="7374778" y="3180551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1" name="Google Shape;1201;p80"/>
          <p:cNvGrpSpPr/>
          <p:nvPr/>
        </p:nvGrpSpPr>
        <p:grpSpPr>
          <a:xfrm flipH="1">
            <a:off x="4903987" y="1033976"/>
            <a:ext cx="2656006" cy="931500"/>
            <a:chOff x="1807240" y="1612125"/>
            <a:chExt cx="1901629" cy="931500"/>
          </a:xfrm>
        </p:grpSpPr>
        <p:pic>
          <p:nvPicPr>
            <p:cNvPr id="1202" name="Google Shape;1202;p80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80"/>
            <p:cNvSpPr txBox="1"/>
            <p:nvPr/>
          </p:nvSpPr>
          <p:spPr>
            <a:xfrm flipH="1">
              <a:off x="1959724" y="1778602"/>
              <a:ext cx="16581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going to add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04" name="Google Shape;1204;p80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4904100" y="2176975"/>
            <a:ext cx="2656026" cy="9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80"/>
          <p:cNvSpPr txBox="1"/>
          <p:nvPr/>
        </p:nvSpPr>
        <p:spPr>
          <a:xfrm flipH="1">
            <a:off x="7441528" y="1897477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6" name="Google Shape;1206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692494" y="1380723"/>
            <a:ext cx="387923" cy="5586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80"/>
          <p:cNvSpPr txBox="1"/>
          <p:nvPr/>
        </p:nvSpPr>
        <p:spPr>
          <a:xfrm flipH="1">
            <a:off x="7509928" y="4272402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8" name="Google Shape;1208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64520" y="3780005"/>
            <a:ext cx="443871" cy="492403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80"/>
          <p:cNvSpPr txBox="1"/>
          <p:nvPr/>
        </p:nvSpPr>
        <p:spPr>
          <a:xfrm>
            <a:off x="5081049" y="2385940"/>
            <a:ext cx="22014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going to add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0" name="Google Shape;1210;p80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4928775" y="3319975"/>
            <a:ext cx="2656026" cy="9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1" name="Google Shape;1211;p80"/>
          <p:cNvSpPr txBox="1"/>
          <p:nvPr/>
        </p:nvSpPr>
        <p:spPr>
          <a:xfrm>
            <a:off x="5105724" y="3528940"/>
            <a:ext cx="22014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going to add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0"/>
          <p:cNvSpPr txBox="1"/>
          <p:nvPr>
            <p:ph idx="1" type="body"/>
          </p:nvPr>
        </p:nvSpPr>
        <p:spPr>
          <a:xfrm>
            <a:off x="324000" y="2904650"/>
            <a:ext cx="39960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Will any of these options isolate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/>
              <a:t>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81"/>
          <p:cNvSpPr txBox="1"/>
          <p:nvPr>
            <p:ph idx="1" type="body"/>
          </p:nvPr>
        </p:nvSpPr>
        <p:spPr>
          <a:xfrm>
            <a:off x="324000" y="697516"/>
            <a:ext cx="84960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Some pupils are trying to solve the equation represented on this balance.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8" name="Google Shape;1218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steps using representations</a:t>
            </a:r>
            <a:endParaRPr/>
          </a:p>
        </p:txBody>
      </p:sp>
      <p:pic>
        <p:nvPicPr>
          <p:cNvPr id="1219" name="Google Shape;121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7403" y="2623412"/>
            <a:ext cx="458105" cy="56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81"/>
          <p:cNvSpPr txBox="1"/>
          <p:nvPr/>
        </p:nvSpPr>
        <p:spPr>
          <a:xfrm>
            <a:off x="7374778" y="3180551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1" name="Google Shape;1221;p81"/>
          <p:cNvGrpSpPr/>
          <p:nvPr/>
        </p:nvGrpSpPr>
        <p:grpSpPr>
          <a:xfrm flipH="1">
            <a:off x="4903987" y="1033976"/>
            <a:ext cx="2656006" cy="931500"/>
            <a:chOff x="1807240" y="1612125"/>
            <a:chExt cx="1901629" cy="931500"/>
          </a:xfrm>
        </p:grpSpPr>
        <p:pic>
          <p:nvPicPr>
            <p:cNvPr id="1222" name="Google Shape;1222;p81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81"/>
            <p:cNvSpPr txBox="1"/>
            <p:nvPr/>
          </p:nvSpPr>
          <p:spPr>
            <a:xfrm flipH="1">
              <a:off x="1959724" y="1778602"/>
              <a:ext cx="16581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going to add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24" name="Google Shape;1224;p81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4904100" y="2176975"/>
            <a:ext cx="2656026" cy="9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81"/>
          <p:cNvSpPr txBox="1"/>
          <p:nvPr/>
        </p:nvSpPr>
        <p:spPr>
          <a:xfrm flipH="1">
            <a:off x="7441528" y="1897477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6" name="Google Shape;1226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692494" y="1380723"/>
            <a:ext cx="387923" cy="5586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81"/>
          <p:cNvSpPr txBox="1"/>
          <p:nvPr/>
        </p:nvSpPr>
        <p:spPr>
          <a:xfrm flipH="1">
            <a:off x="7509928" y="4272402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8" name="Google Shape;1228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64520" y="3780005"/>
            <a:ext cx="443871" cy="492403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81"/>
          <p:cNvSpPr txBox="1"/>
          <p:nvPr/>
        </p:nvSpPr>
        <p:spPr>
          <a:xfrm>
            <a:off x="5081049" y="2385940"/>
            <a:ext cx="22014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going to add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0" name="Google Shape;1230;p81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4928775" y="3319975"/>
            <a:ext cx="2656026" cy="9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81"/>
          <p:cNvSpPr txBox="1"/>
          <p:nvPr/>
        </p:nvSpPr>
        <p:spPr>
          <a:xfrm>
            <a:off x="5105724" y="3528940"/>
            <a:ext cx="22014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going to add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2" name="Google Shape;1232;p81"/>
          <p:cNvGrpSpPr/>
          <p:nvPr/>
        </p:nvGrpSpPr>
        <p:grpSpPr>
          <a:xfrm>
            <a:off x="324001" y="1166822"/>
            <a:ext cx="2749686" cy="1451944"/>
            <a:chOff x="3679000" y="1380975"/>
            <a:chExt cx="4343896" cy="2543700"/>
          </a:xfrm>
        </p:grpSpPr>
        <p:sp>
          <p:nvSpPr>
            <p:cNvPr id="1233" name="Google Shape;1233;p81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34" name="Google Shape;1234;p81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5" name="Google Shape;1235;p81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36" name="Google Shape;1236;p81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7" name="Google Shape;1237;p81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38" name="Google Shape;1238;p81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39" name="Google Shape;1239;p81"/>
          <p:cNvSpPr/>
          <p:nvPr/>
        </p:nvSpPr>
        <p:spPr>
          <a:xfrm>
            <a:off x="443286" y="1857072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0" name="Google Shape;1240;p81"/>
          <p:cNvSpPr/>
          <p:nvPr/>
        </p:nvSpPr>
        <p:spPr>
          <a:xfrm>
            <a:off x="888002" y="1723250"/>
            <a:ext cx="377100" cy="3690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7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1" name="Google Shape;1241;p81"/>
          <p:cNvSpPr/>
          <p:nvPr/>
        </p:nvSpPr>
        <p:spPr>
          <a:xfrm>
            <a:off x="2208625" y="1723250"/>
            <a:ext cx="633300" cy="3690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16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2" name="Google Shape;1242;p81"/>
          <p:cNvSpPr/>
          <p:nvPr/>
        </p:nvSpPr>
        <p:spPr>
          <a:xfrm>
            <a:off x="443286" y="1600106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3" name="Google Shape;1243;p81"/>
          <p:cNvSpPr/>
          <p:nvPr/>
        </p:nvSpPr>
        <p:spPr>
          <a:xfrm>
            <a:off x="1272825" y="1723250"/>
            <a:ext cx="148200" cy="3690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18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4" name="Google Shape;1244;p81"/>
          <p:cNvSpPr/>
          <p:nvPr/>
        </p:nvSpPr>
        <p:spPr>
          <a:xfrm>
            <a:off x="2841925" y="1723250"/>
            <a:ext cx="148200" cy="3690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18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245" name="Google Shape;1245;p81"/>
          <p:cNvGrpSpPr/>
          <p:nvPr/>
        </p:nvGrpSpPr>
        <p:grpSpPr>
          <a:xfrm>
            <a:off x="324001" y="2767022"/>
            <a:ext cx="2749686" cy="1451944"/>
            <a:chOff x="324001" y="2995622"/>
            <a:chExt cx="2749686" cy="1451944"/>
          </a:xfrm>
        </p:grpSpPr>
        <p:grpSp>
          <p:nvGrpSpPr>
            <p:cNvPr id="1246" name="Google Shape;1246;p81"/>
            <p:cNvGrpSpPr/>
            <p:nvPr/>
          </p:nvGrpSpPr>
          <p:grpSpPr>
            <a:xfrm>
              <a:off x="324001" y="2995622"/>
              <a:ext cx="2749686" cy="1451944"/>
              <a:chOff x="3679000" y="1380975"/>
              <a:chExt cx="4343896" cy="2543700"/>
            </a:xfrm>
          </p:grpSpPr>
          <p:sp>
            <p:nvSpPr>
              <p:cNvPr id="1247" name="Google Shape;1247;p81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48" name="Google Shape;1248;p81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9" name="Google Shape;1249;p81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50" name="Google Shape;1250;p81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1" name="Google Shape;1251;p81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52" name="Google Shape;1252;p81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53" name="Google Shape;1253;p81"/>
            <p:cNvSpPr/>
            <p:nvPr/>
          </p:nvSpPr>
          <p:spPr>
            <a:xfrm>
              <a:off x="443286" y="3685872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54" name="Google Shape;1254;p81"/>
            <p:cNvSpPr/>
            <p:nvPr/>
          </p:nvSpPr>
          <p:spPr>
            <a:xfrm>
              <a:off x="887999" y="3552050"/>
              <a:ext cx="533100" cy="3690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10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55" name="Google Shape;1255;p81"/>
            <p:cNvSpPr/>
            <p:nvPr/>
          </p:nvSpPr>
          <p:spPr>
            <a:xfrm>
              <a:off x="2208625" y="3552050"/>
              <a:ext cx="773700" cy="3690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19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56" name="Google Shape;1256;p81"/>
            <p:cNvSpPr/>
            <p:nvPr/>
          </p:nvSpPr>
          <p:spPr>
            <a:xfrm>
              <a:off x="443286" y="3428906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57" name="Google Shape;1257;p81"/>
          <p:cNvSpPr txBox="1"/>
          <p:nvPr>
            <p:ph idx="1" type="body"/>
          </p:nvPr>
        </p:nvSpPr>
        <p:spPr>
          <a:xfrm>
            <a:off x="324000" y="4502550"/>
            <a:ext cx="42480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Sam’s choice does not.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82"/>
          <p:cNvSpPr txBox="1"/>
          <p:nvPr>
            <p:ph idx="1" type="body"/>
          </p:nvPr>
        </p:nvSpPr>
        <p:spPr>
          <a:xfrm>
            <a:off x="324000" y="697516"/>
            <a:ext cx="84960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Some pupils are trying to solve the equation represented on this balance.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63" name="Google Shape;1263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steps using representations</a:t>
            </a:r>
            <a:endParaRPr/>
          </a:p>
        </p:txBody>
      </p:sp>
      <p:grpSp>
        <p:nvGrpSpPr>
          <p:cNvPr id="1264" name="Google Shape;1264;p82"/>
          <p:cNvGrpSpPr/>
          <p:nvPr/>
        </p:nvGrpSpPr>
        <p:grpSpPr>
          <a:xfrm>
            <a:off x="324001" y="1166822"/>
            <a:ext cx="2749686" cy="1451944"/>
            <a:chOff x="3679000" y="1380975"/>
            <a:chExt cx="4343896" cy="2543700"/>
          </a:xfrm>
        </p:grpSpPr>
        <p:sp>
          <p:nvSpPr>
            <p:cNvPr id="1265" name="Google Shape;1265;p82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66" name="Google Shape;1266;p82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7" name="Google Shape;1267;p82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68" name="Google Shape;1268;p82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9" name="Google Shape;1269;p82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0" name="Google Shape;1270;p82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71" name="Google Shape;1271;p82"/>
          <p:cNvSpPr/>
          <p:nvPr/>
        </p:nvSpPr>
        <p:spPr>
          <a:xfrm>
            <a:off x="443286" y="1857072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2" name="Google Shape;1272;p82"/>
          <p:cNvSpPr/>
          <p:nvPr/>
        </p:nvSpPr>
        <p:spPr>
          <a:xfrm>
            <a:off x="888002" y="1723250"/>
            <a:ext cx="377100" cy="3690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7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3" name="Google Shape;1273;p82"/>
          <p:cNvSpPr/>
          <p:nvPr/>
        </p:nvSpPr>
        <p:spPr>
          <a:xfrm>
            <a:off x="443286" y="1600106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274" name="Google Shape;127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7403" y="2623412"/>
            <a:ext cx="458105" cy="56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82"/>
          <p:cNvSpPr txBox="1"/>
          <p:nvPr/>
        </p:nvSpPr>
        <p:spPr>
          <a:xfrm>
            <a:off x="7374778" y="3180551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76" name="Google Shape;1276;p82"/>
          <p:cNvGrpSpPr/>
          <p:nvPr/>
        </p:nvGrpSpPr>
        <p:grpSpPr>
          <a:xfrm flipH="1">
            <a:off x="4903987" y="1033976"/>
            <a:ext cx="2656006" cy="931500"/>
            <a:chOff x="1807240" y="1612125"/>
            <a:chExt cx="1901629" cy="931500"/>
          </a:xfrm>
        </p:grpSpPr>
        <p:pic>
          <p:nvPicPr>
            <p:cNvPr id="1277" name="Google Shape;1277;p82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82"/>
            <p:cNvSpPr txBox="1"/>
            <p:nvPr/>
          </p:nvSpPr>
          <p:spPr>
            <a:xfrm flipH="1">
              <a:off x="1959724" y="1778602"/>
              <a:ext cx="16581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going to add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79" name="Google Shape;1279;p82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4904100" y="2176975"/>
            <a:ext cx="2656026" cy="9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82"/>
          <p:cNvSpPr txBox="1"/>
          <p:nvPr/>
        </p:nvSpPr>
        <p:spPr>
          <a:xfrm flipH="1">
            <a:off x="7441528" y="1897477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1" name="Google Shape;1281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692494" y="1380723"/>
            <a:ext cx="387923" cy="5586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82"/>
          <p:cNvSpPr txBox="1"/>
          <p:nvPr/>
        </p:nvSpPr>
        <p:spPr>
          <a:xfrm flipH="1">
            <a:off x="7509928" y="4272402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3" name="Google Shape;1283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64520" y="3780005"/>
            <a:ext cx="443871" cy="492403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82"/>
          <p:cNvSpPr txBox="1"/>
          <p:nvPr/>
        </p:nvSpPr>
        <p:spPr>
          <a:xfrm>
            <a:off x="5081049" y="2385940"/>
            <a:ext cx="22014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going to add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5" name="Google Shape;1285;p82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4928775" y="3319975"/>
            <a:ext cx="2656026" cy="9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82"/>
          <p:cNvSpPr txBox="1"/>
          <p:nvPr/>
        </p:nvSpPr>
        <p:spPr>
          <a:xfrm>
            <a:off x="5105724" y="3528940"/>
            <a:ext cx="22014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going to add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7" name="Google Shape;1287;p82"/>
          <p:cNvGrpSpPr/>
          <p:nvPr/>
        </p:nvGrpSpPr>
        <p:grpSpPr>
          <a:xfrm>
            <a:off x="324001" y="2767022"/>
            <a:ext cx="2749686" cy="1451944"/>
            <a:chOff x="3679000" y="1380975"/>
            <a:chExt cx="4343896" cy="2543700"/>
          </a:xfrm>
        </p:grpSpPr>
        <p:sp>
          <p:nvSpPr>
            <p:cNvPr id="1288" name="Google Shape;1288;p82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89" name="Google Shape;1289;p82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90" name="Google Shape;1290;p82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91" name="Google Shape;1291;p82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92" name="Google Shape;1292;p82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93" name="Google Shape;1293;p82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94" name="Google Shape;1294;p82"/>
          <p:cNvSpPr/>
          <p:nvPr/>
        </p:nvSpPr>
        <p:spPr>
          <a:xfrm>
            <a:off x="443286" y="3457272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5" name="Google Shape;1295;p82"/>
          <p:cNvSpPr txBox="1"/>
          <p:nvPr>
            <p:ph idx="1" type="body"/>
          </p:nvPr>
        </p:nvSpPr>
        <p:spPr>
          <a:xfrm>
            <a:off x="324000" y="4502550"/>
            <a:ext cx="42480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Jacob’s choice does not.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6" name="Google Shape;1296;p82"/>
          <p:cNvSpPr/>
          <p:nvPr/>
        </p:nvSpPr>
        <p:spPr>
          <a:xfrm>
            <a:off x="443286" y="1345856"/>
            <a:ext cx="377100" cy="2475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2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7" name="Google Shape;1297;p82"/>
          <p:cNvSpPr/>
          <p:nvPr/>
        </p:nvSpPr>
        <p:spPr>
          <a:xfrm>
            <a:off x="2132436" y="1460081"/>
            <a:ext cx="377100" cy="2475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2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8" name="Google Shape;1298;p82"/>
          <p:cNvSpPr/>
          <p:nvPr/>
        </p:nvSpPr>
        <p:spPr>
          <a:xfrm>
            <a:off x="924577" y="3323450"/>
            <a:ext cx="377100" cy="3690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7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9" name="Google Shape;1299;p82"/>
          <p:cNvSpPr/>
          <p:nvPr/>
        </p:nvSpPr>
        <p:spPr>
          <a:xfrm>
            <a:off x="2132436" y="3054081"/>
            <a:ext cx="377100" cy="2475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2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0" name="Google Shape;1300;p82"/>
          <p:cNvSpPr/>
          <p:nvPr/>
        </p:nvSpPr>
        <p:spPr>
          <a:xfrm>
            <a:off x="2126875" y="1723250"/>
            <a:ext cx="796800" cy="3690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16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1" name="Google Shape;1301;p82"/>
          <p:cNvSpPr/>
          <p:nvPr/>
        </p:nvSpPr>
        <p:spPr>
          <a:xfrm>
            <a:off x="2132425" y="3323450"/>
            <a:ext cx="796800" cy="3690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16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83"/>
          <p:cNvSpPr txBox="1"/>
          <p:nvPr>
            <p:ph idx="1" type="body"/>
          </p:nvPr>
        </p:nvSpPr>
        <p:spPr>
          <a:xfrm>
            <a:off x="2083725" y="3859202"/>
            <a:ext cx="42480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Sofia</a:t>
            </a:r>
            <a:r>
              <a:rPr lang="en-GB" sz="1800"/>
              <a:t>’s choice does not.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7" name="Google Shape;1307;p83"/>
          <p:cNvSpPr txBox="1"/>
          <p:nvPr>
            <p:ph idx="1" type="body"/>
          </p:nvPr>
        </p:nvSpPr>
        <p:spPr>
          <a:xfrm>
            <a:off x="308316" y="4337524"/>
            <a:ext cx="69756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Whilst we have maintained equality by adding the same thing to both sides, none of these options have isolated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8" name="Google Shape;1308;p83"/>
          <p:cNvSpPr txBox="1"/>
          <p:nvPr>
            <p:ph idx="1" type="body"/>
          </p:nvPr>
        </p:nvSpPr>
        <p:spPr>
          <a:xfrm>
            <a:off x="324000" y="697516"/>
            <a:ext cx="84960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Some pupils are trying to solve the equation represented on this balance.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9" name="Google Shape;130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steps using representations</a:t>
            </a:r>
            <a:endParaRPr/>
          </a:p>
        </p:txBody>
      </p:sp>
      <p:grpSp>
        <p:nvGrpSpPr>
          <p:cNvPr id="1310" name="Google Shape;1310;p83"/>
          <p:cNvGrpSpPr/>
          <p:nvPr/>
        </p:nvGrpSpPr>
        <p:grpSpPr>
          <a:xfrm>
            <a:off x="324001" y="1166822"/>
            <a:ext cx="2749686" cy="1451944"/>
            <a:chOff x="3679000" y="1380975"/>
            <a:chExt cx="4343896" cy="2543700"/>
          </a:xfrm>
        </p:grpSpPr>
        <p:sp>
          <p:nvSpPr>
            <p:cNvPr id="1311" name="Google Shape;1311;p83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12" name="Google Shape;1312;p83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3" name="Google Shape;1313;p83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14" name="Google Shape;1314;p83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5" name="Google Shape;1315;p83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16" name="Google Shape;1316;p83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17" name="Google Shape;1317;p83"/>
          <p:cNvSpPr/>
          <p:nvPr/>
        </p:nvSpPr>
        <p:spPr>
          <a:xfrm>
            <a:off x="443286" y="1857072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8" name="Google Shape;1318;p83"/>
          <p:cNvSpPr/>
          <p:nvPr/>
        </p:nvSpPr>
        <p:spPr>
          <a:xfrm>
            <a:off x="888002" y="1723250"/>
            <a:ext cx="377100" cy="3690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7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9" name="Google Shape;1319;p83"/>
          <p:cNvSpPr/>
          <p:nvPr/>
        </p:nvSpPr>
        <p:spPr>
          <a:xfrm>
            <a:off x="2126875" y="1723250"/>
            <a:ext cx="796800" cy="3690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16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0" name="Google Shape;1320;p83"/>
          <p:cNvSpPr/>
          <p:nvPr/>
        </p:nvSpPr>
        <p:spPr>
          <a:xfrm>
            <a:off x="443286" y="1600106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321" name="Google Shape;132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7403" y="2623412"/>
            <a:ext cx="458105" cy="56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83"/>
          <p:cNvSpPr txBox="1"/>
          <p:nvPr/>
        </p:nvSpPr>
        <p:spPr>
          <a:xfrm>
            <a:off x="7374778" y="3180551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3" name="Google Shape;1323;p83"/>
          <p:cNvGrpSpPr/>
          <p:nvPr/>
        </p:nvGrpSpPr>
        <p:grpSpPr>
          <a:xfrm flipH="1">
            <a:off x="4903987" y="1033976"/>
            <a:ext cx="2656006" cy="931500"/>
            <a:chOff x="1807240" y="1612125"/>
            <a:chExt cx="1901629" cy="931500"/>
          </a:xfrm>
        </p:grpSpPr>
        <p:pic>
          <p:nvPicPr>
            <p:cNvPr id="1324" name="Google Shape;1324;p83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5" name="Google Shape;1325;p83"/>
            <p:cNvSpPr txBox="1"/>
            <p:nvPr/>
          </p:nvSpPr>
          <p:spPr>
            <a:xfrm flipH="1">
              <a:off x="1959724" y="1778602"/>
              <a:ext cx="16581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going to add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26" name="Google Shape;1326;p83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4904100" y="2176975"/>
            <a:ext cx="2656026" cy="9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83"/>
          <p:cNvSpPr txBox="1"/>
          <p:nvPr/>
        </p:nvSpPr>
        <p:spPr>
          <a:xfrm flipH="1">
            <a:off x="7441528" y="1897477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28" name="Google Shape;1328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692494" y="1380723"/>
            <a:ext cx="387923" cy="5586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83"/>
          <p:cNvSpPr txBox="1"/>
          <p:nvPr/>
        </p:nvSpPr>
        <p:spPr>
          <a:xfrm flipH="1">
            <a:off x="7509928" y="4272402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0" name="Google Shape;1330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64520" y="3780005"/>
            <a:ext cx="443871" cy="492403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83"/>
          <p:cNvSpPr txBox="1"/>
          <p:nvPr/>
        </p:nvSpPr>
        <p:spPr>
          <a:xfrm>
            <a:off x="5081049" y="2385940"/>
            <a:ext cx="22014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going to add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2" name="Google Shape;1332;p83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4928775" y="3319975"/>
            <a:ext cx="2656026" cy="9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83"/>
          <p:cNvSpPr txBox="1"/>
          <p:nvPr/>
        </p:nvSpPr>
        <p:spPr>
          <a:xfrm>
            <a:off x="5105724" y="3528940"/>
            <a:ext cx="22014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going to add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4" name="Google Shape;1334;p83"/>
          <p:cNvGrpSpPr/>
          <p:nvPr/>
        </p:nvGrpSpPr>
        <p:grpSpPr>
          <a:xfrm>
            <a:off x="324001" y="2767022"/>
            <a:ext cx="2749686" cy="1451944"/>
            <a:chOff x="3679000" y="1380975"/>
            <a:chExt cx="4343896" cy="2543700"/>
          </a:xfrm>
        </p:grpSpPr>
        <p:sp>
          <p:nvSpPr>
            <p:cNvPr id="1335" name="Google Shape;1335;p83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36" name="Google Shape;1336;p83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7" name="Google Shape;1337;p83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38" name="Google Shape;1338;p83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9" name="Google Shape;1339;p83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40" name="Google Shape;1340;p83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41" name="Google Shape;1341;p83"/>
          <p:cNvSpPr/>
          <p:nvPr/>
        </p:nvSpPr>
        <p:spPr>
          <a:xfrm>
            <a:off x="443286" y="3457272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2" name="Google Shape;1342;p83"/>
          <p:cNvSpPr/>
          <p:nvPr/>
        </p:nvSpPr>
        <p:spPr>
          <a:xfrm>
            <a:off x="888002" y="1359300"/>
            <a:ext cx="377100" cy="3690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endParaRPr sz="18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3" name="Google Shape;1343;p83"/>
          <p:cNvSpPr/>
          <p:nvPr/>
        </p:nvSpPr>
        <p:spPr>
          <a:xfrm>
            <a:off x="2126877" y="1359300"/>
            <a:ext cx="377100" cy="3690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endParaRPr sz="18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4" name="Google Shape;1344;p83"/>
          <p:cNvSpPr/>
          <p:nvPr/>
        </p:nvSpPr>
        <p:spPr>
          <a:xfrm>
            <a:off x="443286" y="3209772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5" name="Google Shape;1345;p83"/>
          <p:cNvSpPr/>
          <p:nvPr/>
        </p:nvSpPr>
        <p:spPr>
          <a:xfrm>
            <a:off x="2303275" y="3316223"/>
            <a:ext cx="444000" cy="3690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9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84"/>
          <p:cNvSpPr txBox="1"/>
          <p:nvPr>
            <p:ph idx="1" type="body"/>
          </p:nvPr>
        </p:nvSpPr>
        <p:spPr>
          <a:xfrm>
            <a:off x="324000" y="697516"/>
            <a:ext cx="84960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Some pupils are trying to solve the equation represented on this balance.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1" name="Google Shape;1351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Additive steps using representations</a:t>
            </a:r>
            <a:endParaRPr/>
          </a:p>
        </p:txBody>
      </p:sp>
      <p:sp>
        <p:nvSpPr>
          <p:cNvPr id="1352" name="Google Shape;1352;p84"/>
          <p:cNvSpPr txBox="1"/>
          <p:nvPr/>
        </p:nvSpPr>
        <p:spPr>
          <a:xfrm flipH="1">
            <a:off x="7655103" y="2377177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3" name="Google Shape;135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9695" y="1884780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4" name="Google Shape;1354;p84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4388150" y="1196150"/>
            <a:ext cx="3172649" cy="1375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84"/>
          <p:cNvSpPr txBox="1"/>
          <p:nvPr/>
        </p:nvSpPr>
        <p:spPr>
          <a:xfrm>
            <a:off x="4565100" y="1405125"/>
            <a:ext cx="27948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about if I combine my idea with Jacob’s and also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6" name="Google Shape;1356;p84"/>
          <p:cNvGrpSpPr/>
          <p:nvPr/>
        </p:nvGrpSpPr>
        <p:grpSpPr>
          <a:xfrm>
            <a:off x="324001" y="1166147"/>
            <a:ext cx="2749686" cy="1451944"/>
            <a:chOff x="3679000" y="1380975"/>
            <a:chExt cx="4343896" cy="2543700"/>
          </a:xfrm>
        </p:grpSpPr>
        <p:sp>
          <p:nvSpPr>
            <p:cNvPr id="1357" name="Google Shape;1357;p84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58" name="Google Shape;1358;p84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9" name="Google Shape;1359;p84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60" name="Google Shape;1360;p84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61" name="Google Shape;1361;p84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62" name="Google Shape;1362;p84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63" name="Google Shape;1363;p84"/>
          <p:cNvSpPr/>
          <p:nvPr/>
        </p:nvSpPr>
        <p:spPr>
          <a:xfrm>
            <a:off x="443286" y="1856397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4" name="Google Shape;1364;p84"/>
          <p:cNvSpPr txBox="1"/>
          <p:nvPr>
            <p:ph idx="1" type="body"/>
          </p:nvPr>
        </p:nvSpPr>
        <p:spPr>
          <a:xfrm>
            <a:off x="3369600" y="2766350"/>
            <a:ext cx="5450400" cy="18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Although this looks like we’ve isolated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x,</a:t>
            </a:r>
            <a:r>
              <a:rPr lang="en-GB" sz="1800"/>
              <a:t> the right hand side still has an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term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1800"/>
              <a:t>So this does not give us the solution for one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This is an example of an equation where we </a:t>
            </a:r>
            <a:r>
              <a:rPr lang="en-GB" sz="1800">
                <a:solidFill>
                  <a:schemeClr val="accent4"/>
                </a:solidFill>
              </a:rPr>
              <a:t>cannot</a:t>
            </a:r>
            <a:r>
              <a:rPr lang="en-GB" sz="1800"/>
              <a:t> isolate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just with an additive step.</a:t>
            </a:r>
            <a:endParaRPr sz="1800"/>
          </a:p>
        </p:txBody>
      </p:sp>
      <p:sp>
        <p:nvSpPr>
          <p:cNvPr id="1365" name="Google Shape;1365;p84"/>
          <p:cNvSpPr/>
          <p:nvPr/>
        </p:nvSpPr>
        <p:spPr>
          <a:xfrm>
            <a:off x="443286" y="1608897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6" name="Google Shape;1366;p84"/>
          <p:cNvSpPr/>
          <p:nvPr/>
        </p:nvSpPr>
        <p:spPr>
          <a:xfrm>
            <a:off x="2303275" y="1715348"/>
            <a:ext cx="444000" cy="3690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9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7" name="Google Shape;1367;p84"/>
          <p:cNvSpPr/>
          <p:nvPr/>
        </p:nvSpPr>
        <p:spPr>
          <a:xfrm>
            <a:off x="443286" y="1345856"/>
            <a:ext cx="377100" cy="2475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2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8" name="Google Shape;1368;p84"/>
          <p:cNvSpPr/>
          <p:nvPr/>
        </p:nvSpPr>
        <p:spPr>
          <a:xfrm>
            <a:off x="2336736" y="1467856"/>
            <a:ext cx="377100" cy="2475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2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369" name="Google Shape;1369;p84"/>
          <p:cNvGrpSpPr/>
          <p:nvPr/>
        </p:nvGrpSpPr>
        <p:grpSpPr>
          <a:xfrm>
            <a:off x="324001" y="2766347"/>
            <a:ext cx="2749686" cy="1451944"/>
            <a:chOff x="3679000" y="1380975"/>
            <a:chExt cx="4343896" cy="2543700"/>
          </a:xfrm>
        </p:grpSpPr>
        <p:sp>
          <p:nvSpPr>
            <p:cNvPr id="1370" name="Google Shape;1370;p84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71" name="Google Shape;1371;p84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2" name="Google Shape;1372;p84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73" name="Google Shape;1373;p84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4" name="Google Shape;1374;p84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75" name="Google Shape;1375;p84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76" name="Google Shape;1376;p84"/>
          <p:cNvSpPr/>
          <p:nvPr/>
        </p:nvSpPr>
        <p:spPr>
          <a:xfrm>
            <a:off x="443286" y="3456597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7" name="Google Shape;1377;p84"/>
          <p:cNvSpPr/>
          <p:nvPr/>
        </p:nvSpPr>
        <p:spPr>
          <a:xfrm>
            <a:off x="2303275" y="3315548"/>
            <a:ext cx="444000" cy="3690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9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8" name="Google Shape;1378;p84"/>
          <p:cNvSpPr/>
          <p:nvPr/>
        </p:nvSpPr>
        <p:spPr>
          <a:xfrm>
            <a:off x="2336736" y="3068056"/>
            <a:ext cx="377100" cy="2475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2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85"/>
          <p:cNvSpPr/>
          <p:nvPr/>
        </p:nvSpPr>
        <p:spPr>
          <a:xfrm>
            <a:off x="6304642" y="1228550"/>
            <a:ext cx="2370900" cy="303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5"/>
          <p:cNvSpPr txBox="1"/>
          <p:nvPr>
            <p:ph idx="1" type="body"/>
          </p:nvPr>
        </p:nvSpPr>
        <p:spPr>
          <a:xfrm>
            <a:off x="324000" y="759300"/>
            <a:ext cx="82377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operation will</a:t>
            </a:r>
            <a:r>
              <a:rPr lang="en-GB" sz="2000"/>
              <a:t> isolate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? Choose from the options to the right.</a:t>
            </a:r>
            <a:endParaRPr sz="1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85" name="Google Shape;138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Additive steps using representations</a:t>
            </a:r>
            <a:endParaRPr/>
          </a:p>
        </p:txBody>
      </p:sp>
      <p:grpSp>
        <p:nvGrpSpPr>
          <p:cNvPr id="1386" name="Google Shape;1386;p85"/>
          <p:cNvGrpSpPr/>
          <p:nvPr/>
        </p:nvGrpSpPr>
        <p:grpSpPr>
          <a:xfrm>
            <a:off x="384910" y="1468728"/>
            <a:ext cx="2240582" cy="1033505"/>
            <a:chOff x="3679000" y="1380975"/>
            <a:chExt cx="4343896" cy="2543700"/>
          </a:xfrm>
        </p:grpSpPr>
        <p:sp>
          <p:nvSpPr>
            <p:cNvPr id="1387" name="Google Shape;1387;p85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88" name="Google Shape;1388;p85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89" name="Google Shape;1389;p85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0" name="Google Shape;1390;p85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91" name="Google Shape;1391;p85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2" name="Google Shape;1392;p85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93" name="Google Shape;1393;p85"/>
          <p:cNvGrpSpPr/>
          <p:nvPr/>
        </p:nvGrpSpPr>
        <p:grpSpPr>
          <a:xfrm>
            <a:off x="384910" y="3124853"/>
            <a:ext cx="2240582" cy="1033505"/>
            <a:chOff x="3679000" y="1380975"/>
            <a:chExt cx="4343896" cy="2543700"/>
          </a:xfrm>
        </p:grpSpPr>
        <p:sp>
          <p:nvSpPr>
            <p:cNvPr id="1394" name="Google Shape;1394;p85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5" name="Google Shape;1395;p85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96" name="Google Shape;1396;p85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7" name="Google Shape;1397;p85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98" name="Google Shape;1398;p85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9" name="Google Shape;1399;p85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00" name="Google Shape;1400;p85"/>
          <p:cNvGrpSpPr/>
          <p:nvPr/>
        </p:nvGrpSpPr>
        <p:grpSpPr>
          <a:xfrm>
            <a:off x="3533810" y="1412403"/>
            <a:ext cx="2240582" cy="1033505"/>
            <a:chOff x="3679000" y="1380975"/>
            <a:chExt cx="4343896" cy="2543700"/>
          </a:xfrm>
        </p:grpSpPr>
        <p:sp>
          <p:nvSpPr>
            <p:cNvPr id="1401" name="Google Shape;1401;p85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02" name="Google Shape;1402;p85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3" name="Google Shape;1403;p85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04" name="Google Shape;1404;p85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5" name="Google Shape;1405;p85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06" name="Google Shape;1406;p85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07" name="Google Shape;1407;p85"/>
          <p:cNvGrpSpPr/>
          <p:nvPr/>
        </p:nvGrpSpPr>
        <p:grpSpPr>
          <a:xfrm>
            <a:off x="3740260" y="3124853"/>
            <a:ext cx="2240582" cy="1033505"/>
            <a:chOff x="3679000" y="1380975"/>
            <a:chExt cx="4343896" cy="2543700"/>
          </a:xfrm>
        </p:grpSpPr>
        <p:sp>
          <p:nvSpPr>
            <p:cNvPr id="1408" name="Google Shape;1408;p85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09" name="Google Shape;1409;p85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0" name="Google Shape;1410;p85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11" name="Google Shape;1411;p85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2" name="Google Shape;1412;p85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13" name="Google Shape;1413;p85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14" name="Google Shape;1414;p85"/>
          <p:cNvSpPr/>
          <p:nvPr/>
        </p:nvSpPr>
        <p:spPr>
          <a:xfrm>
            <a:off x="512786" y="1889325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5" name="Google Shape;1415;p85"/>
          <p:cNvSpPr/>
          <p:nvPr/>
        </p:nvSpPr>
        <p:spPr>
          <a:xfrm>
            <a:off x="5144511" y="1828566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6" name="Google Shape;1416;p85"/>
          <p:cNvSpPr/>
          <p:nvPr/>
        </p:nvSpPr>
        <p:spPr>
          <a:xfrm>
            <a:off x="2022386" y="3532491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7" name="Google Shape;1417;p85"/>
          <p:cNvSpPr/>
          <p:nvPr/>
        </p:nvSpPr>
        <p:spPr>
          <a:xfrm>
            <a:off x="4078061" y="3532491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8" name="Google Shape;1418;p85"/>
          <p:cNvSpPr/>
          <p:nvPr/>
        </p:nvSpPr>
        <p:spPr>
          <a:xfrm>
            <a:off x="957673" y="1889325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9" name="Google Shape;1419;p85"/>
          <p:cNvSpPr/>
          <p:nvPr/>
        </p:nvSpPr>
        <p:spPr>
          <a:xfrm>
            <a:off x="5165647" y="1581074"/>
            <a:ext cx="3348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5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0" name="Google Shape;1420;p85"/>
          <p:cNvSpPr/>
          <p:nvPr/>
        </p:nvSpPr>
        <p:spPr>
          <a:xfrm>
            <a:off x="3740249" y="1828575"/>
            <a:ext cx="4920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10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1" name="Google Shape;1421;p85"/>
          <p:cNvSpPr/>
          <p:nvPr/>
        </p:nvSpPr>
        <p:spPr>
          <a:xfrm>
            <a:off x="3884400" y="3291150"/>
            <a:ext cx="435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9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2" name="Google Shape;1422;p85"/>
          <p:cNvSpPr/>
          <p:nvPr/>
        </p:nvSpPr>
        <p:spPr>
          <a:xfrm>
            <a:off x="1795873" y="3520417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3" name="Google Shape;1423;p85"/>
          <p:cNvSpPr/>
          <p:nvPr/>
        </p:nvSpPr>
        <p:spPr>
          <a:xfrm>
            <a:off x="2100673" y="3254232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4" name="Google Shape;1424;p85"/>
          <p:cNvSpPr/>
          <p:nvPr/>
        </p:nvSpPr>
        <p:spPr>
          <a:xfrm>
            <a:off x="1795873" y="3254232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5" name="Google Shape;1425;p85"/>
          <p:cNvSpPr/>
          <p:nvPr/>
        </p:nvSpPr>
        <p:spPr>
          <a:xfrm>
            <a:off x="2458505" y="3514753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6" name="Google Shape;1426;p85"/>
          <p:cNvSpPr/>
          <p:nvPr/>
        </p:nvSpPr>
        <p:spPr>
          <a:xfrm>
            <a:off x="477305" y="3514753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7" name="Google Shape;1427;p85"/>
          <p:cNvSpPr/>
          <p:nvPr/>
        </p:nvSpPr>
        <p:spPr>
          <a:xfrm>
            <a:off x="629705" y="3514753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8" name="Google Shape;1428;p85"/>
          <p:cNvSpPr/>
          <p:nvPr/>
        </p:nvSpPr>
        <p:spPr>
          <a:xfrm>
            <a:off x="782105" y="3514753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9" name="Google Shape;1429;p85"/>
          <p:cNvSpPr/>
          <p:nvPr/>
        </p:nvSpPr>
        <p:spPr>
          <a:xfrm>
            <a:off x="934505" y="3514753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0" name="Google Shape;1430;p85"/>
          <p:cNvSpPr/>
          <p:nvPr/>
        </p:nvSpPr>
        <p:spPr>
          <a:xfrm>
            <a:off x="1086905" y="3514753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1" name="Google Shape;1431;p85"/>
          <p:cNvSpPr/>
          <p:nvPr/>
        </p:nvSpPr>
        <p:spPr>
          <a:xfrm>
            <a:off x="1010705" y="3255261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2" name="Google Shape;1432;p85"/>
          <p:cNvSpPr/>
          <p:nvPr/>
        </p:nvSpPr>
        <p:spPr>
          <a:xfrm>
            <a:off x="858305" y="3255261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3" name="Google Shape;1433;p85"/>
          <p:cNvSpPr/>
          <p:nvPr/>
        </p:nvSpPr>
        <p:spPr>
          <a:xfrm>
            <a:off x="705905" y="3255261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4" name="Google Shape;1434;p85"/>
          <p:cNvSpPr/>
          <p:nvPr/>
        </p:nvSpPr>
        <p:spPr>
          <a:xfrm>
            <a:off x="553505" y="3255261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5" name="Google Shape;1435;p85"/>
          <p:cNvSpPr/>
          <p:nvPr/>
        </p:nvSpPr>
        <p:spPr>
          <a:xfrm>
            <a:off x="1978136" y="1883661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6" name="Google Shape;1436;p85"/>
          <p:cNvSpPr/>
          <p:nvPr/>
        </p:nvSpPr>
        <p:spPr>
          <a:xfrm>
            <a:off x="2130536" y="1883661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7" name="Google Shape;1437;p85"/>
          <p:cNvSpPr/>
          <p:nvPr/>
        </p:nvSpPr>
        <p:spPr>
          <a:xfrm>
            <a:off x="2282936" y="1883661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8" name="Google Shape;1438;p85"/>
          <p:cNvSpPr/>
          <p:nvPr/>
        </p:nvSpPr>
        <p:spPr>
          <a:xfrm>
            <a:off x="2206736" y="1624170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9" name="Google Shape;1439;p85"/>
          <p:cNvSpPr/>
          <p:nvPr/>
        </p:nvSpPr>
        <p:spPr>
          <a:xfrm>
            <a:off x="2054336" y="1624170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0" name="Google Shape;1440;p85"/>
          <p:cNvSpPr/>
          <p:nvPr/>
        </p:nvSpPr>
        <p:spPr>
          <a:xfrm>
            <a:off x="5313674" y="3535871"/>
            <a:ext cx="4920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10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1" name="Google Shape;1441;p85"/>
          <p:cNvSpPr txBox="1"/>
          <p:nvPr/>
        </p:nvSpPr>
        <p:spPr>
          <a:xfrm>
            <a:off x="6435950" y="1513700"/>
            <a:ext cx="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/>
          </a:p>
        </p:txBody>
      </p:sp>
      <p:sp>
        <p:nvSpPr>
          <p:cNvPr id="1442" name="Google Shape;1442;p85"/>
          <p:cNvSpPr txBox="1"/>
          <p:nvPr/>
        </p:nvSpPr>
        <p:spPr>
          <a:xfrm>
            <a:off x="7606500" y="3731100"/>
            <a:ext cx="65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/>
          </a:p>
        </p:txBody>
      </p:sp>
      <p:sp>
        <p:nvSpPr>
          <p:cNvPr id="1443" name="Google Shape;1443;p85"/>
          <p:cNvSpPr txBox="1"/>
          <p:nvPr/>
        </p:nvSpPr>
        <p:spPr>
          <a:xfrm>
            <a:off x="7845100" y="2466600"/>
            <a:ext cx="65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endParaRPr/>
          </a:p>
        </p:txBody>
      </p:sp>
      <p:sp>
        <p:nvSpPr>
          <p:cNvPr id="1444" name="Google Shape;1444;p85"/>
          <p:cNvSpPr txBox="1"/>
          <p:nvPr/>
        </p:nvSpPr>
        <p:spPr>
          <a:xfrm>
            <a:off x="6381900" y="2593688"/>
            <a:ext cx="65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endParaRPr/>
          </a:p>
        </p:txBody>
      </p:sp>
      <p:sp>
        <p:nvSpPr>
          <p:cNvPr id="1445" name="Google Shape;1445;p85"/>
          <p:cNvSpPr txBox="1"/>
          <p:nvPr/>
        </p:nvSpPr>
        <p:spPr>
          <a:xfrm>
            <a:off x="7351875" y="1373700"/>
            <a:ext cx="43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/>
          </a:p>
        </p:txBody>
      </p:sp>
      <p:sp>
        <p:nvSpPr>
          <p:cNvPr id="1446" name="Google Shape;1446;p85"/>
          <p:cNvSpPr txBox="1"/>
          <p:nvPr/>
        </p:nvSpPr>
        <p:spPr>
          <a:xfrm>
            <a:off x="7864500" y="1799575"/>
            <a:ext cx="69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(−1)</a:t>
            </a:r>
            <a:endParaRPr/>
          </a:p>
        </p:txBody>
      </p:sp>
      <p:sp>
        <p:nvSpPr>
          <p:cNvPr id="1447" name="Google Shape;1447;p85"/>
          <p:cNvSpPr txBox="1"/>
          <p:nvPr/>
        </p:nvSpPr>
        <p:spPr>
          <a:xfrm>
            <a:off x="6880675" y="2053163"/>
            <a:ext cx="102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(−10)</a:t>
            </a:r>
            <a:endParaRPr/>
          </a:p>
        </p:txBody>
      </p:sp>
      <p:sp>
        <p:nvSpPr>
          <p:cNvPr id="1448" name="Google Shape;1448;p85"/>
          <p:cNvSpPr txBox="1"/>
          <p:nvPr/>
        </p:nvSpPr>
        <p:spPr>
          <a:xfrm>
            <a:off x="6490425" y="3850550"/>
            <a:ext cx="102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(−4)</a:t>
            </a:r>
            <a:endParaRPr/>
          </a:p>
        </p:txBody>
      </p:sp>
      <p:sp>
        <p:nvSpPr>
          <p:cNvPr id="1449" name="Google Shape;1449;p85"/>
          <p:cNvSpPr txBox="1"/>
          <p:nvPr/>
        </p:nvSpPr>
        <p:spPr>
          <a:xfrm>
            <a:off x="7946325" y="3193925"/>
            <a:ext cx="69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(−9)</a:t>
            </a:r>
            <a:endParaRPr/>
          </a:p>
        </p:txBody>
      </p:sp>
      <p:sp>
        <p:nvSpPr>
          <p:cNvPr id="1450" name="Google Shape;1450;p85"/>
          <p:cNvSpPr txBox="1"/>
          <p:nvPr/>
        </p:nvSpPr>
        <p:spPr>
          <a:xfrm>
            <a:off x="6813050" y="3026075"/>
            <a:ext cx="79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(−5)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86"/>
          <p:cNvSpPr/>
          <p:nvPr/>
        </p:nvSpPr>
        <p:spPr>
          <a:xfrm>
            <a:off x="6304642" y="1228550"/>
            <a:ext cx="2370900" cy="303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86"/>
          <p:cNvSpPr txBox="1"/>
          <p:nvPr>
            <p:ph idx="1" type="body"/>
          </p:nvPr>
        </p:nvSpPr>
        <p:spPr>
          <a:xfrm>
            <a:off x="324000" y="759300"/>
            <a:ext cx="82377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operation will isolate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? C</a:t>
            </a:r>
            <a:r>
              <a:rPr lang="en-GB" sz="2000"/>
              <a:t>hoose from the options to the right.</a:t>
            </a:r>
            <a:endParaRPr sz="1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7" name="Google Shape;1457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Additive steps using representations</a:t>
            </a:r>
            <a:endParaRPr/>
          </a:p>
        </p:txBody>
      </p:sp>
      <p:grpSp>
        <p:nvGrpSpPr>
          <p:cNvPr id="1458" name="Google Shape;1458;p86"/>
          <p:cNvGrpSpPr/>
          <p:nvPr/>
        </p:nvGrpSpPr>
        <p:grpSpPr>
          <a:xfrm>
            <a:off x="384910" y="1468728"/>
            <a:ext cx="2240582" cy="1033505"/>
            <a:chOff x="3679000" y="1380975"/>
            <a:chExt cx="4343896" cy="2543700"/>
          </a:xfrm>
        </p:grpSpPr>
        <p:sp>
          <p:nvSpPr>
            <p:cNvPr id="1459" name="Google Shape;1459;p86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60" name="Google Shape;1460;p86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1" name="Google Shape;1461;p86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62" name="Google Shape;1462;p86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3" name="Google Shape;1463;p86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64" name="Google Shape;1464;p86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65" name="Google Shape;1465;p86"/>
          <p:cNvGrpSpPr/>
          <p:nvPr/>
        </p:nvGrpSpPr>
        <p:grpSpPr>
          <a:xfrm>
            <a:off x="384910" y="3124853"/>
            <a:ext cx="2240582" cy="1033505"/>
            <a:chOff x="3679000" y="1380975"/>
            <a:chExt cx="4343896" cy="2543700"/>
          </a:xfrm>
        </p:grpSpPr>
        <p:sp>
          <p:nvSpPr>
            <p:cNvPr id="1466" name="Google Shape;1466;p86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67" name="Google Shape;1467;p86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8" name="Google Shape;1468;p86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69" name="Google Shape;1469;p86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0" name="Google Shape;1470;p86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71" name="Google Shape;1471;p86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72" name="Google Shape;1472;p86"/>
          <p:cNvGrpSpPr/>
          <p:nvPr/>
        </p:nvGrpSpPr>
        <p:grpSpPr>
          <a:xfrm>
            <a:off x="3533810" y="1412403"/>
            <a:ext cx="2240582" cy="1033505"/>
            <a:chOff x="3679000" y="1380975"/>
            <a:chExt cx="4343896" cy="2543700"/>
          </a:xfrm>
        </p:grpSpPr>
        <p:sp>
          <p:nvSpPr>
            <p:cNvPr id="1473" name="Google Shape;1473;p86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74" name="Google Shape;1474;p86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5" name="Google Shape;1475;p86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76" name="Google Shape;1476;p86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7" name="Google Shape;1477;p86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78" name="Google Shape;1478;p86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79" name="Google Shape;1479;p86"/>
          <p:cNvGrpSpPr/>
          <p:nvPr/>
        </p:nvGrpSpPr>
        <p:grpSpPr>
          <a:xfrm>
            <a:off x="3740260" y="3124853"/>
            <a:ext cx="2240582" cy="1033505"/>
            <a:chOff x="3679000" y="1380975"/>
            <a:chExt cx="4343896" cy="2543700"/>
          </a:xfrm>
        </p:grpSpPr>
        <p:sp>
          <p:nvSpPr>
            <p:cNvPr id="1480" name="Google Shape;1480;p86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81" name="Google Shape;1481;p86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82" name="Google Shape;1482;p86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83" name="Google Shape;1483;p86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84" name="Google Shape;1484;p86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85" name="Google Shape;1485;p86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86" name="Google Shape;1486;p86"/>
          <p:cNvSpPr/>
          <p:nvPr/>
        </p:nvSpPr>
        <p:spPr>
          <a:xfrm>
            <a:off x="512786" y="1889325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7" name="Google Shape;1487;p86"/>
          <p:cNvSpPr/>
          <p:nvPr/>
        </p:nvSpPr>
        <p:spPr>
          <a:xfrm>
            <a:off x="5144511" y="1828566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8" name="Google Shape;1488;p86"/>
          <p:cNvSpPr/>
          <p:nvPr/>
        </p:nvSpPr>
        <p:spPr>
          <a:xfrm>
            <a:off x="2022386" y="3532491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9" name="Google Shape;1489;p86"/>
          <p:cNvSpPr/>
          <p:nvPr/>
        </p:nvSpPr>
        <p:spPr>
          <a:xfrm>
            <a:off x="4078061" y="3532491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0" name="Google Shape;1490;p86"/>
          <p:cNvSpPr/>
          <p:nvPr/>
        </p:nvSpPr>
        <p:spPr>
          <a:xfrm>
            <a:off x="957673" y="1889325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1" name="Google Shape;1491;p86"/>
          <p:cNvSpPr/>
          <p:nvPr/>
        </p:nvSpPr>
        <p:spPr>
          <a:xfrm>
            <a:off x="5165647" y="1581074"/>
            <a:ext cx="3348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5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2" name="Google Shape;1492;p86"/>
          <p:cNvSpPr/>
          <p:nvPr/>
        </p:nvSpPr>
        <p:spPr>
          <a:xfrm>
            <a:off x="3740249" y="1828575"/>
            <a:ext cx="4920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10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3" name="Google Shape;1493;p86"/>
          <p:cNvSpPr/>
          <p:nvPr/>
        </p:nvSpPr>
        <p:spPr>
          <a:xfrm>
            <a:off x="3884400" y="3291150"/>
            <a:ext cx="435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9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4" name="Google Shape;1494;p86"/>
          <p:cNvSpPr/>
          <p:nvPr/>
        </p:nvSpPr>
        <p:spPr>
          <a:xfrm>
            <a:off x="1795873" y="3520417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5" name="Google Shape;1495;p86"/>
          <p:cNvSpPr/>
          <p:nvPr/>
        </p:nvSpPr>
        <p:spPr>
          <a:xfrm>
            <a:off x="2100673" y="3254232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6" name="Google Shape;1496;p86"/>
          <p:cNvSpPr/>
          <p:nvPr/>
        </p:nvSpPr>
        <p:spPr>
          <a:xfrm>
            <a:off x="1795873" y="3254232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7" name="Google Shape;1497;p86"/>
          <p:cNvSpPr/>
          <p:nvPr/>
        </p:nvSpPr>
        <p:spPr>
          <a:xfrm>
            <a:off x="2458505" y="3514753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8" name="Google Shape;1498;p86"/>
          <p:cNvSpPr/>
          <p:nvPr/>
        </p:nvSpPr>
        <p:spPr>
          <a:xfrm>
            <a:off x="477305" y="3514753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9" name="Google Shape;1499;p86"/>
          <p:cNvSpPr/>
          <p:nvPr/>
        </p:nvSpPr>
        <p:spPr>
          <a:xfrm>
            <a:off x="629705" y="3514753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0" name="Google Shape;1500;p86"/>
          <p:cNvSpPr/>
          <p:nvPr/>
        </p:nvSpPr>
        <p:spPr>
          <a:xfrm>
            <a:off x="782105" y="3514753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1" name="Google Shape;1501;p86"/>
          <p:cNvSpPr/>
          <p:nvPr/>
        </p:nvSpPr>
        <p:spPr>
          <a:xfrm>
            <a:off x="934505" y="3514753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2" name="Google Shape;1502;p86"/>
          <p:cNvSpPr/>
          <p:nvPr/>
        </p:nvSpPr>
        <p:spPr>
          <a:xfrm>
            <a:off x="1086905" y="3514753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3" name="Google Shape;1503;p86"/>
          <p:cNvSpPr/>
          <p:nvPr/>
        </p:nvSpPr>
        <p:spPr>
          <a:xfrm>
            <a:off x="1010705" y="3255261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4" name="Google Shape;1504;p86"/>
          <p:cNvSpPr/>
          <p:nvPr/>
        </p:nvSpPr>
        <p:spPr>
          <a:xfrm>
            <a:off x="858305" y="3255261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5" name="Google Shape;1505;p86"/>
          <p:cNvSpPr/>
          <p:nvPr/>
        </p:nvSpPr>
        <p:spPr>
          <a:xfrm>
            <a:off x="705905" y="3255261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6" name="Google Shape;1506;p86"/>
          <p:cNvSpPr/>
          <p:nvPr/>
        </p:nvSpPr>
        <p:spPr>
          <a:xfrm>
            <a:off x="553505" y="3255261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7" name="Google Shape;1507;p86"/>
          <p:cNvSpPr/>
          <p:nvPr/>
        </p:nvSpPr>
        <p:spPr>
          <a:xfrm>
            <a:off x="1978136" y="1883661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8" name="Google Shape;1508;p86"/>
          <p:cNvSpPr/>
          <p:nvPr/>
        </p:nvSpPr>
        <p:spPr>
          <a:xfrm>
            <a:off x="2130536" y="1883661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09" name="Google Shape;1509;p86"/>
          <p:cNvSpPr/>
          <p:nvPr/>
        </p:nvSpPr>
        <p:spPr>
          <a:xfrm>
            <a:off x="2282936" y="1883661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10" name="Google Shape;1510;p86"/>
          <p:cNvSpPr/>
          <p:nvPr/>
        </p:nvSpPr>
        <p:spPr>
          <a:xfrm>
            <a:off x="2206736" y="1624170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11" name="Google Shape;1511;p86"/>
          <p:cNvSpPr/>
          <p:nvPr/>
        </p:nvSpPr>
        <p:spPr>
          <a:xfrm>
            <a:off x="2054336" y="1624170"/>
            <a:ext cx="1446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12" name="Google Shape;1512;p86"/>
          <p:cNvSpPr/>
          <p:nvPr/>
        </p:nvSpPr>
        <p:spPr>
          <a:xfrm>
            <a:off x="5313674" y="3535871"/>
            <a:ext cx="4920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10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13" name="Google Shape;1513;p86"/>
          <p:cNvSpPr txBox="1"/>
          <p:nvPr/>
        </p:nvSpPr>
        <p:spPr>
          <a:xfrm>
            <a:off x="6435950" y="1513700"/>
            <a:ext cx="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/>
          </a:p>
        </p:txBody>
      </p:sp>
      <p:sp>
        <p:nvSpPr>
          <p:cNvPr id="1514" name="Google Shape;1514;p86"/>
          <p:cNvSpPr txBox="1"/>
          <p:nvPr/>
        </p:nvSpPr>
        <p:spPr>
          <a:xfrm>
            <a:off x="7606500" y="3731100"/>
            <a:ext cx="65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/>
          </a:p>
        </p:txBody>
      </p:sp>
      <p:sp>
        <p:nvSpPr>
          <p:cNvPr id="1515" name="Google Shape;1515;p86"/>
          <p:cNvSpPr txBox="1"/>
          <p:nvPr/>
        </p:nvSpPr>
        <p:spPr>
          <a:xfrm>
            <a:off x="7845100" y="2466600"/>
            <a:ext cx="65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endParaRPr/>
          </a:p>
        </p:txBody>
      </p:sp>
      <p:sp>
        <p:nvSpPr>
          <p:cNvPr id="1516" name="Google Shape;1516;p86"/>
          <p:cNvSpPr txBox="1"/>
          <p:nvPr/>
        </p:nvSpPr>
        <p:spPr>
          <a:xfrm>
            <a:off x="6381900" y="2593688"/>
            <a:ext cx="65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endParaRPr/>
          </a:p>
        </p:txBody>
      </p:sp>
      <p:sp>
        <p:nvSpPr>
          <p:cNvPr id="1517" name="Google Shape;1517;p86"/>
          <p:cNvSpPr txBox="1"/>
          <p:nvPr/>
        </p:nvSpPr>
        <p:spPr>
          <a:xfrm>
            <a:off x="7351875" y="1373700"/>
            <a:ext cx="43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/>
          </a:p>
        </p:txBody>
      </p:sp>
      <p:sp>
        <p:nvSpPr>
          <p:cNvPr id="1518" name="Google Shape;1518;p86"/>
          <p:cNvSpPr txBox="1"/>
          <p:nvPr/>
        </p:nvSpPr>
        <p:spPr>
          <a:xfrm>
            <a:off x="1156600" y="2546100"/>
            <a:ext cx="69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(−1)</a:t>
            </a:r>
            <a:endParaRPr/>
          </a:p>
        </p:txBody>
      </p:sp>
      <p:sp>
        <p:nvSpPr>
          <p:cNvPr id="1519" name="Google Shape;1519;p86"/>
          <p:cNvSpPr txBox="1"/>
          <p:nvPr/>
        </p:nvSpPr>
        <p:spPr>
          <a:xfrm>
            <a:off x="6880675" y="2053163"/>
            <a:ext cx="102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(−10)</a:t>
            </a:r>
            <a:endParaRPr/>
          </a:p>
        </p:txBody>
      </p:sp>
      <p:sp>
        <p:nvSpPr>
          <p:cNvPr id="1520" name="Google Shape;1520;p86"/>
          <p:cNvSpPr txBox="1"/>
          <p:nvPr/>
        </p:nvSpPr>
        <p:spPr>
          <a:xfrm>
            <a:off x="1173750" y="4253725"/>
            <a:ext cx="69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(−4)</a:t>
            </a:r>
            <a:endParaRPr/>
          </a:p>
        </p:txBody>
      </p:sp>
      <p:sp>
        <p:nvSpPr>
          <p:cNvPr id="1521" name="Google Shape;1521;p86"/>
          <p:cNvSpPr txBox="1"/>
          <p:nvPr/>
        </p:nvSpPr>
        <p:spPr>
          <a:xfrm>
            <a:off x="4511950" y="4253725"/>
            <a:ext cx="69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(−9)</a:t>
            </a:r>
            <a:endParaRPr/>
          </a:p>
        </p:txBody>
      </p:sp>
      <p:sp>
        <p:nvSpPr>
          <p:cNvPr id="1522" name="Google Shape;1522;p86"/>
          <p:cNvSpPr txBox="1"/>
          <p:nvPr/>
        </p:nvSpPr>
        <p:spPr>
          <a:xfrm>
            <a:off x="4287650" y="2502225"/>
            <a:ext cx="87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(−5)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87"/>
          <p:cNvSpPr txBox="1"/>
          <p:nvPr>
            <p:ph idx="1" type="body"/>
          </p:nvPr>
        </p:nvSpPr>
        <p:spPr>
          <a:xfrm>
            <a:off x="324000" y="759300"/>
            <a:ext cx="84960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Find the value of the unknown in each bar model. Explain how you know.</a:t>
            </a:r>
            <a:endParaRPr sz="1800"/>
          </a:p>
        </p:txBody>
      </p:sp>
      <p:sp>
        <p:nvSpPr>
          <p:cNvPr id="1528" name="Google Shape;1528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Additive steps using representations</a:t>
            </a:r>
            <a:endParaRPr/>
          </a:p>
        </p:txBody>
      </p:sp>
      <p:grpSp>
        <p:nvGrpSpPr>
          <p:cNvPr id="1529" name="Google Shape;1529;p87"/>
          <p:cNvGrpSpPr/>
          <p:nvPr/>
        </p:nvGrpSpPr>
        <p:grpSpPr>
          <a:xfrm>
            <a:off x="885725" y="1365275"/>
            <a:ext cx="2604000" cy="613200"/>
            <a:chOff x="324000" y="2700075"/>
            <a:chExt cx="2604000" cy="613200"/>
          </a:xfrm>
        </p:grpSpPr>
        <p:sp>
          <p:nvSpPr>
            <p:cNvPr id="1530" name="Google Shape;1530;p87"/>
            <p:cNvSpPr/>
            <p:nvPr/>
          </p:nvSpPr>
          <p:spPr>
            <a:xfrm>
              <a:off x="1467300" y="3006675"/>
              <a:ext cx="14607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31" name="Google Shape;1531;p87"/>
            <p:cNvSpPr/>
            <p:nvPr/>
          </p:nvSpPr>
          <p:spPr>
            <a:xfrm>
              <a:off x="324000" y="3006675"/>
              <a:ext cx="1143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32" name="Google Shape;1532;p87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33" name="Google Shape;1533;p87"/>
          <p:cNvGrpSpPr/>
          <p:nvPr/>
        </p:nvGrpSpPr>
        <p:grpSpPr>
          <a:xfrm>
            <a:off x="885725" y="3166800"/>
            <a:ext cx="2604000" cy="613200"/>
            <a:chOff x="324000" y="2700075"/>
            <a:chExt cx="2604000" cy="613200"/>
          </a:xfrm>
        </p:grpSpPr>
        <p:sp>
          <p:nvSpPr>
            <p:cNvPr id="1534" name="Google Shape;1534;p87"/>
            <p:cNvSpPr/>
            <p:nvPr/>
          </p:nvSpPr>
          <p:spPr>
            <a:xfrm>
              <a:off x="324000" y="3006675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41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35" name="Google Shape;1535;p87"/>
            <p:cNvSpPr/>
            <p:nvPr/>
          </p:nvSpPr>
          <p:spPr>
            <a:xfrm>
              <a:off x="324000" y="2700075"/>
              <a:ext cx="79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36" name="Google Shape;1536;p87"/>
            <p:cNvSpPr/>
            <p:nvPr/>
          </p:nvSpPr>
          <p:spPr>
            <a:xfrm>
              <a:off x="1123075" y="2700075"/>
              <a:ext cx="18048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33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37" name="Google Shape;1537;p87"/>
          <p:cNvGrpSpPr/>
          <p:nvPr/>
        </p:nvGrpSpPr>
        <p:grpSpPr>
          <a:xfrm>
            <a:off x="5370725" y="1365275"/>
            <a:ext cx="2604000" cy="613200"/>
            <a:chOff x="324000" y="2700075"/>
            <a:chExt cx="2604000" cy="613200"/>
          </a:xfrm>
        </p:grpSpPr>
        <p:sp>
          <p:nvSpPr>
            <p:cNvPr id="1538" name="Google Shape;1538;p87"/>
            <p:cNvSpPr/>
            <p:nvPr/>
          </p:nvSpPr>
          <p:spPr>
            <a:xfrm>
              <a:off x="1467300" y="3006675"/>
              <a:ext cx="14607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39" name="Google Shape;1539;p87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c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40" name="Google Shape;1540;p87"/>
            <p:cNvSpPr/>
            <p:nvPr/>
          </p:nvSpPr>
          <p:spPr>
            <a:xfrm>
              <a:off x="324000" y="3006675"/>
              <a:ext cx="1143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41" name="Google Shape;1541;p87"/>
          <p:cNvGrpSpPr/>
          <p:nvPr/>
        </p:nvGrpSpPr>
        <p:grpSpPr>
          <a:xfrm>
            <a:off x="5370725" y="3166800"/>
            <a:ext cx="2604000" cy="613200"/>
            <a:chOff x="324000" y="2700075"/>
            <a:chExt cx="2604000" cy="613200"/>
          </a:xfrm>
        </p:grpSpPr>
        <p:sp>
          <p:nvSpPr>
            <p:cNvPr id="1542" name="Google Shape;1542;p87"/>
            <p:cNvSpPr/>
            <p:nvPr/>
          </p:nvSpPr>
          <p:spPr>
            <a:xfrm>
              <a:off x="1467300" y="3006675"/>
              <a:ext cx="14607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5.7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43" name="Google Shape;1543;p87"/>
            <p:cNvSpPr/>
            <p:nvPr/>
          </p:nvSpPr>
          <p:spPr>
            <a:xfrm>
              <a:off x="324000" y="3006675"/>
              <a:ext cx="1143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d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44" name="Google Shape;1544;p87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8.4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545" name="Google Shape;1545;p87"/>
          <p:cNvSpPr txBox="1"/>
          <p:nvPr>
            <p:ph idx="1" type="body"/>
          </p:nvPr>
        </p:nvSpPr>
        <p:spPr>
          <a:xfrm>
            <a:off x="453225" y="1365275"/>
            <a:ext cx="2958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546" name="Google Shape;1546;p87"/>
          <p:cNvSpPr txBox="1"/>
          <p:nvPr>
            <p:ph idx="1" type="body"/>
          </p:nvPr>
        </p:nvSpPr>
        <p:spPr>
          <a:xfrm>
            <a:off x="453225" y="3166800"/>
            <a:ext cx="2958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547" name="Google Shape;1547;p87"/>
          <p:cNvSpPr txBox="1"/>
          <p:nvPr>
            <p:ph idx="1" type="body"/>
          </p:nvPr>
        </p:nvSpPr>
        <p:spPr>
          <a:xfrm>
            <a:off x="4891875" y="1365275"/>
            <a:ext cx="2958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548" name="Google Shape;1548;p87"/>
          <p:cNvSpPr txBox="1"/>
          <p:nvPr>
            <p:ph idx="1" type="body"/>
          </p:nvPr>
        </p:nvSpPr>
        <p:spPr>
          <a:xfrm>
            <a:off x="4891875" y="3166800"/>
            <a:ext cx="2958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</a:t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88"/>
          <p:cNvSpPr txBox="1"/>
          <p:nvPr>
            <p:ph idx="1" type="body"/>
          </p:nvPr>
        </p:nvSpPr>
        <p:spPr>
          <a:xfrm>
            <a:off x="328338" y="710150"/>
            <a:ext cx="8496000" cy="76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Complete the balance scales to show the additive step needed to find the solution. What is the solution for each equation?</a:t>
            </a:r>
            <a:endParaRPr sz="1800"/>
          </a:p>
        </p:txBody>
      </p:sp>
      <p:sp>
        <p:nvSpPr>
          <p:cNvPr id="1554" name="Google Shape;1554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Additive steps using representations</a:t>
            </a:r>
            <a:endParaRPr/>
          </a:p>
        </p:txBody>
      </p:sp>
      <p:grpSp>
        <p:nvGrpSpPr>
          <p:cNvPr id="1555" name="Google Shape;1555;p88"/>
          <p:cNvGrpSpPr/>
          <p:nvPr/>
        </p:nvGrpSpPr>
        <p:grpSpPr>
          <a:xfrm>
            <a:off x="384884" y="1468673"/>
            <a:ext cx="2240582" cy="933029"/>
            <a:chOff x="3679000" y="1380975"/>
            <a:chExt cx="4343896" cy="2543700"/>
          </a:xfrm>
        </p:grpSpPr>
        <p:sp>
          <p:nvSpPr>
            <p:cNvPr id="1556" name="Google Shape;1556;p88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7" name="Google Shape;1557;p88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8" name="Google Shape;1558;p88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9" name="Google Shape;1559;p88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0" name="Google Shape;1560;p88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61" name="Google Shape;1561;p88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62" name="Google Shape;1562;p88"/>
          <p:cNvCxnSpPr/>
          <p:nvPr/>
        </p:nvCxnSpPr>
        <p:spPr>
          <a:xfrm>
            <a:off x="3089200" y="1467375"/>
            <a:ext cx="0" cy="3328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3" name="Google Shape;1563;p88"/>
          <p:cNvCxnSpPr/>
          <p:nvPr/>
        </p:nvCxnSpPr>
        <p:spPr>
          <a:xfrm>
            <a:off x="6061000" y="1467375"/>
            <a:ext cx="0" cy="3328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64" name="Google Shape;1564;p88"/>
          <p:cNvGrpSpPr/>
          <p:nvPr/>
        </p:nvGrpSpPr>
        <p:grpSpPr>
          <a:xfrm>
            <a:off x="384884" y="2535473"/>
            <a:ext cx="2240582" cy="933029"/>
            <a:chOff x="3679000" y="1380975"/>
            <a:chExt cx="4343896" cy="2543700"/>
          </a:xfrm>
        </p:grpSpPr>
        <p:sp>
          <p:nvSpPr>
            <p:cNvPr id="1565" name="Google Shape;1565;p88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66" name="Google Shape;1566;p88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7" name="Google Shape;1567;p88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68" name="Google Shape;1568;p88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9" name="Google Shape;1569;p88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70" name="Google Shape;1570;p88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71" name="Google Shape;1571;p88"/>
          <p:cNvGrpSpPr/>
          <p:nvPr/>
        </p:nvGrpSpPr>
        <p:grpSpPr>
          <a:xfrm>
            <a:off x="384884" y="3526073"/>
            <a:ext cx="2240582" cy="933029"/>
            <a:chOff x="3679000" y="1380975"/>
            <a:chExt cx="4343896" cy="2543700"/>
          </a:xfrm>
        </p:grpSpPr>
        <p:sp>
          <p:nvSpPr>
            <p:cNvPr id="1572" name="Google Shape;1572;p88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73" name="Google Shape;1573;p88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4" name="Google Shape;1574;p88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75" name="Google Shape;1575;p88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6" name="Google Shape;1576;p88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77" name="Google Shape;1577;p88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78" name="Google Shape;1578;p88"/>
          <p:cNvGrpSpPr/>
          <p:nvPr/>
        </p:nvGrpSpPr>
        <p:grpSpPr>
          <a:xfrm>
            <a:off x="3456053" y="1468673"/>
            <a:ext cx="2240582" cy="933029"/>
            <a:chOff x="3679000" y="1380975"/>
            <a:chExt cx="4343896" cy="2543700"/>
          </a:xfrm>
        </p:grpSpPr>
        <p:sp>
          <p:nvSpPr>
            <p:cNvPr id="1579" name="Google Shape;1579;p88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80" name="Google Shape;1580;p88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1" name="Google Shape;1581;p88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82" name="Google Shape;1582;p88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3" name="Google Shape;1583;p88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84" name="Google Shape;1584;p88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85" name="Google Shape;1585;p88"/>
          <p:cNvGrpSpPr/>
          <p:nvPr/>
        </p:nvGrpSpPr>
        <p:grpSpPr>
          <a:xfrm>
            <a:off x="3456053" y="2535473"/>
            <a:ext cx="2240582" cy="933029"/>
            <a:chOff x="3679000" y="1380975"/>
            <a:chExt cx="4343896" cy="2543700"/>
          </a:xfrm>
        </p:grpSpPr>
        <p:sp>
          <p:nvSpPr>
            <p:cNvPr id="1586" name="Google Shape;1586;p88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87" name="Google Shape;1587;p88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8" name="Google Shape;1588;p88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89" name="Google Shape;1589;p88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0" name="Google Shape;1590;p88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91" name="Google Shape;1591;p88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92" name="Google Shape;1592;p88"/>
          <p:cNvGrpSpPr/>
          <p:nvPr/>
        </p:nvGrpSpPr>
        <p:grpSpPr>
          <a:xfrm>
            <a:off x="3456053" y="3526073"/>
            <a:ext cx="2240582" cy="933029"/>
            <a:chOff x="3679000" y="1380975"/>
            <a:chExt cx="4343896" cy="2543700"/>
          </a:xfrm>
        </p:grpSpPr>
        <p:sp>
          <p:nvSpPr>
            <p:cNvPr id="1593" name="Google Shape;1593;p88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94" name="Google Shape;1594;p88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5" name="Google Shape;1595;p88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96" name="Google Shape;1596;p88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7" name="Google Shape;1597;p88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98" name="Google Shape;1598;p88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99" name="Google Shape;1599;p88"/>
          <p:cNvGrpSpPr/>
          <p:nvPr/>
        </p:nvGrpSpPr>
        <p:grpSpPr>
          <a:xfrm>
            <a:off x="6328484" y="1468673"/>
            <a:ext cx="2240582" cy="933029"/>
            <a:chOff x="3679000" y="1380975"/>
            <a:chExt cx="4343896" cy="2543700"/>
          </a:xfrm>
        </p:grpSpPr>
        <p:sp>
          <p:nvSpPr>
            <p:cNvPr id="1600" name="Google Shape;1600;p88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01" name="Google Shape;1601;p88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02" name="Google Shape;1602;p88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03" name="Google Shape;1603;p88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04" name="Google Shape;1604;p88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05" name="Google Shape;1605;p88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06" name="Google Shape;1606;p88"/>
          <p:cNvGrpSpPr/>
          <p:nvPr/>
        </p:nvGrpSpPr>
        <p:grpSpPr>
          <a:xfrm>
            <a:off x="6328484" y="2535473"/>
            <a:ext cx="2240582" cy="933029"/>
            <a:chOff x="3679000" y="1380975"/>
            <a:chExt cx="4343896" cy="2543700"/>
          </a:xfrm>
        </p:grpSpPr>
        <p:sp>
          <p:nvSpPr>
            <p:cNvPr id="1607" name="Google Shape;1607;p88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08" name="Google Shape;1608;p88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09" name="Google Shape;1609;p88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10" name="Google Shape;1610;p88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11" name="Google Shape;1611;p88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12" name="Google Shape;1612;p88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13" name="Google Shape;1613;p88"/>
          <p:cNvGrpSpPr/>
          <p:nvPr/>
        </p:nvGrpSpPr>
        <p:grpSpPr>
          <a:xfrm>
            <a:off x="6328484" y="3526073"/>
            <a:ext cx="2240582" cy="933029"/>
            <a:chOff x="3679000" y="1380975"/>
            <a:chExt cx="4343896" cy="2543700"/>
          </a:xfrm>
        </p:grpSpPr>
        <p:sp>
          <p:nvSpPr>
            <p:cNvPr id="1614" name="Google Shape;1614;p88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15" name="Google Shape;1615;p88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16" name="Google Shape;1616;p88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17" name="Google Shape;1617;p88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18" name="Google Shape;1618;p88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19" name="Google Shape;1619;p88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20" name="Google Shape;1620;p88"/>
          <p:cNvSpPr/>
          <p:nvPr/>
        </p:nvSpPr>
        <p:spPr>
          <a:xfrm>
            <a:off x="535925" y="1830350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1" name="Google Shape;1621;p88"/>
          <p:cNvSpPr/>
          <p:nvPr/>
        </p:nvSpPr>
        <p:spPr>
          <a:xfrm>
            <a:off x="535925" y="2897150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2" name="Google Shape;1622;p88"/>
          <p:cNvSpPr/>
          <p:nvPr/>
        </p:nvSpPr>
        <p:spPr>
          <a:xfrm>
            <a:off x="535925" y="3887750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3" name="Google Shape;1623;p88"/>
          <p:cNvSpPr/>
          <p:nvPr/>
        </p:nvSpPr>
        <p:spPr>
          <a:xfrm>
            <a:off x="1912275" y="1816225"/>
            <a:ext cx="5667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7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4" name="Google Shape;1624;p88"/>
          <p:cNvSpPr/>
          <p:nvPr/>
        </p:nvSpPr>
        <p:spPr>
          <a:xfrm>
            <a:off x="931450" y="1816225"/>
            <a:ext cx="2655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5" name="Google Shape;1625;p88"/>
          <p:cNvSpPr/>
          <p:nvPr/>
        </p:nvSpPr>
        <p:spPr>
          <a:xfrm>
            <a:off x="931450" y="2878250"/>
            <a:ext cx="2655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6" name="Google Shape;1626;p88"/>
          <p:cNvSpPr/>
          <p:nvPr/>
        </p:nvSpPr>
        <p:spPr>
          <a:xfrm>
            <a:off x="931450" y="2623800"/>
            <a:ext cx="265500" cy="2475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endParaRPr sz="18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7" name="Google Shape;1627;p88"/>
          <p:cNvSpPr/>
          <p:nvPr/>
        </p:nvSpPr>
        <p:spPr>
          <a:xfrm>
            <a:off x="1912275" y="2878238"/>
            <a:ext cx="5667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7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8" name="Google Shape;1628;p88"/>
          <p:cNvSpPr/>
          <p:nvPr/>
        </p:nvSpPr>
        <p:spPr>
          <a:xfrm>
            <a:off x="3525863" y="1830350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9" name="Google Shape;1629;p88"/>
          <p:cNvSpPr/>
          <p:nvPr/>
        </p:nvSpPr>
        <p:spPr>
          <a:xfrm>
            <a:off x="3534013" y="2892425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0" name="Google Shape;1630;p88"/>
          <p:cNvSpPr/>
          <p:nvPr/>
        </p:nvSpPr>
        <p:spPr>
          <a:xfrm>
            <a:off x="3955500" y="2439750"/>
            <a:ext cx="364500" cy="3372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1" name="Google Shape;1631;p88"/>
          <p:cNvSpPr/>
          <p:nvPr/>
        </p:nvSpPr>
        <p:spPr>
          <a:xfrm>
            <a:off x="3634188" y="3904154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2" name="Google Shape;1632;p88"/>
          <p:cNvSpPr/>
          <p:nvPr/>
        </p:nvSpPr>
        <p:spPr>
          <a:xfrm>
            <a:off x="3955500" y="2776950"/>
            <a:ext cx="364500" cy="3372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3" name="Google Shape;1633;p88"/>
          <p:cNvSpPr/>
          <p:nvPr/>
        </p:nvSpPr>
        <p:spPr>
          <a:xfrm>
            <a:off x="3939200" y="1726475"/>
            <a:ext cx="364500" cy="3372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4" name="Google Shape;1634;p88"/>
          <p:cNvSpPr/>
          <p:nvPr/>
        </p:nvSpPr>
        <p:spPr>
          <a:xfrm>
            <a:off x="4829050" y="2787375"/>
            <a:ext cx="858600" cy="332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30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5" name="Google Shape;1635;p88"/>
          <p:cNvSpPr/>
          <p:nvPr/>
        </p:nvSpPr>
        <p:spPr>
          <a:xfrm>
            <a:off x="4827277" y="1717921"/>
            <a:ext cx="858600" cy="332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30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6" name="Google Shape;1636;p88"/>
          <p:cNvSpPr/>
          <p:nvPr/>
        </p:nvSpPr>
        <p:spPr>
          <a:xfrm>
            <a:off x="6425375" y="1568938"/>
            <a:ext cx="601200" cy="4806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19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7" name="Google Shape;1637;p88"/>
          <p:cNvSpPr/>
          <p:nvPr/>
        </p:nvSpPr>
        <p:spPr>
          <a:xfrm>
            <a:off x="8263208" y="1816229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8" name="Google Shape;1638;p88"/>
          <p:cNvSpPr/>
          <p:nvPr/>
        </p:nvSpPr>
        <p:spPr>
          <a:xfrm>
            <a:off x="7704502" y="1568925"/>
            <a:ext cx="265500" cy="4806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8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9" name="Google Shape;1639;p88"/>
          <p:cNvSpPr txBox="1"/>
          <p:nvPr>
            <p:ph idx="1" type="body"/>
          </p:nvPr>
        </p:nvSpPr>
        <p:spPr>
          <a:xfrm>
            <a:off x="399164" y="1365275"/>
            <a:ext cx="2958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640" name="Google Shape;1640;p88"/>
          <p:cNvSpPr txBox="1"/>
          <p:nvPr>
            <p:ph idx="1" type="body"/>
          </p:nvPr>
        </p:nvSpPr>
        <p:spPr>
          <a:xfrm>
            <a:off x="3203052" y="1365275"/>
            <a:ext cx="2958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641" name="Google Shape;1641;p88"/>
          <p:cNvSpPr txBox="1"/>
          <p:nvPr>
            <p:ph idx="1" type="body"/>
          </p:nvPr>
        </p:nvSpPr>
        <p:spPr>
          <a:xfrm>
            <a:off x="6133890" y="1365275"/>
            <a:ext cx="2958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</a:t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89"/>
          <p:cNvSpPr txBox="1"/>
          <p:nvPr>
            <p:ph idx="1" type="body"/>
          </p:nvPr>
        </p:nvSpPr>
        <p:spPr>
          <a:xfrm>
            <a:off x="324000" y="759300"/>
            <a:ext cx="83331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Find the value of the unknown in each bar model. Explain how you know.</a:t>
            </a:r>
            <a:endParaRPr sz="1800"/>
          </a:p>
        </p:txBody>
      </p:sp>
      <p:sp>
        <p:nvSpPr>
          <p:cNvPr id="1647" name="Google Shape;1647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Additive steps using representations</a:t>
            </a:r>
            <a:endParaRPr/>
          </a:p>
        </p:txBody>
      </p:sp>
      <p:grpSp>
        <p:nvGrpSpPr>
          <p:cNvPr id="1648" name="Google Shape;1648;p89"/>
          <p:cNvGrpSpPr/>
          <p:nvPr/>
        </p:nvGrpSpPr>
        <p:grpSpPr>
          <a:xfrm>
            <a:off x="885725" y="1365275"/>
            <a:ext cx="2604000" cy="613200"/>
            <a:chOff x="324000" y="2700075"/>
            <a:chExt cx="2604000" cy="613200"/>
          </a:xfrm>
        </p:grpSpPr>
        <p:sp>
          <p:nvSpPr>
            <p:cNvPr id="1649" name="Google Shape;1649;p89"/>
            <p:cNvSpPr/>
            <p:nvPr/>
          </p:nvSpPr>
          <p:spPr>
            <a:xfrm>
              <a:off x="1467300" y="3006675"/>
              <a:ext cx="14607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50" name="Google Shape;1650;p89"/>
            <p:cNvSpPr/>
            <p:nvPr/>
          </p:nvSpPr>
          <p:spPr>
            <a:xfrm>
              <a:off x="324000" y="3006675"/>
              <a:ext cx="1143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51" name="Google Shape;1651;p89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52" name="Google Shape;1652;p89"/>
          <p:cNvGrpSpPr/>
          <p:nvPr/>
        </p:nvGrpSpPr>
        <p:grpSpPr>
          <a:xfrm>
            <a:off x="885725" y="3166800"/>
            <a:ext cx="2604000" cy="613200"/>
            <a:chOff x="324000" y="2700075"/>
            <a:chExt cx="2604000" cy="613200"/>
          </a:xfrm>
        </p:grpSpPr>
        <p:sp>
          <p:nvSpPr>
            <p:cNvPr id="1653" name="Google Shape;1653;p89"/>
            <p:cNvSpPr/>
            <p:nvPr/>
          </p:nvSpPr>
          <p:spPr>
            <a:xfrm>
              <a:off x="324000" y="3006675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41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54" name="Google Shape;1654;p89"/>
            <p:cNvSpPr/>
            <p:nvPr/>
          </p:nvSpPr>
          <p:spPr>
            <a:xfrm>
              <a:off x="324000" y="2700075"/>
              <a:ext cx="799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55" name="Google Shape;1655;p89"/>
            <p:cNvSpPr/>
            <p:nvPr/>
          </p:nvSpPr>
          <p:spPr>
            <a:xfrm>
              <a:off x="1123075" y="2700075"/>
              <a:ext cx="18048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33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56" name="Google Shape;1656;p89"/>
          <p:cNvGrpSpPr/>
          <p:nvPr/>
        </p:nvGrpSpPr>
        <p:grpSpPr>
          <a:xfrm>
            <a:off x="5370725" y="1365275"/>
            <a:ext cx="2604000" cy="613200"/>
            <a:chOff x="324000" y="2700075"/>
            <a:chExt cx="2604000" cy="613200"/>
          </a:xfrm>
        </p:grpSpPr>
        <p:sp>
          <p:nvSpPr>
            <p:cNvPr id="1657" name="Google Shape;1657;p89"/>
            <p:cNvSpPr/>
            <p:nvPr/>
          </p:nvSpPr>
          <p:spPr>
            <a:xfrm>
              <a:off x="1467300" y="3006675"/>
              <a:ext cx="14607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58" name="Google Shape;1658;p89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c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59" name="Google Shape;1659;p89"/>
            <p:cNvSpPr/>
            <p:nvPr/>
          </p:nvSpPr>
          <p:spPr>
            <a:xfrm>
              <a:off x="324000" y="3006675"/>
              <a:ext cx="1143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60" name="Google Shape;1660;p89"/>
          <p:cNvGrpSpPr/>
          <p:nvPr/>
        </p:nvGrpSpPr>
        <p:grpSpPr>
          <a:xfrm>
            <a:off x="5370725" y="3166800"/>
            <a:ext cx="2604000" cy="613200"/>
            <a:chOff x="324000" y="2700075"/>
            <a:chExt cx="2604000" cy="613200"/>
          </a:xfrm>
        </p:grpSpPr>
        <p:sp>
          <p:nvSpPr>
            <p:cNvPr id="1661" name="Google Shape;1661;p89"/>
            <p:cNvSpPr/>
            <p:nvPr/>
          </p:nvSpPr>
          <p:spPr>
            <a:xfrm>
              <a:off x="1467300" y="3006675"/>
              <a:ext cx="14607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5.7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2" name="Google Shape;1662;p89"/>
            <p:cNvSpPr/>
            <p:nvPr/>
          </p:nvSpPr>
          <p:spPr>
            <a:xfrm>
              <a:off x="324000" y="3006675"/>
              <a:ext cx="1143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d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3" name="Google Shape;1663;p89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8.4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64" name="Google Shape;1664;p89"/>
          <p:cNvSpPr txBox="1"/>
          <p:nvPr>
            <p:ph idx="1" type="body"/>
          </p:nvPr>
        </p:nvSpPr>
        <p:spPr>
          <a:xfrm>
            <a:off x="453225" y="1365275"/>
            <a:ext cx="2958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665" name="Google Shape;1665;p89"/>
          <p:cNvSpPr txBox="1"/>
          <p:nvPr>
            <p:ph idx="1" type="body"/>
          </p:nvPr>
        </p:nvSpPr>
        <p:spPr>
          <a:xfrm>
            <a:off x="453225" y="3166800"/>
            <a:ext cx="2958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666" name="Google Shape;1666;p89"/>
          <p:cNvSpPr txBox="1"/>
          <p:nvPr>
            <p:ph idx="1" type="body"/>
          </p:nvPr>
        </p:nvSpPr>
        <p:spPr>
          <a:xfrm>
            <a:off x="4891875" y="1365275"/>
            <a:ext cx="2958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667" name="Google Shape;1667;p89"/>
          <p:cNvSpPr txBox="1"/>
          <p:nvPr>
            <p:ph idx="1" type="body"/>
          </p:nvPr>
        </p:nvSpPr>
        <p:spPr>
          <a:xfrm>
            <a:off x="4891875" y="3166800"/>
            <a:ext cx="2958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sp>
        <p:nvSpPr>
          <p:cNvPr id="1668" name="Google Shape;1668;p89"/>
          <p:cNvSpPr txBox="1"/>
          <p:nvPr>
            <p:ph idx="1" type="body"/>
          </p:nvPr>
        </p:nvSpPr>
        <p:spPr>
          <a:xfrm>
            <a:off x="336056" y="2086054"/>
            <a:ext cx="3352200" cy="9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represents the equation: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15 − 9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lang="en-GB" sz="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a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a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9" name="Google Shape;1669;p89"/>
          <p:cNvSpPr txBox="1"/>
          <p:nvPr>
            <p:ph idx="1" type="body"/>
          </p:nvPr>
        </p:nvSpPr>
        <p:spPr>
          <a:xfrm>
            <a:off x="336056" y="3835654"/>
            <a:ext cx="3352200" cy="9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represents the equation: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41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− 33 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b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0" name="Google Shape;1670;p89"/>
          <p:cNvSpPr txBox="1"/>
          <p:nvPr>
            <p:ph idx="1" type="body"/>
          </p:nvPr>
        </p:nvSpPr>
        <p:spPr>
          <a:xfrm>
            <a:off x="4664675" y="2088300"/>
            <a:ext cx="3565200" cy="9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represents the equation:  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27 + 31 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c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1" name="Google Shape;1671;p89"/>
          <p:cNvSpPr txBox="1"/>
          <p:nvPr>
            <p:ph idx="1" type="body"/>
          </p:nvPr>
        </p:nvSpPr>
        <p:spPr>
          <a:xfrm>
            <a:off x="4664675" y="3835650"/>
            <a:ext cx="3838500" cy="9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represents the equation: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8.4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− 5.7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d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lang="en-GB" sz="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 2.7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d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2.7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6" name="Google Shape;1676;p90"/>
          <p:cNvGrpSpPr/>
          <p:nvPr/>
        </p:nvGrpSpPr>
        <p:grpSpPr>
          <a:xfrm>
            <a:off x="6328484" y="2459273"/>
            <a:ext cx="2240582" cy="933029"/>
            <a:chOff x="3679000" y="1380975"/>
            <a:chExt cx="4343896" cy="2543700"/>
          </a:xfrm>
        </p:grpSpPr>
        <p:sp>
          <p:nvSpPr>
            <p:cNvPr id="1677" name="Google Shape;1677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78" name="Google Shape;1678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9" name="Google Shape;1679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80" name="Google Shape;1680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81" name="Google Shape;1681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82" name="Google Shape;1682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83" name="Google Shape;1683;p90"/>
          <p:cNvSpPr txBox="1"/>
          <p:nvPr>
            <p:ph idx="1" type="body"/>
          </p:nvPr>
        </p:nvSpPr>
        <p:spPr>
          <a:xfrm>
            <a:off x="324000" y="683100"/>
            <a:ext cx="82377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Complete the balance scales to show the additive step needed to find the solution. What is the solution for each equation?</a:t>
            </a:r>
            <a:endParaRPr sz="1800"/>
          </a:p>
        </p:txBody>
      </p:sp>
      <p:sp>
        <p:nvSpPr>
          <p:cNvPr id="1684" name="Google Shape;1684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Additive steps using representations</a:t>
            </a:r>
            <a:endParaRPr/>
          </a:p>
        </p:txBody>
      </p:sp>
      <p:grpSp>
        <p:nvGrpSpPr>
          <p:cNvPr id="1685" name="Google Shape;1685;p90"/>
          <p:cNvGrpSpPr/>
          <p:nvPr/>
        </p:nvGrpSpPr>
        <p:grpSpPr>
          <a:xfrm>
            <a:off x="384884" y="1392473"/>
            <a:ext cx="2240582" cy="933029"/>
            <a:chOff x="3679000" y="1380975"/>
            <a:chExt cx="4343896" cy="2543700"/>
          </a:xfrm>
        </p:grpSpPr>
        <p:sp>
          <p:nvSpPr>
            <p:cNvPr id="1686" name="Google Shape;1686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87" name="Google Shape;1687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88" name="Google Shape;1688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89" name="Google Shape;1689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0" name="Google Shape;1690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91" name="Google Shape;1691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92" name="Google Shape;1692;p90"/>
          <p:cNvCxnSpPr/>
          <p:nvPr/>
        </p:nvCxnSpPr>
        <p:spPr>
          <a:xfrm>
            <a:off x="3089200" y="1467375"/>
            <a:ext cx="0" cy="3328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3" name="Google Shape;1693;p90"/>
          <p:cNvCxnSpPr/>
          <p:nvPr/>
        </p:nvCxnSpPr>
        <p:spPr>
          <a:xfrm>
            <a:off x="6061000" y="1467375"/>
            <a:ext cx="0" cy="3328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94" name="Google Shape;1694;p90"/>
          <p:cNvGrpSpPr/>
          <p:nvPr/>
        </p:nvGrpSpPr>
        <p:grpSpPr>
          <a:xfrm>
            <a:off x="384884" y="2459273"/>
            <a:ext cx="2240582" cy="933029"/>
            <a:chOff x="3679000" y="1380975"/>
            <a:chExt cx="4343896" cy="2543700"/>
          </a:xfrm>
        </p:grpSpPr>
        <p:sp>
          <p:nvSpPr>
            <p:cNvPr id="1695" name="Google Shape;1695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96" name="Google Shape;1696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7" name="Google Shape;1697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98" name="Google Shape;1698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9" name="Google Shape;1699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00" name="Google Shape;1700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01" name="Google Shape;1701;p90"/>
          <p:cNvGrpSpPr/>
          <p:nvPr/>
        </p:nvGrpSpPr>
        <p:grpSpPr>
          <a:xfrm>
            <a:off x="384884" y="3526073"/>
            <a:ext cx="2240582" cy="933029"/>
            <a:chOff x="3679000" y="1380975"/>
            <a:chExt cx="4343896" cy="2543700"/>
          </a:xfrm>
        </p:grpSpPr>
        <p:sp>
          <p:nvSpPr>
            <p:cNvPr id="1702" name="Google Shape;1702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03" name="Google Shape;1703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4" name="Google Shape;1704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05" name="Google Shape;1705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6" name="Google Shape;1706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07" name="Google Shape;1707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08" name="Google Shape;1708;p90"/>
          <p:cNvGrpSpPr/>
          <p:nvPr/>
        </p:nvGrpSpPr>
        <p:grpSpPr>
          <a:xfrm>
            <a:off x="3456053" y="1392473"/>
            <a:ext cx="2240582" cy="933029"/>
            <a:chOff x="3679000" y="1380975"/>
            <a:chExt cx="4343896" cy="2543700"/>
          </a:xfrm>
        </p:grpSpPr>
        <p:sp>
          <p:nvSpPr>
            <p:cNvPr id="1709" name="Google Shape;1709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10" name="Google Shape;1710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1" name="Google Shape;1711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12" name="Google Shape;1712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3" name="Google Shape;1713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14" name="Google Shape;1714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15" name="Google Shape;1715;p90"/>
          <p:cNvGrpSpPr/>
          <p:nvPr/>
        </p:nvGrpSpPr>
        <p:grpSpPr>
          <a:xfrm>
            <a:off x="3456053" y="2459273"/>
            <a:ext cx="2240582" cy="933029"/>
            <a:chOff x="3679000" y="1380975"/>
            <a:chExt cx="4343896" cy="2543700"/>
          </a:xfrm>
        </p:grpSpPr>
        <p:sp>
          <p:nvSpPr>
            <p:cNvPr id="1716" name="Google Shape;1716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17" name="Google Shape;1717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8" name="Google Shape;1718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19" name="Google Shape;1719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20" name="Google Shape;1720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21" name="Google Shape;1721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22" name="Google Shape;1722;p90"/>
          <p:cNvGrpSpPr/>
          <p:nvPr/>
        </p:nvGrpSpPr>
        <p:grpSpPr>
          <a:xfrm>
            <a:off x="3456053" y="3526073"/>
            <a:ext cx="2240582" cy="933029"/>
            <a:chOff x="3679000" y="1380975"/>
            <a:chExt cx="4343896" cy="2543700"/>
          </a:xfrm>
        </p:grpSpPr>
        <p:sp>
          <p:nvSpPr>
            <p:cNvPr id="1723" name="Google Shape;1723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24" name="Google Shape;1724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25" name="Google Shape;1725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26" name="Google Shape;1726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27" name="Google Shape;1727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28" name="Google Shape;1728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29" name="Google Shape;1729;p90"/>
          <p:cNvGrpSpPr/>
          <p:nvPr/>
        </p:nvGrpSpPr>
        <p:grpSpPr>
          <a:xfrm>
            <a:off x="6328484" y="1392473"/>
            <a:ext cx="2240582" cy="933029"/>
            <a:chOff x="3679000" y="1380975"/>
            <a:chExt cx="4343896" cy="2543700"/>
          </a:xfrm>
        </p:grpSpPr>
        <p:sp>
          <p:nvSpPr>
            <p:cNvPr id="1730" name="Google Shape;1730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31" name="Google Shape;1731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32" name="Google Shape;1732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33" name="Google Shape;1733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34" name="Google Shape;1734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35" name="Google Shape;1735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36" name="Google Shape;1736;p90"/>
          <p:cNvGrpSpPr/>
          <p:nvPr/>
        </p:nvGrpSpPr>
        <p:grpSpPr>
          <a:xfrm>
            <a:off x="6328484" y="3526073"/>
            <a:ext cx="2240582" cy="933029"/>
            <a:chOff x="3679000" y="1380975"/>
            <a:chExt cx="4343896" cy="2543700"/>
          </a:xfrm>
        </p:grpSpPr>
        <p:sp>
          <p:nvSpPr>
            <p:cNvPr id="1737" name="Google Shape;1737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38" name="Google Shape;1738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39" name="Google Shape;1739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0" name="Google Shape;1740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1" name="Google Shape;1741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2" name="Google Shape;1742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43" name="Google Shape;1743;p90"/>
          <p:cNvSpPr/>
          <p:nvPr/>
        </p:nvSpPr>
        <p:spPr>
          <a:xfrm>
            <a:off x="535925" y="1754150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4" name="Google Shape;1744;p90"/>
          <p:cNvSpPr/>
          <p:nvPr/>
        </p:nvSpPr>
        <p:spPr>
          <a:xfrm>
            <a:off x="535925" y="2820950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5" name="Google Shape;1745;p90"/>
          <p:cNvSpPr/>
          <p:nvPr/>
        </p:nvSpPr>
        <p:spPr>
          <a:xfrm>
            <a:off x="535925" y="3887750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6" name="Google Shape;1746;p90"/>
          <p:cNvSpPr/>
          <p:nvPr/>
        </p:nvSpPr>
        <p:spPr>
          <a:xfrm>
            <a:off x="1912275" y="1740025"/>
            <a:ext cx="5667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7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7" name="Google Shape;1747;p90"/>
          <p:cNvSpPr/>
          <p:nvPr/>
        </p:nvSpPr>
        <p:spPr>
          <a:xfrm>
            <a:off x="931450" y="1740025"/>
            <a:ext cx="2655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8" name="Google Shape;1748;p90"/>
          <p:cNvSpPr/>
          <p:nvPr/>
        </p:nvSpPr>
        <p:spPr>
          <a:xfrm>
            <a:off x="931450" y="2802050"/>
            <a:ext cx="2655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9" name="Google Shape;1749;p90"/>
          <p:cNvSpPr/>
          <p:nvPr/>
        </p:nvSpPr>
        <p:spPr>
          <a:xfrm>
            <a:off x="931450" y="2547600"/>
            <a:ext cx="265500" cy="2475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endParaRPr sz="18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0" name="Google Shape;1750;p90"/>
          <p:cNvSpPr/>
          <p:nvPr/>
        </p:nvSpPr>
        <p:spPr>
          <a:xfrm>
            <a:off x="1912275" y="2802038"/>
            <a:ext cx="5667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7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1" name="Google Shape;1751;p90"/>
          <p:cNvSpPr/>
          <p:nvPr/>
        </p:nvSpPr>
        <p:spPr>
          <a:xfrm>
            <a:off x="3525863" y="1754150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2" name="Google Shape;1752;p90"/>
          <p:cNvSpPr/>
          <p:nvPr/>
        </p:nvSpPr>
        <p:spPr>
          <a:xfrm>
            <a:off x="3955500" y="2700750"/>
            <a:ext cx="364500" cy="3372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3" name="Google Shape;1753;p90"/>
          <p:cNvSpPr/>
          <p:nvPr/>
        </p:nvSpPr>
        <p:spPr>
          <a:xfrm>
            <a:off x="3534013" y="2816225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4" name="Google Shape;1754;p90"/>
          <p:cNvSpPr/>
          <p:nvPr/>
        </p:nvSpPr>
        <p:spPr>
          <a:xfrm>
            <a:off x="3955500" y="2363550"/>
            <a:ext cx="364500" cy="3372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−11</a:t>
            </a:r>
            <a:endParaRPr sz="18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5" name="Google Shape;1755;p90"/>
          <p:cNvSpPr/>
          <p:nvPr/>
        </p:nvSpPr>
        <p:spPr>
          <a:xfrm>
            <a:off x="3634188" y="3904154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6" name="Google Shape;1756;p90"/>
          <p:cNvSpPr/>
          <p:nvPr/>
        </p:nvSpPr>
        <p:spPr>
          <a:xfrm>
            <a:off x="8263208" y="1740029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7" name="Google Shape;1757;p90"/>
          <p:cNvSpPr/>
          <p:nvPr/>
        </p:nvSpPr>
        <p:spPr>
          <a:xfrm>
            <a:off x="6425375" y="1492738"/>
            <a:ext cx="601200" cy="4806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19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8" name="Google Shape;1758;p90"/>
          <p:cNvSpPr/>
          <p:nvPr/>
        </p:nvSpPr>
        <p:spPr>
          <a:xfrm>
            <a:off x="1905800" y="2547600"/>
            <a:ext cx="265500" cy="2475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endParaRPr sz="18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9" name="Google Shape;1759;p90"/>
          <p:cNvSpPr/>
          <p:nvPr/>
        </p:nvSpPr>
        <p:spPr>
          <a:xfrm>
            <a:off x="2034963" y="3853971"/>
            <a:ext cx="321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5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0" name="Google Shape;1760;p90"/>
          <p:cNvSpPr/>
          <p:nvPr/>
        </p:nvSpPr>
        <p:spPr>
          <a:xfrm>
            <a:off x="3939200" y="1650275"/>
            <a:ext cx="364500" cy="3372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1" name="Google Shape;1761;p90"/>
          <p:cNvSpPr/>
          <p:nvPr/>
        </p:nvSpPr>
        <p:spPr>
          <a:xfrm>
            <a:off x="4829050" y="2711175"/>
            <a:ext cx="858600" cy="332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30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2" name="Google Shape;1762;p90"/>
          <p:cNvSpPr/>
          <p:nvPr/>
        </p:nvSpPr>
        <p:spPr>
          <a:xfrm>
            <a:off x="4829050" y="2379000"/>
            <a:ext cx="364500" cy="3372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−11</a:t>
            </a:r>
            <a:endParaRPr sz="18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3" name="Google Shape;1763;p90"/>
          <p:cNvSpPr/>
          <p:nvPr/>
        </p:nvSpPr>
        <p:spPr>
          <a:xfrm>
            <a:off x="5051125" y="3796079"/>
            <a:ext cx="494100" cy="332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19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4" name="Google Shape;1764;p90"/>
          <p:cNvSpPr/>
          <p:nvPr/>
        </p:nvSpPr>
        <p:spPr>
          <a:xfrm>
            <a:off x="4827277" y="1641721"/>
            <a:ext cx="858600" cy="3324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30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5" name="Google Shape;1765;p90"/>
          <p:cNvSpPr/>
          <p:nvPr/>
        </p:nvSpPr>
        <p:spPr>
          <a:xfrm>
            <a:off x="7704502" y="1492725"/>
            <a:ext cx="265500" cy="4806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8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6" name="Google Shape;1766;p90"/>
          <p:cNvSpPr/>
          <p:nvPr/>
        </p:nvSpPr>
        <p:spPr>
          <a:xfrm>
            <a:off x="8266663" y="2811490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7" name="Google Shape;1767;p90"/>
          <p:cNvSpPr/>
          <p:nvPr/>
        </p:nvSpPr>
        <p:spPr>
          <a:xfrm>
            <a:off x="7708096" y="2555323"/>
            <a:ext cx="265500" cy="4806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8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8" name="Google Shape;1768;p90"/>
          <p:cNvSpPr/>
          <p:nvPr/>
        </p:nvSpPr>
        <p:spPr>
          <a:xfrm>
            <a:off x="7973608" y="2555313"/>
            <a:ext cx="265500" cy="4806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endParaRPr sz="18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9" name="Google Shape;1769;p90"/>
          <p:cNvSpPr/>
          <p:nvPr/>
        </p:nvSpPr>
        <p:spPr>
          <a:xfrm>
            <a:off x="6401763" y="2555313"/>
            <a:ext cx="601200" cy="4806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19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0" name="Google Shape;1770;p90"/>
          <p:cNvSpPr/>
          <p:nvPr/>
        </p:nvSpPr>
        <p:spPr>
          <a:xfrm>
            <a:off x="6751808" y="2074713"/>
            <a:ext cx="265500" cy="480600"/>
          </a:xfrm>
          <a:prstGeom prst="rect">
            <a:avLst/>
          </a:prstGeom>
          <a:solidFill>
            <a:srgbClr val="EBEDFE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6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endParaRPr sz="1800">
              <a:solidFill>
                <a:schemeClr val="accent6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1" name="Google Shape;1771;p90"/>
          <p:cNvSpPr/>
          <p:nvPr/>
        </p:nvSpPr>
        <p:spPr>
          <a:xfrm>
            <a:off x="6575800" y="3617900"/>
            <a:ext cx="364500" cy="4806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2" name="Google Shape;1772;p90"/>
          <p:cNvSpPr/>
          <p:nvPr/>
        </p:nvSpPr>
        <p:spPr>
          <a:xfrm>
            <a:off x="7970863" y="3882940"/>
            <a:ext cx="321300" cy="2286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3" name="Google Shape;1773;p90"/>
          <p:cNvSpPr txBox="1"/>
          <p:nvPr>
            <p:ph idx="1" type="body"/>
          </p:nvPr>
        </p:nvSpPr>
        <p:spPr>
          <a:xfrm>
            <a:off x="324000" y="4488000"/>
            <a:ext cx="2363700" cy="3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x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4" name="Google Shape;1774;p90"/>
          <p:cNvSpPr txBox="1"/>
          <p:nvPr>
            <p:ph idx="1" type="body"/>
          </p:nvPr>
        </p:nvSpPr>
        <p:spPr>
          <a:xfrm>
            <a:off x="3369600" y="4488000"/>
            <a:ext cx="2363700" cy="3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x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19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5" name="Google Shape;1775;p90"/>
          <p:cNvSpPr txBox="1"/>
          <p:nvPr>
            <p:ph idx="1" type="body"/>
          </p:nvPr>
        </p:nvSpPr>
        <p:spPr>
          <a:xfrm>
            <a:off x="6266925" y="4488000"/>
            <a:ext cx="2363700" cy="3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solution when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x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6" name="Google Shape;1776;p90"/>
          <p:cNvSpPr txBox="1"/>
          <p:nvPr>
            <p:ph idx="1" type="body"/>
          </p:nvPr>
        </p:nvSpPr>
        <p:spPr>
          <a:xfrm>
            <a:off x="399164" y="1365275"/>
            <a:ext cx="2958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777" name="Google Shape;1777;p90"/>
          <p:cNvSpPr txBox="1"/>
          <p:nvPr>
            <p:ph idx="1" type="body"/>
          </p:nvPr>
        </p:nvSpPr>
        <p:spPr>
          <a:xfrm>
            <a:off x="3203052" y="1365275"/>
            <a:ext cx="2958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778" name="Google Shape;1778;p90"/>
          <p:cNvSpPr txBox="1"/>
          <p:nvPr>
            <p:ph idx="1" type="body"/>
          </p:nvPr>
        </p:nvSpPr>
        <p:spPr>
          <a:xfrm>
            <a:off x="6133890" y="1365275"/>
            <a:ext cx="2958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9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Additive steps using representations</a:t>
            </a:r>
            <a:endParaRPr/>
          </a:p>
        </p:txBody>
      </p:sp>
      <p:sp>
        <p:nvSpPr>
          <p:cNvPr id="1784" name="Google Shape;1784;p9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785" name="Google Shape;1785;p91"/>
          <p:cNvSpPr txBox="1"/>
          <p:nvPr>
            <p:ph idx="3" type="title"/>
          </p:nvPr>
        </p:nvSpPr>
        <p:spPr>
          <a:xfrm>
            <a:off x="324000" y="657600"/>
            <a:ext cx="6255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linear equations with an additive step</a:t>
            </a:r>
            <a:endParaRPr/>
          </a:p>
        </p:txBody>
      </p:sp>
      <p:pic>
        <p:nvPicPr>
          <p:cNvPr id="1786" name="Google Shape;178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46" y="298194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92"/>
          <p:cNvSpPr/>
          <p:nvPr/>
        </p:nvSpPr>
        <p:spPr>
          <a:xfrm>
            <a:off x="401600" y="1876675"/>
            <a:ext cx="3861600" cy="14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793" name="Google Shape;1793;p92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use the same method with equations without representations.</a:t>
            </a:r>
            <a:endParaRPr sz="1800"/>
          </a:p>
        </p:txBody>
      </p:sp>
      <p:sp>
        <p:nvSpPr>
          <p:cNvPr id="1794" name="Google Shape;1794;p92"/>
          <p:cNvSpPr txBox="1"/>
          <p:nvPr>
            <p:ph idx="1" type="body"/>
          </p:nvPr>
        </p:nvSpPr>
        <p:spPr>
          <a:xfrm>
            <a:off x="324000" y="129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Solve the equation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+ 17 = 53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795" name="Google Shape;1795;p92"/>
          <p:cNvGraphicFramePr/>
          <p:nvPr/>
        </p:nvGraphicFramePr>
        <p:xfrm>
          <a:off x="324000" y="19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781550"/>
                <a:gridCol w="382850"/>
                <a:gridCol w="185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+ 17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−17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53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−17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6" name="Google Shape;1796;p92"/>
          <p:cNvSpPr txBox="1"/>
          <p:nvPr>
            <p:ph idx="1" type="body"/>
          </p:nvPr>
        </p:nvSpPr>
        <p:spPr>
          <a:xfrm>
            <a:off x="4572000" y="2011784"/>
            <a:ext cx="428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additive inverse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+ 17</a:t>
            </a:r>
            <a:r>
              <a:rPr lang="en-GB" sz="1800"/>
              <a:t> is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(−17)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797" name="Google Shape;1797;p92"/>
          <p:cNvSpPr txBox="1"/>
          <p:nvPr>
            <p:ph idx="1" type="body"/>
          </p:nvPr>
        </p:nvSpPr>
        <p:spPr>
          <a:xfrm>
            <a:off x="4572000" y="2450015"/>
            <a:ext cx="428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17</a:t>
            </a:r>
            <a:r>
              <a:rPr lang="en-GB" sz="1800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(−17)</a:t>
            </a:r>
            <a:r>
              <a:rPr lang="en-GB" sz="1800"/>
              <a:t>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 0 </a:t>
            </a:r>
            <a:r>
              <a:rPr lang="en-GB" sz="1800"/>
              <a:t>because</a:t>
            </a:r>
            <a:r>
              <a:rPr lang="en-GB" sz="1800"/>
              <a:t> they are the additive inverse of each other.</a:t>
            </a:r>
            <a:endParaRPr sz="1800"/>
          </a:p>
        </p:txBody>
      </p:sp>
      <p:sp>
        <p:nvSpPr>
          <p:cNvPr id="1798" name="Google Shape;1798;p92"/>
          <p:cNvSpPr txBox="1"/>
          <p:nvPr>
            <p:ph idx="1" type="body"/>
          </p:nvPr>
        </p:nvSpPr>
        <p:spPr>
          <a:xfrm>
            <a:off x="324000" y="3447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we solve an equation, we write our working down the page.</a:t>
            </a:r>
            <a:endParaRPr sz="1800"/>
          </a:p>
        </p:txBody>
      </p:sp>
      <p:sp>
        <p:nvSpPr>
          <p:cNvPr id="1799" name="Google Shape;1799;p92"/>
          <p:cNvSpPr txBox="1"/>
          <p:nvPr>
            <p:ph idx="1" type="body"/>
          </p:nvPr>
        </p:nvSpPr>
        <p:spPr>
          <a:xfrm>
            <a:off x="324000" y="3828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Each equivalent equation goes on a new line. </a:t>
            </a:r>
            <a:endParaRPr sz="1800"/>
          </a:p>
        </p:txBody>
      </p:sp>
      <p:sp>
        <p:nvSpPr>
          <p:cNvPr id="1800" name="Google Shape;1800;p92"/>
          <p:cNvSpPr txBox="1"/>
          <p:nvPr>
            <p:ph idx="1" type="body"/>
          </p:nvPr>
        </p:nvSpPr>
        <p:spPr>
          <a:xfrm>
            <a:off x="324000" y="42711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have shown that we have maintained equality by adding the same value to both sides.</a:t>
            </a:r>
            <a:r>
              <a:rPr lang="en-GB" sz="1800"/>
              <a:t> </a:t>
            </a:r>
            <a:endParaRPr sz="1800"/>
          </a:p>
        </p:txBody>
      </p:sp>
      <p:graphicFrame>
        <p:nvGraphicFramePr>
          <p:cNvPr id="1801" name="Google Shape;1801;p92"/>
          <p:cNvGraphicFramePr/>
          <p:nvPr/>
        </p:nvGraphicFramePr>
        <p:xfrm>
          <a:off x="324000" y="19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781550"/>
                <a:gridCol w="382850"/>
                <a:gridCol w="185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+ 17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(−17)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53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(−17)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02" name="Google Shape;1802;p92"/>
          <p:cNvGraphicFramePr/>
          <p:nvPr/>
        </p:nvGraphicFramePr>
        <p:xfrm>
          <a:off x="324000" y="19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781550"/>
                <a:gridCol w="382850"/>
                <a:gridCol w="185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7" name="Google Shape;1807;p93"/>
          <p:cNvGraphicFramePr/>
          <p:nvPr/>
        </p:nvGraphicFramePr>
        <p:xfrm>
          <a:off x="4819800" y="19239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781550"/>
                <a:gridCol w="382850"/>
                <a:gridCol w="1851475"/>
              </a:tblGrid>
              <a:tr h="735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(      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   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      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8" name="Google Shape;180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809" name="Google Shape;1809;p93"/>
          <p:cNvSpPr txBox="1"/>
          <p:nvPr>
            <p:ph idx="1" type="body"/>
          </p:nvPr>
        </p:nvSpPr>
        <p:spPr>
          <a:xfrm>
            <a:off x="324000" y="759300"/>
            <a:ext cx="3815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solve this equation?</a:t>
            </a:r>
            <a:endParaRPr sz="1800"/>
          </a:p>
        </p:txBody>
      </p:sp>
      <p:graphicFrame>
        <p:nvGraphicFramePr>
          <p:cNvPr id="1810" name="Google Shape;1810;p93"/>
          <p:cNvGraphicFramePr/>
          <p:nvPr/>
        </p:nvGraphicFramePr>
        <p:xfrm>
          <a:off x="324000" y="122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781550"/>
                <a:gridCol w="382850"/>
                <a:gridCol w="185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+ 0.7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0.7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(−0.7)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6.5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(−0.7)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1" name="Google Shape;1811;p93"/>
          <p:cNvSpPr txBox="1"/>
          <p:nvPr>
            <p:ph idx="1" type="body"/>
          </p:nvPr>
        </p:nvSpPr>
        <p:spPr>
          <a:xfrm>
            <a:off x="337750" y="2944800"/>
            <a:ext cx="342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additive inverse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+ 0.7</a:t>
            </a:r>
            <a:r>
              <a:rPr lang="en-GB" sz="1800"/>
              <a:t> is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(−0.7)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812" name="Google Shape;1812;p93"/>
          <p:cNvSpPr txBox="1"/>
          <p:nvPr>
            <p:ph idx="1" type="body"/>
          </p:nvPr>
        </p:nvSpPr>
        <p:spPr>
          <a:xfrm>
            <a:off x="4819800" y="777175"/>
            <a:ext cx="401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solve this equation?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813" name="Google Shape;1813;p93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4525" y="1222725"/>
            <a:ext cx="146825" cy="4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814" name="Google Shape;1814;p93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6175" y="1225234"/>
            <a:ext cx="146825" cy="480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815" name="Google Shape;1815;p93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5625" y="1917567"/>
            <a:ext cx="146825" cy="4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816" name="Google Shape;1816;p93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6175" y="1925105"/>
            <a:ext cx="146825" cy="480866"/>
          </a:xfrm>
          <a:prstGeom prst="rect">
            <a:avLst/>
          </a:prstGeom>
          <a:noFill/>
          <a:ln>
            <a:noFill/>
          </a:ln>
        </p:spPr>
      </p:pic>
      <p:sp>
        <p:nvSpPr>
          <p:cNvPr id="1817" name="Google Shape;1817;p93"/>
          <p:cNvSpPr txBox="1"/>
          <p:nvPr>
            <p:ph idx="1" type="body"/>
          </p:nvPr>
        </p:nvSpPr>
        <p:spPr>
          <a:xfrm>
            <a:off x="4572000" y="3908775"/>
            <a:ext cx="4248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may help to convert the </a:t>
            </a:r>
            <a:r>
              <a:rPr lang="en-GB" sz="1800"/>
              <a:t>fractions</a:t>
            </a:r>
            <a:r>
              <a:rPr lang="en-GB" sz="1800"/>
              <a:t> so they have a common denominator.</a:t>
            </a:r>
            <a:r>
              <a:rPr lang="en-GB" sz="1800"/>
              <a:t>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5}{6}-\frac{4}{6}&quot;&gt;&lt;mfrac&gt;&lt;mn&gt;5&lt;/mn&gt;&lt;mn&gt;6&lt;/mn&gt;&lt;/mfrac&gt;&lt;mo&gt;−&lt;/mo&gt;&lt;mfrac&gt;&lt;mn&gt;4&lt;/mn&gt;&lt;mn&gt;6&lt;/mn&gt;&lt;/mfrac&gt;&lt;/math&gt;" id="1818" name="Google Shape;1818;p93" title="five sixths minus four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6175" y="2647115"/>
            <a:ext cx="630297" cy="50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819" name="Google Shape;1819;p93" title="one six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86175" y="3272593"/>
            <a:ext cx="156614" cy="50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0" name="Google Shape;1820;p93"/>
          <p:cNvCxnSpPr/>
          <p:nvPr/>
        </p:nvCxnSpPr>
        <p:spPr>
          <a:xfrm flipH="1">
            <a:off x="4454888" y="712950"/>
            <a:ext cx="2100" cy="4061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21" name="Google Shape;1821;p93"/>
          <p:cNvGraphicFramePr/>
          <p:nvPr/>
        </p:nvGraphicFramePr>
        <p:xfrm>
          <a:off x="324000" y="122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781550"/>
                <a:gridCol w="382850"/>
                <a:gridCol w="185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+ 0.7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0.7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(−0.7)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6.5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(−0.7)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22" name="Google Shape;1822;p93"/>
          <p:cNvGraphicFramePr/>
          <p:nvPr/>
        </p:nvGraphicFramePr>
        <p:xfrm>
          <a:off x="324000" y="122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781550"/>
                <a:gridCol w="382850"/>
                <a:gridCol w="185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+ 0.7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23" name="Google Shape;1823;p93"/>
          <p:cNvGraphicFramePr/>
          <p:nvPr/>
        </p:nvGraphicFramePr>
        <p:xfrm>
          <a:off x="4819800" y="26550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781550"/>
                <a:gridCol w="382850"/>
                <a:gridCol w="1851475"/>
              </a:tblGrid>
              <a:tr h="6388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24" name="Google Shape;1824;p93"/>
          <p:cNvGraphicFramePr/>
          <p:nvPr/>
        </p:nvGraphicFramePr>
        <p:xfrm>
          <a:off x="4819800" y="3287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781550"/>
                <a:gridCol w="382850"/>
                <a:gridCol w="1851475"/>
              </a:tblGrid>
              <a:tr h="6388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25" name="Google Shape;1825;p93"/>
          <p:cNvGraphicFramePr/>
          <p:nvPr/>
        </p:nvGraphicFramePr>
        <p:xfrm>
          <a:off x="4819800" y="1222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781550"/>
                <a:gridCol w="382850"/>
                <a:gridCol w="1851475"/>
              </a:tblGrid>
              <a:tr h="697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</a:t>
                      </a:r>
                      <a:r>
                        <a:rPr lang="en-GB" sz="2000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.....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26" name="Google Shape;1826;p93"/>
          <p:cNvGrpSpPr/>
          <p:nvPr/>
        </p:nvGrpSpPr>
        <p:grpSpPr>
          <a:xfrm>
            <a:off x="6091288" y="1931625"/>
            <a:ext cx="1869049" cy="500400"/>
            <a:chOff x="6091288" y="1931625"/>
            <a:chExt cx="1869049" cy="500400"/>
          </a:xfrm>
        </p:grpSpPr>
        <p:pic>
          <p:nvPicPr>
            <p:cNvPr descr="&lt;math xmlns=&quot;http://www.w3.org/1998/Math/MathML&quot; display=&quot;block&quot; data-is-equatio=&quot;1&quot; data-latex=&quot;\textcolor{#037B7D}{-\frac{2}{3}}&quot;&gt;&lt;mstyle mathcolor=&quot;#037B7D&quot;&gt;&lt;mo&gt;−&lt;/mo&gt;&lt;mfrac&gt;&lt;mn&gt;2&lt;/mn&gt;&lt;mn&gt;3&lt;/mn&gt;&lt;/mfrac&gt;&lt;/mstyle&gt;&lt;/math&gt;" id="1827" name="Google Shape;1827;p93" title="negative two third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091288" y="1931625"/>
              <a:ext cx="331034" cy="5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037B7D}{-\frac{2}{3}}&quot;&gt;&lt;mstyle mathcolor=&quot;#037B7D&quot;&gt;&lt;mo&gt;−&lt;/mo&gt;&lt;mfrac&gt;&lt;mn&gt;2&lt;/mn&gt;&lt;mn&gt;3&lt;/mn&gt;&lt;/mfrac&gt;&lt;/mstyle&gt;&lt;/math&gt;" id="1828" name="Google Shape;1828;p93" title="negative two third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629302" y="1931625"/>
              <a:ext cx="331034" cy="500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94"/>
          <p:cNvSpPr txBox="1"/>
          <p:nvPr>
            <p:ph idx="1" type="subTitle"/>
          </p:nvPr>
        </p:nvSpPr>
        <p:spPr>
          <a:xfrm>
            <a:off x="337825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Solve the equation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18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−10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solutions algebraically</a:t>
            </a:r>
            <a:endParaRPr/>
          </a:p>
        </p:txBody>
      </p:sp>
      <p:graphicFrame>
        <p:nvGraphicFramePr>
          <p:cNvPr id="1835" name="Google Shape;1835;p94"/>
          <p:cNvGraphicFramePr/>
          <p:nvPr/>
        </p:nvGraphicFramePr>
        <p:xfrm>
          <a:off x="320988" y="141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− 18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(18)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(18)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6" name="Google Shape;1836;p94"/>
          <p:cNvSpPr txBox="1"/>
          <p:nvPr>
            <p:ph idx="1" type="subTitle"/>
          </p:nvPr>
        </p:nvSpPr>
        <p:spPr>
          <a:xfrm>
            <a:off x="4833625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Solve the equation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21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−6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37" name="Google Shape;1837;p94"/>
          <p:cNvGraphicFramePr/>
          <p:nvPr/>
        </p:nvGraphicFramePr>
        <p:xfrm>
          <a:off x="4839956" y="141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− 21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(21)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−6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(21)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38" name="Google Shape;1838;p94"/>
          <p:cNvGraphicFramePr/>
          <p:nvPr/>
        </p:nvGraphicFramePr>
        <p:xfrm>
          <a:off x="320988" y="141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− 18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(18)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(18)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39" name="Google Shape;1839;p94"/>
          <p:cNvGraphicFramePr/>
          <p:nvPr/>
        </p:nvGraphicFramePr>
        <p:xfrm>
          <a:off x="320988" y="141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0" name="Google Shape;1840;p94"/>
          <p:cNvSpPr txBox="1"/>
          <p:nvPr>
            <p:ph idx="1" type="subTitle"/>
          </p:nvPr>
        </p:nvSpPr>
        <p:spPr>
          <a:xfrm>
            <a:off x="337825" y="28674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We can check by substituting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41" name="Google Shape;1841;p94"/>
          <p:cNvGraphicFramePr/>
          <p:nvPr/>
        </p:nvGraphicFramePr>
        <p:xfrm>
          <a:off x="320988" y="324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(8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 − 18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42" name="Google Shape;1842;p94"/>
          <p:cNvGraphicFramePr/>
          <p:nvPr/>
        </p:nvGraphicFramePr>
        <p:xfrm>
          <a:off x="320988" y="324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(8) − 18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3" name="Google Shape;1843;p94"/>
          <p:cNvSpPr txBox="1"/>
          <p:nvPr>
            <p:ph idx="1" type="subTitle"/>
          </p:nvPr>
        </p:nvSpPr>
        <p:spPr>
          <a:xfrm>
            <a:off x="337825" y="43713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So the solution is when 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8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94"/>
          <p:cNvSpPr txBox="1"/>
          <p:nvPr>
            <p:ph idx="1" type="subTitle"/>
          </p:nvPr>
        </p:nvSpPr>
        <p:spPr>
          <a:xfrm>
            <a:off x="4833625" y="28674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Check your answer.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45" name="Google Shape;1845;p94"/>
          <p:cNvGraphicFramePr/>
          <p:nvPr/>
        </p:nvGraphicFramePr>
        <p:xfrm>
          <a:off x="4839956" y="141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− 21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(21)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−6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(21)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46" name="Google Shape;1846;p94"/>
          <p:cNvGraphicFramePr/>
          <p:nvPr/>
        </p:nvGraphicFramePr>
        <p:xfrm>
          <a:off x="4839956" y="141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47" name="Google Shape;1847;p94"/>
          <p:cNvGraphicFramePr/>
          <p:nvPr/>
        </p:nvGraphicFramePr>
        <p:xfrm>
          <a:off x="4839956" y="324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(15)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−6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−6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48" name="Google Shape;1848;p94"/>
          <p:cNvGraphicFramePr/>
          <p:nvPr/>
        </p:nvGraphicFramePr>
        <p:xfrm>
          <a:off x="4839956" y="324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(15) − 21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9" name="Google Shape;1849;p94"/>
          <p:cNvSpPr txBox="1"/>
          <p:nvPr>
            <p:ph idx="1" type="subTitle"/>
          </p:nvPr>
        </p:nvSpPr>
        <p:spPr>
          <a:xfrm>
            <a:off x="4833625" y="43713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So the solution is when 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15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95"/>
          <p:cNvSpPr txBox="1"/>
          <p:nvPr>
            <p:ph idx="1" type="subTitle"/>
          </p:nvPr>
        </p:nvSpPr>
        <p:spPr>
          <a:xfrm>
            <a:off x="1034425" y="1685375"/>
            <a:ext cx="185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3.4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5" name="Google Shape;1855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856" name="Google Shape;1856;p9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the additive inverse for each of these?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95"/>
          <p:cNvSpPr txBox="1"/>
          <p:nvPr>
            <p:ph idx="3" type="subTitle"/>
          </p:nvPr>
        </p:nvSpPr>
        <p:spPr>
          <a:xfrm>
            <a:off x="1034425" y="2489450"/>
            <a:ext cx="1852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− 0.5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8" name="Google Shape;1858;p95"/>
          <p:cNvSpPr txBox="1"/>
          <p:nvPr>
            <p:ph idx="4" type="subTitle"/>
          </p:nvPr>
        </p:nvSpPr>
        <p:spPr>
          <a:xfrm>
            <a:off x="1034425" y="4147974"/>
            <a:ext cx="184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1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3}{5}&quot;&gt;&lt;mo&gt;−&lt;/mo&gt;&lt;mfrac&gt;&lt;mn&gt;3&lt;/mn&gt;&lt;mn&gt;5&lt;/mn&gt;&lt;/mfrac&gt;&lt;/math&gt;" id="1859" name="Google Shape;1859;p95" title="negative 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425" y="3183350"/>
            <a:ext cx="378875" cy="5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0" name="Google Shape;1860;p95"/>
          <p:cNvSpPr txBox="1"/>
          <p:nvPr>
            <p:ph idx="1" type="subTitle"/>
          </p:nvPr>
        </p:nvSpPr>
        <p:spPr>
          <a:xfrm>
            <a:off x="3135575" y="1685375"/>
            <a:ext cx="185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 −3.4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1" name="Google Shape;1861;p95"/>
          <p:cNvSpPr txBox="1"/>
          <p:nvPr>
            <p:ph idx="1" type="subTitle"/>
          </p:nvPr>
        </p:nvSpPr>
        <p:spPr>
          <a:xfrm>
            <a:off x="3135575" y="2447375"/>
            <a:ext cx="185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+ 0.5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+\ \frac{3}{5}&quot;&gt;&lt;mo&gt;+&lt;/mo&gt;&lt;mtext&gt;&lt;/mtext&gt;&lt;mfrac&gt;&lt;mn&gt;3&lt;/mn&gt;&lt;mn&gt;5&lt;/mn&gt;&lt;/mfrac&gt;&lt;/math&gt;" id="1862" name="Google Shape;1862;p95" title="plus 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5575" y="3183355"/>
            <a:ext cx="451246" cy="5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3" name="Google Shape;1863;p95"/>
          <p:cNvSpPr txBox="1"/>
          <p:nvPr>
            <p:ph idx="4" type="subTitle"/>
          </p:nvPr>
        </p:nvSpPr>
        <p:spPr>
          <a:xfrm>
            <a:off x="3135575" y="4147974"/>
            <a:ext cx="184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 −1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64" name="Google Shape;1864;p95"/>
          <p:cNvCxnSpPr/>
          <p:nvPr/>
        </p:nvCxnSpPr>
        <p:spPr>
          <a:xfrm>
            <a:off x="1861200" y="1892125"/>
            <a:ext cx="1119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5" name="Google Shape;1865;p95"/>
          <p:cNvCxnSpPr/>
          <p:nvPr/>
        </p:nvCxnSpPr>
        <p:spPr>
          <a:xfrm>
            <a:off x="1861200" y="2668541"/>
            <a:ext cx="1119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6" name="Google Shape;1866;p95"/>
          <p:cNvCxnSpPr/>
          <p:nvPr/>
        </p:nvCxnSpPr>
        <p:spPr>
          <a:xfrm>
            <a:off x="1861200" y="3475849"/>
            <a:ext cx="1119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7" name="Google Shape;1867;p95"/>
          <p:cNvCxnSpPr/>
          <p:nvPr/>
        </p:nvCxnSpPr>
        <p:spPr>
          <a:xfrm>
            <a:off x="1861200" y="4343911"/>
            <a:ext cx="1119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96"/>
          <p:cNvSpPr txBox="1"/>
          <p:nvPr>
            <p:ph idx="1" type="subTitle"/>
          </p:nvPr>
        </p:nvSpPr>
        <p:spPr>
          <a:xfrm>
            <a:off x="955125" y="1685375"/>
            <a:ext cx="185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4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3" name="Google Shape;187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874" name="Google Shape;1874;p9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of these is the solution to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6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10 </a:t>
            </a:r>
            <a:r>
              <a:rPr lang="en-GB" sz="2000"/>
              <a:t>? How do you know?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96"/>
          <p:cNvSpPr txBox="1"/>
          <p:nvPr>
            <p:ph idx="3" type="subTitle"/>
          </p:nvPr>
        </p:nvSpPr>
        <p:spPr>
          <a:xfrm>
            <a:off x="955125" y="2489450"/>
            <a:ext cx="1852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−4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6" name="Google Shape;1876;p96"/>
          <p:cNvSpPr txBox="1"/>
          <p:nvPr>
            <p:ph idx="4" type="subTitle"/>
          </p:nvPr>
        </p:nvSpPr>
        <p:spPr>
          <a:xfrm>
            <a:off x="955125" y="4147974"/>
            <a:ext cx="184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−16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7" name="Google Shape;1877;p96"/>
          <p:cNvSpPr txBox="1"/>
          <p:nvPr>
            <p:ph idx="4" type="subTitle"/>
          </p:nvPr>
        </p:nvSpPr>
        <p:spPr>
          <a:xfrm>
            <a:off x="955125" y="3350961"/>
            <a:ext cx="184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16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878" name="Google Shape;187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133" y="4147938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9" name="Google Shape;1879;p96"/>
          <p:cNvGraphicFramePr/>
          <p:nvPr/>
        </p:nvGraphicFramePr>
        <p:xfrm>
          <a:off x="4571988" y="158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+ 6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(−6)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(−6)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0" name="Google Shape;1880;p96"/>
          <p:cNvSpPr txBox="1"/>
          <p:nvPr>
            <p:ph idx="4294967295" type="body"/>
          </p:nvPr>
        </p:nvSpPr>
        <p:spPr>
          <a:xfrm>
            <a:off x="4572000" y="3208200"/>
            <a:ext cx="4217100" cy="12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 you could check by substitution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(-16) + 6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−10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886" name="Google Shape;1886;p97"/>
          <p:cNvSpPr txBox="1"/>
          <p:nvPr>
            <p:ph idx="1" type="body"/>
          </p:nvPr>
        </p:nvSpPr>
        <p:spPr>
          <a:xfrm>
            <a:off x="324000" y="759300"/>
            <a:ext cx="8237700" cy="5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Solve the following equations.</a:t>
            </a:r>
            <a:endParaRPr sz="2000"/>
          </a:p>
        </p:txBody>
      </p:sp>
      <p:graphicFrame>
        <p:nvGraphicFramePr>
          <p:cNvPr id="1887" name="Google Shape;1887;p97"/>
          <p:cNvGraphicFramePr/>
          <p:nvPr/>
        </p:nvGraphicFramePr>
        <p:xfrm>
          <a:off x="323988" y="11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88" name="Google Shape;1888;p97"/>
          <p:cNvGraphicFramePr/>
          <p:nvPr/>
        </p:nvGraphicFramePr>
        <p:xfrm>
          <a:off x="323988" y="241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+ 3.6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17.8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89" name="Google Shape;1889;p97"/>
          <p:cNvGraphicFramePr/>
          <p:nvPr/>
        </p:nvGraphicFramePr>
        <p:xfrm>
          <a:off x="323988" y="371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90" name="Google Shape;1890;p97"/>
          <p:cNvGraphicFramePr/>
          <p:nvPr/>
        </p:nvGraphicFramePr>
        <p:xfrm>
          <a:off x="4895988" y="11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91" name="Google Shape;1891;p97"/>
          <p:cNvGraphicFramePr/>
          <p:nvPr/>
        </p:nvGraphicFramePr>
        <p:xfrm>
          <a:off x="4895988" y="245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−8.4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\ +\ \frac{3}{5}=-\frac{9}{10}&quot;&gt;&lt;mi&gt;x&lt;/mi&gt;&lt;mtext&gt;&lt;/mtext&gt;&lt;mo&gt;+&lt;/mo&gt;&lt;mtext&gt;&lt;/mtext&gt;&lt;mfrac&gt;&lt;mn&gt;3&lt;/mn&gt;&lt;mn&gt;5&lt;/mn&gt;&lt;/mfrac&gt;&lt;mo&gt;=&lt;/mo&gt;&lt;mo&gt;−&lt;/mo&gt;&lt;mfrac&gt;&lt;mn&gt;9&lt;/mn&gt;&lt;mn&gt;10&lt;/mn&gt;&lt;/mfrac&gt;&lt;/math&gt;" id="1892" name="Google Shape;1892;p97" title="x plus three fifths equals negative nin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5559" y="3697200"/>
            <a:ext cx="1311162" cy="44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97"/>
          <p:cNvSpPr/>
          <p:nvPr/>
        </p:nvSpPr>
        <p:spPr>
          <a:xfrm>
            <a:off x="324000" y="11492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97"/>
          <p:cNvSpPr/>
          <p:nvPr/>
        </p:nvSpPr>
        <p:spPr>
          <a:xfrm>
            <a:off x="324050" y="24578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97"/>
          <p:cNvSpPr/>
          <p:nvPr/>
        </p:nvSpPr>
        <p:spPr>
          <a:xfrm>
            <a:off x="324050" y="37783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6" name="Google Shape;1896;p97"/>
          <p:cNvSpPr/>
          <p:nvPr/>
        </p:nvSpPr>
        <p:spPr>
          <a:xfrm>
            <a:off x="4515000" y="11492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7" name="Google Shape;1897;p97"/>
          <p:cNvSpPr/>
          <p:nvPr/>
        </p:nvSpPr>
        <p:spPr>
          <a:xfrm>
            <a:off x="4515050" y="24578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8" name="Google Shape;1898;p97"/>
          <p:cNvSpPr/>
          <p:nvPr/>
        </p:nvSpPr>
        <p:spPr>
          <a:xfrm>
            <a:off x="4515050" y="37783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904" name="Google Shape;1904;p98"/>
          <p:cNvSpPr txBox="1"/>
          <p:nvPr>
            <p:ph idx="1" type="body"/>
          </p:nvPr>
        </p:nvSpPr>
        <p:spPr>
          <a:xfrm>
            <a:off x="324000" y="835500"/>
            <a:ext cx="8496000" cy="5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 </a:t>
            </a:r>
            <a:r>
              <a:rPr lang="en-GB" sz="1900"/>
              <a:t>Spot the mistakes in the following methods to solve these equations.</a:t>
            </a:r>
            <a:endParaRPr sz="1900"/>
          </a:p>
        </p:txBody>
      </p:sp>
      <p:graphicFrame>
        <p:nvGraphicFramePr>
          <p:cNvPr id="1905" name="Google Shape;1905;p98"/>
          <p:cNvGraphicFramePr/>
          <p:nvPr/>
        </p:nvGraphicFramePr>
        <p:xfrm>
          <a:off x="323988" y="14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(7)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(7)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06" name="Google Shape;1906;p98"/>
          <p:cNvGraphicFramePr/>
          <p:nvPr/>
        </p:nvGraphicFramePr>
        <p:xfrm>
          <a:off x="360563" y="340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767175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+ 7.1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23.5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+ 7.1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(−7.1)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23.5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23.5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07" name="Google Shape;1907;p98"/>
          <p:cNvGraphicFramePr/>
          <p:nvPr/>
        </p:nvGraphicFramePr>
        <p:xfrm>
          <a:off x="4895988" y="14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+ 10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+ 10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08" name="Google Shape;1908;p98"/>
          <p:cNvGraphicFramePr/>
          <p:nvPr/>
        </p:nvGraphicFramePr>
        <p:xfrm>
          <a:off x="4895988" y="340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− 23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(23)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− 23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9" name="Google Shape;1909;p98"/>
          <p:cNvSpPr/>
          <p:nvPr/>
        </p:nvSpPr>
        <p:spPr>
          <a:xfrm>
            <a:off x="324050" y="34484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0" name="Google Shape;1910;p98"/>
          <p:cNvSpPr/>
          <p:nvPr/>
        </p:nvSpPr>
        <p:spPr>
          <a:xfrm>
            <a:off x="4896050" y="14672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98"/>
          <p:cNvSpPr/>
          <p:nvPr/>
        </p:nvSpPr>
        <p:spPr>
          <a:xfrm>
            <a:off x="324050" y="14672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2" name="Google Shape;1912;p98"/>
          <p:cNvSpPr/>
          <p:nvPr/>
        </p:nvSpPr>
        <p:spPr>
          <a:xfrm>
            <a:off x="4896050" y="34484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918" name="Google Shape;1918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Solve the following equations.</a:t>
            </a:r>
            <a:endParaRPr sz="2000"/>
          </a:p>
        </p:txBody>
      </p:sp>
      <p:graphicFrame>
        <p:nvGraphicFramePr>
          <p:cNvPr id="1919" name="Google Shape;1919;p99"/>
          <p:cNvGraphicFramePr/>
          <p:nvPr/>
        </p:nvGraphicFramePr>
        <p:xfrm>
          <a:off x="323988" y="11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(−1)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(−1)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20" name="Google Shape;1920;p99"/>
          <p:cNvGraphicFramePr/>
          <p:nvPr/>
        </p:nvGraphicFramePr>
        <p:xfrm>
          <a:off x="223588" y="241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7517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+ 3.6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17.8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+ 3.6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(−3.6)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17.8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(−3.6)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14.2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21" name="Google Shape;1921;p99"/>
          <p:cNvGraphicFramePr/>
          <p:nvPr/>
        </p:nvGraphicFramePr>
        <p:xfrm>
          <a:off x="323988" y="371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− 18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+ 18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42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+ 18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22" name="Google Shape;1922;p99"/>
          <p:cNvGraphicFramePr/>
          <p:nvPr/>
        </p:nvGraphicFramePr>
        <p:xfrm>
          <a:off x="4895988" y="11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+ 13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(−13)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(−13)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23" name="Google Shape;1923;p99"/>
          <p:cNvGraphicFramePr/>
          <p:nvPr/>
        </p:nvGraphicFramePr>
        <p:xfrm>
          <a:off x="4895988" y="245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−8.4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− 10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+ 10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−8.4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+ 10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1.6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4" name="Google Shape;1924;p99"/>
          <p:cNvSpPr/>
          <p:nvPr/>
        </p:nvSpPr>
        <p:spPr>
          <a:xfrm>
            <a:off x="324000" y="11492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99"/>
          <p:cNvSpPr/>
          <p:nvPr/>
        </p:nvSpPr>
        <p:spPr>
          <a:xfrm>
            <a:off x="324050" y="24578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99"/>
          <p:cNvSpPr/>
          <p:nvPr/>
        </p:nvSpPr>
        <p:spPr>
          <a:xfrm>
            <a:off x="324050" y="37783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99"/>
          <p:cNvSpPr/>
          <p:nvPr/>
        </p:nvSpPr>
        <p:spPr>
          <a:xfrm>
            <a:off x="4515000" y="11492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99"/>
          <p:cNvSpPr/>
          <p:nvPr/>
        </p:nvSpPr>
        <p:spPr>
          <a:xfrm>
            <a:off x="4515050" y="24578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934" name="Google Shape;1934;p100"/>
          <p:cNvSpPr txBox="1"/>
          <p:nvPr>
            <p:ph idx="1" type="body"/>
          </p:nvPr>
        </p:nvSpPr>
        <p:spPr>
          <a:xfrm>
            <a:off x="324000" y="759300"/>
            <a:ext cx="82377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Solve the following equations.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x\ +\ \frac{3}{5}=-\frac{9}{10}&quot;&gt;&lt;mi&gt;x&lt;/mi&gt;&lt;mtext&gt;&lt;/mtext&gt;&lt;mo&gt;+&lt;/mo&gt;&lt;mtext&gt;&lt;/mtext&gt;&lt;mfrac&gt;&lt;mn&gt;3&lt;/mn&gt;&lt;mn&gt;5&lt;/mn&gt;&lt;/mfrac&gt;&lt;mo&gt;=&lt;/mo&gt;&lt;mo&gt;−&lt;/mo&gt;&lt;mfrac&gt;&lt;mn&gt;9&lt;/mn&gt;&lt;mn&gt;10&lt;/mn&gt;&lt;/mfrac&gt;&lt;/math&gt;" id="1935" name="Google Shape;1935;p100" title="x plus three fifths equals negative nin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098" y="1116300"/>
            <a:ext cx="1407534" cy="473868"/>
          </a:xfrm>
          <a:prstGeom prst="rect">
            <a:avLst/>
          </a:prstGeom>
          <a:noFill/>
          <a:ln>
            <a:noFill/>
          </a:ln>
        </p:spPr>
      </p:pic>
      <p:sp>
        <p:nvSpPr>
          <p:cNvPr id="1936" name="Google Shape;1936;p100"/>
          <p:cNvSpPr/>
          <p:nvPr/>
        </p:nvSpPr>
        <p:spPr>
          <a:xfrm>
            <a:off x="324050" y="1116045"/>
            <a:ext cx="460800" cy="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7" name="Google Shape;1937;p100"/>
          <p:cNvSpPr/>
          <p:nvPr/>
        </p:nvSpPr>
        <p:spPr>
          <a:xfrm>
            <a:off x="367800" y="12576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x\ =-\frac{9}{10}-\frac{6}{10}\end{array}&quot;&gt;&lt;mtable columnalign=&quot;left&quot; columnspacing=&quot;1em&quot; rowspacing=&quot;4pt&quot;&gt;&lt;mtr&gt;&lt;mtd&gt;&lt;mi&gt;x&lt;/mi&gt;&lt;mtext&gt;&lt;/mtext&gt;&lt;mo&gt;=&lt;/mo&gt;&lt;mo&gt;−&lt;/mo&gt;&lt;mfrac&gt;&lt;mn&gt;9&lt;/mn&gt;&lt;mn&gt;10&lt;/mn&gt;&lt;/mfrac&gt;&lt;mo&gt;−&lt;/mo&gt;&lt;mfrac&gt;&lt;mn&gt;6&lt;/mn&gt;&lt;mn&gt;10&lt;/mn&gt;&lt;/mfrac&gt;&lt;/mtd&gt;&lt;/mtr&gt;&lt;/mtable&gt;&lt;/math&gt;" id="1938" name="Google Shape;1938;p100" title="1 lines Line 1: x equals negative nine tenths minus six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5628" y="2615487"/>
            <a:ext cx="1407548" cy="33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x\ =-\frac{15}{10}\end{array}&quot;&gt;&lt;mtable columnalign=&quot;left&quot; columnspacing=&quot;1em&quot; rowspacing=&quot;4pt&quot;&gt;&lt;mtr&gt;&lt;mtd&gt;&lt;mi&gt;x&lt;/mi&gt;&lt;mtext&gt;&lt;/mtext&gt;&lt;mo&gt;=&lt;/mo&gt;&lt;mo&gt;−&lt;/mo&gt;&lt;mfrac&gt;&lt;mn&gt;15&lt;/mn&gt;&lt;mn&gt;10&lt;/mn&gt;&lt;/mfrac&gt;&lt;/mtd&gt;&lt;/mtr&gt;&lt;/mtable&gt;&lt;/math&gt;" id="1939" name="Google Shape;1939;p100" title="1 lines Line 1: x equals negative fifteen t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5619" y="3278418"/>
            <a:ext cx="901191" cy="3430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x\ =-\frac{3}{2}\end{array}&quot;&gt;&lt;mtable columnalign=&quot;left&quot; columnspacing=&quot;1em&quot; rowspacing=&quot;4pt&quot;&gt;&lt;mtr&gt;&lt;mtd&gt;&lt;mi&gt;x&lt;/mi&gt;&lt;mtext&gt;&lt;/mtext&gt;&lt;mo&gt;=&lt;/mo&gt;&lt;mo&gt;−&lt;/mo&gt;&lt;mfrac&gt;&lt;mn&gt;3&lt;/mn&gt;&lt;mn&gt;2&lt;/mn&gt;&lt;/mfrac&gt;&lt;/mtd&gt;&lt;/mtr&gt;&lt;/mtable&gt;&lt;/math&gt;" id="1940" name="Google Shape;1940;p100" title="1 lines Line 1: x equals negative thre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79832" y="3998361"/>
            <a:ext cx="827683" cy="3430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x\ +\ \frac{3}{5}\textcolor{#037B7D}{+\left(-\frac{3}{5}\right)}=-\frac{9}{10}\textcolor{#037B7D}{+\left(-\frac{3}{5}\right)}\end{array}&quot;&gt;&lt;mtable columnalign=&quot;left&quot; columnspacing=&quot;1em&quot; rowspacing=&quot;4pt&quot;&gt;&lt;mtr&gt;&lt;mtd&gt;&lt;mi&gt;x&lt;/mi&gt;&lt;mtext&gt;&lt;/mtext&gt;&lt;mo&gt;+&lt;/mo&gt;&lt;mtext&gt;&lt;/mtext&gt;&lt;mfrac&gt;&lt;mn&gt;3&lt;/mn&gt;&lt;mn&gt;5&lt;/mn&gt;&lt;/mfrac&gt;&lt;mstyle mathcolor=&quot;#037B7D&quot;&gt;&lt;mo&gt;+&lt;/mo&gt;&lt;mrow data-mjx-texclass=&quot;INNER&quot;&gt;&lt;mo data-mjx-texclass=&quot;OPEN&quot;&gt;(&lt;/mo&gt;&lt;mo&gt;−&lt;/mo&gt;&lt;mfrac&gt;&lt;mn&gt;3&lt;/mn&gt;&lt;mn&gt;5&lt;/mn&gt;&lt;/mfrac&gt;&lt;mo data-mjx-texclass=&quot;CLOSE&quot;&gt;)&lt;/mo&gt;&lt;/mrow&gt;&lt;/mstyle&gt;&lt;mo&gt;=&lt;/mo&gt;&lt;mo&gt;−&lt;/mo&gt;&lt;mfrac&gt;&lt;mn&gt;9&lt;/mn&gt;&lt;mn&gt;10&lt;/mn&gt;&lt;/mfrac&gt;&lt;mstyle mathcolor=&quot;#037B7D&quot;&gt;&lt;mo&gt;+&lt;/mo&gt;&lt;mrow data-mjx-texclass=&quot;INNER&quot;&gt;&lt;mo data-mjx-texclass=&quot;OPEN&quot;&gt;(&lt;/mo&gt;&lt;mo&gt;−&lt;/mo&gt;&lt;mfrac&gt;&lt;mn&gt;3&lt;/mn&gt;&lt;mn&gt;5&lt;/mn&gt;&lt;/mfrac&gt;&lt;mo data-mjx-texclass=&quot;CLOSE&quot;&gt;)&lt;/mo&gt;&lt;/mrow&gt;&lt;/mstyle&gt;&lt;/mtd&gt;&lt;/mtr&gt;&lt;/mtable&gt;&lt;/math&gt;" id="1941" name="Google Shape;1941;p100" title="1 lines Line 1: x plus three fifths positive negative three fifths equals negative nine tenths positive negative three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5390" y="1962158"/>
            <a:ext cx="3153165" cy="3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Writing solutions algebraically</a:t>
            </a:r>
            <a:endParaRPr/>
          </a:p>
        </p:txBody>
      </p:sp>
      <p:sp>
        <p:nvSpPr>
          <p:cNvPr id="1947" name="Google Shape;1947;p101"/>
          <p:cNvSpPr txBox="1"/>
          <p:nvPr>
            <p:ph idx="1" type="body"/>
          </p:nvPr>
        </p:nvSpPr>
        <p:spPr>
          <a:xfrm>
            <a:off x="324000" y="759300"/>
            <a:ext cx="8496000" cy="40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 Spot the mistakes in the following methods to solve these equations.</a:t>
            </a:r>
            <a:endParaRPr sz="1900"/>
          </a:p>
        </p:txBody>
      </p:sp>
      <p:graphicFrame>
        <p:nvGraphicFramePr>
          <p:cNvPr id="1948" name="Google Shape;1948;p101"/>
          <p:cNvGraphicFramePr/>
          <p:nvPr/>
        </p:nvGraphicFramePr>
        <p:xfrm>
          <a:off x="323988" y="11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(7)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(7)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49" name="Google Shape;1949;p101"/>
          <p:cNvGraphicFramePr/>
          <p:nvPr/>
        </p:nvGraphicFramePr>
        <p:xfrm>
          <a:off x="208163" y="310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767175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+ 7.1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23.5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+ 7.1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(−7.1)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23.5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23.5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50" name="Google Shape;1950;p101"/>
          <p:cNvGraphicFramePr/>
          <p:nvPr/>
        </p:nvGraphicFramePr>
        <p:xfrm>
          <a:off x="4895988" y="11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+ 10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+ 10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51" name="Google Shape;1951;p101"/>
          <p:cNvGraphicFramePr/>
          <p:nvPr/>
        </p:nvGraphicFramePr>
        <p:xfrm>
          <a:off x="4895988" y="310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{162197DF-BC7F-4C0C-9DFF-83CEB7602A99}</a:tableStyleId>
              </a:tblPr>
              <a:tblGrid>
                <a:gridCol w="1651350"/>
                <a:gridCol w="354875"/>
                <a:gridCol w="17161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− 23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(23)</a:t>
                      </a:r>
                      <a:endParaRPr sz="2000">
                        <a:solidFill>
                          <a:schemeClr val="accent5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− 23</a:t>
                      </a:r>
                      <a:endParaRPr sz="2000">
                        <a:solidFill>
                          <a:schemeClr val="accent4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2" name="Google Shape;1952;p101"/>
          <p:cNvSpPr/>
          <p:nvPr/>
        </p:nvSpPr>
        <p:spPr>
          <a:xfrm>
            <a:off x="324050" y="31436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3" name="Google Shape;1953;p101"/>
          <p:cNvSpPr/>
          <p:nvPr/>
        </p:nvSpPr>
        <p:spPr>
          <a:xfrm>
            <a:off x="4896050" y="11624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4" name="Google Shape;1954;p101"/>
          <p:cNvSpPr/>
          <p:nvPr/>
        </p:nvSpPr>
        <p:spPr>
          <a:xfrm>
            <a:off x="324050" y="11624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01"/>
          <p:cNvSpPr/>
          <p:nvPr/>
        </p:nvSpPr>
        <p:spPr>
          <a:xfrm>
            <a:off x="4896050" y="31436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01"/>
          <p:cNvSpPr txBox="1"/>
          <p:nvPr>
            <p:ph idx="1" type="body"/>
          </p:nvPr>
        </p:nvSpPr>
        <p:spPr>
          <a:xfrm>
            <a:off x="378050" y="2313675"/>
            <a:ext cx="4248000" cy="40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Should have added −7 not 7 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−10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7" name="Google Shape;1957;p101"/>
          <p:cNvSpPr txBox="1"/>
          <p:nvPr>
            <p:ph idx="1" type="body"/>
          </p:nvPr>
        </p:nvSpPr>
        <p:spPr>
          <a:xfrm>
            <a:off x="324000" y="4335300"/>
            <a:ext cx="4248000" cy="40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Forgot to add −7.1 to RHS 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16.4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8" name="Google Shape;1958;p101"/>
          <p:cNvSpPr txBox="1"/>
          <p:nvPr>
            <p:ph idx="1" type="body"/>
          </p:nvPr>
        </p:nvSpPr>
        <p:spPr>
          <a:xfrm>
            <a:off x="4824000" y="2266950"/>
            <a:ext cx="4248000" cy="40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Hasn’t isolated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x,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could now add −5 to both sides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15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9" name="Google Shape;1959;p101"/>
          <p:cNvSpPr txBox="1"/>
          <p:nvPr>
            <p:ph idx="1" type="body"/>
          </p:nvPr>
        </p:nvSpPr>
        <p:spPr>
          <a:xfrm>
            <a:off x="4824000" y="4171950"/>
            <a:ext cx="3996000" cy="6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Subtracted 23 instead of added 23 to RHS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46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102"/>
          <p:cNvSpPr txBox="1"/>
          <p:nvPr>
            <p:ph idx="1" type="body"/>
          </p:nvPr>
        </p:nvSpPr>
        <p:spPr>
          <a:xfrm>
            <a:off x="324000" y="886925"/>
            <a:ext cx="8496000" cy="39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Equations with a single additive step can be solved with a bar model.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Equations with a single additive step can be represented with a balance and solved by maintaining equality.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This method and solution can be written algebraically.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To isolate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/>
              <a:t>and solve, the additive inverse of the constant must be added to both sides of the equation.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102"/>
          <p:cNvSpPr txBox="1"/>
          <p:nvPr>
            <p:ph type="title"/>
          </p:nvPr>
        </p:nvSpPr>
        <p:spPr>
          <a:xfrm>
            <a:off x="1684800" y="157525"/>
            <a:ext cx="7057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simple linear equations with an additive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10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71" name="Google Shape;1971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