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747717-BA54-4AAA-B024-DB209F94BC78}">
  <a:tblStyle styleId="{01747717-BA54-4AAA-B024-DB209F94BC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9e9c54e0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9e9c54e0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9e9c54e018_0_7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9e9c54e018_0_7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9e9c54e018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9e9c54e018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9e9c54e018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9e9c54e018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29e9c54e018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8" name="Google Shape;818;g29e9c54e018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9e9c54e018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2" name="Google Shape;832;g29e9c54e018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29e9c54e018_1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29e9c54e018_1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9e9c54e018_1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9e9c54e018_1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9e9c54e018_1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9e9c54e018_1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9e9c54e018_1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8" name="Google Shape;898;g29e9c54e018_1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g29e9c54e018_1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9" name="Google Shape;919;g29e9c54e018_1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g29e9c54e018_1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8" name="Google Shape;938;g29e9c54e018_1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29e9c54e018_1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29e9c54e018_1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g29e9c54e018_1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e9c54e018_1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29e9c54e018_1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29e9c54e018_1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g29e9c54e018_1_3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9e9c54e018_1_3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29e9c54e018_1_3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9" name="Google Shape;1019;g29e9c54e018_1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29e9c54e018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29e9c54e018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29e9c54e018_1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29e9c54e018_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29e9c54e018_1_4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29e9c54e018_1_4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29e9c54e018_1_6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7" name="Google Shape;1087;g29e9c54e018_1_6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e9c54e018_1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e9c54e018_1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9e9c54e018_1_6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9e9c54e018_1_6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9e9c54e018_1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9e9c54e018_1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e9c54e018_1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e9c54e018_1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9e9c54e018_1_7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9e9c54e018_1_7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g29e9c54e018_1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g29e9c54e018_1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g29e9c54e018_1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6" name="Google Shape;1276;g29e9c54e018_1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3" name="Google Shape;1293;g29e9c54e018_1_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4" name="Google Shape;1294;g29e9c54e018_1_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g29e9c54e018_1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8" name="Google Shape;1308;g29e9c54e018_1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g29e9c54e018_1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1" name="Google Shape;1331;g29e9c54e018_1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g29e9c54e018_1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2" name="Google Shape;1342;g29e9c54e018_1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29e9c54e018_1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2" name="Google Shape;1362;g29e9c54e018_1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9f45354e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9f45354e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9e9c54e018_1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9e9c54e018_1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g29e9c54e018_1_9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9e9c54e018_1_9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9e9c54e018_1_9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9e9c54e018_1_9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g29e9c54e018_1_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5" name="Google Shape;1435;g29e9c54e018_1_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8" name="Google Shape;1458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4" name="Google Shape;1464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7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1.png"/><Relationship Id="rId4" Type="http://schemas.openxmlformats.org/officeDocument/2006/relationships/image" Target="../media/image23.png"/><Relationship Id="rId5" Type="http://schemas.openxmlformats.org/officeDocument/2006/relationships/image" Target="../media/image2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2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6.png"/><Relationship Id="rId4" Type="http://schemas.openxmlformats.org/officeDocument/2006/relationships/image" Target="../media/image68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2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8.png"/><Relationship Id="rId4" Type="http://schemas.openxmlformats.org/officeDocument/2006/relationships/image" Target="../media/image17.png"/><Relationship Id="rId9" Type="http://schemas.openxmlformats.org/officeDocument/2006/relationships/image" Target="../media/image27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Relationship Id="rId8" Type="http://schemas.openxmlformats.org/officeDocument/2006/relationships/image" Target="../media/image1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68.png"/><Relationship Id="rId4" Type="http://schemas.openxmlformats.org/officeDocument/2006/relationships/image" Target="../media/image31.png"/><Relationship Id="rId11" Type="http://schemas.openxmlformats.org/officeDocument/2006/relationships/image" Target="../media/image27.png"/><Relationship Id="rId10" Type="http://schemas.openxmlformats.org/officeDocument/2006/relationships/image" Target="../media/image35.png"/><Relationship Id="rId9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6.png"/><Relationship Id="rId7" Type="http://schemas.openxmlformats.org/officeDocument/2006/relationships/image" Target="../media/image29.png"/><Relationship Id="rId8" Type="http://schemas.openxmlformats.org/officeDocument/2006/relationships/image" Target="../media/image1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9.png"/><Relationship Id="rId4" Type="http://schemas.openxmlformats.org/officeDocument/2006/relationships/image" Target="../media/image36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6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6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6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6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8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2" name="Google Shape;122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8" name="Google Shape;148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" name="Google Shape;156;p17"/>
          <p:cNvCxnSpPr>
            <a:endCxn id="157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8" name="Google Shape;15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7" name="Google Shape;15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1" name="Google Shape;171;p18"/>
          <p:cNvCxnSpPr>
            <a:endCxn id="172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2" name="Google Shape;172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7" name="Google Shape;177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2" name="Google Shape;192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6" name="Google Shape;196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99" name="Google Shape;199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8" name="Google Shape;208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5" name="Google Shape;215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7" name="Google Shape;21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2" name="Google Shape;222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4" name="Google Shape;22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9" name="Google Shape;22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7" name="Google Shape;237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39" name="Google Shape;239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0" name="Google Shape;240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1" name="Google Shape;241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2" name="Google Shape;242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3" name="Google Shape;243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4" name="Google Shape;244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0" name="Google Shape;250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2" name="Google Shape;252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3" name="Google Shape;253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4" name="Google Shape;254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5" name="Google Shape;255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6" name="Google Shape;256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7" name="Google Shape;257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3" name="Google Shape;263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5" name="Google Shape;265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6" name="Google Shape;266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8" name="Google Shape;268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9" name="Google Shape;269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0" name="Google Shape;270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6" name="Google Shape;276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8" name="Google Shape;278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9" name="Google Shape;279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0" name="Google Shape;280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1" name="Google Shape;281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2" name="Google Shape;282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3" name="Google Shape;283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3" name="Google Shape;293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5" name="Google Shape;295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6" name="Google Shape;296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1" name="Google Shape;301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2" name="Google Shape;302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3" name="Google Shape;303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4" name="Google Shape;304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5" name="Google Shape;305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6" name="Google Shape;306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4" name="Google Shape;314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5" name="Google Shape;31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8" name="Google Shape;318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0" name="Google Shape;320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1" name="Google Shape;321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2" name="Google Shape;322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3" name="Google Shape;323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4" name="Google Shape;324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5" name="Google Shape;325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6" name="Google Shape;32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7" name="Google Shape;337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1" name="Google Shape;341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3" name="Google Shape;343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4" name="Google Shape;344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5" name="Google Shape;345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6" name="Google Shape;346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7" name="Google Shape;347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8" name="Google Shape;348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49" name="Google Shape;349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2" name="Google Shape;352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7" name="Google Shape;357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0" name="Google Shape;360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1" name="Google Shape;36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4" name="Google Shape;364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6" name="Google Shape;366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7" name="Google Shape;367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8" name="Google Shape;368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9" name="Google Shape;369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0" name="Google Shape;370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1" name="Google Shape;371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2" name="Google Shape;37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0" name="Google Shape;38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2" name="Google Shape;382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6" name="Google Shape;386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7" name="Google Shape;387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0" name="Google Shape;390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2" name="Google Shape;392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3" name="Google Shape;393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" name="Google Shape;394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9" name="Google Shape;3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5" name="Google Shape;405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6" name="Google Shape;406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7" name="Google Shape;407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8" name="Google Shape;408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09" name="Google Shape;409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1" name="Google Shape;411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2" name="Google Shape;412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" name="Google Shape;413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8" name="Google Shape;41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0" name="Google Shape;420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1" name="Google Shape;421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4" name="Google Shape;424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5" name="Google Shape;425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6" name="Google Shape;426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7" name="Google Shape;427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8" name="Google Shape;428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9" name="Google Shape;429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0" name="Google Shape;430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1" name="Google Shape;43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" name="Google Shape;43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4" name="Google Shape;434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7" name="Google Shape;43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9" name="Google Shape;439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0" name="Google Shape;440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3" name="Google Shape;443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4" name="Google Shape;444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6" name="Google Shape;446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7" name="Google Shape;447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" name="Google Shape;448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9" name="Google Shape;449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0" name="Google Shape;45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1" name="Google Shape;45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3" name="Google Shape;453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8" name="Google Shape;458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59" name="Google Shape;459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3" name="Google Shape;463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4" name="Google Shape;46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5" name="Google Shape;46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6" name="Google Shape;466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7" name="Google Shape;467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8" name="Google Shape;468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9" name="Google Shape;469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0" name="Google Shape;47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1" name="Google Shape;471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2" name="Google Shape;472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3" name="Google Shape;473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4" name="Google Shape;474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79" name="Google Shape;4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0" name="Google Shape;480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2" name="Google Shape;482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6" name="Google Shape;486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7" name="Google Shape;48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8" name="Google Shape;48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9" name="Google Shape;489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0" name="Google Shape;490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1" name="Google Shape;491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2" name="Google Shape;492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3" name="Google Shape;493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4" name="Google Shape;494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5" name="Google Shape;495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6" name="Google Shape;496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7" name="Google Shape;497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2" name="Google Shape;5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4" name="Google Shape;504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5" name="Google Shape;505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09" name="Google Shape;509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0" name="Google Shape;51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1" name="Google Shape;51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2" name="Google Shape;512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3" name="Google Shape;513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4" name="Google Shape;514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5" name="Google Shape;515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6" name="Google Shape;516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7" name="Google Shape;517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8" name="Google Shape;518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19" name="Google Shape;51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0" name="Google Shape;520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Google Shape;522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5" name="Google Shape;52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7" name="Google Shape;527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8" name="Google Shape;528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3" name="Google Shape;53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6" name="Google Shape;536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39" name="Google Shape;539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1" name="Google Shape;541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2" name="Google Shape;542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5" name="Google Shape;545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8" name="Google Shape;54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1" name="Google Shape;551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2" name="Google Shape;552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4" name="Google Shape;554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5" name="Google Shape;555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6" name="Google Shape;556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7" name="Google Shape;557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8" name="Google Shape;558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9" name="Google Shape;559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0" name="Google Shape;560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1" name="Google Shape;561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2" name="Google Shape;562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7" name="Google Shape;567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9" name="Google Shape;569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0" name="Google Shape;570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1" name="Google Shape;571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3" name="Google Shape;573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4" name="Google Shape;574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5" name="Google Shape;575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6" name="Google Shape;576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7" name="Google Shape;57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8" name="Google Shape;57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9" name="Google Shape;579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0" name="Google Shape;58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1" name="Google Shape;58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" name="Google Shape;583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6" name="Google Shape;58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8" name="Google Shape;588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9" name="Google Shape;589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0" name="Google Shape;590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2" name="Google Shape;592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3" name="Google Shape;593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4" name="Google Shape;594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5" name="Google Shape;595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6" name="Google Shape;596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8" name="Google Shape;598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99" name="Google Shape;59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2" name="Google Shape;602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5" name="Google Shape;60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7" name="Google Shape;607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8" name="Google Shape;608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09" name="Google Shape;609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1" name="Google Shape;611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2" name="Google Shape;61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3" name="Google Shape;61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4" name="Google Shape;614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5" name="Google Shape;615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6" name="Google Shape;616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7" name="Google Shape;617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8" name="Google Shape;61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9" name="Google Shape;61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1" name="Google Shape;62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4" name="Google Shape;62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5" name="Google Shape;625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6" name="Google Shape;626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8" name="Google Shape;628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1" name="Google Shape;63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3" name="Google Shape;633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5" name="Google Shape;635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8" name="Google Shape;63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0" name="Google Shape;64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2" name="Google Shape;64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5" name="Google Shape;6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6" name="Google Shape;6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7" name="Google Shape;64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2" name="Google Shape;652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3" name="Google Shape;653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4" name="Google Shape;654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7" name="Google Shape;657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8" name="Google Shape;658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0" name="Google Shape;66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1" name="Google Shape;661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3" name="Google Shape;66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" name="Google Shape;665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8" name="Google Shape;668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9" name="Google Shape;669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1" name="Google Shape;67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3" name="Google Shape;673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6" name="Google Shape;676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9" name="Google Shape;67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1" name="Google Shape;681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4" name="Google Shape;684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5" name="Google Shape;685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6" name="Google Shape;68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7" name="Google Shape;68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2" name="Google Shape;692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3" name="Google Shape;693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4" name="Google Shape;694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5" name="Google Shape;69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0" name="Google Shape;700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1" name="Google Shape;701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2" name="Google Shape;702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3" name="Google Shape;70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5" name="Google Shape;705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8" name="Google Shape;708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9" name="Google Shape;709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0" name="Google Shape;710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1" name="Google Shape;711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4" name="Google Shape;714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6" name="Google Shape;716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7" name="Google Shape;717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0" name="Google Shape;720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2" name="Google Shape;722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3" name="Google Shape;723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5" name="Google Shape;725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6" name="Google Shape;726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2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0.png"/><Relationship Id="rId4" Type="http://schemas.openxmlformats.org/officeDocument/2006/relationships/image" Target="../media/image46.png"/><Relationship Id="rId5" Type="http://schemas.openxmlformats.org/officeDocument/2006/relationships/image" Target="../media/image52.png"/><Relationship Id="rId6" Type="http://schemas.openxmlformats.org/officeDocument/2006/relationships/image" Target="../media/image51.png"/><Relationship Id="rId7" Type="http://schemas.openxmlformats.org/officeDocument/2006/relationships/image" Target="../media/image4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50.png"/><Relationship Id="rId7" Type="http://schemas.openxmlformats.org/officeDocument/2006/relationships/image" Target="../media/image52.png"/><Relationship Id="rId8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6.png"/><Relationship Id="rId4" Type="http://schemas.openxmlformats.org/officeDocument/2006/relationships/image" Target="../media/image53.png"/><Relationship Id="rId5" Type="http://schemas.openxmlformats.org/officeDocument/2006/relationships/image" Target="../media/image51.png"/><Relationship Id="rId6" Type="http://schemas.openxmlformats.org/officeDocument/2006/relationships/image" Target="../media/image4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6.png"/><Relationship Id="rId5" Type="http://schemas.openxmlformats.org/officeDocument/2006/relationships/image" Target="../media/image55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6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Relationship Id="rId5" Type="http://schemas.openxmlformats.org/officeDocument/2006/relationships/image" Target="../media/image61.png"/><Relationship Id="rId6" Type="http://schemas.openxmlformats.org/officeDocument/2006/relationships/image" Target="../media/image50.png"/><Relationship Id="rId7" Type="http://schemas.openxmlformats.org/officeDocument/2006/relationships/image" Target="../media/image59.png"/><Relationship Id="rId8" Type="http://schemas.openxmlformats.org/officeDocument/2006/relationships/image" Target="../media/image6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1.png"/><Relationship Id="rId4" Type="http://schemas.openxmlformats.org/officeDocument/2006/relationships/image" Target="../media/image47.png"/><Relationship Id="rId5" Type="http://schemas.openxmlformats.org/officeDocument/2006/relationships/image" Target="../media/image65.png"/><Relationship Id="rId6" Type="http://schemas.openxmlformats.org/officeDocument/2006/relationships/image" Target="../media/image64.png"/><Relationship Id="rId7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png"/><Relationship Id="rId4" Type="http://schemas.openxmlformats.org/officeDocument/2006/relationships/image" Target="../media/image58.png"/><Relationship Id="rId9" Type="http://schemas.openxmlformats.org/officeDocument/2006/relationships/image" Target="../media/image70.png"/><Relationship Id="rId5" Type="http://schemas.openxmlformats.org/officeDocument/2006/relationships/image" Target="../media/image60.png"/><Relationship Id="rId6" Type="http://schemas.openxmlformats.org/officeDocument/2006/relationships/image" Target="../media/image67.png"/><Relationship Id="rId7" Type="http://schemas.openxmlformats.org/officeDocument/2006/relationships/image" Target="../media/image66.png"/><Relationship Id="rId8" Type="http://schemas.openxmlformats.org/officeDocument/2006/relationships/image" Target="../media/image74.png"/><Relationship Id="rId10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Relationship Id="rId6" Type="http://schemas.openxmlformats.org/officeDocument/2006/relationships/image" Target="../media/image7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3.png"/><Relationship Id="rId4" Type="http://schemas.openxmlformats.org/officeDocument/2006/relationships/image" Target="../media/image8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png"/><Relationship Id="rId4" Type="http://schemas.openxmlformats.org/officeDocument/2006/relationships/image" Target="../media/image75.png"/><Relationship Id="rId5" Type="http://schemas.openxmlformats.org/officeDocument/2006/relationships/image" Target="../media/image78.png"/><Relationship Id="rId6" Type="http://schemas.openxmlformats.org/officeDocument/2006/relationships/image" Target="../media/image7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Relationship Id="rId5" Type="http://schemas.openxmlformats.org/officeDocument/2006/relationships/image" Target="../media/image81.png"/><Relationship Id="rId6" Type="http://schemas.openxmlformats.org/officeDocument/2006/relationships/image" Target="../media/image73.png"/><Relationship Id="rId7" Type="http://schemas.openxmlformats.org/officeDocument/2006/relationships/image" Target="../media/image7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86.png"/><Relationship Id="rId5" Type="http://schemas.openxmlformats.org/officeDocument/2006/relationships/image" Target="../media/image77.png"/><Relationship Id="rId6" Type="http://schemas.openxmlformats.org/officeDocument/2006/relationships/image" Target="../media/image8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9" Type="http://schemas.openxmlformats.org/officeDocument/2006/relationships/image" Target="../media/image89.png"/><Relationship Id="rId5" Type="http://schemas.openxmlformats.org/officeDocument/2006/relationships/image" Target="../media/image8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10" Type="http://schemas.openxmlformats.org/officeDocument/2006/relationships/image" Target="../media/image5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7.png"/><Relationship Id="rId4" Type="http://schemas.openxmlformats.org/officeDocument/2006/relationships/image" Target="../media/image92.png"/><Relationship Id="rId5" Type="http://schemas.openxmlformats.org/officeDocument/2006/relationships/image" Target="../media/image88.png"/><Relationship Id="rId6" Type="http://schemas.openxmlformats.org/officeDocument/2006/relationships/image" Target="../media/image50.png"/><Relationship Id="rId7" Type="http://schemas.openxmlformats.org/officeDocument/2006/relationships/image" Target="../media/image96.png"/><Relationship Id="rId8" Type="http://schemas.openxmlformats.org/officeDocument/2006/relationships/image" Target="../media/image8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7.png"/><Relationship Id="rId4" Type="http://schemas.openxmlformats.org/officeDocument/2006/relationships/image" Target="../media/image92.png"/><Relationship Id="rId9" Type="http://schemas.openxmlformats.org/officeDocument/2006/relationships/image" Target="../media/image105.png"/><Relationship Id="rId5" Type="http://schemas.openxmlformats.org/officeDocument/2006/relationships/image" Target="../media/image88.png"/><Relationship Id="rId6" Type="http://schemas.openxmlformats.org/officeDocument/2006/relationships/image" Target="../media/image96.png"/><Relationship Id="rId7" Type="http://schemas.openxmlformats.org/officeDocument/2006/relationships/image" Target="../media/image84.png"/><Relationship Id="rId8" Type="http://schemas.openxmlformats.org/officeDocument/2006/relationships/image" Target="../media/image10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7.png"/><Relationship Id="rId4" Type="http://schemas.openxmlformats.org/officeDocument/2006/relationships/image" Target="../media/image5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Relationship Id="rId5" Type="http://schemas.openxmlformats.org/officeDocument/2006/relationships/image" Target="../media/image10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6.png"/><Relationship Id="rId4" Type="http://schemas.openxmlformats.org/officeDocument/2006/relationships/image" Target="../media/image106.png"/><Relationship Id="rId9" Type="http://schemas.openxmlformats.org/officeDocument/2006/relationships/image" Target="../media/image102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Relationship Id="rId7" Type="http://schemas.openxmlformats.org/officeDocument/2006/relationships/image" Target="../media/image99.png"/><Relationship Id="rId8" Type="http://schemas.openxmlformats.org/officeDocument/2006/relationships/image" Target="../media/image10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4.png"/><Relationship Id="rId4" Type="http://schemas.openxmlformats.org/officeDocument/2006/relationships/image" Target="../media/image103.png"/><Relationship Id="rId5" Type="http://schemas.openxmlformats.org/officeDocument/2006/relationships/image" Target="../media/image10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6.png"/><Relationship Id="rId4" Type="http://schemas.openxmlformats.org/officeDocument/2006/relationships/image" Target="../media/image106.png"/><Relationship Id="rId9" Type="http://schemas.openxmlformats.org/officeDocument/2006/relationships/image" Target="../media/image102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Relationship Id="rId7" Type="http://schemas.openxmlformats.org/officeDocument/2006/relationships/image" Target="../media/image99.png"/><Relationship Id="rId8" Type="http://schemas.openxmlformats.org/officeDocument/2006/relationships/image" Target="../media/image10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107.png"/><Relationship Id="rId5" Type="http://schemas.openxmlformats.org/officeDocument/2006/relationships/image" Target="../media/image110.png"/><Relationship Id="rId6" Type="http://schemas.openxmlformats.org/officeDocument/2006/relationships/image" Target="../media/image111.png"/><Relationship Id="rId7" Type="http://schemas.openxmlformats.org/officeDocument/2006/relationships/image" Target="../media/image10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114.png"/><Relationship Id="rId5" Type="http://schemas.openxmlformats.org/officeDocument/2006/relationships/image" Target="../media/image107.png"/><Relationship Id="rId6" Type="http://schemas.openxmlformats.org/officeDocument/2006/relationships/image" Target="../media/image1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0.png"/><Relationship Id="rId4" Type="http://schemas.openxmlformats.org/officeDocument/2006/relationships/image" Target="../media/image114.png"/><Relationship Id="rId5" Type="http://schemas.openxmlformats.org/officeDocument/2006/relationships/image" Target="../media/image107.png"/><Relationship Id="rId6" Type="http://schemas.openxmlformats.org/officeDocument/2006/relationships/image" Target="../media/image110.png"/><Relationship Id="rId7" Type="http://schemas.openxmlformats.org/officeDocument/2006/relationships/image" Target="../media/image1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Relationship Id="rId5" Type="http://schemas.openxmlformats.org/officeDocument/2006/relationships/image" Target="../media/image113.png"/><Relationship Id="rId6" Type="http://schemas.openxmlformats.org/officeDocument/2006/relationships/image" Target="../media/image115.png"/><Relationship Id="rId7" Type="http://schemas.openxmlformats.org/officeDocument/2006/relationships/image" Target="../media/image1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Relationship Id="rId9" Type="http://schemas.openxmlformats.org/officeDocument/2006/relationships/image" Target="../media/image124.png"/><Relationship Id="rId5" Type="http://schemas.openxmlformats.org/officeDocument/2006/relationships/image" Target="../media/image113.png"/><Relationship Id="rId6" Type="http://schemas.openxmlformats.org/officeDocument/2006/relationships/image" Target="../media/image115.png"/><Relationship Id="rId7" Type="http://schemas.openxmlformats.org/officeDocument/2006/relationships/image" Target="../media/image118.png"/><Relationship Id="rId8" Type="http://schemas.openxmlformats.org/officeDocument/2006/relationships/image" Target="../media/image119.png"/><Relationship Id="rId11" Type="http://schemas.openxmlformats.org/officeDocument/2006/relationships/image" Target="../media/image120.png"/><Relationship Id="rId10" Type="http://schemas.openxmlformats.org/officeDocument/2006/relationships/image" Target="../media/image126.png"/><Relationship Id="rId12" Type="http://schemas.openxmlformats.org/officeDocument/2006/relationships/image" Target="../media/image1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16.png"/><Relationship Id="rId4" Type="http://schemas.openxmlformats.org/officeDocument/2006/relationships/image" Target="../media/image112.png"/><Relationship Id="rId5" Type="http://schemas.openxmlformats.org/officeDocument/2006/relationships/image" Target="../media/image129.png"/><Relationship Id="rId6" Type="http://schemas.openxmlformats.org/officeDocument/2006/relationships/image" Target="../media/image13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1.png"/><Relationship Id="rId4" Type="http://schemas.openxmlformats.org/officeDocument/2006/relationships/image" Target="../media/image122.png"/><Relationship Id="rId9" Type="http://schemas.openxmlformats.org/officeDocument/2006/relationships/image" Target="../media/image128.png"/><Relationship Id="rId5" Type="http://schemas.openxmlformats.org/officeDocument/2006/relationships/image" Target="../media/image123.png"/><Relationship Id="rId6" Type="http://schemas.openxmlformats.org/officeDocument/2006/relationships/image" Target="../media/image125.png"/><Relationship Id="rId7" Type="http://schemas.openxmlformats.org/officeDocument/2006/relationships/image" Target="../media/image133.png"/><Relationship Id="rId8" Type="http://schemas.openxmlformats.org/officeDocument/2006/relationships/image" Target="../media/image127.png"/><Relationship Id="rId10" Type="http://schemas.openxmlformats.org/officeDocument/2006/relationships/image" Target="../media/image13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8.png"/><Relationship Id="rId4" Type="http://schemas.openxmlformats.org/officeDocument/2006/relationships/image" Target="../media/image132.png"/><Relationship Id="rId5" Type="http://schemas.openxmlformats.org/officeDocument/2006/relationships/image" Target="../media/image141.png"/><Relationship Id="rId6" Type="http://schemas.openxmlformats.org/officeDocument/2006/relationships/image" Target="../media/image142.png"/><Relationship Id="rId7" Type="http://schemas.openxmlformats.org/officeDocument/2006/relationships/image" Target="../media/image143.png"/><Relationship Id="rId8" Type="http://schemas.openxmlformats.org/officeDocument/2006/relationships/image" Target="../media/image1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7.png"/><Relationship Id="rId4" Type="http://schemas.openxmlformats.org/officeDocument/2006/relationships/image" Target="../media/image136.png"/><Relationship Id="rId5" Type="http://schemas.openxmlformats.org/officeDocument/2006/relationships/image" Target="../media/image14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40.png"/><Relationship Id="rId4" Type="http://schemas.openxmlformats.org/officeDocument/2006/relationships/image" Target="../media/image139.png"/><Relationship Id="rId5" Type="http://schemas.openxmlformats.org/officeDocument/2006/relationships/image" Target="../media/image14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7.png"/><Relationship Id="rId4" Type="http://schemas.openxmlformats.org/officeDocument/2006/relationships/image" Target="../media/image136.png"/><Relationship Id="rId5" Type="http://schemas.openxmlformats.org/officeDocument/2006/relationships/image" Target="../media/image144.png"/><Relationship Id="rId6" Type="http://schemas.openxmlformats.org/officeDocument/2006/relationships/image" Target="../media/image14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40.png"/><Relationship Id="rId4" Type="http://schemas.openxmlformats.org/officeDocument/2006/relationships/image" Target="../media/image146.png"/><Relationship Id="rId9" Type="http://schemas.openxmlformats.org/officeDocument/2006/relationships/image" Target="../media/image145.png"/><Relationship Id="rId5" Type="http://schemas.openxmlformats.org/officeDocument/2006/relationships/image" Target="../media/image151.png"/><Relationship Id="rId6" Type="http://schemas.openxmlformats.org/officeDocument/2006/relationships/image" Target="../media/image139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11" Type="http://schemas.openxmlformats.org/officeDocument/2006/relationships/image" Target="../media/image150.png"/><Relationship Id="rId10" Type="http://schemas.openxmlformats.org/officeDocument/2006/relationships/image" Target="../media/image14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6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63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4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solve complex linear equations, including those involving reciprocals.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65"/>
          <p:cNvSpPr txBox="1"/>
          <p:nvPr/>
        </p:nvSpPr>
        <p:spPr>
          <a:xfrm>
            <a:off x="324000" y="1316975"/>
            <a:ext cx="8496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An equation is used to show two expressions that are equal to each other.</a:t>
            </a:r>
            <a:endParaRPr sz="2600">
              <a:solidFill>
                <a:srgbClr val="28282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3" name="Google Shape;763;p65"/>
          <p:cNvSpPr txBox="1"/>
          <p:nvPr/>
        </p:nvSpPr>
        <p:spPr>
          <a:xfrm>
            <a:off x="324000" y="2491250"/>
            <a:ext cx="8496000" cy="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A rational equation is an equation that contains fractions with unknowns in the numerator, denominator or both.</a:t>
            </a:r>
            <a:endParaRPr sz="2400">
              <a:solidFill>
                <a:srgbClr val="28282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6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sp>
        <p:nvSpPr>
          <p:cNvPr id="769" name="Google Shape;769;p6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770" name="Google Shape;770;p6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sp>
        <p:nvSpPr>
          <p:cNvPr id="771" name="Google Shape;771;p6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id="772" name="Google Shape;77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174871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Izzy are in a lesson on solving linear equations and come across this one.</a:t>
            </a:r>
            <a:endParaRPr/>
          </a:p>
        </p:txBody>
      </p:sp>
      <p:sp>
        <p:nvSpPr>
          <p:cNvPr id="778" name="Google Shape;778;p6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936399" y="2575250"/>
            <a:ext cx="2774001" cy="1016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0" name="Google Shape;780;p67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942564" y="1449161"/>
            <a:ext cx="4336451" cy="1896999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p67"/>
          <p:cNvSpPr txBox="1"/>
          <p:nvPr/>
        </p:nvSpPr>
        <p:spPr>
          <a:xfrm>
            <a:off x="1173425" y="2706800"/>
            <a:ext cx="2385600" cy="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I’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m worried. That one looks complex!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2" name="Google Shape;782;p67"/>
          <p:cNvSpPr txBox="1"/>
          <p:nvPr/>
        </p:nvSpPr>
        <p:spPr>
          <a:xfrm>
            <a:off x="4166275" y="1682500"/>
            <a:ext cx="377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It’s actually not that bad. Just use this equivalent fraction.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3" name="Google Shape;783;p67"/>
          <p:cNvSpPr txBox="1"/>
          <p:nvPr/>
        </p:nvSpPr>
        <p:spPr>
          <a:xfrm>
            <a:off x="2877950" y="4098450"/>
            <a:ext cx="3176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Can you see how Izzy’s idea might be useful?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x+4}{5}=11&quot;&gt;&lt;mfrac&gt;&lt;mrow&gt;&lt;mn&gt;3&lt;/mn&gt;&lt;mi&gt;x&lt;/mi&gt;&lt;mo&gt;+&lt;/mo&gt;&lt;mn&gt;4&lt;/mn&gt;&lt;/mrow&gt;&lt;mn&gt;5&lt;/mn&gt;&lt;/mfrac&gt;&lt;mo&gt;=&lt;/mo&gt;&lt;mn&gt;11&lt;/mn&gt;&lt;/math&gt;" id="784" name="Google Shape;784;p67" title="the fraction with numerator 3 x plus 4 and denominator 5 equals 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84989" y="1631647"/>
            <a:ext cx="1558092" cy="64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}=\frac{55}{5}&quot;&gt;&lt;mfrac&gt;&lt;mn&gt;11&lt;/mn&gt;&lt;mn&gt;1&lt;/mn&gt;&lt;/mfrac&gt;&lt;mo&gt;=&lt;/mo&gt;&lt;mfrac&gt;&lt;mn&gt;55&lt;/mn&gt;&lt;mn&gt;5&lt;/mn&gt;&lt;/mfrac&gt;&lt;/math&gt;" id="785" name="Google Shape;785;p67" title="eleven oneths equals 55 over 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6018" y="2384925"/>
            <a:ext cx="1109550" cy="623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6" name="Google Shape;786;p6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4600" y="3204994"/>
            <a:ext cx="1150394" cy="111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6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6786550" y="40762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9" name="Google Shape;789;p67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8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Alex and Izzy are in a lesson on solving linear equations and come across this one.</a:t>
            </a:r>
            <a:endParaRPr/>
          </a:p>
        </p:txBody>
      </p:sp>
      <p:sp>
        <p:nvSpPr>
          <p:cNvPr id="795" name="Google Shape;79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x+4}{5}=11&quot;&gt;&lt;mfrac&gt;&lt;mrow&gt;&lt;mn&gt;3&lt;/mn&gt;&lt;mi&gt;x&lt;/mi&gt;&lt;mo&gt;+&lt;/mo&gt;&lt;mn&gt;4&lt;/mn&gt;&lt;/mrow&gt;&lt;mn&gt;5&lt;/mn&gt;&lt;/mfrac&gt;&lt;mo&gt;=&lt;/mo&gt;&lt;mn&gt;11&lt;/mn&gt;&lt;/math&gt;" id="796" name="Google Shape;796;p68" title="the fraction with numerator 3 x plus 4 and denominator 5 equals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989" y="1631647"/>
            <a:ext cx="1558092" cy="64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+4}{5}=\frac{55}{5}&quot;&gt;&lt;mfrac&gt;&lt;mrow&gt;&lt;mn&gt;3&lt;/mn&gt;&lt;mi&gt;x&lt;/mi&gt;&lt;mo&gt;+&lt;/mo&gt;&lt;mn&gt;4&lt;/mn&gt;&lt;/mrow&gt;&lt;mn&gt;5&lt;/mn&gt;&lt;/mfrac&gt;&lt;mo&gt;=&lt;/mo&gt;&lt;mfrac&gt;&lt;mn&gt;55&lt;/mn&gt;&lt;mn&gt;5&lt;/mn&gt;&lt;/mfrac&gt;&lt;/math&gt;" id="797" name="Google Shape;797;p68" title="the fraction with numerator 3 x plus 4 and denominator 5 equals 55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038" y="2615540"/>
            <a:ext cx="1619471" cy="62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600" y="3204994"/>
            <a:ext cx="1150394" cy="1113274"/>
          </a:xfrm>
          <a:prstGeom prst="rect">
            <a:avLst/>
          </a:prstGeom>
          <a:noFill/>
          <a:ln>
            <a:noFill/>
          </a:ln>
        </p:spPr>
      </p:pic>
      <p:sp>
        <p:nvSpPr>
          <p:cNvPr id="799" name="Google Shape;799;p68"/>
          <p:cNvSpPr txBox="1"/>
          <p:nvPr/>
        </p:nvSpPr>
        <p:spPr>
          <a:xfrm>
            <a:off x="6786550" y="40762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0" name="Google Shape;800;p68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01" name="Google Shape;801;p6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3942564" y="1449161"/>
            <a:ext cx="4336451" cy="189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02" name="Google Shape;802;p68"/>
          <p:cNvSpPr txBox="1"/>
          <p:nvPr/>
        </p:nvSpPr>
        <p:spPr>
          <a:xfrm>
            <a:off x="4166275" y="1682500"/>
            <a:ext cx="377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It’s actually not that bad. Just use this equivalent fraction.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1}{1}=\frac{55}{5}&quot;&gt;&lt;mfrac&gt;&lt;mn&gt;11&lt;/mn&gt;&lt;mn&gt;1&lt;/mn&gt;&lt;/mfrac&gt;&lt;mo&gt;=&lt;/mo&gt;&lt;mfrac&gt;&lt;mn&gt;55&lt;/mn&gt;&lt;mn&gt;5&lt;/mn&gt;&lt;/mfrac&gt;&lt;/math&gt;" id="803" name="Google Shape;803;p68" title="eleven oneths equals 55 over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326018" y="2384925"/>
            <a:ext cx="1109550" cy="623239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8"/>
          <p:cNvSpPr txBox="1"/>
          <p:nvPr/>
        </p:nvSpPr>
        <p:spPr>
          <a:xfrm>
            <a:off x="2337475" y="3739900"/>
            <a:ext cx="427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denominators are now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equal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therefore the numerators must be. We just solve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+ 4 = 55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05" name="Google Shape;805;p68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 rot="10800000">
            <a:off x="2102550" y="3508967"/>
            <a:ext cx="4882550" cy="14769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6" name="Google Shape;806;p68"/>
          <p:cNvGrpSpPr/>
          <p:nvPr/>
        </p:nvGrpSpPr>
        <p:grpSpPr>
          <a:xfrm>
            <a:off x="2848361" y="2475164"/>
            <a:ext cx="2477658" cy="925200"/>
            <a:chOff x="2848361" y="2475164"/>
            <a:chExt cx="2477658" cy="925200"/>
          </a:xfrm>
        </p:grpSpPr>
        <p:sp>
          <p:nvSpPr>
            <p:cNvPr id="807" name="Google Shape;807;p68"/>
            <p:cNvSpPr/>
            <p:nvPr/>
          </p:nvSpPr>
          <p:spPr>
            <a:xfrm>
              <a:off x="2848361" y="2475164"/>
              <a:ext cx="619800" cy="9252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08" name="Google Shape;808;p68"/>
            <p:cNvCxnSpPr>
              <a:stCxn id="803" idx="1"/>
              <a:endCxn id="807" idx="6"/>
            </p:cNvCxnSpPr>
            <p:nvPr/>
          </p:nvCxnSpPr>
          <p:spPr>
            <a:xfrm flipH="1">
              <a:off x="3468118" y="2696544"/>
              <a:ext cx="1857900" cy="241200"/>
            </a:xfrm>
            <a:prstGeom prst="straightConnector1">
              <a:avLst/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pic>
        <p:nvPicPr>
          <p:cNvPr id="809" name="Google Shape;809;p6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10" name="Google Shape;810;p68"/>
          <p:cNvGrpSpPr/>
          <p:nvPr/>
        </p:nvGrpSpPr>
        <p:grpSpPr>
          <a:xfrm>
            <a:off x="1815241" y="2946424"/>
            <a:ext cx="1652909" cy="389100"/>
            <a:chOff x="1815241" y="3022624"/>
            <a:chExt cx="1652909" cy="389100"/>
          </a:xfrm>
        </p:grpSpPr>
        <p:sp>
          <p:nvSpPr>
            <p:cNvPr id="811" name="Google Shape;811;p68"/>
            <p:cNvSpPr/>
            <p:nvPr/>
          </p:nvSpPr>
          <p:spPr>
            <a:xfrm>
              <a:off x="2848350" y="3022624"/>
              <a:ext cx="619800" cy="389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2" name="Google Shape;812;p68"/>
            <p:cNvSpPr/>
            <p:nvPr/>
          </p:nvSpPr>
          <p:spPr>
            <a:xfrm>
              <a:off x="1815241" y="3022624"/>
              <a:ext cx="619800" cy="389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3" name="Google Shape;813;p68"/>
          <p:cNvGrpSpPr/>
          <p:nvPr/>
        </p:nvGrpSpPr>
        <p:grpSpPr>
          <a:xfrm>
            <a:off x="1560840" y="2531725"/>
            <a:ext cx="1907310" cy="389108"/>
            <a:chOff x="1560840" y="3022616"/>
            <a:chExt cx="1907310" cy="389108"/>
          </a:xfrm>
        </p:grpSpPr>
        <p:sp>
          <p:nvSpPr>
            <p:cNvPr id="814" name="Google Shape;814;p68"/>
            <p:cNvSpPr/>
            <p:nvPr/>
          </p:nvSpPr>
          <p:spPr>
            <a:xfrm>
              <a:off x="2848350" y="3022624"/>
              <a:ext cx="619800" cy="389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815" name="Google Shape;815;p68"/>
            <p:cNvSpPr/>
            <p:nvPr/>
          </p:nvSpPr>
          <p:spPr>
            <a:xfrm>
              <a:off x="1560840" y="3022616"/>
              <a:ext cx="1150500" cy="389100"/>
            </a:xfrm>
            <a:prstGeom prst="ellipse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9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69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Alex and Izzy are in a lesson on solving linear equations and come across this one.</a:t>
            </a:r>
            <a:endParaRPr/>
          </a:p>
        </p:txBody>
      </p:sp>
      <p:sp>
        <p:nvSpPr>
          <p:cNvPr id="821" name="Google Shape;82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x+4}{5}=11&quot;&gt;&lt;mfrac&gt;&lt;mrow&gt;&lt;mn&gt;3&lt;/mn&gt;&lt;mi&gt;x&lt;/mi&gt;&lt;mo&gt;+&lt;/mo&gt;&lt;mn&gt;4&lt;/mn&gt;&lt;/mrow&gt;&lt;mn&gt;5&lt;/mn&gt;&lt;/mfrac&gt;&lt;mo&gt;=&lt;/mo&gt;&lt;mn&gt;11&lt;/mn&gt;&lt;/math&gt;" id="822" name="Google Shape;822;p69" title="the fraction with numerator 3 x plus 4 and denominator 5 equals 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4989" y="1631647"/>
            <a:ext cx="1558092" cy="642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+4}{5}=\frac{55}{5}&quot;&gt;&lt;mfrac&gt;&lt;mrow&gt;&lt;mn&gt;3&lt;/mn&gt;&lt;mi&gt;x&lt;/mi&gt;&lt;mo&gt;+&lt;/mo&gt;&lt;mn&gt;4&lt;/mn&gt;&lt;/mrow&gt;&lt;mn&gt;5&lt;/mn&gt;&lt;/mfrac&gt;&lt;mo&gt;=&lt;/mo&gt;&lt;mfrac&gt;&lt;mn&gt;55&lt;/mn&gt;&lt;mn&gt;5&lt;/mn&gt;&lt;/mfrac&gt;&lt;/math&gt;" id="823" name="Google Shape;823;p69" title="the fraction with numerator 3 x plus 4 and denominator 5 equals 55 over 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038" y="2615540"/>
            <a:ext cx="1619471" cy="627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4" name="Google Shape;824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4600" y="3204994"/>
            <a:ext cx="1150394" cy="111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69"/>
          <p:cNvSpPr txBox="1"/>
          <p:nvPr/>
        </p:nvSpPr>
        <p:spPr>
          <a:xfrm>
            <a:off x="6786550" y="407623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69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7" name="Google Shape;827;p6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28" name="Google Shape;828;p69"/>
          <p:cNvGraphicFramePr/>
          <p:nvPr/>
        </p:nvGraphicFramePr>
        <p:xfrm>
          <a:off x="1240014" y="343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29" name="Google Shape;829;p69"/>
          <p:cNvSpPr txBox="1"/>
          <p:nvPr/>
        </p:nvSpPr>
        <p:spPr>
          <a:xfrm>
            <a:off x="3716150" y="2531941"/>
            <a:ext cx="3428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zzy’s idea made a complex equation far more simple.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5-2x}{3}=5&quot;&gt;&lt;mfrac&gt;&lt;mrow&gt;&lt;mn&gt;25&lt;/mn&gt;&lt;mo&gt;−&lt;/mo&gt;&lt;mn&gt;2&lt;/mn&gt;&lt;mi&gt;x&lt;/mi&gt;&lt;/mrow&gt;&lt;mn&gt;3&lt;/mn&gt;&lt;/mfrac&gt;&lt;mo&gt;=&lt;/mo&gt;&lt;mn&gt;5&lt;/mn&gt;&lt;/math&gt;" id="834" name="Google Shape;834;p70" title="the fraction with numerator 25 minus 2 x and denominator 3 equals 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8965" y="1175687"/>
            <a:ext cx="1601734" cy="653275"/>
          </a:xfrm>
          <a:prstGeom prst="rect">
            <a:avLst/>
          </a:prstGeom>
          <a:noFill/>
          <a:ln>
            <a:noFill/>
          </a:ln>
        </p:spPr>
      </p:pic>
      <p:sp>
        <p:nvSpPr>
          <p:cNvPr id="835" name="Google Shape;835;p70"/>
          <p:cNvSpPr txBox="1"/>
          <p:nvPr>
            <p:ph type="title"/>
          </p:nvPr>
        </p:nvSpPr>
        <p:spPr>
          <a:xfrm>
            <a:off x="324000" y="748775"/>
            <a:ext cx="84960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equivalent fraction would be useful in solving this equation?</a:t>
            </a:r>
            <a:endParaRPr/>
          </a:p>
        </p:txBody>
      </p:sp>
      <p:sp>
        <p:nvSpPr>
          <p:cNvPr id="836" name="Google Shape;836;p7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3}=\frac{5}{15}&quot;&gt;&lt;mfrac&gt;&lt;mn&gt;1&lt;/mn&gt;&lt;mn&gt;3&lt;/mn&gt;&lt;/mfrac&gt;&lt;mo&gt;=&lt;/mo&gt;&lt;mfrac&gt;&lt;mn&gt;5&lt;/mn&gt;&lt;mn&gt;15&lt;/mn&gt;&lt;/mfrac&gt;&lt;/math&gt;" id="837" name="Google Shape;837;p70" title="one third equals 5 over 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32712" y="2700478"/>
            <a:ext cx="972014" cy="6289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}=\frac{15}{3}&quot;&gt;&lt;mfrac&gt;&lt;mn&gt;5&lt;/mn&gt;&lt;mn&gt;1&lt;/mn&gt;&lt;/mfrac&gt;&lt;mo&gt;=&lt;/mo&gt;&lt;mfrac&gt;&lt;mn&gt;15&lt;/mn&gt;&lt;mn&gt;3&lt;/mn&gt;&lt;/mfrac&gt;&lt;/math&gt;" id="838" name="Google Shape;838;p70" title="five oneths equals fifteen third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2712" y="3690147"/>
            <a:ext cx="995838" cy="6432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}=\frac{25}{5}&quot;&gt;&lt;mfrac&gt;&lt;mn&gt;5&lt;/mn&gt;&lt;mn&gt;1&lt;/mn&gt;&lt;/mfrac&gt;&lt;mo&gt;=&lt;/mo&gt;&lt;mfrac&gt;&lt;mn&gt;25&lt;/mn&gt;&lt;mn&gt;5&lt;/mn&gt;&lt;/mfrac&gt;&lt;/math&gt;" id="839" name="Google Shape;839;p70" title="five oneths equals 25 over 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32712" y="1710809"/>
            <a:ext cx="972014" cy="628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0" name="Google Shape;840;p7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89183" y="37894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p70"/>
          <p:cNvSpPr txBox="1"/>
          <p:nvPr/>
        </p:nvSpPr>
        <p:spPr>
          <a:xfrm>
            <a:off x="3030350" y="3674950"/>
            <a:ext cx="4698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only one which gives us equal denominators, therefore equal numerators.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42" name="Google Shape;842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6138" y="28434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0"/>
          <p:cNvSpPr txBox="1"/>
          <p:nvPr/>
        </p:nvSpPr>
        <p:spPr>
          <a:xfrm>
            <a:off x="3030350" y="2847980"/>
            <a:ext cx="2980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Doesn’t manipulate the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4" name="Google Shape;844;p7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96138" y="1852817"/>
            <a:ext cx="396000" cy="419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70"/>
          <p:cNvSpPr txBox="1"/>
          <p:nvPr/>
        </p:nvSpPr>
        <p:spPr>
          <a:xfrm>
            <a:off x="3030350" y="1857375"/>
            <a:ext cx="4092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Doesn’t give us equal denominators.</a:t>
            </a:r>
            <a:endParaRPr sz="2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71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Izzy</a:t>
            </a:r>
            <a:r>
              <a:rPr lang="en-GB"/>
              <a:t> now try this equation which looks </a:t>
            </a:r>
            <a:r>
              <a:rPr lang="en-GB"/>
              <a:t>different</a:t>
            </a:r>
            <a:r>
              <a:rPr lang="en-GB"/>
              <a:t> again.</a:t>
            </a:r>
            <a:endParaRPr/>
          </a:p>
        </p:txBody>
      </p:sp>
      <p:sp>
        <p:nvSpPr>
          <p:cNvPr id="851" name="Google Shape;85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852" name="Google Shape;852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861" y="3512207"/>
            <a:ext cx="1150394" cy="111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71"/>
          <p:cNvSpPr txBox="1"/>
          <p:nvPr/>
        </p:nvSpPr>
        <p:spPr>
          <a:xfrm>
            <a:off x="7113811" y="438344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1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5" name="Google Shape;855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6" name="Google Shape;856;p71"/>
          <p:cNvGraphicFramePr/>
          <p:nvPr/>
        </p:nvGraphicFramePr>
        <p:xfrm>
          <a:off x="3373614" y="2905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x}{2}+4=10&quot;&gt;&lt;mfrac&gt;&lt;mrow&gt;&lt;mn&gt;3&lt;/mn&gt;&lt;mi&gt;x&lt;/mi&gt;&lt;/mrow&gt;&lt;mn&gt;2&lt;/mn&gt;&lt;/mfrac&gt;&lt;mo&gt;+&lt;/mo&gt;&lt;mn&gt;4&lt;/mn&gt;&lt;mo&gt;=&lt;/mo&gt;&lt;mn&gt;10&lt;/mn&gt;&lt;/math&gt;" id="857" name="Google Shape;857;p71" title="3 x over 2 plus 4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7225" y="1169875"/>
            <a:ext cx="1619450" cy="6487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+\frac{8}{2}=\frac{20}{2}&quot;&gt;&lt;mfrac&gt;&lt;mrow&gt;&lt;mn&gt;3&lt;/mn&gt;&lt;mi&gt;x&lt;/mi&gt;&lt;/mrow&gt;&lt;mn&gt;2&lt;/mn&gt;&lt;/mfrac&gt;&lt;mo&gt;+&lt;/mo&gt;&lt;mfrac&gt;&lt;mn&gt;8&lt;/mn&gt;&lt;mn&gt;2&lt;/mn&gt;&lt;/mfrac&gt;&lt;mo&gt;=&lt;/mo&gt;&lt;mfrac&gt;&lt;mn&gt;20&lt;/mn&gt;&lt;mn&gt;2&lt;/mn&gt;&lt;/mfrac&gt;&lt;/math&gt;" id="858" name="Google Shape;858;p71" title="3 x over 2 plus eight halves equals 20 over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85777" y="2048542"/>
            <a:ext cx="1813559" cy="648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59" name="Google Shape;859;p71"/>
          <p:cNvGraphicFramePr/>
          <p:nvPr/>
        </p:nvGraphicFramePr>
        <p:xfrm>
          <a:off x="3373614" y="29058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60" name="Google Shape;860;p71"/>
          <p:cNvPicPr preferRelativeResize="0"/>
          <p:nvPr/>
        </p:nvPicPr>
        <p:blipFill rotWithShape="1">
          <a:blip r:embed="rId7">
            <a:alphaModFix/>
          </a:blip>
          <a:srcRect b="0" l="0" r="69082" t="56280"/>
          <a:stretch/>
        </p:blipFill>
        <p:spPr>
          <a:xfrm>
            <a:off x="5632616" y="2424500"/>
            <a:ext cx="2927150" cy="1141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71"/>
          <p:cNvSpPr txBox="1"/>
          <p:nvPr/>
        </p:nvSpPr>
        <p:spPr>
          <a:xfrm>
            <a:off x="5777694" y="2610550"/>
            <a:ext cx="26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can use equivalent fractions again.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2"/>
          <p:cNvSpPr txBox="1"/>
          <p:nvPr>
            <p:ph idx="1" type="body"/>
          </p:nvPr>
        </p:nvSpPr>
        <p:spPr>
          <a:xfrm>
            <a:off x="324000" y="759300"/>
            <a:ext cx="8496000" cy="73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Izzy now try this equation which looks different again.</a:t>
            </a:r>
            <a:endParaRPr/>
          </a:p>
        </p:txBody>
      </p:sp>
      <p:sp>
        <p:nvSpPr>
          <p:cNvPr id="867" name="Google Shape;86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868" name="Google Shape;868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861" y="3512207"/>
            <a:ext cx="1150394" cy="111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2"/>
          <p:cNvSpPr txBox="1"/>
          <p:nvPr/>
        </p:nvSpPr>
        <p:spPr>
          <a:xfrm>
            <a:off x="7113811" y="438344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0" name="Google Shape;870;p72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1" name="Google Shape;871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+4=10&quot;&gt;&lt;mfrac&gt;&lt;mrow&gt;&lt;mn&gt;3&lt;/mn&gt;&lt;mi&gt;x&lt;/mi&gt;&lt;/mrow&gt;&lt;mn&gt;2&lt;/mn&gt;&lt;/mfrac&gt;&lt;mo&gt;+&lt;/mo&gt;&lt;mn&gt;4&lt;/mn&gt;&lt;mo&gt;=&lt;/mo&gt;&lt;mn&gt;10&lt;/mn&gt;&lt;/math&gt;" id="872" name="Google Shape;872;p72" title="3 x over 2 plus 4 equals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97225" y="1169875"/>
            <a:ext cx="1619450" cy="648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73" name="Google Shape;873;p72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391325" y="2731350"/>
            <a:ext cx="3541550" cy="982376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2"/>
          <p:cNvSpPr txBox="1"/>
          <p:nvPr/>
        </p:nvSpPr>
        <p:spPr>
          <a:xfrm>
            <a:off x="696125" y="2859200"/>
            <a:ext cx="31773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That works! But, isn’t it quicker to start like this?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x}{2}+4+\left(-4\right)=10+\left(-4\right)&quot;&gt;&lt;mfrac&gt;&lt;mrow&gt;&lt;mn&gt;3&lt;/mn&gt;&lt;mi&gt;x&lt;/mi&gt;&lt;/mrow&gt;&lt;mn&gt;2&lt;/mn&gt;&lt;/mfrac&gt;&lt;mo&gt;+&lt;/mo&gt;&lt;mn&gt;4&lt;/mn&gt;&lt;mo&gt;+&lt;/mo&gt;&lt;mrow data-mjx-texclass=&quot;INNER&quot;&gt;&lt;mo data-mjx-texclass=&quot;OPEN&quot;&gt;(&lt;/mo&gt;&lt;mo&gt;−&lt;/mo&gt;&lt;mn&gt;4&lt;/mn&gt;&lt;mo data-mjx-texclass=&quot;CLOSE&quot;&gt;)&lt;/mo&gt;&lt;/mrow&gt;&lt;mo&gt;=&lt;/mo&gt;&lt;mn&gt;10&lt;/mn&gt;&lt;mo&gt;+&lt;/mo&gt;&lt;mrow data-mjx-texclass=&quot;INNER&quot;&gt;&lt;mo data-mjx-texclass=&quot;OPEN&quot;&gt;(&lt;/mo&gt;&lt;mo&gt;−&lt;/mo&gt;&lt;mn&gt;4&lt;/mn&gt;&lt;mo data-mjx-texclass=&quot;CLOSE&quot;&gt;)&lt;/mo&gt;&lt;/mrow&gt;&lt;/math&gt;" id="875" name="Google Shape;875;p72" title="3 x over 2 plus 4 plus negative 4 equals 10 plus negative 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66153" y="1993082"/>
            <a:ext cx="3480464" cy="64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=6&quot;&gt;&lt;mfrac&gt;&lt;mrow&gt;&lt;mn&gt;3&lt;/mn&gt;&lt;mi&gt;x&lt;/mi&gt;&lt;/mrow&gt;&lt;mn&gt;2&lt;/mn&gt;&lt;/mfrac&gt;&lt;mo&gt;=&lt;/mo&gt;&lt;mn&gt;6&lt;/mn&gt;&lt;/math&gt;" id="876" name="Google Shape;876;p72" title="3 x over 2 equals 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13039" y="2755778"/>
            <a:ext cx="947046" cy="64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72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491455" y="2630639"/>
            <a:ext cx="2290924" cy="1497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2"/>
          <p:cNvSpPr txBox="1"/>
          <p:nvPr/>
        </p:nvSpPr>
        <p:spPr>
          <a:xfrm>
            <a:off x="5625300" y="2839150"/>
            <a:ext cx="2078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Great idea Alex! That is really efficient.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3"/>
          <p:cNvSpPr txBox="1"/>
          <p:nvPr>
            <p:ph idx="1" type="body"/>
          </p:nvPr>
        </p:nvSpPr>
        <p:spPr>
          <a:xfrm>
            <a:off x="324000" y="759300"/>
            <a:ext cx="7338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Alex and Izzy now solve but using different methods.</a:t>
            </a:r>
            <a:endParaRPr/>
          </a:p>
        </p:txBody>
      </p:sp>
      <p:sp>
        <p:nvSpPr>
          <p:cNvPr id="884" name="Google Shape;88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885" name="Google Shape;88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1861" y="3512207"/>
            <a:ext cx="1150394" cy="1113274"/>
          </a:xfrm>
          <a:prstGeom prst="rect">
            <a:avLst/>
          </a:prstGeom>
          <a:noFill/>
          <a:ln>
            <a:noFill/>
          </a:ln>
        </p:spPr>
      </p:pic>
      <p:sp>
        <p:nvSpPr>
          <p:cNvPr id="886" name="Google Shape;886;p73"/>
          <p:cNvSpPr txBox="1"/>
          <p:nvPr/>
        </p:nvSpPr>
        <p:spPr>
          <a:xfrm>
            <a:off x="7113811" y="4383443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3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8" name="Google Shape;888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1600" y="3761269"/>
            <a:ext cx="851825" cy="982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=6&quot;&gt;&lt;mfrac&gt;&lt;mrow&gt;&lt;mn&gt;3&lt;/mn&gt;&lt;mi&gt;x&lt;/mi&gt;&lt;/mrow&gt;&lt;mn&gt;2&lt;/mn&gt;&lt;/mfrac&gt;&lt;mo&gt;=&lt;/mo&gt;&lt;mn&gt;6&lt;/mn&gt;&lt;/math&gt;" id="889" name="Google Shape;889;p73" title="3 x over 2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9439" y="1285517"/>
            <a:ext cx="947046" cy="64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=6&quot;&gt;&lt;mfrac&gt;&lt;mrow&gt;&lt;mn&gt;3&lt;/mn&gt;&lt;mi&gt;x&lt;/mi&gt;&lt;/mrow&gt;&lt;mn&gt;2&lt;/mn&gt;&lt;/mfrac&gt;&lt;mo&gt;=&lt;/mo&gt;&lt;mn&gt;6&lt;/mn&gt;&lt;/math&gt;" id="890" name="Google Shape;890;p73" title="3 x over 2 equals 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60839" y="1274287"/>
            <a:ext cx="947046" cy="64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}{2}=\frac{12}{2}&quot;&gt;&lt;mfrac&gt;&lt;mrow&gt;&lt;mn&gt;3&lt;/mn&gt;&lt;mi&gt;x&lt;/mi&gt;&lt;/mrow&gt;&lt;mn&gt;2&lt;/mn&gt;&lt;/mfrac&gt;&lt;mo&gt;=&lt;/mo&gt;&lt;mfrac&gt;&lt;mn&gt;12&lt;/mn&gt;&lt;mn&gt;2&lt;/mn&gt;&lt;/mfrac&gt;&lt;/math&gt;" id="891" name="Google Shape;891;p73" title="3 x over 2 equals twelve halve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6423" y="2162846"/>
            <a:ext cx="1188554" cy="648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2" name="Google Shape;892;p73"/>
          <p:cNvGraphicFramePr/>
          <p:nvPr/>
        </p:nvGraphicFramePr>
        <p:xfrm>
          <a:off x="4821414" y="3002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2\left(\frac{3x}{2}\right)=2\left(6\right)&quot;&gt;&lt;mn&gt;2&lt;/mn&gt;&lt;mrow data-mjx-texclass=&quot;INNER&quot;&gt;&lt;mo data-mjx-texclass=&quot;OPEN&quot;&gt;(&lt;/mo&gt;&lt;mfrac&gt;&lt;mrow&gt;&lt;mn&gt;3&lt;/mn&gt;&lt;mi&gt;x&lt;/mi&gt;&lt;/mrow&gt;&lt;mn&gt;2&lt;/mn&gt;&lt;/mfrac&gt;&lt;mo data-mjx-texclass=&quot;CLOSE&quot;&gt;)&lt;/mo&gt;&lt;/mrow&gt;&lt;mo&gt;=&lt;/mo&gt;&lt;mn&gt;2&lt;/mn&gt;&lt;mrow data-mjx-texclass=&quot;INNER&quot;&gt;&lt;mo data-mjx-texclass=&quot;OPEN&quot;&gt;(&lt;/mo&gt;&lt;mn&gt;6&lt;/mn&gt;&lt;mo data-mjx-texclass=&quot;CLOSE&quot;&gt;)&lt;/mo&gt;&lt;/mrow&gt;&lt;/math&gt;" id="893" name="Google Shape;893;p73" title="2 times open paren 3 x over 2 close paren equals 2 times 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2439" y="2115530"/>
            <a:ext cx="2101600" cy="791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4" name="Google Shape;894;p73"/>
          <p:cNvGraphicFramePr/>
          <p:nvPr/>
        </p:nvGraphicFramePr>
        <p:xfrm>
          <a:off x="1293753" y="29972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95" name="Google Shape;895;p73"/>
          <p:cNvSpPr txBox="1"/>
          <p:nvPr/>
        </p:nvSpPr>
        <p:spPr>
          <a:xfrm>
            <a:off x="2889170" y="4145775"/>
            <a:ext cx="3815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Different methods, same result. Both are fine.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7x}{3}+\frac{3}{3}=\frac{45}{3}&quot;&gt;&lt;mfrac&gt;&lt;mrow&gt;&lt;mn&gt;7&lt;/mn&gt;&lt;mi&gt;x&lt;/mi&gt;&lt;/mrow&gt;&lt;mn&gt;3&lt;/mn&gt;&lt;/mfrac&gt;&lt;mo&gt;+&lt;/mo&gt;&lt;mfrac&gt;&lt;mn&gt;3&lt;/mn&gt;&lt;mn&gt;3&lt;/mn&gt;&lt;/mfrac&gt;&lt;mo&gt;=&lt;/mo&gt;&lt;mfrac&gt;&lt;mn&gt;45&lt;/mn&gt;&lt;mn&gt;3&lt;/mn&gt;&lt;/mfrac&gt;&lt;/math&gt;" id="900" name="Google Shape;900;p74" title="7 x over 3 plus three thirds equals 45 over 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320" y="1705475"/>
            <a:ext cx="1830370" cy="6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74"/>
          <p:cNvSpPr txBox="1"/>
          <p:nvPr>
            <p:ph type="title"/>
          </p:nvPr>
        </p:nvSpPr>
        <p:spPr>
          <a:xfrm>
            <a:off x="324000" y="748775"/>
            <a:ext cx="48555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would be a useful next step in solving this equation?</a:t>
            </a:r>
            <a:endParaRPr/>
          </a:p>
        </p:txBody>
      </p:sp>
      <p:sp>
        <p:nvSpPr>
          <p:cNvPr id="902" name="Google Shape;902;p7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903" name="Google Shape;903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65383" y="37894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74"/>
          <p:cNvSpPr txBox="1"/>
          <p:nvPr/>
        </p:nvSpPr>
        <p:spPr>
          <a:xfrm>
            <a:off x="3639950" y="1846150"/>
            <a:ext cx="413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Leaves us with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+ 3 = 45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solve.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05" name="Google Shape;905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05738" y="284341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x}{3}+1=15&quot;&gt;&lt;mfrac&gt;&lt;mrow&gt;&lt;mn&gt;7&lt;/mn&gt;&lt;mi&gt;x&lt;/mi&gt;&lt;/mrow&gt;&lt;mn&gt;3&lt;/mn&gt;&lt;/mfrac&gt;&lt;mo&gt;+&lt;/mo&gt;&lt;mn&gt;1&lt;/mn&gt;&lt;mo&gt;=&lt;/mo&gt;&lt;mn&gt;15&lt;/mn&gt;&lt;/math&gt;" id="906" name="Google Shape;906;p74" title="7 x over 3 plus 1 equals 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5699" y="824824"/>
            <a:ext cx="1790850" cy="7236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x}{3}+1=\frac{45}{3}&quot;&gt;&lt;mfrac&gt;&lt;mrow&gt;&lt;mn&gt;7&lt;/mn&gt;&lt;mi&gt;x&lt;/mi&gt;&lt;/mrow&gt;&lt;mn&gt;3&lt;/mn&gt;&lt;/mfrac&gt;&lt;mo&gt;+&lt;/mo&gt;&lt;mn&gt;1&lt;/mn&gt;&lt;mo&gt;=&lt;/mo&gt;&lt;mfrac&gt;&lt;mn&gt;45&lt;/mn&gt;&lt;mn&gt;3&lt;/mn&gt;&lt;/mfrac&gt;&lt;/math&gt;" id="907" name="Google Shape;907;p74" title="7 x over 3 plus 1 equals 45 over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11744" y="2665663"/>
            <a:ext cx="1686072" cy="6477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x}{3}=14&quot;&gt;&lt;mfrac&gt;&lt;mrow&gt;&lt;mn&gt;7&lt;/mn&gt;&lt;mi&gt;x&lt;/mi&gt;&lt;/mrow&gt;&lt;mn&gt;3&lt;/mn&gt;&lt;/mfrac&gt;&lt;mo&gt;=&lt;/mo&gt;&lt;mn&gt;14&lt;/mn&gt;&lt;/math&gt;" id="908" name="Google Shape;908;p74" title="7 x over 3 equals 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11744" y="3630230"/>
            <a:ext cx="1128811" cy="662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74983" y="1808229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4"/>
          <p:cNvSpPr txBox="1"/>
          <p:nvPr/>
        </p:nvSpPr>
        <p:spPr>
          <a:xfrm>
            <a:off x="3597441" y="2718041"/>
            <a:ext cx="413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you went on to solve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 = 45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you would not get a correct solution.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1" name="Google Shape;911;p74"/>
          <p:cNvSpPr txBox="1"/>
          <p:nvPr/>
        </p:nvSpPr>
        <p:spPr>
          <a:xfrm>
            <a:off x="2967796" y="3816125"/>
            <a:ext cx="1686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Very efficient.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left(\frac{7x}{3}\right)=3\left(14\right)&quot;&gt;&lt;mn&gt;3&lt;/mn&gt;&lt;mrow data-mjx-texclass=&quot;INNER&quot;&gt;&lt;mo data-mjx-texclass=&quot;OPEN&quot;&gt;(&lt;/mo&gt;&lt;mfrac&gt;&lt;mrow&gt;&lt;mn&gt;7&lt;/mn&gt;&lt;mi&gt;x&lt;/mi&gt;&lt;/mrow&gt;&lt;mn&gt;3&lt;/mn&gt;&lt;/mfrac&gt;&lt;mo data-mjx-texclass=&quot;CLOSE&quot;&gt;)&lt;/mo&gt;&lt;/mrow&gt;&lt;mo&gt;=&lt;/mo&gt;&lt;mn&gt;3&lt;/mn&gt;&lt;mrow data-mjx-texclass=&quot;INNER&quot;&gt;&lt;mo data-mjx-texclass=&quot;OPEN&quot;&gt;(&lt;/mo&gt;&lt;mn&gt;14&lt;/mn&gt;&lt;mo data-mjx-texclass=&quot;CLOSE&quot;&gt;)&lt;/mo&gt;&lt;/mrow&gt;&lt;/math&gt;" id="912" name="Google Shape;912;p74" title="3 times open paren 7 x over 3 close paren equals 3 times 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543899" y="3692485"/>
            <a:ext cx="1686000" cy="590995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4"/>
          <p:cNvSpPr txBox="1"/>
          <p:nvPr/>
        </p:nvSpPr>
        <p:spPr>
          <a:xfrm>
            <a:off x="6396797" y="3816125"/>
            <a:ext cx="513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or…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4" name="Google Shape;914;p74"/>
          <p:cNvSpPr txBox="1"/>
          <p:nvPr/>
        </p:nvSpPr>
        <p:spPr>
          <a:xfrm>
            <a:off x="5130259" y="4425720"/>
            <a:ext cx="951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x}{3}=\frac{42}{3}&quot;&gt;&lt;mfrac&gt;&lt;mrow&gt;&lt;mn&gt;7&lt;/mn&gt;&lt;mi&gt;x&lt;/mi&gt;&lt;/mrow&gt;&lt;mn&gt;3&lt;/mn&gt;&lt;/mfrac&gt;&lt;mo&gt;=&lt;/mo&gt;&lt;mfrac&gt;&lt;mn&gt;42&lt;/mn&gt;&lt;mn&gt;3&lt;/mn&gt;&lt;/mfrac&gt;&lt;/math&gt;" id="915" name="Google Shape;915;p74" title="7 x over 3 equals 42 over 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983375" y="3672739"/>
            <a:ext cx="1072244" cy="59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74"/>
          <p:cNvSpPr txBox="1"/>
          <p:nvPr/>
        </p:nvSpPr>
        <p:spPr>
          <a:xfrm>
            <a:off x="7100229" y="4425720"/>
            <a:ext cx="951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= 42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75"/>
          <p:cNvSpPr txBox="1"/>
          <p:nvPr>
            <p:ph idx="1" type="body"/>
          </p:nvPr>
        </p:nvSpPr>
        <p:spPr>
          <a:xfrm>
            <a:off x="324000" y="759300"/>
            <a:ext cx="7135200" cy="76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Alex solved this complex linear equation. Fill in the missing blanks in his work.</a:t>
            </a:r>
            <a:endParaRPr/>
          </a:p>
        </p:txBody>
      </p:sp>
      <p:sp>
        <p:nvSpPr>
          <p:cNvPr id="922" name="Google Shape;922;p7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923" name="Google Shape;92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3774" y="1739250"/>
            <a:ext cx="1019350" cy="1175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24" name="Google Shape;924;p75"/>
          <p:cNvGraphicFramePr/>
          <p:nvPr/>
        </p:nvGraphicFramePr>
        <p:xfrm>
          <a:off x="4146845" y="3134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x-5}{8}=2&quot;&gt;&lt;mfrac&gt;&lt;mrow&gt;&lt;mn&gt;7&lt;/mn&gt;&lt;mi&gt;x&lt;/mi&gt;&lt;mo&gt;−&lt;/mo&gt;&lt;mn&gt;5&lt;/mn&gt;&lt;/mrow&gt;&lt;mn&gt;8&lt;/mn&gt;&lt;/mfrac&gt;&lt;mo&gt;=&lt;/mo&gt;&lt;mn&gt;2&lt;/mn&gt;&lt;/math&gt;" id="925" name="Google Shape;925;p75" title="the fraction with numerator 7 x minus 5 and denominator 8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255" y="1263020"/>
            <a:ext cx="1419503" cy="635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x-5}{8}=\frac{16}{8}&quot;&gt;&lt;mfrac&gt;&lt;mrow&gt;&lt;mn&gt;7&lt;/mn&gt;&lt;mi&gt;x&lt;/mi&gt;&lt;mo&gt;−&lt;/mo&gt;&lt;mn&gt;5&lt;/mn&gt;&lt;/mrow&gt;&lt;mn&gt;8&lt;/mn&gt;&lt;/mfrac&gt;&lt;mo&gt;=&lt;/mo&gt;&lt;mfrac&gt;&lt;mn&gt;16&lt;/mn&gt;&lt;mn&gt;8&lt;/mn&gt;&lt;/mfrac&gt;&lt;/math&gt;" id="926" name="Google Shape;926;p75" title="the fraction with numerator 7 x minus 5 and denominator 8 equals sixte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751" y="2157230"/>
            <a:ext cx="1652974" cy="635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}=\frac{16}{8}&quot;&gt;&lt;mfrac&gt;&lt;mn&gt;2&lt;/mn&gt;&lt;mn&gt;1&lt;/mn&gt;&lt;/mfrac&gt;&lt;mo&gt;=&lt;/mo&gt;&lt;mfrac&gt;&lt;mn&gt;16&lt;/mn&gt;&lt;mn&gt;8&lt;/mn&gt;&lt;/mfrac&gt;&lt;/math&gt;" id="927" name="Google Shape;927;p75" title="two oneths equals sixte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0637" y="1785937"/>
            <a:ext cx="948950" cy="61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8" name="Google Shape;928;p75"/>
          <p:cNvGrpSpPr/>
          <p:nvPr/>
        </p:nvGrpSpPr>
        <p:grpSpPr>
          <a:xfrm>
            <a:off x="4669700" y="1712761"/>
            <a:ext cx="3419900" cy="2885850"/>
            <a:chOff x="4674375" y="1685925"/>
            <a:chExt cx="3419900" cy="2885850"/>
          </a:xfrm>
        </p:grpSpPr>
        <p:sp>
          <p:nvSpPr>
            <p:cNvPr id="929" name="Google Shape;929;p75"/>
            <p:cNvSpPr/>
            <p:nvPr/>
          </p:nvSpPr>
          <p:spPr>
            <a:xfrm>
              <a:off x="5261500" y="20482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0" name="Google Shape;930;p75"/>
            <p:cNvSpPr/>
            <p:nvPr/>
          </p:nvSpPr>
          <p:spPr>
            <a:xfrm>
              <a:off x="5932175" y="20482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1" name="Google Shape;931;p75"/>
            <p:cNvSpPr/>
            <p:nvPr/>
          </p:nvSpPr>
          <p:spPr>
            <a:xfrm>
              <a:off x="7760975" y="16859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2" name="Google Shape;932;p75"/>
            <p:cNvSpPr/>
            <p:nvPr/>
          </p:nvSpPr>
          <p:spPr>
            <a:xfrm>
              <a:off x="4674375" y="31650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3" name="Google Shape;933;p75"/>
            <p:cNvSpPr/>
            <p:nvPr/>
          </p:nvSpPr>
          <p:spPr>
            <a:xfrm>
              <a:off x="5898475" y="31650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4" name="Google Shape;934;p75"/>
            <p:cNvSpPr/>
            <p:nvPr/>
          </p:nvSpPr>
          <p:spPr>
            <a:xfrm>
              <a:off x="5898475" y="3675950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35" name="Google Shape;935;p75"/>
            <p:cNvSpPr/>
            <p:nvPr/>
          </p:nvSpPr>
          <p:spPr>
            <a:xfrm>
              <a:off x="5898475" y="418687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x+10}{3}=14&quot;&gt;&lt;mfrac&gt;&lt;mrow&gt;&lt;mn&gt;2&lt;/mn&gt;&lt;mi&gt;x&lt;/mi&gt;&lt;mo&gt;+&lt;/mo&gt;&lt;mn&gt;10&lt;/mn&gt;&lt;/mrow&gt;&lt;mn&gt;3&lt;/mn&gt;&lt;/mfrac&gt;&lt;mo&gt;=&lt;/mo&gt;&lt;mn&gt;14&lt;/mn&gt;&lt;/math&gt;" id="940" name="Google Shape;940;p76" title="the fraction with numerator 2 x plus 10 and denominator 3 equals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1" y="1294257"/>
            <a:ext cx="1672032" cy="614861"/>
          </a:xfrm>
          <a:prstGeom prst="rect">
            <a:avLst/>
          </a:prstGeom>
          <a:noFill/>
          <a:ln>
            <a:noFill/>
          </a:ln>
        </p:spPr>
      </p:pic>
      <p:sp>
        <p:nvSpPr>
          <p:cNvPr id="941" name="Google Shape;941;p76"/>
          <p:cNvSpPr txBox="1"/>
          <p:nvPr>
            <p:ph idx="1" type="body"/>
          </p:nvPr>
        </p:nvSpPr>
        <p:spPr>
          <a:xfrm>
            <a:off x="324000" y="759300"/>
            <a:ext cx="13608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Solve:</a:t>
            </a:r>
            <a:endParaRPr/>
          </a:p>
        </p:txBody>
      </p:sp>
      <p:sp>
        <p:nvSpPr>
          <p:cNvPr id="942" name="Google Shape;942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x}{3}+10=14&quot;&gt;&lt;mfrac&gt;&lt;mrow&gt;&lt;mn&gt;2&lt;/mn&gt;&lt;mi&gt;x&lt;/mi&gt;&lt;/mrow&gt;&lt;mn&gt;3&lt;/mn&gt;&lt;/mfrac&gt;&lt;mo&gt;+&lt;/mo&gt;&lt;mn&gt;10&lt;/mn&gt;&lt;mo&gt;=&lt;/mo&gt;&lt;mn&gt;14&lt;/mn&gt;&lt;/math&gt;" id="943" name="Google Shape;943;p76" title="2 x over 3 plus 10 equals 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9572" y="1294093"/>
            <a:ext cx="1656741" cy="609238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76"/>
          <p:cNvSpPr txBox="1"/>
          <p:nvPr>
            <p:ph idx="1" type="body"/>
          </p:nvPr>
        </p:nvSpPr>
        <p:spPr>
          <a:xfrm>
            <a:off x="324000" y="1357670"/>
            <a:ext cx="329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945" name="Google Shape;945;p76"/>
          <p:cNvSpPr txBox="1"/>
          <p:nvPr>
            <p:ph idx="1" type="body"/>
          </p:nvPr>
        </p:nvSpPr>
        <p:spPr>
          <a:xfrm>
            <a:off x="4317679" y="1357670"/>
            <a:ext cx="329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77"/>
          <p:cNvSpPr txBox="1"/>
          <p:nvPr>
            <p:ph idx="1" type="body"/>
          </p:nvPr>
        </p:nvSpPr>
        <p:spPr>
          <a:xfrm>
            <a:off x="324000" y="759300"/>
            <a:ext cx="7258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Alex solved this complex linear equation. Fill in the missing blanks in his work.</a:t>
            </a:r>
            <a:endParaRPr/>
          </a:p>
        </p:txBody>
      </p:sp>
      <p:sp>
        <p:nvSpPr>
          <p:cNvPr id="951" name="Google Shape;951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id="952" name="Google Shape;952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53774" y="1739250"/>
            <a:ext cx="1019350" cy="11756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53" name="Google Shape;953;p77"/>
          <p:cNvGraphicFramePr/>
          <p:nvPr/>
        </p:nvGraphicFramePr>
        <p:xfrm>
          <a:off x="4146845" y="3134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− 5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7x-5}{8}=2&quot;&gt;&lt;mfrac&gt;&lt;mrow&gt;&lt;mn&gt;7&lt;/mn&gt;&lt;mi&gt;x&lt;/mi&gt;&lt;mo&gt;−&lt;/mo&gt;&lt;mn&gt;5&lt;/mn&gt;&lt;/mrow&gt;&lt;mn&gt;8&lt;/mn&gt;&lt;/mfrac&gt;&lt;mo&gt;=&lt;/mo&gt;&lt;mn&gt;2&lt;/mn&gt;&lt;/math&gt;" id="954" name="Google Shape;954;p77" title="the fraction with numerator 7 x minus 5 and denominator 8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255" y="1263020"/>
            <a:ext cx="1419503" cy="635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x-5}{8}=\frac{16}{8}&quot;&gt;&lt;mfrac&gt;&lt;mrow&gt;&lt;mn&gt;7&lt;/mn&gt;&lt;mi&gt;x&lt;/mi&gt;&lt;mo&gt;−&lt;/mo&gt;&lt;mn&gt;5&lt;/mn&gt;&lt;/mrow&gt;&lt;mn&gt;8&lt;/mn&gt;&lt;/mfrac&gt;&lt;mo&gt;=&lt;/mo&gt;&lt;mfrac&gt;&lt;mn&gt;16&lt;/mn&gt;&lt;mn&gt;8&lt;/mn&gt;&lt;/mfrac&gt;&lt;/math&gt;" id="955" name="Google Shape;955;p77" title="the fraction with numerator 7 x minus 5 and denominator 8 equals sixte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3751" y="2157230"/>
            <a:ext cx="1652974" cy="6350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1}=\frac{16}{8}&quot;&gt;&lt;mfrac&gt;&lt;mn&gt;2&lt;/mn&gt;&lt;mn&gt;1&lt;/mn&gt;&lt;/mfrac&gt;&lt;mo&gt;=&lt;/mo&gt;&lt;mfrac&gt;&lt;mn&gt;16&lt;/mn&gt;&lt;mn&gt;8&lt;/mn&gt;&lt;/mfrac&gt;&lt;/math&gt;" id="956" name="Google Shape;956;p77" title="two oneths equals sixte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40637" y="1785937"/>
            <a:ext cx="948950" cy="610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7" name="Google Shape;957;p77"/>
          <p:cNvGrpSpPr/>
          <p:nvPr/>
        </p:nvGrpSpPr>
        <p:grpSpPr>
          <a:xfrm>
            <a:off x="4669700" y="1712750"/>
            <a:ext cx="3419900" cy="2885850"/>
            <a:chOff x="4674375" y="1685925"/>
            <a:chExt cx="3419900" cy="2885850"/>
          </a:xfrm>
        </p:grpSpPr>
        <p:sp>
          <p:nvSpPr>
            <p:cNvPr id="958" name="Google Shape;958;p77"/>
            <p:cNvSpPr/>
            <p:nvPr/>
          </p:nvSpPr>
          <p:spPr>
            <a:xfrm>
              <a:off x="5261500" y="20482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59" name="Google Shape;959;p77"/>
            <p:cNvSpPr/>
            <p:nvPr/>
          </p:nvSpPr>
          <p:spPr>
            <a:xfrm>
              <a:off x="5932175" y="20482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0" name="Google Shape;960;p77"/>
            <p:cNvSpPr/>
            <p:nvPr/>
          </p:nvSpPr>
          <p:spPr>
            <a:xfrm>
              <a:off x="7760975" y="16859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1" name="Google Shape;961;p77"/>
            <p:cNvSpPr/>
            <p:nvPr/>
          </p:nvSpPr>
          <p:spPr>
            <a:xfrm>
              <a:off x="4674375" y="31650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2" name="Google Shape;962;p77"/>
            <p:cNvSpPr/>
            <p:nvPr/>
          </p:nvSpPr>
          <p:spPr>
            <a:xfrm>
              <a:off x="5898475" y="316502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3" name="Google Shape;963;p77"/>
            <p:cNvSpPr/>
            <p:nvPr/>
          </p:nvSpPr>
          <p:spPr>
            <a:xfrm>
              <a:off x="5898475" y="3675950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4" name="Google Shape;964;p77"/>
            <p:cNvSpPr/>
            <p:nvPr/>
          </p:nvSpPr>
          <p:spPr>
            <a:xfrm>
              <a:off x="5898475" y="4186875"/>
              <a:ext cx="333300" cy="384900"/>
            </a:xfrm>
            <a:prstGeom prst="roundRect">
              <a:avLst>
                <a:gd fmla="val 16667" name="adj"/>
              </a:avLst>
            </a:prstGeom>
            <a:solidFill>
              <a:srgbClr val="F2EEFA"/>
            </a:solidFill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65" name="Google Shape;965;p77"/>
          <p:cNvGrpSpPr/>
          <p:nvPr/>
        </p:nvGrpSpPr>
        <p:grpSpPr>
          <a:xfrm>
            <a:off x="4669700" y="1712750"/>
            <a:ext cx="3419900" cy="2885850"/>
            <a:chOff x="4674375" y="1685925"/>
            <a:chExt cx="3419900" cy="2885850"/>
          </a:xfrm>
        </p:grpSpPr>
        <p:sp>
          <p:nvSpPr>
            <p:cNvPr id="966" name="Google Shape;966;p77"/>
            <p:cNvSpPr/>
            <p:nvPr/>
          </p:nvSpPr>
          <p:spPr>
            <a:xfrm>
              <a:off x="5261500" y="204822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7" name="Google Shape;967;p77"/>
            <p:cNvSpPr/>
            <p:nvPr/>
          </p:nvSpPr>
          <p:spPr>
            <a:xfrm>
              <a:off x="5932175" y="204822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8" name="Google Shape;968;p77"/>
            <p:cNvSpPr/>
            <p:nvPr/>
          </p:nvSpPr>
          <p:spPr>
            <a:xfrm>
              <a:off x="7760975" y="168592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69" name="Google Shape;969;p77"/>
            <p:cNvSpPr/>
            <p:nvPr/>
          </p:nvSpPr>
          <p:spPr>
            <a:xfrm>
              <a:off x="4674375" y="316502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0" name="Google Shape;970;p77"/>
            <p:cNvSpPr/>
            <p:nvPr/>
          </p:nvSpPr>
          <p:spPr>
            <a:xfrm>
              <a:off x="5898475" y="316502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1" name="Google Shape;971;p77"/>
            <p:cNvSpPr/>
            <p:nvPr/>
          </p:nvSpPr>
          <p:spPr>
            <a:xfrm>
              <a:off x="5898475" y="3675950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72" name="Google Shape;972;p77"/>
            <p:cNvSpPr/>
            <p:nvPr/>
          </p:nvSpPr>
          <p:spPr>
            <a:xfrm>
              <a:off x="5898475" y="4186875"/>
              <a:ext cx="333300" cy="38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x+10}{3}=14&quot;&gt;&lt;mfrac&gt;&lt;mrow&gt;&lt;mn&gt;2&lt;/mn&gt;&lt;mi&gt;x&lt;/mi&gt;&lt;mo&gt;+&lt;/mo&gt;&lt;mn&gt;10&lt;/mn&gt;&lt;/mrow&gt;&lt;mn&gt;3&lt;/mn&gt;&lt;/mfrac&gt;&lt;mo&gt;=&lt;/mo&gt;&lt;mn&gt;14&lt;/mn&gt;&lt;/math&gt;" id="977" name="Google Shape;977;p78" title="the fraction with numerator 2 x plus 10 and denominator 3 equals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9451" y="1294257"/>
            <a:ext cx="1672032" cy="614861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8"/>
          <p:cNvSpPr txBox="1"/>
          <p:nvPr>
            <p:ph idx="1" type="body"/>
          </p:nvPr>
        </p:nvSpPr>
        <p:spPr>
          <a:xfrm>
            <a:off x="324000" y="759300"/>
            <a:ext cx="8237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Solve:</a:t>
            </a:r>
            <a:endParaRPr/>
          </a:p>
        </p:txBody>
      </p:sp>
      <p:sp>
        <p:nvSpPr>
          <p:cNvPr id="979" name="Google Shape;979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x+10}{3}=\frac{42}{3}&quot;&gt;&lt;mfrac&gt;&lt;mrow&gt;&lt;mn&gt;2&lt;/mn&gt;&lt;mi&gt;x&lt;/mi&gt;&lt;mo&gt;+&lt;/mo&gt;&lt;mn&gt;10&lt;/mn&gt;&lt;/mrow&gt;&lt;mn&gt;3&lt;/mn&gt;&lt;/mfrac&gt;&lt;mo&gt;=&lt;/mo&gt;&lt;mfrac&gt;&lt;mn&gt;42&lt;/mn&gt;&lt;mn&gt;3&lt;/mn&gt;&lt;/mfrac&gt;&lt;/math&gt;" id="980" name="Google Shape;980;p78" title="the fraction with numerator 2 x plus 10 and denominator 3 equals 42 over 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0303" y="2202851"/>
            <a:ext cx="1760499" cy="6192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}{3}+10=14&quot;&gt;&lt;mfrac&gt;&lt;mrow&gt;&lt;mn&gt;2&lt;/mn&gt;&lt;mi&gt;x&lt;/mi&gt;&lt;/mrow&gt;&lt;mn&gt;3&lt;/mn&gt;&lt;/mfrac&gt;&lt;mo&gt;+&lt;/mo&gt;&lt;mn&gt;10&lt;/mn&gt;&lt;mo&gt;=&lt;/mo&gt;&lt;mn&gt;14&lt;/mn&gt;&lt;/math&gt;" id="981" name="Google Shape;981;p78" title="2 x over 3 plus 10 equals 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9572" y="1294093"/>
            <a:ext cx="1656741" cy="6092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}{3}=4&quot;&gt;&lt;mfrac&gt;&lt;mrow&gt;&lt;mn&gt;2&lt;/mn&gt;&lt;mi&gt;x&lt;/mi&gt;&lt;/mrow&gt;&lt;mn&gt;3&lt;/mn&gt;&lt;/mfrac&gt;&lt;mo&gt;=&lt;/mo&gt;&lt;mn&gt;4&lt;/mn&gt;&lt;/math&gt;" id="982" name="Google Shape;982;p78" title="2 x over 3 equals 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0657" y="2207111"/>
            <a:ext cx="893520" cy="614861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78"/>
          <p:cNvSpPr txBox="1"/>
          <p:nvPr>
            <p:ph idx="1" type="body"/>
          </p:nvPr>
        </p:nvSpPr>
        <p:spPr>
          <a:xfrm>
            <a:off x="324000" y="1357670"/>
            <a:ext cx="329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984" name="Google Shape;984;p78"/>
          <p:cNvSpPr txBox="1"/>
          <p:nvPr>
            <p:ph idx="1" type="body"/>
          </p:nvPr>
        </p:nvSpPr>
        <p:spPr>
          <a:xfrm>
            <a:off x="4317679" y="1357670"/>
            <a:ext cx="329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graphicFrame>
        <p:nvGraphicFramePr>
          <p:cNvPr id="985" name="Google Shape;985;p78"/>
          <p:cNvGraphicFramePr/>
          <p:nvPr/>
        </p:nvGraphicFramePr>
        <p:xfrm>
          <a:off x="1293753" y="30197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86" name="Google Shape;986;p78"/>
          <p:cNvGraphicFramePr/>
          <p:nvPr/>
        </p:nvGraphicFramePr>
        <p:xfrm>
          <a:off x="4821414" y="38266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x}{3}=\frac{12}{3}&quot;&gt;&lt;mfrac&gt;&lt;mrow&gt;&lt;mn&gt;2&lt;/mn&gt;&lt;mi&gt;x&lt;/mi&gt;&lt;/mrow&gt;&lt;mn&gt;3&lt;/mn&gt;&lt;/mfrac&gt;&lt;mo&gt;=&lt;/mo&gt;&lt;mfrac&gt;&lt;mn&gt;12&lt;/mn&gt;&lt;mn&gt;3&lt;/mn&gt;&lt;/mfrac&gt;&lt;/math&gt;" id="987" name="Google Shape;987;p78" title="2 x over 3 equals twelve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73364" y="3073885"/>
            <a:ext cx="1127169" cy="61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sp>
        <p:nvSpPr>
          <p:cNvPr id="993" name="Google Shape;993;p7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994" name="Google Shape;994;p7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sp>
        <p:nvSpPr>
          <p:cNvPr id="995" name="Google Shape;995;p7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id="996" name="Google Shape;99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889" y="277059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2x+1}{5}=\frac{x+8}{10}&quot;&gt;&lt;mfrac&gt;&lt;mrow&gt;&lt;mn&gt;2&lt;/mn&gt;&lt;mi&gt;x&lt;/mi&gt;&lt;mo&gt;+&lt;/mo&gt;&lt;mn&gt;1&lt;/mn&gt;&lt;/mrow&gt;&lt;mn&gt;5&lt;/mn&gt;&lt;/mfrac&gt;&lt;mo&gt;=&lt;/mo&gt;&lt;mfrac&gt;&lt;mrow&gt;&lt;mi&gt;x&lt;/mi&gt;&lt;mo&gt;+&lt;/mo&gt;&lt;mn&gt;8&lt;/mn&gt;&lt;/mrow&gt;&lt;mn&gt;10&lt;/mn&gt;&lt;/mfrac&gt;&lt;/math&gt;" id="1001" name="Google Shape;1001;p80" title="the fraction with numerator 2 x plus 1 and denominator 5 equals the fraction with numerator x plus 8 and denominato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461" y="1624370"/>
            <a:ext cx="1944827" cy="6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80"/>
          <p:cNvSpPr txBox="1"/>
          <p:nvPr>
            <p:ph idx="1" type="body"/>
          </p:nvPr>
        </p:nvSpPr>
        <p:spPr>
          <a:xfrm>
            <a:off x="324000" y="759300"/>
            <a:ext cx="74610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</a:t>
            </a:r>
            <a:r>
              <a:rPr lang="en-GB"/>
              <a:t> we have a fraction on both sides of the equation. </a:t>
            </a:r>
            <a:endParaRPr/>
          </a:p>
        </p:txBody>
      </p:sp>
      <p:sp>
        <p:nvSpPr>
          <p:cNvPr id="1003" name="Google Shape;1003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2x+1}{5}\times1=\frac{x+8}{10}&quot;&gt;&lt;mfrac&gt;&lt;mrow&gt;&lt;mn&gt;2&lt;/mn&gt;&lt;mi&gt;x&lt;/mi&gt;&lt;mo&gt;+&lt;/mo&gt;&lt;mn&gt;1&lt;/mn&gt;&lt;/mrow&gt;&lt;mn&gt;5&lt;/mn&gt;&lt;/mfrac&gt;&lt;mo&gt;×&lt;/mo&gt;&lt;mn&gt;1&lt;/mn&gt;&lt;mo&gt;=&lt;/mo&gt;&lt;mfrac&gt;&lt;mrow&gt;&lt;mi&gt;x&lt;/mi&gt;&lt;mo&gt;+&lt;/mo&gt;&lt;mn&gt;8&lt;/mn&gt;&lt;/mrow&gt;&lt;mn&gt;10&lt;/mn&gt;&lt;/mfrac&gt;&lt;/math&gt;" id="1004" name="Google Shape;1004;p80" title="the fraction with numerator 2 x plus 1 and denominator 5 times 1 equals the fraction with numerator x plus 8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9188" y="2448056"/>
            <a:ext cx="2564176" cy="6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x+1}{5}\times\frac{2}{2}=\frac{x+8}{10}&quot;&gt;&lt;mfrac&gt;&lt;mrow&gt;&lt;mn&gt;2&lt;/mn&gt;&lt;mi&gt;x&lt;/mi&gt;&lt;mo&gt;+&lt;/mo&gt;&lt;mn&gt;1&lt;/mn&gt;&lt;/mrow&gt;&lt;mn&gt;5&lt;/mn&gt;&lt;/mfrac&gt;&lt;mo&gt;×&lt;/mo&gt;&lt;mfrac&gt;&lt;mn&gt;2&lt;/mn&gt;&lt;mn&gt;2&lt;/mn&gt;&lt;/mfrac&gt;&lt;mo&gt;=&lt;/mo&gt;&lt;mfrac&gt;&lt;mrow&gt;&lt;mi&gt;x&lt;/mi&gt;&lt;mo&gt;+&lt;/mo&gt;&lt;mn&gt;8&lt;/mn&gt;&lt;/mrow&gt;&lt;mn&gt;10&lt;/mn&gt;&lt;/mfrac&gt;&lt;/math&gt;" id="1005" name="Google Shape;1005;p80" title="the fraction with numerator 2 x plus 1 and denominator 5 times two halves equals the fraction with numerator x plus 8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7905" y="3309997"/>
            <a:ext cx="2675453" cy="6531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\left(2x+1\right)}{10}=\frac{x+8}{10}&quot;&gt;&lt;mfrac&gt;&lt;mrow&gt;&lt;mn&gt;2&lt;/mn&gt;&lt;mrow data-mjx-texclass=&quot;INNER&quot;&gt;&lt;mo data-mjx-texclass=&quot;OPEN&quot;&gt;(&lt;/mo&gt;&lt;mn&gt;2&lt;/mn&gt;&lt;mi&gt;x&lt;/mi&gt;&lt;mo&gt;+&lt;/mo&gt;&lt;mn&gt;1&lt;/mn&gt;&lt;mo data-mjx-texclass=&quot;CLOSE&quot;&gt;)&lt;/mo&gt;&lt;/mrow&gt;&lt;/mrow&gt;&lt;mn&gt;10&lt;/mn&gt;&lt;/mfrac&gt;&lt;mo&gt;=&lt;/mo&gt;&lt;mfrac&gt;&lt;mrow&gt;&lt;mi&gt;x&lt;/mi&gt;&lt;mo&gt;+&lt;/mo&gt;&lt;mn&gt;8&lt;/mn&gt;&lt;/mrow&gt;&lt;mn&gt;10&lt;/mn&gt;&lt;/mfrac&gt;&lt;/math&gt;" id="1006" name="Google Shape;1006;p80" title="2 times open paren 2 x plus 1 close paren over 10 equals the fraction with numerator x plus 8 and denominator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52636" y="4171939"/>
            <a:ext cx="2467414" cy="65313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7" name="Google Shape;1007;p80"/>
          <p:cNvGraphicFramePr/>
          <p:nvPr/>
        </p:nvGraphicFramePr>
        <p:xfrm>
          <a:off x="4821414" y="1482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08" name="Google Shape;1008;p80"/>
          <p:cNvGrpSpPr/>
          <p:nvPr/>
        </p:nvGrpSpPr>
        <p:grpSpPr>
          <a:xfrm>
            <a:off x="1255986" y="4098094"/>
            <a:ext cx="2789028" cy="389108"/>
            <a:chOff x="1560840" y="3022616"/>
            <a:chExt cx="1855024" cy="389108"/>
          </a:xfrm>
        </p:grpSpPr>
        <p:sp>
          <p:nvSpPr>
            <p:cNvPr id="1009" name="Google Shape;1009;p80"/>
            <p:cNvSpPr/>
            <p:nvPr/>
          </p:nvSpPr>
          <p:spPr>
            <a:xfrm>
              <a:off x="2796064" y="3022624"/>
              <a:ext cx="619800" cy="389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0" name="Google Shape;1010;p80"/>
            <p:cNvSpPr/>
            <p:nvPr/>
          </p:nvSpPr>
          <p:spPr>
            <a:xfrm>
              <a:off x="1560840" y="3022616"/>
              <a:ext cx="1150500" cy="389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1" name="Google Shape;1011;p80"/>
          <p:cNvGrpSpPr/>
          <p:nvPr/>
        </p:nvGrpSpPr>
        <p:grpSpPr>
          <a:xfrm>
            <a:off x="1806518" y="4524025"/>
            <a:ext cx="2076861" cy="389100"/>
            <a:chOff x="1806518" y="4524025"/>
            <a:chExt cx="2076861" cy="389100"/>
          </a:xfrm>
        </p:grpSpPr>
        <p:sp>
          <p:nvSpPr>
            <p:cNvPr id="1012" name="Google Shape;1012;p80"/>
            <p:cNvSpPr/>
            <p:nvPr/>
          </p:nvSpPr>
          <p:spPr>
            <a:xfrm>
              <a:off x="3276778" y="4524025"/>
              <a:ext cx="606600" cy="389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80"/>
            <p:cNvSpPr/>
            <p:nvPr/>
          </p:nvSpPr>
          <p:spPr>
            <a:xfrm>
              <a:off x="1806518" y="4524025"/>
              <a:ext cx="606600" cy="389100"/>
            </a:xfrm>
            <a:prstGeom prst="ellipse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1014" name="Google Shape;1014;p80"/>
          <p:cNvGraphicFramePr/>
          <p:nvPr/>
        </p:nvGraphicFramePr>
        <p:xfrm>
          <a:off x="4821414" y="1482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5" name="Google Shape;1015;p80"/>
          <p:cNvGraphicFramePr/>
          <p:nvPr/>
        </p:nvGraphicFramePr>
        <p:xfrm>
          <a:off x="4821414" y="1482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{01747717-BA54-4AAA-B024-DB209F94BC78}</a:tableStyleId>
              </a:tblPr>
              <a:tblGrid>
                <a:gridCol w="1349725"/>
                <a:gridCol w="344750"/>
                <a:gridCol w="1040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i="1"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+ 1)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40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4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 sz="24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</a:t>
                      </a:r>
                      <a:endParaRPr sz="24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6" name="Google Shape;1016;p80"/>
          <p:cNvSpPr txBox="1"/>
          <p:nvPr/>
        </p:nvSpPr>
        <p:spPr>
          <a:xfrm>
            <a:off x="4194050" y="4468225"/>
            <a:ext cx="4194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Now we have e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qual denominators.</a:t>
            </a:r>
            <a:endParaRPr sz="2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81"/>
          <p:cNvSpPr txBox="1"/>
          <p:nvPr>
            <p:ph type="title"/>
          </p:nvPr>
        </p:nvSpPr>
        <p:spPr>
          <a:xfrm>
            <a:off x="324000" y="748775"/>
            <a:ext cx="537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equivalent fraction to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/>
              <a:t> should be used in solving this equation?</a:t>
            </a:r>
            <a:endParaRPr/>
          </a:p>
        </p:txBody>
      </p:sp>
      <p:sp>
        <p:nvSpPr>
          <p:cNvPr id="1022" name="Google Shape;1022;p8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x+1}{3}=\frac{7x-12}{9}&quot;&gt;&lt;mfrac&gt;&lt;mrow&gt;&lt;mn&gt;4&lt;/mn&gt;&lt;mi&gt;x&lt;/mi&gt;&lt;mo&gt;+&lt;/mo&gt;&lt;mn&gt;1&lt;/mn&gt;&lt;/mrow&gt;&lt;mn&gt;3&lt;/mn&gt;&lt;/mfrac&gt;&lt;mo&gt;=&lt;/mo&gt;&lt;mfrac&gt;&lt;mrow&gt;&lt;mn&gt;7&lt;/mn&gt;&lt;mi&gt;x&lt;/mi&gt;&lt;mo&gt;−&lt;/mo&gt;&lt;mn&gt;12&lt;/mn&gt;&lt;/mrow&gt;&lt;mn&gt;9&lt;/mn&gt;&lt;/mfrac&gt;&lt;/math&gt;" id="1023" name="Google Shape;1023;p81" title="the fraction with numerator 4 x plus 1 and denominator 3 equals the fraction with numerator 7 x minus 12 and denominator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3770" y="1253183"/>
            <a:ext cx="2257257" cy="620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x+1}{3}\times1=\frac{7x-12}{9}&quot;&gt;&lt;mfrac&gt;&lt;mrow&gt;&lt;mn&gt;4&lt;/mn&gt;&lt;mi&gt;x&lt;/mi&gt;&lt;mo&gt;+&lt;/mo&gt;&lt;mn&gt;1&lt;/mn&gt;&lt;/mrow&gt;&lt;mn&gt;3&lt;/mn&gt;&lt;/mfrac&gt;&lt;mo&gt;×&lt;/mo&gt;&lt;mn&gt;1&lt;/mn&gt;&lt;mo&gt;=&lt;/mo&gt;&lt;mfrac&gt;&lt;mrow&gt;&lt;mn&gt;7&lt;/mn&gt;&lt;mi&gt;x&lt;/mi&gt;&lt;mo&gt;−&lt;/mo&gt;&lt;mn&gt;12&lt;/mn&gt;&lt;/mrow&gt;&lt;mn&gt;9&lt;/mn&gt;&lt;/mfrac&gt;&lt;/math&gt;" id="1024" name="Google Shape;1024;p81" title="the fraction with numerator 4 x plus 1 and denominator 3 times 1 equals the fraction with numerator 7 x minus 12 and denominator 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5339" y="2098728"/>
            <a:ext cx="2726949" cy="620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x+1}{3}\times\frac{3}{3}=\frac{7x-12}{9}&quot;&gt;&lt;mfrac&gt;&lt;mrow&gt;&lt;mn&gt;4&lt;/mn&gt;&lt;mi&gt;x&lt;/mi&gt;&lt;mo&gt;+&lt;/mo&gt;&lt;mn&gt;1&lt;/mn&gt;&lt;/mrow&gt;&lt;mn&gt;3&lt;/mn&gt;&lt;/mfrac&gt;&lt;mo&gt;×&lt;/mo&gt;&lt;mfrac&gt;&lt;mn&gt;3&lt;/mn&gt;&lt;mn&gt;3&lt;/mn&gt;&lt;/mfrac&gt;&lt;mo&gt;=&lt;/mo&gt;&lt;mfrac&gt;&lt;mrow&gt;&lt;mn&gt;7&lt;/mn&gt;&lt;mi&gt;x&lt;/mi&gt;&lt;mo&gt;−&lt;/mo&gt;&lt;mn&gt;12&lt;/mn&gt;&lt;/mrow&gt;&lt;mn&gt;9&lt;/mn&gt;&lt;/mfrac&gt;&lt;/math&gt;" id="1025" name="Google Shape;1025;p81" title="the fraction with numerator 4 x plus 1 and denominator 3 times three thirds equals the fraction with numerator 7 x minus 12 and denominator 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28528" y="2931081"/>
            <a:ext cx="2836392" cy="620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\left(4x+1\right)}{9}=\frac{7x-12}{9}&quot;&gt;&lt;mfrac&gt;&lt;mrow&gt;&lt;mn&gt;3&lt;/mn&gt;&lt;mrow data-mjx-texclass=&quot;INNER&quot;&gt;&lt;mo data-mjx-texclass=&quot;OPEN&quot;&gt;(&lt;/mo&gt;&lt;mn&gt;4&lt;/mn&gt;&lt;mi&gt;x&lt;/mi&gt;&lt;mo&gt;+&lt;/mo&gt;&lt;mn&gt;1&lt;/mn&gt;&lt;mo data-mjx-texclass=&quot;CLOSE&quot;&gt;)&lt;/mo&gt;&lt;/mrow&gt;&lt;/mrow&gt;&lt;mn&gt;9&lt;/mn&gt;&lt;/mfrac&gt;&lt;mo&gt;=&lt;/mo&gt;&lt;mfrac&gt;&lt;mrow&gt;&lt;mn&gt;7&lt;/mn&gt;&lt;mi&gt;x&lt;/mi&gt;&lt;mo&gt;−&lt;/mo&gt;&lt;mn&gt;12&lt;/mn&gt;&lt;/mrow&gt;&lt;mn&gt;9&lt;/mn&gt;&lt;/mfrac&gt;&lt;/math&gt;" id="1026" name="Google Shape;1026;p81" title="3 times open paren 4 x plus 1 close paren over 9 equals the fraction with numerator 7 x minus 12 and denominator 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66289" y="3760161"/>
            <a:ext cx="2713268" cy="6384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3}{3}&quot;&gt;&lt;mo&gt;×&lt;/mo&gt;&lt;mfrac&gt;&lt;mn&gt;3&lt;/mn&gt;&lt;mn&gt;3&lt;/mn&gt;&lt;/mfrac&gt;&lt;/math&gt;" id="1027" name="Google Shape;1027;p81" title="times three third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90600" y="1643525"/>
            <a:ext cx="472102" cy="7291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9}{9}&quot;&gt;&lt;mo&gt;×&lt;/mo&gt;&lt;mfrac&gt;&lt;mn&gt;9&lt;/mn&gt;&lt;mn&gt;9&lt;/mn&gt;&lt;/mfrac&gt;&lt;/math&gt;" id="1028" name="Google Shape;1028;p81" title="times nine ni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90600" y="3630295"/>
            <a:ext cx="472110" cy="72425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times\frac{2}{2}&quot;&gt;&lt;mo&gt;×&lt;/mo&gt;&lt;mfrac&gt;&lt;mn&gt;2&lt;/mn&gt;&lt;mn&gt;2&lt;/mn&gt;&lt;/mfrac&gt;&lt;/math&gt;" id="1029" name="Google Shape;1029;p81" title="times two halve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90600" y="2639348"/>
            <a:ext cx="479289" cy="724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0" name="Google Shape;1030;p8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679583" y="18619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1" name="Google Shape;1031;p81"/>
          <p:cNvSpPr txBox="1"/>
          <p:nvPr/>
        </p:nvSpPr>
        <p:spPr>
          <a:xfrm>
            <a:off x="4500611" y="4546841"/>
            <a:ext cx="4132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+ 1) = 7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− 12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c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an be solved.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81"/>
          <p:cNvSpPr txBox="1"/>
          <p:nvPr/>
        </p:nvSpPr>
        <p:spPr>
          <a:xfrm>
            <a:off x="2290804" y="1727450"/>
            <a:ext cx="2727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only one that gives us equal denominators.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x+5}{4}\times\frac{3}{3}=\frac{4x-5}{6}\times\frac{2}{2}&quot;&gt;&lt;mfrac&gt;&lt;mrow&gt;&lt;mi&gt;x&lt;/mi&gt;&lt;mo&gt;+&lt;/mo&gt;&lt;mn&gt;5&lt;/mn&gt;&lt;/mrow&gt;&lt;mn&gt;4&lt;/mn&gt;&lt;/mfrac&gt;&lt;mo&gt;×&lt;/mo&gt;&lt;mfrac&gt;&lt;mn&gt;3&lt;/mn&gt;&lt;mn&gt;3&lt;/mn&gt;&lt;/mfrac&gt;&lt;mo&gt;=&lt;/mo&gt;&lt;mfrac&gt;&lt;mrow&gt;&lt;mn&gt;4&lt;/mn&gt;&lt;mi&gt;x&lt;/mi&gt;&lt;mo&gt;−&lt;/mo&gt;&lt;mn&gt;5&lt;/mn&gt;&lt;/mrow&gt;&lt;mn&gt;6&lt;/mn&gt;&lt;/mfrac&gt;&lt;mo&gt;×&lt;/mo&gt;&lt;mfrac&gt;&lt;mn&gt;2&lt;/mn&gt;&lt;mn&gt;2&lt;/mn&gt;&lt;/mfrac&gt;&lt;/math&gt;" id="1037" name="Google Shape;1037;p82" title="the fraction with numerator x plus 5 and denominator 4 times three thirds equals the fraction with numerator 4 x minus 5 and denominator 6 times two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00" y="1998332"/>
            <a:ext cx="308605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2"/>
          <p:cNvSpPr txBox="1"/>
          <p:nvPr>
            <p:ph idx="1" type="body"/>
          </p:nvPr>
        </p:nvSpPr>
        <p:spPr>
          <a:xfrm>
            <a:off x="324000" y="759300"/>
            <a:ext cx="7461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have to manipulate both fractions.</a:t>
            </a:r>
            <a:endParaRPr/>
          </a:p>
        </p:txBody>
      </p:sp>
      <p:sp>
        <p:nvSpPr>
          <p:cNvPr id="1039" name="Google Shape;1039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x+5}{4}=\frac{4x-5}{6}&quot;&gt;&lt;mfrac&gt;&lt;mrow&gt;&lt;mi&gt;x&lt;/mi&gt;&lt;mo&gt;+&lt;/mo&gt;&lt;mn&gt;5&lt;/mn&gt;&lt;/mrow&gt;&lt;mn&gt;4&lt;/mn&gt;&lt;/mfrac&gt;&lt;mo&gt;=&lt;/mo&gt;&lt;mfrac&gt;&lt;mrow&gt;&lt;mn&gt;4&lt;/mn&gt;&lt;mi&gt;x&lt;/mi&gt;&lt;mo&gt;−&lt;/mo&gt;&lt;mn&gt;5&lt;/mn&gt;&lt;/mrow&gt;&lt;mn&gt;6&lt;/mn&gt;&lt;/mfrac&gt;&lt;/math&gt;" id="1040" name="Google Shape;1040;p82" title="the fraction with numerator x plus 5 and denominator 4 equals the fraction with numerator 4 x minus 5 and denominato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827" y="1212381"/>
            <a:ext cx="19427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+5}{4}\times\frac{6}{6}=\frac{4x-5}{6}\times\frac{4}{4}&quot;&gt;&lt;mfrac&gt;&lt;mrow&gt;&lt;mi&gt;x&lt;/mi&gt;&lt;mo&gt;+&lt;/mo&gt;&lt;mn&gt;5&lt;/mn&gt;&lt;/mrow&gt;&lt;mn&gt;4&lt;/mn&gt;&lt;/mfrac&gt;&lt;mo&gt;×&lt;/mo&gt;&lt;mfrac&gt;&lt;mn&gt;6&lt;/mn&gt;&lt;mn&gt;6&lt;/mn&gt;&lt;/mfrac&gt;&lt;mo&gt;=&lt;/mo&gt;&lt;mfrac&gt;&lt;mrow&gt;&lt;mn&gt;4&lt;/mn&gt;&lt;mi&gt;x&lt;/mi&gt;&lt;mo&gt;−&lt;/mo&gt;&lt;mn&gt;5&lt;/mn&gt;&lt;/mrow&gt;&lt;mn&gt;6&lt;/mn&gt;&lt;/mfrac&gt;&lt;mo&gt;×&lt;/mo&gt;&lt;mfrac&gt;&lt;mn&gt;4&lt;/mn&gt;&lt;mn&gt;4&lt;/mn&gt;&lt;/mfrac&gt;&lt;/math&gt;" id="1041" name="Google Shape;1041;p82" title="the fraction with numerator x plus 5 and denominator 4 times six sixths equals the fraction with numerator 4 x minus 5 and denominator 6 times four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21" y="1992522"/>
            <a:ext cx="308608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+5}{4}=\frac{4x-5}{6}&quot;&gt;&lt;mfrac&gt;&lt;mrow&gt;&lt;mi&gt;x&lt;/mi&gt;&lt;mo&gt;+&lt;/mo&gt;&lt;mn&gt;5&lt;/mn&gt;&lt;/mrow&gt;&lt;mn&gt;4&lt;/mn&gt;&lt;/mfrac&gt;&lt;mo&gt;=&lt;/mo&gt;&lt;mfrac&gt;&lt;mrow&gt;&lt;mn&gt;4&lt;/mn&gt;&lt;mi&gt;x&lt;/mi&gt;&lt;mo&gt;−&lt;/mo&gt;&lt;mn&gt;5&lt;/mn&gt;&lt;/mrow&gt;&lt;mn&gt;6&lt;/mn&gt;&lt;/mfrac&gt;&lt;/math&gt;" id="1042" name="Google Shape;1042;p82" title="the fraction with numerator x plus 5 and denominator 4 equals the fraction with numerator 4 x minus 5 and denominato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5596" y="1212381"/>
            <a:ext cx="19427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3" name="Google Shape;1043;p82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 flipH="1">
            <a:off x="781148" y="2632700"/>
            <a:ext cx="4263526" cy="1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4" name="Google Shape;1044;p82"/>
          <p:cNvSpPr txBox="1"/>
          <p:nvPr/>
        </p:nvSpPr>
        <p:spPr>
          <a:xfrm>
            <a:off x="1153325" y="2783000"/>
            <a:ext cx="36708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We need equal denominators and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 × 6 = 24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so I’m going to start like this.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45" name="Google Shape;1045;p82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123282" y="2718241"/>
            <a:ext cx="2867651" cy="15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046" name="Google Shape;1046;p82"/>
          <p:cNvSpPr txBox="1"/>
          <p:nvPr/>
        </p:nvSpPr>
        <p:spPr>
          <a:xfrm>
            <a:off x="7147502" y="45895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7" name="Google Shape;1047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907730" y="3653400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8" name="Google Shape;1048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flipH="1">
            <a:off x="318462" y="39018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9" name="Google Shape;1049;p82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0" name="Google Shape;1050;p82"/>
          <p:cNvSpPr txBox="1"/>
          <p:nvPr/>
        </p:nvSpPr>
        <p:spPr>
          <a:xfrm>
            <a:off x="2905925" y="4078400"/>
            <a:ext cx="1683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Who is right?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1" name="Google Shape;1051;p82"/>
          <p:cNvSpPr txBox="1"/>
          <p:nvPr/>
        </p:nvSpPr>
        <p:spPr>
          <a:xfrm>
            <a:off x="5324277" y="2890479"/>
            <a:ext cx="24435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LCM of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6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12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so I’m going to start like this.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2" name="Google Shape;1052;p82"/>
          <p:cNvSpPr txBox="1"/>
          <p:nvPr/>
        </p:nvSpPr>
        <p:spPr>
          <a:xfrm>
            <a:off x="2900404" y="4490698"/>
            <a:ext cx="2727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will work.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x+5}{4}\times\frac{3}{3}=\frac{4x-5}{6}\times\frac{2}{2}&quot;&gt;&lt;mfrac&gt;&lt;mrow&gt;&lt;mi&gt;x&lt;/mi&gt;&lt;mo&gt;+&lt;/mo&gt;&lt;mn&gt;5&lt;/mn&gt;&lt;/mrow&gt;&lt;mn&gt;4&lt;/mn&gt;&lt;/mfrac&gt;&lt;mo&gt;×&lt;/mo&gt;&lt;mfrac&gt;&lt;mn&gt;3&lt;/mn&gt;&lt;mn&gt;3&lt;/mn&gt;&lt;/mfrac&gt;&lt;mo&gt;=&lt;/mo&gt;&lt;mfrac&gt;&lt;mrow&gt;&lt;mn&gt;4&lt;/mn&gt;&lt;mi&gt;x&lt;/mi&gt;&lt;mo&gt;−&lt;/mo&gt;&lt;mn&gt;5&lt;/mn&gt;&lt;/mrow&gt;&lt;mn&gt;6&lt;/mn&gt;&lt;/mfrac&gt;&lt;mo&gt;×&lt;/mo&gt;&lt;mfrac&gt;&lt;mn&gt;2&lt;/mn&gt;&lt;mn&gt;2&lt;/mn&gt;&lt;/mfrac&gt;&lt;/math&gt;" id="1057" name="Google Shape;1057;p83" title="the fraction with numerator x plus 5 and denominator 4 times three thirds equals the fraction with numerator 4 x minus 5 and denominator 6 times two halve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800" y="1998332"/>
            <a:ext cx="3086051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83"/>
          <p:cNvSpPr txBox="1"/>
          <p:nvPr>
            <p:ph idx="1" type="body"/>
          </p:nvPr>
        </p:nvSpPr>
        <p:spPr>
          <a:xfrm>
            <a:off x="324000" y="759300"/>
            <a:ext cx="74610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Sometimes we have to manipulate both fractions.</a:t>
            </a:r>
            <a:endParaRPr/>
          </a:p>
        </p:txBody>
      </p:sp>
      <p:sp>
        <p:nvSpPr>
          <p:cNvPr id="1059" name="Google Shape;1059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x+5}{4}=\frac{4x-5}{6}&quot;&gt;&lt;mfrac&gt;&lt;mrow&gt;&lt;mi&gt;x&lt;/mi&gt;&lt;mo&gt;+&lt;/mo&gt;&lt;mn&gt;5&lt;/mn&gt;&lt;/mrow&gt;&lt;mn&gt;4&lt;/mn&gt;&lt;/mfrac&gt;&lt;mo&gt;=&lt;/mo&gt;&lt;mfrac&gt;&lt;mrow&gt;&lt;mn&gt;4&lt;/mn&gt;&lt;mi&gt;x&lt;/mi&gt;&lt;mo&gt;−&lt;/mo&gt;&lt;mn&gt;5&lt;/mn&gt;&lt;/mrow&gt;&lt;mn&gt;6&lt;/mn&gt;&lt;/mfrac&gt;&lt;/math&gt;" id="1060" name="Google Shape;1060;p83" title="the fraction with numerator x plus 5 and denominator 4 equals the fraction with numerator 4 x minus 5 and denominato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4827" y="1212381"/>
            <a:ext cx="1942750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+5}{4}\times\frac{6}{6}=\frac{4x-5}{6}\times\frac{4}{4}&quot;&gt;&lt;mfrac&gt;&lt;mrow&gt;&lt;mi&gt;x&lt;/mi&gt;&lt;mo&gt;+&lt;/mo&gt;&lt;mn&gt;5&lt;/mn&gt;&lt;/mrow&gt;&lt;mn&gt;4&lt;/mn&gt;&lt;/mfrac&gt;&lt;mo&gt;×&lt;/mo&gt;&lt;mfrac&gt;&lt;mn&gt;6&lt;/mn&gt;&lt;mn&gt;6&lt;/mn&gt;&lt;/mfrac&gt;&lt;mo&gt;=&lt;/mo&gt;&lt;mfrac&gt;&lt;mrow&gt;&lt;mn&gt;4&lt;/mn&gt;&lt;mi&gt;x&lt;/mi&gt;&lt;mo&gt;−&lt;/mo&gt;&lt;mn&gt;5&lt;/mn&gt;&lt;/mrow&gt;&lt;mn&gt;6&lt;/mn&gt;&lt;/mfrac&gt;&lt;mo&gt;×&lt;/mo&gt;&lt;mfrac&gt;&lt;mn&gt;4&lt;/mn&gt;&lt;mn&gt;4&lt;/mn&gt;&lt;/mfrac&gt;&lt;/math&gt;" id="1061" name="Google Shape;1061;p83" title="the fraction with numerator x plus 5 and denominator 4 times six sixths equals the fraction with numerator 4 x minus 5 and denominator 6 times four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21" y="1992522"/>
            <a:ext cx="308608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+5}{4}=\frac{4x-5}{6}&quot;&gt;&lt;mfrac&gt;&lt;mrow&gt;&lt;mi&gt;x&lt;/mi&gt;&lt;mo&gt;+&lt;/mo&gt;&lt;mn&gt;5&lt;/mn&gt;&lt;/mrow&gt;&lt;mn&gt;4&lt;/mn&gt;&lt;/mfrac&gt;&lt;mo&gt;=&lt;/mo&gt;&lt;mfrac&gt;&lt;mrow&gt;&lt;mn&gt;4&lt;/mn&gt;&lt;mi&gt;x&lt;/mi&gt;&lt;mo&gt;−&lt;/mo&gt;&lt;mn&gt;5&lt;/mn&gt;&lt;/mrow&gt;&lt;mn&gt;6&lt;/mn&gt;&lt;/mfrac&gt;&lt;/math&gt;" id="1062" name="Google Shape;1062;p83" title="the fraction with numerator x plus 5 and denominator 4 equals the fraction with numerator 4 x minus 5 and denominator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5596" y="1212381"/>
            <a:ext cx="194275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83"/>
          <p:cNvSpPr txBox="1"/>
          <p:nvPr/>
        </p:nvSpPr>
        <p:spPr>
          <a:xfrm>
            <a:off x="7147502" y="4589582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64" name="Google Shape;1064;p8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907730" y="3653400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5" name="Google Shape;1065;p8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318462" y="3901812"/>
            <a:ext cx="727175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83"/>
          <p:cNvSpPr txBox="1"/>
          <p:nvPr/>
        </p:nvSpPr>
        <p:spPr>
          <a:xfrm>
            <a:off x="842950" y="458717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7" name="Google Shape;1067;p83"/>
          <p:cNvSpPr txBox="1"/>
          <p:nvPr/>
        </p:nvSpPr>
        <p:spPr>
          <a:xfrm>
            <a:off x="1842418" y="4163439"/>
            <a:ext cx="3673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Both methods work but,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Aisha’s is slightly more efficient.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6\left(x+5\right)}{24}=\frac{4\left(4x-5\right)}{24}&quot;&gt;&lt;mfrac&gt;&lt;mrow&gt;&lt;mn&gt;6&lt;/mn&gt;&lt;mrow data-mjx-texclass=&quot;INNER&quot;&gt;&lt;mo data-mjx-texclass=&quot;OPEN&quot;&gt;(&lt;/mo&gt;&lt;mi&gt;x&lt;/mi&gt;&lt;mo&gt;+&lt;/mo&gt;&lt;mn&gt;5&lt;/mn&gt;&lt;mo data-mjx-texclass=&quot;CLOSE&quot;&gt;)&lt;/mo&gt;&lt;/mrow&gt;&lt;/mrow&gt;&lt;mn&gt;24&lt;/mn&gt;&lt;/mfrac&gt;&lt;mo&gt;=&lt;/mo&gt;&lt;mfrac&gt;&lt;mrow&gt;&lt;mn&gt;4&lt;/mn&gt;&lt;mrow data-mjx-texclass=&quot;INNER&quot;&gt;&lt;mo data-mjx-texclass=&quot;OPEN&quot;&gt;(&lt;/mo&gt;&lt;mn&gt;4&lt;/mn&gt;&lt;mi&gt;x&lt;/mi&gt;&lt;mo&gt;−&lt;/mo&gt;&lt;mn&gt;5&lt;/mn&gt;&lt;mo data-mjx-texclass=&quot;CLOSE&quot;&gt;)&lt;/mo&gt;&lt;/mrow&gt;&lt;/mrow&gt;&lt;mn&gt;24&lt;/mn&gt;&lt;/mfrac&gt;&lt;/math&gt;" id="1068" name="Google Shape;1068;p83" title="6 times open paren x plus 5 close paren over 24 equals 4 times open paren 4 x minus 5 close paren over 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34711" y="2852949"/>
            <a:ext cx="2614704" cy="5902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\left(x+5\right)}{12}=\frac{2\left(4x-5\right)}{12}&quot;&gt;&lt;mfrac&gt;&lt;mrow&gt;&lt;mn&gt;3&lt;/mn&gt;&lt;mrow data-mjx-texclass=&quot;INNER&quot;&gt;&lt;mo data-mjx-texclass=&quot;OPEN&quot;&gt;(&lt;/mo&gt;&lt;mi&gt;x&lt;/mi&gt;&lt;mo&gt;+&lt;/mo&gt;&lt;mn&gt;5&lt;/mn&gt;&lt;mo data-mjx-texclass=&quot;CLOSE&quot;&gt;)&lt;/mo&gt;&lt;/mrow&gt;&lt;/mrow&gt;&lt;mn&gt;12&lt;/mn&gt;&lt;/mfrac&gt;&lt;mo&gt;=&lt;/mo&gt;&lt;mfrac&gt;&lt;mrow&gt;&lt;mn&gt;2&lt;/mn&gt;&lt;mrow data-mjx-texclass=&quot;INNER&quot;&gt;&lt;mo data-mjx-texclass=&quot;OPEN&quot;&gt;(&lt;/mo&gt;&lt;mn&gt;4&lt;/mn&gt;&lt;mi&gt;x&lt;/mi&gt;&lt;mo&gt;−&lt;/mo&gt;&lt;mn&gt;5&lt;/mn&gt;&lt;mo data-mjx-texclass=&quot;CLOSE&quot;&gt;)&lt;/mo&gt;&lt;/mrow&gt;&lt;/mrow&gt;&lt;mn&gt;12&lt;/mn&gt;&lt;/mfrac&gt;&lt;/math&gt;" id="1069" name="Google Shape;1069;p83" title="3 times open paren x plus 5 close paren over 12 equals 2 times open paren 4 x minus 5 close paren over 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08201" y="2854805"/>
            <a:ext cx="2614704" cy="590281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83"/>
          <p:cNvSpPr txBox="1"/>
          <p:nvPr/>
        </p:nvSpPr>
        <p:spPr>
          <a:xfrm>
            <a:off x="721883" y="3578711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 = 4(4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3"/>
          <p:cNvSpPr txBox="1"/>
          <p:nvPr/>
        </p:nvSpPr>
        <p:spPr>
          <a:xfrm>
            <a:off x="5293883" y="3578711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+ 5) = 2(4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3"/>
          <p:cNvSpPr txBox="1"/>
          <p:nvPr/>
        </p:nvSpPr>
        <p:spPr>
          <a:xfrm>
            <a:off x="5338797" y="4035900"/>
            <a:ext cx="2165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+ 15 = 8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− 10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83"/>
          <p:cNvSpPr txBox="1"/>
          <p:nvPr/>
        </p:nvSpPr>
        <p:spPr>
          <a:xfrm>
            <a:off x="6058290" y="4493100"/>
            <a:ext cx="10761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5x+2}{6}=\frac{13\ -\ x}{9}&quot;&gt;&lt;mfrac&gt;&lt;mrow&gt;&lt;mn&gt;5&lt;/mn&gt;&lt;mi&gt;x&lt;/mi&gt;&lt;mo&gt;+&lt;/mo&gt;&lt;mn&gt;2&lt;/mn&gt;&lt;/mrow&gt;&lt;mn&gt;6&lt;/mn&gt;&lt;/mfrac&gt;&lt;mo&gt;=&lt;/mo&gt;&lt;mfrac&gt;&lt;mrow&gt;&lt;mn&gt;13&lt;/mn&gt;&lt;mtext&gt;&lt;/mtext&gt;&lt;mo&gt;−&lt;/mo&gt;&lt;mtext&gt;&lt;/mtext&gt;&lt;mi&gt;x&lt;/mi&gt;&lt;/mrow&gt;&lt;mn&gt;9&lt;/mn&gt;&lt;/mfrac&gt;&lt;/math&gt;" id="1078" name="Google Shape;1078;p84" title="the fraction with numerator 5 x plus 2 and denominator 6 equals the fraction with numerator 13 minus x and denominator 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679" y="1085661"/>
            <a:ext cx="2233904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4"/>
          <p:cNvSpPr txBox="1"/>
          <p:nvPr>
            <p:ph idx="1" type="subTitle"/>
          </p:nvPr>
        </p:nvSpPr>
        <p:spPr>
          <a:xfrm>
            <a:off x="324000" y="1035079"/>
            <a:ext cx="42480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To solve this equation we need only manipulate the fraction on the LHS.</a:t>
            </a:r>
            <a:endParaRPr sz="1900"/>
          </a:p>
        </p:txBody>
      </p:sp>
      <p:sp>
        <p:nvSpPr>
          <p:cNvPr id="1080" name="Google Shape;1080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1081" name="Google Shape;1081;p84"/>
          <p:cNvSpPr txBox="1"/>
          <p:nvPr>
            <p:ph idx="2" type="subTitle"/>
          </p:nvPr>
        </p:nvSpPr>
        <p:spPr>
          <a:xfrm>
            <a:off x="980575" y="3043725"/>
            <a:ext cx="6916500" cy="4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need equal denominators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/>
              <a:t>is not a factor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× 9 = 54</a:t>
            </a:r>
            <a:r>
              <a:rPr lang="en-GB" sz="2000"/>
              <a:t> so we should make the denominators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54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82" name="Google Shape;1082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7783" y="186196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1783" y="4147968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84"/>
          <p:cNvSpPr txBox="1"/>
          <p:nvPr>
            <p:ph idx="2" type="subTitle"/>
          </p:nvPr>
        </p:nvSpPr>
        <p:spPr>
          <a:xfrm>
            <a:off x="980575" y="3958125"/>
            <a:ext cx="6916500" cy="43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need equal denominators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/>
              <a:t>is not a factor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2000"/>
              <a:t> </a:t>
            </a:r>
            <a:r>
              <a:rPr lang="en-GB" sz="2000"/>
              <a:t>The LCM of</a:t>
            </a:r>
            <a:r>
              <a:rPr lang="en-GB" sz="18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/>
              <a:t>and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9 </a:t>
            </a:r>
            <a:r>
              <a:rPr lang="en-GB" sz="2000"/>
              <a:t>is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18</a:t>
            </a:r>
            <a:r>
              <a:rPr lang="en-GB" sz="2000"/>
              <a:t> so we should use that.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x-5}{10}=\frac{2x+1}{10}&quot;&gt;&lt;mfrac&gt;&lt;mrow&gt;&lt;mn&gt;3&lt;/mn&gt;&lt;mi&gt;x&lt;/mi&gt;&lt;mo&gt;−&lt;/mo&gt;&lt;mn&gt;5&lt;/mn&gt;&lt;/mrow&gt;&lt;mn&gt;10&lt;/mn&gt;&lt;/mfrac&gt;&lt;mo&gt;=&lt;/mo&gt;&lt;mfrac&gt;&lt;mrow&gt;&lt;mn&gt;2&lt;/mn&gt;&lt;mi&gt;x&lt;/mi&gt;&lt;mo&gt;+&lt;/mo&gt;&lt;mn&gt;1&lt;/mn&gt;&lt;/mrow&gt;&lt;mn&gt;10&lt;/mn&gt;&lt;/mfrac&gt;&lt;/math&gt;" id="1089" name="Google Shape;1089;p85" title="the fraction with numerator 3 x minus 5 and denominator 10 equals the fraction with numerator 2 x plus 1 and denominato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991" y="3014721"/>
            <a:ext cx="1885559" cy="55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\times\frac{1}{5}=\frac{2x+1}{10}&quot;&gt;&lt;mfrac&gt;&lt;mrow&gt;&lt;mn&gt;3&lt;/mn&gt;&lt;mi&gt;x&lt;/mi&gt;&lt;mo&gt;−&lt;/mo&gt;&lt;mn&gt;5&lt;/mn&gt;&lt;/mrow&gt;&lt;mn&gt;2&lt;/mn&gt;&lt;/mfrac&gt;&lt;mo&gt;×&lt;/mo&gt;&lt;mfrac&gt;&lt;mn&gt;1&lt;/mn&gt;&lt;mn&gt;5&lt;/mn&gt;&lt;/mfrac&gt;&lt;mo&gt;=&lt;/mo&gt;&lt;mfrac&gt;&lt;mrow&gt;&lt;mn&gt;2&lt;/mn&gt;&lt;mi&gt;x&lt;/mi&gt;&lt;mo&gt;+&lt;/mo&gt;&lt;mn&gt;1&lt;/mn&gt;&lt;/mrow&gt;&lt;mn&gt;10&lt;/mn&gt;&lt;/mfrac&gt;&lt;/math&gt;" id="1090" name="Google Shape;1090;p85" title="the fraction with numerator 3 x minus 5 and denominator 2 times one fifth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009" y="2286412"/>
            <a:ext cx="2386321" cy="5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1" name="Google Shape;1091;p85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</a:t>
            </a:r>
            <a:r>
              <a:rPr lang="en-GB" sz="2000"/>
              <a:t>) Where is the error in this attempted solution?  Find the error and write a sentence explaining why it is wrong.</a:t>
            </a:r>
            <a:endParaRPr sz="2000"/>
          </a:p>
        </p:txBody>
      </p:sp>
      <p:sp>
        <p:nvSpPr>
          <p:cNvPr id="1092" name="Google Shape;1092;p8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id="1093" name="Google Shape;1093;p85" title="the fraction with numerator 3 x minus 5 and denominator 2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5174" y="1572843"/>
            <a:ext cx="1885452" cy="55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094" name="Google Shape;1094;p85"/>
          <p:cNvSpPr txBox="1"/>
          <p:nvPr/>
        </p:nvSpPr>
        <p:spPr>
          <a:xfrm>
            <a:off x="1954726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5" name="Google Shape;1095;p85"/>
          <p:cNvSpPr txBox="1"/>
          <p:nvPr/>
        </p:nvSpPr>
        <p:spPr>
          <a:xfrm>
            <a:off x="2104713" y="4135403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85"/>
          <p:cNvSpPr txBox="1"/>
          <p:nvPr/>
        </p:nvSpPr>
        <p:spPr>
          <a:xfrm>
            <a:off x="2541863" y="4550095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6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2</a:t>
            </a:r>
            <a:r>
              <a:rPr lang="en-GB" sz="1900"/>
              <a:t>) Aisha successfully solved two equations. Fill in the missing blanks in her working.</a:t>
            </a:r>
            <a:endParaRPr sz="1900"/>
          </a:p>
        </p:txBody>
      </p:sp>
      <p:sp>
        <p:nvSpPr>
          <p:cNvPr id="1102" name="Google Shape;1102;p8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id="1103" name="Google Shape;1103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88" y="1474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id="1104" name="Google Shape;1104;p86" title="the fraction with numerator 3 x minus 5 and denominator 2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574" y="1119636"/>
            <a:ext cx="1885452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\times\frac{5}{5}=\frac{2x+1}{10}&quot;&gt;&lt;mfrac&gt;&lt;mrow&gt;&lt;mn&gt;3&lt;/mn&gt;&lt;mi&gt;x&lt;/mi&gt;&lt;mo&gt;−&lt;/mo&gt;&lt;mn&gt;5&lt;/mn&gt;&lt;/mrow&gt;&lt;mn&gt;2&lt;/mn&gt;&lt;/mfrac&gt;&lt;mo&gt;×&lt;/mo&gt;&lt;mfrac&gt;&lt;mn&gt;5&lt;/mn&gt;&lt;mn&gt;5&lt;/mn&gt;&lt;/mfrac&gt;&lt;mo&gt;=&lt;/mo&gt;&lt;mfrac&gt;&lt;mrow&gt;&lt;mn&gt;2&lt;/mn&gt;&lt;mi&gt;x&lt;/mi&gt;&lt;mo&gt;+&lt;/mo&gt;&lt;mn&gt;1&lt;/mn&gt;&lt;/mrow&gt;&lt;mn&gt;10&lt;/mn&gt;&lt;/mfrac&gt;&lt;/math&gt;" id="1105" name="Google Shape;1105;p86" title="the fraction with numerator 3 x minus 5 and denominator 2 times five fifths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408" y="1814054"/>
            <a:ext cx="2386273" cy="554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3x-5\right)}{10}=\frac{2x+1}{10}&quot;&gt;&lt;mfrac&gt;&lt;mrow&gt;&lt;mn&gt;5&lt;/mn&gt;&lt;mrow data-mjx-texclass=&quot;INNER&quot;&gt;&lt;mo data-mjx-texclass=&quot;OPEN&quot;&gt;(&lt;/mo&gt;&lt;mn&gt;3&lt;/mn&gt;&lt;mi&gt;x&lt;/mi&gt;&lt;mo&gt;−&lt;/mo&gt;&lt;mn&gt;5&lt;/mn&gt;&lt;mo data-mjx-texclass=&quot;CLOSE&quot;&gt;)&lt;/mo&gt;&lt;/mrow&gt;&lt;/mrow&gt;&lt;mn&gt;10&lt;/mn&gt;&lt;/mfrac&gt;&lt;mo&gt;=&lt;/mo&gt;&lt;mfrac&gt;&lt;mrow&gt;&lt;mn&gt;2&lt;/mn&gt;&lt;mi&gt;x&lt;/mi&gt;&lt;mo&gt;+&lt;/mo&gt;&lt;mn&gt;1&lt;/mn&gt;&lt;/mrow&gt;&lt;mn&gt;10&lt;/mn&gt;&lt;/mfrac&gt;&lt;/math&gt;" id="1106" name="Google Shape;1106;p86" title="5 times open paren 3 x minus 5 close paren over 10 equals the fraction with numerator 2 x plus 1 and denominator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3482" y="2535684"/>
            <a:ext cx="2210571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-x}{3}=\frac{3-x}{5}&quot;&gt;&lt;mfrac&gt;&lt;mrow&gt;&lt;mn&gt;5&lt;/mn&gt;&lt;mo&gt;−&lt;/mo&gt;&lt;mi&gt;x&lt;/mi&gt;&lt;/mrow&gt;&lt;mn&gt;3&lt;/mn&gt;&lt;/mfrac&gt;&lt;mo&gt;=&lt;/mo&gt;&lt;mfrac&gt;&lt;mrow&gt;&lt;mn&gt;3&lt;/mn&gt;&lt;mo&gt;−&lt;/mo&gt;&lt;mi&gt;x&lt;/mi&gt;&lt;/mrow&gt;&lt;mn&gt;5&lt;/mn&gt;&lt;/mfrac&gt;&lt;/math&gt;" id="1107" name="Google Shape;1107;p86" title="the fraction with numerator 5 minus x and denominator 3 equals the fraction with numerator 3 minus x and denominator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0101" y="1125211"/>
            <a:ext cx="1609071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-x}{3}\times\frac{5}{5}=\frac{3-x}{5}\times\frac{3}{3}&quot;&gt;&lt;mfrac&gt;&lt;mrow&gt;&lt;mn&gt;5&lt;/mn&gt;&lt;mo&gt;−&lt;/mo&gt;&lt;mi&gt;x&lt;/mi&gt;&lt;/mrow&gt;&lt;mn&gt;3&lt;/mn&gt;&lt;/mfrac&gt;&lt;mo&gt;×&lt;/mo&gt;&lt;mfrac&gt;&lt;mn&gt;5&lt;/mn&gt;&lt;mn&gt;5&lt;/mn&gt;&lt;/mfrac&gt;&lt;mo&gt;=&lt;/mo&gt;&lt;mfrac&gt;&lt;mrow&gt;&lt;mn&gt;3&lt;/mn&gt;&lt;mo&gt;−&lt;/mo&gt;&lt;mi&gt;x&lt;/mi&gt;&lt;/mrow&gt;&lt;mn&gt;5&lt;/mn&gt;&lt;/mfrac&gt;&lt;mo&gt;×&lt;/mo&gt;&lt;mfrac&gt;&lt;mn&gt;3&lt;/mn&gt;&lt;mn&gt;3&lt;/mn&gt;&lt;/mfrac&gt;&lt;/math&gt;" id="1108" name="Google Shape;1108;p86" title="the fraction with numerator 5 minus x and denominator 3 times five fifths equals the fraction with numerator 3 minus x and denominator 5 times thre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26361" y="1812318"/>
            <a:ext cx="2634159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5-x\right)}{15}=\frac{3\left(3-x\right)}{15}&quot;&gt;&lt;mfrac&gt;&lt;mrow&gt;&lt;mn&gt;5&lt;/mn&gt;&lt;mrow data-mjx-texclass=&quot;INNER&quot;&gt;&lt;mo data-mjx-texclass=&quot;OPEN&quot;&gt;(&lt;/mo&gt;&lt;mn&gt;5&lt;/mn&gt;&lt;mo&gt;−&lt;/mo&gt;&lt;mi&gt;x&lt;/mi&gt;&lt;mo data-mjx-texclass=&quot;CLOSE&quot;&gt;)&lt;/mo&gt;&lt;/mrow&gt;&lt;/mrow&gt;&lt;mn&gt;15&lt;/mn&gt;&lt;/mfrac&gt;&lt;mo&gt;=&lt;/mo&gt;&lt;mfrac&gt;&lt;mrow&gt;&lt;mn&gt;3&lt;/mn&gt;&lt;mrow data-mjx-texclass=&quot;INNER&quot;&gt;&lt;mo data-mjx-texclass=&quot;OPEN&quot;&gt;(&lt;/mo&gt;&lt;mn&gt;3&lt;/mn&gt;&lt;mo&gt;−&lt;/mo&gt;&lt;mi&gt;x&lt;/mi&gt;&lt;mo data-mjx-texclass=&quot;CLOSE&quot;&gt;)&lt;/mo&gt;&lt;/mrow&gt;&lt;/mrow&gt;&lt;mn&gt;15&lt;/mn&gt;&lt;/mfrac&gt;&lt;/math&gt;" id="1109" name="Google Shape;1109;p86" title="5 times open paren 5 minus x close paren over 15 equals 3 times open paren 3 minus x close paren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3159" y="2536388"/>
            <a:ext cx="2292973" cy="55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10" name="Google Shape;1110;p86"/>
          <p:cNvSpPr txBox="1"/>
          <p:nvPr/>
        </p:nvSpPr>
        <p:spPr>
          <a:xfrm>
            <a:off x="1791095" y="324263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6"/>
          <p:cNvSpPr txBox="1"/>
          <p:nvPr/>
        </p:nvSpPr>
        <p:spPr>
          <a:xfrm>
            <a:off x="1833604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6"/>
          <p:cNvSpPr txBox="1"/>
          <p:nvPr/>
        </p:nvSpPr>
        <p:spPr>
          <a:xfrm>
            <a:off x="2411924" y="4119348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6"/>
          <p:cNvSpPr txBox="1"/>
          <p:nvPr/>
        </p:nvSpPr>
        <p:spPr>
          <a:xfrm>
            <a:off x="2683033" y="4511575"/>
            <a:ext cx="768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6"/>
          <p:cNvSpPr txBox="1"/>
          <p:nvPr/>
        </p:nvSpPr>
        <p:spPr>
          <a:xfrm>
            <a:off x="5296295" y="324263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5(5 −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3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6"/>
          <p:cNvSpPr txBox="1"/>
          <p:nvPr/>
        </p:nvSpPr>
        <p:spPr>
          <a:xfrm>
            <a:off x="5338804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5 − 5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6"/>
          <p:cNvSpPr txBox="1"/>
          <p:nvPr/>
        </p:nvSpPr>
        <p:spPr>
          <a:xfrm>
            <a:off x="5917124" y="4119348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6"/>
          <p:cNvSpPr txBox="1"/>
          <p:nvPr/>
        </p:nvSpPr>
        <p:spPr>
          <a:xfrm>
            <a:off x="6058294" y="4511575"/>
            <a:ext cx="768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18" name="Google Shape;1118;p86"/>
          <p:cNvGrpSpPr/>
          <p:nvPr/>
        </p:nvGrpSpPr>
        <p:grpSpPr>
          <a:xfrm>
            <a:off x="2614743" y="1823715"/>
            <a:ext cx="229040" cy="554570"/>
            <a:chOff x="6054727" y="2038764"/>
            <a:chExt cx="393000" cy="314400"/>
          </a:xfrm>
        </p:grpSpPr>
        <p:sp>
          <p:nvSpPr>
            <p:cNvPr id="1119" name="Google Shape;1119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0" name="Google Shape;1120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1" name="Google Shape;1121;p86"/>
          <p:cNvGrpSpPr/>
          <p:nvPr/>
        </p:nvGrpSpPr>
        <p:grpSpPr>
          <a:xfrm>
            <a:off x="1646452" y="2474205"/>
            <a:ext cx="229040" cy="337194"/>
            <a:chOff x="6054727" y="2038764"/>
            <a:chExt cx="393000" cy="314400"/>
          </a:xfrm>
        </p:grpSpPr>
        <p:sp>
          <p:nvSpPr>
            <p:cNvPr id="1122" name="Google Shape;1122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3" name="Google Shape;1123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4" name="Google Shape;1124;p86"/>
          <p:cNvGrpSpPr/>
          <p:nvPr/>
        </p:nvGrpSpPr>
        <p:grpSpPr>
          <a:xfrm>
            <a:off x="1612788" y="3272261"/>
            <a:ext cx="294161" cy="337194"/>
            <a:chOff x="6054727" y="2038764"/>
            <a:chExt cx="393000" cy="314400"/>
          </a:xfrm>
        </p:grpSpPr>
        <p:sp>
          <p:nvSpPr>
            <p:cNvPr id="1125" name="Google Shape;1125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6" name="Google Shape;1126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7" name="Google Shape;1127;p86"/>
          <p:cNvGrpSpPr/>
          <p:nvPr/>
        </p:nvGrpSpPr>
        <p:grpSpPr>
          <a:xfrm>
            <a:off x="1798857" y="3709411"/>
            <a:ext cx="294161" cy="337194"/>
            <a:chOff x="6054727" y="2038764"/>
            <a:chExt cx="393000" cy="314400"/>
          </a:xfrm>
        </p:grpSpPr>
        <p:sp>
          <p:nvSpPr>
            <p:cNvPr id="1128" name="Google Shape;1128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9" name="Google Shape;1129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0" name="Google Shape;1130;p86"/>
          <p:cNvGrpSpPr/>
          <p:nvPr/>
        </p:nvGrpSpPr>
        <p:grpSpPr>
          <a:xfrm>
            <a:off x="2549788" y="3709411"/>
            <a:ext cx="294161" cy="337194"/>
            <a:chOff x="6054727" y="2038764"/>
            <a:chExt cx="393000" cy="314400"/>
          </a:xfrm>
        </p:grpSpPr>
        <p:sp>
          <p:nvSpPr>
            <p:cNvPr id="1131" name="Google Shape;1131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2" name="Google Shape;1132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3" name="Google Shape;1133;p86"/>
          <p:cNvGrpSpPr/>
          <p:nvPr/>
        </p:nvGrpSpPr>
        <p:grpSpPr>
          <a:xfrm>
            <a:off x="2411622" y="4121619"/>
            <a:ext cx="398306" cy="337163"/>
            <a:chOff x="6054727" y="2038764"/>
            <a:chExt cx="393000" cy="314400"/>
          </a:xfrm>
        </p:grpSpPr>
        <p:sp>
          <p:nvSpPr>
            <p:cNvPr id="1134" name="Google Shape;1134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5" name="Google Shape;1135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6" name="Google Shape;1136;p86"/>
          <p:cNvGrpSpPr/>
          <p:nvPr/>
        </p:nvGrpSpPr>
        <p:grpSpPr>
          <a:xfrm>
            <a:off x="7480312" y="1823715"/>
            <a:ext cx="229040" cy="554570"/>
            <a:chOff x="6054727" y="2038764"/>
            <a:chExt cx="393000" cy="314400"/>
          </a:xfrm>
        </p:grpSpPr>
        <p:sp>
          <p:nvSpPr>
            <p:cNvPr id="1137" name="Google Shape;1137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8" name="Google Shape;1138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9" name="Google Shape;1139;p86"/>
          <p:cNvGrpSpPr/>
          <p:nvPr/>
        </p:nvGrpSpPr>
        <p:grpSpPr>
          <a:xfrm>
            <a:off x="6469513" y="2474205"/>
            <a:ext cx="229040" cy="337194"/>
            <a:chOff x="6054727" y="2038764"/>
            <a:chExt cx="393000" cy="314400"/>
          </a:xfrm>
        </p:grpSpPr>
        <p:sp>
          <p:nvSpPr>
            <p:cNvPr id="1140" name="Google Shape;1140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1" name="Google Shape;1141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2" name="Google Shape;1142;p86"/>
          <p:cNvGrpSpPr/>
          <p:nvPr/>
        </p:nvGrpSpPr>
        <p:grpSpPr>
          <a:xfrm>
            <a:off x="6390900" y="3274721"/>
            <a:ext cx="229040" cy="337194"/>
            <a:chOff x="6054727" y="2038764"/>
            <a:chExt cx="393000" cy="314400"/>
          </a:xfrm>
        </p:grpSpPr>
        <p:sp>
          <p:nvSpPr>
            <p:cNvPr id="1143" name="Google Shape;1143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4" name="Google Shape;1144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5" name="Google Shape;1145;p86"/>
          <p:cNvGrpSpPr/>
          <p:nvPr/>
        </p:nvGrpSpPr>
        <p:grpSpPr>
          <a:xfrm>
            <a:off x="6413361" y="3695818"/>
            <a:ext cx="229040" cy="337194"/>
            <a:chOff x="6054727" y="2038764"/>
            <a:chExt cx="393000" cy="314400"/>
          </a:xfrm>
        </p:grpSpPr>
        <p:sp>
          <p:nvSpPr>
            <p:cNvPr id="1146" name="Google Shape;1146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7" name="Google Shape;1147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8" name="Google Shape;1148;p86"/>
          <p:cNvGrpSpPr/>
          <p:nvPr/>
        </p:nvGrpSpPr>
        <p:grpSpPr>
          <a:xfrm>
            <a:off x="6912853" y="3695744"/>
            <a:ext cx="294160" cy="337163"/>
            <a:chOff x="6054727" y="2038764"/>
            <a:chExt cx="393000" cy="314400"/>
          </a:xfrm>
        </p:grpSpPr>
        <p:sp>
          <p:nvSpPr>
            <p:cNvPr id="1149" name="Google Shape;1149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0" name="Google Shape;1150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1" name="Google Shape;1151;p86"/>
          <p:cNvGrpSpPr/>
          <p:nvPr/>
        </p:nvGrpSpPr>
        <p:grpSpPr>
          <a:xfrm>
            <a:off x="6484520" y="4110435"/>
            <a:ext cx="294161" cy="337163"/>
            <a:chOff x="6054727" y="2038764"/>
            <a:chExt cx="393000" cy="314400"/>
          </a:xfrm>
        </p:grpSpPr>
        <p:sp>
          <p:nvSpPr>
            <p:cNvPr id="1152" name="Google Shape;1152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3" name="Google Shape;1153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4" name="Google Shape;1154;p86"/>
          <p:cNvGrpSpPr/>
          <p:nvPr/>
        </p:nvGrpSpPr>
        <p:grpSpPr>
          <a:xfrm>
            <a:off x="6484520" y="4525126"/>
            <a:ext cx="294161" cy="337163"/>
            <a:chOff x="6054727" y="2038764"/>
            <a:chExt cx="393000" cy="314400"/>
          </a:xfrm>
        </p:grpSpPr>
        <p:sp>
          <p:nvSpPr>
            <p:cNvPr id="1155" name="Google Shape;1155;p86"/>
            <p:cNvSpPr/>
            <p:nvPr/>
          </p:nvSpPr>
          <p:spPr>
            <a:xfrm>
              <a:off x="6054727" y="2038764"/>
              <a:ext cx="393000" cy="314400"/>
            </a:xfrm>
            <a:prstGeom prst="rect">
              <a:avLst/>
            </a:prstGeom>
            <a:solidFill>
              <a:srgbClr val="EAF2F2"/>
            </a:solidFill>
            <a:ln cap="flat" cmpd="sng" w="9525">
              <a:solidFill>
                <a:srgbClr val="EAF2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6" name="Google Shape;1156;p86"/>
            <p:cNvCxnSpPr/>
            <p:nvPr/>
          </p:nvCxnSpPr>
          <p:spPr>
            <a:xfrm>
              <a:off x="6085477" y="2319898"/>
              <a:ext cx="333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7" name="Google Shape;1157;p86"/>
          <p:cNvGrpSpPr/>
          <p:nvPr/>
        </p:nvGrpSpPr>
        <p:grpSpPr>
          <a:xfrm>
            <a:off x="1569900" y="1765938"/>
            <a:ext cx="6172075" cy="3117388"/>
            <a:chOff x="1569900" y="1765938"/>
            <a:chExt cx="6172075" cy="3117388"/>
          </a:xfrm>
        </p:grpSpPr>
        <p:sp>
          <p:nvSpPr>
            <p:cNvPr id="1158" name="Google Shape;1158;p86"/>
            <p:cNvSpPr/>
            <p:nvPr/>
          </p:nvSpPr>
          <p:spPr>
            <a:xfrm>
              <a:off x="2556750" y="1783350"/>
              <a:ext cx="294300" cy="59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9" name="Google Shape;1159;p86"/>
            <p:cNvSpPr/>
            <p:nvPr/>
          </p:nvSpPr>
          <p:spPr>
            <a:xfrm>
              <a:off x="7447675" y="1765938"/>
              <a:ext cx="294300" cy="594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0" name="Google Shape;1160;p86"/>
            <p:cNvSpPr/>
            <p:nvPr/>
          </p:nvSpPr>
          <p:spPr>
            <a:xfrm>
              <a:off x="1569900" y="243217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86"/>
            <p:cNvSpPr/>
            <p:nvPr/>
          </p:nvSpPr>
          <p:spPr>
            <a:xfrm>
              <a:off x="1612725" y="321022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2" name="Google Shape;1162;p86"/>
            <p:cNvSpPr/>
            <p:nvPr/>
          </p:nvSpPr>
          <p:spPr>
            <a:xfrm>
              <a:off x="1798788" y="3671800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3" name="Google Shape;1163;p86"/>
            <p:cNvSpPr/>
            <p:nvPr/>
          </p:nvSpPr>
          <p:spPr>
            <a:xfrm>
              <a:off x="2549725" y="368942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86"/>
            <p:cNvSpPr/>
            <p:nvPr/>
          </p:nvSpPr>
          <p:spPr>
            <a:xfrm>
              <a:off x="2411625" y="4089500"/>
              <a:ext cx="4320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5" name="Google Shape;1165;p86"/>
            <p:cNvSpPr/>
            <p:nvPr/>
          </p:nvSpPr>
          <p:spPr>
            <a:xfrm>
              <a:off x="6469525" y="4504125"/>
              <a:ext cx="3984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6" name="Google Shape;1166;p86"/>
            <p:cNvSpPr/>
            <p:nvPr/>
          </p:nvSpPr>
          <p:spPr>
            <a:xfrm>
              <a:off x="6469525" y="4089463"/>
              <a:ext cx="3984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7" name="Google Shape;1167;p86"/>
            <p:cNvSpPr/>
            <p:nvPr/>
          </p:nvSpPr>
          <p:spPr>
            <a:xfrm>
              <a:off x="6405750" y="3676025"/>
              <a:ext cx="2928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8" name="Google Shape;1168;p86"/>
            <p:cNvSpPr/>
            <p:nvPr/>
          </p:nvSpPr>
          <p:spPr>
            <a:xfrm>
              <a:off x="6913538" y="3674813"/>
              <a:ext cx="2928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9" name="Google Shape;1169;p86"/>
            <p:cNvSpPr/>
            <p:nvPr/>
          </p:nvSpPr>
          <p:spPr>
            <a:xfrm>
              <a:off x="6382423" y="3260825"/>
              <a:ext cx="2289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86"/>
            <p:cNvSpPr/>
            <p:nvPr/>
          </p:nvSpPr>
          <p:spPr>
            <a:xfrm>
              <a:off x="6469585" y="2437309"/>
              <a:ext cx="228900" cy="3792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\frac{3x-5}{10}=\frac{2x+1}{10}&quot;&gt;&lt;mfrac&gt;&lt;mrow&gt;&lt;mn&gt;3&lt;/mn&gt;&lt;mi&gt;x&lt;/mi&gt;&lt;mo&gt;−&lt;/mo&gt;&lt;mn&gt;5&lt;/mn&gt;&lt;/mrow&gt;&lt;mn&gt;10&lt;/mn&gt;&lt;/mfrac&gt;&lt;mo&gt;=&lt;/mo&gt;&lt;mfrac&gt;&lt;mrow&gt;&lt;mn&gt;2&lt;/mn&gt;&lt;mi&gt;x&lt;/mi&gt;&lt;mo&gt;+&lt;/mo&gt;&lt;mn&gt;1&lt;/mn&gt;&lt;/mrow&gt;&lt;mn&gt;10&lt;/mn&gt;&lt;/mfrac&gt;&lt;/math&gt;" id="1175" name="Google Shape;1175;p87" title="the fraction with numerator 3 x minus 5 and denominator 10 equals the fraction with numerator 2 x plus 1 and denominator 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991" y="3014721"/>
            <a:ext cx="1885559" cy="55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\times\frac{1}{5}=\frac{2x+1}{10}&quot;&gt;&lt;mfrac&gt;&lt;mrow&gt;&lt;mn&gt;3&lt;/mn&gt;&lt;mi&gt;x&lt;/mi&gt;&lt;mo&gt;−&lt;/mo&gt;&lt;mn&gt;5&lt;/mn&gt;&lt;/mrow&gt;&lt;mn&gt;2&lt;/mn&gt;&lt;/mfrac&gt;&lt;mo&gt;×&lt;/mo&gt;&lt;mfrac&gt;&lt;mn&gt;1&lt;/mn&gt;&lt;mn&gt;5&lt;/mn&gt;&lt;/mfrac&gt;&lt;mo&gt;=&lt;/mo&gt;&lt;mfrac&gt;&lt;mrow&gt;&lt;mn&gt;2&lt;/mn&gt;&lt;mi&gt;x&lt;/mi&gt;&lt;mo&gt;+&lt;/mo&gt;&lt;mn&gt;1&lt;/mn&gt;&lt;/mrow&gt;&lt;mn&gt;10&lt;/mn&gt;&lt;/mfrac&gt;&lt;/math&gt;" id="1176" name="Google Shape;1176;p87" title="the fraction with numerator 3 x minus 5 and denominator 2 times one fifth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6009" y="2286412"/>
            <a:ext cx="2386321" cy="55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87"/>
          <p:cNvSpPr txBox="1"/>
          <p:nvPr>
            <p:ph idx="1" type="body"/>
          </p:nvPr>
        </p:nvSpPr>
        <p:spPr>
          <a:xfrm>
            <a:off x="324000" y="759300"/>
            <a:ext cx="82377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Where is the error in this attempted solution?  Find the error and write a sentence explaining why it is wrong.</a:t>
            </a:r>
            <a:endParaRPr sz="2000"/>
          </a:p>
        </p:txBody>
      </p:sp>
      <p:sp>
        <p:nvSpPr>
          <p:cNvPr id="1178" name="Google Shape;1178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id="1179" name="Google Shape;1179;p87" title="the fraction with numerator 3 x minus 5 and denominator 2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5174" y="1572843"/>
            <a:ext cx="1885452" cy="55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87"/>
          <p:cNvSpPr txBox="1"/>
          <p:nvPr/>
        </p:nvSpPr>
        <p:spPr>
          <a:xfrm>
            <a:off x="1954726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7"/>
          <p:cNvSpPr txBox="1"/>
          <p:nvPr/>
        </p:nvSpPr>
        <p:spPr>
          <a:xfrm>
            <a:off x="2104713" y="4135403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 =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7"/>
          <p:cNvSpPr txBox="1"/>
          <p:nvPr/>
        </p:nvSpPr>
        <p:spPr>
          <a:xfrm>
            <a:off x="2541863" y="4550095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7"/>
          <p:cNvSpPr/>
          <p:nvPr/>
        </p:nvSpPr>
        <p:spPr>
          <a:xfrm>
            <a:off x="2127866" y="2193100"/>
            <a:ext cx="682800" cy="7500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4305700" y="2119675"/>
            <a:ext cx="4514400" cy="96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Multiplying the LHS by a fifth and not doing the same to the RHS means our equation has lost equality at this point.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8"/>
          <p:cNvSpPr txBox="1"/>
          <p:nvPr>
            <p:ph idx="1" type="body"/>
          </p:nvPr>
        </p:nvSpPr>
        <p:spPr>
          <a:xfrm>
            <a:off x="324000" y="759300"/>
            <a:ext cx="8496000" cy="25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900"/>
              <a:t>2) Aisha successfully solved two equations. Fill in the missing blanks in her working.</a:t>
            </a:r>
            <a:endParaRPr sz="2000"/>
          </a:p>
        </p:txBody>
      </p:sp>
      <p:sp>
        <p:nvSpPr>
          <p:cNvPr id="1190" name="Google Shape;1190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id="1191" name="Google Shape;119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588" y="1474879"/>
            <a:ext cx="623346" cy="11770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=\frac{2x+1}{10}&quot;&gt;&lt;mfrac&gt;&lt;mrow&gt;&lt;mn&gt;3&lt;/mn&gt;&lt;mi&gt;x&lt;/mi&gt;&lt;mo&gt;−&lt;/mo&gt;&lt;mn&gt;5&lt;/mn&gt;&lt;/mrow&gt;&lt;mn&gt;2&lt;/mn&gt;&lt;/mfrac&gt;&lt;mo&gt;=&lt;/mo&gt;&lt;mfrac&gt;&lt;mrow&gt;&lt;mn&gt;2&lt;/mn&gt;&lt;mi&gt;x&lt;/mi&gt;&lt;mo&gt;+&lt;/mo&gt;&lt;mn&gt;1&lt;/mn&gt;&lt;/mrow&gt;&lt;mn&gt;10&lt;/mn&gt;&lt;/mfrac&gt;&lt;/math&gt;" id="1192" name="Google Shape;1192;p88" title="the fraction with numerator 3 x minus 5 and denominator 2 equals the fraction with numerator 2 x plus 1 and denominator 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7574" y="1119636"/>
            <a:ext cx="1885452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x-5}{2}\times\frac{5}{5}=\frac{2x+1}{10}&quot;&gt;&lt;mfrac&gt;&lt;mrow&gt;&lt;mn&gt;3&lt;/mn&gt;&lt;mi&gt;x&lt;/mi&gt;&lt;mo&gt;−&lt;/mo&gt;&lt;mn&gt;5&lt;/mn&gt;&lt;/mrow&gt;&lt;mn&gt;2&lt;/mn&gt;&lt;/mfrac&gt;&lt;mo&gt;×&lt;/mo&gt;&lt;mfrac&gt;&lt;mn&gt;5&lt;/mn&gt;&lt;mn&gt;5&lt;/mn&gt;&lt;/mfrac&gt;&lt;mo&gt;=&lt;/mo&gt;&lt;mfrac&gt;&lt;mrow&gt;&lt;mn&gt;2&lt;/mn&gt;&lt;mi&gt;x&lt;/mi&gt;&lt;mo&gt;+&lt;/mo&gt;&lt;mn&gt;1&lt;/mn&gt;&lt;/mrow&gt;&lt;mn&gt;10&lt;/mn&gt;&lt;/mfrac&gt;&lt;/math&gt;" id="1193" name="Google Shape;1193;p88" title="the fraction with numerator 3 x minus 5 and denominator 2 times five fifths equals the fraction with numerator 2 x plus 1 and denominator 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2408" y="1814054"/>
            <a:ext cx="2386273" cy="554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3x-5\right)}{10}=\frac{2x+1}{10}&quot;&gt;&lt;mfrac&gt;&lt;mrow&gt;&lt;mn&gt;5&lt;/mn&gt;&lt;mrow data-mjx-texclass=&quot;INNER&quot;&gt;&lt;mo data-mjx-texclass=&quot;OPEN&quot;&gt;(&lt;/mo&gt;&lt;mn&gt;3&lt;/mn&gt;&lt;mi&gt;x&lt;/mi&gt;&lt;mo&gt;−&lt;/mo&gt;&lt;mn&gt;5&lt;/mn&gt;&lt;mo data-mjx-texclass=&quot;CLOSE&quot;&gt;)&lt;/mo&gt;&lt;/mrow&gt;&lt;/mrow&gt;&lt;mn&gt;10&lt;/mn&gt;&lt;/mfrac&gt;&lt;mo&gt;=&lt;/mo&gt;&lt;mfrac&gt;&lt;mrow&gt;&lt;mn&gt;2&lt;/mn&gt;&lt;mi&gt;x&lt;/mi&gt;&lt;mo&gt;+&lt;/mo&gt;&lt;mn&gt;1&lt;/mn&gt;&lt;/mrow&gt;&lt;mn&gt;10&lt;/mn&gt;&lt;/mfrac&gt;&lt;/math&gt;" id="1194" name="Google Shape;1194;p88" title="5 times open paren 3 x minus 5 close paren over 10 equals the fraction with numerator 2 x plus 1 and denominator 1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03482" y="2535684"/>
            <a:ext cx="2210571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-x}{3}=\frac{3-x}{5}&quot;&gt;&lt;mfrac&gt;&lt;mrow&gt;&lt;mn&gt;5&lt;/mn&gt;&lt;mo&gt;−&lt;/mo&gt;&lt;mi&gt;x&lt;/mi&gt;&lt;/mrow&gt;&lt;mn&gt;3&lt;/mn&gt;&lt;/mfrac&gt;&lt;mo&gt;=&lt;/mo&gt;&lt;mfrac&gt;&lt;mrow&gt;&lt;mn&gt;3&lt;/mn&gt;&lt;mo&gt;−&lt;/mo&gt;&lt;mi&gt;x&lt;/mi&gt;&lt;/mrow&gt;&lt;mn&gt;5&lt;/mn&gt;&lt;/mfrac&gt;&lt;/math&gt;" id="1195" name="Google Shape;1195;p88" title="the fraction with numerator 5 minus x and denominator 3 equals the fraction with numerator 3 minus x and denominator 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30101" y="1125211"/>
            <a:ext cx="1609071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-x}{3}\times\frac{5}{5}=\frac{3-x}{5}\times\frac{3}{3}&quot;&gt;&lt;mfrac&gt;&lt;mrow&gt;&lt;mn&gt;5&lt;/mn&gt;&lt;mo&gt;−&lt;/mo&gt;&lt;mi&gt;x&lt;/mi&gt;&lt;/mrow&gt;&lt;mn&gt;3&lt;/mn&gt;&lt;/mfrac&gt;&lt;mo&gt;×&lt;/mo&gt;&lt;mfrac&gt;&lt;mn&gt;5&lt;/mn&gt;&lt;mn&gt;5&lt;/mn&gt;&lt;/mfrac&gt;&lt;mo&gt;=&lt;/mo&gt;&lt;mfrac&gt;&lt;mrow&gt;&lt;mn&gt;3&lt;/mn&gt;&lt;mo&gt;−&lt;/mo&gt;&lt;mi&gt;x&lt;/mi&gt;&lt;/mrow&gt;&lt;mn&gt;5&lt;/mn&gt;&lt;/mfrac&gt;&lt;mo&gt;×&lt;/mo&gt;&lt;mfrac&gt;&lt;mn&gt;3&lt;/mn&gt;&lt;mn&gt;3&lt;/mn&gt;&lt;/mfrac&gt;&lt;/math&gt;" id="1196" name="Google Shape;1196;p88" title="the fraction with numerator 5 minus x and denominator 3 times five fifths equals the fraction with numerator 3 minus x and denominator 5 times three third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26361" y="1812318"/>
            <a:ext cx="2634159" cy="5545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\left(5-x\right)}{15}=\frac{3\left(3-x\right)}{15}&quot;&gt;&lt;mfrac&gt;&lt;mrow&gt;&lt;mn&gt;5&lt;/mn&gt;&lt;mrow data-mjx-texclass=&quot;INNER&quot;&gt;&lt;mo data-mjx-texclass=&quot;OPEN&quot;&gt;(&lt;/mo&gt;&lt;mn&gt;5&lt;/mn&gt;&lt;mo&gt;−&lt;/mo&gt;&lt;mi&gt;x&lt;/mi&gt;&lt;mo data-mjx-texclass=&quot;CLOSE&quot;&gt;)&lt;/mo&gt;&lt;/mrow&gt;&lt;/mrow&gt;&lt;mn&gt;15&lt;/mn&gt;&lt;/mfrac&gt;&lt;mo&gt;=&lt;/mo&gt;&lt;mfrac&gt;&lt;mrow&gt;&lt;mn&gt;3&lt;/mn&gt;&lt;mrow data-mjx-texclass=&quot;INNER&quot;&gt;&lt;mo data-mjx-texclass=&quot;OPEN&quot;&gt;(&lt;/mo&gt;&lt;mn&gt;3&lt;/mn&gt;&lt;mo&gt;−&lt;/mo&gt;&lt;mi&gt;x&lt;/mi&gt;&lt;mo data-mjx-texclass=&quot;CLOSE&quot;&gt;)&lt;/mo&gt;&lt;/mrow&gt;&lt;/mrow&gt;&lt;mn&gt;15&lt;/mn&gt;&lt;/mfrac&gt;&lt;/math&gt;" id="1197" name="Google Shape;1197;p88" title="5 times open paren 5 minus x close paren over 15 equals 3 times open paren 3 minus x close paren over 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93159" y="2536388"/>
            <a:ext cx="2292973" cy="55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8"/>
          <p:cNvSpPr txBox="1"/>
          <p:nvPr/>
        </p:nvSpPr>
        <p:spPr>
          <a:xfrm>
            <a:off x="1791095" y="324263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− 5)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9" name="Google Shape;1199;p88"/>
          <p:cNvSpPr txBox="1"/>
          <p:nvPr/>
        </p:nvSpPr>
        <p:spPr>
          <a:xfrm>
            <a:off x="1833604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− 25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88"/>
          <p:cNvSpPr txBox="1"/>
          <p:nvPr/>
        </p:nvSpPr>
        <p:spPr>
          <a:xfrm>
            <a:off x="2411924" y="4119348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26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88"/>
          <p:cNvSpPr txBox="1"/>
          <p:nvPr/>
        </p:nvSpPr>
        <p:spPr>
          <a:xfrm>
            <a:off x="2683033" y="4511575"/>
            <a:ext cx="768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2" name="Google Shape;1202;p88"/>
          <p:cNvSpPr txBox="1"/>
          <p:nvPr/>
        </p:nvSpPr>
        <p:spPr>
          <a:xfrm>
            <a:off x="5296295" y="3242632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5(5 −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= 3(3 −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3" name="Google Shape;1203;p88"/>
          <p:cNvSpPr txBox="1"/>
          <p:nvPr/>
        </p:nvSpPr>
        <p:spPr>
          <a:xfrm>
            <a:off x="5338804" y="3704657"/>
            <a:ext cx="2532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25 − 5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9 − 3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4" name="Google Shape;1204;p88"/>
          <p:cNvSpPr txBox="1"/>
          <p:nvPr/>
        </p:nvSpPr>
        <p:spPr>
          <a:xfrm>
            <a:off x="5917124" y="4119348"/>
            <a:ext cx="1223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 = 2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88"/>
          <p:cNvSpPr txBox="1"/>
          <p:nvPr/>
        </p:nvSpPr>
        <p:spPr>
          <a:xfrm>
            <a:off x="6058294" y="4511575"/>
            <a:ext cx="768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06" name="Google Shape;1206;p88"/>
          <p:cNvGrpSpPr/>
          <p:nvPr/>
        </p:nvGrpSpPr>
        <p:grpSpPr>
          <a:xfrm>
            <a:off x="1569900" y="1765938"/>
            <a:ext cx="6172075" cy="3117388"/>
            <a:chOff x="1569900" y="1765938"/>
            <a:chExt cx="6172075" cy="3117388"/>
          </a:xfrm>
        </p:grpSpPr>
        <p:sp>
          <p:nvSpPr>
            <p:cNvPr id="1207" name="Google Shape;1207;p88"/>
            <p:cNvSpPr/>
            <p:nvPr/>
          </p:nvSpPr>
          <p:spPr>
            <a:xfrm>
              <a:off x="2556750" y="1783350"/>
              <a:ext cx="294300" cy="5949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8" name="Google Shape;1208;p88"/>
            <p:cNvSpPr/>
            <p:nvPr/>
          </p:nvSpPr>
          <p:spPr>
            <a:xfrm>
              <a:off x="7447675" y="1765938"/>
              <a:ext cx="294300" cy="5949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88"/>
            <p:cNvSpPr/>
            <p:nvPr/>
          </p:nvSpPr>
          <p:spPr>
            <a:xfrm>
              <a:off x="1569900" y="243217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0" name="Google Shape;1210;p88"/>
            <p:cNvSpPr/>
            <p:nvPr/>
          </p:nvSpPr>
          <p:spPr>
            <a:xfrm>
              <a:off x="1612725" y="321022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1" name="Google Shape;1211;p88"/>
            <p:cNvSpPr/>
            <p:nvPr/>
          </p:nvSpPr>
          <p:spPr>
            <a:xfrm>
              <a:off x="1798788" y="3671800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2" name="Google Shape;1212;p88"/>
            <p:cNvSpPr/>
            <p:nvPr/>
          </p:nvSpPr>
          <p:spPr>
            <a:xfrm>
              <a:off x="2549725" y="3689425"/>
              <a:ext cx="2943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3" name="Google Shape;1213;p88"/>
            <p:cNvSpPr/>
            <p:nvPr/>
          </p:nvSpPr>
          <p:spPr>
            <a:xfrm>
              <a:off x="2411625" y="4089500"/>
              <a:ext cx="4320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4" name="Google Shape;1214;p88"/>
            <p:cNvSpPr/>
            <p:nvPr/>
          </p:nvSpPr>
          <p:spPr>
            <a:xfrm>
              <a:off x="6469525" y="4504125"/>
              <a:ext cx="3984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8"/>
            <p:cNvSpPr/>
            <p:nvPr/>
          </p:nvSpPr>
          <p:spPr>
            <a:xfrm>
              <a:off x="6469525" y="4089463"/>
              <a:ext cx="3984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6" name="Google Shape;1216;p88"/>
            <p:cNvSpPr/>
            <p:nvPr/>
          </p:nvSpPr>
          <p:spPr>
            <a:xfrm>
              <a:off x="6405750" y="3676025"/>
              <a:ext cx="2928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7" name="Google Shape;1217;p88"/>
            <p:cNvSpPr/>
            <p:nvPr/>
          </p:nvSpPr>
          <p:spPr>
            <a:xfrm>
              <a:off x="6913538" y="3674813"/>
              <a:ext cx="2928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8" name="Google Shape;1218;p88"/>
            <p:cNvSpPr/>
            <p:nvPr/>
          </p:nvSpPr>
          <p:spPr>
            <a:xfrm>
              <a:off x="6382423" y="3260825"/>
              <a:ext cx="2289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9" name="Google Shape;1219;p88"/>
            <p:cNvSpPr/>
            <p:nvPr/>
          </p:nvSpPr>
          <p:spPr>
            <a:xfrm>
              <a:off x="6469585" y="2437309"/>
              <a:ext cx="228900" cy="379200"/>
            </a:xfrm>
            <a:prstGeom prst="roundRect">
              <a:avLst>
                <a:gd fmla="val 16667" name="adj"/>
              </a:avLst>
            </a:prstGeom>
            <a:solidFill>
              <a:srgbClr val="E6F2F2"/>
            </a:solidFill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0" name="Google Shape;1220;p88"/>
          <p:cNvGrpSpPr/>
          <p:nvPr/>
        </p:nvGrpSpPr>
        <p:grpSpPr>
          <a:xfrm>
            <a:off x="1569900" y="1768018"/>
            <a:ext cx="6172075" cy="3117388"/>
            <a:chOff x="1569900" y="1765938"/>
            <a:chExt cx="6172075" cy="3117388"/>
          </a:xfrm>
        </p:grpSpPr>
        <p:sp>
          <p:nvSpPr>
            <p:cNvPr id="1221" name="Google Shape;1221;p88"/>
            <p:cNvSpPr/>
            <p:nvPr/>
          </p:nvSpPr>
          <p:spPr>
            <a:xfrm>
              <a:off x="2556750" y="1783350"/>
              <a:ext cx="294300" cy="59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2" name="Google Shape;1222;p88"/>
            <p:cNvSpPr/>
            <p:nvPr/>
          </p:nvSpPr>
          <p:spPr>
            <a:xfrm>
              <a:off x="7447675" y="1765938"/>
              <a:ext cx="294300" cy="5949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3" name="Google Shape;1223;p88"/>
            <p:cNvSpPr/>
            <p:nvPr/>
          </p:nvSpPr>
          <p:spPr>
            <a:xfrm>
              <a:off x="1569900" y="2432175"/>
              <a:ext cx="2943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8"/>
            <p:cNvSpPr/>
            <p:nvPr/>
          </p:nvSpPr>
          <p:spPr>
            <a:xfrm>
              <a:off x="1612725" y="3210225"/>
              <a:ext cx="2943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5" name="Google Shape;1225;p88"/>
            <p:cNvSpPr/>
            <p:nvPr/>
          </p:nvSpPr>
          <p:spPr>
            <a:xfrm>
              <a:off x="1798788" y="3671800"/>
              <a:ext cx="2943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88"/>
            <p:cNvSpPr/>
            <p:nvPr/>
          </p:nvSpPr>
          <p:spPr>
            <a:xfrm>
              <a:off x="2549725" y="3689425"/>
              <a:ext cx="2943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8"/>
            <p:cNvSpPr/>
            <p:nvPr/>
          </p:nvSpPr>
          <p:spPr>
            <a:xfrm>
              <a:off x="2411625" y="4089500"/>
              <a:ext cx="4320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8" name="Google Shape;1228;p88"/>
            <p:cNvSpPr/>
            <p:nvPr/>
          </p:nvSpPr>
          <p:spPr>
            <a:xfrm>
              <a:off x="6469525" y="4504125"/>
              <a:ext cx="3984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9" name="Google Shape;1229;p88"/>
            <p:cNvSpPr/>
            <p:nvPr/>
          </p:nvSpPr>
          <p:spPr>
            <a:xfrm>
              <a:off x="6469525" y="4089463"/>
              <a:ext cx="3984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88"/>
            <p:cNvSpPr/>
            <p:nvPr/>
          </p:nvSpPr>
          <p:spPr>
            <a:xfrm>
              <a:off x="6405750" y="3676025"/>
              <a:ext cx="2928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1" name="Google Shape;1231;p88"/>
            <p:cNvSpPr/>
            <p:nvPr/>
          </p:nvSpPr>
          <p:spPr>
            <a:xfrm>
              <a:off x="6913538" y="3674813"/>
              <a:ext cx="2928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2" name="Google Shape;1232;p88"/>
            <p:cNvSpPr/>
            <p:nvPr/>
          </p:nvSpPr>
          <p:spPr>
            <a:xfrm>
              <a:off x="6382423" y="3260825"/>
              <a:ext cx="2289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88"/>
            <p:cNvSpPr/>
            <p:nvPr/>
          </p:nvSpPr>
          <p:spPr>
            <a:xfrm>
              <a:off x="6469585" y="2437309"/>
              <a:ext cx="228900" cy="379200"/>
            </a:xfrm>
            <a:prstGeom prst="roundRect">
              <a:avLst>
                <a:gd fmla="val 16667" name="adj"/>
              </a:avLst>
            </a:prstGeom>
            <a:noFill/>
            <a:ln cap="flat" cmpd="sng" w="1905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complex linear equations</a:t>
            </a:r>
            <a:endParaRPr/>
          </a:p>
        </p:txBody>
      </p:sp>
      <p:sp>
        <p:nvSpPr>
          <p:cNvPr id="1239" name="Google Shape;1239;p8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sp>
        <p:nvSpPr>
          <p:cNvPr id="1240" name="Google Shape;1240;p8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sp>
        <p:nvSpPr>
          <p:cNvPr id="1241" name="Google Shape;1241;p8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  <p:pic>
        <p:nvPicPr>
          <p:cNvPr id="1242" name="Google Shape;124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36962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7" name="Google Shape;1247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rot="10800000">
            <a:off x="743450" y="3903824"/>
            <a:ext cx="5682550" cy="1008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8" name="Google Shape;1248;p90"/>
          <p:cNvSpPr txBox="1"/>
          <p:nvPr>
            <p:ph idx="1" type="body"/>
          </p:nvPr>
        </p:nvSpPr>
        <p:spPr>
          <a:xfrm>
            <a:off x="324000" y="759300"/>
            <a:ext cx="5495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are discussing this equation.</a:t>
            </a:r>
            <a:endParaRPr sz="2000"/>
          </a:p>
        </p:txBody>
      </p:sp>
      <p:sp>
        <p:nvSpPr>
          <p:cNvPr id="1249" name="Google Shape;124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id="1250" name="Google Shape;125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290" y="3157416"/>
            <a:ext cx="780308" cy="97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9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0139" y="3850578"/>
            <a:ext cx="866781" cy="9615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x}{10}=2&quot;&gt;&lt;mfrac&gt;&lt;mi&gt;x&lt;/mi&gt;&lt;mn&gt;10&lt;/mn&gt;&lt;/mfrac&gt;&lt;mo&gt;=&lt;/mo&gt;&lt;mn&gt;2&lt;/mn&gt;&lt;/math&gt;" id="1252" name="Google Shape;1252;p90" title="x over 10 equals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5626" y="834050"/>
            <a:ext cx="895482" cy="554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642391" y="1653336"/>
            <a:ext cx="3809475" cy="15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4" name="Google Shape;1254;p90"/>
          <p:cNvSpPr txBox="1"/>
          <p:nvPr/>
        </p:nvSpPr>
        <p:spPr>
          <a:xfrm>
            <a:off x="958416" y="1814861"/>
            <a:ext cx="33192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see this as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÷ 10 = 2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so I know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but how do I write that using notation?</a:t>
            </a:r>
            <a:endParaRPr/>
          </a:p>
        </p:txBody>
      </p:sp>
      <p:pic>
        <p:nvPicPr>
          <p:cNvPr id="1255" name="Google Shape;1255;p90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4699765" y="2588300"/>
            <a:ext cx="3173376" cy="15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90"/>
          <p:cNvSpPr txBox="1"/>
          <p:nvPr/>
        </p:nvSpPr>
        <p:spPr>
          <a:xfrm>
            <a:off x="4900766" y="2814275"/>
            <a:ext cx="28677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start by writing the multiplicative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inverse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of the denominator.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10\left(\frac{x}{10}\right)=10\left(2\right)&quot;&gt;&lt;mn&gt;10&lt;/mn&gt;&lt;mrow data-mjx-texclass=&quot;INNER&quot;&gt;&lt;mo data-mjx-texclass=&quot;OPEN&quot;&gt;(&lt;/mo&gt;&lt;mfrac&gt;&lt;mi&gt;x&lt;/mi&gt;&lt;mn&gt;10&lt;/mn&gt;&lt;/mfrac&gt;&lt;mo data-mjx-texclass=&quot;CLOSE&quot;&gt;)&lt;/mo&gt;&lt;/mrow&gt;&lt;mo&gt;=&lt;/mo&gt;&lt;mn&gt;10&lt;/mn&gt;&lt;mrow data-mjx-texclass=&quot;INNER&quot;&gt;&lt;mo data-mjx-texclass=&quot;OPEN&quot;&gt;(&lt;/mo&gt;&lt;mn&gt;2&lt;/mn&gt;&lt;mo data-mjx-texclass=&quot;CLOSE&quot;&gt;)&lt;/mo&gt;&lt;/mrow&gt;&lt;/math&gt;" id="1257" name="Google Shape;1257;p90" title="10 times open paren x over 10 close paren equals 10 times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59139" y="1618500"/>
            <a:ext cx="2002811" cy="530913"/>
          </a:xfrm>
          <a:prstGeom prst="rect">
            <a:avLst/>
          </a:prstGeom>
          <a:noFill/>
          <a:ln>
            <a:noFill/>
          </a:ln>
        </p:spPr>
      </p:pic>
      <p:sp>
        <p:nvSpPr>
          <p:cNvPr id="1258" name="Google Shape;1258;p90"/>
          <p:cNvSpPr txBox="1"/>
          <p:nvPr/>
        </p:nvSpPr>
        <p:spPr>
          <a:xfrm>
            <a:off x="6058301" y="2261680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20</a:t>
            </a:r>
            <a:endParaRPr sz="23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9" name="Google Shape;1259;p90"/>
          <p:cNvSpPr txBox="1"/>
          <p:nvPr/>
        </p:nvSpPr>
        <p:spPr>
          <a:xfrm>
            <a:off x="1229534" y="4058341"/>
            <a:ext cx="50655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see. You had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÷ 10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and you multiplied it by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to leave you with just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9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>
            <a:off x="3798225" y="1859986"/>
            <a:ext cx="5021773" cy="1520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x}=2&quot;&gt;&lt;mfrac&gt;&lt;mn&gt;10&lt;/mn&gt;&lt;mi&gt;x&lt;/mi&gt;&lt;/mfrac&gt;&lt;mo&gt;=&lt;/mo&gt;&lt;mn&gt;2&lt;/mn&gt;&lt;/math&gt;" id="1265" name="Google Shape;1265;p91" title="10 over x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355" y="819650"/>
            <a:ext cx="895500" cy="624113"/>
          </a:xfrm>
          <a:prstGeom prst="rect">
            <a:avLst/>
          </a:prstGeom>
          <a:noFill/>
          <a:ln>
            <a:noFill/>
          </a:ln>
        </p:spPr>
      </p:pic>
      <p:sp>
        <p:nvSpPr>
          <p:cNvPr id="1266" name="Google Shape;1266;p91"/>
          <p:cNvSpPr txBox="1"/>
          <p:nvPr>
            <p:ph idx="1" type="body"/>
          </p:nvPr>
        </p:nvSpPr>
        <p:spPr>
          <a:xfrm>
            <a:off x="324000" y="759300"/>
            <a:ext cx="5495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now try this equation.</a:t>
            </a:r>
            <a:endParaRPr sz="2000"/>
          </a:p>
        </p:txBody>
      </p:sp>
      <p:sp>
        <p:nvSpPr>
          <p:cNvPr id="1267" name="Google Shape;1267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id="1268" name="Google Shape;1268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290" y="3843216"/>
            <a:ext cx="780308" cy="97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9" name="Google Shape;1269;p9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2369" y="3359687"/>
            <a:ext cx="866781" cy="96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0" name="Google Shape;1270;p91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559799" y="2531625"/>
            <a:ext cx="3380301" cy="15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91"/>
          <p:cNvSpPr txBox="1"/>
          <p:nvPr/>
        </p:nvSpPr>
        <p:spPr>
          <a:xfrm>
            <a:off x="882225" y="2729250"/>
            <a:ext cx="2837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Isn’t the multiplicative inverse of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going to be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/>
          </a:p>
        </p:txBody>
      </p:sp>
      <p:sp>
        <p:nvSpPr>
          <p:cNvPr id="1272" name="Google Shape;1272;p91"/>
          <p:cNvSpPr txBox="1"/>
          <p:nvPr/>
        </p:nvSpPr>
        <p:spPr>
          <a:xfrm>
            <a:off x="4078875" y="2074736"/>
            <a:ext cx="4694400" cy="6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But I am very stuck on this one. It looks strange! I’ve never seen an unknown as a denominator before.</a:t>
            </a:r>
            <a:endParaRPr sz="2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3" name="Google Shape;1273;p91"/>
          <p:cNvSpPr txBox="1"/>
          <p:nvPr/>
        </p:nvSpPr>
        <p:spPr>
          <a:xfrm>
            <a:off x="1829625" y="4100850"/>
            <a:ext cx="56937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What do you think?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Would Jun’s idea work?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8" name="Google Shape;1278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 rot="10800000">
            <a:off x="3520341" y="4208634"/>
            <a:ext cx="4615675" cy="59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x}=2&quot;&gt;&lt;mfrac&gt;&lt;mn&gt;10&lt;/mn&gt;&lt;mi&gt;x&lt;/mi&gt;&lt;/mfrac&gt;&lt;mo&gt;=&lt;/mo&gt;&lt;mn&gt;2&lt;/mn&gt;&lt;/math&gt;" id="1279" name="Google Shape;1279;p92" title="10 over x equals 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8355" y="819650"/>
            <a:ext cx="895500" cy="624113"/>
          </a:xfrm>
          <a:prstGeom prst="rect">
            <a:avLst/>
          </a:prstGeom>
          <a:noFill/>
          <a:ln>
            <a:noFill/>
          </a:ln>
        </p:spPr>
      </p:pic>
      <p:sp>
        <p:nvSpPr>
          <p:cNvPr id="1280" name="Google Shape;1280;p92"/>
          <p:cNvSpPr txBox="1"/>
          <p:nvPr>
            <p:ph idx="1" type="body"/>
          </p:nvPr>
        </p:nvSpPr>
        <p:spPr>
          <a:xfrm>
            <a:off x="324000" y="759300"/>
            <a:ext cx="5495700" cy="40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Jun and Sofia now try this equation.</a:t>
            </a:r>
            <a:endParaRPr sz="2000"/>
          </a:p>
        </p:txBody>
      </p:sp>
      <p:sp>
        <p:nvSpPr>
          <p:cNvPr id="1281" name="Google Shape;1281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id="1282" name="Google Shape;128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6290" y="3843216"/>
            <a:ext cx="780308" cy="975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3" name="Google Shape;1283;p9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2369" y="3359687"/>
            <a:ext cx="866781" cy="9615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2"/>
          <p:cNvPicPr preferRelativeResize="0"/>
          <p:nvPr/>
        </p:nvPicPr>
        <p:blipFill rotWithShape="1">
          <a:blip r:embed="rId3">
            <a:alphaModFix/>
          </a:blip>
          <a:srcRect b="0" l="0" r="69082" t="56280"/>
          <a:stretch/>
        </p:blipFill>
        <p:spPr>
          <a:xfrm flipH="1">
            <a:off x="559799" y="2531625"/>
            <a:ext cx="3380301" cy="1520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92"/>
          <p:cNvSpPr txBox="1"/>
          <p:nvPr/>
        </p:nvSpPr>
        <p:spPr>
          <a:xfrm>
            <a:off x="882225" y="2729250"/>
            <a:ext cx="28374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Isn’t the multiplicative inverse of 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÷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going to be 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×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/>
          </a:p>
        </p:txBody>
      </p:sp>
      <p:sp>
        <p:nvSpPr>
          <p:cNvPr id="1286" name="Google Shape;1286;p92"/>
          <p:cNvSpPr txBox="1"/>
          <p:nvPr/>
        </p:nvSpPr>
        <p:spPr>
          <a:xfrm>
            <a:off x="5875725" y="27950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92"/>
          <p:cNvSpPr txBox="1"/>
          <p:nvPr/>
        </p:nvSpPr>
        <p:spPr>
          <a:xfrm>
            <a:off x="3760425" y="4329450"/>
            <a:ext cx="4021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Yes, Jun! That works! 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 5 = 2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x\left(\frac{10}{x}\right)=x\left(2\right)&quot;&gt;&lt;mi&gt;x&lt;/mi&gt;&lt;mrow data-mjx-texclass=&quot;INNER&quot;&gt;&lt;mo data-mjx-texclass=&quot;OPEN&quot;&gt;(&lt;/mo&gt;&lt;mfrac&gt;&lt;mn&gt;10&lt;/mn&gt;&lt;mi&gt;x&lt;/mi&gt;&lt;/mfrac&gt;&lt;mo data-mjx-texclass=&quot;CLOSE&quot;&gt;)&lt;/mo&gt;&lt;/mrow&gt;&lt;mo&gt;=&lt;/mo&gt;&lt;mi&gt;x&lt;/mi&gt;&lt;mrow data-mjx-texclass=&quot;INNER&quot;&gt;&lt;mo data-mjx-texclass=&quot;OPEN&quot;&gt;(&lt;/mo&gt;&lt;mn&gt;2&lt;/mn&gt;&lt;mo data-mjx-texclass=&quot;CLOSE&quot;&gt;)&lt;/mo&gt;&lt;/mrow&gt;&lt;/math&gt;" id="1288" name="Google Shape;1288;p92" title="x of open paren 10 over x close paren equals x of 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20541" y="1714650"/>
            <a:ext cx="2112975" cy="7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9" name="Google Shape;1289;p92"/>
          <p:cNvSpPr txBox="1"/>
          <p:nvPr/>
        </p:nvSpPr>
        <p:spPr>
          <a:xfrm>
            <a:off x="6058301" y="3480880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92"/>
          <p:cNvSpPr txBox="1"/>
          <p:nvPr/>
        </p:nvSpPr>
        <p:spPr>
          <a:xfrm>
            <a:off x="2524925" y="1902289"/>
            <a:ext cx="1955700" cy="4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10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÷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×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10</a:t>
            </a:r>
            <a:endParaRPr/>
          </a:p>
        </p:txBody>
      </p:sp>
      <p:sp>
        <p:nvSpPr>
          <p:cNvPr id="1291" name="Google Shape;1291;p92"/>
          <p:cNvSpPr/>
          <p:nvPr/>
        </p:nvSpPr>
        <p:spPr>
          <a:xfrm>
            <a:off x="4900200" y="1631180"/>
            <a:ext cx="1339500" cy="9759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p93"/>
          <p:cNvSpPr txBox="1"/>
          <p:nvPr>
            <p:ph idx="1" type="subTitle"/>
          </p:nvPr>
        </p:nvSpPr>
        <p:spPr>
          <a:xfrm>
            <a:off x="33782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sp>
        <p:nvSpPr>
          <p:cNvPr id="1297" name="Google Shape;1297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=\frac{35}{y}&quot;&gt;&lt;mn&gt;7&lt;/mn&gt;&lt;mo&gt;=&lt;/mo&gt;&lt;mfrac&gt;&lt;mn&gt;35&lt;/mn&gt;&lt;mi&gt;y&lt;/mi&gt;&lt;/mfrac&gt;&lt;/math&gt;" id="1298" name="Google Shape;1298;p93" title="7 equals 35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725" y="1087803"/>
            <a:ext cx="750776" cy="567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\left(7\right)=y\left(\frac{35}{y}\right)&quot;&gt;&lt;mi&gt;y&lt;/mi&gt;&lt;mrow data-mjx-texclass=&quot;INNER&quot;&gt;&lt;mo data-mjx-texclass=&quot;OPEN&quot;&gt;(&lt;/mo&gt;&lt;mn&gt;7&lt;/mn&gt;&lt;mo data-mjx-texclass=&quot;CLOSE&quot;&gt;)&lt;/mo&gt;&lt;/mrow&gt;&lt;mo&gt;=&lt;/mo&gt;&lt;mi&gt;y&lt;/mi&gt;&lt;mrow data-mjx-texclass=&quot;INNER&quot;&gt;&lt;mo data-mjx-texclass=&quot;OPEN&quot;&gt;(&lt;/mo&gt;&lt;mfrac&gt;&lt;mn&gt;35&lt;/mn&gt;&lt;mi&gt;y&lt;/mi&gt;&lt;/mfrac&gt;&lt;mo data-mjx-texclass=&quot;CLOSE&quot;&gt;)&lt;/mo&gt;&lt;/mrow&gt;&lt;/math&gt;" id="1299" name="Google Shape;1299;p93" title="y of 7 equals y of open paren 35 over y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9" y="1796064"/>
            <a:ext cx="1637704" cy="63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x}=11&quot;&gt;&lt;mfrac&gt;&lt;mn&gt;4&lt;/mn&gt;&lt;mrow&gt;&lt;mn&gt;3&lt;/mn&gt;&lt;mi&gt;x&lt;/mi&gt;&lt;/mrow&gt;&lt;/mfrac&gt;&lt;mo&gt;=&lt;/mo&gt;&lt;mn&gt;11&lt;/mn&gt;&lt;/math&gt;" id="1300" name="Google Shape;1300;p93" title="4 over 3 x equals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1543" y="1067041"/>
            <a:ext cx="898598" cy="544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left(\frac{4}{3x}\right)=3x\left(11\right)&quot;&gt;&lt;mn&gt;3&lt;/mn&gt;&lt;mi&gt;x&lt;/mi&gt;&lt;mrow data-mjx-texclass=&quot;INNER&quot;&gt;&lt;mo data-mjx-texclass=&quot;OPEN&quot;&gt;(&lt;/mo&gt;&lt;mfrac&gt;&lt;mn&gt;4&lt;/mn&gt;&lt;mrow&gt;&lt;mn&gt;3&lt;/mn&gt;&lt;mi&gt;x&lt;/mi&gt;&lt;/mrow&gt;&lt;/mfrac&gt;&lt;mo data-mjx-texclass=&quot;CLOSE&quot;&gt;)&lt;/mo&gt;&lt;/mrow&gt;&lt;mo&gt;=&lt;/mo&gt;&lt;mn&gt;3&lt;/mn&gt;&lt;mi&gt;x&lt;/mi&gt;&lt;mrow data-mjx-texclass=&quot;INNER&quot;&gt;&lt;mo data-mjx-texclass=&quot;OPEN&quot;&gt;(&lt;/mo&gt;&lt;mn&gt;11&lt;/mn&gt;&lt;mo data-mjx-texclass=&quot;CLOSE&quot;&gt;)&lt;/mo&gt;&lt;/mrow&gt;&lt;/math&gt;" id="1301" name="Google Shape;1301;p93" title="3 x of open paren 4 over 3 x close paren equals 3 x of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5981" y="1806580"/>
            <a:ext cx="2092837" cy="63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2" name="Google Shape;1302;p93"/>
          <p:cNvSpPr txBox="1"/>
          <p:nvPr/>
        </p:nvSpPr>
        <p:spPr>
          <a:xfrm>
            <a:off x="3132525" y="26426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93"/>
          <p:cNvSpPr txBox="1"/>
          <p:nvPr/>
        </p:nvSpPr>
        <p:spPr>
          <a:xfrm>
            <a:off x="506930" y="26426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4" name="Google Shape;1304;p93"/>
          <p:cNvSpPr txBox="1"/>
          <p:nvPr/>
        </p:nvSpPr>
        <p:spPr>
          <a:xfrm>
            <a:off x="659335" y="3328475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\frac{4}{33}&quot;&gt;&lt;mi&gt;x&lt;/mi&gt;&lt;mo&gt;=&lt;/mo&gt;&lt;mfrac&gt;&lt;mn&gt;4&lt;/mn&gt;&lt;mn&gt;33&lt;/mn&gt;&lt;/mfrac&gt;&lt;/math&gt;" id="1305" name="Google Shape;1305;p93" title="x equals 4 over 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54540" y="3238590"/>
            <a:ext cx="776100" cy="535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94"/>
          <p:cNvSpPr txBox="1"/>
          <p:nvPr>
            <p:ph idx="1" type="subTitle"/>
          </p:nvPr>
        </p:nvSpPr>
        <p:spPr>
          <a:xfrm>
            <a:off x="33782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sp>
        <p:nvSpPr>
          <p:cNvPr id="1311" name="Google Shape;1311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=\frac{35}{y}&quot;&gt;&lt;mn&gt;7&lt;/mn&gt;&lt;mo&gt;=&lt;/mo&gt;&lt;mfrac&gt;&lt;mn&gt;35&lt;/mn&gt;&lt;mi&gt;y&lt;/mi&gt;&lt;/mfrac&gt;&lt;/math&gt;" id="1312" name="Google Shape;1312;p94" title="7 equals 35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725" y="1087803"/>
            <a:ext cx="750776" cy="567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\left(7\right)=y\left(\frac{35}{y}\right)&quot;&gt;&lt;mi&gt;y&lt;/mi&gt;&lt;mrow data-mjx-texclass=&quot;INNER&quot;&gt;&lt;mo data-mjx-texclass=&quot;OPEN&quot;&gt;(&lt;/mo&gt;&lt;mn&gt;7&lt;/mn&gt;&lt;mo data-mjx-texclass=&quot;CLOSE&quot;&gt;)&lt;/mo&gt;&lt;/mrow&gt;&lt;mo&gt;=&lt;/mo&gt;&lt;mi&gt;y&lt;/mi&gt;&lt;mrow data-mjx-texclass=&quot;INNER&quot;&gt;&lt;mo data-mjx-texclass=&quot;OPEN&quot;&gt;(&lt;/mo&gt;&lt;mfrac&gt;&lt;mn&gt;35&lt;/mn&gt;&lt;mi&gt;y&lt;/mi&gt;&lt;/mfrac&gt;&lt;mo data-mjx-texclass=&quot;CLOSE&quot;&gt;)&lt;/mo&gt;&lt;/mrow&gt;&lt;/math&gt;" id="1313" name="Google Shape;1313;p94" title="y of 7 equals y of open paren 35 over y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329" y="1796064"/>
            <a:ext cx="1637704" cy="634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3x}=11&quot;&gt;&lt;mfrac&gt;&lt;mn&gt;4&lt;/mn&gt;&lt;mrow&gt;&lt;mn&gt;3&lt;/mn&gt;&lt;mi&gt;x&lt;/mi&gt;&lt;/mrow&gt;&lt;/mfrac&gt;&lt;mo&gt;=&lt;/mo&gt;&lt;mn&gt;11&lt;/mn&gt;&lt;/math&gt;" id="1314" name="Google Shape;1314;p94" title="4 over 3 x equals 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51543" y="1067041"/>
            <a:ext cx="898598" cy="544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x\left(\frac{4}{3x}\right)=3x\left(11\right)&quot;&gt;&lt;mn&gt;3&lt;/mn&gt;&lt;mi&gt;x&lt;/mi&gt;&lt;mrow data-mjx-texclass=&quot;INNER&quot;&gt;&lt;mo data-mjx-texclass=&quot;OPEN&quot;&gt;(&lt;/mo&gt;&lt;mfrac&gt;&lt;mn&gt;4&lt;/mn&gt;&lt;mrow&gt;&lt;mn&gt;3&lt;/mn&gt;&lt;mi&gt;x&lt;/mi&gt;&lt;/mrow&gt;&lt;/mfrac&gt;&lt;mo data-mjx-texclass=&quot;CLOSE&quot;&gt;)&lt;/mo&gt;&lt;/mrow&gt;&lt;mo&gt;=&lt;/mo&gt;&lt;mn&gt;3&lt;/mn&gt;&lt;mi&gt;x&lt;/mi&gt;&lt;mrow data-mjx-texclass=&quot;INNER&quot;&gt;&lt;mo data-mjx-texclass=&quot;OPEN&quot;&gt;(&lt;/mo&gt;&lt;mn&gt;11&lt;/mn&gt;&lt;mo data-mjx-texclass=&quot;CLOSE&quot;&gt;)&lt;/mo&gt;&lt;/mrow&gt;&lt;/math&gt;" id="1315" name="Google Shape;1315;p94" title="3 x of open paren 4 over 3 x close paren equals 3 x of 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35981" y="1806580"/>
            <a:ext cx="2092837" cy="63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16" name="Google Shape;1316;p94"/>
          <p:cNvSpPr txBox="1"/>
          <p:nvPr/>
        </p:nvSpPr>
        <p:spPr>
          <a:xfrm>
            <a:off x="3132525" y="26426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 = 33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7" name="Google Shape;1317;p94"/>
          <p:cNvSpPr txBox="1"/>
          <p:nvPr/>
        </p:nvSpPr>
        <p:spPr>
          <a:xfrm>
            <a:off x="506930" y="26426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8" name="Google Shape;1318;p94"/>
          <p:cNvSpPr txBox="1"/>
          <p:nvPr/>
        </p:nvSpPr>
        <p:spPr>
          <a:xfrm>
            <a:off x="659335" y="3328475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9" name="Google Shape;1319;p94"/>
          <p:cNvSpPr txBox="1"/>
          <p:nvPr>
            <p:ph idx="1" type="subTitle"/>
          </p:nvPr>
        </p:nvSpPr>
        <p:spPr>
          <a:xfrm>
            <a:off x="482239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48}{d}\ =\ 8&quot;&gt;&lt;mfrac&gt;&lt;mn&gt;48&lt;/mn&gt;&lt;mi&gt;d&lt;/mi&gt;&lt;/mfrac&gt;&lt;mtext&gt;&lt;/mtext&gt;&lt;mo&gt;=&lt;/mo&gt;&lt;mtext&gt;&lt;/mtext&gt;&lt;mn&gt;8&lt;/mn&gt;&lt;/math&gt;" id="1320" name="Google Shape;1320;p94" title="48 over d equals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91060" y="1081709"/>
            <a:ext cx="931777" cy="559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d\left(\frac{48}{d}\right)\ =\ d\left(8\right)&quot;&gt;&lt;mi&gt;d&lt;/mi&gt;&lt;mrow data-mjx-texclass=&quot;INNER&quot;&gt;&lt;mo data-mjx-texclass=&quot;OPEN&quot;&gt;(&lt;/mo&gt;&lt;mfrac&gt;&lt;mn&gt;48&lt;/mn&gt;&lt;mi&gt;d&lt;/mi&gt;&lt;/mfrac&gt;&lt;mo data-mjx-texclass=&quot;CLOSE&quot;&gt;)&lt;/mo&gt;&lt;/mrow&gt;&lt;mtext&gt;&lt;/mtext&gt;&lt;mo&gt;=&lt;/mo&gt;&lt;mtext&gt;&lt;/mtext&gt;&lt;mi&gt;d&lt;/mi&gt;&lt;mrow data-mjx-texclass=&quot;INNER&quot;&gt;&lt;mo data-mjx-texclass=&quot;OPEN&quot;&gt;(&lt;/mo&gt;&lt;mn&gt;8&lt;/mn&gt;&lt;mo data-mjx-texclass=&quot;CLOSE&quot;&gt;)&lt;/mo&gt;&lt;/mrow&gt;&lt;/math&gt;" id="1321" name="Google Shape;1321;p94" title="d of open paren 48 over d close paren equals d of 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44647" y="1788586"/>
            <a:ext cx="1932424" cy="660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9e}=2&quot;&gt;&lt;mfrac&gt;&lt;mn&gt;5&lt;/mn&gt;&lt;mrow&gt;&lt;mn&gt;9&lt;/mn&gt;&lt;mi&gt;e&lt;/mi&gt;&lt;/mrow&gt;&lt;/mfrac&gt;&lt;mo&gt;=&lt;/mo&gt;&lt;mn&gt;2&lt;/mn&gt;&lt;/math&gt;" id="1322" name="Google Shape;1322;p94" title="5 over 9 e equals 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3089" y="1073673"/>
            <a:ext cx="785255" cy="55907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9e\left(\frac{5}{9e}\right)=9e\left(2\right)&quot;&gt;&lt;mn&gt;9&lt;/mn&gt;&lt;mi&gt;e&lt;/mi&gt;&lt;mrow data-mjx-texclass=&quot;INNER&quot;&gt;&lt;mo data-mjx-texclass=&quot;OPEN&quot;&gt;(&lt;/mo&gt;&lt;mfrac&gt;&lt;mn&gt;5&lt;/mn&gt;&lt;mrow&gt;&lt;mn&gt;9&lt;/mn&gt;&lt;mi&gt;e&lt;/mi&gt;&lt;/mrow&gt;&lt;/mfrac&gt;&lt;mo data-mjx-texclass=&quot;CLOSE&quot;&gt;)&lt;/mo&gt;&lt;/mrow&gt;&lt;mo&gt;=&lt;/mo&gt;&lt;mn&gt;9&lt;/mn&gt;&lt;mi&gt;e&lt;/mi&gt;&lt;mrow data-mjx-texclass=&quot;INNER&quot;&gt;&lt;mo data-mjx-texclass=&quot;OPEN&quot;&gt;(&lt;/mo&gt;&lt;mn&gt;2&lt;/mn&gt;&lt;mo data-mjx-texclass=&quot;CLOSE&quot;&gt;)&lt;/mo&gt;&lt;/mrow&gt;&lt;/math&gt;" id="1323" name="Google Shape;1323;p94" title="9 e of open paren 5 over 9 e close paren equals 9 e of 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60578" y="1795142"/>
            <a:ext cx="1964833" cy="660351"/>
          </a:xfrm>
          <a:prstGeom prst="rect">
            <a:avLst/>
          </a:prstGeom>
          <a:noFill/>
          <a:ln>
            <a:noFill/>
          </a:ln>
        </p:spPr>
      </p:pic>
      <p:sp>
        <p:nvSpPr>
          <p:cNvPr id="1324" name="Google Shape;1324;p94"/>
          <p:cNvSpPr txBox="1"/>
          <p:nvPr/>
        </p:nvSpPr>
        <p:spPr>
          <a:xfrm>
            <a:off x="5396064" y="26426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48 = 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5" name="Google Shape;1325;p94"/>
          <p:cNvSpPr txBox="1"/>
          <p:nvPr/>
        </p:nvSpPr>
        <p:spPr>
          <a:xfrm>
            <a:off x="5569826" y="3328475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6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26" name="Google Shape;1326;p94"/>
          <p:cNvSpPr txBox="1"/>
          <p:nvPr/>
        </p:nvSpPr>
        <p:spPr>
          <a:xfrm>
            <a:off x="7747034" y="2586523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e=\frac{5}{18}&quot;&gt;&lt;mi&gt;e&lt;/mi&gt;&lt;mo&gt;=&lt;/mo&gt;&lt;mfrac&gt;&lt;mn&gt;5&lt;/mn&gt;&lt;mn&gt;18&lt;/mn&gt;&lt;/mfrac&gt;&lt;/math&gt;" id="1327" name="Google Shape;1327;p94" title="e equals 5 over 1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89035" y="3102842"/>
            <a:ext cx="750775" cy="539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4}{33}&quot;&gt;&lt;mi&gt;x&lt;/mi&gt;&lt;mo&gt;=&lt;/mo&gt;&lt;mfrac&gt;&lt;mn&gt;4&lt;/mn&gt;&lt;mn&gt;33&lt;/mn&gt;&lt;/mfrac&gt;&lt;/math&gt;" id="1328" name="Google Shape;1328;p94" title="x equals 4 over 3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154540" y="3238590"/>
            <a:ext cx="776100" cy="5352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5"/>
          <p:cNvSpPr txBox="1"/>
          <p:nvPr>
            <p:ph idx="1" type="body"/>
          </p:nvPr>
        </p:nvSpPr>
        <p:spPr>
          <a:xfrm>
            <a:off x="324000" y="759300"/>
            <a:ext cx="68589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Like many parts of maths there are multiple ways to solve rational equations.</a:t>
            </a:r>
            <a:endParaRPr sz="2000"/>
          </a:p>
        </p:txBody>
      </p:sp>
      <p:sp>
        <p:nvSpPr>
          <p:cNvPr id="1334" name="Google Shape;1334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=\frac{35}{y}&quot;&gt;&lt;mn&gt;7&lt;/mn&gt;&lt;mo&gt;=&lt;/mo&gt;&lt;mfrac&gt;&lt;mn&gt;35&lt;/mn&gt;&lt;mi&gt;y&lt;/mi&gt;&lt;/mfrac&gt;&lt;/math&gt;" id="1335" name="Google Shape;1335;p95" title="7 equals 35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525" y="1621203"/>
            <a:ext cx="750776" cy="567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\left(7\right)=y\left(\frac{35}{y}\right)&quot;&gt;&lt;mi&gt;y&lt;/mi&gt;&lt;mrow data-mjx-texclass=&quot;INNER&quot;&gt;&lt;mo data-mjx-texclass=&quot;OPEN&quot;&gt;(&lt;/mo&gt;&lt;mn&gt;7&lt;/mn&gt;&lt;mo data-mjx-texclass=&quot;CLOSE&quot;&gt;)&lt;/mo&gt;&lt;/mrow&gt;&lt;mo&gt;=&lt;/mo&gt;&lt;mi&gt;y&lt;/mi&gt;&lt;mrow data-mjx-texclass=&quot;INNER&quot;&gt;&lt;mo data-mjx-texclass=&quot;OPEN&quot;&gt;(&lt;/mo&gt;&lt;mfrac&gt;&lt;mn&gt;35&lt;/mn&gt;&lt;mi&gt;y&lt;/mi&gt;&lt;/mfrac&gt;&lt;mo data-mjx-texclass=&quot;CLOSE&quot;&gt;)&lt;/mo&gt;&lt;/mrow&gt;&lt;/math&gt;" id="1336" name="Google Shape;1336;p95" title="y of 7 equals y of open paren 35 over y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129" y="2329464"/>
            <a:ext cx="1637704" cy="63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37" name="Google Shape;1337;p95"/>
          <p:cNvSpPr txBox="1"/>
          <p:nvPr/>
        </p:nvSpPr>
        <p:spPr>
          <a:xfrm>
            <a:off x="1192730" y="31760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8" name="Google Shape;1338;p95"/>
          <p:cNvSpPr txBox="1"/>
          <p:nvPr/>
        </p:nvSpPr>
        <p:spPr>
          <a:xfrm>
            <a:off x="1345135" y="3861875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9" name="Google Shape;1339;p95"/>
          <p:cNvSpPr txBox="1"/>
          <p:nvPr>
            <p:ph idx="1" type="body"/>
          </p:nvPr>
        </p:nvSpPr>
        <p:spPr>
          <a:xfrm>
            <a:off x="3372000" y="2337039"/>
            <a:ext cx="34116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multiplicative inverse of the denominator.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96"/>
          <p:cNvSpPr/>
          <p:nvPr/>
        </p:nvSpPr>
        <p:spPr>
          <a:xfrm>
            <a:off x="1002770" y="3034051"/>
            <a:ext cx="1339500" cy="13614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5" name="Google Shape;1345;p96"/>
          <p:cNvSpPr txBox="1"/>
          <p:nvPr>
            <p:ph idx="1" type="body"/>
          </p:nvPr>
        </p:nvSpPr>
        <p:spPr>
          <a:xfrm>
            <a:off x="324000" y="759300"/>
            <a:ext cx="69495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Like many parts of maths there are multiple ways to solve rational equations.</a:t>
            </a:r>
            <a:endParaRPr sz="2000"/>
          </a:p>
        </p:txBody>
      </p:sp>
      <p:sp>
        <p:nvSpPr>
          <p:cNvPr id="1346" name="Google Shape;1346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7=\frac{35}{y}&quot;&gt;&lt;mn&gt;7&lt;/mn&gt;&lt;mo&gt;=&lt;/mo&gt;&lt;mfrac&gt;&lt;mn&gt;35&lt;/mn&gt;&lt;mi&gt;y&lt;/mi&gt;&lt;/mfrac&gt;&lt;/math&gt;" id="1347" name="Google Shape;1347;p96" title="7 equals 35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2525" y="1621203"/>
            <a:ext cx="750776" cy="567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\left(7\right)=y\left(\frac{35}{y}\right)&quot;&gt;&lt;mi&gt;y&lt;/mi&gt;&lt;mrow data-mjx-texclass=&quot;INNER&quot;&gt;&lt;mo data-mjx-texclass=&quot;OPEN&quot;&gt;(&lt;/mo&gt;&lt;mn&gt;7&lt;/mn&gt;&lt;mo data-mjx-texclass=&quot;CLOSE&quot;&gt;)&lt;/mo&gt;&lt;/mrow&gt;&lt;mo&gt;=&lt;/mo&gt;&lt;mi&gt;y&lt;/mi&gt;&lt;mrow data-mjx-texclass=&quot;INNER&quot;&gt;&lt;mo data-mjx-texclass=&quot;OPEN&quot;&gt;(&lt;/mo&gt;&lt;mfrac&gt;&lt;mn&gt;35&lt;/mn&gt;&lt;mi&gt;y&lt;/mi&gt;&lt;/mfrac&gt;&lt;mo data-mjx-texclass=&quot;CLOSE&quot;&gt;)&lt;/mo&gt;&lt;/mrow&gt;&lt;/math&gt;" id="1348" name="Google Shape;1348;p96" title="y of 7 equals y of open paren 35 over y close paren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129" y="2329464"/>
            <a:ext cx="1637704" cy="634076"/>
          </a:xfrm>
          <a:prstGeom prst="rect">
            <a:avLst/>
          </a:prstGeom>
          <a:noFill/>
          <a:ln>
            <a:noFill/>
          </a:ln>
        </p:spPr>
      </p:pic>
      <p:sp>
        <p:nvSpPr>
          <p:cNvPr id="1349" name="Google Shape;1349;p96"/>
          <p:cNvSpPr txBox="1"/>
          <p:nvPr/>
        </p:nvSpPr>
        <p:spPr>
          <a:xfrm>
            <a:off x="1192730" y="3176075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0" name="Google Shape;1350;p96"/>
          <p:cNvSpPr txBox="1"/>
          <p:nvPr/>
        </p:nvSpPr>
        <p:spPr>
          <a:xfrm>
            <a:off x="1345135" y="3861875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1" name="Google Shape;1351;p96"/>
          <p:cNvSpPr txBox="1"/>
          <p:nvPr>
            <p:ph idx="1" type="body"/>
          </p:nvPr>
        </p:nvSpPr>
        <p:spPr>
          <a:xfrm>
            <a:off x="3829200" y="1575050"/>
            <a:ext cx="18075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Alternatively, multiply by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7=\frac{35}{y}&quot;&gt;&lt;mn&gt;7&lt;/mn&gt;&lt;mo&gt;=&lt;/mo&gt;&lt;mfrac&gt;&lt;mn&gt;35&lt;/mn&gt;&lt;mi&gt;y&lt;/mi&gt;&lt;/mfrac&gt;&lt;/math&gt;" id="1352" name="Google Shape;1352;p96" title="7 equals 35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3064" y="1621203"/>
            <a:ext cx="750776" cy="5679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}\times\frac{y}{y}=\frac{35}{y}&quot;&gt;&lt;mfrac&gt;&lt;mn&gt;7&lt;/mn&gt;&lt;mn&gt;1&lt;/mn&gt;&lt;/mfrac&gt;&lt;mo&gt;×&lt;/mo&gt;&lt;mfrac&gt;&lt;mi&gt;y&lt;/mi&gt;&lt;mi&gt;y&lt;/mi&gt;&lt;/mfrac&gt;&lt;mo&gt;=&lt;/mo&gt;&lt;mfrac&gt;&lt;mn&gt;35&lt;/mn&gt;&lt;mi&gt;y&lt;/mi&gt;&lt;/mfrac&gt;&lt;/math&gt;" id="1353" name="Google Shape;1353;p96" title="seven oneths times y over y equals 35 over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1694" y="2392353"/>
            <a:ext cx="1303178" cy="567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y}{y}=\frac{35}{y}&quot;&gt;&lt;mfrac&gt;&lt;mrow&gt;&lt;mn&gt;7&lt;/mn&gt;&lt;mi&gt;y&lt;/mi&gt;&lt;/mrow&gt;&lt;mi&gt;y&lt;/mi&gt;&lt;/mfrac&gt;&lt;mo&gt;=&lt;/mo&gt;&lt;mfrac&gt;&lt;mn&gt;35&lt;/mn&gt;&lt;mi&gt;y&lt;/mi&gt;&lt;/mfrac&gt;&lt;/math&gt;" id="1354" name="Google Shape;1354;p96" title="7 y over y equals 35 over 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84228" y="3229860"/>
            <a:ext cx="937507" cy="56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96"/>
          <p:cNvSpPr txBox="1"/>
          <p:nvPr>
            <p:ph idx="1" type="body"/>
          </p:nvPr>
        </p:nvSpPr>
        <p:spPr>
          <a:xfrm>
            <a:off x="3136250" y="3175250"/>
            <a:ext cx="27201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Equal denominators, equal numerators.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6" name="Google Shape;1356;p96"/>
          <p:cNvSpPr txBox="1"/>
          <p:nvPr/>
        </p:nvSpPr>
        <p:spPr>
          <a:xfrm>
            <a:off x="6112039" y="3929257"/>
            <a:ext cx="10782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35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7" name="Google Shape;1357;p96"/>
          <p:cNvSpPr txBox="1"/>
          <p:nvPr/>
        </p:nvSpPr>
        <p:spPr>
          <a:xfrm>
            <a:off x="6275674" y="4428966"/>
            <a:ext cx="8955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58" name="Google Shape;1358;p96"/>
          <p:cNvSpPr/>
          <p:nvPr/>
        </p:nvSpPr>
        <p:spPr>
          <a:xfrm>
            <a:off x="5879575" y="3839413"/>
            <a:ext cx="1339500" cy="10245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9" name="Google Shape;1359;p96"/>
          <p:cNvSpPr txBox="1"/>
          <p:nvPr>
            <p:ph idx="1" type="body"/>
          </p:nvPr>
        </p:nvSpPr>
        <p:spPr>
          <a:xfrm>
            <a:off x="3136250" y="4188311"/>
            <a:ext cx="2720100" cy="7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Different methods, same result.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97"/>
          <p:cNvSpPr txBox="1"/>
          <p:nvPr>
            <p:ph idx="1" type="subTitle"/>
          </p:nvPr>
        </p:nvSpPr>
        <p:spPr>
          <a:xfrm>
            <a:off x="33782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sp>
        <p:nvSpPr>
          <p:cNvPr id="1365" name="Google Shape;1365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19=\frac{2}{y}&quot;&gt;&lt;mo&gt;−&lt;/mo&gt;&lt;mn&gt;19&lt;/mn&gt;&lt;mo&gt;=&lt;/mo&gt;&lt;mfrac&gt;&lt;mn&gt;2&lt;/mn&gt;&lt;mi&gt;y&lt;/mi&gt;&lt;/mfrac&gt;&lt;/math&gt;" id="1366" name="Google Shape;1366;p97" title="negative 19 equals 2 over y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3220" y="810416"/>
            <a:ext cx="928682" cy="576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19\times\frac{y}{y}=\frac{2}{y}&quot;&gt;&lt;mo&gt;−&lt;/mo&gt;&lt;mn&gt;19&lt;/mn&gt;&lt;mo&gt;×&lt;/mo&gt;&lt;mfrac&gt;&lt;mi&gt;y&lt;/mi&gt;&lt;mi&gt;y&lt;/mi&gt;&lt;/mfrac&gt;&lt;mo&gt;=&lt;/mo&gt;&lt;mfrac&gt;&lt;mn&gt;2&lt;/mn&gt;&lt;mi&gt;y&lt;/mi&gt;&lt;/mfrac&gt;&lt;/math&gt;" id="1367" name="Google Shape;1367;p97" title="negative 19 times y over y equals 2 over 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0771" y="1617338"/>
            <a:ext cx="1427849" cy="5765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-19y}{y}=\frac{2}{y}&quot;&gt;&lt;mfrac&gt;&lt;mrow&gt;&lt;mo&gt;−&lt;/mo&gt;&lt;mn&gt;19&lt;/mn&gt;&lt;mi&gt;y&lt;/mi&gt;&lt;/mrow&gt;&lt;mi&gt;y&lt;/mi&gt;&lt;/mfrac&gt;&lt;mo&gt;=&lt;/mo&gt;&lt;mfrac&gt;&lt;mn&gt;2&lt;/mn&gt;&lt;mi&gt;y&lt;/mi&gt;&lt;/mfrac&gt;&lt;/math&gt;" id="1368" name="Google Shape;1368;p97" title="negative 19 y over y equals 2 over 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5302" y="2636805"/>
            <a:ext cx="1106680" cy="56494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=-\frac{2}{19}&quot;&gt;&lt;mi&gt;y&lt;/mi&gt;&lt;mo&gt;=&lt;/mo&gt;&lt;mo&gt;−&lt;/mo&gt;&lt;mfrac&gt;&lt;mn&gt;2&lt;/mn&gt;&lt;mn&gt;19&lt;/mn&gt;&lt;/mfrac&gt;&lt;/math&gt;" id="1369" name="Google Shape;1369;p97" title="y equals negative 2 over 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85831" y="4167505"/>
            <a:ext cx="913204" cy="522382"/>
          </a:xfrm>
          <a:prstGeom prst="rect">
            <a:avLst/>
          </a:prstGeom>
          <a:noFill/>
          <a:ln>
            <a:noFill/>
          </a:ln>
        </p:spPr>
      </p:pic>
      <p:sp>
        <p:nvSpPr>
          <p:cNvPr id="1370" name="Google Shape;1370;p97"/>
          <p:cNvSpPr txBox="1"/>
          <p:nvPr/>
        </p:nvSpPr>
        <p:spPr>
          <a:xfrm>
            <a:off x="997826" y="3480875"/>
            <a:ext cx="124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−19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2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71" name="Google Shape;1371;p97"/>
          <p:cNvSpPr txBox="1"/>
          <p:nvPr>
            <p:ph idx="1" type="subTitle"/>
          </p:nvPr>
        </p:nvSpPr>
        <p:spPr>
          <a:xfrm>
            <a:off x="482239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x}=-8&quot;&gt;&lt;mfrac&gt;&lt;mn&gt;3&lt;/mn&gt;&lt;mi&gt;x&lt;/mi&gt;&lt;/mfrac&gt;&lt;mo&gt;=&lt;/mo&gt;&lt;mo&gt;−&lt;/mo&gt;&lt;mn&gt;8&lt;/mn&gt;&lt;/math&gt;" id="1372" name="Google Shape;1372;p97" title="3 over x equals negative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91655" y="822799"/>
            <a:ext cx="764199" cy="4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x}=-8\times\frac{x}{x}&quot;&gt;&lt;mfrac&gt;&lt;mn&gt;3&lt;/mn&gt;&lt;mi&gt;x&lt;/mi&gt;&lt;/mfrac&gt;&lt;mo&gt;=&lt;/mo&gt;&lt;mo&gt;−&lt;/mo&gt;&lt;mn&gt;8&lt;/mn&gt;&lt;mo&gt;×&lt;/mo&gt;&lt;mfrac&gt;&lt;mi&gt;x&lt;/mi&gt;&lt;mi&gt;x&lt;/mi&gt;&lt;/mfrac&gt;&lt;/math&gt;" id="1373" name="Google Shape;1373;p97" title="3 over x equals negative 8 times x over x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98064" y="1638539"/>
            <a:ext cx="1227789" cy="496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x}=\frac{-8x}{x}&quot;&gt;&lt;mfrac&gt;&lt;mn&gt;3&lt;/mn&gt;&lt;mi&gt;x&lt;/mi&gt;&lt;/mfrac&gt;&lt;mo&gt;=&lt;/mo&gt;&lt;mfrac&gt;&lt;mrow&gt;&lt;mo&gt;−&lt;/mo&gt;&lt;mn&gt;8&lt;/mn&gt;&lt;mi&gt;x&lt;/mi&gt;&lt;/mrow&gt;&lt;mi&gt;x&lt;/mi&gt;&lt;/mfrac&gt;&lt;/math&gt;" id="1374" name="Google Shape;1374;p97" title="3 over x equals negative 8 x over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80425" y="2582484"/>
            <a:ext cx="970642" cy="4998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-\frac{3}{8}&quot;&gt;&lt;mi&gt;x&lt;/mi&gt;&lt;mo&gt;=&lt;/mo&gt;&lt;mo&gt;−&lt;/mo&gt;&lt;mfrac&gt;&lt;mn&gt;3&lt;/mn&gt;&lt;mn&gt;8&lt;/mn&gt;&lt;/mfrac&gt;&lt;/math&gt;" id="1375" name="Google Shape;1375;p97" title="x equals negative three eigh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052106" y="4196327"/>
            <a:ext cx="775065" cy="503423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97"/>
          <p:cNvSpPr txBox="1"/>
          <p:nvPr/>
        </p:nvSpPr>
        <p:spPr>
          <a:xfrm>
            <a:off x="6027025" y="3480875"/>
            <a:ext cx="97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= −8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98"/>
          <p:cNvSpPr txBox="1"/>
          <p:nvPr>
            <p:ph idx="1" type="subTitle"/>
          </p:nvPr>
        </p:nvSpPr>
        <p:spPr>
          <a:xfrm>
            <a:off x="33782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sp>
        <p:nvSpPr>
          <p:cNvPr id="1382" name="Google Shape;138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sp>
        <p:nvSpPr>
          <p:cNvPr id="1383" name="Google Shape;1383;p98"/>
          <p:cNvSpPr txBox="1"/>
          <p:nvPr/>
        </p:nvSpPr>
        <p:spPr>
          <a:xfrm>
            <a:off x="650516" y="3458414"/>
            <a:ext cx="1609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+ 4) = 15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=\frac{15}{y+4}&quot;&gt;&lt;mn&gt;3&lt;/mn&gt;&lt;mo&gt;=&lt;/mo&gt;&lt;mfrac&gt;&lt;mn&gt;15&lt;/mn&gt;&lt;mrow&gt;&lt;mi&gt;y&lt;/mi&gt;&lt;mo&gt;+&lt;/mo&gt;&lt;mn&gt;4&lt;/mn&gt;&lt;/mrow&gt;&lt;/mfrac&gt;&lt;/math&gt;" id="1384" name="Google Shape;1384;p98" title="3 equals the fraction with numerator 15 and denominator y plu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7867" y="819630"/>
            <a:ext cx="1021038" cy="564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times\frac{y+4}{y+4}=\frac{15}{y+4}&quot;&gt;&lt;mn&gt;3&lt;/mn&gt;&lt;mo&gt;×&lt;/mo&gt;&lt;mfrac&gt;&lt;mrow&gt;&lt;mi&gt;y&lt;/mi&gt;&lt;mo&gt;+&lt;/mo&gt;&lt;mn&gt;4&lt;/mn&gt;&lt;/mrow&gt;&lt;mrow&gt;&lt;mi&gt;y&lt;/mi&gt;&lt;mo&gt;+&lt;/mo&gt;&lt;mn&gt;4&lt;/mn&gt;&lt;/mrow&gt;&lt;/mfrac&gt;&lt;mo&gt;=&lt;/mo&gt;&lt;mfrac&gt;&lt;mn&gt;15&lt;/mn&gt;&lt;mrow&gt;&lt;mi&gt;y&lt;/mi&gt;&lt;mo&gt;+&lt;/mo&gt;&lt;mn&gt;4&lt;/mn&gt;&lt;/mrow&gt;&lt;/mfrac&gt;&lt;/math&gt;" id="1385" name="Google Shape;1385;p98" title="3 times the fraction with numerator y plus 4 and denominator y plus 4 equals the fraction with numerator 15 and denominator y plus 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515" y="1621048"/>
            <a:ext cx="1918313" cy="568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\left(y+4\right)}{y+4}=\frac{15}{y+4}&quot;&gt;&lt;mfrac&gt;&lt;mrow&gt;&lt;mn&gt;3&lt;/mn&gt;&lt;mrow data-mjx-texclass=&quot;INNER&quot;&gt;&lt;mo data-mjx-texclass=&quot;OPEN&quot;&gt;(&lt;/mo&gt;&lt;mi&gt;y&lt;/mi&gt;&lt;mo&gt;+&lt;/mo&gt;&lt;mn&gt;4&lt;/mn&gt;&lt;mo data-mjx-texclass=&quot;CLOSE&quot;&gt;)&lt;/mo&gt;&lt;/mrow&gt;&lt;/mrow&gt;&lt;mrow&gt;&lt;mi&gt;y&lt;/mi&gt;&lt;mo&gt;+&lt;/mo&gt;&lt;mn&gt;4&lt;/mn&gt;&lt;/mrow&gt;&lt;/mfrac&gt;&lt;mo&gt;=&lt;/mo&gt;&lt;mfrac&gt;&lt;mn&gt;15&lt;/mn&gt;&lt;mrow&gt;&lt;mi&gt;y&lt;/mi&gt;&lt;mo&gt;+&lt;/mo&gt;&lt;mn&gt;4&lt;/mn&gt;&lt;/mrow&gt;&lt;/mfrac&gt;&lt;/math&gt;" id="1386" name="Google Shape;1386;p98" title="the fraction with numerator 3 times open paren y plus 4 close paren and denominator y plus 4 equals the fraction with numerator 15 and denominator y plus 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202" y="2624756"/>
            <a:ext cx="1926049" cy="599484"/>
          </a:xfrm>
          <a:prstGeom prst="rect">
            <a:avLst/>
          </a:prstGeom>
          <a:noFill/>
          <a:ln>
            <a:noFill/>
          </a:ln>
        </p:spPr>
      </p:pic>
      <p:sp>
        <p:nvSpPr>
          <p:cNvPr id="1387" name="Google Shape;1387;p98"/>
          <p:cNvSpPr txBox="1"/>
          <p:nvPr/>
        </p:nvSpPr>
        <p:spPr>
          <a:xfrm>
            <a:off x="997825" y="3938075"/>
            <a:ext cx="1609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+ 4 = 5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98"/>
          <p:cNvSpPr txBox="1"/>
          <p:nvPr/>
        </p:nvSpPr>
        <p:spPr>
          <a:xfrm>
            <a:off x="1455025" y="4471475"/>
            <a:ext cx="687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9" name="Google Shape;1389;p98"/>
          <p:cNvSpPr txBox="1"/>
          <p:nvPr>
            <p:ph idx="1" type="subTitle"/>
          </p:nvPr>
        </p:nvSpPr>
        <p:spPr>
          <a:xfrm>
            <a:off x="4822395" y="810000"/>
            <a:ext cx="776100" cy="35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Solve: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6=\frac{24}{y-3}&quot;&gt;&lt;mn&gt;6&lt;/mn&gt;&lt;mo&gt;=&lt;/mo&gt;&lt;mfrac&gt;&lt;mn&gt;24&lt;/mn&gt;&lt;mrow&gt;&lt;mi&gt;y&lt;/mi&gt;&lt;mo&gt;−&lt;/mo&gt;&lt;mn&gt;3&lt;/mn&gt;&lt;/mrow&gt;&lt;/mfrac&gt;&lt;/math&gt;" id="1390" name="Google Shape;1390;p98" title="6 equals the fraction with numerator 24 and denominator y minus 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5651" y="816470"/>
            <a:ext cx="971354" cy="5337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6\times\frac{y-3}{y-3}=\frac{24}{y-3}&quot;&gt;&lt;mn&gt;6&lt;/mn&gt;&lt;mo&gt;×&lt;/mo&gt;&lt;mfrac&gt;&lt;mrow&gt;&lt;mi&gt;y&lt;/mi&gt;&lt;mo&gt;−&lt;/mo&gt;&lt;mn&gt;3&lt;/mn&gt;&lt;/mrow&gt;&lt;mrow&gt;&lt;mi&gt;y&lt;/mi&gt;&lt;mo&gt;−&lt;/mo&gt;&lt;mn&gt;3&lt;/mn&gt;&lt;/mrow&gt;&lt;/mfrac&gt;&lt;mo&gt;=&lt;/mo&gt;&lt;mfrac&gt;&lt;mn&gt;24&lt;/mn&gt;&lt;mrow&gt;&lt;mi&gt;y&lt;/mi&gt;&lt;mo&gt;−&lt;/mo&gt;&lt;mn&gt;3&lt;/mn&gt;&lt;/mrow&gt;&lt;/mfrac&gt;&lt;/math&gt;" id="1391" name="Google Shape;1391;p98" title="6 times the fraction with numerator y minus 3 and denominator y minus 3 equals the fraction with numerator 24 and denominator y minus 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62481" y="1615675"/>
            <a:ext cx="1926050" cy="569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\left(y-3\right)}{y-3}=\frac{24}{y-3}&quot;&gt;&lt;mfrac&gt;&lt;mrow&gt;&lt;mn&gt;6&lt;/mn&gt;&lt;mrow data-mjx-texclass=&quot;INNER&quot;&gt;&lt;mo data-mjx-texclass=&quot;OPEN&quot;&gt;(&lt;/mo&gt;&lt;mi&gt;y&lt;/mi&gt;&lt;mo&gt;−&lt;/mo&gt;&lt;mn&gt;3&lt;/mn&gt;&lt;mo data-mjx-texclass=&quot;CLOSE&quot;&gt;)&lt;/mo&gt;&lt;/mrow&gt;&lt;/mrow&gt;&lt;mrow&gt;&lt;mi&gt;y&lt;/mi&gt;&lt;mo&gt;−&lt;/mo&gt;&lt;mn&gt;3&lt;/mn&gt;&lt;/mrow&gt;&lt;/mfrac&gt;&lt;mo&gt;=&lt;/mo&gt;&lt;mfrac&gt;&lt;mn&gt;24&lt;/mn&gt;&lt;mrow&gt;&lt;mi&gt;y&lt;/mi&gt;&lt;mo&gt;−&lt;/mo&gt;&lt;mn&gt;3&lt;/mn&gt;&lt;/mrow&gt;&lt;/mfrac&gt;&lt;/math&gt;" id="1392" name="Google Shape;1392;p98" title="the fraction with numerator 6 times open paren y minus 3 close paren and denominator y minus 3 equals the fraction with numerator 24 and denominator y minus 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198370" y="2564875"/>
            <a:ext cx="1918300" cy="597058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98"/>
          <p:cNvSpPr txBox="1"/>
          <p:nvPr/>
        </p:nvSpPr>
        <p:spPr>
          <a:xfrm>
            <a:off x="5222516" y="3458414"/>
            <a:ext cx="1609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6(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− 3) = 24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4" name="Google Shape;1394;p98"/>
          <p:cNvSpPr txBox="1"/>
          <p:nvPr/>
        </p:nvSpPr>
        <p:spPr>
          <a:xfrm>
            <a:off x="5569825" y="3938075"/>
            <a:ext cx="1609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− 3 = 4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5" name="Google Shape;1395;p98"/>
          <p:cNvSpPr txBox="1"/>
          <p:nvPr/>
        </p:nvSpPr>
        <p:spPr>
          <a:xfrm>
            <a:off x="6027025" y="4471475"/>
            <a:ext cx="6870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9"/>
          <p:cNvSpPr txBox="1"/>
          <p:nvPr>
            <p:ph idx="1" type="body"/>
          </p:nvPr>
        </p:nvSpPr>
        <p:spPr>
          <a:xfrm>
            <a:off x="324000" y="759300"/>
            <a:ext cx="84960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Finish each method to solve this </a:t>
            </a:r>
            <a:r>
              <a:rPr lang="en-GB"/>
              <a:t>equation</a:t>
            </a:r>
            <a:r>
              <a:rPr lang="en-GB"/>
              <a:t> in two different ways:</a:t>
            </a:r>
            <a:endParaRPr/>
          </a:p>
        </p:txBody>
      </p:sp>
      <p:sp>
        <p:nvSpPr>
          <p:cNvPr id="1401" name="Google Shape;1401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id="1402" name="Google Shape;1402;p99" title="54 over e equal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552784"/>
            <a:ext cx="888942" cy="620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e\left(\frac{54}{e}\right)=e\left(6\right)&quot;&gt;&lt;mi&gt;e&lt;/mi&gt;&lt;mrow data-mjx-texclass=&quot;INNER&quot;&gt;&lt;mo data-mjx-texclass=&quot;OPEN&quot;&gt;(&lt;/mo&gt;&lt;mfrac&gt;&lt;mn&gt;54&lt;/mn&gt;&lt;mi&gt;e&lt;/mi&gt;&lt;/mfrac&gt;&lt;mo data-mjx-texclass=&quot;CLOSE&quot;&gt;)&lt;/mo&gt;&lt;/mrow&gt;&lt;mo&gt;=&lt;/mo&gt;&lt;mi&gt;e&lt;/mi&gt;&lt;mrow data-mjx-texclass=&quot;INNER&quot;&gt;&lt;mo data-mjx-texclass=&quot;OPEN&quot;&gt;(&lt;/mo&gt;&lt;mn&gt;6&lt;/mn&gt;&lt;mo data-mjx-texclass=&quot;CLOSE&quot;&gt;)&lt;/mo&gt;&lt;/mrow&gt;&lt;/math&gt;" id="1403" name="Google Shape;1403;p99" title="e of open paren 54 over e close paren equals e of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767" y="2295412"/>
            <a:ext cx="1953820" cy="754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4}{e}=6\times\frac{e}{e}&quot;&gt;&lt;mfrac&gt;&lt;mn&gt;54&lt;/mn&gt;&lt;mi&gt;e&lt;/mi&gt;&lt;/mfrac&gt;&lt;mo&gt;=&lt;/mo&gt;&lt;mn&gt;6&lt;/mn&gt;&lt;mo&gt;×&lt;/mo&gt;&lt;mfrac&gt;&lt;mi&gt;e&lt;/mi&gt;&lt;mi&gt;e&lt;/mi&gt;&lt;/mfrac&gt;&lt;/math&gt;" id="1404" name="Google Shape;1404;p99" title="54 over e equals 6 times e over 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5178" y="2327792"/>
            <a:ext cx="1426011" cy="620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id="1405" name="Google Shape;1405;p99" title="54 over e equal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309" y="1552784"/>
            <a:ext cx="888942" cy="6204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100"/>
          <p:cNvSpPr txBox="1"/>
          <p:nvPr>
            <p:ph idx="1" type="body"/>
          </p:nvPr>
        </p:nvSpPr>
        <p:spPr>
          <a:xfrm>
            <a:off x="324000" y="759300"/>
            <a:ext cx="1360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</a:t>
            </a:r>
            <a:r>
              <a:rPr lang="en-GB"/>
              <a:t>) Solve:</a:t>
            </a:r>
            <a:endParaRPr/>
          </a:p>
        </p:txBody>
      </p:sp>
      <p:sp>
        <p:nvSpPr>
          <p:cNvPr id="1411" name="Google Shape;1411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84}{x}=12&quot;&gt;&lt;mfrac&gt;&lt;mn&gt;84&lt;/mn&gt;&lt;mi&gt;x&lt;/mi&gt;&lt;/mfrac&gt;&lt;mo&gt;=&lt;/mo&gt;&lt;mn&gt;12&lt;/mn&gt;&lt;/math&gt;" id="1412" name="Google Shape;1412;p100" title="84 over x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1170524"/>
            <a:ext cx="1024516" cy="6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1=\frac{84}{x}&quot;&gt;&lt;mn&gt;11&lt;/mn&gt;&lt;mo&gt;=&lt;/mo&gt;&lt;mfrac&gt;&lt;mn&gt;84&lt;/mn&gt;&lt;mi&gt;x&lt;/mi&gt;&lt;/mfrac&gt;&lt;/math&gt;" id="1413" name="Google Shape;1413;p100" title="11 equals 84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72037" y="1177005"/>
            <a:ext cx="998020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4" name="Google Shape;1414;p100"/>
          <p:cNvSpPr txBox="1"/>
          <p:nvPr>
            <p:ph idx="1" type="body"/>
          </p:nvPr>
        </p:nvSpPr>
        <p:spPr>
          <a:xfrm>
            <a:off x="324000" y="1140300"/>
            <a:ext cx="4263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r>
              <a:rPr lang="en-GB"/>
              <a:t>)</a:t>
            </a:r>
            <a:endParaRPr/>
          </a:p>
        </p:txBody>
      </p:sp>
      <p:sp>
        <p:nvSpPr>
          <p:cNvPr id="1415" name="Google Shape;1415;p100"/>
          <p:cNvSpPr txBox="1"/>
          <p:nvPr>
            <p:ph idx="1" type="body"/>
          </p:nvPr>
        </p:nvSpPr>
        <p:spPr>
          <a:xfrm>
            <a:off x="3351290" y="1140300"/>
            <a:ext cx="3501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r>
              <a:rPr lang="en-GB"/>
              <a:t>)</a:t>
            </a:r>
            <a:endParaRPr/>
          </a:p>
        </p:txBody>
      </p:sp>
      <p:sp>
        <p:nvSpPr>
          <p:cNvPr id="1416" name="Google Shape;1416;p100"/>
          <p:cNvSpPr txBox="1"/>
          <p:nvPr>
            <p:ph idx="1" type="body"/>
          </p:nvPr>
        </p:nvSpPr>
        <p:spPr>
          <a:xfrm>
            <a:off x="6239574" y="1140300"/>
            <a:ext cx="3501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r>
              <a:rPr lang="en-GB"/>
              <a:t>)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-7=\frac{84}{3x}&quot;&gt;&lt;mo&gt;−&lt;/mo&gt;&lt;mn&gt;7&lt;/mn&gt;&lt;mo&gt;=&lt;/mo&gt;&lt;mfrac&gt;&lt;mn&gt;84&lt;/mn&gt;&lt;mrow&gt;&lt;mn&gt;3&lt;/mn&gt;&lt;mi&gt;x&lt;/mi&gt;&lt;/mrow&gt;&lt;/mfrac&gt;&lt;/math&gt;" id="1417" name="Google Shape;1417;p100" title="negative 7 equals 84 over 3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7292" y="1174850"/>
            <a:ext cx="1012917" cy="574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01"/>
          <p:cNvSpPr txBox="1"/>
          <p:nvPr>
            <p:ph idx="1" type="body"/>
          </p:nvPr>
        </p:nvSpPr>
        <p:spPr>
          <a:xfrm>
            <a:off x="324000" y="759300"/>
            <a:ext cx="8496000" cy="67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Finish each method to solve this equation in two different ways:</a:t>
            </a:r>
            <a:endParaRPr/>
          </a:p>
        </p:txBody>
      </p:sp>
      <p:sp>
        <p:nvSpPr>
          <p:cNvPr id="1423" name="Google Shape;142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id="1424" name="Google Shape;1424;p101" title="54 over e equal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552784"/>
            <a:ext cx="888942" cy="620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e\left(\frac{54}{e}\right)=e\left(6\right)&quot;&gt;&lt;mi&gt;e&lt;/mi&gt;&lt;mrow data-mjx-texclass=&quot;INNER&quot;&gt;&lt;mo data-mjx-texclass=&quot;OPEN&quot;&gt;(&lt;/mo&gt;&lt;mfrac&gt;&lt;mn&gt;54&lt;/mn&gt;&lt;mi&gt;e&lt;/mi&gt;&lt;/mfrac&gt;&lt;mo data-mjx-texclass=&quot;CLOSE&quot;&gt;)&lt;/mo&gt;&lt;/mrow&gt;&lt;mo&gt;=&lt;/mo&gt;&lt;mi&gt;e&lt;/mi&gt;&lt;mrow data-mjx-texclass=&quot;INNER&quot;&gt;&lt;mo data-mjx-texclass=&quot;OPEN&quot;&gt;(&lt;/mo&gt;&lt;mn&gt;6&lt;/mn&gt;&lt;mo data-mjx-texclass=&quot;CLOSE&quot;&gt;)&lt;/mo&gt;&lt;/mrow&gt;&lt;/math&gt;" id="1425" name="Google Shape;1425;p101" title="e of open paren 54 over e close paren equals e of 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767" y="2295412"/>
            <a:ext cx="1953820" cy="7546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4}{e}=6\times\frac{e}{e}&quot;&gt;&lt;mfrac&gt;&lt;mn&gt;54&lt;/mn&gt;&lt;mi&gt;e&lt;/mi&gt;&lt;/mfrac&gt;&lt;mo&gt;=&lt;/mo&gt;&lt;mn&gt;6&lt;/mn&gt;&lt;mo&gt;×&lt;/mo&gt;&lt;mfrac&gt;&lt;mi&gt;e&lt;/mi&gt;&lt;mi&gt;e&lt;/mi&gt;&lt;/mfrac&gt;&lt;/math&gt;" id="1426" name="Google Shape;1426;p101" title="54 over e equals 6 times e over e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5178" y="2327792"/>
            <a:ext cx="1426011" cy="620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4}{e}=\frac{6e}{e}&quot;&gt;&lt;mfrac&gt;&lt;mn&gt;54&lt;/mn&gt;&lt;mi&gt;e&lt;/mi&gt;&lt;/mfrac&gt;&lt;mo&gt;=&lt;/mo&gt;&lt;mfrac&gt;&lt;mrow&gt;&lt;mn&gt;6&lt;/mn&gt;&lt;mi&gt;e&lt;/mi&gt;&lt;/mrow&gt;&lt;mi&gt;e&lt;/mi&gt;&lt;/mfrac&gt;&lt;/math&gt;" id="1427" name="Google Shape;1427;p101" title="54 over e equals 6 e over e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2499" y="3170734"/>
            <a:ext cx="1101917" cy="6204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4}{e}=6&quot;&gt;&lt;mfrac&gt;&lt;mn&gt;54&lt;/mn&gt;&lt;mi&gt;e&lt;/mi&gt;&lt;/mfrac&gt;&lt;mo&gt;=&lt;/mo&gt;&lt;mn&gt;6&lt;/mn&gt;&lt;/math&gt;" id="1428" name="Google Shape;1428;p101" title="54 over e equals 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0309" y="1552784"/>
            <a:ext cx="888942" cy="620403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01"/>
          <p:cNvSpPr txBox="1"/>
          <p:nvPr/>
        </p:nvSpPr>
        <p:spPr>
          <a:xfrm>
            <a:off x="1302625" y="3252275"/>
            <a:ext cx="97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 = 6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0" name="Google Shape;1430;p101"/>
          <p:cNvSpPr txBox="1"/>
          <p:nvPr/>
        </p:nvSpPr>
        <p:spPr>
          <a:xfrm>
            <a:off x="1479900" y="3875500"/>
            <a:ext cx="97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1" name="Google Shape;1431;p101"/>
          <p:cNvSpPr txBox="1"/>
          <p:nvPr/>
        </p:nvSpPr>
        <p:spPr>
          <a:xfrm>
            <a:off x="5394964" y="3980584"/>
            <a:ext cx="97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54 = 6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2" name="Google Shape;1432;p101"/>
          <p:cNvSpPr txBox="1"/>
          <p:nvPr/>
        </p:nvSpPr>
        <p:spPr>
          <a:xfrm>
            <a:off x="5572239" y="4505148"/>
            <a:ext cx="9708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9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6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102"/>
          <p:cNvSpPr txBox="1"/>
          <p:nvPr>
            <p:ph idx="1" type="body"/>
          </p:nvPr>
        </p:nvSpPr>
        <p:spPr>
          <a:xfrm>
            <a:off x="324000" y="759300"/>
            <a:ext cx="17019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Solve:</a:t>
            </a:r>
            <a:endParaRPr/>
          </a:p>
        </p:txBody>
      </p:sp>
      <p:sp>
        <p:nvSpPr>
          <p:cNvPr id="1438" name="Google Shape;143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Solving simple rational equations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84}{x}=12&quot;&gt;&lt;mfrac&gt;&lt;mn&gt;84&lt;/mn&gt;&lt;mi&gt;x&lt;/mi&gt;&lt;/mfrac&gt;&lt;mo&gt;=&lt;/mo&gt;&lt;mn&gt;12&lt;/mn&gt;&lt;/math&gt;" id="1439" name="Google Shape;1439;p102" title="84 over x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6800" y="1170524"/>
            <a:ext cx="1024516" cy="6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4}{x}=12\times\frac{x}{x}&quot;&gt;&lt;mfrac&gt;&lt;mn&gt;84&lt;/mn&gt;&lt;mi&gt;x&lt;/mi&gt;&lt;/mfrac&gt;&lt;mo&gt;=&lt;/mo&gt;&lt;mn&gt;12&lt;/mn&gt;&lt;mo&gt;×&lt;/mo&gt;&lt;mfrac&gt;&lt;mi&gt;x&lt;/mi&gt;&lt;mi&gt;x&lt;/mi&gt;&lt;/mfrac&gt;&lt;/math&gt;" id="1440" name="Google Shape;1440;p102" title="84 over x equals 12 times x over 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1481" y="2024943"/>
            <a:ext cx="1585350" cy="6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84}{x}=\frac{12x}{x}&quot;&gt;&lt;mfrac&gt;&lt;mn&gt;84&lt;/mn&gt;&lt;mi&gt;x&lt;/mi&gt;&lt;/mfrac&gt;&lt;mo&gt;=&lt;/mo&gt;&lt;mfrac&gt;&lt;mrow&gt;&lt;mn&gt;12&lt;/mn&gt;&lt;mi&gt;x&lt;/mi&gt;&lt;/mrow&gt;&lt;mi&gt;x&lt;/mi&gt;&lt;/mfrac&gt;&lt;/math&gt;" id="1441" name="Google Shape;1441;p102" title="84 over x equals 12 x over 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66800" y="2919792"/>
            <a:ext cx="1262981" cy="6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1=\frac{84}{x}&quot;&gt;&lt;mn&gt;11&lt;/mn&gt;&lt;mo&gt;=&lt;/mo&gt;&lt;mfrac&gt;&lt;mn&gt;84&lt;/mn&gt;&lt;mi&gt;x&lt;/mi&gt;&lt;/mfrac&gt;&lt;/math&gt;" id="1442" name="Google Shape;1442;p102" title="11 equals 84 over 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2037" y="1177005"/>
            <a:ext cx="998020" cy="60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\left(11\right)=x\left(\frac{84}{x}\right)&quot;&gt;&lt;mi&gt;x&lt;/mi&gt;&lt;mrow data-mjx-texclass=&quot;INNER&quot;&gt;&lt;mo data-mjx-texclass=&quot;OPEN&quot;&gt;(&lt;/mo&gt;&lt;mn&gt;11&lt;/mn&gt;&lt;mo data-mjx-texclass=&quot;CLOSE&quot;&gt;)&lt;/mo&gt;&lt;/mrow&gt;&lt;mo&gt;=&lt;/mo&gt;&lt;mi&gt;x&lt;/mi&gt;&lt;mrow data-mjx-texclass=&quot;INNER&quot;&gt;&lt;mo data-mjx-texclass=&quot;OPEN&quot;&gt;(&lt;/mo&gt;&lt;mfrac&gt;&lt;mn&gt;84&lt;/mn&gt;&lt;mi&gt;x&lt;/mi&gt;&lt;/mfrac&gt;&lt;mo data-mjx-texclass=&quot;CLOSE&quot;&gt;)&lt;/mo&gt;&lt;/mrow&gt;&lt;/math&gt;" id="1443" name="Google Shape;1443;p102" title="x of 11 equals x of open paren 84 over x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2061" y="1986146"/>
            <a:ext cx="2035784" cy="7197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=\frac{84}{11}&quot;&gt;&lt;mi&gt;x&lt;/mi&gt;&lt;mo&gt;=&lt;/mo&gt;&lt;mfrac&gt;&lt;mn&gt;84&lt;/mn&gt;&lt;mn&gt;11&lt;/mn&gt;&lt;/mfrac&gt;&lt;/math&gt;" id="1444" name="Google Shape;1444;p102" title="x equals 84 over 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77120" y="3683707"/>
            <a:ext cx="887620" cy="60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5" name="Google Shape;1445;p102"/>
          <p:cNvSpPr txBox="1"/>
          <p:nvPr>
            <p:ph idx="1" type="body"/>
          </p:nvPr>
        </p:nvSpPr>
        <p:spPr>
          <a:xfrm>
            <a:off x="324000" y="1140300"/>
            <a:ext cx="4263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a)</a:t>
            </a:r>
            <a:endParaRPr/>
          </a:p>
        </p:txBody>
      </p:sp>
      <p:sp>
        <p:nvSpPr>
          <p:cNvPr id="1446" name="Google Shape;1446;p102"/>
          <p:cNvSpPr txBox="1"/>
          <p:nvPr>
            <p:ph idx="1" type="body"/>
          </p:nvPr>
        </p:nvSpPr>
        <p:spPr>
          <a:xfrm>
            <a:off x="3351290" y="1140300"/>
            <a:ext cx="3501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b)</a:t>
            </a:r>
            <a:endParaRPr/>
          </a:p>
        </p:txBody>
      </p:sp>
      <p:sp>
        <p:nvSpPr>
          <p:cNvPr id="1447" name="Google Shape;1447;p102"/>
          <p:cNvSpPr txBox="1"/>
          <p:nvPr>
            <p:ph idx="1" type="body"/>
          </p:nvPr>
        </p:nvSpPr>
        <p:spPr>
          <a:xfrm>
            <a:off x="6239574" y="1140300"/>
            <a:ext cx="350100" cy="5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c)</a:t>
            </a:r>
            <a:endParaRPr/>
          </a:p>
        </p:txBody>
      </p:sp>
      <p:sp>
        <p:nvSpPr>
          <p:cNvPr id="1448" name="Google Shape;1448;p102"/>
          <p:cNvSpPr txBox="1"/>
          <p:nvPr/>
        </p:nvSpPr>
        <p:spPr>
          <a:xfrm>
            <a:off x="1145400" y="3785675"/>
            <a:ext cx="1181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84 = 12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9" name="Google Shape;1449;p102"/>
          <p:cNvSpPr txBox="1"/>
          <p:nvPr/>
        </p:nvSpPr>
        <p:spPr>
          <a:xfrm>
            <a:off x="1309030" y="4496348"/>
            <a:ext cx="1181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7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0" name="Google Shape;1450;p102"/>
          <p:cNvSpPr txBox="1"/>
          <p:nvPr/>
        </p:nvSpPr>
        <p:spPr>
          <a:xfrm>
            <a:off x="3651182" y="3050961"/>
            <a:ext cx="11814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84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-7=\frac{84}{3x}&quot;&gt;&lt;mo&gt;−&lt;/mo&gt;&lt;mn&gt;7&lt;/mn&gt;&lt;mo&gt;=&lt;/mo&gt;&lt;mfrac&gt;&lt;mn&gt;84&lt;/mn&gt;&lt;mrow&gt;&lt;mn&gt;3&lt;/mn&gt;&lt;mi&gt;x&lt;/mi&gt;&lt;/mrow&gt;&lt;/mfrac&gt;&lt;/math&gt;" id="1451" name="Google Shape;1451;p102" title="negative 7 equals 84 over 3 x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07292" y="1174850"/>
            <a:ext cx="1012917" cy="574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7\times\frac{3x}{3x}=\frac{84}{3x}&quot;&gt;&lt;mo&gt;−&lt;/mo&gt;&lt;mn&gt;7&lt;/mn&gt;&lt;mo&gt;×&lt;/mo&gt;&lt;mfrac&gt;&lt;mrow&gt;&lt;mn&gt;3&lt;/mn&gt;&lt;mi&gt;x&lt;/mi&gt;&lt;/mrow&gt;&lt;mrow&gt;&lt;mn&gt;3&lt;/mn&gt;&lt;mi&gt;x&lt;/mi&gt;&lt;/mrow&gt;&lt;/mfrac&gt;&lt;mo&gt;=&lt;/mo&gt;&lt;mfrac&gt;&lt;mn&gt;84&lt;/mn&gt;&lt;mrow&gt;&lt;mn&gt;3&lt;/mn&gt;&lt;mi&gt;x&lt;/mi&gt;&lt;/mrow&gt;&lt;/mfrac&gt;&lt;/math&gt;" id="1452" name="Google Shape;1452;p102" title="negative 7 times 3 x over 3 x equals 84 over 3 x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205884" y="2032236"/>
            <a:ext cx="1701865" cy="57412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-21x}{3x}=\frac{84}{3x}&quot;&gt;&lt;mfrac&gt;&lt;mrow&gt;&lt;mo&gt;−&lt;/mo&gt;&lt;mn&gt;21&lt;/mn&gt;&lt;mi&gt;x&lt;/mi&gt;&lt;/mrow&gt;&lt;mrow&gt;&lt;mn&gt;3&lt;/mn&gt;&lt;mi&gt;x&lt;/mi&gt;&lt;/mrow&gt;&lt;/mfrac&gt;&lt;mo&gt;=&lt;/mo&gt;&lt;mfrac&gt;&lt;mn&gt;84&lt;/mn&gt;&lt;mrow&gt;&lt;mn&gt;3&lt;/mn&gt;&lt;mi&gt;x&lt;/mi&gt;&lt;/mrow&gt;&lt;/mfrac&gt;&lt;/math&gt;" id="1453" name="Google Shape;1453;p102" title="negative 21 x over 3 x equals 84 over 3 x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33261" y="2934602"/>
            <a:ext cx="1386097" cy="574123"/>
          </a:xfrm>
          <a:prstGeom prst="rect">
            <a:avLst/>
          </a:prstGeom>
          <a:noFill/>
          <a:ln>
            <a:noFill/>
          </a:ln>
        </p:spPr>
      </p:pic>
      <p:sp>
        <p:nvSpPr>
          <p:cNvPr id="1454" name="Google Shape;1454;p102"/>
          <p:cNvSpPr txBox="1"/>
          <p:nvPr/>
        </p:nvSpPr>
        <p:spPr>
          <a:xfrm>
            <a:off x="6614165" y="3774445"/>
            <a:ext cx="124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−21</a:t>
            </a: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84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55" name="Google Shape;1455;p102"/>
          <p:cNvSpPr txBox="1"/>
          <p:nvPr/>
        </p:nvSpPr>
        <p:spPr>
          <a:xfrm>
            <a:off x="7082595" y="4307845"/>
            <a:ext cx="12489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−4</a:t>
            </a:r>
            <a:endParaRPr sz="24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3"/>
          <p:cNvSpPr txBox="1"/>
          <p:nvPr>
            <p:ph idx="1" type="body"/>
          </p:nvPr>
        </p:nvSpPr>
        <p:spPr>
          <a:xfrm>
            <a:off x="324000" y="1080000"/>
            <a:ext cx="8113800" cy="108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Complex linear </a:t>
            </a:r>
            <a:r>
              <a:rPr lang="en-GB"/>
              <a:t>equations, even those including reciprocals, can be manipulated and solved using our knowledge of manipulating fractions.</a:t>
            </a:r>
            <a:endParaRPr/>
          </a:p>
        </p:txBody>
      </p:sp>
      <p:sp>
        <p:nvSpPr>
          <p:cNvPr id="1461" name="Google Shape;1461;p103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complex linear equations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5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p10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67" name="Google Shape;1467;p10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