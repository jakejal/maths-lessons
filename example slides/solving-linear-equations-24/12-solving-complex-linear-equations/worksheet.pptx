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933353DE-2D12-4CDA-B1C0-350CB8BA1D54}">
  <a:tblStyle styleId="{933353DE-2D12-4CDA-B1C0-350CB8BA1D5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0" name="Shape 190"/>
        <p:cNvGrpSpPr/>
        <p:nvPr/>
      </p:nvGrpSpPr>
      <p:grpSpPr>
        <a:xfrm>
          <a:off x="0" y="0"/>
          <a:ext cx="0" cy="0"/>
        </a:xfrm>
      </p:grpSpPr>
      <p:sp>
        <p:nvSpPr>
          <p:cNvPr id="191" name="Google Shape;191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image" Target="../media/image12.png" /><Relationship Id="rId11" Type="http://schemas.openxmlformats.org/officeDocument/2006/relationships/image" Target="../media/image13.png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Relationship Id="rId7" Type="http://schemas.openxmlformats.org/officeDocument/2006/relationships/image" Target="../media/image9.png" /><Relationship Id="rId8" Type="http://schemas.openxmlformats.org/officeDocument/2006/relationships/image" Target="../media/image10.png" /><Relationship Id="rId9" Type="http://schemas.openxmlformats.org/officeDocument/2006/relationships/image" Target="../media/image1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10" Type="http://schemas.openxmlformats.org/officeDocument/2006/relationships/image" Target="../media/image20.png" /><Relationship Id="rId11" Type="http://schemas.openxmlformats.org/officeDocument/2006/relationships/image" Target="../media/image21.png" /><Relationship Id="rId12" Type="http://schemas.openxmlformats.org/officeDocument/2006/relationships/image" Target="../media/image22.png" /><Relationship Id="rId13" Type="http://schemas.openxmlformats.org/officeDocument/2006/relationships/image" Target="../media/image23.png" /><Relationship Id="rId14" Type="http://schemas.openxmlformats.org/officeDocument/2006/relationships/image" Target="../media/image24.png" /><Relationship Id="rId15" Type="http://schemas.openxmlformats.org/officeDocument/2006/relationships/image" Target="../media/image25.png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4.png" /><Relationship Id="rId4" Type="http://schemas.openxmlformats.org/officeDocument/2006/relationships/image" Target="../media/image13.png" /><Relationship Id="rId5" Type="http://schemas.openxmlformats.org/officeDocument/2006/relationships/image" Target="../media/image15.png" /><Relationship Id="rId6" Type="http://schemas.openxmlformats.org/officeDocument/2006/relationships/image" Target="../media/image16.png" /><Relationship Id="rId7" Type="http://schemas.openxmlformats.org/officeDocument/2006/relationships/image" Target="../media/image17.png" /><Relationship Id="rId8" Type="http://schemas.openxmlformats.org/officeDocument/2006/relationships/image" Target="../media/image18.png" /><Relationship Id="rId9" Type="http://schemas.openxmlformats.org/officeDocument/2006/relationships/image" Target="../media/image19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Solving complex linear equations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76400" y="1652735"/>
            <a:ext cx="34200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Alex solved this complex linear equation. Fill in the missing blanks in his work.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2" name="Google Shape;16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110099" y="2023085"/>
            <a:ext cx="849026" cy="97917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3" name="Google Shape;163;p20"/>
          <p:cNvGraphicFramePr>
            <a:graphicFrameLocks noGrp="1"/>
          </p:cNvGraphicFramePr>
          <p:nvPr/>
        </p:nvGraphicFramePr>
        <p:xfrm>
          <a:off x="3610570" y="2637217"/>
          <a:ext cx="2195125" cy="1143000"/>
        </p:xfrm>
        <a:graphic>
          <a:graphicData uri="http://schemas.openxmlformats.org/drawingml/2006/table">
            <a:tbl>
              <a:tblPr>
                <a:noFill/>
                <a:tableStyleId>{933353DE-2D12-4CDA-B1C0-350CB8BA1D54}</a:tableStyleId>
              </a:tblPr>
              <a:tblGrid>
                <a:gridCol w="1083225"/>
                <a:gridCol w="276675"/>
                <a:gridCol w="8352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− 5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64" name="Google Shape;164;p20" descr="&lt;math xmlns=&quot;http://www.w3.org/1998/Math/MathML&quot; display=&quot;block&quot; data-is-equatio=&quot;1&quot; data-latex=&quot;\frac{7x-5}{8}=2&quot;&gt;&lt;mfrac&gt;&lt;mrow&gt;&lt;mn&gt;7&lt;/mn&gt;&lt;mi&gt;x&lt;/mi&gt;&lt;mo&gt;−&lt;/mo&gt;&lt;mn&gt;5&lt;/mn&gt;&lt;/mrow&gt;&lt;mn&gt;8&lt;/mn&gt;&lt;/mfrac&gt;&lt;mo&gt;=&lt;/mo&gt;&lt;mn&gt;2&lt;/mn&gt;&lt;/math&gt;" title="the fraction with numerator 7 x minus 5 and denominator 8 equals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2725" y="1680210"/>
            <a:ext cx="796303" cy="356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0" descr="&lt;math xmlns=&quot;http://www.w3.org/1998/Math/MathML&quot; display=&quot;block&quot; data-is-equatio=&quot;1&quot; data-latex=&quot;\frac{7x-5}{8}=\frac{16}{8}&quot;&gt;&lt;mfrac&gt;&lt;mrow&gt;&lt;mn&gt;7&lt;/mn&gt;&lt;mi&gt;x&lt;/mi&gt;&lt;mo&gt;−&lt;/mo&gt;&lt;mn&gt;5&lt;/mn&gt;&lt;/mrow&gt;&lt;mn&gt;8&lt;/mn&gt;&lt;/mfrac&gt;&lt;mo&gt;=&lt;/mo&gt;&lt;mfrac&gt;&lt;mn&gt;16&lt;/mn&gt;&lt;mn&gt;8&lt;/mn&gt;&lt;/mfrac&gt;&lt;/math&gt;" title="the fraction with numerator 7 x minus 5 and denominator 8 equals sixteen eigh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23003" y="2181834"/>
            <a:ext cx="927274" cy="356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0" descr="&lt;math xmlns=&quot;http://www.w3.org/1998/Math/MathML&quot; display=&quot;block&quot; data-is-equatio=&quot;1&quot; data-latex=&quot;\frac{2}{1}=\frac{16}{8}&quot;&gt;&lt;mfrac&gt;&lt;mn&gt;2&lt;/mn&gt;&lt;mn&gt;1&lt;/mn&gt;&lt;/mfrac&gt;&lt;mo&gt;=&lt;/mo&gt;&lt;mfrac&gt;&lt;mn&gt;16&lt;/mn&gt;&lt;mn&gt;8&lt;/mn&gt;&lt;/mfrac&gt;&lt;/math&gt;" title="two oneths equals sixteen eigh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40519" y="1973551"/>
            <a:ext cx="532336" cy="34255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7" name="Google Shape;167;p20"/>
          <p:cNvGrpSpPr/>
          <p:nvPr/>
        </p:nvGrpSpPr>
        <p:grpSpPr>
          <a:xfrm>
            <a:off x="4540265" y="1923023"/>
            <a:ext cx="1623289" cy="1780887"/>
            <a:chOff x="5200712" y="1685925"/>
            <a:chExt cx="2893563" cy="3174486"/>
          </a:xfrm>
        </p:grpSpPr>
        <p:sp>
          <p:nvSpPr>
            <p:cNvPr id="168" name="Google Shape;168;p20"/>
            <p:cNvSpPr/>
            <p:nvPr/>
          </p:nvSpPr>
          <p:spPr>
            <a:xfrm>
              <a:off x="5278479" y="2065204"/>
              <a:ext cx="333300" cy="3849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" name="Google Shape;169;p20"/>
            <p:cNvSpPr/>
            <p:nvPr/>
          </p:nvSpPr>
          <p:spPr>
            <a:xfrm>
              <a:off x="5932175" y="2065204"/>
              <a:ext cx="333300" cy="3849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" name="Google Shape;170;p20"/>
            <p:cNvSpPr/>
            <p:nvPr/>
          </p:nvSpPr>
          <p:spPr>
            <a:xfrm>
              <a:off x="7760975" y="1685925"/>
              <a:ext cx="333300" cy="3849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" name="Google Shape;171;p20"/>
            <p:cNvSpPr/>
            <p:nvPr/>
          </p:nvSpPr>
          <p:spPr>
            <a:xfrm>
              <a:off x="5200712" y="3097111"/>
              <a:ext cx="333300" cy="3849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2" name="Google Shape;172;p20"/>
            <p:cNvSpPr/>
            <p:nvPr/>
          </p:nvSpPr>
          <p:spPr>
            <a:xfrm>
              <a:off x="5983368" y="3097111"/>
              <a:ext cx="333300" cy="3849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3" name="Google Shape;173;p20"/>
            <p:cNvSpPr/>
            <p:nvPr/>
          </p:nvSpPr>
          <p:spPr>
            <a:xfrm>
              <a:off x="5966389" y="3777822"/>
              <a:ext cx="333300" cy="3849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4" name="Google Shape;174;p20"/>
            <p:cNvSpPr/>
            <p:nvPr/>
          </p:nvSpPr>
          <p:spPr>
            <a:xfrm>
              <a:off x="5966389" y="4475511"/>
              <a:ext cx="333300" cy="3849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75" name="Google Shape;175;p20" descr="&lt;math xmlns=&quot;http://www.w3.org/1998/Math/MathML&quot; display=&quot;block&quot; data-is-equatio=&quot;1&quot; data-latex=&quot;\frac{2x+10}{3}=14&quot;&gt;&lt;mfrac&gt;&lt;mrow&gt;&lt;mn&gt;2&lt;/mn&gt;&lt;mi&gt;x&lt;/mi&gt;&lt;mo&gt;+&lt;/mo&gt;&lt;mn&gt;10&lt;/mn&gt;&lt;/mrow&gt;&lt;mn&gt;3&lt;/mn&gt;&lt;/mfrac&gt;&lt;mo&gt;=&lt;/mo&gt;&lt;mn&gt;14&lt;/mn&gt;&lt;/math&gt;" title="the fraction with numerator 2 x plus 10 and denominator 3 equals 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00146" y="3987853"/>
            <a:ext cx="945059" cy="347527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 txBox="1"/>
          <p:nvPr/>
        </p:nvSpPr>
        <p:spPr>
          <a:xfrm>
            <a:off x="466875" y="3719660"/>
            <a:ext cx="1068600" cy="2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Solve: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7" name="Google Shape;177;p20" descr="&lt;math xmlns=&quot;http://www.w3.org/1998/Math/MathML&quot; display=&quot;block&quot; data-is-equatio=&quot;1&quot; data-latex=&quot;\frac{2x}{3}+10=14&quot;&gt;&lt;mfrac&gt;&lt;mrow&gt;&lt;mn&gt;2&lt;/mn&gt;&lt;mi&gt;x&lt;/mi&gt;&lt;/mrow&gt;&lt;mn&gt;3&lt;/mn&gt;&lt;/mfrac&gt;&lt;mo&gt;+&lt;/mo&gt;&lt;mn&gt;10&lt;/mn&gt;&lt;mo&gt;=&lt;/mo&gt;&lt;mn&gt;14&lt;/mn&gt;&lt;/math&gt;" title="2 x over 3 plus 10 equals 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25905" y="3987760"/>
            <a:ext cx="936416" cy="344348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/>
        </p:nvSpPr>
        <p:spPr>
          <a:xfrm>
            <a:off x="466875" y="3937030"/>
            <a:ext cx="3297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3422329" y="3937030"/>
            <a:ext cx="3297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0" name="Google Shape;180;p20"/>
          <p:cNvCxnSpPr/>
          <p:nvPr/>
        </p:nvCxnSpPr>
        <p:spPr>
          <a:xfrm>
            <a:off x="474750" y="6293435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1" name="Google Shape;181;p20"/>
          <p:cNvSpPr txBox="1"/>
          <p:nvPr/>
        </p:nvSpPr>
        <p:spPr>
          <a:xfrm>
            <a:off x="468000" y="6353800"/>
            <a:ext cx="4761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Solving complex linear equations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468000" y="1345575"/>
            <a:ext cx="6411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Introduction to complex linear equations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3" name="Google Shape;183;p20" descr="&lt;math xmlns=&quot;http://www.w3.org/1998/Math/MathML&quot; display=&quot;block&quot; data-is-equatio=&quot;1&quot; data-latex=&quot;\frac{3x-5}{10}=\frac{2x+1}{10}&quot;&gt;&lt;mfrac&gt;&lt;mrow&gt;&lt;mn&gt;3&lt;/mn&gt;&lt;mi&gt;x&lt;/mi&gt;&lt;mo&gt;−&lt;/mo&gt;&lt;mn&gt;5&lt;/mn&gt;&lt;/mrow&gt;&lt;mn&gt;10&lt;/mn&gt;&lt;/mfrac&gt;&lt;mo&gt;=&lt;/mo&gt;&lt;mfrac&gt;&lt;mrow&gt;&lt;mn&gt;2&lt;/mn&gt;&lt;mi&gt;x&lt;/mi&gt;&lt;mo&gt;+&lt;/mo&gt;&lt;mn&gt;1&lt;/mn&gt;&lt;/mrow&gt;&lt;mn&gt;10&lt;/mn&gt;&lt;/mfrac&gt;&lt;/math&gt;" title="the fraction with numerator 3 x minus 5 and denominator 10 equals the fraction with numerator 2 x plus 1 and denominator 1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060095" y="8371325"/>
            <a:ext cx="1193408" cy="350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 descr="&lt;math xmlns=&quot;http://www.w3.org/1998/Math/MathML&quot; display=&quot;block&quot; data-is-equatio=&quot;1&quot; data-latex=&quot;\frac{3x-5}{2}\times\frac{1}{5}=\frac{2x+1}{10}&quot;&gt;&lt;mfrac&gt;&lt;mrow&gt;&lt;mn&gt;3&lt;/mn&gt;&lt;mi&gt;x&lt;/mi&gt;&lt;mo&gt;−&lt;/mo&gt;&lt;mn&gt;5&lt;/mn&gt;&lt;/mrow&gt;&lt;mn&gt;2&lt;/mn&gt;&lt;/mfrac&gt;&lt;mo&gt;×&lt;/mo&gt;&lt;mfrac&gt;&lt;mn&gt;1&lt;/mn&gt;&lt;mn&gt;5&lt;/mn&gt;&lt;/mfrac&gt;&lt;mo&gt;=&lt;/mo&gt;&lt;mfrac&gt;&lt;mrow&gt;&lt;mn&gt;2&lt;/mn&gt;&lt;mi&gt;x&lt;/mi&gt;&lt;mo&gt;+&lt;/mo&gt;&lt;mn&gt;1&lt;/mn&gt;&lt;/mrow&gt;&lt;mn&gt;10&lt;/mn&gt;&lt;/mfrac&gt;&lt;/math&gt;" title="the fraction with numerator 3 x minus 5 and denominator 2 times one fifth equals the fraction with numerator 2 x plus 1 and denominator 1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737950" y="7910367"/>
            <a:ext cx="1510350" cy="350999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466875" y="6779100"/>
            <a:ext cx="4681200" cy="5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Where is the error in this attempted solution?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the error and write a sentence explaining why it is wrong.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6" name="Google Shape;186;p20" descr="&lt;math xmlns=&quot;http://www.w3.org/1998/Math/MathML&quot; display=&quot;block&quot; data-is-equatio=&quot;1&quot; data-latex=&quot;\frac{3x-5}{2}=\frac{2x+1}{10}&quot;&gt;&lt;mfrac&gt;&lt;mrow&gt;&lt;mn&gt;3&lt;/mn&gt;&lt;mi&gt;x&lt;/mi&gt;&lt;mo&gt;−&lt;/mo&gt;&lt;mn&gt;5&lt;/mn&gt;&lt;/mrow&gt;&lt;mn&gt;2&lt;/mn&gt;&lt;/mfrac&gt;&lt;mo&gt;=&lt;/mo&gt;&lt;mfrac&gt;&lt;mrow&gt;&lt;mn&gt;2&lt;/mn&gt;&lt;mi&gt;x&lt;/mi&gt;&lt;mo&gt;+&lt;/mo&gt;&lt;mn&gt;1&lt;/mn&gt;&lt;/mrow&gt;&lt;mn&gt;10&lt;/mn&gt;&lt;/mfrac&gt;&lt;/math&gt;" title="the fraction with numerator 3 x minus 5 and denominator 2 equals the fraction with numerator 2 x plus 1 and denominator 1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053882" y="7458737"/>
            <a:ext cx="1193339" cy="350992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2107125" y="8886250"/>
            <a:ext cx="11508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− 5 = 2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+ 1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2194331" y="9240801"/>
            <a:ext cx="11508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− 5 = 1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2478925" y="9579300"/>
            <a:ext cx="504900" cy="2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6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3" name="Shape 193"/>
        <p:cNvGrpSpPr/>
        <p:nvPr/>
      </p:nvGrpSpPr>
      <p:grpSpPr>
        <a:xfrm>
          <a:off x="0" y="0"/>
          <a:ext cx="0" cy="0"/>
        </a:xfrm>
      </p:grpSpPr>
      <p:sp>
        <p:nvSpPr>
          <p:cNvPr id="194" name="Google Shape;194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95" name="Google Shape;195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Solving complex linear equations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 Light"/>
                <a:ea typeface="Lexend Light"/>
                <a:cs typeface="Lexend Light"/>
                <a:sym typeface="Lexend Light"/>
              </a:rPr>
              <a:t>Mathematics in Education and Industry.</a:t>
            </a:r>
            <a:endParaRPr/>
          </a:p>
        </p:txBody>
      </p:sp>
      <p:cxnSp>
        <p:nvCxnSpPr>
          <p:cNvPr id="198" name="Google Shape;198;p21"/>
          <p:cNvCxnSpPr/>
          <p:nvPr/>
        </p:nvCxnSpPr>
        <p:spPr>
          <a:xfrm>
            <a:off x="474750" y="4236035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9" name="Google Shape;199;p21"/>
          <p:cNvSpPr txBox="1"/>
          <p:nvPr/>
        </p:nvSpPr>
        <p:spPr>
          <a:xfrm>
            <a:off x="468000" y="4296400"/>
            <a:ext cx="4761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Solving simple rational equations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466875" y="864075"/>
            <a:ext cx="63687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Aisha successfully solved two equations. Fill in the missing blanks in her working.</a:t>
            </a:r>
            <a:endParaRPr sz="1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1" name="Google Shape;20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463" y="1198654"/>
            <a:ext cx="623346" cy="1177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1" descr="&lt;math xmlns=&quot;http://www.w3.org/1998/Math/MathML&quot; display=&quot;block&quot; data-is-equatio=&quot;1&quot; data-latex=&quot;\frac{3x-5}{2}=\frac{2x+1}{10}&quot;&gt;&lt;mfrac&gt;&lt;mrow&gt;&lt;mn&gt;3&lt;/mn&gt;&lt;mi&gt;x&lt;/mi&gt;&lt;mo&gt;−&lt;/mo&gt;&lt;mn&gt;5&lt;/mn&gt;&lt;/mrow&gt;&lt;mn&gt;2&lt;/mn&gt;&lt;/mfrac&gt;&lt;mo&gt;=&lt;/mo&gt;&lt;mfrac&gt;&lt;mrow&gt;&lt;mn&gt;2&lt;/mn&gt;&lt;mi&gt;x&lt;/mi&gt;&lt;mo&gt;+&lt;/mo&gt;&lt;mn&gt;1&lt;/mn&gt;&lt;/mrow&gt;&lt;mn&gt;10&lt;/mn&gt;&lt;/mfrac&gt;&lt;/math&gt;" title="the fraction with numerator 3 x minus 5 and denominator 2 equals the fraction with numerator 2 x plus 1 and denominator 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13392" y="1136425"/>
            <a:ext cx="1287456" cy="378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1" descr="&lt;math xmlns=&quot;http://www.w3.org/1998/Math/MathML&quot; display=&quot;block&quot; data-is-equatio=&quot;1&quot; data-latex=&quot;\frac{3x-5}{2}\times\frac{5}{5}=\frac{2x+1}{10}&quot;&gt;&lt;mfrac&gt;&lt;mrow&gt;&lt;mn&gt;3&lt;/mn&gt;&lt;mi&gt;x&lt;/mi&gt;&lt;mo&gt;−&lt;/mo&gt;&lt;mn&gt;5&lt;/mn&gt;&lt;/mrow&gt;&lt;mn&gt;2&lt;/mn&gt;&lt;/mfrac&gt;&lt;mo&gt;×&lt;/mo&gt;&lt;mfrac&gt;&lt;mn&gt;5&lt;/mn&gt;&lt;mn&gt;5&lt;/mn&gt;&lt;/mfrac&gt;&lt;mo&gt;=&lt;/mo&gt;&lt;mfrac&gt;&lt;mrow&gt;&lt;mn&gt;2&lt;/mn&gt;&lt;mi&gt;x&lt;/mi&gt;&lt;mo&gt;+&lt;/mo&gt;&lt;mn&gt;1&lt;/mn&gt;&lt;/mrow&gt;&lt;mn&gt;10&lt;/mn&gt;&lt;/mfrac&gt;&lt;/math&gt;" title="the fraction with numerator 3 x minus 5 and denominator 2 times five fifths equals the fraction with numerator 2 x plus 1 and denominator 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75275" y="1610596"/>
            <a:ext cx="1629436" cy="378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1" descr="&lt;math xmlns=&quot;http://www.w3.org/1998/Math/MathML&quot; display=&quot;block&quot; data-is-equatio=&quot;1&quot; data-latex=&quot;\frac{5\left(3x-5\right)}{10}=\frac{2x+1}{10}&quot;&gt;&lt;mfrac&gt;&lt;mrow&gt;&lt;mn&gt;5&lt;/mn&gt;&lt;mrow data-mjx-texclass=&quot;INNER&quot;&gt;&lt;mo data-mjx-texclass=&quot;OPEN&quot;&gt;(&lt;/mo&gt;&lt;mn&gt;3&lt;/mn&gt;&lt;mi&gt;x&lt;/mi&gt;&lt;mo&gt;−&lt;/mo&gt;&lt;mn&gt;5&lt;/mn&gt;&lt;mo data-mjx-texclass=&quot;CLOSE&quot;&gt;)&lt;/mo&gt;&lt;/mrow&gt;&lt;/mrow&gt;&lt;mn&gt;10&lt;/mn&gt;&lt;/mfrac&gt;&lt;mo&gt;=&lt;/mo&gt;&lt;mfrac&gt;&lt;mrow&gt;&lt;mn&gt;2&lt;/mn&gt;&lt;mi&gt;x&lt;/mi&gt;&lt;mo&gt;+&lt;/mo&gt;&lt;mn&gt;1&lt;/mn&gt;&lt;/mrow&gt;&lt;mn&gt;10&lt;/mn&gt;&lt;/mfrac&gt;&lt;/math&gt;" title="5 times open paren 3 x minus 5 close paren over 10 equals the fraction with numerator 2 x plus 1 and denominator 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92091" y="2103347"/>
            <a:ext cx="1509459" cy="378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1" descr="&lt;math xmlns=&quot;http://www.w3.org/1998/Math/MathML&quot; display=&quot;block&quot; data-is-equatio=&quot;1&quot; data-latex=&quot;\frac{5-x}{3}=\frac{3-x}{5}&quot;&gt;&lt;mfrac&gt;&lt;mrow&gt;&lt;mn&gt;5&lt;/mn&gt;&lt;mo&gt;−&lt;/mo&gt;&lt;mi&gt;x&lt;/mi&gt;&lt;/mrow&gt;&lt;mn&gt;3&lt;/mn&gt;&lt;/mfrac&gt;&lt;mo&gt;=&lt;/mo&gt;&lt;mfrac&gt;&lt;mrow&gt;&lt;mn&gt;3&lt;/mn&gt;&lt;mo&gt;−&lt;/mo&gt;&lt;mi&gt;x&lt;/mi&gt;&lt;/mrow&gt;&lt;mn&gt;5&lt;/mn&gt;&lt;/mfrac&gt;&lt;/math&gt;" title="the fraction with numerator 5 minus x and denominator 3 equals the fraction with numerator 3 minus x and denominator 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38397" y="1140232"/>
            <a:ext cx="1098733" cy="378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1" descr="&lt;math xmlns=&quot;http://www.w3.org/1998/Math/MathML&quot; display=&quot;block&quot; data-is-equatio=&quot;1&quot; data-latex=&quot;\frac{5-x}{3}\times\frac{5}{5}=\frac{3-x}{5}\times\frac{3}{3}&quot;&gt;&lt;mfrac&gt;&lt;mrow&gt;&lt;mn&gt;5&lt;/mn&gt;&lt;mo&gt;−&lt;/mo&gt;&lt;mi&gt;x&lt;/mi&gt;&lt;/mrow&gt;&lt;mn&gt;3&lt;/mn&gt;&lt;/mfrac&gt;&lt;mo&gt;×&lt;/mo&gt;&lt;mfrac&gt;&lt;mn&gt;5&lt;/mn&gt;&lt;mn&gt;5&lt;/mn&gt;&lt;/mfrac&gt;&lt;mo&gt;=&lt;/mo&gt;&lt;mfrac&gt;&lt;mrow&gt;&lt;mn&gt;3&lt;/mn&gt;&lt;mo&gt;−&lt;/mo&gt;&lt;mi&gt;x&lt;/mi&gt;&lt;/mrow&gt;&lt;mn&gt;5&lt;/mn&gt;&lt;/mfrac&gt;&lt;mo&gt;×&lt;/mo&gt;&lt;mfrac&gt;&lt;mn&gt;3&lt;/mn&gt;&lt;mn&gt;3&lt;/mn&gt;&lt;/mfrac&gt;&lt;/math&gt;" title="the fraction with numerator 5 minus x and denominator 3 times five fifths equals the fraction with numerator 3 minus x and denominator 5 times three third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194425" y="1609410"/>
            <a:ext cx="1798700" cy="378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1" descr="&lt;math xmlns=&quot;http://www.w3.org/1998/Math/MathML&quot; display=&quot;block&quot; data-is-equatio=&quot;1&quot; data-latex=&quot;\frac{5\left(5-x\right)}{15}=\frac{3\left(3-x\right)}{15}&quot;&gt;&lt;mfrac&gt;&lt;mrow&gt;&lt;mn&gt;5&lt;/mn&gt;&lt;mrow data-mjx-texclass=&quot;INNER&quot;&gt;&lt;mo data-mjx-texclass=&quot;OPEN&quot;&gt;(&lt;/mo&gt;&lt;mn&gt;5&lt;/mn&gt;&lt;mo&gt;−&lt;/mo&gt;&lt;mi&gt;x&lt;/mi&gt;&lt;mo data-mjx-texclass=&quot;CLOSE&quot;&gt;)&lt;/mo&gt;&lt;/mrow&gt;&lt;/mrow&gt;&lt;mn&gt;15&lt;/mn&gt;&lt;/mfrac&gt;&lt;mo&gt;=&lt;/mo&gt;&lt;mfrac&gt;&lt;mrow&gt;&lt;mn&gt;3&lt;/mn&gt;&lt;mrow data-mjx-texclass=&quot;INNER&quot;&gt;&lt;mo data-mjx-texclass=&quot;OPEN&quot;&gt;(&lt;/mo&gt;&lt;mn&gt;3&lt;/mn&gt;&lt;mo&gt;−&lt;/mo&gt;&lt;mi&gt;x&lt;/mi&gt;&lt;mo data-mjx-texclass=&quot;CLOSE&quot;&gt;)&lt;/mo&gt;&lt;/mrow&gt;&lt;/mrow&gt;&lt;mn&gt;15&lt;/mn&gt;&lt;/mfrac&gt;&lt;/math&gt;" title="5 times open paren 5 minus x close paren over 15 equals 3 times open paren 3 minus x close paren over 1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308320" y="2103827"/>
            <a:ext cx="1565727" cy="378673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 txBox="1"/>
          <p:nvPr/>
        </p:nvSpPr>
        <p:spPr>
          <a:xfrm>
            <a:off x="1914920" y="2566357"/>
            <a:ext cx="2532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5(3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− 5) = 2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+ 1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938379" y="2914082"/>
            <a:ext cx="2532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− 25 = 2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+ 1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2307149" y="3252573"/>
            <a:ext cx="12234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26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2483000" y="3587650"/>
            <a:ext cx="4833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4448573" y="2604450"/>
            <a:ext cx="16254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5(5 − 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3(3 − 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4475861" y="2952175"/>
            <a:ext cx="16254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25 − 5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9 − 3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4840799" y="3290675"/>
            <a:ext cx="7755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 = 2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4930295" y="3625751"/>
            <a:ext cx="4872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8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16" name="Google Shape;216;p21"/>
          <p:cNvGrpSpPr/>
          <p:nvPr/>
        </p:nvGrpSpPr>
        <p:grpSpPr>
          <a:xfrm>
            <a:off x="1703251" y="1577546"/>
            <a:ext cx="4347276" cy="2281057"/>
            <a:chOff x="1569900" y="1765938"/>
            <a:chExt cx="6282191" cy="3296325"/>
          </a:xfrm>
        </p:grpSpPr>
        <p:sp>
          <p:nvSpPr>
            <p:cNvPr id="217" name="Google Shape;217;p21"/>
            <p:cNvSpPr/>
            <p:nvPr/>
          </p:nvSpPr>
          <p:spPr>
            <a:xfrm>
              <a:off x="2556750" y="1783350"/>
              <a:ext cx="294300" cy="5949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8" name="Google Shape;218;p21"/>
            <p:cNvSpPr/>
            <p:nvPr/>
          </p:nvSpPr>
          <p:spPr>
            <a:xfrm>
              <a:off x="7557791" y="1765938"/>
              <a:ext cx="294300" cy="5949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9" name="Google Shape;219;p21"/>
            <p:cNvSpPr/>
            <p:nvPr/>
          </p:nvSpPr>
          <p:spPr>
            <a:xfrm>
              <a:off x="1569900" y="2432175"/>
              <a:ext cx="294300" cy="3792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0" name="Google Shape;220;p21"/>
            <p:cNvSpPr/>
            <p:nvPr/>
          </p:nvSpPr>
          <p:spPr>
            <a:xfrm>
              <a:off x="1695312" y="3168932"/>
              <a:ext cx="294300" cy="3792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1" name="Google Shape;221;p21"/>
            <p:cNvSpPr/>
            <p:nvPr/>
          </p:nvSpPr>
          <p:spPr>
            <a:xfrm>
              <a:off x="1977725" y="3671800"/>
              <a:ext cx="294300" cy="3792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2" name="Google Shape;222;p21"/>
            <p:cNvSpPr/>
            <p:nvPr/>
          </p:nvSpPr>
          <p:spPr>
            <a:xfrm>
              <a:off x="2549725" y="3689425"/>
              <a:ext cx="294300" cy="3792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3" name="Google Shape;223;p21"/>
            <p:cNvSpPr/>
            <p:nvPr/>
          </p:nvSpPr>
          <p:spPr>
            <a:xfrm>
              <a:off x="2411625" y="4158322"/>
              <a:ext cx="432000" cy="3792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4" name="Google Shape;224;p21"/>
            <p:cNvSpPr/>
            <p:nvPr/>
          </p:nvSpPr>
          <p:spPr>
            <a:xfrm>
              <a:off x="6593405" y="4683063"/>
              <a:ext cx="398400" cy="3792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5" name="Google Shape;225;p21"/>
            <p:cNvSpPr/>
            <p:nvPr/>
          </p:nvSpPr>
          <p:spPr>
            <a:xfrm>
              <a:off x="6593405" y="4199578"/>
              <a:ext cx="398400" cy="3792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6" name="Google Shape;226;p21"/>
            <p:cNvSpPr/>
            <p:nvPr/>
          </p:nvSpPr>
          <p:spPr>
            <a:xfrm>
              <a:off x="6502101" y="3717318"/>
              <a:ext cx="292800" cy="3792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7" name="Google Shape;227;p21"/>
            <p:cNvSpPr/>
            <p:nvPr/>
          </p:nvSpPr>
          <p:spPr>
            <a:xfrm>
              <a:off x="7009889" y="3716106"/>
              <a:ext cx="292800" cy="3792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8" name="Google Shape;228;p21"/>
            <p:cNvSpPr/>
            <p:nvPr/>
          </p:nvSpPr>
          <p:spPr>
            <a:xfrm>
              <a:off x="6520067" y="3247061"/>
              <a:ext cx="228900" cy="3792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9" name="Google Shape;229;p21"/>
            <p:cNvSpPr/>
            <p:nvPr/>
          </p:nvSpPr>
          <p:spPr>
            <a:xfrm>
              <a:off x="6607230" y="2409780"/>
              <a:ext cx="228900" cy="3792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30" name="Google Shape;230;p21"/>
          <p:cNvSpPr txBox="1"/>
          <p:nvPr/>
        </p:nvSpPr>
        <p:spPr>
          <a:xfrm>
            <a:off x="466875" y="4712175"/>
            <a:ext cx="51495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Finish each method to solve this equation in two different ways: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1" name="Google Shape;231;p21" descr="&lt;math xmlns=&quot;http://www.w3.org/1998/Math/MathML&quot; display=&quot;block&quot; data-is-equatio=&quot;1&quot; data-latex=&quot;\frac{54}{e}=6&quot;&gt;&lt;mfrac&gt;&lt;mn&gt;54&lt;/mn&gt;&lt;mi&gt;e&lt;/mi&gt;&lt;/mfrac&gt;&lt;mo&gt;=&lt;/mo&gt;&lt;mn&gt;6&lt;/mn&gt;&lt;/math&gt;" title="54 over e equals 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042104" y="4982233"/>
            <a:ext cx="509194" cy="3553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1" descr="&lt;math xmlns=&quot;http://www.w3.org/1998/Math/MathML&quot; display=&quot;block&quot; data-is-equatio=&quot;1&quot; data-latex=&quot;e\left(\frac{54}{e}\right)=e\left(6\right)&quot;&gt;&lt;mi&gt;e&lt;/mi&gt;&lt;mrow data-mjx-texclass=&quot;INNER&quot;&gt;&lt;mo data-mjx-texclass=&quot;OPEN&quot;&gt;(&lt;/mo&gt;&lt;mfrac&gt;&lt;mn&gt;54&lt;/mn&gt;&lt;mi&gt;e&lt;/mi&gt;&lt;/mfrac&gt;&lt;mo data-mjx-texclass=&quot;CLOSE&quot;&gt;)&lt;/mo&gt;&lt;/mrow&gt;&lt;mo&gt;=&lt;/mo&gt;&lt;mi&gt;e&lt;/mi&gt;&lt;mrow data-mjx-texclass=&quot;INNER&quot;&gt;&lt;mo data-mjx-texclass=&quot;OPEN&quot;&gt;(&lt;/mo&gt;&lt;mn&gt;6&lt;/mn&gt;&lt;mo data-mjx-texclass=&quot;CLOSE&quot;&gt;)&lt;/mo&gt;&lt;/mrow&gt;&lt;/math&gt;" title="e of open paren 54 over e close paren equals e of 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651200" y="5407615"/>
            <a:ext cx="1119166" cy="432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1" descr="&lt;math xmlns=&quot;http://www.w3.org/1998/Math/MathML&quot; display=&quot;block&quot; data-is-equatio=&quot;1&quot; data-latex=&quot;\frac{54}{e}=6\times\frac{e}{e}&quot;&gt;&lt;mfrac&gt;&lt;mn&gt;54&lt;/mn&gt;&lt;mi&gt;e&lt;/mi&gt;&lt;/mfrac&gt;&lt;mo&gt;=&lt;/mo&gt;&lt;mn&gt;6&lt;/mn&gt;&lt;mo&gt;×&lt;/mo&gt;&lt;mfrac&gt;&lt;mi&gt;e&lt;/mi&gt;&lt;mi&gt;e&lt;/mi&gt;&lt;/mfrac&gt;&lt;/math&gt;" title="54 over e equals 6 times e over e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388318" y="5426162"/>
            <a:ext cx="816832" cy="3553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1" descr="&lt;math xmlns=&quot;http://www.w3.org/1998/Math/MathML&quot; display=&quot;block&quot; data-is-equatio=&quot;1&quot; data-latex=&quot;\frac{54}{e}=6&quot;&gt;&lt;mfrac&gt;&lt;mn&gt;54&lt;/mn&gt;&lt;mi&gt;e&lt;/mi&gt;&lt;/mfrac&gt;&lt;mo&gt;=&lt;/mo&gt;&lt;mn&gt;6&lt;/mn&gt;&lt;/math&gt;" title="54 over e equals 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379800" y="4982233"/>
            <a:ext cx="509194" cy="355371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1"/>
          <p:cNvSpPr txBox="1"/>
          <p:nvPr/>
        </p:nvSpPr>
        <p:spPr>
          <a:xfrm>
            <a:off x="466875" y="6979125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Solve: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6" name="Google Shape;236;p21" descr="&lt;math xmlns=&quot;http://www.w3.org/1998/Math/MathML&quot; display=&quot;block&quot; data-is-equatio=&quot;1&quot; data-latex=&quot;\frac{84}{x}=12&quot;&gt;&lt;mfrac&gt;&lt;mn&gt;84&lt;/mn&gt;&lt;mi&gt;x&lt;/mi&gt;&lt;/mfrac&gt;&lt;mo&gt;=&lt;/mo&gt;&lt;mn&gt;12&lt;/mn&gt;&lt;/math&gt;" title="84 over x equals 12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26548" y="7390350"/>
            <a:ext cx="615969" cy="3663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1" descr="&lt;math xmlns=&quot;http://www.w3.org/1998/Math/MathML&quot; display=&quot;block&quot; data-is-equatio=&quot;1&quot; data-latex=&quot;11=\frac{84}{x}&quot;&gt;&lt;mn&gt;11&lt;/mn&gt;&lt;mo&gt;=&lt;/mo&gt;&lt;mfrac&gt;&lt;mn&gt;84&lt;/mn&gt;&lt;mi&gt;x&lt;/mi&gt;&lt;/mfrac&gt;&lt;/math&gt;" title="11 equals 84 over x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291216" y="7394247"/>
            <a:ext cx="600039" cy="366389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1"/>
          <p:cNvSpPr txBox="1"/>
          <p:nvPr/>
        </p:nvSpPr>
        <p:spPr>
          <a:xfrm>
            <a:off x="466875" y="7360125"/>
            <a:ext cx="4263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2808365" y="7360125"/>
            <a:ext cx="3501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5153725" y="7360125"/>
            <a:ext cx="3501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1" name="Google Shape;241;p21" descr="&lt;math xmlns=&quot;http://www.w3.org/1998/Math/MathML&quot; display=&quot;block&quot; data-is-equatio=&quot;1&quot; data-latex=&quot;-7=\frac{84}{3x}&quot;&gt;&lt;mo&gt;−&lt;/mo&gt;&lt;mn&gt;7&lt;/mn&gt;&lt;mo&gt;=&lt;/mo&gt;&lt;mfrac&gt;&lt;mn&gt;84&lt;/mn&gt;&lt;mrow&gt;&lt;mn&gt;3&lt;/mn&gt;&lt;mi&gt;x&lt;/mi&gt;&lt;/mrow&gt;&lt;/mfrac&gt;&lt;/math&gt;" title="negative 7 equals 84 over 3 x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700097" y="7392951"/>
            <a:ext cx="608996" cy="3451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32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Solving complex linear equations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2024-02-06T10:00:22.211</cp:lastPrinted>
  <dcterms:created xsi:type="dcterms:W3CDTF">2024-02-06T10:00:22Z</dcterms:created>
  <dcterms:modified xsi:type="dcterms:W3CDTF">2024-02-06T10:00:31Z</dcterms:modified>
</cp:coreProperties>
</file>