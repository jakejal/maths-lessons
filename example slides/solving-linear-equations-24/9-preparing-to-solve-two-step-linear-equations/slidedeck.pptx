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75">
          <p15:clr>
            <a:srgbClr val="747775"/>
          </p15:clr>
        </p15:guide>
        <p15:guide id="2" pos="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936674-AA78-4200-A5E4-B6E43F885304}">
  <a:tblStyle styleId="{9B936674-AA78-4200-A5E4-B6E43F8853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75" orient="horz"/>
        <p:guide pos="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1e3f268a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1e3f268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a1e3f268af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a1e3f268af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a1e3f268af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a1e3f268af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1e3f268af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a1e3f268af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a1e3f268af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a1e3f268af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a1e3f268af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a1e3f268af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a1e3f268af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a1e3f268af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a1e3f268af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a1e3f268af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a1e3f268af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a1e3f268af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a1e3f268af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a1e3f268af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a1e3f268af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a1e3f268af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a1e3f268af_0_1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a1e3f268af_0_1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a1e3f268af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a1e3f268af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a1e3f268af_0_2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a1e3f268af_0_2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2a1e3f268af_0_1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2a1e3f268af_0_1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a1e3f268af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a1e3f268af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a1e3f268af_0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a1e3f268af_0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a1e3f268af_0_1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a1e3f268af_0_1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a1e3f268af_0_1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a1e3f268af_0_1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2a1e3f268af_0_1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2a1e3f268af_0_1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a1e3f268af_0_1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a1e3f268af_0_1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2a1e3f268af_0_1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2a1e3f268af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a1e3f268af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a1e3f268af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a1e3f268af_0_1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a1e3f268af_0_1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2a1e3f268af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a1e3f268af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a1e3f268af_0_1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a1e3f268af_0_1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2a1e3f268af_0_1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2a1e3f268af_0_1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a1e3f268af_0_2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a1e3f268af_0_2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2a1e3f268af_0_2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2a1e3f268af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a1e3f268af_0_2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a1e3f268af_0_2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2a1e3f268af_0_2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2a1e3f268af_0_2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a1e3f268af_0_2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a1e3f268af_0_2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2a1e3f268af_0_2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2a1e3f268af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png"/><Relationship Id="rId4" Type="http://schemas.openxmlformats.org/officeDocument/2006/relationships/image" Target="../media/image64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4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4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39.png"/><Relationship Id="rId9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8.png"/><Relationship Id="rId6" Type="http://schemas.openxmlformats.org/officeDocument/2006/relationships/image" Target="../media/image52.png"/><Relationship Id="rId7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Relationship Id="rId4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that an equation needs to be in a format to be ready to be solved, through collecting like terms on each side of the equation.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2" type="subTitle"/>
          </p:nvPr>
        </p:nvSpPr>
        <p:spPr>
          <a:xfrm>
            <a:off x="324000" y="911225"/>
            <a:ext cx="7084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additive inverse of a number is a number that, when added to the original number, gives the sum of 0</a:t>
            </a:r>
            <a:endParaRPr sz="2000"/>
          </a:p>
        </p:txBody>
      </p:sp>
      <p:sp>
        <p:nvSpPr>
          <p:cNvPr id="771" name="Google Shape;771;p66"/>
          <p:cNvSpPr txBox="1"/>
          <p:nvPr>
            <p:ph idx="3" type="subTitle"/>
          </p:nvPr>
        </p:nvSpPr>
        <p:spPr>
          <a:xfrm>
            <a:off x="324001" y="19164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reciprocal is the multiplicative inverse of any non-zero number. </a:t>
            </a:r>
            <a:endParaRPr sz="2000"/>
          </a:p>
        </p:txBody>
      </p:sp>
      <p:sp>
        <p:nvSpPr>
          <p:cNvPr id="772" name="Google Shape;772;p66"/>
          <p:cNvSpPr txBox="1"/>
          <p:nvPr>
            <p:ph idx="3" type="subTitle"/>
          </p:nvPr>
        </p:nvSpPr>
        <p:spPr>
          <a:xfrm>
            <a:off x="324001" y="28194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To simplify an expression is to write it in a more efficient and compact form without affecting the value of the original expression. </a:t>
            </a:r>
            <a:endParaRPr sz="2000"/>
          </a:p>
        </p:txBody>
      </p:sp>
      <p:sp>
        <p:nvSpPr>
          <p:cNvPr id="773" name="Google Shape;773;p66"/>
          <p:cNvSpPr txBox="1"/>
          <p:nvPr>
            <p:ph idx="3" type="subTitle"/>
          </p:nvPr>
        </p:nvSpPr>
        <p:spPr>
          <a:xfrm>
            <a:off x="356626" y="38628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Like terms are terms that have the same set of variables and corresponding exponents.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779" name="Google Shape;779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</a:t>
            </a:r>
            <a:r>
              <a:rPr i="1"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80" name="Google Shape;780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04" y="20584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786;p68"/>
          <p:cNvGrpSpPr/>
          <p:nvPr/>
        </p:nvGrpSpPr>
        <p:grpSpPr>
          <a:xfrm>
            <a:off x="4893737" y="2428800"/>
            <a:ext cx="2880140" cy="575950"/>
            <a:chOff x="4893500" y="2428800"/>
            <a:chExt cx="2883600" cy="575950"/>
          </a:xfrm>
        </p:grpSpPr>
        <p:sp>
          <p:nvSpPr>
            <p:cNvPr id="787" name="Google Shape;787;p68"/>
            <p:cNvSpPr/>
            <p:nvPr/>
          </p:nvSpPr>
          <p:spPr>
            <a:xfrm>
              <a:off x="4893500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88" name="Google Shape;788;p68"/>
            <p:cNvSpPr/>
            <p:nvPr/>
          </p:nvSpPr>
          <p:spPr>
            <a:xfrm>
              <a:off x="5311633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89" name="Google Shape;789;p68"/>
            <p:cNvSpPr/>
            <p:nvPr/>
          </p:nvSpPr>
          <p:spPr>
            <a:xfrm>
              <a:off x="5716354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0" name="Google Shape;790;p68"/>
            <p:cNvSpPr/>
            <p:nvPr/>
          </p:nvSpPr>
          <p:spPr>
            <a:xfrm>
              <a:off x="6129455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1" name="Google Shape;791;p68"/>
            <p:cNvSpPr/>
            <p:nvPr/>
          </p:nvSpPr>
          <p:spPr>
            <a:xfrm>
              <a:off x="6545638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2" name="Google Shape;792;p68"/>
            <p:cNvSpPr/>
            <p:nvPr/>
          </p:nvSpPr>
          <p:spPr>
            <a:xfrm>
              <a:off x="6956950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3" name="Google Shape;793;p68"/>
            <p:cNvSpPr/>
            <p:nvPr/>
          </p:nvSpPr>
          <p:spPr>
            <a:xfrm>
              <a:off x="7365410" y="2428800"/>
              <a:ext cx="411600" cy="290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794" name="Google Shape;794;p68"/>
            <p:cNvSpPr/>
            <p:nvPr/>
          </p:nvSpPr>
          <p:spPr>
            <a:xfrm>
              <a:off x="4893500" y="2713150"/>
              <a:ext cx="2883600" cy="291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795" name="Google Shape;79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796" name="Google Shape;796;p68"/>
          <p:cNvSpPr txBox="1"/>
          <p:nvPr>
            <p:ph idx="1" type="body"/>
          </p:nvPr>
        </p:nvSpPr>
        <p:spPr>
          <a:xfrm>
            <a:off x="324000" y="759300"/>
            <a:ext cx="84960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equations can be solved with one calculation. These are often referred to as one step equations. </a:t>
            </a:r>
            <a:endParaRPr sz="1800"/>
          </a:p>
        </p:txBody>
      </p:sp>
      <p:sp>
        <p:nvSpPr>
          <p:cNvPr id="797" name="Google Shape;797;p68"/>
          <p:cNvSpPr txBox="1"/>
          <p:nvPr/>
        </p:nvSpPr>
        <p:spPr>
          <a:xfrm>
            <a:off x="324000" y="1467600"/>
            <a:ext cx="39960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E.g.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+ 17 = 53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Represented in a bar model: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8" name="Google Shape;798;p68"/>
          <p:cNvGrpSpPr/>
          <p:nvPr/>
        </p:nvGrpSpPr>
        <p:grpSpPr>
          <a:xfrm>
            <a:off x="324000" y="2419350"/>
            <a:ext cx="2604000" cy="613200"/>
            <a:chOff x="324000" y="2419350"/>
            <a:chExt cx="2604000" cy="613200"/>
          </a:xfrm>
        </p:grpSpPr>
        <p:sp>
          <p:nvSpPr>
            <p:cNvPr id="799" name="Google Shape;799;p68"/>
            <p:cNvSpPr/>
            <p:nvPr/>
          </p:nvSpPr>
          <p:spPr>
            <a:xfrm>
              <a:off x="1961700" y="2419350"/>
              <a:ext cx="9663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0" name="Google Shape;800;p68"/>
            <p:cNvSpPr/>
            <p:nvPr/>
          </p:nvSpPr>
          <p:spPr>
            <a:xfrm>
              <a:off x="324000" y="2419350"/>
              <a:ext cx="16377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1" name="Google Shape;801;p68"/>
            <p:cNvSpPr/>
            <p:nvPr/>
          </p:nvSpPr>
          <p:spPr>
            <a:xfrm>
              <a:off x="324000" y="2725950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02" name="Google Shape;802;p68"/>
          <p:cNvGrpSpPr/>
          <p:nvPr/>
        </p:nvGrpSpPr>
        <p:grpSpPr>
          <a:xfrm>
            <a:off x="1961700" y="2419350"/>
            <a:ext cx="966300" cy="611400"/>
            <a:chOff x="1961700" y="2419350"/>
            <a:chExt cx="966300" cy="611400"/>
          </a:xfrm>
        </p:grpSpPr>
        <p:sp>
          <p:nvSpPr>
            <p:cNvPr id="803" name="Google Shape;803;p68"/>
            <p:cNvSpPr/>
            <p:nvPr/>
          </p:nvSpPr>
          <p:spPr>
            <a:xfrm>
              <a:off x="1961700" y="2419350"/>
              <a:ext cx="966300" cy="306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04" name="Google Shape;804;p68"/>
            <p:cNvSpPr/>
            <p:nvPr/>
          </p:nvSpPr>
          <p:spPr>
            <a:xfrm>
              <a:off x="1961700" y="2724150"/>
              <a:ext cx="966300" cy="3066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05" name="Google Shape;805;p68"/>
          <p:cNvSpPr txBox="1"/>
          <p:nvPr/>
        </p:nvSpPr>
        <p:spPr>
          <a:xfrm>
            <a:off x="324000" y="3168475"/>
            <a:ext cx="41679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equation has a single additive step.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Adding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additive inverse (−17) to both sides of the equation will find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6" name="Google Shape;806;p68"/>
          <p:cNvCxnSpPr/>
          <p:nvPr/>
        </p:nvCxnSpPr>
        <p:spPr>
          <a:xfrm>
            <a:off x="4569175" y="123915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8"/>
          <p:cNvSpPr txBox="1"/>
          <p:nvPr/>
        </p:nvSpPr>
        <p:spPr>
          <a:xfrm>
            <a:off x="4976400" y="1467600"/>
            <a:ext cx="37407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E.g.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42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a bar model: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8" name="Google Shape;808;p68"/>
          <p:cNvGrpSpPr/>
          <p:nvPr/>
        </p:nvGrpSpPr>
        <p:grpSpPr>
          <a:xfrm>
            <a:off x="4892562" y="2714650"/>
            <a:ext cx="2879901" cy="290100"/>
            <a:chOff x="4892562" y="2714650"/>
            <a:chExt cx="2879901" cy="290100"/>
          </a:xfrm>
        </p:grpSpPr>
        <p:sp>
          <p:nvSpPr>
            <p:cNvPr id="809" name="Google Shape;809;p68"/>
            <p:cNvSpPr/>
            <p:nvPr/>
          </p:nvSpPr>
          <p:spPr>
            <a:xfrm>
              <a:off x="4892562" y="2714650"/>
              <a:ext cx="4122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0" name="Google Shape;810;p68"/>
            <p:cNvSpPr/>
            <p:nvPr/>
          </p:nvSpPr>
          <p:spPr>
            <a:xfrm>
              <a:off x="5303599" y="2714650"/>
              <a:ext cx="4119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1" name="Google Shape;811;p68"/>
            <p:cNvSpPr/>
            <p:nvPr/>
          </p:nvSpPr>
          <p:spPr>
            <a:xfrm>
              <a:off x="5716692" y="2714650"/>
              <a:ext cx="4122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2" name="Google Shape;812;p68"/>
            <p:cNvSpPr/>
            <p:nvPr/>
          </p:nvSpPr>
          <p:spPr>
            <a:xfrm>
              <a:off x="6130434" y="2714650"/>
              <a:ext cx="4122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3" name="Google Shape;813;p68"/>
            <p:cNvSpPr/>
            <p:nvPr/>
          </p:nvSpPr>
          <p:spPr>
            <a:xfrm>
              <a:off x="6539519" y="2714650"/>
              <a:ext cx="4119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4" name="Google Shape;814;p68"/>
            <p:cNvSpPr/>
            <p:nvPr/>
          </p:nvSpPr>
          <p:spPr>
            <a:xfrm>
              <a:off x="6951469" y="2714650"/>
              <a:ext cx="4119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15" name="Google Shape;815;p68"/>
            <p:cNvSpPr/>
            <p:nvPr/>
          </p:nvSpPr>
          <p:spPr>
            <a:xfrm>
              <a:off x="7360562" y="2714650"/>
              <a:ext cx="411900" cy="2901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16" name="Google Shape;816;p68"/>
          <p:cNvSpPr txBox="1"/>
          <p:nvPr/>
        </p:nvSpPr>
        <p:spPr>
          <a:xfrm>
            <a:off x="4741100" y="3168475"/>
            <a:ext cx="4078800" cy="14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equation has a single multiplicative step.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Multiplying both sides by the reciprocal        will find the solution.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frac{1}{7}\right)&quot;&gt;&lt;mrow data-mjx-texclass=&quot;INNER&quot;&gt;&lt;mo data-mjx-texclass=&quot;OPEN&quot;&gt;(&lt;/mo&gt;&lt;mfrac&gt;&lt;mn&gt;1&lt;/mn&gt;&lt;mn&gt;7&lt;/mn&gt;&lt;/mfrac&gt;&lt;mo data-mjx-texclass=&quot;CLOSE&quot;&gt;)&lt;/mo&gt;&lt;/mrow&gt;&lt;/math&gt;" id="817" name="Google Shape;817;p68" title="one sev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6217" y="4181781"/>
            <a:ext cx="383760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8"/>
          <p:cNvSpPr/>
          <p:nvPr/>
        </p:nvSpPr>
        <p:spPr>
          <a:xfrm>
            <a:off x="324000" y="2724150"/>
            <a:ext cx="1637700" cy="3066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824" name="Google Shape;824;p69"/>
          <p:cNvSpPr txBox="1"/>
          <p:nvPr>
            <p:ph idx="1" type="body"/>
          </p:nvPr>
        </p:nvSpPr>
        <p:spPr>
          <a:xfrm>
            <a:off x="324000" y="759300"/>
            <a:ext cx="84960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equations can be solved with two steps. This equation is a two step equation. How could we represent it with a bar model?</a:t>
            </a:r>
            <a:endParaRPr sz="1800"/>
          </a:p>
        </p:txBody>
      </p:sp>
      <p:sp>
        <p:nvSpPr>
          <p:cNvPr id="825" name="Google Shape;825;p69"/>
          <p:cNvSpPr txBox="1"/>
          <p:nvPr/>
        </p:nvSpPr>
        <p:spPr>
          <a:xfrm>
            <a:off x="324000" y="1391400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69"/>
          <p:cNvGrpSpPr/>
          <p:nvPr/>
        </p:nvGrpSpPr>
        <p:grpSpPr>
          <a:xfrm>
            <a:off x="324000" y="1931400"/>
            <a:ext cx="3158700" cy="540065"/>
            <a:chOff x="324000" y="1931400"/>
            <a:chExt cx="3158700" cy="540065"/>
          </a:xfrm>
        </p:grpSpPr>
        <p:sp>
          <p:nvSpPr>
            <p:cNvPr id="827" name="Google Shape;827;p69"/>
            <p:cNvSpPr/>
            <p:nvPr/>
          </p:nvSpPr>
          <p:spPr>
            <a:xfrm>
              <a:off x="324000" y="19314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8" name="Google Shape;828;p69"/>
            <p:cNvSpPr/>
            <p:nvPr/>
          </p:nvSpPr>
          <p:spPr>
            <a:xfrm>
              <a:off x="324000" y="2200565"/>
              <a:ext cx="31587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29" name="Google Shape;829;p69"/>
            <p:cNvSpPr/>
            <p:nvPr/>
          </p:nvSpPr>
          <p:spPr>
            <a:xfrm>
              <a:off x="1167565" y="19314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0" name="Google Shape;830;p69"/>
            <p:cNvSpPr/>
            <p:nvPr/>
          </p:nvSpPr>
          <p:spPr>
            <a:xfrm>
              <a:off x="2023035" y="19314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1" name="Google Shape;831;p69"/>
            <p:cNvSpPr/>
            <p:nvPr/>
          </p:nvSpPr>
          <p:spPr>
            <a:xfrm>
              <a:off x="2876319" y="1931400"/>
              <a:ext cx="606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32" name="Google Shape;832;p69"/>
          <p:cNvSpPr txBox="1"/>
          <p:nvPr>
            <p:ph idx="1" type="body"/>
          </p:nvPr>
        </p:nvSpPr>
        <p:spPr>
          <a:xfrm>
            <a:off x="324000" y="2720988"/>
            <a:ext cx="84960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represent this equation in a bar model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− 1 = 20</a:t>
            </a:r>
            <a:endParaRPr sz="1800"/>
          </a:p>
        </p:txBody>
      </p:sp>
      <p:grpSp>
        <p:nvGrpSpPr>
          <p:cNvPr id="833" name="Google Shape;833;p69"/>
          <p:cNvGrpSpPr/>
          <p:nvPr/>
        </p:nvGrpSpPr>
        <p:grpSpPr>
          <a:xfrm>
            <a:off x="318040" y="3539050"/>
            <a:ext cx="2547763" cy="539955"/>
            <a:chOff x="318040" y="3462850"/>
            <a:chExt cx="2547763" cy="539955"/>
          </a:xfrm>
        </p:grpSpPr>
        <p:sp>
          <p:nvSpPr>
            <p:cNvPr id="834" name="Google Shape;834;p69"/>
            <p:cNvSpPr/>
            <p:nvPr/>
          </p:nvSpPr>
          <p:spPr>
            <a:xfrm>
              <a:off x="318040" y="3462850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5" name="Google Shape;835;p69"/>
            <p:cNvSpPr/>
            <p:nvPr/>
          </p:nvSpPr>
          <p:spPr>
            <a:xfrm>
              <a:off x="318078" y="3732505"/>
              <a:ext cx="2222100" cy="270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6" name="Google Shape;836;p69"/>
            <p:cNvSpPr/>
            <p:nvPr/>
          </p:nvSpPr>
          <p:spPr>
            <a:xfrm>
              <a:off x="1161610" y="3462850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7" name="Google Shape;837;p69"/>
            <p:cNvSpPr/>
            <p:nvPr/>
          </p:nvSpPr>
          <p:spPr>
            <a:xfrm>
              <a:off x="2017086" y="3462850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38" name="Google Shape;838;p69"/>
            <p:cNvSpPr/>
            <p:nvPr/>
          </p:nvSpPr>
          <p:spPr>
            <a:xfrm>
              <a:off x="2540303" y="3732505"/>
              <a:ext cx="3255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39" name="Google Shape;839;p69"/>
          <p:cNvSpPr txBox="1"/>
          <p:nvPr>
            <p:ph idx="1" type="body"/>
          </p:nvPr>
        </p:nvSpPr>
        <p:spPr>
          <a:xfrm>
            <a:off x="324000" y="4176100"/>
            <a:ext cx="8496000" cy="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are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one step equations because one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cannot be isolated by adding or multiplying a single value.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845" name="Google Shape;845;p70"/>
          <p:cNvSpPr txBox="1"/>
          <p:nvPr>
            <p:ph idx="1" type="body"/>
          </p:nvPr>
        </p:nvSpPr>
        <p:spPr>
          <a:xfrm>
            <a:off x="324000" y="759300"/>
            <a:ext cx="84960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are </a:t>
            </a:r>
            <a:r>
              <a:rPr lang="en-GB" sz="1800">
                <a:solidFill>
                  <a:schemeClr val="accent4"/>
                </a:solidFill>
              </a:rPr>
              <a:t>two step</a:t>
            </a:r>
            <a:r>
              <a:rPr lang="en-GB" sz="1800"/>
              <a:t> equations as they </a:t>
            </a:r>
            <a:r>
              <a:rPr lang="en-GB" sz="1800"/>
              <a:t>have</a:t>
            </a:r>
            <a:r>
              <a:rPr lang="en-GB" sz="1800"/>
              <a:t> a multiplicative and an additive step. They are written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6" name="Google Shape;846;p70"/>
          <p:cNvSpPr txBox="1"/>
          <p:nvPr/>
        </p:nvSpPr>
        <p:spPr>
          <a:xfrm>
            <a:off x="324000" y="1620000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7" name="Google Shape;847;p70"/>
          <p:cNvGrpSpPr/>
          <p:nvPr/>
        </p:nvGrpSpPr>
        <p:grpSpPr>
          <a:xfrm>
            <a:off x="324000" y="2160000"/>
            <a:ext cx="3158700" cy="540065"/>
            <a:chOff x="324000" y="2160000"/>
            <a:chExt cx="3158700" cy="540065"/>
          </a:xfrm>
        </p:grpSpPr>
        <p:sp>
          <p:nvSpPr>
            <p:cNvPr id="848" name="Google Shape;848;p70"/>
            <p:cNvSpPr/>
            <p:nvPr/>
          </p:nvSpPr>
          <p:spPr>
            <a:xfrm>
              <a:off x="324000" y="21600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9" name="Google Shape;849;p70"/>
            <p:cNvSpPr/>
            <p:nvPr/>
          </p:nvSpPr>
          <p:spPr>
            <a:xfrm>
              <a:off x="324000" y="2429165"/>
              <a:ext cx="31587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0" name="Google Shape;850;p70"/>
            <p:cNvSpPr/>
            <p:nvPr/>
          </p:nvSpPr>
          <p:spPr>
            <a:xfrm>
              <a:off x="1167565" y="21600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1" name="Google Shape;851;p70"/>
            <p:cNvSpPr/>
            <p:nvPr/>
          </p:nvSpPr>
          <p:spPr>
            <a:xfrm>
              <a:off x="2023035" y="21600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2" name="Google Shape;852;p70"/>
            <p:cNvSpPr/>
            <p:nvPr/>
          </p:nvSpPr>
          <p:spPr>
            <a:xfrm>
              <a:off x="2876319" y="2160000"/>
              <a:ext cx="606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53" name="Google Shape;853;p70"/>
          <p:cNvGrpSpPr/>
          <p:nvPr/>
        </p:nvGrpSpPr>
        <p:grpSpPr>
          <a:xfrm>
            <a:off x="4823990" y="1641781"/>
            <a:ext cx="2547763" cy="952855"/>
            <a:chOff x="4823990" y="1641781"/>
            <a:chExt cx="2547763" cy="952855"/>
          </a:xfrm>
        </p:grpSpPr>
        <p:sp>
          <p:nvSpPr>
            <p:cNvPr id="854" name="Google Shape;854;p70"/>
            <p:cNvSpPr txBox="1"/>
            <p:nvPr/>
          </p:nvSpPr>
          <p:spPr>
            <a:xfrm>
              <a:off x="4829950" y="1641781"/>
              <a:ext cx="13608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3</a:t>
              </a:r>
              <a:r>
                <a:rPr i="1"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r>
                <a:rPr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20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 =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5" name="Google Shape;855;p70"/>
            <p:cNvSpPr/>
            <p:nvPr/>
          </p:nvSpPr>
          <p:spPr>
            <a:xfrm>
              <a:off x="4823990" y="2054681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6" name="Google Shape;856;p70"/>
            <p:cNvSpPr/>
            <p:nvPr/>
          </p:nvSpPr>
          <p:spPr>
            <a:xfrm>
              <a:off x="4824028" y="2324336"/>
              <a:ext cx="2222100" cy="270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7" name="Google Shape;857;p70"/>
            <p:cNvSpPr/>
            <p:nvPr/>
          </p:nvSpPr>
          <p:spPr>
            <a:xfrm>
              <a:off x="5667560" y="2054681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8" name="Google Shape;858;p70"/>
            <p:cNvSpPr/>
            <p:nvPr/>
          </p:nvSpPr>
          <p:spPr>
            <a:xfrm>
              <a:off x="6523036" y="2054681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59" name="Google Shape;859;p70"/>
            <p:cNvSpPr/>
            <p:nvPr/>
          </p:nvSpPr>
          <p:spPr>
            <a:xfrm>
              <a:off x="7046253" y="2324336"/>
              <a:ext cx="3255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60" name="Google Shape;860;p70"/>
          <p:cNvSpPr txBox="1"/>
          <p:nvPr/>
        </p:nvSpPr>
        <p:spPr>
          <a:xfrm>
            <a:off x="324000" y="2915400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 txBox="1"/>
          <p:nvPr/>
        </p:nvSpPr>
        <p:spPr>
          <a:xfrm>
            <a:off x="324000" y="3626425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i="1"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2" name="Google Shape;862;p70"/>
          <p:cNvCxnSpPr/>
          <p:nvPr/>
        </p:nvCxnSpPr>
        <p:spPr>
          <a:xfrm>
            <a:off x="447925" y="3214825"/>
            <a:ext cx="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70"/>
          <p:cNvCxnSpPr/>
          <p:nvPr/>
        </p:nvCxnSpPr>
        <p:spPr>
          <a:xfrm>
            <a:off x="958156" y="3214825"/>
            <a:ext cx="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4" name="Google Shape;864;p70"/>
          <p:cNvCxnSpPr/>
          <p:nvPr/>
        </p:nvCxnSpPr>
        <p:spPr>
          <a:xfrm>
            <a:off x="1393217" y="3214825"/>
            <a:ext cx="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5" name="Google Shape;865;p70"/>
          <p:cNvSpPr txBox="1"/>
          <p:nvPr/>
        </p:nvSpPr>
        <p:spPr>
          <a:xfrm>
            <a:off x="4819800" y="2915400"/>
            <a:ext cx="1703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(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−1)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 txBox="1"/>
          <p:nvPr/>
        </p:nvSpPr>
        <p:spPr>
          <a:xfrm>
            <a:off x="4819800" y="3626425"/>
            <a:ext cx="1922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 +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=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i="1"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7" name="Google Shape;867;p70"/>
          <p:cNvCxnSpPr/>
          <p:nvPr/>
        </p:nvCxnSpPr>
        <p:spPr>
          <a:xfrm>
            <a:off x="4943725" y="3214825"/>
            <a:ext cx="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8" name="Google Shape;868;p70"/>
          <p:cNvCxnSpPr/>
          <p:nvPr/>
        </p:nvCxnSpPr>
        <p:spPr>
          <a:xfrm>
            <a:off x="5608406" y="3214825"/>
            <a:ext cx="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9" name="Google Shape;869;p70"/>
          <p:cNvCxnSpPr/>
          <p:nvPr/>
        </p:nvCxnSpPr>
        <p:spPr>
          <a:xfrm>
            <a:off x="6180592" y="3214825"/>
            <a:ext cx="0" cy="486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0" name="Google Shape;870;p70"/>
          <p:cNvSpPr txBox="1"/>
          <p:nvPr>
            <p:ph idx="1" type="body"/>
          </p:nvPr>
        </p:nvSpPr>
        <p:spPr>
          <a:xfrm>
            <a:off x="324000" y="4062400"/>
            <a:ext cx="8496000" cy="7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a, b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 represent constants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the unknown. Other letters can be </a:t>
            </a:r>
            <a:r>
              <a:rPr lang="en-GB" sz="1800"/>
              <a:t>unknowns </a:t>
            </a:r>
            <a:r>
              <a:rPr lang="en-GB" sz="1800"/>
              <a:t>in equations, but here we are representing the </a:t>
            </a:r>
            <a:r>
              <a:rPr lang="en-GB" sz="1800"/>
              <a:t>unknown</a:t>
            </a:r>
            <a:r>
              <a:rPr lang="en-GB" sz="1800"/>
              <a:t> as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876" name="Google Shape;876;p71"/>
          <p:cNvSpPr txBox="1"/>
          <p:nvPr>
            <p:ph idx="1" type="body"/>
          </p:nvPr>
        </p:nvSpPr>
        <p:spPr>
          <a:xfrm>
            <a:off x="324000" y="759300"/>
            <a:ext cx="84960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find the solutions to these equations by considering the bar models.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7" name="Google Shape;877;p71"/>
          <p:cNvSpPr txBox="1"/>
          <p:nvPr/>
        </p:nvSpPr>
        <p:spPr>
          <a:xfrm>
            <a:off x="324000" y="1391400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1"/>
          <p:cNvSpPr/>
          <p:nvPr/>
        </p:nvSpPr>
        <p:spPr>
          <a:xfrm>
            <a:off x="324000" y="1931400"/>
            <a:ext cx="848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324000" y="2200565"/>
            <a:ext cx="31587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1167565" y="1931400"/>
            <a:ext cx="848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1" name="Google Shape;881;p71"/>
          <p:cNvSpPr/>
          <p:nvPr/>
        </p:nvSpPr>
        <p:spPr>
          <a:xfrm>
            <a:off x="2023035" y="1931400"/>
            <a:ext cx="848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2" name="Google Shape;882;p71"/>
          <p:cNvSpPr/>
          <p:nvPr/>
        </p:nvSpPr>
        <p:spPr>
          <a:xfrm>
            <a:off x="2876400" y="1931400"/>
            <a:ext cx="606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3" name="Google Shape;883;p71"/>
          <p:cNvSpPr txBox="1"/>
          <p:nvPr/>
        </p:nvSpPr>
        <p:spPr>
          <a:xfrm>
            <a:off x="4829950" y="1382289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1"/>
          <p:cNvSpPr/>
          <p:nvPr/>
        </p:nvSpPr>
        <p:spPr>
          <a:xfrm>
            <a:off x="4823990" y="1871389"/>
            <a:ext cx="848700" cy="270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5" name="Google Shape;885;p71"/>
          <p:cNvSpPr/>
          <p:nvPr/>
        </p:nvSpPr>
        <p:spPr>
          <a:xfrm>
            <a:off x="4824028" y="2141044"/>
            <a:ext cx="2222100" cy="27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6" name="Google Shape;886;p71"/>
          <p:cNvSpPr/>
          <p:nvPr/>
        </p:nvSpPr>
        <p:spPr>
          <a:xfrm>
            <a:off x="5675283" y="1871389"/>
            <a:ext cx="848700" cy="270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7" name="Google Shape;887;p71"/>
          <p:cNvSpPr/>
          <p:nvPr/>
        </p:nvSpPr>
        <p:spPr>
          <a:xfrm>
            <a:off x="6523036" y="1871389"/>
            <a:ext cx="848700" cy="270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8" name="Google Shape;888;p71"/>
          <p:cNvSpPr/>
          <p:nvPr/>
        </p:nvSpPr>
        <p:spPr>
          <a:xfrm>
            <a:off x="7046253" y="2141044"/>
            <a:ext cx="325500" cy="270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9" name="Google Shape;889;p71"/>
          <p:cNvSpPr txBox="1"/>
          <p:nvPr/>
        </p:nvSpPr>
        <p:spPr>
          <a:xfrm>
            <a:off x="324000" y="2686800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0" name="Google Shape;890;p71"/>
          <p:cNvGrpSpPr/>
          <p:nvPr/>
        </p:nvGrpSpPr>
        <p:grpSpPr>
          <a:xfrm>
            <a:off x="2878475" y="1931400"/>
            <a:ext cx="606300" cy="540065"/>
            <a:chOff x="2878475" y="1931400"/>
            <a:chExt cx="606300" cy="540065"/>
          </a:xfrm>
        </p:grpSpPr>
        <p:sp>
          <p:nvSpPr>
            <p:cNvPr id="891" name="Google Shape;891;p71"/>
            <p:cNvSpPr/>
            <p:nvPr/>
          </p:nvSpPr>
          <p:spPr>
            <a:xfrm>
              <a:off x="2878475" y="1931400"/>
              <a:ext cx="6063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2" name="Google Shape;892;p71"/>
            <p:cNvSpPr/>
            <p:nvPr/>
          </p:nvSpPr>
          <p:spPr>
            <a:xfrm>
              <a:off x="2878475" y="2200565"/>
              <a:ext cx="6063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893" name="Google Shape;893;p71"/>
          <p:cNvSpPr/>
          <p:nvPr/>
        </p:nvSpPr>
        <p:spPr>
          <a:xfrm>
            <a:off x="324000" y="2200565"/>
            <a:ext cx="25476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894" name="Google Shape;894;p71"/>
          <p:cNvGrpSpPr/>
          <p:nvPr/>
        </p:nvGrpSpPr>
        <p:grpSpPr>
          <a:xfrm>
            <a:off x="324000" y="3074400"/>
            <a:ext cx="2547735" cy="540075"/>
            <a:chOff x="324000" y="3074400"/>
            <a:chExt cx="2547735" cy="540075"/>
          </a:xfrm>
        </p:grpSpPr>
        <p:sp>
          <p:nvSpPr>
            <p:cNvPr id="895" name="Google Shape;895;p71"/>
            <p:cNvSpPr/>
            <p:nvPr/>
          </p:nvSpPr>
          <p:spPr>
            <a:xfrm>
              <a:off x="324000" y="30744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6" name="Google Shape;896;p71"/>
            <p:cNvSpPr/>
            <p:nvPr/>
          </p:nvSpPr>
          <p:spPr>
            <a:xfrm>
              <a:off x="324000" y="3343575"/>
              <a:ext cx="25476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7" name="Google Shape;897;p71"/>
            <p:cNvSpPr/>
            <p:nvPr/>
          </p:nvSpPr>
          <p:spPr>
            <a:xfrm>
              <a:off x="1167565" y="30744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8" name="Google Shape;898;p71"/>
            <p:cNvSpPr/>
            <p:nvPr/>
          </p:nvSpPr>
          <p:spPr>
            <a:xfrm>
              <a:off x="2023035" y="3074400"/>
              <a:ext cx="848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899" name="Google Shape;899;p71"/>
          <p:cNvGrpSpPr/>
          <p:nvPr/>
        </p:nvGrpSpPr>
        <p:grpSpPr>
          <a:xfrm>
            <a:off x="324000" y="3343575"/>
            <a:ext cx="2547735" cy="270900"/>
            <a:chOff x="324000" y="3343575"/>
            <a:chExt cx="2547735" cy="270900"/>
          </a:xfrm>
        </p:grpSpPr>
        <p:sp>
          <p:nvSpPr>
            <p:cNvPr id="900" name="Google Shape;900;p71"/>
            <p:cNvSpPr/>
            <p:nvPr/>
          </p:nvSpPr>
          <p:spPr>
            <a:xfrm>
              <a:off x="324000" y="3343575"/>
              <a:ext cx="8487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1" name="Google Shape;901;p71"/>
            <p:cNvSpPr/>
            <p:nvPr/>
          </p:nvSpPr>
          <p:spPr>
            <a:xfrm>
              <a:off x="1167565" y="3343575"/>
              <a:ext cx="8487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2" name="Google Shape;902;p71"/>
            <p:cNvSpPr/>
            <p:nvPr/>
          </p:nvSpPr>
          <p:spPr>
            <a:xfrm>
              <a:off x="2023035" y="3343575"/>
              <a:ext cx="8487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03" name="Google Shape;903;p71"/>
          <p:cNvSpPr txBox="1"/>
          <p:nvPr/>
        </p:nvSpPr>
        <p:spPr>
          <a:xfrm>
            <a:off x="324000" y="3748800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1"/>
          <p:cNvSpPr txBox="1"/>
          <p:nvPr/>
        </p:nvSpPr>
        <p:spPr>
          <a:xfrm>
            <a:off x="324000" y="4217400"/>
            <a:ext cx="3996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1"/>
          <p:cNvSpPr txBox="1"/>
          <p:nvPr/>
        </p:nvSpPr>
        <p:spPr>
          <a:xfrm>
            <a:off x="4829950" y="2677689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21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1"/>
          <p:cNvSpPr/>
          <p:nvPr/>
        </p:nvSpPr>
        <p:spPr>
          <a:xfrm>
            <a:off x="4824025" y="2141050"/>
            <a:ext cx="2547600" cy="270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07" name="Google Shape;907;p71"/>
          <p:cNvGrpSpPr/>
          <p:nvPr/>
        </p:nvGrpSpPr>
        <p:grpSpPr>
          <a:xfrm>
            <a:off x="4823990" y="3090589"/>
            <a:ext cx="2547747" cy="539961"/>
            <a:chOff x="4823990" y="3090589"/>
            <a:chExt cx="2547747" cy="539961"/>
          </a:xfrm>
        </p:grpSpPr>
        <p:sp>
          <p:nvSpPr>
            <p:cNvPr id="908" name="Google Shape;908;p71"/>
            <p:cNvSpPr/>
            <p:nvPr/>
          </p:nvSpPr>
          <p:spPr>
            <a:xfrm>
              <a:off x="4823990" y="3090589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9" name="Google Shape;909;p71"/>
            <p:cNvSpPr/>
            <p:nvPr/>
          </p:nvSpPr>
          <p:spPr>
            <a:xfrm>
              <a:off x="5675283" y="3090589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10" name="Google Shape;910;p71"/>
            <p:cNvSpPr/>
            <p:nvPr/>
          </p:nvSpPr>
          <p:spPr>
            <a:xfrm>
              <a:off x="6523036" y="3090589"/>
              <a:ext cx="848700" cy="270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11" name="Google Shape;911;p71"/>
            <p:cNvSpPr/>
            <p:nvPr/>
          </p:nvSpPr>
          <p:spPr>
            <a:xfrm>
              <a:off x="4824025" y="3360250"/>
              <a:ext cx="2547600" cy="270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12" name="Google Shape;912;p71"/>
          <p:cNvGrpSpPr/>
          <p:nvPr/>
        </p:nvGrpSpPr>
        <p:grpSpPr>
          <a:xfrm>
            <a:off x="4824025" y="3360250"/>
            <a:ext cx="2547712" cy="270300"/>
            <a:chOff x="4824025" y="3360250"/>
            <a:chExt cx="2547712" cy="270300"/>
          </a:xfrm>
        </p:grpSpPr>
        <p:sp>
          <p:nvSpPr>
            <p:cNvPr id="913" name="Google Shape;913;p71"/>
            <p:cNvSpPr/>
            <p:nvPr/>
          </p:nvSpPr>
          <p:spPr>
            <a:xfrm>
              <a:off x="4824025" y="3360250"/>
              <a:ext cx="848700" cy="270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14" name="Google Shape;914;p71"/>
            <p:cNvSpPr/>
            <p:nvPr/>
          </p:nvSpPr>
          <p:spPr>
            <a:xfrm>
              <a:off x="5675283" y="3360250"/>
              <a:ext cx="848700" cy="270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15" name="Google Shape;915;p71"/>
            <p:cNvSpPr/>
            <p:nvPr/>
          </p:nvSpPr>
          <p:spPr>
            <a:xfrm>
              <a:off x="6523036" y="3360250"/>
              <a:ext cx="848700" cy="2703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16" name="Google Shape;916;p71"/>
          <p:cNvSpPr txBox="1"/>
          <p:nvPr/>
        </p:nvSpPr>
        <p:spPr>
          <a:xfrm>
            <a:off x="4829950" y="3695064"/>
            <a:ext cx="1360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1"/>
          <p:cNvSpPr txBox="1"/>
          <p:nvPr/>
        </p:nvSpPr>
        <p:spPr>
          <a:xfrm>
            <a:off x="4819800" y="4217400"/>
            <a:ext cx="3996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2"/>
          <p:cNvSpPr/>
          <p:nvPr/>
        </p:nvSpPr>
        <p:spPr>
          <a:xfrm>
            <a:off x="324000" y="2202300"/>
            <a:ext cx="3037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3" name="Google Shape;923;p72"/>
          <p:cNvSpPr/>
          <p:nvPr/>
        </p:nvSpPr>
        <p:spPr>
          <a:xfrm>
            <a:off x="324000" y="1928392"/>
            <a:ext cx="3037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4" name="Google Shape;924;p72"/>
          <p:cNvSpPr txBox="1"/>
          <p:nvPr>
            <p:ph idx="1" type="subTitle"/>
          </p:nvPr>
        </p:nvSpPr>
        <p:spPr>
          <a:xfrm>
            <a:off x="337825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solution to the equation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49</a:t>
            </a:r>
            <a:r>
              <a:rPr lang="en-GB"/>
              <a:t> using a bar model. </a:t>
            </a:r>
            <a:endParaRPr/>
          </a:p>
        </p:txBody>
      </p:sp>
      <p:sp>
        <p:nvSpPr>
          <p:cNvPr id="925" name="Google Shape;925;p7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926" name="Google Shape;926;p72"/>
          <p:cNvSpPr txBox="1"/>
          <p:nvPr>
            <p:ph idx="2" type="subTitle"/>
          </p:nvPr>
        </p:nvSpPr>
        <p:spPr>
          <a:xfrm>
            <a:off x="4824000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solution to the equation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+ 8 = 35</a:t>
            </a:r>
            <a:r>
              <a:rPr lang="en-GB"/>
              <a:t> using a bar model. </a:t>
            </a:r>
            <a:endParaRPr/>
          </a:p>
        </p:txBody>
      </p:sp>
      <p:grpSp>
        <p:nvGrpSpPr>
          <p:cNvPr id="927" name="Google Shape;927;p72"/>
          <p:cNvGrpSpPr/>
          <p:nvPr/>
        </p:nvGrpSpPr>
        <p:grpSpPr>
          <a:xfrm>
            <a:off x="324000" y="1931400"/>
            <a:ext cx="3037812" cy="541800"/>
            <a:chOff x="324000" y="1931400"/>
            <a:chExt cx="3037812" cy="541800"/>
          </a:xfrm>
        </p:grpSpPr>
        <p:sp>
          <p:nvSpPr>
            <p:cNvPr id="928" name="Google Shape;928;p72"/>
            <p:cNvSpPr/>
            <p:nvPr/>
          </p:nvSpPr>
          <p:spPr>
            <a:xfrm>
              <a:off x="324000" y="19314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9" name="Google Shape;929;p72"/>
            <p:cNvSpPr/>
            <p:nvPr/>
          </p:nvSpPr>
          <p:spPr>
            <a:xfrm>
              <a:off x="966913" y="19314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0" name="Google Shape;930;p72"/>
            <p:cNvSpPr/>
            <p:nvPr/>
          </p:nvSpPr>
          <p:spPr>
            <a:xfrm>
              <a:off x="1618899" y="19314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1" name="Google Shape;931;p72"/>
            <p:cNvSpPr/>
            <p:nvPr/>
          </p:nvSpPr>
          <p:spPr>
            <a:xfrm>
              <a:off x="324000" y="2202300"/>
              <a:ext cx="30378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2" name="Google Shape;932;p72"/>
            <p:cNvSpPr/>
            <p:nvPr/>
          </p:nvSpPr>
          <p:spPr>
            <a:xfrm>
              <a:off x="2270869" y="19314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3" name="Google Shape;933;p72"/>
            <p:cNvSpPr/>
            <p:nvPr/>
          </p:nvSpPr>
          <p:spPr>
            <a:xfrm>
              <a:off x="2915112" y="1931400"/>
              <a:ext cx="4467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34" name="Google Shape;934;p72"/>
          <p:cNvSpPr/>
          <p:nvPr/>
        </p:nvSpPr>
        <p:spPr>
          <a:xfrm>
            <a:off x="324000" y="2845800"/>
            <a:ext cx="2593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5" name="Google Shape;935;p72"/>
          <p:cNvSpPr/>
          <p:nvPr/>
        </p:nvSpPr>
        <p:spPr>
          <a:xfrm>
            <a:off x="324000" y="3116700"/>
            <a:ext cx="2593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6" name="Google Shape;936;p72"/>
          <p:cNvSpPr/>
          <p:nvPr/>
        </p:nvSpPr>
        <p:spPr>
          <a:xfrm>
            <a:off x="324000" y="3760200"/>
            <a:ext cx="64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7" name="Google Shape;937;p72"/>
          <p:cNvSpPr/>
          <p:nvPr/>
        </p:nvSpPr>
        <p:spPr>
          <a:xfrm>
            <a:off x="324050" y="3760200"/>
            <a:ext cx="2593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8" name="Google Shape;938;p72"/>
          <p:cNvSpPr/>
          <p:nvPr/>
        </p:nvSpPr>
        <p:spPr>
          <a:xfrm>
            <a:off x="324000" y="4031100"/>
            <a:ext cx="2593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39" name="Google Shape;939;p72"/>
          <p:cNvGrpSpPr/>
          <p:nvPr/>
        </p:nvGrpSpPr>
        <p:grpSpPr>
          <a:xfrm>
            <a:off x="324000" y="2845800"/>
            <a:ext cx="2593800" cy="541800"/>
            <a:chOff x="324000" y="2998200"/>
            <a:chExt cx="2593800" cy="541800"/>
          </a:xfrm>
        </p:grpSpPr>
        <p:sp>
          <p:nvSpPr>
            <p:cNvPr id="940" name="Google Shape;940;p72"/>
            <p:cNvSpPr/>
            <p:nvPr/>
          </p:nvSpPr>
          <p:spPr>
            <a:xfrm>
              <a:off x="324000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1" name="Google Shape;941;p72"/>
            <p:cNvSpPr/>
            <p:nvPr/>
          </p:nvSpPr>
          <p:spPr>
            <a:xfrm>
              <a:off x="966913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2" name="Google Shape;942;p72"/>
            <p:cNvSpPr/>
            <p:nvPr/>
          </p:nvSpPr>
          <p:spPr>
            <a:xfrm>
              <a:off x="1618899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3" name="Google Shape;943;p72"/>
            <p:cNvSpPr/>
            <p:nvPr/>
          </p:nvSpPr>
          <p:spPr>
            <a:xfrm>
              <a:off x="2270869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4" name="Google Shape;944;p72"/>
            <p:cNvSpPr/>
            <p:nvPr/>
          </p:nvSpPr>
          <p:spPr>
            <a:xfrm>
              <a:off x="324000" y="3269100"/>
              <a:ext cx="25938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45" name="Google Shape;945;p72"/>
          <p:cNvGrpSpPr/>
          <p:nvPr/>
        </p:nvGrpSpPr>
        <p:grpSpPr>
          <a:xfrm>
            <a:off x="324000" y="3760200"/>
            <a:ext cx="2593800" cy="541800"/>
            <a:chOff x="324000" y="3988800"/>
            <a:chExt cx="2593800" cy="541800"/>
          </a:xfrm>
        </p:grpSpPr>
        <p:sp>
          <p:nvSpPr>
            <p:cNvPr id="946" name="Google Shape;946;p72"/>
            <p:cNvSpPr/>
            <p:nvPr/>
          </p:nvSpPr>
          <p:spPr>
            <a:xfrm>
              <a:off x="972215" y="39888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7" name="Google Shape;947;p72"/>
            <p:cNvSpPr/>
            <p:nvPr/>
          </p:nvSpPr>
          <p:spPr>
            <a:xfrm>
              <a:off x="1619400" y="39888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8" name="Google Shape;948;p72"/>
            <p:cNvSpPr/>
            <p:nvPr/>
          </p:nvSpPr>
          <p:spPr>
            <a:xfrm>
              <a:off x="2271000" y="39888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49" name="Google Shape;949;p72"/>
            <p:cNvSpPr/>
            <p:nvPr/>
          </p:nvSpPr>
          <p:spPr>
            <a:xfrm>
              <a:off x="324000" y="4259700"/>
              <a:ext cx="6468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0" name="Google Shape;950;p72"/>
            <p:cNvSpPr/>
            <p:nvPr/>
          </p:nvSpPr>
          <p:spPr>
            <a:xfrm>
              <a:off x="972215" y="4259700"/>
              <a:ext cx="6468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1" name="Google Shape;951;p72"/>
            <p:cNvSpPr/>
            <p:nvPr/>
          </p:nvSpPr>
          <p:spPr>
            <a:xfrm>
              <a:off x="1619400" y="4259700"/>
              <a:ext cx="6468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2" name="Google Shape;952;p72"/>
            <p:cNvSpPr/>
            <p:nvPr/>
          </p:nvSpPr>
          <p:spPr>
            <a:xfrm>
              <a:off x="2271000" y="4259700"/>
              <a:ext cx="6468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53" name="Google Shape;953;p72"/>
          <p:cNvSpPr txBox="1"/>
          <p:nvPr/>
        </p:nvSpPr>
        <p:spPr>
          <a:xfrm>
            <a:off x="330925" y="4440300"/>
            <a:ext cx="3996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4" name="Google Shape;954;p72"/>
          <p:cNvGrpSpPr/>
          <p:nvPr/>
        </p:nvGrpSpPr>
        <p:grpSpPr>
          <a:xfrm>
            <a:off x="4819800" y="1928392"/>
            <a:ext cx="3037800" cy="2370533"/>
            <a:chOff x="4819800" y="1928392"/>
            <a:chExt cx="3037800" cy="2370533"/>
          </a:xfrm>
        </p:grpSpPr>
        <p:sp>
          <p:nvSpPr>
            <p:cNvPr id="955" name="Google Shape;955;p72"/>
            <p:cNvSpPr/>
            <p:nvPr/>
          </p:nvSpPr>
          <p:spPr>
            <a:xfrm>
              <a:off x="4819800" y="2202300"/>
              <a:ext cx="3037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6" name="Google Shape;956;p72"/>
            <p:cNvSpPr/>
            <p:nvPr/>
          </p:nvSpPr>
          <p:spPr>
            <a:xfrm>
              <a:off x="4819800" y="1928392"/>
              <a:ext cx="3037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7" name="Google Shape;957;p72"/>
            <p:cNvSpPr/>
            <p:nvPr/>
          </p:nvSpPr>
          <p:spPr>
            <a:xfrm>
              <a:off x="4819800" y="2842800"/>
              <a:ext cx="25212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8" name="Google Shape;958;p72"/>
            <p:cNvSpPr/>
            <p:nvPr/>
          </p:nvSpPr>
          <p:spPr>
            <a:xfrm>
              <a:off x="4819800" y="3113625"/>
              <a:ext cx="25212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59" name="Google Shape;959;p72"/>
            <p:cNvSpPr/>
            <p:nvPr/>
          </p:nvSpPr>
          <p:spPr>
            <a:xfrm>
              <a:off x="4819800" y="3757200"/>
              <a:ext cx="25212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0" name="Google Shape;960;p72"/>
            <p:cNvSpPr/>
            <p:nvPr/>
          </p:nvSpPr>
          <p:spPr>
            <a:xfrm>
              <a:off x="4819800" y="4028025"/>
              <a:ext cx="25212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61" name="Google Shape;961;p72"/>
          <p:cNvGrpSpPr/>
          <p:nvPr/>
        </p:nvGrpSpPr>
        <p:grpSpPr>
          <a:xfrm>
            <a:off x="4824000" y="1928325"/>
            <a:ext cx="3037800" cy="541796"/>
            <a:chOff x="4824000" y="1928325"/>
            <a:chExt cx="3037800" cy="541796"/>
          </a:xfrm>
        </p:grpSpPr>
        <p:sp>
          <p:nvSpPr>
            <p:cNvPr id="962" name="Google Shape;962;p72"/>
            <p:cNvSpPr/>
            <p:nvPr/>
          </p:nvSpPr>
          <p:spPr>
            <a:xfrm>
              <a:off x="4824000" y="1928325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3" name="Google Shape;963;p72"/>
            <p:cNvSpPr/>
            <p:nvPr/>
          </p:nvSpPr>
          <p:spPr>
            <a:xfrm>
              <a:off x="4824000" y="2199221"/>
              <a:ext cx="3037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4" name="Google Shape;964;p72"/>
            <p:cNvSpPr/>
            <p:nvPr/>
          </p:nvSpPr>
          <p:spPr>
            <a:xfrm>
              <a:off x="7345199" y="1928325"/>
              <a:ext cx="5166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5" name="Google Shape;965;p72"/>
            <p:cNvSpPr/>
            <p:nvPr/>
          </p:nvSpPr>
          <p:spPr>
            <a:xfrm>
              <a:off x="5662200" y="1928325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6" name="Google Shape;966;p72"/>
            <p:cNvSpPr/>
            <p:nvPr/>
          </p:nvSpPr>
          <p:spPr>
            <a:xfrm>
              <a:off x="6500400" y="1928325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67" name="Google Shape;967;p72"/>
          <p:cNvGrpSpPr/>
          <p:nvPr/>
        </p:nvGrpSpPr>
        <p:grpSpPr>
          <a:xfrm>
            <a:off x="4824000" y="2842725"/>
            <a:ext cx="2521200" cy="544875"/>
            <a:chOff x="4824000" y="2842725"/>
            <a:chExt cx="2521200" cy="544875"/>
          </a:xfrm>
        </p:grpSpPr>
        <p:sp>
          <p:nvSpPr>
            <p:cNvPr id="968" name="Google Shape;968;p72"/>
            <p:cNvSpPr/>
            <p:nvPr/>
          </p:nvSpPr>
          <p:spPr>
            <a:xfrm>
              <a:off x="4824000" y="2842725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5662200" y="2842725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0" name="Google Shape;970;p72"/>
            <p:cNvSpPr/>
            <p:nvPr/>
          </p:nvSpPr>
          <p:spPr>
            <a:xfrm>
              <a:off x="6500400" y="2842725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1" name="Google Shape;971;p72"/>
            <p:cNvSpPr/>
            <p:nvPr/>
          </p:nvSpPr>
          <p:spPr>
            <a:xfrm>
              <a:off x="4824000" y="3116700"/>
              <a:ext cx="25212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72" name="Google Shape;972;p72"/>
          <p:cNvSpPr txBox="1"/>
          <p:nvPr/>
        </p:nvSpPr>
        <p:spPr>
          <a:xfrm>
            <a:off x="4826725" y="4440300"/>
            <a:ext cx="3996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solution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3" name="Google Shape;973;p72"/>
          <p:cNvGrpSpPr/>
          <p:nvPr/>
        </p:nvGrpSpPr>
        <p:grpSpPr>
          <a:xfrm>
            <a:off x="2917850" y="1928400"/>
            <a:ext cx="444000" cy="546885"/>
            <a:chOff x="2917850" y="1928400"/>
            <a:chExt cx="444000" cy="546885"/>
          </a:xfrm>
        </p:grpSpPr>
        <p:sp>
          <p:nvSpPr>
            <p:cNvPr id="974" name="Google Shape;974;p72"/>
            <p:cNvSpPr/>
            <p:nvPr/>
          </p:nvSpPr>
          <p:spPr>
            <a:xfrm>
              <a:off x="2917850" y="1928400"/>
              <a:ext cx="4440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2917850" y="2204385"/>
              <a:ext cx="4440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76" name="Google Shape;976;p72"/>
          <p:cNvGrpSpPr/>
          <p:nvPr/>
        </p:nvGrpSpPr>
        <p:grpSpPr>
          <a:xfrm>
            <a:off x="7345200" y="1928400"/>
            <a:ext cx="516600" cy="546885"/>
            <a:chOff x="7345200" y="1928400"/>
            <a:chExt cx="516600" cy="546885"/>
          </a:xfrm>
        </p:grpSpPr>
        <p:sp>
          <p:nvSpPr>
            <p:cNvPr id="977" name="Google Shape;977;p72"/>
            <p:cNvSpPr/>
            <p:nvPr/>
          </p:nvSpPr>
          <p:spPr>
            <a:xfrm>
              <a:off x="7345200" y="1928400"/>
              <a:ext cx="516600" cy="270900"/>
            </a:xfrm>
            <a:prstGeom prst="rect">
              <a:avLst/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7345200" y="2204385"/>
              <a:ext cx="516600" cy="270900"/>
            </a:xfrm>
            <a:prstGeom prst="rect">
              <a:avLst/>
            </a:prstGeom>
            <a:solidFill>
              <a:srgbClr val="F3EEFB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979" name="Google Shape;979;p72"/>
          <p:cNvGrpSpPr/>
          <p:nvPr/>
        </p:nvGrpSpPr>
        <p:grpSpPr>
          <a:xfrm>
            <a:off x="4819800" y="3757125"/>
            <a:ext cx="2525400" cy="538190"/>
            <a:chOff x="4819800" y="3757125"/>
            <a:chExt cx="2525400" cy="538190"/>
          </a:xfrm>
        </p:grpSpPr>
        <p:grpSp>
          <p:nvGrpSpPr>
            <p:cNvPr id="980" name="Google Shape;980;p72"/>
            <p:cNvGrpSpPr/>
            <p:nvPr/>
          </p:nvGrpSpPr>
          <p:grpSpPr>
            <a:xfrm>
              <a:off x="4824000" y="3757125"/>
              <a:ext cx="2521200" cy="538190"/>
              <a:chOff x="4824000" y="3757125"/>
              <a:chExt cx="2521200" cy="538190"/>
            </a:xfrm>
          </p:grpSpPr>
          <p:sp>
            <p:nvSpPr>
              <p:cNvPr id="981" name="Google Shape;981;p72"/>
              <p:cNvSpPr/>
              <p:nvPr/>
            </p:nvSpPr>
            <p:spPr>
              <a:xfrm>
                <a:off x="5662200" y="3757125"/>
                <a:ext cx="844800" cy="2709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1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21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2" name="Google Shape;982;p72"/>
              <p:cNvSpPr/>
              <p:nvPr/>
            </p:nvSpPr>
            <p:spPr>
              <a:xfrm>
                <a:off x="6500400" y="3757125"/>
                <a:ext cx="844800" cy="2709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100"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21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3" name="Google Shape;983;p72"/>
              <p:cNvSpPr/>
              <p:nvPr/>
            </p:nvSpPr>
            <p:spPr>
              <a:xfrm>
                <a:off x="4824000" y="4024415"/>
                <a:ext cx="844800" cy="2709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endParaRPr sz="21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4" name="Google Shape;984;p72"/>
              <p:cNvSpPr/>
              <p:nvPr/>
            </p:nvSpPr>
            <p:spPr>
              <a:xfrm>
                <a:off x="5662200" y="4024415"/>
                <a:ext cx="844800" cy="2709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endParaRPr sz="21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985" name="Google Shape;985;p72"/>
              <p:cNvSpPr/>
              <p:nvPr/>
            </p:nvSpPr>
            <p:spPr>
              <a:xfrm>
                <a:off x="6500400" y="4024415"/>
                <a:ext cx="844800" cy="2709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Times"/>
                    <a:ea typeface="Times"/>
                    <a:cs typeface="Times"/>
                    <a:sym typeface="Times"/>
                  </a:rPr>
                  <a:t>9</a:t>
                </a:r>
                <a:endParaRPr sz="21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986" name="Google Shape;986;p72"/>
            <p:cNvSpPr/>
            <p:nvPr/>
          </p:nvSpPr>
          <p:spPr>
            <a:xfrm>
              <a:off x="4819800" y="3760200"/>
              <a:ext cx="844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a bar model, we can group the </a:t>
            </a:r>
            <a:r>
              <a:rPr lang="en-GB" sz="1800"/>
              <a:t>variables</a:t>
            </a:r>
            <a:r>
              <a:rPr lang="en-GB" sz="1800"/>
              <a:t> and the constants together so they represent 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 sz="1800"/>
          </a:p>
        </p:txBody>
      </p:sp>
      <p:sp>
        <p:nvSpPr>
          <p:cNvPr id="992" name="Google Shape;99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grpSp>
        <p:nvGrpSpPr>
          <p:cNvPr id="993" name="Google Shape;993;p73"/>
          <p:cNvGrpSpPr/>
          <p:nvPr/>
        </p:nvGrpSpPr>
        <p:grpSpPr>
          <a:xfrm>
            <a:off x="324000" y="1928400"/>
            <a:ext cx="4797900" cy="544804"/>
            <a:chOff x="324000" y="1928400"/>
            <a:chExt cx="4797900" cy="544804"/>
          </a:xfrm>
        </p:grpSpPr>
        <p:sp>
          <p:nvSpPr>
            <p:cNvPr id="994" name="Google Shape;994;p73"/>
            <p:cNvSpPr/>
            <p:nvPr/>
          </p:nvSpPr>
          <p:spPr>
            <a:xfrm>
              <a:off x="324000" y="2202304"/>
              <a:ext cx="2886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5" name="Google Shape;995;p73"/>
            <p:cNvSpPr/>
            <p:nvPr/>
          </p:nvSpPr>
          <p:spPr>
            <a:xfrm>
              <a:off x="324000" y="1928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6" name="Google Shape;996;p73"/>
            <p:cNvSpPr/>
            <p:nvPr/>
          </p:nvSpPr>
          <p:spPr>
            <a:xfrm>
              <a:off x="934830" y="1928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7" name="Google Shape;997;p73"/>
            <p:cNvSpPr/>
            <p:nvPr/>
          </p:nvSpPr>
          <p:spPr>
            <a:xfrm>
              <a:off x="1554281" y="1928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8" name="Google Shape;998;p73"/>
            <p:cNvSpPr/>
            <p:nvPr/>
          </p:nvSpPr>
          <p:spPr>
            <a:xfrm>
              <a:off x="324000" y="2202304"/>
              <a:ext cx="47979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99" name="Google Shape;999;p73"/>
            <p:cNvSpPr/>
            <p:nvPr/>
          </p:nvSpPr>
          <p:spPr>
            <a:xfrm>
              <a:off x="2173717" y="1928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2785810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1" name="Google Shape;1001;p73"/>
            <p:cNvSpPr/>
            <p:nvPr/>
          </p:nvSpPr>
          <p:spPr>
            <a:xfrm>
              <a:off x="3210774" y="1928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2" name="Google Shape;1002;p73"/>
            <p:cNvSpPr/>
            <p:nvPr/>
          </p:nvSpPr>
          <p:spPr>
            <a:xfrm>
              <a:off x="3827007" y="1928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4443238" y="1928408"/>
              <a:ext cx="6786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04" name="Google Shape;1004;p73"/>
          <p:cNvSpPr txBox="1"/>
          <p:nvPr>
            <p:ph idx="1" type="body"/>
          </p:nvPr>
        </p:nvSpPr>
        <p:spPr>
          <a:xfrm>
            <a:off x="5203300" y="1886725"/>
            <a:ext cx="36168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bar model could represent the equation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38</a:t>
            </a:r>
            <a:endParaRPr sz="1800"/>
          </a:p>
        </p:txBody>
      </p:sp>
      <p:grpSp>
        <p:nvGrpSpPr>
          <p:cNvPr id="1005" name="Google Shape;1005;p73"/>
          <p:cNvGrpSpPr/>
          <p:nvPr/>
        </p:nvGrpSpPr>
        <p:grpSpPr>
          <a:xfrm>
            <a:off x="324000" y="2690400"/>
            <a:ext cx="4797900" cy="544804"/>
            <a:chOff x="324000" y="2690400"/>
            <a:chExt cx="4797900" cy="544804"/>
          </a:xfrm>
        </p:grpSpPr>
        <p:sp>
          <p:nvSpPr>
            <p:cNvPr id="1006" name="Google Shape;1006;p73"/>
            <p:cNvSpPr/>
            <p:nvPr/>
          </p:nvSpPr>
          <p:spPr>
            <a:xfrm>
              <a:off x="324000" y="2964304"/>
              <a:ext cx="2886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7" name="Google Shape;1007;p73"/>
            <p:cNvSpPr/>
            <p:nvPr/>
          </p:nvSpPr>
          <p:spPr>
            <a:xfrm>
              <a:off x="324000" y="2690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8" name="Google Shape;1008;p73"/>
            <p:cNvSpPr/>
            <p:nvPr/>
          </p:nvSpPr>
          <p:spPr>
            <a:xfrm>
              <a:off x="934830" y="2690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9" name="Google Shape;1009;p73"/>
            <p:cNvSpPr/>
            <p:nvPr/>
          </p:nvSpPr>
          <p:spPr>
            <a:xfrm>
              <a:off x="1554281" y="2690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0" name="Google Shape;1010;p73"/>
            <p:cNvSpPr/>
            <p:nvPr/>
          </p:nvSpPr>
          <p:spPr>
            <a:xfrm>
              <a:off x="324000" y="2964304"/>
              <a:ext cx="47979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1" name="Google Shape;1011;p73"/>
            <p:cNvSpPr/>
            <p:nvPr/>
          </p:nvSpPr>
          <p:spPr>
            <a:xfrm>
              <a:off x="2173717" y="2690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2" name="Google Shape;1012;p73"/>
            <p:cNvSpPr/>
            <p:nvPr/>
          </p:nvSpPr>
          <p:spPr>
            <a:xfrm>
              <a:off x="4696249" y="2690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3" name="Google Shape;1013;p73"/>
            <p:cNvSpPr/>
            <p:nvPr/>
          </p:nvSpPr>
          <p:spPr>
            <a:xfrm>
              <a:off x="2793174" y="2690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4" name="Google Shape;1014;p73"/>
            <p:cNvSpPr/>
            <p:nvPr/>
          </p:nvSpPr>
          <p:spPr>
            <a:xfrm>
              <a:off x="3405428" y="2690400"/>
              <a:ext cx="6144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15" name="Google Shape;1015;p73"/>
            <p:cNvSpPr/>
            <p:nvPr/>
          </p:nvSpPr>
          <p:spPr>
            <a:xfrm>
              <a:off x="4017656" y="2690408"/>
              <a:ext cx="6786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16" name="Google Shape;1016;p73"/>
          <p:cNvSpPr txBox="1"/>
          <p:nvPr>
            <p:ph idx="1" type="body"/>
          </p:nvPr>
        </p:nvSpPr>
        <p:spPr>
          <a:xfrm>
            <a:off x="5273100" y="2648725"/>
            <a:ext cx="35469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add the constants to simplify.</a:t>
            </a:r>
            <a:endParaRPr sz="1800"/>
          </a:p>
        </p:txBody>
      </p:sp>
      <p:sp>
        <p:nvSpPr>
          <p:cNvPr id="1017" name="Google Shape;1017;p73"/>
          <p:cNvSpPr/>
          <p:nvPr/>
        </p:nvSpPr>
        <p:spPr>
          <a:xfrm>
            <a:off x="4017646" y="2690400"/>
            <a:ext cx="11043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8" name="Google Shape;1018;p73"/>
          <p:cNvSpPr txBox="1"/>
          <p:nvPr>
            <p:ph idx="1" type="body"/>
          </p:nvPr>
        </p:nvSpPr>
        <p:spPr>
          <a:xfrm>
            <a:off x="324000" y="3780000"/>
            <a:ext cx="84960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see now that our equation can be simplified to 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38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4"/>
          <p:cNvSpPr txBox="1"/>
          <p:nvPr>
            <p:ph idx="1" type="body"/>
          </p:nvPr>
        </p:nvSpPr>
        <p:spPr>
          <a:xfrm>
            <a:off x="324000" y="759300"/>
            <a:ext cx="82377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represent the equation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25 </a:t>
            </a:r>
            <a:r>
              <a:rPr lang="en-GB" sz="1800"/>
              <a:t>in a bar model?</a:t>
            </a:r>
            <a:endParaRPr sz="1800"/>
          </a:p>
        </p:txBody>
      </p:sp>
      <p:sp>
        <p:nvSpPr>
          <p:cNvPr id="1024" name="Google Shape;102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1025" name="Google Shape;1025;p74"/>
          <p:cNvSpPr/>
          <p:nvPr/>
        </p:nvSpPr>
        <p:spPr>
          <a:xfrm>
            <a:off x="324000" y="2202300"/>
            <a:ext cx="33996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6" name="Google Shape;1026;p74"/>
          <p:cNvSpPr txBox="1"/>
          <p:nvPr>
            <p:ph idx="1" type="body"/>
          </p:nvPr>
        </p:nvSpPr>
        <p:spPr>
          <a:xfrm>
            <a:off x="3897250" y="1928400"/>
            <a:ext cx="49227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Rearranging to group the variables and the constants:</a:t>
            </a:r>
            <a:endParaRPr sz="1800"/>
          </a:p>
        </p:txBody>
      </p:sp>
      <p:sp>
        <p:nvSpPr>
          <p:cNvPr id="1027" name="Google Shape;1027;p74"/>
          <p:cNvSpPr txBox="1"/>
          <p:nvPr>
            <p:ph idx="1" type="body"/>
          </p:nvPr>
        </p:nvSpPr>
        <p:spPr>
          <a:xfrm>
            <a:off x="324000" y="3482100"/>
            <a:ext cx="84960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see now that our equation can be written as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25</a:t>
            </a:r>
            <a:endParaRPr sz="1800"/>
          </a:p>
        </p:txBody>
      </p:sp>
      <p:sp>
        <p:nvSpPr>
          <p:cNvPr id="1028" name="Google Shape;1028;p74"/>
          <p:cNvSpPr txBox="1"/>
          <p:nvPr>
            <p:ph idx="1" type="body"/>
          </p:nvPr>
        </p:nvSpPr>
        <p:spPr>
          <a:xfrm>
            <a:off x="324000" y="1277100"/>
            <a:ext cx="84960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Bracketing the expression means we have </a:t>
            </a:r>
            <a:r>
              <a:rPr lang="en-GB" sz="1800">
                <a:solidFill>
                  <a:schemeClr val="accent4"/>
                </a:solidFill>
              </a:rPr>
              <a:t>2 lots</a:t>
            </a:r>
            <a:r>
              <a:rPr lang="en-GB" sz="1800"/>
              <a:t> of the whole expression</a:t>
            </a:r>
            <a:r>
              <a:rPr lang="en-GB" sz="1800"/>
              <a:t>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1800"/>
          </a:p>
        </p:txBody>
      </p:sp>
      <p:grpSp>
        <p:nvGrpSpPr>
          <p:cNvPr id="1029" name="Google Shape;1029;p74"/>
          <p:cNvGrpSpPr/>
          <p:nvPr/>
        </p:nvGrpSpPr>
        <p:grpSpPr>
          <a:xfrm>
            <a:off x="324000" y="1928400"/>
            <a:ext cx="1701596" cy="270900"/>
            <a:chOff x="324000" y="1928400"/>
            <a:chExt cx="1701596" cy="270900"/>
          </a:xfrm>
        </p:grpSpPr>
        <p:sp>
          <p:nvSpPr>
            <p:cNvPr id="1030" name="Google Shape;1030;p74"/>
            <p:cNvSpPr/>
            <p:nvPr/>
          </p:nvSpPr>
          <p:spPr>
            <a:xfrm>
              <a:off x="324000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1" name="Google Shape;1031;p74"/>
            <p:cNvSpPr/>
            <p:nvPr/>
          </p:nvSpPr>
          <p:spPr>
            <a:xfrm>
              <a:off x="1601096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2" name="Google Shape;1032;p74"/>
            <p:cNvSpPr/>
            <p:nvPr/>
          </p:nvSpPr>
          <p:spPr>
            <a:xfrm>
              <a:off x="752385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3" name="Google Shape;1033;p74"/>
            <p:cNvSpPr/>
            <p:nvPr/>
          </p:nvSpPr>
          <p:spPr>
            <a:xfrm>
              <a:off x="1176608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34" name="Google Shape;1034;p74"/>
          <p:cNvGrpSpPr/>
          <p:nvPr/>
        </p:nvGrpSpPr>
        <p:grpSpPr>
          <a:xfrm>
            <a:off x="2022011" y="1928400"/>
            <a:ext cx="1701596" cy="270900"/>
            <a:chOff x="2022011" y="1928400"/>
            <a:chExt cx="1701596" cy="270900"/>
          </a:xfrm>
        </p:grpSpPr>
        <p:sp>
          <p:nvSpPr>
            <p:cNvPr id="1035" name="Google Shape;1035;p74"/>
            <p:cNvSpPr/>
            <p:nvPr/>
          </p:nvSpPr>
          <p:spPr>
            <a:xfrm>
              <a:off x="2022011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6" name="Google Shape;1036;p74"/>
            <p:cNvSpPr/>
            <p:nvPr/>
          </p:nvSpPr>
          <p:spPr>
            <a:xfrm>
              <a:off x="3299107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7" name="Google Shape;1037;p74"/>
            <p:cNvSpPr/>
            <p:nvPr/>
          </p:nvSpPr>
          <p:spPr>
            <a:xfrm>
              <a:off x="2450396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8" name="Google Shape;1038;p74"/>
            <p:cNvSpPr/>
            <p:nvPr/>
          </p:nvSpPr>
          <p:spPr>
            <a:xfrm>
              <a:off x="2874619" y="19284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39" name="Google Shape;1039;p74"/>
          <p:cNvGrpSpPr/>
          <p:nvPr/>
        </p:nvGrpSpPr>
        <p:grpSpPr>
          <a:xfrm>
            <a:off x="324000" y="2614200"/>
            <a:ext cx="3403525" cy="544804"/>
            <a:chOff x="324000" y="2614200"/>
            <a:chExt cx="3403525" cy="544804"/>
          </a:xfrm>
        </p:grpSpPr>
        <p:sp>
          <p:nvSpPr>
            <p:cNvPr id="1040" name="Google Shape;1040;p74"/>
            <p:cNvSpPr/>
            <p:nvPr/>
          </p:nvSpPr>
          <p:spPr>
            <a:xfrm>
              <a:off x="324000" y="2888104"/>
              <a:ext cx="2886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1" name="Google Shape;1041;p74"/>
            <p:cNvSpPr/>
            <p:nvPr/>
          </p:nvSpPr>
          <p:spPr>
            <a:xfrm>
              <a:off x="324000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2" name="Google Shape;1042;p74"/>
            <p:cNvSpPr/>
            <p:nvPr/>
          </p:nvSpPr>
          <p:spPr>
            <a:xfrm>
              <a:off x="324000" y="2888100"/>
              <a:ext cx="34035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3" name="Google Shape;1043;p74"/>
            <p:cNvSpPr/>
            <p:nvPr/>
          </p:nvSpPr>
          <p:spPr>
            <a:xfrm>
              <a:off x="3303023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4" name="Google Shape;1044;p74"/>
            <p:cNvSpPr/>
            <p:nvPr/>
          </p:nvSpPr>
          <p:spPr>
            <a:xfrm>
              <a:off x="745181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5" name="Google Shape;1045;p74"/>
            <p:cNvSpPr/>
            <p:nvPr/>
          </p:nvSpPr>
          <p:spPr>
            <a:xfrm>
              <a:off x="1169404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6" name="Google Shape;1046;p74"/>
            <p:cNvSpPr/>
            <p:nvPr/>
          </p:nvSpPr>
          <p:spPr>
            <a:xfrm>
              <a:off x="1597789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7" name="Google Shape;1047;p74"/>
            <p:cNvSpPr/>
            <p:nvPr/>
          </p:nvSpPr>
          <p:spPr>
            <a:xfrm>
              <a:off x="2874885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8" name="Google Shape;1048;p74"/>
            <p:cNvSpPr/>
            <p:nvPr/>
          </p:nvSpPr>
          <p:spPr>
            <a:xfrm>
              <a:off x="2026174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9" name="Google Shape;1049;p74"/>
            <p:cNvSpPr/>
            <p:nvPr/>
          </p:nvSpPr>
          <p:spPr>
            <a:xfrm>
              <a:off x="2450396" y="2614200"/>
              <a:ext cx="4245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0" name="Google Shape;1050;p74"/>
            <p:cNvSpPr/>
            <p:nvPr/>
          </p:nvSpPr>
          <p:spPr>
            <a:xfrm>
              <a:off x="2874625" y="2614200"/>
              <a:ext cx="852900" cy="270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51" name="Google Shape;1051;p74"/>
          <p:cNvSpPr txBox="1"/>
          <p:nvPr>
            <p:ph idx="1" type="body"/>
          </p:nvPr>
        </p:nvSpPr>
        <p:spPr>
          <a:xfrm>
            <a:off x="324000" y="4015500"/>
            <a:ext cx="84960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Now we have an equation which only requires two steps to solve.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5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 up the bar models on the left to the grouped versions on the right.</a:t>
            </a:r>
            <a:endParaRPr sz="1800"/>
          </a:p>
        </p:txBody>
      </p:sp>
      <p:sp>
        <p:nvSpPr>
          <p:cNvPr id="1057" name="Google Shape;105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1058" name="Google Shape;1058;p75"/>
          <p:cNvSpPr/>
          <p:nvPr/>
        </p:nvSpPr>
        <p:spPr>
          <a:xfrm>
            <a:off x="324000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9" name="Google Shape;1059;p75"/>
          <p:cNvSpPr/>
          <p:nvPr/>
        </p:nvSpPr>
        <p:spPr>
          <a:xfrm>
            <a:off x="324000" y="1738275"/>
            <a:ext cx="33996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0" name="Google Shape;1060;p75"/>
          <p:cNvSpPr/>
          <p:nvPr/>
        </p:nvSpPr>
        <p:spPr>
          <a:xfrm>
            <a:off x="1601096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1" name="Google Shape;1061;p75"/>
          <p:cNvSpPr/>
          <p:nvPr/>
        </p:nvSpPr>
        <p:spPr>
          <a:xfrm>
            <a:off x="752385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2" name="Google Shape;1062;p75"/>
          <p:cNvSpPr/>
          <p:nvPr/>
        </p:nvSpPr>
        <p:spPr>
          <a:xfrm>
            <a:off x="1176608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3" name="Google Shape;1063;p75"/>
          <p:cNvSpPr/>
          <p:nvPr/>
        </p:nvSpPr>
        <p:spPr>
          <a:xfrm>
            <a:off x="2022011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4" name="Google Shape;1064;p75"/>
          <p:cNvSpPr/>
          <p:nvPr/>
        </p:nvSpPr>
        <p:spPr>
          <a:xfrm>
            <a:off x="3299107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5" name="Google Shape;1065;p75"/>
          <p:cNvSpPr/>
          <p:nvPr/>
        </p:nvSpPr>
        <p:spPr>
          <a:xfrm>
            <a:off x="2450396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6" name="Google Shape;1066;p75"/>
          <p:cNvSpPr/>
          <p:nvPr/>
        </p:nvSpPr>
        <p:spPr>
          <a:xfrm>
            <a:off x="2874619" y="1467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7" name="Google Shape;1067;p75"/>
          <p:cNvSpPr/>
          <p:nvPr/>
        </p:nvSpPr>
        <p:spPr>
          <a:xfrm>
            <a:off x="324000" y="2383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8" name="Google Shape;1068;p75"/>
          <p:cNvSpPr/>
          <p:nvPr/>
        </p:nvSpPr>
        <p:spPr>
          <a:xfrm>
            <a:off x="324000" y="2654275"/>
            <a:ext cx="338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9" name="Google Shape;1069;p75"/>
          <p:cNvSpPr/>
          <p:nvPr/>
        </p:nvSpPr>
        <p:spPr>
          <a:xfrm>
            <a:off x="2029201" y="2383375"/>
            <a:ext cx="56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0" name="Google Shape;1070;p75"/>
          <p:cNvSpPr/>
          <p:nvPr/>
        </p:nvSpPr>
        <p:spPr>
          <a:xfrm>
            <a:off x="752385" y="2383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1" name="Google Shape;1071;p75"/>
          <p:cNvSpPr/>
          <p:nvPr/>
        </p:nvSpPr>
        <p:spPr>
          <a:xfrm>
            <a:off x="1176608" y="2383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2" name="Google Shape;1072;p75"/>
          <p:cNvSpPr/>
          <p:nvPr/>
        </p:nvSpPr>
        <p:spPr>
          <a:xfrm>
            <a:off x="3441625" y="2383375"/>
            <a:ext cx="262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3" name="Google Shape;1073;p75"/>
          <p:cNvSpPr/>
          <p:nvPr/>
        </p:nvSpPr>
        <p:spPr>
          <a:xfrm>
            <a:off x="1601096" y="2383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4" name="Google Shape;1074;p75"/>
          <p:cNvSpPr/>
          <p:nvPr/>
        </p:nvSpPr>
        <p:spPr>
          <a:xfrm>
            <a:off x="2596494" y="2383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5" name="Google Shape;1075;p75"/>
          <p:cNvSpPr/>
          <p:nvPr/>
        </p:nvSpPr>
        <p:spPr>
          <a:xfrm>
            <a:off x="3020994" y="2383375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6" name="Google Shape;1076;p75"/>
          <p:cNvSpPr/>
          <p:nvPr/>
        </p:nvSpPr>
        <p:spPr>
          <a:xfrm>
            <a:off x="324000" y="32215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7" name="Google Shape;1077;p75"/>
          <p:cNvSpPr/>
          <p:nvPr/>
        </p:nvSpPr>
        <p:spPr>
          <a:xfrm>
            <a:off x="324000" y="3492475"/>
            <a:ext cx="3415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8" name="Google Shape;1078;p75"/>
          <p:cNvSpPr/>
          <p:nvPr/>
        </p:nvSpPr>
        <p:spPr>
          <a:xfrm>
            <a:off x="579300" y="3221575"/>
            <a:ext cx="1326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9" name="Google Shape;1079;p75"/>
          <p:cNvSpPr/>
          <p:nvPr/>
        </p:nvSpPr>
        <p:spPr>
          <a:xfrm>
            <a:off x="324000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0" name="Google Shape;1080;p75"/>
          <p:cNvSpPr/>
          <p:nvPr/>
        </p:nvSpPr>
        <p:spPr>
          <a:xfrm>
            <a:off x="324000" y="4330675"/>
            <a:ext cx="338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1" name="Google Shape;1081;p75"/>
          <p:cNvSpPr/>
          <p:nvPr/>
        </p:nvSpPr>
        <p:spPr>
          <a:xfrm>
            <a:off x="914781" y="40597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2" name="Google Shape;1082;p75"/>
          <p:cNvSpPr/>
          <p:nvPr/>
        </p:nvSpPr>
        <p:spPr>
          <a:xfrm>
            <a:off x="618993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3" name="Google Shape;1083;p75"/>
          <p:cNvSpPr/>
          <p:nvPr/>
        </p:nvSpPr>
        <p:spPr>
          <a:xfrm>
            <a:off x="1168703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4" name="Google Shape;1084;p75"/>
          <p:cNvSpPr/>
          <p:nvPr/>
        </p:nvSpPr>
        <p:spPr>
          <a:xfrm>
            <a:off x="1759484" y="40597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5" name="Google Shape;1085;p75"/>
          <p:cNvSpPr/>
          <p:nvPr/>
        </p:nvSpPr>
        <p:spPr>
          <a:xfrm>
            <a:off x="1463696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6" name="Google Shape;1086;p75"/>
          <p:cNvSpPr/>
          <p:nvPr/>
        </p:nvSpPr>
        <p:spPr>
          <a:xfrm>
            <a:off x="2013406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7" name="Google Shape;1087;p75"/>
          <p:cNvSpPr/>
          <p:nvPr/>
        </p:nvSpPr>
        <p:spPr>
          <a:xfrm>
            <a:off x="2604187" y="40597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8" name="Google Shape;1088;p75"/>
          <p:cNvSpPr/>
          <p:nvPr/>
        </p:nvSpPr>
        <p:spPr>
          <a:xfrm>
            <a:off x="2308400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9" name="Google Shape;1089;p75"/>
          <p:cNvSpPr/>
          <p:nvPr/>
        </p:nvSpPr>
        <p:spPr>
          <a:xfrm>
            <a:off x="2858110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0" name="Google Shape;1090;p75"/>
          <p:cNvSpPr/>
          <p:nvPr/>
        </p:nvSpPr>
        <p:spPr>
          <a:xfrm>
            <a:off x="3448890" y="40597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1" name="Google Shape;1091;p75"/>
          <p:cNvSpPr/>
          <p:nvPr/>
        </p:nvSpPr>
        <p:spPr>
          <a:xfrm>
            <a:off x="3153103" y="4059775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2" name="Google Shape;1092;p75"/>
          <p:cNvSpPr/>
          <p:nvPr/>
        </p:nvSpPr>
        <p:spPr>
          <a:xfrm>
            <a:off x="5039400" y="2429100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3" name="Google Shape;1093;p75"/>
          <p:cNvSpPr/>
          <p:nvPr/>
        </p:nvSpPr>
        <p:spPr>
          <a:xfrm>
            <a:off x="5039400" y="2700000"/>
            <a:ext cx="33996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4" name="Google Shape;1094;p75"/>
          <p:cNvSpPr/>
          <p:nvPr/>
        </p:nvSpPr>
        <p:spPr>
          <a:xfrm>
            <a:off x="7605554" y="2429100"/>
            <a:ext cx="833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5" name="Google Shape;1095;p75"/>
          <p:cNvSpPr/>
          <p:nvPr/>
        </p:nvSpPr>
        <p:spPr>
          <a:xfrm>
            <a:off x="5467785" y="2429100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6" name="Google Shape;1096;p75"/>
          <p:cNvSpPr/>
          <p:nvPr/>
        </p:nvSpPr>
        <p:spPr>
          <a:xfrm>
            <a:off x="5892008" y="2429100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7" name="Google Shape;1097;p75"/>
          <p:cNvSpPr/>
          <p:nvPr/>
        </p:nvSpPr>
        <p:spPr>
          <a:xfrm>
            <a:off x="6320392" y="2429100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8" name="Google Shape;1098;p75"/>
          <p:cNvSpPr/>
          <p:nvPr/>
        </p:nvSpPr>
        <p:spPr>
          <a:xfrm>
            <a:off x="6748777" y="2429100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75"/>
          <p:cNvSpPr/>
          <p:nvPr/>
        </p:nvSpPr>
        <p:spPr>
          <a:xfrm>
            <a:off x="7173000" y="2429100"/>
            <a:ext cx="424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0" name="Google Shape;1100;p75"/>
          <p:cNvSpPr/>
          <p:nvPr/>
        </p:nvSpPr>
        <p:spPr>
          <a:xfrm>
            <a:off x="5044250" y="1483650"/>
            <a:ext cx="441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1" name="Google Shape;1101;p75"/>
          <p:cNvSpPr/>
          <p:nvPr/>
        </p:nvSpPr>
        <p:spPr>
          <a:xfrm>
            <a:off x="5044250" y="1754550"/>
            <a:ext cx="33996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2" name="Google Shape;1102;p75"/>
          <p:cNvSpPr/>
          <p:nvPr/>
        </p:nvSpPr>
        <p:spPr>
          <a:xfrm>
            <a:off x="7701650" y="1483650"/>
            <a:ext cx="742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3" name="Google Shape;1103;p75"/>
          <p:cNvSpPr/>
          <p:nvPr/>
        </p:nvSpPr>
        <p:spPr>
          <a:xfrm>
            <a:off x="5489264" y="1483650"/>
            <a:ext cx="441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4" name="Google Shape;1104;p75"/>
          <p:cNvSpPr/>
          <p:nvPr/>
        </p:nvSpPr>
        <p:spPr>
          <a:xfrm>
            <a:off x="5929954" y="1483650"/>
            <a:ext cx="441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5" name="Google Shape;1105;p75"/>
          <p:cNvSpPr/>
          <p:nvPr/>
        </p:nvSpPr>
        <p:spPr>
          <a:xfrm>
            <a:off x="6374968" y="1483650"/>
            <a:ext cx="441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6" name="Google Shape;1106;p75"/>
          <p:cNvSpPr/>
          <p:nvPr/>
        </p:nvSpPr>
        <p:spPr>
          <a:xfrm>
            <a:off x="6819982" y="1483650"/>
            <a:ext cx="441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7" name="Google Shape;1107;p75"/>
          <p:cNvSpPr/>
          <p:nvPr/>
        </p:nvSpPr>
        <p:spPr>
          <a:xfrm>
            <a:off x="7260672" y="1483650"/>
            <a:ext cx="441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8" name="Google Shape;1108;p75"/>
          <p:cNvSpPr/>
          <p:nvPr/>
        </p:nvSpPr>
        <p:spPr>
          <a:xfrm>
            <a:off x="5050686" y="4323475"/>
            <a:ext cx="33996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9" name="Google Shape;1109;p75"/>
          <p:cNvSpPr/>
          <p:nvPr/>
        </p:nvSpPr>
        <p:spPr>
          <a:xfrm>
            <a:off x="5039400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0" name="Google Shape;1110;p75"/>
          <p:cNvSpPr/>
          <p:nvPr/>
        </p:nvSpPr>
        <p:spPr>
          <a:xfrm>
            <a:off x="5039400" y="3508963"/>
            <a:ext cx="338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1" name="Google Shape;1111;p75"/>
          <p:cNvSpPr/>
          <p:nvPr/>
        </p:nvSpPr>
        <p:spPr>
          <a:xfrm>
            <a:off x="7414283" y="3238050"/>
            <a:ext cx="100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16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2" name="Google Shape;1112;p75"/>
          <p:cNvSpPr/>
          <p:nvPr/>
        </p:nvSpPr>
        <p:spPr>
          <a:xfrm>
            <a:off x="5334393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3" name="Google Shape;1113;p75"/>
          <p:cNvSpPr/>
          <p:nvPr/>
        </p:nvSpPr>
        <p:spPr>
          <a:xfrm>
            <a:off x="5630850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4" name="Google Shape;1114;p75"/>
          <p:cNvSpPr/>
          <p:nvPr/>
        </p:nvSpPr>
        <p:spPr>
          <a:xfrm>
            <a:off x="5925843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5" name="Google Shape;1115;p75"/>
          <p:cNvSpPr/>
          <p:nvPr/>
        </p:nvSpPr>
        <p:spPr>
          <a:xfrm>
            <a:off x="6225342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6" name="Google Shape;1116;p75"/>
          <p:cNvSpPr/>
          <p:nvPr/>
        </p:nvSpPr>
        <p:spPr>
          <a:xfrm>
            <a:off x="6520335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7" name="Google Shape;1117;p75"/>
          <p:cNvSpPr/>
          <p:nvPr/>
        </p:nvSpPr>
        <p:spPr>
          <a:xfrm>
            <a:off x="6819834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8" name="Google Shape;1118;p75"/>
          <p:cNvSpPr/>
          <p:nvPr/>
        </p:nvSpPr>
        <p:spPr>
          <a:xfrm>
            <a:off x="7114827" y="3238063"/>
            <a:ext cx="296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9" name="Google Shape;1119;p75"/>
          <p:cNvSpPr/>
          <p:nvPr/>
        </p:nvSpPr>
        <p:spPr>
          <a:xfrm>
            <a:off x="1902558" y="32215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0" name="Google Shape;1120;p75"/>
          <p:cNvSpPr/>
          <p:nvPr/>
        </p:nvSpPr>
        <p:spPr>
          <a:xfrm>
            <a:off x="2158341" y="3221575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1" name="Google Shape;1121;p75"/>
          <p:cNvSpPr/>
          <p:nvPr/>
        </p:nvSpPr>
        <p:spPr>
          <a:xfrm>
            <a:off x="2412770" y="3221575"/>
            <a:ext cx="1326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2" name="Google Shape;1122;p75"/>
          <p:cNvSpPr/>
          <p:nvPr/>
        </p:nvSpPr>
        <p:spPr>
          <a:xfrm>
            <a:off x="5050686" y="4047050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3" name="Google Shape;1123;p75"/>
          <p:cNvSpPr/>
          <p:nvPr/>
        </p:nvSpPr>
        <p:spPr>
          <a:xfrm>
            <a:off x="5309192" y="4047050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4" name="Google Shape;1124;p75"/>
          <p:cNvSpPr/>
          <p:nvPr/>
        </p:nvSpPr>
        <p:spPr>
          <a:xfrm>
            <a:off x="5564974" y="4047050"/>
            <a:ext cx="25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5" name="Google Shape;1125;p75"/>
          <p:cNvSpPr/>
          <p:nvPr/>
        </p:nvSpPr>
        <p:spPr>
          <a:xfrm>
            <a:off x="5820755" y="4047050"/>
            <a:ext cx="2629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126" name="Google Shape;1126;p75"/>
          <p:cNvGrpSpPr/>
          <p:nvPr/>
        </p:nvGrpSpPr>
        <p:grpSpPr>
          <a:xfrm>
            <a:off x="3816975" y="1685550"/>
            <a:ext cx="1117350" cy="2735125"/>
            <a:chOff x="3816975" y="1685550"/>
            <a:chExt cx="1117350" cy="2735125"/>
          </a:xfrm>
        </p:grpSpPr>
        <p:cxnSp>
          <p:nvCxnSpPr>
            <p:cNvPr id="1127" name="Google Shape;1127;p75"/>
            <p:cNvCxnSpPr/>
            <p:nvPr/>
          </p:nvCxnSpPr>
          <p:spPr>
            <a:xfrm>
              <a:off x="3816975" y="1685550"/>
              <a:ext cx="1110300" cy="1080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75"/>
            <p:cNvCxnSpPr/>
            <p:nvPr/>
          </p:nvCxnSpPr>
          <p:spPr>
            <a:xfrm>
              <a:off x="3834088" y="3422775"/>
              <a:ext cx="1078800" cy="928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75"/>
            <p:cNvCxnSpPr/>
            <p:nvPr/>
          </p:nvCxnSpPr>
          <p:spPr>
            <a:xfrm flipH="1">
              <a:off x="3844513" y="1738275"/>
              <a:ext cx="1078800" cy="928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75"/>
            <p:cNvCxnSpPr/>
            <p:nvPr/>
          </p:nvCxnSpPr>
          <p:spPr>
            <a:xfrm flipH="1">
              <a:off x="3855525" y="3492475"/>
              <a:ext cx="1078800" cy="928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76"/>
          <p:cNvSpPr txBox="1"/>
          <p:nvPr>
            <p:ph idx="4294967295" type="body"/>
          </p:nvPr>
        </p:nvSpPr>
        <p:spPr>
          <a:xfrm>
            <a:off x="324000" y="759300"/>
            <a:ext cx="8237700" cy="4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Use the bar models to find a solution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in each question. </a:t>
            </a:r>
            <a:endParaRPr sz="1800"/>
          </a:p>
        </p:txBody>
      </p:sp>
      <p:sp>
        <p:nvSpPr>
          <p:cNvPr id="1136" name="Google Shape;1136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cxnSp>
        <p:nvCxnSpPr>
          <p:cNvPr id="1137" name="Google Shape;1137;p76"/>
          <p:cNvCxnSpPr/>
          <p:nvPr/>
        </p:nvCxnSpPr>
        <p:spPr>
          <a:xfrm>
            <a:off x="4554767" y="123915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76"/>
          <p:cNvCxnSpPr/>
          <p:nvPr/>
        </p:nvCxnSpPr>
        <p:spPr>
          <a:xfrm>
            <a:off x="2419400" y="123915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76"/>
          <p:cNvCxnSpPr/>
          <p:nvPr/>
        </p:nvCxnSpPr>
        <p:spPr>
          <a:xfrm>
            <a:off x="6666000" y="123540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76"/>
          <p:cNvSpPr/>
          <p:nvPr/>
        </p:nvSpPr>
        <p:spPr>
          <a:xfrm>
            <a:off x="323989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1" name="Google Shape;1141;p76"/>
          <p:cNvSpPr/>
          <p:nvPr/>
        </p:nvSpPr>
        <p:spPr>
          <a:xfrm>
            <a:off x="708193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2" name="Google Shape;1142;p76"/>
          <p:cNvSpPr/>
          <p:nvPr/>
        </p:nvSpPr>
        <p:spPr>
          <a:xfrm>
            <a:off x="1097820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3" name="Google Shape;1143;p76"/>
          <p:cNvSpPr/>
          <p:nvPr/>
        </p:nvSpPr>
        <p:spPr>
          <a:xfrm>
            <a:off x="323989" y="1973715"/>
            <a:ext cx="18153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4" name="Google Shape;1144;p76"/>
          <p:cNvSpPr/>
          <p:nvPr/>
        </p:nvSpPr>
        <p:spPr>
          <a:xfrm>
            <a:off x="1487438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5" name="Google Shape;1145;p76"/>
          <p:cNvSpPr/>
          <p:nvPr/>
        </p:nvSpPr>
        <p:spPr>
          <a:xfrm>
            <a:off x="1872437" y="170281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6" name="Google Shape;1146;p76"/>
          <p:cNvSpPr/>
          <p:nvPr/>
        </p:nvSpPr>
        <p:spPr>
          <a:xfrm>
            <a:off x="324000" y="2591155"/>
            <a:ext cx="15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7" name="Google Shape;1147;p76"/>
          <p:cNvSpPr/>
          <p:nvPr/>
        </p:nvSpPr>
        <p:spPr>
          <a:xfrm>
            <a:off x="324000" y="2862054"/>
            <a:ext cx="15501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8" name="Google Shape;1148;p76"/>
          <p:cNvSpPr/>
          <p:nvPr/>
        </p:nvSpPr>
        <p:spPr>
          <a:xfrm>
            <a:off x="323950" y="3420450"/>
            <a:ext cx="15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9" name="Google Shape;1149;p76"/>
          <p:cNvSpPr/>
          <p:nvPr/>
        </p:nvSpPr>
        <p:spPr>
          <a:xfrm>
            <a:off x="324000" y="3691351"/>
            <a:ext cx="15501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0" name="Google Shape;1150;p76"/>
          <p:cNvSpPr/>
          <p:nvPr/>
        </p:nvSpPr>
        <p:spPr>
          <a:xfrm>
            <a:off x="324000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76"/>
          <p:cNvSpPr/>
          <p:nvPr/>
        </p:nvSpPr>
        <p:spPr>
          <a:xfrm>
            <a:off x="2527633" y="1702825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2" name="Google Shape;1152;p76"/>
          <p:cNvSpPr/>
          <p:nvPr/>
        </p:nvSpPr>
        <p:spPr>
          <a:xfrm>
            <a:off x="2527614" y="1973715"/>
            <a:ext cx="18153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3" name="Google Shape;1153;p76"/>
          <p:cNvSpPr/>
          <p:nvPr/>
        </p:nvSpPr>
        <p:spPr>
          <a:xfrm>
            <a:off x="3864326" y="1702825"/>
            <a:ext cx="478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4" name="Google Shape;1154;p76"/>
          <p:cNvSpPr/>
          <p:nvPr/>
        </p:nvSpPr>
        <p:spPr>
          <a:xfrm>
            <a:off x="3193533" y="1702825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5" name="Google Shape;1155;p76"/>
          <p:cNvSpPr/>
          <p:nvPr/>
        </p:nvSpPr>
        <p:spPr>
          <a:xfrm>
            <a:off x="2527622" y="2833525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6" name="Google Shape;1156;p76"/>
          <p:cNvSpPr/>
          <p:nvPr/>
        </p:nvSpPr>
        <p:spPr>
          <a:xfrm>
            <a:off x="2564439" y="3678917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7" name="Google Shape;1157;p76"/>
          <p:cNvSpPr/>
          <p:nvPr/>
        </p:nvSpPr>
        <p:spPr>
          <a:xfrm>
            <a:off x="4739980" y="1660515"/>
            <a:ext cx="18153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8" name="Google Shape;1158;p76"/>
          <p:cNvSpPr/>
          <p:nvPr/>
        </p:nvSpPr>
        <p:spPr>
          <a:xfrm>
            <a:off x="4739974" y="1931425"/>
            <a:ext cx="478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9" name="Google Shape;1159;p76"/>
          <p:cNvSpPr/>
          <p:nvPr/>
        </p:nvSpPr>
        <p:spPr>
          <a:xfrm>
            <a:off x="6288280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0" name="Google Shape;1160;p76"/>
          <p:cNvSpPr/>
          <p:nvPr/>
        </p:nvSpPr>
        <p:spPr>
          <a:xfrm>
            <a:off x="6019499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1" name="Google Shape;1161;p76"/>
          <p:cNvSpPr/>
          <p:nvPr/>
        </p:nvSpPr>
        <p:spPr>
          <a:xfrm>
            <a:off x="5754880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2" name="Google Shape;1162;p76"/>
          <p:cNvSpPr/>
          <p:nvPr/>
        </p:nvSpPr>
        <p:spPr>
          <a:xfrm>
            <a:off x="5486099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3" name="Google Shape;1163;p76"/>
          <p:cNvSpPr/>
          <p:nvPr/>
        </p:nvSpPr>
        <p:spPr>
          <a:xfrm>
            <a:off x="5221480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4" name="Google Shape;1164;p76"/>
          <p:cNvSpPr/>
          <p:nvPr/>
        </p:nvSpPr>
        <p:spPr>
          <a:xfrm>
            <a:off x="5218476" y="2574925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5" name="Google Shape;1165;p76"/>
          <p:cNvSpPr/>
          <p:nvPr/>
        </p:nvSpPr>
        <p:spPr>
          <a:xfrm>
            <a:off x="6896080" y="1931415"/>
            <a:ext cx="18153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6" name="Google Shape;1166;p76"/>
          <p:cNvSpPr/>
          <p:nvPr/>
        </p:nvSpPr>
        <p:spPr>
          <a:xfrm>
            <a:off x="6896074" y="1660525"/>
            <a:ext cx="478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7" name="Google Shape;1167;p76"/>
          <p:cNvSpPr/>
          <p:nvPr/>
        </p:nvSpPr>
        <p:spPr>
          <a:xfrm>
            <a:off x="8444380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8" name="Google Shape;1168;p76"/>
          <p:cNvSpPr/>
          <p:nvPr/>
        </p:nvSpPr>
        <p:spPr>
          <a:xfrm>
            <a:off x="8175599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9" name="Google Shape;1169;p76"/>
          <p:cNvSpPr/>
          <p:nvPr/>
        </p:nvSpPr>
        <p:spPr>
          <a:xfrm>
            <a:off x="7910980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0" name="Google Shape;1170;p76"/>
          <p:cNvSpPr/>
          <p:nvPr/>
        </p:nvSpPr>
        <p:spPr>
          <a:xfrm>
            <a:off x="7642199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1" name="Google Shape;1171;p76"/>
          <p:cNvSpPr/>
          <p:nvPr/>
        </p:nvSpPr>
        <p:spPr>
          <a:xfrm>
            <a:off x="7377580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2" name="Google Shape;1172;p76"/>
          <p:cNvSpPr/>
          <p:nvPr/>
        </p:nvSpPr>
        <p:spPr>
          <a:xfrm>
            <a:off x="2536488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6"/>
          <p:cNvSpPr/>
          <p:nvPr/>
        </p:nvSpPr>
        <p:spPr>
          <a:xfrm>
            <a:off x="4749000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6"/>
          <p:cNvSpPr/>
          <p:nvPr/>
        </p:nvSpPr>
        <p:spPr>
          <a:xfrm>
            <a:off x="6865325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6"/>
          <p:cNvSpPr/>
          <p:nvPr/>
        </p:nvSpPr>
        <p:spPr>
          <a:xfrm>
            <a:off x="2527622" y="2564744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6" name="Google Shape;1176;p76"/>
          <p:cNvSpPr/>
          <p:nvPr/>
        </p:nvSpPr>
        <p:spPr>
          <a:xfrm>
            <a:off x="2562616" y="3406200"/>
            <a:ext cx="133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7" name="Google Shape;1177;p76"/>
          <p:cNvSpPr/>
          <p:nvPr/>
        </p:nvSpPr>
        <p:spPr>
          <a:xfrm>
            <a:off x="5218476" y="2850910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8" name="Google Shape;1178;p76"/>
          <p:cNvSpPr/>
          <p:nvPr/>
        </p:nvSpPr>
        <p:spPr>
          <a:xfrm>
            <a:off x="5218476" y="3413125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9" name="Google Shape;1179;p76"/>
          <p:cNvSpPr/>
          <p:nvPr/>
        </p:nvSpPr>
        <p:spPr>
          <a:xfrm>
            <a:off x="5218476" y="3689110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0" name="Google Shape;1180;p76"/>
          <p:cNvSpPr/>
          <p:nvPr/>
        </p:nvSpPr>
        <p:spPr>
          <a:xfrm>
            <a:off x="7376076" y="2574925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1" name="Google Shape;1181;p76"/>
          <p:cNvSpPr/>
          <p:nvPr/>
        </p:nvSpPr>
        <p:spPr>
          <a:xfrm>
            <a:off x="7376076" y="2850910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2" name="Google Shape;1182;p76"/>
          <p:cNvSpPr/>
          <p:nvPr/>
        </p:nvSpPr>
        <p:spPr>
          <a:xfrm>
            <a:off x="7376076" y="3413125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83" name="Google Shape;1183;p76"/>
          <p:cNvSpPr/>
          <p:nvPr/>
        </p:nvSpPr>
        <p:spPr>
          <a:xfrm>
            <a:off x="7376076" y="3689110"/>
            <a:ext cx="133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7"/>
          <p:cNvSpPr txBox="1"/>
          <p:nvPr>
            <p:ph idx="4294967295" type="body"/>
          </p:nvPr>
        </p:nvSpPr>
        <p:spPr>
          <a:xfrm>
            <a:off x="324000" y="759300"/>
            <a:ext cx="8237700" cy="4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Match each bar model to an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189" name="Google Shape;1189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1190" name="Google Shape;1190;p77"/>
          <p:cNvSpPr txBox="1"/>
          <p:nvPr>
            <p:ph idx="4294967295" type="body"/>
          </p:nvPr>
        </p:nvSpPr>
        <p:spPr>
          <a:xfrm>
            <a:off x="6942600" y="1352325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1800"/>
          </a:p>
        </p:txBody>
      </p:sp>
      <p:sp>
        <p:nvSpPr>
          <p:cNvPr id="1191" name="Google Shape;1191;p77"/>
          <p:cNvSpPr txBox="1"/>
          <p:nvPr>
            <p:ph idx="4294967295" type="body"/>
          </p:nvPr>
        </p:nvSpPr>
        <p:spPr>
          <a:xfrm>
            <a:off x="6942600" y="197497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1800"/>
          </a:p>
        </p:txBody>
      </p:sp>
      <p:sp>
        <p:nvSpPr>
          <p:cNvPr id="1192" name="Google Shape;1192;p77"/>
          <p:cNvSpPr txBox="1"/>
          <p:nvPr>
            <p:ph idx="4294967295" type="body"/>
          </p:nvPr>
        </p:nvSpPr>
        <p:spPr>
          <a:xfrm>
            <a:off x="6942600" y="2597615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1800"/>
          </a:p>
        </p:txBody>
      </p:sp>
      <p:sp>
        <p:nvSpPr>
          <p:cNvPr id="1193" name="Google Shape;1193;p77"/>
          <p:cNvSpPr txBox="1"/>
          <p:nvPr>
            <p:ph idx="4294967295" type="body"/>
          </p:nvPr>
        </p:nvSpPr>
        <p:spPr>
          <a:xfrm>
            <a:off x="6942600" y="322026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1800"/>
          </a:p>
        </p:txBody>
      </p:sp>
      <p:sp>
        <p:nvSpPr>
          <p:cNvPr id="1194" name="Google Shape;1194;p77"/>
          <p:cNvSpPr txBox="1"/>
          <p:nvPr>
            <p:ph idx="4294967295" type="body"/>
          </p:nvPr>
        </p:nvSpPr>
        <p:spPr>
          <a:xfrm>
            <a:off x="6942600" y="3842905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1800"/>
          </a:p>
        </p:txBody>
      </p:sp>
      <p:sp>
        <p:nvSpPr>
          <p:cNvPr id="1195" name="Google Shape;1195;p77"/>
          <p:cNvSpPr txBox="1"/>
          <p:nvPr>
            <p:ph idx="4294967295" type="body"/>
          </p:nvPr>
        </p:nvSpPr>
        <p:spPr>
          <a:xfrm>
            <a:off x="6942600" y="446555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1800"/>
          </a:p>
        </p:txBody>
      </p:sp>
      <p:sp>
        <p:nvSpPr>
          <p:cNvPr id="1196" name="Google Shape;1196;p77"/>
          <p:cNvSpPr/>
          <p:nvPr/>
        </p:nvSpPr>
        <p:spPr>
          <a:xfrm>
            <a:off x="1387500" y="1704075"/>
            <a:ext cx="1058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7" name="Google Shape;1197;p77"/>
          <p:cNvSpPr/>
          <p:nvPr/>
        </p:nvSpPr>
        <p:spPr>
          <a:xfrm>
            <a:off x="628800" y="1704075"/>
            <a:ext cx="7554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3903001" y="1704079"/>
            <a:ext cx="25632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9" name="Google Shape;1199;p77"/>
          <p:cNvSpPr/>
          <p:nvPr/>
        </p:nvSpPr>
        <p:spPr>
          <a:xfrm>
            <a:off x="3903000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0" name="Google Shape;1200;p77"/>
          <p:cNvSpPr/>
          <p:nvPr/>
        </p:nvSpPr>
        <p:spPr>
          <a:xfrm>
            <a:off x="4407037" y="1430200"/>
            <a:ext cx="3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4157315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2" name="Google Shape;1202;p77"/>
          <p:cNvSpPr/>
          <p:nvPr/>
        </p:nvSpPr>
        <p:spPr>
          <a:xfrm>
            <a:off x="4757552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3" name="Google Shape;1203;p77"/>
          <p:cNvSpPr/>
          <p:nvPr/>
        </p:nvSpPr>
        <p:spPr>
          <a:xfrm>
            <a:off x="5261590" y="1430200"/>
            <a:ext cx="3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4" name="Google Shape;1204;p77"/>
          <p:cNvSpPr/>
          <p:nvPr/>
        </p:nvSpPr>
        <p:spPr>
          <a:xfrm>
            <a:off x="5011867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5" name="Google Shape;1205;p77"/>
          <p:cNvSpPr/>
          <p:nvPr/>
        </p:nvSpPr>
        <p:spPr>
          <a:xfrm>
            <a:off x="5612105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6" name="Google Shape;1206;p77"/>
          <p:cNvSpPr/>
          <p:nvPr/>
        </p:nvSpPr>
        <p:spPr>
          <a:xfrm>
            <a:off x="6116142" y="1430200"/>
            <a:ext cx="3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07" name="Google Shape;1207;p77"/>
          <p:cNvSpPr/>
          <p:nvPr/>
        </p:nvSpPr>
        <p:spPr>
          <a:xfrm>
            <a:off x="5866420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08" name="Google Shape;1208;p77"/>
          <p:cNvGrpSpPr/>
          <p:nvPr/>
        </p:nvGrpSpPr>
        <p:grpSpPr>
          <a:xfrm>
            <a:off x="628801" y="1430200"/>
            <a:ext cx="2575413" cy="270900"/>
            <a:chOff x="478566" y="1430200"/>
            <a:chExt cx="2575413" cy="270900"/>
          </a:xfrm>
        </p:grpSpPr>
        <p:sp>
          <p:nvSpPr>
            <p:cNvPr id="1209" name="Google Shape;1209;p77"/>
            <p:cNvSpPr/>
            <p:nvPr/>
          </p:nvSpPr>
          <p:spPr>
            <a:xfrm>
              <a:off x="1180850" y="1430200"/>
              <a:ext cx="975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0" name="Google Shape;1210;p77"/>
            <p:cNvSpPr/>
            <p:nvPr/>
          </p:nvSpPr>
          <p:spPr>
            <a:xfrm>
              <a:off x="2855379" y="1430200"/>
              <a:ext cx="1986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1" name="Google Shape;1211;p77"/>
            <p:cNvSpPr/>
            <p:nvPr/>
          </p:nvSpPr>
          <p:spPr>
            <a:xfrm>
              <a:off x="2508462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2" name="Google Shape;1212;p77"/>
            <p:cNvSpPr/>
            <p:nvPr/>
          </p:nvSpPr>
          <p:spPr>
            <a:xfrm>
              <a:off x="2156278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3" name="Google Shape;1213;p77"/>
            <p:cNvSpPr/>
            <p:nvPr/>
          </p:nvSpPr>
          <p:spPr>
            <a:xfrm>
              <a:off x="830751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14" name="Google Shape;1214;p77"/>
            <p:cNvSpPr/>
            <p:nvPr/>
          </p:nvSpPr>
          <p:spPr>
            <a:xfrm>
              <a:off x="478566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15" name="Google Shape;1215;p77"/>
          <p:cNvSpPr/>
          <p:nvPr/>
        </p:nvSpPr>
        <p:spPr>
          <a:xfrm>
            <a:off x="628797" y="2845625"/>
            <a:ext cx="25755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6" name="Google Shape;1216;p77"/>
          <p:cNvSpPr/>
          <p:nvPr/>
        </p:nvSpPr>
        <p:spPr>
          <a:xfrm>
            <a:off x="2256358" y="2570075"/>
            <a:ext cx="226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7" name="Google Shape;1217;p77"/>
          <p:cNvSpPr/>
          <p:nvPr/>
        </p:nvSpPr>
        <p:spPr>
          <a:xfrm>
            <a:off x="629150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8" name="Google Shape;1218;p77"/>
          <p:cNvSpPr/>
          <p:nvPr/>
        </p:nvSpPr>
        <p:spPr>
          <a:xfrm>
            <a:off x="1035952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19" name="Google Shape;1219;p77"/>
          <p:cNvSpPr/>
          <p:nvPr/>
        </p:nvSpPr>
        <p:spPr>
          <a:xfrm>
            <a:off x="1442755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0" name="Google Shape;1220;p77"/>
          <p:cNvSpPr/>
          <p:nvPr/>
        </p:nvSpPr>
        <p:spPr>
          <a:xfrm>
            <a:off x="1849557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1" name="Google Shape;1221;p77"/>
          <p:cNvSpPr/>
          <p:nvPr/>
        </p:nvSpPr>
        <p:spPr>
          <a:xfrm>
            <a:off x="2482960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2" name="Google Shape;1222;p77"/>
          <p:cNvSpPr/>
          <p:nvPr/>
        </p:nvSpPr>
        <p:spPr>
          <a:xfrm>
            <a:off x="2889762" y="2570075"/>
            <a:ext cx="314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3" name="Google Shape;1223;p77"/>
          <p:cNvSpPr/>
          <p:nvPr/>
        </p:nvSpPr>
        <p:spPr>
          <a:xfrm>
            <a:off x="2445600" y="1704075"/>
            <a:ext cx="7554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4" name="Google Shape;1224;p77"/>
          <p:cNvSpPr/>
          <p:nvPr/>
        </p:nvSpPr>
        <p:spPr>
          <a:xfrm>
            <a:off x="3897125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5" name="Google Shape;1225;p77"/>
          <p:cNvSpPr/>
          <p:nvPr/>
        </p:nvSpPr>
        <p:spPr>
          <a:xfrm>
            <a:off x="4147129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6" name="Google Shape;1226;p77"/>
          <p:cNvSpPr/>
          <p:nvPr/>
        </p:nvSpPr>
        <p:spPr>
          <a:xfrm>
            <a:off x="4289080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7" name="Google Shape;1227;p77"/>
          <p:cNvSpPr/>
          <p:nvPr/>
        </p:nvSpPr>
        <p:spPr>
          <a:xfrm>
            <a:off x="4539085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8" name="Google Shape;1228;p77"/>
          <p:cNvSpPr/>
          <p:nvPr/>
        </p:nvSpPr>
        <p:spPr>
          <a:xfrm>
            <a:off x="4681031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9" name="Google Shape;1229;p77"/>
          <p:cNvSpPr/>
          <p:nvPr/>
        </p:nvSpPr>
        <p:spPr>
          <a:xfrm>
            <a:off x="4931035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0" name="Google Shape;1230;p77"/>
          <p:cNvSpPr/>
          <p:nvPr/>
        </p:nvSpPr>
        <p:spPr>
          <a:xfrm>
            <a:off x="5072986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1" name="Google Shape;1231;p77"/>
          <p:cNvSpPr/>
          <p:nvPr/>
        </p:nvSpPr>
        <p:spPr>
          <a:xfrm>
            <a:off x="5322990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2" name="Google Shape;1232;p77"/>
          <p:cNvSpPr/>
          <p:nvPr/>
        </p:nvSpPr>
        <p:spPr>
          <a:xfrm>
            <a:off x="5464939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3" name="Google Shape;1233;p77"/>
          <p:cNvSpPr/>
          <p:nvPr/>
        </p:nvSpPr>
        <p:spPr>
          <a:xfrm>
            <a:off x="5714948" y="2563725"/>
            <a:ext cx="253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4" name="Google Shape;1234;p77"/>
          <p:cNvSpPr/>
          <p:nvPr/>
        </p:nvSpPr>
        <p:spPr>
          <a:xfrm>
            <a:off x="5968782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5" name="Google Shape;1235;p77"/>
          <p:cNvSpPr/>
          <p:nvPr/>
        </p:nvSpPr>
        <p:spPr>
          <a:xfrm>
            <a:off x="6218791" y="2563725"/>
            <a:ext cx="253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6" name="Google Shape;1236;p77"/>
          <p:cNvSpPr/>
          <p:nvPr/>
        </p:nvSpPr>
        <p:spPr>
          <a:xfrm>
            <a:off x="628684" y="3985500"/>
            <a:ext cx="25755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7" name="Google Shape;1237;p77"/>
          <p:cNvSpPr/>
          <p:nvPr/>
        </p:nvSpPr>
        <p:spPr>
          <a:xfrm>
            <a:off x="1514827" y="3709950"/>
            <a:ext cx="40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8" name="Google Shape;1238;p77"/>
          <p:cNvSpPr/>
          <p:nvPr/>
        </p:nvSpPr>
        <p:spPr>
          <a:xfrm>
            <a:off x="629050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9" name="Google Shape;1239;p77"/>
          <p:cNvSpPr/>
          <p:nvPr/>
        </p:nvSpPr>
        <p:spPr>
          <a:xfrm>
            <a:off x="1071938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0" name="Google Shape;1240;p77"/>
          <p:cNvSpPr/>
          <p:nvPr/>
        </p:nvSpPr>
        <p:spPr>
          <a:xfrm>
            <a:off x="2802577" y="3709950"/>
            <a:ext cx="40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1" name="Google Shape;1241;p77"/>
          <p:cNvSpPr/>
          <p:nvPr/>
        </p:nvSpPr>
        <p:spPr>
          <a:xfrm>
            <a:off x="1916800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2" name="Google Shape;1242;p77"/>
          <p:cNvSpPr/>
          <p:nvPr/>
        </p:nvSpPr>
        <p:spPr>
          <a:xfrm>
            <a:off x="2359688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3" name="Google Shape;1243;p77"/>
          <p:cNvSpPr/>
          <p:nvPr/>
        </p:nvSpPr>
        <p:spPr>
          <a:xfrm>
            <a:off x="3896650" y="3972800"/>
            <a:ext cx="16968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4" name="Google Shape;1244;p77"/>
          <p:cNvSpPr/>
          <p:nvPr/>
        </p:nvSpPr>
        <p:spPr>
          <a:xfrm>
            <a:off x="4942745" y="3697250"/>
            <a:ext cx="238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5" name="Google Shape;1245;p77"/>
          <p:cNvSpPr/>
          <p:nvPr/>
        </p:nvSpPr>
        <p:spPr>
          <a:xfrm>
            <a:off x="3897005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6" name="Google Shape;1246;p77"/>
          <p:cNvSpPr/>
          <p:nvPr/>
        </p:nvSpPr>
        <p:spPr>
          <a:xfrm>
            <a:off x="4243259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7" name="Google Shape;1247;p77"/>
          <p:cNvSpPr/>
          <p:nvPr/>
        </p:nvSpPr>
        <p:spPr>
          <a:xfrm>
            <a:off x="5595076" y="3972775"/>
            <a:ext cx="877500" cy="270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8" name="Google Shape;1248;p77"/>
          <p:cNvSpPr/>
          <p:nvPr/>
        </p:nvSpPr>
        <p:spPr>
          <a:xfrm>
            <a:off x="4589515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9" name="Google Shape;1249;p77"/>
          <p:cNvSpPr/>
          <p:nvPr/>
        </p:nvSpPr>
        <p:spPr>
          <a:xfrm>
            <a:off x="6234129" y="3697250"/>
            <a:ext cx="238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0" name="Google Shape;1250;p77"/>
          <p:cNvSpPr/>
          <p:nvPr/>
        </p:nvSpPr>
        <p:spPr>
          <a:xfrm>
            <a:off x="5188390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1" name="Google Shape;1251;p77"/>
          <p:cNvSpPr/>
          <p:nvPr/>
        </p:nvSpPr>
        <p:spPr>
          <a:xfrm>
            <a:off x="5534644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2" name="Google Shape;1252;p77"/>
          <p:cNvSpPr/>
          <p:nvPr/>
        </p:nvSpPr>
        <p:spPr>
          <a:xfrm>
            <a:off x="5880900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3" name="Google Shape;1253;p77"/>
          <p:cNvSpPr/>
          <p:nvPr/>
        </p:nvSpPr>
        <p:spPr>
          <a:xfrm>
            <a:off x="196100" y="1392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7"/>
          <p:cNvSpPr/>
          <p:nvPr/>
        </p:nvSpPr>
        <p:spPr>
          <a:xfrm>
            <a:off x="196150" y="2548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77"/>
          <p:cNvSpPr/>
          <p:nvPr/>
        </p:nvSpPr>
        <p:spPr>
          <a:xfrm>
            <a:off x="196150" y="37925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7"/>
          <p:cNvSpPr/>
          <p:nvPr/>
        </p:nvSpPr>
        <p:spPr>
          <a:xfrm>
            <a:off x="3443638" y="140138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7"/>
          <p:cNvSpPr/>
          <p:nvPr/>
        </p:nvSpPr>
        <p:spPr>
          <a:xfrm>
            <a:off x="3443688" y="255758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77"/>
          <p:cNvSpPr/>
          <p:nvPr/>
        </p:nvSpPr>
        <p:spPr>
          <a:xfrm>
            <a:off x="3443688" y="380193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7"/>
          <p:cNvSpPr/>
          <p:nvPr/>
        </p:nvSpPr>
        <p:spPr>
          <a:xfrm>
            <a:off x="3897125" y="2838425"/>
            <a:ext cx="968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0" name="Google Shape;1260;p77"/>
          <p:cNvSpPr/>
          <p:nvPr/>
        </p:nvSpPr>
        <p:spPr>
          <a:xfrm>
            <a:off x="5833925" y="2838425"/>
            <a:ext cx="638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1" name="Google Shape;1261;p77"/>
          <p:cNvSpPr/>
          <p:nvPr/>
        </p:nvSpPr>
        <p:spPr>
          <a:xfrm>
            <a:off x="4865525" y="2838438"/>
            <a:ext cx="968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78"/>
          <p:cNvSpPr txBox="1"/>
          <p:nvPr>
            <p:ph idx="4294967295" type="body"/>
          </p:nvPr>
        </p:nvSpPr>
        <p:spPr>
          <a:xfrm>
            <a:off x="324000" y="759300"/>
            <a:ext cx="8237700" cy="4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Use the bar models to find a solution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in each question. </a:t>
            </a:r>
            <a:endParaRPr sz="1800"/>
          </a:p>
        </p:txBody>
      </p:sp>
      <p:sp>
        <p:nvSpPr>
          <p:cNvPr id="1267" name="Google Shape;126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cxnSp>
        <p:nvCxnSpPr>
          <p:cNvPr id="1268" name="Google Shape;1268;p78"/>
          <p:cNvCxnSpPr/>
          <p:nvPr/>
        </p:nvCxnSpPr>
        <p:spPr>
          <a:xfrm>
            <a:off x="4554767" y="123915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78"/>
          <p:cNvCxnSpPr/>
          <p:nvPr/>
        </p:nvCxnSpPr>
        <p:spPr>
          <a:xfrm>
            <a:off x="2419400" y="123915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78"/>
          <p:cNvCxnSpPr/>
          <p:nvPr/>
        </p:nvCxnSpPr>
        <p:spPr>
          <a:xfrm>
            <a:off x="6666000" y="1235400"/>
            <a:ext cx="0" cy="3585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78"/>
          <p:cNvSpPr/>
          <p:nvPr/>
        </p:nvSpPr>
        <p:spPr>
          <a:xfrm>
            <a:off x="323989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2" name="Google Shape;1272;p78"/>
          <p:cNvSpPr/>
          <p:nvPr/>
        </p:nvSpPr>
        <p:spPr>
          <a:xfrm>
            <a:off x="708193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3" name="Google Shape;1273;p78"/>
          <p:cNvSpPr/>
          <p:nvPr/>
        </p:nvSpPr>
        <p:spPr>
          <a:xfrm>
            <a:off x="1097820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4" name="Google Shape;1274;p78"/>
          <p:cNvSpPr/>
          <p:nvPr/>
        </p:nvSpPr>
        <p:spPr>
          <a:xfrm>
            <a:off x="323989" y="1973715"/>
            <a:ext cx="181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5" name="Google Shape;1275;p78"/>
          <p:cNvSpPr/>
          <p:nvPr/>
        </p:nvSpPr>
        <p:spPr>
          <a:xfrm>
            <a:off x="1487438" y="1702815"/>
            <a:ext cx="386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6" name="Google Shape;1276;p78"/>
          <p:cNvSpPr/>
          <p:nvPr/>
        </p:nvSpPr>
        <p:spPr>
          <a:xfrm>
            <a:off x="1872437" y="170281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7" name="Google Shape;1277;p78"/>
          <p:cNvSpPr/>
          <p:nvPr/>
        </p:nvSpPr>
        <p:spPr>
          <a:xfrm>
            <a:off x="324000" y="2591155"/>
            <a:ext cx="15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8" name="Google Shape;1278;p78"/>
          <p:cNvSpPr/>
          <p:nvPr/>
        </p:nvSpPr>
        <p:spPr>
          <a:xfrm>
            <a:off x="324000" y="2862054"/>
            <a:ext cx="15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9" name="Google Shape;1279;p78"/>
          <p:cNvSpPr/>
          <p:nvPr/>
        </p:nvSpPr>
        <p:spPr>
          <a:xfrm>
            <a:off x="324000" y="3420452"/>
            <a:ext cx="386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0" name="Google Shape;1280;p78"/>
          <p:cNvSpPr/>
          <p:nvPr/>
        </p:nvSpPr>
        <p:spPr>
          <a:xfrm>
            <a:off x="708249" y="3420452"/>
            <a:ext cx="1165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1" name="Google Shape;1281;p78"/>
          <p:cNvSpPr/>
          <p:nvPr/>
        </p:nvSpPr>
        <p:spPr>
          <a:xfrm>
            <a:off x="324000" y="3691351"/>
            <a:ext cx="15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82" name="Google Shape;1282;p78"/>
          <p:cNvGrpSpPr/>
          <p:nvPr/>
        </p:nvGrpSpPr>
        <p:grpSpPr>
          <a:xfrm>
            <a:off x="323989" y="2591165"/>
            <a:ext cx="1550055" cy="541800"/>
            <a:chOff x="324000" y="2998200"/>
            <a:chExt cx="2593800" cy="541800"/>
          </a:xfrm>
        </p:grpSpPr>
        <p:sp>
          <p:nvSpPr>
            <p:cNvPr id="1283" name="Google Shape;1283;p78"/>
            <p:cNvSpPr/>
            <p:nvPr/>
          </p:nvSpPr>
          <p:spPr>
            <a:xfrm>
              <a:off x="324000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4" name="Google Shape;1284;p78"/>
            <p:cNvSpPr/>
            <p:nvPr/>
          </p:nvSpPr>
          <p:spPr>
            <a:xfrm>
              <a:off x="966913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5" name="Google Shape;1285;p78"/>
            <p:cNvSpPr/>
            <p:nvPr/>
          </p:nvSpPr>
          <p:spPr>
            <a:xfrm>
              <a:off x="1618899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6" name="Google Shape;1286;p78"/>
            <p:cNvSpPr/>
            <p:nvPr/>
          </p:nvSpPr>
          <p:spPr>
            <a:xfrm>
              <a:off x="2270869" y="29982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87" name="Google Shape;1287;p78"/>
            <p:cNvSpPr/>
            <p:nvPr/>
          </p:nvSpPr>
          <p:spPr>
            <a:xfrm>
              <a:off x="324000" y="3269100"/>
              <a:ext cx="2593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88" name="Google Shape;1288;p78"/>
          <p:cNvGrpSpPr/>
          <p:nvPr/>
        </p:nvGrpSpPr>
        <p:grpSpPr>
          <a:xfrm>
            <a:off x="323989" y="3420465"/>
            <a:ext cx="1550055" cy="541800"/>
            <a:chOff x="324000" y="3988800"/>
            <a:chExt cx="2593800" cy="541800"/>
          </a:xfrm>
        </p:grpSpPr>
        <p:sp>
          <p:nvSpPr>
            <p:cNvPr id="1289" name="Google Shape;1289;p78"/>
            <p:cNvSpPr/>
            <p:nvPr/>
          </p:nvSpPr>
          <p:spPr>
            <a:xfrm>
              <a:off x="972215" y="39888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0" name="Google Shape;1290;p78"/>
            <p:cNvSpPr/>
            <p:nvPr/>
          </p:nvSpPr>
          <p:spPr>
            <a:xfrm>
              <a:off x="1619400" y="39888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1" name="Google Shape;1291;p78"/>
            <p:cNvSpPr/>
            <p:nvPr/>
          </p:nvSpPr>
          <p:spPr>
            <a:xfrm>
              <a:off x="2271000" y="39888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2" name="Google Shape;1292;p78"/>
            <p:cNvSpPr/>
            <p:nvPr/>
          </p:nvSpPr>
          <p:spPr>
            <a:xfrm>
              <a:off x="324000" y="42597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3" name="Google Shape;1293;p78"/>
            <p:cNvSpPr/>
            <p:nvPr/>
          </p:nvSpPr>
          <p:spPr>
            <a:xfrm>
              <a:off x="972215" y="42597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4" name="Google Shape;1294;p78"/>
            <p:cNvSpPr/>
            <p:nvPr/>
          </p:nvSpPr>
          <p:spPr>
            <a:xfrm>
              <a:off x="1619400" y="42597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295" name="Google Shape;1295;p78"/>
            <p:cNvSpPr/>
            <p:nvPr/>
          </p:nvSpPr>
          <p:spPr>
            <a:xfrm>
              <a:off x="2271000" y="4259700"/>
              <a:ext cx="6468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296" name="Google Shape;1296;p78"/>
          <p:cNvSpPr txBox="1"/>
          <p:nvPr/>
        </p:nvSpPr>
        <p:spPr>
          <a:xfrm>
            <a:off x="352825" y="4249775"/>
            <a:ext cx="15921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78"/>
          <p:cNvSpPr/>
          <p:nvPr/>
        </p:nvSpPr>
        <p:spPr>
          <a:xfrm>
            <a:off x="324000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78"/>
          <p:cNvSpPr/>
          <p:nvPr/>
        </p:nvSpPr>
        <p:spPr>
          <a:xfrm>
            <a:off x="2527633" y="1702825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9" name="Google Shape;1299;p78"/>
          <p:cNvSpPr/>
          <p:nvPr/>
        </p:nvSpPr>
        <p:spPr>
          <a:xfrm>
            <a:off x="2527614" y="1973715"/>
            <a:ext cx="181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72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0" name="Google Shape;1300;p78"/>
          <p:cNvSpPr/>
          <p:nvPr/>
        </p:nvSpPr>
        <p:spPr>
          <a:xfrm>
            <a:off x="3864326" y="1702825"/>
            <a:ext cx="478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1" name="Google Shape;1301;p78"/>
          <p:cNvSpPr/>
          <p:nvPr/>
        </p:nvSpPr>
        <p:spPr>
          <a:xfrm>
            <a:off x="3193533" y="1702825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2" name="Google Shape;1302;p78"/>
          <p:cNvSpPr/>
          <p:nvPr/>
        </p:nvSpPr>
        <p:spPr>
          <a:xfrm>
            <a:off x="2527633" y="2562636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3" name="Google Shape;1303;p78"/>
          <p:cNvSpPr/>
          <p:nvPr/>
        </p:nvSpPr>
        <p:spPr>
          <a:xfrm>
            <a:off x="2527622" y="2833525"/>
            <a:ext cx="133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4" name="Google Shape;1304;p78"/>
          <p:cNvSpPr/>
          <p:nvPr/>
        </p:nvSpPr>
        <p:spPr>
          <a:xfrm>
            <a:off x="3193533" y="2562636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5" name="Google Shape;1305;p78"/>
          <p:cNvSpPr/>
          <p:nvPr/>
        </p:nvSpPr>
        <p:spPr>
          <a:xfrm>
            <a:off x="2564446" y="3406204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6" name="Google Shape;1306;p78"/>
          <p:cNvSpPr/>
          <p:nvPr/>
        </p:nvSpPr>
        <p:spPr>
          <a:xfrm>
            <a:off x="2564436" y="3677100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7" name="Google Shape;1307;p78"/>
          <p:cNvSpPr/>
          <p:nvPr/>
        </p:nvSpPr>
        <p:spPr>
          <a:xfrm>
            <a:off x="3230346" y="3406204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8" name="Google Shape;1308;p78"/>
          <p:cNvSpPr/>
          <p:nvPr/>
        </p:nvSpPr>
        <p:spPr>
          <a:xfrm>
            <a:off x="3230346" y="3677100"/>
            <a:ext cx="670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09" name="Google Shape;1309;p78"/>
          <p:cNvSpPr txBox="1"/>
          <p:nvPr/>
        </p:nvSpPr>
        <p:spPr>
          <a:xfrm>
            <a:off x="2548217" y="4249775"/>
            <a:ext cx="15921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8"/>
          <p:cNvSpPr/>
          <p:nvPr/>
        </p:nvSpPr>
        <p:spPr>
          <a:xfrm>
            <a:off x="4739980" y="1660515"/>
            <a:ext cx="181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9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1" name="Google Shape;1311;p78"/>
          <p:cNvSpPr/>
          <p:nvPr/>
        </p:nvSpPr>
        <p:spPr>
          <a:xfrm>
            <a:off x="4739974" y="1931425"/>
            <a:ext cx="478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2" name="Google Shape;1312;p78"/>
          <p:cNvSpPr/>
          <p:nvPr/>
        </p:nvSpPr>
        <p:spPr>
          <a:xfrm>
            <a:off x="6288280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3" name="Google Shape;1313;p78"/>
          <p:cNvSpPr/>
          <p:nvPr/>
        </p:nvSpPr>
        <p:spPr>
          <a:xfrm>
            <a:off x="6019499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4" name="Google Shape;1314;p78"/>
          <p:cNvSpPr/>
          <p:nvPr/>
        </p:nvSpPr>
        <p:spPr>
          <a:xfrm>
            <a:off x="5754880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5" name="Google Shape;1315;p78"/>
          <p:cNvSpPr/>
          <p:nvPr/>
        </p:nvSpPr>
        <p:spPr>
          <a:xfrm>
            <a:off x="5486099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6" name="Google Shape;1316;p78"/>
          <p:cNvSpPr/>
          <p:nvPr/>
        </p:nvSpPr>
        <p:spPr>
          <a:xfrm>
            <a:off x="5221480" y="19314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7" name="Google Shape;1317;p78"/>
          <p:cNvSpPr/>
          <p:nvPr/>
        </p:nvSpPr>
        <p:spPr>
          <a:xfrm>
            <a:off x="5218476" y="2574925"/>
            <a:ext cx="133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8" name="Google Shape;1318;p78"/>
          <p:cNvSpPr/>
          <p:nvPr/>
        </p:nvSpPr>
        <p:spPr>
          <a:xfrm>
            <a:off x="6288280" y="28458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9" name="Google Shape;1319;p78"/>
          <p:cNvSpPr/>
          <p:nvPr/>
        </p:nvSpPr>
        <p:spPr>
          <a:xfrm>
            <a:off x="6019499" y="28458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0" name="Google Shape;1320;p78"/>
          <p:cNvSpPr/>
          <p:nvPr/>
        </p:nvSpPr>
        <p:spPr>
          <a:xfrm>
            <a:off x="5754880" y="28458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1" name="Google Shape;1321;p78"/>
          <p:cNvSpPr/>
          <p:nvPr/>
        </p:nvSpPr>
        <p:spPr>
          <a:xfrm>
            <a:off x="5486099" y="28458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2" name="Google Shape;1322;p78"/>
          <p:cNvSpPr/>
          <p:nvPr/>
        </p:nvSpPr>
        <p:spPr>
          <a:xfrm>
            <a:off x="5221480" y="28458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3" name="Google Shape;1323;p78"/>
          <p:cNvSpPr/>
          <p:nvPr/>
        </p:nvSpPr>
        <p:spPr>
          <a:xfrm>
            <a:off x="6288276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4" name="Google Shape;1324;p78"/>
          <p:cNvSpPr/>
          <p:nvPr/>
        </p:nvSpPr>
        <p:spPr>
          <a:xfrm>
            <a:off x="6288280" y="36840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5" name="Google Shape;1325;p78"/>
          <p:cNvSpPr/>
          <p:nvPr/>
        </p:nvSpPr>
        <p:spPr>
          <a:xfrm>
            <a:off x="6019499" y="36840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6" name="Google Shape;1326;p78"/>
          <p:cNvSpPr/>
          <p:nvPr/>
        </p:nvSpPr>
        <p:spPr>
          <a:xfrm>
            <a:off x="5754876" y="36840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7" name="Google Shape;1327;p78"/>
          <p:cNvSpPr/>
          <p:nvPr/>
        </p:nvSpPr>
        <p:spPr>
          <a:xfrm>
            <a:off x="5486099" y="36840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8" name="Google Shape;1328;p78"/>
          <p:cNvSpPr/>
          <p:nvPr/>
        </p:nvSpPr>
        <p:spPr>
          <a:xfrm>
            <a:off x="5221480" y="36840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9" name="Google Shape;1329;p78"/>
          <p:cNvSpPr/>
          <p:nvPr/>
        </p:nvSpPr>
        <p:spPr>
          <a:xfrm>
            <a:off x="6019499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0" name="Google Shape;1330;p78"/>
          <p:cNvSpPr/>
          <p:nvPr/>
        </p:nvSpPr>
        <p:spPr>
          <a:xfrm>
            <a:off x="5754876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1" name="Google Shape;1331;p78"/>
          <p:cNvSpPr/>
          <p:nvPr/>
        </p:nvSpPr>
        <p:spPr>
          <a:xfrm>
            <a:off x="5486099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2" name="Google Shape;1332;p78"/>
          <p:cNvSpPr/>
          <p:nvPr/>
        </p:nvSpPr>
        <p:spPr>
          <a:xfrm>
            <a:off x="5221480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3" name="Google Shape;1333;p78"/>
          <p:cNvSpPr txBox="1"/>
          <p:nvPr/>
        </p:nvSpPr>
        <p:spPr>
          <a:xfrm>
            <a:off x="4681817" y="4249775"/>
            <a:ext cx="15921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78"/>
          <p:cNvSpPr/>
          <p:nvPr/>
        </p:nvSpPr>
        <p:spPr>
          <a:xfrm>
            <a:off x="6896080" y="1931415"/>
            <a:ext cx="18153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5" name="Google Shape;1335;p78"/>
          <p:cNvSpPr/>
          <p:nvPr/>
        </p:nvSpPr>
        <p:spPr>
          <a:xfrm>
            <a:off x="6896074" y="1660525"/>
            <a:ext cx="478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6" name="Google Shape;1336;p78"/>
          <p:cNvSpPr/>
          <p:nvPr/>
        </p:nvSpPr>
        <p:spPr>
          <a:xfrm>
            <a:off x="8444380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7" name="Google Shape;1337;p78"/>
          <p:cNvSpPr/>
          <p:nvPr/>
        </p:nvSpPr>
        <p:spPr>
          <a:xfrm>
            <a:off x="8175599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8" name="Google Shape;1338;p78"/>
          <p:cNvSpPr/>
          <p:nvPr/>
        </p:nvSpPr>
        <p:spPr>
          <a:xfrm>
            <a:off x="7910980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9" name="Google Shape;1339;p78"/>
          <p:cNvSpPr/>
          <p:nvPr/>
        </p:nvSpPr>
        <p:spPr>
          <a:xfrm>
            <a:off x="7642199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0" name="Google Shape;1340;p78"/>
          <p:cNvSpPr/>
          <p:nvPr/>
        </p:nvSpPr>
        <p:spPr>
          <a:xfrm>
            <a:off x="7377580" y="16605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1" name="Google Shape;1341;p78"/>
          <p:cNvSpPr/>
          <p:nvPr/>
        </p:nvSpPr>
        <p:spPr>
          <a:xfrm>
            <a:off x="7374576" y="2845825"/>
            <a:ext cx="133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2" name="Google Shape;1342;p78"/>
          <p:cNvSpPr/>
          <p:nvPr/>
        </p:nvSpPr>
        <p:spPr>
          <a:xfrm>
            <a:off x="8444380" y="25749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3" name="Google Shape;1343;p78"/>
          <p:cNvSpPr/>
          <p:nvPr/>
        </p:nvSpPr>
        <p:spPr>
          <a:xfrm>
            <a:off x="8175599" y="25749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4" name="Google Shape;1344;p78"/>
          <p:cNvSpPr/>
          <p:nvPr/>
        </p:nvSpPr>
        <p:spPr>
          <a:xfrm>
            <a:off x="7910980" y="25749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5" name="Google Shape;1345;p78"/>
          <p:cNvSpPr/>
          <p:nvPr/>
        </p:nvSpPr>
        <p:spPr>
          <a:xfrm>
            <a:off x="7642199" y="25749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6" name="Google Shape;1346;p78"/>
          <p:cNvSpPr/>
          <p:nvPr/>
        </p:nvSpPr>
        <p:spPr>
          <a:xfrm>
            <a:off x="7377580" y="25749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7" name="Google Shape;1347;p78"/>
          <p:cNvSpPr txBox="1"/>
          <p:nvPr/>
        </p:nvSpPr>
        <p:spPr>
          <a:xfrm>
            <a:off x="6764817" y="4021175"/>
            <a:ext cx="15921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7.6 or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8}{5}=7\frac{3}{5}&quot;&gt;&lt;mfrac&gt;&lt;mn&gt;38&lt;/mn&gt;&lt;mn&gt;5&lt;/mn&gt;&lt;/mfrac&gt;&lt;mo&gt;=&lt;/mo&gt;&lt;mn&gt;7&lt;/mn&gt;&lt;mfrac&gt;&lt;mn&gt;3&lt;/mn&gt;&lt;mn&gt;5&lt;/mn&gt;&lt;/mfrac&gt;&lt;/math&gt;" id="1348" name="Google Shape;1348;p78" title="38 over 5 equals 7 and three fifths"/>
          <p:cNvPicPr preferRelativeResize="0"/>
          <p:nvPr/>
        </p:nvPicPr>
        <p:blipFill rotWithShape="1">
          <a:blip r:embed="rId3">
            <a:alphaModFix/>
          </a:blip>
          <a:srcRect b="0" l="0" r="66040" t="0"/>
          <a:stretch/>
        </p:blipFill>
        <p:spPr>
          <a:xfrm>
            <a:off x="7865717" y="4359575"/>
            <a:ext cx="2670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78"/>
          <p:cNvSpPr/>
          <p:nvPr/>
        </p:nvSpPr>
        <p:spPr>
          <a:xfrm>
            <a:off x="8444380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0" name="Google Shape;1350;p78"/>
          <p:cNvSpPr/>
          <p:nvPr/>
        </p:nvSpPr>
        <p:spPr>
          <a:xfrm>
            <a:off x="8175599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1" name="Google Shape;1351;p78"/>
          <p:cNvSpPr/>
          <p:nvPr/>
        </p:nvSpPr>
        <p:spPr>
          <a:xfrm>
            <a:off x="7910980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2" name="Google Shape;1352;p78"/>
          <p:cNvSpPr/>
          <p:nvPr/>
        </p:nvSpPr>
        <p:spPr>
          <a:xfrm>
            <a:off x="7642199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3" name="Google Shape;1353;p78"/>
          <p:cNvSpPr/>
          <p:nvPr/>
        </p:nvSpPr>
        <p:spPr>
          <a:xfrm>
            <a:off x="7377580" y="3413125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4" name="Google Shape;1354;p78"/>
          <p:cNvSpPr/>
          <p:nvPr/>
        </p:nvSpPr>
        <p:spPr>
          <a:xfrm>
            <a:off x="8444380" y="3681906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5" name="Google Shape;1355;p78"/>
          <p:cNvSpPr/>
          <p:nvPr/>
        </p:nvSpPr>
        <p:spPr>
          <a:xfrm>
            <a:off x="8175599" y="3681906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6" name="Google Shape;1356;p78"/>
          <p:cNvSpPr/>
          <p:nvPr/>
        </p:nvSpPr>
        <p:spPr>
          <a:xfrm>
            <a:off x="7910980" y="3681906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7" name="Google Shape;1357;p78"/>
          <p:cNvSpPr/>
          <p:nvPr/>
        </p:nvSpPr>
        <p:spPr>
          <a:xfrm>
            <a:off x="7642199" y="3681906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8" name="Google Shape;1358;p78"/>
          <p:cNvSpPr/>
          <p:nvPr/>
        </p:nvSpPr>
        <p:spPr>
          <a:xfrm>
            <a:off x="7377580" y="3681906"/>
            <a:ext cx="267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9" name="Google Shape;1359;p78"/>
          <p:cNvSpPr/>
          <p:nvPr/>
        </p:nvSpPr>
        <p:spPr>
          <a:xfrm>
            <a:off x="2536488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78"/>
          <p:cNvSpPr/>
          <p:nvPr/>
        </p:nvSpPr>
        <p:spPr>
          <a:xfrm>
            <a:off x="4749000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78"/>
          <p:cNvSpPr/>
          <p:nvPr/>
        </p:nvSpPr>
        <p:spPr>
          <a:xfrm>
            <a:off x="6865325" y="1246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79"/>
          <p:cNvSpPr txBox="1"/>
          <p:nvPr>
            <p:ph idx="4294967295" type="body"/>
          </p:nvPr>
        </p:nvSpPr>
        <p:spPr>
          <a:xfrm>
            <a:off x="324000" y="759300"/>
            <a:ext cx="8237700" cy="4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Match each bar model to an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367" name="Google Shape;1367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1368" name="Google Shape;1368;p79"/>
          <p:cNvSpPr txBox="1"/>
          <p:nvPr>
            <p:ph idx="4294967295" type="body"/>
          </p:nvPr>
        </p:nvSpPr>
        <p:spPr>
          <a:xfrm>
            <a:off x="3905825" y="1980575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1800"/>
          </a:p>
        </p:txBody>
      </p:sp>
      <p:sp>
        <p:nvSpPr>
          <p:cNvPr id="1369" name="Google Shape;1369;p79"/>
          <p:cNvSpPr txBox="1"/>
          <p:nvPr>
            <p:ph idx="4294967295" type="body"/>
          </p:nvPr>
        </p:nvSpPr>
        <p:spPr>
          <a:xfrm>
            <a:off x="628675" y="312117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1800"/>
          </a:p>
        </p:txBody>
      </p:sp>
      <p:sp>
        <p:nvSpPr>
          <p:cNvPr id="1370" name="Google Shape;1370;p79"/>
          <p:cNvSpPr txBox="1"/>
          <p:nvPr>
            <p:ph idx="4294967295" type="body"/>
          </p:nvPr>
        </p:nvSpPr>
        <p:spPr>
          <a:xfrm>
            <a:off x="3888250" y="424834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1800"/>
          </a:p>
        </p:txBody>
      </p:sp>
      <p:sp>
        <p:nvSpPr>
          <p:cNvPr id="1371" name="Google Shape;1371;p79"/>
          <p:cNvSpPr txBox="1"/>
          <p:nvPr>
            <p:ph idx="4294967295" type="body"/>
          </p:nvPr>
        </p:nvSpPr>
        <p:spPr>
          <a:xfrm>
            <a:off x="628675" y="426106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1800"/>
          </a:p>
        </p:txBody>
      </p:sp>
      <p:sp>
        <p:nvSpPr>
          <p:cNvPr id="1372" name="Google Shape;1372;p79"/>
          <p:cNvSpPr txBox="1"/>
          <p:nvPr>
            <p:ph idx="4294967295" type="body"/>
          </p:nvPr>
        </p:nvSpPr>
        <p:spPr>
          <a:xfrm>
            <a:off x="628675" y="1986930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17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1800"/>
          </a:p>
        </p:txBody>
      </p:sp>
      <p:sp>
        <p:nvSpPr>
          <p:cNvPr id="1373" name="Google Shape;1373;p79"/>
          <p:cNvSpPr txBox="1"/>
          <p:nvPr>
            <p:ph idx="4294967295" type="body"/>
          </p:nvPr>
        </p:nvSpPr>
        <p:spPr>
          <a:xfrm>
            <a:off x="3888250" y="3109375"/>
            <a:ext cx="17136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1800"/>
          </a:p>
        </p:txBody>
      </p:sp>
      <p:sp>
        <p:nvSpPr>
          <p:cNvPr id="1374" name="Google Shape;1374;p79"/>
          <p:cNvSpPr/>
          <p:nvPr/>
        </p:nvSpPr>
        <p:spPr>
          <a:xfrm>
            <a:off x="1387500" y="1704075"/>
            <a:ext cx="1058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5" name="Google Shape;1375;p79"/>
          <p:cNvSpPr/>
          <p:nvPr/>
        </p:nvSpPr>
        <p:spPr>
          <a:xfrm>
            <a:off x="628800" y="1704075"/>
            <a:ext cx="755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6" name="Google Shape;1376;p79"/>
          <p:cNvSpPr/>
          <p:nvPr/>
        </p:nvSpPr>
        <p:spPr>
          <a:xfrm>
            <a:off x="3903001" y="1704079"/>
            <a:ext cx="256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7" name="Google Shape;1377;p79"/>
          <p:cNvSpPr/>
          <p:nvPr/>
        </p:nvSpPr>
        <p:spPr>
          <a:xfrm>
            <a:off x="3903000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8" name="Google Shape;1378;p79"/>
          <p:cNvSpPr/>
          <p:nvPr/>
        </p:nvSpPr>
        <p:spPr>
          <a:xfrm>
            <a:off x="4407037" y="1430200"/>
            <a:ext cx="3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9" name="Google Shape;1379;p79"/>
          <p:cNvSpPr/>
          <p:nvPr/>
        </p:nvSpPr>
        <p:spPr>
          <a:xfrm>
            <a:off x="4157315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0" name="Google Shape;1380;p79"/>
          <p:cNvSpPr/>
          <p:nvPr/>
        </p:nvSpPr>
        <p:spPr>
          <a:xfrm>
            <a:off x="4757552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1" name="Google Shape;1381;p79"/>
          <p:cNvSpPr/>
          <p:nvPr/>
        </p:nvSpPr>
        <p:spPr>
          <a:xfrm>
            <a:off x="5261590" y="1430200"/>
            <a:ext cx="3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2" name="Google Shape;1382;p79"/>
          <p:cNvSpPr/>
          <p:nvPr/>
        </p:nvSpPr>
        <p:spPr>
          <a:xfrm>
            <a:off x="5011867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3" name="Google Shape;1383;p79"/>
          <p:cNvSpPr/>
          <p:nvPr/>
        </p:nvSpPr>
        <p:spPr>
          <a:xfrm>
            <a:off x="5612105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4" name="Google Shape;1384;p79"/>
          <p:cNvSpPr/>
          <p:nvPr/>
        </p:nvSpPr>
        <p:spPr>
          <a:xfrm>
            <a:off x="6116142" y="1430200"/>
            <a:ext cx="3501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5" name="Google Shape;1385;p79"/>
          <p:cNvSpPr/>
          <p:nvPr/>
        </p:nvSpPr>
        <p:spPr>
          <a:xfrm>
            <a:off x="5866420" y="1430200"/>
            <a:ext cx="25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386" name="Google Shape;1386;p79"/>
          <p:cNvGrpSpPr/>
          <p:nvPr/>
        </p:nvGrpSpPr>
        <p:grpSpPr>
          <a:xfrm>
            <a:off x="628801" y="1430200"/>
            <a:ext cx="2575413" cy="270900"/>
            <a:chOff x="478566" y="1430200"/>
            <a:chExt cx="2575413" cy="270900"/>
          </a:xfrm>
        </p:grpSpPr>
        <p:sp>
          <p:nvSpPr>
            <p:cNvPr id="1387" name="Google Shape;1387;p79"/>
            <p:cNvSpPr/>
            <p:nvPr/>
          </p:nvSpPr>
          <p:spPr>
            <a:xfrm>
              <a:off x="1180850" y="1430200"/>
              <a:ext cx="9753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8" name="Google Shape;1388;p79"/>
            <p:cNvSpPr/>
            <p:nvPr/>
          </p:nvSpPr>
          <p:spPr>
            <a:xfrm>
              <a:off x="2855379" y="1430200"/>
              <a:ext cx="1986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9" name="Google Shape;1389;p79"/>
            <p:cNvSpPr/>
            <p:nvPr/>
          </p:nvSpPr>
          <p:spPr>
            <a:xfrm>
              <a:off x="2508462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0" name="Google Shape;1390;p79"/>
            <p:cNvSpPr/>
            <p:nvPr/>
          </p:nvSpPr>
          <p:spPr>
            <a:xfrm>
              <a:off x="2156278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1" name="Google Shape;1391;p79"/>
            <p:cNvSpPr/>
            <p:nvPr/>
          </p:nvSpPr>
          <p:spPr>
            <a:xfrm>
              <a:off x="830751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2" name="Google Shape;1392;p79"/>
            <p:cNvSpPr/>
            <p:nvPr/>
          </p:nvSpPr>
          <p:spPr>
            <a:xfrm>
              <a:off x="478566" y="1430200"/>
              <a:ext cx="350100" cy="270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93" name="Google Shape;1393;p79"/>
          <p:cNvSpPr/>
          <p:nvPr/>
        </p:nvSpPr>
        <p:spPr>
          <a:xfrm>
            <a:off x="628797" y="2845625"/>
            <a:ext cx="2575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4" name="Google Shape;1394;p79"/>
          <p:cNvSpPr/>
          <p:nvPr/>
        </p:nvSpPr>
        <p:spPr>
          <a:xfrm>
            <a:off x="2256358" y="2570075"/>
            <a:ext cx="226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5" name="Google Shape;1395;p79"/>
          <p:cNvSpPr/>
          <p:nvPr/>
        </p:nvSpPr>
        <p:spPr>
          <a:xfrm>
            <a:off x="629150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6" name="Google Shape;1396;p79"/>
          <p:cNvSpPr/>
          <p:nvPr/>
        </p:nvSpPr>
        <p:spPr>
          <a:xfrm>
            <a:off x="1035952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7" name="Google Shape;1397;p79"/>
          <p:cNvSpPr/>
          <p:nvPr/>
        </p:nvSpPr>
        <p:spPr>
          <a:xfrm>
            <a:off x="1442755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8" name="Google Shape;1398;p79"/>
          <p:cNvSpPr/>
          <p:nvPr/>
        </p:nvSpPr>
        <p:spPr>
          <a:xfrm>
            <a:off x="1849557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9" name="Google Shape;1399;p79"/>
          <p:cNvSpPr/>
          <p:nvPr/>
        </p:nvSpPr>
        <p:spPr>
          <a:xfrm>
            <a:off x="2482960" y="2570075"/>
            <a:ext cx="40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0" name="Google Shape;1400;p79"/>
          <p:cNvSpPr/>
          <p:nvPr/>
        </p:nvSpPr>
        <p:spPr>
          <a:xfrm>
            <a:off x="2889762" y="2570075"/>
            <a:ext cx="314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1" name="Google Shape;1401;p79"/>
          <p:cNvSpPr/>
          <p:nvPr/>
        </p:nvSpPr>
        <p:spPr>
          <a:xfrm>
            <a:off x="2445600" y="1704075"/>
            <a:ext cx="755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2" name="Google Shape;1402;p79"/>
          <p:cNvSpPr/>
          <p:nvPr/>
        </p:nvSpPr>
        <p:spPr>
          <a:xfrm>
            <a:off x="3897125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3" name="Google Shape;1403;p79"/>
          <p:cNvSpPr/>
          <p:nvPr/>
        </p:nvSpPr>
        <p:spPr>
          <a:xfrm>
            <a:off x="4147129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4" name="Google Shape;1404;p79"/>
          <p:cNvSpPr/>
          <p:nvPr/>
        </p:nvSpPr>
        <p:spPr>
          <a:xfrm>
            <a:off x="4289080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5" name="Google Shape;1405;p79"/>
          <p:cNvSpPr/>
          <p:nvPr/>
        </p:nvSpPr>
        <p:spPr>
          <a:xfrm>
            <a:off x="4539085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6" name="Google Shape;1406;p79"/>
          <p:cNvSpPr/>
          <p:nvPr/>
        </p:nvSpPr>
        <p:spPr>
          <a:xfrm>
            <a:off x="4681031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7" name="Google Shape;1407;p79"/>
          <p:cNvSpPr/>
          <p:nvPr/>
        </p:nvSpPr>
        <p:spPr>
          <a:xfrm>
            <a:off x="4931035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8" name="Google Shape;1408;p79"/>
          <p:cNvSpPr/>
          <p:nvPr/>
        </p:nvSpPr>
        <p:spPr>
          <a:xfrm>
            <a:off x="5072986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9" name="Google Shape;1409;p79"/>
          <p:cNvSpPr/>
          <p:nvPr/>
        </p:nvSpPr>
        <p:spPr>
          <a:xfrm>
            <a:off x="5322990" y="2563725"/>
            <a:ext cx="144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0" name="Google Shape;1410;p79"/>
          <p:cNvSpPr/>
          <p:nvPr/>
        </p:nvSpPr>
        <p:spPr>
          <a:xfrm>
            <a:off x="5464939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1" name="Google Shape;1411;p79"/>
          <p:cNvSpPr/>
          <p:nvPr/>
        </p:nvSpPr>
        <p:spPr>
          <a:xfrm>
            <a:off x="5714948" y="2563725"/>
            <a:ext cx="253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2" name="Google Shape;1412;p79"/>
          <p:cNvSpPr/>
          <p:nvPr/>
        </p:nvSpPr>
        <p:spPr>
          <a:xfrm>
            <a:off x="5968782" y="2563725"/>
            <a:ext cx="253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3" name="Google Shape;1413;p79"/>
          <p:cNvSpPr/>
          <p:nvPr/>
        </p:nvSpPr>
        <p:spPr>
          <a:xfrm>
            <a:off x="6218791" y="2563725"/>
            <a:ext cx="253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4" name="Google Shape;1414;p79"/>
          <p:cNvSpPr/>
          <p:nvPr/>
        </p:nvSpPr>
        <p:spPr>
          <a:xfrm>
            <a:off x="3897125" y="2838425"/>
            <a:ext cx="968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5" name="Google Shape;1415;p79"/>
          <p:cNvSpPr/>
          <p:nvPr/>
        </p:nvSpPr>
        <p:spPr>
          <a:xfrm>
            <a:off x="5833925" y="2838425"/>
            <a:ext cx="6387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6" name="Google Shape;1416;p79"/>
          <p:cNvSpPr/>
          <p:nvPr/>
        </p:nvSpPr>
        <p:spPr>
          <a:xfrm>
            <a:off x="628684" y="3985500"/>
            <a:ext cx="2575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7" name="Google Shape;1417;p79"/>
          <p:cNvSpPr/>
          <p:nvPr/>
        </p:nvSpPr>
        <p:spPr>
          <a:xfrm>
            <a:off x="1514827" y="3709950"/>
            <a:ext cx="40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8" name="Google Shape;1418;p79"/>
          <p:cNvSpPr/>
          <p:nvPr/>
        </p:nvSpPr>
        <p:spPr>
          <a:xfrm>
            <a:off x="629050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9" name="Google Shape;1419;p79"/>
          <p:cNvSpPr/>
          <p:nvPr/>
        </p:nvSpPr>
        <p:spPr>
          <a:xfrm>
            <a:off x="1071938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0" name="Google Shape;1420;p79"/>
          <p:cNvSpPr/>
          <p:nvPr/>
        </p:nvSpPr>
        <p:spPr>
          <a:xfrm>
            <a:off x="2802577" y="3709950"/>
            <a:ext cx="4020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1" name="Google Shape;1421;p79"/>
          <p:cNvSpPr/>
          <p:nvPr/>
        </p:nvSpPr>
        <p:spPr>
          <a:xfrm>
            <a:off x="1916800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2" name="Google Shape;1422;p79"/>
          <p:cNvSpPr/>
          <p:nvPr/>
        </p:nvSpPr>
        <p:spPr>
          <a:xfrm>
            <a:off x="2359688" y="3709950"/>
            <a:ext cx="442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3" name="Google Shape;1423;p79"/>
          <p:cNvSpPr/>
          <p:nvPr/>
        </p:nvSpPr>
        <p:spPr>
          <a:xfrm>
            <a:off x="3896650" y="3972800"/>
            <a:ext cx="16968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4" name="Google Shape;1424;p79"/>
          <p:cNvSpPr/>
          <p:nvPr/>
        </p:nvSpPr>
        <p:spPr>
          <a:xfrm>
            <a:off x="4942745" y="3697250"/>
            <a:ext cx="238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5" name="Google Shape;1425;p79"/>
          <p:cNvSpPr/>
          <p:nvPr/>
        </p:nvSpPr>
        <p:spPr>
          <a:xfrm>
            <a:off x="3897005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6" name="Google Shape;1426;p79"/>
          <p:cNvSpPr/>
          <p:nvPr/>
        </p:nvSpPr>
        <p:spPr>
          <a:xfrm>
            <a:off x="4243259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7" name="Google Shape;1427;p79"/>
          <p:cNvSpPr/>
          <p:nvPr/>
        </p:nvSpPr>
        <p:spPr>
          <a:xfrm>
            <a:off x="5595076" y="3972775"/>
            <a:ext cx="877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8" name="Google Shape;1428;p79"/>
          <p:cNvSpPr/>
          <p:nvPr/>
        </p:nvSpPr>
        <p:spPr>
          <a:xfrm>
            <a:off x="4589515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29" name="Google Shape;1429;p79"/>
          <p:cNvSpPr/>
          <p:nvPr/>
        </p:nvSpPr>
        <p:spPr>
          <a:xfrm>
            <a:off x="6234129" y="3697250"/>
            <a:ext cx="2385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4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0" name="Google Shape;1430;p79"/>
          <p:cNvSpPr/>
          <p:nvPr/>
        </p:nvSpPr>
        <p:spPr>
          <a:xfrm>
            <a:off x="5188390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1" name="Google Shape;1431;p79"/>
          <p:cNvSpPr/>
          <p:nvPr/>
        </p:nvSpPr>
        <p:spPr>
          <a:xfrm>
            <a:off x="5534644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2" name="Google Shape;1432;p79"/>
          <p:cNvSpPr/>
          <p:nvPr/>
        </p:nvSpPr>
        <p:spPr>
          <a:xfrm>
            <a:off x="5880900" y="3697250"/>
            <a:ext cx="3462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3" name="Google Shape;1433;p79"/>
          <p:cNvSpPr/>
          <p:nvPr/>
        </p:nvSpPr>
        <p:spPr>
          <a:xfrm>
            <a:off x="196100" y="1392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79"/>
          <p:cNvSpPr/>
          <p:nvPr/>
        </p:nvSpPr>
        <p:spPr>
          <a:xfrm>
            <a:off x="196150" y="2548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79"/>
          <p:cNvSpPr/>
          <p:nvPr/>
        </p:nvSpPr>
        <p:spPr>
          <a:xfrm>
            <a:off x="196150" y="37925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79"/>
          <p:cNvSpPr/>
          <p:nvPr/>
        </p:nvSpPr>
        <p:spPr>
          <a:xfrm>
            <a:off x="3443638" y="140138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79"/>
          <p:cNvSpPr/>
          <p:nvPr/>
        </p:nvSpPr>
        <p:spPr>
          <a:xfrm>
            <a:off x="3443688" y="255758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79"/>
          <p:cNvSpPr/>
          <p:nvPr/>
        </p:nvSpPr>
        <p:spPr>
          <a:xfrm>
            <a:off x="3443688" y="380193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79"/>
          <p:cNvSpPr/>
          <p:nvPr/>
        </p:nvSpPr>
        <p:spPr>
          <a:xfrm>
            <a:off x="4865525" y="2838438"/>
            <a:ext cx="968400" cy="27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representations to solve a two step equation</a:t>
            </a:r>
            <a:endParaRPr/>
          </a:p>
        </p:txBody>
      </p:sp>
      <p:sp>
        <p:nvSpPr>
          <p:cNvPr id="1445" name="Google Shape;1445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</a:t>
            </a:r>
            <a:r>
              <a:rPr i="1"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6" name="Google Shape;1446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pic>
        <p:nvPicPr>
          <p:cNvPr id="1447" name="Google Shape;144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04" y="298724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3" name="Google Shape;1453;p81"/>
          <p:cNvSpPr txBox="1"/>
          <p:nvPr>
            <p:ph idx="1" type="body"/>
          </p:nvPr>
        </p:nvSpPr>
        <p:spPr>
          <a:xfrm>
            <a:off x="324000" y="759300"/>
            <a:ext cx="8496000" cy="37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Any linear equation can be written in the form</a:t>
            </a:r>
            <a:r>
              <a:rPr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 </a:t>
            </a:r>
            <a:r>
              <a:rPr lang="en-GB" sz="1800"/>
              <a:t>by collecting like terms.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Like terms are terms that have the same set of variables and corresponding exponents.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Group these into like terms:</a:t>
            </a:r>
            <a:endParaRPr sz="1800"/>
          </a:p>
        </p:txBody>
      </p:sp>
      <p:sp>
        <p:nvSpPr>
          <p:cNvPr id="1454" name="Google Shape;1454;p81"/>
          <p:cNvSpPr txBox="1"/>
          <p:nvPr>
            <p:ph idx="1" type="body"/>
          </p:nvPr>
        </p:nvSpPr>
        <p:spPr>
          <a:xfrm>
            <a:off x="816125" y="2944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5" name="Google Shape;1455;p81"/>
          <p:cNvSpPr txBox="1"/>
          <p:nvPr>
            <p:ph idx="1" type="body"/>
          </p:nvPr>
        </p:nvSpPr>
        <p:spPr>
          <a:xfrm>
            <a:off x="4254013" y="3780000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6" name="Google Shape;1456;p81"/>
          <p:cNvSpPr txBox="1"/>
          <p:nvPr>
            <p:ph idx="1" type="body"/>
          </p:nvPr>
        </p:nvSpPr>
        <p:spPr>
          <a:xfrm>
            <a:off x="816125" y="3780000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7" name="Google Shape;1457;p81"/>
          <p:cNvSpPr txBox="1"/>
          <p:nvPr>
            <p:ph idx="1" type="body"/>
          </p:nvPr>
        </p:nvSpPr>
        <p:spPr>
          <a:xfrm>
            <a:off x="2535069" y="2944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8" name="Google Shape;1458;p81"/>
          <p:cNvSpPr txBox="1"/>
          <p:nvPr>
            <p:ph idx="1" type="body"/>
          </p:nvPr>
        </p:nvSpPr>
        <p:spPr>
          <a:xfrm>
            <a:off x="2535069" y="3780000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9" name="Google Shape;1459;p81"/>
          <p:cNvSpPr txBox="1"/>
          <p:nvPr>
            <p:ph idx="1" type="body"/>
          </p:nvPr>
        </p:nvSpPr>
        <p:spPr>
          <a:xfrm>
            <a:off x="4254013" y="2944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9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0" name="Google Shape;1460;p81"/>
          <p:cNvSpPr txBox="1"/>
          <p:nvPr>
            <p:ph idx="1" type="body"/>
          </p:nvPr>
        </p:nvSpPr>
        <p:spPr>
          <a:xfrm>
            <a:off x="5972956" y="3780000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baseline="30000"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1" name="Google Shape;1461;p81"/>
          <p:cNvSpPr txBox="1"/>
          <p:nvPr>
            <p:ph idx="1" type="body"/>
          </p:nvPr>
        </p:nvSpPr>
        <p:spPr>
          <a:xfrm>
            <a:off x="5972956" y="2944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0.2</a:t>
            </a:r>
            <a:endParaRPr baseline="30000"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62" name="Google Shape;1462;p81"/>
          <p:cNvSpPr txBox="1"/>
          <p:nvPr>
            <p:ph idx="1" type="body"/>
          </p:nvPr>
        </p:nvSpPr>
        <p:spPr>
          <a:xfrm>
            <a:off x="7691900" y="3780000"/>
            <a:ext cx="419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i="1" sz="19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463" name="Google Shape;1463;p81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1900" y="2907188"/>
            <a:ext cx="158775" cy="5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469" name="Google Shape;1469;p82"/>
          <p:cNvSpPr txBox="1"/>
          <p:nvPr>
            <p:ph idx="1" type="body"/>
          </p:nvPr>
        </p:nvSpPr>
        <p:spPr>
          <a:xfrm>
            <a:off x="324000" y="759300"/>
            <a:ext cx="8496000" cy="11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Like terms are terms that have the same set of variables and corresponding exponents.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Group these into like terms:</a:t>
            </a:r>
            <a:endParaRPr sz="1800"/>
          </a:p>
        </p:txBody>
      </p:sp>
      <p:sp>
        <p:nvSpPr>
          <p:cNvPr id="1470" name="Google Shape;1470;p82"/>
          <p:cNvSpPr txBox="1"/>
          <p:nvPr>
            <p:ph idx="1" type="body"/>
          </p:nvPr>
        </p:nvSpPr>
        <p:spPr>
          <a:xfrm>
            <a:off x="816125" y="2182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1" name="Google Shape;1471;p82"/>
          <p:cNvSpPr txBox="1"/>
          <p:nvPr>
            <p:ph idx="1" type="body"/>
          </p:nvPr>
        </p:nvSpPr>
        <p:spPr>
          <a:xfrm>
            <a:off x="687113" y="3154950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2" name="Google Shape;1472;p82"/>
          <p:cNvSpPr txBox="1"/>
          <p:nvPr>
            <p:ph idx="1" type="body"/>
          </p:nvPr>
        </p:nvSpPr>
        <p:spPr>
          <a:xfrm>
            <a:off x="6256800" y="2182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3" name="Google Shape;1473;p82"/>
          <p:cNvSpPr txBox="1"/>
          <p:nvPr>
            <p:ph idx="1" type="body"/>
          </p:nvPr>
        </p:nvSpPr>
        <p:spPr>
          <a:xfrm>
            <a:off x="2535069" y="2182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4" name="Google Shape;1474;p82"/>
          <p:cNvSpPr txBox="1"/>
          <p:nvPr>
            <p:ph idx="1" type="body"/>
          </p:nvPr>
        </p:nvSpPr>
        <p:spPr>
          <a:xfrm>
            <a:off x="2609619" y="2715450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5" name="Google Shape;1475;p82"/>
          <p:cNvSpPr txBox="1"/>
          <p:nvPr>
            <p:ph idx="1" type="body"/>
          </p:nvPr>
        </p:nvSpPr>
        <p:spPr>
          <a:xfrm>
            <a:off x="7565863" y="2182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900">
                <a:latin typeface="Times"/>
                <a:ea typeface="Times"/>
                <a:cs typeface="Times"/>
                <a:sym typeface="Times"/>
              </a:rPr>
              <a:t>2</a:t>
            </a:r>
            <a:endParaRPr baseline="30000"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6" name="Google Shape;1476;p82"/>
          <p:cNvSpPr txBox="1"/>
          <p:nvPr>
            <p:ph idx="1" type="body"/>
          </p:nvPr>
        </p:nvSpPr>
        <p:spPr>
          <a:xfrm>
            <a:off x="4372756" y="266872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baseline="30000"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7" name="Google Shape;1477;p82"/>
          <p:cNvSpPr txBox="1"/>
          <p:nvPr>
            <p:ph idx="1" type="body"/>
          </p:nvPr>
        </p:nvSpPr>
        <p:spPr>
          <a:xfrm>
            <a:off x="4372756" y="2182475"/>
            <a:ext cx="677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0.2</a:t>
            </a:r>
            <a:endParaRPr baseline="30000"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8" name="Google Shape;1478;p82"/>
          <p:cNvSpPr txBox="1"/>
          <p:nvPr>
            <p:ph idx="1" type="body"/>
          </p:nvPr>
        </p:nvSpPr>
        <p:spPr>
          <a:xfrm>
            <a:off x="816125" y="2668713"/>
            <a:ext cx="419400" cy="4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baseline="30000" i="1" sz="19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479" name="Google Shape;1479;p82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750" y="3154963"/>
            <a:ext cx="158775" cy="5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82"/>
          <p:cNvSpPr/>
          <p:nvPr/>
        </p:nvSpPr>
        <p:spPr>
          <a:xfrm>
            <a:off x="569100" y="2014200"/>
            <a:ext cx="759300" cy="16353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82"/>
          <p:cNvSpPr/>
          <p:nvPr/>
        </p:nvSpPr>
        <p:spPr>
          <a:xfrm>
            <a:off x="2327950" y="2014200"/>
            <a:ext cx="759300" cy="1276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82"/>
          <p:cNvSpPr/>
          <p:nvPr/>
        </p:nvSpPr>
        <p:spPr>
          <a:xfrm>
            <a:off x="4150050" y="2014200"/>
            <a:ext cx="759300" cy="1826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82"/>
          <p:cNvSpPr txBox="1"/>
          <p:nvPr>
            <p:ph idx="1" type="body"/>
          </p:nvPr>
        </p:nvSpPr>
        <p:spPr>
          <a:xfrm>
            <a:off x="324000" y="3878400"/>
            <a:ext cx="1844400" cy="11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these only have a variable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4" name="Google Shape;1484;p82"/>
          <p:cNvSpPr txBox="1"/>
          <p:nvPr>
            <p:ph idx="1" type="body"/>
          </p:nvPr>
        </p:nvSpPr>
        <p:spPr>
          <a:xfrm>
            <a:off x="2305200" y="3878400"/>
            <a:ext cx="1844400" cy="11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hese terms only have a variable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5" name="Google Shape;1485;p82"/>
          <p:cNvSpPr txBox="1"/>
          <p:nvPr>
            <p:ph idx="1" type="body"/>
          </p:nvPr>
        </p:nvSpPr>
        <p:spPr>
          <a:xfrm>
            <a:off x="4092850" y="3878400"/>
            <a:ext cx="2743500" cy="11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are all constant terms as they have no variable.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491" name="Google Shape;1491;p83"/>
          <p:cNvSpPr txBox="1"/>
          <p:nvPr/>
        </p:nvSpPr>
        <p:spPr>
          <a:xfrm>
            <a:off x="376664" y="227879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2" name="Google Shape;149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925" y="1620001"/>
            <a:ext cx="688876" cy="7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83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410800" y="810000"/>
            <a:ext cx="3013924" cy="13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83"/>
          <p:cNvSpPr txBox="1"/>
          <p:nvPr>
            <p:ph idx="1" type="body"/>
          </p:nvPr>
        </p:nvSpPr>
        <p:spPr>
          <a:xfrm>
            <a:off x="1684800" y="917775"/>
            <a:ext cx="2673600" cy="10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thought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would be like terms as they both have a 4</a:t>
            </a:r>
            <a:endParaRPr sz="1800"/>
          </a:p>
        </p:txBody>
      </p:sp>
      <p:sp>
        <p:nvSpPr>
          <p:cNvPr id="1495" name="Google Shape;1495;p83"/>
          <p:cNvSpPr txBox="1"/>
          <p:nvPr>
            <p:ph idx="1" type="body"/>
          </p:nvPr>
        </p:nvSpPr>
        <p:spPr>
          <a:xfrm>
            <a:off x="4572000" y="910500"/>
            <a:ext cx="4248000" cy="3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mistake has Lucas made?</a:t>
            </a:r>
            <a:endParaRPr sz="1800"/>
          </a:p>
        </p:txBody>
      </p:sp>
      <p:sp>
        <p:nvSpPr>
          <p:cNvPr id="1496" name="Google Shape;1496;p83"/>
          <p:cNvSpPr txBox="1"/>
          <p:nvPr>
            <p:ph idx="1" type="body"/>
          </p:nvPr>
        </p:nvSpPr>
        <p:spPr>
          <a:xfrm>
            <a:off x="4568175" y="1448550"/>
            <a:ext cx="4248000" cy="3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terms have the same coefficient of the variable but the variables are different. Like terms have the exact same variables.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97" name="Google Shape;1497;p8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265975" y="3177000"/>
            <a:ext cx="285239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83"/>
          <p:cNvSpPr/>
          <p:nvPr/>
        </p:nvSpPr>
        <p:spPr>
          <a:xfrm flipH="1">
            <a:off x="5388525" y="3309600"/>
            <a:ext cx="24663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why are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9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like terms?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9" name="Google Shape;149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006115" y="3716047"/>
            <a:ext cx="573425" cy="71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83"/>
          <p:cNvSpPr txBox="1"/>
          <p:nvPr/>
        </p:nvSpPr>
        <p:spPr>
          <a:xfrm>
            <a:off x="7804425" y="4359300"/>
            <a:ext cx="8610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83"/>
          <p:cNvSpPr txBox="1"/>
          <p:nvPr>
            <p:ph idx="1" type="body"/>
          </p:nvPr>
        </p:nvSpPr>
        <p:spPr>
          <a:xfrm>
            <a:off x="324000" y="2983500"/>
            <a:ext cx="3270600" cy="11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Like terms have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set of variables and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corresponding exponents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Algebra tiles may help you to see see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baseline="30000" lang="en-GB" sz="21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not the same thing.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02" name="Google Shape;1502;p83"/>
          <p:cNvGrpSpPr/>
          <p:nvPr/>
        </p:nvGrpSpPr>
        <p:grpSpPr>
          <a:xfrm>
            <a:off x="3746414" y="2983503"/>
            <a:ext cx="1295944" cy="1779255"/>
            <a:chOff x="3746414" y="2983503"/>
            <a:chExt cx="1295944" cy="1779255"/>
          </a:xfrm>
        </p:grpSpPr>
        <p:grpSp>
          <p:nvGrpSpPr>
            <p:cNvPr id="1503" name="Google Shape;1503;p83"/>
            <p:cNvGrpSpPr/>
            <p:nvPr/>
          </p:nvGrpSpPr>
          <p:grpSpPr>
            <a:xfrm>
              <a:off x="4016977" y="2983503"/>
              <a:ext cx="1022931" cy="266390"/>
              <a:chOff x="1366500" y="1300400"/>
              <a:chExt cx="1873500" cy="488700"/>
            </a:xfrm>
          </p:grpSpPr>
          <p:sp>
            <p:nvSpPr>
              <p:cNvPr id="1504" name="Google Shape;1504;p83"/>
              <p:cNvSpPr/>
              <p:nvPr/>
            </p:nvSpPr>
            <p:spPr>
              <a:xfrm>
                <a:off x="1366500" y="1300400"/>
                <a:ext cx="1873500" cy="4887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505" name="Google Shape;1505;p83" title="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184188" y="1444738"/>
                <a:ext cx="219075" cy="200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06" name="Google Shape;1506;p83"/>
            <p:cNvGrpSpPr/>
            <p:nvPr/>
          </p:nvGrpSpPr>
          <p:grpSpPr>
            <a:xfrm>
              <a:off x="4014556" y="3734581"/>
              <a:ext cx="1027802" cy="1028177"/>
              <a:chOff x="1366425" y="1788550"/>
              <a:chExt cx="1873500" cy="1873500"/>
            </a:xfrm>
          </p:grpSpPr>
          <p:sp>
            <p:nvSpPr>
              <p:cNvPr id="1507" name="Google Shape;1507;p83"/>
              <p:cNvSpPr/>
              <p:nvPr/>
            </p:nvSpPr>
            <p:spPr>
              <a:xfrm>
                <a:off x="1366425" y="1788550"/>
                <a:ext cx="1873500" cy="1873500"/>
              </a:xfrm>
              <a:prstGeom prst="rect">
                <a:avLst/>
              </a:prstGeom>
              <a:solidFill>
                <a:srgbClr val="C9DAF8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x^2&quot;&gt;&lt;msup&gt;&lt;mi&gt;x&lt;/mi&gt;&lt;mn&gt;2&lt;/mn&gt;&lt;/msup&gt;&lt;/math&gt;" id="1508" name="Google Shape;1508;p83" title="x squared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065050" y="2477650"/>
                <a:ext cx="476250" cy="495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09" name="Google Shape;1509;p83"/>
            <p:cNvGrpSpPr/>
            <p:nvPr/>
          </p:nvGrpSpPr>
          <p:grpSpPr>
            <a:xfrm>
              <a:off x="4014556" y="3466685"/>
              <a:ext cx="1027802" cy="268199"/>
              <a:chOff x="1366500" y="1300400"/>
              <a:chExt cx="1873500" cy="488700"/>
            </a:xfrm>
          </p:grpSpPr>
          <p:sp>
            <p:nvSpPr>
              <p:cNvPr id="1510" name="Google Shape;1510;p83"/>
              <p:cNvSpPr/>
              <p:nvPr/>
            </p:nvSpPr>
            <p:spPr>
              <a:xfrm>
                <a:off x="1366500" y="1300400"/>
                <a:ext cx="1873500" cy="4887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511" name="Google Shape;1511;p83" title="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2184188" y="1444738"/>
                <a:ext cx="219075" cy="200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12" name="Google Shape;1512;p83"/>
            <p:cNvGrpSpPr/>
            <p:nvPr/>
          </p:nvGrpSpPr>
          <p:grpSpPr>
            <a:xfrm>
              <a:off x="3746414" y="3734581"/>
              <a:ext cx="268101" cy="1028177"/>
              <a:chOff x="877725" y="1788550"/>
              <a:chExt cx="488700" cy="1873500"/>
            </a:xfrm>
          </p:grpSpPr>
          <p:sp>
            <p:nvSpPr>
              <p:cNvPr id="1513" name="Google Shape;1513;p83"/>
              <p:cNvSpPr/>
              <p:nvPr/>
            </p:nvSpPr>
            <p:spPr>
              <a:xfrm rot="5400000">
                <a:off x="185325" y="2480950"/>
                <a:ext cx="1873500" cy="4887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514" name="Google Shape;1514;p83" title="x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012525" y="2625275"/>
                <a:ext cx="219075" cy="200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520" name="Google Shape;1520;p84"/>
          <p:cNvSpPr txBox="1"/>
          <p:nvPr>
            <p:ph idx="1" type="body"/>
          </p:nvPr>
        </p:nvSpPr>
        <p:spPr>
          <a:xfrm>
            <a:off x="324000" y="759300"/>
            <a:ext cx="8496000" cy="6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Once we have identified like terms we can simplify an expression containing like terms by adding the like terms together. </a:t>
            </a:r>
            <a:endParaRPr sz="1800"/>
          </a:p>
        </p:txBody>
      </p:sp>
      <p:sp>
        <p:nvSpPr>
          <p:cNvPr id="1521" name="Google Shape;1521;p84"/>
          <p:cNvSpPr txBox="1"/>
          <p:nvPr>
            <p:ph idx="1" type="body"/>
          </p:nvPr>
        </p:nvSpPr>
        <p:spPr>
          <a:xfrm>
            <a:off x="324000" y="1725725"/>
            <a:ext cx="84960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Simplify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22" name="Google Shape;1522;p84"/>
          <p:cNvSpPr txBox="1"/>
          <p:nvPr>
            <p:ph idx="1" type="body"/>
          </p:nvPr>
        </p:nvSpPr>
        <p:spPr>
          <a:xfrm>
            <a:off x="324000" y="2265600"/>
            <a:ext cx="84960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equivalent to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5 − 3 + 4)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23" name="Google Shape;1523;p84"/>
          <p:cNvSpPr txBox="1"/>
          <p:nvPr>
            <p:ph idx="1" type="body"/>
          </p:nvPr>
        </p:nvSpPr>
        <p:spPr>
          <a:xfrm>
            <a:off x="3954900" y="2265600"/>
            <a:ext cx="8691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≡ 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24" name="Google Shape;1524;p84"/>
          <p:cNvSpPr txBox="1"/>
          <p:nvPr>
            <p:ph idx="1" type="body"/>
          </p:nvPr>
        </p:nvSpPr>
        <p:spPr>
          <a:xfrm>
            <a:off x="324000" y="2805475"/>
            <a:ext cx="8496000" cy="6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Where an expression contains both like terms and unlike terms, we can simplify each type of term </a:t>
            </a:r>
            <a:r>
              <a:rPr lang="en-GB" sz="1800"/>
              <a:t>separately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525" name="Google Shape;1525;p84"/>
          <p:cNvSpPr txBox="1"/>
          <p:nvPr>
            <p:ph idx="1" type="body"/>
          </p:nvPr>
        </p:nvSpPr>
        <p:spPr>
          <a:xfrm>
            <a:off x="324000" y="3621450"/>
            <a:ext cx="42792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Simplify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− 3 − 10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 sz="1800"/>
              <a:t> </a:t>
            </a:r>
            <a:endParaRPr i="1" sz="1800"/>
          </a:p>
        </p:txBody>
      </p:sp>
      <p:sp>
        <p:nvSpPr>
          <p:cNvPr id="1526" name="Google Shape;1526;p84"/>
          <p:cNvSpPr txBox="1"/>
          <p:nvPr>
            <p:ph idx="1" type="body"/>
          </p:nvPr>
        </p:nvSpPr>
        <p:spPr>
          <a:xfrm>
            <a:off x="289100" y="4118025"/>
            <a:ext cx="40836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equivalent to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− 3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27" name="Google Shape;1527;p84"/>
          <p:cNvSpPr txBox="1"/>
          <p:nvPr>
            <p:ph idx="1" type="body"/>
          </p:nvPr>
        </p:nvSpPr>
        <p:spPr>
          <a:xfrm>
            <a:off x="4372700" y="4118025"/>
            <a:ext cx="32346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≡  (8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− 10)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(− 3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528" name="Google Shape;1528;p84"/>
          <p:cNvSpPr txBox="1"/>
          <p:nvPr>
            <p:ph idx="1" type="body"/>
          </p:nvPr>
        </p:nvSpPr>
        <p:spPr>
          <a:xfrm>
            <a:off x="4372700" y="4464925"/>
            <a:ext cx="3234600" cy="4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≡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85"/>
          <p:cNvSpPr txBox="1"/>
          <p:nvPr>
            <p:ph idx="1" type="subTitle"/>
          </p:nvPr>
        </p:nvSpPr>
        <p:spPr>
          <a:xfrm>
            <a:off x="1034425" y="1837775"/>
            <a:ext cx="35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/>
              <a:t> </a:t>
            </a:r>
            <a:endParaRPr/>
          </a:p>
        </p:txBody>
      </p:sp>
      <p:sp>
        <p:nvSpPr>
          <p:cNvPr id="1534" name="Google Shape;1534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535" name="Google Shape;1535;p8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Simplify each expression by collecting like terms.</a:t>
            </a:r>
            <a:endParaRPr sz="2000"/>
          </a:p>
        </p:txBody>
      </p:sp>
      <p:sp>
        <p:nvSpPr>
          <p:cNvPr id="1536" name="Google Shape;1536;p85"/>
          <p:cNvSpPr txBox="1"/>
          <p:nvPr>
            <p:ph idx="3" type="subTitle"/>
          </p:nvPr>
        </p:nvSpPr>
        <p:spPr>
          <a:xfrm>
            <a:off x="1034425" y="2794250"/>
            <a:ext cx="3537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sp>
        <p:nvSpPr>
          <p:cNvPr id="1537" name="Google Shape;1537;p85"/>
          <p:cNvSpPr txBox="1"/>
          <p:nvPr>
            <p:ph idx="4" type="subTitle"/>
          </p:nvPr>
        </p:nvSpPr>
        <p:spPr>
          <a:xfrm>
            <a:off x="1034425" y="3766975"/>
            <a:ext cx="35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− 10 + 4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</a:t>
            </a:r>
            <a:endParaRPr/>
          </a:p>
        </p:txBody>
      </p:sp>
      <p:sp>
        <p:nvSpPr>
          <p:cNvPr id="1538" name="Google Shape;1538;p85"/>
          <p:cNvSpPr txBox="1"/>
          <p:nvPr>
            <p:ph idx="1" type="subTitle"/>
          </p:nvPr>
        </p:nvSpPr>
        <p:spPr>
          <a:xfrm>
            <a:off x="4572000" y="1837763"/>
            <a:ext cx="35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/>
              <a:t> </a:t>
            </a:r>
            <a:endParaRPr/>
          </a:p>
        </p:txBody>
      </p:sp>
      <p:sp>
        <p:nvSpPr>
          <p:cNvPr id="1539" name="Google Shape;1539;p85"/>
          <p:cNvSpPr txBox="1"/>
          <p:nvPr>
            <p:ph idx="1" type="subTitle"/>
          </p:nvPr>
        </p:nvSpPr>
        <p:spPr>
          <a:xfrm>
            <a:off x="4572000" y="2826488"/>
            <a:ext cx="35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 </a:t>
            </a:r>
            <a:endParaRPr/>
          </a:p>
        </p:txBody>
      </p:sp>
      <p:sp>
        <p:nvSpPr>
          <p:cNvPr id="1540" name="Google Shape;1540;p85"/>
          <p:cNvSpPr txBox="1"/>
          <p:nvPr>
            <p:ph idx="1" type="subTitle"/>
          </p:nvPr>
        </p:nvSpPr>
        <p:spPr>
          <a:xfrm>
            <a:off x="4572000" y="3766963"/>
            <a:ext cx="35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− 5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546" name="Google Shape;1546;p86"/>
          <p:cNvSpPr txBox="1"/>
          <p:nvPr>
            <p:ph idx="1" type="body"/>
          </p:nvPr>
        </p:nvSpPr>
        <p:spPr>
          <a:xfrm>
            <a:off x="324000" y="759300"/>
            <a:ext cx="8237700" cy="7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Once linear equations</a:t>
            </a:r>
            <a:r>
              <a:rPr lang="en-GB" sz="1800"/>
              <a:t> have been written in the form</a:t>
            </a:r>
            <a:r>
              <a:rPr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 </a:t>
            </a:r>
            <a:r>
              <a:rPr lang="en-GB" sz="1800"/>
              <a:t>the steps to solve for the variable become clearer. </a:t>
            </a:r>
            <a:endParaRPr/>
          </a:p>
        </p:txBody>
      </p:sp>
      <p:sp>
        <p:nvSpPr>
          <p:cNvPr id="1547" name="Google Shape;1547;p86"/>
          <p:cNvSpPr txBox="1"/>
          <p:nvPr>
            <p:ph idx="1" type="body"/>
          </p:nvPr>
        </p:nvSpPr>
        <p:spPr>
          <a:xfrm>
            <a:off x="324000" y="1826100"/>
            <a:ext cx="82377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write this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1800"/>
              <a:t> 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+ 3 − 7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10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+ 5 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(4 − 7)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(3 + 5) 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       </a:t>
            </a:r>
            <a:r>
              <a:rPr lang="en-GB" sz="1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= 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553" name="Google Shape;1553;p87"/>
          <p:cNvSpPr txBox="1"/>
          <p:nvPr>
            <p:ph idx="1" type="body"/>
          </p:nvPr>
        </p:nvSpPr>
        <p:spPr>
          <a:xfrm>
            <a:off x="324000" y="858000"/>
            <a:ext cx="8237700" cy="34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expressions contain brackets, it is possible to expand the brackets before collecting like terms.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could we write this equation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1800"/>
              <a:t> 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− 3) + 4(3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+ 5) = −10</a:t>
            </a:r>
            <a:r>
              <a:rPr lang="en-GB" sz="1800"/>
              <a:t>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− 6 + 12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 = −10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(2 + 12)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+ 20) = −10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            </a:t>
            </a:r>
            <a:r>
              <a:rPr lang="en-GB" sz="16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−10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pic>
        <p:nvPicPr>
          <p:cNvPr id="1559" name="Google Shape;155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9573" y="1937100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88"/>
          <p:cNvSpPr txBox="1"/>
          <p:nvPr/>
        </p:nvSpPr>
        <p:spPr>
          <a:xfrm flipH="1">
            <a:off x="455028" y="2483062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8"/>
          <p:cNvSpPr txBox="1"/>
          <p:nvPr>
            <p:ph idx="1" type="body"/>
          </p:nvPr>
        </p:nvSpPr>
        <p:spPr>
          <a:xfrm>
            <a:off x="324000" y="8580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Jacob and Lucas need to 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− 2(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+ 3)= 22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pic>
        <p:nvPicPr>
          <p:cNvPr id="1562" name="Google Shape;1562;p8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188775" y="1240875"/>
            <a:ext cx="3846676" cy="12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88"/>
          <p:cNvSpPr/>
          <p:nvPr/>
        </p:nvSpPr>
        <p:spPr>
          <a:xfrm flipH="1">
            <a:off x="1499025" y="1323025"/>
            <a:ext cx="34788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need to expand both brackets then collect like terms to write in the form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ax + b =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8"/>
          <p:cNvSpPr txBox="1"/>
          <p:nvPr/>
        </p:nvSpPr>
        <p:spPr>
          <a:xfrm flipH="1">
            <a:off x="7670175" y="2444212"/>
            <a:ext cx="10440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65" name="Google Shape;1565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31535" y="1925144"/>
            <a:ext cx="521295" cy="589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88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5774400" y="1575146"/>
            <a:ext cx="2209900" cy="1087505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88"/>
          <p:cNvSpPr/>
          <p:nvPr/>
        </p:nvSpPr>
        <p:spPr>
          <a:xfrm>
            <a:off x="5856650" y="1718200"/>
            <a:ext cx="1924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there is a quicker way.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8"/>
          <p:cNvSpPr txBox="1"/>
          <p:nvPr>
            <p:ph idx="1" type="body"/>
          </p:nvPr>
        </p:nvSpPr>
        <p:spPr>
          <a:xfrm>
            <a:off x="324000" y="2985350"/>
            <a:ext cx="8237700" cy="14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Will Jacob’s method work?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do you think Lucas is referring to?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569" name="Google Shape;1569;p88"/>
          <p:cNvSpPr txBox="1"/>
          <p:nvPr>
            <p:ph idx="1" type="body"/>
          </p:nvPr>
        </p:nvSpPr>
        <p:spPr>
          <a:xfrm>
            <a:off x="324000" y="3312500"/>
            <a:ext cx="8237700" cy="27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this will give us an equivalent expression on the left hand side in the required form.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0" name="Google Shape;1570;p88"/>
          <p:cNvSpPr txBox="1"/>
          <p:nvPr>
            <p:ph idx="1" type="body"/>
          </p:nvPr>
        </p:nvSpPr>
        <p:spPr>
          <a:xfrm>
            <a:off x="324000" y="4268975"/>
            <a:ext cx="8237700" cy="27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the expression in both brackets is the same, we can write the left hand side as a multiple of a single bracket.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576" name="Google Shape;1576;p89"/>
          <p:cNvSpPr txBox="1"/>
          <p:nvPr>
            <p:ph idx="1" type="body"/>
          </p:nvPr>
        </p:nvSpPr>
        <p:spPr>
          <a:xfrm>
            <a:off x="324000" y="7818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Jacob and Lucas need to 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− 2(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+ 3)= 22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cxnSp>
        <p:nvCxnSpPr>
          <p:cNvPr id="1577" name="Google Shape;1577;p89"/>
          <p:cNvCxnSpPr/>
          <p:nvPr/>
        </p:nvCxnSpPr>
        <p:spPr>
          <a:xfrm>
            <a:off x="4572000" y="1210225"/>
            <a:ext cx="0" cy="3600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78" name="Google Shape;1578;p89"/>
          <p:cNvGraphicFramePr/>
          <p:nvPr/>
        </p:nvGraphicFramePr>
        <p:xfrm>
          <a:off x="324000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− 6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 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(4 − 2)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− 6)</a:t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+ 6</a:t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9" name="Google Shape;1579;p89"/>
          <p:cNvSpPr txBox="1"/>
          <p:nvPr>
            <p:ph idx="1" type="body"/>
          </p:nvPr>
        </p:nvSpPr>
        <p:spPr>
          <a:xfrm>
            <a:off x="324000" y="3021375"/>
            <a:ext cx="4070400" cy="16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right hand side of the equation has not changed as we have not begun to solve the equation yet. The expressions on the left hand side are all equivalent. 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graphicFrame>
        <p:nvGraphicFramePr>
          <p:cNvPr id="1580" name="Google Shape;1580;p89"/>
          <p:cNvGraphicFramePr/>
          <p:nvPr/>
        </p:nvGraphicFramePr>
        <p:xfrm>
          <a:off x="4692475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− 2)(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1" name="Google Shape;1581;p89"/>
          <p:cNvSpPr txBox="1"/>
          <p:nvPr>
            <p:ph idx="1" type="body"/>
          </p:nvPr>
        </p:nvSpPr>
        <p:spPr>
          <a:xfrm>
            <a:off x="4824000" y="3021375"/>
            <a:ext cx="4070400" cy="16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Either method works well, knowing two methods means you can check your answers with an alternative method.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graphicFrame>
        <p:nvGraphicFramePr>
          <p:cNvPr id="1582" name="Google Shape;1582;p89"/>
          <p:cNvGraphicFramePr/>
          <p:nvPr/>
        </p:nvGraphicFramePr>
        <p:xfrm>
          <a:off x="324000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+ 12 − 2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− 6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 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(4 − 2)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− 6)</a:t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3" name="Google Shape;1583;p89"/>
          <p:cNvGraphicFramePr/>
          <p:nvPr/>
        </p:nvGraphicFramePr>
        <p:xfrm>
          <a:off x="324000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+ 12 − 2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− 6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 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4" name="Google Shape;1584;p89"/>
          <p:cNvGraphicFramePr/>
          <p:nvPr/>
        </p:nvGraphicFramePr>
        <p:xfrm>
          <a:off x="324000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22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5" name="Google Shape;1585;p89"/>
          <p:cNvGraphicFramePr/>
          <p:nvPr/>
        </p:nvGraphicFramePr>
        <p:xfrm>
          <a:off x="4692475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− 2)(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6" name="Google Shape;1586;p89"/>
          <p:cNvGraphicFramePr/>
          <p:nvPr/>
        </p:nvGraphicFramePr>
        <p:xfrm>
          <a:off x="4692475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− 2)(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7" name="Google Shape;1587;p89"/>
          <p:cNvGraphicFramePr/>
          <p:nvPr/>
        </p:nvGraphicFramePr>
        <p:xfrm>
          <a:off x="4692475" y="13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 − 2(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pic>
        <p:nvPicPr>
          <p:cNvPr id="1593" name="Google Shape;159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9573" y="1937100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90"/>
          <p:cNvSpPr txBox="1"/>
          <p:nvPr/>
        </p:nvSpPr>
        <p:spPr>
          <a:xfrm flipH="1">
            <a:off x="455028" y="2483062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0"/>
          <p:cNvSpPr txBox="1"/>
          <p:nvPr>
            <p:ph idx="1" type="body"/>
          </p:nvPr>
        </p:nvSpPr>
        <p:spPr>
          <a:xfrm>
            <a:off x="324000" y="858000"/>
            <a:ext cx="8237700" cy="5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Now Jacob wants</a:t>
            </a:r>
            <a:r>
              <a:rPr lang="en-GB" sz="1800"/>
              <a:t> to solve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 − 5(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+ 3) = 50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pic>
        <p:nvPicPr>
          <p:cNvPr id="1596" name="Google Shape;1596;p90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188775" y="1240875"/>
            <a:ext cx="2629228" cy="8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90"/>
          <p:cNvSpPr/>
          <p:nvPr/>
        </p:nvSpPr>
        <p:spPr>
          <a:xfrm flipH="1">
            <a:off x="1441400" y="1323025"/>
            <a:ext cx="2232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 method will not work this time.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0"/>
          <p:cNvSpPr txBox="1"/>
          <p:nvPr>
            <p:ph idx="1" type="body"/>
          </p:nvPr>
        </p:nvSpPr>
        <p:spPr>
          <a:xfrm>
            <a:off x="4320000" y="1323025"/>
            <a:ext cx="2404800" cy="4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Jacob correct?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endParaRPr sz="1800"/>
          </a:p>
        </p:txBody>
      </p:sp>
      <p:sp>
        <p:nvSpPr>
          <p:cNvPr id="1599" name="Google Shape;1599;p90"/>
          <p:cNvSpPr txBox="1"/>
          <p:nvPr>
            <p:ph idx="1" type="body"/>
          </p:nvPr>
        </p:nvSpPr>
        <p:spPr>
          <a:xfrm>
            <a:off x="324000" y="2973413"/>
            <a:ext cx="8496000" cy="11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the expressions in the brackets are different so we cannot unitise them and write as a single multiple of one bracket.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0" name="Google Shape;1600;p90"/>
          <p:cNvSpPr txBox="1"/>
          <p:nvPr>
            <p:ph idx="1" type="body"/>
          </p:nvPr>
        </p:nvSpPr>
        <p:spPr>
          <a:xfrm>
            <a:off x="324000" y="4009650"/>
            <a:ext cx="8237700" cy="27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write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 </a:t>
            </a:r>
            <a:r>
              <a:rPr lang="en-GB" sz="1800"/>
              <a:t> Jacob will need to expand both brackets and simplify.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91"/>
          <p:cNvSpPr txBox="1"/>
          <p:nvPr>
            <p:ph idx="1" type="subTitle"/>
          </p:nvPr>
        </p:nvSpPr>
        <p:spPr>
          <a:xfrm>
            <a:off x="962375" y="25235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− 1 = 22</a:t>
            </a:r>
            <a:endParaRPr/>
          </a:p>
        </p:txBody>
      </p:sp>
      <p:sp>
        <p:nvSpPr>
          <p:cNvPr id="1606" name="Google Shape;1606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607" name="Google Shape;1607;p9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equation is equivalent to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− 1) + 3(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− 1) = 22 </a:t>
            </a:r>
            <a:r>
              <a:rPr lang="en-GB"/>
              <a:t>?</a:t>
            </a:r>
            <a:r>
              <a:rPr lang="en-GB"/>
              <a:t> </a:t>
            </a:r>
            <a:endParaRPr/>
          </a:p>
        </p:txBody>
      </p:sp>
      <p:sp>
        <p:nvSpPr>
          <p:cNvPr id="1608" name="Google Shape;1608;p91"/>
          <p:cNvSpPr txBox="1"/>
          <p:nvPr>
            <p:ph idx="3" type="subTitle"/>
          </p:nvPr>
        </p:nvSpPr>
        <p:spPr>
          <a:xfrm>
            <a:off x="962375" y="33276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− 2 = 22</a:t>
            </a:r>
            <a:endParaRPr/>
          </a:p>
        </p:txBody>
      </p:sp>
      <p:sp>
        <p:nvSpPr>
          <p:cNvPr id="1609" name="Google Shape;1609;p91"/>
          <p:cNvSpPr txBox="1"/>
          <p:nvPr>
            <p:ph idx="4" type="subTitle"/>
          </p:nvPr>
        </p:nvSpPr>
        <p:spPr>
          <a:xfrm>
            <a:off x="983375" y="1711190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 = 22</a:t>
            </a:r>
            <a:endParaRPr/>
          </a:p>
        </p:txBody>
      </p:sp>
      <p:sp>
        <p:nvSpPr>
          <p:cNvPr id="1610" name="Google Shape;1610;p91"/>
          <p:cNvSpPr txBox="1"/>
          <p:nvPr>
            <p:ph idx="5" type="subTitle"/>
          </p:nvPr>
        </p:nvSpPr>
        <p:spPr>
          <a:xfrm>
            <a:off x="962375" y="41200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− 8 = 22</a:t>
            </a:r>
            <a:endParaRPr/>
          </a:p>
        </p:txBody>
      </p:sp>
      <p:pic>
        <p:nvPicPr>
          <p:cNvPr id="1611" name="Google Shape;161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8" y="407215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12" name="Google Shape;1612;p91"/>
          <p:cNvGraphicFramePr/>
          <p:nvPr/>
        </p:nvGraphicFramePr>
        <p:xfrm>
          <a:off x="4320000" y="341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1939150"/>
                <a:gridCol w="221575"/>
                <a:gridCol w="1966800"/>
              </a:tblGrid>
              <a:tr h="54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+ 3(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− 8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618" name="Google Shape;1618;p92"/>
          <p:cNvSpPr txBox="1"/>
          <p:nvPr>
            <p:ph idx="1" type="body"/>
          </p:nvPr>
        </p:nvSpPr>
        <p:spPr>
          <a:xfrm>
            <a:off x="324000" y="663150"/>
            <a:ext cx="8496000" cy="7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skill can be very useful when forming equations to solve perimeter problems. </a:t>
            </a:r>
            <a:endParaRPr sz="1800"/>
          </a:p>
        </p:txBody>
      </p:sp>
      <p:grpSp>
        <p:nvGrpSpPr>
          <p:cNvPr id="1619" name="Google Shape;1619;p92"/>
          <p:cNvGrpSpPr/>
          <p:nvPr/>
        </p:nvGrpSpPr>
        <p:grpSpPr>
          <a:xfrm>
            <a:off x="6933213" y="1986158"/>
            <a:ext cx="449460" cy="2507685"/>
            <a:chOff x="644300" y="2055275"/>
            <a:chExt cx="495600" cy="2765118"/>
          </a:xfrm>
        </p:grpSpPr>
        <p:sp>
          <p:nvSpPr>
            <p:cNvPr id="1620" name="Google Shape;1620;p92"/>
            <p:cNvSpPr/>
            <p:nvPr/>
          </p:nvSpPr>
          <p:spPr>
            <a:xfrm>
              <a:off x="739760" y="2512492"/>
              <a:ext cx="304200" cy="2307900"/>
            </a:xfrm>
            <a:prstGeom prst="rect">
              <a:avLst/>
            </a:prstGeom>
            <a:solidFill>
              <a:srgbClr val="EEEEEE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92"/>
            <p:cNvSpPr/>
            <p:nvPr/>
          </p:nvSpPr>
          <p:spPr>
            <a:xfrm>
              <a:off x="644300" y="2055275"/>
              <a:ext cx="495600" cy="457200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rgbClr val="EEEEEE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92"/>
            <p:cNvSpPr/>
            <p:nvPr/>
          </p:nvSpPr>
          <p:spPr>
            <a:xfrm>
              <a:off x="753437" y="2499307"/>
              <a:ext cx="275100" cy="267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92"/>
            <p:cNvSpPr/>
            <p:nvPr/>
          </p:nvSpPr>
          <p:spPr>
            <a:xfrm rot="-518005">
              <a:off x="747394" y="2491325"/>
              <a:ext cx="57957" cy="41135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92"/>
            <p:cNvSpPr/>
            <p:nvPr/>
          </p:nvSpPr>
          <p:spPr>
            <a:xfrm rot="753453">
              <a:off x="972732" y="2487712"/>
              <a:ext cx="64851" cy="36967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5" name="Google Shape;1625;p92"/>
          <p:cNvSpPr txBox="1"/>
          <p:nvPr>
            <p:ph idx="1" type="body"/>
          </p:nvPr>
        </p:nvSpPr>
        <p:spPr>
          <a:xfrm>
            <a:off x="324000" y="1431150"/>
            <a:ext cx="8496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shape is made up of a </a:t>
            </a:r>
            <a:r>
              <a:rPr lang="en-GB" sz="1800">
                <a:solidFill>
                  <a:schemeClr val="accent5"/>
                </a:solidFill>
              </a:rPr>
              <a:t>regular</a:t>
            </a:r>
            <a:r>
              <a:rPr lang="en-GB" sz="1800"/>
              <a:t> pentagon on top of a rectangle.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6" name="Google Shape;1626;p92"/>
          <p:cNvSpPr txBox="1"/>
          <p:nvPr>
            <p:ph idx="1" type="body"/>
          </p:nvPr>
        </p:nvSpPr>
        <p:spPr>
          <a:xfrm>
            <a:off x="6875700" y="4571700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27" name="Google Shape;1627;p92"/>
          <p:cNvSpPr txBox="1"/>
          <p:nvPr>
            <p:ph idx="1" type="body"/>
          </p:nvPr>
        </p:nvSpPr>
        <p:spPr>
          <a:xfrm rot="-5400000">
            <a:off x="6117175" y="3261138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+ 3)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628" name="Google Shape;1628;p92"/>
          <p:cNvCxnSpPr/>
          <p:nvPr/>
        </p:nvCxnSpPr>
        <p:spPr>
          <a:xfrm>
            <a:off x="6988600" y="4571700"/>
            <a:ext cx="33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9" name="Google Shape;1629;p92"/>
          <p:cNvCxnSpPr/>
          <p:nvPr/>
        </p:nvCxnSpPr>
        <p:spPr>
          <a:xfrm>
            <a:off x="6933225" y="2530650"/>
            <a:ext cx="0" cy="192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0" name="Google Shape;1630;p92"/>
          <p:cNvCxnSpPr/>
          <p:nvPr/>
        </p:nvCxnSpPr>
        <p:spPr>
          <a:xfrm>
            <a:off x="7017419" y="2384524"/>
            <a:ext cx="0" cy="210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92"/>
          <p:cNvCxnSpPr/>
          <p:nvPr/>
        </p:nvCxnSpPr>
        <p:spPr>
          <a:xfrm>
            <a:off x="7300607" y="2384524"/>
            <a:ext cx="0" cy="210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92"/>
          <p:cNvSpPr txBox="1"/>
          <p:nvPr>
            <p:ph idx="1" type="body"/>
          </p:nvPr>
        </p:nvSpPr>
        <p:spPr>
          <a:xfrm>
            <a:off x="324000" y="4174525"/>
            <a:ext cx="8070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</a:t>
            </a:r>
            <a:endParaRPr sz="1800"/>
          </a:p>
        </p:txBody>
      </p:sp>
      <p:sp>
        <p:nvSpPr>
          <p:cNvPr id="1633" name="Google Shape;1633;p92"/>
          <p:cNvSpPr txBox="1"/>
          <p:nvPr>
            <p:ph idx="1" type="body"/>
          </p:nvPr>
        </p:nvSpPr>
        <p:spPr>
          <a:xfrm>
            <a:off x="324000" y="2316000"/>
            <a:ext cx="5932800" cy="6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4 lengths of the pentagon that contribute to the perimeter are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 cm </a:t>
            </a:r>
            <a:endParaRPr sz="1800"/>
          </a:p>
        </p:txBody>
      </p:sp>
      <p:sp>
        <p:nvSpPr>
          <p:cNvPr id="1634" name="Google Shape;1634;p92"/>
          <p:cNvSpPr txBox="1"/>
          <p:nvPr>
            <p:ph idx="1" type="body"/>
          </p:nvPr>
        </p:nvSpPr>
        <p:spPr>
          <a:xfrm>
            <a:off x="1167975" y="4174525"/>
            <a:ext cx="1576800" cy="5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+ 3) </a:t>
            </a:r>
            <a:endParaRPr sz="1800"/>
          </a:p>
        </p:txBody>
      </p:sp>
      <p:grpSp>
        <p:nvGrpSpPr>
          <p:cNvPr id="1635" name="Google Shape;1635;p92"/>
          <p:cNvGrpSpPr/>
          <p:nvPr/>
        </p:nvGrpSpPr>
        <p:grpSpPr>
          <a:xfrm>
            <a:off x="6924598" y="1974888"/>
            <a:ext cx="489555" cy="424021"/>
            <a:chOff x="6924598" y="1974888"/>
            <a:chExt cx="489555" cy="424021"/>
          </a:xfrm>
        </p:grpSpPr>
        <p:cxnSp>
          <p:nvCxnSpPr>
            <p:cNvPr id="1636" name="Google Shape;1636;p92"/>
            <p:cNvCxnSpPr/>
            <p:nvPr/>
          </p:nvCxnSpPr>
          <p:spPr>
            <a:xfrm rot="121425">
              <a:off x="7144437" y="1979335"/>
              <a:ext cx="254859" cy="169306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7" name="Google Shape;1637;p92"/>
            <p:cNvCxnSpPr/>
            <p:nvPr/>
          </p:nvCxnSpPr>
          <p:spPr>
            <a:xfrm flipH="1">
              <a:off x="6924598" y="1977732"/>
              <a:ext cx="237900" cy="1701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8" name="Google Shape;1638;p92"/>
            <p:cNvCxnSpPr/>
            <p:nvPr/>
          </p:nvCxnSpPr>
          <p:spPr>
            <a:xfrm rot="10800000">
              <a:off x="6931931" y="2131309"/>
              <a:ext cx="85500" cy="267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9" name="Google Shape;1639;p92"/>
            <p:cNvCxnSpPr/>
            <p:nvPr/>
          </p:nvCxnSpPr>
          <p:spPr>
            <a:xfrm flipH="1" rot="10458282">
              <a:off x="7289826" y="2146991"/>
              <a:ext cx="111852" cy="24702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40" name="Google Shape;1640;p92"/>
          <p:cNvCxnSpPr/>
          <p:nvPr/>
        </p:nvCxnSpPr>
        <p:spPr>
          <a:xfrm rot="10800000">
            <a:off x="7005313" y="4488775"/>
            <a:ext cx="309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92"/>
          <p:cNvSpPr txBox="1"/>
          <p:nvPr>
            <p:ph idx="1" type="body"/>
          </p:nvPr>
        </p:nvSpPr>
        <p:spPr>
          <a:xfrm>
            <a:off x="324000" y="3169063"/>
            <a:ext cx="5932800" cy="6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is also another length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+ 1) cm </a:t>
            </a:r>
            <a:r>
              <a:rPr lang="en-GB" sz="1800"/>
              <a:t>at the bottom which contributes to the perimeter.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642" name="Google Shape;1642;p92"/>
          <p:cNvSpPr txBox="1"/>
          <p:nvPr>
            <p:ph idx="1" type="body"/>
          </p:nvPr>
        </p:nvSpPr>
        <p:spPr>
          <a:xfrm>
            <a:off x="324000" y="1799550"/>
            <a:ext cx="62097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could we form an expression for its perimeter? 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648" name="Google Shape;1648;p93"/>
          <p:cNvSpPr txBox="1"/>
          <p:nvPr>
            <p:ph idx="1" type="body"/>
          </p:nvPr>
        </p:nvSpPr>
        <p:spPr>
          <a:xfrm>
            <a:off x="324000" y="826900"/>
            <a:ext cx="8496000" cy="35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shape has a perimeter of 83 cm. How could we form an equation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in the form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 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+ 2(2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+ 3) = 83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+ 5 + 4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+ 6 = 83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                   </a:t>
            </a:r>
            <a:r>
              <a:rPr lang="en-GB" sz="16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+ 11 = 83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This is now in a format ready to be solved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1800"/>
          </a:p>
        </p:txBody>
      </p:sp>
      <p:grpSp>
        <p:nvGrpSpPr>
          <p:cNvPr id="1649" name="Google Shape;1649;p93"/>
          <p:cNvGrpSpPr/>
          <p:nvPr/>
        </p:nvGrpSpPr>
        <p:grpSpPr>
          <a:xfrm>
            <a:off x="6933213" y="1757558"/>
            <a:ext cx="449460" cy="2507685"/>
            <a:chOff x="644300" y="2055275"/>
            <a:chExt cx="495600" cy="2765118"/>
          </a:xfrm>
        </p:grpSpPr>
        <p:sp>
          <p:nvSpPr>
            <p:cNvPr id="1650" name="Google Shape;1650;p93"/>
            <p:cNvSpPr/>
            <p:nvPr/>
          </p:nvSpPr>
          <p:spPr>
            <a:xfrm>
              <a:off x="739760" y="2512492"/>
              <a:ext cx="304200" cy="2307900"/>
            </a:xfrm>
            <a:prstGeom prst="rect">
              <a:avLst/>
            </a:prstGeom>
            <a:solidFill>
              <a:srgbClr val="EEEEEE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93"/>
            <p:cNvSpPr/>
            <p:nvPr/>
          </p:nvSpPr>
          <p:spPr>
            <a:xfrm>
              <a:off x="644300" y="2055275"/>
              <a:ext cx="495600" cy="457200"/>
            </a:xfrm>
            <a:prstGeom prst="pentagon">
              <a:avLst>
                <a:gd fmla="val 105146" name="hf"/>
                <a:gd fmla="val 110557" name="vf"/>
              </a:avLst>
            </a:prstGeom>
            <a:solidFill>
              <a:srgbClr val="EEEEEE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93"/>
            <p:cNvSpPr/>
            <p:nvPr/>
          </p:nvSpPr>
          <p:spPr>
            <a:xfrm>
              <a:off x="753437" y="2499307"/>
              <a:ext cx="275100" cy="267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93"/>
            <p:cNvSpPr/>
            <p:nvPr/>
          </p:nvSpPr>
          <p:spPr>
            <a:xfrm rot="-518005">
              <a:off x="747394" y="2491325"/>
              <a:ext cx="57957" cy="41135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93"/>
            <p:cNvSpPr/>
            <p:nvPr/>
          </p:nvSpPr>
          <p:spPr>
            <a:xfrm rot="753453">
              <a:off x="972732" y="2487712"/>
              <a:ext cx="64851" cy="36967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5" name="Google Shape;1655;p93"/>
          <p:cNvSpPr txBox="1"/>
          <p:nvPr>
            <p:ph idx="1" type="body"/>
          </p:nvPr>
        </p:nvSpPr>
        <p:spPr>
          <a:xfrm>
            <a:off x="6875700" y="4343100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56" name="Google Shape;1656;p93"/>
          <p:cNvSpPr txBox="1"/>
          <p:nvPr>
            <p:ph idx="1" type="body"/>
          </p:nvPr>
        </p:nvSpPr>
        <p:spPr>
          <a:xfrm rot="-5400000">
            <a:off x="6117175" y="3032538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+ 3)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657" name="Google Shape;1657;p93"/>
          <p:cNvCxnSpPr/>
          <p:nvPr/>
        </p:nvCxnSpPr>
        <p:spPr>
          <a:xfrm>
            <a:off x="6988600" y="4343100"/>
            <a:ext cx="33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8" name="Google Shape;1658;p93"/>
          <p:cNvCxnSpPr/>
          <p:nvPr/>
        </p:nvCxnSpPr>
        <p:spPr>
          <a:xfrm>
            <a:off x="6933225" y="2302050"/>
            <a:ext cx="0" cy="192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94"/>
          <p:cNvSpPr txBox="1"/>
          <p:nvPr>
            <p:ph idx="1" type="subTitle"/>
          </p:nvPr>
        </p:nvSpPr>
        <p:spPr>
          <a:xfrm>
            <a:off x="1034425" y="1685375"/>
            <a:ext cx="5974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− 1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 +</a:t>
            </a:r>
            <a:r>
              <a:rPr lang="en-GB"/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 + 3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 = 92</a:t>
            </a:r>
            <a:endParaRPr/>
          </a:p>
        </p:txBody>
      </p:sp>
      <p:sp>
        <p:nvSpPr>
          <p:cNvPr id="1664" name="Google Shape;1664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linear equations in the form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665" name="Google Shape;1665;p94"/>
          <p:cNvSpPr txBox="1"/>
          <p:nvPr>
            <p:ph type="title"/>
          </p:nvPr>
        </p:nvSpPr>
        <p:spPr>
          <a:xfrm>
            <a:off x="324000" y="810000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perimeter of this rhombus is 92 cm , which of these is an equation to find the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?</a:t>
            </a:r>
            <a:endParaRPr sz="1800"/>
          </a:p>
        </p:txBody>
      </p:sp>
      <p:sp>
        <p:nvSpPr>
          <p:cNvPr id="1666" name="Google Shape;1666;p94"/>
          <p:cNvSpPr txBox="1"/>
          <p:nvPr>
            <p:ph idx="3" type="subTitle"/>
          </p:nvPr>
        </p:nvSpPr>
        <p:spPr>
          <a:xfrm>
            <a:off x="1034425" y="3240000"/>
            <a:ext cx="5974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 = 92</a:t>
            </a:r>
            <a:endParaRPr/>
          </a:p>
        </p:txBody>
      </p:sp>
      <p:sp>
        <p:nvSpPr>
          <p:cNvPr id="1667" name="Google Shape;1667;p94"/>
          <p:cNvSpPr txBox="1"/>
          <p:nvPr>
            <p:ph idx="4" type="subTitle"/>
          </p:nvPr>
        </p:nvSpPr>
        <p:spPr>
          <a:xfrm>
            <a:off x="1034425" y="2495740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4(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− 1) = 92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8" name="Google Shape;1668;p9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= 92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9" name="Google Shape;1669;p94"/>
          <p:cNvSpPr/>
          <p:nvPr/>
        </p:nvSpPr>
        <p:spPr>
          <a:xfrm rot="5400000">
            <a:off x="7823328" y="644019"/>
            <a:ext cx="611100" cy="1023000"/>
          </a:xfrm>
          <a:prstGeom prst="diamond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4"/>
          <p:cNvSpPr txBox="1"/>
          <p:nvPr>
            <p:ph idx="4294967295" type="body"/>
          </p:nvPr>
        </p:nvSpPr>
        <p:spPr>
          <a:xfrm rot="884">
            <a:off x="6752804" y="1285233"/>
            <a:ext cx="1167300" cy="24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1)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671" name="Google Shape;1671;p94"/>
          <p:cNvCxnSpPr/>
          <p:nvPr/>
        </p:nvCxnSpPr>
        <p:spPr>
          <a:xfrm>
            <a:off x="7585575" y="1239050"/>
            <a:ext cx="486900" cy="28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672" name="Google Shape;167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5533" y="165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3" name="Google Shape;167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133" y="24971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4" name="Google Shape;167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133" y="41138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94"/>
          <p:cNvSpPr txBox="1"/>
          <p:nvPr>
            <p:ph type="title"/>
          </p:nvPr>
        </p:nvSpPr>
        <p:spPr>
          <a:xfrm>
            <a:off x="3880575" y="3781725"/>
            <a:ext cx="4500000" cy="10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b and d are all equivalent.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in the form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so ready to be solved for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if required.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linear 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1" name="Google Shape;1681;p95"/>
          <p:cNvSpPr txBox="1"/>
          <p:nvPr>
            <p:ph idx="1" type="body"/>
          </p:nvPr>
        </p:nvSpPr>
        <p:spPr>
          <a:xfrm>
            <a:off x="324000" y="683100"/>
            <a:ext cx="8237700" cy="3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Write each equation in the form</a:t>
            </a:r>
            <a:r>
              <a:rPr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c.</a:t>
            </a:r>
            <a:r>
              <a:rPr lang="en-GB"/>
              <a:t> </a:t>
            </a:r>
            <a:r>
              <a:rPr lang="en-GB" sz="1800"/>
              <a:t>You do not need to solve the equation.</a:t>
            </a:r>
            <a:endParaRPr sz="1800"/>
          </a:p>
        </p:txBody>
      </p:sp>
      <p:cxnSp>
        <p:nvCxnSpPr>
          <p:cNvPr id="1682" name="Google Shape;1682;p95"/>
          <p:cNvCxnSpPr/>
          <p:nvPr/>
        </p:nvCxnSpPr>
        <p:spPr>
          <a:xfrm>
            <a:off x="4572000" y="1210225"/>
            <a:ext cx="0" cy="3600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95"/>
          <p:cNvSpPr/>
          <p:nvPr/>
        </p:nvSpPr>
        <p:spPr>
          <a:xfrm>
            <a:off x="324000" y="13986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5"/>
          <p:cNvSpPr/>
          <p:nvPr/>
        </p:nvSpPr>
        <p:spPr>
          <a:xfrm>
            <a:off x="324000" y="2578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5"/>
          <p:cNvSpPr/>
          <p:nvPr/>
        </p:nvSpPr>
        <p:spPr>
          <a:xfrm>
            <a:off x="4676550" y="13986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95"/>
          <p:cNvSpPr/>
          <p:nvPr/>
        </p:nvSpPr>
        <p:spPr>
          <a:xfrm>
            <a:off x="4676550" y="2578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95"/>
          <p:cNvSpPr/>
          <p:nvPr/>
        </p:nvSpPr>
        <p:spPr>
          <a:xfrm>
            <a:off x="324000" y="3645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8" name="Google Shape;1688;p95"/>
          <p:cNvGraphicFramePr/>
          <p:nvPr/>
        </p:nvGraphicFramePr>
        <p:xfrm>
          <a:off x="745625" y="37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10 −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+ 7 − 4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9" name="Google Shape;1689;p95"/>
          <p:cNvSpPr/>
          <p:nvPr/>
        </p:nvSpPr>
        <p:spPr>
          <a:xfrm>
            <a:off x="4676550" y="3666611"/>
            <a:ext cx="460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0" name="Google Shape;1690;p95"/>
          <p:cNvGraphicFramePr/>
          <p:nvPr/>
        </p:nvGraphicFramePr>
        <p:xfrm>
          <a:off x="5313350" y="37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6(4 − 2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− (4 − 2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1" name="Google Shape;1691;p95"/>
          <p:cNvGraphicFramePr/>
          <p:nvPr/>
        </p:nvGraphicFramePr>
        <p:xfrm>
          <a:off x="745625" y="1379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+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2" name="Google Shape;1692;p95"/>
          <p:cNvGraphicFramePr/>
          <p:nvPr/>
        </p:nvGraphicFramePr>
        <p:xfrm>
          <a:off x="745625" y="25988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− 8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3" name="Google Shape;1693;p95"/>
          <p:cNvGraphicFramePr/>
          <p:nvPr/>
        </p:nvGraphicFramePr>
        <p:xfrm>
          <a:off x="5313350" y="1379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 + 5(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94" name="Google Shape;1694;p95"/>
          <p:cNvGraphicFramePr/>
          <p:nvPr/>
        </p:nvGraphicFramePr>
        <p:xfrm>
          <a:off x="5313350" y="25988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+ 5(3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96"/>
          <p:cNvSpPr txBox="1"/>
          <p:nvPr>
            <p:ph idx="1" type="body"/>
          </p:nvPr>
        </p:nvSpPr>
        <p:spPr>
          <a:xfrm>
            <a:off x="324000" y="694475"/>
            <a:ext cx="82377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Match the shapes below to one of these expressions for its perimeter.</a:t>
            </a:r>
            <a:endParaRPr sz="1800"/>
          </a:p>
        </p:txBody>
      </p:sp>
      <p:sp>
        <p:nvSpPr>
          <p:cNvPr id="1700" name="Google Shape;1700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linear 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cxnSp>
        <p:nvCxnSpPr>
          <p:cNvPr id="1701" name="Google Shape;1701;p96"/>
          <p:cNvCxnSpPr/>
          <p:nvPr/>
        </p:nvCxnSpPr>
        <p:spPr>
          <a:xfrm flipH="1">
            <a:off x="1425709" y="2384408"/>
            <a:ext cx="158400" cy="28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2" name="Google Shape;1702;p96"/>
          <p:cNvCxnSpPr/>
          <p:nvPr/>
        </p:nvCxnSpPr>
        <p:spPr>
          <a:xfrm>
            <a:off x="1584109" y="2384408"/>
            <a:ext cx="158700" cy="28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3" name="Google Shape;1703;p96"/>
          <p:cNvCxnSpPr/>
          <p:nvPr/>
        </p:nvCxnSpPr>
        <p:spPr>
          <a:xfrm flipH="1">
            <a:off x="1424059" y="2667945"/>
            <a:ext cx="1500" cy="16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96"/>
          <p:cNvCxnSpPr/>
          <p:nvPr/>
        </p:nvCxnSpPr>
        <p:spPr>
          <a:xfrm>
            <a:off x="1742659" y="2667945"/>
            <a:ext cx="300" cy="165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96"/>
          <p:cNvCxnSpPr/>
          <p:nvPr/>
        </p:nvCxnSpPr>
        <p:spPr>
          <a:xfrm>
            <a:off x="1424000" y="4324350"/>
            <a:ext cx="328500" cy="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6" name="Google Shape;1706;p96"/>
          <p:cNvSpPr txBox="1"/>
          <p:nvPr>
            <p:ph idx="1" type="body"/>
          </p:nvPr>
        </p:nvSpPr>
        <p:spPr>
          <a:xfrm>
            <a:off x="857400" y="1457275"/>
            <a:ext cx="22434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An equilateral triangle on top of a rectangle.</a:t>
            </a:r>
            <a:endParaRPr sz="1800"/>
          </a:p>
        </p:txBody>
      </p:sp>
      <p:sp>
        <p:nvSpPr>
          <p:cNvPr id="1707" name="Google Shape;1707;p96"/>
          <p:cNvSpPr txBox="1"/>
          <p:nvPr>
            <p:ph idx="1" type="body"/>
          </p:nvPr>
        </p:nvSpPr>
        <p:spPr>
          <a:xfrm>
            <a:off x="3294100" y="1481875"/>
            <a:ext cx="24339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A parallelogram on top of a rectangle. </a:t>
            </a:r>
            <a:endParaRPr sz="1800"/>
          </a:p>
        </p:txBody>
      </p:sp>
      <p:sp>
        <p:nvSpPr>
          <p:cNvPr id="1708" name="Google Shape;1708;p96"/>
          <p:cNvSpPr txBox="1"/>
          <p:nvPr>
            <p:ph idx="1" type="body"/>
          </p:nvPr>
        </p:nvSpPr>
        <p:spPr>
          <a:xfrm>
            <a:off x="5810325" y="1457275"/>
            <a:ext cx="25632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A regular hexagon on top of a rectangle. </a:t>
            </a:r>
            <a:endParaRPr sz="1800"/>
          </a:p>
        </p:txBody>
      </p:sp>
      <p:cxnSp>
        <p:nvCxnSpPr>
          <p:cNvPr id="1709" name="Google Shape;1709;p96"/>
          <p:cNvCxnSpPr/>
          <p:nvPr/>
        </p:nvCxnSpPr>
        <p:spPr>
          <a:xfrm flipH="1">
            <a:off x="4224300" y="2463413"/>
            <a:ext cx="109500" cy="4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96"/>
          <p:cNvCxnSpPr/>
          <p:nvPr/>
        </p:nvCxnSpPr>
        <p:spPr>
          <a:xfrm flipH="1">
            <a:off x="4581450" y="2463413"/>
            <a:ext cx="114300" cy="44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96"/>
          <p:cNvCxnSpPr/>
          <p:nvPr/>
        </p:nvCxnSpPr>
        <p:spPr>
          <a:xfrm>
            <a:off x="4324350" y="2463413"/>
            <a:ext cx="371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96"/>
          <p:cNvCxnSpPr/>
          <p:nvPr/>
        </p:nvCxnSpPr>
        <p:spPr>
          <a:xfrm>
            <a:off x="4224250" y="2901563"/>
            <a:ext cx="0" cy="14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96"/>
          <p:cNvCxnSpPr/>
          <p:nvPr/>
        </p:nvCxnSpPr>
        <p:spPr>
          <a:xfrm>
            <a:off x="4581450" y="2906325"/>
            <a:ext cx="0" cy="14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4" name="Google Shape;1714;p96"/>
          <p:cNvCxnSpPr/>
          <p:nvPr/>
        </p:nvCxnSpPr>
        <p:spPr>
          <a:xfrm>
            <a:off x="4226975" y="4377863"/>
            <a:ext cx="352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15" name="Google Shape;1715;p96"/>
          <p:cNvGrpSpPr/>
          <p:nvPr/>
        </p:nvGrpSpPr>
        <p:grpSpPr>
          <a:xfrm>
            <a:off x="7022952" y="2373975"/>
            <a:ext cx="640776" cy="1963211"/>
            <a:chOff x="6434150" y="2008163"/>
            <a:chExt cx="711340" cy="2184988"/>
          </a:xfrm>
        </p:grpSpPr>
        <p:cxnSp>
          <p:nvCxnSpPr>
            <p:cNvPr id="1716" name="Google Shape;1716;p96"/>
            <p:cNvCxnSpPr/>
            <p:nvPr/>
          </p:nvCxnSpPr>
          <p:spPr>
            <a:xfrm>
              <a:off x="6588211" y="2012925"/>
              <a:ext cx="403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7" name="Google Shape;1717;p96"/>
            <p:cNvCxnSpPr/>
            <p:nvPr/>
          </p:nvCxnSpPr>
          <p:spPr>
            <a:xfrm flipH="1">
              <a:off x="6434311" y="2008163"/>
              <a:ext cx="153900" cy="30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8" name="Google Shape;1718;p96"/>
            <p:cNvCxnSpPr/>
            <p:nvPr/>
          </p:nvCxnSpPr>
          <p:spPr>
            <a:xfrm>
              <a:off x="6434150" y="2311521"/>
              <a:ext cx="162000" cy="32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9" name="Google Shape;1719;p96"/>
            <p:cNvCxnSpPr/>
            <p:nvPr/>
          </p:nvCxnSpPr>
          <p:spPr>
            <a:xfrm>
              <a:off x="6991430" y="2008163"/>
              <a:ext cx="153900" cy="30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0" name="Google Shape;1720;p96"/>
            <p:cNvCxnSpPr/>
            <p:nvPr/>
          </p:nvCxnSpPr>
          <p:spPr>
            <a:xfrm flipH="1">
              <a:off x="6978990" y="2311521"/>
              <a:ext cx="166500" cy="32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1" name="Google Shape;1721;p96"/>
            <p:cNvCxnSpPr/>
            <p:nvPr/>
          </p:nvCxnSpPr>
          <p:spPr>
            <a:xfrm>
              <a:off x="6598063" y="2624150"/>
              <a:ext cx="0" cy="156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2" name="Google Shape;1722;p96"/>
            <p:cNvCxnSpPr/>
            <p:nvPr/>
          </p:nvCxnSpPr>
          <p:spPr>
            <a:xfrm>
              <a:off x="6982535" y="2629391"/>
              <a:ext cx="0" cy="1563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3" name="Google Shape;1723;p96"/>
            <p:cNvCxnSpPr/>
            <p:nvPr/>
          </p:nvCxnSpPr>
          <p:spPr>
            <a:xfrm>
              <a:off x="6586810" y="4192843"/>
              <a:ext cx="408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4" name="Google Shape;1724;p96"/>
          <p:cNvSpPr txBox="1"/>
          <p:nvPr>
            <p:ph idx="4294967295" type="body"/>
          </p:nvPr>
        </p:nvSpPr>
        <p:spPr>
          <a:xfrm>
            <a:off x="1241275" y="4495375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725" name="Google Shape;1725;p96"/>
          <p:cNvCxnSpPr/>
          <p:nvPr/>
        </p:nvCxnSpPr>
        <p:spPr>
          <a:xfrm>
            <a:off x="1418900" y="4445100"/>
            <a:ext cx="33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6" name="Google Shape;1726;p96"/>
          <p:cNvSpPr txBox="1"/>
          <p:nvPr>
            <p:ph idx="4294967295" type="body"/>
          </p:nvPr>
        </p:nvSpPr>
        <p:spPr>
          <a:xfrm rot="-5400000">
            <a:off x="533425" y="3329813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727" name="Google Shape;1727;p96"/>
          <p:cNvCxnSpPr/>
          <p:nvPr/>
        </p:nvCxnSpPr>
        <p:spPr>
          <a:xfrm>
            <a:off x="1327875" y="2676650"/>
            <a:ext cx="0" cy="163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8" name="Google Shape;1728;p96"/>
          <p:cNvCxnSpPr/>
          <p:nvPr/>
        </p:nvCxnSpPr>
        <p:spPr>
          <a:xfrm>
            <a:off x="4115488" y="2911025"/>
            <a:ext cx="0" cy="14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9" name="Google Shape;1729;p96"/>
          <p:cNvCxnSpPr/>
          <p:nvPr/>
        </p:nvCxnSpPr>
        <p:spPr>
          <a:xfrm>
            <a:off x="4213400" y="4489425"/>
            <a:ext cx="35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0" name="Google Shape;1730;p96"/>
          <p:cNvCxnSpPr/>
          <p:nvPr/>
        </p:nvCxnSpPr>
        <p:spPr>
          <a:xfrm flipH="1" rot="10800000">
            <a:off x="4155789" y="2426771"/>
            <a:ext cx="93600" cy="39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1" name="Google Shape;1731;p96"/>
          <p:cNvCxnSpPr/>
          <p:nvPr/>
        </p:nvCxnSpPr>
        <p:spPr>
          <a:xfrm>
            <a:off x="7147145" y="4430683"/>
            <a:ext cx="39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2" name="Google Shape;1732;p96"/>
          <p:cNvCxnSpPr/>
          <p:nvPr/>
        </p:nvCxnSpPr>
        <p:spPr>
          <a:xfrm>
            <a:off x="7074092" y="2949122"/>
            <a:ext cx="0" cy="139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3" name="Google Shape;1733;p96"/>
          <p:cNvSpPr txBox="1"/>
          <p:nvPr>
            <p:ph idx="4294967295" type="body"/>
          </p:nvPr>
        </p:nvSpPr>
        <p:spPr>
          <a:xfrm>
            <a:off x="4121388" y="4495375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34" name="Google Shape;1734;p96"/>
          <p:cNvSpPr txBox="1"/>
          <p:nvPr>
            <p:ph idx="4294967295" type="body"/>
          </p:nvPr>
        </p:nvSpPr>
        <p:spPr>
          <a:xfrm rot="-4575720">
            <a:off x="3716402" y="2318085"/>
            <a:ext cx="642995" cy="24855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35" name="Google Shape;1735;p96"/>
          <p:cNvSpPr txBox="1"/>
          <p:nvPr>
            <p:ph idx="4294967295" type="body"/>
          </p:nvPr>
        </p:nvSpPr>
        <p:spPr>
          <a:xfrm rot="-5400000">
            <a:off x="3276625" y="3482213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36" name="Google Shape;1736;p96"/>
          <p:cNvSpPr txBox="1"/>
          <p:nvPr>
            <p:ph idx="4294967295" type="body"/>
          </p:nvPr>
        </p:nvSpPr>
        <p:spPr>
          <a:xfrm>
            <a:off x="7022938" y="4495375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37" name="Google Shape;1737;p96"/>
          <p:cNvSpPr txBox="1"/>
          <p:nvPr>
            <p:ph idx="4294967295" type="body"/>
          </p:nvPr>
        </p:nvSpPr>
        <p:spPr>
          <a:xfrm rot="-5400000">
            <a:off x="6264600" y="3524363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38" name="Google Shape;1738;p96"/>
          <p:cNvSpPr/>
          <p:nvPr/>
        </p:nvSpPr>
        <p:spPr>
          <a:xfrm>
            <a:off x="3417538" y="1058688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6"/>
          <p:cNvSpPr/>
          <p:nvPr/>
        </p:nvSpPr>
        <p:spPr>
          <a:xfrm>
            <a:off x="2031488" y="1058688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6"/>
          <p:cNvSpPr/>
          <p:nvPr/>
        </p:nvSpPr>
        <p:spPr>
          <a:xfrm>
            <a:off x="645438" y="1058688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linear 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sp>
        <p:nvSpPr>
          <p:cNvPr id="1746" name="Google Shape;1746;p97"/>
          <p:cNvSpPr txBox="1"/>
          <p:nvPr>
            <p:ph idx="1" type="body"/>
          </p:nvPr>
        </p:nvSpPr>
        <p:spPr>
          <a:xfrm>
            <a:off x="324000" y="683100"/>
            <a:ext cx="8237700" cy="33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Write each equation in the form</a:t>
            </a:r>
            <a:r>
              <a:rPr lang="en-GB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c.</a:t>
            </a:r>
            <a:r>
              <a:rPr lang="en-GB"/>
              <a:t> </a:t>
            </a:r>
            <a:r>
              <a:rPr lang="en-GB" sz="1800"/>
              <a:t>You do not need to solve the equation.</a:t>
            </a:r>
            <a:endParaRPr sz="1800"/>
          </a:p>
        </p:txBody>
      </p:sp>
      <p:cxnSp>
        <p:nvCxnSpPr>
          <p:cNvPr id="1747" name="Google Shape;1747;p97"/>
          <p:cNvCxnSpPr/>
          <p:nvPr/>
        </p:nvCxnSpPr>
        <p:spPr>
          <a:xfrm>
            <a:off x="4572000" y="1210225"/>
            <a:ext cx="0" cy="3600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8" name="Google Shape;1748;p97"/>
          <p:cNvSpPr/>
          <p:nvPr/>
        </p:nvSpPr>
        <p:spPr>
          <a:xfrm>
            <a:off x="324000" y="13986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7"/>
          <p:cNvSpPr/>
          <p:nvPr/>
        </p:nvSpPr>
        <p:spPr>
          <a:xfrm>
            <a:off x="324000" y="2578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7"/>
          <p:cNvSpPr/>
          <p:nvPr/>
        </p:nvSpPr>
        <p:spPr>
          <a:xfrm>
            <a:off x="4676550" y="13986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7"/>
          <p:cNvSpPr/>
          <p:nvPr/>
        </p:nvSpPr>
        <p:spPr>
          <a:xfrm>
            <a:off x="4676550" y="25782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7"/>
          <p:cNvSpPr/>
          <p:nvPr/>
        </p:nvSpPr>
        <p:spPr>
          <a:xfrm>
            <a:off x="324000" y="3645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3" name="Google Shape;1753;p97"/>
          <p:cNvGraphicFramePr/>
          <p:nvPr/>
        </p:nvGraphicFramePr>
        <p:xfrm>
          <a:off x="745625" y="37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10 −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+ 7 − 4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(10 + 7)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+ 17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4" name="Google Shape;1754;p97"/>
          <p:cNvSpPr/>
          <p:nvPr/>
        </p:nvSpPr>
        <p:spPr>
          <a:xfrm>
            <a:off x="4676550" y="3666611"/>
            <a:ext cx="460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5" name="Google Shape;1755;p97"/>
          <p:cNvGraphicFramePr/>
          <p:nvPr/>
        </p:nvGraphicFramePr>
        <p:xfrm>
          <a:off x="5313350" y="37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6(4 − 2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− (4 − 2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5(4 − 2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−40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20 −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−40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6" name="Google Shape;1756;p97"/>
          <p:cNvGraphicFramePr/>
          <p:nvPr/>
        </p:nvGraphicFramePr>
        <p:xfrm>
          <a:off x="745625" y="1379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+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(7 + 1)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(3 + 1)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+ 4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7" name="Google Shape;1757;p97"/>
          <p:cNvGraphicFramePr/>
          <p:nvPr/>
        </p:nvGraphicFramePr>
        <p:xfrm>
          <a:off x="745625" y="25988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5 − 3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− 8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+ 5)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(5 − 8)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8" name="Google Shape;1758;p97"/>
          <p:cNvGraphicFramePr/>
          <p:nvPr/>
        </p:nvGraphicFramePr>
        <p:xfrm>
          <a:off x="5313350" y="1379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 + 5(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− 16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9" name="Google Shape;1759;p97"/>
          <p:cNvGraphicFramePr/>
          <p:nvPr/>
        </p:nvGraphicFramePr>
        <p:xfrm>
          <a:off x="5313350" y="25988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{9B936674-AA78-4200-A5E4-B6E43F885304}</a:tableStyleId>
              </a:tblPr>
              <a:tblGrid>
                <a:gridCol w="2181775"/>
                <a:gridCol w="229050"/>
                <a:gridCol w="517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+ 5(3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− 20 + 15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19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− 10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linear equations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ax + b = c</a:t>
            </a:r>
            <a:endParaRPr/>
          </a:p>
        </p:txBody>
      </p:sp>
      <p:cxnSp>
        <p:nvCxnSpPr>
          <p:cNvPr id="1765" name="Google Shape;1765;p98"/>
          <p:cNvCxnSpPr/>
          <p:nvPr/>
        </p:nvCxnSpPr>
        <p:spPr>
          <a:xfrm flipH="1">
            <a:off x="1044709" y="2232008"/>
            <a:ext cx="158400" cy="28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98"/>
          <p:cNvCxnSpPr/>
          <p:nvPr/>
        </p:nvCxnSpPr>
        <p:spPr>
          <a:xfrm>
            <a:off x="1203109" y="2232008"/>
            <a:ext cx="158700" cy="28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7" name="Google Shape;1767;p98"/>
          <p:cNvCxnSpPr/>
          <p:nvPr/>
        </p:nvCxnSpPr>
        <p:spPr>
          <a:xfrm flipH="1">
            <a:off x="1043059" y="2515545"/>
            <a:ext cx="1500" cy="166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98"/>
          <p:cNvCxnSpPr/>
          <p:nvPr/>
        </p:nvCxnSpPr>
        <p:spPr>
          <a:xfrm>
            <a:off x="1361659" y="2515545"/>
            <a:ext cx="300" cy="165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98"/>
          <p:cNvCxnSpPr/>
          <p:nvPr/>
        </p:nvCxnSpPr>
        <p:spPr>
          <a:xfrm>
            <a:off x="1043000" y="4171950"/>
            <a:ext cx="328500" cy="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0" name="Google Shape;1770;p98"/>
          <p:cNvSpPr txBox="1"/>
          <p:nvPr>
            <p:ph idx="1" type="body"/>
          </p:nvPr>
        </p:nvSpPr>
        <p:spPr>
          <a:xfrm>
            <a:off x="324000" y="1457275"/>
            <a:ext cx="28026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An equilateral triangle on top of a rectangle</a:t>
            </a:r>
            <a:endParaRPr sz="1800"/>
          </a:p>
        </p:txBody>
      </p:sp>
      <p:sp>
        <p:nvSpPr>
          <p:cNvPr id="1771" name="Google Shape;1771;p98"/>
          <p:cNvSpPr txBox="1"/>
          <p:nvPr>
            <p:ph idx="1" type="body"/>
          </p:nvPr>
        </p:nvSpPr>
        <p:spPr>
          <a:xfrm>
            <a:off x="3290400" y="1457275"/>
            <a:ext cx="28026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A parallelogram on top of a rectangle </a:t>
            </a:r>
            <a:endParaRPr sz="1800"/>
          </a:p>
        </p:txBody>
      </p:sp>
      <p:sp>
        <p:nvSpPr>
          <p:cNvPr id="1772" name="Google Shape;1772;p98"/>
          <p:cNvSpPr txBox="1"/>
          <p:nvPr>
            <p:ph idx="1" type="body"/>
          </p:nvPr>
        </p:nvSpPr>
        <p:spPr>
          <a:xfrm>
            <a:off x="6256800" y="1457275"/>
            <a:ext cx="25632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A regular hexagon on top of a rectangle </a:t>
            </a:r>
            <a:endParaRPr sz="1800"/>
          </a:p>
        </p:txBody>
      </p:sp>
      <p:cxnSp>
        <p:nvCxnSpPr>
          <p:cNvPr id="1773" name="Google Shape;1773;p98"/>
          <p:cNvCxnSpPr/>
          <p:nvPr/>
        </p:nvCxnSpPr>
        <p:spPr>
          <a:xfrm flipH="1">
            <a:off x="3843300" y="2311013"/>
            <a:ext cx="109500" cy="438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98"/>
          <p:cNvCxnSpPr/>
          <p:nvPr/>
        </p:nvCxnSpPr>
        <p:spPr>
          <a:xfrm flipH="1">
            <a:off x="4200450" y="2311013"/>
            <a:ext cx="114300" cy="44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5" name="Google Shape;1775;p98"/>
          <p:cNvCxnSpPr/>
          <p:nvPr/>
        </p:nvCxnSpPr>
        <p:spPr>
          <a:xfrm>
            <a:off x="3943350" y="2311013"/>
            <a:ext cx="371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98"/>
          <p:cNvCxnSpPr/>
          <p:nvPr/>
        </p:nvCxnSpPr>
        <p:spPr>
          <a:xfrm>
            <a:off x="3843250" y="2749163"/>
            <a:ext cx="0" cy="14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98"/>
          <p:cNvCxnSpPr/>
          <p:nvPr/>
        </p:nvCxnSpPr>
        <p:spPr>
          <a:xfrm>
            <a:off x="4200450" y="2753925"/>
            <a:ext cx="0" cy="14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8" name="Google Shape;1778;p98"/>
          <p:cNvCxnSpPr/>
          <p:nvPr/>
        </p:nvCxnSpPr>
        <p:spPr>
          <a:xfrm>
            <a:off x="3845975" y="4225463"/>
            <a:ext cx="352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9" name="Google Shape;1779;p98"/>
          <p:cNvGrpSpPr/>
          <p:nvPr/>
        </p:nvGrpSpPr>
        <p:grpSpPr>
          <a:xfrm>
            <a:off x="6641952" y="2221575"/>
            <a:ext cx="640776" cy="1963211"/>
            <a:chOff x="6434150" y="2008163"/>
            <a:chExt cx="711340" cy="2184988"/>
          </a:xfrm>
        </p:grpSpPr>
        <p:cxnSp>
          <p:nvCxnSpPr>
            <p:cNvPr id="1780" name="Google Shape;1780;p98"/>
            <p:cNvCxnSpPr/>
            <p:nvPr/>
          </p:nvCxnSpPr>
          <p:spPr>
            <a:xfrm>
              <a:off x="6588211" y="2012925"/>
              <a:ext cx="4035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98"/>
            <p:cNvCxnSpPr/>
            <p:nvPr/>
          </p:nvCxnSpPr>
          <p:spPr>
            <a:xfrm flipH="1">
              <a:off x="6434311" y="2008163"/>
              <a:ext cx="153900" cy="30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98"/>
            <p:cNvCxnSpPr/>
            <p:nvPr/>
          </p:nvCxnSpPr>
          <p:spPr>
            <a:xfrm>
              <a:off x="6434150" y="2311521"/>
              <a:ext cx="162000" cy="32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3" name="Google Shape;1783;p98"/>
            <p:cNvCxnSpPr/>
            <p:nvPr/>
          </p:nvCxnSpPr>
          <p:spPr>
            <a:xfrm>
              <a:off x="6991430" y="2008163"/>
              <a:ext cx="153900" cy="30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4" name="Google Shape;1784;p98"/>
            <p:cNvCxnSpPr/>
            <p:nvPr/>
          </p:nvCxnSpPr>
          <p:spPr>
            <a:xfrm flipH="1">
              <a:off x="6978990" y="2311521"/>
              <a:ext cx="166500" cy="32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5" name="Google Shape;1785;p98"/>
            <p:cNvCxnSpPr/>
            <p:nvPr/>
          </p:nvCxnSpPr>
          <p:spPr>
            <a:xfrm>
              <a:off x="6598063" y="2624150"/>
              <a:ext cx="0" cy="1569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6" name="Google Shape;1786;p98"/>
            <p:cNvCxnSpPr/>
            <p:nvPr/>
          </p:nvCxnSpPr>
          <p:spPr>
            <a:xfrm>
              <a:off x="6982535" y="2629391"/>
              <a:ext cx="0" cy="1563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7" name="Google Shape;1787;p98"/>
            <p:cNvCxnSpPr/>
            <p:nvPr/>
          </p:nvCxnSpPr>
          <p:spPr>
            <a:xfrm>
              <a:off x="6586810" y="4192843"/>
              <a:ext cx="408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88" name="Google Shape;1788;p98"/>
          <p:cNvSpPr txBox="1"/>
          <p:nvPr>
            <p:ph idx="4294967295" type="body"/>
          </p:nvPr>
        </p:nvSpPr>
        <p:spPr>
          <a:xfrm>
            <a:off x="860275" y="4342975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+ 5)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789" name="Google Shape;1789;p98"/>
          <p:cNvCxnSpPr/>
          <p:nvPr/>
        </p:nvCxnSpPr>
        <p:spPr>
          <a:xfrm>
            <a:off x="1037900" y="4292700"/>
            <a:ext cx="33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0" name="Google Shape;1790;p98"/>
          <p:cNvSpPr txBox="1"/>
          <p:nvPr>
            <p:ph idx="4294967295" type="body"/>
          </p:nvPr>
        </p:nvSpPr>
        <p:spPr>
          <a:xfrm rot="-5400000">
            <a:off x="152425" y="3177413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2) cm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791" name="Google Shape;1791;p98"/>
          <p:cNvCxnSpPr/>
          <p:nvPr/>
        </p:nvCxnSpPr>
        <p:spPr>
          <a:xfrm>
            <a:off x="946875" y="2524250"/>
            <a:ext cx="0" cy="163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2" name="Google Shape;1792;p98"/>
          <p:cNvCxnSpPr/>
          <p:nvPr/>
        </p:nvCxnSpPr>
        <p:spPr>
          <a:xfrm>
            <a:off x="3734488" y="2758625"/>
            <a:ext cx="0" cy="147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3" name="Google Shape;1793;p98"/>
          <p:cNvCxnSpPr/>
          <p:nvPr/>
        </p:nvCxnSpPr>
        <p:spPr>
          <a:xfrm>
            <a:off x="3832400" y="4337025"/>
            <a:ext cx="35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4" name="Google Shape;1794;p98"/>
          <p:cNvCxnSpPr/>
          <p:nvPr/>
        </p:nvCxnSpPr>
        <p:spPr>
          <a:xfrm flipH="1" rot="10800000">
            <a:off x="3774789" y="2274371"/>
            <a:ext cx="93600" cy="39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5" name="Google Shape;1795;p98"/>
          <p:cNvCxnSpPr/>
          <p:nvPr/>
        </p:nvCxnSpPr>
        <p:spPr>
          <a:xfrm>
            <a:off x="6766145" y="4278283"/>
            <a:ext cx="39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6" name="Google Shape;1796;p98"/>
          <p:cNvCxnSpPr/>
          <p:nvPr/>
        </p:nvCxnSpPr>
        <p:spPr>
          <a:xfrm>
            <a:off x="6693092" y="2796722"/>
            <a:ext cx="0" cy="139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7" name="Google Shape;1797;p98"/>
          <p:cNvSpPr txBox="1"/>
          <p:nvPr>
            <p:ph idx="4294967295" type="body"/>
          </p:nvPr>
        </p:nvSpPr>
        <p:spPr>
          <a:xfrm>
            <a:off x="3740388" y="4342975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2)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98" name="Google Shape;1798;p98"/>
          <p:cNvSpPr txBox="1"/>
          <p:nvPr>
            <p:ph idx="4294967295" type="body"/>
          </p:nvPr>
        </p:nvSpPr>
        <p:spPr>
          <a:xfrm rot="-4575720">
            <a:off x="3335402" y="2165685"/>
            <a:ext cx="642995" cy="24855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99" name="Google Shape;1799;p98"/>
          <p:cNvSpPr txBox="1"/>
          <p:nvPr>
            <p:ph idx="4294967295" type="body"/>
          </p:nvPr>
        </p:nvSpPr>
        <p:spPr>
          <a:xfrm rot="-5400000">
            <a:off x="2895625" y="3329813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(3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00" name="Google Shape;1800;p98"/>
          <p:cNvSpPr txBox="1"/>
          <p:nvPr>
            <p:ph idx="4294967295" type="body"/>
          </p:nvPr>
        </p:nvSpPr>
        <p:spPr>
          <a:xfrm>
            <a:off x="6641938" y="4342975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01" name="Google Shape;1801;p98"/>
          <p:cNvSpPr txBox="1"/>
          <p:nvPr>
            <p:ph idx="4294967295" type="body"/>
          </p:nvPr>
        </p:nvSpPr>
        <p:spPr>
          <a:xfrm rot="-5400000">
            <a:off x="5883600" y="3371963"/>
            <a:ext cx="1167000" cy="2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02" name="Google Shape;1802;p98"/>
          <p:cNvSpPr/>
          <p:nvPr/>
        </p:nvSpPr>
        <p:spPr>
          <a:xfrm>
            <a:off x="1421600" y="3199550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98"/>
          <p:cNvSpPr/>
          <p:nvPr/>
        </p:nvSpPr>
        <p:spPr>
          <a:xfrm>
            <a:off x="4339363" y="3199550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8"/>
          <p:cNvSpPr/>
          <p:nvPr/>
        </p:nvSpPr>
        <p:spPr>
          <a:xfrm>
            <a:off x="7195600" y="3157625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98"/>
          <p:cNvSpPr txBox="1"/>
          <p:nvPr>
            <p:ph idx="1" type="body"/>
          </p:nvPr>
        </p:nvSpPr>
        <p:spPr>
          <a:xfrm>
            <a:off x="324000" y="694475"/>
            <a:ext cx="8237700" cy="4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Match the shapes below to one of these expressions for its perimeter.</a:t>
            </a:r>
            <a:endParaRPr sz="1800"/>
          </a:p>
        </p:txBody>
      </p:sp>
      <p:sp>
        <p:nvSpPr>
          <p:cNvPr id="1806" name="Google Shape;1806;p98"/>
          <p:cNvSpPr/>
          <p:nvPr/>
        </p:nvSpPr>
        <p:spPr>
          <a:xfrm>
            <a:off x="3417538" y="1058688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8"/>
          <p:cNvSpPr/>
          <p:nvPr/>
        </p:nvSpPr>
        <p:spPr>
          <a:xfrm>
            <a:off x="2031488" y="1058688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8"/>
          <p:cNvSpPr/>
          <p:nvPr/>
        </p:nvSpPr>
        <p:spPr>
          <a:xfrm>
            <a:off x="645438" y="1058688"/>
            <a:ext cx="1267500" cy="28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99"/>
          <p:cNvSpPr txBox="1"/>
          <p:nvPr>
            <p:ph idx="1" type="body"/>
          </p:nvPr>
        </p:nvSpPr>
        <p:spPr>
          <a:xfrm>
            <a:off x="324000" y="928725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equation with both a multiplicative and additive step can be represented and solved using a bar model.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Any linear equation can be written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ax + b = c </a:t>
            </a:r>
            <a:r>
              <a:rPr lang="en-GB" sz="2000"/>
              <a:t>by collecting like terms.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Any linear equation in the form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2000"/>
              <a:t> can be solved.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9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20" name="Google Shape;1820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