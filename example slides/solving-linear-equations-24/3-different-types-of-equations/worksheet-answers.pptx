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9809E559-CC99-469F-B614-A59FFFDF2D2C}">
  <a:tblStyle styleId="{9809E559-CC99-469F-B614-A59FFFDF2D2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2" name="Shape 192"/>
        <p:cNvGrpSpPr/>
        <p:nvPr/>
      </p:nvGrpSpPr>
      <p:grpSpPr>
        <a:xfrm>
          <a:off x="0" y="0"/>
          <a:ext cx="0" cy="0"/>
        </a:xfrm>
      </p:grpSpPr>
      <p:sp>
        <p:nvSpPr>
          <p:cNvPr id="193" name="Google Shape;193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Relationship Id="rId8" Type="http://schemas.openxmlformats.org/officeDocument/2006/relationships/image" Target="../media/image12.png" /><Relationship Id="rId9" Type="http://schemas.openxmlformats.org/officeDocument/2006/relationships/image" Target="../media/image13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10" Type="http://schemas.openxmlformats.org/officeDocument/2006/relationships/image" Target="../media/image21.png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4.png" /><Relationship Id="rId4" Type="http://schemas.openxmlformats.org/officeDocument/2006/relationships/image" Target="../media/image15.png" /><Relationship Id="rId5" Type="http://schemas.openxmlformats.org/officeDocument/2006/relationships/image" Target="../media/image16.png" /><Relationship Id="rId6" Type="http://schemas.openxmlformats.org/officeDocument/2006/relationships/image" Target="../media/image17.png" /><Relationship Id="rId7" Type="http://schemas.openxmlformats.org/officeDocument/2006/relationships/image" Target="../media/image18.png" /><Relationship Id="rId8" Type="http://schemas.openxmlformats.org/officeDocument/2006/relationships/image" Target="../media/image19.png" /><Relationship Id="rId9" Type="http://schemas.openxmlformats.org/officeDocument/2006/relationships/image" Target="../media/image20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Different types of equations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472314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Reviewing plotting graphs</a:t>
            </a:r>
            <a:endParaRPr sz="17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9700" y="18761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Fill in the table of values, plot the points for the graphs of each expression.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5" name="Google Shape;175;p20"/>
          <p:cNvGraphicFramePr>
            <a:graphicFrameLocks noGrp="1"/>
          </p:cNvGraphicFramePr>
          <p:nvPr/>
        </p:nvGraphicFramePr>
        <p:xfrm>
          <a:off x="468000" y="2280025"/>
          <a:ext cx="6624000" cy="396210"/>
        </p:xfrm>
        <a:graphic>
          <a:graphicData uri="http://schemas.openxmlformats.org/drawingml/2006/table">
            <a:tbl>
              <a:tblPr>
                <a:noFill/>
                <a:tableStyleId>{9809E559-CC99-469F-B614-A59FFFDF2D2C}</a:tableStyleId>
              </a:tblPr>
              <a:tblGrid>
                <a:gridCol w="2208000"/>
                <a:gridCol w="2208000"/>
                <a:gridCol w="2208000"/>
              </a:tblGrid>
              <a:tr h="2370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a)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a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− 5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b) 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a</a:t>
                      </a:r>
                      <a:r>
                        <a:rPr lang="en-GB" i="1" baseline="30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− 5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c)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− 3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a</a:t>
                      </a:r>
                      <a:endParaRPr i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76" name="Google Shape;176;p20"/>
          <p:cNvGraphicFramePr>
            <a:graphicFrameLocks noGrp="1"/>
          </p:cNvGraphicFramePr>
          <p:nvPr/>
        </p:nvGraphicFramePr>
        <p:xfrm>
          <a:off x="467988" y="2742863"/>
          <a:ext cx="2138375" cy="613500"/>
        </p:xfrm>
        <a:graphic>
          <a:graphicData uri="http://schemas.openxmlformats.org/drawingml/2006/table">
            <a:tbl>
              <a:tblPr>
                <a:noFill/>
                <a:tableStyleId>{9809E559-CC99-469F-B614-A59FFFDF2D2C}</a:tableStyleId>
              </a:tblPr>
              <a:tblGrid>
                <a:gridCol w="557825"/>
                <a:gridCol w="263425"/>
                <a:gridCol w="263425"/>
                <a:gridCol w="263425"/>
                <a:gridCol w="263425"/>
                <a:gridCol w="263425"/>
                <a:gridCol w="263425"/>
              </a:tblGrid>
              <a:tr h="3067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"/>
                          <a:ea typeface="Times"/>
                          <a:cs typeface="Times"/>
                          <a:sym typeface="Times"/>
                        </a:rPr>
                        <a:t>a</a:t>
                      </a:r>
                      <a:endParaRPr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7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a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− 5</a:t>
                      </a:r>
                      <a:endParaRPr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−5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−1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Kalam"/>
                          <a:ea typeface="Kalam"/>
                          <a:cs typeface="Kalam"/>
                          <a:sym typeface="Kalam"/>
                        </a:rPr>
                        <a:t>11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77" name="Google Shape;177;p20"/>
          <p:cNvGraphicFramePr>
            <a:graphicFrameLocks noGrp="1"/>
          </p:cNvGraphicFramePr>
          <p:nvPr/>
        </p:nvGraphicFramePr>
        <p:xfrm>
          <a:off x="2710763" y="2742863"/>
          <a:ext cx="2138425" cy="733470"/>
        </p:xfrm>
        <a:graphic>
          <a:graphicData uri="http://schemas.openxmlformats.org/drawingml/2006/table">
            <a:tbl>
              <a:tblPr>
                <a:noFill/>
                <a:tableStyleId>{9809E559-CC99-469F-B614-A59FFFDF2D2C}</a:tableStyleId>
              </a:tblPr>
              <a:tblGrid>
                <a:gridCol w="476100"/>
                <a:gridCol w="237475"/>
                <a:gridCol w="237475"/>
                <a:gridCol w="237475"/>
                <a:gridCol w="237475"/>
                <a:gridCol w="237475"/>
                <a:gridCol w="237475"/>
                <a:gridCol w="237475"/>
              </a:tblGrid>
              <a:tr h="3067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"/>
                          <a:ea typeface="Times"/>
                          <a:cs typeface="Times"/>
                          <a:sym typeface="Times"/>
                        </a:rPr>
                        <a:t>a</a:t>
                      </a:r>
                      <a:endParaRPr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7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a</a:t>
                      </a:r>
                      <a:r>
                        <a:rPr lang="en-GB" i="1" baseline="30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− 5</a:t>
                      </a:r>
                      <a:endParaRPr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−4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−5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−4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−1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78" name="Google Shape;178;p20"/>
          <p:cNvGraphicFramePr>
            <a:graphicFrameLocks noGrp="1"/>
          </p:cNvGraphicFramePr>
          <p:nvPr/>
        </p:nvGraphicFramePr>
        <p:xfrm>
          <a:off x="4953588" y="2742863"/>
          <a:ext cx="2138475" cy="613500"/>
        </p:xfrm>
        <a:graphic>
          <a:graphicData uri="http://schemas.openxmlformats.org/drawingml/2006/table">
            <a:tbl>
              <a:tblPr>
                <a:noFill/>
                <a:tableStyleId>{9809E559-CC99-469F-B614-A59FFFDF2D2C}</a:tableStyleId>
              </a:tblPr>
              <a:tblGrid>
                <a:gridCol w="591525"/>
                <a:gridCol w="257825"/>
                <a:gridCol w="257825"/>
                <a:gridCol w="257825"/>
                <a:gridCol w="257825"/>
                <a:gridCol w="257825"/>
                <a:gridCol w="257825"/>
              </a:tblGrid>
              <a:tr h="3067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"/>
                          <a:ea typeface="Times"/>
                          <a:cs typeface="Times"/>
                          <a:sym typeface="Times"/>
                        </a:rPr>
                        <a:t>a</a:t>
                      </a:r>
                      <a:endParaRPr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7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− 3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a</a:t>
                      </a:r>
                      <a:endParaRPr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−1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−4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−7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79" name="Google Shape;17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3482338"/>
            <a:ext cx="1524085" cy="193975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80" name="Google Shape;18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10763" y="3482800"/>
            <a:ext cx="1636417" cy="1939751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81" name="Google Shape;181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53588" y="3558650"/>
            <a:ext cx="2012207" cy="1939749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graphicFrame>
        <p:nvGraphicFramePr>
          <p:cNvPr id="182" name="Google Shape;182;p20"/>
          <p:cNvGraphicFramePr>
            <a:graphicFrameLocks noGrp="1"/>
          </p:cNvGraphicFramePr>
          <p:nvPr/>
        </p:nvGraphicFramePr>
        <p:xfrm>
          <a:off x="468000" y="6005238"/>
          <a:ext cx="5664000" cy="365730"/>
        </p:xfrm>
        <a:graphic>
          <a:graphicData uri="http://schemas.openxmlformats.org/drawingml/2006/table">
            <a:tbl>
              <a:tblPr>
                <a:noFill/>
                <a:tableStyleId>{9809E559-CC99-469F-B614-A59FFFDF2D2C}</a:tableStyleId>
              </a:tblPr>
              <a:tblGrid>
                <a:gridCol w="2832000"/>
                <a:gridCol w="2832000"/>
              </a:tblGrid>
              <a:tr h="2370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83" name="Google Shape;183;p20" descr="&lt;math xmlns=&quot;http://www.w3.org/1998/Math/MathML&quot; display=&quot;block&quot; data-is-equatio=&quot;1&quot; data-latex=&quot;\frac{b}{5}&quot;&gt;&lt;mfrac&gt;&lt;mi&gt;b&lt;/mi&gt;&lt;mn&gt;5&lt;/mn&gt;&lt;/mfrac&gt;&lt;/math&gt;" title="b over 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8912" y="6034850"/>
            <a:ext cx="112396" cy="3662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0" descr="&lt;math xmlns=&quot;http://www.w3.org/1998/Math/MathML&quot; display=&quot;block&quot; data-is-equatio=&quot;1&quot; data-latex=&quot;\frac{24}{x}&quot;&gt;&lt;mfrac&gt;&lt;mn&gt;24&lt;/mn&gt;&lt;mi&gt;x&lt;/mi&gt;&lt;/mfrac&gt;&lt;/math&gt;" title="24 over x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78664" y="6006187"/>
            <a:ext cx="202623" cy="36622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5" name="Google Shape;185;p20"/>
          <p:cNvGraphicFramePr>
            <a:graphicFrameLocks noGrp="1"/>
          </p:cNvGraphicFramePr>
          <p:nvPr/>
        </p:nvGraphicFramePr>
        <p:xfrm>
          <a:off x="467988" y="6518850"/>
          <a:ext cx="2138375" cy="733470"/>
        </p:xfrm>
        <a:graphic>
          <a:graphicData uri="http://schemas.openxmlformats.org/drawingml/2006/table">
            <a:tbl>
              <a:tblPr>
                <a:noFill/>
                <a:tableStyleId>{9809E559-CC99-469F-B614-A59FFFDF2D2C}</a:tableStyleId>
              </a:tblPr>
              <a:tblGrid>
                <a:gridCol w="559800"/>
                <a:gridCol w="366675"/>
                <a:gridCol w="308200"/>
                <a:gridCol w="308200"/>
                <a:gridCol w="289425"/>
                <a:gridCol w="306075"/>
              </a:tblGrid>
              <a:tr h="3067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"/>
                          <a:ea typeface="Times"/>
                          <a:cs typeface="Times"/>
                          <a:sym typeface="Times"/>
                        </a:rPr>
                        <a:t>b</a:t>
                      </a:r>
                      <a:endParaRPr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−10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−5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7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−2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−1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86" name="Google Shape;186;p20"/>
          <p:cNvGraphicFramePr>
            <a:graphicFrameLocks noGrp="1"/>
          </p:cNvGraphicFramePr>
          <p:nvPr/>
        </p:nvGraphicFramePr>
        <p:xfrm>
          <a:off x="3424338" y="6490788"/>
          <a:ext cx="3669325" cy="733470"/>
        </p:xfrm>
        <a:graphic>
          <a:graphicData uri="http://schemas.openxmlformats.org/drawingml/2006/table">
            <a:tbl>
              <a:tblPr>
                <a:noFill/>
                <a:tableStyleId>{9809E559-CC99-469F-B614-A59FFFDF2D2C}</a:tableStyleId>
              </a:tblPr>
              <a:tblGrid>
                <a:gridCol w="668500"/>
                <a:gridCol w="333425"/>
                <a:gridCol w="333425"/>
                <a:gridCol w="333425"/>
                <a:gridCol w="333425"/>
                <a:gridCol w="333425"/>
                <a:gridCol w="333425"/>
                <a:gridCol w="333425"/>
                <a:gridCol w="333425"/>
                <a:gridCol w="333425"/>
              </a:tblGrid>
              <a:tr h="3067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"/>
                          <a:ea typeface="Times"/>
                          <a:cs typeface="Times"/>
                          <a:sym typeface="Times"/>
                        </a:rPr>
                        <a:t> x</a:t>
                      </a:r>
                      <a:endParaRPr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..8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..10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..12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7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i="1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i="1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>
                          <a:latin typeface="Kalam"/>
                          <a:ea typeface="Kalam"/>
                          <a:cs typeface="Kalam"/>
                          <a:sym typeface="Kalam"/>
                        </a:rPr>
                        <a:t>24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Kalam"/>
                          <a:ea typeface="Kalam"/>
                          <a:cs typeface="Kalam"/>
                          <a:sym typeface="Kalam"/>
                        </a:rPr>
                        <a:t>4.8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Kalam"/>
                          <a:ea typeface="Kalam"/>
                          <a:cs typeface="Kalam"/>
                          <a:sym typeface="Kalam"/>
                        </a:rPr>
                        <a:t>2.4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87" name="Google Shape;187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7988" y="7370072"/>
            <a:ext cx="2012225" cy="148783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88" name="Google Shape;188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424338" y="7344064"/>
            <a:ext cx="1646106" cy="1487825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89" name="Google Shape;189;p20" descr="&lt;math xmlns=&quot;http://www.w3.org/1998/Math/MathML&quot; display=&quot;block&quot; data-is-equatio=&quot;1&quot; data-latex=&quot;\frac{b}{5}&quot;&gt;&lt;mfrac&gt;&lt;mi&gt;b&lt;/mi&gt;&lt;mn&gt;5&lt;/mn&gt;&lt;/mfrac&gt;&lt;/math&gt;" title="b over 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7013" y="6867025"/>
            <a:ext cx="112396" cy="3662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0" descr="&lt;math xmlns=&quot;http://www.w3.org/1998/Math/MathML&quot; display=&quot;block&quot; data-is-equatio=&quot;1&quot; data-latex=&quot;\frac{24}{x}&quot;&gt;&lt;mfrac&gt;&lt;mn&gt;24&lt;/mn&gt;&lt;mi&gt;x&lt;/mi&gt;&lt;/mfrac&gt;&lt;/math&gt;" title="24 over x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78664" y="6825337"/>
            <a:ext cx="202623" cy="36622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20"/>
          <p:cNvCxnSpPr/>
          <p:nvPr/>
        </p:nvCxnSpPr>
        <p:spPr>
          <a:xfrm>
            <a:off x="474732" y="94652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5" name="Shape 195"/>
        <p:cNvGrpSpPr/>
        <p:nvPr/>
      </p:nvGrpSpPr>
      <p:grpSpPr>
        <a:xfrm>
          <a:off x="0" y="0"/>
          <a:ext cx="0" cy="0"/>
        </a:xfrm>
      </p:grpSpPr>
      <p:sp>
        <p:nvSpPr>
          <p:cNvPr id="196" name="Google Shape;196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97" name="Google Shape;197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Different types of equations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468000" y="864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Identifying linear equations from graphs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501773" y="6170760"/>
            <a:ext cx="1816500" cy="1278300"/>
          </a:xfrm>
          <a:prstGeom prst="roundRect">
            <a:avLst>
              <a:gd name="adj" fmla="val 8804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468000" y="2068600"/>
            <a:ext cx="1818300" cy="1278300"/>
          </a:xfrm>
          <a:prstGeom prst="roundRect">
            <a:avLst>
              <a:gd name="adj" fmla="val 8804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3" name="Google Shape;203;p21" descr="&lt;math xmlns=&quot;http://www.w3.org/1998/Math/MathML&quot; display=&quot;block&quot; data-is-equatio=&quot;1&quot; data-latex=&quot;y=x^3-x^2&quot;&gt;&lt;mi&gt;y&lt;/mi&gt;&lt;mo&gt;=&lt;/mo&gt;&lt;msup&gt;&lt;mi&gt;x&lt;/mi&gt;&lt;mn&gt;3&lt;/mn&gt;&lt;/msup&gt;&lt;mo&gt;−&lt;/mo&gt;&lt;msup&gt;&lt;mi&gt;x&lt;/mi&gt;&lt;mn&gt;2&lt;/mn&gt;&lt;/msup&gt;&lt;/math&gt;" title="y equals x cubed minus x squa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2187" y="2251442"/>
            <a:ext cx="976464" cy="22558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473173" y="2068607"/>
            <a:ext cx="216600" cy="2400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A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506132" y="6170767"/>
            <a:ext cx="216600" cy="2400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C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6" name="Google Shape;206;p21"/>
          <p:cNvGraphicFramePr>
            <a:graphicFrameLocks noGrp="1"/>
          </p:cNvGraphicFramePr>
          <p:nvPr/>
        </p:nvGraphicFramePr>
        <p:xfrm>
          <a:off x="597925" y="26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{9809E559-CC99-469F-B614-A59FFFDF2D2C}</a:tableStyleId>
              </a:tblPr>
              <a:tblGrid>
                <a:gridCol w="220225"/>
                <a:gridCol w="338275"/>
                <a:gridCol w="338275"/>
                <a:gridCol w="338275"/>
                <a:gridCol w="338275"/>
              </a:tblGrid>
              <a:tr h="263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63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>
                          <a:latin typeface="Kalam"/>
                          <a:ea typeface="Kalam"/>
                          <a:cs typeface="Kalam"/>
                          <a:sym typeface="Kalam"/>
                        </a:rPr>
                        <a:t>−12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latin typeface="Kalam"/>
                          <a:ea typeface="Kalam"/>
                          <a:cs typeface="Kalam"/>
                          <a:sym typeface="Kalam"/>
                        </a:rPr>
                        <a:t>−2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07" name="Google Shape;207;p21"/>
          <p:cNvGraphicFramePr>
            <a:graphicFrameLocks noGrp="1"/>
          </p:cNvGraphicFramePr>
          <p:nvPr/>
        </p:nvGraphicFramePr>
        <p:xfrm>
          <a:off x="597925" y="6751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{9809E559-CC99-469F-B614-A59FFFDF2D2C}</a:tableStyleId>
              </a:tblPr>
              <a:tblGrid>
                <a:gridCol w="200000"/>
                <a:gridCol w="336500"/>
                <a:gridCol w="395325"/>
                <a:gridCol w="352000"/>
                <a:gridCol w="289525"/>
              </a:tblGrid>
              <a:tr h="263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63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>
                          <a:latin typeface="Kalam"/>
                          <a:ea typeface="Kalam"/>
                          <a:cs typeface="Kalam"/>
                          <a:sym typeface="Kalam"/>
                        </a:rPr>
                        <a:t>−2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latin typeface="Kalam"/>
                          <a:ea typeface="Kalam"/>
                          <a:cs typeface="Kalam"/>
                          <a:sym typeface="Kalam"/>
                        </a:rPr>
                        <a:t>−2.5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Kalam"/>
                          <a:ea typeface="Kalam"/>
                          <a:cs typeface="Kalam"/>
                          <a:sym typeface="Kalam"/>
                        </a:rPr>
                        <a:t>2.5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208" name="Google Shape;208;p21" descr="&lt;math xmlns=&quot;http://www.w3.org/1998/Math/MathML&quot; display=&quot;block&quot; data-is-equatio=&quot;1&quot; data-latex=&quot;y=\frac{2}{x}+\frac{x}{2}&quot;&gt;&lt;mi&gt;y&lt;/mi&gt;&lt;mo&gt;=&lt;/mo&gt;&lt;mfrac&gt;&lt;mn&gt;2&lt;/mn&gt;&lt;mi&gt;x&lt;/mi&gt;&lt;/mfrac&gt;&lt;mo&gt;+&lt;/mo&gt;&lt;mfrac&gt;&lt;mi&gt;x&lt;/mi&gt;&lt;mn&gt;2&lt;/mn&gt;&lt;/mfrac&gt;&lt;/math&gt;" title="y equals 2 over x plus x over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7946" y="6313472"/>
            <a:ext cx="864978" cy="393779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/>
          <p:nvPr/>
        </p:nvSpPr>
        <p:spPr>
          <a:xfrm>
            <a:off x="468797" y="4091742"/>
            <a:ext cx="1816500" cy="1277100"/>
          </a:xfrm>
          <a:prstGeom prst="roundRect">
            <a:avLst>
              <a:gd name="adj" fmla="val 8804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470707" y="8201420"/>
            <a:ext cx="1812600" cy="1277100"/>
          </a:xfrm>
          <a:prstGeom prst="roundRect">
            <a:avLst>
              <a:gd name="adj" fmla="val 8804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1" name="Google Shape;211;p21" descr="&lt;math xmlns=&quot;http://www.w3.org/1998/Math/MathML&quot; display=&quot;block&quot; data-is-equatio=&quot;1&quot; data-latex=&quot;2x+y=6+3\left(x-2\right)&quot;&gt;&lt;mn&gt;2&lt;/mn&gt;&lt;mi&gt;x&lt;/mi&gt;&lt;mo&gt;+&lt;/mo&gt;&lt;mi&gt;y&lt;/mi&gt;&lt;mo&gt;=&lt;/mo&gt;&lt;mn&gt;6&lt;/mn&gt;&lt;mo&gt;+&lt;/mo&gt;&lt;mn&gt;3&lt;/mn&gt;&lt;mrow data-mjx-texclass=&quot;INNER&quot;&gt;&lt;mo data-mjx-texclass=&quot;OPEN&quot;&gt;(&lt;/mo&gt;&lt;mi&gt;x&lt;/mi&gt;&lt;mo&gt;−&lt;/mo&gt;&lt;mn&gt;2&lt;/mn&gt;&lt;mo data-mjx-texclass=&quot;CLOSE&quot;&gt;)&lt;/mo&gt;&lt;/mrow&gt;&lt;/math&gt;" title="2 x plus y equals 6 plus 3 times open paren x minus 2 close paren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1363" y="8516494"/>
            <a:ext cx="1699199" cy="1653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1" descr="&lt;math xmlns=&quot;http://www.w3.org/1998/Math/MathML&quot; display=&quot;block&quot; data-is-equatio=&quot;1&quot; data-latex=&quot;3-2x=y&quot;&gt;&lt;mn&gt;3&lt;/mn&gt;&lt;mo&gt;−&lt;/mo&gt;&lt;mn&gt;2&lt;/mn&gt;&lt;mi&gt;x&lt;/mi&gt;&lt;mo&gt;=&lt;/mo&gt;&lt;mi&gt;y&lt;/mi&gt;&lt;/math&gt;" title="3 minus 2 x equals y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77539" y="4296990"/>
            <a:ext cx="845756" cy="16912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/>
          <p:nvPr/>
        </p:nvSpPr>
        <p:spPr>
          <a:xfrm>
            <a:off x="484453" y="4091749"/>
            <a:ext cx="212700" cy="2346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B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473198" y="8201427"/>
            <a:ext cx="212700" cy="2346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D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15" name="Google Shape;215;p21"/>
          <p:cNvGraphicFramePr>
            <a:graphicFrameLocks noGrp="1"/>
          </p:cNvGraphicFramePr>
          <p:nvPr/>
        </p:nvGraphicFramePr>
        <p:xfrm>
          <a:off x="597925" y="4657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{9809E559-CC99-469F-B614-A59FFFDF2D2C}</a:tableStyleId>
              </a:tblPr>
              <a:tblGrid>
                <a:gridCol w="207800"/>
                <a:gridCol w="341375"/>
                <a:gridCol w="341375"/>
                <a:gridCol w="341375"/>
                <a:gridCol w="341375"/>
              </a:tblGrid>
              <a:tr h="263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63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Kalam"/>
                          <a:ea typeface="Kalam"/>
                          <a:cs typeface="Kalam"/>
                          <a:sym typeface="Kalam"/>
                        </a:rPr>
                        <a:t>−1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16" name="Google Shape;216;p21"/>
          <p:cNvGraphicFramePr>
            <a:graphicFrameLocks noGrp="1"/>
          </p:cNvGraphicFramePr>
          <p:nvPr/>
        </p:nvGraphicFramePr>
        <p:xfrm>
          <a:off x="597925" y="879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{9809E559-CC99-469F-B614-A59FFFDF2D2C}</a:tableStyleId>
              </a:tblPr>
              <a:tblGrid>
                <a:gridCol w="200000"/>
                <a:gridCol w="340125"/>
                <a:gridCol w="340125"/>
                <a:gridCol w="340125"/>
                <a:gridCol w="340125"/>
              </a:tblGrid>
              <a:tr h="263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6320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>
                          <a:latin typeface="Kalam"/>
                          <a:ea typeface="Kalam"/>
                          <a:cs typeface="Kalam"/>
                          <a:sym typeface="Kalam"/>
                        </a:rPr>
                        <a:t>−2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latin typeface="Kalam"/>
                          <a:ea typeface="Kalam"/>
                          <a:cs typeface="Kalam"/>
                          <a:sym typeface="Kalam"/>
                        </a:rPr>
                        <a:t>−1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217" name="Google Shape;217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07792" y="6019745"/>
            <a:ext cx="1425123" cy="1647115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18" name="Google Shape;218;p21"/>
          <p:cNvPicPr preferRelativeResize="0"/>
          <p:nvPr/>
        </p:nvPicPr>
        <p:blipFill>
          <a:blip r:embed="rId8">
            <a:alphaModFix/>
          </a:blip>
          <a:srcRect l="10895" r="11776"/>
          <a:stretch>
            <a:fillRect/>
          </a:stretch>
        </p:blipFill>
        <p:spPr>
          <a:xfrm>
            <a:off x="2857881" y="2005665"/>
            <a:ext cx="1402569" cy="1647116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19" name="Google Shape;219;p21"/>
          <p:cNvSpPr/>
          <p:nvPr/>
        </p:nvSpPr>
        <p:spPr>
          <a:xfrm>
            <a:off x="2857875" y="2006836"/>
            <a:ext cx="198900" cy="219900"/>
          </a:xfrm>
          <a:prstGeom prst="roundRect">
            <a:avLst>
              <a:gd name="adj" fmla="val 0"/>
            </a:avLst>
          </a:prstGeom>
          <a:solidFill>
            <a:srgbClr val="FFFFFF">
              <a:alpha val="70250"/>
            </a:srgb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F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2800793" y="6016000"/>
            <a:ext cx="198900" cy="219900"/>
          </a:xfrm>
          <a:prstGeom prst="roundRect">
            <a:avLst>
              <a:gd name="adj" fmla="val 0"/>
            </a:avLst>
          </a:prstGeom>
          <a:solidFill>
            <a:srgbClr val="FFFFFF">
              <a:alpha val="70250"/>
            </a:srgb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H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2920936" y="3313982"/>
            <a:ext cx="1276500" cy="276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Non-linear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2882108" y="7328057"/>
            <a:ext cx="1276500" cy="276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Non-linear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23" name="Google Shape;223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818211" y="7990813"/>
            <a:ext cx="1616839" cy="1614736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24" name="Google Shape;224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807803" y="3975290"/>
            <a:ext cx="1635715" cy="1614736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25" name="Google Shape;225;p21"/>
          <p:cNvSpPr/>
          <p:nvPr/>
        </p:nvSpPr>
        <p:spPr>
          <a:xfrm>
            <a:off x="2811055" y="7974190"/>
            <a:ext cx="195300" cy="215700"/>
          </a:xfrm>
          <a:prstGeom prst="roundRect">
            <a:avLst>
              <a:gd name="adj" fmla="val 0"/>
            </a:avLst>
          </a:prstGeom>
          <a:solidFill>
            <a:srgbClr val="FFFFFF">
              <a:alpha val="70250"/>
            </a:srgb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E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2808014" y="3958666"/>
            <a:ext cx="195300" cy="215700"/>
          </a:xfrm>
          <a:prstGeom prst="roundRect">
            <a:avLst>
              <a:gd name="adj" fmla="val 0"/>
            </a:avLst>
          </a:prstGeom>
          <a:solidFill>
            <a:srgbClr val="FFFFFF">
              <a:alpha val="70250"/>
            </a:srgb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G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3234243" y="5251307"/>
            <a:ext cx="777600" cy="2706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Linear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3170363" y="9273657"/>
            <a:ext cx="777600" cy="2706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Linear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29" name="Google Shape;229;p21"/>
          <p:cNvCxnSpPr/>
          <p:nvPr/>
        </p:nvCxnSpPr>
        <p:spPr>
          <a:xfrm>
            <a:off x="474757" y="9874863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0" name="Google Shape;230;p21"/>
          <p:cNvSpPr txBox="1"/>
          <p:nvPr/>
        </p:nvSpPr>
        <p:spPr>
          <a:xfrm>
            <a:off x="468000" y="1273539"/>
            <a:ext cx="6624000" cy="4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Fill in the missing values in the tables. Using these, match the equations to the graphs and state whether each equation is linear or not.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22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1">
      <vt:lpstr>Arial</vt:lpstr>
      <vt:lpstr>Lexend</vt:lpstr>
      <vt:lpstr>Kalam</vt:lpstr>
      <vt:lpstr>Lexend Medium</vt:lpstr>
      <vt:lpstr>Lexend Light</vt:lpstr>
      <vt:lpstr>Calibri</vt:lpstr>
      <vt:lpstr>Times</vt:lpstr>
      <vt:lpstr>Times New Roman</vt:lpstr>
      <vt:lpstr>simple-light-2</vt:lpstr>
      <vt:lpstr>Different types of equations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2024-02-06T09:53:59.483</cp:lastPrinted>
  <dcterms:created xsi:type="dcterms:W3CDTF">2024-02-06T09:53:59Z</dcterms:created>
  <dcterms:modified xsi:type="dcterms:W3CDTF">2024-02-06T09:54:09Z</dcterms:modified>
</cp:coreProperties>
</file>