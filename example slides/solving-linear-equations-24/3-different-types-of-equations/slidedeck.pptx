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120.xml"/>
  <Override ContentType="application/vnd.openxmlformats-officedocument.presentationml.slideLayout+xml" PartName="/ppt/slideLayouts/slideLayout9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98.xml"/>
  <Override ContentType="application/vnd.openxmlformats-officedocument.presentationml.slideLayout+xml" PartName="/ppt/slideLayouts/slideLayout110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2.xml"/>
  <Override ContentType="application/vnd.openxmlformats-officedocument.presentationml.slideLayout+xml" PartName="/ppt/slideLayouts/slideLayout119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78.xml"/>
  <Override ContentType="application/vnd.openxmlformats-officedocument.presentationml.slideLayout+xml" PartName="/ppt/slideLayouts/slideLayout65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122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04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117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1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84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67.xml"/>
  <Override ContentType="application/vnd.openxmlformats-officedocument.presentationml.slideLayout+xml" PartName="/ppt/slideLayouts/slideLayout92.xml"/>
  <Override ContentType="application/vnd.openxmlformats-officedocument.presentationml.slideLayout+xml" PartName="/ppt/slideLayouts/slideLayout116.xml"/>
  <Override ContentType="application/vnd.openxmlformats-officedocument.presentationml.slideLayout+xml" PartName="/ppt/slideLayouts/slideLayout83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9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106.xml"/>
  <Override ContentType="application/vnd.openxmlformats-officedocument.presentationml.slideLayout+xml" PartName="/ppt/slideLayouts/slideLayout77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73.xml"/>
  <Override ContentType="application/vnd.openxmlformats-officedocument.presentationml.slideLayout+xml" PartName="/ppt/slideLayouts/slideLayout86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81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69.xml"/>
  <Override ContentType="application/vnd.openxmlformats-officedocument.presentationml.slideLayout+xml" PartName="/ppt/slideLayouts/slideLayout94.xml"/>
  <Override ContentType="application/vnd.openxmlformats-officedocument.presentationml.slideLayout+xml" PartName="/ppt/slideLayouts/slideLayout114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8.xml"/>
  <Override ContentType="application/vnd.openxmlformats-officedocument.presentationml.slideLayout+xml" PartName="/ppt/slideLayouts/slideLayout112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75.xml"/>
  <Override ContentType="application/vnd.openxmlformats-officedocument.presentationml.slideLayout+xml" PartName="/ppt/slideLayouts/slideLayout10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Layout+xml" PartName="/ppt/slideLayouts/slideLayout97.xml"/>
  <Override ContentType="application/vnd.openxmlformats-officedocument.presentationml.slideLayout+xml" PartName="/ppt/slideLayouts/slideLayout111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03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89.xml"/>
  <Override ContentType="application/vnd.openxmlformats-officedocument.presentationml.slideLayout+xml" PartName="/ppt/slideLayouts/slideLayout70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95.xml"/>
  <Override ContentType="application/vnd.openxmlformats-officedocument.presentationml.slideLayout+xml" PartName="/ppt/slideLayouts/slideLayout101.xml"/>
  <Override ContentType="application/vnd.openxmlformats-officedocument.presentationml.slideLayout+xml" PartName="/ppt/slideLayouts/slideLayout64.xml"/>
  <Override ContentType="application/vnd.openxmlformats-officedocument.presentationml.slideLayout+xml" PartName="/ppt/slideLayouts/slideLayout99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05.xml"/>
  <Override ContentType="application/vnd.openxmlformats-officedocument.presentationml.slideLayout+xml" PartName="/ppt/slideLayouts/slideLayout118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85.xml"/>
  <Override ContentType="application/vnd.openxmlformats-officedocument.presentationml.slideLayout+xml" PartName="/ppt/slideLayouts/slideLayout72.xml"/>
  <Override ContentType="application/vnd.openxmlformats-officedocument.presentationml.slideLayout+xml" PartName="/ppt/slideLayouts/slideLayout7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6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12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76.xml"/>
  <Override ContentType="application/vnd.openxmlformats-officedocument.presentationml.slideLayout+xml" PartName="/ppt/slideLayouts/slideLayout107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74.xml"/>
  <Override ContentType="application/vnd.openxmlformats-officedocument.presentationml.slideLayout+xml" PartName="/ppt/slideLayouts/slideLayout109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91.xml"/>
  <Override ContentType="application/vnd.openxmlformats-officedocument.presentationml.slideLayout+xml" PartName="/ppt/slideLayouts/slideLayout68.xml"/>
  <Override ContentType="application/vnd.openxmlformats-officedocument.presentationml.slideLayout+xml" PartName="/ppt/slideLayouts/slideLayout115.xml"/>
  <Override ContentType="application/vnd.openxmlformats-officedocument.presentationml.slideLayout+xml" PartName="/ppt/slideLayouts/slideLayout82.xml"/>
  <Override ContentType="application/vnd.openxmlformats-officedocument.presentationml.slideLayout+xml" PartName="/ppt/slideLayouts/slideLayout100.xml"/>
  <Override ContentType="application/vnd.openxmlformats-officedocument.presentationml.slideLayout+xml" PartName="/ppt/slideLayouts/slideLayout113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8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8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63.xml"/>
  <Override ContentType="application/vnd.openxmlformats-officedocument.presentationml.slideLayout+xml" PartName="/ppt/slideLayouts/slideLayout93.xml"/>
  <Override ContentType="application/vnd.openxmlformats-officedocument.presentationml.slideLayout+xml" PartName="/ppt/slideLayouts/slideLayout27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770" r:id="rId4"/>
    <p:sldMasterId id="21474837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929B8A6-531E-44CB-B741-55F0E8B17D5D}">
  <a:tblStyle styleId="{C929B8A6-531E-44CB-B741-55F0E8B17D5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47" Type="http://schemas.openxmlformats.org/officeDocument/2006/relationships/slide" Target="slides/slide4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3" name="Shape 1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" name="Google Shape;1484;g279955a40ae_0_8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5" name="Google Shape;1485;g279955a40ae_0_8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9" name="Shape 1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0" name="Google Shape;1490;g279955a40ae_0_8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1" name="Google Shape;1491;g279955a40ae_0_8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4" name="Shape 1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" name="Google Shape;1495;g279955a40ae_0_8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6" name="Google Shape;1496;g279955a40ae_0_8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9" name="Shape 1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0" name="Google Shape;1500;g29e6786ca99_0_7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1" name="Google Shape;1501;g29e6786ca99_0_7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7" name="Shape 1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8" name="Google Shape;1508;g29e6786ca99_0_15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9" name="Google Shape;1509;g29e6786ca99_0_15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5" name="Shape 1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6" name="Google Shape;1516;g29e6786ca99_0_15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7" name="Google Shape;1517;g29e6786ca99_0_15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5" name="Shape 1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6" name="Google Shape;1526;g29e6786ca99_0_15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7" name="Google Shape;1527;g29e6786ca99_0_15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9" name="Shape 1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0" name="Google Shape;1540;g29e6786ca99_0_15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1" name="Google Shape;1541;g29e6786ca99_0_15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8" name="Shape 1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9" name="Google Shape;1559;g29e6786ca99_0_15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0" name="Google Shape;1560;g29e6786ca99_0_15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1" name="Shape 1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2" name="Google Shape;1582;g29e6786ca99_0_15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3" name="Google Shape;1583;g29e6786ca99_0_15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8" name="Shape 1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9" name="Google Shape;1589;g29e6786ca99_0_16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0" name="Google Shape;1590;g29e6786ca99_0_16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2" name="Shape 1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3" name="Google Shape;1623;g29e9f092e45_1_2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4" name="Google Shape;1624;g29e9f092e45_1_2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1" name="Shape 1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2" name="Google Shape;1642;g29e6786ca99_0_16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3" name="Google Shape;1643;g29e6786ca99_0_16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9" name="Shape 1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0" name="Google Shape;1650;g29e6786ca99_0_16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1" name="Google Shape;1651;g29e6786ca99_0_16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8" name="Shape 1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9" name="Google Shape;1679;g29e6786ca99_0_17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0" name="Google Shape;1680;g29e6786ca99_0_17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3" name="Shape 1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4" name="Google Shape;1694;g29e6786ca99_0_17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5" name="Google Shape;1695;g29e6786ca99_0_17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0" name="Shape 1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1" name="Google Shape;1721;g29e9f092e45_1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2" name="Google Shape;1722;g29e9f092e45_1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8" name="Shape 17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9" name="Google Shape;1759;g29e9f092e45_1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0" name="Google Shape;1760;g29e9f092e45_1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5" name="Shape 17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6" name="Google Shape;1776;g29e9f092e45_1_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7" name="Google Shape;1777;g29e9f092e45_1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4" name="Shape 17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5" name="Google Shape;1795;g29e9f092e45_1_1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6" name="Google Shape;1796;g29e9f092e45_1_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9" name="Shape 18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0" name="Google Shape;1810;g29e9f092e45_1_1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1" name="Google Shape;1811;g29e9f092e45_1_1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2" name="Shape 18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3" name="Google Shape;1823;g29e9f092e45_1_2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4" name="Google Shape;1824;g29e9f092e45_1_2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7" name="Shape 18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8" name="Google Shape;1838;g29e6786ca99_0_15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9" name="Google Shape;1839;g29e6786ca99_0_15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5" name="Shape 18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6" name="Google Shape;1846;g29e9f092e45_1_2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7" name="Google Shape;1847;g29e9f092e45_1_2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8" name="Shape 18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9" name="Google Shape;1859;g29e9f092e45_1_2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0" name="Google Shape;1860;g29e9f092e45_1_2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0" name="Shape 18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1" name="Google Shape;1891;g29e9f092e45_1_3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2" name="Google Shape;1892;g29e9f092e45_1_3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7" name="Shape 19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8" name="Google Shape;1958;g29e9f092e45_1_4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9" name="Google Shape;1959;g29e9f092e45_1_4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2" name="Shape 20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3" name="Google Shape;2023;g29e9f092e45_1_4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4" name="Google Shape;2024;g29e9f092e45_1_4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0" name="Shape 20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1" name="Google Shape;2081;g29e9f092e45_1_5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2" name="Google Shape;2082;g29e9f092e45_1_5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0" name="Shape 2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1" name="Google Shape;2121;g29e9f092e45_2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2" name="Google Shape;2122;g29e9f092e45_2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4" name="Shape 2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5" name="Google Shape;2135;g29e9f092e45_2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6" name="Google Shape;2136;g29e9f092e45_2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9" name="Shape 2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0" name="Google Shape;2160;g29e9f092e45_2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1" name="Google Shape;2161;g29e9f092e45_2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1" name="Shape 2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2" name="Google Shape;2182;g29e9f092e45_2_1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3" name="Google Shape;2183;g29e9f092e45_2_1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6" name="Shape 2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7" name="Google Shape;2207;g29e9f092e45_2_1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8" name="Google Shape;2208;g29e9f092e45_2_1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7" name="Shape 2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8" name="Google Shape;2218;g29e9f092e45_2_1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9" name="Google Shape;2219;g29e9f092e45_2_1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7" name="Shape 2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8" name="Google Shape;2228;g2a27dbc5c2b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9" name="Google Shape;2229;g2a27dbc5c2b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2" name="Shape 2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3" name="Google Shape;2243;g29e9f092e45_2_1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4" name="Google Shape;2244;g29e9f092e45_2_1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2" name="Shape 2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3" name="Google Shape;2273;g2a27dbc5c2b_0_1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4" name="Google Shape;2274;g2a27dbc5c2b_0_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2" name="Shape 2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3" name="Google Shape;2293;g2a27dbc5c2b_0_1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4" name="Google Shape;2294;g2a27dbc5c2b_0_1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2" name="Shape 2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3" name="Google Shape;2313;g279955a40ae_0_8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4" name="Google Shape;2314;g279955a40ae_0_8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8" name="Shape 2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9" name="Google Shape;2319;g279955a40ae_0_8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0" name="Google Shape;2320;g279955a40ae_0_8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9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image" Target="../media/image9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9.png"/><Relationship Id="rId4" Type="http://schemas.openxmlformats.org/officeDocument/2006/relationships/image" Target="../media/image4.png"/><Relationship Id="rId5" Type="http://schemas.openxmlformats.org/officeDocument/2006/relationships/image" Target="../media/image6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9.png"/><Relationship Id="rId4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.png"/><Relationship Id="rId4" Type="http://schemas.openxmlformats.org/officeDocument/2006/relationships/image" Target="../media/image10.png"/><Relationship Id="rId5" Type="http://schemas.openxmlformats.org/officeDocument/2006/relationships/image" Target="../media/image13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9.png"/><Relationship Id="rId4" Type="http://schemas.openxmlformats.org/officeDocument/2006/relationships/image" Target="../media/image9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9.png"/><Relationship Id="rId4" Type="http://schemas.openxmlformats.org/officeDocument/2006/relationships/image" Target="../media/image11.png"/><Relationship Id="rId5" Type="http://schemas.openxmlformats.org/officeDocument/2006/relationships/image" Target="../media/image18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7.png"/><Relationship Id="rId4" Type="http://schemas.openxmlformats.org/officeDocument/2006/relationships/image" Target="../media/image9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4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14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Relationship Id="rId6" Type="http://schemas.openxmlformats.org/officeDocument/2006/relationships/image" Target="../media/image16.png"/><Relationship Id="rId7" Type="http://schemas.openxmlformats.org/officeDocument/2006/relationships/image" Target="../media/image25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Relationship Id="rId3" Type="http://schemas.openxmlformats.org/officeDocument/2006/relationships/image" Target="../media/image22.png"/><Relationship Id="rId4" Type="http://schemas.openxmlformats.org/officeDocument/2006/relationships/image" Target="../media/image90.png"/><Relationship Id="rId5" Type="http://schemas.openxmlformats.org/officeDocument/2006/relationships/image" Target="../media/image26.png"/><Relationship Id="rId6" Type="http://schemas.openxmlformats.org/officeDocument/2006/relationships/image" Target="../media/image34.png"/><Relationship Id="rId7" Type="http://schemas.openxmlformats.org/officeDocument/2006/relationships/image" Target="../media/image23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8.png"/><Relationship Id="rId3" Type="http://schemas.openxmlformats.org/officeDocument/2006/relationships/image" Target="../media/image90.png"/><Relationship Id="rId4" Type="http://schemas.openxmlformats.org/officeDocument/2006/relationships/image" Target="../media/image15.png"/><Relationship Id="rId9" Type="http://schemas.openxmlformats.org/officeDocument/2006/relationships/image" Target="../media/image23.png"/><Relationship Id="rId5" Type="http://schemas.openxmlformats.org/officeDocument/2006/relationships/image" Target="../media/image22.png"/><Relationship Id="rId6" Type="http://schemas.openxmlformats.org/officeDocument/2006/relationships/image" Target="../media/image32.png"/><Relationship Id="rId7" Type="http://schemas.openxmlformats.org/officeDocument/2006/relationships/image" Target="../media/image26.png"/><Relationship Id="rId8" Type="http://schemas.openxmlformats.org/officeDocument/2006/relationships/image" Target="../media/image34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8.png"/><Relationship Id="rId3" Type="http://schemas.openxmlformats.org/officeDocument/2006/relationships/image" Target="../media/image90.png"/><Relationship Id="rId4" Type="http://schemas.openxmlformats.org/officeDocument/2006/relationships/image" Target="../media/image29.png"/><Relationship Id="rId11" Type="http://schemas.openxmlformats.org/officeDocument/2006/relationships/image" Target="../media/image23.png"/><Relationship Id="rId10" Type="http://schemas.openxmlformats.org/officeDocument/2006/relationships/image" Target="../media/image38.png"/><Relationship Id="rId9" Type="http://schemas.openxmlformats.org/officeDocument/2006/relationships/image" Target="../media/image34.png"/><Relationship Id="rId5" Type="http://schemas.openxmlformats.org/officeDocument/2006/relationships/image" Target="../media/image15.png"/><Relationship Id="rId6" Type="http://schemas.openxmlformats.org/officeDocument/2006/relationships/image" Target="../media/image22.png"/><Relationship Id="rId7" Type="http://schemas.openxmlformats.org/officeDocument/2006/relationships/image" Target="../media/image32.png"/><Relationship Id="rId8" Type="http://schemas.openxmlformats.org/officeDocument/2006/relationships/image" Target="../media/image26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35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35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35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35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35.png"/><Relationship Id="rId4" Type="http://schemas.openxmlformats.org/officeDocument/2006/relationships/image" Target="../media/image42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35.png"/><Relationship Id="rId4" Type="http://schemas.openxmlformats.org/officeDocument/2006/relationships/image" Target="../media/image42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35.png"/><Relationship Id="rId4" Type="http://schemas.openxmlformats.org/officeDocument/2006/relationships/image" Target="../media/image42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35.png"/><Relationship Id="rId4" Type="http://schemas.openxmlformats.org/officeDocument/2006/relationships/image" Target="../media/image42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4.png"/><Relationship Id="rId3" Type="http://schemas.openxmlformats.org/officeDocument/2006/relationships/image" Target="../media/image36.png"/><Relationship Id="rId4" Type="http://schemas.openxmlformats.org/officeDocument/2006/relationships/image" Target="../media/image42.png"/><Relationship Id="rId5" Type="http://schemas.openxmlformats.org/officeDocument/2006/relationships/image" Target="../media/image43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Relationship Id="rId5" Type="http://schemas.openxmlformats.org/officeDocument/2006/relationships/image" Target="../media/image44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Relationship Id="rId5" Type="http://schemas.openxmlformats.org/officeDocument/2006/relationships/image" Target="../media/image44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Relationship Id="rId5" Type="http://schemas.openxmlformats.org/officeDocument/2006/relationships/image" Target="../media/image44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2.pn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2.png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2.png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2.png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5.png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5.png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5.png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5.png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8.png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8.png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8.png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8.png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4.png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9.png"/><Relationship Id="rId4" Type="http://schemas.openxmlformats.org/officeDocument/2006/relationships/image" Target="../media/image3.png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.png"/></Relationships>
</file>

<file path=ppt/slideLayouts/_rels/slideLayout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image" Target="../media/image9.png"/></Relationships>
</file>

<file path=ppt/slideLayouts/_rels/slideLayout6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9.png"/><Relationship Id="rId4" Type="http://schemas.openxmlformats.org/officeDocument/2006/relationships/image" Target="../media/image4.png"/><Relationship Id="rId5" Type="http://schemas.openxmlformats.org/officeDocument/2006/relationships/image" Target="../media/image6.png"/></Relationships>
</file>

<file path=ppt/slideLayouts/_rels/slideLayout6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9.png"/><Relationship Id="rId4" Type="http://schemas.openxmlformats.org/officeDocument/2006/relationships/image" Target="../media/image1.png"/></Relationships>
</file>

<file path=ppt/slideLayouts/_rels/slideLayout6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9.png"/><Relationship Id="rId3" Type="http://schemas.openxmlformats.org/officeDocument/2006/relationships/image" Target="../media/image1.png"/><Relationship Id="rId4" Type="http://schemas.openxmlformats.org/officeDocument/2006/relationships/image" Target="../media/image10.png"/><Relationship Id="rId5" Type="http://schemas.openxmlformats.org/officeDocument/2006/relationships/image" Target="../media/image13.png"/></Relationships>
</file>

<file path=ppt/slideLayouts/_rels/slideLayout6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19.png"/><Relationship Id="rId4" Type="http://schemas.openxmlformats.org/officeDocument/2006/relationships/image" Target="../media/image9.png"/></Relationships>
</file>

<file path=ppt/slideLayouts/_rels/slideLayout6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9.png"/><Relationship Id="rId4" Type="http://schemas.openxmlformats.org/officeDocument/2006/relationships/image" Target="../media/image11.png"/><Relationship Id="rId5" Type="http://schemas.openxmlformats.org/officeDocument/2006/relationships/image" Target="../media/image18.png"/></Relationships>
</file>

<file path=ppt/slideLayouts/_rels/slideLayout6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17.png"/><Relationship Id="rId4" Type="http://schemas.openxmlformats.org/officeDocument/2006/relationships/image" Target="../media/image9.png"/></Relationships>
</file>

<file path=ppt/slideLayouts/_rels/slideLayout7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4.png"/></Relationships>
</file>

<file path=ppt/slideLayouts/_rels/slideLayout7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2.png"/><Relationship Id="rId3" Type="http://schemas.openxmlformats.org/officeDocument/2006/relationships/image" Target="../media/image14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Relationship Id="rId6" Type="http://schemas.openxmlformats.org/officeDocument/2006/relationships/image" Target="../media/image16.png"/><Relationship Id="rId7" Type="http://schemas.openxmlformats.org/officeDocument/2006/relationships/image" Target="../media/image25.png"/></Relationships>
</file>

<file path=ppt/slideLayouts/_rels/slideLayout7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3.png"/></Relationships>
</file>

<file path=ppt/slideLayouts/_rels/slideLayout7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3.png"/></Relationships>
</file>

<file path=ppt/slideLayouts/_rels/slideLayout7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3.png"/></Relationships>
</file>

<file path=ppt/slideLayouts/_rels/slideLayout7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3.png"/></Relationships>
</file>

<file path=ppt/slideLayouts/_rels/slideLayout7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3.png"/></Relationships>
</file>

<file path=ppt/slideLayouts/_rels/slideLayout7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3.png"/></Relationships>
</file>

<file path=ppt/slideLayouts/_rels/slideLayout7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5.png"/><Relationship Id="rId3" Type="http://schemas.openxmlformats.org/officeDocument/2006/relationships/image" Target="../media/image22.png"/><Relationship Id="rId4" Type="http://schemas.openxmlformats.org/officeDocument/2006/relationships/image" Target="../media/image90.png"/><Relationship Id="rId5" Type="http://schemas.openxmlformats.org/officeDocument/2006/relationships/image" Target="../media/image26.png"/><Relationship Id="rId6" Type="http://schemas.openxmlformats.org/officeDocument/2006/relationships/image" Target="../media/image34.png"/><Relationship Id="rId7" Type="http://schemas.openxmlformats.org/officeDocument/2006/relationships/image" Target="../media/image23.png"/></Relationships>
</file>

<file path=ppt/slideLayouts/_rels/slideLayout7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8.png"/><Relationship Id="rId3" Type="http://schemas.openxmlformats.org/officeDocument/2006/relationships/image" Target="../media/image90.png"/><Relationship Id="rId4" Type="http://schemas.openxmlformats.org/officeDocument/2006/relationships/image" Target="../media/image15.png"/><Relationship Id="rId9" Type="http://schemas.openxmlformats.org/officeDocument/2006/relationships/image" Target="../media/image23.png"/><Relationship Id="rId5" Type="http://schemas.openxmlformats.org/officeDocument/2006/relationships/image" Target="../media/image22.png"/><Relationship Id="rId6" Type="http://schemas.openxmlformats.org/officeDocument/2006/relationships/image" Target="../media/image32.png"/><Relationship Id="rId7" Type="http://schemas.openxmlformats.org/officeDocument/2006/relationships/image" Target="../media/image26.png"/><Relationship Id="rId8" Type="http://schemas.openxmlformats.org/officeDocument/2006/relationships/image" Target="../media/image34.png"/></Relationships>
</file>

<file path=ppt/slideLayouts/_rels/slideLayout8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8.png"/><Relationship Id="rId3" Type="http://schemas.openxmlformats.org/officeDocument/2006/relationships/image" Target="../media/image90.png"/><Relationship Id="rId4" Type="http://schemas.openxmlformats.org/officeDocument/2006/relationships/image" Target="../media/image29.png"/><Relationship Id="rId11" Type="http://schemas.openxmlformats.org/officeDocument/2006/relationships/image" Target="../media/image23.png"/><Relationship Id="rId10" Type="http://schemas.openxmlformats.org/officeDocument/2006/relationships/image" Target="../media/image38.png"/><Relationship Id="rId9" Type="http://schemas.openxmlformats.org/officeDocument/2006/relationships/image" Target="../media/image34.png"/><Relationship Id="rId5" Type="http://schemas.openxmlformats.org/officeDocument/2006/relationships/image" Target="../media/image15.png"/><Relationship Id="rId6" Type="http://schemas.openxmlformats.org/officeDocument/2006/relationships/image" Target="../media/image22.png"/><Relationship Id="rId7" Type="http://schemas.openxmlformats.org/officeDocument/2006/relationships/image" Target="../media/image32.png"/><Relationship Id="rId8" Type="http://schemas.openxmlformats.org/officeDocument/2006/relationships/image" Target="../media/image26.png"/></Relationships>
</file>

<file path=ppt/slideLayouts/_rels/slideLayout8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6.png"/><Relationship Id="rId3" Type="http://schemas.openxmlformats.org/officeDocument/2006/relationships/image" Target="../media/image35.png"/></Relationships>
</file>

<file path=ppt/slideLayouts/_rels/slideLayout8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7.png"/><Relationship Id="rId3" Type="http://schemas.openxmlformats.org/officeDocument/2006/relationships/image" Target="../media/image35.png"/></Relationships>
</file>

<file path=ppt/slideLayouts/_rels/slideLayout8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9.png"/><Relationship Id="rId3" Type="http://schemas.openxmlformats.org/officeDocument/2006/relationships/image" Target="../media/image35.png"/></Relationships>
</file>

<file path=ppt/slideLayouts/_rels/slideLayout8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0.png"/><Relationship Id="rId3" Type="http://schemas.openxmlformats.org/officeDocument/2006/relationships/image" Target="../media/image35.png"/></Relationships>
</file>

<file path=ppt/slideLayouts/_rels/slideLayout8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6.png"/><Relationship Id="rId3" Type="http://schemas.openxmlformats.org/officeDocument/2006/relationships/image" Target="../media/image35.png"/><Relationship Id="rId4" Type="http://schemas.openxmlformats.org/officeDocument/2006/relationships/image" Target="../media/image42.png"/></Relationships>
</file>

<file path=ppt/slideLayouts/_rels/slideLayout8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7.png"/><Relationship Id="rId3" Type="http://schemas.openxmlformats.org/officeDocument/2006/relationships/image" Target="../media/image35.png"/><Relationship Id="rId4" Type="http://schemas.openxmlformats.org/officeDocument/2006/relationships/image" Target="../media/image42.png"/></Relationships>
</file>

<file path=ppt/slideLayouts/_rels/slideLayout8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9.png"/><Relationship Id="rId3" Type="http://schemas.openxmlformats.org/officeDocument/2006/relationships/image" Target="../media/image35.png"/><Relationship Id="rId4" Type="http://schemas.openxmlformats.org/officeDocument/2006/relationships/image" Target="../media/image42.png"/></Relationships>
</file>

<file path=ppt/slideLayouts/_rels/slideLayout8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0.png"/><Relationship Id="rId3" Type="http://schemas.openxmlformats.org/officeDocument/2006/relationships/image" Target="../media/image35.png"/><Relationship Id="rId4" Type="http://schemas.openxmlformats.org/officeDocument/2006/relationships/image" Target="../media/image42.png"/></Relationships>
</file>

<file path=ppt/slideLayouts/_rels/slideLayout8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4.png"/><Relationship Id="rId3" Type="http://schemas.openxmlformats.org/officeDocument/2006/relationships/image" Target="../media/image36.png"/><Relationship Id="rId4" Type="http://schemas.openxmlformats.org/officeDocument/2006/relationships/image" Target="../media/image42.png"/><Relationship Id="rId5" Type="http://schemas.openxmlformats.org/officeDocument/2006/relationships/image" Target="../media/image43.png"/></Relationships>
</file>

<file path=ppt/slideLayouts/_rels/slideLayout9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7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Relationship Id="rId5" Type="http://schemas.openxmlformats.org/officeDocument/2006/relationships/image" Target="../media/image44.png"/></Relationships>
</file>

<file path=ppt/slideLayouts/_rels/slideLayout9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9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Relationship Id="rId5" Type="http://schemas.openxmlformats.org/officeDocument/2006/relationships/image" Target="../media/image44.png"/></Relationships>
</file>

<file path=ppt/slideLayouts/_rels/slideLayout9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0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Relationship Id="rId5" Type="http://schemas.openxmlformats.org/officeDocument/2006/relationships/image" Target="../media/image44.png"/></Relationships>
</file>

<file path=ppt/slideLayouts/_rels/slideLayout9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6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/Relationships>
</file>

<file path=ppt/slideLayouts/_rels/slideLayout9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7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/Relationships>
</file>

<file path=ppt/slideLayouts/_rels/slideLayout9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9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/Relationships>
</file>

<file path=ppt/slideLayouts/_rels/slideLayout9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0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/Relationships>
</file>

<file path=ppt/slideLayouts/_rels/slideLayout9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6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/Relationships>
</file>

<file path=ppt/slideLayouts/_rels/slideLayout9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7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/Relationships>
</file>

<file path=ppt/slideLayouts/_rels/slideLayout9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9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/Relationships>
</file>

<file path=ppt/slideLayouts/_rels/slideLayout10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0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/Relationships>
</file>

<file path=ppt/slideLayouts/_rels/slideLayout10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6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/Relationships>
</file>

<file path=ppt/slideLayouts/_rels/slideLayout10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7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/Relationships>
</file>

<file path=ppt/slideLayouts/_rels/slideLayout10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9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/Relationships>
</file>

<file path=ppt/slideLayouts/_rels/slideLayout10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0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/Relationships>
</file>

<file path=ppt/slideLayouts/_rels/slideLayout10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6.png"/><Relationship Id="rId3" Type="http://schemas.openxmlformats.org/officeDocument/2006/relationships/image" Target="../media/image42.png"/></Relationships>
</file>

<file path=ppt/slideLayouts/_rels/slideLayout10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7.png"/><Relationship Id="rId3" Type="http://schemas.openxmlformats.org/officeDocument/2006/relationships/image" Target="../media/image42.png"/></Relationships>
</file>

<file path=ppt/slideLayouts/_rels/slideLayout10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9.png"/><Relationship Id="rId3" Type="http://schemas.openxmlformats.org/officeDocument/2006/relationships/image" Target="../media/image42.png"/></Relationships>
</file>

<file path=ppt/slideLayouts/_rels/slideLayout10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0.png"/><Relationship Id="rId3" Type="http://schemas.openxmlformats.org/officeDocument/2006/relationships/image" Target="../media/image42.png"/></Relationships>
</file>

<file path=ppt/slideLayouts/_rels/slideLayout10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6.png"/><Relationship Id="rId3" Type="http://schemas.openxmlformats.org/officeDocument/2006/relationships/image" Target="../media/image45.png"/></Relationships>
</file>

<file path=ppt/slideLayouts/_rels/slideLayout1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7.png"/><Relationship Id="rId3" Type="http://schemas.openxmlformats.org/officeDocument/2006/relationships/image" Target="../media/image45.png"/></Relationships>
</file>

<file path=ppt/slideLayouts/_rels/slideLayout1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9.png"/><Relationship Id="rId3" Type="http://schemas.openxmlformats.org/officeDocument/2006/relationships/image" Target="../media/image45.png"/></Relationships>
</file>

<file path=ppt/slideLayouts/_rels/slideLayout1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0.png"/><Relationship Id="rId3" Type="http://schemas.openxmlformats.org/officeDocument/2006/relationships/image" Target="../media/image45.png"/></Relationships>
</file>

<file path=ppt/slideLayouts/_rels/slideLayout1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6.png"/><Relationship Id="rId3" Type="http://schemas.openxmlformats.org/officeDocument/2006/relationships/image" Target="../media/image48.png"/></Relationships>
</file>

<file path=ppt/slideLayouts/_rels/slideLayout1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7.png"/><Relationship Id="rId3" Type="http://schemas.openxmlformats.org/officeDocument/2006/relationships/image" Target="../media/image48.png"/></Relationships>
</file>

<file path=ppt/slideLayouts/_rels/slideLayout1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9.png"/><Relationship Id="rId3" Type="http://schemas.openxmlformats.org/officeDocument/2006/relationships/image" Target="../media/image48.png"/></Relationships>
</file>

<file path=ppt/slideLayouts/_rels/slideLayout1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0.png"/><Relationship Id="rId3" Type="http://schemas.openxmlformats.org/officeDocument/2006/relationships/image" Target="../media/image48.png"/></Relationships>
</file>

<file path=ppt/slideLayouts/_rels/slideLayout1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3.png"/></Relationships>
</file>

<file path=ppt/slideLayouts/_rels/slideLayout1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3.png"/></Relationships>
</file>

<file path=ppt/slideLayouts/_rels/slideLayout1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/Relationships>
</file>

<file path=ppt/slideLayouts/_rels/slideLayout1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4.png"/></Relationships>
</file>

<file path=ppt/slideLayouts/_rels/slideLayout1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English" showMasterSp="0">
  <p:cSld name="Title Slide 2_1">
    <p:bg>
      <p:bgPr>
        <a:solidFill>
          <a:srgbClr val="BEF2BD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English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890225" y="4327975"/>
            <a:ext cx="59862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4" name="Google Shape;1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67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aths" showMasterSp="0">
  <p:cSld name="Title Slide 2_1_1">
    <p:bg>
      <p:bgPr>
        <a:solidFill>
          <a:srgbClr val="BEF2BD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Maths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" name="Google Shape;21;p3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22" name="Google Shape;2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24" name="Google Shape;24;p3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707200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Geography" showMasterSp="0">
  <p:cSld name="Title Slide 2_1_1_1">
    <p:bg>
      <p:bgPr>
        <a:solidFill>
          <a:srgbClr val="BEF2BD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4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259825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Geography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" name="Google Shape;30;p4"/>
          <p:cNvSpPr txBox="1"/>
          <p:nvPr>
            <p:ph idx="1" type="subTitle"/>
          </p:nvPr>
        </p:nvSpPr>
        <p:spPr>
          <a:xfrm>
            <a:off x="890225" y="4327975"/>
            <a:ext cx="5997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1" name="Google Shape;31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4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History" showMasterSp="0">
  <p:cSld name="Title Slide 2_1_1_1_1">
    <p:bg>
      <p:bgPr>
        <a:solidFill>
          <a:srgbClr val="BEF2BD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5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History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" name="Google Shape;37;p5"/>
          <p:cNvSpPr txBox="1"/>
          <p:nvPr>
            <p:ph idx="1" type="subTitle"/>
          </p:nvPr>
        </p:nvSpPr>
        <p:spPr>
          <a:xfrm>
            <a:off x="890225" y="4327975"/>
            <a:ext cx="5804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8" name="Google Shape;3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5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40" name="Google Shape;40;p5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41" name="Google Shape;41;p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" name="Google Shape;42;p5"/>
            <p:cNvSpPr/>
            <p:nvPr/>
          </p:nvSpPr>
          <p:spPr>
            <a:xfrm>
              <a:off x="6860400" y="1205850"/>
              <a:ext cx="1959600" cy="13659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3" name="Google Shape;43;p5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78432">
              <a:off x="7001357" y="1317070"/>
              <a:ext cx="1677682" cy="114346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usic" showMasterSp="0">
  <p:cSld name="Title Slide 2_1_1_1_1_1">
    <p:bg>
      <p:bgPr>
        <a:solidFill>
          <a:srgbClr val="BEF2BD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Google Shape;45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Music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" name="Google Shape;48;p6"/>
          <p:cNvSpPr txBox="1"/>
          <p:nvPr>
            <p:ph idx="1" type="subTitle"/>
          </p:nvPr>
        </p:nvSpPr>
        <p:spPr>
          <a:xfrm>
            <a:off x="890225" y="4327975"/>
            <a:ext cx="57870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49" name="Google Shape;4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6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1" name="Google Shape;51;p6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661625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Science" showMasterSp="0">
  <p:cSld name="Title Slide 2_1_1_1_1_1_1">
    <p:bg>
      <p:bgPr>
        <a:solidFill>
          <a:srgbClr val="BEF2BD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4" name="Google Shape;54;p7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Science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" name="Google Shape;55;p7"/>
          <p:cNvSpPr txBox="1"/>
          <p:nvPr>
            <p:ph idx="1" type="subTitle"/>
          </p:nvPr>
        </p:nvSpPr>
        <p:spPr>
          <a:xfrm>
            <a:off x="890225" y="4327975"/>
            <a:ext cx="57927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8" name="Google Shape;58;p7"/>
          <p:cNvPicPr preferRelativeResize="0"/>
          <p:nvPr/>
        </p:nvPicPr>
        <p:blipFill rotWithShape="1">
          <a:blip r:embed="rId3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9" name="Google Shape;59;p7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60" name="Google Shape;60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" name="Google Shape;61;p7"/>
            <p:cNvSpPr/>
            <p:nvPr/>
          </p:nvSpPr>
          <p:spPr>
            <a:xfrm>
              <a:off x="6860400" y="869975"/>
              <a:ext cx="1959600" cy="20070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62" name="Google Shape;62;p7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11816">
              <a:off x="7083000" y="1110274"/>
              <a:ext cx="1514398" cy="15263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Biology" showMasterSp="0">
  <p:cSld name="Title Slide 2_1_1_1_1_1_1_1">
    <p:bg>
      <p:bgPr>
        <a:solidFill>
          <a:srgbClr val="BEF2BD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8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8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Biology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" name="Google Shape;68;p8"/>
          <p:cNvSpPr txBox="1"/>
          <p:nvPr>
            <p:ph idx="1" type="subTitle"/>
          </p:nvPr>
        </p:nvSpPr>
        <p:spPr>
          <a:xfrm>
            <a:off x="890225" y="4327975"/>
            <a:ext cx="5775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69" name="Google Shape;69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8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Physics" showMasterSp="0">
  <p:cSld name="Title Slide 2_1_1_1_1_1_1_1_1">
    <p:bg>
      <p:bgPr>
        <a:solidFill>
          <a:srgbClr val="BEF2BD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9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Physics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" name="Google Shape;75;p9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6" name="Google Shape;7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9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78" name="Google Shape;78;p9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79" name="Google Shape;79;p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" name="Google Shape;80;p9"/>
            <p:cNvSpPr/>
            <p:nvPr/>
          </p:nvSpPr>
          <p:spPr>
            <a:xfrm>
              <a:off x="6898050" y="839288"/>
              <a:ext cx="1959600" cy="23547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81" name="Google Shape;81;p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84492">
              <a:off x="7235674" y="1037850"/>
              <a:ext cx="1204851" cy="195757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hemistry" showMasterSp="0">
  <p:cSld name="Title Slide 2_1_1_1_1_1_1_1_1_1">
    <p:bg>
      <p:bgPr>
        <a:solidFill>
          <a:srgbClr val="BEF2BD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0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117400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6" name="Google Shape;86;p1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Chemistry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0"/>
          <p:cNvSpPr txBox="1"/>
          <p:nvPr>
            <p:ph idx="1" type="subTitle"/>
          </p:nvPr>
        </p:nvSpPr>
        <p:spPr>
          <a:xfrm>
            <a:off x="890225" y="4327975"/>
            <a:ext cx="5855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0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1 Outcome">
  <p:cSld name="CUSTOM_5">
    <p:bg>
      <p:bgPr>
        <a:solidFill>
          <a:srgbClr val="BEF2BD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3225" y="13883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1"/>
          <p:cNvSpPr txBox="1"/>
          <p:nvPr/>
        </p:nvSpPr>
        <p:spPr>
          <a:xfrm>
            <a:off x="325207" y="454765"/>
            <a:ext cx="4575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latin typeface="Lexend"/>
                <a:ea typeface="Lexend"/>
                <a:cs typeface="Lexend"/>
                <a:sym typeface="Lexend"/>
              </a:rPr>
              <a:t>Outcome</a:t>
            </a:r>
            <a:endParaRPr b="1" sz="2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1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2 Hidden guidance slide">
  <p:cSld name="CUSTOM_1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2"/>
          <p:cNvSpPr txBox="1"/>
          <p:nvPr/>
        </p:nvSpPr>
        <p:spPr>
          <a:xfrm>
            <a:off x="177375" y="724875"/>
            <a:ext cx="4241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Oak’s lessons are structured around 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learning cycles</a:t>
            </a:r>
            <a:r>
              <a:rPr i="1" lang="en-GB" sz="1200"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These are indicated through colour in the slide deck: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2"/>
          <p:cNvSpPr txBox="1"/>
          <p:nvPr/>
        </p:nvSpPr>
        <p:spPr>
          <a:xfrm>
            <a:off x="177375" y="248475"/>
            <a:ext cx="4241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Oak’s lesson structure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2"/>
          <p:cNvSpPr txBox="1"/>
          <p:nvPr/>
        </p:nvSpPr>
        <p:spPr>
          <a:xfrm>
            <a:off x="4825725" y="248475"/>
            <a:ext cx="4012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Useful links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" name="Google Shape;98;p12"/>
          <p:cNvSpPr txBox="1"/>
          <p:nvPr/>
        </p:nvSpPr>
        <p:spPr>
          <a:xfrm>
            <a:off x="177375" y="3053550"/>
            <a:ext cx="420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Each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 learning cycle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covers several phases: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" name="Google Shape;99;p12"/>
          <p:cNvSpPr txBox="1"/>
          <p:nvPr/>
        </p:nvSpPr>
        <p:spPr>
          <a:xfrm>
            <a:off x="4825725" y="724875"/>
            <a:ext cx="4012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Advice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on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                                     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to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bring the lesson to life in your classroom and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best fit the needs of your pupils.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0" name="Google Shape;100;p12"/>
          <p:cNvGrpSpPr/>
          <p:nvPr/>
        </p:nvGrpSpPr>
        <p:grpSpPr>
          <a:xfrm>
            <a:off x="2498516" y="1415817"/>
            <a:ext cx="1745270" cy="1430724"/>
            <a:chOff x="2642961" y="1644312"/>
            <a:chExt cx="1454634" cy="1195657"/>
          </a:xfrm>
        </p:grpSpPr>
        <p:pic>
          <p:nvPicPr>
            <p:cNvPr id="101" name="Google Shape;101;p12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2642975" y="1644312"/>
              <a:ext cx="1454621" cy="287396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2" name="Google Shape;102;p1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42975" y="1936215"/>
              <a:ext cx="1454618" cy="28794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3" name="Google Shape;103;p1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42965" y="2251391"/>
              <a:ext cx="1454621" cy="284581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4" name="Google Shape;104;p1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642961" y="2563206"/>
              <a:ext cx="1454620" cy="276764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</p:grpSp>
      <p:pic>
        <p:nvPicPr>
          <p:cNvPr id="105" name="Google Shape;105;p12"/>
          <p:cNvPicPr preferRelativeResize="0"/>
          <p:nvPr/>
        </p:nvPicPr>
        <p:blipFill rotWithShape="1">
          <a:blip r:embed="rId6">
            <a:alphaModFix/>
          </a:blip>
          <a:srcRect b="5222" l="3910" r="0" t="0"/>
          <a:stretch/>
        </p:blipFill>
        <p:spPr>
          <a:xfrm>
            <a:off x="1252313" y="3417350"/>
            <a:ext cx="2057336" cy="119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46350" y="1549488"/>
            <a:ext cx="2057324" cy="1163398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3)">
  <p:cSld name="CUSTOM_3_1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9" name="Google Shape;109;p13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3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3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2" name="Google Shape;112;p13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3" name="Google Shape;113;p13"/>
          <p:cNvSpPr txBox="1"/>
          <p:nvPr>
            <p:ph idx="3" type="subTitle"/>
          </p:nvPr>
        </p:nvSpPr>
        <p:spPr>
          <a:xfrm>
            <a:off x="324000" y="21054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4" name="Google Shape;114;p13"/>
          <p:cNvSpPr txBox="1"/>
          <p:nvPr>
            <p:ph idx="4" type="subTitle"/>
          </p:nvPr>
        </p:nvSpPr>
        <p:spPr>
          <a:xfrm>
            <a:off x="2699325" y="21054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5" name="Google Shape;115;p13"/>
          <p:cNvSpPr txBox="1"/>
          <p:nvPr>
            <p:ph idx="5" type="subTitle"/>
          </p:nvPr>
        </p:nvSpPr>
        <p:spPr>
          <a:xfrm>
            <a:off x="324000" y="3400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6" name="Google Shape;116;p13"/>
          <p:cNvSpPr txBox="1"/>
          <p:nvPr>
            <p:ph idx="6" type="subTitle"/>
          </p:nvPr>
        </p:nvSpPr>
        <p:spPr>
          <a:xfrm>
            <a:off x="2699325" y="3400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4)">
  <p:cSld name="CUSTOM_3_1_1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9" name="Google Shape;119;p14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4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4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2" name="Google Shape;122;p14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3" name="Google Shape;123;p14"/>
          <p:cNvSpPr txBox="1"/>
          <p:nvPr>
            <p:ph idx="3" type="subTitle"/>
          </p:nvPr>
        </p:nvSpPr>
        <p:spPr>
          <a:xfrm>
            <a:off x="324000" y="1800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4" name="Google Shape;124;p14"/>
          <p:cNvSpPr txBox="1"/>
          <p:nvPr>
            <p:ph idx="4" type="subTitle"/>
          </p:nvPr>
        </p:nvSpPr>
        <p:spPr>
          <a:xfrm>
            <a:off x="2699325" y="1800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5" name="Google Shape;125;p14"/>
          <p:cNvSpPr txBox="1"/>
          <p:nvPr>
            <p:ph idx="5" type="subTitle"/>
          </p:nvPr>
        </p:nvSpPr>
        <p:spPr>
          <a:xfrm>
            <a:off x="324000" y="27912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6" name="Google Shape;126;p14"/>
          <p:cNvSpPr txBox="1"/>
          <p:nvPr>
            <p:ph idx="6" type="subTitle"/>
          </p:nvPr>
        </p:nvSpPr>
        <p:spPr>
          <a:xfrm>
            <a:off x="2699325" y="27912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7" name="Google Shape;127;p14"/>
          <p:cNvSpPr txBox="1"/>
          <p:nvPr>
            <p:ph idx="7" type="subTitle"/>
          </p:nvPr>
        </p:nvSpPr>
        <p:spPr>
          <a:xfrm>
            <a:off x="324000" y="3781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8" name="Google Shape;128;p14"/>
          <p:cNvSpPr txBox="1"/>
          <p:nvPr>
            <p:ph idx="8" type="subTitle"/>
          </p:nvPr>
        </p:nvSpPr>
        <p:spPr>
          <a:xfrm>
            <a:off x="2699325" y="3781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5)">
  <p:cSld name="CUSTOM_3_1_1_1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1" name="Google Shape;131;p15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5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5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4" name="Google Shape;134;p15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5" name="Google Shape;135;p15"/>
          <p:cNvSpPr txBox="1"/>
          <p:nvPr>
            <p:ph idx="3" type="subTitle"/>
          </p:nvPr>
        </p:nvSpPr>
        <p:spPr>
          <a:xfrm>
            <a:off x="324000" y="24864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6" name="Google Shape;136;p15"/>
          <p:cNvSpPr txBox="1"/>
          <p:nvPr>
            <p:ph idx="4" type="subTitle"/>
          </p:nvPr>
        </p:nvSpPr>
        <p:spPr>
          <a:xfrm>
            <a:off x="2699325" y="24864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7" name="Google Shape;137;p15"/>
          <p:cNvSpPr txBox="1"/>
          <p:nvPr>
            <p:ph idx="5" type="subTitle"/>
          </p:nvPr>
        </p:nvSpPr>
        <p:spPr>
          <a:xfrm>
            <a:off x="324000" y="4162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8" name="Google Shape;138;p15"/>
          <p:cNvSpPr txBox="1"/>
          <p:nvPr>
            <p:ph idx="6" type="subTitle"/>
          </p:nvPr>
        </p:nvSpPr>
        <p:spPr>
          <a:xfrm>
            <a:off x="2699325" y="4162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9" name="Google Shape;139;p15"/>
          <p:cNvSpPr txBox="1"/>
          <p:nvPr>
            <p:ph idx="7" type="subTitle"/>
          </p:nvPr>
        </p:nvSpPr>
        <p:spPr>
          <a:xfrm>
            <a:off x="324000" y="16482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0" name="Google Shape;140;p15"/>
          <p:cNvSpPr txBox="1"/>
          <p:nvPr>
            <p:ph idx="8" type="subTitle"/>
          </p:nvPr>
        </p:nvSpPr>
        <p:spPr>
          <a:xfrm>
            <a:off x="2699325" y="16482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1" name="Google Shape;141;p15"/>
          <p:cNvSpPr txBox="1"/>
          <p:nvPr>
            <p:ph idx="9" type="subTitle"/>
          </p:nvPr>
        </p:nvSpPr>
        <p:spPr>
          <a:xfrm>
            <a:off x="324000" y="3324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2" name="Google Shape;142;p15"/>
          <p:cNvSpPr txBox="1"/>
          <p:nvPr>
            <p:ph idx="13" type="subTitle"/>
          </p:nvPr>
        </p:nvSpPr>
        <p:spPr>
          <a:xfrm>
            <a:off x="2699325" y="3324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p2, 2)">
  <p:cSld name="CUSTOM_3_1_1_1_1"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5" name="Google Shape;145;p1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6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6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8" name="Google Shape;148;p16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9" name="Google Shape;149;p16"/>
          <p:cNvSpPr txBox="1"/>
          <p:nvPr>
            <p:ph idx="3" type="subTitle"/>
          </p:nvPr>
        </p:nvSpPr>
        <p:spPr>
          <a:xfrm>
            <a:off x="324000" y="2562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0" name="Google Shape;150;p16"/>
          <p:cNvSpPr txBox="1"/>
          <p:nvPr>
            <p:ph idx="4" type="subTitle"/>
          </p:nvPr>
        </p:nvSpPr>
        <p:spPr>
          <a:xfrm>
            <a:off x="2699325" y="2562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2)">
  <p:cSld name="CUSTOM_3"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7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3" name="Google Shape;153;p17"/>
          <p:cNvPicPr preferRelativeResize="0"/>
          <p:nvPr/>
        </p:nvPicPr>
        <p:blipFill rotWithShape="1">
          <a:blip r:embed="rId2">
            <a:alphaModFix/>
          </a:blip>
          <a:srcRect b="3669" l="0" r="0" t="3678"/>
          <a:stretch/>
        </p:blipFill>
        <p:spPr>
          <a:xfrm>
            <a:off x="863550" y="2926472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17"/>
          <p:cNvPicPr preferRelativeResize="0"/>
          <p:nvPr/>
        </p:nvPicPr>
        <p:blipFill rotWithShape="1">
          <a:blip r:embed="rId3">
            <a:alphaModFix/>
          </a:blip>
          <a:srcRect b="3669" l="0" r="0" t="3678"/>
          <a:stretch/>
        </p:blipFill>
        <p:spPr>
          <a:xfrm>
            <a:off x="863550" y="1989425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7"/>
          <p:cNvPicPr preferRelativeResize="0"/>
          <p:nvPr/>
        </p:nvPicPr>
        <p:blipFill rotWithShape="1">
          <a:blip r:embed="rId4">
            <a:alphaModFix/>
          </a:blip>
          <a:srcRect b="0" l="74623" r="0" t="0"/>
          <a:stretch/>
        </p:blipFill>
        <p:spPr>
          <a:xfrm>
            <a:off x="863550" y="1954586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6" name="Google Shape;156;p17"/>
          <p:cNvCxnSpPr>
            <a:endCxn id="157" idx="2"/>
          </p:cNvCxnSpPr>
          <p:nvPr/>
        </p:nvCxnSpPr>
        <p:spPr>
          <a:xfrm flipH="1">
            <a:off x="645063" y="2017282"/>
            <a:ext cx="2700" cy="14805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58" name="Google Shape;158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482" y="1993619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17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0" name="Google Shape;160;p17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7" name="Google Shape;157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340" y="2925705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17"/>
          <p:cNvPicPr preferRelativeResize="0"/>
          <p:nvPr/>
        </p:nvPicPr>
        <p:blipFill rotWithShape="1">
          <a:blip r:embed="rId7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7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7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3)">
  <p:cSld name="CUSTOM_3_2"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5" name="Google Shape;165;p18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642223"/>
            <a:ext cx="7439125" cy="5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18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6009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18"/>
          <p:cNvPicPr preferRelativeResize="0"/>
          <p:nvPr/>
        </p:nvPicPr>
        <p:blipFill rotWithShape="1">
          <a:blip r:embed="rId4">
            <a:alphaModFix/>
          </a:blip>
          <a:srcRect b="3669" l="0" r="0" t="3678"/>
          <a:stretch/>
        </p:blipFill>
        <p:spPr>
          <a:xfrm>
            <a:off x="863550" y="2704186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18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18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1678325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18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6434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1" name="Google Shape;171;p18"/>
          <p:cNvCxnSpPr>
            <a:endCxn id="172" idx="2"/>
          </p:cNvCxnSpPr>
          <p:nvPr/>
        </p:nvCxnSpPr>
        <p:spPr>
          <a:xfrm>
            <a:off x="647802" y="1841898"/>
            <a:ext cx="0" cy="23664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72" name="Google Shape;172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079" y="36362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1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482" y="1682508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18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5" name="Google Shape;175;p18"/>
          <p:cNvSpPr txBox="1"/>
          <p:nvPr>
            <p:ph idx="2" type="title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6" name="Google Shape;176;p18"/>
          <p:cNvSpPr txBox="1"/>
          <p:nvPr>
            <p:ph idx="3" type="title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77" name="Google Shape;177;p18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18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79" name="Google Shape;179;p18"/>
          <p:cNvPicPr preferRelativeResize="0"/>
          <p:nvPr/>
        </p:nvPicPr>
        <p:blipFill rotWithShape="1">
          <a:blip r:embed="rId9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18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" name="Google Shape;181;p18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4)">
  <p:cSld name="CUSTOM_4"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3" name="Google Shape;183;p19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146932"/>
            <a:ext cx="7439125" cy="56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10561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19"/>
          <p:cNvPicPr preferRelativeResize="0"/>
          <p:nvPr/>
        </p:nvPicPr>
        <p:blipFill rotWithShape="1">
          <a:blip r:embed="rId4">
            <a:alphaModFix/>
          </a:blip>
          <a:srcRect b="4396" l="0" r="0" t="4387"/>
          <a:stretch/>
        </p:blipFill>
        <p:spPr>
          <a:xfrm>
            <a:off x="863550" y="3971358"/>
            <a:ext cx="7439126" cy="563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93964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19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2292191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26599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19"/>
          <p:cNvPicPr preferRelativeResize="0"/>
          <p:nvPr/>
        </p:nvPicPr>
        <p:blipFill rotWithShape="1">
          <a:blip r:embed="rId6">
            <a:alphaModFix/>
          </a:blip>
          <a:srcRect b="3669" l="0" r="0" t="3678"/>
          <a:stretch/>
        </p:blipFill>
        <p:spPr>
          <a:xfrm>
            <a:off x="863550" y="1457950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423110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1" name="Google Shape;191;p19"/>
          <p:cNvCxnSpPr/>
          <p:nvPr/>
        </p:nvCxnSpPr>
        <p:spPr>
          <a:xfrm>
            <a:off x="647802" y="1725234"/>
            <a:ext cx="600" cy="26799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92" name="Google Shape;192;p1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6079" y="313465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1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57" y="1462166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19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3340" y="2287588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19"/>
          <p:cNvSpPr txBox="1"/>
          <p:nvPr>
            <p:ph type="title"/>
          </p:nvPr>
        </p:nvSpPr>
        <p:spPr>
          <a:xfrm>
            <a:off x="1224600" y="1466663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6" name="Google Shape;196;p19"/>
          <p:cNvSpPr txBox="1"/>
          <p:nvPr>
            <p:ph idx="2" type="title"/>
          </p:nvPr>
        </p:nvSpPr>
        <p:spPr>
          <a:xfrm>
            <a:off x="1224600" y="2285700"/>
            <a:ext cx="6850800" cy="57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7" name="Google Shape;197;p19"/>
          <p:cNvSpPr txBox="1"/>
          <p:nvPr>
            <p:ph idx="3" type="title"/>
          </p:nvPr>
        </p:nvSpPr>
        <p:spPr>
          <a:xfrm>
            <a:off x="1224600" y="3160338"/>
            <a:ext cx="6850800" cy="536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8" name="Google Shape;198;p19"/>
          <p:cNvSpPr txBox="1"/>
          <p:nvPr>
            <p:ph idx="4" type="title"/>
          </p:nvPr>
        </p:nvSpPr>
        <p:spPr>
          <a:xfrm>
            <a:off x="1224600" y="3971414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99" name="Google Shape;199;p19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63341" y="3969363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19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1" name="Google Shape;201;p19"/>
          <p:cNvPicPr preferRelativeResize="0"/>
          <p:nvPr/>
        </p:nvPicPr>
        <p:blipFill rotWithShape="1">
          <a:blip r:embed="rId11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19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3" name="Google Shape;203;p19"/>
          <p:cNvSpPr txBox="1"/>
          <p:nvPr>
            <p:ph idx="5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0 Explanation blank - purple ">
  <p:cSld name="TITLE_AND_TWO_COLUMNS_1_1_6_2_1_4"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" name="Google Shape;205;p2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0"/>
          <p:cNvSpPr/>
          <p:nvPr/>
        </p:nvSpPr>
        <p:spPr>
          <a:xfrm>
            <a:off x="-1" y="-2"/>
            <a:ext cx="91476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2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08" name="Google Shape;208;p2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09" name="Google Shape;209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0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0 Explanation blank - jade">
  <p:cSld name="TITLE_AND_TWO_COLUMNS_1_1_6_2_1_2"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2" name="Google Shape;212;p2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2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2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5" name="Google Shape;215;p21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6" name="Google Shape;216;p2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17" name="Google Shape;217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0 Explanation blank - blue ">
  <p:cSld name="TITLE_AND_TWO_COLUMNS_1_1_6_2_2"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9" name="Google Shape;219;p2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2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2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22" name="Google Shape;222;p22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3" name="Google Shape;223;p2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4" name="Google Shape;224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0 Explanation blank - pink ">
  <p:cSld name="TITLE_AND_TWO_COLUMNS_1_1_6_2_1_1"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6" name="Google Shape;226;p2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2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2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29" name="Google Shape;229;p23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0" name="Google Shape;230;p2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31" name="Google Shape;231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1 I do We do - purple">
  <p:cSld name="TITLE_AND_TWO_COLUMNS_1_1_9_2_2">
    <p:bg>
      <p:bgPr>
        <a:solidFill>
          <a:srgbClr val="F3EEFB"/>
        </a:solidFill>
      </p:bgPr>
    </p:bg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4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4" name="Google Shape;234;p2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2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24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37" name="Google Shape;237;p24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38" name="Google Shape;238;p24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39" name="Google Shape;239;p24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40" name="Google Shape;240;p2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1" name="Google Shape;241;p24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42" name="Google Shape;242;p24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43" name="Google Shape;243;p2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4" name="Google Shape;244;p24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1 I do We do - jade">
  <p:cSld name="TITLE_AND_TWO_COLUMNS_1_1_9_2_2_1_1">
    <p:bg>
      <p:bgPr>
        <a:solidFill>
          <a:srgbClr val="E6F2F2"/>
        </a:solidFill>
      </p:bgPr>
    </p:bg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25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47" name="Google Shape;247;p2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2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25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0" name="Google Shape;250;p25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1" name="Google Shape;251;p2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52" name="Google Shape;252;p25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53" name="Google Shape;253;p2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4" name="Google Shape;254;p25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55" name="Google Shape;255;p25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56" name="Google Shape;256;p2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7" name="Google Shape;257;p25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1 I do We do - blue">
  <p:cSld name="TITLE_AND_TWO_COLUMNS_1_1_9_2_3">
    <p:bg>
      <p:bgPr>
        <a:solidFill>
          <a:srgbClr val="EBEDFE"/>
        </a:solidFill>
      </p:bgPr>
    </p:bg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26"/>
          <p:cNvSpPr/>
          <p:nvPr/>
        </p:nvSpPr>
        <p:spPr>
          <a:xfrm>
            <a:off x="0" y="18750"/>
            <a:ext cx="4572300" cy="512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0" name="Google Shape;260;p2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2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26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3" name="Google Shape;263;p26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4" name="Google Shape;264;p2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65" name="Google Shape;265;p26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66" name="Google Shape;266;p2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7" name="Google Shape;267;p26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68" name="Google Shape;268;p26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69" name="Google Shape;269;p2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0" name="Google Shape;270;p26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1 I do We do - pink">
  <p:cSld name="TITLE_AND_TWO_COLUMNS_1_1_9_2_2_1_1_1">
    <p:bg>
      <p:bgPr>
        <a:solidFill>
          <a:srgbClr val="FAEAF6"/>
        </a:solidFill>
      </p:bgPr>
    </p:bg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27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3" name="Google Shape;273;p2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2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27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76" name="Google Shape;276;p27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77" name="Google Shape;277;p2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78" name="Google Shape;278;p27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79" name="Google Shape;279;p2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0" name="Google Shape;280;p27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81" name="Google Shape;281;p27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82" name="Google Shape;282;p2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3" name="Google Shape;283;p27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2 CfU true/false justify - purple">
  <p:cSld name="TITLE_AND_TWO_COLUMNS_1_1_9_1_3_1">
    <p:bg>
      <p:bgPr>
        <a:solidFill>
          <a:srgbClr val="F3EEFB"/>
        </a:solidFill>
      </p:bgPr>
    </p:bg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5" name="Google Shape;285;p2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" name="Google Shape;286;p2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2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28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0" name="Google Shape;290;p28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1" name="Google Shape;291;p28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2" name="Google Shape;292;p28"/>
          <p:cNvSpPr txBox="1"/>
          <p:nvPr>
            <p:ph idx="1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3" name="Google Shape;293;p28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4" name="Google Shape;294;p28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295" name="Google Shape;295;p28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6" name="Google Shape;296;p28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7" name="Google Shape;297;p28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98" name="Google Shape;298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2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0" name="Google Shape;300;p2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301" name="Google Shape;301;p28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02" name="Google Shape;302;p2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3" name="Google Shape;303;p2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04" name="Google Shape;304;p28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05" name="Google Shape;305;p2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6" name="Google Shape;306;p2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2 CfU true/false justify - jade">
  <p:cSld name="TITLE_AND_TWO_COLUMNS_1_1_9_1_3_1_1_1">
    <p:bg>
      <p:bgPr>
        <a:solidFill>
          <a:srgbClr val="E6F2F2"/>
        </a:solidFill>
      </p:bgPr>
    </p:bg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8" name="Google Shape;308;p2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p2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29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1" name="Google Shape;311;p29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2" name="Google Shape;312;p29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3" name="Google Shape;313;p29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14" name="Google Shape;314;p29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15" name="Google Shape;315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p2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7" name="Google Shape;317;p2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18" name="Google Shape;318;p29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19" name="Google Shape;319;p29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20" name="Google Shape;320;p29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21" name="Google Shape;321;p2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2" name="Google Shape;322;p2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23" name="Google Shape;323;p29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24" name="Google Shape;324;p2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5" name="Google Shape;325;p2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26" name="Google Shape;326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7" name="Google Shape;327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29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9" name="Google Shape;329;p29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2 CfU true/false justify - blue">
  <p:cSld name="TITLE_AND_TWO_COLUMNS_1_1_9_1_3_2">
    <p:bg>
      <p:bgPr>
        <a:solidFill>
          <a:srgbClr val="EBEDFE"/>
        </a:solidFill>
      </p:bgPr>
    </p:bg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1" name="Google Shape;331;p3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3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30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4" name="Google Shape;334;p30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5" name="Google Shape;335;p30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6" name="Google Shape;336;p30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37" name="Google Shape;337;p30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38" name="Google Shape;338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39" name="Google Shape;339;p3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0" name="Google Shape;340;p3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1" name="Google Shape;341;p30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2" name="Google Shape;342;p30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43" name="Google Shape;343;p30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44" name="Google Shape;344;p3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5" name="Google Shape;345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46" name="Google Shape;346;p30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47" name="Google Shape;347;p3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8" name="Google Shape;348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49" name="Google Shape;349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0" name="Google Shape;350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51" name="Google Shape;351;p30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2" name="Google Shape;352;p30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2 CfU true/false justify - pink">
  <p:cSld name="TITLE_AND_TWO_COLUMNS_1_1_9_1_3_1_1_1_1">
    <p:bg>
      <p:bgPr>
        <a:solidFill>
          <a:srgbClr val="FAEAF6"/>
        </a:solidFill>
      </p:bgPr>
    </p:bg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4" name="Google Shape;354;p3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3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31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7" name="Google Shape;357;p31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8" name="Google Shape;358;p31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9" name="Google Shape;359;p31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0" name="Google Shape;360;p31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61" name="Google Shape;361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62" name="Google Shape;362;p3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3" name="Google Shape;363;p3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4" name="Google Shape;364;p31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5" name="Google Shape;365;p31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66" name="Google Shape;366;p31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67" name="Google Shape;367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68" name="Google Shape;368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69" name="Google Shape;369;p31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70" name="Google Shape;370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1" name="Google Shape;371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72" name="Google Shape;372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3" name="Google Shape;373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74" name="Google Shape;374;p31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5" name="Google Shape;375;p31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3 CfU 3 options - purple">
  <p:cSld name="TITLE_AND_TWO_COLUMNS_1_1_7_1">
    <p:bg>
      <p:bgPr>
        <a:solidFill>
          <a:srgbClr val="F3EEFB"/>
        </a:solidFill>
      </p:bgPr>
    </p:bg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7" name="Google Shape;377;p3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3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3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80" name="Google Shape;380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81" name="Google Shape;381;p3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2" name="Google Shape;382;p3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3" name="Google Shape;383;p32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4" name="Google Shape;384;p32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5" name="Google Shape;385;p32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86" name="Google Shape;386;p32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387" name="Google Shape;387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88" name="Google Shape;388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89" name="Google Shape;389;p32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390" name="Google Shape;390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1" name="Google Shape;391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2" name="Google Shape;392;p32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393" name="Google Shape;393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4" name="Google Shape;394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3 CfU 3 options - jade">
  <p:cSld name="TITLE_AND_TWO_COLUMNS_1_1_7_1_1_1">
    <p:bg>
      <p:bgPr>
        <a:solidFill>
          <a:srgbClr val="E6F2F2"/>
        </a:solidFill>
      </p:bgPr>
    </p:bg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6" name="Google Shape;396;p3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97" name="Google Shape;397;p3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3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99" name="Google Shape;399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00" name="Google Shape;400;p3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1" name="Google Shape;401;p3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2" name="Google Shape;402;p33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3" name="Google Shape;403;p33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4" name="Google Shape;404;p33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05" name="Google Shape;405;p33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06" name="Google Shape;406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07" name="Google Shape;407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08" name="Google Shape;408;p33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09" name="Google Shape;409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0" name="Google Shape;410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1" name="Google Shape;411;p33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12" name="Google Shape;412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3" name="Google Shape;413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3 CfU 3 options - blue">
  <p:cSld name="TITLE_AND_TWO_COLUMNS_1_1_7_2">
    <p:bg>
      <p:bgPr>
        <a:solidFill>
          <a:srgbClr val="EBEDFE"/>
        </a:solidFill>
      </p:bgPr>
    </p:bg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5" name="Google Shape;415;p3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16" name="Google Shape;416;p3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p3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18" name="Google Shape;418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19" name="Google Shape;419;p3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0" name="Google Shape;420;p3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1" name="Google Shape;421;p34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2" name="Google Shape;422;p34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3" name="Google Shape;423;p34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24" name="Google Shape;424;p34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25" name="Google Shape;425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6" name="Google Shape;426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27" name="Google Shape;427;p34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28" name="Google Shape;428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9" name="Google Shape;429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0" name="Google Shape;430;p34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31" name="Google Shape;431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2" name="Google Shape;432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3 CfU 3 options - pink">
  <p:cSld name="TITLE_AND_TWO_COLUMNS_1_1_7_1_1_1_1">
    <p:bg>
      <p:bgPr>
        <a:solidFill>
          <a:srgbClr val="FAEAF6"/>
        </a:solidFill>
      </p:bgPr>
    </p:bg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4" name="Google Shape;434;p3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35" name="Google Shape;435;p3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p3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37" name="Google Shape;437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38" name="Google Shape;438;p3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39" name="Google Shape;439;p3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40" name="Google Shape;440;p35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1" name="Google Shape;441;p35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2" name="Google Shape;442;p35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43" name="Google Shape;443;p35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44" name="Google Shape;444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5" name="Google Shape;445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46" name="Google Shape;446;p35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47" name="Google Shape;447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8" name="Google Shape;448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49" name="Google Shape;449;p35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50" name="Google Shape;450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1" name="Google Shape;451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4 CfU 4 options - purple">
  <p:cSld name="TITLE_AND_TWO_COLUMNS_1_1_8_1">
    <p:bg>
      <p:bgPr>
        <a:solidFill>
          <a:srgbClr val="F3EEFB"/>
        </a:solidFill>
      </p:bgPr>
    </p:bg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3" name="Google Shape;453;p3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54" name="Google Shape;454;p3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p36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56" name="Google Shape;456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57" name="Google Shape;457;p3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58" name="Google Shape;458;p36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59" name="Google Shape;459;p36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0" name="Google Shape;460;p36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1" name="Google Shape;461;p36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2" name="Google Shape;462;p36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63" name="Google Shape;463;p36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64" name="Google Shape;464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5" name="Google Shape;465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66" name="Google Shape;466;p36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67" name="Google Shape;467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8" name="Google Shape;468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69" name="Google Shape;469;p36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70" name="Google Shape;470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1" name="Google Shape;471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2" name="Google Shape;472;p36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73" name="Google Shape;473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4" name="Google Shape;474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4 CfU 4 options - jade">
  <p:cSld name="TITLE_AND_TWO_COLUMNS_1_1_8_1_1_1">
    <p:bg>
      <p:bgPr>
        <a:solidFill>
          <a:srgbClr val="E6F2F2"/>
        </a:solidFill>
      </p:bgPr>
    </p:bg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6" name="Google Shape;476;p3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77" name="Google Shape;477;p3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8" name="Google Shape;478;p37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79" name="Google Shape;479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80" name="Google Shape;480;p3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1" name="Google Shape;481;p37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82" name="Google Shape;482;p37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3" name="Google Shape;483;p37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4" name="Google Shape;484;p37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5" name="Google Shape;485;p37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86" name="Google Shape;486;p37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87" name="Google Shape;487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88" name="Google Shape;488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89" name="Google Shape;489;p37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90" name="Google Shape;490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1" name="Google Shape;491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2" name="Google Shape;492;p37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93" name="Google Shape;493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4" name="Google Shape;494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5" name="Google Shape;495;p37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96" name="Google Shape;496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7" name="Google Shape;497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4 CfU 4 options - blue">
  <p:cSld name="TITLE_AND_TWO_COLUMNS_1_1_8_2">
    <p:bg>
      <p:bgPr>
        <a:solidFill>
          <a:srgbClr val="EBEDFE"/>
        </a:solidFill>
      </p:bgPr>
    </p:bg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9" name="Google Shape;499;p3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00" name="Google Shape;500;p3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1" name="Google Shape;501;p38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02" name="Google Shape;502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03" name="Google Shape;503;p3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4" name="Google Shape;504;p38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05" name="Google Shape;505;p38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6" name="Google Shape;506;p38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7" name="Google Shape;507;p38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8" name="Google Shape;508;p38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09" name="Google Shape;509;p38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10" name="Google Shape;510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1" name="Google Shape;511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2" name="Google Shape;512;p38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13" name="Google Shape;513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4" name="Google Shape;514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5" name="Google Shape;515;p38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16" name="Google Shape;516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7" name="Google Shape;517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8" name="Google Shape;518;p38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19" name="Google Shape;519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0" name="Google Shape;520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4 CfU 4 options - pink">
  <p:cSld name="TITLE_AND_TWO_COLUMNS_1_1_8_1_1_1_1">
    <p:bg>
      <p:bgPr>
        <a:solidFill>
          <a:srgbClr val="FAEAF6"/>
        </a:solidFill>
      </p:bgPr>
    </p:bg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2" name="Google Shape;522;p3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23" name="Google Shape;523;p3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4" name="Google Shape;524;p39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25" name="Google Shape;525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26" name="Google Shape;526;p3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27" name="Google Shape;527;p39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8" name="Google Shape;528;p39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29" name="Google Shape;529;p39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0" name="Google Shape;530;p39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1" name="Google Shape;531;p39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32" name="Google Shape;532;p39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33" name="Google Shape;533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4" name="Google Shape;534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5" name="Google Shape;535;p39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36" name="Google Shape;536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7" name="Google Shape;537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8" name="Google Shape;538;p39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39" name="Google Shape;539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0" name="Google Shape;540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1" name="Google Shape;541;p39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42" name="Google Shape;542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3" name="Google Shape;543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5 CfU 3 image options - purple">
  <p:cSld name="TITLE_AND_TWO_COLUMNS_1_1_7_1_1_2">
    <p:bg>
      <p:bgPr>
        <a:solidFill>
          <a:srgbClr val="F3EEFB"/>
        </a:solidFill>
      </p:bgPr>
    </p:bg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5" name="Google Shape;545;p4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46" name="Google Shape;546;p4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7" name="Google Shape;547;p40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48" name="Google Shape;548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49" name="Google Shape;549;p4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0" name="Google Shape;550;p40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51" name="Google Shape;551;p40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2" name="Google Shape;552;p40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3" name="Google Shape;553;p40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54" name="Google Shape;554;p40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55" name="Google Shape;555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56" name="Google Shape;556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57" name="Google Shape;557;p40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58" name="Google Shape;558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59" name="Google Shape;559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0" name="Google Shape;560;p40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61" name="Google Shape;561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2" name="Google Shape;562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5 CfU 3 image options - jade">
  <p:cSld name="TITLE_AND_TWO_COLUMNS_1_1_7_1_1_1_2">
    <p:bg>
      <p:bgPr>
        <a:solidFill>
          <a:srgbClr val="E6F2F2"/>
        </a:solidFill>
      </p:bgPr>
    </p:bg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4" name="Google Shape;564;p4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65" name="Google Shape;565;p4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6" name="Google Shape;566;p41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67" name="Google Shape;567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68" name="Google Shape;568;p4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69" name="Google Shape;569;p41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0" name="Google Shape;570;p41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1" name="Google Shape;571;p41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2" name="Google Shape;572;p41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73" name="Google Shape;573;p41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74" name="Google Shape;574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5" name="Google Shape;575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76" name="Google Shape;576;p41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77" name="Google Shape;577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8" name="Google Shape;578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79" name="Google Shape;579;p41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80" name="Google Shape;580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1" name="Google Shape;581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5 CfU 3  image options - blue ">
  <p:cSld name="TITLE_AND_TWO_COLUMNS_1_1_7_2_1">
    <p:bg>
      <p:bgPr>
        <a:solidFill>
          <a:srgbClr val="EBEDFE"/>
        </a:solidFill>
      </p:bgPr>
    </p:bg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3" name="Google Shape;583;p4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84" name="Google Shape;584;p4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5" name="Google Shape;585;p4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86" name="Google Shape;586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87" name="Google Shape;587;p4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88" name="Google Shape;588;p4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89" name="Google Shape;589;p42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0" name="Google Shape;590;p42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1" name="Google Shape;591;p42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92" name="Google Shape;592;p42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93" name="Google Shape;593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4" name="Google Shape;594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5" name="Google Shape;595;p42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96" name="Google Shape;596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7" name="Google Shape;597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8" name="Google Shape;598;p42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99" name="Google Shape;599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0" name="Google Shape;600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5 CfU 3 image options - pink">
  <p:cSld name="TITLE_AND_TWO_COLUMNS_1_1_7_1_1_1_1_1">
    <p:bg>
      <p:bgPr>
        <a:solidFill>
          <a:srgbClr val="FAEAF6"/>
        </a:solidFill>
      </p:bgPr>
    </p:bg>
    <p:spTree>
      <p:nvGrpSpPr>
        <p:cNvPr id="60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2" name="Google Shape;602;p4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03" name="Google Shape;603;p4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4" name="Google Shape;604;p4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605" name="Google Shape;605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06" name="Google Shape;606;p4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07" name="Google Shape;607;p4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8" name="Google Shape;608;p43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09" name="Google Shape;609;p43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10" name="Google Shape;610;p43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611" name="Google Shape;611;p43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612" name="Google Shape;612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3" name="Google Shape;613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4" name="Google Shape;614;p43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15" name="Google Shape;615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6" name="Google Shape;616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7" name="Google Shape;617;p43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18" name="Google Shape;618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9" name="Google Shape;619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6 CfU blank - purple ">
  <p:cSld name="TITLE_AND_TWO_COLUMNS_1_1_6_2">
    <p:bg>
      <p:bgPr>
        <a:solidFill>
          <a:srgbClr val="F3EEFB"/>
        </a:solidFill>
      </p:bgPr>
    </p:bg>
    <p:spTree>
      <p:nvGrpSpPr>
        <p:cNvPr id="620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1" name="Google Shape;621;p4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22" name="Google Shape;622;p4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3" name="Google Shape;623;p4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24" name="Google Shape;624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25" name="Google Shape;625;p4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26" name="Google Shape;626;p4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6 CfU blank - jade ">
  <p:cSld name="TITLE_AND_TWO_COLUMNS_1_1_6_2_3_1">
    <p:bg>
      <p:bgPr>
        <a:solidFill>
          <a:srgbClr val="E6F2F2"/>
        </a:solidFill>
      </p:bgPr>
    </p:bg>
    <p:spTree>
      <p:nvGrpSpPr>
        <p:cNvPr id="627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8" name="Google Shape;628;p4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29" name="Google Shape;629;p4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0" name="Google Shape;630;p4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1" name="Google Shape;631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32" name="Google Shape;632;p4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3" name="Google Shape;633;p4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6 CfU blank - blue ">
  <p:cSld name="TITLE_AND_TWO_COLUMNS_1_1_6_3">
    <p:bg>
      <p:bgPr>
        <a:solidFill>
          <a:srgbClr val="EBEDFE"/>
        </a:solidFill>
      </p:bgPr>
    </p:bg>
    <p:spTree>
      <p:nvGrpSpPr>
        <p:cNvPr id="634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5" name="Google Shape;635;p4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36" name="Google Shape;636;p4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7" name="Google Shape;637;p4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8" name="Google Shape;638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39" name="Google Shape;639;p4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0" name="Google Shape;640;p4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6 CfU blank - pink ">
  <p:cSld name="TITLE_AND_TWO_COLUMNS_1_1_6_2_3_1_1">
    <p:bg>
      <p:bgPr>
        <a:solidFill>
          <a:srgbClr val="FAEAF6"/>
        </a:solidFill>
      </p:bgPr>
    </p:bg>
    <p:spTree>
      <p:nvGrpSpPr>
        <p:cNvPr id="64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2" name="Google Shape;642;p4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3" name="Google Shape;643;p4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4" name="Google Shape;644;p4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5" name="Google Shape;645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46" name="Google Shape;646;p4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7" name="Google Shape;647;p4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7 Practice - purple ">
  <p:cSld name="TITLE_AND_TWO_COLUMNS_1_1_5_1_3_1_1">
    <p:spTree>
      <p:nvGrpSpPr>
        <p:cNvPr id="648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9" name="Google Shape;649;p4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0" name="Google Shape;650;p4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1" name="Google Shape;651;p4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52" name="Google Shape;652;p48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3" name="Google Shape;653;p48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54" name="Google Shape;654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5" name="Google Shape;655;p4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7 Practice - jade">
  <p:cSld name="TITLE_AND_TWO_COLUMNS_1_1_5_1_3_1_1_1_1">
    <p:spTree>
      <p:nvGrpSpPr>
        <p:cNvPr id="656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7" name="Google Shape;657;p4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8" name="Google Shape;658;p4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9" name="Google Shape;659;p4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0" name="Google Shape;660;p4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1" name="Google Shape;661;p49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2" name="Google Shape;662;p49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63" name="Google Shape;663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7 Practice - blue ">
  <p:cSld name="TITLE_AND_TWO_COLUMNS_1_1_5_1_3_1_2">
    <p:spTree>
      <p:nvGrpSpPr>
        <p:cNvPr id="664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5" name="Google Shape;665;p5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66" name="Google Shape;666;p5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7" name="Google Shape;667;p5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8" name="Google Shape;668;p5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9" name="Google Shape;669;p50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0" name="Google Shape;670;p50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71" name="Google Shape;671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7 Practice - pink">
  <p:cSld name="TITLE_AND_TWO_COLUMNS_1_1_5_1_3_1_1_1_1_1">
    <p:spTree>
      <p:nvGrpSpPr>
        <p:cNvPr id="672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3" name="Google Shape;673;p5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4" name="Google Shape;674;p5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5" name="Google Shape;675;p5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76" name="Google Shape;676;p5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7" name="Google Shape;677;p51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8" name="Google Shape;678;p51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79" name="Google Shape;679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8 Feedback - purple">
  <p:cSld name="TITLE_AND_TWO_COLUMNS_1_1_5_1_3_1_1_1">
    <p:bg>
      <p:bgPr>
        <a:solidFill>
          <a:srgbClr val="F3EEFB"/>
        </a:solidFill>
      </p:bgPr>
    </p:bg>
    <p:spTree>
      <p:nvGrpSpPr>
        <p:cNvPr id="680" name="Shape 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1" name="Google Shape;681;p5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82" name="Google Shape;682;p5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3" name="Google Shape;683;p5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84" name="Google Shape;684;p52"/>
          <p:cNvSpPr txBox="1"/>
          <p:nvPr/>
        </p:nvSpPr>
        <p:spPr>
          <a:xfrm>
            <a:off x="324000" y="45525"/>
            <a:ext cx="1092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5" name="Google Shape;685;p52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86" name="Google Shape;686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87" name="Google Shape;687;p5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8 Feedback - jade">
  <p:cSld name="TITLE_AND_TWO_COLUMNS_1_1_5_1_3_1_1_1_1_2">
    <p:bg>
      <p:bgPr>
        <a:solidFill>
          <a:srgbClr val="E6F2F2"/>
        </a:solidFill>
      </p:bgPr>
    </p:bg>
    <p:spTree>
      <p:nvGrpSpPr>
        <p:cNvPr id="688" name="Shape 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9" name="Google Shape;689;p5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0" name="Google Shape;690;p5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1" name="Google Shape;691;p5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92" name="Google Shape;692;p53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93" name="Google Shape;693;p53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94" name="Google Shape;694;p5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95" name="Google Shape;695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8 Feedback - blue">
  <p:cSld name="TITLE_AND_TWO_COLUMNS_1_1_5_1_3_1_2_1">
    <p:bg>
      <p:bgPr>
        <a:solidFill>
          <a:srgbClr val="EBEDFE"/>
        </a:solidFill>
      </p:bgPr>
    </p:bg>
    <p:spTree>
      <p:nvGrpSpPr>
        <p:cNvPr id="696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7" name="Google Shape;697;p5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8" name="Google Shape;698;p5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9" name="Google Shape;699;p5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0" name="Google Shape;700;p54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01" name="Google Shape;701;p54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02" name="Google Shape;702;p5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03" name="Google Shape;703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8 Feedback - pink">
  <p:cSld name="TITLE_AND_TWO_COLUMNS_1_1_5_1_3_1_1_1_1_1_1">
    <p:bg>
      <p:bgPr>
        <a:solidFill>
          <a:srgbClr val="FAEAF6"/>
        </a:solidFill>
      </p:bgPr>
    </p:bg>
    <p:spTree>
      <p:nvGrpSpPr>
        <p:cNvPr id="704" name="Shape 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5" name="Google Shape;705;p5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06" name="Google Shape;706;p5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7" name="Google Shape;707;p5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8" name="Google Shape;708;p55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09" name="Google Shape;709;p55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10" name="Google Shape;710;p5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11" name="Google Shape;711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1">
  <p:cSld name="TITLE_AND_TWO_COLUMNS_1_1_5_1_2_1">
    <p:spTree>
      <p:nvGrpSpPr>
        <p:cNvPr id="712" name="Shape 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Google Shape;713;p56"/>
          <p:cNvSpPr/>
          <p:nvPr/>
        </p:nvSpPr>
        <p:spPr>
          <a:xfrm>
            <a:off x="0" y="0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14" name="Google Shape;714;p5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58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5" name="Google Shape;715;p56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16" name="Google Shape;716;p56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7" name="Google Shape;717;p56"/>
          <p:cNvSpPr txBox="1"/>
          <p:nvPr>
            <p:ph type="title"/>
          </p:nvPr>
        </p:nvSpPr>
        <p:spPr>
          <a:xfrm>
            <a:off x="1684800" y="157525"/>
            <a:ext cx="57414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2">
  <p:cSld name="TITLE_AND_TWO_COLUMNS_1_1_5_1_2">
    <p:spTree>
      <p:nvGrpSpPr>
        <p:cNvPr id="718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p57"/>
          <p:cNvSpPr/>
          <p:nvPr/>
        </p:nvSpPr>
        <p:spPr>
          <a:xfrm>
            <a:off x="0" y="0"/>
            <a:ext cx="9144300" cy="773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20" name="Google Shape;720;p57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7695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21" name="Google Shape;721;p57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2" name="Google Shape;722;p57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3" name="Google Shape;723;p57"/>
          <p:cNvSpPr txBox="1"/>
          <p:nvPr>
            <p:ph type="title"/>
          </p:nvPr>
        </p:nvSpPr>
        <p:spPr>
          <a:xfrm>
            <a:off x="1684800" y="157525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3 Projectable quiz" showMasterSp="0">
  <p:cSld name="Title Slide 3_1">
    <p:bg>
      <p:bgPr>
        <a:solidFill>
          <a:schemeClr val="lt1"/>
        </a:solidFill>
      </p:bgPr>
    </p:bg>
    <p:spTree>
      <p:nvGrpSpPr>
        <p:cNvPr id="724" name="Shape 7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5" name="Google Shape;725;p5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  <p:sp>
        <p:nvSpPr>
          <p:cNvPr id="726" name="Google Shape;726;p58"/>
          <p:cNvSpPr txBox="1"/>
          <p:nvPr/>
        </p:nvSpPr>
        <p:spPr>
          <a:xfrm>
            <a:off x="1977450" y="3132468"/>
            <a:ext cx="5189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open the interactive quiz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4 Items to copy-paste">
  <p:cSld name="CUSTOM_104_1_2_1_1">
    <p:spTree>
      <p:nvGrpSpPr>
        <p:cNvPr id="727" name="Shape 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8" name="Google Shape;728;p59"/>
          <p:cNvSpPr/>
          <p:nvPr/>
        </p:nvSpPr>
        <p:spPr>
          <a:xfrm>
            <a:off x="3217188" y="4171902"/>
            <a:ext cx="5214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9" name="Google Shape;729;p59"/>
          <p:cNvSpPr/>
          <p:nvPr/>
        </p:nvSpPr>
        <p:spPr>
          <a:xfrm>
            <a:off x="483925" y="193075"/>
            <a:ext cx="66717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 to copy and paste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0" name="Google Shape;730;p59"/>
          <p:cNvSpPr/>
          <p:nvPr/>
        </p:nvSpPr>
        <p:spPr>
          <a:xfrm>
            <a:off x="7459200" y="352650"/>
            <a:ext cx="16848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frame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1" name="Google Shape;731;p59"/>
          <p:cNvSpPr/>
          <p:nvPr/>
        </p:nvSpPr>
        <p:spPr>
          <a:xfrm>
            <a:off x="628788" y="4171893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Agenda dot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2" name="Google Shape;732;p59"/>
          <p:cNvSpPr/>
          <p:nvPr/>
        </p:nvSpPr>
        <p:spPr>
          <a:xfrm>
            <a:off x="5891525" y="2313000"/>
            <a:ext cx="17964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CfU option letters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3" name="Google Shape;733;p59"/>
          <p:cNvSpPr/>
          <p:nvPr/>
        </p:nvSpPr>
        <p:spPr>
          <a:xfrm>
            <a:off x="933601" y="2371650"/>
            <a:ext cx="11799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audio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4" name="Google Shape;734;p59"/>
          <p:cNvSpPr/>
          <p:nvPr/>
        </p:nvSpPr>
        <p:spPr>
          <a:xfrm>
            <a:off x="3444210" y="2377200"/>
            <a:ext cx="11166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video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5" name="Google Shape;735;p59"/>
          <p:cNvSpPr/>
          <p:nvPr/>
        </p:nvSpPr>
        <p:spPr>
          <a:xfrm>
            <a:off x="4747799" y="4171900"/>
            <a:ext cx="694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Cross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6" name="Google Shape;736;p59"/>
          <p:cNvSpPr/>
          <p:nvPr/>
        </p:nvSpPr>
        <p:spPr>
          <a:xfrm>
            <a:off x="6451200" y="4171900"/>
            <a:ext cx="14217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Reading icon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5 OGL">
  <p:cSld name="CUSTOM_5_1">
    <p:bg>
      <p:bgPr>
        <a:solidFill>
          <a:srgbClr val="BEF2BD"/>
        </a:solidFill>
      </p:bgPr>
    </p:bg>
    <p:spTree>
      <p:nvGrpSpPr>
        <p:cNvPr id="737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8" name="Google Shape;738;p6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7200" y="11118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739" name="Google Shape;739;p60"/>
          <p:cNvSpPr txBox="1"/>
          <p:nvPr>
            <p:ph idx="1" type="subTitle"/>
          </p:nvPr>
        </p:nvSpPr>
        <p:spPr>
          <a:xfrm>
            <a:off x="661775" y="1190413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6 Blank">
  <p:cSld name="CUSTOM_6">
    <p:spTree>
      <p:nvGrpSpPr>
        <p:cNvPr id="740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Google Shape;741;p6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English" showMasterSp="0">
  <p:cSld name="Title Slide 2_1">
    <p:bg>
      <p:bgPr>
        <a:solidFill>
          <a:srgbClr val="BEF2BD"/>
        </a:solidFill>
      </p:bgPr>
    </p:bg>
    <p:spTree>
      <p:nvGrpSpPr>
        <p:cNvPr id="746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7" name="Google Shape;747;p63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48" name="Google Shape;748;p6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English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49" name="Google Shape;749;p63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50" name="Google Shape;750;p63"/>
          <p:cNvSpPr txBox="1"/>
          <p:nvPr>
            <p:ph idx="1" type="subTitle"/>
          </p:nvPr>
        </p:nvSpPr>
        <p:spPr>
          <a:xfrm>
            <a:off x="890225" y="4327975"/>
            <a:ext cx="59862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51" name="Google Shape;751;p6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52" name="Google Shape;752;p6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753" name="Google Shape;753;p63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67">
          <p15:clr>
            <a:srgbClr val="E46962"/>
          </p15:clr>
        </p15:guide>
      </p15:sldGuideLst>
    </p:ext>
  </p:extLst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aths" showMasterSp="0">
  <p:cSld name="Title Slide 2_1_1">
    <p:bg>
      <p:bgPr>
        <a:solidFill>
          <a:srgbClr val="BEF2BD"/>
        </a:solidFill>
      </p:bgPr>
    </p:bg>
    <p:spTree>
      <p:nvGrpSpPr>
        <p:cNvPr id="754" name="Shape 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5" name="Google Shape;755;p6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756" name="Google Shape;756;p6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57" name="Google Shape;757;p6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Maths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8" name="Google Shape;758;p64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59" name="Google Shape;759;p6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60" name="Google Shape;760;p64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761" name="Google Shape;761;p64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707200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Geography" showMasterSp="0">
  <p:cSld name="Title Slide 2_1_1_1">
    <p:bg>
      <p:bgPr>
        <a:solidFill>
          <a:srgbClr val="BEF2BD"/>
        </a:solidFill>
      </p:bgPr>
    </p:bg>
    <p:spTree>
      <p:nvGrpSpPr>
        <p:cNvPr id="762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3" name="Google Shape;763;p65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259825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64" name="Google Shape;764;p6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765" name="Google Shape;765;p6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66" name="Google Shape;766;p65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Geography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67" name="Google Shape;767;p65"/>
          <p:cNvSpPr txBox="1"/>
          <p:nvPr>
            <p:ph idx="1" type="subTitle"/>
          </p:nvPr>
        </p:nvSpPr>
        <p:spPr>
          <a:xfrm>
            <a:off x="890225" y="4327975"/>
            <a:ext cx="5997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68" name="Google Shape;768;p6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69" name="Google Shape;769;p65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History" showMasterSp="0">
  <p:cSld name="Title Slide 2_1_1_1_1">
    <p:bg>
      <p:bgPr>
        <a:solidFill>
          <a:srgbClr val="BEF2BD"/>
        </a:solidFill>
      </p:bgPr>
    </p:bg>
    <p:spTree>
      <p:nvGrpSpPr>
        <p:cNvPr id="770" name="Shape 7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1" name="Google Shape;771;p66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72" name="Google Shape;772;p6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73" name="Google Shape;773;p6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History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74" name="Google Shape;774;p66"/>
          <p:cNvSpPr txBox="1"/>
          <p:nvPr>
            <p:ph idx="1" type="subTitle"/>
          </p:nvPr>
        </p:nvSpPr>
        <p:spPr>
          <a:xfrm>
            <a:off x="890225" y="4327975"/>
            <a:ext cx="5804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75" name="Google Shape;775;p6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76" name="Google Shape;776;p66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777" name="Google Shape;777;p66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778" name="Google Shape;778;p6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79" name="Google Shape;779;p66"/>
            <p:cNvSpPr/>
            <p:nvPr/>
          </p:nvSpPr>
          <p:spPr>
            <a:xfrm>
              <a:off x="6860400" y="1205850"/>
              <a:ext cx="1959600" cy="13659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780" name="Google Shape;780;p66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78432">
              <a:off x="7001357" y="1317070"/>
              <a:ext cx="1677682" cy="114346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usic" showMasterSp="0">
  <p:cSld name="Title Slide 2_1_1_1_1_1">
    <p:bg>
      <p:bgPr>
        <a:solidFill>
          <a:srgbClr val="BEF2BD"/>
        </a:solidFill>
      </p:bgPr>
    </p:bg>
    <p:spTree>
      <p:nvGrpSpPr>
        <p:cNvPr id="781" name="Shape 7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2" name="Google Shape;782;p6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783" name="Google Shape;783;p6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84" name="Google Shape;784;p67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Music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85" name="Google Shape;785;p67"/>
          <p:cNvSpPr txBox="1"/>
          <p:nvPr>
            <p:ph idx="1" type="subTitle"/>
          </p:nvPr>
        </p:nvSpPr>
        <p:spPr>
          <a:xfrm>
            <a:off x="890225" y="4327975"/>
            <a:ext cx="57870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86" name="Google Shape;786;p6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87" name="Google Shape;787;p67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788" name="Google Shape;788;p67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661625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Science" showMasterSp="0">
  <p:cSld name="Title Slide 2_1_1_1_1_1_1">
    <p:bg>
      <p:bgPr>
        <a:solidFill>
          <a:srgbClr val="BEF2BD"/>
        </a:solidFill>
      </p:bgPr>
    </p:bg>
    <p:spTree>
      <p:nvGrpSpPr>
        <p:cNvPr id="789" name="Shape 7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0" name="Google Shape;790;p6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91" name="Google Shape;791;p68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Science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92" name="Google Shape;792;p68"/>
          <p:cNvSpPr txBox="1"/>
          <p:nvPr>
            <p:ph idx="1" type="subTitle"/>
          </p:nvPr>
        </p:nvSpPr>
        <p:spPr>
          <a:xfrm>
            <a:off x="890225" y="4327975"/>
            <a:ext cx="57927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93" name="Google Shape;793;p6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94" name="Google Shape;794;p68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795" name="Google Shape;795;p68"/>
          <p:cNvPicPr preferRelativeResize="0"/>
          <p:nvPr/>
        </p:nvPicPr>
        <p:blipFill rotWithShape="1">
          <a:blip r:embed="rId3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96" name="Google Shape;796;p68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797" name="Google Shape;797;p6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98" name="Google Shape;798;p68"/>
            <p:cNvSpPr/>
            <p:nvPr/>
          </p:nvSpPr>
          <p:spPr>
            <a:xfrm>
              <a:off x="6860400" y="869975"/>
              <a:ext cx="1959600" cy="20070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799" name="Google Shape;799;p6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11816">
              <a:off x="7083000" y="1110274"/>
              <a:ext cx="1514398" cy="15263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Biology" showMasterSp="0">
  <p:cSld name="Title Slide 2_1_1_1_1_1_1_1">
    <p:bg>
      <p:bgPr>
        <a:solidFill>
          <a:srgbClr val="BEF2BD"/>
        </a:solidFill>
      </p:bgPr>
    </p:bg>
    <p:spTree>
      <p:nvGrpSpPr>
        <p:cNvPr id="800" name="Shape 8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1" name="Google Shape;801;p69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802" name="Google Shape;802;p6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03" name="Google Shape;803;p6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04" name="Google Shape;804;p6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Biology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05" name="Google Shape;805;p69"/>
          <p:cNvSpPr txBox="1"/>
          <p:nvPr>
            <p:ph idx="1" type="subTitle"/>
          </p:nvPr>
        </p:nvSpPr>
        <p:spPr>
          <a:xfrm>
            <a:off x="890225" y="4327975"/>
            <a:ext cx="5775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06" name="Google Shape;806;p6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07" name="Google Shape;807;p69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Physics" showMasterSp="0">
  <p:cSld name="Title Slide 2_1_1_1_1_1_1_1_1">
    <p:bg>
      <p:bgPr>
        <a:solidFill>
          <a:srgbClr val="BEF2BD"/>
        </a:solidFill>
      </p:bgPr>
    </p:bg>
    <p:spTree>
      <p:nvGrpSpPr>
        <p:cNvPr id="808" name="Shape 8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9" name="Google Shape;809;p70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810" name="Google Shape;810;p7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11" name="Google Shape;811;p7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Physics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12" name="Google Shape;812;p70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13" name="Google Shape;813;p7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14" name="Google Shape;814;p70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815" name="Google Shape;815;p70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816" name="Google Shape;816;p7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17" name="Google Shape;817;p70"/>
            <p:cNvSpPr/>
            <p:nvPr/>
          </p:nvSpPr>
          <p:spPr>
            <a:xfrm>
              <a:off x="6898050" y="839288"/>
              <a:ext cx="1959600" cy="23547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818" name="Google Shape;818;p7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84492">
              <a:off x="7235674" y="1037850"/>
              <a:ext cx="1204851" cy="195757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hemistry" showMasterSp="0">
  <p:cSld name="Title Slide 2_1_1_1_1_1_1_1_1_1">
    <p:bg>
      <p:bgPr>
        <a:solidFill>
          <a:srgbClr val="BEF2BD"/>
        </a:solidFill>
      </p:bgPr>
    </p:bg>
    <p:spTree>
      <p:nvGrpSpPr>
        <p:cNvPr id="819" name="Shape 8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0" name="Google Shape;820;p71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117400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21" name="Google Shape;821;p7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22" name="Google Shape;822;p71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23" name="Google Shape;823;p71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Chemistry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4" name="Google Shape;824;p71"/>
          <p:cNvSpPr txBox="1"/>
          <p:nvPr>
            <p:ph idx="1" type="subTitle"/>
          </p:nvPr>
        </p:nvSpPr>
        <p:spPr>
          <a:xfrm>
            <a:off x="890225" y="4327975"/>
            <a:ext cx="5855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25" name="Google Shape;825;p7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26" name="Google Shape;826;p71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1 Outcome">
  <p:cSld name="CUSTOM_5">
    <p:bg>
      <p:bgPr>
        <a:solidFill>
          <a:srgbClr val="BEF2BD"/>
        </a:solidFill>
      </p:bgPr>
    </p:bg>
    <p:spTree>
      <p:nvGrpSpPr>
        <p:cNvPr id="827" name="Shape 8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8" name="Google Shape;828;p7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3225" y="13883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829" name="Google Shape;829;p72"/>
          <p:cNvSpPr txBox="1"/>
          <p:nvPr/>
        </p:nvSpPr>
        <p:spPr>
          <a:xfrm>
            <a:off x="325207" y="454765"/>
            <a:ext cx="4575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latin typeface="Lexend"/>
                <a:ea typeface="Lexend"/>
                <a:cs typeface="Lexend"/>
                <a:sym typeface="Lexend"/>
              </a:rPr>
              <a:t>Outcome</a:t>
            </a:r>
            <a:endParaRPr b="1" sz="2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0" name="Google Shape;830;p72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2 Hidden guidance slide">
  <p:cSld name="CUSTOM_1">
    <p:spTree>
      <p:nvGrpSpPr>
        <p:cNvPr id="831" name="Shape 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2" name="Google Shape;832;p73"/>
          <p:cNvSpPr txBox="1"/>
          <p:nvPr/>
        </p:nvSpPr>
        <p:spPr>
          <a:xfrm>
            <a:off x="177375" y="724875"/>
            <a:ext cx="4241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Oak’s lessons are structured around 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learning cycles</a:t>
            </a:r>
            <a:r>
              <a:rPr i="1" lang="en-GB" sz="1200"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These are indicated through colour in the slide deck: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3" name="Google Shape;833;p73"/>
          <p:cNvSpPr txBox="1"/>
          <p:nvPr/>
        </p:nvSpPr>
        <p:spPr>
          <a:xfrm>
            <a:off x="177375" y="248475"/>
            <a:ext cx="4241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Oak’s lesson structure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4" name="Google Shape;834;p73"/>
          <p:cNvSpPr txBox="1"/>
          <p:nvPr/>
        </p:nvSpPr>
        <p:spPr>
          <a:xfrm>
            <a:off x="4825725" y="248475"/>
            <a:ext cx="4012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Useful links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5" name="Google Shape;835;p73"/>
          <p:cNvSpPr txBox="1"/>
          <p:nvPr/>
        </p:nvSpPr>
        <p:spPr>
          <a:xfrm>
            <a:off x="177375" y="3053550"/>
            <a:ext cx="420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Each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 learning cycle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covers several phases: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6" name="Google Shape;836;p73"/>
          <p:cNvSpPr txBox="1"/>
          <p:nvPr/>
        </p:nvSpPr>
        <p:spPr>
          <a:xfrm>
            <a:off x="4825725" y="724875"/>
            <a:ext cx="4012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Advice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on                                          to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bring the lesson to life in your classroom and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best fit the needs of your pupils.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837" name="Google Shape;837;p73"/>
          <p:cNvGrpSpPr/>
          <p:nvPr/>
        </p:nvGrpSpPr>
        <p:grpSpPr>
          <a:xfrm>
            <a:off x="2498516" y="1415817"/>
            <a:ext cx="1745270" cy="1430724"/>
            <a:chOff x="2642961" y="1644312"/>
            <a:chExt cx="1454634" cy="1195657"/>
          </a:xfrm>
        </p:grpSpPr>
        <p:pic>
          <p:nvPicPr>
            <p:cNvPr id="838" name="Google Shape;838;p73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2642975" y="1644312"/>
              <a:ext cx="1454621" cy="287396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839" name="Google Shape;839;p7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42975" y="1936215"/>
              <a:ext cx="1454618" cy="28794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840" name="Google Shape;840;p7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42965" y="2251391"/>
              <a:ext cx="1454621" cy="284581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841" name="Google Shape;841;p73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642961" y="2563206"/>
              <a:ext cx="1454620" cy="276764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</p:grpSp>
      <p:pic>
        <p:nvPicPr>
          <p:cNvPr id="842" name="Google Shape;842;p73"/>
          <p:cNvPicPr preferRelativeResize="0"/>
          <p:nvPr/>
        </p:nvPicPr>
        <p:blipFill rotWithShape="1">
          <a:blip r:embed="rId6">
            <a:alphaModFix/>
          </a:blip>
          <a:srcRect b="5222" l="3910" r="0" t="0"/>
          <a:stretch/>
        </p:blipFill>
        <p:spPr>
          <a:xfrm>
            <a:off x="1252313" y="3417350"/>
            <a:ext cx="2057336" cy="119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43" name="Google Shape;843;p7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46350" y="1549488"/>
            <a:ext cx="2057324" cy="1163398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3)">
  <p:cSld name="CUSTOM_3_1">
    <p:spTree>
      <p:nvGrpSpPr>
        <p:cNvPr id="844" name="Shape 8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5" name="Google Shape;845;p7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46" name="Google Shape;846;p74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47" name="Google Shape;847;p74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8" name="Google Shape;848;p74"/>
          <p:cNvSpPr txBox="1"/>
          <p:nvPr>
            <p:ph idx="1" type="subTitle"/>
          </p:nvPr>
        </p:nvSpPr>
        <p:spPr>
          <a:xfrm>
            <a:off x="323994" y="99364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49" name="Google Shape;849;p74"/>
          <p:cNvSpPr txBox="1"/>
          <p:nvPr>
            <p:ph idx="2" type="subTitle"/>
          </p:nvPr>
        </p:nvSpPr>
        <p:spPr>
          <a:xfrm>
            <a:off x="323994" y="223873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50" name="Google Shape;850;p74"/>
          <p:cNvSpPr txBox="1"/>
          <p:nvPr>
            <p:ph idx="3" type="subTitle"/>
          </p:nvPr>
        </p:nvSpPr>
        <p:spPr>
          <a:xfrm>
            <a:off x="323994" y="348382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.1 Keywords definitions (3)">
  <p:cSld name="CUSTOM_3_1_1">
    <p:spTree>
      <p:nvGrpSpPr>
        <p:cNvPr id="851" name="Shape 8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2" name="Google Shape;852;p7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53" name="Google Shape;853;p75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54" name="Google Shape;854;p75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5" name="Google Shape;855;p75"/>
          <p:cNvSpPr txBox="1"/>
          <p:nvPr>
            <p:ph idx="1" type="subTitle"/>
          </p:nvPr>
        </p:nvSpPr>
        <p:spPr>
          <a:xfrm>
            <a:off x="324000" y="993650"/>
            <a:ext cx="8496000" cy="54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56" name="Google Shape;856;p75"/>
          <p:cNvSpPr txBox="1"/>
          <p:nvPr>
            <p:ph idx="2" type="subTitle"/>
          </p:nvPr>
        </p:nvSpPr>
        <p:spPr>
          <a:xfrm>
            <a:off x="324001" y="22387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57" name="Google Shape;857;p75"/>
          <p:cNvSpPr txBox="1"/>
          <p:nvPr>
            <p:ph idx="3" type="subTitle"/>
          </p:nvPr>
        </p:nvSpPr>
        <p:spPr>
          <a:xfrm>
            <a:off x="324001" y="34838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1 Keyword (4)">
  <p:cSld name="CUSTOM_27_1">
    <p:spTree>
      <p:nvGrpSpPr>
        <p:cNvPr id="858" name="Shape 8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9" name="Google Shape;859;p7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60" name="Google Shape;860;p7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61" name="Google Shape;861;p76"/>
          <p:cNvSpPr txBox="1"/>
          <p:nvPr>
            <p:ph idx="1" type="subTitle"/>
          </p:nvPr>
        </p:nvSpPr>
        <p:spPr>
          <a:xfrm>
            <a:off x="324000" y="90847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62" name="Google Shape;862;p76"/>
          <p:cNvSpPr txBox="1"/>
          <p:nvPr>
            <p:ph idx="2" type="subTitle"/>
          </p:nvPr>
        </p:nvSpPr>
        <p:spPr>
          <a:xfrm>
            <a:off x="324000" y="190562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63" name="Google Shape;863;p76"/>
          <p:cNvSpPr txBox="1"/>
          <p:nvPr>
            <p:ph idx="3" type="subTitle"/>
          </p:nvPr>
        </p:nvSpPr>
        <p:spPr>
          <a:xfrm>
            <a:off x="324000" y="289767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64" name="Google Shape;864;p76"/>
          <p:cNvSpPr txBox="1"/>
          <p:nvPr>
            <p:ph idx="4" type="subTitle"/>
          </p:nvPr>
        </p:nvSpPr>
        <p:spPr>
          <a:xfrm>
            <a:off x="324000" y="3887250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65" name="Google Shape;865;p76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1.1 Keyword definitions (4)">
  <p:cSld name="CUSTOM_27_1_2">
    <p:spTree>
      <p:nvGrpSpPr>
        <p:cNvPr id="866" name="Shape 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7" name="Google Shape;867;p7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68" name="Google Shape;868;p77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69" name="Google Shape;869;p77"/>
          <p:cNvSpPr txBox="1"/>
          <p:nvPr>
            <p:ph idx="1" type="subTitle"/>
          </p:nvPr>
        </p:nvSpPr>
        <p:spPr>
          <a:xfrm>
            <a:off x="324000" y="90847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70" name="Google Shape;870;p77"/>
          <p:cNvSpPr txBox="1"/>
          <p:nvPr>
            <p:ph idx="2" type="subTitle"/>
          </p:nvPr>
        </p:nvSpPr>
        <p:spPr>
          <a:xfrm>
            <a:off x="324000" y="19056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71" name="Google Shape;871;p77"/>
          <p:cNvSpPr txBox="1"/>
          <p:nvPr>
            <p:ph idx="3" type="subTitle"/>
          </p:nvPr>
        </p:nvSpPr>
        <p:spPr>
          <a:xfrm>
            <a:off x="324000" y="289767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72" name="Google Shape;872;p77"/>
          <p:cNvSpPr txBox="1"/>
          <p:nvPr>
            <p:ph idx="4" type="subTitle"/>
          </p:nvPr>
        </p:nvSpPr>
        <p:spPr>
          <a:xfrm>
            <a:off x="324000" y="388725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73" name="Google Shape;873;p77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2 Keywords (5)">
  <p:cSld name="CUSTOM_27_1_1">
    <p:spTree>
      <p:nvGrpSpPr>
        <p:cNvPr id="874" name="Shape 8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5" name="Google Shape;875;p78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76" name="Google Shape;876;p78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77" name="Google Shape;877;p78"/>
          <p:cNvSpPr txBox="1"/>
          <p:nvPr>
            <p:ph idx="1" type="subTitle"/>
          </p:nvPr>
        </p:nvSpPr>
        <p:spPr>
          <a:xfrm>
            <a:off x="324000" y="744038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78" name="Google Shape;878;p78"/>
          <p:cNvSpPr txBox="1"/>
          <p:nvPr>
            <p:ph idx="2" type="subTitle"/>
          </p:nvPr>
        </p:nvSpPr>
        <p:spPr>
          <a:xfrm>
            <a:off x="324000" y="1588788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79" name="Google Shape;879;p78"/>
          <p:cNvSpPr txBox="1"/>
          <p:nvPr>
            <p:ph idx="3" type="subTitle"/>
          </p:nvPr>
        </p:nvSpPr>
        <p:spPr>
          <a:xfrm>
            <a:off x="324000" y="2428437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80" name="Google Shape;880;p78"/>
          <p:cNvSpPr txBox="1"/>
          <p:nvPr>
            <p:ph idx="4" type="subTitle"/>
          </p:nvPr>
        </p:nvSpPr>
        <p:spPr>
          <a:xfrm>
            <a:off x="324000" y="3265613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81" name="Google Shape;881;p78"/>
          <p:cNvSpPr txBox="1"/>
          <p:nvPr>
            <p:ph idx="5" type="subTitle"/>
          </p:nvPr>
        </p:nvSpPr>
        <p:spPr>
          <a:xfrm>
            <a:off x="324000" y="4103813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82" name="Google Shape;882;p78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2.1 Keywords definitions (5)">
  <p:cSld name="CUSTOM_27_1_1_1">
    <p:spTree>
      <p:nvGrpSpPr>
        <p:cNvPr id="883" name="Shape 8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4" name="Google Shape;884;p7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85" name="Google Shape;885;p79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86" name="Google Shape;886;p79"/>
          <p:cNvSpPr txBox="1"/>
          <p:nvPr>
            <p:ph idx="1" type="subTitle"/>
          </p:nvPr>
        </p:nvSpPr>
        <p:spPr>
          <a:xfrm>
            <a:off x="324000" y="74405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87" name="Google Shape;887;p79"/>
          <p:cNvSpPr txBox="1"/>
          <p:nvPr>
            <p:ph idx="2" type="subTitle"/>
          </p:nvPr>
        </p:nvSpPr>
        <p:spPr>
          <a:xfrm>
            <a:off x="324000" y="158880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88" name="Google Shape;888;p79"/>
          <p:cNvSpPr txBox="1"/>
          <p:nvPr>
            <p:ph idx="3" type="subTitle"/>
          </p:nvPr>
        </p:nvSpPr>
        <p:spPr>
          <a:xfrm>
            <a:off x="324000" y="24284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889" name="Google Shape;889;p79"/>
          <p:cNvSpPr txBox="1"/>
          <p:nvPr>
            <p:ph idx="4" type="subTitle"/>
          </p:nvPr>
        </p:nvSpPr>
        <p:spPr>
          <a:xfrm>
            <a:off x="324000" y="32656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890" name="Google Shape;890;p79"/>
          <p:cNvSpPr txBox="1"/>
          <p:nvPr>
            <p:ph idx="5" type="subTitle"/>
          </p:nvPr>
        </p:nvSpPr>
        <p:spPr>
          <a:xfrm>
            <a:off x="324000" y="41038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91" name="Google Shape;891;p79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2)">
  <p:cSld name="CUSTOM_3">
    <p:spTree>
      <p:nvGrpSpPr>
        <p:cNvPr id="892" name="Shape 8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3" name="Google Shape;893;p80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94" name="Google Shape;894;p80"/>
          <p:cNvPicPr preferRelativeResize="0"/>
          <p:nvPr/>
        </p:nvPicPr>
        <p:blipFill rotWithShape="1">
          <a:blip r:embed="rId2">
            <a:alphaModFix/>
          </a:blip>
          <a:srcRect b="3669" l="0" r="0" t="3678"/>
          <a:stretch/>
        </p:blipFill>
        <p:spPr>
          <a:xfrm>
            <a:off x="863550" y="2926472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895" name="Google Shape;895;p80"/>
          <p:cNvPicPr preferRelativeResize="0"/>
          <p:nvPr/>
        </p:nvPicPr>
        <p:blipFill rotWithShape="1">
          <a:blip r:embed="rId3">
            <a:alphaModFix/>
          </a:blip>
          <a:srcRect b="3669" l="0" r="0" t="3678"/>
          <a:stretch/>
        </p:blipFill>
        <p:spPr>
          <a:xfrm>
            <a:off x="863550" y="1989425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896" name="Google Shape;896;p80"/>
          <p:cNvPicPr preferRelativeResize="0"/>
          <p:nvPr/>
        </p:nvPicPr>
        <p:blipFill rotWithShape="1">
          <a:blip r:embed="rId4">
            <a:alphaModFix/>
          </a:blip>
          <a:srcRect b="0" l="74623" r="0" t="0"/>
          <a:stretch/>
        </p:blipFill>
        <p:spPr>
          <a:xfrm>
            <a:off x="863550" y="1954586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97" name="Google Shape;897;p80"/>
          <p:cNvCxnSpPr>
            <a:endCxn id="898" idx="2"/>
          </p:cNvCxnSpPr>
          <p:nvPr/>
        </p:nvCxnSpPr>
        <p:spPr>
          <a:xfrm flipH="1">
            <a:off x="645063" y="2017282"/>
            <a:ext cx="2700" cy="14805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899" name="Google Shape;899;p8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482" y="1993619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900" name="Google Shape;900;p80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01" name="Google Shape;901;p80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898" name="Google Shape;898;p8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340" y="2925705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902" name="Google Shape;902;p80"/>
          <p:cNvPicPr preferRelativeResize="0"/>
          <p:nvPr/>
        </p:nvPicPr>
        <p:blipFill rotWithShape="1">
          <a:blip r:embed="rId7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03" name="Google Shape;903;p80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4" name="Google Shape;904;p80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3)">
  <p:cSld name="CUSTOM_3_2">
    <p:spTree>
      <p:nvGrpSpPr>
        <p:cNvPr id="905" name="Shape 9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6" name="Google Shape;906;p81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642223"/>
            <a:ext cx="7439125" cy="5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907" name="Google Shape;907;p8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6009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08" name="Google Shape;908;p81"/>
          <p:cNvPicPr preferRelativeResize="0"/>
          <p:nvPr/>
        </p:nvPicPr>
        <p:blipFill rotWithShape="1">
          <a:blip r:embed="rId4">
            <a:alphaModFix/>
          </a:blip>
          <a:srcRect b="3669" l="0" r="0" t="3678"/>
          <a:stretch/>
        </p:blipFill>
        <p:spPr>
          <a:xfrm>
            <a:off x="863550" y="2704186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09" name="Google Shape;909;p8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10" name="Google Shape;910;p81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1678325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11" name="Google Shape;911;p8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6434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12" name="Google Shape;912;p81"/>
          <p:cNvCxnSpPr>
            <a:endCxn id="913" idx="2"/>
          </p:cNvCxnSpPr>
          <p:nvPr/>
        </p:nvCxnSpPr>
        <p:spPr>
          <a:xfrm>
            <a:off x="647802" y="1841898"/>
            <a:ext cx="0" cy="23664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913" name="Google Shape;913;p8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079" y="36362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914" name="Google Shape;914;p8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482" y="1682508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915" name="Google Shape;915;p81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16" name="Google Shape;916;p81"/>
          <p:cNvSpPr txBox="1"/>
          <p:nvPr>
            <p:ph idx="2" type="title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17" name="Google Shape;917;p81"/>
          <p:cNvSpPr txBox="1"/>
          <p:nvPr>
            <p:ph idx="3" type="title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918" name="Google Shape;918;p8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919" name="Google Shape;919;p81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20" name="Google Shape;920;p81"/>
          <p:cNvPicPr preferRelativeResize="0"/>
          <p:nvPr/>
        </p:nvPicPr>
        <p:blipFill rotWithShape="1">
          <a:blip r:embed="rId9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21" name="Google Shape;921;p81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2" name="Google Shape;922;p81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4)">
  <p:cSld name="CUSTOM_4">
    <p:spTree>
      <p:nvGrpSpPr>
        <p:cNvPr id="923" name="Shape 9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4" name="Google Shape;924;p82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146932"/>
            <a:ext cx="7439125" cy="56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5" name="Google Shape;925;p82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10561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26" name="Google Shape;926;p82"/>
          <p:cNvPicPr preferRelativeResize="0"/>
          <p:nvPr/>
        </p:nvPicPr>
        <p:blipFill rotWithShape="1">
          <a:blip r:embed="rId4">
            <a:alphaModFix/>
          </a:blip>
          <a:srcRect b="4396" l="0" r="0" t="4387"/>
          <a:stretch/>
        </p:blipFill>
        <p:spPr>
          <a:xfrm>
            <a:off x="863550" y="3971358"/>
            <a:ext cx="7439126" cy="563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927" name="Google Shape;927;p82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93964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28" name="Google Shape;928;p82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2292191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929" name="Google Shape;929;p82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26599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30" name="Google Shape;930;p82"/>
          <p:cNvPicPr preferRelativeResize="0"/>
          <p:nvPr/>
        </p:nvPicPr>
        <p:blipFill rotWithShape="1">
          <a:blip r:embed="rId6">
            <a:alphaModFix/>
          </a:blip>
          <a:srcRect b="3669" l="0" r="0" t="3678"/>
          <a:stretch/>
        </p:blipFill>
        <p:spPr>
          <a:xfrm>
            <a:off x="863550" y="1457950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931" name="Google Shape;931;p82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423110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32" name="Google Shape;932;p82"/>
          <p:cNvCxnSpPr/>
          <p:nvPr/>
        </p:nvCxnSpPr>
        <p:spPr>
          <a:xfrm>
            <a:off x="647802" y="1725234"/>
            <a:ext cx="600" cy="26799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933" name="Google Shape;933;p8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6079" y="313465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934" name="Google Shape;934;p82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57" y="1462166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935" name="Google Shape;935;p82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3340" y="2287588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936" name="Google Shape;936;p82"/>
          <p:cNvSpPr txBox="1"/>
          <p:nvPr>
            <p:ph type="title"/>
          </p:nvPr>
        </p:nvSpPr>
        <p:spPr>
          <a:xfrm>
            <a:off x="1224600" y="1466663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37" name="Google Shape;937;p82"/>
          <p:cNvSpPr txBox="1"/>
          <p:nvPr>
            <p:ph idx="2" type="title"/>
          </p:nvPr>
        </p:nvSpPr>
        <p:spPr>
          <a:xfrm>
            <a:off x="1224600" y="2285700"/>
            <a:ext cx="6850800" cy="57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38" name="Google Shape;938;p82"/>
          <p:cNvSpPr txBox="1"/>
          <p:nvPr>
            <p:ph idx="3" type="title"/>
          </p:nvPr>
        </p:nvSpPr>
        <p:spPr>
          <a:xfrm>
            <a:off x="1224600" y="3160338"/>
            <a:ext cx="6850800" cy="536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39" name="Google Shape;939;p82"/>
          <p:cNvSpPr txBox="1"/>
          <p:nvPr>
            <p:ph idx="4" type="title"/>
          </p:nvPr>
        </p:nvSpPr>
        <p:spPr>
          <a:xfrm>
            <a:off x="1224600" y="3971414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940" name="Google Shape;940;p82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63341" y="3969363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941" name="Google Shape;941;p82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42" name="Google Shape;942;p82"/>
          <p:cNvPicPr preferRelativeResize="0"/>
          <p:nvPr/>
        </p:nvPicPr>
        <p:blipFill rotWithShape="1">
          <a:blip r:embed="rId11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43" name="Google Shape;943;p82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4" name="Google Shape;944;p82"/>
          <p:cNvSpPr txBox="1"/>
          <p:nvPr>
            <p:ph idx="5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0 Explanation blank - purple ">
  <p:cSld name="TITLE_AND_TWO_COLUMNS_1_1_6_2_1_4">
    <p:spTree>
      <p:nvGrpSpPr>
        <p:cNvPr id="945" name="Shape 9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6" name="Google Shape;946;p8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947" name="Google Shape;947;p83"/>
          <p:cNvSpPr/>
          <p:nvPr/>
        </p:nvSpPr>
        <p:spPr>
          <a:xfrm>
            <a:off x="-1" y="-2"/>
            <a:ext cx="91476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8" name="Google Shape;948;p8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949" name="Google Shape;949;p8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950" name="Google Shape;950;p8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951" name="Google Shape;951;p83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0 Explanation blank - jade">
  <p:cSld name="TITLE_AND_TWO_COLUMNS_1_1_6_2_1_2">
    <p:spTree>
      <p:nvGrpSpPr>
        <p:cNvPr id="952" name="Shape 9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3" name="Google Shape;953;p8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54" name="Google Shape;954;p8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5" name="Google Shape;955;p8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956" name="Google Shape;956;p84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7" name="Google Shape;957;p8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958" name="Google Shape;958;p8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0 Explanation blank - blue ">
  <p:cSld name="TITLE_AND_TWO_COLUMNS_1_1_6_2_2">
    <p:spTree>
      <p:nvGrpSpPr>
        <p:cNvPr id="959" name="Shape 9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0" name="Google Shape;960;p8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61" name="Google Shape;961;p8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2" name="Google Shape;962;p8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963" name="Google Shape;963;p85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4" name="Google Shape;964;p8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965" name="Google Shape;965;p8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0 Explanation blank - pink ">
  <p:cSld name="TITLE_AND_TWO_COLUMNS_1_1_6_2_1_1">
    <p:spTree>
      <p:nvGrpSpPr>
        <p:cNvPr id="966" name="Shape 9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7" name="Google Shape;967;p8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68" name="Google Shape;968;p8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9" name="Google Shape;969;p8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970" name="Google Shape;970;p86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1" name="Google Shape;971;p8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972" name="Google Shape;972;p8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1 I do We do - purple">
  <p:cSld name="TITLE_AND_TWO_COLUMNS_1_1_9_2_2">
    <p:bg>
      <p:bgPr>
        <a:solidFill>
          <a:srgbClr val="F3EEFB"/>
        </a:solidFill>
      </p:bgPr>
    </p:bg>
    <p:spTree>
      <p:nvGrpSpPr>
        <p:cNvPr id="973" name="Shape 9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4" name="Google Shape;974;p87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75" name="Google Shape;975;p8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976" name="Google Shape;976;p8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7" name="Google Shape;977;p87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978" name="Google Shape;978;p87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979" name="Google Shape;979;p87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980" name="Google Shape;980;p87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981" name="Google Shape;981;p8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82" name="Google Shape;982;p87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983" name="Google Shape;983;p87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984" name="Google Shape;984;p8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85" name="Google Shape;985;p87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1 I do We do - jade">
  <p:cSld name="TITLE_AND_TWO_COLUMNS_1_1_9_2_2_1_1">
    <p:bg>
      <p:bgPr>
        <a:solidFill>
          <a:srgbClr val="E6F2F2"/>
        </a:solidFill>
      </p:bgPr>
    </p:bg>
    <p:spTree>
      <p:nvGrpSpPr>
        <p:cNvPr id="986" name="Shape 9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7" name="Google Shape;987;p88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88" name="Google Shape;988;p8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89" name="Google Shape;989;p8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0" name="Google Shape;990;p88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991" name="Google Shape;991;p88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992" name="Google Shape;992;p8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993" name="Google Shape;993;p88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994" name="Google Shape;994;p8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95" name="Google Shape;995;p88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996" name="Google Shape;996;p88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997" name="Google Shape;997;p8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98" name="Google Shape;998;p88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1 I do We do - blue">
  <p:cSld name="TITLE_AND_TWO_COLUMNS_1_1_9_2_3">
    <p:bg>
      <p:bgPr>
        <a:solidFill>
          <a:srgbClr val="EBEDFE"/>
        </a:solidFill>
      </p:bgPr>
    </p:bg>
    <p:spTree>
      <p:nvGrpSpPr>
        <p:cNvPr id="999" name="Shape 9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" name="Google Shape;1000;p89"/>
          <p:cNvSpPr/>
          <p:nvPr/>
        </p:nvSpPr>
        <p:spPr>
          <a:xfrm>
            <a:off x="0" y="18750"/>
            <a:ext cx="4572300" cy="512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01" name="Google Shape;1001;p8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002" name="Google Shape;1002;p8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3" name="Google Shape;1003;p89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04" name="Google Shape;1004;p89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05" name="Google Shape;1005;p8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1006" name="Google Shape;1006;p89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1007" name="Google Shape;1007;p8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08" name="Google Shape;1008;p89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09" name="Google Shape;1009;p89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1010" name="Google Shape;1010;p8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11" name="Google Shape;1011;p89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1 I do We do - pink">
  <p:cSld name="TITLE_AND_TWO_COLUMNS_1_1_9_2_2_1_1_1">
    <p:bg>
      <p:bgPr>
        <a:solidFill>
          <a:srgbClr val="FAEAF6"/>
        </a:solidFill>
      </p:bgPr>
    </p:bg>
    <p:spTree>
      <p:nvGrpSpPr>
        <p:cNvPr id="1012" name="Shape 10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" name="Google Shape;1013;p90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14" name="Google Shape;1014;p9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015" name="Google Shape;1015;p90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6" name="Google Shape;1016;p90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17" name="Google Shape;1017;p90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18" name="Google Shape;1018;p9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1019" name="Google Shape;1019;p90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1020" name="Google Shape;1020;p9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21" name="Google Shape;1021;p90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22" name="Google Shape;1022;p90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1023" name="Google Shape;1023;p9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24" name="Google Shape;1024;p90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2 CfU true/false justify - purple">
  <p:cSld name="TITLE_AND_TWO_COLUMNS_1_1_9_1_3_1">
    <p:bg>
      <p:bgPr>
        <a:solidFill>
          <a:srgbClr val="F3EEFB"/>
        </a:solidFill>
      </p:bgPr>
    </p:bg>
    <p:spTree>
      <p:nvGrpSpPr>
        <p:cNvPr id="1025" name="Shape 10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Google Shape;1026;p9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7" name="Google Shape;1027;p9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8" name="Google Shape;1028;p9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029" name="Google Shape;1029;p9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0" name="Google Shape;1030;p91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1" name="Google Shape;1031;p91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2" name="Google Shape;1032;p91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3" name="Google Shape;1033;p91"/>
          <p:cNvSpPr txBox="1"/>
          <p:nvPr>
            <p:ph idx="1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34" name="Google Shape;1034;p91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35" name="Google Shape;1035;p91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1036" name="Google Shape;1036;p91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37" name="Google Shape;1037;p91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8" name="Google Shape;1038;p91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39" name="Google Shape;1039;p9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0" name="Google Shape;1040;p9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1" name="Google Shape;1041;p9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1042" name="Google Shape;1042;p91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1043" name="Google Shape;1043;p91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44" name="Google Shape;1044;p9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45" name="Google Shape;1045;p91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1046" name="Google Shape;1046;p91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47" name="Google Shape;1047;p9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2 CfU true/false justify - jade">
  <p:cSld name="TITLE_AND_TWO_COLUMNS_1_1_9_1_3_1_1_1">
    <p:bg>
      <p:bgPr>
        <a:solidFill>
          <a:srgbClr val="E6F2F2"/>
        </a:solidFill>
      </p:bgPr>
    </p:bg>
    <p:spTree>
      <p:nvGrpSpPr>
        <p:cNvPr id="1048" name="Shape 10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9" name="Google Shape;1049;p9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050" name="Google Shape;1050;p9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1" name="Google Shape;1051;p92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2" name="Google Shape;1052;p92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3" name="Google Shape;1053;p92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4" name="Google Shape;1054;p92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55" name="Google Shape;1055;p92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1056" name="Google Shape;1056;p9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7" name="Google Shape;1057;p9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8" name="Google Shape;1058;p9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59" name="Google Shape;1059;p92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60" name="Google Shape;1060;p92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061" name="Google Shape;1061;p92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1062" name="Google Shape;1062;p9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63" name="Google Shape;1063;p9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64" name="Google Shape;1064;p92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1065" name="Google Shape;1065;p9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66" name="Google Shape;1066;p9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067" name="Google Shape;1067;p9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8" name="Google Shape;1068;p9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1069" name="Google Shape;1069;p92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0" name="Google Shape;1070;p92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2 CfU true/false justify - blue">
  <p:cSld name="TITLE_AND_TWO_COLUMNS_1_1_9_1_3_2">
    <p:bg>
      <p:bgPr>
        <a:solidFill>
          <a:srgbClr val="EBEDFE"/>
        </a:solidFill>
      </p:bgPr>
    </p:bg>
    <p:spTree>
      <p:nvGrpSpPr>
        <p:cNvPr id="1071" name="Shape 10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2" name="Google Shape;1072;p9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073" name="Google Shape;1073;p9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4" name="Google Shape;1074;p93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5" name="Google Shape;1075;p93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6" name="Google Shape;1076;p93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7" name="Google Shape;1077;p93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78" name="Google Shape;1078;p93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1079" name="Google Shape;1079;p9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80" name="Google Shape;1080;p9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1" name="Google Shape;1081;p9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82" name="Google Shape;1082;p93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83" name="Google Shape;1083;p93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084" name="Google Shape;1084;p93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1085" name="Google Shape;1085;p9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86" name="Google Shape;1086;p9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87" name="Google Shape;1087;p93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1088" name="Google Shape;1088;p9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89" name="Google Shape;1089;p9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090" name="Google Shape;1090;p9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1" name="Google Shape;1091;p9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1092" name="Google Shape;1092;p93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3" name="Google Shape;1093;p93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2 CfU true/false justify - pink">
  <p:cSld name="TITLE_AND_TWO_COLUMNS_1_1_9_1_3_1_1_1_1">
    <p:bg>
      <p:bgPr>
        <a:solidFill>
          <a:srgbClr val="FAEAF6"/>
        </a:solidFill>
      </p:bgPr>
    </p:bg>
    <p:spTree>
      <p:nvGrpSpPr>
        <p:cNvPr id="1094" name="Shape 10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5" name="Google Shape;1095;p9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096" name="Google Shape;1096;p9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7" name="Google Shape;1097;p94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8" name="Google Shape;1098;p94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9" name="Google Shape;1099;p94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0" name="Google Shape;1100;p94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01" name="Google Shape;1101;p94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1102" name="Google Shape;1102;p9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03" name="Google Shape;1103;p9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4" name="Google Shape;1104;p9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05" name="Google Shape;1105;p94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06" name="Google Shape;1106;p94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107" name="Google Shape;1107;p94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1108" name="Google Shape;1108;p9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09" name="Google Shape;1109;p9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10" name="Google Shape;1110;p94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1111" name="Google Shape;1111;p9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12" name="Google Shape;1112;p9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113" name="Google Shape;1113;p9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4" name="Google Shape;1114;p9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1115" name="Google Shape;1115;p94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16" name="Google Shape;1116;p94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3 CfU 3 options - purple">
  <p:cSld name="TITLE_AND_TWO_COLUMNS_1_1_7_1">
    <p:bg>
      <p:bgPr>
        <a:solidFill>
          <a:srgbClr val="F3EEFB"/>
        </a:solidFill>
      </p:bgPr>
    </p:bg>
    <p:spTree>
      <p:nvGrpSpPr>
        <p:cNvPr id="1117" name="Shape 1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8" name="Google Shape;1118;p9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19" name="Google Shape;1119;p9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0" name="Google Shape;1120;p9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121" name="Google Shape;1121;p9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2" name="Google Shape;1122;p9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23" name="Google Shape;1123;p9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24" name="Google Shape;1124;p95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25" name="Google Shape;1125;p95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26" name="Google Shape;1126;p95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127" name="Google Shape;1127;p95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1128" name="Google Shape;1128;p9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29" name="Google Shape;1129;p9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30" name="Google Shape;1130;p95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1131" name="Google Shape;1131;p9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32" name="Google Shape;1132;p9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33" name="Google Shape;1133;p95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1134" name="Google Shape;1134;p9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35" name="Google Shape;1135;p9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3 CfU 3 options - jade">
  <p:cSld name="TITLE_AND_TWO_COLUMNS_1_1_7_1_1_1">
    <p:bg>
      <p:bgPr>
        <a:solidFill>
          <a:srgbClr val="E6F2F2"/>
        </a:solidFill>
      </p:bgPr>
    </p:bg>
    <p:spTree>
      <p:nvGrpSpPr>
        <p:cNvPr id="1136" name="Shape 1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7" name="Google Shape;1137;p9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38" name="Google Shape;1138;p9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9" name="Google Shape;1139;p96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140" name="Google Shape;1140;p9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41" name="Google Shape;1141;p9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42" name="Google Shape;1142;p96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43" name="Google Shape;1143;p96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44" name="Google Shape;1144;p96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45" name="Google Shape;1145;p96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146" name="Google Shape;1146;p96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1147" name="Google Shape;1147;p9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48" name="Google Shape;1148;p9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49" name="Google Shape;1149;p96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1150" name="Google Shape;1150;p9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51" name="Google Shape;1151;p9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52" name="Google Shape;1152;p96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1153" name="Google Shape;1153;p9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54" name="Google Shape;1154;p9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3 CfU 3 options - blue">
  <p:cSld name="TITLE_AND_TWO_COLUMNS_1_1_7_2">
    <p:bg>
      <p:bgPr>
        <a:solidFill>
          <a:srgbClr val="EBEDFE"/>
        </a:solidFill>
      </p:bgPr>
    </p:bg>
    <p:spTree>
      <p:nvGrpSpPr>
        <p:cNvPr id="1155" name="Shape 1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6" name="Google Shape;1156;p9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57" name="Google Shape;1157;p9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8" name="Google Shape;1158;p97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159" name="Google Shape;1159;p9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0" name="Google Shape;1160;p9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61" name="Google Shape;1161;p97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62" name="Google Shape;1162;p97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63" name="Google Shape;1163;p97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64" name="Google Shape;1164;p97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165" name="Google Shape;1165;p97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1166" name="Google Shape;1166;p9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67" name="Google Shape;1167;p9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68" name="Google Shape;1168;p97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1169" name="Google Shape;1169;p9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70" name="Google Shape;1170;p9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71" name="Google Shape;1171;p97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1172" name="Google Shape;1172;p9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73" name="Google Shape;1173;p9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3 CfU 3 options - pink">
  <p:cSld name="TITLE_AND_TWO_COLUMNS_1_1_7_1_1_1_1">
    <p:bg>
      <p:bgPr>
        <a:solidFill>
          <a:srgbClr val="FAEAF6"/>
        </a:solidFill>
      </p:bgPr>
    </p:bg>
    <p:spTree>
      <p:nvGrpSpPr>
        <p:cNvPr id="1174" name="Shape 1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5" name="Google Shape;1175;p9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76" name="Google Shape;1176;p98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7" name="Google Shape;1177;p98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178" name="Google Shape;1178;p9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9" name="Google Shape;1179;p9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0" name="Google Shape;1180;p98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81" name="Google Shape;1181;p98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82" name="Google Shape;1182;p98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83" name="Google Shape;1183;p98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184" name="Google Shape;1184;p98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1185" name="Google Shape;1185;p9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86" name="Google Shape;1186;p9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87" name="Google Shape;1187;p98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1188" name="Google Shape;1188;p9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89" name="Google Shape;1189;p9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90" name="Google Shape;1190;p98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1191" name="Google Shape;1191;p9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92" name="Google Shape;1192;p9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4 CfU 4 options - purple">
  <p:cSld name="TITLE_AND_TWO_COLUMNS_1_1_8_1">
    <p:bg>
      <p:bgPr>
        <a:solidFill>
          <a:srgbClr val="F3EEFB"/>
        </a:solidFill>
      </p:bgPr>
    </p:bg>
    <p:spTree>
      <p:nvGrpSpPr>
        <p:cNvPr id="1193" name="Shape 1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4" name="Google Shape;1194;p9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95" name="Google Shape;1195;p9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6" name="Google Shape;1196;p99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197" name="Google Shape;1197;p9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98" name="Google Shape;1198;p9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99" name="Google Shape;1199;p99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00" name="Google Shape;1200;p99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01" name="Google Shape;1201;p99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02" name="Google Shape;1202;p99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03" name="Google Shape;1203;p99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204" name="Google Shape;1204;p99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1205" name="Google Shape;1205;p9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06" name="Google Shape;1206;p9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07" name="Google Shape;1207;p99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1208" name="Google Shape;1208;p9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09" name="Google Shape;1209;p9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10" name="Google Shape;1210;p99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1211" name="Google Shape;1211;p9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12" name="Google Shape;1212;p9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13" name="Google Shape;1213;p99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1214" name="Google Shape;1214;p9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15" name="Google Shape;1215;p9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4 CfU 4 options - jade">
  <p:cSld name="TITLE_AND_TWO_COLUMNS_1_1_8_1_1_1">
    <p:bg>
      <p:bgPr>
        <a:solidFill>
          <a:srgbClr val="E6F2F2"/>
        </a:solidFill>
      </p:bgPr>
    </p:bg>
    <p:spTree>
      <p:nvGrpSpPr>
        <p:cNvPr id="1216" name="Shape 1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7" name="Google Shape;1217;p10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18" name="Google Shape;1218;p10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9" name="Google Shape;1219;p100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220" name="Google Shape;1220;p10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1" name="Google Shape;1221;p10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22" name="Google Shape;1222;p100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23" name="Google Shape;1223;p100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24" name="Google Shape;1224;p100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25" name="Google Shape;1225;p100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26" name="Google Shape;1226;p100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227" name="Google Shape;1227;p100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1228" name="Google Shape;1228;p10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29" name="Google Shape;1229;p10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30" name="Google Shape;1230;p100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1231" name="Google Shape;1231;p10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32" name="Google Shape;1232;p10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33" name="Google Shape;1233;p100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1234" name="Google Shape;1234;p10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35" name="Google Shape;1235;p10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36" name="Google Shape;1236;p100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1237" name="Google Shape;1237;p10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38" name="Google Shape;1238;p10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4 CfU 4 options - blue">
  <p:cSld name="TITLE_AND_TWO_COLUMNS_1_1_8_2">
    <p:bg>
      <p:bgPr>
        <a:solidFill>
          <a:srgbClr val="EBEDFE"/>
        </a:solidFill>
      </p:bgPr>
    </p:bg>
    <p:spTree>
      <p:nvGrpSpPr>
        <p:cNvPr id="1239" name="Shape 1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0" name="Google Shape;1240;p10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41" name="Google Shape;1241;p10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2" name="Google Shape;1242;p101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243" name="Google Shape;1243;p10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44" name="Google Shape;1244;p10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45" name="Google Shape;1245;p101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46" name="Google Shape;1246;p101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47" name="Google Shape;1247;p101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48" name="Google Shape;1248;p101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49" name="Google Shape;1249;p101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250" name="Google Shape;1250;p101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1251" name="Google Shape;1251;p10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52" name="Google Shape;1252;p10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53" name="Google Shape;1253;p101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1254" name="Google Shape;1254;p10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55" name="Google Shape;1255;p10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56" name="Google Shape;1256;p101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1257" name="Google Shape;1257;p10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58" name="Google Shape;1258;p10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59" name="Google Shape;1259;p101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1260" name="Google Shape;1260;p10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61" name="Google Shape;1261;p10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4 CfU 4 options - pink">
  <p:cSld name="TITLE_AND_TWO_COLUMNS_1_1_8_1_1_1_1">
    <p:bg>
      <p:bgPr>
        <a:solidFill>
          <a:srgbClr val="FAEAF6"/>
        </a:solidFill>
      </p:bgPr>
    </p:bg>
    <p:spTree>
      <p:nvGrpSpPr>
        <p:cNvPr id="1262" name="Shape 1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3" name="Google Shape;1263;p10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64" name="Google Shape;1264;p102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5" name="Google Shape;1265;p102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266" name="Google Shape;1266;p10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67" name="Google Shape;1267;p10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68" name="Google Shape;1268;p10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69" name="Google Shape;1269;p102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70" name="Google Shape;1270;p102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71" name="Google Shape;1271;p102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72" name="Google Shape;1272;p102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273" name="Google Shape;1273;p102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1274" name="Google Shape;1274;p10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75" name="Google Shape;1275;p10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76" name="Google Shape;1276;p102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1277" name="Google Shape;1277;p10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78" name="Google Shape;1278;p10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79" name="Google Shape;1279;p102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1280" name="Google Shape;1280;p10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81" name="Google Shape;1281;p10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82" name="Google Shape;1282;p102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1283" name="Google Shape;1283;p10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84" name="Google Shape;1284;p10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5 CfU 3 image options - purple">
  <p:cSld name="TITLE_AND_TWO_COLUMNS_1_1_7_1_1_2">
    <p:bg>
      <p:bgPr>
        <a:solidFill>
          <a:srgbClr val="F3EEFB"/>
        </a:solidFill>
      </p:bgPr>
    </p:bg>
    <p:spTree>
      <p:nvGrpSpPr>
        <p:cNvPr id="1285" name="Shape 1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6" name="Google Shape;1286;p10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87" name="Google Shape;1287;p10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8" name="Google Shape;1288;p10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289" name="Google Shape;1289;p10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0" name="Google Shape;1290;p10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91" name="Google Shape;1291;p10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92" name="Google Shape;1292;p103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293" name="Google Shape;1293;p103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294" name="Google Shape;1294;p103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1295" name="Google Shape;1295;p103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1296" name="Google Shape;1296;p10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97" name="Google Shape;1297;p10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98" name="Google Shape;1298;p103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1299" name="Google Shape;1299;p10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00" name="Google Shape;1300;p10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01" name="Google Shape;1301;p103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1302" name="Google Shape;1302;p10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03" name="Google Shape;1303;p10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5 CfU 3 image options - jade">
  <p:cSld name="TITLE_AND_TWO_COLUMNS_1_1_7_1_1_1_2">
    <p:bg>
      <p:bgPr>
        <a:solidFill>
          <a:srgbClr val="E6F2F2"/>
        </a:solidFill>
      </p:bgPr>
    </p:bg>
    <p:spTree>
      <p:nvGrpSpPr>
        <p:cNvPr id="1304" name="Shape 1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5" name="Google Shape;1305;p10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06" name="Google Shape;1306;p10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7" name="Google Shape;1307;p10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308" name="Google Shape;1308;p10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9" name="Google Shape;1309;p10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10" name="Google Shape;1310;p10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11" name="Google Shape;1311;p104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312" name="Google Shape;1312;p104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313" name="Google Shape;1313;p104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1314" name="Google Shape;1314;p104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1315" name="Google Shape;1315;p10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16" name="Google Shape;1316;p10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17" name="Google Shape;1317;p104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1318" name="Google Shape;1318;p10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19" name="Google Shape;1319;p10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20" name="Google Shape;1320;p104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1321" name="Google Shape;1321;p10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22" name="Google Shape;1322;p10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5 CfU 3  image options - blue ">
  <p:cSld name="TITLE_AND_TWO_COLUMNS_1_1_7_2_1">
    <p:bg>
      <p:bgPr>
        <a:solidFill>
          <a:srgbClr val="EBEDFE"/>
        </a:solidFill>
      </p:bgPr>
    </p:bg>
    <p:spTree>
      <p:nvGrpSpPr>
        <p:cNvPr id="1323" name="Shape 1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4" name="Google Shape;1324;p10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25" name="Google Shape;1325;p10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6" name="Google Shape;1326;p10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327" name="Google Shape;1327;p10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8" name="Google Shape;1328;p10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29" name="Google Shape;1329;p10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30" name="Google Shape;1330;p105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331" name="Google Shape;1331;p105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332" name="Google Shape;1332;p105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1333" name="Google Shape;1333;p105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1334" name="Google Shape;1334;p10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35" name="Google Shape;1335;p10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36" name="Google Shape;1336;p105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1337" name="Google Shape;1337;p10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38" name="Google Shape;1338;p10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39" name="Google Shape;1339;p105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1340" name="Google Shape;1340;p10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41" name="Google Shape;1341;p10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5 CfU 3 image options - pink">
  <p:cSld name="TITLE_AND_TWO_COLUMNS_1_1_7_1_1_1_1_1">
    <p:bg>
      <p:bgPr>
        <a:solidFill>
          <a:srgbClr val="FAEAF6"/>
        </a:solidFill>
      </p:bgPr>
    </p:bg>
    <p:spTree>
      <p:nvGrpSpPr>
        <p:cNvPr id="1342" name="Shape 1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3" name="Google Shape;1343;p10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44" name="Google Shape;1344;p10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5" name="Google Shape;1345;p106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346" name="Google Shape;1346;p10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47" name="Google Shape;1347;p10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8" name="Google Shape;1348;p106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49" name="Google Shape;1349;p106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350" name="Google Shape;1350;p106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351" name="Google Shape;1351;p106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1352" name="Google Shape;1352;p106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1353" name="Google Shape;1353;p10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54" name="Google Shape;1354;p10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55" name="Google Shape;1355;p106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1356" name="Google Shape;1356;p10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57" name="Google Shape;1357;p10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58" name="Google Shape;1358;p106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1359" name="Google Shape;1359;p10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60" name="Google Shape;1360;p10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6 CfU blank - purple ">
  <p:cSld name="TITLE_AND_TWO_COLUMNS_1_1_6_2">
    <p:bg>
      <p:bgPr>
        <a:solidFill>
          <a:srgbClr val="F3EEFB"/>
        </a:solidFill>
      </p:bgPr>
    </p:bg>
    <p:spTree>
      <p:nvGrpSpPr>
        <p:cNvPr id="1361" name="Shape 1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2" name="Google Shape;1362;p10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63" name="Google Shape;1363;p10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4" name="Google Shape;1364;p10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1365" name="Google Shape;1365;p10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66" name="Google Shape;1366;p10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67" name="Google Shape;1367;p10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6 CfU blank - jade ">
  <p:cSld name="TITLE_AND_TWO_COLUMNS_1_1_6_2_3_1">
    <p:bg>
      <p:bgPr>
        <a:solidFill>
          <a:srgbClr val="E6F2F2"/>
        </a:solidFill>
      </p:bgPr>
    </p:bg>
    <p:spTree>
      <p:nvGrpSpPr>
        <p:cNvPr id="1368" name="Shape 1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9" name="Google Shape;1369;p10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70" name="Google Shape;1370;p10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1" name="Google Shape;1371;p10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1372" name="Google Shape;1372;p10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73" name="Google Shape;1373;p10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74" name="Google Shape;1374;p10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6 CfU blank - blue ">
  <p:cSld name="TITLE_AND_TWO_COLUMNS_1_1_6_3">
    <p:bg>
      <p:bgPr>
        <a:solidFill>
          <a:srgbClr val="EBEDFE"/>
        </a:solidFill>
      </p:bgPr>
    </p:bg>
    <p:spTree>
      <p:nvGrpSpPr>
        <p:cNvPr id="1375" name="Shape 1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6" name="Google Shape;1376;p10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77" name="Google Shape;1377;p10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8" name="Google Shape;1378;p10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1379" name="Google Shape;1379;p10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80" name="Google Shape;1380;p10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81" name="Google Shape;1381;p10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6 CfU blank - pink ">
  <p:cSld name="TITLE_AND_TWO_COLUMNS_1_1_6_2_3_1_1">
    <p:bg>
      <p:bgPr>
        <a:solidFill>
          <a:srgbClr val="FAEAF6"/>
        </a:solidFill>
      </p:bgPr>
    </p:bg>
    <p:spTree>
      <p:nvGrpSpPr>
        <p:cNvPr id="1382" name="Shape 1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3" name="Google Shape;1383;p11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84" name="Google Shape;1384;p110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5" name="Google Shape;1385;p11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1386" name="Google Shape;1386;p1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87" name="Google Shape;1387;p11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88" name="Google Shape;1388;p11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7 Practice - purple ">
  <p:cSld name="TITLE_AND_TWO_COLUMNS_1_1_5_1_3_1_1">
    <p:spTree>
      <p:nvGrpSpPr>
        <p:cNvPr id="1389" name="Shape 1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0" name="Google Shape;1390;p1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91" name="Google Shape;1391;p11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2" name="Google Shape;1392;p11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93" name="Google Shape;1393;p111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4" name="Google Shape;1394;p111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1395" name="Google Shape;1395;p1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96" name="Google Shape;1396;p11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7 Practice - jade">
  <p:cSld name="TITLE_AND_TWO_COLUMNS_1_1_5_1_3_1_1_1_1">
    <p:spTree>
      <p:nvGrpSpPr>
        <p:cNvPr id="1397" name="Shape 1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8" name="Google Shape;1398;p11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99" name="Google Shape;1399;p11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0" name="Google Shape;1400;p11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01" name="Google Shape;1401;p11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02" name="Google Shape;1402;p112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03" name="Google Shape;1403;p112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1404" name="Google Shape;1404;p1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7 Practice - blue ">
  <p:cSld name="TITLE_AND_TWO_COLUMNS_1_1_5_1_3_1_2">
    <p:spTree>
      <p:nvGrpSpPr>
        <p:cNvPr id="1405" name="Shape 1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6" name="Google Shape;1406;p11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07" name="Google Shape;1407;p11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8" name="Google Shape;1408;p11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09" name="Google Shape;1409;p11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10" name="Google Shape;1410;p113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11" name="Google Shape;1411;p113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1412" name="Google Shape;1412;p1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7 Practice - pink">
  <p:cSld name="TITLE_AND_TWO_COLUMNS_1_1_5_1_3_1_1_1_1_1">
    <p:spTree>
      <p:nvGrpSpPr>
        <p:cNvPr id="1413" name="Shape 1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4" name="Google Shape;1414;p11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15" name="Google Shape;1415;p11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6" name="Google Shape;1416;p11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17" name="Google Shape;1417;p11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18" name="Google Shape;1418;p114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19" name="Google Shape;1419;p114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1420" name="Google Shape;1420;p1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8 Feedback - purple">
  <p:cSld name="TITLE_AND_TWO_COLUMNS_1_1_5_1_3_1_1_1">
    <p:bg>
      <p:bgPr>
        <a:solidFill>
          <a:srgbClr val="F3EEFB"/>
        </a:solidFill>
      </p:bgPr>
    </p:bg>
    <p:spTree>
      <p:nvGrpSpPr>
        <p:cNvPr id="1421" name="Shape 1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2" name="Google Shape;1422;p1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23" name="Google Shape;1423;p11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4" name="Google Shape;1424;p11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25" name="Google Shape;1425;p115"/>
          <p:cNvSpPr txBox="1"/>
          <p:nvPr/>
        </p:nvSpPr>
        <p:spPr>
          <a:xfrm>
            <a:off x="324000" y="45525"/>
            <a:ext cx="1092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6" name="Google Shape;1426;p115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1427" name="Google Shape;1427;p1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428" name="Google Shape;1428;p11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8 Feedback - jade">
  <p:cSld name="TITLE_AND_TWO_COLUMNS_1_1_5_1_3_1_1_1_1_2">
    <p:bg>
      <p:bgPr>
        <a:solidFill>
          <a:srgbClr val="E6F2F2"/>
        </a:solidFill>
      </p:bgPr>
    </p:bg>
    <p:spTree>
      <p:nvGrpSpPr>
        <p:cNvPr id="1429" name="Shape 1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0" name="Google Shape;1430;p11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31" name="Google Shape;1431;p11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2" name="Google Shape;1432;p11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33" name="Google Shape;1433;p116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34" name="Google Shape;1434;p116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35" name="Google Shape;1435;p11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36" name="Google Shape;1436;p1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8 Feedback - blue">
  <p:cSld name="TITLE_AND_TWO_COLUMNS_1_1_5_1_3_1_2_1">
    <p:bg>
      <p:bgPr>
        <a:solidFill>
          <a:srgbClr val="EBEDFE"/>
        </a:solidFill>
      </p:bgPr>
    </p:bg>
    <p:spTree>
      <p:nvGrpSpPr>
        <p:cNvPr id="1437" name="Shape 1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8" name="Google Shape;1438;p11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39" name="Google Shape;1439;p11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0" name="Google Shape;1440;p11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41" name="Google Shape;1441;p117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42" name="Google Shape;1442;p117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43" name="Google Shape;1443;p11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44" name="Google Shape;1444;p1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8 Feedback - pink">
  <p:cSld name="TITLE_AND_TWO_COLUMNS_1_1_5_1_3_1_1_1_1_1_1">
    <p:bg>
      <p:bgPr>
        <a:solidFill>
          <a:srgbClr val="FAEAF6"/>
        </a:solidFill>
      </p:bgPr>
    </p:bg>
    <p:spTree>
      <p:nvGrpSpPr>
        <p:cNvPr id="1445" name="Shape 1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6" name="Google Shape;1446;p11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47" name="Google Shape;1447;p118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8" name="Google Shape;1448;p11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49" name="Google Shape;1449;p118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50" name="Google Shape;1450;p118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51" name="Google Shape;1451;p11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52" name="Google Shape;1452;p1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1">
  <p:cSld name="TITLE_AND_TWO_COLUMNS_1_1_5_1_2_1">
    <p:spTree>
      <p:nvGrpSpPr>
        <p:cNvPr id="1453" name="Shape 1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" name="Google Shape;1454;p119"/>
          <p:cNvSpPr/>
          <p:nvPr/>
        </p:nvSpPr>
        <p:spPr>
          <a:xfrm>
            <a:off x="0" y="0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55" name="Google Shape;1455;p119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58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56" name="Google Shape;1456;p119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57" name="Google Shape;1457;p119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58" name="Google Shape;1458;p119"/>
          <p:cNvSpPr txBox="1"/>
          <p:nvPr>
            <p:ph type="title"/>
          </p:nvPr>
        </p:nvSpPr>
        <p:spPr>
          <a:xfrm>
            <a:off x="1684800" y="157525"/>
            <a:ext cx="57414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2">
  <p:cSld name="TITLE_AND_TWO_COLUMNS_1_1_5_1_2">
    <p:spTree>
      <p:nvGrpSpPr>
        <p:cNvPr id="1459" name="Shape 1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0" name="Google Shape;1460;p120"/>
          <p:cNvSpPr/>
          <p:nvPr/>
        </p:nvSpPr>
        <p:spPr>
          <a:xfrm>
            <a:off x="0" y="0"/>
            <a:ext cx="9144300" cy="773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61" name="Google Shape;1461;p120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7695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62" name="Google Shape;1462;p120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63" name="Google Shape;1463;p120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64" name="Google Shape;1464;p120"/>
          <p:cNvSpPr txBox="1"/>
          <p:nvPr>
            <p:ph type="title"/>
          </p:nvPr>
        </p:nvSpPr>
        <p:spPr>
          <a:xfrm>
            <a:off x="1684800" y="157525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3 Projectable quiz" showMasterSp="0">
  <p:cSld name="Title Slide 3_1">
    <p:bg>
      <p:bgPr>
        <a:solidFill>
          <a:schemeClr val="lt1"/>
        </a:solidFill>
      </p:bgPr>
    </p:bg>
    <p:spTree>
      <p:nvGrpSpPr>
        <p:cNvPr id="1465" name="Shape 1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6" name="Google Shape;1466;p12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  <p:sp>
        <p:nvSpPr>
          <p:cNvPr id="1467" name="Google Shape;1467;p121"/>
          <p:cNvSpPr txBox="1"/>
          <p:nvPr/>
        </p:nvSpPr>
        <p:spPr>
          <a:xfrm>
            <a:off x="1977450" y="3132468"/>
            <a:ext cx="5189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open the interactive quiz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4 Items to copy-paste">
  <p:cSld name="CUSTOM_104_1_2_1_1">
    <p:spTree>
      <p:nvGrpSpPr>
        <p:cNvPr id="1468" name="Shape 1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9" name="Google Shape;1469;p122"/>
          <p:cNvSpPr/>
          <p:nvPr/>
        </p:nvSpPr>
        <p:spPr>
          <a:xfrm>
            <a:off x="3217188" y="4171902"/>
            <a:ext cx="5214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0" name="Google Shape;1470;p122"/>
          <p:cNvSpPr/>
          <p:nvPr/>
        </p:nvSpPr>
        <p:spPr>
          <a:xfrm>
            <a:off x="483925" y="193075"/>
            <a:ext cx="66717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 to copy and paste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1" name="Google Shape;1471;p122"/>
          <p:cNvSpPr/>
          <p:nvPr/>
        </p:nvSpPr>
        <p:spPr>
          <a:xfrm>
            <a:off x="7459200" y="352650"/>
            <a:ext cx="16848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frame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2" name="Google Shape;1472;p122"/>
          <p:cNvSpPr/>
          <p:nvPr/>
        </p:nvSpPr>
        <p:spPr>
          <a:xfrm>
            <a:off x="628788" y="4171893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Agenda dot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3" name="Google Shape;1473;p122"/>
          <p:cNvSpPr/>
          <p:nvPr/>
        </p:nvSpPr>
        <p:spPr>
          <a:xfrm>
            <a:off x="5891525" y="2313000"/>
            <a:ext cx="17964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CfU option letters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4" name="Google Shape;1474;p122"/>
          <p:cNvSpPr/>
          <p:nvPr/>
        </p:nvSpPr>
        <p:spPr>
          <a:xfrm>
            <a:off x="933601" y="2371650"/>
            <a:ext cx="11799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audio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5" name="Google Shape;1475;p122"/>
          <p:cNvSpPr/>
          <p:nvPr/>
        </p:nvSpPr>
        <p:spPr>
          <a:xfrm>
            <a:off x="3444210" y="2377200"/>
            <a:ext cx="11166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video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6" name="Google Shape;1476;p122"/>
          <p:cNvSpPr/>
          <p:nvPr/>
        </p:nvSpPr>
        <p:spPr>
          <a:xfrm>
            <a:off x="4747799" y="4171900"/>
            <a:ext cx="694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Cross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7" name="Google Shape;1477;p122"/>
          <p:cNvSpPr/>
          <p:nvPr/>
        </p:nvSpPr>
        <p:spPr>
          <a:xfrm>
            <a:off x="6451200" y="4171900"/>
            <a:ext cx="14217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Reading icon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5 OGL">
  <p:cSld name="CUSTOM_5_1">
    <p:bg>
      <p:bgPr>
        <a:solidFill>
          <a:srgbClr val="BEF2BD"/>
        </a:solidFill>
      </p:bgPr>
    </p:bg>
    <p:spTree>
      <p:nvGrpSpPr>
        <p:cNvPr id="1478" name="Shape 1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9" name="Google Shape;1479;p12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7200" y="11118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1480" name="Google Shape;1480;p123"/>
          <p:cNvSpPr txBox="1"/>
          <p:nvPr>
            <p:ph idx="1" type="subTitle"/>
          </p:nvPr>
        </p:nvSpPr>
        <p:spPr>
          <a:xfrm>
            <a:off x="661775" y="1190413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6 Blank">
  <p:cSld name="CUSTOM_6">
    <p:spTree>
      <p:nvGrpSpPr>
        <p:cNvPr id="1481" name="Shape 1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2" name="Google Shape;1482;p124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39.xml"/><Relationship Id="rId42" Type="http://schemas.openxmlformats.org/officeDocument/2006/relationships/slideLayout" Target="../slideLayouts/slideLayout41.xml"/><Relationship Id="rId41" Type="http://schemas.openxmlformats.org/officeDocument/2006/relationships/slideLayout" Target="../slideLayouts/slideLayout40.xml"/><Relationship Id="rId44" Type="http://schemas.openxmlformats.org/officeDocument/2006/relationships/slideLayout" Target="../slideLayouts/slideLayout43.xml"/><Relationship Id="rId43" Type="http://schemas.openxmlformats.org/officeDocument/2006/relationships/slideLayout" Target="../slideLayouts/slideLayout42.xml"/><Relationship Id="rId46" Type="http://schemas.openxmlformats.org/officeDocument/2006/relationships/slideLayout" Target="../slideLayouts/slideLayout45.xml"/><Relationship Id="rId45" Type="http://schemas.openxmlformats.org/officeDocument/2006/relationships/slideLayout" Target="../slideLayouts/slideLayout44.xml"/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48" Type="http://schemas.openxmlformats.org/officeDocument/2006/relationships/slideLayout" Target="../slideLayouts/slideLayout47.xml"/><Relationship Id="rId47" Type="http://schemas.openxmlformats.org/officeDocument/2006/relationships/slideLayout" Target="../slideLayouts/slideLayout46.xml"/><Relationship Id="rId49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31" Type="http://schemas.openxmlformats.org/officeDocument/2006/relationships/slideLayout" Target="../slideLayouts/slideLayout30.xml"/><Relationship Id="rId30" Type="http://schemas.openxmlformats.org/officeDocument/2006/relationships/slideLayout" Target="../slideLayouts/slideLayout29.xml"/><Relationship Id="rId33" Type="http://schemas.openxmlformats.org/officeDocument/2006/relationships/slideLayout" Target="../slideLayouts/slideLayout32.xml"/><Relationship Id="rId32" Type="http://schemas.openxmlformats.org/officeDocument/2006/relationships/slideLayout" Target="../slideLayouts/slideLayout31.xml"/><Relationship Id="rId35" Type="http://schemas.openxmlformats.org/officeDocument/2006/relationships/slideLayout" Target="../slideLayouts/slideLayout34.xml"/><Relationship Id="rId34" Type="http://schemas.openxmlformats.org/officeDocument/2006/relationships/slideLayout" Target="../slideLayouts/slideLayout33.xml"/><Relationship Id="rId37" Type="http://schemas.openxmlformats.org/officeDocument/2006/relationships/slideLayout" Target="../slideLayouts/slideLayout36.xml"/><Relationship Id="rId36" Type="http://schemas.openxmlformats.org/officeDocument/2006/relationships/slideLayout" Target="../slideLayouts/slideLayout35.xml"/><Relationship Id="rId39" Type="http://schemas.openxmlformats.org/officeDocument/2006/relationships/slideLayout" Target="../slideLayouts/slideLayout38.xml"/><Relationship Id="rId38" Type="http://schemas.openxmlformats.org/officeDocument/2006/relationships/slideLayout" Target="../slideLayouts/slideLayout37.xml"/><Relationship Id="rId62" Type="http://schemas.openxmlformats.org/officeDocument/2006/relationships/theme" Target="../theme/theme1.xml"/><Relationship Id="rId61" Type="http://schemas.openxmlformats.org/officeDocument/2006/relationships/slideLayout" Target="../slideLayouts/slideLayout60.xml"/><Relationship Id="rId20" Type="http://schemas.openxmlformats.org/officeDocument/2006/relationships/slideLayout" Target="../slideLayouts/slideLayout19.xml"/><Relationship Id="rId22" Type="http://schemas.openxmlformats.org/officeDocument/2006/relationships/slideLayout" Target="../slideLayouts/slideLayout21.xml"/><Relationship Id="rId21" Type="http://schemas.openxmlformats.org/officeDocument/2006/relationships/slideLayout" Target="../slideLayouts/slideLayout20.xml"/><Relationship Id="rId24" Type="http://schemas.openxmlformats.org/officeDocument/2006/relationships/slideLayout" Target="../slideLayouts/slideLayout23.xml"/><Relationship Id="rId23" Type="http://schemas.openxmlformats.org/officeDocument/2006/relationships/slideLayout" Target="../slideLayouts/slideLayout22.xml"/><Relationship Id="rId60" Type="http://schemas.openxmlformats.org/officeDocument/2006/relationships/slideLayout" Target="../slideLayouts/slideLayout59.xml"/><Relationship Id="rId26" Type="http://schemas.openxmlformats.org/officeDocument/2006/relationships/slideLayout" Target="../slideLayouts/slideLayout25.xml"/><Relationship Id="rId25" Type="http://schemas.openxmlformats.org/officeDocument/2006/relationships/slideLayout" Target="../slideLayouts/slideLayout24.xml"/><Relationship Id="rId28" Type="http://schemas.openxmlformats.org/officeDocument/2006/relationships/slideLayout" Target="../slideLayouts/slideLayout27.xml"/><Relationship Id="rId27" Type="http://schemas.openxmlformats.org/officeDocument/2006/relationships/slideLayout" Target="../slideLayouts/slideLayout26.xml"/><Relationship Id="rId29" Type="http://schemas.openxmlformats.org/officeDocument/2006/relationships/slideLayout" Target="../slideLayouts/slideLayout28.xml"/><Relationship Id="rId51" Type="http://schemas.openxmlformats.org/officeDocument/2006/relationships/slideLayout" Target="../slideLayouts/slideLayout50.xml"/><Relationship Id="rId50" Type="http://schemas.openxmlformats.org/officeDocument/2006/relationships/slideLayout" Target="../slideLayouts/slideLayout49.xml"/><Relationship Id="rId53" Type="http://schemas.openxmlformats.org/officeDocument/2006/relationships/slideLayout" Target="../slideLayouts/slideLayout52.xml"/><Relationship Id="rId52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10.xml"/><Relationship Id="rId55" Type="http://schemas.openxmlformats.org/officeDocument/2006/relationships/slideLayout" Target="../slideLayouts/slideLayout54.xml"/><Relationship Id="rId10" Type="http://schemas.openxmlformats.org/officeDocument/2006/relationships/slideLayout" Target="../slideLayouts/slideLayout9.xml"/><Relationship Id="rId54" Type="http://schemas.openxmlformats.org/officeDocument/2006/relationships/slideLayout" Target="../slideLayouts/slideLayout53.xml"/><Relationship Id="rId13" Type="http://schemas.openxmlformats.org/officeDocument/2006/relationships/slideLayout" Target="../slideLayouts/slideLayout12.xml"/><Relationship Id="rId57" Type="http://schemas.openxmlformats.org/officeDocument/2006/relationships/slideLayout" Target="../slideLayouts/slideLayout56.xml"/><Relationship Id="rId12" Type="http://schemas.openxmlformats.org/officeDocument/2006/relationships/slideLayout" Target="../slideLayouts/slideLayout11.xml"/><Relationship Id="rId56" Type="http://schemas.openxmlformats.org/officeDocument/2006/relationships/slideLayout" Target="../slideLayouts/slideLayout55.xml"/><Relationship Id="rId15" Type="http://schemas.openxmlformats.org/officeDocument/2006/relationships/slideLayout" Target="../slideLayouts/slideLayout14.xml"/><Relationship Id="rId59" Type="http://schemas.openxmlformats.org/officeDocument/2006/relationships/slideLayout" Target="../slideLayouts/slideLayout58.xml"/><Relationship Id="rId14" Type="http://schemas.openxmlformats.org/officeDocument/2006/relationships/slideLayout" Target="../slideLayouts/slideLayout13.xml"/><Relationship Id="rId58" Type="http://schemas.openxmlformats.org/officeDocument/2006/relationships/slideLayout" Target="../slideLayouts/slideLayout57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19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17.xml"/></Relationships>
</file>

<file path=ppt/slideMasters/_rels/slideMaster2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99.xml"/><Relationship Id="rId42" Type="http://schemas.openxmlformats.org/officeDocument/2006/relationships/slideLayout" Target="../slideLayouts/slideLayout101.xml"/><Relationship Id="rId41" Type="http://schemas.openxmlformats.org/officeDocument/2006/relationships/slideLayout" Target="../slideLayouts/slideLayout100.xml"/><Relationship Id="rId44" Type="http://schemas.openxmlformats.org/officeDocument/2006/relationships/slideLayout" Target="../slideLayouts/slideLayout103.xml"/><Relationship Id="rId43" Type="http://schemas.openxmlformats.org/officeDocument/2006/relationships/slideLayout" Target="../slideLayouts/slideLayout102.xml"/><Relationship Id="rId46" Type="http://schemas.openxmlformats.org/officeDocument/2006/relationships/slideLayout" Target="../slideLayouts/slideLayout105.xml"/><Relationship Id="rId45" Type="http://schemas.openxmlformats.org/officeDocument/2006/relationships/slideLayout" Target="../slideLayouts/slideLayout104.xml"/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61.xml"/><Relationship Id="rId3" Type="http://schemas.openxmlformats.org/officeDocument/2006/relationships/slideLayout" Target="../slideLayouts/slideLayout62.xml"/><Relationship Id="rId4" Type="http://schemas.openxmlformats.org/officeDocument/2006/relationships/slideLayout" Target="../slideLayouts/slideLayout63.xml"/><Relationship Id="rId9" Type="http://schemas.openxmlformats.org/officeDocument/2006/relationships/slideLayout" Target="../slideLayouts/slideLayout68.xml"/><Relationship Id="rId48" Type="http://schemas.openxmlformats.org/officeDocument/2006/relationships/slideLayout" Target="../slideLayouts/slideLayout107.xml"/><Relationship Id="rId47" Type="http://schemas.openxmlformats.org/officeDocument/2006/relationships/slideLayout" Target="../slideLayouts/slideLayout106.xml"/><Relationship Id="rId49" Type="http://schemas.openxmlformats.org/officeDocument/2006/relationships/slideLayout" Target="../slideLayouts/slideLayout108.xml"/><Relationship Id="rId5" Type="http://schemas.openxmlformats.org/officeDocument/2006/relationships/slideLayout" Target="../slideLayouts/slideLayout64.xml"/><Relationship Id="rId6" Type="http://schemas.openxmlformats.org/officeDocument/2006/relationships/slideLayout" Target="../slideLayouts/slideLayout65.xml"/><Relationship Id="rId7" Type="http://schemas.openxmlformats.org/officeDocument/2006/relationships/slideLayout" Target="../slideLayouts/slideLayout66.xml"/><Relationship Id="rId8" Type="http://schemas.openxmlformats.org/officeDocument/2006/relationships/slideLayout" Target="../slideLayouts/slideLayout67.xml"/><Relationship Id="rId31" Type="http://schemas.openxmlformats.org/officeDocument/2006/relationships/slideLayout" Target="../slideLayouts/slideLayout90.xml"/><Relationship Id="rId30" Type="http://schemas.openxmlformats.org/officeDocument/2006/relationships/slideLayout" Target="../slideLayouts/slideLayout89.xml"/><Relationship Id="rId33" Type="http://schemas.openxmlformats.org/officeDocument/2006/relationships/slideLayout" Target="../slideLayouts/slideLayout92.xml"/><Relationship Id="rId32" Type="http://schemas.openxmlformats.org/officeDocument/2006/relationships/slideLayout" Target="../slideLayouts/slideLayout91.xml"/><Relationship Id="rId35" Type="http://schemas.openxmlformats.org/officeDocument/2006/relationships/slideLayout" Target="../slideLayouts/slideLayout94.xml"/><Relationship Id="rId34" Type="http://schemas.openxmlformats.org/officeDocument/2006/relationships/slideLayout" Target="../slideLayouts/slideLayout93.xml"/><Relationship Id="rId37" Type="http://schemas.openxmlformats.org/officeDocument/2006/relationships/slideLayout" Target="../slideLayouts/slideLayout96.xml"/><Relationship Id="rId36" Type="http://schemas.openxmlformats.org/officeDocument/2006/relationships/slideLayout" Target="../slideLayouts/slideLayout95.xml"/><Relationship Id="rId39" Type="http://schemas.openxmlformats.org/officeDocument/2006/relationships/slideLayout" Target="../slideLayouts/slideLayout98.xml"/><Relationship Id="rId38" Type="http://schemas.openxmlformats.org/officeDocument/2006/relationships/slideLayout" Target="../slideLayouts/slideLayout97.xml"/><Relationship Id="rId62" Type="http://schemas.openxmlformats.org/officeDocument/2006/relationships/slideLayout" Target="../slideLayouts/slideLayout121.xml"/><Relationship Id="rId61" Type="http://schemas.openxmlformats.org/officeDocument/2006/relationships/slideLayout" Target="../slideLayouts/slideLayout120.xml"/><Relationship Id="rId20" Type="http://schemas.openxmlformats.org/officeDocument/2006/relationships/slideLayout" Target="../slideLayouts/slideLayout79.xml"/><Relationship Id="rId64" Type="http://schemas.openxmlformats.org/officeDocument/2006/relationships/theme" Target="../theme/theme2.xml"/><Relationship Id="rId63" Type="http://schemas.openxmlformats.org/officeDocument/2006/relationships/slideLayout" Target="../slideLayouts/slideLayout122.xml"/><Relationship Id="rId22" Type="http://schemas.openxmlformats.org/officeDocument/2006/relationships/slideLayout" Target="../slideLayouts/slideLayout81.xml"/><Relationship Id="rId21" Type="http://schemas.openxmlformats.org/officeDocument/2006/relationships/slideLayout" Target="../slideLayouts/slideLayout80.xml"/><Relationship Id="rId24" Type="http://schemas.openxmlformats.org/officeDocument/2006/relationships/slideLayout" Target="../slideLayouts/slideLayout83.xml"/><Relationship Id="rId23" Type="http://schemas.openxmlformats.org/officeDocument/2006/relationships/slideLayout" Target="../slideLayouts/slideLayout82.xml"/><Relationship Id="rId60" Type="http://schemas.openxmlformats.org/officeDocument/2006/relationships/slideLayout" Target="../slideLayouts/slideLayout119.xml"/><Relationship Id="rId26" Type="http://schemas.openxmlformats.org/officeDocument/2006/relationships/slideLayout" Target="../slideLayouts/slideLayout85.xml"/><Relationship Id="rId25" Type="http://schemas.openxmlformats.org/officeDocument/2006/relationships/slideLayout" Target="../slideLayouts/slideLayout84.xml"/><Relationship Id="rId28" Type="http://schemas.openxmlformats.org/officeDocument/2006/relationships/slideLayout" Target="../slideLayouts/slideLayout87.xml"/><Relationship Id="rId27" Type="http://schemas.openxmlformats.org/officeDocument/2006/relationships/slideLayout" Target="../slideLayouts/slideLayout86.xml"/><Relationship Id="rId29" Type="http://schemas.openxmlformats.org/officeDocument/2006/relationships/slideLayout" Target="../slideLayouts/slideLayout88.xml"/><Relationship Id="rId51" Type="http://schemas.openxmlformats.org/officeDocument/2006/relationships/slideLayout" Target="../slideLayouts/slideLayout110.xml"/><Relationship Id="rId50" Type="http://schemas.openxmlformats.org/officeDocument/2006/relationships/slideLayout" Target="../slideLayouts/slideLayout109.xml"/><Relationship Id="rId53" Type="http://schemas.openxmlformats.org/officeDocument/2006/relationships/slideLayout" Target="../slideLayouts/slideLayout112.xml"/><Relationship Id="rId52" Type="http://schemas.openxmlformats.org/officeDocument/2006/relationships/slideLayout" Target="../slideLayouts/slideLayout111.xml"/><Relationship Id="rId11" Type="http://schemas.openxmlformats.org/officeDocument/2006/relationships/slideLayout" Target="../slideLayouts/slideLayout70.xml"/><Relationship Id="rId55" Type="http://schemas.openxmlformats.org/officeDocument/2006/relationships/slideLayout" Target="../slideLayouts/slideLayout114.xml"/><Relationship Id="rId10" Type="http://schemas.openxmlformats.org/officeDocument/2006/relationships/slideLayout" Target="../slideLayouts/slideLayout69.xml"/><Relationship Id="rId54" Type="http://schemas.openxmlformats.org/officeDocument/2006/relationships/slideLayout" Target="../slideLayouts/slideLayout113.xml"/><Relationship Id="rId13" Type="http://schemas.openxmlformats.org/officeDocument/2006/relationships/slideLayout" Target="../slideLayouts/slideLayout72.xml"/><Relationship Id="rId57" Type="http://schemas.openxmlformats.org/officeDocument/2006/relationships/slideLayout" Target="../slideLayouts/slideLayout116.xml"/><Relationship Id="rId12" Type="http://schemas.openxmlformats.org/officeDocument/2006/relationships/slideLayout" Target="../slideLayouts/slideLayout71.xml"/><Relationship Id="rId56" Type="http://schemas.openxmlformats.org/officeDocument/2006/relationships/slideLayout" Target="../slideLayouts/slideLayout115.xml"/><Relationship Id="rId15" Type="http://schemas.openxmlformats.org/officeDocument/2006/relationships/slideLayout" Target="../slideLayouts/slideLayout74.xml"/><Relationship Id="rId59" Type="http://schemas.openxmlformats.org/officeDocument/2006/relationships/slideLayout" Target="../slideLayouts/slideLayout118.xml"/><Relationship Id="rId14" Type="http://schemas.openxmlformats.org/officeDocument/2006/relationships/slideLayout" Target="../slideLayouts/slideLayout73.xml"/><Relationship Id="rId58" Type="http://schemas.openxmlformats.org/officeDocument/2006/relationships/slideLayout" Target="../slideLayouts/slideLayout117.xml"/><Relationship Id="rId17" Type="http://schemas.openxmlformats.org/officeDocument/2006/relationships/slideLayout" Target="../slideLayouts/slideLayout76.xml"/><Relationship Id="rId16" Type="http://schemas.openxmlformats.org/officeDocument/2006/relationships/slideLayout" Target="../slideLayouts/slideLayout75.xml"/><Relationship Id="rId19" Type="http://schemas.openxmlformats.org/officeDocument/2006/relationships/slideLayout" Target="../slideLayouts/slideLayout78.xml"/><Relationship Id="rId18" Type="http://schemas.openxmlformats.org/officeDocument/2006/relationships/slideLayout" Target="../slideLayouts/slideLayout7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9000" y="523400"/>
            <a:ext cx="8226000" cy="3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●"/>
              <a:def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61950" lvl="1" marL="9144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exend"/>
              <a:buChar char="–"/>
              <a:defRPr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–"/>
              <a:def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49250" lvl="3" marL="18288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exend"/>
              <a:buChar char="–"/>
              <a:defRPr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Kalam"/>
              <a:buChar char="–"/>
              <a:defRPr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pic>
        <p:nvPicPr>
          <p:cNvPr id="8" name="Google Shape;8;p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  <p:sldLayoutId id="2147483668" r:id="rId22"/>
    <p:sldLayoutId id="2147483669" r:id="rId23"/>
    <p:sldLayoutId id="2147483670" r:id="rId24"/>
    <p:sldLayoutId id="2147483671" r:id="rId25"/>
    <p:sldLayoutId id="2147483672" r:id="rId26"/>
    <p:sldLayoutId id="2147483673" r:id="rId27"/>
    <p:sldLayoutId id="2147483674" r:id="rId28"/>
    <p:sldLayoutId id="2147483675" r:id="rId29"/>
    <p:sldLayoutId id="2147483676" r:id="rId30"/>
    <p:sldLayoutId id="2147483677" r:id="rId31"/>
    <p:sldLayoutId id="2147483678" r:id="rId32"/>
    <p:sldLayoutId id="2147483679" r:id="rId33"/>
    <p:sldLayoutId id="2147483680" r:id="rId34"/>
    <p:sldLayoutId id="2147483681" r:id="rId35"/>
    <p:sldLayoutId id="2147483682" r:id="rId36"/>
    <p:sldLayoutId id="2147483683" r:id="rId37"/>
    <p:sldLayoutId id="2147483684" r:id="rId38"/>
    <p:sldLayoutId id="2147483685" r:id="rId39"/>
    <p:sldLayoutId id="2147483686" r:id="rId40"/>
    <p:sldLayoutId id="2147483687" r:id="rId41"/>
    <p:sldLayoutId id="2147483688" r:id="rId42"/>
    <p:sldLayoutId id="2147483689" r:id="rId43"/>
    <p:sldLayoutId id="2147483690" r:id="rId44"/>
    <p:sldLayoutId id="2147483691" r:id="rId45"/>
    <p:sldLayoutId id="2147483692" r:id="rId46"/>
    <p:sldLayoutId id="2147483693" r:id="rId47"/>
    <p:sldLayoutId id="2147483694" r:id="rId48"/>
    <p:sldLayoutId id="2147483695" r:id="rId49"/>
    <p:sldLayoutId id="2147483696" r:id="rId50"/>
    <p:sldLayoutId id="2147483697" r:id="rId51"/>
    <p:sldLayoutId id="2147483698" r:id="rId52"/>
    <p:sldLayoutId id="2147483699" r:id="rId53"/>
    <p:sldLayoutId id="2147483700" r:id="rId54"/>
    <p:sldLayoutId id="2147483701" r:id="rId55"/>
    <p:sldLayoutId id="2147483702" r:id="rId56"/>
    <p:sldLayoutId id="2147483703" r:id="rId57"/>
    <p:sldLayoutId id="2147483704" r:id="rId58"/>
    <p:sldLayoutId id="2147483705" r:id="rId59"/>
    <p:sldLayoutId id="2147483706" r:id="rId60"/>
    <p:sldLayoutId id="2147483707" r:id="rId6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04">
          <p15:clr>
            <a:schemeClr val="dk2"/>
          </p15:clr>
        </p15:guide>
        <p15:guide id="2" pos="1819">
          <p15:clr>
            <a:srgbClr val="0000FF"/>
          </p15:clr>
        </p15:guide>
        <p15:guide id="3" orient="horz" pos="340">
          <p15:clr>
            <a:srgbClr val="222222"/>
          </p15:clr>
        </p15:guide>
        <p15:guide id="4" pos="2123">
          <p15:clr>
            <a:srgbClr val="0000FF"/>
          </p15:clr>
        </p15:guide>
        <p15:guide id="5" pos="2880">
          <p15:clr>
            <a:srgbClr val="EA4335"/>
          </p15:clr>
        </p15:guide>
        <p15:guide id="6" pos="3637">
          <p15:clr>
            <a:srgbClr val="0000FF"/>
          </p15:clr>
        </p15:guide>
        <p15:guide id="7" pos="3941">
          <p15:clr>
            <a:srgbClr val="0000FF"/>
          </p15:clr>
        </p15:guide>
        <p15:guide id="8" pos="5556">
          <p15:clr>
            <a:srgbClr val="222222"/>
          </p15:clr>
        </p15:guide>
        <p15:guide id="9" pos="1061">
          <p15:clr>
            <a:srgbClr val="9AA0A6"/>
          </p15:clr>
        </p15:guide>
        <p15:guide id="10" pos="4699">
          <p15:clr>
            <a:srgbClr val="9AA0A6"/>
          </p15:clr>
        </p15:guide>
        <p15:guide id="11" orient="horz" pos="680">
          <p15:clr>
            <a:srgbClr val="B7B7B7"/>
          </p15:clr>
        </p15:guide>
        <p15:guide id="12" orient="horz" pos="1020">
          <p15:clr>
            <a:srgbClr val="B7B7B7"/>
          </p15:clr>
        </p15:guide>
        <p15:guide id="13" orient="horz" pos="1361">
          <p15:clr>
            <a:srgbClr val="B7B7B7"/>
          </p15:clr>
        </p15:guide>
        <p15:guide id="14" orient="horz" pos="1701">
          <p15:clr>
            <a:srgbClr val="B7B7B7"/>
          </p15:clr>
        </p15:guide>
        <p15:guide id="15" orient="horz" pos="2041">
          <p15:clr>
            <a:srgbClr val="B7B7B7"/>
          </p15:clr>
        </p15:guide>
        <p15:guide id="16" orient="horz" pos="2381">
          <p15:clr>
            <a:srgbClr val="B7B7B7"/>
          </p15:clr>
        </p15:guide>
        <p15:guide id="17" orient="horz" pos="3036">
          <p15:clr>
            <a:srgbClr val="000000"/>
          </p15:clr>
        </p15:guide>
        <p15:guide id="18" pos="2721">
          <p15:clr>
            <a:schemeClr val="dk1"/>
          </p15:clr>
        </p15:guide>
        <p15:guide id="19" pos="3039">
          <p15:clr>
            <a:schemeClr val="dk1"/>
          </p15:clr>
        </p15:guide>
        <p15:guide id="20" orient="horz" pos="510">
          <p15:clr>
            <a:srgbClr val="B7B7B7"/>
          </p15:clr>
        </p15:guide>
        <p15:guide id="21" orient="horz" pos="1620">
          <p15:clr>
            <a:srgbClr val="EA4335"/>
          </p15:clr>
        </p15:guide>
        <p15:guide id="22" orient="horz" pos="2721">
          <p15:clr>
            <a:srgbClr val="B7B7B7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742" name="Shape 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p62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744" name="Google Shape;744;p62"/>
          <p:cNvSpPr txBox="1"/>
          <p:nvPr>
            <p:ph idx="1" type="body"/>
          </p:nvPr>
        </p:nvSpPr>
        <p:spPr>
          <a:xfrm>
            <a:off x="459000" y="523400"/>
            <a:ext cx="8226000" cy="3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●"/>
              <a:def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61950" lvl="1" marL="9144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exend"/>
              <a:buChar char="–"/>
              <a:defRPr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–"/>
              <a:def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49250" lvl="3" marL="18288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exend"/>
              <a:buChar char="–"/>
              <a:defRPr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Kalam"/>
              <a:buChar char="–"/>
              <a:defRPr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pic>
        <p:nvPicPr>
          <p:cNvPr id="745" name="Google Shape;745;p6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708" r:id="rId2"/>
    <p:sldLayoutId id="2147483709" r:id="rId3"/>
    <p:sldLayoutId id="2147483710" r:id="rId4"/>
    <p:sldLayoutId id="2147483711" r:id="rId5"/>
    <p:sldLayoutId id="2147483712" r:id="rId6"/>
    <p:sldLayoutId id="2147483713" r:id="rId7"/>
    <p:sldLayoutId id="2147483714" r:id="rId8"/>
    <p:sldLayoutId id="2147483715" r:id="rId9"/>
    <p:sldLayoutId id="2147483716" r:id="rId10"/>
    <p:sldLayoutId id="2147483717" r:id="rId11"/>
    <p:sldLayoutId id="2147483718" r:id="rId12"/>
    <p:sldLayoutId id="2147483719" r:id="rId13"/>
    <p:sldLayoutId id="2147483720" r:id="rId14"/>
    <p:sldLayoutId id="2147483721" r:id="rId15"/>
    <p:sldLayoutId id="2147483722" r:id="rId16"/>
    <p:sldLayoutId id="2147483723" r:id="rId17"/>
    <p:sldLayoutId id="2147483724" r:id="rId18"/>
    <p:sldLayoutId id="2147483725" r:id="rId19"/>
    <p:sldLayoutId id="2147483726" r:id="rId20"/>
    <p:sldLayoutId id="2147483727" r:id="rId21"/>
    <p:sldLayoutId id="2147483728" r:id="rId22"/>
    <p:sldLayoutId id="2147483729" r:id="rId23"/>
    <p:sldLayoutId id="2147483730" r:id="rId24"/>
    <p:sldLayoutId id="2147483731" r:id="rId25"/>
    <p:sldLayoutId id="2147483732" r:id="rId26"/>
    <p:sldLayoutId id="2147483733" r:id="rId27"/>
    <p:sldLayoutId id="2147483734" r:id="rId28"/>
    <p:sldLayoutId id="2147483735" r:id="rId29"/>
    <p:sldLayoutId id="2147483736" r:id="rId30"/>
    <p:sldLayoutId id="2147483737" r:id="rId31"/>
    <p:sldLayoutId id="2147483738" r:id="rId32"/>
    <p:sldLayoutId id="2147483739" r:id="rId33"/>
    <p:sldLayoutId id="2147483740" r:id="rId34"/>
    <p:sldLayoutId id="2147483741" r:id="rId35"/>
    <p:sldLayoutId id="2147483742" r:id="rId36"/>
    <p:sldLayoutId id="2147483743" r:id="rId37"/>
    <p:sldLayoutId id="2147483744" r:id="rId38"/>
    <p:sldLayoutId id="2147483745" r:id="rId39"/>
    <p:sldLayoutId id="2147483746" r:id="rId40"/>
    <p:sldLayoutId id="2147483747" r:id="rId41"/>
    <p:sldLayoutId id="2147483748" r:id="rId42"/>
    <p:sldLayoutId id="2147483749" r:id="rId43"/>
    <p:sldLayoutId id="2147483750" r:id="rId44"/>
    <p:sldLayoutId id="2147483751" r:id="rId45"/>
    <p:sldLayoutId id="2147483752" r:id="rId46"/>
    <p:sldLayoutId id="2147483753" r:id="rId47"/>
    <p:sldLayoutId id="2147483754" r:id="rId48"/>
    <p:sldLayoutId id="2147483755" r:id="rId49"/>
    <p:sldLayoutId id="2147483756" r:id="rId50"/>
    <p:sldLayoutId id="2147483757" r:id="rId51"/>
    <p:sldLayoutId id="2147483758" r:id="rId52"/>
    <p:sldLayoutId id="2147483759" r:id="rId53"/>
    <p:sldLayoutId id="2147483760" r:id="rId54"/>
    <p:sldLayoutId id="2147483761" r:id="rId55"/>
    <p:sldLayoutId id="2147483762" r:id="rId56"/>
    <p:sldLayoutId id="2147483763" r:id="rId57"/>
    <p:sldLayoutId id="2147483764" r:id="rId58"/>
    <p:sldLayoutId id="2147483765" r:id="rId59"/>
    <p:sldLayoutId id="2147483766" r:id="rId60"/>
    <p:sldLayoutId id="2147483767" r:id="rId61"/>
    <p:sldLayoutId id="2147483768" r:id="rId62"/>
    <p:sldLayoutId id="2147483769" r:id="rId6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04">
          <p15:clr>
            <a:schemeClr val="dk2"/>
          </p15:clr>
        </p15:guide>
        <p15:guide id="2" pos="1819">
          <p15:clr>
            <a:srgbClr val="0000FF"/>
          </p15:clr>
        </p15:guide>
        <p15:guide id="3" orient="horz" pos="340">
          <p15:clr>
            <a:srgbClr val="222222"/>
          </p15:clr>
        </p15:guide>
        <p15:guide id="4" pos="2123">
          <p15:clr>
            <a:srgbClr val="0000FF"/>
          </p15:clr>
        </p15:guide>
        <p15:guide id="5" pos="2880">
          <p15:clr>
            <a:srgbClr val="EA4335"/>
          </p15:clr>
        </p15:guide>
        <p15:guide id="6" pos="3637">
          <p15:clr>
            <a:srgbClr val="0000FF"/>
          </p15:clr>
        </p15:guide>
        <p15:guide id="7" pos="3941">
          <p15:clr>
            <a:srgbClr val="0000FF"/>
          </p15:clr>
        </p15:guide>
        <p15:guide id="8" pos="5556">
          <p15:clr>
            <a:srgbClr val="222222"/>
          </p15:clr>
        </p15:guide>
        <p15:guide id="9" pos="1061">
          <p15:clr>
            <a:srgbClr val="9AA0A6"/>
          </p15:clr>
        </p15:guide>
        <p15:guide id="10" pos="4699">
          <p15:clr>
            <a:srgbClr val="9AA0A6"/>
          </p15:clr>
        </p15:guide>
        <p15:guide id="11" orient="horz" pos="680">
          <p15:clr>
            <a:srgbClr val="B7B7B7"/>
          </p15:clr>
        </p15:guide>
        <p15:guide id="12" orient="horz" pos="1020">
          <p15:clr>
            <a:srgbClr val="B7B7B7"/>
          </p15:clr>
        </p15:guide>
        <p15:guide id="13" orient="horz" pos="1361">
          <p15:clr>
            <a:srgbClr val="B7B7B7"/>
          </p15:clr>
        </p15:guide>
        <p15:guide id="14" orient="horz" pos="1701">
          <p15:clr>
            <a:srgbClr val="B7B7B7"/>
          </p15:clr>
        </p15:guide>
        <p15:guide id="15" orient="horz" pos="2041">
          <p15:clr>
            <a:srgbClr val="B7B7B7"/>
          </p15:clr>
        </p15:guide>
        <p15:guide id="16" orient="horz" pos="2381">
          <p15:clr>
            <a:srgbClr val="B7B7B7"/>
          </p15:clr>
        </p15:guide>
        <p15:guide id="17" orient="horz" pos="3036">
          <p15:clr>
            <a:srgbClr val="000000"/>
          </p15:clr>
        </p15:guide>
        <p15:guide id="18" pos="2721">
          <p15:clr>
            <a:schemeClr val="dk1"/>
          </p15:clr>
        </p15:guide>
        <p15:guide id="19" pos="3039">
          <p15:clr>
            <a:schemeClr val="dk1"/>
          </p15:clr>
        </p15:guide>
        <p15:guide id="20" orient="horz" pos="510">
          <p15:clr>
            <a:srgbClr val="B7B7B7"/>
          </p15:clr>
        </p15:guide>
        <p15:guide id="21" orient="horz" pos="1620">
          <p15:clr>
            <a:srgbClr val="EA4335"/>
          </p15:clr>
        </p15:guide>
        <p15:guide id="22" orient="horz" pos="2721">
          <p15:clr>
            <a:srgbClr val="B7B7B7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support.thenational.academy/using-oaks-new-teaching-resources?utm_campaign=OakSlideDeck&amp;utm_medium=document&amp;utm_source=guide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8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6.png"/><Relationship Id="rId4" Type="http://schemas.openxmlformats.org/officeDocument/2006/relationships/image" Target="../media/image93.png"/><Relationship Id="rId5" Type="http://schemas.openxmlformats.org/officeDocument/2006/relationships/image" Target="../media/image9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6.png"/><Relationship Id="rId4" Type="http://schemas.openxmlformats.org/officeDocument/2006/relationships/image" Target="../media/image93.png"/><Relationship Id="rId5" Type="http://schemas.openxmlformats.org/officeDocument/2006/relationships/image" Target="../media/image95.png"/><Relationship Id="rId6" Type="http://schemas.openxmlformats.org/officeDocument/2006/relationships/image" Target="../media/image10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6.png"/><Relationship Id="rId4" Type="http://schemas.openxmlformats.org/officeDocument/2006/relationships/image" Target="../media/image93.png"/><Relationship Id="rId5" Type="http://schemas.openxmlformats.org/officeDocument/2006/relationships/image" Target="../media/image95.png"/><Relationship Id="rId6" Type="http://schemas.openxmlformats.org/officeDocument/2006/relationships/image" Target="../media/image100.png"/><Relationship Id="rId7" Type="http://schemas.openxmlformats.org/officeDocument/2006/relationships/image" Target="../media/image10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6.png"/><Relationship Id="rId4" Type="http://schemas.openxmlformats.org/officeDocument/2006/relationships/image" Target="../media/image93.png"/><Relationship Id="rId5" Type="http://schemas.openxmlformats.org/officeDocument/2006/relationships/image" Target="../media/image9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96.png"/><Relationship Id="rId4" Type="http://schemas.openxmlformats.org/officeDocument/2006/relationships/image" Target="../media/image9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0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02.png"/><Relationship Id="rId4" Type="http://schemas.openxmlformats.org/officeDocument/2006/relationships/image" Target="../media/image101.png"/><Relationship Id="rId5" Type="http://schemas.openxmlformats.org/officeDocument/2006/relationships/image" Target="../media/image103.png"/><Relationship Id="rId6" Type="http://schemas.openxmlformats.org/officeDocument/2006/relationships/image" Target="../media/image10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07.png"/><Relationship Id="rId4" Type="http://schemas.openxmlformats.org/officeDocument/2006/relationships/image" Target="../media/image108.png"/><Relationship Id="rId5" Type="http://schemas.openxmlformats.org/officeDocument/2006/relationships/image" Target="../media/image109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03.png"/><Relationship Id="rId4" Type="http://schemas.openxmlformats.org/officeDocument/2006/relationships/image" Target="../media/image110.png"/><Relationship Id="rId5" Type="http://schemas.openxmlformats.org/officeDocument/2006/relationships/image" Target="../media/image102.png"/><Relationship Id="rId6" Type="http://schemas.openxmlformats.org/officeDocument/2006/relationships/image" Target="../media/image105.png"/><Relationship Id="rId7" Type="http://schemas.openxmlformats.org/officeDocument/2006/relationships/image" Target="../media/image11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5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14.png"/><Relationship Id="rId4" Type="http://schemas.openxmlformats.org/officeDocument/2006/relationships/image" Target="../media/image117.png"/><Relationship Id="rId5" Type="http://schemas.openxmlformats.org/officeDocument/2006/relationships/image" Target="../media/image111.png"/><Relationship Id="rId6" Type="http://schemas.openxmlformats.org/officeDocument/2006/relationships/image" Target="../media/image11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9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16.png"/><Relationship Id="rId4" Type="http://schemas.openxmlformats.org/officeDocument/2006/relationships/image" Target="../media/image115.png"/><Relationship Id="rId5" Type="http://schemas.openxmlformats.org/officeDocument/2006/relationships/image" Target="../media/image118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9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19.png"/><Relationship Id="rId4" Type="http://schemas.openxmlformats.org/officeDocument/2006/relationships/image" Target="../media/image120.png"/><Relationship Id="rId5" Type="http://schemas.openxmlformats.org/officeDocument/2006/relationships/image" Target="../media/image123.png"/><Relationship Id="rId6" Type="http://schemas.openxmlformats.org/officeDocument/2006/relationships/image" Target="../media/image12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24.png"/><Relationship Id="rId4" Type="http://schemas.openxmlformats.org/officeDocument/2006/relationships/image" Target="../media/image122.png"/><Relationship Id="rId5" Type="http://schemas.openxmlformats.org/officeDocument/2006/relationships/image" Target="../media/image125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19.png"/><Relationship Id="rId4" Type="http://schemas.openxmlformats.org/officeDocument/2006/relationships/image" Target="../media/image120.png"/><Relationship Id="rId5" Type="http://schemas.openxmlformats.org/officeDocument/2006/relationships/image" Target="../media/image128.png"/><Relationship Id="rId6" Type="http://schemas.openxmlformats.org/officeDocument/2006/relationships/image" Target="../media/image127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8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92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26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26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26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26.png"/><Relationship Id="rId4" Type="http://schemas.openxmlformats.org/officeDocument/2006/relationships/image" Target="../media/image134.png"/><Relationship Id="rId9" Type="http://schemas.openxmlformats.org/officeDocument/2006/relationships/image" Target="../media/image137.png"/><Relationship Id="rId5" Type="http://schemas.openxmlformats.org/officeDocument/2006/relationships/image" Target="../media/image132.png"/><Relationship Id="rId6" Type="http://schemas.openxmlformats.org/officeDocument/2006/relationships/image" Target="../media/image133.png"/><Relationship Id="rId7" Type="http://schemas.openxmlformats.org/officeDocument/2006/relationships/image" Target="../media/image129.png"/><Relationship Id="rId8" Type="http://schemas.openxmlformats.org/officeDocument/2006/relationships/image" Target="../media/image131.png"/><Relationship Id="rId11" Type="http://schemas.openxmlformats.org/officeDocument/2006/relationships/image" Target="../media/image130.png"/><Relationship Id="rId10" Type="http://schemas.openxmlformats.org/officeDocument/2006/relationships/image" Target="../media/image136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42.png"/><Relationship Id="rId4" Type="http://schemas.openxmlformats.org/officeDocument/2006/relationships/image" Target="../media/image145.png"/><Relationship Id="rId5" Type="http://schemas.openxmlformats.org/officeDocument/2006/relationships/image" Target="../media/image95.png"/><Relationship Id="rId6" Type="http://schemas.openxmlformats.org/officeDocument/2006/relationships/image" Target="../media/image126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40.png"/><Relationship Id="rId4" Type="http://schemas.openxmlformats.org/officeDocument/2006/relationships/image" Target="../media/image143.png"/><Relationship Id="rId5" Type="http://schemas.openxmlformats.org/officeDocument/2006/relationships/image" Target="../media/image146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39.png"/><Relationship Id="rId4" Type="http://schemas.openxmlformats.org/officeDocument/2006/relationships/image" Target="../media/image146.png"/><Relationship Id="rId5" Type="http://schemas.openxmlformats.org/officeDocument/2006/relationships/image" Target="../media/image149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40.png"/><Relationship Id="rId4" Type="http://schemas.openxmlformats.org/officeDocument/2006/relationships/image" Target="../media/image144.png"/><Relationship Id="rId5" Type="http://schemas.openxmlformats.org/officeDocument/2006/relationships/image" Target="../media/image143.png"/><Relationship Id="rId6" Type="http://schemas.openxmlformats.org/officeDocument/2006/relationships/image" Target="../media/image141.png"/><Relationship Id="rId7" Type="http://schemas.openxmlformats.org/officeDocument/2006/relationships/image" Target="../media/image152.png"/><Relationship Id="rId8" Type="http://schemas.openxmlformats.org/officeDocument/2006/relationships/image" Target="../media/image148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47.png"/><Relationship Id="rId4" Type="http://schemas.openxmlformats.org/officeDocument/2006/relationships/image" Target="../media/image150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50.png"/><Relationship Id="rId4" Type="http://schemas.openxmlformats.org/officeDocument/2006/relationships/image" Target="../media/image147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51.png"/><Relationship Id="rId4" Type="http://schemas.openxmlformats.org/officeDocument/2006/relationships/image" Target="../media/image154.png"/><Relationship Id="rId5" Type="http://schemas.openxmlformats.org/officeDocument/2006/relationships/image" Target="../media/image156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51.png"/><Relationship Id="rId4" Type="http://schemas.openxmlformats.org/officeDocument/2006/relationships/image" Target="../media/image154.png"/><Relationship Id="rId9" Type="http://schemas.openxmlformats.org/officeDocument/2006/relationships/image" Target="../media/image159.png"/><Relationship Id="rId5" Type="http://schemas.openxmlformats.org/officeDocument/2006/relationships/image" Target="../media/image153.png"/><Relationship Id="rId6" Type="http://schemas.openxmlformats.org/officeDocument/2006/relationships/image" Target="../media/image156.png"/><Relationship Id="rId7" Type="http://schemas.openxmlformats.org/officeDocument/2006/relationships/image" Target="../media/image165.png"/><Relationship Id="rId8" Type="http://schemas.openxmlformats.org/officeDocument/2006/relationships/image" Target="../media/image155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0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158.png"/><Relationship Id="rId4" Type="http://schemas.openxmlformats.org/officeDocument/2006/relationships/image" Target="../media/image160.png"/><Relationship Id="rId9" Type="http://schemas.openxmlformats.org/officeDocument/2006/relationships/image" Target="../media/image157.png"/><Relationship Id="rId5" Type="http://schemas.openxmlformats.org/officeDocument/2006/relationships/image" Target="../media/image163.png"/><Relationship Id="rId6" Type="http://schemas.openxmlformats.org/officeDocument/2006/relationships/image" Target="../media/image164.png"/><Relationship Id="rId7" Type="http://schemas.openxmlformats.org/officeDocument/2006/relationships/image" Target="../media/image166.png"/><Relationship Id="rId8" Type="http://schemas.openxmlformats.org/officeDocument/2006/relationships/image" Target="../media/image162.png"/><Relationship Id="rId10" Type="http://schemas.openxmlformats.org/officeDocument/2006/relationships/image" Target="../media/image161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4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158.png"/><Relationship Id="rId4" Type="http://schemas.openxmlformats.org/officeDocument/2006/relationships/image" Target="../media/image160.png"/><Relationship Id="rId5" Type="http://schemas.openxmlformats.org/officeDocument/2006/relationships/image" Target="../media/image164.png"/><Relationship Id="rId6" Type="http://schemas.openxmlformats.org/officeDocument/2006/relationships/image" Target="../media/image161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4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163.png"/><Relationship Id="rId4" Type="http://schemas.openxmlformats.org/officeDocument/2006/relationships/image" Target="../media/image166.png"/><Relationship Id="rId5" Type="http://schemas.openxmlformats.org/officeDocument/2006/relationships/image" Target="../media/image162.png"/><Relationship Id="rId6" Type="http://schemas.openxmlformats.org/officeDocument/2006/relationships/image" Target="../media/image157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5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9.xml"/><Relationship Id="rId2" Type="http://schemas.openxmlformats.org/officeDocument/2006/relationships/notesSlide" Target="../notesSlides/notesSlide41.xml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Relationship Id="rId5" Type="http://schemas.openxmlformats.org/officeDocument/2006/relationships/image" Target="../media/image16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6" name="Shape 1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7" name="Google Shape;1487;p12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Different types of equations</a:t>
            </a:r>
            <a:endParaRPr/>
          </a:p>
        </p:txBody>
      </p:sp>
      <p:sp>
        <p:nvSpPr>
          <p:cNvPr id="1488" name="Google Shape;1488;p125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Solving linear equations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492" name="Shape 1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3" name="Google Shape;1493;p126"/>
          <p:cNvSpPr txBox="1"/>
          <p:nvPr/>
        </p:nvSpPr>
        <p:spPr>
          <a:xfrm>
            <a:off x="5578975" y="724425"/>
            <a:ext cx="1928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 u="sng">
                <a:solidFill>
                  <a:srgbClr val="374CF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how to use Oak lessons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7" name="Shape 1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8" name="Google Shape;1498;p127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 can recognise that there are many different types of equations of which linear is one type.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2" name="Shape 1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3" name="Google Shape;1503;p128"/>
          <p:cNvSpPr txBox="1"/>
          <p:nvPr>
            <p:ph idx="2" type="subTitle"/>
          </p:nvPr>
        </p:nvSpPr>
        <p:spPr>
          <a:xfrm>
            <a:off x="324001" y="2844167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The relationship between two variables is linear if, when plotted on a pair of axes, a straight line is formed.  </a:t>
            </a:r>
            <a:endParaRPr sz="1900"/>
          </a:p>
        </p:txBody>
      </p:sp>
      <p:sp>
        <p:nvSpPr>
          <p:cNvPr id="1504" name="Google Shape;1504;p128"/>
          <p:cNvSpPr txBox="1"/>
          <p:nvPr>
            <p:ph idx="1" type="subTitle"/>
          </p:nvPr>
        </p:nvSpPr>
        <p:spPr>
          <a:xfrm>
            <a:off x="324000" y="993650"/>
            <a:ext cx="8496000" cy="54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Expressions contain one or more terms, where each term is separated by an operator.  </a:t>
            </a:r>
            <a:endParaRPr sz="1900"/>
          </a:p>
        </p:txBody>
      </p:sp>
      <p:sp>
        <p:nvSpPr>
          <p:cNvPr id="1505" name="Google Shape;1505;p128"/>
          <p:cNvSpPr txBox="1"/>
          <p:nvPr>
            <p:ph idx="3" type="subTitle"/>
          </p:nvPr>
        </p:nvSpPr>
        <p:spPr>
          <a:xfrm>
            <a:off x="324001" y="37124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The gradient is a measure of how steep a line is. It is calculated by finding the rate of change in the </a:t>
            </a: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900"/>
              <a:t>-direction with respect to the positive </a:t>
            </a: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900"/>
              <a:t>-direction. </a:t>
            </a:r>
            <a:endParaRPr sz="1900"/>
          </a:p>
        </p:txBody>
      </p:sp>
      <p:sp>
        <p:nvSpPr>
          <p:cNvPr id="1506" name="Google Shape;1506;p128"/>
          <p:cNvSpPr txBox="1"/>
          <p:nvPr>
            <p:ph idx="1" type="subTitle"/>
          </p:nvPr>
        </p:nvSpPr>
        <p:spPr>
          <a:xfrm>
            <a:off x="324000" y="1918908"/>
            <a:ext cx="8496000" cy="54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An equation is used to show that one number or calculation is equal to another.  </a:t>
            </a:r>
            <a:endParaRPr sz="19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0" name="Shape 1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1" name="Google Shape;1511;p129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Reviewing plotting graphs</a:t>
            </a:r>
            <a:endParaRPr/>
          </a:p>
        </p:txBody>
      </p:sp>
      <p:sp>
        <p:nvSpPr>
          <p:cNvPr id="1512" name="Google Shape;1512;p129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Identifying linear equations from graphs</a:t>
            </a:r>
            <a:endParaRPr/>
          </a:p>
        </p:txBody>
      </p:sp>
      <p:sp>
        <p:nvSpPr>
          <p:cNvPr id="1513" name="Google Shape;1513;p129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Different types of equations</a:t>
            </a:r>
            <a:endParaRPr/>
          </a:p>
        </p:txBody>
      </p:sp>
      <p:pic>
        <p:nvPicPr>
          <p:cNvPr id="1514" name="Google Shape;1514;p1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4348" y="2052100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8" name="Shape 1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9" name="Google Shape;1519;p13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Reviewing plotting graphs</a:t>
            </a:r>
            <a:endParaRPr/>
          </a:p>
        </p:txBody>
      </p:sp>
      <p:sp>
        <p:nvSpPr>
          <p:cNvPr id="1520" name="Google Shape;1520;p130"/>
          <p:cNvSpPr txBox="1"/>
          <p:nvPr>
            <p:ph idx="1" type="body"/>
          </p:nvPr>
        </p:nvSpPr>
        <p:spPr>
          <a:xfrm>
            <a:off x="324000" y="759300"/>
            <a:ext cx="8496000" cy="86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Equations which show a relationship between two variables can be plotted on a graph. </a:t>
            </a:r>
            <a:endParaRPr sz="2000"/>
          </a:p>
        </p:txBody>
      </p:sp>
      <p:sp>
        <p:nvSpPr>
          <p:cNvPr id="1521" name="Google Shape;1521;p130"/>
          <p:cNvSpPr txBox="1"/>
          <p:nvPr>
            <p:ph idx="1" type="body"/>
          </p:nvPr>
        </p:nvSpPr>
        <p:spPr>
          <a:xfrm>
            <a:off x="324000" y="1839300"/>
            <a:ext cx="8496000" cy="86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The relationship between two variables is linear if it forms a </a:t>
            </a:r>
            <a:r>
              <a:rPr lang="en-GB" sz="2000"/>
              <a:t>straight</a:t>
            </a:r>
            <a:r>
              <a:rPr lang="en-GB" sz="2000"/>
              <a:t> line when plotted. </a:t>
            </a:r>
            <a:endParaRPr sz="2000"/>
          </a:p>
        </p:txBody>
      </p:sp>
      <p:sp>
        <p:nvSpPr>
          <p:cNvPr id="1522" name="Google Shape;1522;p130"/>
          <p:cNvSpPr txBox="1"/>
          <p:nvPr>
            <p:ph idx="1" type="body"/>
          </p:nvPr>
        </p:nvSpPr>
        <p:spPr>
          <a:xfrm>
            <a:off x="324000" y="3820650"/>
            <a:ext cx="8496000" cy="48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How could we plot the relationship </a:t>
            </a:r>
            <a:r>
              <a:rPr i="1" lang="en-GB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 = </a:t>
            </a:r>
            <a:r>
              <a:rPr i="1" lang="en-GB">
                <a:latin typeface="Times"/>
                <a:ea typeface="Times"/>
                <a:cs typeface="Times"/>
                <a:sym typeface="Times"/>
              </a:rPr>
              <a:t>x</a:t>
            </a:r>
            <a:r>
              <a:rPr baseline="30000" lang="en-GB">
                <a:latin typeface="Times"/>
                <a:ea typeface="Times"/>
                <a:cs typeface="Times"/>
                <a:sym typeface="Times"/>
              </a:rPr>
              <a:t>2 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− 2 </a:t>
            </a:r>
            <a:r>
              <a:rPr lang="en-GB" sz="2000"/>
              <a:t>?</a:t>
            </a:r>
            <a:endParaRPr sz="2000"/>
          </a:p>
        </p:txBody>
      </p:sp>
      <p:sp>
        <p:nvSpPr>
          <p:cNvPr id="1523" name="Google Shape;1523;p130"/>
          <p:cNvSpPr txBox="1"/>
          <p:nvPr>
            <p:ph idx="1" type="body"/>
          </p:nvPr>
        </p:nvSpPr>
        <p:spPr>
          <a:xfrm>
            <a:off x="324000" y="4318050"/>
            <a:ext cx="8496000" cy="61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Pick some coordinates that follow the rule.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24" name="Google Shape;1524;p130"/>
          <p:cNvSpPr txBox="1"/>
          <p:nvPr>
            <p:ph idx="1" type="body"/>
          </p:nvPr>
        </p:nvSpPr>
        <p:spPr>
          <a:xfrm>
            <a:off x="324000" y="2809650"/>
            <a:ext cx="8496000" cy="86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If the graph of a relationship is not a straight line then the relationship is non-linear.</a:t>
            </a:r>
            <a:endParaRPr sz="20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8" name="Shape 1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9" name="Google Shape;1529;p13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Reviewing plotting graphs</a:t>
            </a:r>
            <a:endParaRPr/>
          </a:p>
        </p:txBody>
      </p:sp>
      <p:pic>
        <p:nvPicPr>
          <p:cNvPr id="1530" name="Google Shape;1530;p1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85625" y="1488525"/>
            <a:ext cx="2634375" cy="2831475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531" name="Google Shape;1531;p131"/>
          <p:cNvSpPr txBox="1"/>
          <p:nvPr>
            <p:ph idx="1" type="body"/>
          </p:nvPr>
        </p:nvSpPr>
        <p:spPr>
          <a:xfrm>
            <a:off x="324000" y="711825"/>
            <a:ext cx="8496000" cy="48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How could we plot the relationship </a:t>
            </a:r>
            <a:r>
              <a:rPr i="1" lang="en-GB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 = </a:t>
            </a:r>
            <a:r>
              <a:rPr i="1" lang="en-GB">
                <a:latin typeface="Times"/>
                <a:ea typeface="Times"/>
                <a:cs typeface="Times"/>
                <a:sym typeface="Times"/>
              </a:rPr>
              <a:t>x</a:t>
            </a:r>
            <a:r>
              <a:rPr baseline="30000" lang="en-GB">
                <a:latin typeface="Times"/>
                <a:ea typeface="Times"/>
                <a:cs typeface="Times"/>
                <a:sym typeface="Times"/>
              </a:rPr>
              <a:t>2 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− 2 </a:t>
            </a:r>
            <a:r>
              <a:rPr lang="en-GB" sz="2000"/>
              <a:t>?</a:t>
            </a:r>
            <a:endParaRPr sz="2000"/>
          </a:p>
        </p:txBody>
      </p:sp>
      <p:sp>
        <p:nvSpPr>
          <p:cNvPr id="1532" name="Google Shape;1532;p131"/>
          <p:cNvSpPr txBox="1"/>
          <p:nvPr/>
        </p:nvSpPr>
        <p:spPr>
          <a:xfrm>
            <a:off x="352383" y="2428889"/>
            <a:ext cx="773700" cy="32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Sofia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533" name="Google Shape;1533;p1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445977" y="1745903"/>
            <a:ext cx="586525" cy="650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4" name="Google Shape;1534;p131"/>
          <p:cNvPicPr preferRelativeResize="0"/>
          <p:nvPr/>
        </p:nvPicPr>
        <p:blipFill rotWithShape="1">
          <a:blip r:embed="rId5">
            <a:alphaModFix/>
          </a:blip>
          <a:srcRect b="43690" l="0" r="57905" t="0"/>
          <a:stretch/>
        </p:blipFill>
        <p:spPr>
          <a:xfrm flipH="1">
            <a:off x="889826" y="1157750"/>
            <a:ext cx="2863549" cy="977901"/>
          </a:xfrm>
          <a:prstGeom prst="rect">
            <a:avLst/>
          </a:prstGeom>
          <a:noFill/>
          <a:ln>
            <a:noFill/>
          </a:ln>
        </p:spPr>
      </p:pic>
      <p:sp>
        <p:nvSpPr>
          <p:cNvPr id="1535" name="Google Shape;1535;p131"/>
          <p:cNvSpPr/>
          <p:nvPr/>
        </p:nvSpPr>
        <p:spPr>
          <a:xfrm>
            <a:off x="1240525" y="1273800"/>
            <a:ext cx="2466600" cy="58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 think the coordinate (2, 2) is on the graph.</a:t>
            </a:r>
            <a:endParaRPr sz="2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36" name="Google Shape;1536;p131"/>
          <p:cNvSpPr txBox="1"/>
          <p:nvPr>
            <p:ph idx="1" type="body"/>
          </p:nvPr>
        </p:nvSpPr>
        <p:spPr>
          <a:xfrm>
            <a:off x="324000" y="2909975"/>
            <a:ext cx="4417500" cy="48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How could we check if Sofia is correct?</a:t>
            </a:r>
            <a:endParaRPr sz="1800"/>
          </a:p>
        </p:txBody>
      </p:sp>
      <p:sp>
        <p:nvSpPr>
          <p:cNvPr id="1537" name="Google Shape;1537;p131"/>
          <p:cNvSpPr txBox="1"/>
          <p:nvPr>
            <p:ph idx="1" type="body"/>
          </p:nvPr>
        </p:nvSpPr>
        <p:spPr>
          <a:xfrm>
            <a:off x="324000" y="3633450"/>
            <a:ext cx="4711500" cy="106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(2)</a:t>
            </a:r>
            <a:r>
              <a:rPr baseline="30000" lang="en-GB" sz="20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− 2 = 2</a:t>
            </a:r>
            <a:endParaRPr sz="2000"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Substituting 2 as the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800"/>
              <a:t>-coordinate gives a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800"/>
              <a:t>-coordinate of 2 so (2, 2) is on the graph.</a:t>
            </a:r>
            <a:endParaRPr sz="1800"/>
          </a:p>
        </p:txBody>
      </p:sp>
      <p:sp>
        <p:nvSpPr>
          <p:cNvPr id="1538" name="Google Shape;1538;p131"/>
          <p:cNvSpPr/>
          <p:nvPr/>
        </p:nvSpPr>
        <p:spPr>
          <a:xfrm>
            <a:off x="7493496" y="3398075"/>
            <a:ext cx="232800" cy="27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1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×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2" name="Shape 1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3" name="Google Shape;1543;p13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Reviewing plotting graphs</a:t>
            </a:r>
            <a:endParaRPr/>
          </a:p>
        </p:txBody>
      </p:sp>
      <p:pic>
        <p:nvPicPr>
          <p:cNvPr id="1544" name="Google Shape;1544;p1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85625" y="1488525"/>
            <a:ext cx="2634375" cy="2831475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545" name="Google Shape;1545;p132"/>
          <p:cNvSpPr txBox="1"/>
          <p:nvPr>
            <p:ph idx="1" type="body"/>
          </p:nvPr>
        </p:nvSpPr>
        <p:spPr>
          <a:xfrm>
            <a:off x="324000" y="711825"/>
            <a:ext cx="8496000" cy="48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How could we plot the relationship </a:t>
            </a:r>
            <a:r>
              <a:rPr i="1" lang="en-GB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 = </a:t>
            </a:r>
            <a:r>
              <a:rPr i="1" lang="en-GB">
                <a:latin typeface="Times"/>
                <a:ea typeface="Times"/>
                <a:cs typeface="Times"/>
                <a:sym typeface="Times"/>
              </a:rPr>
              <a:t>x</a:t>
            </a:r>
            <a:r>
              <a:rPr baseline="30000" lang="en-GB">
                <a:latin typeface="Times"/>
                <a:ea typeface="Times"/>
                <a:cs typeface="Times"/>
                <a:sym typeface="Times"/>
              </a:rPr>
              <a:t>2 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− 2 </a:t>
            </a:r>
            <a:r>
              <a:rPr lang="en-GB" sz="2000"/>
              <a:t>?</a:t>
            </a:r>
            <a:endParaRPr sz="2000"/>
          </a:p>
        </p:txBody>
      </p:sp>
      <p:sp>
        <p:nvSpPr>
          <p:cNvPr id="1546" name="Google Shape;1546;p132"/>
          <p:cNvSpPr txBox="1"/>
          <p:nvPr/>
        </p:nvSpPr>
        <p:spPr>
          <a:xfrm>
            <a:off x="352383" y="2428889"/>
            <a:ext cx="773700" cy="32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Sofia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547" name="Google Shape;1547;p1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445977" y="1745903"/>
            <a:ext cx="586525" cy="650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8" name="Google Shape;1548;p132"/>
          <p:cNvPicPr preferRelativeResize="0"/>
          <p:nvPr/>
        </p:nvPicPr>
        <p:blipFill rotWithShape="1">
          <a:blip r:embed="rId5">
            <a:alphaModFix/>
          </a:blip>
          <a:srcRect b="43690" l="0" r="57905" t="0"/>
          <a:stretch/>
        </p:blipFill>
        <p:spPr>
          <a:xfrm flipH="1">
            <a:off x="889826" y="1157750"/>
            <a:ext cx="2863549" cy="977901"/>
          </a:xfrm>
          <a:prstGeom prst="rect">
            <a:avLst/>
          </a:prstGeom>
          <a:noFill/>
          <a:ln>
            <a:noFill/>
          </a:ln>
        </p:spPr>
      </p:pic>
      <p:sp>
        <p:nvSpPr>
          <p:cNvPr id="1549" name="Google Shape;1549;p132"/>
          <p:cNvSpPr/>
          <p:nvPr/>
        </p:nvSpPr>
        <p:spPr>
          <a:xfrm>
            <a:off x="1240525" y="1273800"/>
            <a:ext cx="2466600" cy="58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 think the coordinate (2, 2) is on the graph.</a:t>
            </a:r>
            <a:endParaRPr sz="2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550" name="Google Shape;1550;p13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flipH="1">
            <a:off x="5364750" y="2700000"/>
            <a:ext cx="464491" cy="889450"/>
          </a:xfrm>
          <a:prstGeom prst="rect">
            <a:avLst/>
          </a:prstGeom>
          <a:noFill/>
          <a:ln>
            <a:noFill/>
          </a:ln>
        </p:spPr>
      </p:pic>
      <p:sp>
        <p:nvSpPr>
          <p:cNvPr id="1551" name="Google Shape;1551;p132"/>
          <p:cNvSpPr txBox="1"/>
          <p:nvPr/>
        </p:nvSpPr>
        <p:spPr>
          <a:xfrm flipH="1">
            <a:off x="5141600" y="3513573"/>
            <a:ext cx="9108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Aisha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552" name="Google Shape;1552;p132"/>
          <p:cNvPicPr preferRelativeResize="0"/>
          <p:nvPr/>
        </p:nvPicPr>
        <p:blipFill rotWithShape="1">
          <a:blip r:embed="rId5">
            <a:alphaModFix/>
          </a:blip>
          <a:srcRect b="0" l="0" r="69082" t="56280"/>
          <a:stretch/>
        </p:blipFill>
        <p:spPr>
          <a:xfrm>
            <a:off x="2193200" y="2168575"/>
            <a:ext cx="3171548" cy="977901"/>
          </a:xfrm>
          <a:prstGeom prst="rect">
            <a:avLst/>
          </a:prstGeom>
          <a:noFill/>
          <a:ln>
            <a:noFill/>
          </a:ln>
        </p:spPr>
      </p:pic>
      <p:sp>
        <p:nvSpPr>
          <p:cNvPr id="1553" name="Google Shape;1553;p132"/>
          <p:cNvSpPr/>
          <p:nvPr/>
        </p:nvSpPr>
        <p:spPr>
          <a:xfrm>
            <a:off x="2347225" y="2332075"/>
            <a:ext cx="2863500" cy="58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Let’s plot the coordinate when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 =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4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as well.</a:t>
            </a:r>
            <a:endParaRPr sz="2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54" name="Google Shape;1554;p132"/>
          <p:cNvSpPr txBox="1"/>
          <p:nvPr>
            <p:ph idx="1" type="body"/>
          </p:nvPr>
        </p:nvSpPr>
        <p:spPr>
          <a:xfrm>
            <a:off x="352375" y="3289300"/>
            <a:ext cx="4417500" cy="48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How could we work out the coordinate Aisha wants to plot?</a:t>
            </a:r>
            <a:endParaRPr sz="1800"/>
          </a:p>
        </p:txBody>
      </p:sp>
      <p:sp>
        <p:nvSpPr>
          <p:cNvPr id="1555" name="Google Shape;1555;p132"/>
          <p:cNvSpPr txBox="1"/>
          <p:nvPr>
            <p:ph idx="1" type="body"/>
          </p:nvPr>
        </p:nvSpPr>
        <p:spPr>
          <a:xfrm>
            <a:off x="352375" y="4045625"/>
            <a:ext cx="4711500" cy="65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(4)</a:t>
            </a:r>
            <a:r>
              <a:rPr baseline="30000" lang="en-GB" sz="1800"/>
              <a:t>2</a:t>
            </a:r>
            <a:r>
              <a:rPr lang="en-GB" sz="1800"/>
              <a:t>− 2 = 14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so (4, 14) is on the graph.</a:t>
            </a:r>
            <a:endParaRPr sz="1800"/>
          </a:p>
        </p:txBody>
      </p:sp>
      <p:sp>
        <p:nvSpPr>
          <p:cNvPr id="1556" name="Google Shape;1556;p132"/>
          <p:cNvSpPr/>
          <p:nvPr/>
        </p:nvSpPr>
        <p:spPr>
          <a:xfrm>
            <a:off x="7490092" y="3396700"/>
            <a:ext cx="232800" cy="27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1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×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57" name="Google Shape;1557;p132"/>
          <p:cNvSpPr/>
          <p:nvPr/>
        </p:nvSpPr>
        <p:spPr>
          <a:xfrm>
            <a:off x="8068800" y="1796500"/>
            <a:ext cx="232800" cy="27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×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1" name="Shape 1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2" name="Google Shape;1562;p13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Reviewing plotting graphs</a:t>
            </a:r>
            <a:endParaRPr/>
          </a:p>
        </p:txBody>
      </p:sp>
      <p:pic>
        <p:nvPicPr>
          <p:cNvPr id="1563" name="Google Shape;1563;p1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85625" y="1488525"/>
            <a:ext cx="2634375" cy="2831475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564" name="Google Shape;1564;p133"/>
          <p:cNvSpPr txBox="1"/>
          <p:nvPr>
            <p:ph idx="1" type="body"/>
          </p:nvPr>
        </p:nvSpPr>
        <p:spPr>
          <a:xfrm>
            <a:off x="324000" y="711825"/>
            <a:ext cx="8496000" cy="48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How could we plot the relationship </a:t>
            </a:r>
            <a:r>
              <a:rPr i="1" lang="en-GB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 = </a:t>
            </a:r>
            <a:r>
              <a:rPr i="1" lang="en-GB">
                <a:latin typeface="Times"/>
                <a:ea typeface="Times"/>
                <a:cs typeface="Times"/>
                <a:sym typeface="Times"/>
              </a:rPr>
              <a:t>x</a:t>
            </a:r>
            <a:r>
              <a:rPr baseline="30000" lang="en-GB">
                <a:latin typeface="Times"/>
                <a:ea typeface="Times"/>
                <a:cs typeface="Times"/>
                <a:sym typeface="Times"/>
              </a:rPr>
              <a:t>2 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− 2 </a:t>
            </a:r>
            <a:r>
              <a:rPr lang="en-GB" sz="2000"/>
              <a:t>?</a:t>
            </a:r>
            <a:endParaRPr sz="2000"/>
          </a:p>
        </p:txBody>
      </p:sp>
      <p:sp>
        <p:nvSpPr>
          <p:cNvPr id="1565" name="Google Shape;1565;p133"/>
          <p:cNvSpPr txBox="1"/>
          <p:nvPr/>
        </p:nvSpPr>
        <p:spPr>
          <a:xfrm>
            <a:off x="352383" y="2428889"/>
            <a:ext cx="773700" cy="32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Sofia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566" name="Google Shape;1566;p1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445977" y="1745903"/>
            <a:ext cx="586525" cy="650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7" name="Google Shape;1567;p133"/>
          <p:cNvPicPr preferRelativeResize="0"/>
          <p:nvPr/>
        </p:nvPicPr>
        <p:blipFill rotWithShape="1">
          <a:blip r:embed="rId5">
            <a:alphaModFix/>
          </a:blip>
          <a:srcRect b="43690" l="0" r="57905" t="0"/>
          <a:stretch/>
        </p:blipFill>
        <p:spPr>
          <a:xfrm flipH="1">
            <a:off x="889824" y="1157750"/>
            <a:ext cx="4251776" cy="1174324"/>
          </a:xfrm>
          <a:prstGeom prst="rect">
            <a:avLst/>
          </a:prstGeom>
          <a:noFill/>
          <a:ln>
            <a:noFill/>
          </a:ln>
        </p:spPr>
      </p:pic>
      <p:sp>
        <p:nvSpPr>
          <p:cNvPr id="1568" name="Google Shape;1568;p133"/>
          <p:cNvSpPr/>
          <p:nvPr/>
        </p:nvSpPr>
        <p:spPr>
          <a:xfrm>
            <a:off x="1272925" y="1220075"/>
            <a:ext cx="3937800" cy="58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Now we can plot those two coordinates and draw the line between them.</a:t>
            </a:r>
            <a:endParaRPr sz="2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569" name="Google Shape;1569;p13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flipH="1">
            <a:off x="5364750" y="2700000"/>
            <a:ext cx="464491" cy="889450"/>
          </a:xfrm>
          <a:prstGeom prst="rect">
            <a:avLst/>
          </a:prstGeom>
          <a:noFill/>
          <a:ln>
            <a:noFill/>
          </a:ln>
        </p:spPr>
      </p:pic>
      <p:sp>
        <p:nvSpPr>
          <p:cNvPr id="1570" name="Google Shape;1570;p133"/>
          <p:cNvSpPr txBox="1"/>
          <p:nvPr/>
        </p:nvSpPr>
        <p:spPr>
          <a:xfrm flipH="1">
            <a:off x="5141600" y="3513573"/>
            <a:ext cx="9108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Aisha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571" name="Google Shape;1571;p133"/>
          <p:cNvPicPr preferRelativeResize="0"/>
          <p:nvPr/>
        </p:nvPicPr>
        <p:blipFill rotWithShape="1">
          <a:blip r:embed="rId5">
            <a:alphaModFix/>
          </a:blip>
          <a:srcRect b="0" l="0" r="69082" t="56280"/>
          <a:stretch/>
        </p:blipFill>
        <p:spPr>
          <a:xfrm>
            <a:off x="2193200" y="2168575"/>
            <a:ext cx="3171548" cy="779200"/>
          </a:xfrm>
          <a:prstGeom prst="rect">
            <a:avLst/>
          </a:prstGeom>
          <a:noFill/>
          <a:ln>
            <a:noFill/>
          </a:ln>
        </p:spPr>
      </p:pic>
      <p:sp>
        <p:nvSpPr>
          <p:cNvPr id="1572" name="Google Shape;1572;p133"/>
          <p:cNvSpPr/>
          <p:nvPr/>
        </p:nvSpPr>
        <p:spPr>
          <a:xfrm>
            <a:off x="2347225" y="2350388"/>
            <a:ext cx="28635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So this is a linear graph.</a:t>
            </a:r>
            <a:endParaRPr sz="2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73" name="Google Shape;1573;p133"/>
          <p:cNvSpPr/>
          <p:nvPr/>
        </p:nvSpPr>
        <p:spPr>
          <a:xfrm>
            <a:off x="7490092" y="3396700"/>
            <a:ext cx="232800" cy="27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1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×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74" name="Google Shape;1574;p133"/>
          <p:cNvSpPr/>
          <p:nvPr/>
        </p:nvSpPr>
        <p:spPr>
          <a:xfrm>
            <a:off x="8068800" y="1796500"/>
            <a:ext cx="232800" cy="27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×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575" name="Google Shape;1575;p133"/>
          <p:cNvCxnSpPr/>
          <p:nvPr/>
        </p:nvCxnSpPr>
        <p:spPr>
          <a:xfrm flipH="1">
            <a:off x="7275150" y="1490525"/>
            <a:ext cx="1042500" cy="284220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576" name="Google Shape;1576;p13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52200" y="3589449"/>
            <a:ext cx="520341" cy="650675"/>
          </a:xfrm>
          <a:prstGeom prst="rect">
            <a:avLst/>
          </a:prstGeom>
          <a:noFill/>
          <a:ln>
            <a:noFill/>
          </a:ln>
        </p:spPr>
      </p:pic>
      <p:sp>
        <p:nvSpPr>
          <p:cNvPr id="1577" name="Google Shape;1577;p133"/>
          <p:cNvSpPr txBox="1"/>
          <p:nvPr/>
        </p:nvSpPr>
        <p:spPr>
          <a:xfrm flipH="1">
            <a:off x="307225" y="4319992"/>
            <a:ext cx="864000" cy="35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Jun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578" name="Google Shape;1578;p133"/>
          <p:cNvPicPr preferRelativeResize="0"/>
          <p:nvPr/>
        </p:nvPicPr>
        <p:blipFill rotWithShape="1">
          <a:blip r:embed="rId5">
            <a:alphaModFix/>
          </a:blip>
          <a:srcRect b="43690" l="0" r="57905" t="0"/>
          <a:stretch/>
        </p:blipFill>
        <p:spPr>
          <a:xfrm flipH="1">
            <a:off x="1102580" y="3013312"/>
            <a:ext cx="3908977" cy="1390525"/>
          </a:xfrm>
          <a:prstGeom prst="rect">
            <a:avLst/>
          </a:prstGeom>
          <a:noFill/>
          <a:ln>
            <a:noFill/>
          </a:ln>
        </p:spPr>
      </p:pic>
      <p:sp>
        <p:nvSpPr>
          <p:cNvPr id="1579" name="Google Shape;1579;p133"/>
          <p:cNvSpPr txBox="1"/>
          <p:nvPr/>
        </p:nvSpPr>
        <p:spPr>
          <a:xfrm>
            <a:off x="1414370" y="3013300"/>
            <a:ext cx="3654900" cy="11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But I don’t think </a:t>
            </a:r>
            <a:r>
              <a:rPr i="1" lang="en-GB" sz="22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2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= </a:t>
            </a:r>
            <a:r>
              <a:rPr i="1" lang="en-GB" sz="22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baseline="30000" lang="en-GB" sz="22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2 </a:t>
            </a:r>
            <a:r>
              <a:rPr lang="en-GB" sz="22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− 2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is a linear relationship, so how can its graph be a straight line?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80" name="Google Shape;1580;p133"/>
          <p:cNvSpPr txBox="1"/>
          <p:nvPr>
            <p:ph idx="1" type="body"/>
          </p:nvPr>
        </p:nvSpPr>
        <p:spPr>
          <a:xfrm>
            <a:off x="1684800" y="4549175"/>
            <a:ext cx="5491200" cy="27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What do you think to these three statements?</a:t>
            </a:r>
            <a:endParaRPr sz="18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4" name="Shape 1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5" name="Google Shape;1585;p13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Reviewing plotting graphs</a:t>
            </a:r>
            <a:endParaRPr/>
          </a:p>
        </p:txBody>
      </p:sp>
      <p:sp>
        <p:nvSpPr>
          <p:cNvPr id="1586" name="Google Shape;1586;p134"/>
          <p:cNvSpPr txBox="1"/>
          <p:nvPr>
            <p:ph idx="1" type="body"/>
          </p:nvPr>
        </p:nvSpPr>
        <p:spPr>
          <a:xfrm>
            <a:off x="324000" y="1080000"/>
            <a:ext cx="84960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Kalam"/>
              <a:buChar char="●"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 coordinates they have plotted are correct and will be on the graph.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Kalam"/>
              <a:buChar char="●"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However they can only join 2 points with a straight line if they know the graph should be linear.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Kalam"/>
              <a:buChar char="●"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They have not plotted enough points to know whether they form a straight line, most relationships do not.  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Jun is correct that </a:t>
            </a:r>
            <a:r>
              <a:rPr i="1" lang="en-GB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 = </a:t>
            </a:r>
            <a:r>
              <a:rPr i="1" lang="en-GB">
                <a:latin typeface="Times"/>
                <a:ea typeface="Times"/>
                <a:cs typeface="Times"/>
                <a:sym typeface="Times"/>
              </a:rPr>
              <a:t>x</a:t>
            </a:r>
            <a:r>
              <a:rPr baseline="30000" lang="en-GB">
                <a:latin typeface="Times"/>
                <a:ea typeface="Times"/>
                <a:cs typeface="Times"/>
                <a:sym typeface="Times"/>
              </a:rPr>
              <a:t>2 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− 2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is not a linear relationship. Only linear relationships form straight lines. 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 graph of </a:t>
            </a:r>
            <a:r>
              <a:rPr i="1" lang="en-GB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 = </a:t>
            </a:r>
            <a:r>
              <a:rPr i="1" lang="en-GB">
                <a:latin typeface="Times"/>
                <a:ea typeface="Times"/>
                <a:cs typeface="Times"/>
                <a:sym typeface="Times"/>
              </a:rPr>
              <a:t>x</a:t>
            </a:r>
            <a:r>
              <a:rPr baseline="30000" lang="en-GB">
                <a:latin typeface="Times"/>
                <a:ea typeface="Times"/>
                <a:cs typeface="Times"/>
                <a:sym typeface="Times"/>
              </a:rPr>
              <a:t>2 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− 2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will not be a linear graph so will not form a straight line.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87" name="Google Shape;1587;p134"/>
          <p:cNvSpPr txBox="1"/>
          <p:nvPr>
            <p:ph idx="1" type="body"/>
          </p:nvPr>
        </p:nvSpPr>
        <p:spPr>
          <a:xfrm>
            <a:off x="324000" y="710100"/>
            <a:ext cx="5491200" cy="27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What do you think to these 3 statements?</a:t>
            </a:r>
            <a:endParaRPr sz="18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1" name="Shape 1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2" name="Google Shape;1592;p13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Reviewing plotting graphs</a:t>
            </a:r>
            <a:endParaRPr/>
          </a:p>
        </p:txBody>
      </p:sp>
      <p:pic>
        <p:nvPicPr>
          <p:cNvPr id="1593" name="Google Shape;1593;p1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85625" y="1488525"/>
            <a:ext cx="2634375" cy="2831475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594" name="Google Shape;1594;p135"/>
          <p:cNvSpPr txBox="1"/>
          <p:nvPr>
            <p:ph idx="1" type="body"/>
          </p:nvPr>
        </p:nvSpPr>
        <p:spPr>
          <a:xfrm>
            <a:off x="324000" y="711825"/>
            <a:ext cx="8631000" cy="48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How could we plot the relationship</a:t>
            </a:r>
            <a:r>
              <a:rPr lang="en-GB" sz="2000"/>
              <a:t> </a:t>
            </a:r>
            <a:r>
              <a:rPr i="1" lang="en-GB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 = </a:t>
            </a:r>
            <a:r>
              <a:rPr i="1" lang="en-GB">
                <a:latin typeface="Times"/>
                <a:ea typeface="Times"/>
                <a:cs typeface="Times"/>
                <a:sym typeface="Times"/>
              </a:rPr>
              <a:t>x</a:t>
            </a:r>
            <a:r>
              <a:rPr baseline="30000" lang="en-GB">
                <a:latin typeface="Times"/>
                <a:ea typeface="Times"/>
                <a:cs typeface="Times"/>
                <a:sym typeface="Times"/>
              </a:rPr>
              <a:t>2 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− 2 </a:t>
            </a:r>
            <a:r>
              <a:rPr lang="en-GB" sz="1800"/>
              <a:t>if we don’t know that it’s linear</a:t>
            </a:r>
            <a:r>
              <a:rPr lang="en-GB" sz="1800"/>
              <a:t>?</a:t>
            </a:r>
            <a:endParaRPr sz="1800"/>
          </a:p>
        </p:txBody>
      </p:sp>
      <p:sp>
        <p:nvSpPr>
          <p:cNvPr id="1595" name="Google Shape;1595;p135"/>
          <p:cNvSpPr txBox="1"/>
          <p:nvPr/>
        </p:nvSpPr>
        <p:spPr>
          <a:xfrm>
            <a:off x="352383" y="2428889"/>
            <a:ext cx="773700" cy="32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Sofia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596" name="Google Shape;1596;p1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445977" y="1745903"/>
            <a:ext cx="586525" cy="650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7" name="Google Shape;1597;p135"/>
          <p:cNvPicPr preferRelativeResize="0"/>
          <p:nvPr/>
        </p:nvPicPr>
        <p:blipFill rotWithShape="1">
          <a:blip r:embed="rId5">
            <a:alphaModFix/>
          </a:blip>
          <a:srcRect b="43690" l="0" r="57905" t="0"/>
          <a:stretch/>
        </p:blipFill>
        <p:spPr>
          <a:xfrm flipH="1">
            <a:off x="889826" y="1182650"/>
            <a:ext cx="4099374" cy="901151"/>
          </a:xfrm>
          <a:prstGeom prst="rect">
            <a:avLst/>
          </a:prstGeom>
          <a:noFill/>
          <a:ln>
            <a:noFill/>
          </a:ln>
        </p:spPr>
      </p:pic>
      <p:sp>
        <p:nvSpPr>
          <p:cNvPr id="1598" name="Google Shape;1598;p135"/>
          <p:cNvSpPr/>
          <p:nvPr/>
        </p:nvSpPr>
        <p:spPr>
          <a:xfrm>
            <a:off x="1203800" y="1298250"/>
            <a:ext cx="3785400" cy="58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We could use a table of values to plot some more points. </a:t>
            </a:r>
            <a:endParaRPr sz="2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99" name="Google Shape;1599;p135"/>
          <p:cNvSpPr/>
          <p:nvPr/>
        </p:nvSpPr>
        <p:spPr>
          <a:xfrm>
            <a:off x="7490092" y="3396700"/>
            <a:ext cx="232800" cy="27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×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00" name="Google Shape;1600;p135"/>
          <p:cNvSpPr/>
          <p:nvPr/>
        </p:nvSpPr>
        <p:spPr>
          <a:xfrm>
            <a:off x="8068800" y="1796500"/>
            <a:ext cx="232800" cy="27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×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601" name="Google Shape;1601;p135"/>
          <p:cNvGraphicFramePr/>
          <p:nvPr/>
        </p:nvGraphicFramePr>
        <p:xfrm>
          <a:off x="1207963" y="2561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{C929B8A6-531E-44CB-B741-55F0E8B17D5D}</a:tableStyleId>
              </a:tblPr>
              <a:tblGrid>
                <a:gridCol w="475250"/>
                <a:gridCol w="475250"/>
                <a:gridCol w="475250"/>
                <a:gridCol w="475250"/>
                <a:gridCol w="475250"/>
                <a:gridCol w="475250"/>
                <a:gridCol w="475250"/>
                <a:gridCol w="475250"/>
                <a:gridCol w="4752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endParaRPr i="1"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y</a:t>
                      </a:r>
                      <a:endParaRPr i="1"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602" name="Google Shape;1602;p135"/>
          <p:cNvSpPr/>
          <p:nvPr/>
        </p:nvSpPr>
        <p:spPr>
          <a:xfrm>
            <a:off x="2633734" y="2942550"/>
            <a:ext cx="4752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−2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03" name="Google Shape;1603;p135"/>
          <p:cNvSpPr/>
          <p:nvPr/>
        </p:nvSpPr>
        <p:spPr>
          <a:xfrm>
            <a:off x="3108925" y="2942550"/>
            <a:ext cx="4752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−1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04" name="Google Shape;1604;p135"/>
          <p:cNvSpPr txBox="1"/>
          <p:nvPr>
            <p:ph idx="1" type="body"/>
          </p:nvPr>
        </p:nvSpPr>
        <p:spPr>
          <a:xfrm>
            <a:off x="1114375" y="3515300"/>
            <a:ext cx="1455600" cy="38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(0)</a:t>
            </a:r>
            <a:r>
              <a:rPr baseline="30000" lang="en-GB" sz="1800"/>
              <a:t>2</a:t>
            </a:r>
            <a:r>
              <a:rPr lang="en-GB" sz="1800"/>
              <a:t>− 2 = </a:t>
            </a:r>
            <a:r>
              <a:rPr lang="en-GB" sz="1800"/>
              <a:t>−2</a:t>
            </a:r>
            <a:endParaRPr sz="1800"/>
          </a:p>
        </p:txBody>
      </p:sp>
      <p:sp>
        <p:nvSpPr>
          <p:cNvPr id="1605" name="Google Shape;1605;p135"/>
          <p:cNvSpPr txBox="1"/>
          <p:nvPr>
            <p:ph idx="1" type="body"/>
          </p:nvPr>
        </p:nvSpPr>
        <p:spPr>
          <a:xfrm>
            <a:off x="1114375" y="3869525"/>
            <a:ext cx="1405500" cy="38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(1)</a:t>
            </a:r>
            <a:r>
              <a:rPr baseline="30000" lang="en-GB" sz="1800"/>
              <a:t>2</a:t>
            </a:r>
            <a:r>
              <a:rPr lang="en-GB" sz="1800"/>
              <a:t>− 2 = −1</a:t>
            </a:r>
            <a:endParaRPr sz="1800"/>
          </a:p>
        </p:txBody>
      </p:sp>
      <p:sp>
        <p:nvSpPr>
          <p:cNvPr id="1606" name="Google Shape;1606;p135"/>
          <p:cNvSpPr txBox="1"/>
          <p:nvPr>
            <p:ph idx="1" type="body"/>
          </p:nvPr>
        </p:nvSpPr>
        <p:spPr>
          <a:xfrm>
            <a:off x="2726250" y="3515300"/>
            <a:ext cx="1405500" cy="38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(3)</a:t>
            </a:r>
            <a:r>
              <a:rPr baseline="30000" lang="en-GB" sz="1800"/>
              <a:t>2</a:t>
            </a:r>
            <a:r>
              <a:rPr lang="en-GB" sz="1800"/>
              <a:t>− 2 = 7</a:t>
            </a:r>
            <a:endParaRPr sz="1800"/>
          </a:p>
        </p:txBody>
      </p:sp>
      <p:sp>
        <p:nvSpPr>
          <p:cNvPr id="1607" name="Google Shape;1607;p135"/>
          <p:cNvSpPr/>
          <p:nvPr/>
        </p:nvSpPr>
        <p:spPr>
          <a:xfrm>
            <a:off x="3584225" y="2942550"/>
            <a:ext cx="4752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08" name="Google Shape;1608;p135"/>
          <p:cNvSpPr txBox="1"/>
          <p:nvPr>
            <p:ph idx="1" type="body"/>
          </p:nvPr>
        </p:nvSpPr>
        <p:spPr>
          <a:xfrm>
            <a:off x="2726250" y="3869525"/>
            <a:ext cx="1405500" cy="38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(5)</a:t>
            </a:r>
            <a:r>
              <a:rPr baseline="30000" lang="en-GB" sz="1800"/>
              <a:t>2</a:t>
            </a:r>
            <a:r>
              <a:rPr lang="en-GB" sz="1800"/>
              <a:t>− 2 = 23</a:t>
            </a:r>
            <a:endParaRPr sz="1800"/>
          </a:p>
        </p:txBody>
      </p:sp>
      <p:sp>
        <p:nvSpPr>
          <p:cNvPr id="1609" name="Google Shape;1609;p135"/>
          <p:cNvSpPr/>
          <p:nvPr/>
        </p:nvSpPr>
        <p:spPr>
          <a:xfrm>
            <a:off x="4059425" y="2942550"/>
            <a:ext cx="4752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7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10" name="Google Shape;1610;p135"/>
          <p:cNvSpPr/>
          <p:nvPr/>
        </p:nvSpPr>
        <p:spPr>
          <a:xfrm>
            <a:off x="4534725" y="2942550"/>
            <a:ext cx="4752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14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11" name="Google Shape;1611;p135"/>
          <p:cNvSpPr/>
          <p:nvPr/>
        </p:nvSpPr>
        <p:spPr>
          <a:xfrm>
            <a:off x="5009925" y="2942550"/>
            <a:ext cx="4752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23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12" name="Google Shape;1612;p135"/>
          <p:cNvSpPr txBox="1"/>
          <p:nvPr>
            <p:ph idx="1" type="body"/>
          </p:nvPr>
        </p:nvSpPr>
        <p:spPr>
          <a:xfrm>
            <a:off x="4180500" y="3515300"/>
            <a:ext cx="1405500" cy="38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(</a:t>
            </a:r>
            <a:r>
              <a:rPr lang="en-GB" sz="1800"/>
              <a:t>−1</a:t>
            </a:r>
            <a:r>
              <a:rPr lang="en-GB" sz="1800"/>
              <a:t>)</a:t>
            </a:r>
            <a:r>
              <a:rPr baseline="30000" lang="en-GB" sz="1800"/>
              <a:t>2</a:t>
            </a:r>
            <a:r>
              <a:rPr lang="en-GB" sz="1800"/>
              <a:t>− 2 = </a:t>
            </a:r>
            <a:r>
              <a:rPr lang="en-GB" sz="1800"/>
              <a:t>−1</a:t>
            </a:r>
            <a:endParaRPr sz="1800"/>
          </a:p>
        </p:txBody>
      </p:sp>
      <p:sp>
        <p:nvSpPr>
          <p:cNvPr id="1613" name="Google Shape;1613;p135"/>
          <p:cNvSpPr/>
          <p:nvPr/>
        </p:nvSpPr>
        <p:spPr>
          <a:xfrm>
            <a:off x="2158425" y="2942550"/>
            <a:ext cx="4752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−1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14" name="Google Shape;1614;p135"/>
          <p:cNvSpPr txBox="1"/>
          <p:nvPr>
            <p:ph idx="1" type="body"/>
          </p:nvPr>
        </p:nvSpPr>
        <p:spPr>
          <a:xfrm>
            <a:off x="4224450" y="3869525"/>
            <a:ext cx="1405500" cy="38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(−2)</a:t>
            </a:r>
            <a:r>
              <a:rPr baseline="30000" lang="en-GB" sz="1800"/>
              <a:t>2</a:t>
            </a:r>
            <a:r>
              <a:rPr lang="en-GB" sz="1800"/>
              <a:t>− 2 = 2</a:t>
            </a:r>
            <a:endParaRPr sz="1800"/>
          </a:p>
        </p:txBody>
      </p:sp>
      <p:sp>
        <p:nvSpPr>
          <p:cNvPr id="1615" name="Google Shape;1615;p135"/>
          <p:cNvSpPr/>
          <p:nvPr/>
        </p:nvSpPr>
        <p:spPr>
          <a:xfrm>
            <a:off x="1683225" y="2944608"/>
            <a:ext cx="4752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16" name="Google Shape;1616;p135"/>
          <p:cNvSpPr/>
          <p:nvPr/>
        </p:nvSpPr>
        <p:spPr>
          <a:xfrm>
            <a:off x="6318592" y="3396700"/>
            <a:ext cx="232800" cy="27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×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17" name="Google Shape;1617;p135"/>
          <p:cNvSpPr/>
          <p:nvPr/>
        </p:nvSpPr>
        <p:spPr>
          <a:xfrm>
            <a:off x="6625469" y="3803933"/>
            <a:ext cx="232800" cy="27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×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18" name="Google Shape;1618;p135"/>
          <p:cNvSpPr/>
          <p:nvPr/>
        </p:nvSpPr>
        <p:spPr>
          <a:xfrm>
            <a:off x="6907100" y="3940887"/>
            <a:ext cx="232800" cy="27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×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19" name="Google Shape;1619;p135"/>
          <p:cNvSpPr/>
          <p:nvPr/>
        </p:nvSpPr>
        <p:spPr>
          <a:xfrm>
            <a:off x="7196454" y="3825043"/>
            <a:ext cx="232800" cy="27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×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20" name="Google Shape;1620;p135"/>
          <p:cNvSpPr/>
          <p:nvPr/>
        </p:nvSpPr>
        <p:spPr>
          <a:xfrm>
            <a:off x="7783915" y="2734044"/>
            <a:ext cx="232800" cy="27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×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21" name="Google Shape;1621;p135"/>
          <p:cNvSpPr txBox="1"/>
          <p:nvPr>
            <p:ph idx="1" type="body"/>
          </p:nvPr>
        </p:nvSpPr>
        <p:spPr>
          <a:xfrm>
            <a:off x="324000" y="4556750"/>
            <a:ext cx="8496000" cy="32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The graph of this relationship is a curve. </a:t>
            </a:r>
            <a:endParaRPr sz="18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5" name="Shape 1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6" name="Google Shape;1626;p13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Reviewing plotting graphs</a:t>
            </a:r>
            <a:endParaRPr/>
          </a:p>
        </p:txBody>
      </p:sp>
      <p:pic>
        <p:nvPicPr>
          <p:cNvPr id="1627" name="Google Shape;1627;p1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85625" y="1488525"/>
            <a:ext cx="2634375" cy="2831475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628" name="Google Shape;1628;p136"/>
          <p:cNvSpPr txBox="1"/>
          <p:nvPr>
            <p:ph idx="1" type="body"/>
          </p:nvPr>
        </p:nvSpPr>
        <p:spPr>
          <a:xfrm>
            <a:off x="324000" y="711825"/>
            <a:ext cx="8496000" cy="48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Has Sofia now plotted the graph of </a:t>
            </a:r>
            <a:r>
              <a:rPr lang="en-GB" sz="1800">
                <a:solidFill>
                  <a:schemeClr val="accent4"/>
                </a:solidFill>
              </a:rPr>
              <a:t>all</a:t>
            </a:r>
            <a:r>
              <a:rPr lang="en-GB" sz="1800"/>
              <a:t> points that fit this relationship?</a:t>
            </a:r>
            <a:endParaRPr sz="1800"/>
          </a:p>
        </p:txBody>
      </p:sp>
      <p:sp>
        <p:nvSpPr>
          <p:cNvPr id="1629" name="Google Shape;1629;p136"/>
          <p:cNvSpPr/>
          <p:nvPr/>
        </p:nvSpPr>
        <p:spPr>
          <a:xfrm>
            <a:off x="7490092" y="3396700"/>
            <a:ext cx="232800" cy="27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×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0" name="Google Shape;1630;p136"/>
          <p:cNvSpPr/>
          <p:nvPr/>
        </p:nvSpPr>
        <p:spPr>
          <a:xfrm>
            <a:off x="8068800" y="1796500"/>
            <a:ext cx="232800" cy="27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×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1" name="Google Shape;1631;p136"/>
          <p:cNvSpPr/>
          <p:nvPr/>
        </p:nvSpPr>
        <p:spPr>
          <a:xfrm>
            <a:off x="6318592" y="3396700"/>
            <a:ext cx="232800" cy="27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×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2" name="Google Shape;1632;p136"/>
          <p:cNvSpPr/>
          <p:nvPr/>
        </p:nvSpPr>
        <p:spPr>
          <a:xfrm>
            <a:off x="6625469" y="3803933"/>
            <a:ext cx="232800" cy="27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×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3" name="Google Shape;1633;p136"/>
          <p:cNvSpPr/>
          <p:nvPr/>
        </p:nvSpPr>
        <p:spPr>
          <a:xfrm>
            <a:off x="6907100" y="3940887"/>
            <a:ext cx="232800" cy="27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×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4" name="Google Shape;1634;p136"/>
          <p:cNvSpPr/>
          <p:nvPr/>
        </p:nvSpPr>
        <p:spPr>
          <a:xfrm>
            <a:off x="7196454" y="3825043"/>
            <a:ext cx="232800" cy="27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×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5" name="Google Shape;1635;p136"/>
          <p:cNvSpPr/>
          <p:nvPr/>
        </p:nvSpPr>
        <p:spPr>
          <a:xfrm>
            <a:off x="7783915" y="2734044"/>
            <a:ext cx="232800" cy="27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×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6" name="Google Shape;1636;p136"/>
          <p:cNvSpPr txBox="1"/>
          <p:nvPr>
            <p:ph idx="1" type="body"/>
          </p:nvPr>
        </p:nvSpPr>
        <p:spPr>
          <a:xfrm>
            <a:off x="324000" y="1381525"/>
            <a:ext cx="5450400" cy="32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No, she could have used non-integer coordinates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637" name="Google Shape;1637;p136"/>
          <p:cNvSpPr txBox="1"/>
          <p:nvPr>
            <p:ph idx="1" type="body"/>
          </p:nvPr>
        </p:nvSpPr>
        <p:spPr>
          <a:xfrm>
            <a:off x="324000" y="1885013"/>
            <a:ext cx="5450400" cy="32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There are an infinite number of coordinates that follow this relationship. We have only plotted a few to see the relationship.</a:t>
            </a:r>
            <a:r>
              <a:rPr lang="en-GB" sz="1800"/>
              <a:t> </a:t>
            </a:r>
            <a:endParaRPr sz="1800"/>
          </a:p>
        </p:txBody>
      </p:sp>
      <p:sp>
        <p:nvSpPr>
          <p:cNvPr id="1638" name="Google Shape;1638;p136"/>
          <p:cNvSpPr txBox="1"/>
          <p:nvPr>
            <p:ph idx="1" type="body"/>
          </p:nvPr>
        </p:nvSpPr>
        <p:spPr>
          <a:xfrm>
            <a:off x="324000" y="3079050"/>
            <a:ext cx="5450400" cy="32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If we wanted to show the graph of all points, we would need to draw a curve.</a:t>
            </a:r>
            <a:endParaRPr sz="1800"/>
          </a:p>
        </p:txBody>
      </p:sp>
      <p:pic>
        <p:nvPicPr>
          <p:cNvPr id="1639" name="Google Shape;1639;p1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39513" y="1446563"/>
            <a:ext cx="2726575" cy="29154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640" name="Google Shape;1640;p136"/>
          <p:cNvSpPr txBox="1"/>
          <p:nvPr>
            <p:ph idx="1" type="body"/>
          </p:nvPr>
        </p:nvSpPr>
        <p:spPr>
          <a:xfrm>
            <a:off x="324000" y="3916575"/>
            <a:ext cx="5450400" cy="32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If we just want an idea of what the relationship looks like, it is okay just to plot the integer coordinates. </a:t>
            </a:r>
            <a:endParaRPr sz="18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4" name="Shape 1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5" name="Google Shape;1645;p13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Reviewing plotting graphs</a:t>
            </a:r>
            <a:endParaRPr/>
          </a:p>
        </p:txBody>
      </p:sp>
      <p:sp>
        <p:nvSpPr>
          <p:cNvPr id="1646" name="Google Shape;1646;p137"/>
          <p:cNvSpPr txBox="1"/>
          <p:nvPr>
            <p:ph idx="1" type="body"/>
          </p:nvPr>
        </p:nvSpPr>
        <p:spPr>
          <a:xfrm>
            <a:off x="324000" y="1038600"/>
            <a:ext cx="8496000" cy="27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If we know a relationship between two variables is linear then we only need to plot two points as we know it will form a straight line.</a:t>
            </a:r>
            <a:endParaRPr sz="1800"/>
          </a:p>
        </p:txBody>
      </p:sp>
      <p:sp>
        <p:nvSpPr>
          <p:cNvPr id="1647" name="Google Shape;1647;p137"/>
          <p:cNvSpPr txBox="1"/>
          <p:nvPr>
            <p:ph idx="1" type="body"/>
          </p:nvPr>
        </p:nvSpPr>
        <p:spPr>
          <a:xfrm>
            <a:off x="324000" y="2063700"/>
            <a:ext cx="8496000" cy="27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It is always a good idea to plot a third point to help spot mistakes.</a:t>
            </a:r>
            <a:endParaRPr sz="1800"/>
          </a:p>
        </p:txBody>
      </p:sp>
      <p:sp>
        <p:nvSpPr>
          <p:cNvPr id="1648" name="Google Shape;1648;p137"/>
          <p:cNvSpPr txBox="1"/>
          <p:nvPr>
            <p:ph idx="1" type="body"/>
          </p:nvPr>
        </p:nvSpPr>
        <p:spPr>
          <a:xfrm>
            <a:off x="324000" y="2851375"/>
            <a:ext cx="8496000" cy="708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If we do not know whether a relationship is linear then plotting from a table of values helps us see the shape of the graph. </a:t>
            </a:r>
            <a:endParaRPr sz="18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2" name="Shape 1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53" name="Google Shape;1653;p1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47313" y="1280096"/>
            <a:ext cx="2376374" cy="3487954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654" name="Google Shape;1654;p13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Reviewing plotting graphs</a:t>
            </a:r>
            <a:endParaRPr/>
          </a:p>
        </p:txBody>
      </p:sp>
      <p:sp>
        <p:nvSpPr>
          <p:cNvPr id="1655" name="Google Shape;1655;p138"/>
          <p:cNvSpPr txBox="1"/>
          <p:nvPr>
            <p:ph idx="1" type="body"/>
          </p:nvPr>
        </p:nvSpPr>
        <p:spPr>
          <a:xfrm>
            <a:off x="324000" y="810150"/>
            <a:ext cx="8496000" cy="27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We can graph </a:t>
            </a:r>
            <a:r>
              <a:rPr lang="en-GB" sz="1800">
                <a:solidFill>
                  <a:schemeClr val="accent4"/>
                </a:solidFill>
              </a:rPr>
              <a:t>expressions </a:t>
            </a:r>
            <a:r>
              <a:rPr lang="en-GB" sz="1800"/>
              <a:t>by looking at how the value of the expression changes for different values of the variable. </a:t>
            </a:r>
            <a:endParaRPr sz="1800"/>
          </a:p>
        </p:txBody>
      </p:sp>
      <p:sp>
        <p:nvSpPr>
          <p:cNvPr id="1656" name="Google Shape;1656;p138"/>
          <p:cNvSpPr txBox="1"/>
          <p:nvPr>
            <p:ph idx="1" type="body"/>
          </p:nvPr>
        </p:nvSpPr>
        <p:spPr>
          <a:xfrm>
            <a:off x="324000" y="1720275"/>
            <a:ext cx="5450400" cy="27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How could we graph the expression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3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a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+ 4 </a:t>
            </a:r>
            <a:r>
              <a:rPr lang="en-GB" sz="1800"/>
              <a:t>?</a:t>
            </a:r>
            <a:endParaRPr sz="1800"/>
          </a:p>
        </p:txBody>
      </p:sp>
      <p:sp>
        <p:nvSpPr>
          <p:cNvPr id="1657" name="Google Shape;1657;p138"/>
          <p:cNvSpPr txBox="1"/>
          <p:nvPr>
            <p:ph idx="1" type="body"/>
          </p:nvPr>
        </p:nvSpPr>
        <p:spPr>
          <a:xfrm>
            <a:off x="324000" y="2387475"/>
            <a:ext cx="5450400" cy="44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We could label the horizontal (</a:t>
            </a:r>
            <a:r>
              <a:rPr i="1" lang="en-GB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)-axis ‘</a:t>
            </a:r>
            <a:r>
              <a:rPr i="1" lang="en-GB">
                <a:latin typeface="Times"/>
                <a:ea typeface="Times"/>
                <a:cs typeface="Times"/>
                <a:sym typeface="Times"/>
              </a:rPr>
              <a:t>a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’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658" name="Google Shape;1658;p138"/>
          <p:cNvSpPr txBox="1"/>
          <p:nvPr>
            <p:ph idx="1" type="body"/>
          </p:nvPr>
        </p:nvSpPr>
        <p:spPr>
          <a:xfrm>
            <a:off x="324000" y="2935200"/>
            <a:ext cx="5450400" cy="94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On the </a:t>
            </a:r>
            <a:r>
              <a:rPr i="1" lang="en-GB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-axis we could plot the value of 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3</a:t>
            </a:r>
            <a:r>
              <a:rPr i="1" lang="en-GB">
                <a:latin typeface="Times"/>
                <a:ea typeface="Times"/>
                <a:cs typeface="Times"/>
                <a:sym typeface="Times"/>
              </a:rPr>
              <a:t>a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 + 4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as </a:t>
            </a:r>
            <a:r>
              <a:rPr i="1" lang="en-GB">
                <a:latin typeface="Times"/>
                <a:ea typeface="Times"/>
                <a:cs typeface="Times"/>
                <a:sym typeface="Times"/>
              </a:rPr>
              <a:t>a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varies.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659" name="Google Shape;1659;p138"/>
          <p:cNvSpPr/>
          <p:nvPr/>
        </p:nvSpPr>
        <p:spPr>
          <a:xfrm>
            <a:off x="8190865" y="3713444"/>
            <a:ext cx="232800" cy="27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18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60" name="Google Shape;1660;p138"/>
          <p:cNvSpPr/>
          <p:nvPr/>
        </p:nvSpPr>
        <p:spPr>
          <a:xfrm rot="-5400000">
            <a:off x="6546475" y="1541100"/>
            <a:ext cx="7887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3</a:t>
            </a:r>
            <a:r>
              <a:rPr i="1" lang="en-GB" sz="18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a </a:t>
            </a:r>
            <a:r>
              <a:rPr lang="en-GB" sz="18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+  4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661" name="Google Shape;1661;p138"/>
          <p:cNvGraphicFramePr/>
          <p:nvPr/>
        </p:nvGraphicFramePr>
        <p:xfrm>
          <a:off x="334288" y="3753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{C929B8A6-531E-44CB-B741-55F0E8B17D5D}</a:tableStyleId>
              </a:tblPr>
              <a:tblGrid>
                <a:gridCol w="798425"/>
                <a:gridCol w="427725"/>
                <a:gridCol w="427725"/>
                <a:gridCol w="427725"/>
                <a:gridCol w="427725"/>
                <a:gridCol w="427725"/>
                <a:gridCol w="427725"/>
                <a:gridCol w="427725"/>
                <a:gridCol w="427725"/>
                <a:gridCol w="4277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a</a:t>
                      </a:r>
                      <a:endParaRPr i="1"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3</a:t>
                      </a:r>
                      <a:r>
                        <a:rPr i="1"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a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+ 4</a:t>
                      </a:r>
                      <a:endParaRPr i="1" sz="18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662" name="Google Shape;1662;p138"/>
          <p:cNvSpPr/>
          <p:nvPr/>
        </p:nvSpPr>
        <p:spPr>
          <a:xfrm>
            <a:off x="2843625" y="4134600"/>
            <a:ext cx="424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63" name="Google Shape;1663;p138"/>
          <p:cNvSpPr/>
          <p:nvPr/>
        </p:nvSpPr>
        <p:spPr>
          <a:xfrm>
            <a:off x="3271350" y="4134600"/>
            <a:ext cx="424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7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64" name="Google Shape;1664;p138"/>
          <p:cNvSpPr/>
          <p:nvPr/>
        </p:nvSpPr>
        <p:spPr>
          <a:xfrm>
            <a:off x="3699075" y="4134600"/>
            <a:ext cx="424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65" name="Google Shape;1665;p138"/>
          <p:cNvSpPr/>
          <p:nvPr/>
        </p:nvSpPr>
        <p:spPr>
          <a:xfrm>
            <a:off x="4123575" y="4134600"/>
            <a:ext cx="424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13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66" name="Google Shape;1666;p138"/>
          <p:cNvSpPr/>
          <p:nvPr/>
        </p:nvSpPr>
        <p:spPr>
          <a:xfrm>
            <a:off x="4554525" y="4134600"/>
            <a:ext cx="424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16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67" name="Google Shape;1667;p138"/>
          <p:cNvSpPr/>
          <p:nvPr/>
        </p:nvSpPr>
        <p:spPr>
          <a:xfrm>
            <a:off x="2419125" y="4134600"/>
            <a:ext cx="424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68" name="Google Shape;1668;p138"/>
          <p:cNvSpPr/>
          <p:nvPr/>
        </p:nvSpPr>
        <p:spPr>
          <a:xfrm>
            <a:off x="1988175" y="4134600"/>
            <a:ext cx="424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−2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69" name="Google Shape;1669;p138"/>
          <p:cNvSpPr/>
          <p:nvPr/>
        </p:nvSpPr>
        <p:spPr>
          <a:xfrm>
            <a:off x="1566900" y="4134600"/>
            <a:ext cx="424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−5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0" name="Google Shape;1670;p138"/>
          <p:cNvSpPr/>
          <p:nvPr/>
        </p:nvSpPr>
        <p:spPr>
          <a:xfrm>
            <a:off x="1132725" y="4134600"/>
            <a:ext cx="424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−8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1" name="Google Shape;1671;p138"/>
          <p:cNvSpPr/>
          <p:nvPr/>
        </p:nvSpPr>
        <p:spPr>
          <a:xfrm flipH="1">
            <a:off x="7389149" y="1878977"/>
            <a:ext cx="232800" cy="27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×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2" name="Google Shape;1672;p138"/>
          <p:cNvSpPr/>
          <p:nvPr/>
        </p:nvSpPr>
        <p:spPr>
          <a:xfrm flipH="1">
            <a:off x="7605691" y="1241477"/>
            <a:ext cx="232800" cy="27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×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3" name="Google Shape;1673;p138"/>
          <p:cNvSpPr/>
          <p:nvPr/>
        </p:nvSpPr>
        <p:spPr>
          <a:xfrm flipH="1">
            <a:off x="7165441" y="2524733"/>
            <a:ext cx="232800" cy="27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×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4" name="Google Shape;1674;p138"/>
          <p:cNvSpPr/>
          <p:nvPr/>
        </p:nvSpPr>
        <p:spPr>
          <a:xfrm flipH="1">
            <a:off x="6958506" y="3169646"/>
            <a:ext cx="232800" cy="27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×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5" name="Google Shape;1675;p138"/>
          <p:cNvSpPr/>
          <p:nvPr/>
        </p:nvSpPr>
        <p:spPr>
          <a:xfrm flipH="1">
            <a:off x="6753075" y="3802415"/>
            <a:ext cx="232800" cy="27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×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6" name="Google Shape;1676;p138"/>
          <p:cNvSpPr/>
          <p:nvPr/>
        </p:nvSpPr>
        <p:spPr>
          <a:xfrm flipH="1">
            <a:off x="6524475" y="4465046"/>
            <a:ext cx="232800" cy="27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×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677" name="Google Shape;1677;p138"/>
          <p:cNvCxnSpPr>
            <a:endCxn id="1672" idx="0"/>
          </p:cNvCxnSpPr>
          <p:nvPr/>
        </p:nvCxnSpPr>
        <p:spPr>
          <a:xfrm flipH="1" rot="10800000">
            <a:off x="6518191" y="1241477"/>
            <a:ext cx="1203900" cy="360090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1" name="Shape 1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2" name="Google Shape;1682;p13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Reviewing plotting graphs</a:t>
            </a:r>
            <a:endParaRPr/>
          </a:p>
        </p:txBody>
      </p:sp>
      <p:sp>
        <p:nvSpPr>
          <p:cNvPr id="1683" name="Google Shape;1683;p139"/>
          <p:cNvSpPr txBox="1"/>
          <p:nvPr>
            <p:ph idx="1" type="body"/>
          </p:nvPr>
        </p:nvSpPr>
        <p:spPr>
          <a:xfrm>
            <a:off x="324000" y="810000"/>
            <a:ext cx="8496000" cy="27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How could we investigate the graphs of the following expressions? What do you notice about the axes I have drawn?</a:t>
            </a:r>
            <a:endParaRPr sz="1800"/>
          </a:p>
        </p:txBody>
      </p:sp>
      <p:sp>
        <p:nvSpPr>
          <p:cNvPr id="1684" name="Google Shape;1684;p139"/>
          <p:cNvSpPr txBox="1"/>
          <p:nvPr>
            <p:ph idx="1" type="body"/>
          </p:nvPr>
        </p:nvSpPr>
        <p:spPr>
          <a:xfrm>
            <a:off x="400200" y="1543800"/>
            <a:ext cx="1189800" cy="27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b</a:t>
            </a:r>
            <a:r>
              <a:rPr baseline="30000" i="1" lang="en-GB" sz="20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− 5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endParaRPr sz="1800"/>
          </a:p>
        </p:txBody>
      </p:sp>
      <p:sp>
        <p:nvSpPr>
          <p:cNvPr id="1685" name="Google Shape;1685;p139"/>
          <p:cNvSpPr txBox="1"/>
          <p:nvPr>
            <p:ph idx="1" type="body"/>
          </p:nvPr>
        </p:nvSpPr>
        <p:spPr>
          <a:xfrm>
            <a:off x="2762675" y="1543800"/>
            <a:ext cx="1189800" cy="27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3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− 2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t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endParaRPr sz="1800"/>
          </a:p>
        </p:txBody>
      </p:sp>
      <p:pic>
        <p:nvPicPr>
          <p:cNvPr descr="&lt;math xmlns=&quot;http://www.w3.org/1998/Math/MathML&quot; display=&quot;block&quot; data-is-equatio=&quot;1&quot; data-latex=&quot;\frac{1}{4}h\ +\ 2&quot;&gt;&lt;mfrac&gt;&lt;mn&gt;1&lt;/mn&gt;&lt;mn&gt;4&lt;/mn&gt;&lt;/mfrac&gt;&lt;mi&gt;h&lt;/mi&gt;&lt;mtext&gt;&lt;/mtext&gt;&lt;mo&gt;+&lt;/mo&gt;&lt;mtext&gt;&lt;/mtext&gt;&lt;mn&gt;2&lt;/mn&gt;&lt;/math&gt;" id="1686" name="Google Shape;1686;p139" title="one fourth h plus 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48200" y="1434200"/>
            <a:ext cx="805250" cy="49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7" name="Google Shape;1687;p1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0200" y="1942700"/>
            <a:ext cx="1644396" cy="1819399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688" name="Google Shape;1688;p13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570552" y="1942700"/>
            <a:ext cx="1433744" cy="18194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689" name="Google Shape;1689;p13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493696" y="1988624"/>
            <a:ext cx="1644397" cy="1773475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690" name="Google Shape;1690;p139"/>
          <p:cNvSpPr txBox="1"/>
          <p:nvPr>
            <p:ph idx="1" type="body"/>
          </p:nvPr>
        </p:nvSpPr>
        <p:spPr>
          <a:xfrm>
            <a:off x="324000" y="3872675"/>
            <a:ext cx="8496000" cy="27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Make sure you read the scales on the axes carefully.</a:t>
            </a:r>
            <a:endParaRPr sz="1800"/>
          </a:p>
        </p:txBody>
      </p:sp>
      <p:sp>
        <p:nvSpPr>
          <p:cNvPr id="1691" name="Google Shape;1691;p139"/>
          <p:cNvSpPr txBox="1"/>
          <p:nvPr>
            <p:ph idx="1" type="body"/>
          </p:nvPr>
        </p:nvSpPr>
        <p:spPr>
          <a:xfrm>
            <a:off x="324000" y="4265925"/>
            <a:ext cx="8496000" cy="27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If you are drawing your own axes you should fill in the table of values first so you can decide on an appropriate scale.</a:t>
            </a:r>
            <a:endParaRPr sz="1800"/>
          </a:p>
        </p:txBody>
      </p:sp>
      <p:sp>
        <p:nvSpPr>
          <p:cNvPr id="1692" name="Google Shape;1692;p139"/>
          <p:cNvSpPr txBox="1"/>
          <p:nvPr>
            <p:ph idx="1" type="body"/>
          </p:nvPr>
        </p:nvSpPr>
        <p:spPr>
          <a:xfrm>
            <a:off x="6256800" y="1988625"/>
            <a:ext cx="2563200" cy="27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They have different scales.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6" name="Shape 1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7" name="Google Shape;1697;p140"/>
          <p:cNvPicPr preferRelativeResize="0"/>
          <p:nvPr/>
        </p:nvPicPr>
        <p:blipFill rotWithShape="1">
          <a:blip r:embed="rId3">
            <a:alphaModFix/>
          </a:blip>
          <a:srcRect b="0" l="0" r="3901" t="0"/>
          <a:stretch/>
        </p:blipFill>
        <p:spPr>
          <a:xfrm>
            <a:off x="392525" y="1164925"/>
            <a:ext cx="2047924" cy="27257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698" name="Google Shape;1698;p140"/>
          <p:cNvPicPr preferRelativeResize="0"/>
          <p:nvPr/>
        </p:nvPicPr>
        <p:blipFill rotWithShape="1">
          <a:blip r:embed="rId4">
            <a:alphaModFix/>
          </a:blip>
          <a:srcRect b="0" l="0" r="2714" t="0"/>
          <a:stretch/>
        </p:blipFill>
        <p:spPr>
          <a:xfrm>
            <a:off x="392525" y="1173300"/>
            <a:ext cx="2047926" cy="27048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699" name="Google Shape;1699;p14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Reviewing plotting graphs</a:t>
            </a:r>
            <a:endParaRPr/>
          </a:p>
        </p:txBody>
      </p:sp>
      <p:sp>
        <p:nvSpPr>
          <p:cNvPr id="1700" name="Google Shape;1700;p140"/>
          <p:cNvSpPr txBox="1"/>
          <p:nvPr>
            <p:ph idx="1" type="body"/>
          </p:nvPr>
        </p:nvSpPr>
        <p:spPr>
          <a:xfrm>
            <a:off x="324000" y="810000"/>
            <a:ext cx="1189800" cy="27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b</a:t>
            </a:r>
            <a:r>
              <a:rPr baseline="30000" i="1" lang="en-GB" sz="20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− 5 </a:t>
            </a:r>
            <a:endParaRPr sz="1800"/>
          </a:p>
        </p:txBody>
      </p:sp>
      <p:sp>
        <p:nvSpPr>
          <p:cNvPr id="1701" name="Google Shape;1701;p140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 </a:t>
            </a:r>
            <a:endParaRPr/>
          </a:p>
        </p:txBody>
      </p:sp>
      <p:graphicFrame>
        <p:nvGraphicFramePr>
          <p:cNvPr id="1702" name="Google Shape;1702;p140"/>
          <p:cNvGraphicFramePr/>
          <p:nvPr/>
        </p:nvGraphicFramePr>
        <p:xfrm>
          <a:off x="366213" y="4015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{C929B8A6-531E-44CB-B741-55F0E8B17D5D}</a:tableStyleId>
              </a:tblPr>
              <a:tblGrid>
                <a:gridCol w="646150"/>
                <a:gridCol w="387500"/>
                <a:gridCol w="387500"/>
                <a:gridCol w="387500"/>
                <a:gridCol w="387500"/>
                <a:gridCol w="387500"/>
                <a:gridCol w="387500"/>
                <a:gridCol w="387500"/>
                <a:gridCol w="387500"/>
                <a:gridCol w="387500"/>
              </a:tblGrid>
              <a:tr h="3424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i="1" lang="en-GB" sz="18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b</a:t>
                      </a:r>
                      <a:endParaRPr i="1"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−3</a:t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4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i="1"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b</a:t>
                      </a:r>
                      <a:r>
                        <a:rPr baseline="30000" i="1"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2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− 5</a:t>
                      </a:r>
                      <a:endParaRPr i="1"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703" name="Google Shape;1703;p140"/>
          <p:cNvSpPr/>
          <p:nvPr/>
        </p:nvSpPr>
        <p:spPr>
          <a:xfrm>
            <a:off x="2180900" y="4357600"/>
            <a:ext cx="393300" cy="34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−5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04" name="Google Shape;1704;p140"/>
          <p:cNvSpPr/>
          <p:nvPr/>
        </p:nvSpPr>
        <p:spPr>
          <a:xfrm>
            <a:off x="2556550" y="4357600"/>
            <a:ext cx="393300" cy="34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−4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05" name="Google Shape;1705;p140"/>
          <p:cNvSpPr/>
          <p:nvPr/>
        </p:nvSpPr>
        <p:spPr>
          <a:xfrm>
            <a:off x="2949900" y="4357600"/>
            <a:ext cx="393300" cy="34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−1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06" name="Google Shape;1706;p140"/>
          <p:cNvSpPr/>
          <p:nvPr/>
        </p:nvSpPr>
        <p:spPr>
          <a:xfrm>
            <a:off x="3343250" y="4357600"/>
            <a:ext cx="393300" cy="34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07" name="Google Shape;1707;p140"/>
          <p:cNvSpPr/>
          <p:nvPr/>
        </p:nvSpPr>
        <p:spPr>
          <a:xfrm>
            <a:off x="3719200" y="4357600"/>
            <a:ext cx="393300" cy="34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11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08" name="Google Shape;1708;p140"/>
          <p:cNvSpPr/>
          <p:nvPr/>
        </p:nvSpPr>
        <p:spPr>
          <a:xfrm>
            <a:off x="4112550" y="4357600"/>
            <a:ext cx="393300" cy="34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20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09" name="Google Shape;1709;p140"/>
          <p:cNvSpPr/>
          <p:nvPr/>
        </p:nvSpPr>
        <p:spPr>
          <a:xfrm>
            <a:off x="1787550" y="4357600"/>
            <a:ext cx="393300" cy="34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−4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10" name="Google Shape;1710;p140"/>
          <p:cNvSpPr/>
          <p:nvPr/>
        </p:nvSpPr>
        <p:spPr>
          <a:xfrm>
            <a:off x="1394200" y="4357600"/>
            <a:ext cx="393300" cy="34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−1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11" name="Google Shape;1711;p140"/>
          <p:cNvSpPr/>
          <p:nvPr/>
        </p:nvSpPr>
        <p:spPr>
          <a:xfrm>
            <a:off x="1022150" y="4357600"/>
            <a:ext cx="372000" cy="34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12" name="Google Shape;1712;p140"/>
          <p:cNvSpPr txBox="1"/>
          <p:nvPr>
            <p:ph idx="1" type="body"/>
          </p:nvPr>
        </p:nvSpPr>
        <p:spPr>
          <a:xfrm>
            <a:off x="4572000" y="810000"/>
            <a:ext cx="4248000" cy="27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We have only plotted coordinates between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= −3</a:t>
            </a:r>
            <a:r>
              <a:rPr lang="en-GB" sz="1800"/>
              <a:t> and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= 5</a:t>
            </a:r>
            <a:r>
              <a:rPr lang="en-GB" sz="1800"/>
              <a:t>. </a:t>
            </a:r>
            <a:endParaRPr sz="1800"/>
          </a:p>
        </p:txBody>
      </p:sp>
      <p:sp>
        <p:nvSpPr>
          <p:cNvPr id="1713" name="Google Shape;1713;p140"/>
          <p:cNvSpPr txBox="1"/>
          <p:nvPr>
            <p:ph idx="1" type="body"/>
          </p:nvPr>
        </p:nvSpPr>
        <p:spPr>
          <a:xfrm>
            <a:off x="4561500" y="1652275"/>
            <a:ext cx="4248000" cy="27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But this does give us an idea about how the expression changes as the variable changes.</a:t>
            </a:r>
            <a:endParaRPr sz="1800"/>
          </a:p>
        </p:txBody>
      </p:sp>
      <p:sp>
        <p:nvSpPr>
          <p:cNvPr id="1714" name="Google Shape;1714;p140"/>
          <p:cNvSpPr/>
          <p:nvPr/>
        </p:nvSpPr>
        <p:spPr>
          <a:xfrm>
            <a:off x="2316640" y="3063869"/>
            <a:ext cx="232800" cy="27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1800">
                <a:solidFill>
                  <a:schemeClr val="dk1"/>
                </a:solidFill>
                <a:highlight>
                  <a:schemeClr val="lt1"/>
                </a:highlight>
                <a:latin typeface="Times"/>
                <a:ea typeface="Times"/>
                <a:cs typeface="Times"/>
                <a:sym typeface="Times"/>
              </a:rPr>
              <a:t>b</a:t>
            </a:r>
            <a:endParaRPr sz="1800">
              <a:highlight>
                <a:schemeClr val="lt1"/>
              </a:highlight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15" name="Google Shape;1715;p140"/>
          <p:cNvSpPr/>
          <p:nvPr/>
        </p:nvSpPr>
        <p:spPr>
          <a:xfrm rot="-5400000">
            <a:off x="785125" y="1299125"/>
            <a:ext cx="7887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-GB" sz="2000">
                <a:solidFill>
                  <a:schemeClr val="dk1"/>
                </a:solidFill>
                <a:highlight>
                  <a:schemeClr val="lt1"/>
                </a:highlight>
                <a:latin typeface="Times"/>
                <a:ea typeface="Times"/>
                <a:cs typeface="Times"/>
                <a:sym typeface="Times"/>
              </a:rPr>
              <a:t>b</a:t>
            </a:r>
            <a:r>
              <a:rPr baseline="30000" i="1" lang="en-GB" sz="2000">
                <a:solidFill>
                  <a:schemeClr val="dk1"/>
                </a:solidFill>
                <a:highlight>
                  <a:schemeClr val="lt1"/>
                </a:highlight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000">
                <a:solidFill>
                  <a:schemeClr val="dk1"/>
                </a:solidFill>
                <a:highlight>
                  <a:schemeClr val="lt1"/>
                </a:highlight>
                <a:latin typeface="Times"/>
                <a:ea typeface="Times"/>
                <a:cs typeface="Times"/>
                <a:sym typeface="Times"/>
              </a:rPr>
              <a:t> − 5</a:t>
            </a:r>
            <a:endParaRPr sz="1800">
              <a:highlight>
                <a:schemeClr val="lt1"/>
              </a:highlight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16" name="Google Shape;1716;p140"/>
          <p:cNvSpPr txBox="1"/>
          <p:nvPr>
            <p:ph idx="1" type="body"/>
          </p:nvPr>
        </p:nvSpPr>
        <p:spPr>
          <a:xfrm>
            <a:off x="4551000" y="2760525"/>
            <a:ext cx="4248000" cy="27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Be aware that changing the scales does change the shape of the graph in some ways.  </a:t>
            </a:r>
            <a:endParaRPr sz="1800"/>
          </a:p>
        </p:txBody>
      </p:sp>
      <p:pic>
        <p:nvPicPr>
          <p:cNvPr id="1717" name="Google Shape;1717;p140"/>
          <p:cNvPicPr preferRelativeResize="0"/>
          <p:nvPr/>
        </p:nvPicPr>
        <p:blipFill rotWithShape="1">
          <a:blip r:embed="rId5">
            <a:alphaModFix/>
          </a:blip>
          <a:srcRect b="0" l="0" r="0" t="2581"/>
          <a:stretch/>
        </p:blipFill>
        <p:spPr>
          <a:xfrm>
            <a:off x="2523562" y="1173300"/>
            <a:ext cx="1976419" cy="27048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718" name="Google Shape;1718;p140"/>
          <p:cNvSpPr txBox="1"/>
          <p:nvPr>
            <p:ph idx="1" type="body"/>
          </p:nvPr>
        </p:nvSpPr>
        <p:spPr>
          <a:xfrm>
            <a:off x="4551000" y="3836575"/>
            <a:ext cx="4248000" cy="27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What do you notice about the graph when plotted on axes with a step of 1?</a:t>
            </a:r>
            <a:r>
              <a:rPr lang="en-GB" sz="1800"/>
              <a:t> </a:t>
            </a:r>
            <a:endParaRPr sz="1800"/>
          </a:p>
        </p:txBody>
      </p:sp>
      <p:sp>
        <p:nvSpPr>
          <p:cNvPr id="1719" name="Google Shape;1719;p140"/>
          <p:cNvSpPr txBox="1"/>
          <p:nvPr>
            <p:ph idx="1" type="body"/>
          </p:nvPr>
        </p:nvSpPr>
        <p:spPr>
          <a:xfrm>
            <a:off x="4572000" y="4514150"/>
            <a:ext cx="4248000" cy="27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 curve is narrower.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3" name="Shape 1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24" name="Google Shape;1724;p1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35250" y="777226"/>
            <a:ext cx="1976475" cy="2742024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725" name="Google Shape;1725;p14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Reviewing plotting graphs</a:t>
            </a:r>
            <a:endParaRPr/>
          </a:p>
        </p:txBody>
      </p:sp>
      <p:sp>
        <p:nvSpPr>
          <p:cNvPr id="1726" name="Google Shape;1726;p141"/>
          <p:cNvSpPr txBox="1"/>
          <p:nvPr>
            <p:ph idx="1" type="body"/>
          </p:nvPr>
        </p:nvSpPr>
        <p:spPr>
          <a:xfrm>
            <a:off x="319100" y="648850"/>
            <a:ext cx="1189800" cy="27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3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− 2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t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endParaRPr sz="1800"/>
          </a:p>
        </p:txBody>
      </p:sp>
      <p:sp>
        <p:nvSpPr>
          <p:cNvPr id="1727" name="Google Shape;1727;p141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 </a:t>
            </a:r>
            <a:endParaRPr/>
          </a:p>
        </p:txBody>
      </p:sp>
      <p:graphicFrame>
        <p:nvGraphicFramePr>
          <p:cNvPr id="1728" name="Google Shape;1728;p141"/>
          <p:cNvGraphicFramePr/>
          <p:nvPr/>
        </p:nvGraphicFramePr>
        <p:xfrm>
          <a:off x="400188" y="36303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{C929B8A6-531E-44CB-B741-55F0E8B17D5D}</a:tableStyleId>
              </a:tblPr>
              <a:tblGrid>
                <a:gridCol w="597125"/>
                <a:gridCol w="417000"/>
                <a:gridCol w="417000"/>
                <a:gridCol w="417000"/>
                <a:gridCol w="417000"/>
                <a:gridCol w="417000"/>
                <a:gridCol w="417000"/>
                <a:gridCol w="417000"/>
                <a:gridCol w="417000"/>
              </a:tblGrid>
              <a:tr h="306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t</a:t>
                      </a:r>
                      <a:endParaRPr i="1"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−3</a:t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67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3</a:t>
                      </a:r>
                      <a:r>
                        <a:rPr i="1"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− 2</a:t>
                      </a:r>
                      <a:r>
                        <a:rPr i="1"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t</a:t>
                      </a:r>
                      <a:endParaRPr i="1"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729" name="Google Shape;1729;p141"/>
          <p:cNvSpPr/>
          <p:nvPr/>
        </p:nvSpPr>
        <p:spPr>
          <a:xfrm>
            <a:off x="2248325" y="3937050"/>
            <a:ext cx="417000" cy="30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30" name="Google Shape;1730;p141"/>
          <p:cNvSpPr/>
          <p:nvPr/>
        </p:nvSpPr>
        <p:spPr>
          <a:xfrm>
            <a:off x="2665326" y="3937050"/>
            <a:ext cx="417000" cy="30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31" name="Google Shape;1731;p141"/>
          <p:cNvSpPr/>
          <p:nvPr/>
        </p:nvSpPr>
        <p:spPr>
          <a:xfrm>
            <a:off x="3082326" y="3937050"/>
            <a:ext cx="417000" cy="30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−1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32" name="Google Shape;1732;p141"/>
          <p:cNvSpPr/>
          <p:nvPr/>
        </p:nvSpPr>
        <p:spPr>
          <a:xfrm>
            <a:off x="3499325" y="3937050"/>
            <a:ext cx="417000" cy="30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−3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33" name="Google Shape;1733;p141"/>
          <p:cNvSpPr/>
          <p:nvPr/>
        </p:nvSpPr>
        <p:spPr>
          <a:xfrm>
            <a:off x="3916325" y="3937050"/>
            <a:ext cx="417000" cy="30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−5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34" name="Google Shape;1734;p141"/>
          <p:cNvSpPr/>
          <p:nvPr/>
        </p:nvSpPr>
        <p:spPr>
          <a:xfrm>
            <a:off x="1831325" y="3937050"/>
            <a:ext cx="417000" cy="30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5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35" name="Google Shape;1735;p141"/>
          <p:cNvSpPr/>
          <p:nvPr/>
        </p:nvSpPr>
        <p:spPr>
          <a:xfrm>
            <a:off x="1414849" y="3937050"/>
            <a:ext cx="417000" cy="30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7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36" name="Google Shape;1736;p141"/>
          <p:cNvSpPr/>
          <p:nvPr/>
        </p:nvSpPr>
        <p:spPr>
          <a:xfrm>
            <a:off x="998974" y="3936050"/>
            <a:ext cx="417000" cy="30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9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737" name="Google Shape;1737;p1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37994" y="697150"/>
            <a:ext cx="1976480" cy="2861299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738" name="Google Shape;1738;p141"/>
          <p:cNvSpPr/>
          <p:nvPr/>
        </p:nvSpPr>
        <p:spPr>
          <a:xfrm>
            <a:off x="3046352" y="2356585"/>
            <a:ext cx="232800" cy="27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18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t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39" name="Google Shape;1739;p141"/>
          <p:cNvSpPr/>
          <p:nvPr/>
        </p:nvSpPr>
        <p:spPr>
          <a:xfrm rot="-5400000">
            <a:off x="1575125" y="707550"/>
            <a:ext cx="788700" cy="2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highlight>
                  <a:schemeClr val="lt1"/>
                </a:highlight>
                <a:latin typeface="Times"/>
                <a:ea typeface="Times"/>
                <a:cs typeface="Times"/>
                <a:sym typeface="Times"/>
              </a:rPr>
              <a:t>3</a:t>
            </a:r>
            <a:r>
              <a:rPr i="1" lang="en-GB" sz="1800">
                <a:solidFill>
                  <a:schemeClr val="dk1"/>
                </a:solidFill>
                <a:highlight>
                  <a:schemeClr val="lt1"/>
                </a:highlight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800">
                <a:solidFill>
                  <a:schemeClr val="dk1"/>
                </a:solidFill>
                <a:highlight>
                  <a:schemeClr val="lt1"/>
                </a:highlight>
                <a:latin typeface="Times"/>
                <a:ea typeface="Times"/>
                <a:cs typeface="Times"/>
                <a:sym typeface="Times"/>
              </a:rPr>
              <a:t>− 2</a:t>
            </a:r>
            <a:r>
              <a:rPr i="1" lang="en-GB" sz="1800">
                <a:solidFill>
                  <a:schemeClr val="dk1"/>
                </a:solidFill>
                <a:highlight>
                  <a:schemeClr val="lt1"/>
                </a:highlight>
                <a:latin typeface="Times"/>
                <a:ea typeface="Times"/>
                <a:cs typeface="Times"/>
                <a:sym typeface="Times"/>
              </a:rPr>
              <a:t>t</a:t>
            </a:r>
            <a:endParaRPr sz="1600">
              <a:highlight>
                <a:schemeClr val="lt1"/>
              </a:highlight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1}{4}h\ +\ 2&quot;&gt;&lt;mfrac&gt;&lt;mn&gt;1&lt;/mn&gt;&lt;mn&gt;4&lt;/mn&gt;&lt;/mfrac&gt;&lt;mi&gt;h&lt;/mi&gt;&lt;mtext&gt;&lt;/mtext&gt;&lt;mo&gt;+&lt;/mo&gt;&lt;mtext&gt;&lt;/mtext&gt;&lt;mn&gt;2&lt;/mn&gt;&lt;/math&gt;" id="1740" name="Google Shape;1740;p141" title="one fourth h plus 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57725" y="810000"/>
            <a:ext cx="805250" cy="49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1" name="Google Shape;1741;p14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775025" y="697150"/>
            <a:ext cx="2202800" cy="2375725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742" name="Google Shape;1742;p141"/>
          <p:cNvSpPr txBox="1"/>
          <p:nvPr>
            <p:ph idx="1" type="body"/>
          </p:nvPr>
        </p:nvSpPr>
        <p:spPr>
          <a:xfrm>
            <a:off x="395300" y="4242800"/>
            <a:ext cx="4248000" cy="27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Work out the coordinates with positive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800"/>
              <a:t> values first.</a:t>
            </a:r>
            <a:endParaRPr sz="1800"/>
          </a:p>
        </p:txBody>
      </p:sp>
      <p:sp>
        <p:nvSpPr>
          <p:cNvPr id="1743" name="Google Shape;1743;p141"/>
          <p:cNvSpPr txBox="1"/>
          <p:nvPr>
            <p:ph idx="1" type="body"/>
          </p:nvPr>
        </p:nvSpPr>
        <p:spPr>
          <a:xfrm>
            <a:off x="4686700" y="4242800"/>
            <a:ext cx="4000200" cy="27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Pick values for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h</a:t>
            </a:r>
            <a:r>
              <a:rPr lang="en-GB" sz="1800"/>
              <a:t> which will give easy values to plot.</a:t>
            </a:r>
            <a:endParaRPr sz="1800"/>
          </a:p>
        </p:txBody>
      </p:sp>
      <p:graphicFrame>
        <p:nvGraphicFramePr>
          <p:cNvPr id="1744" name="Google Shape;1744;p141"/>
          <p:cNvGraphicFramePr/>
          <p:nvPr/>
        </p:nvGraphicFramePr>
        <p:xfrm>
          <a:off x="4664238" y="3215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{C929B8A6-531E-44CB-B741-55F0E8B17D5D}</a:tableStyleId>
              </a:tblPr>
              <a:tblGrid>
                <a:gridCol w="752675"/>
                <a:gridCol w="417000"/>
                <a:gridCol w="417000"/>
                <a:gridCol w="417000"/>
                <a:gridCol w="417000"/>
                <a:gridCol w="417000"/>
                <a:gridCol w="417000"/>
                <a:gridCol w="417000"/>
                <a:gridCol w="417000"/>
              </a:tblGrid>
              <a:tr h="306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h</a:t>
                      </a:r>
                      <a:endParaRPr i="1"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−6</a:t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67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1"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t/>
                      </a:r>
                      <a:endParaRPr i="1" sz="1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745" name="Google Shape;1745;p141"/>
          <p:cNvSpPr/>
          <p:nvPr/>
        </p:nvSpPr>
        <p:spPr>
          <a:xfrm>
            <a:off x="6667933" y="3522250"/>
            <a:ext cx="417000" cy="51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6" name="Google Shape;1746;p141"/>
          <p:cNvSpPr/>
          <p:nvPr/>
        </p:nvSpPr>
        <p:spPr>
          <a:xfrm>
            <a:off x="7084933" y="3522250"/>
            <a:ext cx="417000" cy="51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2.5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7" name="Google Shape;1747;p141"/>
          <p:cNvSpPr/>
          <p:nvPr/>
        </p:nvSpPr>
        <p:spPr>
          <a:xfrm>
            <a:off x="7501931" y="3522250"/>
            <a:ext cx="417000" cy="51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8" name="Google Shape;1748;p141"/>
          <p:cNvSpPr/>
          <p:nvPr/>
        </p:nvSpPr>
        <p:spPr>
          <a:xfrm>
            <a:off x="7918928" y="3522250"/>
            <a:ext cx="417000" cy="51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3.5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9" name="Google Shape;1749;p141"/>
          <p:cNvSpPr/>
          <p:nvPr/>
        </p:nvSpPr>
        <p:spPr>
          <a:xfrm>
            <a:off x="8335927" y="3522250"/>
            <a:ext cx="417000" cy="51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0" name="Google Shape;1750;p141"/>
          <p:cNvSpPr/>
          <p:nvPr/>
        </p:nvSpPr>
        <p:spPr>
          <a:xfrm>
            <a:off x="6250934" y="3522250"/>
            <a:ext cx="417000" cy="51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1.5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1" name="Google Shape;1751;p141"/>
          <p:cNvSpPr/>
          <p:nvPr/>
        </p:nvSpPr>
        <p:spPr>
          <a:xfrm>
            <a:off x="5834460" y="3522250"/>
            <a:ext cx="417000" cy="51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2" name="Google Shape;1752;p141"/>
          <p:cNvSpPr/>
          <p:nvPr/>
        </p:nvSpPr>
        <p:spPr>
          <a:xfrm>
            <a:off x="5396325" y="3522250"/>
            <a:ext cx="417000" cy="51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0.5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1}{4}h\ +\ 2&quot;&gt;&lt;mfrac&gt;&lt;mn&gt;1&lt;/mn&gt;&lt;mn&gt;4&lt;/mn&gt;&lt;/mfrac&gt;&lt;mi&gt;h&lt;/mi&gt;&lt;mtext&gt;&lt;/mtext&gt;&lt;mo&gt;+&lt;/mo&gt;&lt;mtext&gt;&lt;/mtext&gt;&lt;mn&gt;2&lt;/mn&gt;&lt;/math&gt;" id="1753" name="Google Shape;1753;p141" title="one fourth h plus 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686688" y="3549496"/>
            <a:ext cx="688475" cy="42107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4" name="Google Shape;1754;p141"/>
          <p:cNvPicPr preferRelativeResize="0"/>
          <p:nvPr/>
        </p:nvPicPr>
        <p:blipFill rotWithShape="1">
          <a:blip r:embed="rId7">
            <a:alphaModFix/>
          </a:blip>
          <a:srcRect b="5884" l="0" r="0" t="1736"/>
          <a:stretch/>
        </p:blipFill>
        <p:spPr>
          <a:xfrm>
            <a:off x="5775025" y="667550"/>
            <a:ext cx="2202799" cy="2405325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755" name="Google Shape;1755;p141"/>
          <p:cNvSpPr/>
          <p:nvPr/>
        </p:nvSpPr>
        <p:spPr>
          <a:xfrm>
            <a:off x="7745027" y="2200060"/>
            <a:ext cx="232800" cy="27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18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h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6" name="Google Shape;1756;p141"/>
          <p:cNvSpPr/>
          <p:nvPr/>
        </p:nvSpPr>
        <p:spPr>
          <a:xfrm>
            <a:off x="6195000" y="697150"/>
            <a:ext cx="394500" cy="6453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1}{4}h\ +\ 2&quot;&gt;&lt;mfrac&gt;&lt;mn&gt;1&lt;/mn&gt;&lt;mn&gt;4&lt;/mn&gt;&lt;/mfrac&gt;&lt;mi&gt;h&lt;/mi&gt;&lt;mtext&gt;&lt;/mtext&gt;&lt;mo&gt;+&lt;/mo&gt;&lt;mtext&gt;&lt;/mtext&gt;&lt;mn&gt;2&lt;/mn&gt;&lt;/math&gt;" id="1757" name="Google Shape;1757;p141" title="one fourth h plus 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6069675" y="822512"/>
            <a:ext cx="645150" cy="394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1" name="Shape 1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2" name="Google Shape;1762;p142"/>
          <p:cNvSpPr txBox="1"/>
          <p:nvPr>
            <p:ph idx="1" type="body"/>
          </p:nvPr>
        </p:nvSpPr>
        <p:spPr>
          <a:xfrm>
            <a:off x="324000" y="759300"/>
            <a:ext cx="8237700" cy="492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Andeep is plotting the graph of the expression  </a:t>
            </a:r>
            <a:endParaRPr sz="2000"/>
          </a:p>
        </p:txBody>
      </p:sp>
      <p:sp>
        <p:nvSpPr>
          <p:cNvPr id="1763" name="Google Shape;1763;p14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Reviewing plotting graphs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frac{60}{x}&quot;&gt;&lt;mfrac&gt;&lt;mn&gt;60&lt;/mn&gt;&lt;mi&gt;x&lt;/mi&gt;&lt;/mfrac&gt;&lt;/math&gt;" id="1764" name="Google Shape;1764;p142" title="60 over x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56800" y="723675"/>
            <a:ext cx="269611" cy="49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5" name="Google Shape;1765;p142"/>
          <p:cNvPicPr preferRelativeResize="0"/>
          <p:nvPr/>
        </p:nvPicPr>
        <p:blipFill rotWithShape="1">
          <a:blip r:embed="rId4">
            <a:alphaModFix/>
          </a:blip>
          <a:srcRect b="0" l="3586" r="0" t="0"/>
          <a:stretch/>
        </p:blipFill>
        <p:spPr>
          <a:xfrm>
            <a:off x="5774400" y="2591809"/>
            <a:ext cx="3045599" cy="2224266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766" name="Google Shape;1766;p142"/>
          <p:cNvSpPr txBox="1"/>
          <p:nvPr>
            <p:ph idx="1" type="body"/>
          </p:nvPr>
        </p:nvSpPr>
        <p:spPr>
          <a:xfrm>
            <a:off x="324000" y="1335325"/>
            <a:ext cx="4248000" cy="32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a) </a:t>
            </a:r>
            <a:r>
              <a:rPr lang="en-GB" sz="1800"/>
              <a:t>Give an example of something he has done well.</a:t>
            </a:r>
            <a:r>
              <a:rPr lang="en-GB" sz="1800"/>
              <a:t>  </a:t>
            </a:r>
            <a:endParaRPr sz="1800"/>
          </a:p>
        </p:txBody>
      </p:sp>
      <p:sp>
        <p:nvSpPr>
          <p:cNvPr id="1767" name="Google Shape;1767;p142"/>
          <p:cNvSpPr txBox="1"/>
          <p:nvPr>
            <p:ph idx="1" type="body"/>
          </p:nvPr>
        </p:nvSpPr>
        <p:spPr>
          <a:xfrm>
            <a:off x="324000" y="3348950"/>
            <a:ext cx="4248000" cy="32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b</a:t>
            </a:r>
            <a:r>
              <a:rPr lang="en-GB" sz="1800"/>
              <a:t>) Spot any mistakes.  </a:t>
            </a:r>
            <a:endParaRPr sz="1800"/>
          </a:p>
        </p:txBody>
      </p:sp>
      <p:graphicFrame>
        <p:nvGraphicFramePr>
          <p:cNvPr id="1768" name="Google Shape;1768;p142"/>
          <p:cNvGraphicFramePr/>
          <p:nvPr/>
        </p:nvGraphicFramePr>
        <p:xfrm>
          <a:off x="4823988" y="16151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{C929B8A6-531E-44CB-B741-55F0E8B17D5D}</a:tableStyleId>
              </a:tblPr>
              <a:tblGrid>
                <a:gridCol w="597125"/>
                <a:gridCol w="417000"/>
                <a:gridCol w="417000"/>
                <a:gridCol w="417000"/>
                <a:gridCol w="417000"/>
                <a:gridCol w="417000"/>
                <a:gridCol w="417000"/>
                <a:gridCol w="417000"/>
                <a:gridCol w="417000"/>
              </a:tblGrid>
              <a:tr h="306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endParaRPr i="1"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..10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..15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67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i="1"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y</a:t>
                      </a:r>
                      <a:endParaRPr i="1"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1769" name="Google Shape;1769;p142"/>
          <p:cNvPicPr preferRelativeResize="0"/>
          <p:nvPr/>
        </p:nvPicPr>
        <p:blipFill rotWithShape="1">
          <a:blip r:embed="rId5">
            <a:alphaModFix/>
          </a:blip>
          <a:srcRect b="0" l="4085" r="0" t="0"/>
          <a:stretch/>
        </p:blipFill>
        <p:spPr>
          <a:xfrm>
            <a:off x="5774400" y="2456285"/>
            <a:ext cx="3045600" cy="2364115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770" name="Google Shape;1770;p142"/>
          <p:cNvSpPr txBox="1"/>
          <p:nvPr>
            <p:ph idx="1" type="body"/>
          </p:nvPr>
        </p:nvSpPr>
        <p:spPr>
          <a:xfrm>
            <a:off x="324000" y="2139775"/>
            <a:ext cx="5267400" cy="32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He has drawn a table of values.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He chose </a:t>
            </a:r>
            <a:r>
              <a:rPr i="1" lang="en-GB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-values that gave integer </a:t>
            </a:r>
            <a:r>
              <a:rPr i="1" lang="en-GB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-values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He used the </a:t>
            </a:r>
            <a:r>
              <a:rPr i="1" lang="en-GB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-axis scale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correctly.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771" name="Google Shape;1771;p142"/>
          <p:cNvSpPr txBox="1"/>
          <p:nvPr>
            <p:ph idx="1" type="body"/>
          </p:nvPr>
        </p:nvSpPr>
        <p:spPr>
          <a:xfrm>
            <a:off x="324000" y="3795446"/>
            <a:ext cx="5267400" cy="32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          He has made a mistake with this coordinate which has then been plotted wrong.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60}{5}=12&quot;&gt;&lt;mfrac&gt;&lt;mn&gt;60&lt;/mn&gt;&lt;mn&gt;5&lt;/mn&gt;&lt;/mfrac&gt;&lt;mo&gt;=&lt;/mo&gt;&lt;mn&gt;12&lt;/mn&gt;&lt;/math&gt;" id="1772" name="Google Shape;1772;p142" title="60 over 5 equals 1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16650" y="3694399"/>
            <a:ext cx="817154" cy="492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73" name="Google Shape;1773;p142"/>
          <p:cNvSpPr/>
          <p:nvPr/>
        </p:nvSpPr>
        <p:spPr>
          <a:xfrm>
            <a:off x="7097400" y="1621825"/>
            <a:ext cx="408600" cy="6135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74" name="Google Shape;1774;p142"/>
          <p:cNvSpPr/>
          <p:nvPr/>
        </p:nvSpPr>
        <p:spPr>
          <a:xfrm>
            <a:off x="6740075" y="4363475"/>
            <a:ext cx="210600" cy="2022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8" name="Shape 1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9" name="Google Shape;1779;p143"/>
          <p:cNvSpPr txBox="1"/>
          <p:nvPr>
            <p:ph idx="1" type="body"/>
          </p:nvPr>
        </p:nvSpPr>
        <p:spPr>
          <a:xfrm>
            <a:off x="324000" y="759300"/>
            <a:ext cx="88200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1) </a:t>
            </a:r>
            <a:r>
              <a:rPr lang="en-GB" sz="1800"/>
              <a:t>Fill in the table of values, plot the points for the graphs of each expression.</a:t>
            </a:r>
            <a:endParaRPr sz="1800"/>
          </a:p>
        </p:txBody>
      </p:sp>
      <p:sp>
        <p:nvSpPr>
          <p:cNvPr id="1780" name="Google Shape;1780;p143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Reviewing plotting graphs</a:t>
            </a:r>
            <a:endParaRPr/>
          </a:p>
        </p:txBody>
      </p:sp>
      <p:graphicFrame>
        <p:nvGraphicFramePr>
          <p:cNvPr id="1781" name="Google Shape;1781;p143"/>
          <p:cNvGraphicFramePr/>
          <p:nvPr/>
        </p:nvGraphicFramePr>
        <p:xfrm>
          <a:off x="324000" y="1162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{C929B8A6-531E-44CB-B741-55F0E8B17D5D}</a:tableStyleId>
              </a:tblPr>
              <a:tblGrid>
                <a:gridCol w="2832000"/>
                <a:gridCol w="2832000"/>
                <a:gridCol w="2832000"/>
              </a:tblGrid>
              <a:tr h="237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a) 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4</a:t>
                      </a:r>
                      <a:r>
                        <a:rPr i="1"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a 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− 5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b) </a:t>
                      </a:r>
                      <a:r>
                        <a:rPr i="1"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a</a:t>
                      </a:r>
                      <a:r>
                        <a:rPr baseline="30000" i="1"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2</a:t>
                      </a:r>
                      <a:r>
                        <a:rPr i="1"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− 5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c) 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5</a:t>
                      </a:r>
                      <a:r>
                        <a:rPr i="1"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− 3</a:t>
                      </a:r>
                      <a:r>
                        <a:rPr i="1"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a</a:t>
                      </a:r>
                      <a:endParaRPr i="1"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782" name="Google Shape;1782;p143"/>
          <p:cNvGraphicFramePr/>
          <p:nvPr/>
        </p:nvGraphicFramePr>
        <p:xfrm>
          <a:off x="323988" y="1650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{C929B8A6-531E-44CB-B741-55F0E8B17D5D}</a:tableStyleId>
              </a:tblPr>
              <a:tblGrid>
                <a:gridCol w="690700"/>
                <a:gridCol w="326200"/>
                <a:gridCol w="326200"/>
                <a:gridCol w="326200"/>
                <a:gridCol w="326200"/>
                <a:gridCol w="326200"/>
                <a:gridCol w="326200"/>
              </a:tblGrid>
              <a:tr h="306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a</a:t>
                      </a:r>
                      <a:endParaRPr i="1"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−1</a:t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6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4</a:t>
                      </a:r>
                      <a:r>
                        <a:rPr i="1"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a 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− 5</a:t>
                      </a:r>
                      <a:endParaRPr i="1"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1783" name="Google Shape;1783;p1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8950" y="2408050"/>
            <a:ext cx="1855850" cy="231195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graphicFrame>
        <p:nvGraphicFramePr>
          <p:cNvPr id="1784" name="Google Shape;1784;p143"/>
          <p:cNvGraphicFramePr/>
          <p:nvPr/>
        </p:nvGraphicFramePr>
        <p:xfrm>
          <a:off x="3263963" y="1650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{C929B8A6-531E-44CB-B741-55F0E8B17D5D}</a:tableStyleId>
              </a:tblPr>
              <a:tblGrid>
                <a:gridCol w="621925"/>
                <a:gridCol w="310200"/>
                <a:gridCol w="310200"/>
                <a:gridCol w="310200"/>
                <a:gridCol w="310200"/>
                <a:gridCol w="310200"/>
                <a:gridCol w="310200"/>
                <a:gridCol w="310200"/>
              </a:tblGrid>
              <a:tr h="306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a</a:t>
                      </a:r>
                      <a:endParaRPr i="1"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−2</a:t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6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a</a:t>
                      </a:r>
                      <a:r>
                        <a:rPr baseline="30000" i="1"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2</a:t>
                      </a:r>
                      <a:r>
                        <a:rPr i="1"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− 5</a:t>
                      </a:r>
                      <a:endParaRPr i="1"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785" name="Google Shape;1785;p143"/>
          <p:cNvSpPr/>
          <p:nvPr/>
        </p:nvSpPr>
        <p:spPr>
          <a:xfrm>
            <a:off x="1993300" y="3741074"/>
            <a:ext cx="232800" cy="27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1800">
                <a:solidFill>
                  <a:schemeClr val="dk1"/>
                </a:solidFill>
                <a:highlight>
                  <a:schemeClr val="lt1"/>
                </a:highlight>
                <a:latin typeface="Times"/>
                <a:ea typeface="Times"/>
                <a:cs typeface="Times"/>
                <a:sym typeface="Times"/>
              </a:rPr>
              <a:t>a</a:t>
            </a:r>
            <a:endParaRPr sz="1800">
              <a:highlight>
                <a:schemeClr val="lt1"/>
              </a:highlight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86" name="Google Shape;1786;p143"/>
          <p:cNvSpPr/>
          <p:nvPr/>
        </p:nvSpPr>
        <p:spPr>
          <a:xfrm rot="-5400000">
            <a:off x="712950" y="2643550"/>
            <a:ext cx="6687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highlight>
                  <a:schemeClr val="lt1"/>
                </a:highlight>
                <a:latin typeface="Times"/>
                <a:ea typeface="Times"/>
                <a:cs typeface="Times"/>
                <a:sym typeface="Times"/>
              </a:rPr>
              <a:t>4</a:t>
            </a:r>
            <a:r>
              <a:rPr i="1" lang="en-GB" sz="2000">
                <a:solidFill>
                  <a:schemeClr val="dk1"/>
                </a:solidFill>
                <a:highlight>
                  <a:schemeClr val="lt1"/>
                </a:highlight>
                <a:latin typeface="Times"/>
                <a:ea typeface="Times"/>
                <a:cs typeface="Times"/>
                <a:sym typeface="Times"/>
              </a:rPr>
              <a:t>a </a:t>
            </a:r>
            <a:r>
              <a:rPr lang="en-GB" sz="2000">
                <a:solidFill>
                  <a:schemeClr val="dk1"/>
                </a:solidFill>
                <a:highlight>
                  <a:schemeClr val="lt1"/>
                </a:highlight>
                <a:latin typeface="Times"/>
                <a:ea typeface="Times"/>
                <a:cs typeface="Times"/>
                <a:sym typeface="Times"/>
              </a:rPr>
              <a:t>− 5</a:t>
            </a:r>
            <a:endParaRPr sz="1600">
              <a:highlight>
                <a:schemeClr val="lt1"/>
              </a:highlight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787" name="Google Shape;1787;p143"/>
          <p:cNvPicPr preferRelativeResize="0"/>
          <p:nvPr/>
        </p:nvPicPr>
        <p:blipFill rotWithShape="1">
          <a:blip r:embed="rId4">
            <a:alphaModFix/>
          </a:blip>
          <a:srcRect b="0" l="8450" r="0" t="0"/>
          <a:stretch/>
        </p:blipFill>
        <p:spPr>
          <a:xfrm>
            <a:off x="3365801" y="2408050"/>
            <a:ext cx="1908400" cy="2311951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788" name="Google Shape;1788;p143"/>
          <p:cNvSpPr/>
          <p:nvPr/>
        </p:nvSpPr>
        <p:spPr>
          <a:xfrm>
            <a:off x="5041402" y="4183360"/>
            <a:ext cx="232800" cy="27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1800">
                <a:solidFill>
                  <a:schemeClr val="dk1"/>
                </a:solidFill>
                <a:highlight>
                  <a:schemeClr val="lt1"/>
                </a:highlight>
                <a:latin typeface="Times"/>
                <a:ea typeface="Times"/>
                <a:cs typeface="Times"/>
                <a:sym typeface="Times"/>
              </a:rPr>
              <a:t>a</a:t>
            </a:r>
            <a:endParaRPr sz="1800">
              <a:highlight>
                <a:schemeClr val="lt1"/>
              </a:highlight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89" name="Google Shape;1789;p143"/>
          <p:cNvSpPr/>
          <p:nvPr/>
        </p:nvSpPr>
        <p:spPr>
          <a:xfrm rot="-5400000">
            <a:off x="3620725" y="2699500"/>
            <a:ext cx="6258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000">
                <a:solidFill>
                  <a:schemeClr val="dk1"/>
                </a:solidFill>
                <a:highlight>
                  <a:schemeClr val="lt1"/>
                </a:highlight>
                <a:latin typeface="Times"/>
                <a:ea typeface="Times"/>
                <a:cs typeface="Times"/>
                <a:sym typeface="Times"/>
              </a:rPr>
              <a:t>a</a:t>
            </a:r>
            <a:r>
              <a:rPr baseline="30000" i="1" lang="en-GB" sz="2000">
                <a:solidFill>
                  <a:schemeClr val="dk1"/>
                </a:solidFill>
                <a:highlight>
                  <a:schemeClr val="lt1"/>
                </a:highlight>
                <a:latin typeface="Times"/>
                <a:ea typeface="Times"/>
                <a:cs typeface="Times"/>
                <a:sym typeface="Times"/>
              </a:rPr>
              <a:t>2</a:t>
            </a:r>
            <a:r>
              <a:rPr i="1" lang="en-GB" sz="2000">
                <a:solidFill>
                  <a:schemeClr val="dk1"/>
                </a:solidFill>
                <a:highlight>
                  <a:schemeClr val="lt1"/>
                </a:highlight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chemeClr val="dk1"/>
                </a:solidFill>
                <a:highlight>
                  <a:schemeClr val="lt1"/>
                </a:highlight>
                <a:latin typeface="Times"/>
                <a:ea typeface="Times"/>
                <a:cs typeface="Times"/>
                <a:sym typeface="Times"/>
              </a:rPr>
              <a:t>− 5</a:t>
            </a:r>
            <a:endParaRPr sz="1600">
              <a:highlight>
                <a:schemeClr val="lt1"/>
              </a:highlight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790" name="Google Shape;1790;p143"/>
          <p:cNvGraphicFramePr/>
          <p:nvPr/>
        </p:nvGraphicFramePr>
        <p:xfrm>
          <a:off x="6164113" y="1650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{C929B8A6-531E-44CB-B741-55F0E8B17D5D}</a:tableStyleId>
              </a:tblPr>
              <a:tblGrid>
                <a:gridCol w="734650"/>
                <a:gridCol w="320200"/>
                <a:gridCol w="320200"/>
                <a:gridCol w="320200"/>
                <a:gridCol w="320200"/>
                <a:gridCol w="320200"/>
                <a:gridCol w="320200"/>
              </a:tblGrid>
              <a:tr h="306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a</a:t>
                      </a:r>
                      <a:endParaRPr i="1"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−1</a:t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6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5</a:t>
                      </a:r>
                      <a:r>
                        <a:rPr i="1"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− 3</a:t>
                      </a:r>
                      <a:r>
                        <a:rPr i="1"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a</a:t>
                      </a:r>
                      <a:endParaRPr i="1"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1791" name="Google Shape;1791;p14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256800" y="2408050"/>
            <a:ext cx="2156138" cy="2095501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792" name="Google Shape;1792;p143"/>
          <p:cNvSpPr/>
          <p:nvPr/>
        </p:nvSpPr>
        <p:spPr>
          <a:xfrm>
            <a:off x="8179577" y="3741085"/>
            <a:ext cx="232800" cy="27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1800">
                <a:solidFill>
                  <a:schemeClr val="dk1"/>
                </a:solidFill>
                <a:highlight>
                  <a:schemeClr val="lt1"/>
                </a:highlight>
                <a:latin typeface="Times"/>
                <a:ea typeface="Times"/>
                <a:cs typeface="Times"/>
                <a:sym typeface="Times"/>
              </a:rPr>
              <a:t>a</a:t>
            </a:r>
            <a:endParaRPr sz="1800">
              <a:highlight>
                <a:schemeClr val="lt1"/>
              </a:highlight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93" name="Google Shape;1793;p143"/>
          <p:cNvSpPr/>
          <p:nvPr/>
        </p:nvSpPr>
        <p:spPr>
          <a:xfrm rot="-5400000">
            <a:off x="6414725" y="2643550"/>
            <a:ext cx="7014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highlight>
                  <a:schemeClr val="lt1"/>
                </a:highlight>
                <a:latin typeface="Times"/>
                <a:ea typeface="Times"/>
                <a:cs typeface="Times"/>
                <a:sym typeface="Times"/>
              </a:rPr>
              <a:t>5</a:t>
            </a:r>
            <a:r>
              <a:rPr i="1" lang="en-GB" sz="2000">
                <a:solidFill>
                  <a:schemeClr val="dk1"/>
                </a:solidFill>
                <a:highlight>
                  <a:schemeClr val="lt1"/>
                </a:highlight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chemeClr val="dk1"/>
                </a:solidFill>
                <a:highlight>
                  <a:schemeClr val="lt1"/>
                </a:highlight>
                <a:latin typeface="Times"/>
                <a:ea typeface="Times"/>
                <a:cs typeface="Times"/>
                <a:sym typeface="Times"/>
              </a:rPr>
              <a:t>− 3</a:t>
            </a:r>
            <a:r>
              <a:rPr i="1" lang="en-GB" sz="2000">
                <a:solidFill>
                  <a:schemeClr val="dk1"/>
                </a:solidFill>
                <a:highlight>
                  <a:schemeClr val="lt1"/>
                </a:highlight>
                <a:latin typeface="Times"/>
                <a:ea typeface="Times"/>
                <a:cs typeface="Times"/>
                <a:sym typeface="Times"/>
              </a:rPr>
              <a:t>a</a:t>
            </a:r>
            <a:endParaRPr sz="1600">
              <a:highlight>
                <a:schemeClr val="lt1"/>
              </a:highlight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7" name="Shape 17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8" name="Google Shape;1798;p144"/>
          <p:cNvSpPr txBox="1"/>
          <p:nvPr>
            <p:ph idx="1" type="body"/>
          </p:nvPr>
        </p:nvSpPr>
        <p:spPr>
          <a:xfrm>
            <a:off x="324000" y="759300"/>
            <a:ext cx="8534400" cy="406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1) Fill in the table of values, plot the points for the graphs of each expression.</a:t>
            </a:r>
            <a:endParaRPr sz="2000"/>
          </a:p>
        </p:txBody>
      </p:sp>
      <p:sp>
        <p:nvSpPr>
          <p:cNvPr id="1799" name="Google Shape;1799;p144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Reviewing plotting graphs</a:t>
            </a:r>
            <a:endParaRPr/>
          </a:p>
        </p:txBody>
      </p:sp>
      <p:graphicFrame>
        <p:nvGraphicFramePr>
          <p:cNvPr id="1800" name="Google Shape;1800;p144"/>
          <p:cNvGraphicFramePr/>
          <p:nvPr/>
        </p:nvGraphicFramePr>
        <p:xfrm>
          <a:off x="324000" y="1162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{C929B8A6-531E-44CB-B741-55F0E8B17D5D}</a:tableStyleId>
              </a:tblPr>
              <a:tblGrid>
                <a:gridCol w="2832000"/>
                <a:gridCol w="2832000"/>
                <a:gridCol w="2832000"/>
              </a:tblGrid>
              <a:tr h="237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 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e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 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1"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descr="&lt;math xmlns=&quot;http://www.w3.org/1998/Math/MathML&quot; display=&quot;block&quot; data-is-equatio=&quot;1&quot; data-latex=&quot;\frac{b}{5}&quot;&gt;&lt;mfrac&gt;&lt;mi&gt;b&lt;/mi&gt;&lt;mn&gt;5&lt;/mn&gt;&lt;/mfrac&gt;&lt;/math&gt;" id="1801" name="Google Shape;1801;p144" title="b over 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2712" y="1162800"/>
            <a:ext cx="181448" cy="601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4}{x}&quot;&gt;&lt;mfrac&gt;&lt;mn&gt;24&lt;/mn&gt;&lt;mi&gt;x&lt;/mi&gt;&lt;/mfrac&gt;&lt;/math&gt;" id="1802" name="Google Shape;1802;p144" title="24 over x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81475" y="1162800"/>
            <a:ext cx="327106" cy="60187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803" name="Google Shape;1803;p144"/>
          <p:cNvGraphicFramePr/>
          <p:nvPr/>
        </p:nvGraphicFramePr>
        <p:xfrm>
          <a:off x="323988" y="1879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{C929B8A6-531E-44CB-B741-55F0E8B17D5D}</a:tableStyleId>
              </a:tblPr>
              <a:tblGrid>
                <a:gridCol w="690700"/>
                <a:gridCol w="452400"/>
                <a:gridCol w="380275"/>
                <a:gridCol w="380250"/>
                <a:gridCol w="357100"/>
                <a:gridCol w="377625"/>
              </a:tblGrid>
              <a:tr h="306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b</a:t>
                      </a:r>
                      <a:endParaRPr i="1"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−10</a:t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6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solidFill>
                          <a:schemeClr val="dk1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solidFill>
                          <a:schemeClr val="dk1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804" name="Google Shape;1804;p144"/>
          <p:cNvGraphicFramePr/>
          <p:nvPr/>
        </p:nvGraphicFramePr>
        <p:xfrm>
          <a:off x="3263963" y="1879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{C929B8A6-531E-44CB-B741-55F0E8B17D5D}</a:tableStyleId>
              </a:tblPr>
              <a:tblGrid>
                <a:gridCol w="844375"/>
                <a:gridCol w="421150"/>
                <a:gridCol w="421150"/>
                <a:gridCol w="421150"/>
                <a:gridCol w="421150"/>
                <a:gridCol w="421150"/>
                <a:gridCol w="421150"/>
                <a:gridCol w="421150"/>
                <a:gridCol w="421150"/>
                <a:gridCol w="421150"/>
              </a:tblGrid>
              <a:tr h="306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 </a:t>
                      </a:r>
                      <a:r>
                        <a:rPr i="1"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endParaRPr i="1"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..8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..10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..12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6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1" sz="2000">
                        <a:solidFill>
                          <a:schemeClr val="dk1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1" sz="2000">
                        <a:solidFill>
                          <a:schemeClr val="dk1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descr="&lt;math xmlns=&quot;http://www.w3.org/1998/Math/MathML&quot; display=&quot;block&quot; data-is-equatio=&quot;1&quot; data-latex=&quot;\frac{b}{5}&quot;&gt;&lt;mfrac&gt;&lt;mi&gt;b&lt;/mi&gt;&lt;mn&gt;5&lt;/mn&gt;&lt;/mfrac&gt;&lt;/math&gt;" id="1805" name="Google Shape;1805;p144" title="b over 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0725" y="2218575"/>
            <a:ext cx="162000" cy="542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4}{x}&quot;&gt;&lt;mfrac&gt;&lt;mn&gt;24&lt;/mn&gt;&lt;mi&gt;x&lt;/mi&gt;&lt;/mfrac&gt;&lt;/math&gt;" id="1806" name="Google Shape;1806;p144" title="24 over x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81475" y="2241125"/>
            <a:ext cx="270425" cy="497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7" name="Google Shape;1807;p14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23988" y="2967400"/>
            <a:ext cx="2414615" cy="17951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808" name="Google Shape;1808;p14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269885" y="2909750"/>
            <a:ext cx="2100225" cy="1888175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2" name="Shape 18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3" name="Google Shape;1813;p145"/>
          <p:cNvSpPr txBox="1"/>
          <p:nvPr>
            <p:ph idx="1" type="body"/>
          </p:nvPr>
        </p:nvSpPr>
        <p:spPr>
          <a:xfrm>
            <a:off x="324000" y="759300"/>
            <a:ext cx="8549700" cy="53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1) Fill in the table of values, plot the points for the graphs of each expression.</a:t>
            </a:r>
            <a:endParaRPr sz="1800"/>
          </a:p>
        </p:txBody>
      </p:sp>
      <p:sp>
        <p:nvSpPr>
          <p:cNvPr id="1814" name="Google Shape;1814;p145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Reviewing plotting graphs</a:t>
            </a:r>
            <a:endParaRPr/>
          </a:p>
        </p:txBody>
      </p:sp>
      <p:graphicFrame>
        <p:nvGraphicFramePr>
          <p:cNvPr id="1815" name="Google Shape;1815;p145"/>
          <p:cNvGraphicFramePr/>
          <p:nvPr/>
        </p:nvGraphicFramePr>
        <p:xfrm>
          <a:off x="324000" y="1162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{C929B8A6-531E-44CB-B741-55F0E8B17D5D}</a:tableStyleId>
              </a:tblPr>
              <a:tblGrid>
                <a:gridCol w="2832000"/>
                <a:gridCol w="2832000"/>
                <a:gridCol w="2832000"/>
              </a:tblGrid>
              <a:tr h="237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a) 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4</a:t>
                      </a:r>
                      <a:r>
                        <a:rPr i="1"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a 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− 5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b) </a:t>
                      </a:r>
                      <a:r>
                        <a:rPr i="1"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a</a:t>
                      </a:r>
                      <a:r>
                        <a:rPr baseline="30000" i="1"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2</a:t>
                      </a:r>
                      <a:r>
                        <a:rPr i="1"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− 5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c) 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5</a:t>
                      </a:r>
                      <a:r>
                        <a:rPr i="1"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− 3</a:t>
                      </a:r>
                      <a:r>
                        <a:rPr i="1"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a</a:t>
                      </a:r>
                      <a:endParaRPr i="1"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816" name="Google Shape;1816;p145"/>
          <p:cNvGraphicFramePr/>
          <p:nvPr/>
        </p:nvGraphicFramePr>
        <p:xfrm>
          <a:off x="323988" y="1650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{C929B8A6-531E-44CB-B741-55F0E8B17D5D}</a:tableStyleId>
              </a:tblPr>
              <a:tblGrid>
                <a:gridCol w="690700"/>
                <a:gridCol w="326200"/>
                <a:gridCol w="326200"/>
                <a:gridCol w="326200"/>
                <a:gridCol w="326200"/>
                <a:gridCol w="326200"/>
                <a:gridCol w="326200"/>
              </a:tblGrid>
              <a:tr h="306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a</a:t>
                      </a:r>
                      <a:endParaRPr i="1"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−1</a:t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6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4</a:t>
                      </a:r>
                      <a:r>
                        <a:rPr i="1"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a 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− 5</a:t>
                      </a:r>
                      <a:endParaRPr i="1"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817" name="Google Shape;1817;p145"/>
          <p:cNvGraphicFramePr/>
          <p:nvPr/>
        </p:nvGraphicFramePr>
        <p:xfrm>
          <a:off x="3263963" y="1650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{C929B8A6-531E-44CB-B741-55F0E8B17D5D}</a:tableStyleId>
              </a:tblPr>
              <a:tblGrid>
                <a:gridCol w="621925"/>
                <a:gridCol w="310200"/>
                <a:gridCol w="310200"/>
                <a:gridCol w="310200"/>
                <a:gridCol w="310200"/>
                <a:gridCol w="310200"/>
                <a:gridCol w="310200"/>
                <a:gridCol w="310200"/>
              </a:tblGrid>
              <a:tr h="306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a</a:t>
                      </a:r>
                      <a:endParaRPr i="1"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−2</a:t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6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a</a:t>
                      </a:r>
                      <a:r>
                        <a:rPr baseline="30000" i="1"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2</a:t>
                      </a:r>
                      <a:r>
                        <a:rPr i="1"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− 5</a:t>
                      </a:r>
                      <a:endParaRPr i="1"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818" name="Google Shape;1818;p145"/>
          <p:cNvGraphicFramePr/>
          <p:nvPr/>
        </p:nvGraphicFramePr>
        <p:xfrm>
          <a:off x="6164113" y="1650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{C929B8A6-531E-44CB-B741-55F0E8B17D5D}</a:tableStyleId>
              </a:tblPr>
              <a:tblGrid>
                <a:gridCol w="734650"/>
                <a:gridCol w="320200"/>
                <a:gridCol w="320200"/>
                <a:gridCol w="320200"/>
                <a:gridCol w="320200"/>
                <a:gridCol w="320200"/>
                <a:gridCol w="320200"/>
              </a:tblGrid>
              <a:tr h="306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a</a:t>
                      </a:r>
                      <a:endParaRPr i="1"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−1</a:t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6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5</a:t>
                      </a:r>
                      <a:r>
                        <a:rPr i="1"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− 3</a:t>
                      </a:r>
                      <a:r>
                        <a:rPr i="1"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a</a:t>
                      </a:r>
                      <a:endParaRPr i="1"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1819" name="Google Shape;1819;p1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4001" y="2453800"/>
            <a:ext cx="1799825" cy="22907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820" name="Google Shape;1820;p14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66825" y="2453800"/>
            <a:ext cx="1932479" cy="22907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821" name="Google Shape;1821;p14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89900" y="2453800"/>
            <a:ext cx="2376257" cy="22907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5" name="Shape 18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6" name="Google Shape;1826;p146"/>
          <p:cNvSpPr txBox="1"/>
          <p:nvPr>
            <p:ph idx="1" type="body"/>
          </p:nvPr>
        </p:nvSpPr>
        <p:spPr>
          <a:xfrm>
            <a:off x="324000" y="759300"/>
            <a:ext cx="86037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1) Fill in the table of values, plot the points for the graphs of each expression.</a:t>
            </a:r>
            <a:endParaRPr sz="2000"/>
          </a:p>
        </p:txBody>
      </p:sp>
      <p:sp>
        <p:nvSpPr>
          <p:cNvPr id="1827" name="Google Shape;1827;p146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Reviewing plotting graphs</a:t>
            </a:r>
            <a:endParaRPr/>
          </a:p>
        </p:txBody>
      </p:sp>
      <p:graphicFrame>
        <p:nvGraphicFramePr>
          <p:cNvPr id="1828" name="Google Shape;1828;p146"/>
          <p:cNvGraphicFramePr/>
          <p:nvPr/>
        </p:nvGraphicFramePr>
        <p:xfrm>
          <a:off x="324000" y="1162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{C929B8A6-531E-44CB-B741-55F0E8B17D5D}</a:tableStyleId>
              </a:tblPr>
              <a:tblGrid>
                <a:gridCol w="2832000"/>
                <a:gridCol w="2832000"/>
                <a:gridCol w="2832000"/>
              </a:tblGrid>
              <a:tr h="237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d) 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e) 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1"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descr="&lt;math xmlns=&quot;http://www.w3.org/1998/Math/MathML&quot; display=&quot;block&quot; data-is-equatio=&quot;1&quot; data-latex=&quot;\frac{b}{5}&quot;&gt;&lt;mfrac&gt;&lt;mi&gt;b&lt;/mi&gt;&lt;mn&gt;5&lt;/mn&gt;&lt;/mfrac&gt;&lt;/math&gt;" id="1829" name="Google Shape;1829;p146" title="b over 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2712" y="1162800"/>
            <a:ext cx="181448" cy="601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4}{x}&quot;&gt;&lt;mfrac&gt;&lt;mn&gt;24&lt;/mn&gt;&lt;mi&gt;x&lt;/mi&gt;&lt;/mfrac&gt;&lt;/math&gt;" id="1830" name="Google Shape;1830;p146" title="24 over x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81475" y="1162800"/>
            <a:ext cx="327106" cy="60187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831" name="Google Shape;1831;p146"/>
          <p:cNvGraphicFramePr/>
          <p:nvPr/>
        </p:nvGraphicFramePr>
        <p:xfrm>
          <a:off x="323988" y="18028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{C929B8A6-531E-44CB-B741-55F0E8B17D5D}</a:tableStyleId>
              </a:tblPr>
              <a:tblGrid>
                <a:gridCol w="690700"/>
                <a:gridCol w="452400"/>
                <a:gridCol w="380275"/>
                <a:gridCol w="380250"/>
                <a:gridCol w="357100"/>
                <a:gridCol w="377625"/>
              </a:tblGrid>
              <a:tr h="306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b</a:t>
                      </a:r>
                      <a:endParaRPr i="1"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−10</a:t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6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solidFill>
                          <a:schemeClr val="dk1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solidFill>
                          <a:schemeClr val="dk1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832" name="Google Shape;1832;p146"/>
          <p:cNvGraphicFramePr/>
          <p:nvPr/>
        </p:nvGraphicFramePr>
        <p:xfrm>
          <a:off x="3263963" y="18028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{C929B8A6-531E-44CB-B741-55F0E8B17D5D}</a:tableStyleId>
              </a:tblPr>
              <a:tblGrid>
                <a:gridCol w="844375"/>
                <a:gridCol w="421150"/>
                <a:gridCol w="421150"/>
                <a:gridCol w="421150"/>
                <a:gridCol w="421150"/>
                <a:gridCol w="421150"/>
                <a:gridCol w="421150"/>
                <a:gridCol w="421150"/>
                <a:gridCol w="421150"/>
                <a:gridCol w="421150"/>
              </a:tblGrid>
              <a:tr h="306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 </a:t>
                      </a:r>
                      <a:r>
                        <a:rPr i="1"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endParaRPr i="1"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..8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..10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..12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6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1" sz="2000">
                        <a:solidFill>
                          <a:schemeClr val="dk1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1" sz="2000">
                        <a:solidFill>
                          <a:schemeClr val="dk1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4.8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2.4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descr="&lt;math xmlns=&quot;http://www.w3.org/1998/Math/MathML&quot; display=&quot;block&quot; data-is-equatio=&quot;1&quot; data-latex=&quot;\frac{b}{5}&quot;&gt;&lt;mfrac&gt;&lt;mi&gt;b&lt;/mi&gt;&lt;mn&gt;5&lt;/mn&gt;&lt;/mfrac&gt;&lt;/math&gt;" id="1833" name="Google Shape;1833;p146" title="b over 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0725" y="2142375"/>
            <a:ext cx="162000" cy="542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4}{x}&quot;&gt;&lt;mfrac&gt;&lt;mn&gt;24&lt;/mn&gt;&lt;mi&gt;x&lt;/mi&gt;&lt;/mfrac&gt;&lt;/math&gt;" id="1834" name="Google Shape;1834;p146" title="24 over x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81475" y="2164925"/>
            <a:ext cx="270425" cy="497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5" name="Google Shape;1835;p14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24000" y="2888806"/>
            <a:ext cx="2553673" cy="1888176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836" name="Google Shape;1836;p14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317200" y="2824631"/>
            <a:ext cx="2160051" cy="195235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0" name="Shape 18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1" name="Google Shape;1841;p147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Reviewing plotting graphs</a:t>
            </a:r>
            <a:endParaRPr/>
          </a:p>
        </p:txBody>
      </p:sp>
      <p:sp>
        <p:nvSpPr>
          <p:cNvPr id="1842" name="Google Shape;1842;p147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Identifying linear e</a:t>
            </a:r>
            <a:r>
              <a:rPr lang="en-GB"/>
              <a:t>quations</a:t>
            </a:r>
            <a:r>
              <a:rPr lang="en-GB"/>
              <a:t> from graphs</a:t>
            </a:r>
            <a:endParaRPr/>
          </a:p>
        </p:txBody>
      </p:sp>
      <p:sp>
        <p:nvSpPr>
          <p:cNvPr id="1843" name="Google Shape;1843;p147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Different types of equations</a:t>
            </a:r>
            <a:endParaRPr/>
          </a:p>
        </p:txBody>
      </p:sp>
      <p:pic>
        <p:nvPicPr>
          <p:cNvPr id="1844" name="Google Shape;1844;p1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4348" y="2988639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8" name="Shape 18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9" name="Google Shape;1849;p14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Identifying linear equations from graphs</a:t>
            </a:r>
            <a:endParaRPr/>
          </a:p>
        </p:txBody>
      </p:sp>
      <p:sp>
        <p:nvSpPr>
          <p:cNvPr id="1850" name="Google Shape;1850;p148"/>
          <p:cNvSpPr txBox="1"/>
          <p:nvPr>
            <p:ph idx="1" type="body"/>
          </p:nvPr>
        </p:nvSpPr>
        <p:spPr>
          <a:xfrm>
            <a:off x="324000" y="835500"/>
            <a:ext cx="8237700" cy="86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Equations of straight lines can have many forms. You may have seen them written in the form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y = mx + c</a:t>
            </a:r>
            <a:endParaRPr i="1"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851" name="Google Shape;1851;p148"/>
          <p:cNvSpPr txBox="1"/>
          <p:nvPr>
            <p:ph idx="1" type="body"/>
          </p:nvPr>
        </p:nvSpPr>
        <p:spPr>
          <a:xfrm>
            <a:off x="324000" y="1725888"/>
            <a:ext cx="1360800" cy="78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Examples: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y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 =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 +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3</a:t>
            </a:r>
            <a:endParaRPr sz="2000"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852" name="Google Shape;1852;p148"/>
          <p:cNvSpPr txBox="1"/>
          <p:nvPr>
            <p:ph idx="1" type="body"/>
          </p:nvPr>
        </p:nvSpPr>
        <p:spPr>
          <a:xfrm>
            <a:off x="1869350" y="2133916"/>
            <a:ext cx="1360800" cy="35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y =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2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−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4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853" name="Google Shape;1853;p148"/>
          <p:cNvSpPr txBox="1"/>
          <p:nvPr>
            <p:ph idx="1" type="body"/>
          </p:nvPr>
        </p:nvSpPr>
        <p:spPr>
          <a:xfrm>
            <a:off x="324000" y="2701500"/>
            <a:ext cx="8237700" cy="545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Are there any values of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m</a:t>
            </a:r>
            <a:r>
              <a:rPr lang="en-GB" sz="1800"/>
              <a:t> and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c</a:t>
            </a:r>
            <a:r>
              <a:rPr lang="en-GB" sz="1800"/>
              <a:t> which would not form a linear graph? You could use graphing software to help you explore.</a:t>
            </a:r>
            <a:endParaRPr i="1"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854" name="Google Shape;1854;p148"/>
          <p:cNvSpPr txBox="1"/>
          <p:nvPr>
            <p:ph idx="1" type="body"/>
          </p:nvPr>
        </p:nvSpPr>
        <p:spPr>
          <a:xfrm>
            <a:off x="324000" y="3434175"/>
            <a:ext cx="7700100" cy="545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All constant values for </a:t>
            </a:r>
            <a:r>
              <a:rPr i="1" lang="en-GB">
                <a:latin typeface="Times"/>
                <a:ea typeface="Times"/>
                <a:cs typeface="Times"/>
                <a:sym typeface="Times"/>
              </a:rPr>
              <a:t>m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and </a:t>
            </a:r>
            <a:r>
              <a:rPr i="1" lang="en-GB">
                <a:latin typeface="Times"/>
                <a:ea typeface="Times"/>
                <a:cs typeface="Times"/>
                <a:sym typeface="Times"/>
              </a:rPr>
              <a:t>c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will form a linear graph with gradient </a:t>
            </a:r>
            <a:r>
              <a:rPr i="1" lang="en-GB">
                <a:latin typeface="Times"/>
                <a:ea typeface="Times"/>
                <a:cs typeface="Times"/>
                <a:sym typeface="Times"/>
              </a:rPr>
              <a:t>m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and </a:t>
            </a:r>
            <a:r>
              <a:rPr i="1" lang="en-GB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intercept (0, </a:t>
            </a:r>
            <a:r>
              <a:rPr i="1" lang="en-GB">
                <a:latin typeface="Times"/>
                <a:ea typeface="Times"/>
                <a:cs typeface="Times"/>
                <a:sym typeface="Times"/>
              </a:rPr>
              <a:t>c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)</a:t>
            </a:r>
            <a:endParaRPr i="1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55" name="Google Shape;1855;p148"/>
          <p:cNvSpPr txBox="1"/>
          <p:nvPr>
            <p:ph idx="1" type="body"/>
          </p:nvPr>
        </p:nvSpPr>
        <p:spPr>
          <a:xfrm>
            <a:off x="324000" y="4166850"/>
            <a:ext cx="8496000" cy="35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If </a:t>
            </a:r>
            <a:r>
              <a:rPr i="1" lang="en-GB">
                <a:latin typeface="Times"/>
                <a:ea typeface="Times"/>
                <a:cs typeface="Times"/>
                <a:sym typeface="Times"/>
              </a:rPr>
              <a:t>m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or </a:t>
            </a:r>
            <a:r>
              <a:rPr i="1" lang="en-GB">
                <a:latin typeface="Times"/>
                <a:ea typeface="Times"/>
                <a:cs typeface="Times"/>
                <a:sym typeface="Times"/>
              </a:rPr>
              <a:t>c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are variables then it is possible to make a relationship which is non-linear. </a:t>
            </a:r>
            <a:endParaRPr i="1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56" name="Google Shape;1856;p148"/>
          <p:cNvSpPr txBox="1"/>
          <p:nvPr>
            <p:ph idx="1" type="body"/>
          </p:nvPr>
        </p:nvSpPr>
        <p:spPr>
          <a:xfrm>
            <a:off x="3655038" y="2133916"/>
            <a:ext cx="1360800" cy="35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y = x −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5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857" name="Google Shape;1857;p148"/>
          <p:cNvSpPr txBox="1"/>
          <p:nvPr>
            <p:ph idx="1" type="body"/>
          </p:nvPr>
        </p:nvSpPr>
        <p:spPr>
          <a:xfrm>
            <a:off x="5440750" y="2133925"/>
            <a:ext cx="1821900" cy="35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y =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17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 −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0.2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1" name="Shape 18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2" name="Google Shape;1862;p14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Identifying linear equations from graphs</a:t>
            </a:r>
            <a:endParaRPr/>
          </a:p>
        </p:txBody>
      </p:sp>
      <p:sp>
        <p:nvSpPr>
          <p:cNvPr id="1863" name="Google Shape;1863;p149"/>
          <p:cNvSpPr txBox="1"/>
          <p:nvPr>
            <p:ph idx="1" type="body"/>
          </p:nvPr>
        </p:nvSpPr>
        <p:spPr>
          <a:xfrm>
            <a:off x="324000" y="759300"/>
            <a:ext cx="8496000" cy="33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Here is the table of values for </a:t>
            </a:r>
            <a:r>
              <a:rPr i="1" lang="en-GB" sz="1900">
                <a:latin typeface="Times"/>
                <a:ea typeface="Times"/>
                <a:cs typeface="Times"/>
                <a:sym typeface="Times"/>
              </a:rPr>
              <a:t>y = </a:t>
            </a:r>
            <a:r>
              <a:rPr lang="en-GB" sz="19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i="1" lang="en-GB" sz="1900">
                <a:latin typeface="Times"/>
                <a:ea typeface="Times"/>
                <a:cs typeface="Times"/>
                <a:sym typeface="Times"/>
              </a:rPr>
              <a:t>x + </a:t>
            </a:r>
            <a:r>
              <a:rPr lang="en-GB" sz="1900">
                <a:latin typeface="Times"/>
                <a:ea typeface="Times"/>
                <a:cs typeface="Times"/>
                <a:sym typeface="Times"/>
              </a:rPr>
              <a:t>3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graphicFrame>
        <p:nvGraphicFramePr>
          <p:cNvPr id="1864" name="Google Shape;1864;p149"/>
          <p:cNvGraphicFramePr/>
          <p:nvPr/>
        </p:nvGraphicFramePr>
        <p:xfrm>
          <a:off x="323988" y="17019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{C929B8A6-531E-44CB-B741-55F0E8B17D5D}</a:tableStyleId>
              </a:tblPr>
              <a:tblGrid>
                <a:gridCol w="597125"/>
                <a:gridCol w="417000"/>
                <a:gridCol w="417000"/>
                <a:gridCol w="417000"/>
                <a:gridCol w="417000"/>
                <a:gridCol w="417000"/>
                <a:gridCol w="417000"/>
                <a:gridCol w="417000"/>
                <a:gridCol w="417000"/>
              </a:tblGrid>
              <a:tr h="2990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endParaRPr i="1"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i="1"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i="1"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i="1"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67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i="1"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y</a:t>
                      </a:r>
                      <a:endParaRPr i="1"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i="1"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i="1"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865" name="Google Shape;1865;p149"/>
          <p:cNvSpPr txBox="1"/>
          <p:nvPr>
            <p:ph idx="1" type="body"/>
          </p:nvPr>
        </p:nvSpPr>
        <p:spPr>
          <a:xfrm>
            <a:off x="324000" y="2944325"/>
            <a:ext cx="8496000" cy="46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How do we know that this will form a linear graph when plotted?</a:t>
            </a:r>
            <a:endParaRPr i="1" sz="1900">
              <a:latin typeface="Times"/>
              <a:ea typeface="Times"/>
              <a:cs typeface="Times"/>
              <a:sym typeface="Times"/>
            </a:endParaRPr>
          </a:p>
        </p:txBody>
      </p:sp>
      <p:grpSp>
        <p:nvGrpSpPr>
          <p:cNvPr id="1866" name="Google Shape;1866;p149"/>
          <p:cNvGrpSpPr/>
          <p:nvPr/>
        </p:nvGrpSpPr>
        <p:grpSpPr>
          <a:xfrm>
            <a:off x="996125" y="1144800"/>
            <a:ext cx="2297186" cy="557175"/>
            <a:chOff x="996125" y="1144800"/>
            <a:chExt cx="2297186" cy="557175"/>
          </a:xfrm>
        </p:grpSpPr>
        <p:pic>
          <p:nvPicPr>
            <p:cNvPr id="1867" name="Google Shape;1867;p149"/>
            <p:cNvPicPr preferRelativeResize="0"/>
            <p:nvPr/>
          </p:nvPicPr>
          <p:blipFill rotWithShape="1">
            <a:blip r:embed="rId3">
              <a:alphaModFix/>
            </a:blip>
            <a:srcRect b="59597" l="61559" r="13951" t="27330"/>
            <a:stretch/>
          </p:blipFill>
          <p:spPr>
            <a:xfrm>
              <a:off x="1434275" y="1367126"/>
              <a:ext cx="536652" cy="33484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68" name="Google Shape;1868;p149"/>
            <p:cNvPicPr preferRelativeResize="0"/>
            <p:nvPr/>
          </p:nvPicPr>
          <p:blipFill rotWithShape="1">
            <a:blip r:embed="rId3">
              <a:alphaModFix/>
            </a:blip>
            <a:srcRect b="59597" l="61559" r="13951" t="27330"/>
            <a:stretch/>
          </p:blipFill>
          <p:spPr>
            <a:xfrm>
              <a:off x="996125" y="1367126"/>
              <a:ext cx="536652" cy="33484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69" name="Google Shape;1869;p149"/>
            <p:cNvPicPr preferRelativeResize="0"/>
            <p:nvPr/>
          </p:nvPicPr>
          <p:blipFill rotWithShape="1">
            <a:blip r:embed="rId3">
              <a:alphaModFix/>
            </a:blip>
            <a:srcRect b="59597" l="61559" r="13951" t="27330"/>
            <a:stretch/>
          </p:blipFill>
          <p:spPr>
            <a:xfrm>
              <a:off x="1872425" y="1367126"/>
              <a:ext cx="536652" cy="33484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70" name="Google Shape;1870;p149"/>
            <p:cNvPicPr preferRelativeResize="0"/>
            <p:nvPr/>
          </p:nvPicPr>
          <p:blipFill rotWithShape="1">
            <a:blip r:embed="rId3">
              <a:alphaModFix/>
            </a:blip>
            <a:srcRect b="59597" l="61559" r="13951" t="27330"/>
            <a:stretch/>
          </p:blipFill>
          <p:spPr>
            <a:xfrm>
              <a:off x="2310575" y="1367126"/>
              <a:ext cx="536652" cy="33484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71" name="Google Shape;1871;p149"/>
            <p:cNvPicPr preferRelativeResize="0"/>
            <p:nvPr/>
          </p:nvPicPr>
          <p:blipFill rotWithShape="1">
            <a:blip r:embed="rId3">
              <a:alphaModFix/>
            </a:blip>
            <a:srcRect b="59597" l="61559" r="13951" t="27330"/>
            <a:stretch/>
          </p:blipFill>
          <p:spPr>
            <a:xfrm>
              <a:off x="2748725" y="1367126"/>
              <a:ext cx="536652" cy="33484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72" name="Google Shape;1872;p149"/>
            <p:cNvSpPr txBox="1"/>
            <p:nvPr/>
          </p:nvSpPr>
          <p:spPr>
            <a:xfrm>
              <a:off x="1085011" y="1144800"/>
              <a:ext cx="455700" cy="287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+ 1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73" name="Google Shape;1873;p149"/>
            <p:cNvSpPr txBox="1"/>
            <p:nvPr/>
          </p:nvSpPr>
          <p:spPr>
            <a:xfrm>
              <a:off x="1523161" y="1144800"/>
              <a:ext cx="455700" cy="287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+ 1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74" name="Google Shape;1874;p149"/>
            <p:cNvSpPr txBox="1"/>
            <p:nvPr/>
          </p:nvSpPr>
          <p:spPr>
            <a:xfrm>
              <a:off x="1961311" y="1144800"/>
              <a:ext cx="455700" cy="287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+ 1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75" name="Google Shape;1875;p149"/>
            <p:cNvSpPr txBox="1"/>
            <p:nvPr/>
          </p:nvSpPr>
          <p:spPr>
            <a:xfrm>
              <a:off x="2399461" y="1144800"/>
              <a:ext cx="455700" cy="287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+ 1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76" name="Google Shape;1876;p149"/>
            <p:cNvSpPr txBox="1"/>
            <p:nvPr/>
          </p:nvSpPr>
          <p:spPr>
            <a:xfrm>
              <a:off x="2837611" y="1144800"/>
              <a:ext cx="455700" cy="287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+ 1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877" name="Google Shape;1877;p149"/>
          <p:cNvGrpSpPr/>
          <p:nvPr/>
        </p:nvGrpSpPr>
        <p:grpSpPr>
          <a:xfrm>
            <a:off x="1044525" y="2313501"/>
            <a:ext cx="2289252" cy="566799"/>
            <a:chOff x="1044525" y="2313501"/>
            <a:chExt cx="2289252" cy="566799"/>
          </a:xfrm>
        </p:grpSpPr>
        <p:pic>
          <p:nvPicPr>
            <p:cNvPr id="1878" name="Google Shape;1878;p149"/>
            <p:cNvPicPr preferRelativeResize="0"/>
            <p:nvPr/>
          </p:nvPicPr>
          <p:blipFill rotWithShape="1">
            <a:blip r:embed="rId3">
              <a:alphaModFix/>
            </a:blip>
            <a:srcRect b="59597" l="61559" r="13951" t="27330"/>
            <a:stretch/>
          </p:blipFill>
          <p:spPr>
            <a:xfrm flipH="1" rot="10800000">
              <a:off x="1482675" y="2313501"/>
              <a:ext cx="536652" cy="33484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79" name="Google Shape;1879;p149"/>
            <p:cNvPicPr preferRelativeResize="0"/>
            <p:nvPr/>
          </p:nvPicPr>
          <p:blipFill rotWithShape="1">
            <a:blip r:embed="rId3">
              <a:alphaModFix/>
            </a:blip>
            <a:srcRect b="59597" l="61559" r="13951" t="27330"/>
            <a:stretch/>
          </p:blipFill>
          <p:spPr>
            <a:xfrm flipH="1" rot="10800000">
              <a:off x="1044525" y="2313501"/>
              <a:ext cx="536652" cy="33484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80" name="Google Shape;1880;p149"/>
            <p:cNvPicPr preferRelativeResize="0"/>
            <p:nvPr/>
          </p:nvPicPr>
          <p:blipFill rotWithShape="1">
            <a:blip r:embed="rId3">
              <a:alphaModFix/>
            </a:blip>
            <a:srcRect b="59597" l="61559" r="13951" t="27330"/>
            <a:stretch/>
          </p:blipFill>
          <p:spPr>
            <a:xfrm flipH="1" rot="10800000">
              <a:off x="1920825" y="2313501"/>
              <a:ext cx="536652" cy="33484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81" name="Google Shape;1881;p149"/>
            <p:cNvPicPr preferRelativeResize="0"/>
            <p:nvPr/>
          </p:nvPicPr>
          <p:blipFill rotWithShape="1">
            <a:blip r:embed="rId3">
              <a:alphaModFix/>
            </a:blip>
            <a:srcRect b="59597" l="61559" r="13951" t="27330"/>
            <a:stretch/>
          </p:blipFill>
          <p:spPr>
            <a:xfrm flipH="1" rot="10800000">
              <a:off x="2358975" y="2313501"/>
              <a:ext cx="536652" cy="33484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82" name="Google Shape;1882;p149"/>
            <p:cNvPicPr preferRelativeResize="0"/>
            <p:nvPr/>
          </p:nvPicPr>
          <p:blipFill rotWithShape="1">
            <a:blip r:embed="rId3">
              <a:alphaModFix/>
            </a:blip>
            <a:srcRect b="59597" l="61559" r="13951" t="27330"/>
            <a:stretch/>
          </p:blipFill>
          <p:spPr>
            <a:xfrm flipH="1" rot="10800000">
              <a:off x="2797125" y="2313501"/>
              <a:ext cx="536652" cy="33484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83" name="Google Shape;1883;p149"/>
            <p:cNvSpPr txBox="1"/>
            <p:nvPr/>
          </p:nvSpPr>
          <p:spPr>
            <a:xfrm>
              <a:off x="1085011" y="2592600"/>
              <a:ext cx="455700" cy="287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+ 2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84" name="Google Shape;1884;p149"/>
            <p:cNvSpPr txBox="1"/>
            <p:nvPr/>
          </p:nvSpPr>
          <p:spPr>
            <a:xfrm>
              <a:off x="1523161" y="2592600"/>
              <a:ext cx="455700" cy="287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+ 2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85" name="Google Shape;1885;p149"/>
            <p:cNvSpPr txBox="1"/>
            <p:nvPr/>
          </p:nvSpPr>
          <p:spPr>
            <a:xfrm>
              <a:off x="1961311" y="2592600"/>
              <a:ext cx="455700" cy="287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+ 2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86" name="Google Shape;1886;p149"/>
            <p:cNvSpPr txBox="1"/>
            <p:nvPr/>
          </p:nvSpPr>
          <p:spPr>
            <a:xfrm>
              <a:off x="2399461" y="2592600"/>
              <a:ext cx="455700" cy="287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+ 2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87" name="Google Shape;1887;p149"/>
            <p:cNvSpPr txBox="1"/>
            <p:nvPr/>
          </p:nvSpPr>
          <p:spPr>
            <a:xfrm>
              <a:off x="2837611" y="2592600"/>
              <a:ext cx="455700" cy="287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+ 2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888" name="Google Shape;1888;p149"/>
          <p:cNvSpPr txBox="1"/>
          <p:nvPr>
            <p:ph idx="1" type="body"/>
          </p:nvPr>
        </p:nvSpPr>
        <p:spPr>
          <a:xfrm>
            <a:off x="324000" y="3471550"/>
            <a:ext cx="8496000" cy="46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As </a:t>
            </a: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increases by 1, </a:t>
            </a: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increases by 2 every time. The graph will have a gradient of 2 </a:t>
            </a:r>
            <a:endParaRPr i="1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89" name="Google Shape;1889;p149"/>
          <p:cNvSpPr txBox="1"/>
          <p:nvPr>
            <p:ph idx="1" type="body"/>
          </p:nvPr>
        </p:nvSpPr>
        <p:spPr>
          <a:xfrm>
            <a:off x="324000" y="4320000"/>
            <a:ext cx="8496000" cy="2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Equations that form a linear graph when plotted are linear </a:t>
            </a:r>
            <a:r>
              <a:rPr lang="en-GB" sz="1900"/>
              <a:t>equations</a:t>
            </a:r>
            <a:r>
              <a:rPr lang="en-GB" sz="1900"/>
              <a:t>.</a:t>
            </a:r>
            <a:endParaRPr i="1" sz="1900"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3" name="Shape 18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4" name="Google Shape;1894;p15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Identifying linear equations from graphs</a:t>
            </a:r>
            <a:endParaRPr/>
          </a:p>
        </p:txBody>
      </p:sp>
      <p:sp>
        <p:nvSpPr>
          <p:cNvPr id="1895" name="Google Shape;1895;p150"/>
          <p:cNvSpPr txBox="1"/>
          <p:nvPr>
            <p:ph idx="1" type="body"/>
          </p:nvPr>
        </p:nvSpPr>
        <p:spPr>
          <a:xfrm>
            <a:off x="324000" y="1820525"/>
            <a:ext cx="8496000" cy="36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Which of these are linear equations?</a:t>
            </a:r>
            <a:endParaRPr i="1"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896" name="Google Shape;1896;p150"/>
          <p:cNvSpPr txBox="1"/>
          <p:nvPr>
            <p:ph idx="1" type="body"/>
          </p:nvPr>
        </p:nvSpPr>
        <p:spPr>
          <a:xfrm>
            <a:off x="324000" y="832500"/>
            <a:ext cx="8496000" cy="86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It is easier to see if an equation with two variables forms a linear graph if it’s written in the form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y 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=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 mx + c</a:t>
            </a:r>
            <a:endParaRPr i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97" name="Google Shape;1897;p150"/>
          <p:cNvSpPr txBox="1"/>
          <p:nvPr>
            <p:ph idx="1" type="body"/>
          </p:nvPr>
        </p:nvSpPr>
        <p:spPr>
          <a:xfrm>
            <a:off x="324000" y="2230588"/>
            <a:ext cx="2563200" cy="36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y = x +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1</a:t>
            </a:r>
            <a:endParaRPr i="1"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898" name="Google Shape;1898;p150"/>
          <p:cNvSpPr txBox="1"/>
          <p:nvPr>
            <p:ph idx="1" type="body"/>
          </p:nvPr>
        </p:nvSpPr>
        <p:spPr>
          <a:xfrm>
            <a:off x="3230925" y="2230588"/>
            <a:ext cx="2563200" cy="36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y = x</a:t>
            </a:r>
            <a:r>
              <a:rPr baseline="30000" lang="en-GB" sz="20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+ 1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899" name="Google Shape;1899;p150"/>
          <p:cNvSpPr txBox="1"/>
          <p:nvPr>
            <p:ph idx="1" type="body"/>
          </p:nvPr>
        </p:nvSpPr>
        <p:spPr>
          <a:xfrm>
            <a:off x="5859375" y="2230600"/>
            <a:ext cx="2563200" cy="36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y = x</a:t>
            </a:r>
            <a:r>
              <a:rPr baseline="30000" lang="en-GB" sz="2000">
                <a:latin typeface="Times"/>
                <a:ea typeface="Times"/>
                <a:cs typeface="Times"/>
                <a:sym typeface="Times"/>
              </a:rPr>
              <a:t>3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+ 1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graphicFrame>
        <p:nvGraphicFramePr>
          <p:cNvPr id="1900" name="Google Shape;1900;p150"/>
          <p:cNvGraphicFramePr/>
          <p:nvPr/>
        </p:nvGraphicFramePr>
        <p:xfrm>
          <a:off x="343738" y="31510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{C929B8A6-531E-44CB-B741-55F0E8B17D5D}</a:tableStyleId>
              </a:tblPr>
              <a:tblGrid>
                <a:gridCol w="597125"/>
                <a:gridCol w="417000"/>
                <a:gridCol w="417000"/>
                <a:gridCol w="417000"/>
                <a:gridCol w="417000"/>
                <a:gridCol w="417000"/>
              </a:tblGrid>
              <a:tr h="2990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endParaRPr i="1"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i="1"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i="1"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67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i="1"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y</a:t>
                      </a:r>
                      <a:endParaRPr i="1"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i="1"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901" name="Google Shape;1901;p150"/>
          <p:cNvGraphicFramePr/>
          <p:nvPr/>
        </p:nvGraphicFramePr>
        <p:xfrm>
          <a:off x="3230925" y="31510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{C929B8A6-531E-44CB-B741-55F0E8B17D5D}</a:tableStyleId>
              </a:tblPr>
              <a:tblGrid>
                <a:gridCol w="597125"/>
                <a:gridCol w="417000"/>
                <a:gridCol w="417000"/>
                <a:gridCol w="417000"/>
                <a:gridCol w="417000"/>
                <a:gridCol w="417000"/>
              </a:tblGrid>
              <a:tr h="2990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endParaRPr i="1"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i="1"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i="1"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67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i="1"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y</a:t>
                      </a:r>
                      <a:endParaRPr i="1"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902" name="Google Shape;1902;p150"/>
          <p:cNvGraphicFramePr/>
          <p:nvPr/>
        </p:nvGraphicFramePr>
        <p:xfrm>
          <a:off x="6118100" y="31510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{C929B8A6-531E-44CB-B741-55F0E8B17D5D}</a:tableStyleId>
              </a:tblPr>
              <a:tblGrid>
                <a:gridCol w="597125"/>
                <a:gridCol w="417000"/>
                <a:gridCol w="417000"/>
                <a:gridCol w="417000"/>
                <a:gridCol w="417000"/>
                <a:gridCol w="417000"/>
              </a:tblGrid>
              <a:tr h="2990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endParaRPr i="1"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i="1"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i="1"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67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i="1"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y</a:t>
                      </a:r>
                      <a:endParaRPr i="1"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i="1"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1903" name="Google Shape;1903;p150"/>
          <p:cNvGrpSpPr/>
          <p:nvPr/>
        </p:nvGrpSpPr>
        <p:grpSpPr>
          <a:xfrm>
            <a:off x="1120725" y="3761301"/>
            <a:ext cx="1851102" cy="566799"/>
            <a:chOff x="1120725" y="4294701"/>
            <a:chExt cx="1851102" cy="566799"/>
          </a:xfrm>
        </p:grpSpPr>
        <p:pic>
          <p:nvPicPr>
            <p:cNvPr id="1904" name="Google Shape;1904;p150"/>
            <p:cNvPicPr preferRelativeResize="0"/>
            <p:nvPr/>
          </p:nvPicPr>
          <p:blipFill rotWithShape="1">
            <a:blip r:embed="rId3">
              <a:alphaModFix/>
            </a:blip>
            <a:srcRect b="59597" l="61559" r="13951" t="27330"/>
            <a:stretch/>
          </p:blipFill>
          <p:spPr>
            <a:xfrm flipH="1" rot="10800000">
              <a:off x="1558875" y="4294701"/>
              <a:ext cx="536652" cy="33484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05" name="Google Shape;1905;p150"/>
            <p:cNvPicPr preferRelativeResize="0"/>
            <p:nvPr/>
          </p:nvPicPr>
          <p:blipFill rotWithShape="1">
            <a:blip r:embed="rId3">
              <a:alphaModFix/>
            </a:blip>
            <a:srcRect b="59597" l="61559" r="13951" t="27330"/>
            <a:stretch/>
          </p:blipFill>
          <p:spPr>
            <a:xfrm flipH="1" rot="10800000">
              <a:off x="1120725" y="4294701"/>
              <a:ext cx="536652" cy="33484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06" name="Google Shape;1906;p150"/>
            <p:cNvPicPr preferRelativeResize="0"/>
            <p:nvPr/>
          </p:nvPicPr>
          <p:blipFill rotWithShape="1">
            <a:blip r:embed="rId3">
              <a:alphaModFix/>
            </a:blip>
            <a:srcRect b="59597" l="61559" r="13951" t="27330"/>
            <a:stretch/>
          </p:blipFill>
          <p:spPr>
            <a:xfrm flipH="1" rot="10800000">
              <a:off x="1997025" y="4294701"/>
              <a:ext cx="536652" cy="33484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07" name="Google Shape;1907;p150"/>
            <p:cNvPicPr preferRelativeResize="0"/>
            <p:nvPr/>
          </p:nvPicPr>
          <p:blipFill rotWithShape="1">
            <a:blip r:embed="rId3">
              <a:alphaModFix/>
            </a:blip>
            <a:srcRect b="59597" l="61559" r="13951" t="27330"/>
            <a:stretch/>
          </p:blipFill>
          <p:spPr>
            <a:xfrm flipH="1" rot="10800000">
              <a:off x="2435175" y="4294701"/>
              <a:ext cx="536652" cy="33484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08" name="Google Shape;1908;p150"/>
            <p:cNvSpPr txBox="1"/>
            <p:nvPr/>
          </p:nvSpPr>
          <p:spPr>
            <a:xfrm>
              <a:off x="1161211" y="4573800"/>
              <a:ext cx="455700" cy="287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1800">
                  <a:solidFill>
                    <a:srgbClr val="222222"/>
                  </a:solidFill>
                  <a:latin typeface="Lexend"/>
                  <a:ea typeface="Lexend"/>
                  <a:cs typeface="Lexend"/>
                  <a:sym typeface="Lexend"/>
                </a:rPr>
                <a:t>+ 1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09" name="Google Shape;1909;p150"/>
            <p:cNvSpPr txBox="1"/>
            <p:nvPr/>
          </p:nvSpPr>
          <p:spPr>
            <a:xfrm>
              <a:off x="1599361" y="4573800"/>
              <a:ext cx="455700" cy="287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1800">
                  <a:solidFill>
                    <a:srgbClr val="222222"/>
                  </a:solidFill>
                  <a:latin typeface="Lexend"/>
                  <a:ea typeface="Lexend"/>
                  <a:cs typeface="Lexend"/>
                  <a:sym typeface="Lexend"/>
                </a:rPr>
                <a:t>+ 1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10" name="Google Shape;1910;p150"/>
            <p:cNvSpPr txBox="1"/>
            <p:nvPr/>
          </p:nvSpPr>
          <p:spPr>
            <a:xfrm>
              <a:off x="2037511" y="4573800"/>
              <a:ext cx="455700" cy="287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1800">
                  <a:solidFill>
                    <a:srgbClr val="222222"/>
                  </a:solidFill>
                  <a:latin typeface="Lexend"/>
                  <a:ea typeface="Lexend"/>
                  <a:cs typeface="Lexend"/>
                  <a:sym typeface="Lexend"/>
                </a:rPr>
                <a:t>+ 1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11" name="Google Shape;1911;p150"/>
            <p:cNvSpPr txBox="1"/>
            <p:nvPr/>
          </p:nvSpPr>
          <p:spPr>
            <a:xfrm>
              <a:off x="2475661" y="4573800"/>
              <a:ext cx="455700" cy="287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1800">
                  <a:solidFill>
                    <a:srgbClr val="222222"/>
                  </a:solidFill>
                  <a:latin typeface="Lexend"/>
                  <a:ea typeface="Lexend"/>
                  <a:cs typeface="Lexend"/>
                  <a:sym typeface="Lexend"/>
                </a:rPr>
                <a:t>+ 1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912" name="Google Shape;1912;p150"/>
          <p:cNvGrpSpPr/>
          <p:nvPr/>
        </p:nvGrpSpPr>
        <p:grpSpPr>
          <a:xfrm>
            <a:off x="1102187" y="2592600"/>
            <a:ext cx="1859036" cy="557175"/>
            <a:chOff x="1102187" y="3126000"/>
            <a:chExt cx="1859036" cy="557175"/>
          </a:xfrm>
        </p:grpSpPr>
        <p:pic>
          <p:nvPicPr>
            <p:cNvPr id="1913" name="Google Shape;1913;p150"/>
            <p:cNvPicPr preferRelativeResize="0"/>
            <p:nvPr/>
          </p:nvPicPr>
          <p:blipFill rotWithShape="1">
            <a:blip r:embed="rId3">
              <a:alphaModFix/>
            </a:blip>
            <a:srcRect b="59597" l="61559" r="13951" t="27330"/>
            <a:stretch/>
          </p:blipFill>
          <p:spPr>
            <a:xfrm>
              <a:off x="1540337" y="3348326"/>
              <a:ext cx="536652" cy="33484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14" name="Google Shape;1914;p150"/>
            <p:cNvPicPr preferRelativeResize="0"/>
            <p:nvPr/>
          </p:nvPicPr>
          <p:blipFill rotWithShape="1">
            <a:blip r:embed="rId3">
              <a:alphaModFix/>
            </a:blip>
            <a:srcRect b="59597" l="61559" r="13951" t="27330"/>
            <a:stretch/>
          </p:blipFill>
          <p:spPr>
            <a:xfrm>
              <a:off x="1102187" y="3348326"/>
              <a:ext cx="536652" cy="33484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15" name="Google Shape;1915;p150"/>
            <p:cNvPicPr preferRelativeResize="0"/>
            <p:nvPr/>
          </p:nvPicPr>
          <p:blipFill rotWithShape="1">
            <a:blip r:embed="rId3">
              <a:alphaModFix/>
            </a:blip>
            <a:srcRect b="59597" l="61559" r="13951" t="27330"/>
            <a:stretch/>
          </p:blipFill>
          <p:spPr>
            <a:xfrm>
              <a:off x="1978487" y="3348326"/>
              <a:ext cx="536652" cy="33484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16" name="Google Shape;1916;p150"/>
            <p:cNvPicPr preferRelativeResize="0"/>
            <p:nvPr/>
          </p:nvPicPr>
          <p:blipFill rotWithShape="1">
            <a:blip r:embed="rId3">
              <a:alphaModFix/>
            </a:blip>
            <a:srcRect b="59597" l="61559" r="13951" t="27330"/>
            <a:stretch/>
          </p:blipFill>
          <p:spPr>
            <a:xfrm>
              <a:off x="2416637" y="3348326"/>
              <a:ext cx="536652" cy="33484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17" name="Google Shape;1917;p150"/>
            <p:cNvSpPr txBox="1"/>
            <p:nvPr/>
          </p:nvSpPr>
          <p:spPr>
            <a:xfrm>
              <a:off x="1191074" y="3126000"/>
              <a:ext cx="455700" cy="287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1800">
                  <a:solidFill>
                    <a:srgbClr val="222222"/>
                  </a:solidFill>
                  <a:latin typeface="Lexend"/>
                  <a:ea typeface="Lexend"/>
                  <a:cs typeface="Lexend"/>
                  <a:sym typeface="Lexend"/>
                </a:rPr>
                <a:t>+ 1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18" name="Google Shape;1918;p150"/>
            <p:cNvSpPr txBox="1"/>
            <p:nvPr/>
          </p:nvSpPr>
          <p:spPr>
            <a:xfrm>
              <a:off x="1629224" y="3126000"/>
              <a:ext cx="455700" cy="287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1800">
                  <a:solidFill>
                    <a:srgbClr val="222222"/>
                  </a:solidFill>
                  <a:latin typeface="Lexend"/>
                  <a:ea typeface="Lexend"/>
                  <a:cs typeface="Lexend"/>
                  <a:sym typeface="Lexend"/>
                </a:rPr>
                <a:t>+ 1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19" name="Google Shape;1919;p150"/>
            <p:cNvSpPr txBox="1"/>
            <p:nvPr/>
          </p:nvSpPr>
          <p:spPr>
            <a:xfrm>
              <a:off x="2067374" y="3126000"/>
              <a:ext cx="455700" cy="287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1800">
                  <a:solidFill>
                    <a:srgbClr val="222222"/>
                  </a:solidFill>
                  <a:latin typeface="Lexend"/>
                  <a:ea typeface="Lexend"/>
                  <a:cs typeface="Lexend"/>
                  <a:sym typeface="Lexend"/>
                </a:rPr>
                <a:t>+ 1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20" name="Google Shape;1920;p150"/>
            <p:cNvSpPr txBox="1"/>
            <p:nvPr/>
          </p:nvSpPr>
          <p:spPr>
            <a:xfrm>
              <a:off x="2505524" y="3126000"/>
              <a:ext cx="455700" cy="287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1800">
                  <a:solidFill>
                    <a:srgbClr val="222222"/>
                  </a:solidFill>
                  <a:latin typeface="Lexend"/>
                  <a:ea typeface="Lexend"/>
                  <a:cs typeface="Lexend"/>
                  <a:sym typeface="Lexend"/>
                </a:rPr>
                <a:t>+ 1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921" name="Google Shape;1921;p150"/>
          <p:cNvGrpSpPr/>
          <p:nvPr/>
        </p:nvGrpSpPr>
        <p:grpSpPr>
          <a:xfrm>
            <a:off x="3940125" y="3761301"/>
            <a:ext cx="1851102" cy="566799"/>
            <a:chOff x="3940125" y="4294701"/>
            <a:chExt cx="1851102" cy="566799"/>
          </a:xfrm>
        </p:grpSpPr>
        <p:pic>
          <p:nvPicPr>
            <p:cNvPr id="1922" name="Google Shape;1922;p150"/>
            <p:cNvPicPr preferRelativeResize="0"/>
            <p:nvPr/>
          </p:nvPicPr>
          <p:blipFill rotWithShape="1">
            <a:blip r:embed="rId3">
              <a:alphaModFix/>
            </a:blip>
            <a:srcRect b="59597" l="61559" r="13951" t="27330"/>
            <a:stretch/>
          </p:blipFill>
          <p:spPr>
            <a:xfrm flipH="1" rot="10800000">
              <a:off x="4378275" y="4294701"/>
              <a:ext cx="536652" cy="33484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23" name="Google Shape;1923;p150"/>
            <p:cNvPicPr preferRelativeResize="0"/>
            <p:nvPr/>
          </p:nvPicPr>
          <p:blipFill rotWithShape="1">
            <a:blip r:embed="rId3">
              <a:alphaModFix/>
            </a:blip>
            <a:srcRect b="59597" l="61559" r="13951" t="27330"/>
            <a:stretch/>
          </p:blipFill>
          <p:spPr>
            <a:xfrm flipH="1" rot="10800000">
              <a:off x="3940125" y="4294701"/>
              <a:ext cx="536652" cy="33484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24" name="Google Shape;1924;p150"/>
            <p:cNvPicPr preferRelativeResize="0"/>
            <p:nvPr/>
          </p:nvPicPr>
          <p:blipFill rotWithShape="1">
            <a:blip r:embed="rId3">
              <a:alphaModFix/>
            </a:blip>
            <a:srcRect b="59597" l="61559" r="13951" t="27330"/>
            <a:stretch/>
          </p:blipFill>
          <p:spPr>
            <a:xfrm flipH="1" rot="10800000">
              <a:off x="4816425" y="4294701"/>
              <a:ext cx="536652" cy="33484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25" name="Google Shape;1925;p150"/>
            <p:cNvPicPr preferRelativeResize="0"/>
            <p:nvPr/>
          </p:nvPicPr>
          <p:blipFill rotWithShape="1">
            <a:blip r:embed="rId3">
              <a:alphaModFix/>
            </a:blip>
            <a:srcRect b="59597" l="61559" r="13951" t="27330"/>
            <a:stretch/>
          </p:blipFill>
          <p:spPr>
            <a:xfrm flipH="1" rot="10800000">
              <a:off x="5254575" y="4294701"/>
              <a:ext cx="536652" cy="33484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26" name="Google Shape;1926;p150"/>
            <p:cNvSpPr txBox="1"/>
            <p:nvPr/>
          </p:nvSpPr>
          <p:spPr>
            <a:xfrm>
              <a:off x="3980611" y="4573800"/>
              <a:ext cx="455700" cy="287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1800">
                  <a:solidFill>
                    <a:srgbClr val="222222"/>
                  </a:solidFill>
                  <a:latin typeface="Lexend"/>
                  <a:ea typeface="Lexend"/>
                  <a:cs typeface="Lexend"/>
                  <a:sym typeface="Lexend"/>
                </a:rPr>
                <a:t>−</a:t>
              </a:r>
              <a:r>
                <a:rPr lang="en-GB" sz="1800">
                  <a:solidFill>
                    <a:srgbClr val="222222"/>
                  </a:solidFill>
                  <a:latin typeface="Lexend"/>
                  <a:ea typeface="Lexend"/>
                  <a:cs typeface="Lexend"/>
                  <a:sym typeface="Lexend"/>
                </a:rPr>
                <a:t>3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27" name="Google Shape;1927;p150"/>
            <p:cNvSpPr txBox="1"/>
            <p:nvPr/>
          </p:nvSpPr>
          <p:spPr>
            <a:xfrm>
              <a:off x="4418761" y="4573800"/>
              <a:ext cx="455700" cy="287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1800">
                  <a:solidFill>
                    <a:srgbClr val="222222"/>
                  </a:solidFill>
                  <a:latin typeface="Lexend"/>
                  <a:ea typeface="Lexend"/>
                  <a:cs typeface="Lexend"/>
                  <a:sym typeface="Lexend"/>
                </a:rPr>
                <a:t>−</a:t>
              </a:r>
              <a:r>
                <a:rPr lang="en-GB" sz="1800">
                  <a:solidFill>
                    <a:srgbClr val="222222"/>
                  </a:solidFill>
                  <a:latin typeface="Lexend"/>
                  <a:ea typeface="Lexend"/>
                  <a:cs typeface="Lexend"/>
                  <a:sym typeface="Lexend"/>
                </a:rPr>
                <a:t>1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28" name="Google Shape;1928;p150"/>
            <p:cNvSpPr txBox="1"/>
            <p:nvPr/>
          </p:nvSpPr>
          <p:spPr>
            <a:xfrm>
              <a:off x="4856911" y="4573800"/>
              <a:ext cx="455700" cy="287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1800">
                  <a:solidFill>
                    <a:srgbClr val="222222"/>
                  </a:solidFill>
                  <a:latin typeface="Lexend"/>
                  <a:ea typeface="Lexend"/>
                  <a:cs typeface="Lexend"/>
                  <a:sym typeface="Lexend"/>
                </a:rPr>
                <a:t>+ 1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29" name="Google Shape;1929;p150"/>
            <p:cNvSpPr txBox="1"/>
            <p:nvPr/>
          </p:nvSpPr>
          <p:spPr>
            <a:xfrm>
              <a:off x="5295061" y="4573800"/>
              <a:ext cx="455700" cy="287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1800">
                  <a:solidFill>
                    <a:srgbClr val="222222"/>
                  </a:solidFill>
                  <a:latin typeface="Lexend"/>
                  <a:ea typeface="Lexend"/>
                  <a:cs typeface="Lexend"/>
                  <a:sym typeface="Lexend"/>
                </a:rPr>
                <a:t>+ 3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930" name="Google Shape;1930;p150"/>
          <p:cNvGrpSpPr/>
          <p:nvPr/>
        </p:nvGrpSpPr>
        <p:grpSpPr>
          <a:xfrm>
            <a:off x="3921587" y="2592600"/>
            <a:ext cx="1859036" cy="557175"/>
            <a:chOff x="3921587" y="3126000"/>
            <a:chExt cx="1859036" cy="557175"/>
          </a:xfrm>
        </p:grpSpPr>
        <p:pic>
          <p:nvPicPr>
            <p:cNvPr id="1931" name="Google Shape;1931;p150"/>
            <p:cNvPicPr preferRelativeResize="0"/>
            <p:nvPr/>
          </p:nvPicPr>
          <p:blipFill rotWithShape="1">
            <a:blip r:embed="rId3">
              <a:alphaModFix/>
            </a:blip>
            <a:srcRect b="59597" l="61559" r="13951" t="27330"/>
            <a:stretch/>
          </p:blipFill>
          <p:spPr>
            <a:xfrm>
              <a:off x="4359737" y="3348326"/>
              <a:ext cx="536652" cy="33484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32" name="Google Shape;1932;p150"/>
            <p:cNvPicPr preferRelativeResize="0"/>
            <p:nvPr/>
          </p:nvPicPr>
          <p:blipFill rotWithShape="1">
            <a:blip r:embed="rId3">
              <a:alphaModFix/>
            </a:blip>
            <a:srcRect b="59597" l="61559" r="13951" t="27330"/>
            <a:stretch/>
          </p:blipFill>
          <p:spPr>
            <a:xfrm>
              <a:off x="3921587" y="3348326"/>
              <a:ext cx="536652" cy="33484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33" name="Google Shape;1933;p150"/>
            <p:cNvPicPr preferRelativeResize="0"/>
            <p:nvPr/>
          </p:nvPicPr>
          <p:blipFill rotWithShape="1">
            <a:blip r:embed="rId3">
              <a:alphaModFix/>
            </a:blip>
            <a:srcRect b="59597" l="61559" r="13951" t="27330"/>
            <a:stretch/>
          </p:blipFill>
          <p:spPr>
            <a:xfrm>
              <a:off x="4797887" y="3348326"/>
              <a:ext cx="536652" cy="33484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34" name="Google Shape;1934;p150"/>
            <p:cNvPicPr preferRelativeResize="0"/>
            <p:nvPr/>
          </p:nvPicPr>
          <p:blipFill rotWithShape="1">
            <a:blip r:embed="rId3">
              <a:alphaModFix/>
            </a:blip>
            <a:srcRect b="59597" l="61559" r="13951" t="27330"/>
            <a:stretch/>
          </p:blipFill>
          <p:spPr>
            <a:xfrm>
              <a:off x="5236037" y="3348326"/>
              <a:ext cx="536652" cy="33484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35" name="Google Shape;1935;p150"/>
            <p:cNvSpPr txBox="1"/>
            <p:nvPr/>
          </p:nvSpPr>
          <p:spPr>
            <a:xfrm>
              <a:off x="4010474" y="3126000"/>
              <a:ext cx="455700" cy="287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1800">
                  <a:solidFill>
                    <a:srgbClr val="222222"/>
                  </a:solidFill>
                  <a:latin typeface="Lexend"/>
                  <a:ea typeface="Lexend"/>
                  <a:cs typeface="Lexend"/>
                  <a:sym typeface="Lexend"/>
                </a:rPr>
                <a:t>+ 1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36" name="Google Shape;1936;p150"/>
            <p:cNvSpPr txBox="1"/>
            <p:nvPr/>
          </p:nvSpPr>
          <p:spPr>
            <a:xfrm>
              <a:off x="4448624" y="3126000"/>
              <a:ext cx="455700" cy="287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1800">
                  <a:solidFill>
                    <a:srgbClr val="222222"/>
                  </a:solidFill>
                  <a:latin typeface="Lexend"/>
                  <a:ea typeface="Lexend"/>
                  <a:cs typeface="Lexend"/>
                  <a:sym typeface="Lexend"/>
                </a:rPr>
                <a:t>+ 1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37" name="Google Shape;1937;p150"/>
            <p:cNvSpPr txBox="1"/>
            <p:nvPr/>
          </p:nvSpPr>
          <p:spPr>
            <a:xfrm>
              <a:off x="4886774" y="3126000"/>
              <a:ext cx="455700" cy="287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1800">
                  <a:solidFill>
                    <a:srgbClr val="222222"/>
                  </a:solidFill>
                  <a:latin typeface="Lexend"/>
                  <a:ea typeface="Lexend"/>
                  <a:cs typeface="Lexend"/>
                  <a:sym typeface="Lexend"/>
                </a:rPr>
                <a:t>+ 1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38" name="Google Shape;1938;p150"/>
            <p:cNvSpPr txBox="1"/>
            <p:nvPr/>
          </p:nvSpPr>
          <p:spPr>
            <a:xfrm>
              <a:off x="5324924" y="3126000"/>
              <a:ext cx="455700" cy="287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1800">
                  <a:solidFill>
                    <a:srgbClr val="222222"/>
                  </a:solidFill>
                  <a:latin typeface="Lexend"/>
                  <a:ea typeface="Lexend"/>
                  <a:cs typeface="Lexend"/>
                  <a:sym typeface="Lexend"/>
                </a:rPr>
                <a:t>+ 1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939" name="Google Shape;1939;p150"/>
          <p:cNvGrpSpPr/>
          <p:nvPr/>
        </p:nvGrpSpPr>
        <p:grpSpPr>
          <a:xfrm>
            <a:off x="6817187" y="2592600"/>
            <a:ext cx="1859036" cy="557175"/>
            <a:chOff x="6817187" y="3126000"/>
            <a:chExt cx="1859036" cy="557175"/>
          </a:xfrm>
        </p:grpSpPr>
        <p:pic>
          <p:nvPicPr>
            <p:cNvPr id="1940" name="Google Shape;1940;p150"/>
            <p:cNvPicPr preferRelativeResize="0"/>
            <p:nvPr/>
          </p:nvPicPr>
          <p:blipFill rotWithShape="1">
            <a:blip r:embed="rId3">
              <a:alphaModFix/>
            </a:blip>
            <a:srcRect b="59597" l="61559" r="13951" t="27330"/>
            <a:stretch/>
          </p:blipFill>
          <p:spPr>
            <a:xfrm>
              <a:off x="7255337" y="3348326"/>
              <a:ext cx="536652" cy="33484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41" name="Google Shape;1941;p150"/>
            <p:cNvPicPr preferRelativeResize="0"/>
            <p:nvPr/>
          </p:nvPicPr>
          <p:blipFill rotWithShape="1">
            <a:blip r:embed="rId3">
              <a:alphaModFix/>
            </a:blip>
            <a:srcRect b="59597" l="61559" r="13951" t="27330"/>
            <a:stretch/>
          </p:blipFill>
          <p:spPr>
            <a:xfrm>
              <a:off x="6817187" y="3348326"/>
              <a:ext cx="536652" cy="33484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42" name="Google Shape;1942;p150"/>
            <p:cNvPicPr preferRelativeResize="0"/>
            <p:nvPr/>
          </p:nvPicPr>
          <p:blipFill rotWithShape="1">
            <a:blip r:embed="rId3">
              <a:alphaModFix/>
            </a:blip>
            <a:srcRect b="59597" l="61559" r="13951" t="27330"/>
            <a:stretch/>
          </p:blipFill>
          <p:spPr>
            <a:xfrm>
              <a:off x="7693487" y="3348326"/>
              <a:ext cx="536652" cy="33484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43" name="Google Shape;1943;p150"/>
            <p:cNvPicPr preferRelativeResize="0"/>
            <p:nvPr/>
          </p:nvPicPr>
          <p:blipFill rotWithShape="1">
            <a:blip r:embed="rId3">
              <a:alphaModFix/>
            </a:blip>
            <a:srcRect b="59597" l="61559" r="13951" t="27330"/>
            <a:stretch/>
          </p:blipFill>
          <p:spPr>
            <a:xfrm>
              <a:off x="8131637" y="3348326"/>
              <a:ext cx="536652" cy="33484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44" name="Google Shape;1944;p150"/>
            <p:cNvSpPr txBox="1"/>
            <p:nvPr/>
          </p:nvSpPr>
          <p:spPr>
            <a:xfrm>
              <a:off x="6906074" y="3126000"/>
              <a:ext cx="455700" cy="287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1800">
                  <a:solidFill>
                    <a:srgbClr val="222222"/>
                  </a:solidFill>
                  <a:latin typeface="Lexend"/>
                  <a:ea typeface="Lexend"/>
                  <a:cs typeface="Lexend"/>
                  <a:sym typeface="Lexend"/>
                </a:rPr>
                <a:t>+ 1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45" name="Google Shape;1945;p150"/>
            <p:cNvSpPr txBox="1"/>
            <p:nvPr/>
          </p:nvSpPr>
          <p:spPr>
            <a:xfrm>
              <a:off x="7344224" y="3126000"/>
              <a:ext cx="455700" cy="287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1800">
                  <a:solidFill>
                    <a:srgbClr val="222222"/>
                  </a:solidFill>
                  <a:latin typeface="Lexend"/>
                  <a:ea typeface="Lexend"/>
                  <a:cs typeface="Lexend"/>
                  <a:sym typeface="Lexend"/>
                </a:rPr>
                <a:t>+ 1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46" name="Google Shape;1946;p150"/>
            <p:cNvSpPr txBox="1"/>
            <p:nvPr/>
          </p:nvSpPr>
          <p:spPr>
            <a:xfrm>
              <a:off x="7782374" y="3126000"/>
              <a:ext cx="455700" cy="287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1800">
                  <a:solidFill>
                    <a:srgbClr val="222222"/>
                  </a:solidFill>
                  <a:latin typeface="Lexend"/>
                  <a:ea typeface="Lexend"/>
                  <a:cs typeface="Lexend"/>
                  <a:sym typeface="Lexend"/>
                </a:rPr>
                <a:t>+ 1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47" name="Google Shape;1947;p150"/>
            <p:cNvSpPr txBox="1"/>
            <p:nvPr/>
          </p:nvSpPr>
          <p:spPr>
            <a:xfrm>
              <a:off x="8220524" y="3126000"/>
              <a:ext cx="455700" cy="287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1800">
                  <a:solidFill>
                    <a:srgbClr val="222222"/>
                  </a:solidFill>
                  <a:latin typeface="Lexend"/>
                  <a:ea typeface="Lexend"/>
                  <a:cs typeface="Lexend"/>
                  <a:sym typeface="Lexend"/>
                </a:rPr>
                <a:t>+ 1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948" name="Google Shape;1948;p150"/>
          <p:cNvGrpSpPr/>
          <p:nvPr/>
        </p:nvGrpSpPr>
        <p:grpSpPr>
          <a:xfrm>
            <a:off x="6835725" y="3761301"/>
            <a:ext cx="1851102" cy="566799"/>
            <a:chOff x="6835725" y="4294701"/>
            <a:chExt cx="1851102" cy="566799"/>
          </a:xfrm>
        </p:grpSpPr>
        <p:pic>
          <p:nvPicPr>
            <p:cNvPr id="1949" name="Google Shape;1949;p150"/>
            <p:cNvPicPr preferRelativeResize="0"/>
            <p:nvPr/>
          </p:nvPicPr>
          <p:blipFill rotWithShape="1">
            <a:blip r:embed="rId3">
              <a:alphaModFix/>
            </a:blip>
            <a:srcRect b="59597" l="61559" r="13951" t="27330"/>
            <a:stretch/>
          </p:blipFill>
          <p:spPr>
            <a:xfrm flipH="1" rot="10800000">
              <a:off x="7273875" y="4294701"/>
              <a:ext cx="536652" cy="33484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50" name="Google Shape;1950;p150"/>
            <p:cNvPicPr preferRelativeResize="0"/>
            <p:nvPr/>
          </p:nvPicPr>
          <p:blipFill rotWithShape="1">
            <a:blip r:embed="rId3">
              <a:alphaModFix/>
            </a:blip>
            <a:srcRect b="59597" l="61559" r="13951" t="27330"/>
            <a:stretch/>
          </p:blipFill>
          <p:spPr>
            <a:xfrm flipH="1" rot="10800000">
              <a:off x="6835725" y="4294701"/>
              <a:ext cx="536652" cy="33484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51" name="Google Shape;1951;p150"/>
            <p:cNvPicPr preferRelativeResize="0"/>
            <p:nvPr/>
          </p:nvPicPr>
          <p:blipFill rotWithShape="1">
            <a:blip r:embed="rId3">
              <a:alphaModFix/>
            </a:blip>
            <a:srcRect b="59597" l="61559" r="13951" t="27330"/>
            <a:stretch/>
          </p:blipFill>
          <p:spPr>
            <a:xfrm flipH="1" rot="10800000">
              <a:off x="7712025" y="4294701"/>
              <a:ext cx="536652" cy="33484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52" name="Google Shape;1952;p150"/>
            <p:cNvPicPr preferRelativeResize="0"/>
            <p:nvPr/>
          </p:nvPicPr>
          <p:blipFill rotWithShape="1">
            <a:blip r:embed="rId3">
              <a:alphaModFix/>
            </a:blip>
            <a:srcRect b="59597" l="61559" r="13951" t="27330"/>
            <a:stretch/>
          </p:blipFill>
          <p:spPr>
            <a:xfrm flipH="1" rot="10800000">
              <a:off x="8150175" y="4294701"/>
              <a:ext cx="536652" cy="33484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53" name="Google Shape;1953;p150"/>
            <p:cNvSpPr txBox="1"/>
            <p:nvPr/>
          </p:nvSpPr>
          <p:spPr>
            <a:xfrm>
              <a:off x="6876211" y="4573800"/>
              <a:ext cx="455700" cy="287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1800">
                  <a:solidFill>
                    <a:srgbClr val="222222"/>
                  </a:solidFill>
                  <a:latin typeface="Lexend"/>
                  <a:ea typeface="Lexend"/>
                  <a:cs typeface="Lexend"/>
                  <a:sym typeface="Lexend"/>
                </a:rPr>
                <a:t>+7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54" name="Google Shape;1954;p150"/>
            <p:cNvSpPr txBox="1"/>
            <p:nvPr/>
          </p:nvSpPr>
          <p:spPr>
            <a:xfrm>
              <a:off x="7314361" y="4573800"/>
              <a:ext cx="455700" cy="287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1800">
                  <a:solidFill>
                    <a:srgbClr val="222222"/>
                  </a:solidFill>
                  <a:latin typeface="Lexend"/>
                  <a:ea typeface="Lexend"/>
                  <a:cs typeface="Lexend"/>
                  <a:sym typeface="Lexend"/>
                </a:rPr>
                <a:t>+</a:t>
              </a:r>
              <a:r>
                <a:rPr lang="en-GB" sz="1800">
                  <a:solidFill>
                    <a:srgbClr val="222222"/>
                  </a:solidFill>
                  <a:latin typeface="Lexend"/>
                  <a:ea typeface="Lexend"/>
                  <a:cs typeface="Lexend"/>
                  <a:sym typeface="Lexend"/>
                </a:rPr>
                <a:t>1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55" name="Google Shape;1955;p150"/>
            <p:cNvSpPr txBox="1"/>
            <p:nvPr/>
          </p:nvSpPr>
          <p:spPr>
            <a:xfrm>
              <a:off x="7752511" y="4573800"/>
              <a:ext cx="455700" cy="287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1800">
                  <a:solidFill>
                    <a:srgbClr val="222222"/>
                  </a:solidFill>
                  <a:latin typeface="Lexend"/>
                  <a:ea typeface="Lexend"/>
                  <a:cs typeface="Lexend"/>
                  <a:sym typeface="Lexend"/>
                </a:rPr>
                <a:t>+ 1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56" name="Google Shape;1956;p150"/>
            <p:cNvSpPr txBox="1"/>
            <p:nvPr/>
          </p:nvSpPr>
          <p:spPr>
            <a:xfrm>
              <a:off x="8190661" y="4573800"/>
              <a:ext cx="455700" cy="287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1800">
                  <a:solidFill>
                    <a:srgbClr val="222222"/>
                  </a:solidFill>
                  <a:latin typeface="Lexend"/>
                  <a:ea typeface="Lexend"/>
                  <a:cs typeface="Lexend"/>
                  <a:sym typeface="Lexend"/>
                </a:rPr>
                <a:t>+ 7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0" name="Shape 19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1" name="Google Shape;1961;p15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Identifying linear equations from graphs</a:t>
            </a:r>
            <a:endParaRPr/>
          </a:p>
        </p:txBody>
      </p:sp>
      <p:sp>
        <p:nvSpPr>
          <p:cNvPr id="1962" name="Google Shape;1962;p151"/>
          <p:cNvSpPr txBox="1"/>
          <p:nvPr>
            <p:ph idx="1" type="body"/>
          </p:nvPr>
        </p:nvSpPr>
        <p:spPr>
          <a:xfrm>
            <a:off x="324000" y="753725"/>
            <a:ext cx="8496000" cy="36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Which of these are linear equations?</a:t>
            </a:r>
            <a:endParaRPr i="1"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963" name="Google Shape;1963;p151"/>
          <p:cNvSpPr txBox="1"/>
          <p:nvPr>
            <p:ph idx="1" type="body"/>
          </p:nvPr>
        </p:nvSpPr>
        <p:spPr>
          <a:xfrm>
            <a:off x="324000" y="1163788"/>
            <a:ext cx="2563200" cy="36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y = x +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1</a:t>
            </a:r>
            <a:endParaRPr i="1"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964" name="Google Shape;1964;p151"/>
          <p:cNvSpPr txBox="1"/>
          <p:nvPr>
            <p:ph idx="1" type="body"/>
          </p:nvPr>
        </p:nvSpPr>
        <p:spPr>
          <a:xfrm>
            <a:off x="3230925" y="1163788"/>
            <a:ext cx="2563200" cy="36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y = x</a:t>
            </a:r>
            <a:r>
              <a:rPr baseline="30000" lang="en-GB" sz="20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+ 1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965" name="Google Shape;1965;p151"/>
          <p:cNvSpPr txBox="1"/>
          <p:nvPr>
            <p:ph idx="1" type="body"/>
          </p:nvPr>
        </p:nvSpPr>
        <p:spPr>
          <a:xfrm>
            <a:off x="5859375" y="1163800"/>
            <a:ext cx="2563200" cy="36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y = x</a:t>
            </a:r>
            <a:r>
              <a:rPr baseline="30000" lang="en-GB" sz="2000">
                <a:latin typeface="Times"/>
                <a:ea typeface="Times"/>
                <a:cs typeface="Times"/>
                <a:sym typeface="Times"/>
              </a:rPr>
              <a:t>3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+ 1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graphicFrame>
        <p:nvGraphicFramePr>
          <p:cNvPr id="1966" name="Google Shape;1966;p151"/>
          <p:cNvGraphicFramePr/>
          <p:nvPr/>
        </p:nvGraphicFramePr>
        <p:xfrm>
          <a:off x="343738" y="20842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{C929B8A6-531E-44CB-B741-55F0E8B17D5D}</a:tableStyleId>
              </a:tblPr>
              <a:tblGrid>
                <a:gridCol w="597125"/>
                <a:gridCol w="417000"/>
                <a:gridCol w="417000"/>
                <a:gridCol w="417000"/>
                <a:gridCol w="417000"/>
                <a:gridCol w="417000"/>
              </a:tblGrid>
              <a:tr h="2990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endParaRPr i="1"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i="1"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i="1"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67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i="1"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y</a:t>
                      </a:r>
                      <a:endParaRPr i="1"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i="1"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967" name="Google Shape;1967;p151"/>
          <p:cNvGraphicFramePr/>
          <p:nvPr/>
        </p:nvGraphicFramePr>
        <p:xfrm>
          <a:off x="3230925" y="20842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{C929B8A6-531E-44CB-B741-55F0E8B17D5D}</a:tableStyleId>
              </a:tblPr>
              <a:tblGrid>
                <a:gridCol w="597125"/>
                <a:gridCol w="417000"/>
                <a:gridCol w="417000"/>
                <a:gridCol w="417000"/>
                <a:gridCol w="417000"/>
                <a:gridCol w="417000"/>
              </a:tblGrid>
              <a:tr h="2990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endParaRPr i="1"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i="1"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i="1"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67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i="1"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y</a:t>
                      </a:r>
                      <a:endParaRPr i="1"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968" name="Google Shape;1968;p151"/>
          <p:cNvGraphicFramePr/>
          <p:nvPr/>
        </p:nvGraphicFramePr>
        <p:xfrm>
          <a:off x="6118100" y="20842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{C929B8A6-531E-44CB-B741-55F0E8B17D5D}</a:tableStyleId>
              </a:tblPr>
              <a:tblGrid>
                <a:gridCol w="597125"/>
                <a:gridCol w="417000"/>
                <a:gridCol w="417000"/>
                <a:gridCol w="417000"/>
                <a:gridCol w="417000"/>
                <a:gridCol w="417000"/>
              </a:tblGrid>
              <a:tr h="2990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endParaRPr i="1"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i="1"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i="1"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67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i="1"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y</a:t>
                      </a:r>
                      <a:endParaRPr i="1"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i="1"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1969" name="Google Shape;1969;p151"/>
          <p:cNvPicPr preferRelativeResize="0"/>
          <p:nvPr/>
        </p:nvPicPr>
        <p:blipFill rotWithShape="1">
          <a:blip r:embed="rId3">
            <a:alphaModFix/>
          </a:blip>
          <a:srcRect b="59597" l="61559" r="13951" t="27330"/>
          <a:stretch/>
        </p:blipFill>
        <p:spPr>
          <a:xfrm flipH="1" rot="10800000">
            <a:off x="1558875" y="2694501"/>
            <a:ext cx="536652" cy="3348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0" name="Google Shape;1970;p151"/>
          <p:cNvPicPr preferRelativeResize="0"/>
          <p:nvPr/>
        </p:nvPicPr>
        <p:blipFill rotWithShape="1">
          <a:blip r:embed="rId3">
            <a:alphaModFix/>
          </a:blip>
          <a:srcRect b="59597" l="61559" r="13951" t="27330"/>
          <a:stretch/>
        </p:blipFill>
        <p:spPr>
          <a:xfrm flipH="1" rot="10800000">
            <a:off x="1120725" y="2694501"/>
            <a:ext cx="536652" cy="3348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1" name="Google Shape;1971;p151"/>
          <p:cNvPicPr preferRelativeResize="0"/>
          <p:nvPr/>
        </p:nvPicPr>
        <p:blipFill rotWithShape="1">
          <a:blip r:embed="rId3">
            <a:alphaModFix/>
          </a:blip>
          <a:srcRect b="59597" l="61559" r="13951" t="27330"/>
          <a:stretch/>
        </p:blipFill>
        <p:spPr>
          <a:xfrm flipH="1" rot="10800000">
            <a:off x="1997025" y="2694501"/>
            <a:ext cx="536652" cy="3348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2" name="Google Shape;1972;p151"/>
          <p:cNvPicPr preferRelativeResize="0"/>
          <p:nvPr/>
        </p:nvPicPr>
        <p:blipFill rotWithShape="1">
          <a:blip r:embed="rId3">
            <a:alphaModFix/>
          </a:blip>
          <a:srcRect b="59597" l="61559" r="13951" t="27330"/>
          <a:stretch/>
        </p:blipFill>
        <p:spPr>
          <a:xfrm flipH="1" rot="10800000">
            <a:off x="2435175" y="2694501"/>
            <a:ext cx="536652" cy="334849"/>
          </a:xfrm>
          <a:prstGeom prst="rect">
            <a:avLst/>
          </a:prstGeom>
          <a:noFill/>
          <a:ln>
            <a:noFill/>
          </a:ln>
        </p:spPr>
      </p:pic>
      <p:sp>
        <p:nvSpPr>
          <p:cNvPr id="1973" name="Google Shape;1973;p151"/>
          <p:cNvSpPr txBox="1"/>
          <p:nvPr/>
        </p:nvSpPr>
        <p:spPr>
          <a:xfrm>
            <a:off x="1161211" y="2973600"/>
            <a:ext cx="455700" cy="2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+ 1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74" name="Google Shape;1974;p151"/>
          <p:cNvSpPr txBox="1"/>
          <p:nvPr/>
        </p:nvSpPr>
        <p:spPr>
          <a:xfrm>
            <a:off x="1599361" y="2973600"/>
            <a:ext cx="455700" cy="2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+ 1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75" name="Google Shape;1975;p151"/>
          <p:cNvSpPr txBox="1"/>
          <p:nvPr/>
        </p:nvSpPr>
        <p:spPr>
          <a:xfrm>
            <a:off x="2037511" y="2973600"/>
            <a:ext cx="455700" cy="2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+ 1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76" name="Google Shape;1976;p151"/>
          <p:cNvSpPr txBox="1"/>
          <p:nvPr/>
        </p:nvSpPr>
        <p:spPr>
          <a:xfrm>
            <a:off x="2475661" y="2973600"/>
            <a:ext cx="455700" cy="2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+ 1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977" name="Google Shape;1977;p151"/>
          <p:cNvPicPr preferRelativeResize="0"/>
          <p:nvPr/>
        </p:nvPicPr>
        <p:blipFill rotWithShape="1">
          <a:blip r:embed="rId3">
            <a:alphaModFix/>
          </a:blip>
          <a:srcRect b="59597" l="61559" r="13951" t="27330"/>
          <a:stretch/>
        </p:blipFill>
        <p:spPr>
          <a:xfrm>
            <a:off x="1540337" y="1748126"/>
            <a:ext cx="536652" cy="3348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8" name="Google Shape;1978;p151"/>
          <p:cNvPicPr preferRelativeResize="0"/>
          <p:nvPr/>
        </p:nvPicPr>
        <p:blipFill rotWithShape="1">
          <a:blip r:embed="rId3">
            <a:alphaModFix/>
          </a:blip>
          <a:srcRect b="59597" l="61559" r="13951" t="27330"/>
          <a:stretch/>
        </p:blipFill>
        <p:spPr>
          <a:xfrm>
            <a:off x="1102187" y="1748126"/>
            <a:ext cx="536652" cy="3348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9" name="Google Shape;1979;p151"/>
          <p:cNvPicPr preferRelativeResize="0"/>
          <p:nvPr/>
        </p:nvPicPr>
        <p:blipFill rotWithShape="1">
          <a:blip r:embed="rId3">
            <a:alphaModFix/>
          </a:blip>
          <a:srcRect b="59597" l="61559" r="13951" t="27330"/>
          <a:stretch/>
        </p:blipFill>
        <p:spPr>
          <a:xfrm>
            <a:off x="1978487" y="1748126"/>
            <a:ext cx="536652" cy="3348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0" name="Google Shape;1980;p151"/>
          <p:cNvPicPr preferRelativeResize="0"/>
          <p:nvPr/>
        </p:nvPicPr>
        <p:blipFill rotWithShape="1">
          <a:blip r:embed="rId3">
            <a:alphaModFix/>
          </a:blip>
          <a:srcRect b="59597" l="61559" r="13951" t="27330"/>
          <a:stretch/>
        </p:blipFill>
        <p:spPr>
          <a:xfrm>
            <a:off x="2416637" y="1748126"/>
            <a:ext cx="536652" cy="334849"/>
          </a:xfrm>
          <a:prstGeom prst="rect">
            <a:avLst/>
          </a:prstGeom>
          <a:noFill/>
          <a:ln>
            <a:noFill/>
          </a:ln>
        </p:spPr>
      </p:pic>
      <p:sp>
        <p:nvSpPr>
          <p:cNvPr id="1981" name="Google Shape;1981;p151"/>
          <p:cNvSpPr txBox="1"/>
          <p:nvPr/>
        </p:nvSpPr>
        <p:spPr>
          <a:xfrm>
            <a:off x="1191074" y="1525800"/>
            <a:ext cx="455700" cy="2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+ 1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82" name="Google Shape;1982;p151"/>
          <p:cNvSpPr txBox="1"/>
          <p:nvPr/>
        </p:nvSpPr>
        <p:spPr>
          <a:xfrm>
            <a:off x="1629224" y="1525800"/>
            <a:ext cx="455700" cy="2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+ 1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83" name="Google Shape;1983;p151"/>
          <p:cNvSpPr txBox="1"/>
          <p:nvPr/>
        </p:nvSpPr>
        <p:spPr>
          <a:xfrm>
            <a:off x="2067374" y="1525800"/>
            <a:ext cx="455700" cy="2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+ 1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84" name="Google Shape;1984;p151"/>
          <p:cNvSpPr txBox="1"/>
          <p:nvPr/>
        </p:nvSpPr>
        <p:spPr>
          <a:xfrm>
            <a:off x="2505524" y="1525800"/>
            <a:ext cx="455700" cy="2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+ 1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985" name="Google Shape;1985;p151"/>
          <p:cNvPicPr preferRelativeResize="0"/>
          <p:nvPr/>
        </p:nvPicPr>
        <p:blipFill rotWithShape="1">
          <a:blip r:embed="rId3">
            <a:alphaModFix/>
          </a:blip>
          <a:srcRect b="59597" l="61559" r="13951" t="27330"/>
          <a:stretch/>
        </p:blipFill>
        <p:spPr>
          <a:xfrm flipH="1" rot="10800000">
            <a:off x="4378275" y="2694501"/>
            <a:ext cx="536652" cy="3348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6" name="Google Shape;1986;p151"/>
          <p:cNvPicPr preferRelativeResize="0"/>
          <p:nvPr/>
        </p:nvPicPr>
        <p:blipFill rotWithShape="1">
          <a:blip r:embed="rId3">
            <a:alphaModFix/>
          </a:blip>
          <a:srcRect b="59597" l="61559" r="13951" t="27330"/>
          <a:stretch/>
        </p:blipFill>
        <p:spPr>
          <a:xfrm flipH="1" rot="10800000">
            <a:off x="3940125" y="2694501"/>
            <a:ext cx="536652" cy="3348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7" name="Google Shape;1987;p151"/>
          <p:cNvPicPr preferRelativeResize="0"/>
          <p:nvPr/>
        </p:nvPicPr>
        <p:blipFill rotWithShape="1">
          <a:blip r:embed="rId3">
            <a:alphaModFix/>
          </a:blip>
          <a:srcRect b="59597" l="61559" r="13951" t="27330"/>
          <a:stretch/>
        </p:blipFill>
        <p:spPr>
          <a:xfrm flipH="1" rot="10800000">
            <a:off x="4816425" y="2694501"/>
            <a:ext cx="536652" cy="3348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8" name="Google Shape;1988;p151"/>
          <p:cNvPicPr preferRelativeResize="0"/>
          <p:nvPr/>
        </p:nvPicPr>
        <p:blipFill rotWithShape="1">
          <a:blip r:embed="rId3">
            <a:alphaModFix/>
          </a:blip>
          <a:srcRect b="59597" l="61559" r="13951" t="27330"/>
          <a:stretch/>
        </p:blipFill>
        <p:spPr>
          <a:xfrm flipH="1" rot="10800000">
            <a:off x="5254575" y="2694501"/>
            <a:ext cx="536652" cy="334849"/>
          </a:xfrm>
          <a:prstGeom prst="rect">
            <a:avLst/>
          </a:prstGeom>
          <a:noFill/>
          <a:ln>
            <a:noFill/>
          </a:ln>
        </p:spPr>
      </p:pic>
      <p:sp>
        <p:nvSpPr>
          <p:cNvPr id="1989" name="Google Shape;1989;p151"/>
          <p:cNvSpPr txBox="1"/>
          <p:nvPr/>
        </p:nvSpPr>
        <p:spPr>
          <a:xfrm>
            <a:off x="3980611" y="2973600"/>
            <a:ext cx="455700" cy="2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−3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90" name="Google Shape;1990;p151"/>
          <p:cNvSpPr txBox="1"/>
          <p:nvPr/>
        </p:nvSpPr>
        <p:spPr>
          <a:xfrm>
            <a:off x="4418761" y="2973600"/>
            <a:ext cx="455700" cy="2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−1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91" name="Google Shape;1991;p151"/>
          <p:cNvSpPr txBox="1"/>
          <p:nvPr/>
        </p:nvSpPr>
        <p:spPr>
          <a:xfrm>
            <a:off x="4856911" y="2973600"/>
            <a:ext cx="455700" cy="2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+ 1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92" name="Google Shape;1992;p151"/>
          <p:cNvSpPr txBox="1"/>
          <p:nvPr/>
        </p:nvSpPr>
        <p:spPr>
          <a:xfrm>
            <a:off x="5295061" y="2973600"/>
            <a:ext cx="455700" cy="2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+ 3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993" name="Google Shape;1993;p151"/>
          <p:cNvPicPr preferRelativeResize="0"/>
          <p:nvPr/>
        </p:nvPicPr>
        <p:blipFill rotWithShape="1">
          <a:blip r:embed="rId3">
            <a:alphaModFix/>
          </a:blip>
          <a:srcRect b="59597" l="61559" r="13951" t="27330"/>
          <a:stretch/>
        </p:blipFill>
        <p:spPr>
          <a:xfrm>
            <a:off x="4359737" y="1748126"/>
            <a:ext cx="536652" cy="3348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4" name="Google Shape;1994;p151"/>
          <p:cNvPicPr preferRelativeResize="0"/>
          <p:nvPr/>
        </p:nvPicPr>
        <p:blipFill rotWithShape="1">
          <a:blip r:embed="rId3">
            <a:alphaModFix/>
          </a:blip>
          <a:srcRect b="59597" l="61559" r="13951" t="27330"/>
          <a:stretch/>
        </p:blipFill>
        <p:spPr>
          <a:xfrm>
            <a:off x="3921587" y="1748126"/>
            <a:ext cx="536652" cy="3348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5" name="Google Shape;1995;p151"/>
          <p:cNvPicPr preferRelativeResize="0"/>
          <p:nvPr/>
        </p:nvPicPr>
        <p:blipFill rotWithShape="1">
          <a:blip r:embed="rId3">
            <a:alphaModFix/>
          </a:blip>
          <a:srcRect b="59597" l="61559" r="13951" t="27330"/>
          <a:stretch/>
        </p:blipFill>
        <p:spPr>
          <a:xfrm>
            <a:off x="4797887" y="1748126"/>
            <a:ext cx="536652" cy="3348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6" name="Google Shape;1996;p151"/>
          <p:cNvPicPr preferRelativeResize="0"/>
          <p:nvPr/>
        </p:nvPicPr>
        <p:blipFill rotWithShape="1">
          <a:blip r:embed="rId3">
            <a:alphaModFix/>
          </a:blip>
          <a:srcRect b="59597" l="61559" r="13951" t="27330"/>
          <a:stretch/>
        </p:blipFill>
        <p:spPr>
          <a:xfrm>
            <a:off x="5236037" y="1748126"/>
            <a:ext cx="536652" cy="334849"/>
          </a:xfrm>
          <a:prstGeom prst="rect">
            <a:avLst/>
          </a:prstGeom>
          <a:noFill/>
          <a:ln>
            <a:noFill/>
          </a:ln>
        </p:spPr>
      </p:pic>
      <p:sp>
        <p:nvSpPr>
          <p:cNvPr id="1997" name="Google Shape;1997;p151"/>
          <p:cNvSpPr txBox="1"/>
          <p:nvPr/>
        </p:nvSpPr>
        <p:spPr>
          <a:xfrm>
            <a:off x="4010474" y="1525800"/>
            <a:ext cx="455700" cy="2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+ 1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98" name="Google Shape;1998;p151"/>
          <p:cNvSpPr txBox="1"/>
          <p:nvPr/>
        </p:nvSpPr>
        <p:spPr>
          <a:xfrm>
            <a:off x="4448624" y="1525800"/>
            <a:ext cx="455700" cy="2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+ 1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99" name="Google Shape;1999;p151"/>
          <p:cNvSpPr txBox="1"/>
          <p:nvPr/>
        </p:nvSpPr>
        <p:spPr>
          <a:xfrm>
            <a:off x="4886774" y="1525800"/>
            <a:ext cx="455700" cy="2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+ 1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00" name="Google Shape;2000;p151"/>
          <p:cNvSpPr txBox="1"/>
          <p:nvPr/>
        </p:nvSpPr>
        <p:spPr>
          <a:xfrm>
            <a:off x="5324924" y="1525800"/>
            <a:ext cx="455700" cy="2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+ 1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001" name="Google Shape;2001;p151"/>
          <p:cNvPicPr preferRelativeResize="0"/>
          <p:nvPr/>
        </p:nvPicPr>
        <p:blipFill rotWithShape="1">
          <a:blip r:embed="rId3">
            <a:alphaModFix/>
          </a:blip>
          <a:srcRect b="59597" l="61559" r="13951" t="27330"/>
          <a:stretch/>
        </p:blipFill>
        <p:spPr>
          <a:xfrm>
            <a:off x="7255337" y="1748126"/>
            <a:ext cx="536652" cy="3348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2" name="Google Shape;2002;p151"/>
          <p:cNvPicPr preferRelativeResize="0"/>
          <p:nvPr/>
        </p:nvPicPr>
        <p:blipFill rotWithShape="1">
          <a:blip r:embed="rId3">
            <a:alphaModFix/>
          </a:blip>
          <a:srcRect b="59597" l="61559" r="13951" t="27330"/>
          <a:stretch/>
        </p:blipFill>
        <p:spPr>
          <a:xfrm>
            <a:off x="6817187" y="1748126"/>
            <a:ext cx="536652" cy="3348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3" name="Google Shape;2003;p151"/>
          <p:cNvPicPr preferRelativeResize="0"/>
          <p:nvPr/>
        </p:nvPicPr>
        <p:blipFill rotWithShape="1">
          <a:blip r:embed="rId3">
            <a:alphaModFix/>
          </a:blip>
          <a:srcRect b="59597" l="61559" r="13951" t="27330"/>
          <a:stretch/>
        </p:blipFill>
        <p:spPr>
          <a:xfrm>
            <a:off x="7693487" y="1748126"/>
            <a:ext cx="536652" cy="3348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4" name="Google Shape;2004;p151"/>
          <p:cNvPicPr preferRelativeResize="0"/>
          <p:nvPr/>
        </p:nvPicPr>
        <p:blipFill rotWithShape="1">
          <a:blip r:embed="rId3">
            <a:alphaModFix/>
          </a:blip>
          <a:srcRect b="59597" l="61559" r="13951" t="27330"/>
          <a:stretch/>
        </p:blipFill>
        <p:spPr>
          <a:xfrm>
            <a:off x="8131637" y="1748126"/>
            <a:ext cx="536652" cy="334849"/>
          </a:xfrm>
          <a:prstGeom prst="rect">
            <a:avLst/>
          </a:prstGeom>
          <a:noFill/>
          <a:ln>
            <a:noFill/>
          </a:ln>
        </p:spPr>
      </p:pic>
      <p:sp>
        <p:nvSpPr>
          <p:cNvPr id="2005" name="Google Shape;2005;p151"/>
          <p:cNvSpPr txBox="1"/>
          <p:nvPr/>
        </p:nvSpPr>
        <p:spPr>
          <a:xfrm>
            <a:off x="6906074" y="1525800"/>
            <a:ext cx="455700" cy="2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+ 1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06" name="Google Shape;2006;p151"/>
          <p:cNvSpPr txBox="1"/>
          <p:nvPr/>
        </p:nvSpPr>
        <p:spPr>
          <a:xfrm>
            <a:off x="7344224" y="1525800"/>
            <a:ext cx="455700" cy="2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+ 1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07" name="Google Shape;2007;p151"/>
          <p:cNvSpPr txBox="1"/>
          <p:nvPr/>
        </p:nvSpPr>
        <p:spPr>
          <a:xfrm>
            <a:off x="7782374" y="1525800"/>
            <a:ext cx="455700" cy="2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+ 1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08" name="Google Shape;2008;p151"/>
          <p:cNvSpPr txBox="1"/>
          <p:nvPr/>
        </p:nvSpPr>
        <p:spPr>
          <a:xfrm>
            <a:off x="8220524" y="1525800"/>
            <a:ext cx="455700" cy="2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+ 1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009" name="Google Shape;2009;p151"/>
          <p:cNvPicPr preferRelativeResize="0"/>
          <p:nvPr/>
        </p:nvPicPr>
        <p:blipFill rotWithShape="1">
          <a:blip r:embed="rId3">
            <a:alphaModFix/>
          </a:blip>
          <a:srcRect b="59597" l="61559" r="13951" t="27330"/>
          <a:stretch/>
        </p:blipFill>
        <p:spPr>
          <a:xfrm flipH="1" rot="10800000">
            <a:off x="7273875" y="2694501"/>
            <a:ext cx="536652" cy="3348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0" name="Google Shape;2010;p151"/>
          <p:cNvPicPr preferRelativeResize="0"/>
          <p:nvPr/>
        </p:nvPicPr>
        <p:blipFill rotWithShape="1">
          <a:blip r:embed="rId3">
            <a:alphaModFix/>
          </a:blip>
          <a:srcRect b="59597" l="61559" r="13951" t="27330"/>
          <a:stretch/>
        </p:blipFill>
        <p:spPr>
          <a:xfrm flipH="1" rot="10800000">
            <a:off x="6835725" y="2694501"/>
            <a:ext cx="536652" cy="3348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1" name="Google Shape;2011;p151"/>
          <p:cNvPicPr preferRelativeResize="0"/>
          <p:nvPr/>
        </p:nvPicPr>
        <p:blipFill rotWithShape="1">
          <a:blip r:embed="rId3">
            <a:alphaModFix/>
          </a:blip>
          <a:srcRect b="59597" l="61559" r="13951" t="27330"/>
          <a:stretch/>
        </p:blipFill>
        <p:spPr>
          <a:xfrm flipH="1" rot="10800000">
            <a:off x="7712025" y="2694501"/>
            <a:ext cx="536652" cy="3348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2" name="Google Shape;2012;p151"/>
          <p:cNvPicPr preferRelativeResize="0"/>
          <p:nvPr/>
        </p:nvPicPr>
        <p:blipFill rotWithShape="1">
          <a:blip r:embed="rId3">
            <a:alphaModFix/>
          </a:blip>
          <a:srcRect b="59597" l="61559" r="13951" t="27330"/>
          <a:stretch/>
        </p:blipFill>
        <p:spPr>
          <a:xfrm flipH="1" rot="10800000">
            <a:off x="8150175" y="2694501"/>
            <a:ext cx="536652" cy="334849"/>
          </a:xfrm>
          <a:prstGeom prst="rect">
            <a:avLst/>
          </a:prstGeom>
          <a:noFill/>
          <a:ln>
            <a:noFill/>
          </a:ln>
        </p:spPr>
      </p:pic>
      <p:sp>
        <p:nvSpPr>
          <p:cNvPr id="2013" name="Google Shape;2013;p151"/>
          <p:cNvSpPr txBox="1"/>
          <p:nvPr/>
        </p:nvSpPr>
        <p:spPr>
          <a:xfrm>
            <a:off x="6876211" y="2973600"/>
            <a:ext cx="455700" cy="2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+7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14" name="Google Shape;2014;p151"/>
          <p:cNvSpPr txBox="1"/>
          <p:nvPr/>
        </p:nvSpPr>
        <p:spPr>
          <a:xfrm>
            <a:off x="7314361" y="2973600"/>
            <a:ext cx="455700" cy="2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+1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15" name="Google Shape;2015;p151"/>
          <p:cNvSpPr txBox="1"/>
          <p:nvPr/>
        </p:nvSpPr>
        <p:spPr>
          <a:xfrm>
            <a:off x="7752511" y="2973600"/>
            <a:ext cx="455700" cy="2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+ 1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16" name="Google Shape;2016;p151"/>
          <p:cNvSpPr txBox="1"/>
          <p:nvPr/>
        </p:nvSpPr>
        <p:spPr>
          <a:xfrm>
            <a:off x="8190661" y="2973600"/>
            <a:ext cx="455700" cy="2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+ 7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17" name="Google Shape;2017;p151"/>
          <p:cNvSpPr txBox="1"/>
          <p:nvPr>
            <p:ph idx="1" type="body"/>
          </p:nvPr>
        </p:nvSpPr>
        <p:spPr>
          <a:xfrm>
            <a:off x="324000" y="3627600"/>
            <a:ext cx="8496000" cy="36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y = x +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1 </a:t>
            </a:r>
            <a:r>
              <a:rPr lang="en-GB" sz="1800"/>
              <a:t>is linear as it has a constant gradient.</a:t>
            </a:r>
            <a:endParaRPr i="1" sz="1800"/>
          </a:p>
        </p:txBody>
      </p:sp>
      <p:sp>
        <p:nvSpPr>
          <p:cNvPr id="2018" name="Google Shape;2018;p151"/>
          <p:cNvSpPr/>
          <p:nvPr/>
        </p:nvSpPr>
        <p:spPr>
          <a:xfrm>
            <a:off x="1081225" y="2996525"/>
            <a:ext cx="1806000" cy="2436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19" name="Google Shape;2019;p151"/>
          <p:cNvSpPr txBox="1"/>
          <p:nvPr>
            <p:ph idx="1" type="body"/>
          </p:nvPr>
        </p:nvSpPr>
        <p:spPr>
          <a:xfrm>
            <a:off x="323988" y="4135250"/>
            <a:ext cx="8496000" cy="36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y = x</a:t>
            </a:r>
            <a:r>
              <a:rPr baseline="30000" lang="en-GB" sz="20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+ 1 </a:t>
            </a:r>
            <a:r>
              <a:rPr lang="en-GB" sz="1800"/>
              <a:t>and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y = x</a:t>
            </a:r>
            <a:r>
              <a:rPr baseline="30000" lang="en-GB" sz="2000">
                <a:latin typeface="Times"/>
                <a:ea typeface="Times"/>
                <a:cs typeface="Times"/>
                <a:sym typeface="Times"/>
              </a:rPr>
              <a:t>3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+ 1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800"/>
              <a:t>are not linear as they do not have constant gradients. </a:t>
            </a:r>
            <a:endParaRPr i="1" sz="1800"/>
          </a:p>
        </p:txBody>
      </p:sp>
      <p:sp>
        <p:nvSpPr>
          <p:cNvPr id="2020" name="Google Shape;2020;p151"/>
          <p:cNvSpPr/>
          <p:nvPr/>
        </p:nvSpPr>
        <p:spPr>
          <a:xfrm>
            <a:off x="3921000" y="2987313"/>
            <a:ext cx="1806000" cy="2436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21" name="Google Shape;2021;p151"/>
          <p:cNvSpPr/>
          <p:nvPr/>
        </p:nvSpPr>
        <p:spPr>
          <a:xfrm>
            <a:off x="6800000" y="2987313"/>
            <a:ext cx="1806000" cy="2436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5" name="Shape 20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6" name="Google Shape;2026;p15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Identifying linear equations from graphs</a:t>
            </a:r>
            <a:endParaRPr/>
          </a:p>
        </p:txBody>
      </p:sp>
      <p:sp>
        <p:nvSpPr>
          <p:cNvPr id="2027" name="Google Shape;2027;p152"/>
          <p:cNvSpPr txBox="1"/>
          <p:nvPr>
            <p:ph idx="1" type="body"/>
          </p:nvPr>
        </p:nvSpPr>
        <p:spPr>
          <a:xfrm>
            <a:off x="324000" y="753725"/>
            <a:ext cx="8496000" cy="36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Which of these are linear equations?</a:t>
            </a:r>
            <a:endParaRPr i="1" sz="2000">
              <a:latin typeface="Times"/>
              <a:ea typeface="Times"/>
              <a:cs typeface="Times"/>
              <a:sym typeface="Times"/>
            </a:endParaRPr>
          </a:p>
        </p:txBody>
      </p:sp>
      <p:graphicFrame>
        <p:nvGraphicFramePr>
          <p:cNvPr id="2028" name="Google Shape;2028;p152"/>
          <p:cNvGraphicFramePr/>
          <p:nvPr/>
        </p:nvGraphicFramePr>
        <p:xfrm>
          <a:off x="343738" y="2312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{C929B8A6-531E-44CB-B741-55F0E8B17D5D}</a:tableStyleId>
              </a:tblPr>
              <a:tblGrid>
                <a:gridCol w="597125"/>
                <a:gridCol w="417000"/>
                <a:gridCol w="417000"/>
                <a:gridCol w="417000"/>
                <a:gridCol w="417000"/>
                <a:gridCol w="417000"/>
              </a:tblGrid>
              <a:tr h="2990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endParaRPr i="1"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67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i="1"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y</a:t>
                      </a:r>
                      <a:endParaRPr i="1"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2.4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029" name="Google Shape;2029;p152"/>
          <p:cNvGraphicFramePr/>
          <p:nvPr/>
        </p:nvGraphicFramePr>
        <p:xfrm>
          <a:off x="4602525" y="2312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{C929B8A6-531E-44CB-B741-55F0E8B17D5D}</a:tableStyleId>
              </a:tblPr>
              <a:tblGrid>
                <a:gridCol w="597125"/>
                <a:gridCol w="417000"/>
                <a:gridCol w="417000"/>
                <a:gridCol w="417000"/>
                <a:gridCol w="417000"/>
                <a:gridCol w="417000"/>
              </a:tblGrid>
              <a:tr h="2990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endParaRPr i="1"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859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1" sz="200">
                        <a:solidFill>
                          <a:schemeClr val="dk1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y</a:t>
                      </a:r>
                      <a:endParaRPr i="1" sz="2000">
                        <a:solidFill>
                          <a:schemeClr val="dk1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t/>
                      </a:r>
                      <a:endParaRPr i="1" sz="200">
                        <a:solidFill>
                          <a:schemeClr val="dk1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2030" name="Google Shape;2030;p152"/>
          <p:cNvGrpSpPr/>
          <p:nvPr/>
        </p:nvGrpSpPr>
        <p:grpSpPr>
          <a:xfrm>
            <a:off x="1120725" y="2923101"/>
            <a:ext cx="1851102" cy="566799"/>
            <a:chOff x="1120725" y="2923101"/>
            <a:chExt cx="1851102" cy="566799"/>
          </a:xfrm>
        </p:grpSpPr>
        <p:pic>
          <p:nvPicPr>
            <p:cNvPr id="2031" name="Google Shape;2031;p152"/>
            <p:cNvPicPr preferRelativeResize="0"/>
            <p:nvPr/>
          </p:nvPicPr>
          <p:blipFill rotWithShape="1">
            <a:blip r:embed="rId3">
              <a:alphaModFix/>
            </a:blip>
            <a:srcRect b="59597" l="61559" r="13951" t="27330"/>
            <a:stretch/>
          </p:blipFill>
          <p:spPr>
            <a:xfrm flipH="1" rot="10800000">
              <a:off x="1558875" y="2923101"/>
              <a:ext cx="536652" cy="33484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32" name="Google Shape;2032;p152"/>
            <p:cNvPicPr preferRelativeResize="0"/>
            <p:nvPr/>
          </p:nvPicPr>
          <p:blipFill rotWithShape="1">
            <a:blip r:embed="rId3">
              <a:alphaModFix/>
            </a:blip>
            <a:srcRect b="59597" l="61559" r="13951" t="27330"/>
            <a:stretch/>
          </p:blipFill>
          <p:spPr>
            <a:xfrm flipH="1" rot="10800000">
              <a:off x="1120725" y="2923101"/>
              <a:ext cx="536652" cy="33484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33" name="Google Shape;2033;p152"/>
            <p:cNvPicPr preferRelativeResize="0"/>
            <p:nvPr/>
          </p:nvPicPr>
          <p:blipFill rotWithShape="1">
            <a:blip r:embed="rId3">
              <a:alphaModFix/>
            </a:blip>
            <a:srcRect b="59597" l="61559" r="13951" t="27330"/>
            <a:stretch/>
          </p:blipFill>
          <p:spPr>
            <a:xfrm flipH="1" rot="10800000">
              <a:off x="1997025" y="2923101"/>
              <a:ext cx="536652" cy="33484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34" name="Google Shape;2034;p152"/>
            <p:cNvPicPr preferRelativeResize="0"/>
            <p:nvPr/>
          </p:nvPicPr>
          <p:blipFill rotWithShape="1">
            <a:blip r:embed="rId3">
              <a:alphaModFix/>
            </a:blip>
            <a:srcRect b="59597" l="61559" r="13951" t="27330"/>
            <a:stretch/>
          </p:blipFill>
          <p:spPr>
            <a:xfrm flipH="1" rot="10800000">
              <a:off x="2435175" y="2923101"/>
              <a:ext cx="536652" cy="33484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35" name="Google Shape;2035;p152"/>
            <p:cNvSpPr txBox="1"/>
            <p:nvPr/>
          </p:nvSpPr>
          <p:spPr>
            <a:xfrm>
              <a:off x="1161211" y="3202200"/>
              <a:ext cx="455700" cy="287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1800">
                  <a:solidFill>
                    <a:srgbClr val="222222"/>
                  </a:solidFill>
                  <a:latin typeface="Lexend"/>
                  <a:ea typeface="Lexend"/>
                  <a:cs typeface="Lexend"/>
                  <a:sym typeface="Lexend"/>
                </a:rPr>
                <a:t>−6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036" name="Google Shape;2036;p152"/>
            <p:cNvSpPr txBox="1"/>
            <p:nvPr/>
          </p:nvSpPr>
          <p:spPr>
            <a:xfrm>
              <a:off x="1675561" y="3202200"/>
              <a:ext cx="455700" cy="287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1800">
                  <a:solidFill>
                    <a:srgbClr val="222222"/>
                  </a:solidFill>
                  <a:latin typeface="Lexend"/>
                  <a:ea typeface="Lexend"/>
                  <a:cs typeface="Lexend"/>
                  <a:sym typeface="Lexend"/>
                </a:rPr>
                <a:t>−2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037" name="Google Shape;2037;p152"/>
            <p:cNvSpPr txBox="1"/>
            <p:nvPr/>
          </p:nvSpPr>
          <p:spPr>
            <a:xfrm>
              <a:off x="2107018" y="3202200"/>
              <a:ext cx="455700" cy="287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1800">
                  <a:solidFill>
                    <a:srgbClr val="222222"/>
                  </a:solidFill>
                  <a:latin typeface="Lexend"/>
                  <a:ea typeface="Lexend"/>
                  <a:cs typeface="Lexend"/>
                  <a:sym typeface="Lexend"/>
                </a:rPr>
                <a:t>−1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038" name="Google Shape;2038;p152"/>
            <p:cNvSpPr txBox="1"/>
            <p:nvPr/>
          </p:nvSpPr>
          <p:spPr>
            <a:xfrm>
              <a:off x="2475661" y="3202200"/>
              <a:ext cx="455700" cy="287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1800">
                  <a:solidFill>
                    <a:srgbClr val="222222"/>
                  </a:solidFill>
                  <a:latin typeface="Lexend"/>
                  <a:ea typeface="Lexend"/>
                  <a:cs typeface="Lexend"/>
                  <a:sym typeface="Lexend"/>
                </a:rPr>
                <a:t>−0.6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039" name="Google Shape;2039;p152"/>
          <p:cNvGrpSpPr/>
          <p:nvPr/>
        </p:nvGrpSpPr>
        <p:grpSpPr>
          <a:xfrm>
            <a:off x="1102187" y="1754400"/>
            <a:ext cx="1859036" cy="557175"/>
            <a:chOff x="1102187" y="1754400"/>
            <a:chExt cx="1859036" cy="557175"/>
          </a:xfrm>
        </p:grpSpPr>
        <p:pic>
          <p:nvPicPr>
            <p:cNvPr id="2040" name="Google Shape;2040;p152"/>
            <p:cNvPicPr preferRelativeResize="0"/>
            <p:nvPr/>
          </p:nvPicPr>
          <p:blipFill rotWithShape="1">
            <a:blip r:embed="rId3">
              <a:alphaModFix/>
            </a:blip>
            <a:srcRect b="59597" l="61559" r="13951" t="27330"/>
            <a:stretch/>
          </p:blipFill>
          <p:spPr>
            <a:xfrm>
              <a:off x="1540337" y="1976726"/>
              <a:ext cx="536652" cy="33484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41" name="Google Shape;2041;p152"/>
            <p:cNvPicPr preferRelativeResize="0"/>
            <p:nvPr/>
          </p:nvPicPr>
          <p:blipFill rotWithShape="1">
            <a:blip r:embed="rId3">
              <a:alphaModFix/>
            </a:blip>
            <a:srcRect b="59597" l="61559" r="13951" t="27330"/>
            <a:stretch/>
          </p:blipFill>
          <p:spPr>
            <a:xfrm>
              <a:off x="1102187" y="1976726"/>
              <a:ext cx="536652" cy="33484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42" name="Google Shape;2042;p152"/>
            <p:cNvPicPr preferRelativeResize="0"/>
            <p:nvPr/>
          </p:nvPicPr>
          <p:blipFill rotWithShape="1">
            <a:blip r:embed="rId3">
              <a:alphaModFix/>
            </a:blip>
            <a:srcRect b="59597" l="61559" r="13951" t="27330"/>
            <a:stretch/>
          </p:blipFill>
          <p:spPr>
            <a:xfrm>
              <a:off x="1978487" y="1976726"/>
              <a:ext cx="536652" cy="33484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43" name="Google Shape;2043;p152"/>
            <p:cNvPicPr preferRelativeResize="0"/>
            <p:nvPr/>
          </p:nvPicPr>
          <p:blipFill rotWithShape="1">
            <a:blip r:embed="rId3">
              <a:alphaModFix/>
            </a:blip>
            <a:srcRect b="59597" l="61559" r="13951" t="27330"/>
            <a:stretch/>
          </p:blipFill>
          <p:spPr>
            <a:xfrm>
              <a:off x="2416637" y="1976726"/>
              <a:ext cx="536652" cy="33484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44" name="Google Shape;2044;p152"/>
            <p:cNvSpPr txBox="1"/>
            <p:nvPr/>
          </p:nvSpPr>
          <p:spPr>
            <a:xfrm>
              <a:off x="1191074" y="1754400"/>
              <a:ext cx="455700" cy="287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1800">
                  <a:solidFill>
                    <a:srgbClr val="222222"/>
                  </a:solidFill>
                  <a:latin typeface="Lexend"/>
                  <a:ea typeface="Lexend"/>
                  <a:cs typeface="Lexend"/>
                  <a:sym typeface="Lexend"/>
                </a:rPr>
                <a:t>+ 1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045" name="Google Shape;2045;p152"/>
            <p:cNvSpPr txBox="1"/>
            <p:nvPr/>
          </p:nvSpPr>
          <p:spPr>
            <a:xfrm>
              <a:off x="1629224" y="1754400"/>
              <a:ext cx="455700" cy="287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1800">
                  <a:solidFill>
                    <a:srgbClr val="222222"/>
                  </a:solidFill>
                  <a:latin typeface="Lexend"/>
                  <a:ea typeface="Lexend"/>
                  <a:cs typeface="Lexend"/>
                  <a:sym typeface="Lexend"/>
                </a:rPr>
                <a:t>+ 1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046" name="Google Shape;2046;p152"/>
            <p:cNvSpPr txBox="1"/>
            <p:nvPr/>
          </p:nvSpPr>
          <p:spPr>
            <a:xfrm>
              <a:off x="2067374" y="1754400"/>
              <a:ext cx="455700" cy="287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1800">
                  <a:solidFill>
                    <a:srgbClr val="222222"/>
                  </a:solidFill>
                  <a:latin typeface="Lexend"/>
                  <a:ea typeface="Lexend"/>
                  <a:cs typeface="Lexend"/>
                  <a:sym typeface="Lexend"/>
                </a:rPr>
                <a:t>+ 1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047" name="Google Shape;2047;p152"/>
            <p:cNvSpPr txBox="1"/>
            <p:nvPr/>
          </p:nvSpPr>
          <p:spPr>
            <a:xfrm>
              <a:off x="2505524" y="1754400"/>
              <a:ext cx="455700" cy="287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1800">
                  <a:solidFill>
                    <a:srgbClr val="222222"/>
                  </a:solidFill>
                  <a:latin typeface="Lexend"/>
                  <a:ea typeface="Lexend"/>
                  <a:cs typeface="Lexend"/>
                  <a:sym typeface="Lexend"/>
                </a:rPr>
                <a:t>+ 1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048" name="Google Shape;2048;p152"/>
          <p:cNvGrpSpPr/>
          <p:nvPr/>
        </p:nvGrpSpPr>
        <p:grpSpPr>
          <a:xfrm>
            <a:off x="5293187" y="1754400"/>
            <a:ext cx="1859036" cy="557175"/>
            <a:chOff x="5293187" y="1754400"/>
            <a:chExt cx="1859036" cy="557175"/>
          </a:xfrm>
        </p:grpSpPr>
        <p:pic>
          <p:nvPicPr>
            <p:cNvPr id="2049" name="Google Shape;2049;p152"/>
            <p:cNvPicPr preferRelativeResize="0"/>
            <p:nvPr/>
          </p:nvPicPr>
          <p:blipFill rotWithShape="1">
            <a:blip r:embed="rId3">
              <a:alphaModFix/>
            </a:blip>
            <a:srcRect b="59597" l="61559" r="13951" t="27330"/>
            <a:stretch/>
          </p:blipFill>
          <p:spPr>
            <a:xfrm>
              <a:off x="5731337" y="1976726"/>
              <a:ext cx="536652" cy="33484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50" name="Google Shape;2050;p152"/>
            <p:cNvPicPr preferRelativeResize="0"/>
            <p:nvPr/>
          </p:nvPicPr>
          <p:blipFill rotWithShape="1">
            <a:blip r:embed="rId3">
              <a:alphaModFix/>
            </a:blip>
            <a:srcRect b="59597" l="61559" r="13951" t="27330"/>
            <a:stretch/>
          </p:blipFill>
          <p:spPr>
            <a:xfrm>
              <a:off x="5293187" y="1976726"/>
              <a:ext cx="536652" cy="33484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51" name="Google Shape;2051;p152"/>
            <p:cNvPicPr preferRelativeResize="0"/>
            <p:nvPr/>
          </p:nvPicPr>
          <p:blipFill rotWithShape="1">
            <a:blip r:embed="rId3">
              <a:alphaModFix/>
            </a:blip>
            <a:srcRect b="59597" l="61559" r="13951" t="27330"/>
            <a:stretch/>
          </p:blipFill>
          <p:spPr>
            <a:xfrm>
              <a:off x="6169487" y="1976726"/>
              <a:ext cx="536652" cy="33484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52" name="Google Shape;2052;p152"/>
            <p:cNvPicPr preferRelativeResize="0"/>
            <p:nvPr/>
          </p:nvPicPr>
          <p:blipFill rotWithShape="1">
            <a:blip r:embed="rId3">
              <a:alphaModFix/>
            </a:blip>
            <a:srcRect b="59597" l="61559" r="13951" t="27330"/>
            <a:stretch/>
          </p:blipFill>
          <p:spPr>
            <a:xfrm>
              <a:off x="6607637" y="1976726"/>
              <a:ext cx="536652" cy="33484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53" name="Google Shape;2053;p152"/>
            <p:cNvSpPr txBox="1"/>
            <p:nvPr/>
          </p:nvSpPr>
          <p:spPr>
            <a:xfrm>
              <a:off x="5382074" y="1754400"/>
              <a:ext cx="455700" cy="287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1800">
                  <a:solidFill>
                    <a:srgbClr val="222222"/>
                  </a:solidFill>
                  <a:latin typeface="Lexend"/>
                  <a:ea typeface="Lexend"/>
                  <a:cs typeface="Lexend"/>
                  <a:sym typeface="Lexend"/>
                </a:rPr>
                <a:t>+ 1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054" name="Google Shape;2054;p152"/>
            <p:cNvSpPr txBox="1"/>
            <p:nvPr/>
          </p:nvSpPr>
          <p:spPr>
            <a:xfrm>
              <a:off x="5820224" y="1754400"/>
              <a:ext cx="455700" cy="287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1800">
                  <a:solidFill>
                    <a:srgbClr val="222222"/>
                  </a:solidFill>
                  <a:latin typeface="Lexend"/>
                  <a:ea typeface="Lexend"/>
                  <a:cs typeface="Lexend"/>
                  <a:sym typeface="Lexend"/>
                </a:rPr>
                <a:t>+ 1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055" name="Google Shape;2055;p152"/>
            <p:cNvSpPr txBox="1"/>
            <p:nvPr/>
          </p:nvSpPr>
          <p:spPr>
            <a:xfrm>
              <a:off x="6258374" y="1754400"/>
              <a:ext cx="455700" cy="287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1800">
                  <a:solidFill>
                    <a:srgbClr val="222222"/>
                  </a:solidFill>
                  <a:latin typeface="Lexend"/>
                  <a:ea typeface="Lexend"/>
                  <a:cs typeface="Lexend"/>
                  <a:sym typeface="Lexend"/>
                </a:rPr>
                <a:t>+ 1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056" name="Google Shape;2056;p152"/>
            <p:cNvSpPr txBox="1"/>
            <p:nvPr/>
          </p:nvSpPr>
          <p:spPr>
            <a:xfrm>
              <a:off x="6696524" y="1754400"/>
              <a:ext cx="455700" cy="287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1800">
                  <a:solidFill>
                    <a:srgbClr val="222222"/>
                  </a:solidFill>
                  <a:latin typeface="Lexend"/>
                  <a:ea typeface="Lexend"/>
                  <a:cs typeface="Lexend"/>
                  <a:sym typeface="Lexend"/>
                </a:rPr>
                <a:t>+ 1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057" name="Google Shape;2057;p152"/>
          <p:cNvSpPr/>
          <p:nvPr/>
        </p:nvSpPr>
        <p:spPr>
          <a:xfrm>
            <a:off x="1143275" y="3220169"/>
            <a:ext cx="1806000" cy="2436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58" name="Google Shape;2058;p152"/>
          <p:cNvSpPr txBox="1"/>
          <p:nvPr>
            <p:ph idx="1" type="body"/>
          </p:nvPr>
        </p:nvSpPr>
        <p:spPr>
          <a:xfrm>
            <a:off x="304792" y="4249500"/>
            <a:ext cx="3064800" cy="36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                  </a:t>
            </a:r>
            <a:r>
              <a:rPr lang="en-GB" sz="1800"/>
              <a:t>is </a:t>
            </a:r>
            <a:r>
              <a:rPr lang="en-GB" sz="1800"/>
              <a:t>not linear.</a:t>
            </a:r>
            <a:endParaRPr i="1" sz="1800"/>
          </a:p>
        </p:txBody>
      </p:sp>
      <p:sp>
        <p:nvSpPr>
          <p:cNvPr id="2059" name="Google Shape;2059;p152"/>
          <p:cNvSpPr/>
          <p:nvPr/>
        </p:nvSpPr>
        <p:spPr>
          <a:xfrm>
            <a:off x="5349721" y="3528616"/>
            <a:ext cx="1806000" cy="4800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y\ =\ \frac{12}{x}&quot;&gt;&lt;mi&gt;y&lt;/mi&gt;&lt;mtext&gt;&lt;/mtext&gt;&lt;mo&gt;=&lt;/mo&gt;&lt;mtext&gt;&lt;/mtext&gt;&lt;mfrac&gt;&lt;mn&gt;12&lt;/mn&gt;&lt;mi&gt;x&lt;/mi&gt;&lt;/mfrac&gt;&lt;/math&gt;" id="2060" name="Google Shape;2060;p152" title="y equals 12 over x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4000" y="1155779"/>
            <a:ext cx="884625" cy="5269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y\ =\ \frac{x}{12}&quot;&gt;&lt;mi&gt;y&lt;/mi&gt;&lt;mtext&gt;&lt;/mtext&gt;&lt;mo&gt;=&lt;/mo&gt;&lt;mtext&gt;&lt;/mtext&gt;&lt;mfrac&gt;&lt;mi&gt;x&lt;/mi&gt;&lt;mn&gt;12&lt;/mn&gt;&lt;/mfrac&gt;&lt;/math&gt;" id="2061" name="Google Shape;2061;p152" title="y equals x over 1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622837" y="1191570"/>
            <a:ext cx="907375" cy="47990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062" name="Google Shape;2062;p152"/>
          <p:cNvGrpSpPr/>
          <p:nvPr/>
        </p:nvGrpSpPr>
        <p:grpSpPr>
          <a:xfrm>
            <a:off x="5237900" y="2702621"/>
            <a:ext cx="1958625" cy="533935"/>
            <a:chOff x="5237900" y="2702621"/>
            <a:chExt cx="1958625" cy="533935"/>
          </a:xfrm>
        </p:grpSpPr>
        <p:pic>
          <p:nvPicPr>
            <p:cNvPr descr="&lt;math xmlns=&quot;http://www.w3.org/1998/Math/MathML&quot; display=&quot;block&quot; data-is-equatio=&quot;1&quot; data-latex=&quot;\frac{1}{12}&quot;&gt;&lt;mfrac&gt;&lt;mn&gt;1&lt;/mn&gt;&lt;mn&gt;12&lt;/mn&gt;&lt;/mfrac&gt;&lt;/math&gt;" id="2063" name="Google Shape;2063;p152" title="1 over 12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5237900" y="2706117"/>
              <a:ext cx="292309" cy="5269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\frac{2}{12}&quot;&gt;&lt;mfrac&gt;&lt;mn&gt;2&lt;/mn&gt;&lt;mn&gt;12&lt;/mn&gt;&lt;/mfrac&gt;&lt;/math&gt;" id="2064" name="Google Shape;2064;p152" title="2 over 12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5628250" y="2706134"/>
              <a:ext cx="292300" cy="52690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\frac{3}{12}&quot;&gt;&lt;mfrac&gt;&lt;mn&gt;3&lt;/mn&gt;&lt;mn&gt;12&lt;/mn&gt;&lt;/mfrac&gt;&lt;/math&gt;" id="2065" name="Google Shape;2065;p152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6091124" y="2706125"/>
              <a:ext cx="292300" cy="52692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\frac{4}{12}&quot;&gt;&lt;mfrac&gt;&lt;mn&gt;4&lt;/mn&gt;&lt;mn&gt;12&lt;/mn&gt;&lt;/mfrac&gt;&lt;/math&gt;" id="2066" name="Google Shape;2066;p152" title="4 over 12"/>
            <p:cNvPicPr preferRelativeResize="0"/>
            <p:nvPr/>
          </p:nvPicPr>
          <p:blipFill>
            <a:blip r:embed="rId9">
              <a:alphaModFix/>
            </a:blip>
            <a:stretch>
              <a:fillRect/>
            </a:stretch>
          </p:blipFill>
          <p:spPr>
            <a:xfrm>
              <a:off x="6497668" y="2702621"/>
              <a:ext cx="292300" cy="53393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\frac{5}{12}&quot;&gt;&lt;mfrac&gt;&lt;mn&gt;5&lt;/mn&gt;&lt;mn&gt;12&lt;/mn&gt;&lt;/mfrac&gt;&lt;/math&gt;" id="2067" name="Google Shape;2067;p152" title="5 over 12"/>
            <p:cNvPicPr preferRelativeResize="0"/>
            <p:nvPr/>
          </p:nvPicPr>
          <p:blipFill>
            <a:blip r:embed="rId10">
              <a:alphaModFix/>
            </a:blip>
            <a:stretch>
              <a:fillRect/>
            </a:stretch>
          </p:blipFill>
          <p:spPr>
            <a:xfrm>
              <a:off x="6904224" y="2703317"/>
              <a:ext cx="292300" cy="53254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068" name="Google Shape;2068;p152"/>
          <p:cNvGrpSpPr/>
          <p:nvPr/>
        </p:nvGrpSpPr>
        <p:grpSpPr>
          <a:xfrm>
            <a:off x="5311725" y="3227901"/>
            <a:ext cx="1851102" cy="699390"/>
            <a:chOff x="5311725" y="3227901"/>
            <a:chExt cx="1851102" cy="699390"/>
          </a:xfrm>
        </p:grpSpPr>
        <p:pic>
          <p:nvPicPr>
            <p:cNvPr id="2069" name="Google Shape;2069;p152"/>
            <p:cNvPicPr preferRelativeResize="0"/>
            <p:nvPr/>
          </p:nvPicPr>
          <p:blipFill rotWithShape="1">
            <a:blip r:embed="rId3">
              <a:alphaModFix/>
            </a:blip>
            <a:srcRect b="59597" l="61559" r="13951" t="27330"/>
            <a:stretch/>
          </p:blipFill>
          <p:spPr>
            <a:xfrm flipH="1" rot="10800000">
              <a:off x="5749875" y="3227901"/>
              <a:ext cx="536652" cy="33484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70" name="Google Shape;2070;p152"/>
            <p:cNvPicPr preferRelativeResize="0"/>
            <p:nvPr/>
          </p:nvPicPr>
          <p:blipFill rotWithShape="1">
            <a:blip r:embed="rId3">
              <a:alphaModFix/>
            </a:blip>
            <a:srcRect b="59597" l="61559" r="13951" t="27330"/>
            <a:stretch/>
          </p:blipFill>
          <p:spPr>
            <a:xfrm flipH="1" rot="10800000">
              <a:off x="5311725" y="3227901"/>
              <a:ext cx="536652" cy="33484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71" name="Google Shape;2071;p152"/>
            <p:cNvPicPr preferRelativeResize="0"/>
            <p:nvPr/>
          </p:nvPicPr>
          <p:blipFill rotWithShape="1">
            <a:blip r:embed="rId3">
              <a:alphaModFix/>
            </a:blip>
            <a:srcRect b="59597" l="61559" r="13951" t="27330"/>
            <a:stretch/>
          </p:blipFill>
          <p:spPr>
            <a:xfrm flipH="1" rot="10800000">
              <a:off x="6188025" y="3227901"/>
              <a:ext cx="536652" cy="33484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72" name="Google Shape;2072;p152"/>
            <p:cNvPicPr preferRelativeResize="0"/>
            <p:nvPr/>
          </p:nvPicPr>
          <p:blipFill rotWithShape="1">
            <a:blip r:embed="rId3">
              <a:alphaModFix/>
            </a:blip>
            <a:srcRect b="59597" l="61559" r="13951" t="27330"/>
            <a:stretch/>
          </p:blipFill>
          <p:spPr>
            <a:xfrm flipH="1" rot="10800000">
              <a:off x="6626175" y="3227901"/>
              <a:ext cx="536652" cy="33484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+\frac{1}{12}&quot;&gt;&lt;mo&gt;+&lt;/mo&gt;&lt;mfrac&gt;&lt;mn&gt;1&lt;/mn&gt;&lt;mn&gt;12&lt;/mn&gt;&lt;/mfrac&gt;&lt;/math&gt;" id="2073" name="Google Shape;2073;p152" title="positive 1 over 12"/>
            <p:cNvPicPr preferRelativeResize="0"/>
            <p:nvPr/>
          </p:nvPicPr>
          <p:blipFill>
            <a:blip r:embed="rId11">
              <a:alphaModFix/>
            </a:blip>
            <a:stretch>
              <a:fillRect/>
            </a:stretch>
          </p:blipFill>
          <p:spPr>
            <a:xfrm>
              <a:off x="5415266" y="3566091"/>
              <a:ext cx="329562" cy="361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+\frac{1}{12}&quot;&gt;&lt;mo&gt;+&lt;/mo&gt;&lt;mfrac&gt;&lt;mn&gt;1&lt;/mn&gt;&lt;mn&gt;12&lt;/mn&gt;&lt;/mfrac&gt;&lt;/math&gt;" id="2074" name="Google Shape;2074;p152" title="positive 1 over 12"/>
            <p:cNvPicPr preferRelativeResize="0"/>
            <p:nvPr/>
          </p:nvPicPr>
          <p:blipFill>
            <a:blip r:embed="rId11">
              <a:alphaModFix/>
            </a:blip>
            <a:stretch>
              <a:fillRect/>
            </a:stretch>
          </p:blipFill>
          <p:spPr>
            <a:xfrm>
              <a:off x="5863374" y="3566091"/>
              <a:ext cx="329562" cy="361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+\frac{1}{12}&quot;&gt;&lt;mo&gt;+&lt;/mo&gt;&lt;mfrac&gt;&lt;mn&gt;1&lt;/mn&gt;&lt;mn&gt;12&lt;/mn&gt;&lt;/mfrac&gt;&lt;/math&gt;" id="2075" name="Google Shape;2075;p152" title="positive 1 over 12"/>
            <p:cNvPicPr preferRelativeResize="0"/>
            <p:nvPr/>
          </p:nvPicPr>
          <p:blipFill>
            <a:blip r:embed="rId11">
              <a:alphaModFix/>
            </a:blip>
            <a:stretch>
              <a:fillRect/>
            </a:stretch>
          </p:blipFill>
          <p:spPr>
            <a:xfrm>
              <a:off x="6311483" y="3566091"/>
              <a:ext cx="329562" cy="361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+\frac{1}{12}&quot;&gt;&lt;mo&gt;+&lt;/mo&gt;&lt;mfrac&gt;&lt;mn&gt;1&lt;/mn&gt;&lt;mn&gt;12&lt;/mn&gt;&lt;/mfrac&gt;&lt;/math&gt;" id="2076" name="Google Shape;2076;p152" title="positive 1 over 12"/>
            <p:cNvPicPr preferRelativeResize="0"/>
            <p:nvPr/>
          </p:nvPicPr>
          <p:blipFill>
            <a:blip r:embed="rId11">
              <a:alphaModFix/>
            </a:blip>
            <a:stretch>
              <a:fillRect/>
            </a:stretch>
          </p:blipFill>
          <p:spPr>
            <a:xfrm>
              <a:off x="6759591" y="3566091"/>
              <a:ext cx="329562" cy="36120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descr="&lt;math xmlns=&quot;http://www.w3.org/1998/Math/MathML&quot; display=&quot;block&quot; data-is-equatio=&quot;1&quot; data-latex=&quot;y\ =\ \frac{12}{x}&quot;&gt;&lt;mi&gt;y&lt;/mi&gt;&lt;mtext&gt;&lt;/mtext&gt;&lt;mo&gt;=&lt;/mo&gt;&lt;mtext&gt;&lt;/mtext&gt;&lt;mfrac&gt;&lt;mn&gt;12&lt;/mn&gt;&lt;mi&gt;x&lt;/mi&gt;&lt;/mfrac&gt;&lt;/math&gt;" id="2077" name="Google Shape;2077;p152" title="y equals 12 over x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7644" y="4189845"/>
            <a:ext cx="884667" cy="526925"/>
          </a:xfrm>
          <a:prstGeom prst="rect">
            <a:avLst/>
          </a:prstGeom>
          <a:noFill/>
          <a:ln>
            <a:noFill/>
          </a:ln>
        </p:spPr>
      </p:pic>
      <p:sp>
        <p:nvSpPr>
          <p:cNvPr id="2078" name="Google Shape;2078;p152"/>
          <p:cNvSpPr txBox="1"/>
          <p:nvPr>
            <p:ph idx="1" type="body"/>
          </p:nvPr>
        </p:nvSpPr>
        <p:spPr>
          <a:xfrm>
            <a:off x="4591200" y="4247750"/>
            <a:ext cx="2284800" cy="36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                 </a:t>
            </a:r>
            <a:r>
              <a:rPr lang="en-GB" sz="1800"/>
              <a:t>is linear.</a:t>
            </a:r>
            <a:endParaRPr i="1" sz="1800"/>
          </a:p>
        </p:txBody>
      </p:sp>
      <p:pic>
        <p:nvPicPr>
          <p:cNvPr descr="&lt;math xmlns=&quot;http://www.w3.org/1998/Math/MathML&quot; display=&quot;block&quot; data-is-equatio=&quot;1&quot; data-latex=&quot;y\ =\ \frac{x}{12}&quot;&gt;&lt;mi&gt;y&lt;/mi&gt;&lt;mtext&gt;&lt;/mtext&gt;&lt;mo&gt;=&lt;/mo&gt;&lt;mtext&gt;&lt;/mtext&gt;&lt;mfrac&gt;&lt;mi&gt;x&lt;/mi&gt;&lt;mn&gt;12&lt;/mn&gt;&lt;/mfrac&gt;&lt;/math&gt;" id="2079" name="Google Shape;2079;p152" title="y equals x over 1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91200" y="4215145"/>
            <a:ext cx="884625" cy="4678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3" name="Shape 20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4" name="Google Shape;2084;p15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Identifying linear equations from graphs</a:t>
            </a:r>
            <a:endParaRPr/>
          </a:p>
        </p:txBody>
      </p:sp>
      <p:sp>
        <p:nvSpPr>
          <p:cNvPr id="2085" name="Google Shape;2085;p153"/>
          <p:cNvSpPr txBox="1"/>
          <p:nvPr>
            <p:ph idx="1" type="body"/>
          </p:nvPr>
        </p:nvSpPr>
        <p:spPr>
          <a:xfrm>
            <a:off x="324000" y="829925"/>
            <a:ext cx="8496000" cy="36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Here is a table of values for the graph of the equation:</a:t>
            </a:r>
            <a:endParaRPr i="1" sz="2000">
              <a:latin typeface="Times"/>
              <a:ea typeface="Times"/>
              <a:cs typeface="Times"/>
              <a:sym typeface="Times"/>
            </a:endParaRPr>
          </a:p>
        </p:txBody>
      </p:sp>
      <p:graphicFrame>
        <p:nvGraphicFramePr>
          <p:cNvPr id="2086" name="Google Shape;2086;p153"/>
          <p:cNvGraphicFramePr/>
          <p:nvPr/>
        </p:nvGraphicFramePr>
        <p:xfrm>
          <a:off x="323988" y="1620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{C929B8A6-531E-44CB-B741-55F0E8B17D5D}</a:tableStyleId>
              </a:tblPr>
              <a:tblGrid>
                <a:gridCol w="843725"/>
                <a:gridCol w="467475"/>
                <a:gridCol w="467475"/>
                <a:gridCol w="467475"/>
                <a:gridCol w="467475"/>
                <a:gridCol w="467475"/>
                <a:gridCol w="467475"/>
                <a:gridCol w="467475"/>
              </a:tblGrid>
              <a:tr h="306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endParaRPr i="1"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−8</a:t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6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y</a:t>
                      </a:r>
                      <a:endParaRPr i="1"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t/>
                      </a:r>
                      <a:endParaRPr i="1" sz="1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2.25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2.5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descr="&lt;math xmlns=&quot;http://www.w3.org/1998/Math/MathML&quot; display=&quot;block&quot; data-is-equatio=&quot;1&quot; data-latex=&quot;y=\frac{1}{4}x\ +\ 2&quot;&gt;&lt;mi&gt;y&lt;/mi&gt;&lt;mo&gt;=&lt;/mo&gt;&lt;mfrac&gt;&lt;mn&gt;1&lt;/mn&gt;&lt;mn&gt;4&lt;/mn&gt;&lt;/mfrac&gt;&lt;mi&gt;x&lt;/mi&gt;&lt;mtext&gt;&lt;/mtext&gt;&lt;mo&gt;+&lt;/mo&gt;&lt;mtext&gt;&lt;/mtext&gt;&lt;mn&gt;2&lt;/mn&gt;&lt;/math&gt;" id="2087" name="Google Shape;2087;p153" title="y equals one fourth x plus 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37074" y="689700"/>
            <a:ext cx="1363125" cy="536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8" name="Google Shape;2088;p15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47722" y="2738850"/>
            <a:ext cx="675955" cy="654150"/>
          </a:xfrm>
          <a:prstGeom prst="rect">
            <a:avLst/>
          </a:prstGeom>
          <a:noFill/>
          <a:ln>
            <a:noFill/>
          </a:ln>
        </p:spPr>
      </p:pic>
      <p:sp>
        <p:nvSpPr>
          <p:cNvPr id="2089" name="Google Shape;2089;p153"/>
          <p:cNvSpPr txBox="1"/>
          <p:nvPr/>
        </p:nvSpPr>
        <p:spPr>
          <a:xfrm>
            <a:off x="7751402" y="3379375"/>
            <a:ext cx="1068600" cy="25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Izzy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090" name="Google Shape;2090;p153"/>
          <p:cNvPicPr preferRelativeResize="0"/>
          <p:nvPr/>
        </p:nvPicPr>
        <p:blipFill rotWithShape="1">
          <a:blip r:embed="rId5">
            <a:alphaModFix/>
          </a:blip>
          <a:srcRect b="43690" l="0" r="57905" t="0"/>
          <a:stretch/>
        </p:blipFill>
        <p:spPr>
          <a:xfrm>
            <a:off x="4572000" y="1581200"/>
            <a:ext cx="3679498" cy="1470700"/>
          </a:xfrm>
          <a:prstGeom prst="rect">
            <a:avLst/>
          </a:prstGeom>
          <a:noFill/>
          <a:ln>
            <a:noFill/>
          </a:ln>
        </p:spPr>
      </p:pic>
      <p:sp>
        <p:nvSpPr>
          <p:cNvPr id="2091" name="Google Shape;2091;p153"/>
          <p:cNvSpPr/>
          <p:nvPr/>
        </p:nvSpPr>
        <p:spPr>
          <a:xfrm flipH="1">
            <a:off x="4703827" y="1660450"/>
            <a:ext cx="3243900" cy="107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This is not a linear equation because the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values do not increase by the same amount each time.</a:t>
            </a:r>
            <a:endParaRPr sz="2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92" name="Google Shape;2092;p153"/>
          <p:cNvSpPr txBox="1"/>
          <p:nvPr>
            <p:ph idx="1" type="body"/>
          </p:nvPr>
        </p:nvSpPr>
        <p:spPr>
          <a:xfrm>
            <a:off x="324000" y="2885325"/>
            <a:ext cx="4031700" cy="36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Is Izzy correct?</a:t>
            </a:r>
            <a:endParaRPr i="1"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093" name="Google Shape;2093;p153"/>
          <p:cNvSpPr txBox="1"/>
          <p:nvPr>
            <p:ph idx="1" type="body"/>
          </p:nvPr>
        </p:nvSpPr>
        <p:spPr>
          <a:xfrm>
            <a:off x="331025" y="3215463"/>
            <a:ext cx="7427400" cy="36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No,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because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the </a:t>
            </a:r>
            <a:r>
              <a:rPr i="1" lang="en-GB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values do not increase by 1</a:t>
            </a:r>
            <a:r>
              <a:rPr lang="en-GB" sz="2000"/>
              <a:t> </a:t>
            </a:r>
            <a:endParaRPr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094" name="Google Shape;2094;p153"/>
          <p:cNvSpPr txBox="1"/>
          <p:nvPr>
            <p:ph idx="1" type="body"/>
          </p:nvPr>
        </p:nvSpPr>
        <p:spPr>
          <a:xfrm>
            <a:off x="331025" y="3675338"/>
            <a:ext cx="7427400" cy="36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We can only use the table of values to spot a constant gradient if the </a:t>
            </a:r>
            <a:r>
              <a:rPr i="1" lang="en-GB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values are increasing by 1 each time.</a:t>
            </a:r>
            <a:r>
              <a:rPr lang="en-GB" sz="2000"/>
              <a:t> </a:t>
            </a:r>
            <a:endParaRPr i="1">
              <a:latin typeface="Times"/>
              <a:ea typeface="Times"/>
              <a:cs typeface="Times"/>
              <a:sym typeface="Times"/>
            </a:endParaRPr>
          </a:p>
        </p:txBody>
      </p:sp>
      <p:grpSp>
        <p:nvGrpSpPr>
          <p:cNvPr id="2095" name="Google Shape;2095;p153"/>
          <p:cNvGrpSpPr/>
          <p:nvPr/>
        </p:nvGrpSpPr>
        <p:grpSpPr>
          <a:xfrm>
            <a:off x="1265250" y="1103275"/>
            <a:ext cx="3270965" cy="557174"/>
            <a:chOff x="1265250" y="1103275"/>
            <a:chExt cx="3270965" cy="557174"/>
          </a:xfrm>
        </p:grpSpPr>
        <p:pic>
          <p:nvPicPr>
            <p:cNvPr id="2096" name="Google Shape;2096;p153"/>
            <p:cNvPicPr preferRelativeResize="0"/>
            <p:nvPr/>
          </p:nvPicPr>
          <p:blipFill rotWithShape="1">
            <a:blip r:embed="rId6">
              <a:alphaModFix/>
            </a:blip>
            <a:srcRect b="59597" l="61559" r="13951" t="27330"/>
            <a:stretch/>
          </p:blipFill>
          <p:spPr>
            <a:xfrm>
              <a:off x="1769545" y="1325600"/>
              <a:ext cx="617668" cy="33484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97" name="Google Shape;2097;p153"/>
            <p:cNvPicPr preferRelativeResize="0"/>
            <p:nvPr/>
          </p:nvPicPr>
          <p:blipFill rotWithShape="1">
            <a:blip r:embed="rId6">
              <a:alphaModFix/>
            </a:blip>
            <a:srcRect b="59597" l="61559" r="13951" t="27330"/>
            <a:stretch/>
          </p:blipFill>
          <p:spPr>
            <a:xfrm>
              <a:off x="1265250" y="1325600"/>
              <a:ext cx="617668" cy="33484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98" name="Google Shape;2098;p153"/>
            <p:cNvPicPr preferRelativeResize="0"/>
            <p:nvPr/>
          </p:nvPicPr>
          <p:blipFill rotWithShape="1">
            <a:blip r:embed="rId6">
              <a:alphaModFix/>
            </a:blip>
            <a:srcRect b="59597" l="61559" r="13951" t="27330"/>
            <a:stretch/>
          </p:blipFill>
          <p:spPr>
            <a:xfrm>
              <a:off x="2273840" y="1325600"/>
              <a:ext cx="617668" cy="33484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99" name="Google Shape;2099;p153"/>
            <p:cNvPicPr preferRelativeResize="0"/>
            <p:nvPr/>
          </p:nvPicPr>
          <p:blipFill rotWithShape="1">
            <a:blip r:embed="rId6">
              <a:alphaModFix/>
            </a:blip>
            <a:srcRect b="59597" l="61559" r="13951" t="27330"/>
            <a:stretch/>
          </p:blipFill>
          <p:spPr>
            <a:xfrm>
              <a:off x="2778135" y="1325600"/>
              <a:ext cx="617668" cy="33484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00" name="Google Shape;2100;p153"/>
            <p:cNvPicPr preferRelativeResize="0"/>
            <p:nvPr/>
          </p:nvPicPr>
          <p:blipFill rotWithShape="1">
            <a:blip r:embed="rId6">
              <a:alphaModFix/>
            </a:blip>
            <a:srcRect b="59597" l="61559" r="13951" t="27330"/>
            <a:stretch/>
          </p:blipFill>
          <p:spPr>
            <a:xfrm>
              <a:off x="3282430" y="1325600"/>
              <a:ext cx="617668" cy="33484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01" name="Google Shape;2101;p153"/>
            <p:cNvSpPr txBox="1"/>
            <p:nvPr/>
          </p:nvSpPr>
          <p:spPr>
            <a:xfrm>
              <a:off x="1384831" y="1103275"/>
              <a:ext cx="613200" cy="287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1800">
                  <a:solidFill>
                    <a:srgbClr val="222222"/>
                  </a:solidFill>
                  <a:latin typeface="Lexend"/>
                  <a:ea typeface="Lexend"/>
                  <a:cs typeface="Lexend"/>
                  <a:sym typeface="Lexend"/>
                </a:rPr>
                <a:t>+ 4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02" name="Google Shape;2102;p153"/>
            <p:cNvSpPr txBox="1"/>
            <p:nvPr/>
          </p:nvSpPr>
          <p:spPr>
            <a:xfrm>
              <a:off x="1882933" y="1103275"/>
              <a:ext cx="613200" cy="287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1800">
                  <a:solidFill>
                    <a:srgbClr val="222222"/>
                  </a:solidFill>
                  <a:latin typeface="Lexend"/>
                  <a:ea typeface="Lexend"/>
                  <a:cs typeface="Lexend"/>
                  <a:sym typeface="Lexend"/>
                </a:rPr>
                <a:t>+ 4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03" name="Google Shape;2103;p153"/>
            <p:cNvSpPr txBox="1"/>
            <p:nvPr/>
          </p:nvSpPr>
          <p:spPr>
            <a:xfrm>
              <a:off x="2387235" y="1103275"/>
              <a:ext cx="613200" cy="287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1800">
                  <a:solidFill>
                    <a:srgbClr val="222222"/>
                  </a:solidFill>
                  <a:latin typeface="Lexend"/>
                  <a:ea typeface="Lexend"/>
                  <a:cs typeface="Lexend"/>
                  <a:sym typeface="Lexend"/>
                </a:rPr>
                <a:t>+ 1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04" name="Google Shape;2104;p153"/>
            <p:cNvSpPr txBox="1"/>
            <p:nvPr/>
          </p:nvSpPr>
          <p:spPr>
            <a:xfrm>
              <a:off x="2844287" y="1103275"/>
              <a:ext cx="613200" cy="287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1800">
                  <a:solidFill>
                    <a:srgbClr val="222222"/>
                  </a:solidFill>
                  <a:latin typeface="Lexend"/>
                  <a:ea typeface="Lexend"/>
                  <a:cs typeface="Lexend"/>
                  <a:sym typeface="Lexend"/>
                </a:rPr>
                <a:t>+ 1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05" name="Google Shape;2105;p153"/>
            <p:cNvSpPr txBox="1"/>
            <p:nvPr/>
          </p:nvSpPr>
          <p:spPr>
            <a:xfrm>
              <a:off x="3389615" y="1103275"/>
              <a:ext cx="613200" cy="287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1800">
                  <a:solidFill>
                    <a:srgbClr val="222222"/>
                  </a:solidFill>
                  <a:latin typeface="Lexend"/>
                  <a:ea typeface="Lexend"/>
                  <a:cs typeface="Lexend"/>
                  <a:sym typeface="Lexend"/>
                </a:rPr>
                <a:t>+ 2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id="2106" name="Google Shape;2106;p153"/>
            <p:cNvPicPr preferRelativeResize="0"/>
            <p:nvPr/>
          </p:nvPicPr>
          <p:blipFill rotWithShape="1">
            <a:blip r:embed="rId6">
              <a:alphaModFix/>
            </a:blip>
            <a:srcRect b="59597" l="61559" r="13951" t="27330"/>
            <a:stretch/>
          </p:blipFill>
          <p:spPr>
            <a:xfrm>
              <a:off x="3815830" y="1325600"/>
              <a:ext cx="617668" cy="33484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07" name="Google Shape;2107;p153"/>
            <p:cNvSpPr txBox="1"/>
            <p:nvPr/>
          </p:nvSpPr>
          <p:spPr>
            <a:xfrm>
              <a:off x="3923015" y="1103275"/>
              <a:ext cx="613200" cy="287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1800">
                  <a:solidFill>
                    <a:srgbClr val="222222"/>
                  </a:solidFill>
                  <a:latin typeface="Lexend"/>
                  <a:ea typeface="Lexend"/>
                  <a:cs typeface="Lexend"/>
                  <a:sym typeface="Lexend"/>
                </a:rPr>
                <a:t>+ 4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108" name="Google Shape;2108;p153"/>
          <p:cNvGrpSpPr/>
          <p:nvPr/>
        </p:nvGrpSpPr>
        <p:grpSpPr>
          <a:xfrm>
            <a:off x="1307100" y="2265813"/>
            <a:ext cx="3031674" cy="593162"/>
            <a:chOff x="1307100" y="2265813"/>
            <a:chExt cx="3031674" cy="593162"/>
          </a:xfrm>
        </p:grpSpPr>
        <p:pic>
          <p:nvPicPr>
            <p:cNvPr id="2109" name="Google Shape;2109;p153"/>
            <p:cNvPicPr preferRelativeResize="0"/>
            <p:nvPr/>
          </p:nvPicPr>
          <p:blipFill rotWithShape="1">
            <a:blip r:embed="rId6">
              <a:alphaModFix/>
            </a:blip>
            <a:srcRect b="59597" l="61559" r="13951" t="27330"/>
            <a:stretch/>
          </p:blipFill>
          <p:spPr>
            <a:xfrm flipH="1" rot="10800000">
              <a:off x="1787256" y="2265813"/>
              <a:ext cx="588100" cy="33484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10" name="Google Shape;2110;p153"/>
            <p:cNvPicPr preferRelativeResize="0"/>
            <p:nvPr/>
          </p:nvPicPr>
          <p:blipFill rotWithShape="1">
            <a:blip r:embed="rId6">
              <a:alphaModFix/>
            </a:blip>
            <a:srcRect b="59597" l="61559" r="13951" t="27330"/>
            <a:stretch/>
          </p:blipFill>
          <p:spPr>
            <a:xfrm flipH="1" rot="10800000">
              <a:off x="1307100" y="2265813"/>
              <a:ext cx="588100" cy="33484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11" name="Google Shape;2111;p153"/>
            <p:cNvPicPr preferRelativeResize="0"/>
            <p:nvPr/>
          </p:nvPicPr>
          <p:blipFill rotWithShape="1">
            <a:blip r:embed="rId6">
              <a:alphaModFix/>
            </a:blip>
            <a:srcRect b="59597" l="61559" r="13951" t="27330"/>
            <a:stretch/>
          </p:blipFill>
          <p:spPr>
            <a:xfrm flipH="1" rot="10800000">
              <a:off x="2267412" y="2265813"/>
              <a:ext cx="588100" cy="33484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12" name="Google Shape;2112;p153"/>
            <p:cNvPicPr preferRelativeResize="0"/>
            <p:nvPr/>
          </p:nvPicPr>
          <p:blipFill rotWithShape="1">
            <a:blip r:embed="rId6">
              <a:alphaModFix/>
            </a:blip>
            <a:srcRect b="59597" l="61559" r="13951" t="27330"/>
            <a:stretch/>
          </p:blipFill>
          <p:spPr>
            <a:xfrm flipH="1" rot="10800000">
              <a:off x="3227724" y="2265813"/>
              <a:ext cx="588100" cy="33484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13" name="Google Shape;2113;p153"/>
            <p:cNvSpPr txBox="1"/>
            <p:nvPr/>
          </p:nvSpPr>
          <p:spPr>
            <a:xfrm>
              <a:off x="1351468" y="2571275"/>
              <a:ext cx="499500" cy="287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1800">
                  <a:solidFill>
                    <a:srgbClr val="222222"/>
                  </a:solidFill>
                  <a:latin typeface="Lexend"/>
                  <a:ea typeface="Lexend"/>
                  <a:cs typeface="Lexend"/>
                  <a:sym typeface="Lexend"/>
                </a:rPr>
                <a:t>+ 1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14" name="Google Shape;2114;p153"/>
            <p:cNvSpPr txBox="1"/>
            <p:nvPr/>
          </p:nvSpPr>
          <p:spPr>
            <a:xfrm>
              <a:off x="1831624" y="2571275"/>
              <a:ext cx="499500" cy="287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1800">
                  <a:solidFill>
                    <a:srgbClr val="222222"/>
                  </a:solidFill>
                  <a:latin typeface="Lexend"/>
                  <a:ea typeface="Lexend"/>
                  <a:cs typeface="Lexend"/>
                  <a:sym typeface="Lexend"/>
                </a:rPr>
                <a:t>+ 1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15" name="Google Shape;2115;p153"/>
            <p:cNvSpPr txBox="1"/>
            <p:nvPr/>
          </p:nvSpPr>
          <p:spPr>
            <a:xfrm>
              <a:off x="2244713" y="2571275"/>
              <a:ext cx="675900" cy="287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1800">
                  <a:solidFill>
                    <a:srgbClr val="222222"/>
                  </a:solidFill>
                  <a:latin typeface="Lexend"/>
                  <a:ea typeface="Lexend"/>
                  <a:cs typeface="Lexend"/>
                  <a:sym typeface="Lexend"/>
                </a:rPr>
                <a:t>+ 0.25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16" name="Google Shape;2116;p153"/>
            <p:cNvSpPr txBox="1"/>
            <p:nvPr/>
          </p:nvSpPr>
          <p:spPr>
            <a:xfrm>
              <a:off x="3179525" y="2571275"/>
              <a:ext cx="675900" cy="287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1800">
                  <a:solidFill>
                    <a:srgbClr val="222222"/>
                  </a:solidFill>
                  <a:latin typeface="Lexend"/>
                  <a:ea typeface="Lexend"/>
                  <a:cs typeface="Lexend"/>
                  <a:sym typeface="Lexend"/>
                </a:rPr>
                <a:t>+ 0.5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id="2117" name="Google Shape;2117;p153"/>
            <p:cNvPicPr preferRelativeResize="0"/>
            <p:nvPr/>
          </p:nvPicPr>
          <p:blipFill rotWithShape="1">
            <a:blip r:embed="rId6">
              <a:alphaModFix/>
            </a:blip>
            <a:srcRect b="59597" l="61559" r="13951" t="27330"/>
            <a:stretch/>
          </p:blipFill>
          <p:spPr>
            <a:xfrm flipH="1" rot="10800000">
              <a:off x="2746849" y="2265813"/>
              <a:ext cx="588100" cy="33484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18" name="Google Shape;2118;p153"/>
            <p:cNvPicPr preferRelativeResize="0"/>
            <p:nvPr/>
          </p:nvPicPr>
          <p:blipFill rotWithShape="1">
            <a:blip r:embed="rId6">
              <a:alphaModFix/>
            </a:blip>
            <a:srcRect b="59597" l="61559" r="13951" t="27330"/>
            <a:stretch/>
          </p:blipFill>
          <p:spPr>
            <a:xfrm flipH="1" rot="10800000">
              <a:off x="3750674" y="2265813"/>
              <a:ext cx="588100" cy="33484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119" name="Google Shape;2119;p153"/>
          <p:cNvSpPr txBox="1"/>
          <p:nvPr>
            <p:ph idx="1" type="body"/>
          </p:nvPr>
        </p:nvSpPr>
        <p:spPr>
          <a:xfrm>
            <a:off x="324000" y="4471400"/>
            <a:ext cx="8063100" cy="36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In fact, this equation is in the form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y = mx + c </a:t>
            </a:r>
            <a:r>
              <a:rPr lang="en-GB" sz="1800"/>
              <a:t>so will be linear</a:t>
            </a:r>
            <a:r>
              <a:rPr lang="en-GB" sz="1800"/>
              <a:t> </a:t>
            </a:r>
            <a:endParaRPr i="1" sz="2000"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3" name="Shape 2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4" name="Google Shape;2124;p15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Identifying linear equations from graphs</a:t>
            </a:r>
            <a:endParaRPr/>
          </a:p>
        </p:txBody>
      </p:sp>
      <p:sp>
        <p:nvSpPr>
          <p:cNvPr id="2125" name="Google Shape;2125;p154"/>
          <p:cNvSpPr txBox="1"/>
          <p:nvPr>
            <p:ph idx="1" type="body"/>
          </p:nvPr>
        </p:nvSpPr>
        <p:spPr>
          <a:xfrm>
            <a:off x="324000" y="835500"/>
            <a:ext cx="8496000" cy="86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Linear equations can take many forms and some are harder to identify than others.  </a:t>
            </a:r>
            <a:endParaRPr i="1"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126" name="Google Shape;2126;p154"/>
          <p:cNvSpPr txBox="1"/>
          <p:nvPr>
            <p:ph idx="1" type="body"/>
          </p:nvPr>
        </p:nvSpPr>
        <p:spPr>
          <a:xfrm>
            <a:off x="324000" y="1649700"/>
            <a:ext cx="7584300" cy="31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Here are some more equations with 2 variables: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127" name="Google Shape;2127;p154"/>
          <p:cNvSpPr txBox="1"/>
          <p:nvPr>
            <p:ph idx="1" type="body"/>
          </p:nvPr>
        </p:nvSpPr>
        <p:spPr>
          <a:xfrm>
            <a:off x="613400" y="2348340"/>
            <a:ext cx="1557300" cy="36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5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i="1" lang="en-GB" sz="2500">
                <a:latin typeface="Times"/>
                <a:ea typeface="Times"/>
                <a:cs typeface="Times"/>
                <a:sym typeface="Times"/>
              </a:rPr>
              <a:t>y − x = </a:t>
            </a:r>
            <a:r>
              <a:rPr lang="en-GB" sz="2500">
                <a:latin typeface="Times"/>
                <a:ea typeface="Times"/>
                <a:cs typeface="Times"/>
                <a:sym typeface="Times"/>
              </a:rPr>
              <a:t>5</a:t>
            </a:r>
            <a:endParaRPr sz="2500">
              <a:latin typeface="Times"/>
              <a:ea typeface="Times"/>
              <a:cs typeface="Times"/>
              <a:sym typeface="Times"/>
            </a:endParaRPr>
          </a:p>
        </p:txBody>
      </p:sp>
      <p:pic>
        <p:nvPicPr>
          <p:cNvPr descr="&lt;math xmlns=&quot;http://www.w3.org/1998/Math/MathML&quot; display=&quot;block&quot; data-is-equatio=&quot;1&quot; data-latex=&quot;yx=24&quot;&gt;&lt;mi&gt;y&lt;/mi&gt;&lt;mi&gt;x&lt;/mi&gt;&lt;mo&gt;=&lt;/mo&gt;&lt;mn&gt;24&lt;/mn&gt;&lt;/math&gt;" id="2128" name="Google Shape;2128;p154" title="y x equals 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9350" y="3572400"/>
            <a:ext cx="982075" cy="266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29" name="Google Shape;2129;p154"/>
          <p:cNvSpPr txBox="1"/>
          <p:nvPr>
            <p:ph idx="1" type="body"/>
          </p:nvPr>
        </p:nvSpPr>
        <p:spPr>
          <a:xfrm>
            <a:off x="2633413" y="3477188"/>
            <a:ext cx="2563200" cy="36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500">
                <a:latin typeface="Times"/>
                <a:ea typeface="Times"/>
                <a:cs typeface="Times"/>
                <a:sym typeface="Times"/>
              </a:rPr>
              <a:t>y</a:t>
            </a:r>
            <a:r>
              <a:rPr i="1" lang="en-GB" sz="2500">
                <a:latin typeface="Times"/>
                <a:ea typeface="Times"/>
                <a:cs typeface="Times"/>
                <a:sym typeface="Times"/>
              </a:rPr>
              <a:t> = </a:t>
            </a:r>
            <a:r>
              <a:rPr lang="en-GB" sz="2500">
                <a:latin typeface="Times"/>
                <a:ea typeface="Times"/>
                <a:cs typeface="Times"/>
                <a:sym typeface="Times"/>
              </a:rPr>
              <a:t>(</a:t>
            </a:r>
            <a:r>
              <a:rPr i="1" lang="en-GB" sz="2500">
                <a:latin typeface="Times"/>
                <a:ea typeface="Times"/>
                <a:cs typeface="Times"/>
                <a:sym typeface="Times"/>
              </a:rPr>
              <a:t>x + </a:t>
            </a:r>
            <a:r>
              <a:rPr lang="en-GB" sz="2500">
                <a:latin typeface="Times"/>
                <a:ea typeface="Times"/>
                <a:cs typeface="Times"/>
                <a:sym typeface="Times"/>
              </a:rPr>
              <a:t>2)(</a:t>
            </a:r>
            <a:r>
              <a:rPr i="1" lang="en-GB" sz="2500">
                <a:latin typeface="Times"/>
                <a:ea typeface="Times"/>
                <a:cs typeface="Times"/>
                <a:sym typeface="Times"/>
              </a:rPr>
              <a:t>x + </a:t>
            </a:r>
            <a:r>
              <a:rPr lang="en-GB" sz="2500">
                <a:latin typeface="Times"/>
                <a:ea typeface="Times"/>
                <a:cs typeface="Times"/>
                <a:sym typeface="Times"/>
              </a:rPr>
              <a:t>1)</a:t>
            </a:r>
            <a:endParaRPr sz="25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130" name="Google Shape;2130;p154"/>
          <p:cNvSpPr txBox="1"/>
          <p:nvPr>
            <p:ph idx="1" type="body"/>
          </p:nvPr>
        </p:nvSpPr>
        <p:spPr>
          <a:xfrm>
            <a:off x="324000" y="4114100"/>
            <a:ext cx="8372100" cy="70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Which do you think are linear?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It is not easy to see if they are linear, we can draw their graphs to help.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131" name="Google Shape;2131;p154"/>
          <p:cNvSpPr txBox="1"/>
          <p:nvPr/>
        </p:nvSpPr>
        <p:spPr>
          <a:xfrm>
            <a:off x="5746538" y="3477188"/>
            <a:ext cx="2812800" cy="36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</a:t>
            </a:r>
            <a:r>
              <a:rPr i="1" lang="en-GB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2</a:t>
            </a:r>
            <a:r>
              <a:rPr i="1" lang="en-GB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+ 3</a:t>
            </a:r>
            <a:r>
              <a:rPr i="1" lang="en-GB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- 4</a:t>
            </a:r>
            <a:endParaRPr sz="2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&lt;math xmlns=&quot;http://www.w3.org/1998/Math/MathML&quot; display=&quot;block&quot; data-is-equatio=&quot;1&quot; data-latex=&quot;y=\frac{1}{x}&quot;&gt;&lt;mi&gt;y&lt;/mi&gt;&lt;mo&gt;=&lt;/mo&gt;&lt;mfrac&gt;&lt;mn&gt;1&lt;/mn&gt;&lt;mi&gt;x&lt;/mi&gt;&lt;/mfrac&gt;&lt;/math&gt;" id="2132" name="Google Shape;2132;p154" title="y equals 1 over x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38712" y="2250678"/>
            <a:ext cx="674330" cy="5565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y=x^2-4&quot;&gt;&lt;mi&gt;y&lt;/mi&gt;&lt;mo&gt;=&lt;/mo&gt;&lt;msup&gt;&lt;mi&gt;x&lt;/mi&gt;&lt;mn&gt;2&lt;/mn&gt;&lt;/msup&gt;&lt;mo&gt;−&lt;/mo&gt;&lt;mn&gt;4&lt;/mn&gt;&lt;/math&gt;" id="2133" name="Google Shape;2133;p154" title="y equals x squared minus 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297825" y="2359740"/>
            <a:ext cx="1353650" cy="338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7" name="Shape 2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8" name="Google Shape;2138;p15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Identifying linear equations from graphs</a:t>
            </a:r>
            <a:endParaRPr/>
          </a:p>
        </p:txBody>
      </p:sp>
      <p:sp>
        <p:nvSpPr>
          <p:cNvPr id="2139" name="Google Shape;2139;p155"/>
          <p:cNvSpPr txBox="1"/>
          <p:nvPr>
            <p:ph idx="1" type="body"/>
          </p:nvPr>
        </p:nvSpPr>
        <p:spPr>
          <a:xfrm>
            <a:off x="324000" y="809988"/>
            <a:ext cx="2563200" cy="36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y − x =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5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140" name="Google Shape;2140;p155"/>
          <p:cNvSpPr txBox="1"/>
          <p:nvPr>
            <p:ph idx="1" type="body"/>
          </p:nvPr>
        </p:nvSpPr>
        <p:spPr>
          <a:xfrm>
            <a:off x="324000" y="4377125"/>
            <a:ext cx="3606900" cy="31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So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y − x =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5 </a:t>
            </a:r>
            <a:r>
              <a:rPr lang="en-GB" sz="1800"/>
              <a:t>is a linear equation</a:t>
            </a:r>
            <a:r>
              <a:rPr lang="en-GB" sz="1800"/>
              <a:t> 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141" name="Google Shape;2141;p155"/>
          <p:cNvSpPr txBox="1"/>
          <p:nvPr>
            <p:ph idx="1" type="body"/>
          </p:nvPr>
        </p:nvSpPr>
        <p:spPr>
          <a:xfrm>
            <a:off x="324000" y="1367700"/>
            <a:ext cx="3746100" cy="31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Coordinates that follow this rule: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142" name="Google Shape;2142;p155"/>
          <p:cNvSpPr txBox="1"/>
          <p:nvPr>
            <p:ph idx="1" type="body"/>
          </p:nvPr>
        </p:nvSpPr>
        <p:spPr>
          <a:xfrm>
            <a:off x="324000" y="1756800"/>
            <a:ext cx="651000" cy="31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(1, 3)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2143" name="Google Shape;2143;p155"/>
          <p:cNvSpPr txBox="1"/>
          <p:nvPr>
            <p:ph idx="1" type="body"/>
          </p:nvPr>
        </p:nvSpPr>
        <p:spPr>
          <a:xfrm>
            <a:off x="1085475" y="1756800"/>
            <a:ext cx="651000" cy="31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(3, 4)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2144" name="Google Shape;2144;p155"/>
          <p:cNvSpPr txBox="1"/>
          <p:nvPr>
            <p:ph idx="1" type="body"/>
          </p:nvPr>
        </p:nvSpPr>
        <p:spPr>
          <a:xfrm>
            <a:off x="1846950" y="1756800"/>
            <a:ext cx="651000" cy="31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(5, 5)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2145" name="Google Shape;2145;p155"/>
          <p:cNvSpPr txBox="1"/>
          <p:nvPr>
            <p:ph idx="1" type="body"/>
          </p:nvPr>
        </p:nvSpPr>
        <p:spPr>
          <a:xfrm>
            <a:off x="2650350" y="1756800"/>
            <a:ext cx="651000" cy="31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(7, 6)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000"/>
          </a:p>
        </p:txBody>
      </p:sp>
      <p:pic>
        <p:nvPicPr>
          <p:cNvPr id="2146" name="Google Shape;2146;p1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4000" y="2174911"/>
            <a:ext cx="1808973" cy="1778575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147" name="Google Shape;2147;p155"/>
          <p:cNvSpPr txBox="1"/>
          <p:nvPr>
            <p:ph idx="1" type="body"/>
          </p:nvPr>
        </p:nvSpPr>
        <p:spPr>
          <a:xfrm>
            <a:off x="4320000" y="1367688"/>
            <a:ext cx="4248000" cy="31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Coordinates that follow this rule: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148" name="Google Shape;2148;p155"/>
          <p:cNvSpPr txBox="1"/>
          <p:nvPr>
            <p:ph idx="1" type="body"/>
          </p:nvPr>
        </p:nvSpPr>
        <p:spPr>
          <a:xfrm>
            <a:off x="5775153" y="1925725"/>
            <a:ext cx="937800" cy="31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(−2, 0)</a:t>
            </a:r>
            <a:endParaRPr sz="2000"/>
          </a:p>
          <a:p>
            <a:pPr indent="0" lvl="0" marL="0" rtl="0" algn="ctr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2149" name="Google Shape;2149;p155"/>
          <p:cNvSpPr txBox="1"/>
          <p:nvPr>
            <p:ph idx="1" type="body"/>
          </p:nvPr>
        </p:nvSpPr>
        <p:spPr>
          <a:xfrm>
            <a:off x="5737500" y="2364530"/>
            <a:ext cx="1013100" cy="31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(−1, −3)</a:t>
            </a:r>
            <a:endParaRPr sz="2000"/>
          </a:p>
          <a:p>
            <a:pPr indent="0" lvl="0" marL="0" rtl="0" algn="ctr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2150" name="Google Shape;2150;p155"/>
          <p:cNvSpPr txBox="1"/>
          <p:nvPr>
            <p:ph idx="1" type="body"/>
          </p:nvPr>
        </p:nvSpPr>
        <p:spPr>
          <a:xfrm>
            <a:off x="5775153" y="2803335"/>
            <a:ext cx="937800" cy="31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(0, −4)</a:t>
            </a:r>
            <a:endParaRPr sz="2000"/>
          </a:p>
          <a:p>
            <a:pPr indent="0" lvl="0" marL="0" rtl="0" algn="ctr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2151" name="Google Shape;2151;p155"/>
          <p:cNvSpPr txBox="1"/>
          <p:nvPr>
            <p:ph idx="1" type="body"/>
          </p:nvPr>
        </p:nvSpPr>
        <p:spPr>
          <a:xfrm>
            <a:off x="5775153" y="3242140"/>
            <a:ext cx="937800" cy="31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(1, −3)</a:t>
            </a:r>
            <a:endParaRPr sz="2000"/>
          </a:p>
          <a:p>
            <a:pPr indent="0" lvl="0" marL="0" rtl="0" algn="ctr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2152" name="Google Shape;2152;p155"/>
          <p:cNvSpPr txBox="1"/>
          <p:nvPr>
            <p:ph idx="1" type="body"/>
          </p:nvPr>
        </p:nvSpPr>
        <p:spPr>
          <a:xfrm>
            <a:off x="6790850" y="4377125"/>
            <a:ext cx="1271100" cy="31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Not </a:t>
            </a:r>
            <a:r>
              <a:rPr lang="en-GB" sz="1800"/>
              <a:t>linear 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cxnSp>
        <p:nvCxnSpPr>
          <p:cNvPr id="2153" name="Google Shape;2153;p155"/>
          <p:cNvCxnSpPr/>
          <p:nvPr/>
        </p:nvCxnSpPr>
        <p:spPr>
          <a:xfrm>
            <a:off x="4135300" y="772300"/>
            <a:ext cx="0" cy="403830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descr="&lt;math xmlns=&quot;http://www.w3.org/1998/Math/MathML&quot; display=&quot;block&quot; data-is-equatio=&quot;1&quot; data-latex=&quot;y=x^2-4&quot;&gt;&lt;mi&gt;y&lt;/mi&gt;&lt;mo&gt;=&lt;/mo&gt;&lt;msup&gt;&lt;mi&gt;x&lt;/mi&gt;&lt;mn&gt;2&lt;/mn&gt;&lt;/msup&gt;&lt;mo&gt;−&lt;/mo&gt;&lt;mn&gt;4&lt;/mn&gt;&lt;/math&gt;" id="2154" name="Google Shape;2154;p155" title="y equals x squared minus 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59800" y="890352"/>
            <a:ext cx="1123500" cy="280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5" name="Google Shape;2155;p15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750750" y="1925725"/>
            <a:ext cx="2069251" cy="2078175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156" name="Google Shape;2156;p155"/>
          <p:cNvSpPr txBox="1"/>
          <p:nvPr>
            <p:ph idx="1" type="body"/>
          </p:nvPr>
        </p:nvSpPr>
        <p:spPr>
          <a:xfrm>
            <a:off x="5775153" y="3680945"/>
            <a:ext cx="937800" cy="31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(2, 0)</a:t>
            </a:r>
            <a:endParaRPr sz="2000"/>
          </a:p>
          <a:p>
            <a:pPr indent="0" lvl="0" marL="0" rtl="0" algn="ctr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2157" name="Google Shape;2157;p155"/>
          <p:cNvSpPr txBox="1"/>
          <p:nvPr>
            <p:ph idx="1" type="body"/>
          </p:nvPr>
        </p:nvSpPr>
        <p:spPr>
          <a:xfrm>
            <a:off x="5775153" y="4119750"/>
            <a:ext cx="937800" cy="31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(3, 5)</a:t>
            </a:r>
            <a:endParaRPr sz="2000"/>
          </a:p>
          <a:p>
            <a:pPr indent="0" lvl="0" marL="0" rtl="0" algn="ctr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2158" name="Google Shape;2158;p155"/>
          <p:cNvSpPr txBox="1"/>
          <p:nvPr/>
        </p:nvSpPr>
        <p:spPr>
          <a:xfrm>
            <a:off x="4167075" y="1719800"/>
            <a:ext cx="1809000" cy="28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E.g. When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(−2)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i="1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(−2)</a:t>
            </a:r>
            <a:r>
              <a:rPr baseline="30000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− 4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4 − 4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i="1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0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2" name="Shape 2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3" name="Google Shape;2163;p15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Identifying linear equations from graphs</a:t>
            </a:r>
            <a:endParaRPr/>
          </a:p>
        </p:txBody>
      </p:sp>
      <p:sp>
        <p:nvSpPr>
          <p:cNvPr id="2164" name="Google Shape;2164;p156"/>
          <p:cNvSpPr txBox="1"/>
          <p:nvPr>
            <p:ph idx="1" type="body"/>
          </p:nvPr>
        </p:nvSpPr>
        <p:spPr>
          <a:xfrm>
            <a:off x="324000" y="4481400"/>
            <a:ext cx="3606900" cy="31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Non-linear</a:t>
            </a:r>
            <a:r>
              <a:rPr lang="en-GB" sz="1800"/>
              <a:t> 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165" name="Google Shape;2165;p156"/>
          <p:cNvSpPr txBox="1"/>
          <p:nvPr>
            <p:ph idx="1" type="body"/>
          </p:nvPr>
        </p:nvSpPr>
        <p:spPr>
          <a:xfrm>
            <a:off x="324000" y="1367700"/>
            <a:ext cx="3746100" cy="31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Coordinates that follow this rule: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166" name="Google Shape;2166;p156"/>
          <p:cNvSpPr txBox="1"/>
          <p:nvPr>
            <p:ph idx="1" type="body"/>
          </p:nvPr>
        </p:nvSpPr>
        <p:spPr>
          <a:xfrm>
            <a:off x="4572000" y="1363263"/>
            <a:ext cx="4248000" cy="31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Coordinates that follow this rule: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167" name="Google Shape;2167;p156"/>
          <p:cNvSpPr txBox="1"/>
          <p:nvPr>
            <p:ph idx="1" type="body"/>
          </p:nvPr>
        </p:nvSpPr>
        <p:spPr>
          <a:xfrm>
            <a:off x="4572000" y="4481400"/>
            <a:ext cx="1271100" cy="31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Not linear 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cxnSp>
        <p:nvCxnSpPr>
          <p:cNvPr id="2168" name="Google Shape;2168;p156"/>
          <p:cNvCxnSpPr/>
          <p:nvPr/>
        </p:nvCxnSpPr>
        <p:spPr>
          <a:xfrm>
            <a:off x="4351525" y="777150"/>
            <a:ext cx="0" cy="403830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descr="&lt;math xmlns=&quot;http://www.w3.org/1998/Math/MathML&quot; display=&quot;block&quot; data-is-equatio=&quot;1&quot; data-latex=&quot;yx=24&quot;&gt;&lt;mi&gt;y&lt;/mi&gt;&lt;mi&gt;x&lt;/mi&gt;&lt;mo&gt;=&lt;/mo&gt;&lt;mn&gt;24&lt;/mn&gt;&lt;/math&gt;" id="2169" name="Google Shape;2169;p156" title="y x equals 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66275" y="868387"/>
            <a:ext cx="902509" cy="244450"/>
          </a:xfrm>
          <a:prstGeom prst="rect">
            <a:avLst/>
          </a:prstGeom>
          <a:noFill/>
          <a:ln>
            <a:noFill/>
          </a:ln>
        </p:spPr>
      </p:pic>
      <p:sp>
        <p:nvSpPr>
          <p:cNvPr id="2170" name="Google Shape;2170;p156"/>
          <p:cNvSpPr txBox="1"/>
          <p:nvPr>
            <p:ph idx="1" type="body"/>
          </p:nvPr>
        </p:nvSpPr>
        <p:spPr>
          <a:xfrm>
            <a:off x="4572000" y="1755900"/>
            <a:ext cx="726300" cy="31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(2, 12)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71" name="Google Shape;2171;p156"/>
          <p:cNvSpPr txBox="1"/>
          <p:nvPr>
            <p:ph idx="1" type="body"/>
          </p:nvPr>
        </p:nvSpPr>
        <p:spPr>
          <a:xfrm>
            <a:off x="5437725" y="1755900"/>
            <a:ext cx="571800" cy="31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(3, 8)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72" name="Google Shape;2172;p156"/>
          <p:cNvSpPr txBox="1"/>
          <p:nvPr>
            <p:ph idx="1" type="body"/>
          </p:nvPr>
        </p:nvSpPr>
        <p:spPr>
          <a:xfrm>
            <a:off x="6171150" y="1755900"/>
            <a:ext cx="571800" cy="31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(4, 6)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73" name="Google Shape;2173;p156"/>
          <p:cNvSpPr txBox="1"/>
          <p:nvPr>
            <p:ph idx="1" type="body"/>
          </p:nvPr>
        </p:nvSpPr>
        <p:spPr>
          <a:xfrm>
            <a:off x="6901725" y="1755900"/>
            <a:ext cx="571800" cy="31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(6, 4)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174" name="Google Shape;2174;p15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66425" y="2252788"/>
            <a:ext cx="2415949" cy="1967513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descr="&lt;math xmlns=&quot;http://www.w3.org/1998/Math/MathML&quot; display=&quot;block&quot; data-is-equatio=&quot;1&quot; data-latex=&quot;y=\frac{1}{x}&quot;&gt;&lt;mi&gt;y&lt;/mi&gt;&lt;mo&gt;=&lt;/mo&gt;&lt;mfrac&gt;&lt;mn&gt;1&lt;/mn&gt;&lt;mi&gt;x&lt;/mi&gt;&lt;/mfrac&gt;&lt;/math&gt;" id="2175" name="Google Shape;2175;p156" title="y equals 1 over x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24012" y="736268"/>
            <a:ext cx="674330" cy="556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6" name="Google Shape;2176;p15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919825" y="2049250"/>
            <a:ext cx="2254624" cy="2270749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177" name="Google Shape;2177;p156"/>
          <p:cNvSpPr txBox="1"/>
          <p:nvPr>
            <p:ph idx="1" type="body"/>
          </p:nvPr>
        </p:nvSpPr>
        <p:spPr>
          <a:xfrm>
            <a:off x="499173" y="2597338"/>
            <a:ext cx="571800" cy="31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(1, 1)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78" name="Google Shape;2178;p156"/>
          <p:cNvSpPr txBox="1"/>
          <p:nvPr>
            <p:ph idx="1" type="body"/>
          </p:nvPr>
        </p:nvSpPr>
        <p:spPr>
          <a:xfrm>
            <a:off x="338223" y="3115255"/>
            <a:ext cx="893700" cy="31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(−1, −1)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&lt;math xmlns=&quot;http://www.w3.org/1998/Math/MathML&quot; display=&quot;block&quot; data-is-equatio=&quot;1&quot; data-latex=&quot;\left(-2,-\frac{1}{2}\right)&quot;&gt;&lt;mrow data-mjx-texclass=&quot;INNER&quot;&gt;&lt;mo data-mjx-texclass=&quot;OPEN&quot;&gt;(&lt;/mo&gt;&lt;mo&gt;−&lt;/mo&gt;&lt;mn&gt;2&lt;/mn&gt;&lt;mo&gt;,&lt;/mo&gt;&lt;mo&gt;−&lt;/mo&gt;&lt;mfrac&gt;&lt;mn&gt;1&lt;/mn&gt;&lt;mn&gt;2&lt;/mn&gt;&lt;/mfrac&gt;&lt;mo data-mjx-texclass=&quot;CLOSE&quot;&gt;)&lt;/mo&gt;&lt;/mrow&gt;&lt;/math&gt;" id="2179" name="Google Shape;2179;p156" title="open paren negative 2 comma negative one half close paren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52488" y="1897275"/>
            <a:ext cx="1065171" cy="61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left(2,\frac{1}{2}\right)&quot;&gt;&lt;mrow data-mjx-texclass=&quot;INNER&quot;&gt;&lt;mo data-mjx-texclass=&quot;OPEN&quot;&gt;(&lt;/mo&gt;&lt;mn&gt;2&lt;/mn&gt;&lt;mo&gt;,&lt;/mo&gt;&lt;mfrac&gt;&lt;mn&gt;1&lt;/mn&gt;&lt;mn&gt;2&lt;/mn&gt;&lt;/mfrac&gt;&lt;mo data-mjx-texclass=&quot;CLOSE&quot;&gt;)&lt;/mo&gt;&lt;/mrow&gt;&lt;/math&gt;" id="2180" name="Google Shape;2180;p156" title="open paren 2 comma one half close paren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21873" y="3676323"/>
            <a:ext cx="726400" cy="61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4" name="Shape 2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5" name="Google Shape;2185;p15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Identifying linear equations from graphs</a:t>
            </a:r>
            <a:endParaRPr/>
          </a:p>
        </p:txBody>
      </p:sp>
      <p:sp>
        <p:nvSpPr>
          <p:cNvPr id="2186" name="Google Shape;2186;p157"/>
          <p:cNvSpPr txBox="1"/>
          <p:nvPr>
            <p:ph idx="1" type="body"/>
          </p:nvPr>
        </p:nvSpPr>
        <p:spPr>
          <a:xfrm>
            <a:off x="324000" y="4481400"/>
            <a:ext cx="1776000" cy="31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Not </a:t>
            </a:r>
            <a:r>
              <a:rPr lang="en-GB" sz="1800"/>
              <a:t>linear 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187" name="Google Shape;2187;p157"/>
          <p:cNvSpPr txBox="1"/>
          <p:nvPr>
            <p:ph idx="1" type="body"/>
          </p:nvPr>
        </p:nvSpPr>
        <p:spPr>
          <a:xfrm>
            <a:off x="324000" y="1332150"/>
            <a:ext cx="3746100" cy="31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Coordinates that follow this rule: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188" name="Google Shape;2188;p157"/>
          <p:cNvSpPr txBox="1"/>
          <p:nvPr>
            <p:ph idx="1" type="body"/>
          </p:nvPr>
        </p:nvSpPr>
        <p:spPr>
          <a:xfrm>
            <a:off x="1043550" y="3939750"/>
            <a:ext cx="641400" cy="31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(1, 6)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89" name="Google Shape;2189;p157"/>
          <p:cNvSpPr txBox="1"/>
          <p:nvPr>
            <p:ph idx="1" type="body"/>
          </p:nvPr>
        </p:nvSpPr>
        <p:spPr>
          <a:xfrm>
            <a:off x="4572000" y="1332148"/>
            <a:ext cx="4248000" cy="276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Coordinates that follow this rule: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190" name="Google Shape;2190;p157"/>
          <p:cNvSpPr txBox="1"/>
          <p:nvPr>
            <p:ph idx="1" type="body"/>
          </p:nvPr>
        </p:nvSpPr>
        <p:spPr>
          <a:xfrm>
            <a:off x="4572000" y="4481400"/>
            <a:ext cx="3884700" cy="31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So, this equation is </a:t>
            </a:r>
            <a:r>
              <a:rPr lang="en-GB" sz="1800"/>
              <a:t>linear. 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cxnSp>
        <p:nvCxnSpPr>
          <p:cNvPr id="2191" name="Google Shape;2191;p157"/>
          <p:cNvCxnSpPr/>
          <p:nvPr/>
        </p:nvCxnSpPr>
        <p:spPr>
          <a:xfrm>
            <a:off x="4351525" y="777150"/>
            <a:ext cx="0" cy="403830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92" name="Google Shape;2192;p157"/>
          <p:cNvSpPr txBox="1"/>
          <p:nvPr>
            <p:ph idx="1" type="body"/>
          </p:nvPr>
        </p:nvSpPr>
        <p:spPr>
          <a:xfrm>
            <a:off x="324000" y="809988"/>
            <a:ext cx="2563200" cy="36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y =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(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 +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2)(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 +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1)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193" name="Google Shape;2193;p157"/>
          <p:cNvSpPr txBox="1"/>
          <p:nvPr>
            <p:ph idx="1" type="body"/>
          </p:nvPr>
        </p:nvSpPr>
        <p:spPr>
          <a:xfrm>
            <a:off x="324000" y="2591400"/>
            <a:ext cx="3236400" cy="36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(1)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+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2)(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(1)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 +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1) = 3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× 2 = 6</a:t>
            </a:r>
            <a:endParaRPr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194" name="Google Shape;2194;p157"/>
          <p:cNvSpPr txBox="1"/>
          <p:nvPr>
            <p:ph idx="1" type="body"/>
          </p:nvPr>
        </p:nvSpPr>
        <p:spPr>
          <a:xfrm>
            <a:off x="324000" y="2170800"/>
            <a:ext cx="3236400" cy="36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((0)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+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2)((0)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 +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1) = 2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× 1 = 2</a:t>
            </a:r>
            <a:endParaRPr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195" name="Google Shape;2195;p157"/>
          <p:cNvSpPr txBox="1"/>
          <p:nvPr>
            <p:ph idx="1" type="body"/>
          </p:nvPr>
        </p:nvSpPr>
        <p:spPr>
          <a:xfrm>
            <a:off x="1043550" y="3506700"/>
            <a:ext cx="641400" cy="31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(0, 2)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96" name="Google Shape;2196;p157"/>
          <p:cNvSpPr txBox="1"/>
          <p:nvPr>
            <p:ph idx="1" type="body"/>
          </p:nvPr>
        </p:nvSpPr>
        <p:spPr>
          <a:xfrm>
            <a:off x="324000" y="1805100"/>
            <a:ext cx="3918000" cy="36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((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1)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+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2)((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1)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 +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1) = 1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× 0 = 0</a:t>
            </a:r>
            <a:endParaRPr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197" name="Google Shape;2197;p157"/>
          <p:cNvSpPr txBox="1"/>
          <p:nvPr>
            <p:ph idx="1" type="body"/>
          </p:nvPr>
        </p:nvSpPr>
        <p:spPr>
          <a:xfrm>
            <a:off x="974100" y="3113550"/>
            <a:ext cx="840900" cy="31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−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,0)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198" name="Google Shape;2198;p1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96275" y="3003532"/>
            <a:ext cx="1473825" cy="1772793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199" name="Google Shape;2199;p157"/>
          <p:cNvSpPr txBox="1"/>
          <p:nvPr/>
        </p:nvSpPr>
        <p:spPr>
          <a:xfrm>
            <a:off x="4609325" y="809988"/>
            <a:ext cx="2812800" cy="36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2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3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2</a:t>
            </a:r>
            <a:r>
              <a:rPr baseline="30000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200" name="Google Shape;2200;p15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28825" y="2440200"/>
            <a:ext cx="1964675" cy="19414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201" name="Google Shape;2201;p157"/>
          <p:cNvSpPr txBox="1"/>
          <p:nvPr/>
        </p:nvSpPr>
        <p:spPr>
          <a:xfrm>
            <a:off x="4572000" y="1609050"/>
            <a:ext cx="3350700" cy="16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E.g. When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i="1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</a:t>
            </a:r>
            <a:r>
              <a:rPr i="1"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i="1"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2)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2(</a:t>
            </a:r>
            <a:r>
              <a:rPr i="1"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2) − 3(</a:t>
            </a:r>
            <a:r>
              <a:rPr i="1"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2)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baseline="30000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i="1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− 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</a:t>
            </a:r>
            <a:r>
              <a:rPr i="1"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+ 6 </a:t>
            </a:r>
            <a:r>
              <a:rPr i="1"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4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i="1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2 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</a:t>
            </a:r>
            <a:r>
              <a:rPr i="1"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0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02" name="Google Shape;2202;p157"/>
          <p:cNvSpPr txBox="1"/>
          <p:nvPr>
            <p:ph idx="1" type="body"/>
          </p:nvPr>
        </p:nvSpPr>
        <p:spPr>
          <a:xfrm>
            <a:off x="5376900" y="3965725"/>
            <a:ext cx="840900" cy="31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(1,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6)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03" name="Google Shape;2203;p157"/>
          <p:cNvSpPr txBox="1"/>
          <p:nvPr>
            <p:ph idx="1" type="body"/>
          </p:nvPr>
        </p:nvSpPr>
        <p:spPr>
          <a:xfrm>
            <a:off x="5354250" y="3506700"/>
            <a:ext cx="952800" cy="31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1,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2)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04" name="Google Shape;2204;p157"/>
          <p:cNvSpPr txBox="1"/>
          <p:nvPr>
            <p:ph idx="1" type="body"/>
          </p:nvPr>
        </p:nvSpPr>
        <p:spPr>
          <a:xfrm>
            <a:off x="4519050" y="3531900"/>
            <a:ext cx="767100" cy="31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2, 0)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05" name="Google Shape;2205;p157"/>
          <p:cNvSpPr txBox="1"/>
          <p:nvPr>
            <p:ph idx="1" type="body"/>
          </p:nvPr>
        </p:nvSpPr>
        <p:spPr>
          <a:xfrm>
            <a:off x="4487400" y="3939750"/>
            <a:ext cx="889500" cy="31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(0,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4)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9" name="Shape 2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0" name="Google Shape;2210;p15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Identifying linear equations from graphs</a:t>
            </a:r>
            <a:endParaRPr/>
          </a:p>
        </p:txBody>
      </p:sp>
      <p:sp>
        <p:nvSpPr>
          <p:cNvPr id="2211" name="Google Shape;2211;p158"/>
          <p:cNvSpPr txBox="1"/>
          <p:nvPr>
            <p:ph idx="1" type="body"/>
          </p:nvPr>
        </p:nvSpPr>
        <p:spPr>
          <a:xfrm>
            <a:off x="324000" y="723050"/>
            <a:ext cx="8496000" cy="83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There are many different types of equations and linear is just one type. </a:t>
            </a:r>
            <a:r>
              <a:rPr lang="en-GB" sz="1800"/>
              <a:t>  </a:t>
            </a:r>
            <a:endParaRPr i="1"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212" name="Google Shape;2212;p158"/>
          <p:cNvSpPr txBox="1"/>
          <p:nvPr>
            <p:ph idx="1" type="body"/>
          </p:nvPr>
        </p:nvSpPr>
        <p:spPr>
          <a:xfrm>
            <a:off x="324000" y="1170650"/>
            <a:ext cx="8496000" cy="146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Some equations that may not look like typical linear equations, could be rearranged into a linear form. 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For now, plotting graphs or using graphing software can help you to check if an equation is linear. </a:t>
            </a:r>
            <a:r>
              <a:rPr lang="en-GB" sz="1800"/>
              <a:t>   </a:t>
            </a:r>
            <a:endParaRPr i="1" sz="2000">
              <a:latin typeface="Times"/>
              <a:ea typeface="Times"/>
              <a:cs typeface="Times"/>
              <a:sym typeface="Times"/>
            </a:endParaRPr>
          </a:p>
        </p:txBody>
      </p:sp>
      <p:pic>
        <p:nvPicPr>
          <p:cNvPr id="2213" name="Google Shape;2213;p1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31987" y="2533450"/>
            <a:ext cx="2078526" cy="20539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214" name="Google Shape;2214;p158"/>
          <p:cNvSpPr txBox="1"/>
          <p:nvPr/>
        </p:nvSpPr>
        <p:spPr>
          <a:xfrm>
            <a:off x="1545000" y="4459200"/>
            <a:ext cx="2452500" cy="3612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2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+ 3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2</a:t>
            </a:r>
            <a:r>
              <a:rPr baseline="30000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30000"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215" name="Google Shape;2215;p15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77900" y="2533450"/>
            <a:ext cx="1707519" cy="20539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216" name="Google Shape;2216;p158"/>
          <p:cNvSpPr txBox="1"/>
          <p:nvPr>
            <p:ph idx="1" type="body"/>
          </p:nvPr>
        </p:nvSpPr>
        <p:spPr>
          <a:xfrm>
            <a:off x="5385163" y="4459200"/>
            <a:ext cx="1893000" cy="3612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y =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(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 +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2)(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 +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1)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0" name="Shape 2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1" name="Google Shape;2221;p159"/>
          <p:cNvSpPr txBox="1"/>
          <p:nvPr>
            <p:ph idx="4294967295" type="body"/>
          </p:nvPr>
        </p:nvSpPr>
        <p:spPr>
          <a:xfrm>
            <a:off x="324000" y="743875"/>
            <a:ext cx="8237700" cy="47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Which of these are linear equations?</a:t>
            </a:r>
            <a:endParaRPr/>
          </a:p>
        </p:txBody>
      </p:sp>
      <p:sp>
        <p:nvSpPr>
          <p:cNvPr id="2222" name="Google Shape;2222;p159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Identifying linear equations from graphs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y=\frac{6}{x}&quot;&gt;&lt;mi&gt;y&lt;/mi&gt;&lt;mo&gt;=&lt;/mo&gt;&lt;mfrac&gt;&lt;mn&gt;6&lt;/mn&gt;&lt;mi&gt;x&lt;/mi&gt;&lt;/mfrac&gt;&lt;/math&gt;" id="2223" name="Google Shape;2223;p159" title="y equals 6 over x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51174" y="1195594"/>
            <a:ext cx="705764" cy="582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y=\frac{1}{2}-\frac{9}{4}x&quot;&gt;&lt;mi&gt;y&lt;/mi&gt;&lt;mo&gt;=&lt;/mo&gt;&lt;mfrac&gt;&lt;mn&gt;1&lt;/mn&gt;&lt;mn&gt;2&lt;/mn&gt;&lt;/mfrac&gt;&lt;mo&gt;−&lt;/mo&gt;&lt;mfrac&gt;&lt;mn&gt;9&lt;/mn&gt;&lt;mn&gt;4&lt;/mn&gt;&lt;/mfrac&gt;&lt;mi&gt;x&lt;/mi&gt;&lt;/math&gt;" id="2224" name="Google Shape;2224;p159" title="y equals one half minus nine fourths x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57788" y="1195594"/>
            <a:ext cx="1436988" cy="582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8}x-y=\frac{1}{5}\left(3^2-x\right)&quot;&gt;&lt;mfrac&gt;&lt;mn&gt;1&lt;/mn&gt;&lt;mn&gt;8&lt;/mn&gt;&lt;/mfrac&gt;&lt;mi&gt;x&lt;/mi&gt;&lt;mo&gt;−&lt;/mo&gt;&lt;mi&gt;y&lt;/mi&gt;&lt;mo&gt;=&lt;/mo&gt;&lt;mfrac&gt;&lt;mn&gt;1&lt;/mn&gt;&lt;mn&gt;5&lt;/mn&gt;&lt;/mfrac&gt;&lt;mrow data-mjx-texclass=&quot;INNER&quot;&gt;&lt;mo data-mjx-texclass=&quot;OPEN&quot;&gt;(&lt;/mo&gt;&lt;msup&gt;&lt;mn&gt;3&lt;/mn&gt;&lt;mn&gt;2&lt;/mn&gt;&lt;/msup&gt;&lt;mo&gt;−&lt;/mo&gt;&lt;mi&gt;x&lt;/mi&gt;&lt;mo data-mjx-texclass=&quot;CLOSE&quot;&gt;)&lt;/mo&gt;&lt;/mrow&gt;&lt;/math&gt;" id="2225" name="Google Shape;2225;p159" title="one eighth x minus y equals one fifth times open paren 3 squared minus x close paren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307875" y="1195594"/>
            <a:ext cx="2364325" cy="582450"/>
          </a:xfrm>
          <a:prstGeom prst="rect">
            <a:avLst/>
          </a:prstGeom>
          <a:noFill/>
          <a:ln>
            <a:noFill/>
          </a:ln>
        </p:spPr>
      </p:pic>
      <p:sp>
        <p:nvSpPr>
          <p:cNvPr id="2226" name="Google Shape;2226;p159"/>
          <p:cNvSpPr txBox="1"/>
          <p:nvPr/>
        </p:nvSpPr>
        <p:spPr>
          <a:xfrm>
            <a:off x="324000" y="2370675"/>
            <a:ext cx="8496000" cy="10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Before you see the graphs of each, have a think about which ones you think might be linear.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0" name="Shape 2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1" name="Google Shape;2231;p160"/>
          <p:cNvSpPr txBox="1"/>
          <p:nvPr>
            <p:ph idx="4294967295" type="body"/>
          </p:nvPr>
        </p:nvSpPr>
        <p:spPr>
          <a:xfrm>
            <a:off x="324000" y="743875"/>
            <a:ext cx="8237700" cy="47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Which of these are linear equations?</a:t>
            </a:r>
            <a:endParaRPr/>
          </a:p>
        </p:txBody>
      </p:sp>
      <p:sp>
        <p:nvSpPr>
          <p:cNvPr id="2232" name="Google Shape;2232;p160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Identifying linear equations from graphs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y=\frac{6}{x}&quot;&gt;&lt;mi&gt;y&lt;/mi&gt;&lt;mo&gt;=&lt;/mo&gt;&lt;mfrac&gt;&lt;mn&gt;6&lt;/mn&gt;&lt;mi&gt;x&lt;/mi&gt;&lt;/mfrac&gt;&lt;/math&gt;" id="2233" name="Google Shape;2233;p160" title="y equals 6 over x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51174" y="1195594"/>
            <a:ext cx="705764" cy="582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y=\frac{1}{2}-\frac{9}{4}x&quot;&gt;&lt;mi&gt;y&lt;/mi&gt;&lt;mo&gt;=&lt;/mo&gt;&lt;mfrac&gt;&lt;mn&gt;1&lt;/mn&gt;&lt;mn&gt;2&lt;/mn&gt;&lt;/mfrac&gt;&lt;mo&gt;−&lt;/mo&gt;&lt;mfrac&gt;&lt;mn&gt;9&lt;/mn&gt;&lt;mn&gt;4&lt;/mn&gt;&lt;/mfrac&gt;&lt;mi&gt;x&lt;/mi&gt;&lt;/math&gt;" id="2234" name="Google Shape;2234;p160" title="y equals one half minus nine fourths x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57788" y="1195594"/>
            <a:ext cx="1436988" cy="582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5" name="Google Shape;2235;p16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046433" y="4191750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6" name="Google Shape;2236;p16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919508" y="4191750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8}x-y=\frac{1}{5}\left(3^2-x\right)&quot;&gt;&lt;mfrac&gt;&lt;mn&gt;1&lt;/mn&gt;&lt;mn&gt;8&lt;/mn&gt;&lt;/mfrac&gt;&lt;mi&gt;x&lt;/mi&gt;&lt;mo&gt;−&lt;/mo&gt;&lt;mi&gt;y&lt;/mi&gt;&lt;mo&gt;=&lt;/mo&gt;&lt;mfrac&gt;&lt;mn&gt;1&lt;/mn&gt;&lt;mn&gt;5&lt;/mn&gt;&lt;/mfrac&gt;&lt;mrow data-mjx-texclass=&quot;INNER&quot;&gt;&lt;mo data-mjx-texclass=&quot;OPEN&quot;&gt;(&lt;/mo&gt;&lt;msup&gt;&lt;mn&gt;3&lt;/mn&gt;&lt;mn&gt;2&lt;/mn&gt;&lt;/msup&gt;&lt;mo&gt;−&lt;/mo&gt;&lt;mi&gt;x&lt;/mi&gt;&lt;mo data-mjx-texclass=&quot;CLOSE&quot;&gt;)&lt;/mo&gt;&lt;/mrow&gt;&lt;/math&gt;" id="2237" name="Google Shape;2237;p160" title="one eighth x minus y equals one fifth times open paren 3 squared minus x close paren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307875" y="1195594"/>
            <a:ext cx="2364325" cy="5824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238" name="Google Shape;2238;p160"/>
          <p:cNvGrpSpPr/>
          <p:nvPr/>
        </p:nvGrpSpPr>
        <p:grpSpPr>
          <a:xfrm>
            <a:off x="773500" y="1950400"/>
            <a:ext cx="7688599" cy="1930901"/>
            <a:chOff x="773500" y="1950400"/>
            <a:chExt cx="7688599" cy="1930901"/>
          </a:xfrm>
        </p:grpSpPr>
        <p:pic>
          <p:nvPicPr>
            <p:cNvPr id="2239" name="Google Shape;2239;p160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6517974" y="1950400"/>
              <a:ext cx="1944125" cy="19309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pic>
        <p:pic>
          <p:nvPicPr>
            <p:cNvPr id="2240" name="Google Shape;2240;p160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773500" y="1950400"/>
              <a:ext cx="2061099" cy="1930901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pic>
        <p:pic>
          <p:nvPicPr>
            <p:cNvPr id="2241" name="Google Shape;2241;p160"/>
            <p:cNvPicPr preferRelativeResize="0"/>
            <p:nvPr/>
          </p:nvPicPr>
          <p:blipFill>
            <a:blip r:embed="rId9">
              <a:alphaModFix/>
            </a:blip>
            <a:stretch>
              <a:fillRect/>
            </a:stretch>
          </p:blipFill>
          <p:spPr>
            <a:xfrm>
              <a:off x="3889272" y="1950400"/>
              <a:ext cx="1574029" cy="19309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pic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5" name="Shape 2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46" name="Google Shape;2246;p1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19500" y="2781825"/>
            <a:ext cx="1741006" cy="2012225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247" name="Google Shape;2247;p161"/>
          <p:cNvSpPr/>
          <p:nvPr/>
        </p:nvSpPr>
        <p:spPr>
          <a:xfrm>
            <a:off x="4537549" y="1254417"/>
            <a:ext cx="2064600" cy="1433400"/>
          </a:xfrm>
          <a:prstGeom prst="roundRect">
            <a:avLst>
              <a:gd fmla="val 8804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48" name="Google Shape;2248;p161"/>
          <p:cNvSpPr/>
          <p:nvPr/>
        </p:nvSpPr>
        <p:spPr>
          <a:xfrm>
            <a:off x="2425325" y="1254417"/>
            <a:ext cx="2038500" cy="1433400"/>
          </a:xfrm>
          <a:prstGeom prst="roundRect">
            <a:avLst>
              <a:gd fmla="val 8804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49" name="Google Shape;2249;p161"/>
          <p:cNvSpPr/>
          <p:nvPr/>
        </p:nvSpPr>
        <p:spPr>
          <a:xfrm>
            <a:off x="324000" y="1254417"/>
            <a:ext cx="2038500" cy="1433400"/>
          </a:xfrm>
          <a:prstGeom prst="roundRect">
            <a:avLst>
              <a:gd fmla="val 8804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50" name="Google Shape;2250;p161"/>
          <p:cNvSpPr/>
          <p:nvPr/>
        </p:nvSpPr>
        <p:spPr>
          <a:xfrm>
            <a:off x="6651201" y="1254417"/>
            <a:ext cx="2168700" cy="1433400"/>
          </a:xfrm>
          <a:prstGeom prst="roundRect">
            <a:avLst>
              <a:gd fmla="val 8804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51" name="Google Shape;2251;p161"/>
          <p:cNvSpPr txBox="1"/>
          <p:nvPr>
            <p:ph idx="1" type="body"/>
          </p:nvPr>
        </p:nvSpPr>
        <p:spPr>
          <a:xfrm>
            <a:off x="324000" y="647892"/>
            <a:ext cx="8496000" cy="49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1) Fill in the missing values in the tables. Using these, match the equations to the graphs and s</a:t>
            </a:r>
            <a:r>
              <a:rPr lang="en-GB" sz="1800"/>
              <a:t>tate</a:t>
            </a:r>
            <a:r>
              <a:rPr lang="en-GB" sz="1800"/>
              <a:t> whether each equation is linear or not. </a:t>
            </a:r>
            <a:endParaRPr sz="1800"/>
          </a:p>
        </p:txBody>
      </p:sp>
      <p:sp>
        <p:nvSpPr>
          <p:cNvPr id="2252" name="Google Shape;2252;p161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Identifying linear equations from graphs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y=x^3-x^2&quot;&gt;&lt;mi&gt;y&lt;/mi&gt;&lt;mo&gt;=&lt;/mo&gt;&lt;msup&gt;&lt;mi&gt;x&lt;/mi&gt;&lt;mn&gt;3&lt;/mn&gt;&lt;/msup&gt;&lt;mo&gt;−&lt;/mo&gt;&lt;msup&gt;&lt;mi&gt;x&lt;/mi&gt;&lt;mn&gt;2&lt;/mn&gt;&lt;/msup&gt;&lt;/math&gt;" id="2253" name="Google Shape;2253;p161" title="y equals x cubed minus x squared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08425" y="1460850"/>
            <a:ext cx="1176991" cy="268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2x+y=6+3\left(x-2\right)&quot;&gt;&lt;mn&gt;2&lt;/mn&gt;&lt;mi&gt;x&lt;/mi&gt;&lt;mo&gt;+&lt;/mo&gt;&lt;mi&gt;y&lt;/mi&gt;&lt;mo&gt;=&lt;/mo&gt;&lt;mn&gt;6&lt;/mn&gt;&lt;mo&gt;+&lt;/mo&gt;&lt;mn&gt;3&lt;/mn&gt;&lt;mrow data-mjx-texclass=&quot;INNER&quot;&gt;&lt;mo data-mjx-texclass=&quot;OPEN&quot;&gt;(&lt;/mo&gt;&lt;mi&gt;x&lt;/mi&gt;&lt;mo&gt;−&lt;/mo&gt;&lt;mn&gt;2&lt;/mn&gt;&lt;mo data-mjx-texclass=&quot;CLOSE&quot;&gt;)&lt;/mo&gt;&lt;/mrow&gt;&lt;/math&gt;" id="2254" name="Google Shape;2254;p161" title="2 x plus y equals 6 plus 3 times open paren x minus 2 close paren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719500" y="1572401"/>
            <a:ext cx="2064600" cy="200686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5" name="Google Shape;2255;p161"/>
          <p:cNvPicPr preferRelativeResize="0"/>
          <p:nvPr/>
        </p:nvPicPr>
        <p:blipFill rotWithShape="1">
          <a:blip r:embed="rId6">
            <a:alphaModFix/>
          </a:blip>
          <a:srcRect b="0" l="10895" r="11776" t="0"/>
          <a:stretch/>
        </p:blipFill>
        <p:spPr>
          <a:xfrm>
            <a:off x="2549258" y="2781819"/>
            <a:ext cx="1713455" cy="2012226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256" name="Google Shape;2256;p16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23992" y="2781819"/>
            <a:ext cx="2014834" cy="2012226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257" name="Google Shape;2257;p16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542188" y="2781819"/>
            <a:ext cx="2038355" cy="2012226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descr="&lt;math xmlns=&quot;http://www.w3.org/1998/Math/MathML&quot; display=&quot;block&quot; data-is-equatio=&quot;1&quot; data-latex=&quot;3-2x=y&quot;&gt;&lt;mn&gt;3&lt;/mn&gt;&lt;mo&gt;−&lt;/mo&gt;&lt;mn&gt;2&lt;/mn&gt;&lt;mi&gt;x&lt;/mi&gt;&lt;mo&gt;=&lt;/mo&gt;&lt;mi&gt;y&lt;/mi&gt;&lt;/math&gt;" id="2258" name="Google Shape;2258;p161" title="3 minus 2 x equals y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2894748" y="1523225"/>
            <a:ext cx="1007264" cy="200675"/>
          </a:xfrm>
          <a:prstGeom prst="rect">
            <a:avLst/>
          </a:prstGeom>
          <a:noFill/>
          <a:ln>
            <a:noFill/>
          </a:ln>
        </p:spPr>
      </p:pic>
      <p:sp>
        <p:nvSpPr>
          <p:cNvPr id="2259" name="Google Shape;2259;p161"/>
          <p:cNvSpPr/>
          <p:nvPr/>
        </p:nvSpPr>
        <p:spPr>
          <a:xfrm>
            <a:off x="329800" y="1254425"/>
            <a:ext cx="243000" cy="2688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A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60" name="Google Shape;2260;p161"/>
          <p:cNvSpPr/>
          <p:nvPr/>
        </p:nvSpPr>
        <p:spPr>
          <a:xfrm>
            <a:off x="2433675" y="1254425"/>
            <a:ext cx="243000" cy="2688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B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61" name="Google Shape;2261;p161"/>
          <p:cNvSpPr/>
          <p:nvPr/>
        </p:nvSpPr>
        <p:spPr>
          <a:xfrm>
            <a:off x="4542438" y="1254425"/>
            <a:ext cx="243000" cy="2688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C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62" name="Google Shape;2262;p161"/>
          <p:cNvSpPr/>
          <p:nvPr/>
        </p:nvSpPr>
        <p:spPr>
          <a:xfrm>
            <a:off x="6654050" y="1254425"/>
            <a:ext cx="243000" cy="2688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D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63" name="Google Shape;2263;p161"/>
          <p:cNvSpPr/>
          <p:nvPr/>
        </p:nvSpPr>
        <p:spPr>
          <a:xfrm>
            <a:off x="315075" y="2772675"/>
            <a:ext cx="243000" cy="268800"/>
          </a:xfrm>
          <a:prstGeom prst="roundRect">
            <a:avLst>
              <a:gd fmla="val 0" name="adj"/>
            </a:avLst>
          </a:prstGeom>
          <a:solidFill>
            <a:srgbClr val="FFFFFF">
              <a:alpha val="70250"/>
            </a:srgbClr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E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64" name="Google Shape;2264;p161"/>
          <p:cNvSpPr/>
          <p:nvPr/>
        </p:nvSpPr>
        <p:spPr>
          <a:xfrm>
            <a:off x="2549250" y="2772675"/>
            <a:ext cx="243000" cy="268800"/>
          </a:xfrm>
          <a:prstGeom prst="roundRect">
            <a:avLst>
              <a:gd fmla="val 0" name="adj"/>
            </a:avLst>
          </a:prstGeom>
          <a:solidFill>
            <a:srgbClr val="FFFFFF">
              <a:alpha val="70250"/>
            </a:srgbClr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F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65" name="Google Shape;2265;p161"/>
          <p:cNvSpPr/>
          <p:nvPr/>
        </p:nvSpPr>
        <p:spPr>
          <a:xfrm>
            <a:off x="4542450" y="2772675"/>
            <a:ext cx="243000" cy="268800"/>
          </a:xfrm>
          <a:prstGeom prst="roundRect">
            <a:avLst>
              <a:gd fmla="val 0" name="adj"/>
            </a:avLst>
          </a:prstGeom>
          <a:solidFill>
            <a:srgbClr val="FFFFFF">
              <a:alpha val="70250"/>
            </a:srgbClr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G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66" name="Google Shape;2266;p161"/>
          <p:cNvSpPr/>
          <p:nvPr/>
        </p:nvSpPr>
        <p:spPr>
          <a:xfrm>
            <a:off x="6719500" y="2772675"/>
            <a:ext cx="243000" cy="268800"/>
          </a:xfrm>
          <a:prstGeom prst="roundRect">
            <a:avLst>
              <a:gd fmla="val 0" name="adj"/>
            </a:avLst>
          </a:prstGeom>
          <a:solidFill>
            <a:srgbClr val="FFFFFF">
              <a:alpha val="70250"/>
            </a:srgbClr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H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267" name="Google Shape;2267;p161"/>
          <p:cNvGraphicFramePr/>
          <p:nvPr/>
        </p:nvGraphicFramePr>
        <p:xfrm>
          <a:off x="375788" y="18222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{C929B8A6-531E-44CB-B741-55F0E8B17D5D}</a:tableStyleId>
              </a:tblPr>
              <a:tblGrid>
                <a:gridCol w="267525"/>
                <a:gridCol w="410925"/>
                <a:gridCol w="410925"/>
                <a:gridCol w="410925"/>
                <a:gridCol w="410925"/>
              </a:tblGrid>
              <a:tr h="4007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endParaRPr i="1"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−2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−1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07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i="1"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y</a:t>
                      </a:r>
                      <a:endParaRPr i="1"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268" name="Google Shape;2268;p161"/>
          <p:cNvGraphicFramePr/>
          <p:nvPr/>
        </p:nvGraphicFramePr>
        <p:xfrm>
          <a:off x="2484908" y="18222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{C929B8A6-531E-44CB-B741-55F0E8B17D5D}</a:tableStyleId>
              </a:tblPr>
              <a:tblGrid>
                <a:gridCol w="252425"/>
                <a:gridCol w="414700"/>
                <a:gridCol w="414700"/>
                <a:gridCol w="414700"/>
                <a:gridCol w="414700"/>
              </a:tblGrid>
              <a:tr h="4007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endParaRPr i="1"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−2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−1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07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i="1"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y</a:t>
                      </a:r>
                      <a:endParaRPr i="1"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269" name="Google Shape;2269;p161"/>
          <p:cNvGraphicFramePr/>
          <p:nvPr/>
        </p:nvGraphicFramePr>
        <p:xfrm>
          <a:off x="4571954" y="18222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{C929B8A6-531E-44CB-B741-55F0E8B17D5D}</a:tableStyleId>
              </a:tblPr>
              <a:tblGrid>
                <a:gridCol w="213500"/>
                <a:gridCol w="431625"/>
                <a:gridCol w="507075"/>
                <a:gridCol w="451550"/>
                <a:gridCol w="371375"/>
              </a:tblGrid>
              <a:tr h="4007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endParaRPr i="1"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−2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−1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07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i="1"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y</a:t>
                      </a:r>
                      <a:endParaRPr i="1"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270" name="Google Shape;2270;p161"/>
          <p:cNvGraphicFramePr/>
          <p:nvPr/>
        </p:nvGraphicFramePr>
        <p:xfrm>
          <a:off x="6779938" y="18222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{C929B8A6-531E-44CB-B741-55F0E8B17D5D}</a:tableStyleId>
              </a:tblPr>
              <a:tblGrid>
                <a:gridCol w="201950"/>
                <a:gridCol w="427300"/>
                <a:gridCol w="427300"/>
                <a:gridCol w="427300"/>
                <a:gridCol w="427300"/>
              </a:tblGrid>
              <a:tr h="4007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endParaRPr i="1"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−2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−1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07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i="1"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y</a:t>
                      </a:r>
                      <a:endParaRPr i="1"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descr="&lt;math xmlns=&quot;http://www.w3.org/1998/Math/MathML&quot; display=&quot;block&quot; data-is-equatio=&quot;1&quot; data-latex=&quot;y=\frac{2}{x}+\frac{x}{2}&quot;&gt;&lt;mi&gt;y&lt;/mi&gt;&lt;mo&gt;=&lt;/mo&gt;&lt;mfrac&gt;&lt;mn&gt;2&lt;/mn&gt;&lt;mi&gt;x&lt;/mi&gt;&lt;/mfrac&gt;&lt;mo&gt;+&lt;/mo&gt;&lt;mfrac&gt;&lt;mi&gt;x&lt;/mi&gt;&lt;mn&gt;2&lt;/mn&gt;&lt;/mfrac&gt;&lt;/math&gt;" id="2271" name="Google Shape;2271;p161" title="y equals 2 over x plus x over 2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5053875" y="1315336"/>
            <a:ext cx="1007250" cy="4569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5" name="Shape 2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76" name="Google Shape;2276;p1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33200" y="2858025"/>
            <a:ext cx="1741006" cy="2012225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277" name="Google Shape;2277;p162"/>
          <p:cNvSpPr/>
          <p:nvPr/>
        </p:nvSpPr>
        <p:spPr>
          <a:xfrm>
            <a:off x="4537549" y="1330617"/>
            <a:ext cx="2064600" cy="1433400"/>
          </a:xfrm>
          <a:prstGeom prst="roundRect">
            <a:avLst>
              <a:gd fmla="val 8804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78" name="Google Shape;2278;p162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Identifying linear equations from graphs</a:t>
            </a:r>
            <a:endParaRPr/>
          </a:p>
        </p:txBody>
      </p:sp>
      <p:sp>
        <p:nvSpPr>
          <p:cNvPr id="2279" name="Google Shape;2279;p162"/>
          <p:cNvSpPr/>
          <p:nvPr/>
        </p:nvSpPr>
        <p:spPr>
          <a:xfrm>
            <a:off x="324000" y="1330617"/>
            <a:ext cx="2038500" cy="1433400"/>
          </a:xfrm>
          <a:prstGeom prst="roundRect">
            <a:avLst>
              <a:gd fmla="val 8804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80" name="Google Shape;2280;p162"/>
          <p:cNvSpPr txBox="1"/>
          <p:nvPr>
            <p:ph idx="1" type="body"/>
          </p:nvPr>
        </p:nvSpPr>
        <p:spPr>
          <a:xfrm>
            <a:off x="324000" y="718342"/>
            <a:ext cx="8496000" cy="49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1) Fill in the missing values in the tables. Using these, match the equations to the graphs and s</a:t>
            </a:r>
            <a:r>
              <a:rPr lang="en-GB" sz="1800"/>
              <a:t>tate</a:t>
            </a:r>
            <a:r>
              <a:rPr lang="en-GB" sz="1800"/>
              <a:t> whether each equation is linear or not. </a:t>
            </a:r>
            <a:endParaRPr sz="1800"/>
          </a:p>
        </p:txBody>
      </p:sp>
      <p:pic>
        <p:nvPicPr>
          <p:cNvPr descr="&lt;math xmlns=&quot;http://www.w3.org/1998/Math/MathML&quot; display=&quot;block&quot; data-is-equatio=&quot;1&quot; data-latex=&quot;y=x^3-x^2&quot;&gt;&lt;mi&gt;y&lt;/mi&gt;&lt;mo&gt;=&lt;/mo&gt;&lt;msup&gt;&lt;mi&gt;x&lt;/mi&gt;&lt;mn&gt;3&lt;/mn&gt;&lt;/msup&gt;&lt;mo&gt;−&lt;/mo&gt;&lt;msup&gt;&lt;mi&gt;x&lt;/mi&gt;&lt;mn&gt;2&lt;/mn&gt;&lt;/msup&gt;&lt;/math&gt;" id="2281" name="Google Shape;2281;p162" title="y equals x cubed minus x squared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08425" y="1537050"/>
            <a:ext cx="1176991" cy="268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2" name="Google Shape;2282;p162"/>
          <p:cNvPicPr preferRelativeResize="0"/>
          <p:nvPr/>
        </p:nvPicPr>
        <p:blipFill rotWithShape="1">
          <a:blip r:embed="rId5">
            <a:alphaModFix/>
          </a:blip>
          <a:srcRect b="0" l="10895" r="11776" t="0"/>
          <a:stretch/>
        </p:blipFill>
        <p:spPr>
          <a:xfrm>
            <a:off x="474683" y="2858019"/>
            <a:ext cx="1713455" cy="2012226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283" name="Google Shape;2283;p162"/>
          <p:cNvSpPr/>
          <p:nvPr/>
        </p:nvSpPr>
        <p:spPr>
          <a:xfrm>
            <a:off x="329800" y="1330625"/>
            <a:ext cx="243000" cy="2688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A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84" name="Google Shape;2284;p162"/>
          <p:cNvSpPr/>
          <p:nvPr/>
        </p:nvSpPr>
        <p:spPr>
          <a:xfrm>
            <a:off x="4542438" y="1330625"/>
            <a:ext cx="243000" cy="2688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C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85" name="Google Shape;2285;p162"/>
          <p:cNvSpPr/>
          <p:nvPr/>
        </p:nvSpPr>
        <p:spPr>
          <a:xfrm>
            <a:off x="474675" y="2859450"/>
            <a:ext cx="243000" cy="268800"/>
          </a:xfrm>
          <a:prstGeom prst="roundRect">
            <a:avLst>
              <a:gd fmla="val 0" name="adj"/>
            </a:avLst>
          </a:prstGeom>
          <a:solidFill>
            <a:srgbClr val="FFFFFF">
              <a:alpha val="70250"/>
            </a:srgbClr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F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86" name="Google Shape;2286;p162"/>
          <p:cNvSpPr/>
          <p:nvPr/>
        </p:nvSpPr>
        <p:spPr>
          <a:xfrm>
            <a:off x="4724650" y="2853450"/>
            <a:ext cx="243000" cy="268800"/>
          </a:xfrm>
          <a:prstGeom prst="roundRect">
            <a:avLst>
              <a:gd fmla="val 0" name="adj"/>
            </a:avLst>
          </a:prstGeom>
          <a:solidFill>
            <a:srgbClr val="FFFFFF">
              <a:alpha val="70250"/>
            </a:srgbClr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H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87" name="Google Shape;2287;p162"/>
          <p:cNvSpPr/>
          <p:nvPr/>
        </p:nvSpPr>
        <p:spPr>
          <a:xfrm>
            <a:off x="551713" y="4388275"/>
            <a:ext cx="1559400" cy="337200"/>
          </a:xfrm>
          <a:prstGeom prst="roundRect">
            <a:avLst>
              <a:gd fmla="val 16667" name="adj"/>
            </a:avLst>
          </a:prstGeom>
          <a:solidFill>
            <a:srgbClr val="E6F2F2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Non-l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inear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88" name="Google Shape;2288;p162"/>
          <p:cNvSpPr/>
          <p:nvPr/>
        </p:nvSpPr>
        <p:spPr>
          <a:xfrm>
            <a:off x="4823988" y="4483200"/>
            <a:ext cx="1559400" cy="337200"/>
          </a:xfrm>
          <a:prstGeom prst="roundRect">
            <a:avLst>
              <a:gd fmla="val 16667" name="adj"/>
            </a:avLst>
          </a:prstGeom>
          <a:solidFill>
            <a:srgbClr val="E6F2F2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Non-linear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289" name="Google Shape;2289;p162"/>
          <p:cNvGraphicFramePr/>
          <p:nvPr/>
        </p:nvGraphicFramePr>
        <p:xfrm>
          <a:off x="375788" y="18984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{C929B8A6-531E-44CB-B741-55F0E8B17D5D}</a:tableStyleId>
              </a:tblPr>
              <a:tblGrid>
                <a:gridCol w="267525"/>
                <a:gridCol w="410925"/>
                <a:gridCol w="410925"/>
                <a:gridCol w="410925"/>
                <a:gridCol w="410925"/>
              </a:tblGrid>
              <a:tr h="4007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endParaRPr i="1"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−2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−1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07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i="1"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y</a:t>
                      </a:r>
                      <a:endParaRPr i="1"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−12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−2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0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4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290" name="Google Shape;2290;p162"/>
          <p:cNvGraphicFramePr/>
          <p:nvPr/>
        </p:nvGraphicFramePr>
        <p:xfrm>
          <a:off x="4571954" y="18984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{C929B8A6-531E-44CB-B741-55F0E8B17D5D}</a:tableStyleId>
              </a:tblPr>
              <a:tblGrid>
                <a:gridCol w="213500"/>
                <a:gridCol w="431625"/>
                <a:gridCol w="507075"/>
                <a:gridCol w="451550"/>
                <a:gridCol w="371375"/>
              </a:tblGrid>
              <a:tr h="4007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endParaRPr i="1"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−2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−1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07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i="1"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y</a:t>
                      </a:r>
                      <a:endParaRPr i="1"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−2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−2.5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2</a:t>
                      </a: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.5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2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descr="&lt;math xmlns=&quot;http://www.w3.org/1998/Math/MathML&quot; display=&quot;block&quot; data-is-equatio=&quot;1&quot; data-latex=&quot;y=\frac{2}{x}+\frac{x}{2}&quot;&gt;&lt;mi&gt;y&lt;/mi&gt;&lt;mo&gt;=&lt;/mo&gt;&lt;mfrac&gt;&lt;mn&gt;2&lt;/mn&gt;&lt;mi&gt;x&lt;/mi&gt;&lt;/mfrac&gt;&lt;mo&gt;+&lt;/mo&gt;&lt;mfrac&gt;&lt;mi&gt;x&lt;/mi&gt;&lt;mn&gt;2&lt;/mn&gt;&lt;/mfrac&gt;&lt;/math&gt;" id="2291" name="Google Shape;2291;p162" title="y equals 2 over x plus x over 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053875" y="1391536"/>
            <a:ext cx="1007250" cy="4569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5" name="Shape 2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6" name="Google Shape;2296;p163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Identifying linear equations from graphs</a:t>
            </a:r>
            <a:endParaRPr/>
          </a:p>
        </p:txBody>
      </p:sp>
      <p:sp>
        <p:nvSpPr>
          <p:cNvPr id="2297" name="Google Shape;2297;p163"/>
          <p:cNvSpPr/>
          <p:nvPr/>
        </p:nvSpPr>
        <p:spPr>
          <a:xfrm>
            <a:off x="2425325" y="1330617"/>
            <a:ext cx="2038500" cy="1433400"/>
          </a:xfrm>
          <a:prstGeom prst="roundRect">
            <a:avLst>
              <a:gd fmla="val 8804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98" name="Google Shape;2298;p163"/>
          <p:cNvSpPr/>
          <p:nvPr/>
        </p:nvSpPr>
        <p:spPr>
          <a:xfrm>
            <a:off x="6651201" y="1330617"/>
            <a:ext cx="2168700" cy="1433400"/>
          </a:xfrm>
          <a:prstGeom prst="roundRect">
            <a:avLst>
              <a:gd fmla="val 8804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99" name="Google Shape;2299;p163"/>
          <p:cNvSpPr txBox="1"/>
          <p:nvPr>
            <p:ph idx="1" type="body"/>
          </p:nvPr>
        </p:nvSpPr>
        <p:spPr>
          <a:xfrm>
            <a:off x="324000" y="718342"/>
            <a:ext cx="8496000" cy="49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1) Fill in the missing values in the tables. Using these, match the equations to the graphs and s</a:t>
            </a:r>
            <a:r>
              <a:rPr lang="en-GB" sz="1800"/>
              <a:t>tate</a:t>
            </a:r>
            <a:r>
              <a:rPr lang="en-GB" sz="1800"/>
              <a:t> whether each equation is linear or not. </a:t>
            </a:r>
            <a:endParaRPr sz="1800"/>
          </a:p>
        </p:txBody>
      </p:sp>
      <p:pic>
        <p:nvPicPr>
          <p:cNvPr descr="&lt;math xmlns=&quot;http://www.w3.org/1998/Math/MathML&quot; display=&quot;block&quot; data-is-equatio=&quot;1&quot; data-latex=&quot;2x+y=6+3\left(x-2\right)&quot;&gt;&lt;mn&gt;2&lt;/mn&gt;&lt;mi&gt;x&lt;/mi&gt;&lt;mo&gt;+&lt;/mo&gt;&lt;mi&gt;y&lt;/mi&gt;&lt;mo&gt;=&lt;/mo&gt;&lt;mn&gt;6&lt;/mn&gt;&lt;mo&gt;+&lt;/mo&gt;&lt;mn&gt;3&lt;/mn&gt;&lt;mrow data-mjx-texclass=&quot;INNER&quot;&gt;&lt;mo data-mjx-texclass=&quot;OPEN&quot;&gt;(&lt;/mo&gt;&lt;mi&gt;x&lt;/mi&gt;&lt;mo&gt;−&lt;/mo&gt;&lt;mn&gt;2&lt;/mn&gt;&lt;mo data-mjx-texclass=&quot;CLOSE&quot;&gt;)&lt;/mo&gt;&lt;/mrow&gt;&lt;/math&gt;" id="2300" name="Google Shape;2300;p163" title="2 x plus y equals 6 plus 3 times open paren x minus 2 close paren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19500" y="1648601"/>
            <a:ext cx="2064600" cy="200686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1" name="Google Shape;2301;p16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24792" y="2781819"/>
            <a:ext cx="2014834" cy="2012226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302" name="Google Shape;2302;p16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14763" y="2778456"/>
            <a:ext cx="2038355" cy="2012226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descr="&lt;math xmlns=&quot;http://www.w3.org/1998/Math/MathML&quot; display=&quot;block&quot; data-is-equatio=&quot;1&quot; data-latex=&quot;3-2x=y&quot;&gt;&lt;mn&gt;3&lt;/mn&gt;&lt;mo&gt;−&lt;/mo&gt;&lt;mn&gt;2&lt;/mn&gt;&lt;mi&gt;x&lt;/mi&gt;&lt;mo&gt;=&lt;/mo&gt;&lt;mi&gt;y&lt;/mi&gt;&lt;/math&gt;" id="2303" name="Google Shape;2303;p163" title="3 minus 2 x equals y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894748" y="1599425"/>
            <a:ext cx="1007264" cy="200675"/>
          </a:xfrm>
          <a:prstGeom prst="rect">
            <a:avLst/>
          </a:prstGeom>
          <a:noFill/>
          <a:ln>
            <a:noFill/>
          </a:ln>
        </p:spPr>
      </p:pic>
      <p:sp>
        <p:nvSpPr>
          <p:cNvPr id="2304" name="Google Shape;2304;p163"/>
          <p:cNvSpPr/>
          <p:nvPr/>
        </p:nvSpPr>
        <p:spPr>
          <a:xfrm>
            <a:off x="2433675" y="1330625"/>
            <a:ext cx="243000" cy="2688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B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05" name="Google Shape;2305;p163"/>
          <p:cNvSpPr/>
          <p:nvPr/>
        </p:nvSpPr>
        <p:spPr>
          <a:xfrm>
            <a:off x="6654050" y="1330625"/>
            <a:ext cx="243000" cy="2688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D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06" name="Google Shape;2306;p163"/>
          <p:cNvSpPr/>
          <p:nvPr/>
        </p:nvSpPr>
        <p:spPr>
          <a:xfrm>
            <a:off x="6715875" y="2772675"/>
            <a:ext cx="243000" cy="268800"/>
          </a:xfrm>
          <a:prstGeom prst="roundRect">
            <a:avLst>
              <a:gd fmla="val 0" name="adj"/>
            </a:avLst>
          </a:prstGeom>
          <a:solidFill>
            <a:srgbClr val="FFFFFF">
              <a:alpha val="70250"/>
            </a:srgbClr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E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07" name="Google Shape;2307;p163"/>
          <p:cNvSpPr/>
          <p:nvPr/>
        </p:nvSpPr>
        <p:spPr>
          <a:xfrm>
            <a:off x="2415025" y="2769313"/>
            <a:ext cx="243000" cy="268800"/>
          </a:xfrm>
          <a:prstGeom prst="roundRect">
            <a:avLst>
              <a:gd fmla="val 0" name="adj"/>
            </a:avLst>
          </a:prstGeom>
          <a:solidFill>
            <a:srgbClr val="FFFFFF">
              <a:alpha val="70250"/>
            </a:srgbClr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G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08" name="Google Shape;2308;p163"/>
          <p:cNvSpPr/>
          <p:nvPr/>
        </p:nvSpPr>
        <p:spPr>
          <a:xfrm>
            <a:off x="2946174" y="4483200"/>
            <a:ext cx="968700" cy="337200"/>
          </a:xfrm>
          <a:prstGeom prst="roundRect">
            <a:avLst>
              <a:gd fmla="val 16667" name="adj"/>
            </a:avLst>
          </a:prstGeom>
          <a:solidFill>
            <a:srgbClr val="E6F2F2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Linear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09" name="Google Shape;2309;p163"/>
          <p:cNvSpPr/>
          <p:nvPr/>
        </p:nvSpPr>
        <p:spPr>
          <a:xfrm>
            <a:off x="7187399" y="4483200"/>
            <a:ext cx="968700" cy="337200"/>
          </a:xfrm>
          <a:prstGeom prst="roundRect">
            <a:avLst>
              <a:gd fmla="val 16667" name="adj"/>
            </a:avLst>
          </a:prstGeom>
          <a:solidFill>
            <a:srgbClr val="E6F2F2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Linear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310" name="Google Shape;2310;p163"/>
          <p:cNvGraphicFramePr/>
          <p:nvPr/>
        </p:nvGraphicFramePr>
        <p:xfrm>
          <a:off x="2484908" y="18984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{C929B8A6-531E-44CB-B741-55F0E8B17D5D}</a:tableStyleId>
              </a:tblPr>
              <a:tblGrid>
                <a:gridCol w="252425"/>
                <a:gridCol w="414700"/>
                <a:gridCol w="414700"/>
                <a:gridCol w="414700"/>
                <a:gridCol w="414700"/>
              </a:tblGrid>
              <a:tr h="4007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endParaRPr i="1"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−2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−1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07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i="1"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y</a:t>
                      </a:r>
                      <a:endParaRPr i="1"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7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5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1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−1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311" name="Google Shape;2311;p163"/>
          <p:cNvGraphicFramePr/>
          <p:nvPr/>
        </p:nvGraphicFramePr>
        <p:xfrm>
          <a:off x="6779938" y="18984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{C929B8A6-531E-44CB-B741-55F0E8B17D5D}</a:tableStyleId>
              </a:tblPr>
              <a:tblGrid>
                <a:gridCol w="201950"/>
                <a:gridCol w="427300"/>
                <a:gridCol w="427300"/>
                <a:gridCol w="427300"/>
                <a:gridCol w="427300"/>
              </a:tblGrid>
              <a:tr h="4007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endParaRPr i="1"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−2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−1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07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i="1"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y</a:t>
                      </a:r>
                      <a:endParaRPr i="1"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−2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−1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1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2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5" name="Shape 2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6" name="Google Shape;2316;p164"/>
          <p:cNvSpPr txBox="1"/>
          <p:nvPr>
            <p:ph idx="1" type="body"/>
          </p:nvPr>
        </p:nvSpPr>
        <p:spPr>
          <a:xfrm>
            <a:off x="324000" y="1080000"/>
            <a:ext cx="84960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The relationship between 2 variables is linear if it forms a straight line when plotted on a graph.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We can graph an expression by looking at how the value of the expression changes as the </a:t>
            </a:r>
            <a:r>
              <a:rPr lang="en-GB" sz="1800"/>
              <a:t>variable</a:t>
            </a:r>
            <a:r>
              <a:rPr lang="en-GB" sz="1800"/>
              <a:t> changes.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We can identify linear and non-linear expressions from </a:t>
            </a:r>
            <a:r>
              <a:rPr lang="en-GB" sz="1800"/>
              <a:t>their</a:t>
            </a:r>
            <a:r>
              <a:rPr lang="en-GB" sz="1800"/>
              <a:t> graphical form.</a:t>
            </a:r>
            <a:endParaRPr sz="1800"/>
          </a:p>
        </p:txBody>
      </p:sp>
      <p:sp>
        <p:nvSpPr>
          <p:cNvPr id="2317" name="Google Shape;2317;p164"/>
          <p:cNvSpPr txBox="1"/>
          <p:nvPr>
            <p:ph type="title"/>
          </p:nvPr>
        </p:nvSpPr>
        <p:spPr>
          <a:xfrm>
            <a:off x="1684800" y="157525"/>
            <a:ext cx="57414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Different types of equations</a:t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1" name="Shape 2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2" name="Google Shape;2322;p165"/>
          <p:cNvSpPr txBox="1"/>
          <p:nvPr>
            <p:ph idx="1" type="subTitle"/>
          </p:nvPr>
        </p:nvSpPr>
        <p:spPr>
          <a:xfrm>
            <a:off x="661775" y="1129425"/>
            <a:ext cx="7351200" cy="2358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© Oak National Academy 2023.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Produced in partnership with Mathematics in Education and Industry.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Licensed on the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Open Government Licence v3.0</a:t>
            </a:r>
            <a:r>
              <a:rPr lang="en-GB"/>
              <a:t>, except where otherwise stated. See </a:t>
            </a:r>
            <a:r>
              <a:rPr lang="en-GB" u="sng">
                <a:solidFill>
                  <a:schemeClr val="accent2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and conditions</a:t>
            </a:r>
            <a:r>
              <a:rPr lang="en-GB"/>
              <a:t>.</a:t>
            </a:r>
            <a:endParaRPr/>
          </a:p>
        </p:txBody>
      </p:sp>
      <p:pic>
        <p:nvPicPr>
          <p:cNvPr id="2323" name="Google Shape;2323;p16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42100" y="3453600"/>
            <a:ext cx="652800" cy="32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ak theme - September 2023">
  <a:themeElements>
    <a:clrScheme name="Simple Light">
      <a:dk1>
        <a:srgbClr val="000000"/>
      </a:dk1>
      <a:lt1>
        <a:srgbClr val="FFFFFF"/>
      </a:lt1>
      <a:dk2>
        <a:srgbClr val="808080"/>
      </a:dk2>
      <a:lt2>
        <a:srgbClr val="F0F0F0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C63D01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ak theme - September 2023">
  <a:themeElements>
    <a:clrScheme name="Simple Light">
      <a:dk1>
        <a:srgbClr val="000000"/>
      </a:dk1>
      <a:lt1>
        <a:srgbClr val="FFFFFF"/>
      </a:lt1>
      <a:dk2>
        <a:srgbClr val="808080"/>
      </a:dk2>
      <a:lt2>
        <a:srgbClr val="F0F0F0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C63D01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